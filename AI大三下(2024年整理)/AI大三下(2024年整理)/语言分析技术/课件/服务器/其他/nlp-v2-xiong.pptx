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tiff" ContentType="image/tiff"/>
  <Default Extension="gif" ContentType="image/gif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310" r:id="rId6"/>
    <p:sldId id="311" r:id="rId7"/>
    <p:sldId id="312" r:id="rId8"/>
    <p:sldId id="309" r:id="rId9"/>
    <p:sldId id="261" r:id="rId10"/>
    <p:sldId id="262" r:id="rId11"/>
    <p:sldId id="264" r:id="rId12"/>
    <p:sldId id="263" r:id="rId13"/>
    <p:sldId id="265" r:id="rId14"/>
    <p:sldId id="266" r:id="rId15"/>
    <p:sldId id="267" r:id="rId16"/>
    <p:sldId id="268" r:id="rId17"/>
    <p:sldId id="313" r:id="rId18"/>
    <p:sldId id="314" r:id="rId19"/>
    <p:sldId id="315" r:id="rId20"/>
    <p:sldId id="316" r:id="rId21"/>
    <p:sldId id="269" r:id="rId22"/>
    <p:sldId id="328" r:id="rId23"/>
    <p:sldId id="270" r:id="rId24"/>
    <p:sldId id="271" r:id="rId25"/>
    <p:sldId id="272" r:id="rId26"/>
    <p:sldId id="273" r:id="rId27"/>
    <p:sldId id="274" r:id="rId28"/>
    <p:sldId id="275" r:id="rId29"/>
    <p:sldId id="329" r:id="rId30"/>
    <p:sldId id="326" r:id="rId31"/>
    <p:sldId id="330" r:id="rId32"/>
    <p:sldId id="331" r:id="rId33"/>
    <p:sldId id="332" r:id="rId34"/>
    <p:sldId id="334" r:id="rId35"/>
    <p:sldId id="333" r:id="rId36"/>
    <p:sldId id="276" r:id="rId37"/>
    <p:sldId id="280" r:id="rId38"/>
    <p:sldId id="279" r:id="rId39"/>
    <p:sldId id="277" r:id="rId40"/>
    <p:sldId id="278" r:id="rId41"/>
    <p:sldId id="335" r:id="rId42"/>
    <p:sldId id="281" r:id="rId43"/>
    <p:sldId id="282" r:id="rId44"/>
    <p:sldId id="283" r:id="rId45"/>
    <p:sldId id="284" r:id="rId46"/>
    <p:sldId id="285" r:id="rId47"/>
    <p:sldId id="286" r:id="rId48"/>
    <p:sldId id="288" r:id="rId49"/>
    <p:sldId id="289" r:id="rId50"/>
    <p:sldId id="290" r:id="rId51"/>
    <p:sldId id="287" r:id="rId52"/>
    <p:sldId id="291" r:id="rId53"/>
    <p:sldId id="292" r:id="rId54"/>
    <p:sldId id="293" r:id="rId55"/>
    <p:sldId id="294" r:id="rId56"/>
    <p:sldId id="295" r:id="rId57"/>
    <p:sldId id="296" r:id="rId58"/>
    <p:sldId id="336" r:id="rId59"/>
    <p:sldId id="297" r:id="rId60"/>
    <p:sldId id="298" r:id="rId61"/>
    <p:sldId id="303" r:id="rId62"/>
    <p:sldId id="304" r:id="rId63"/>
    <p:sldId id="317" r:id="rId64"/>
    <p:sldId id="318" r:id="rId65"/>
    <p:sldId id="320" r:id="rId66"/>
    <p:sldId id="319" r:id="rId67"/>
    <p:sldId id="299" r:id="rId68"/>
    <p:sldId id="300" r:id="rId69"/>
    <p:sldId id="322" r:id="rId70"/>
    <p:sldId id="321" r:id="rId71"/>
    <p:sldId id="323" r:id="rId72"/>
    <p:sldId id="324" r:id="rId73"/>
    <p:sldId id="325" r:id="rId74"/>
    <p:sldId id="301" r:id="rId75"/>
    <p:sldId id="302" r:id="rId76"/>
    <p:sldId id="305" r:id="rId77"/>
    <p:sldId id="337" r:id="rId7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00B050"/>
    <a:srgbClr val="FF2600"/>
    <a:srgbClr val="FF0000"/>
    <a:srgbClr val="942093"/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8"/>
    <p:restoredTop sz="93692"/>
  </p:normalViewPr>
  <p:slideViewPr>
    <p:cSldViewPr snapToGrid="0" snapToObjects="1">
      <p:cViewPr varScale="1">
        <p:scale>
          <a:sx n="110" d="100"/>
          <a:sy n="110" d="100"/>
        </p:scale>
        <p:origin x="1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投稿数量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7EC-5842-8EC1-90376118A52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7EC-5842-8EC1-90376118A52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7EC-5842-8EC1-90376118A52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7EC-5842-8EC1-90376118A52D}"/>
              </c:ext>
            </c:extLst>
          </c:dPt>
          <c:cat>
            <c:strRef>
              <c:f>Sheet1!$A$2:$A$5</c:f>
              <c:strCache>
                <c:ptCount val="4"/>
                <c:pt idx="0">
                  <c:v>基础研究</c:v>
                </c:pt>
                <c:pt idx="1">
                  <c:v>应用研究</c:v>
                </c:pt>
                <c:pt idx="2">
                  <c:v>NLP+研究</c:v>
                </c:pt>
                <c:pt idx="3">
                  <c:v>交叉研究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592</c:v>
                </c:pt>
                <c:pt idx="1">
                  <c:v>1255</c:v>
                </c:pt>
                <c:pt idx="2">
                  <c:v>229</c:v>
                </c:pt>
                <c:pt idx="3">
                  <c:v>363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F0-724C-BFC7-14AC2D3189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81A63B-1BDD-D942-90ED-E902E979B3AA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510127D-09EA-0A45-8815-CDD8F393D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1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81A63B-1BDD-D942-90ED-E902E979B3AA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510127D-09EA-0A45-8815-CDD8F393D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64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81A63B-1BDD-D942-90ED-E902E979B3AA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510127D-09EA-0A45-8815-CDD8F393D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07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81A63B-1BDD-D942-90ED-E902E979B3AA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510127D-09EA-0A45-8815-CDD8F393D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21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81A63B-1BDD-D942-90ED-E902E979B3AA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510127D-09EA-0A45-8815-CDD8F393D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5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81A63B-1BDD-D942-90ED-E902E979B3AA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510127D-09EA-0A45-8815-CDD8F393D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7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81A63B-1BDD-D942-90ED-E902E979B3AA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510127D-09EA-0A45-8815-CDD8F393D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23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81A63B-1BDD-D942-90ED-E902E979B3AA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510127D-09EA-0A45-8815-CDD8F393D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81A63B-1BDD-D942-90ED-E902E979B3AA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510127D-09EA-0A45-8815-CDD8F393D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99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81A63B-1BDD-D942-90ED-E902E979B3AA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510127D-09EA-0A45-8815-CDD8F393D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63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B81A63B-1BDD-D942-90ED-E902E979B3AA}" type="datetimeFigureOut">
              <a:rPr lang="en-US" smtClean="0"/>
              <a:t>10/31/19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510127D-09EA-0A45-8815-CDD8F393D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8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636340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7706" y="156777"/>
            <a:ext cx="8515351" cy="734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7706" y="1339483"/>
            <a:ext cx="8515351" cy="50960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410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F00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00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5639B-5B8A-BB4A-9AFD-0F9BCD5DF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995421"/>
            <a:ext cx="7772400" cy="281264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  <a:spcAft>
                <a:spcPts val="3600"/>
              </a:spcAft>
            </a:pPr>
            <a:r>
              <a:rPr lang="zh-CN" altLang="en-US" dirty="0"/>
              <a:t>自然语言处理</a:t>
            </a:r>
            <a:br>
              <a:rPr lang="en-US" altLang="zh-CN" dirty="0"/>
            </a:br>
            <a:r>
              <a:rPr lang="zh-CN" altLang="en-US" sz="3200" dirty="0">
                <a:solidFill>
                  <a:srgbClr val="FF40FF"/>
                </a:solidFill>
              </a:rPr>
              <a:t>从研究到应用、从学术到产业</a:t>
            </a:r>
            <a:br>
              <a:rPr lang="en-US" altLang="zh-CN" sz="3200" dirty="0">
                <a:solidFill>
                  <a:srgbClr val="FF40FF"/>
                </a:solidFill>
              </a:rPr>
            </a:br>
            <a:r>
              <a:rPr lang="zh-CN" altLang="en-US" sz="3200" dirty="0">
                <a:solidFill>
                  <a:srgbClr val="FF40FF"/>
                </a:solidFill>
              </a:rPr>
              <a:t>从历史到未来、从入门到进阶</a:t>
            </a:r>
            <a:endParaRPr lang="en-US" dirty="0">
              <a:solidFill>
                <a:srgbClr val="FF40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421CE-5241-2D42-B144-2635B04EC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284942"/>
            <a:ext cx="6858000" cy="1655762"/>
          </a:xfrm>
        </p:spPr>
        <p:txBody>
          <a:bodyPr>
            <a:normAutofit/>
          </a:bodyPr>
          <a:lstStyle/>
          <a:p>
            <a:r>
              <a:rPr lang="zh-CN" altLang="en-US" b="1" dirty="0"/>
              <a:t>熊德意</a:t>
            </a:r>
            <a:endParaRPr lang="en-US" altLang="zh-CN" b="1" dirty="0"/>
          </a:p>
          <a:p>
            <a:r>
              <a:rPr lang="zh-CN" altLang="en-US" dirty="0"/>
              <a:t>天津大学智能与计算学部</a:t>
            </a:r>
            <a:endParaRPr lang="en-US" altLang="zh-CN" dirty="0"/>
          </a:p>
          <a:p>
            <a:r>
              <a:rPr lang="en-US" altLang="zh-CN" dirty="0" err="1"/>
              <a:t>dyxiong@tju.edu.cn</a:t>
            </a:r>
            <a:endParaRPr 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D5DE371-D279-044D-B572-8FF250F87113}"/>
              </a:ext>
            </a:extLst>
          </p:cNvPr>
          <p:cNvCxnSpPr>
            <a:endCxn id="12" idx="1"/>
          </p:cNvCxnSpPr>
          <p:nvPr/>
        </p:nvCxnSpPr>
        <p:spPr>
          <a:xfrm>
            <a:off x="0" y="838200"/>
            <a:ext cx="7772400" cy="0"/>
          </a:xfrm>
          <a:prstGeom prst="line">
            <a:avLst/>
          </a:prstGeom>
          <a:ln w="28575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A4E1218-A912-BE42-9CE7-DAF4C4070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8" y="-153377"/>
            <a:ext cx="2273300" cy="1003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E80EC8-9BC8-9D40-90EC-34B22521D0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152400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045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A8461-7436-0943-93F5-18CB98D6C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总览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55378-A7B7-9344-94EA-C504AC3B0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什么是自然语言处理？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自然语言处理</a:t>
            </a:r>
            <a:r>
              <a:rPr lang="zh-CN" altLang="en-US" u="sng" dirty="0"/>
              <a:t>研究内容（学术界）</a:t>
            </a:r>
            <a:endParaRPr lang="en-US" altLang="zh-CN" u="sng" dirty="0"/>
          </a:p>
          <a:p>
            <a:endParaRPr lang="en-US" altLang="zh-CN" dirty="0"/>
          </a:p>
          <a:p>
            <a:r>
              <a:rPr lang="zh-CN" altLang="en-US" dirty="0"/>
              <a:t>自然语言处理</a:t>
            </a:r>
            <a:r>
              <a:rPr lang="zh-CN" altLang="en-US" u="sng" dirty="0"/>
              <a:t>技术落地（产业界）</a:t>
            </a:r>
            <a:endParaRPr lang="en-US" altLang="zh-CN" u="sng" dirty="0"/>
          </a:p>
          <a:p>
            <a:endParaRPr lang="en-US" dirty="0"/>
          </a:p>
          <a:p>
            <a:r>
              <a:rPr lang="zh-CN" altLang="en-US" dirty="0"/>
              <a:t>自然语言处理</a:t>
            </a:r>
            <a:r>
              <a:rPr lang="zh-CN" altLang="en-US" u="sng" dirty="0"/>
              <a:t>发展历史（纵向对比）</a:t>
            </a:r>
            <a:endParaRPr lang="en-US" altLang="zh-CN" u="sng" dirty="0"/>
          </a:p>
          <a:p>
            <a:endParaRPr lang="en-US" altLang="zh-CN" u="sng" dirty="0"/>
          </a:p>
          <a:p>
            <a:r>
              <a:rPr lang="zh-CN" altLang="en-US" dirty="0"/>
              <a:t>自然语言处理</a:t>
            </a:r>
            <a:r>
              <a:rPr lang="zh-CN" altLang="en-US" u="sng" dirty="0"/>
              <a:t>与其他学科关系（横向对比）</a:t>
            </a:r>
            <a:endParaRPr lang="en-US" u="sng" dirty="0"/>
          </a:p>
          <a:p>
            <a:endParaRPr lang="en-US" altLang="zh-CN" u="sn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139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A8461-7436-0943-93F5-18CB98D6C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总览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55378-A7B7-9344-94EA-C504AC3B0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自然语言处理研究与应用</a:t>
            </a:r>
            <a:r>
              <a:rPr lang="zh-CN" altLang="en-US" u="sng" dirty="0"/>
              <a:t>难点</a:t>
            </a:r>
            <a:endParaRPr lang="en-US" altLang="zh-CN" u="sng" dirty="0"/>
          </a:p>
          <a:p>
            <a:endParaRPr lang="en-US" altLang="zh-CN" dirty="0"/>
          </a:p>
          <a:p>
            <a:r>
              <a:rPr lang="zh-CN" altLang="en-US" dirty="0"/>
              <a:t>自然语言处理</a:t>
            </a:r>
            <a:r>
              <a:rPr lang="zh-CN" altLang="en-US" u="sng" dirty="0"/>
              <a:t>最新进展</a:t>
            </a:r>
            <a:endParaRPr lang="en-US" altLang="zh-CN" u="sng" dirty="0"/>
          </a:p>
          <a:p>
            <a:endParaRPr lang="en-US" altLang="zh-CN" dirty="0"/>
          </a:p>
          <a:p>
            <a:r>
              <a:rPr lang="zh-CN" altLang="en-US" dirty="0"/>
              <a:t>自然语言处理</a:t>
            </a:r>
            <a:r>
              <a:rPr lang="zh-CN" altLang="en-US" u="sng" dirty="0"/>
              <a:t>未来趋势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626152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845F8-7ABB-2D49-9109-24680A903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什么是自然语言处理？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69130-6F12-0B40-A04A-5EF8C9CF1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利用计算机实现自然语言数据的</a:t>
            </a:r>
            <a:r>
              <a:rPr lang="zh-CN" altLang="en-US" dirty="0">
                <a:solidFill>
                  <a:srgbClr val="FF0000"/>
                </a:solidFill>
              </a:rPr>
              <a:t>智能化处理与分析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智能化处理与分析：</a:t>
            </a:r>
            <a:r>
              <a:rPr lang="zh-CN" altLang="en-US" dirty="0">
                <a:solidFill>
                  <a:srgbClr val="FF0000"/>
                </a:solidFill>
              </a:rPr>
              <a:t>听、说、读、写、译</a:t>
            </a:r>
            <a:r>
              <a:rPr lang="zh-CN" altLang="en-US" dirty="0"/>
              <a:t>（人类具备的语言能力）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14836C-8614-DF40-B8CE-5645E746D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831" y="1901302"/>
            <a:ext cx="57531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33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134F-2D2B-B049-A985-AE2FDC1D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语言、自然语言、形式语言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280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134F-2D2B-B049-A985-AE2FDC1D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语言、自然语言、形式语言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9B03D-A589-F141-9F49-85C211E24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语言</a:t>
            </a:r>
            <a:r>
              <a:rPr lang="zh-CN" altLang="en-US" dirty="0">
                <a:sym typeface="Wingdings" pitchFamily="2" charset="2"/>
              </a:rPr>
              <a:t>（</a:t>
            </a:r>
            <a:r>
              <a:rPr lang="en-US" altLang="zh-CN" dirty="0">
                <a:sym typeface="Wingdings" pitchFamily="2" charset="2"/>
              </a:rPr>
              <a:t>language</a:t>
            </a:r>
            <a:r>
              <a:rPr lang="zh-CN" altLang="en-US" dirty="0">
                <a:sym typeface="Wingdings" pitchFamily="2" charset="2"/>
              </a:rPr>
              <a:t>）：一个由基本元素和语法规则构建的用于表意与交流的</a:t>
            </a:r>
            <a:r>
              <a:rPr lang="zh-CN" altLang="en-US" dirty="0">
                <a:solidFill>
                  <a:srgbClr val="FF0000"/>
                </a:solidFill>
                <a:sym typeface="Wingdings" pitchFamily="2" charset="2"/>
              </a:rPr>
              <a:t>符号系统</a:t>
            </a:r>
            <a:r>
              <a:rPr lang="zh-CN" altLang="en-US" dirty="0">
                <a:sym typeface="Wingdings" pitchFamily="2" charset="2"/>
              </a:rPr>
              <a:t>（费尔迪南</a:t>
            </a:r>
            <a:r>
              <a:rPr lang="en-US" altLang="zh-CN" dirty="0">
                <a:sym typeface="Wingdings" pitchFamily="2" charset="2"/>
              </a:rPr>
              <a:t>·</a:t>
            </a:r>
            <a:r>
              <a:rPr lang="zh-CN" altLang="en-US" dirty="0">
                <a:sym typeface="Wingdings" pitchFamily="2" charset="2"/>
              </a:rPr>
              <a:t>德</a:t>
            </a:r>
            <a:r>
              <a:rPr lang="en-US" altLang="zh-CN" dirty="0">
                <a:sym typeface="Wingdings" pitchFamily="2" charset="2"/>
              </a:rPr>
              <a:t>·</a:t>
            </a:r>
            <a:r>
              <a:rPr lang="zh-CN" altLang="en-US" dirty="0">
                <a:sym typeface="Wingdings" pitchFamily="2" charset="2"/>
              </a:rPr>
              <a:t>索绪尔，诺姆</a:t>
            </a:r>
            <a:r>
              <a:rPr lang="en-US" altLang="zh-CN" dirty="0">
                <a:sym typeface="Wingdings" pitchFamily="2" charset="2"/>
              </a:rPr>
              <a:t>·</a:t>
            </a:r>
            <a:r>
              <a:rPr lang="zh-CN" altLang="en-US" dirty="0">
                <a:sym typeface="Wingdings" pitchFamily="2" charset="2"/>
              </a:rPr>
              <a:t>乔姆斯基）</a:t>
            </a:r>
            <a:endParaRPr lang="en-US" altLang="zh-CN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40428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134F-2D2B-B049-A985-AE2FDC1D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语言、自然语言、形式语言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9B03D-A589-F141-9F49-85C211E24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语言</a:t>
            </a:r>
            <a:r>
              <a:rPr lang="zh-CN" altLang="en-US" dirty="0">
                <a:sym typeface="Wingdings" pitchFamily="2" charset="2"/>
              </a:rPr>
              <a:t>（</a:t>
            </a:r>
            <a:r>
              <a:rPr lang="en-US" altLang="zh-CN" dirty="0">
                <a:sym typeface="Wingdings" pitchFamily="2" charset="2"/>
              </a:rPr>
              <a:t>language</a:t>
            </a:r>
            <a:r>
              <a:rPr lang="zh-CN" altLang="en-US" dirty="0">
                <a:sym typeface="Wingdings" pitchFamily="2" charset="2"/>
              </a:rPr>
              <a:t>）：一个由基本元素和语法规则构建的用于表意与交流的</a:t>
            </a:r>
            <a:r>
              <a:rPr lang="zh-CN" altLang="en-US" dirty="0">
                <a:solidFill>
                  <a:srgbClr val="FF0000"/>
                </a:solidFill>
                <a:sym typeface="Wingdings" pitchFamily="2" charset="2"/>
              </a:rPr>
              <a:t>符号系统</a:t>
            </a:r>
            <a:r>
              <a:rPr lang="zh-CN" altLang="en-US" dirty="0">
                <a:sym typeface="Wingdings" pitchFamily="2" charset="2"/>
              </a:rPr>
              <a:t>（费尔迪南</a:t>
            </a:r>
            <a:r>
              <a:rPr lang="en-US" altLang="zh-CN" dirty="0">
                <a:sym typeface="Wingdings" pitchFamily="2" charset="2"/>
              </a:rPr>
              <a:t>·</a:t>
            </a:r>
            <a:r>
              <a:rPr lang="zh-CN" altLang="en-US" dirty="0">
                <a:sym typeface="Wingdings" pitchFamily="2" charset="2"/>
              </a:rPr>
              <a:t>德</a:t>
            </a:r>
            <a:r>
              <a:rPr lang="en-US" altLang="zh-CN" dirty="0">
                <a:sym typeface="Wingdings" pitchFamily="2" charset="2"/>
              </a:rPr>
              <a:t>·</a:t>
            </a:r>
            <a:r>
              <a:rPr lang="zh-CN" altLang="en-US" dirty="0">
                <a:sym typeface="Wingdings" pitchFamily="2" charset="2"/>
              </a:rPr>
              <a:t>索绪尔，诺姆</a:t>
            </a:r>
            <a:r>
              <a:rPr lang="en-US" altLang="zh-CN" dirty="0">
                <a:sym typeface="Wingdings" pitchFamily="2" charset="2"/>
              </a:rPr>
              <a:t>·</a:t>
            </a:r>
            <a:r>
              <a:rPr lang="zh-CN" altLang="en-US" dirty="0">
                <a:sym typeface="Wingdings" pitchFamily="2" charset="2"/>
              </a:rPr>
              <a:t>乔姆斯基）</a:t>
            </a:r>
            <a:endParaRPr lang="en-US" altLang="zh-CN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r>
              <a:rPr lang="zh-CN" altLang="en-US" dirty="0"/>
              <a:t>自然语言（人类语言）：通过使用自然演化出来的人类语言符号系统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448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134F-2D2B-B049-A985-AE2FDC1D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语言、自然语言、形式语言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9B03D-A589-F141-9F49-85C211E24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语言</a:t>
            </a:r>
            <a:r>
              <a:rPr lang="zh-CN" altLang="en-US" dirty="0">
                <a:sym typeface="Wingdings" pitchFamily="2" charset="2"/>
              </a:rPr>
              <a:t>（</a:t>
            </a:r>
            <a:r>
              <a:rPr lang="en-US" altLang="zh-CN" dirty="0">
                <a:sym typeface="Wingdings" pitchFamily="2" charset="2"/>
              </a:rPr>
              <a:t>language</a:t>
            </a:r>
            <a:r>
              <a:rPr lang="zh-CN" altLang="en-US" dirty="0">
                <a:sym typeface="Wingdings" pitchFamily="2" charset="2"/>
              </a:rPr>
              <a:t>）：一个由基本元素和语法规则构建的用于表意与交流的</a:t>
            </a:r>
            <a:r>
              <a:rPr lang="zh-CN" altLang="en-US" dirty="0">
                <a:solidFill>
                  <a:srgbClr val="FF0000"/>
                </a:solidFill>
                <a:sym typeface="Wingdings" pitchFamily="2" charset="2"/>
              </a:rPr>
              <a:t>符号系统</a:t>
            </a:r>
            <a:r>
              <a:rPr lang="zh-CN" altLang="en-US" dirty="0">
                <a:sym typeface="Wingdings" pitchFamily="2" charset="2"/>
              </a:rPr>
              <a:t>（费尔迪南</a:t>
            </a:r>
            <a:r>
              <a:rPr lang="en-US" altLang="zh-CN" dirty="0">
                <a:sym typeface="Wingdings" pitchFamily="2" charset="2"/>
              </a:rPr>
              <a:t>·</a:t>
            </a:r>
            <a:r>
              <a:rPr lang="zh-CN" altLang="en-US" dirty="0">
                <a:sym typeface="Wingdings" pitchFamily="2" charset="2"/>
              </a:rPr>
              <a:t>德</a:t>
            </a:r>
            <a:r>
              <a:rPr lang="en-US" altLang="zh-CN" dirty="0">
                <a:sym typeface="Wingdings" pitchFamily="2" charset="2"/>
              </a:rPr>
              <a:t>·</a:t>
            </a:r>
            <a:r>
              <a:rPr lang="zh-CN" altLang="en-US" dirty="0">
                <a:sym typeface="Wingdings" pitchFamily="2" charset="2"/>
              </a:rPr>
              <a:t>索绪尔，诺姆</a:t>
            </a:r>
            <a:r>
              <a:rPr lang="en-US" altLang="zh-CN" dirty="0">
                <a:sym typeface="Wingdings" pitchFamily="2" charset="2"/>
              </a:rPr>
              <a:t>·</a:t>
            </a:r>
            <a:r>
              <a:rPr lang="zh-CN" altLang="en-US" dirty="0">
                <a:sym typeface="Wingdings" pitchFamily="2" charset="2"/>
              </a:rPr>
              <a:t>乔姆斯基）</a:t>
            </a:r>
            <a:endParaRPr lang="en-US" altLang="zh-CN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r>
              <a:rPr lang="zh-CN" altLang="en-US" dirty="0"/>
              <a:t>自然语言（人类语言）：通过使用自然演化出来的人类语言符号系统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形式语言：人为构建的</a:t>
            </a:r>
            <a:r>
              <a:rPr lang="zh-CN" altLang="en-US" dirty="0">
                <a:solidFill>
                  <a:srgbClr val="FF0000"/>
                </a:solidFill>
              </a:rPr>
              <a:t>严格符合语法规则</a:t>
            </a:r>
            <a:r>
              <a:rPr lang="zh-CN" altLang="en-US" dirty="0"/>
              <a:t>的符号系统（常用于计算机、逻辑、数学等）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496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EF25B-A5DE-3348-AAA7-B1AB072C6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自然语言处理：类似术语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1F479-B023-A340-9359-B6D5116CB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NLU: Natural Language Understanding</a:t>
            </a:r>
            <a:r>
              <a:rPr lang="zh-CN" altLang="en-US" dirty="0"/>
              <a:t>（自然语言理解）</a:t>
            </a:r>
            <a:endParaRPr lang="en-US" dirty="0"/>
          </a:p>
          <a:p>
            <a:r>
              <a:rPr lang="en-US" dirty="0"/>
              <a:t>NLC: Natural Language Computing</a:t>
            </a:r>
            <a:r>
              <a:rPr lang="zh-CN" altLang="en-US" dirty="0"/>
              <a:t>（自然语言计算）</a:t>
            </a:r>
            <a:endParaRPr lang="en-US" dirty="0"/>
          </a:p>
          <a:p>
            <a:r>
              <a:rPr lang="en-US" dirty="0"/>
              <a:t>HLP: Human Language Processing</a:t>
            </a:r>
            <a:r>
              <a:rPr lang="zh-CN" altLang="en-US" dirty="0"/>
              <a:t>（人类语言处理）</a:t>
            </a:r>
            <a:endParaRPr lang="en-US" dirty="0"/>
          </a:p>
          <a:p>
            <a:r>
              <a:rPr lang="en-US" dirty="0"/>
              <a:t>HLU: Human Language Understanding</a:t>
            </a:r>
            <a:r>
              <a:rPr lang="zh-CN" altLang="en-US" dirty="0"/>
              <a:t>（人类语言理解）</a:t>
            </a:r>
            <a:endParaRPr lang="en-US" dirty="0"/>
          </a:p>
          <a:p>
            <a:r>
              <a:rPr lang="en-US" dirty="0"/>
              <a:t>HLC: Human Language Computing</a:t>
            </a:r>
            <a:r>
              <a:rPr lang="zh-CN" altLang="en-US" dirty="0"/>
              <a:t>（人类语言计算）</a:t>
            </a:r>
            <a:endParaRPr lang="en-US" dirty="0"/>
          </a:p>
          <a:p>
            <a:r>
              <a:rPr lang="en-US" dirty="0"/>
              <a:t>HLT: Human Language Technology</a:t>
            </a:r>
            <a:r>
              <a:rPr lang="zh-CN" altLang="en-US" dirty="0"/>
              <a:t>（人类语言技术）</a:t>
            </a:r>
            <a:endParaRPr lang="en-US" dirty="0"/>
          </a:p>
          <a:p>
            <a:r>
              <a:rPr lang="en-US" dirty="0"/>
              <a:t>CL: Computational Linguistics</a:t>
            </a:r>
            <a:r>
              <a:rPr lang="zh-CN" altLang="en-US" dirty="0"/>
              <a:t>（计算语言学）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466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37A27-A73F-A34D-B27B-61C637639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 </a:t>
            </a:r>
            <a:r>
              <a:rPr lang="en-US" altLang="zh-CN" dirty="0"/>
              <a:t>vs</a:t>
            </a:r>
            <a:r>
              <a:rPr lang="zh-CN" altLang="en-US" dirty="0"/>
              <a:t> 计算语言学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CB1EB-B71C-3747-93F1-30E19A5FE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706" y="1339483"/>
            <a:ext cx="8515351" cy="5096039"/>
          </a:xfrm>
        </p:spPr>
        <p:txBody>
          <a:bodyPr/>
          <a:lstStyle/>
          <a:p>
            <a:r>
              <a:rPr lang="zh-CN" altLang="en-US" dirty="0"/>
              <a:t>自然语言处理：利用计算机处理和分析语言数据（偏重工程）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计算语言学：研究语言学科学问题的相关计算方法、理论、模型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两者使用的研究方法、模型等有很大重叠，主要区别在于目标不同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不存在两个单独的</a:t>
            </a:r>
            <a:r>
              <a:rPr lang="en-US" altLang="zh-CN" dirty="0"/>
              <a:t>community</a:t>
            </a:r>
            <a:r>
              <a:rPr lang="zh-CN" altLang="en-US" dirty="0"/>
              <a:t>，大家都参加同样的会议（</a:t>
            </a:r>
            <a:r>
              <a:rPr lang="en-US" altLang="zh-CN" dirty="0"/>
              <a:t>ACL</a:t>
            </a:r>
            <a:r>
              <a:rPr lang="zh-CN" altLang="en-US" dirty="0"/>
              <a:t>、</a:t>
            </a:r>
            <a:r>
              <a:rPr lang="en-US" altLang="zh-CN" dirty="0"/>
              <a:t>EMNLP</a:t>
            </a:r>
            <a:r>
              <a:rPr lang="zh-CN" altLang="en-US" dirty="0"/>
              <a:t>、</a:t>
            </a:r>
            <a:r>
              <a:rPr lang="en-US" altLang="zh-CN" dirty="0"/>
              <a:t>COLING</a:t>
            </a:r>
            <a:r>
              <a:rPr lang="zh-CN" altLang="en-US" dirty="0"/>
              <a:t>等）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8020C2-AB8E-EF4C-89D0-E5CCB8F6AF5E}"/>
              </a:ext>
            </a:extLst>
          </p:cNvPr>
          <p:cNvSpPr txBox="1"/>
          <p:nvPr/>
        </p:nvSpPr>
        <p:spPr>
          <a:xfrm>
            <a:off x="7257328" y="6435522"/>
            <a:ext cx="18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Jason</a:t>
            </a:r>
            <a:r>
              <a:rPr lang="zh-CN" altLang="en-US" dirty="0"/>
              <a:t> </a:t>
            </a:r>
            <a:r>
              <a:rPr lang="en-US" altLang="zh-CN" dirty="0"/>
              <a:t>Eisner</a:t>
            </a:r>
          </a:p>
        </p:txBody>
      </p:sp>
    </p:spTree>
    <p:extLst>
      <p:ext uri="{BB962C8B-B14F-4D97-AF65-F5344CB8AC3E}">
        <p14:creationId xmlns:p14="http://schemas.microsoft.com/office/powerpoint/2010/main" val="3560973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37A27-A73F-A34D-B27B-61C637639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 </a:t>
            </a:r>
            <a:r>
              <a:rPr lang="en-US" altLang="zh-CN" dirty="0"/>
              <a:t>vs</a:t>
            </a:r>
            <a:r>
              <a:rPr lang="zh-CN" altLang="en-US" dirty="0"/>
              <a:t> 计算语言学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CB1EB-B71C-3747-93F1-30E19A5FE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706" y="1339483"/>
            <a:ext cx="8515351" cy="5096039"/>
          </a:xfrm>
        </p:spPr>
        <p:txBody>
          <a:bodyPr/>
          <a:lstStyle/>
          <a:p>
            <a:r>
              <a:rPr lang="zh-CN" altLang="en-US" dirty="0"/>
              <a:t>这里也不明显区分两者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除了介绍自然语言处理技术层面的研究之外，也介绍计算语言学科学层面的探索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9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20E5D-8C1F-C649-982C-29D306A8F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自然语言处理研究内容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8871B-7B30-EC43-832B-99EB559E2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大致可分为四大部分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基础研究</a:t>
            </a:r>
            <a:r>
              <a:rPr lang="zh-CN" altLang="en-US" dirty="0"/>
              <a:t>：语言本身的计算机处理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传统应用研究</a:t>
            </a:r>
            <a:r>
              <a:rPr lang="zh-CN" altLang="en-US" dirty="0"/>
              <a:t>：</a:t>
            </a:r>
            <a:r>
              <a:rPr lang="en-US" altLang="zh-CN" dirty="0"/>
              <a:t>Well-defined</a:t>
            </a:r>
            <a:r>
              <a:rPr lang="zh-CN" altLang="en-US" dirty="0"/>
              <a:t> </a:t>
            </a:r>
            <a:r>
              <a:rPr lang="en-US" altLang="zh-CN" dirty="0"/>
              <a:t>downstream</a:t>
            </a:r>
            <a:r>
              <a:rPr lang="zh-CN" altLang="en-US" dirty="0"/>
              <a:t> </a:t>
            </a:r>
            <a:r>
              <a:rPr lang="en-US" altLang="zh-CN" dirty="0"/>
              <a:t>NLP</a:t>
            </a:r>
            <a:r>
              <a:rPr lang="zh-CN" altLang="en-US" dirty="0"/>
              <a:t> </a:t>
            </a:r>
            <a:r>
              <a:rPr lang="en-US" altLang="zh-CN" dirty="0"/>
              <a:t>tasks</a:t>
            </a:r>
            <a:r>
              <a:rPr lang="zh-CN" altLang="en-US" dirty="0"/>
              <a:t>研究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NLP+</a:t>
            </a:r>
            <a:r>
              <a:rPr lang="zh-CN" altLang="en-US" dirty="0">
                <a:solidFill>
                  <a:srgbClr val="FF0000"/>
                </a:solidFill>
              </a:rPr>
              <a:t>应用研究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/>
              <a:t>将自然语言处理技术应用于其他学科领域，如智能金融、法律、数字人文等</a:t>
            </a:r>
            <a:endParaRPr lang="en-US" altLang="zh-CN" dirty="0"/>
          </a:p>
          <a:p>
            <a:pPr lvl="2"/>
            <a:r>
              <a:rPr lang="zh-CN" altLang="en-US" dirty="0"/>
              <a:t>自然语言处理技术的各种创新应用</a:t>
            </a:r>
            <a:endParaRPr lang="en-US" altLang="zh-CN" dirty="0"/>
          </a:p>
          <a:p>
            <a:pPr lvl="2"/>
            <a:endParaRPr lang="en-US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相关领域交叉研究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/>
              <a:t>心理语言学</a:t>
            </a:r>
            <a:endParaRPr lang="en-US" altLang="zh-CN" dirty="0"/>
          </a:p>
          <a:p>
            <a:pPr lvl="2"/>
            <a:r>
              <a:rPr lang="zh-CN" altLang="en-US" dirty="0"/>
              <a:t>认知学</a:t>
            </a:r>
            <a:endParaRPr lang="en-US" altLang="zh-CN" dirty="0"/>
          </a:p>
          <a:p>
            <a:pPr lvl="2"/>
            <a:r>
              <a:rPr lang="zh-CN" altLang="en-US" dirty="0"/>
              <a:t>语音</a:t>
            </a:r>
            <a:endParaRPr lang="en-US" altLang="zh-CN" dirty="0"/>
          </a:p>
          <a:p>
            <a:pPr lvl="2"/>
            <a:r>
              <a:rPr lang="zh-CN" altLang="en-US" dirty="0"/>
              <a:t>图像</a:t>
            </a:r>
            <a:endParaRPr lang="en-US" altLang="zh-CN" dirty="0"/>
          </a:p>
          <a:p>
            <a:pPr lvl="2"/>
            <a:r>
              <a:rPr lang="zh-CN" altLang="en-US" dirty="0"/>
              <a:t>机器人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370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62CD-D49A-054C-B19C-4C535B447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自然语言处理：基础研究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32FFF-2BAC-2245-886A-A4A551702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自然语言处理基础研究：围绕语言本身各个层级信息处理展开的研究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语言是有层次结构的（</a:t>
            </a:r>
            <a:r>
              <a:rPr lang="en-US" altLang="zh-CN" dirty="0"/>
              <a:t>hierarchical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在语言的层级结构中</a:t>
            </a:r>
            <a:endParaRPr lang="en-US" altLang="zh-CN" dirty="0"/>
          </a:p>
          <a:p>
            <a:pPr lvl="1"/>
            <a:r>
              <a:rPr lang="zh-CN" altLang="en-US" dirty="0"/>
              <a:t>低层级的元素组合构建高层级元素</a:t>
            </a:r>
            <a:endParaRPr lang="en-US" altLang="zh-CN" dirty="0"/>
          </a:p>
          <a:p>
            <a:pPr lvl="1"/>
            <a:r>
              <a:rPr lang="zh-CN" altLang="en-US" dirty="0"/>
              <a:t>高层级的元素对低层级的元素形成管辖约束</a:t>
            </a:r>
            <a:endParaRPr lang="en-US" altLang="zh-CN" dirty="0"/>
          </a:p>
          <a:p>
            <a:pPr lvl="1"/>
            <a:r>
              <a:rPr lang="zh-CN" altLang="en-US" dirty="0"/>
              <a:t>通常，低层级元素小于高层级元素</a:t>
            </a:r>
            <a:endParaRPr lang="en-US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75692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2646-669F-5743-A3AF-EDCA9546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语言层级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46033-297C-5242-B965-DE5C50784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粗略划分，自然语言具有</a:t>
            </a:r>
            <a:r>
              <a:rPr lang="en-US" altLang="zh-CN" dirty="0"/>
              <a:t>7</a:t>
            </a:r>
            <a:r>
              <a:rPr lang="zh-CN" altLang="en-US" dirty="0"/>
              <a:t>个层级</a:t>
            </a:r>
            <a:endParaRPr lang="en-US" altLang="zh-CN" dirty="0"/>
          </a:p>
          <a:p>
            <a:pPr lvl="1"/>
            <a:r>
              <a:rPr lang="zh-CN" altLang="en-US" dirty="0"/>
              <a:t>音位层（</a:t>
            </a:r>
            <a:r>
              <a:rPr lang="en-US" altLang="zh-CN" dirty="0"/>
              <a:t>phonology</a:t>
            </a:r>
            <a:r>
              <a:rPr lang="zh-CN" altLang="en-US" dirty="0"/>
              <a:t>）：基本的音素</a:t>
            </a:r>
            <a:endParaRPr lang="en-US" altLang="zh-CN" dirty="0"/>
          </a:p>
          <a:p>
            <a:pPr lvl="1"/>
            <a:r>
              <a:rPr lang="zh-CN" altLang="en-US" dirty="0"/>
              <a:t>形态层（</a:t>
            </a:r>
            <a:r>
              <a:rPr lang="en-US" altLang="zh-CN" dirty="0"/>
              <a:t>morphology</a:t>
            </a:r>
            <a:r>
              <a:rPr lang="zh-CN" altLang="en-US" dirty="0"/>
              <a:t>）：字母、字、音素组合</a:t>
            </a:r>
            <a:endParaRPr lang="en-US" altLang="zh-CN" dirty="0"/>
          </a:p>
          <a:p>
            <a:pPr lvl="1"/>
            <a:r>
              <a:rPr lang="zh-CN" altLang="en-US" dirty="0"/>
              <a:t>词汇层（</a:t>
            </a:r>
            <a:r>
              <a:rPr lang="en-US" altLang="zh-CN" dirty="0"/>
              <a:t>lexicology</a:t>
            </a:r>
            <a:r>
              <a:rPr lang="zh-CN" altLang="en-US" dirty="0"/>
              <a:t>）：单词</a:t>
            </a:r>
            <a:endParaRPr lang="en-US" altLang="zh-CN" dirty="0"/>
          </a:p>
          <a:p>
            <a:pPr lvl="1"/>
            <a:r>
              <a:rPr lang="zh-CN" altLang="en-US" dirty="0"/>
              <a:t>句法层（</a:t>
            </a:r>
            <a:r>
              <a:rPr lang="en-US" altLang="zh-CN" dirty="0"/>
              <a:t>syntax</a:t>
            </a:r>
            <a:r>
              <a:rPr lang="zh-CN" altLang="en-US" dirty="0"/>
              <a:t>）：单词组合（短语、句子）</a:t>
            </a:r>
            <a:endParaRPr lang="en-US" altLang="zh-CN" dirty="0"/>
          </a:p>
          <a:p>
            <a:pPr lvl="1"/>
            <a:r>
              <a:rPr lang="zh-CN" altLang="en-US" dirty="0"/>
              <a:t>语义层（</a:t>
            </a:r>
            <a:r>
              <a:rPr lang="en-US" altLang="zh-CN" dirty="0"/>
              <a:t>semantics</a:t>
            </a:r>
            <a:r>
              <a:rPr lang="zh-CN" altLang="en-US" dirty="0"/>
              <a:t>）：含义、意义</a:t>
            </a:r>
            <a:endParaRPr lang="en-US" altLang="zh-CN" dirty="0"/>
          </a:p>
          <a:p>
            <a:pPr lvl="1"/>
            <a:r>
              <a:rPr lang="zh-CN" altLang="en-US" dirty="0"/>
              <a:t>语用层（</a:t>
            </a:r>
            <a:r>
              <a:rPr lang="en-US" altLang="zh-CN" dirty="0"/>
              <a:t>pragmatics</a:t>
            </a:r>
            <a:r>
              <a:rPr lang="zh-CN" altLang="en-US" dirty="0"/>
              <a:t>）：相对于上下文的语言含义解释</a:t>
            </a:r>
            <a:endParaRPr lang="en-US" altLang="zh-CN" dirty="0"/>
          </a:p>
          <a:p>
            <a:pPr lvl="1"/>
            <a:r>
              <a:rPr lang="zh-CN" altLang="en-US" dirty="0"/>
              <a:t>篇章层（</a:t>
            </a:r>
            <a:r>
              <a:rPr lang="en-US" altLang="zh-CN" dirty="0"/>
              <a:t>discourse</a:t>
            </a:r>
            <a:r>
              <a:rPr lang="zh-CN" altLang="en-US" dirty="0"/>
              <a:t>）：句子组合</a:t>
            </a:r>
            <a:endParaRPr lang="en-US" altLang="zh-C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307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2646-669F-5743-A3AF-EDCA9546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各个层级的自然语言处理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46033-297C-5242-B965-DE5C50784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各语言层级的研究</a:t>
            </a:r>
            <a:endParaRPr lang="en-US" altLang="zh-CN" dirty="0"/>
          </a:p>
          <a:p>
            <a:pPr lvl="1"/>
            <a:r>
              <a:rPr lang="zh-CN" altLang="en-US" dirty="0"/>
              <a:t>计算音位学（</a:t>
            </a:r>
            <a:r>
              <a:rPr lang="en-US" altLang="zh-CN" dirty="0"/>
              <a:t>computational</a:t>
            </a:r>
            <a:r>
              <a:rPr lang="zh-CN" altLang="en-US" dirty="0"/>
              <a:t> </a:t>
            </a:r>
            <a:r>
              <a:rPr lang="en-US" altLang="zh-CN" dirty="0"/>
              <a:t>phonology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计算词态学（</a:t>
            </a:r>
            <a:r>
              <a:rPr lang="en-US" altLang="zh-CN" dirty="0"/>
              <a:t>computational</a:t>
            </a:r>
            <a:r>
              <a:rPr lang="zh-CN" altLang="en-US" dirty="0"/>
              <a:t> </a:t>
            </a:r>
            <a:r>
              <a:rPr lang="en-US" altLang="zh-CN" dirty="0"/>
              <a:t>morphology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计算词汇学（</a:t>
            </a:r>
            <a:r>
              <a:rPr lang="en-US" altLang="zh-CN" dirty="0"/>
              <a:t>computational</a:t>
            </a:r>
            <a:r>
              <a:rPr lang="zh-CN" altLang="en-US" dirty="0"/>
              <a:t> </a:t>
            </a:r>
            <a:r>
              <a:rPr lang="en-US" altLang="zh-CN" dirty="0"/>
              <a:t>lexicology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计算句法学（</a:t>
            </a:r>
            <a:r>
              <a:rPr lang="en-US" altLang="zh-CN" dirty="0"/>
              <a:t>computational</a:t>
            </a:r>
            <a:r>
              <a:rPr lang="zh-CN" altLang="en-US" dirty="0"/>
              <a:t> </a:t>
            </a:r>
            <a:r>
              <a:rPr lang="en-US" altLang="zh-CN" dirty="0"/>
              <a:t>syntax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计算语义学（</a:t>
            </a:r>
            <a:r>
              <a:rPr lang="en-US" altLang="zh-CN" dirty="0"/>
              <a:t>computational</a:t>
            </a:r>
            <a:r>
              <a:rPr lang="zh-CN" altLang="en-US" dirty="0"/>
              <a:t> </a:t>
            </a:r>
            <a:r>
              <a:rPr lang="en-US" altLang="zh-CN" dirty="0"/>
              <a:t>semantics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计算语用学（</a:t>
            </a:r>
            <a:r>
              <a:rPr lang="en-US" altLang="zh-CN" dirty="0"/>
              <a:t>computational</a:t>
            </a:r>
            <a:r>
              <a:rPr lang="zh-CN" altLang="en-US" dirty="0"/>
              <a:t> </a:t>
            </a:r>
            <a:r>
              <a:rPr lang="en-US" altLang="zh-CN" dirty="0"/>
              <a:t>pragmatics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计算篇章学（</a:t>
            </a:r>
            <a:r>
              <a:rPr lang="en-US" altLang="zh-CN" dirty="0"/>
              <a:t>computational</a:t>
            </a:r>
            <a:r>
              <a:rPr lang="zh-CN" altLang="en-US" dirty="0"/>
              <a:t> </a:t>
            </a:r>
            <a:r>
              <a:rPr lang="en-US" altLang="zh-CN" dirty="0"/>
              <a:t>discourse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539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2646-669F-5743-A3AF-EDCA9546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各个层级的自然语言处理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46033-297C-5242-B965-DE5C50784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dirty="0"/>
              <a:t>A</a:t>
            </a:r>
            <a:r>
              <a:rPr lang="zh-CN" altLang="en-US" dirty="0"/>
              <a:t>：喝杯啤酒吧？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：前天体检，医生说我三高了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：那来杯果汁？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：好的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：最近有什么旅游计划吗？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：</a:t>
            </a:r>
            <a:r>
              <a:rPr lang="en-US" altLang="zh-CN" dirty="0"/>
              <a:t>…</a:t>
            </a:r>
          </a:p>
          <a:p>
            <a:pPr marL="457200" lvl="1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4911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2646-669F-5743-A3AF-EDCA9546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各个层级的自然语言处理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46033-297C-5242-B965-DE5C50784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dirty="0"/>
              <a:t>A</a:t>
            </a:r>
            <a:r>
              <a:rPr lang="zh-CN" altLang="en-US" dirty="0"/>
              <a:t>：喝杯啤酒吧？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：前天体检，医生说我三高了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：那来杯果汁？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：好的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：最近有什么旅游计划吗？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：</a:t>
            </a:r>
            <a:r>
              <a:rPr lang="en-US" altLang="zh-CN" dirty="0"/>
              <a:t>…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形态：</a:t>
            </a:r>
            <a:r>
              <a:rPr lang="zh-CN" altLang="en-US" dirty="0"/>
              <a:t>最近 有 什么 旅游 计划 吗 ？（分词）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词汇：</a:t>
            </a:r>
            <a:r>
              <a:rPr lang="zh-CN" altLang="en-US" dirty="0"/>
              <a:t>三高指什么，体检的同义词是什么，果汁怎么表示？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1265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2646-669F-5743-A3AF-EDCA9546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各个层级的自然语言处理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46033-297C-5242-B965-DE5C50784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dirty="0"/>
              <a:t>A</a:t>
            </a:r>
            <a:r>
              <a:rPr lang="zh-CN" altLang="en-US" dirty="0"/>
              <a:t>：喝杯啤酒吧？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：前天体检，医生说我三高了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：那来杯果汁？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：好的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：最近有什么旅游计划吗？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：</a:t>
            </a:r>
            <a:r>
              <a:rPr lang="en-US" altLang="zh-CN" dirty="0"/>
              <a:t>…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形态：</a:t>
            </a:r>
            <a:r>
              <a:rPr lang="zh-CN" altLang="en-US" dirty="0"/>
              <a:t>最近 有 什么 旅游 计划 吗 ？（分词）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词汇：</a:t>
            </a:r>
            <a:r>
              <a:rPr lang="zh-CN" altLang="en-US" dirty="0"/>
              <a:t>三高指什么，体检的同义词是什么，果汁怎么表示？</a:t>
            </a:r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630627-D4D8-4C45-9865-3242FB697894}"/>
              </a:ext>
            </a:extLst>
          </p:cNvPr>
          <p:cNvSpPr txBox="1"/>
          <p:nvPr/>
        </p:nvSpPr>
        <p:spPr>
          <a:xfrm>
            <a:off x="6423950" y="2291786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33F8C-68BE-5C4C-8B12-E7381A901BCF}"/>
              </a:ext>
            </a:extLst>
          </p:cNvPr>
          <p:cNvSpPr txBox="1"/>
          <p:nvPr/>
        </p:nvSpPr>
        <p:spPr>
          <a:xfrm>
            <a:off x="5696674" y="2927072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F2EA0C-25E1-7B44-AE59-8529900FBB86}"/>
              </a:ext>
            </a:extLst>
          </p:cNvPr>
          <p:cNvSpPr txBox="1"/>
          <p:nvPr/>
        </p:nvSpPr>
        <p:spPr>
          <a:xfrm>
            <a:off x="7064417" y="2927072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FE62EA-98FB-AF4A-8E5C-38F28A40F9AE}"/>
              </a:ext>
            </a:extLst>
          </p:cNvPr>
          <p:cNvSpPr txBox="1"/>
          <p:nvPr/>
        </p:nvSpPr>
        <p:spPr>
          <a:xfrm>
            <a:off x="5696674" y="3588154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FA2274-5259-BF41-A02E-F43C7472028E}"/>
              </a:ext>
            </a:extLst>
          </p:cNvPr>
          <p:cNvSpPr txBox="1"/>
          <p:nvPr/>
        </p:nvSpPr>
        <p:spPr>
          <a:xfrm>
            <a:off x="6645725" y="3553430"/>
            <a:ext cx="448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VV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59A58F-65BA-D241-8AF1-2394F2ABC015}"/>
              </a:ext>
            </a:extLst>
          </p:cNvPr>
          <p:cNvSpPr txBox="1"/>
          <p:nvPr/>
        </p:nvSpPr>
        <p:spPr>
          <a:xfrm>
            <a:off x="7788037" y="3553430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IP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9353DB0-F5C9-B846-AEE4-4D9088ABBE68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5922858" y="2661118"/>
            <a:ext cx="646324" cy="265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C16275E-F74D-774B-81BA-6CEE72C53668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6569182" y="2661118"/>
            <a:ext cx="712602" cy="265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EEF2D5-F47C-D848-8243-6D93CC298A94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5922858" y="3296404"/>
            <a:ext cx="15228" cy="291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8016C66-9160-7743-81D6-CC81D3A6029B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 flipH="1">
            <a:off x="6870017" y="3296404"/>
            <a:ext cx="411767" cy="2570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408CA6-9CAE-424B-95CA-BDFA9494D240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>
            <a:off x="7281784" y="3296404"/>
            <a:ext cx="686751" cy="2570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24E265E-DBBF-3342-9124-E608FA03C6BA}"/>
              </a:ext>
            </a:extLst>
          </p:cNvPr>
          <p:cNvSpPr txBox="1"/>
          <p:nvPr/>
        </p:nvSpPr>
        <p:spPr>
          <a:xfrm>
            <a:off x="5622031" y="43157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医生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D61A2D-17BD-7945-A9C7-80AFE1C98693}"/>
              </a:ext>
            </a:extLst>
          </p:cNvPr>
          <p:cNvSpPr txBox="1"/>
          <p:nvPr/>
        </p:nvSpPr>
        <p:spPr>
          <a:xfrm>
            <a:off x="6665522" y="431577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说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03545D-27B6-DD4A-8A1F-78C645A159F1}"/>
              </a:ext>
            </a:extLst>
          </p:cNvPr>
          <p:cNvSpPr txBox="1"/>
          <p:nvPr/>
        </p:nvSpPr>
        <p:spPr>
          <a:xfrm>
            <a:off x="7432248" y="43157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我三高了</a:t>
            </a:r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47B4C2E-627D-144C-90E3-45929629DE45}"/>
              </a:ext>
            </a:extLst>
          </p:cNvPr>
          <p:cNvCxnSpPr>
            <a:cxnSpLocks/>
            <a:stCxn id="11" idx="2"/>
            <a:endCxn id="26" idx="0"/>
          </p:cNvCxnSpPr>
          <p:nvPr/>
        </p:nvCxnSpPr>
        <p:spPr>
          <a:xfrm>
            <a:off x="5938086" y="3957486"/>
            <a:ext cx="7111" cy="3582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6F7FBE3-8D29-314F-A8CE-72BD17250D3F}"/>
              </a:ext>
            </a:extLst>
          </p:cNvPr>
          <p:cNvCxnSpPr>
            <a:stCxn id="12" idx="2"/>
            <a:endCxn id="27" idx="0"/>
          </p:cNvCxnSpPr>
          <p:nvPr/>
        </p:nvCxnSpPr>
        <p:spPr>
          <a:xfrm>
            <a:off x="6870017" y="3922762"/>
            <a:ext cx="3254" cy="393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riangle 32">
            <a:extLst>
              <a:ext uri="{FF2B5EF4-FFF2-40B4-BE49-F238E27FC236}">
                <a16:creationId xmlns:a16="http://schemas.microsoft.com/office/drawing/2014/main" id="{10185407-9ECA-CA46-8018-2225DA3012C1}"/>
              </a:ext>
            </a:extLst>
          </p:cNvPr>
          <p:cNvSpPr/>
          <p:nvPr/>
        </p:nvSpPr>
        <p:spPr>
          <a:xfrm>
            <a:off x="7621913" y="3855169"/>
            <a:ext cx="686751" cy="428268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Left Bracket 33">
            <a:extLst>
              <a:ext uri="{FF2B5EF4-FFF2-40B4-BE49-F238E27FC236}">
                <a16:creationId xmlns:a16="http://schemas.microsoft.com/office/drawing/2014/main" id="{4C842AE6-135A-D240-B844-C1463D695BCC}"/>
              </a:ext>
            </a:extLst>
          </p:cNvPr>
          <p:cNvSpPr/>
          <p:nvPr/>
        </p:nvSpPr>
        <p:spPr>
          <a:xfrm>
            <a:off x="5251335" y="2465407"/>
            <a:ext cx="329594" cy="2062220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992E2F-93A5-D44E-B054-2524F4034E9D}"/>
              </a:ext>
            </a:extLst>
          </p:cNvPr>
          <p:cNvSpPr txBox="1"/>
          <p:nvPr/>
        </p:nvSpPr>
        <p:spPr>
          <a:xfrm>
            <a:off x="4805425" y="3254411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句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法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095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2646-669F-5743-A3AF-EDCA9546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各个层级的自然语言处理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46033-297C-5242-B965-DE5C50784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dirty="0"/>
              <a:t>A</a:t>
            </a:r>
            <a:r>
              <a:rPr lang="zh-CN" altLang="en-US" dirty="0"/>
              <a:t>：喝杯啤酒吧？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0070C0"/>
                </a:solidFill>
              </a:rPr>
              <a:t>前天体检，医生说我三高了</a:t>
            </a:r>
            <a:r>
              <a:rPr lang="zh-CN" altLang="en-US" dirty="0">
                <a:solidFill>
                  <a:srgbClr val="FF0000"/>
                </a:solidFill>
              </a:rPr>
              <a:t>（表达意思：语义；言外之意：语用）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：那来杯果汁？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：好的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：最近有什么旅游计划吗？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：</a:t>
            </a:r>
            <a:r>
              <a:rPr lang="en-US" altLang="zh-CN" dirty="0"/>
              <a:t>…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形态：</a:t>
            </a:r>
            <a:r>
              <a:rPr lang="zh-CN" altLang="en-US" dirty="0"/>
              <a:t>最近 有 什么 旅游 计划 吗 ？（分词）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词汇：</a:t>
            </a:r>
            <a:r>
              <a:rPr lang="zh-CN" altLang="en-US" dirty="0"/>
              <a:t>三高指什么，体检的同义词是什么，果汁怎么表示？</a:t>
            </a:r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630627-D4D8-4C45-9865-3242FB697894}"/>
              </a:ext>
            </a:extLst>
          </p:cNvPr>
          <p:cNvSpPr txBox="1"/>
          <p:nvPr/>
        </p:nvSpPr>
        <p:spPr>
          <a:xfrm>
            <a:off x="6423950" y="2291786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33F8C-68BE-5C4C-8B12-E7381A901BCF}"/>
              </a:ext>
            </a:extLst>
          </p:cNvPr>
          <p:cNvSpPr txBox="1"/>
          <p:nvPr/>
        </p:nvSpPr>
        <p:spPr>
          <a:xfrm>
            <a:off x="5696674" y="2927072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F2EA0C-25E1-7B44-AE59-8529900FBB86}"/>
              </a:ext>
            </a:extLst>
          </p:cNvPr>
          <p:cNvSpPr txBox="1"/>
          <p:nvPr/>
        </p:nvSpPr>
        <p:spPr>
          <a:xfrm>
            <a:off x="7064417" y="2927072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FE62EA-98FB-AF4A-8E5C-38F28A40F9AE}"/>
              </a:ext>
            </a:extLst>
          </p:cNvPr>
          <p:cNvSpPr txBox="1"/>
          <p:nvPr/>
        </p:nvSpPr>
        <p:spPr>
          <a:xfrm>
            <a:off x="5696674" y="3588154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FA2274-5259-BF41-A02E-F43C7472028E}"/>
              </a:ext>
            </a:extLst>
          </p:cNvPr>
          <p:cNvSpPr txBox="1"/>
          <p:nvPr/>
        </p:nvSpPr>
        <p:spPr>
          <a:xfrm>
            <a:off x="6645725" y="3553430"/>
            <a:ext cx="448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VV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59A58F-65BA-D241-8AF1-2394F2ABC015}"/>
              </a:ext>
            </a:extLst>
          </p:cNvPr>
          <p:cNvSpPr txBox="1"/>
          <p:nvPr/>
        </p:nvSpPr>
        <p:spPr>
          <a:xfrm>
            <a:off x="7788037" y="3553430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IP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9353DB0-F5C9-B846-AEE4-4D9088ABBE68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5922858" y="2661118"/>
            <a:ext cx="646324" cy="265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C16275E-F74D-774B-81BA-6CEE72C53668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6569182" y="2661118"/>
            <a:ext cx="712602" cy="265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EEF2D5-F47C-D848-8243-6D93CC298A94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5922858" y="3296404"/>
            <a:ext cx="15228" cy="291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8016C66-9160-7743-81D6-CC81D3A6029B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 flipH="1">
            <a:off x="6870017" y="3296404"/>
            <a:ext cx="411767" cy="2570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408CA6-9CAE-424B-95CA-BDFA9494D240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>
            <a:off x="7281784" y="3296404"/>
            <a:ext cx="686751" cy="2570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24E265E-DBBF-3342-9124-E608FA03C6BA}"/>
              </a:ext>
            </a:extLst>
          </p:cNvPr>
          <p:cNvSpPr txBox="1"/>
          <p:nvPr/>
        </p:nvSpPr>
        <p:spPr>
          <a:xfrm>
            <a:off x="5622031" y="43157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医生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D61A2D-17BD-7945-A9C7-80AFE1C98693}"/>
              </a:ext>
            </a:extLst>
          </p:cNvPr>
          <p:cNvSpPr txBox="1"/>
          <p:nvPr/>
        </p:nvSpPr>
        <p:spPr>
          <a:xfrm>
            <a:off x="6665522" y="431577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说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03545D-27B6-DD4A-8A1F-78C645A159F1}"/>
              </a:ext>
            </a:extLst>
          </p:cNvPr>
          <p:cNvSpPr txBox="1"/>
          <p:nvPr/>
        </p:nvSpPr>
        <p:spPr>
          <a:xfrm>
            <a:off x="7432248" y="43157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我三高了</a:t>
            </a:r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47B4C2E-627D-144C-90E3-45929629DE45}"/>
              </a:ext>
            </a:extLst>
          </p:cNvPr>
          <p:cNvCxnSpPr>
            <a:cxnSpLocks/>
            <a:stCxn id="11" idx="2"/>
            <a:endCxn id="26" idx="0"/>
          </p:cNvCxnSpPr>
          <p:nvPr/>
        </p:nvCxnSpPr>
        <p:spPr>
          <a:xfrm>
            <a:off x="5938086" y="3957486"/>
            <a:ext cx="7111" cy="3582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6F7FBE3-8D29-314F-A8CE-72BD17250D3F}"/>
              </a:ext>
            </a:extLst>
          </p:cNvPr>
          <p:cNvCxnSpPr>
            <a:stCxn id="12" idx="2"/>
            <a:endCxn id="27" idx="0"/>
          </p:cNvCxnSpPr>
          <p:nvPr/>
        </p:nvCxnSpPr>
        <p:spPr>
          <a:xfrm>
            <a:off x="6870017" y="3922762"/>
            <a:ext cx="3254" cy="393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riangle 32">
            <a:extLst>
              <a:ext uri="{FF2B5EF4-FFF2-40B4-BE49-F238E27FC236}">
                <a16:creationId xmlns:a16="http://schemas.microsoft.com/office/drawing/2014/main" id="{10185407-9ECA-CA46-8018-2225DA3012C1}"/>
              </a:ext>
            </a:extLst>
          </p:cNvPr>
          <p:cNvSpPr/>
          <p:nvPr/>
        </p:nvSpPr>
        <p:spPr>
          <a:xfrm>
            <a:off x="7621913" y="3855169"/>
            <a:ext cx="686751" cy="428268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Left Bracket 33">
            <a:extLst>
              <a:ext uri="{FF2B5EF4-FFF2-40B4-BE49-F238E27FC236}">
                <a16:creationId xmlns:a16="http://schemas.microsoft.com/office/drawing/2014/main" id="{4C842AE6-135A-D240-B844-C1463D695BCC}"/>
              </a:ext>
            </a:extLst>
          </p:cNvPr>
          <p:cNvSpPr/>
          <p:nvPr/>
        </p:nvSpPr>
        <p:spPr>
          <a:xfrm>
            <a:off x="5251335" y="2465407"/>
            <a:ext cx="329594" cy="2062220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992E2F-93A5-D44E-B054-2524F4034E9D}"/>
              </a:ext>
            </a:extLst>
          </p:cNvPr>
          <p:cNvSpPr txBox="1"/>
          <p:nvPr/>
        </p:nvSpPr>
        <p:spPr>
          <a:xfrm>
            <a:off x="4805425" y="3254411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句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法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321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2646-669F-5743-A3AF-EDCA9546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各个层级的自然语言处理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46033-297C-5242-B965-DE5C50784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dirty="0"/>
              <a:t>A</a:t>
            </a:r>
            <a:r>
              <a:rPr lang="zh-CN" altLang="en-US" dirty="0"/>
              <a:t>：喝杯啤酒吧？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0070C0"/>
                </a:solidFill>
              </a:rPr>
              <a:t>前天体检，医生说我三高了</a:t>
            </a:r>
            <a:r>
              <a:rPr lang="zh-CN" altLang="en-US" dirty="0">
                <a:solidFill>
                  <a:srgbClr val="FF0000"/>
                </a:solidFill>
              </a:rPr>
              <a:t>（表达意思：语义；言外之意：语用）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：那来杯果汁？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：好的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：最近有什么旅游计划吗？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B</a:t>
            </a:r>
            <a:r>
              <a:rPr lang="zh-CN" altLang="en-US" dirty="0"/>
              <a:t>：</a:t>
            </a:r>
            <a:r>
              <a:rPr lang="en-US" altLang="zh-CN" dirty="0"/>
              <a:t>…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形态：</a:t>
            </a:r>
            <a:r>
              <a:rPr lang="zh-CN" altLang="en-US" dirty="0"/>
              <a:t>最近 有 什么 旅游 计划 吗 ？（分词）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词汇：</a:t>
            </a:r>
            <a:r>
              <a:rPr lang="zh-CN" altLang="en-US" dirty="0"/>
              <a:t>三高指什么，体检的同义词是什么，果汁怎么表示？</a:t>
            </a:r>
            <a:endParaRPr lang="en-US" altLang="zh-CN" dirty="0"/>
          </a:p>
        </p:txBody>
      </p:sp>
      <p:sp>
        <p:nvSpPr>
          <p:cNvPr id="4" name="Left Bracket 3">
            <a:extLst>
              <a:ext uri="{FF2B5EF4-FFF2-40B4-BE49-F238E27FC236}">
                <a16:creationId xmlns:a16="http://schemas.microsoft.com/office/drawing/2014/main" id="{A0E08BAE-4A1E-114E-B95F-6A7E78E5C829}"/>
              </a:ext>
            </a:extLst>
          </p:cNvPr>
          <p:cNvSpPr/>
          <p:nvPr/>
        </p:nvSpPr>
        <p:spPr>
          <a:xfrm rot="10800000" flipH="1">
            <a:off x="739066" y="1469985"/>
            <a:ext cx="148681" cy="1613874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Bracket 4">
            <a:extLst>
              <a:ext uri="{FF2B5EF4-FFF2-40B4-BE49-F238E27FC236}">
                <a16:creationId xmlns:a16="http://schemas.microsoft.com/office/drawing/2014/main" id="{37FCF01D-4FD9-BD45-87C9-1A828CE0A328}"/>
              </a:ext>
            </a:extLst>
          </p:cNvPr>
          <p:cNvSpPr/>
          <p:nvPr/>
        </p:nvSpPr>
        <p:spPr>
          <a:xfrm>
            <a:off x="729205" y="3773344"/>
            <a:ext cx="138317" cy="474562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2B940688-DE07-7146-ADFB-0D2B78112987}"/>
              </a:ext>
            </a:extLst>
          </p:cNvPr>
          <p:cNvSpPr/>
          <p:nvPr/>
        </p:nvSpPr>
        <p:spPr>
          <a:xfrm>
            <a:off x="327706" y="2187617"/>
            <a:ext cx="401499" cy="1828800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A04811-9217-D548-BA79-2954EA658D1B}"/>
              </a:ext>
            </a:extLst>
          </p:cNvPr>
          <p:cNvSpPr txBox="1"/>
          <p:nvPr/>
        </p:nvSpPr>
        <p:spPr>
          <a:xfrm>
            <a:off x="-46299" y="2743201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篇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章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630627-D4D8-4C45-9865-3242FB697894}"/>
              </a:ext>
            </a:extLst>
          </p:cNvPr>
          <p:cNvSpPr txBox="1"/>
          <p:nvPr/>
        </p:nvSpPr>
        <p:spPr>
          <a:xfrm>
            <a:off x="6423950" y="2291786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33F8C-68BE-5C4C-8B12-E7381A901BCF}"/>
              </a:ext>
            </a:extLst>
          </p:cNvPr>
          <p:cNvSpPr txBox="1"/>
          <p:nvPr/>
        </p:nvSpPr>
        <p:spPr>
          <a:xfrm>
            <a:off x="5696674" y="2927072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F2EA0C-25E1-7B44-AE59-8529900FBB86}"/>
              </a:ext>
            </a:extLst>
          </p:cNvPr>
          <p:cNvSpPr txBox="1"/>
          <p:nvPr/>
        </p:nvSpPr>
        <p:spPr>
          <a:xfrm>
            <a:off x="7064417" y="2927072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FE62EA-98FB-AF4A-8E5C-38F28A40F9AE}"/>
              </a:ext>
            </a:extLst>
          </p:cNvPr>
          <p:cNvSpPr txBox="1"/>
          <p:nvPr/>
        </p:nvSpPr>
        <p:spPr>
          <a:xfrm>
            <a:off x="5696674" y="3588154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FA2274-5259-BF41-A02E-F43C7472028E}"/>
              </a:ext>
            </a:extLst>
          </p:cNvPr>
          <p:cNvSpPr txBox="1"/>
          <p:nvPr/>
        </p:nvSpPr>
        <p:spPr>
          <a:xfrm>
            <a:off x="6645725" y="3553430"/>
            <a:ext cx="448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VV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59A58F-65BA-D241-8AF1-2394F2ABC015}"/>
              </a:ext>
            </a:extLst>
          </p:cNvPr>
          <p:cNvSpPr txBox="1"/>
          <p:nvPr/>
        </p:nvSpPr>
        <p:spPr>
          <a:xfrm>
            <a:off x="7788037" y="3553430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IP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9353DB0-F5C9-B846-AEE4-4D9088ABBE68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5922858" y="2661118"/>
            <a:ext cx="646324" cy="265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C16275E-F74D-774B-81BA-6CEE72C53668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6569182" y="2661118"/>
            <a:ext cx="712602" cy="265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EEF2D5-F47C-D848-8243-6D93CC298A94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5922858" y="3296404"/>
            <a:ext cx="15228" cy="291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8016C66-9160-7743-81D6-CC81D3A6029B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 flipH="1">
            <a:off x="6870017" y="3296404"/>
            <a:ext cx="411767" cy="2570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408CA6-9CAE-424B-95CA-BDFA9494D240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>
            <a:off x="7281784" y="3296404"/>
            <a:ext cx="686751" cy="2570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24E265E-DBBF-3342-9124-E608FA03C6BA}"/>
              </a:ext>
            </a:extLst>
          </p:cNvPr>
          <p:cNvSpPr txBox="1"/>
          <p:nvPr/>
        </p:nvSpPr>
        <p:spPr>
          <a:xfrm>
            <a:off x="5622031" y="43157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医生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D61A2D-17BD-7945-A9C7-80AFE1C98693}"/>
              </a:ext>
            </a:extLst>
          </p:cNvPr>
          <p:cNvSpPr txBox="1"/>
          <p:nvPr/>
        </p:nvSpPr>
        <p:spPr>
          <a:xfrm>
            <a:off x="6665522" y="431577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说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03545D-27B6-DD4A-8A1F-78C645A159F1}"/>
              </a:ext>
            </a:extLst>
          </p:cNvPr>
          <p:cNvSpPr txBox="1"/>
          <p:nvPr/>
        </p:nvSpPr>
        <p:spPr>
          <a:xfrm>
            <a:off x="7432248" y="43157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我三高了</a:t>
            </a:r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47B4C2E-627D-144C-90E3-45929629DE45}"/>
              </a:ext>
            </a:extLst>
          </p:cNvPr>
          <p:cNvCxnSpPr>
            <a:cxnSpLocks/>
            <a:stCxn id="11" idx="2"/>
            <a:endCxn id="26" idx="0"/>
          </p:cNvCxnSpPr>
          <p:nvPr/>
        </p:nvCxnSpPr>
        <p:spPr>
          <a:xfrm>
            <a:off x="5938086" y="3957486"/>
            <a:ext cx="7111" cy="3582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6F7FBE3-8D29-314F-A8CE-72BD17250D3F}"/>
              </a:ext>
            </a:extLst>
          </p:cNvPr>
          <p:cNvCxnSpPr>
            <a:stCxn id="12" idx="2"/>
            <a:endCxn id="27" idx="0"/>
          </p:cNvCxnSpPr>
          <p:nvPr/>
        </p:nvCxnSpPr>
        <p:spPr>
          <a:xfrm>
            <a:off x="6870017" y="3922762"/>
            <a:ext cx="3254" cy="393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riangle 32">
            <a:extLst>
              <a:ext uri="{FF2B5EF4-FFF2-40B4-BE49-F238E27FC236}">
                <a16:creationId xmlns:a16="http://schemas.microsoft.com/office/drawing/2014/main" id="{10185407-9ECA-CA46-8018-2225DA3012C1}"/>
              </a:ext>
            </a:extLst>
          </p:cNvPr>
          <p:cNvSpPr/>
          <p:nvPr/>
        </p:nvSpPr>
        <p:spPr>
          <a:xfrm>
            <a:off x="7621913" y="3855169"/>
            <a:ext cx="686751" cy="428268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Left Bracket 33">
            <a:extLst>
              <a:ext uri="{FF2B5EF4-FFF2-40B4-BE49-F238E27FC236}">
                <a16:creationId xmlns:a16="http://schemas.microsoft.com/office/drawing/2014/main" id="{4C842AE6-135A-D240-B844-C1463D695BCC}"/>
              </a:ext>
            </a:extLst>
          </p:cNvPr>
          <p:cNvSpPr/>
          <p:nvPr/>
        </p:nvSpPr>
        <p:spPr>
          <a:xfrm>
            <a:off x="5251335" y="2465407"/>
            <a:ext cx="329594" cy="2062220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992E2F-93A5-D44E-B054-2524F4034E9D}"/>
              </a:ext>
            </a:extLst>
          </p:cNvPr>
          <p:cNvSpPr txBox="1"/>
          <p:nvPr/>
        </p:nvSpPr>
        <p:spPr>
          <a:xfrm>
            <a:off x="4805425" y="3254411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句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法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121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A2C7B-DB33-5149-A532-4BFE90713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自然语言处理：应用研究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17C12-34F6-244D-AE42-133204232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在自然语言处理基础研究之上，我们还可以做些什么？</a:t>
            </a:r>
            <a:endParaRPr lang="en-US" altLang="zh-CN" dirty="0"/>
          </a:p>
          <a:p>
            <a:r>
              <a:rPr lang="en-US" altLang="zh-CN" dirty="0"/>
              <a:t>NLP</a:t>
            </a:r>
            <a:r>
              <a:rPr lang="zh-CN" altLang="en-US" dirty="0"/>
              <a:t>下游任务：人类某些语言能力的计算机实现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93660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A2C7B-DB33-5149-A532-4BFE90713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自然语言处理：应用研究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17C12-34F6-244D-AE42-133204232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在自然语言处理基础研究之上，我们还可以做些什么？</a:t>
            </a:r>
            <a:endParaRPr lang="en-US" altLang="zh-CN" dirty="0"/>
          </a:p>
          <a:p>
            <a:r>
              <a:rPr lang="en-US" altLang="zh-CN" dirty="0"/>
              <a:t>NLP</a:t>
            </a:r>
            <a:r>
              <a:rPr lang="zh-CN" altLang="en-US" dirty="0"/>
              <a:t>下游任务：人类某些语言能力的计算机实现</a:t>
            </a:r>
            <a:endParaRPr lang="en-US" altLang="zh-CN" dirty="0"/>
          </a:p>
          <a:p>
            <a:pPr lvl="1"/>
            <a:r>
              <a:rPr lang="zh-CN" altLang="en-US" dirty="0"/>
              <a:t>信息抽取</a:t>
            </a:r>
            <a:endParaRPr lang="en-US" altLang="zh-CN" dirty="0"/>
          </a:p>
          <a:p>
            <a:pPr lvl="1"/>
            <a:r>
              <a:rPr lang="zh-CN" altLang="en-US" dirty="0"/>
              <a:t>情感分析</a:t>
            </a:r>
            <a:endParaRPr lang="en-US" altLang="zh-CN" dirty="0"/>
          </a:p>
          <a:p>
            <a:pPr lvl="1"/>
            <a:r>
              <a:rPr lang="zh-CN" altLang="en-US" dirty="0"/>
              <a:t>文本分类</a:t>
            </a:r>
            <a:endParaRPr lang="en-US" altLang="zh-CN" dirty="0"/>
          </a:p>
          <a:p>
            <a:pPr lvl="1"/>
            <a:r>
              <a:rPr lang="zh-CN" altLang="en-US" dirty="0"/>
              <a:t>自然语言生成</a:t>
            </a:r>
            <a:endParaRPr lang="en-US" altLang="zh-CN" dirty="0"/>
          </a:p>
          <a:p>
            <a:pPr lvl="1"/>
            <a:r>
              <a:rPr lang="zh-CN" altLang="en-US" dirty="0"/>
              <a:t>机器翻译</a:t>
            </a:r>
            <a:endParaRPr lang="en-US" altLang="zh-CN" dirty="0"/>
          </a:p>
          <a:p>
            <a:pPr lvl="1"/>
            <a:r>
              <a:rPr lang="zh-CN" altLang="en-US" dirty="0"/>
              <a:t>对话</a:t>
            </a:r>
            <a:endParaRPr lang="en-US" altLang="zh-CN" dirty="0"/>
          </a:p>
          <a:p>
            <a:pPr lvl="1"/>
            <a:r>
              <a:rPr lang="zh-CN" altLang="en-US" dirty="0"/>
              <a:t>问答与机器阅读理解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772320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EF580-8B5E-5847-84E0-AAC0B2D16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/>
              <a:t>自然语言生成（</a:t>
            </a:r>
            <a:r>
              <a:rPr lang="en-US" altLang="zh-CN" sz="3200" dirty="0"/>
              <a:t>natural</a:t>
            </a:r>
            <a:r>
              <a:rPr lang="zh-CN" altLang="en-US" sz="3200" dirty="0"/>
              <a:t> </a:t>
            </a:r>
            <a:r>
              <a:rPr lang="en-US" altLang="zh-CN" sz="3200" dirty="0"/>
              <a:t>language</a:t>
            </a:r>
            <a:r>
              <a:rPr lang="zh-CN" altLang="en-US" sz="3200" dirty="0"/>
              <a:t> </a:t>
            </a:r>
            <a:r>
              <a:rPr lang="en-US" altLang="zh-CN" sz="3200" dirty="0"/>
              <a:t>generation</a:t>
            </a:r>
            <a:r>
              <a:rPr lang="zh-CN" altLang="en-US" sz="3200" dirty="0"/>
              <a:t>）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513E1E-52D4-E44D-9916-2010D91EF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17" y="1053293"/>
            <a:ext cx="4249864" cy="3455042"/>
          </a:xfrm>
          <a:prstGeom prst="rect">
            <a:avLst/>
          </a:prstGeom>
        </p:spPr>
      </p:pic>
      <p:sp>
        <p:nvSpPr>
          <p:cNvPr id="6" name="Striped Right Arrow 5">
            <a:extLst>
              <a:ext uri="{FF2B5EF4-FFF2-40B4-BE49-F238E27FC236}">
                <a16:creationId xmlns:a16="http://schemas.microsoft.com/office/drawing/2014/main" id="{1A05EC28-4F31-4A49-8029-9C885C920D1A}"/>
              </a:ext>
            </a:extLst>
          </p:cNvPr>
          <p:cNvSpPr/>
          <p:nvPr/>
        </p:nvSpPr>
        <p:spPr>
          <a:xfrm>
            <a:off x="4757195" y="2141316"/>
            <a:ext cx="752354" cy="509286"/>
          </a:xfrm>
          <a:prstGeom prst="strip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9E1B01-22A7-5F44-9ECD-E703EAB7861E}"/>
              </a:ext>
            </a:extLst>
          </p:cNvPr>
          <p:cNvSpPr txBox="1"/>
          <p:nvPr/>
        </p:nvSpPr>
        <p:spPr>
          <a:xfrm>
            <a:off x="5787341" y="2072793"/>
            <a:ext cx="2164466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中国邮政利润规模连续</a:t>
            </a:r>
            <a:r>
              <a:rPr lang="en-US" altLang="zh-CN" dirty="0"/>
              <a:t>5</a:t>
            </a:r>
            <a:r>
              <a:rPr lang="zh-CN" altLang="en-US" dirty="0"/>
              <a:t>年居世界首位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844E9-9A82-CC45-B73B-455E3D6033A1}"/>
              </a:ext>
            </a:extLst>
          </p:cNvPr>
          <p:cNvSpPr txBox="1"/>
          <p:nvPr/>
        </p:nvSpPr>
        <p:spPr>
          <a:xfrm>
            <a:off x="5563799" y="1562582"/>
            <a:ext cx="2611549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Document</a:t>
            </a:r>
            <a:r>
              <a:rPr lang="zh-CN" altLang="en-US" dirty="0"/>
              <a:t> </a:t>
            </a:r>
            <a:r>
              <a:rPr lang="en-US" altLang="zh-CN" dirty="0"/>
              <a:t>summarization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9AA171-38DD-554B-A538-803A73EE5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268" y="3690200"/>
            <a:ext cx="4703582" cy="27999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A482DA-3847-8A4F-8F6F-6B2AA8512AC2}"/>
              </a:ext>
            </a:extLst>
          </p:cNvPr>
          <p:cNvSpPr txBox="1"/>
          <p:nvPr/>
        </p:nvSpPr>
        <p:spPr>
          <a:xfrm>
            <a:off x="5628237" y="3262993"/>
            <a:ext cx="2583528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Image</a:t>
            </a:r>
            <a:r>
              <a:rPr lang="zh-CN" altLang="en-US" dirty="0"/>
              <a:t> </a:t>
            </a:r>
            <a:r>
              <a:rPr lang="en-US" altLang="zh-CN" dirty="0"/>
              <a:t>caption</a:t>
            </a:r>
            <a:r>
              <a:rPr lang="zh-CN" altLang="en-US" dirty="0"/>
              <a:t> </a:t>
            </a:r>
            <a:r>
              <a:rPr lang="en-US" altLang="zh-CN" dirty="0"/>
              <a:t>generation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1C9B48-2B6A-5344-83FF-9C0826AFE3BA}"/>
              </a:ext>
            </a:extLst>
          </p:cNvPr>
          <p:cNvSpPr txBox="1"/>
          <p:nvPr/>
        </p:nvSpPr>
        <p:spPr>
          <a:xfrm>
            <a:off x="7001295" y="6489149"/>
            <a:ext cx="21195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Photo</a:t>
            </a:r>
            <a:r>
              <a:rPr lang="zh-CN" altLang="en-US" sz="1200" dirty="0"/>
              <a:t> </a:t>
            </a:r>
            <a:r>
              <a:rPr lang="en-US" altLang="zh-CN" sz="1200" dirty="0"/>
              <a:t>credit</a:t>
            </a:r>
            <a:r>
              <a:rPr lang="zh-CN" altLang="en-US" sz="1200" dirty="0"/>
              <a:t> </a:t>
            </a:r>
            <a:r>
              <a:rPr lang="en-US" altLang="zh-CN" sz="1200" dirty="0" err="1"/>
              <a:t>Vinyals</a:t>
            </a:r>
            <a:r>
              <a:rPr lang="zh-CN" altLang="en-US" sz="1200" dirty="0"/>
              <a:t> </a:t>
            </a:r>
            <a:r>
              <a:rPr lang="en-US" altLang="zh-CN" sz="1200" dirty="0"/>
              <a:t>et</a:t>
            </a:r>
            <a:r>
              <a:rPr lang="zh-CN" altLang="en-US" sz="1200" dirty="0"/>
              <a:t> </a:t>
            </a:r>
            <a:r>
              <a:rPr lang="en-US" altLang="zh-CN" sz="1200" dirty="0"/>
              <a:t>al.</a:t>
            </a:r>
            <a:r>
              <a:rPr lang="zh-CN" altLang="en-US" sz="1200" dirty="0"/>
              <a:t> </a:t>
            </a:r>
            <a:r>
              <a:rPr lang="en-US" altLang="zh-CN" sz="1200" dirty="0"/>
              <a:t>2015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4D2731-C9D4-9A4F-802B-F427EC05D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67" y="4820858"/>
            <a:ext cx="3528461" cy="17117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CDB2717-41EB-424D-8416-1324BBCA3C35}"/>
              </a:ext>
            </a:extLst>
          </p:cNvPr>
          <p:cNvSpPr txBox="1"/>
          <p:nvPr/>
        </p:nvSpPr>
        <p:spPr>
          <a:xfrm>
            <a:off x="1023822" y="4413223"/>
            <a:ext cx="2605906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Controllable</a:t>
            </a:r>
            <a:r>
              <a:rPr lang="zh-CN" altLang="en-US" dirty="0"/>
              <a:t> </a:t>
            </a:r>
            <a:r>
              <a:rPr lang="en-US" altLang="zh-CN" dirty="0"/>
              <a:t>paraphrasing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565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7498E-F4AF-0443-B46A-EF72BF73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机器翻译（</a:t>
            </a:r>
            <a:r>
              <a:rPr lang="en-US" altLang="zh-CN" dirty="0"/>
              <a:t>Machine</a:t>
            </a:r>
            <a:r>
              <a:rPr lang="zh-CN" altLang="en-US" dirty="0"/>
              <a:t> </a:t>
            </a:r>
            <a:r>
              <a:rPr lang="en-US" altLang="zh-CN" dirty="0"/>
              <a:t>Translation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54788-6F3F-E942-94E3-E5C4C89A2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利用计算机将一种语言自动翻译为另一种语言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早期自然语言处理研究聚焦于机器翻译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EE2755-9571-AD4F-A4DE-B5036404E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544"/>
            <a:ext cx="9144000" cy="326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17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4E359-D2B5-B040-BCFE-2F8082AC0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自然语言对话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9A212-7B5B-1D45-9581-AB60D63B9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利用计算机程序实现</a:t>
            </a:r>
            <a:r>
              <a:rPr lang="zh-CN" altLang="en-US" dirty="0">
                <a:solidFill>
                  <a:srgbClr val="FF0000"/>
                </a:solidFill>
              </a:rPr>
              <a:t>人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机器</a:t>
            </a:r>
            <a:r>
              <a:rPr lang="zh-CN" altLang="en-US" dirty="0"/>
              <a:t>自然语言对话和</a:t>
            </a:r>
            <a:r>
              <a:rPr lang="zh-CN" altLang="en-US" dirty="0">
                <a:solidFill>
                  <a:srgbClr val="FF0000"/>
                </a:solidFill>
              </a:rPr>
              <a:t>机器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机器</a:t>
            </a:r>
            <a:r>
              <a:rPr lang="zh-CN" altLang="en-US" dirty="0"/>
              <a:t>自然语言对话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zh-CN" altLang="en-US" dirty="0"/>
              <a:t>包括闲聊型对话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chit-chatting</a:t>
            </a:r>
            <a:r>
              <a:rPr lang="zh-CN" altLang="en-US" dirty="0"/>
              <a:t>）和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任务驱动型对话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task-oriented</a:t>
            </a:r>
            <a:r>
              <a:rPr lang="zh-CN" altLang="en-US" dirty="0"/>
              <a:t> </a:t>
            </a:r>
            <a:r>
              <a:rPr lang="en-US" altLang="zh-CN" dirty="0"/>
              <a:t>dialogue</a:t>
            </a:r>
            <a:r>
              <a:rPr lang="zh-CN" altLang="en-US" dirty="0"/>
              <a:t>）</a:t>
            </a:r>
            <a:endParaRPr lang="en-US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CC5242EA-AC4B-C242-A931-886CCDEA1A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862" y="2541855"/>
            <a:ext cx="1454838" cy="1207516"/>
          </a:xfrm>
          <a:prstGeom prst="rect">
            <a:avLst/>
          </a:prstGeom>
        </p:spPr>
      </p:pic>
      <p:sp>
        <p:nvSpPr>
          <p:cNvPr id="5" name="Curved Up Arrow 36">
            <a:extLst>
              <a:ext uri="{FF2B5EF4-FFF2-40B4-BE49-F238E27FC236}">
                <a16:creationId xmlns:a16="http://schemas.microsoft.com/office/drawing/2014/main" id="{EC68FAF4-EC71-0B47-A6C7-6A47BAE96529}"/>
              </a:ext>
            </a:extLst>
          </p:cNvPr>
          <p:cNvSpPr/>
          <p:nvPr/>
        </p:nvSpPr>
        <p:spPr>
          <a:xfrm>
            <a:off x="3426000" y="2993213"/>
            <a:ext cx="2878578" cy="655706"/>
          </a:xfrm>
          <a:prstGeom prst="curvedUpArrow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Curved Up Arrow 41">
            <a:extLst>
              <a:ext uri="{FF2B5EF4-FFF2-40B4-BE49-F238E27FC236}">
                <a16:creationId xmlns:a16="http://schemas.microsoft.com/office/drawing/2014/main" id="{6C97C225-3CB4-0146-8E17-9E960A6FA20A}"/>
              </a:ext>
            </a:extLst>
          </p:cNvPr>
          <p:cNvSpPr/>
          <p:nvPr/>
        </p:nvSpPr>
        <p:spPr>
          <a:xfrm rot="10800000">
            <a:off x="3426000" y="2298925"/>
            <a:ext cx="2878578" cy="655706"/>
          </a:xfrm>
          <a:prstGeom prst="curvedUpArrow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4EAB39-75FD-914B-BC64-875DFF190C2F}"/>
              </a:ext>
            </a:extLst>
          </p:cNvPr>
          <p:cNvSpPr txBox="1"/>
          <p:nvPr/>
        </p:nvSpPr>
        <p:spPr>
          <a:xfrm>
            <a:off x="3516775" y="2688163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自然语言对话</a:t>
            </a:r>
          </a:p>
        </p:txBody>
      </p:sp>
      <p:pic>
        <p:nvPicPr>
          <p:cNvPr id="8" name="Picture 2" descr="C:\Users\lenovo\AppData\Local\Microsoft\Windows\INetCache\IE\N8G93934\270px-Human_outline.svg[1].png">
            <a:extLst>
              <a:ext uri="{FF2B5EF4-FFF2-40B4-BE49-F238E27FC236}">
                <a16:creationId xmlns:a16="http://schemas.microsoft.com/office/drawing/2014/main" id="{9B70046E-78C8-E241-8BFD-321391166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881" y="2210927"/>
            <a:ext cx="808558" cy="179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9FEB3F-77E6-234A-96BF-AFC7DAA422D9}"/>
              </a:ext>
            </a:extLst>
          </p:cNvPr>
          <p:cNvSpPr txBox="1"/>
          <p:nvPr/>
        </p:nvSpPr>
        <p:spPr>
          <a:xfrm>
            <a:off x="4191000" y="1827836"/>
            <a:ext cx="14464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message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564997-A1E4-FF4E-9284-FA05D5EB3D4F}"/>
              </a:ext>
            </a:extLst>
          </p:cNvPr>
          <p:cNvSpPr txBox="1"/>
          <p:nvPr/>
        </p:nvSpPr>
        <p:spPr>
          <a:xfrm>
            <a:off x="4191000" y="3578074"/>
            <a:ext cx="15104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response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C5658C68-7787-8C4B-92EB-8F26ED40B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593" y="4338841"/>
            <a:ext cx="4855604" cy="2044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B61B18-246D-1C44-925D-C69C51708D12}"/>
              </a:ext>
            </a:extLst>
          </p:cNvPr>
          <p:cNvSpPr txBox="1"/>
          <p:nvPr/>
        </p:nvSpPr>
        <p:spPr>
          <a:xfrm>
            <a:off x="6990378" y="6323706"/>
            <a:ext cx="20718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Photo credit: Li et</a:t>
            </a:r>
            <a:r>
              <a:rPr lang="zh-CN" altLang="en-US" sz="1200" dirty="0"/>
              <a:t> </a:t>
            </a:r>
            <a:r>
              <a:rPr lang="en-US" altLang="zh-CN" sz="1200" dirty="0"/>
              <a:t>al.</a:t>
            </a:r>
            <a:r>
              <a:rPr lang="zh-CN" altLang="en-US" sz="1200" dirty="0"/>
              <a:t> </a:t>
            </a:r>
            <a:r>
              <a:rPr lang="en-US" altLang="zh-CN" sz="1200" dirty="0"/>
              <a:t>2017</a:t>
            </a:r>
            <a:r>
              <a:rPr lang="zh-CN" altLang="en-US" sz="1200" dirty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20148888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7C3F1-92C7-7548-B3D5-412B5B465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问答与机器阅读理解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EE53C-2E33-9941-99C5-B3DED180C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706" y="1339483"/>
            <a:ext cx="4811453" cy="5096039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问答（</a:t>
            </a:r>
            <a:r>
              <a:rPr lang="en-US" altLang="zh-CN" dirty="0">
                <a:solidFill>
                  <a:srgbClr val="FF0000"/>
                </a:solidFill>
              </a:rPr>
              <a:t>question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answering</a:t>
            </a:r>
            <a:r>
              <a:rPr lang="zh-CN" altLang="en-US" dirty="0">
                <a:solidFill>
                  <a:srgbClr val="FF0000"/>
                </a:solidFill>
              </a:rPr>
              <a:t>）：</a:t>
            </a:r>
            <a:r>
              <a:rPr lang="zh-CN" altLang="en-US" dirty="0"/>
              <a:t>利用计算机算法和模型，从知识库、单文档、多文档或者海量文本中搜寻并给出与问题匹配的答案</a:t>
            </a:r>
            <a:endParaRPr lang="en-US" altLang="zh-CN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机器阅读理解（</a:t>
            </a:r>
            <a:r>
              <a:rPr lang="en-US" altLang="zh-CN" dirty="0">
                <a:solidFill>
                  <a:srgbClr val="FF0000"/>
                </a:solidFill>
              </a:rPr>
              <a:t>machine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reading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comprehension</a:t>
            </a:r>
            <a:r>
              <a:rPr lang="zh-CN" altLang="en-US" dirty="0">
                <a:solidFill>
                  <a:srgbClr val="FF0000"/>
                </a:solidFill>
              </a:rPr>
              <a:t>）：</a:t>
            </a:r>
            <a:r>
              <a:rPr lang="zh-CN" altLang="en-US" dirty="0"/>
              <a:t>针对给定单文档</a:t>
            </a:r>
            <a:r>
              <a:rPr lang="en-US" altLang="zh-CN" dirty="0"/>
              <a:t>/</a:t>
            </a:r>
            <a:r>
              <a:rPr lang="zh-CN" altLang="en-US" dirty="0"/>
              <a:t>多文档的文本阅读及问答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A4DE6A-B4A0-1048-8544-4E252FD0B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213" y="1339483"/>
            <a:ext cx="3763592" cy="539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116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2DF2-3599-FE41-96BA-63DFD6037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</a:t>
            </a:r>
            <a:r>
              <a:rPr lang="en-US" altLang="zh-CN" dirty="0"/>
              <a:t>+</a:t>
            </a:r>
            <a:r>
              <a:rPr lang="zh-CN" altLang="en-US" dirty="0"/>
              <a:t>应用研究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10A9A-D347-874B-85AE-2BE39B791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706" y="1339483"/>
            <a:ext cx="3353043" cy="5096039"/>
          </a:xfrm>
        </p:spPr>
        <p:txBody>
          <a:bodyPr/>
          <a:lstStyle/>
          <a:p>
            <a:r>
              <a:rPr lang="en-US" dirty="0"/>
              <a:t>NLP</a:t>
            </a:r>
            <a:r>
              <a:rPr lang="en-US" altLang="zh-CN" dirty="0"/>
              <a:t>+</a:t>
            </a:r>
            <a:r>
              <a:rPr lang="zh-CN" altLang="en-US" dirty="0"/>
              <a:t>医疗：</a:t>
            </a:r>
            <a:r>
              <a:rPr lang="en-US" altLang="zh-CN" dirty="0" err="1"/>
              <a:t>BioNLP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NLP</a:t>
            </a:r>
            <a:r>
              <a:rPr lang="en-US" altLang="zh-CN" dirty="0"/>
              <a:t>+</a:t>
            </a:r>
            <a:r>
              <a:rPr lang="zh-CN" altLang="en-US" dirty="0"/>
              <a:t>金融</a:t>
            </a:r>
            <a:r>
              <a:rPr lang="en-US" altLang="zh-CN" dirty="0"/>
              <a:t>/</a:t>
            </a:r>
            <a:r>
              <a:rPr lang="zh-CN" altLang="en-US" dirty="0"/>
              <a:t>经济：</a:t>
            </a:r>
            <a:r>
              <a:rPr lang="en-US" altLang="zh-CN" dirty="0" err="1"/>
              <a:t>FinNLP</a:t>
            </a:r>
            <a:r>
              <a:rPr lang="zh-CN" altLang="en-US" dirty="0"/>
              <a:t>、</a:t>
            </a:r>
            <a:r>
              <a:rPr lang="en-US" altLang="zh-CN" dirty="0" err="1"/>
              <a:t>EcoNLP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8E8A6C-4B5B-D248-A95A-C3045422B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496" y="1447800"/>
            <a:ext cx="5266480" cy="27210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57D799-55AC-9942-830C-B08698D75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496" y="4250516"/>
            <a:ext cx="3750277" cy="248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1798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AB771-FE5C-4F4E-951A-2BD7FFA0D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</a:t>
            </a:r>
            <a:r>
              <a:rPr lang="en-US" altLang="zh-CN" dirty="0"/>
              <a:t>+</a:t>
            </a:r>
            <a:r>
              <a:rPr lang="zh-CN" altLang="en-US" dirty="0"/>
              <a:t>应用研究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A1957-9F6D-674C-A5AB-C03D4FC75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NLP</a:t>
            </a:r>
            <a:r>
              <a:rPr lang="en-US" altLang="zh-CN" dirty="0"/>
              <a:t>+</a:t>
            </a:r>
            <a:r>
              <a:rPr lang="zh-CN" altLang="en-US" dirty="0"/>
              <a:t>教育</a:t>
            </a:r>
            <a:endParaRPr lang="en-US" altLang="zh-CN" dirty="0"/>
          </a:p>
          <a:p>
            <a:r>
              <a:rPr lang="en-US" altLang="zh-CN" dirty="0"/>
              <a:t>NLP+</a:t>
            </a:r>
            <a:r>
              <a:rPr lang="zh-CN" altLang="en-US" dirty="0"/>
              <a:t>法律</a:t>
            </a:r>
            <a:endParaRPr lang="en-US" altLang="zh-CN" dirty="0"/>
          </a:p>
          <a:p>
            <a:r>
              <a:rPr lang="en-US" altLang="zh-CN" dirty="0"/>
              <a:t>NLP+</a:t>
            </a:r>
            <a:r>
              <a:rPr lang="zh-CN" altLang="en-US" dirty="0"/>
              <a:t>政务</a:t>
            </a:r>
            <a:endParaRPr lang="en-US" altLang="zh-CN" dirty="0"/>
          </a:p>
          <a:p>
            <a:r>
              <a:rPr lang="en-US" altLang="zh-CN" dirty="0"/>
              <a:t>NLP+</a:t>
            </a:r>
            <a:r>
              <a:rPr lang="zh-CN" altLang="en-US" dirty="0"/>
              <a:t>广告</a:t>
            </a:r>
            <a:endParaRPr lang="en-US" altLang="zh-CN" dirty="0"/>
          </a:p>
          <a:p>
            <a:r>
              <a:rPr lang="en-US" altLang="zh-CN" dirty="0"/>
              <a:t>NLP+</a:t>
            </a:r>
            <a:r>
              <a:rPr lang="zh-CN" altLang="en-US" dirty="0"/>
              <a:t>人文</a:t>
            </a:r>
            <a:endParaRPr lang="en-US" altLang="zh-CN" dirty="0"/>
          </a:p>
          <a:p>
            <a:r>
              <a:rPr lang="en-US" altLang="zh-CN" dirty="0"/>
              <a:t>NLP+</a:t>
            </a:r>
            <a:r>
              <a:rPr lang="zh-CN" altLang="en-US" dirty="0"/>
              <a:t>新闻</a:t>
            </a:r>
            <a:endParaRPr lang="en-US" altLang="zh-CN" dirty="0"/>
          </a:p>
          <a:p>
            <a:r>
              <a:rPr lang="en-US" altLang="zh-CN" dirty="0"/>
              <a:t>NLP+</a:t>
            </a:r>
            <a:r>
              <a:rPr lang="zh-CN" altLang="en-US" dirty="0"/>
              <a:t>餐饮</a:t>
            </a:r>
            <a:endParaRPr lang="en-US" altLang="zh-CN" dirty="0"/>
          </a:p>
          <a:p>
            <a:r>
              <a:rPr lang="en-US" altLang="zh-CN" dirty="0"/>
              <a:t>NLP+</a:t>
            </a:r>
            <a:r>
              <a:rPr lang="zh-CN" altLang="en-US" dirty="0"/>
              <a:t>旅游</a:t>
            </a:r>
            <a:endParaRPr lang="en-US" altLang="zh-CN" dirty="0"/>
          </a:p>
          <a:p>
            <a:r>
              <a:rPr lang="en-US" altLang="zh-CN" dirty="0"/>
              <a:t>NLP+</a:t>
            </a:r>
            <a:r>
              <a:rPr lang="zh-CN" altLang="en-US" dirty="0"/>
              <a:t>交通</a:t>
            </a:r>
            <a:endParaRPr lang="en-US" altLang="zh-CN" dirty="0"/>
          </a:p>
          <a:p>
            <a:r>
              <a:rPr lang="en-US" altLang="zh-CN" dirty="0"/>
              <a:t>NLP+…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9358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AB771-FE5C-4F4E-951A-2BD7FFA0D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</a:t>
            </a:r>
            <a:r>
              <a:rPr lang="en-US" altLang="zh-CN" dirty="0"/>
              <a:t>+</a:t>
            </a:r>
            <a:r>
              <a:rPr lang="zh-CN" altLang="en-US" dirty="0"/>
              <a:t>应用研究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A1957-9F6D-674C-A5AB-C03D4FC75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NLP</a:t>
            </a:r>
            <a:r>
              <a:rPr lang="en-US" altLang="zh-CN" dirty="0"/>
              <a:t>+</a:t>
            </a:r>
            <a:r>
              <a:rPr lang="zh-CN" altLang="en-US" dirty="0"/>
              <a:t>教育：</a:t>
            </a:r>
            <a:r>
              <a:rPr lang="zh-CN" altLang="en-US" dirty="0">
                <a:solidFill>
                  <a:srgbClr val="00B050"/>
                </a:solidFill>
              </a:rPr>
              <a:t>如智能答疑、自动阅卷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NLP+</a:t>
            </a:r>
            <a:r>
              <a:rPr lang="zh-CN" altLang="en-US" dirty="0"/>
              <a:t>法律：</a:t>
            </a:r>
            <a:r>
              <a:rPr lang="zh-CN" altLang="en-US" dirty="0">
                <a:solidFill>
                  <a:srgbClr val="00B050"/>
                </a:solidFill>
              </a:rPr>
              <a:t>如智能断案、判案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NLP+</a:t>
            </a:r>
            <a:r>
              <a:rPr lang="zh-CN" altLang="en-US" dirty="0"/>
              <a:t>政务：</a:t>
            </a:r>
            <a:r>
              <a:rPr lang="zh-CN" altLang="en-US" dirty="0">
                <a:solidFill>
                  <a:srgbClr val="00B050"/>
                </a:solidFill>
              </a:rPr>
              <a:t>如政务条例文本处理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NLP+</a:t>
            </a:r>
            <a:r>
              <a:rPr lang="zh-CN" altLang="en-US" dirty="0"/>
              <a:t>广告：</a:t>
            </a:r>
            <a:r>
              <a:rPr lang="zh-CN" altLang="en-US" dirty="0">
                <a:solidFill>
                  <a:srgbClr val="00B050"/>
                </a:solidFill>
              </a:rPr>
              <a:t>如自动广告语生成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NLP+</a:t>
            </a:r>
            <a:r>
              <a:rPr lang="zh-CN" altLang="en-US" dirty="0"/>
              <a:t>人文：</a:t>
            </a:r>
            <a:r>
              <a:rPr lang="zh-CN" altLang="en-US" dirty="0">
                <a:solidFill>
                  <a:srgbClr val="00B050"/>
                </a:solidFill>
              </a:rPr>
              <a:t>如诗歌创作、古籍文本处理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NLP+</a:t>
            </a:r>
            <a:r>
              <a:rPr lang="zh-CN" altLang="en-US" dirty="0"/>
              <a:t>新闻：</a:t>
            </a:r>
            <a:r>
              <a:rPr lang="zh-CN" altLang="en-US" dirty="0">
                <a:solidFill>
                  <a:srgbClr val="00B050"/>
                </a:solidFill>
              </a:rPr>
              <a:t>如新闻摘要生成、标题生成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NLP+</a:t>
            </a:r>
            <a:r>
              <a:rPr lang="zh-CN" altLang="en-US" dirty="0"/>
              <a:t>餐饮：</a:t>
            </a:r>
            <a:r>
              <a:rPr lang="zh-CN" altLang="en-US" dirty="0">
                <a:solidFill>
                  <a:srgbClr val="00B050"/>
                </a:solidFill>
              </a:rPr>
              <a:t>如餐饮点评分析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NLP+</a:t>
            </a:r>
            <a:r>
              <a:rPr lang="zh-CN" altLang="en-US" dirty="0"/>
              <a:t>旅游：</a:t>
            </a:r>
            <a:r>
              <a:rPr lang="zh-CN" altLang="en-US" dirty="0">
                <a:solidFill>
                  <a:srgbClr val="00B050"/>
                </a:solidFill>
              </a:rPr>
              <a:t>如旅行计划制定、旅行攻略自动分析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NLP+</a:t>
            </a:r>
            <a:r>
              <a:rPr lang="zh-CN" altLang="en-US" dirty="0"/>
              <a:t>交通：</a:t>
            </a:r>
            <a:r>
              <a:rPr lang="zh-CN" altLang="en-US" dirty="0">
                <a:solidFill>
                  <a:srgbClr val="00B050"/>
                </a:solidFill>
              </a:rPr>
              <a:t>如智能订票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NLP+…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9768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5897-2089-7F4B-BCA9-90BEFB365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ACL</a:t>
            </a:r>
            <a:r>
              <a:rPr lang="zh-CN" altLang="en-US" dirty="0"/>
              <a:t> </a:t>
            </a:r>
            <a:r>
              <a:rPr lang="en-US" altLang="zh-CN" dirty="0"/>
              <a:t>2019</a:t>
            </a:r>
            <a:r>
              <a:rPr lang="zh-CN" altLang="en-US" dirty="0"/>
              <a:t>投稿领域分布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EE14D-B27E-4E42-9B0B-2A47EAC11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092" y="804586"/>
            <a:ext cx="5893604" cy="593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235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5897-2089-7F4B-BCA9-90BEFB365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ACL</a:t>
            </a:r>
            <a:r>
              <a:rPr lang="zh-CN" altLang="en-US" dirty="0"/>
              <a:t> </a:t>
            </a:r>
            <a:r>
              <a:rPr lang="en-US" altLang="zh-CN" dirty="0"/>
              <a:t>2019</a:t>
            </a:r>
            <a:r>
              <a:rPr lang="zh-CN" altLang="en-US" dirty="0"/>
              <a:t>投稿领域分布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FD68E-5246-2B46-8A85-A03157C29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092" y="804586"/>
            <a:ext cx="5893604" cy="593911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9352998-AC0B-F446-80EF-89C7FFF8966B}"/>
              </a:ext>
            </a:extLst>
          </p:cNvPr>
          <p:cNvSpPr/>
          <p:nvPr/>
        </p:nvSpPr>
        <p:spPr>
          <a:xfrm>
            <a:off x="1603092" y="1678329"/>
            <a:ext cx="5893604" cy="208344"/>
          </a:xfrm>
          <a:prstGeom prst="roundRect">
            <a:avLst/>
          </a:prstGeom>
          <a:solidFill>
            <a:srgbClr val="FF260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8E1CF35-25E0-8342-B4C2-26750BFB7FFD}"/>
              </a:ext>
            </a:extLst>
          </p:cNvPr>
          <p:cNvSpPr/>
          <p:nvPr/>
        </p:nvSpPr>
        <p:spPr>
          <a:xfrm>
            <a:off x="1603092" y="3667403"/>
            <a:ext cx="5893604" cy="300145"/>
          </a:xfrm>
          <a:prstGeom prst="roundRect">
            <a:avLst/>
          </a:prstGeom>
          <a:solidFill>
            <a:srgbClr val="FF260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D499046-8FA8-9447-90A6-8B30F673BCD1}"/>
              </a:ext>
            </a:extLst>
          </p:cNvPr>
          <p:cNvSpPr/>
          <p:nvPr/>
        </p:nvSpPr>
        <p:spPr>
          <a:xfrm>
            <a:off x="1603092" y="4386430"/>
            <a:ext cx="5893604" cy="208344"/>
          </a:xfrm>
          <a:prstGeom prst="roundRect">
            <a:avLst/>
          </a:prstGeom>
          <a:solidFill>
            <a:srgbClr val="FF260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60D7C4C-95FB-4749-9BFD-85190753ED9E}"/>
              </a:ext>
            </a:extLst>
          </p:cNvPr>
          <p:cNvSpPr/>
          <p:nvPr/>
        </p:nvSpPr>
        <p:spPr>
          <a:xfrm>
            <a:off x="1603092" y="5126836"/>
            <a:ext cx="5893604" cy="208344"/>
          </a:xfrm>
          <a:prstGeom prst="roundRect">
            <a:avLst/>
          </a:prstGeom>
          <a:solidFill>
            <a:srgbClr val="FF260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261FF12-259C-EF4E-AEFD-A2B1B4E253EE}"/>
              </a:ext>
            </a:extLst>
          </p:cNvPr>
          <p:cNvSpPr/>
          <p:nvPr/>
        </p:nvSpPr>
        <p:spPr>
          <a:xfrm>
            <a:off x="1603092" y="6078637"/>
            <a:ext cx="5893604" cy="208344"/>
          </a:xfrm>
          <a:prstGeom prst="roundRect">
            <a:avLst/>
          </a:prstGeom>
          <a:solidFill>
            <a:srgbClr val="FF260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3AA6C0-0D91-DC48-B2A7-82FC14E6E99D}"/>
              </a:ext>
            </a:extLst>
          </p:cNvPr>
          <p:cNvSpPr/>
          <p:nvPr/>
        </p:nvSpPr>
        <p:spPr>
          <a:xfrm>
            <a:off x="1603092" y="5376174"/>
            <a:ext cx="5893604" cy="300145"/>
          </a:xfrm>
          <a:prstGeom prst="roundRect">
            <a:avLst/>
          </a:prstGeom>
          <a:solidFill>
            <a:srgbClr val="FF260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5DEFA4C-AB72-A640-86AF-FD6372776890}"/>
              </a:ext>
            </a:extLst>
          </p:cNvPr>
          <p:cNvSpPr/>
          <p:nvPr/>
        </p:nvSpPr>
        <p:spPr>
          <a:xfrm>
            <a:off x="1603092" y="3418065"/>
            <a:ext cx="5893604" cy="208344"/>
          </a:xfrm>
          <a:prstGeom prst="roundRect">
            <a:avLst/>
          </a:prstGeom>
          <a:solidFill>
            <a:srgbClr val="FF260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512DD5-3C10-4141-B4A9-FA030F302164}"/>
              </a:ext>
            </a:extLst>
          </p:cNvPr>
          <p:cNvSpPr txBox="1"/>
          <p:nvPr/>
        </p:nvSpPr>
        <p:spPr>
          <a:xfrm>
            <a:off x="2149237" y="2234069"/>
            <a:ext cx="4801314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基础研究：由形态、词汇、句法向语义层推进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7423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5897-2089-7F4B-BCA9-90BEFB365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ACL</a:t>
            </a:r>
            <a:r>
              <a:rPr lang="zh-CN" altLang="en-US" dirty="0"/>
              <a:t> </a:t>
            </a:r>
            <a:r>
              <a:rPr lang="en-US" altLang="zh-CN" dirty="0"/>
              <a:t>2019</a:t>
            </a:r>
            <a:r>
              <a:rPr lang="zh-CN" altLang="en-US" dirty="0"/>
              <a:t>投稿领域分布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FD68E-5246-2B46-8A85-A03157C29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818" y="804586"/>
            <a:ext cx="5893604" cy="5939114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3373090-9235-0E4D-902B-B1089108C8B9}"/>
              </a:ext>
            </a:extLst>
          </p:cNvPr>
          <p:cNvSpPr/>
          <p:nvPr/>
        </p:nvSpPr>
        <p:spPr>
          <a:xfrm>
            <a:off x="1599818" y="1515910"/>
            <a:ext cx="5893604" cy="208344"/>
          </a:xfrm>
          <a:prstGeom prst="roundRect">
            <a:avLst/>
          </a:prstGeom>
          <a:solidFill>
            <a:srgbClr val="00B05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1F4871-E08F-D043-B1D9-ED619F74DFE0}"/>
              </a:ext>
            </a:extLst>
          </p:cNvPr>
          <p:cNvSpPr/>
          <p:nvPr/>
        </p:nvSpPr>
        <p:spPr>
          <a:xfrm>
            <a:off x="1599818" y="1853507"/>
            <a:ext cx="5893604" cy="208344"/>
          </a:xfrm>
          <a:prstGeom prst="roundRect">
            <a:avLst/>
          </a:prstGeom>
          <a:solidFill>
            <a:srgbClr val="00B05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AF1CB60-42C1-964A-B6AA-E25425ED5B97}"/>
              </a:ext>
            </a:extLst>
          </p:cNvPr>
          <p:cNvSpPr/>
          <p:nvPr/>
        </p:nvSpPr>
        <p:spPr>
          <a:xfrm>
            <a:off x="1599818" y="2084995"/>
            <a:ext cx="5893604" cy="208344"/>
          </a:xfrm>
          <a:prstGeom prst="roundRect">
            <a:avLst/>
          </a:prstGeom>
          <a:solidFill>
            <a:srgbClr val="00B05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1AA56D7-25BA-414A-AEC7-4855367B2EDD}"/>
              </a:ext>
            </a:extLst>
          </p:cNvPr>
          <p:cNvSpPr/>
          <p:nvPr/>
        </p:nvSpPr>
        <p:spPr>
          <a:xfrm>
            <a:off x="1599818" y="2270193"/>
            <a:ext cx="5893604" cy="208344"/>
          </a:xfrm>
          <a:prstGeom prst="roundRect">
            <a:avLst/>
          </a:prstGeom>
          <a:solidFill>
            <a:srgbClr val="00B05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31AC0B8-418C-A04C-83A5-364F8C41AE7C}"/>
              </a:ext>
            </a:extLst>
          </p:cNvPr>
          <p:cNvSpPr/>
          <p:nvPr/>
        </p:nvSpPr>
        <p:spPr>
          <a:xfrm>
            <a:off x="1599818" y="3024107"/>
            <a:ext cx="5893604" cy="208344"/>
          </a:xfrm>
          <a:prstGeom prst="roundRect">
            <a:avLst/>
          </a:prstGeom>
          <a:solidFill>
            <a:srgbClr val="00B05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6C0DD5E-36E7-0B44-8CC7-6CB0BF87DCFF}"/>
              </a:ext>
            </a:extLst>
          </p:cNvPr>
          <p:cNvSpPr/>
          <p:nvPr/>
        </p:nvSpPr>
        <p:spPr>
          <a:xfrm>
            <a:off x="1599818" y="3978096"/>
            <a:ext cx="5893604" cy="208344"/>
          </a:xfrm>
          <a:prstGeom prst="roundRect">
            <a:avLst/>
          </a:prstGeom>
          <a:solidFill>
            <a:srgbClr val="00B05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1E86981-E949-254D-B361-2C45F2BA11CE}"/>
              </a:ext>
            </a:extLst>
          </p:cNvPr>
          <p:cNvSpPr/>
          <p:nvPr/>
        </p:nvSpPr>
        <p:spPr>
          <a:xfrm>
            <a:off x="1599818" y="4532304"/>
            <a:ext cx="5893604" cy="208344"/>
          </a:xfrm>
          <a:prstGeom prst="roundRect">
            <a:avLst/>
          </a:prstGeom>
          <a:solidFill>
            <a:srgbClr val="00B05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E2CC2FB-9C87-E148-9E50-2F7659951137}"/>
              </a:ext>
            </a:extLst>
          </p:cNvPr>
          <p:cNvSpPr/>
          <p:nvPr/>
        </p:nvSpPr>
        <p:spPr>
          <a:xfrm>
            <a:off x="1599818" y="4932085"/>
            <a:ext cx="5893604" cy="208344"/>
          </a:xfrm>
          <a:prstGeom prst="roundRect">
            <a:avLst/>
          </a:prstGeom>
          <a:solidFill>
            <a:srgbClr val="00B05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AF8D9A-BC8F-A14C-AF82-7E63178B43E4}"/>
              </a:ext>
            </a:extLst>
          </p:cNvPr>
          <p:cNvSpPr txBox="1"/>
          <p:nvPr/>
        </p:nvSpPr>
        <p:spPr>
          <a:xfrm>
            <a:off x="2820568" y="5370810"/>
            <a:ext cx="3416320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应用研究：说、读、写、译、析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6667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DFA1136-1137-8D4B-8C04-A9D87E3FC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818" y="804586"/>
            <a:ext cx="5893604" cy="59391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35897-2089-7F4B-BCA9-90BEFB365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ACL</a:t>
            </a:r>
            <a:r>
              <a:rPr lang="zh-CN" altLang="en-US" dirty="0"/>
              <a:t> </a:t>
            </a:r>
            <a:r>
              <a:rPr lang="en-US" altLang="zh-CN" dirty="0"/>
              <a:t>2019</a:t>
            </a:r>
            <a:r>
              <a:rPr lang="zh-CN" altLang="en-US" dirty="0"/>
              <a:t>投稿领域分布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5D526E4-87B0-0E4D-9144-E67C923CCD70}"/>
              </a:ext>
            </a:extLst>
          </p:cNvPr>
          <p:cNvSpPr/>
          <p:nvPr/>
        </p:nvSpPr>
        <p:spPr>
          <a:xfrm>
            <a:off x="1599818" y="1330713"/>
            <a:ext cx="5893604" cy="208344"/>
          </a:xfrm>
          <a:prstGeom prst="roundRect">
            <a:avLst/>
          </a:prstGeom>
          <a:solidFill>
            <a:srgbClr val="0070C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5EDB469-3855-6748-A679-8F086E1BC478}"/>
              </a:ext>
            </a:extLst>
          </p:cNvPr>
          <p:cNvSpPr/>
          <p:nvPr/>
        </p:nvSpPr>
        <p:spPr>
          <a:xfrm>
            <a:off x="1599818" y="4745242"/>
            <a:ext cx="5893604" cy="208344"/>
          </a:xfrm>
          <a:prstGeom prst="roundRect">
            <a:avLst/>
          </a:prstGeom>
          <a:solidFill>
            <a:srgbClr val="0070C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D8E16B-09C4-F842-A111-2A040F575C12}"/>
              </a:ext>
            </a:extLst>
          </p:cNvPr>
          <p:cNvSpPr txBox="1"/>
          <p:nvPr/>
        </p:nvSpPr>
        <p:spPr>
          <a:xfrm>
            <a:off x="4232679" y="5294645"/>
            <a:ext cx="1127232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NLP+</a:t>
            </a:r>
            <a:r>
              <a:rPr lang="zh-CN" altLang="en-US" dirty="0"/>
              <a:t>研究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3770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DFA1136-1137-8D4B-8C04-A9D87E3FC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818" y="804586"/>
            <a:ext cx="5893604" cy="59391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35897-2089-7F4B-BCA9-90BEFB365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ACL</a:t>
            </a:r>
            <a:r>
              <a:rPr lang="zh-CN" altLang="en-US" dirty="0"/>
              <a:t> </a:t>
            </a:r>
            <a:r>
              <a:rPr lang="en-US" altLang="zh-CN" dirty="0"/>
              <a:t>2019</a:t>
            </a:r>
            <a:r>
              <a:rPr lang="zh-CN" altLang="en-US" dirty="0"/>
              <a:t>投稿领域分布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5D526E4-87B0-0E4D-9144-E67C923CCD70}"/>
              </a:ext>
            </a:extLst>
          </p:cNvPr>
          <p:cNvSpPr/>
          <p:nvPr/>
        </p:nvSpPr>
        <p:spPr>
          <a:xfrm>
            <a:off x="1586318" y="2777551"/>
            <a:ext cx="5893604" cy="208344"/>
          </a:xfrm>
          <a:prstGeom prst="roundRect">
            <a:avLst/>
          </a:prstGeom>
          <a:solidFill>
            <a:srgbClr val="7030A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5EDBD91-4BFD-0545-8DCC-CFDD3436C8D1}"/>
              </a:ext>
            </a:extLst>
          </p:cNvPr>
          <p:cNvSpPr/>
          <p:nvPr/>
        </p:nvSpPr>
        <p:spPr>
          <a:xfrm>
            <a:off x="1586318" y="2476982"/>
            <a:ext cx="5893604" cy="300568"/>
          </a:xfrm>
          <a:prstGeom prst="roundRect">
            <a:avLst/>
          </a:prstGeom>
          <a:solidFill>
            <a:srgbClr val="7030A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889B739-6E2A-9045-A62E-B46193458CE7}"/>
              </a:ext>
            </a:extLst>
          </p:cNvPr>
          <p:cNvSpPr/>
          <p:nvPr/>
        </p:nvSpPr>
        <p:spPr>
          <a:xfrm>
            <a:off x="1586318" y="5698359"/>
            <a:ext cx="5893604" cy="355200"/>
          </a:xfrm>
          <a:prstGeom prst="roundRect">
            <a:avLst/>
          </a:prstGeom>
          <a:solidFill>
            <a:srgbClr val="7030A0">
              <a:alpha val="2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98BF69-228F-9247-9A21-BA035E963020}"/>
              </a:ext>
            </a:extLst>
          </p:cNvPr>
          <p:cNvSpPr txBox="1"/>
          <p:nvPr/>
        </p:nvSpPr>
        <p:spPr>
          <a:xfrm>
            <a:off x="911939" y="4820457"/>
            <a:ext cx="7346883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交叉研究：心理语言学、认知学、机器学习、语音、图像、机器人等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2579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5897-2089-7F4B-BCA9-90BEFB365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ACL</a:t>
            </a:r>
            <a:r>
              <a:rPr lang="zh-CN" altLang="en-US" dirty="0"/>
              <a:t> </a:t>
            </a:r>
            <a:r>
              <a:rPr lang="en-US" altLang="zh-CN" dirty="0"/>
              <a:t>2019</a:t>
            </a:r>
            <a:r>
              <a:rPr lang="zh-CN" altLang="en-US" dirty="0"/>
              <a:t>投稿领域分布</a:t>
            </a:r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3DB786E-BE2F-144A-B496-C1C812D0AC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523841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732368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6C09-E10F-BD40-9EB8-0B0795DFB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</a:t>
            </a:r>
            <a:r>
              <a:rPr lang="zh-CN" altLang="en-US" dirty="0"/>
              <a:t>技术落地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077BE-5A60-C740-AA3C-B2580238D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NLP</a:t>
            </a:r>
            <a:r>
              <a:rPr lang="zh-CN" altLang="en-US" dirty="0"/>
              <a:t>技术落地大致包括三种类型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NLP</a:t>
            </a:r>
            <a:r>
              <a:rPr lang="zh-CN" altLang="en-US" dirty="0">
                <a:solidFill>
                  <a:srgbClr val="FF0000"/>
                </a:solidFill>
              </a:rPr>
              <a:t>基础技术工具包：</a:t>
            </a:r>
            <a:r>
              <a:rPr lang="zh-CN" altLang="en-US" dirty="0"/>
              <a:t>如</a:t>
            </a:r>
            <a:r>
              <a:rPr lang="en-US" altLang="zh-CN" dirty="0"/>
              <a:t>NLTK</a:t>
            </a:r>
            <a:r>
              <a:rPr lang="zh-CN" altLang="en-US" dirty="0"/>
              <a:t>，</a:t>
            </a:r>
            <a:r>
              <a:rPr lang="en-US" altLang="zh-CN" dirty="0"/>
              <a:t>Stanford</a:t>
            </a:r>
            <a:r>
              <a:rPr lang="zh-CN" altLang="en-US" dirty="0"/>
              <a:t> </a:t>
            </a:r>
            <a:r>
              <a:rPr lang="en-US" altLang="zh-CN" dirty="0" err="1"/>
              <a:t>CoreNLP</a:t>
            </a:r>
            <a:r>
              <a:rPr lang="zh-CN" altLang="en-US" dirty="0"/>
              <a:t>，</a:t>
            </a:r>
            <a:r>
              <a:rPr lang="en-US" altLang="zh-CN" dirty="0"/>
              <a:t>ICTCLAS</a:t>
            </a:r>
            <a:r>
              <a:rPr lang="zh-CN" altLang="en-US" dirty="0"/>
              <a:t>，</a:t>
            </a:r>
            <a:r>
              <a:rPr lang="en-US" altLang="zh-CN" dirty="0"/>
              <a:t>Facebook</a:t>
            </a:r>
            <a:r>
              <a:rPr lang="zh-CN" altLang="en-US" dirty="0"/>
              <a:t> </a:t>
            </a:r>
            <a:r>
              <a:rPr lang="en-US" altLang="zh-CN" dirty="0" err="1"/>
              <a:t>FastText</a:t>
            </a:r>
            <a:r>
              <a:rPr lang="zh-CN" altLang="en-US" dirty="0"/>
              <a:t>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平台技术：</a:t>
            </a:r>
            <a:r>
              <a:rPr lang="zh-CN" altLang="en-US" dirty="0"/>
              <a:t>如</a:t>
            </a:r>
            <a:r>
              <a:rPr lang="en-US" altLang="zh-CN" dirty="0"/>
              <a:t>Moses,</a:t>
            </a:r>
            <a:r>
              <a:rPr lang="zh-CN" altLang="en-US" dirty="0"/>
              <a:t> </a:t>
            </a:r>
            <a:r>
              <a:rPr lang="en-US" altLang="zh-CN" dirty="0" err="1"/>
              <a:t>openNMT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fairseq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openIE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Transformer,</a:t>
            </a:r>
            <a:r>
              <a:rPr lang="zh-CN" altLang="en-US" dirty="0"/>
              <a:t> </a:t>
            </a:r>
            <a:r>
              <a:rPr lang="en-US" altLang="zh-CN" dirty="0"/>
              <a:t>BERT,</a:t>
            </a:r>
            <a:r>
              <a:rPr lang="zh-CN" altLang="en-US" dirty="0"/>
              <a:t> </a:t>
            </a:r>
            <a:r>
              <a:rPr lang="en-US" altLang="zh-CN" dirty="0"/>
              <a:t>GPT-2,</a:t>
            </a:r>
            <a:r>
              <a:rPr lang="zh-CN" altLang="en-US" dirty="0"/>
              <a:t>对话技术平台等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NLP+</a:t>
            </a:r>
            <a:r>
              <a:rPr lang="zh-CN" altLang="en-US" dirty="0">
                <a:solidFill>
                  <a:srgbClr val="FF0000"/>
                </a:solidFill>
              </a:rPr>
              <a:t>场景应用：</a:t>
            </a:r>
            <a:r>
              <a:rPr lang="zh-CN" altLang="en-US" dirty="0"/>
              <a:t>如智能新闻写作、自动客服、智慧法院的</a:t>
            </a:r>
            <a:r>
              <a:rPr lang="en-US" altLang="zh-CN" dirty="0"/>
              <a:t>NLP</a:t>
            </a:r>
            <a:r>
              <a:rPr lang="zh-CN" altLang="en-US" dirty="0"/>
              <a:t>应用、智慧金融中的</a:t>
            </a:r>
            <a:r>
              <a:rPr lang="en-US" altLang="zh-CN" dirty="0"/>
              <a:t>NLP</a:t>
            </a:r>
            <a:r>
              <a:rPr lang="zh-CN" altLang="en-US" dirty="0"/>
              <a:t>应用、智慧教育中的</a:t>
            </a:r>
            <a:r>
              <a:rPr lang="en-US" altLang="zh-CN" dirty="0"/>
              <a:t>NLP</a:t>
            </a:r>
            <a:r>
              <a:rPr lang="zh-CN" altLang="en-US" dirty="0"/>
              <a:t>应用等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0211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24F3-B29C-434F-9D70-3AA79A74D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NLP</a:t>
            </a:r>
            <a:r>
              <a:rPr lang="zh-CN" altLang="en-US" dirty="0"/>
              <a:t>基础技术工具包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Hugging</a:t>
            </a:r>
            <a:r>
              <a:rPr lang="zh-CN" altLang="en-US" dirty="0"/>
              <a:t> </a:t>
            </a:r>
            <a:r>
              <a:rPr lang="en-US" altLang="zh-CN" dirty="0"/>
              <a:t>Face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49B5B-6A99-6D4E-B819-A470B5F44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706" y="1339483"/>
            <a:ext cx="4811453" cy="5096039"/>
          </a:xfrm>
        </p:spPr>
        <p:txBody>
          <a:bodyPr/>
          <a:lstStyle/>
          <a:p>
            <a:r>
              <a:rPr lang="en-US" altLang="zh-CN" dirty="0"/>
              <a:t>Hugging</a:t>
            </a:r>
            <a:r>
              <a:rPr lang="zh-CN" altLang="en-US" dirty="0"/>
              <a:t> </a:t>
            </a:r>
            <a:r>
              <a:rPr lang="en-US" altLang="zh-CN" dirty="0"/>
              <a:t>Face:</a:t>
            </a:r>
            <a:r>
              <a:rPr lang="zh-CN" altLang="en-US" dirty="0"/>
              <a:t> 提供</a:t>
            </a:r>
            <a:r>
              <a:rPr lang="en-US" altLang="zh-CN" dirty="0"/>
              <a:t>NLP</a:t>
            </a:r>
            <a:r>
              <a:rPr lang="zh-CN" altLang="en-US" dirty="0"/>
              <a:t>基础技术包和平台技术包，如</a:t>
            </a:r>
            <a:r>
              <a:rPr lang="en-US" altLang="zh-CN" dirty="0" err="1"/>
              <a:t>neuralcoref</a:t>
            </a:r>
            <a:r>
              <a:rPr lang="zh-CN" altLang="en-US" dirty="0"/>
              <a:t>，</a:t>
            </a:r>
            <a:r>
              <a:rPr lang="en-US" altLang="zh-CN" dirty="0"/>
              <a:t>transformers</a:t>
            </a:r>
            <a:r>
              <a:rPr lang="zh-CN" altLang="en-US" dirty="0"/>
              <a:t>，</a:t>
            </a:r>
            <a:r>
              <a:rPr lang="en-US" altLang="zh-CN" dirty="0" err="1"/>
              <a:t>DistilBERT</a:t>
            </a:r>
            <a:r>
              <a:rPr lang="zh-CN" altLang="en-US" dirty="0"/>
              <a:t>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Github</a:t>
            </a:r>
            <a:r>
              <a:rPr lang="zh-CN" altLang="en-US" dirty="0"/>
              <a:t>开源</a:t>
            </a:r>
            <a:r>
              <a:rPr lang="en-US" altLang="zh-CN" dirty="0"/>
              <a:t>23</a:t>
            </a:r>
            <a:r>
              <a:rPr lang="zh-CN" altLang="en-US" dirty="0"/>
              <a:t>个</a:t>
            </a:r>
            <a:r>
              <a:rPr lang="en-US" altLang="zh-CN" dirty="0"/>
              <a:t>NLP</a:t>
            </a:r>
            <a:r>
              <a:rPr lang="zh-CN" altLang="en-US" dirty="0"/>
              <a:t>相关</a:t>
            </a:r>
            <a:r>
              <a:rPr lang="en-US" altLang="zh-CN" dirty="0"/>
              <a:t>tools</a:t>
            </a:r>
            <a:r>
              <a:rPr lang="zh-CN" altLang="en-US" dirty="0"/>
              <a:t>，获得</a:t>
            </a:r>
            <a:r>
              <a:rPr lang="en-US" altLang="zh-CN" dirty="0"/>
              <a:t>star</a:t>
            </a:r>
            <a:r>
              <a:rPr lang="zh-CN" altLang="en-US" dirty="0"/>
              <a:t>数超过</a:t>
            </a:r>
            <a:r>
              <a:rPr lang="en-US" altLang="zh-CN" dirty="0"/>
              <a:t>15k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8D2C4A-2DB0-6F48-AB66-2982D640D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937" y="1435260"/>
            <a:ext cx="3379167" cy="512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2130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91D6-0235-B642-AE88-ABBDC83D9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NLP</a:t>
            </a:r>
            <a:r>
              <a:rPr lang="zh-CN" altLang="en-US" dirty="0"/>
              <a:t>平台技术：</a:t>
            </a:r>
            <a:r>
              <a:rPr lang="en-US" altLang="zh-CN" dirty="0"/>
              <a:t>Chatbot</a:t>
            </a:r>
            <a:r>
              <a:rPr lang="zh-CN" altLang="en-US" dirty="0"/>
              <a:t> </a:t>
            </a:r>
            <a:r>
              <a:rPr lang="en-US" altLang="zh-CN" dirty="0"/>
              <a:t>Ecosystem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DC9A98-D65E-8144-9466-2F6924A9F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07" y="1177686"/>
            <a:ext cx="7627716" cy="538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080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91D6-0235-B642-AE88-ABBDC83D9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NLP</a:t>
            </a:r>
            <a:r>
              <a:rPr lang="en-US" altLang="zh-CN" dirty="0"/>
              <a:t>+</a:t>
            </a:r>
            <a:r>
              <a:rPr lang="zh-CN" altLang="en-US" dirty="0"/>
              <a:t>场景应用： </a:t>
            </a:r>
            <a:r>
              <a:rPr lang="en-US" altLang="zh-CN" dirty="0"/>
              <a:t>Startups</a:t>
            </a:r>
            <a:r>
              <a:rPr lang="zh-CN" altLang="en-US" dirty="0"/>
              <a:t>（以色列）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F3F5F8-F069-DF49-A307-8A117F667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2457"/>
            <a:ext cx="9144000" cy="509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255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A62D8-F2C3-AF4C-9119-6C71EE9D4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</a:t>
            </a:r>
            <a:r>
              <a:rPr lang="zh-CN" altLang="en-US" dirty="0"/>
              <a:t>产业机会与挑战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9D7E4-3BCD-E040-9BA9-09CB80AE1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NLP</a:t>
            </a:r>
            <a:r>
              <a:rPr lang="zh-CN" altLang="en-US" dirty="0">
                <a:solidFill>
                  <a:srgbClr val="FF0000"/>
                </a:solidFill>
              </a:rPr>
              <a:t>产业机会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NLP</a:t>
            </a:r>
            <a:r>
              <a:rPr lang="zh-CN" altLang="en-US" dirty="0"/>
              <a:t>技术近年来取得飞速发展，很多</a:t>
            </a:r>
            <a:r>
              <a:rPr lang="en-US" altLang="zh-CN" dirty="0"/>
              <a:t>NLP</a:t>
            </a:r>
            <a:r>
              <a:rPr lang="zh-CN" altLang="en-US" dirty="0"/>
              <a:t>技术的性能开始接近用户可接受水平，如机器翻译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NLP</a:t>
            </a:r>
            <a:r>
              <a:rPr lang="zh-CN" altLang="en-US" dirty="0"/>
              <a:t>技术具有非常广泛的应用场景，可以渗透到很多行业和领域</a:t>
            </a:r>
            <a:endParaRPr lang="en-US" altLang="zh-C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5690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A62D8-F2C3-AF4C-9119-6C71EE9D4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</a:t>
            </a:r>
            <a:r>
              <a:rPr lang="zh-CN" altLang="en-US" dirty="0"/>
              <a:t>产业机会与挑战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9D7E4-3BCD-E040-9BA9-09CB80AE1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NLP</a:t>
            </a:r>
            <a:r>
              <a:rPr lang="zh-CN" altLang="en-US" dirty="0">
                <a:solidFill>
                  <a:srgbClr val="FF0000"/>
                </a:solidFill>
              </a:rPr>
              <a:t>产业挑战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NLP</a:t>
            </a:r>
            <a:r>
              <a:rPr lang="zh-CN" altLang="en-US" dirty="0"/>
              <a:t>与认知智能密切相关，无论是基础研究还是应用研究，都存在很多挑战，</a:t>
            </a:r>
            <a:r>
              <a:rPr lang="en-US" altLang="zh-CN" dirty="0"/>
              <a:t>NLP</a:t>
            </a:r>
            <a:r>
              <a:rPr lang="zh-CN" altLang="en-US" dirty="0"/>
              <a:t>技术的落地和场景应用</a:t>
            </a:r>
            <a:r>
              <a:rPr lang="zh-CN" altLang="en-US" dirty="0">
                <a:solidFill>
                  <a:srgbClr val="FF0000"/>
                </a:solidFill>
              </a:rPr>
              <a:t>离不开</a:t>
            </a:r>
            <a:r>
              <a:rPr lang="en-US" altLang="zh-CN" dirty="0">
                <a:solidFill>
                  <a:srgbClr val="FF0000"/>
                </a:solidFill>
              </a:rPr>
              <a:t>NLP</a:t>
            </a:r>
            <a:r>
              <a:rPr lang="zh-CN" altLang="en-US" dirty="0">
                <a:solidFill>
                  <a:srgbClr val="FF0000"/>
                </a:solidFill>
              </a:rPr>
              <a:t>基础性和应用性研究取得更大更多突破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大部分</a:t>
            </a:r>
            <a:r>
              <a:rPr lang="en-US" altLang="zh-CN" dirty="0"/>
              <a:t>NLP</a:t>
            </a:r>
            <a:r>
              <a:rPr lang="zh-CN" altLang="en-US" dirty="0"/>
              <a:t>技术都是建立在大规模标注数据（语料库）基础上，</a:t>
            </a:r>
            <a:r>
              <a:rPr lang="zh-CN" altLang="en-US" dirty="0">
                <a:solidFill>
                  <a:srgbClr val="FF0000"/>
                </a:solidFill>
              </a:rPr>
              <a:t>高质量大规模语料库匮乏是</a:t>
            </a:r>
            <a:r>
              <a:rPr lang="en-US" altLang="zh-CN" dirty="0">
                <a:solidFill>
                  <a:srgbClr val="FF0000"/>
                </a:solidFill>
              </a:rPr>
              <a:t>NLP</a:t>
            </a:r>
            <a:r>
              <a:rPr lang="zh-CN" altLang="en-US" dirty="0">
                <a:solidFill>
                  <a:srgbClr val="FF0000"/>
                </a:solidFill>
              </a:rPr>
              <a:t>技术落地面临的重要挑战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3352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A62D8-F2C3-AF4C-9119-6C71EE9D4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</a:t>
            </a:r>
            <a:r>
              <a:rPr lang="zh-CN" altLang="en-US" dirty="0"/>
              <a:t>产业机会与挑战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9D7E4-3BCD-E040-9BA9-09CB80AE1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NLP</a:t>
            </a:r>
            <a:r>
              <a:rPr lang="zh-CN" altLang="en-US" dirty="0">
                <a:solidFill>
                  <a:srgbClr val="FF0000"/>
                </a:solidFill>
              </a:rPr>
              <a:t>产业挑战</a:t>
            </a:r>
            <a:endParaRPr lang="en-US" altLang="zh-CN" dirty="0"/>
          </a:p>
          <a:p>
            <a:pPr lvl="1"/>
            <a:r>
              <a:rPr lang="en-US" altLang="zh-CN" dirty="0"/>
              <a:t>NLP</a:t>
            </a:r>
            <a:r>
              <a:rPr lang="zh-CN" altLang="en-US" dirty="0"/>
              <a:t>算法和模型真正应用</a:t>
            </a:r>
            <a:r>
              <a:rPr lang="zh-CN" altLang="en-US" dirty="0">
                <a:solidFill>
                  <a:srgbClr val="FF0000"/>
                </a:solidFill>
              </a:rPr>
              <a:t>面临具体语言和领域两个维度的优化挑战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altLang="zh-CN" dirty="0"/>
          </a:p>
          <a:p>
            <a:pPr lvl="1"/>
            <a:r>
              <a:rPr lang="en-US" altLang="zh-CN" dirty="0"/>
              <a:t>NLP</a:t>
            </a:r>
            <a:r>
              <a:rPr lang="zh-CN" altLang="en-US" dirty="0"/>
              <a:t>涉及很多任务，</a:t>
            </a:r>
            <a:r>
              <a:rPr lang="zh-CN" altLang="en-US" dirty="0">
                <a:solidFill>
                  <a:srgbClr val="FF0000"/>
                </a:solidFill>
              </a:rPr>
              <a:t>任务不同，模型不同，算法不同，需要的标注数据不同</a:t>
            </a:r>
            <a:r>
              <a:rPr lang="zh-CN" altLang="en-US" dirty="0"/>
              <a:t>，一个通用模型支撑多个不同</a:t>
            </a:r>
            <a:r>
              <a:rPr lang="en-US" altLang="zh-CN" dirty="0"/>
              <a:t>NLP</a:t>
            </a:r>
            <a:r>
              <a:rPr lang="zh-CN" altLang="en-US" dirty="0"/>
              <a:t>任务的研究虽然取得了较大进展，但未来还有很长路要走</a:t>
            </a:r>
            <a:endParaRPr lang="en-US" altLang="zh-CN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7187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32637-E10F-1F48-9114-2972523AA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自然语言处理发展历史</a:t>
            </a:r>
            <a:endParaRPr lang="en-US" dirty="0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D2292B61-1DBA-AA41-9B1F-7EADF9AB0234}"/>
              </a:ext>
            </a:extLst>
          </p:cNvPr>
          <p:cNvSpPr/>
          <p:nvPr/>
        </p:nvSpPr>
        <p:spPr>
          <a:xfrm>
            <a:off x="292981" y="3541853"/>
            <a:ext cx="8712122" cy="266218"/>
          </a:xfrm>
          <a:prstGeom prst="rightArrow">
            <a:avLst/>
          </a:prstGeom>
          <a:solidFill>
            <a:schemeClr val="accent6"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8D6B54-B6FF-3E4E-AC85-D718AC917EEB}"/>
              </a:ext>
            </a:extLst>
          </p:cNvPr>
          <p:cNvCxnSpPr/>
          <p:nvPr/>
        </p:nvCxnSpPr>
        <p:spPr>
          <a:xfrm flipV="1">
            <a:off x="752354" y="3102017"/>
            <a:ext cx="0" cy="4977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46B1451-AEB1-494B-AA63-06C2D3EA61BB}"/>
              </a:ext>
            </a:extLst>
          </p:cNvPr>
          <p:cNvSpPr txBox="1"/>
          <p:nvPr/>
        </p:nvSpPr>
        <p:spPr>
          <a:xfrm>
            <a:off x="381098" y="2767937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1900s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08036E-1BED-FC43-8479-C5B7C7B28C6B}"/>
              </a:ext>
            </a:extLst>
          </p:cNvPr>
          <p:cNvCxnSpPr/>
          <p:nvPr/>
        </p:nvCxnSpPr>
        <p:spPr>
          <a:xfrm flipV="1">
            <a:off x="1390890" y="3738621"/>
            <a:ext cx="0" cy="4977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8D5CBAF-1050-2E43-8FFB-6E42621F750E}"/>
              </a:ext>
            </a:extLst>
          </p:cNvPr>
          <p:cNvSpPr txBox="1"/>
          <p:nvPr/>
        </p:nvSpPr>
        <p:spPr>
          <a:xfrm>
            <a:off x="799716" y="4282625"/>
            <a:ext cx="1191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Late</a:t>
            </a:r>
            <a:r>
              <a:rPr lang="zh-CN" altLang="en-US" dirty="0"/>
              <a:t> </a:t>
            </a:r>
            <a:r>
              <a:rPr lang="en-US" altLang="zh-CN" dirty="0"/>
              <a:t>1940s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BD81E8-1EFA-5A49-A953-56645005D122}"/>
              </a:ext>
            </a:extLst>
          </p:cNvPr>
          <p:cNvSpPr txBox="1"/>
          <p:nvPr/>
        </p:nvSpPr>
        <p:spPr>
          <a:xfrm>
            <a:off x="2155883" y="4282625"/>
            <a:ext cx="1191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Late</a:t>
            </a:r>
            <a:r>
              <a:rPr lang="zh-CN" altLang="en-US" dirty="0"/>
              <a:t> </a:t>
            </a:r>
            <a:r>
              <a:rPr lang="en-US" altLang="zh-CN" dirty="0"/>
              <a:t>1960s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62A4535-6433-7647-838F-485A43C39CEF}"/>
              </a:ext>
            </a:extLst>
          </p:cNvPr>
          <p:cNvCxnSpPr/>
          <p:nvPr/>
        </p:nvCxnSpPr>
        <p:spPr>
          <a:xfrm flipV="1">
            <a:off x="2751655" y="3746333"/>
            <a:ext cx="0" cy="4977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9DA63B4-0CE9-5D40-A219-DABA27214316}"/>
              </a:ext>
            </a:extLst>
          </p:cNvPr>
          <p:cNvCxnSpPr/>
          <p:nvPr/>
        </p:nvCxnSpPr>
        <p:spPr>
          <a:xfrm flipV="1">
            <a:off x="4130970" y="3750189"/>
            <a:ext cx="0" cy="4977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63C42B6-88FB-764A-81C8-7184775342F0}"/>
              </a:ext>
            </a:extLst>
          </p:cNvPr>
          <p:cNvSpPr txBox="1"/>
          <p:nvPr/>
        </p:nvSpPr>
        <p:spPr>
          <a:xfrm>
            <a:off x="3538522" y="4282625"/>
            <a:ext cx="1191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Late</a:t>
            </a:r>
            <a:r>
              <a:rPr lang="zh-CN" altLang="en-US" dirty="0"/>
              <a:t> </a:t>
            </a:r>
            <a:r>
              <a:rPr lang="en-US" altLang="zh-CN" dirty="0"/>
              <a:t>1970s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122338-80BA-7246-947E-FCED20B52203}"/>
              </a:ext>
            </a:extLst>
          </p:cNvPr>
          <p:cNvCxnSpPr/>
          <p:nvPr/>
        </p:nvCxnSpPr>
        <p:spPr>
          <a:xfrm flipV="1">
            <a:off x="5498712" y="3752114"/>
            <a:ext cx="0" cy="4977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9E5E364-1878-7345-B7ED-F62DA7388B8D}"/>
              </a:ext>
            </a:extLst>
          </p:cNvPr>
          <p:cNvSpPr txBox="1"/>
          <p:nvPr/>
        </p:nvSpPr>
        <p:spPr>
          <a:xfrm>
            <a:off x="4906264" y="4284550"/>
            <a:ext cx="1191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Late</a:t>
            </a:r>
            <a:r>
              <a:rPr lang="zh-CN" altLang="en-US" dirty="0"/>
              <a:t> </a:t>
            </a:r>
            <a:r>
              <a:rPr lang="en-US" altLang="zh-CN" dirty="0"/>
              <a:t>1980s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3F89FAB-C9FD-4D4F-BF9D-E3D64A59B78A}"/>
              </a:ext>
            </a:extLst>
          </p:cNvPr>
          <p:cNvCxnSpPr/>
          <p:nvPr/>
        </p:nvCxnSpPr>
        <p:spPr>
          <a:xfrm flipV="1">
            <a:off x="6866449" y="3754039"/>
            <a:ext cx="0" cy="4977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27853B2-50CF-0A43-B9D1-10288A3E460D}"/>
              </a:ext>
            </a:extLst>
          </p:cNvPr>
          <p:cNvSpPr txBox="1"/>
          <p:nvPr/>
        </p:nvSpPr>
        <p:spPr>
          <a:xfrm>
            <a:off x="6540075" y="431349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2010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4FF6089-631B-B34D-B532-DB6AA3A7CE24}"/>
              </a:ext>
            </a:extLst>
          </p:cNvPr>
          <p:cNvCxnSpPr/>
          <p:nvPr/>
        </p:nvCxnSpPr>
        <p:spPr>
          <a:xfrm flipV="1">
            <a:off x="6205959" y="3102017"/>
            <a:ext cx="0" cy="4977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3F1F171-E951-A647-9A90-2DDFBDF22758}"/>
              </a:ext>
            </a:extLst>
          </p:cNvPr>
          <p:cNvSpPr txBox="1"/>
          <p:nvPr/>
        </p:nvSpPr>
        <p:spPr>
          <a:xfrm>
            <a:off x="5881003" y="2768815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2000s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E7E597B-F12B-6545-85D4-7F78C7D22798}"/>
              </a:ext>
            </a:extLst>
          </p:cNvPr>
          <p:cNvCxnSpPr/>
          <p:nvPr/>
        </p:nvCxnSpPr>
        <p:spPr>
          <a:xfrm>
            <a:off x="1390890" y="3987476"/>
            <a:ext cx="13607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0D2077C-7163-BF45-9FD6-E64527119578}"/>
              </a:ext>
            </a:extLst>
          </p:cNvPr>
          <p:cNvCxnSpPr/>
          <p:nvPr/>
        </p:nvCxnSpPr>
        <p:spPr>
          <a:xfrm>
            <a:off x="2770205" y="3987476"/>
            <a:ext cx="13607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A40C077-D27B-7043-838F-869558F9BDF2}"/>
              </a:ext>
            </a:extLst>
          </p:cNvPr>
          <p:cNvCxnSpPr/>
          <p:nvPr/>
        </p:nvCxnSpPr>
        <p:spPr>
          <a:xfrm>
            <a:off x="4130970" y="3987460"/>
            <a:ext cx="13607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880AFA1-7F45-C740-B53E-A22E420B5A27}"/>
              </a:ext>
            </a:extLst>
          </p:cNvPr>
          <p:cNvCxnSpPr/>
          <p:nvPr/>
        </p:nvCxnSpPr>
        <p:spPr>
          <a:xfrm>
            <a:off x="5498712" y="3983616"/>
            <a:ext cx="13607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870BF04-343C-5F4F-9CF4-231F18A47F77}"/>
              </a:ext>
            </a:extLst>
          </p:cNvPr>
          <p:cNvSpPr txBox="1"/>
          <p:nvPr/>
        </p:nvSpPr>
        <p:spPr>
          <a:xfrm>
            <a:off x="1614255" y="4941845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Phase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64193EF-06E1-F14D-B37C-49B2F39A34F3}"/>
              </a:ext>
            </a:extLst>
          </p:cNvPr>
          <p:cNvCxnSpPr>
            <a:cxnSpLocks/>
          </p:cNvCxnSpPr>
          <p:nvPr/>
        </p:nvCxnSpPr>
        <p:spPr>
          <a:xfrm>
            <a:off x="770682" y="3350872"/>
            <a:ext cx="620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565CFA4-EE8A-404E-92FA-21CAA3DDF973}"/>
              </a:ext>
            </a:extLst>
          </p:cNvPr>
          <p:cNvSpPr txBox="1"/>
          <p:nvPr/>
        </p:nvSpPr>
        <p:spPr>
          <a:xfrm>
            <a:off x="671328" y="2363353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Phase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7E9B82-75F1-B54A-B48D-E21415CDAAFA}"/>
              </a:ext>
            </a:extLst>
          </p:cNvPr>
          <p:cNvSpPr txBox="1"/>
          <p:nvPr/>
        </p:nvSpPr>
        <p:spPr>
          <a:xfrm>
            <a:off x="2993570" y="4941845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Phase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70AEEE-28A9-D44C-B030-0FA36C8EEBF2}"/>
              </a:ext>
            </a:extLst>
          </p:cNvPr>
          <p:cNvSpPr txBox="1"/>
          <p:nvPr/>
        </p:nvSpPr>
        <p:spPr>
          <a:xfrm>
            <a:off x="4354335" y="4949046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Phase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6CF6A7-2600-BB41-80D9-C61F06A5D2FE}"/>
              </a:ext>
            </a:extLst>
          </p:cNvPr>
          <p:cNvSpPr txBox="1"/>
          <p:nvPr/>
        </p:nvSpPr>
        <p:spPr>
          <a:xfrm>
            <a:off x="5722077" y="4941845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Phase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80A744A-AE60-AE40-89C3-79887E7DF2FD}"/>
              </a:ext>
            </a:extLst>
          </p:cNvPr>
          <p:cNvCxnSpPr>
            <a:cxnSpLocks/>
          </p:cNvCxnSpPr>
          <p:nvPr/>
        </p:nvCxnSpPr>
        <p:spPr>
          <a:xfrm flipV="1">
            <a:off x="6205959" y="3350872"/>
            <a:ext cx="2428755" cy="7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458DD8D-1B11-474B-8E40-6A1AAAA6BC39}"/>
              </a:ext>
            </a:extLst>
          </p:cNvPr>
          <p:cNvSpPr txBox="1"/>
          <p:nvPr/>
        </p:nvSpPr>
        <p:spPr>
          <a:xfrm>
            <a:off x="6964922" y="2363353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Phase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5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0472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1D5A3-B072-5E43-BCC8-6C5177264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自然语言处理发展历史：</a:t>
            </a:r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0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9B76E-3C67-9D49-9579-49EED0EDC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ym typeface="Wingdings" pitchFamily="2" charset="2"/>
              </a:rPr>
              <a:t>时间：</a:t>
            </a:r>
            <a:r>
              <a:rPr lang="en-US" altLang="zh-CN" dirty="0">
                <a:sym typeface="Wingdings" pitchFamily="2" charset="2"/>
              </a:rPr>
              <a:t>1900-1940s</a:t>
            </a:r>
          </a:p>
          <a:p>
            <a:endParaRPr lang="en-US" altLang="zh-CN" dirty="0">
              <a:sym typeface="Wingdings" pitchFamily="2" charset="2"/>
            </a:endParaRPr>
          </a:p>
          <a:p>
            <a:r>
              <a:rPr lang="en-US" altLang="zh-CN" dirty="0">
                <a:sym typeface="Wingdings" pitchFamily="2" charset="2"/>
              </a:rPr>
              <a:t>1906-1911</a:t>
            </a:r>
            <a:r>
              <a:rPr lang="zh-CN" altLang="en-US" dirty="0">
                <a:sym typeface="Wingdings" pitchFamily="2" charset="2"/>
              </a:rPr>
              <a:t>年，费尔迪南</a:t>
            </a:r>
            <a:r>
              <a:rPr lang="en-US" altLang="zh-CN" dirty="0">
                <a:sym typeface="Wingdings" pitchFamily="2" charset="2"/>
              </a:rPr>
              <a:t>·</a:t>
            </a:r>
            <a:r>
              <a:rPr lang="zh-CN" altLang="en-US" dirty="0">
                <a:sym typeface="Wingdings" pitchFamily="2" charset="2"/>
              </a:rPr>
              <a:t>德</a:t>
            </a:r>
            <a:r>
              <a:rPr lang="en-US" altLang="zh-CN" dirty="0">
                <a:sym typeface="Wingdings" pitchFamily="2" charset="2"/>
              </a:rPr>
              <a:t>·</a:t>
            </a:r>
            <a:r>
              <a:rPr lang="zh-CN" altLang="en-US" dirty="0">
                <a:sym typeface="Wingdings" pitchFamily="2" charset="2"/>
              </a:rPr>
              <a:t>索绪尔（瑞士语言学家）在日内瓦大学开设语言课程，系统介绍他的语言学思想：</a:t>
            </a:r>
            <a:endParaRPr lang="en-US" altLang="zh-CN" dirty="0">
              <a:sym typeface="Wingdings" pitchFamily="2" charset="2"/>
            </a:endParaRPr>
          </a:p>
          <a:p>
            <a:pPr lvl="1"/>
            <a:r>
              <a:rPr lang="en-US" dirty="0"/>
              <a:t>Language is a system of signs that expresses ideas </a:t>
            </a:r>
            <a:endParaRPr lang="en-US" altLang="zh-CN" dirty="0">
              <a:sym typeface="Wingdings" pitchFamily="2" charset="2"/>
            </a:endParaRPr>
          </a:p>
          <a:p>
            <a:pPr lvl="1"/>
            <a:r>
              <a:rPr lang="en-US" dirty="0"/>
              <a:t>meaning is created inside language, in the relations and differences between its parts</a:t>
            </a:r>
          </a:p>
          <a:p>
            <a:pPr lvl="1"/>
            <a:endParaRPr lang="en-US" dirty="0"/>
          </a:p>
          <a:p>
            <a:r>
              <a:rPr lang="en-US" altLang="zh-CN" dirty="0"/>
              <a:t>1916</a:t>
            </a:r>
            <a:r>
              <a:rPr lang="zh-CN" altLang="en-US" dirty="0"/>
              <a:t>年，他的学生根据课程笔记整理出版</a:t>
            </a:r>
            <a:r>
              <a:rPr lang="en-US" altLang="zh-CN" dirty="0"/>
              <a:t>《</a:t>
            </a:r>
            <a:r>
              <a:rPr lang="zh-CN" altLang="en-US" dirty="0"/>
              <a:t>普通语言学教程</a:t>
            </a:r>
            <a:r>
              <a:rPr lang="en-US" altLang="zh-CN" dirty="0"/>
              <a:t>》</a:t>
            </a:r>
            <a:r>
              <a:rPr lang="zh-CN" altLang="en-US" dirty="0"/>
              <a:t>，奠定现代语言学基础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021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A121E-7BE7-204D-9801-7187F061F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自然语言处理发展历史：</a:t>
            </a:r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A6E6A-00B7-4B43-B610-9F452F57F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时间：</a:t>
            </a:r>
            <a:r>
              <a:rPr lang="en-US" altLang="zh-CN" dirty="0"/>
              <a:t>1940</a:t>
            </a:r>
            <a:r>
              <a:rPr lang="zh-CN" altLang="en-US" dirty="0"/>
              <a:t>年代末到</a:t>
            </a:r>
            <a:r>
              <a:rPr lang="en-US" altLang="zh-CN" dirty="0"/>
              <a:t>1960</a:t>
            </a:r>
            <a:r>
              <a:rPr lang="zh-CN" altLang="en-US" dirty="0"/>
              <a:t>年代末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主要特点：以机器翻译研究为主，充满乐观和热情</a:t>
            </a:r>
            <a:endParaRPr lang="en-US" altLang="zh-CN" dirty="0"/>
          </a:p>
          <a:p>
            <a:pPr lvl="1"/>
            <a:r>
              <a:rPr lang="zh-CN" altLang="en-US" dirty="0"/>
              <a:t>基于词典查询逐词翻译</a:t>
            </a:r>
            <a:endParaRPr lang="en-US" altLang="zh-CN" dirty="0"/>
          </a:p>
          <a:p>
            <a:pPr lvl="1"/>
            <a:r>
              <a:rPr lang="zh-CN" altLang="en-US" dirty="0"/>
              <a:t>试图解决语法和语义歧义</a:t>
            </a:r>
            <a:endParaRPr lang="en-US" altLang="zh-CN" dirty="0"/>
          </a:p>
          <a:p>
            <a:pPr lvl="1"/>
            <a:r>
              <a:rPr lang="zh-CN" altLang="en-US" dirty="0"/>
              <a:t>发展自动句子句法分析器</a:t>
            </a:r>
            <a:endParaRPr lang="en-US" altLang="zh-CN" dirty="0"/>
          </a:p>
          <a:p>
            <a:pPr lvl="1"/>
            <a:endParaRPr lang="en-US" dirty="0"/>
          </a:p>
          <a:p>
            <a:r>
              <a:rPr lang="zh-CN" altLang="en-US" dirty="0"/>
              <a:t>主要事件</a:t>
            </a:r>
            <a:endParaRPr lang="en-US" altLang="zh-CN" dirty="0"/>
          </a:p>
          <a:p>
            <a:pPr lvl="1"/>
            <a:r>
              <a:rPr lang="en-US" altLang="zh-CN" dirty="0"/>
              <a:t>1950</a:t>
            </a:r>
            <a:r>
              <a:rPr lang="zh-CN" altLang="en-US" dirty="0"/>
              <a:t>年，图灵测试发表</a:t>
            </a:r>
            <a:endParaRPr lang="en-US" altLang="zh-CN" dirty="0"/>
          </a:p>
          <a:p>
            <a:pPr lvl="1"/>
            <a:r>
              <a:rPr lang="en-US" altLang="zh-CN" dirty="0"/>
              <a:t>1954</a:t>
            </a:r>
            <a:r>
              <a:rPr lang="zh-CN" altLang="en-US" dirty="0"/>
              <a:t>年，</a:t>
            </a:r>
            <a:r>
              <a:rPr lang="en-US" altLang="zh-CN" dirty="0"/>
              <a:t>IBM-</a:t>
            </a:r>
            <a:r>
              <a:rPr lang="en-US" dirty="0"/>
              <a:t> Georgetown</a:t>
            </a:r>
            <a:r>
              <a:rPr lang="zh-CN" altLang="en-US" dirty="0"/>
              <a:t> 机器翻译实验（俄罗斯</a:t>
            </a:r>
            <a:r>
              <a:rPr lang="en-US" altLang="zh-CN" dirty="0"/>
              <a:t>-</a:t>
            </a:r>
            <a:r>
              <a:rPr lang="zh-CN" altLang="en-US" dirty="0"/>
              <a:t>英语）</a:t>
            </a:r>
            <a:endParaRPr lang="en-US" altLang="zh-CN" dirty="0"/>
          </a:p>
          <a:p>
            <a:pPr lvl="1"/>
            <a:r>
              <a:rPr lang="en-US" altLang="zh-CN" dirty="0"/>
              <a:t>1954</a:t>
            </a:r>
            <a:r>
              <a:rPr lang="zh-CN" altLang="en-US" dirty="0"/>
              <a:t>年，</a:t>
            </a:r>
            <a:r>
              <a:rPr lang="en-US" altLang="zh-CN" dirty="0"/>
              <a:t>Machine</a:t>
            </a:r>
            <a:r>
              <a:rPr lang="zh-CN" altLang="en-US" dirty="0"/>
              <a:t> </a:t>
            </a:r>
            <a:r>
              <a:rPr lang="en-US" altLang="zh-CN" dirty="0"/>
              <a:t>Translation</a:t>
            </a:r>
            <a:r>
              <a:rPr lang="zh-CN" altLang="en-US" dirty="0"/>
              <a:t>期刊（</a:t>
            </a:r>
            <a:r>
              <a:rPr lang="en-US" altLang="zh-CN" dirty="0"/>
              <a:t>Computational</a:t>
            </a:r>
            <a:r>
              <a:rPr lang="zh-CN" altLang="en-US" dirty="0"/>
              <a:t> </a:t>
            </a:r>
            <a:r>
              <a:rPr lang="en-US" altLang="zh-CN" dirty="0"/>
              <a:t>Linguistics</a:t>
            </a:r>
            <a:r>
              <a:rPr lang="zh-CN" altLang="en-US" dirty="0"/>
              <a:t>前身）开始发表论文</a:t>
            </a:r>
            <a:endParaRPr lang="en-US" altLang="zh-CN" dirty="0"/>
          </a:p>
          <a:p>
            <a:pPr lvl="1"/>
            <a:r>
              <a:rPr lang="en-US" altLang="zh-CN" dirty="0"/>
              <a:t>1957</a:t>
            </a:r>
            <a:r>
              <a:rPr lang="zh-CN" altLang="en-US" dirty="0"/>
              <a:t>年，</a:t>
            </a:r>
            <a:r>
              <a:rPr lang="zh-CN" altLang="en-US" dirty="0">
                <a:sym typeface="Wingdings" pitchFamily="2" charset="2"/>
              </a:rPr>
              <a:t>诺姆</a:t>
            </a:r>
            <a:r>
              <a:rPr lang="en-US" altLang="zh-CN" dirty="0">
                <a:sym typeface="Wingdings" pitchFamily="2" charset="2"/>
              </a:rPr>
              <a:t>·</a:t>
            </a:r>
            <a:r>
              <a:rPr lang="zh-CN" altLang="en-US" dirty="0">
                <a:sym typeface="Wingdings" pitchFamily="2" charset="2"/>
              </a:rPr>
              <a:t>乔姆斯基</a:t>
            </a:r>
            <a:r>
              <a:rPr lang="en-US" altLang="zh-CN" dirty="0">
                <a:sym typeface="Wingdings" pitchFamily="2" charset="2"/>
              </a:rPr>
              <a:t>《</a:t>
            </a:r>
            <a:r>
              <a:rPr lang="zh-CN" altLang="en-US" dirty="0">
                <a:sym typeface="Wingdings" pitchFamily="2" charset="2"/>
              </a:rPr>
              <a:t>句法结构</a:t>
            </a:r>
            <a:r>
              <a:rPr lang="en-US" altLang="zh-CN" dirty="0">
                <a:sym typeface="Wingdings" pitchFamily="2" charset="2"/>
              </a:rPr>
              <a:t>》</a:t>
            </a:r>
            <a:r>
              <a:rPr lang="zh-CN" altLang="en-US" dirty="0">
                <a:sym typeface="Wingdings" pitchFamily="2" charset="2"/>
              </a:rPr>
              <a:t>出版，提出普遍语法（</a:t>
            </a:r>
            <a:r>
              <a:rPr lang="en-US" altLang="zh-CN" dirty="0">
                <a:sym typeface="Wingdings" pitchFamily="2" charset="2"/>
              </a:rPr>
              <a:t>universal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grammar</a:t>
            </a:r>
            <a:r>
              <a:rPr lang="zh-CN" altLang="en-US" dirty="0">
                <a:sym typeface="Wingdings" pitchFamily="2" charset="2"/>
              </a:rPr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196295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A121E-7BE7-204D-9801-7187F061F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自然语言处理发展历史：</a:t>
            </a:r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A6E6A-00B7-4B43-B610-9F452F57F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主要事件</a:t>
            </a:r>
            <a:endParaRPr lang="en-US" altLang="zh-CN" dirty="0"/>
          </a:p>
          <a:p>
            <a:pPr lvl="1"/>
            <a:r>
              <a:rPr lang="en-US" altLang="zh-CN" dirty="0"/>
              <a:t>1958</a:t>
            </a:r>
            <a:r>
              <a:rPr lang="zh-CN" altLang="en-US" dirty="0"/>
              <a:t>年，</a:t>
            </a:r>
            <a:r>
              <a:rPr lang="en-US" dirty="0"/>
              <a:t>John McCarthy</a:t>
            </a:r>
            <a:r>
              <a:rPr lang="zh-CN" altLang="en-US" dirty="0"/>
              <a:t>推出</a:t>
            </a:r>
            <a:r>
              <a:rPr lang="en-US" altLang="zh-CN" dirty="0"/>
              <a:t>LISP</a:t>
            </a:r>
            <a:r>
              <a:rPr lang="zh-CN" altLang="en-US" dirty="0"/>
              <a:t>编程语言</a:t>
            </a:r>
            <a:endParaRPr lang="en-US" altLang="zh-CN" dirty="0"/>
          </a:p>
          <a:p>
            <a:pPr lvl="1"/>
            <a:r>
              <a:rPr lang="en-US" altLang="zh-CN" dirty="0"/>
              <a:t>1964</a:t>
            </a:r>
            <a:r>
              <a:rPr lang="zh-CN" altLang="en-US" dirty="0"/>
              <a:t>年，</a:t>
            </a:r>
            <a:r>
              <a:rPr lang="en-US" altLang="zh-CN" dirty="0"/>
              <a:t>STUDENT</a:t>
            </a:r>
            <a:r>
              <a:rPr lang="zh-CN" altLang="en-US" dirty="0"/>
              <a:t> </a:t>
            </a:r>
            <a:r>
              <a:rPr lang="en-US" altLang="zh-CN" dirty="0"/>
              <a:t>written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LISP</a:t>
            </a:r>
            <a:r>
              <a:rPr lang="zh-CN" altLang="en-US" dirty="0"/>
              <a:t>解决自然语言描述的简单代数问题</a:t>
            </a:r>
            <a:endParaRPr lang="en-US" altLang="zh-CN" dirty="0"/>
          </a:p>
          <a:p>
            <a:pPr lvl="1"/>
            <a:r>
              <a:rPr lang="en-US" altLang="zh-CN" dirty="0"/>
              <a:t>1964</a:t>
            </a:r>
            <a:r>
              <a:rPr lang="zh-CN" altLang="en-US" dirty="0"/>
              <a:t>年，</a:t>
            </a:r>
            <a:r>
              <a:rPr lang="en-US" altLang="zh-CN" dirty="0"/>
              <a:t>ELIZA</a:t>
            </a:r>
            <a:r>
              <a:rPr lang="zh-CN" altLang="en-US" dirty="0"/>
              <a:t>聊天机器人</a:t>
            </a:r>
            <a:endParaRPr lang="en-US" altLang="zh-CN" dirty="0"/>
          </a:p>
          <a:p>
            <a:pPr lvl="1"/>
            <a:r>
              <a:rPr lang="en-US" altLang="zh-CN" dirty="0"/>
              <a:t>1966</a:t>
            </a:r>
            <a:r>
              <a:rPr lang="zh-CN" altLang="en-US" dirty="0"/>
              <a:t>年，</a:t>
            </a:r>
            <a:r>
              <a:rPr lang="en-US" altLang="zh-CN" dirty="0"/>
              <a:t>ALPAC</a:t>
            </a:r>
            <a:r>
              <a:rPr lang="zh-CN" altLang="en-US" dirty="0"/>
              <a:t>报告发表（基本上否定了当时的机器翻译）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858587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0CBF7-8BB5-244A-881B-0B669ECD6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自然语言处理发展历史：</a:t>
            </a:r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AE6B1-B6E6-D540-ADDB-66875D42D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时间：</a:t>
            </a:r>
            <a:r>
              <a:rPr lang="en-US" altLang="zh-CN" dirty="0"/>
              <a:t>1960</a:t>
            </a:r>
            <a:r>
              <a:rPr lang="zh-CN" altLang="en-US" dirty="0"/>
              <a:t>年代末到</a:t>
            </a:r>
            <a:r>
              <a:rPr lang="en-US" altLang="zh-CN" dirty="0"/>
              <a:t>1970</a:t>
            </a:r>
            <a:r>
              <a:rPr lang="zh-CN" altLang="en-US" dirty="0"/>
              <a:t>年代末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主要特点：偏向于</a:t>
            </a:r>
            <a:r>
              <a:rPr lang="en-US" altLang="zh-CN" dirty="0"/>
              <a:t>AI</a:t>
            </a:r>
            <a:r>
              <a:rPr lang="zh-CN" altLang="en-US" dirty="0"/>
              <a:t>风格的自然语言处理研究，着重于世界知识及其在语义表示中的作用</a:t>
            </a:r>
            <a:endParaRPr lang="en-US" altLang="zh-CN" dirty="0"/>
          </a:p>
          <a:p>
            <a:pPr lvl="1"/>
            <a:r>
              <a:rPr lang="zh-CN" altLang="en-US" dirty="0"/>
              <a:t>乔姆斯基的转换生成语法不适应当时的</a:t>
            </a:r>
            <a:r>
              <a:rPr lang="en-US" altLang="zh-CN" dirty="0"/>
              <a:t>NLP</a:t>
            </a:r>
            <a:r>
              <a:rPr lang="zh-CN" altLang="en-US" dirty="0"/>
              <a:t>系统计算要求</a:t>
            </a:r>
            <a:endParaRPr lang="en-US" altLang="zh-CN" dirty="0"/>
          </a:p>
          <a:p>
            <a:pPr lvl="1"/>
            <a:r>
              <a:rPr lang="zh-CN" altLang="en-US" dirty="0"/>
              <a:t>语言学在当时的</a:t>
            </a:r>
            <a:r>
              <a:rPr lang="en-US" altLang="zh-CN" dirty="0"/>
              <a:t>NLP</a:t>
            </a:r>
            <a:r>
              <a:rPr lang="zh-CN" altLang="en-US" dirty="0"/>
              <a:t>系统贡献让位于</a:t>
            </a:r>
            <a:r>
              <a:rPr lang="en-US" altLang="zh-CN" dirty="0"/>
              <a:t>AI</a:t>
            </a:r>
            <a:r>
              <a:rPr lang="zh-CN" altLang="en-US" dirty="0"/>
              <a:t>思想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主要事件：</a:t>
            </a:r>
            <a:endParaRPr lang="en-US" altLang="zh-CN" dirty="0"/>
          </a:p>
          <a:p>
            <a:pPr lvl="1"/>
            <a:r>
              <a:rPr lang="en-US" altLang="zh-CN" dirty="0"/>
              <a:t>1970</a:t>
            </a:r>
            <a:r>
              <a:rPr lang="zh-CN" altLang="en-US" dirty="0"/>
              <a:t>年，</a:t>
            </a:r>
            <a:r>
              <a:rPr lang="en-US" altLang="zh-CN" dirty="0"/>
              <a:t> SHRDLU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Terry Winograd</a:t>
            </a:r>
            <a:r>
              <a:rPr lang="zh-CN" altLang="en-US" dirty="0"/>
              <a:t>受限领域自然语言处理，人机积木世界游戏，获得成功</a:t>
            </a:r>
            <a:endParaRPr lang="en-US" altLang="zh-CN" dirty="0"/>
          </a:p>
          <a:p>
            <a:pPr lvl="1"/>
            <a:r>
              <a:rPr lang="en-US" altLang="zh-CN" dirty="0"/>
              <a:t>1972</a:t>
            </a:r>
            <a:r>
              <a:rPr lang="zh-CN" altLang="en-US" dirty="0"/>
              <a:t>年，</a:t>
            </a:r>
            <a:r>
              <a:rPr lang="en-US" altLang="zh-CN" dirty="0"/>
              <a:t>PARRY</a:t>
            </a:r>
            <a:r>
              <a:rPr lang="zh-CN" altLang="en-US" dirty="0"/>
              <a:t>聊天机器人</a:t>
            </a:r>
            <a:endParaRPr lang="en-US" altLang="zh-CN" dirty="0"/>
          </a:p>
          <a:p>
            <a:pPr lvl="1"/>
            <a:r>
              <a:rPr lang="en-US" altLang="zh-CN" dirty="0"/>
              <a:t>1978</a:t>
            </a:r>
            <a:r>
              <a:rPr lang="zh-CN" altLang="en-US" dirty="0"/>
              <a:t>年，</a:t>
            </a:r>
            <a:r>
              <a:rPr lang="en-US" altLang="zh-CN" dirty="0"/>
              <a:t>LUNAR</a:t>
            </a:r>
            <a:r>
              <a:rPr lang="zh-CN" altLang="en-US" dirty="0"/>
              <a:t>问答系统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1491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0CBF7-8BB5-244A-881B-0B669ECD6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自然语言处理发展历史：</a:t>
            </a:r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AE6B1-B6E6-D540-ADDB-66875D42D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时间：</a:t>
            </a:r>
            <a:r>
              <a:rPr lang="en-US" altLang="zh-CN" dirty="0"/>
              <a:t>1970</a:t>
            </a:r>
            <a:r>
              <a:rPr lang="zh-CN" altLang="en-US" dirty="0"/>
              <a:t>年代末到</a:t>
            </a:r>
            <a:r>
              <a:rPr lang="en-US" altLang="zh-CN" dirty="0"/>
              <a:t>1980</a:t>
            </a:r>
            <a:r>
              <a:rPr lang="zh-CN" altLang="en-US" dirty="0"/>
              <a:t>年代末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主要特点：区别于</a:t>
            </a:r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的</a:t>
            </a:r>
            <a:r>
              <a:rPr lang="en-US" altLang="zh-CN" dirty="0"/>
              <a:t>AI-flavored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semantics-oriented,</a:t>
            </a:r>
            <a:r>
              <a:rPr lang="zh-CN" altLang="en-US" dirty="0"/>
              <a:t> </a:t>
            </a:r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是文法</a:t>
            </a:r>
            <a:r>
              <a:rPr lang="en-US" altLang="zh-CN" dirty="0"/>
              <a:t>-</a:t>
            </a:r>
            <a:r>
              <a:rPr lang="zh-CN" altLang="en-US" dirty="0"/>
              <a:t>逻辑阶段</a:t>
            </a:r>
            <a:endParaRPr lang="en-US" altLang="zh-CN" dirty="0"/>
          </a:p>
          <a:p>
            <a:pPr lvl="1"/>
            <a:r>
              <a:rPr lang="en-US" altLang="zh-CN" dirty="0"/>
              <a:t>Rule-based</a:t>
            </a:r>
            <a:r>
              <a:rPr lang="zh-CN" altLang="en-US" dirty="0"/>
              <a:t> </a:t>
            </a:r>
            <a:r>
              <a:rPr lang="en-US" altLang="zh-CN" dirty="0"/>
              <a:t>NLP</a:t>
            </a:r>
            <a:r>
              <a:rPr lang="zh-CN" altLang="en-US" dirty="0"/>
              <a:t> </a:t>
            </a:r>
            <a:r>
              <a:rPr lang="en-US" altLang="zh-CN" dirty="0"/>
              <a:t>systems</a:t>
            </a:r>
          </a:p>
          <a:p>
            <a:pPr lvl="1"/>
            <a:r>
              <a:rPr lang="zh-CN" altLang="en-US" dirty="0"/>
              <a:t>大量可计算性强的语法研究成果，如</a:t>
            </a:r>
            <a:r>
              <a:rPr lang="en-US" altLang="zh-CN" dirty="0"/>
              <a:t>functional</a:t>
            </a:r>
            <a:r>
              <a:rPr lang="zh-CN" altLang="en-US" dirty="0"/>
              <a:t> </a:t>
            </a:r>
            <a:r>
              <a:rPr lang="en-US" altLang="zh-CN" dirty="0"/>
              <a:t>grammar</a:t>
            </a:r>
            <a:r>
              <a:rPr lang="zh-CN" altLang="en-US" dirty="0"/>
              <a:t>，</a:t>
            </a:r>
            <a:r>
              <a:rPr lang="en-US" altLang="zh-CN" dirty="0"/>
              <a:t>categorial</a:t>
            </a:r>
            <a:r>
              <a:rPr lang="zh-CN" altLang="en-US" dirty="0"/>
              <a:t> </a:t>
            </a:r>
            <a:r>
              <a:rPr lang="en-US" altLang="zh-CN" dirty="0"/>
              <a:t>grammar</a:t>
            </a:r>
            <a:r>
              <a:rPr lang="zh-CN" altLang="en-US" dirty="0"/>
              <a:t>等</a:t>
            </a:r>
            <a:endParaRPr lang="en-US" altLang="zh-CN" dirty="0"/>
          </a:p>
          <a:p>
            <a:pPr lvl="1"/>
            <a:r>
              <a:rPr lang="zh-CN" altLang="en-US" dirty="0"/>
              <a:t>知识表示采用逻辑谓词</a:t>
            </a:r>
            <a:endParaRPr lang="en-US" altLang="zh-CN" dirty="0"/>
          </a:p>
          <a:p>
            <a:pPr lvl="1"/>
            <a:endParaRPr lang="en-US" dirty="0"/>
          </a:p>
          <a:p>
            <a:r>
              <a:rPr lang="zh-CN" altLang="en-US" dirty="0"/>
              <a:t>主要事件：</a:t>
            </a:r>
            <a:endParaRPr lang="en-US" altLang="zh-CN" dirty="0"/>
          </a:p>
          <a:p>
            <a:pPr lvl="1"/>
            <a:r>
              <a:rPr lang="en-US" altLang="zh-CN" dirty="0"/>
              <a:t>1987</a:t>
            </a:r>
            <a:r>
              <a:rPr lang="zh-CN" altLang="en-US" dirty="0"/>
              <a:t>年，</a:t>
            </a:r>
            <a:r>
              <a:rPr lang="en-US" altLang="zh-CN" dirty="0" err="1"/>
              <a:t>Alvey</a:t>
            </a:r>
            <a:r>
              <a:rPr lang="zh-CN" altLang="en-US" dirty="0"/>
              <a:t> </a:t>
            </a:r>
            <a:r>
              <a:rPr lang="en-US" altLang="zh-CN" dirty="0"/>
              <a:t>natural</a:t>
            </a:r>
            <a:r>
              <a:rPr lang="zh-CN" altLang="en-US" dirty="0"/>
              <a:t> </a:t>
            </a:r>
            <a:r>
              <a:rPr lang="en-US" altLang="zh-CN" dirty="0"/>
              <a:t>language</a:t>
            </a:r>
            <a:r>
              <a:rPr lang="zh-CN" altLang="en-US" dirty="0"/>
              <a:t> </a:t>
            </a:r>
            <a:r>
              <a:rPr lang="en-US" altLang="zh-CN" dirty="0"/>
              <a:t>tools</a:t>
            </a:r>
          </a:p>
          <a:p>
            <a:pPr lvl="1"/>
            <a:r>
              <a:rPr lang="zh-CN" altLang="en-US" dirty="0"/>
              <a:t>机器翻译研究开始复苏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715412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0CBF7-8BB5-244A-881B-0B669ECD6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自然语言处理发展历史：</a:t>
            </a:r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AE6B1-B6E6-D540-ADDB-66875D42D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时间：</a:t>
            </a:r>
            <a:r>
              <a:rPr lang="en-US" altLang="zh-CN" dirty="0"/>
              <a:t>1980</a:t>
            </a:r>
            <a:r>
              <a:rPr lang="zh-CN" altLang="en-US" dirty="0"/>
              <a:t>年代末到</a:t>
            </a:r>
            <a:r>
              <a:rPr lang="en-US" altLang="zh-CN" dirty="0"/>
              <a:t>2010</a:t>
            </a:r>
            <a:r>
              <a:rPr lang="zh-CN" altLang="en-US" dirty="0"/>
              <a:t>年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主要特点：</a:t>
            </a:r>
            <a:endParaRPr lang="en-US" altLang="zh-CN" dirty="0"/>
          </a:p>
          <a:p>
            <a:pPr lvl="1"/>
            <a:r>
              <a:rPr lang="zh-CN" altLang="en-US" dirty="0"/>
              <a:t>相对于</a:t>
            </a:r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的文法化，这个阶段的词汇化方法更流行</a:t>
            </a:r>
            <a:endParaRPr lang="en-US" altLang="zh-CN" dirty="0"/>
          </a:p>
          <a:p>
            <a:pPr lvl="1"/>
            <a:r>
              <a:rPr lang="zh-CN" altLang="en-US" dirty="0"/>
              <a:t>统计方法成为主流方法</a:t>
            </a:r>
            <a:endParaRPr lang="en-US" altLang="zh-CN" dirty="0"/>
          </a:p>
          <a:p>
            <a:pPr lvl="1"/>
            <a:r>
              <a:rPr lang="zh-CN" altLang="en-US" dirty="0"/>
              <a:t>许多浅层的自然语言处理任务取得很大进展，如词法分析，命名实体识别等</a:t>
            </a:r>
            <a:endParaRPr lang="en-US" altLang="zh-CN" dirty="0"/>
          </a:p>
          <a:p>
            <a:pPr lvl="1"/>
            <a:r>
              <a:rPr lang="zh-CN" altLang="en-US" dirty="0"/>
              <a:t>大量标注语料库构建，评测驱动技术发展</a:t>
            </a:r>
            <a:endParaRPr lang="en-US" altLang="zh-CN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6401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0CBF7-8BB5-244A-881B-0B669ECD6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自然语言处理发展历史：</a:t>
            </a:r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AE6B1-B6E6-D540-ADDB-66875D42D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主要事件：</a:t>
            </a:r>
            <a:endParaRPr lang="en-US" altLang="zh-CN" dirty="0"/>
          </a:p>
          <a:p>
            <a:pPr lvl="1"/>
            <a:r>
              <a:rPr lang="en-US" altLang="zh-CN" dirty="0"/>
              <a:t>1989</a:t>
            </a:r>
            <a:r>
              <a:rPr lang="zh-CN" altLang="en-US" dirty="0"/>
              <a:t>年，</a:t>
            </a:r>
            <a:r>
              <a:rPr lang="en-US" altLang="zh-CN" dirty="0"/>
              <a:t>IBM</a:t>
            </a:r>
            <a:r>
              <a:rPr lang="zh-CN" altLang="en-US" dirty="0"/>
              <a:t> </a:t>
            </a:r>
            <a:r>
              <a:rPr lang="en-US" altLang="zh-CN" dirty="0"/>
              <a:t>word-based</a:t>
            </a:r>
            <a:r>
              <a:rPr lang="zh-CN" altLang="en-US" dirty="0"/>
              <a:t> </a:t>
            </a:r>
            <a:r>
              <a:rPr lang="en-US" altLang="zh-CN" dirty="0"/>
              <a:t>SMT</a:t>
            </a:r>
            <a:r>
              <a:rPr lang="zh-CN" altLang="en-US" dirty="0"/>
              <a:t>模型提出</a:t>
            </a:r>
            <a:endParaRPr lang="en-US" altLang="zh-CN" dirty="0"/>
          </a:p>
          <a:p>
            <a:pPr lvl="1"/>
            <a:r>
              <a:rPr lang="en-US" altLang="zh-CN" dirty="0"/>
              <a:t>1999</a:t>
            </a:r>
            <a:r>
              <a:rPr lang="zh-CN" altLang="en-US" dirty="0"/>
              <a:t>年，</a:t>
            </a:r>
            <a:r>
              <a:rPr lang="en-US" altLang="zh-CN" dirty="0"/>
              <a:t>JHU</a:t>
            </a:r>
            <a:r>
              <a:rPr lang="zh-CN" altLang="en-US" dirty="0"/>
              <a:t> </a:t>
            </a:r>
            <a:r>
              <a:rPr lang="en-US" altLang="zh-CN" dirty="0"/>
              <a:t>workshop</a:t>
            </a:r>
            <a:r>
              <a:rPr lang="zh-CN" altLang="en-US" dirty="0"/>
              <a:t>重建</a:t>
            </a:r>
            <a:r>
              <a:rPr lang="en-US" altLang="zh-CN" dirty="0"/>
              <a:t>IBM</a:t>
            </a:r>
            <a:r>
              <a:rPr lang="zh-CN" altLang="en-US" dirty="0"/>
              <a:t>模型</a:t>
            </a:r>
            <a:endParaRPr lang="en-US" altLang="zh-CN" dirty="0"/>
          </a:p>
          <a:p>
            <a:pPr lvl="1"/>
            <a:r>
              <a:rPr lang="en-US" altLang="zh-CN" dirty="0"/>
              <a:t>1989-1996</a:t>
            </a:r>
            <a:r>
              <a:rPr lang="zh-CN" altLang="en-US" dirty="0"/>
              <a:t>年，</a:t>
            </a:r>
            <a:r>
              <a:rPr lang="en-US" altLang="zh-CN" dirty="0"/>
              <a:t>Penn</a:t>
            </a:r>
            <a:r>
              <a:rPr lang="zh-CN" altLang="en-US" dirty="0"/>
              <a:t> </a:t>
            </a:r>
            <a:r>
              <a:rPr lang="en-US" altLang="zh-CN" dirty="0"/>
              <a:t>Treebank</a:t>
            </a:r>
            <a:r>
              <a:rPr lang="zh-CN" altLang="en-US" dirty="0"/>
              <a:t>构建（</a:t>
            </a:r>
            <a:r>
              <a:rPr lang="en-US" altLang="zh-CN" dirty="0"/>
              <a:t>700</a:t>
            </a:r>
            <a:r>
              <a:rPr lang="zh-CN" altLang="en-US" dirty="0"/>
              <a:t>万词的词性标注，</a:t>
            </a:r>
            <a:r>
              <a:rPr lang="en-US" altLang="zh-CN" dirty="0"/>
              <a:t>300</a:t>
            </a:r>
            <a:r>
              <a:rPr lang="zh-CN" altLang="en-US" dirty="0"/>
              <a:t>万词的句法分析标注，</a:t>
            </a:r>
            <a:r>
              <a:rPr lang="en-US" altLang="zh-CN" dirty="0"/>
              <a:t>200</a:t>
            </a:r>
            <a:r>
              <a:rPr lang="zh-CN" altLang="en-US" dirty="0"/>
              <a:t>万词的浅层语义角色标注）</a:t>
            </a:r>
            <a:endParaRPr lang="en-US" altLang="zh-CN" dirty="0"/>
          </a:p>
          <a:p>
            <a:pPr lvl="1"/>
            <a:r>
              <a:rPr lang="zh-CN" altLang="en-US" dirty="0"/>
              <a:t>词汇化句法分析</a:t>
            </a:r>
            <a:endParaRPr lang="en-US" altLang="zh-CN" dirty="0"/>
          </a:p>
          <a:p>
            <a:pPr lvl="1"/>
            <a:r>
              <a:rPr lang="en-US" altLang="zh-CN" dirty="0"/>
              <a:t>2000-2010</a:t>
            </a:r>
            <a:r>
              <a:rPr lang="zh-CN" altLang="en-US" dirty="0"/>
              <a:t>年，基于短语和基于句法的统计机器翻译</a:t>
            </a:r>
            <a:endParaRPr lang="en-US" altLang="zh-CN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9270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B03F5-2A0B-F44C-A49C-4AD123CE3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自然语言处理发展历史：</a:t>
            </a:r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C5785-1257-9945-B8EF-38B996E0F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时间：</a:t>
            </a:r>
            <a:r>
              <a:rPr lang="en-US" altLang="zh-CN" dirty="0"/>
              <a:t>2010</a:t>
            </a:r>
            <a:r>
              <a:rPr lang="zh-CN" altLang="en-US" dirty="0"/>
              <a:t>年</a:t>
            </a:r>
            <a:r>
              <a:rPr lang="en-US" altLang="zh-CN" dirty="0"/>
              <a:t>-</a:t>
            </a:r>
            <a:r>
              <a:rPr lang="zh-CN" altLang="en-US" dirty="0"/>
              <a:t>现在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主要特点</a:t>
            </a:r>
            <a:endParaRPr lang="en-US" altLang="zh-CN" dirty="0"/>
          </a:p>
          <a:p>
            <a:pPr lvl="1"/>
            <a:r>
              <a:rPr lang="zh-CN" altLang="en-US" dirty="0"/>
              <a:t>神经网络方法</a:t>
            </a:r>
            <a:endParaRPr lang="en-US" altLang="zh-CN" dirty="0"/>
          </a:p>
          <a:p>
            <a:pPr lvl="1"/>
            <a:r>
              <a:rPr lang="zh-CN" altLang="en-US" dirty="0"/>
              <a:t>符号</a:t>
            </a:r>
            <a:r>
              <a:rPr lang="en-US" altLang="zh-CN" dirty="0">
                <a:sym typeface="Wingdings" pitchFamily="2" charset="2"/>
              </a:rPr>
              <a:t></a:t>
            </a:r>
            <a:r>
              <a:rPr lang="zh-CN" altLang="en-US" dirty="0">
                <a:sym typeface="Wingdings" pitchFamily="2" charset="2"/>
              </a:rPr>
              <a:t>实数向量化表示</a:t>
            </a:r>
            <a:endParaRPr lang="en-US" altLang="zh-CN" dirty="0">
              <a:sym typeface="Wingdings" pitchFamily="2" charset="2"/>
            </a:endParaRPr>
          </a:p>
          <a:p>
            <a:pPr lvl="1"/>
            <a:r>
              <a:rPr lang="zh-CN" altLang="en-US" dirty="0">
                <a:sym typeface="Wingdings" pitchFamily="2" charset="2"/>
              </a:rPr>
              <a:t>深度学习模型</a:t>
            </a:r>
            <a:endParaRPr lang="en-US" altLang="zh-CN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  <a:p>
            <a:r>
              <a:rPr lang="zh-CN" altLang="en-US" dirty="0">
                <a:sym typeface="Wingdings" pitchFamily="2" charset="2"/>
              </a:rPr>
              <a:t>主要事件</a:t>
            </a:r>
            <a:endParaRPr lang="en-US" altLang="zh-CN" dirty="0">
              <a:sym typeface="Wingdings" pitchFamily="2" charset="2"/>
            </a:endParaRPr>
          </a:p>
          <a:p>
            <a:pPr lvl="1"/>
            <a:r>
              <a:rPr lang="en-US" altLang="zh-CN" dirty="0">
                <a:sym typeface="Wingdings" pitchFamily="2" charset="2"/>
              </a:rPr>
              <a:t>2001</a:t>
            </a:r>
            <a:r>
              <a:rPr lang="zh-CN" altLang="en-US" dirty="0">
                <a:sym typeface="Wingdings" pitchFamily="2" charset="2"/>
              </a:rPr>
              <a:t>年，</a:t>
            </a:r>
            <a:r>
              <a:rPr lang="en-US" altLang="zh-CN" dirty="0" err="1">
                <a:sym typeface="Wingdings" pitchFamily="2" charset="2"/>
              </a:rPr>
              <a:t>Yoshua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en-US" altLang="zh-CN" dirty="0" err="1">
                <a:sym typeface="Wingdings" pitchFamily="2" charset="2"/>
              </a:rPr>
              <a:t>Bengio</a:t>
            </a:r>
            <a:r>
              <a:rPr lang="zh-CN" altLang="en-US" dirty="0">
                <a:sym typeface="Wingdings" pitchFamily="2" charset="2"/>
              </a:rPr>
              <a:t>神经语言模型</a:t>
            </a:r>
            <a:endParaRPr lang="en-US" altLang="zh-CN" dirty="0">
              <a:sym typeface="Wingdings" pitchFamily="2" charset="2"/>
            </a:endParaRPr>
          </a:p>
          <a:p>
            <a:pPr lvl="1"/>
            <a:r>
              <a:rPr lang="en-US" altLang="zh-CN" dirty="0">
                <a:sym typeface="Wingdings" pitchFamily="2" charset="2"/>
              </a:rPr>
              <a:t>2013</a:t>
            </a:r>
            <a:r>
              <a:rPr lang="zh-CN" altLang="en-US" dirty="0">
                <a:sym typeface="Wingdings" pitchFamily="2" charset="2"/>
              </a:rPr>
              <a:t>年，</a:t>
            </a:r>
            <a:r>
              <a:rPr lang="en-US" altLang="zh-CN" dirty="0">
                <a:sym typeface="Wingdings" pitchFamily="2" charset="2"/>
              </a:rPr>
              <a:t>word</a:t>
            </a:r>
            <a:r>
              <a:rPr lang="zh-CN" altLang="en-US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embedding</a:t>
            </a:r>
            <a:r>
              <a:rPr lang="zh-CN" altLang="en-US" dirty="0">
                <a:sym typeface="Wingdings" pitchFamily="2" charset="2"/>
              </a:rPr>
              <a:t> （</a:t>
            </a:r>
            <a:r>
              <a:rPr lang="en-US" altLang="zh-CN" dirty="0">
                <a:sym typeface="Wingdings" pitchFamily="2" charset="2"/>
              </a:rPr>
              <a:t>word2vec</a:t>
            </a:r>
            <a:r>
              <a:rPr lang="zh-CN" altLang="en-US" dirty="0">
                <a:sym typeface="Wingdings" pitchFamily="2" charset="2"/>
              </a:rPr>
              <a:t>）</a:t>
            </a:r>
            <a:endParaRPr lang="en-US" altLang="zh-CN" dirty="0">
              <a:sym typeface="Wingdings" pitchFamily="2" charset="2"/>
            </a:endParaRPr>
          </a:p>
          <a:p>
            <a:pPr lvl="1"/>
            <a:r>
              <a:rPr lang="en-US" altLang="zh-CN" dirty="0">
                <a:sym typeface="Wingdings" pitchFamily="2" charset="2"/>
              </a:rPr>
              <a:t>2014</a:t>
            </a:r>
            <a:r>
              <a:rPr lang="zh-CN" altLang="en-US" dirty="0">
                <a:sym typeface="Wingdings" pitchFamily="2" charset="2"/>
              </a:rPr>
              <a:t>年，</a:t>
            </a:r>
            <a:r>
              <a:rPr lang="en-US" altLang="zh-CN" dirty="0">
                <a:sym typeface="Wingdings" pitchFamily="2" charset="2"/>
              </a:rPr>
              <a:t>sequence-to-sequence</a:t>
            </a:r>
            <a:r>
              <a:rPr lang="zh-CN" altLang="en-US" dirty="0">
                <a:sym typeface="Wingdings" pitchFamily="2" charset="2"/>
              </a:rPr>
              <a:t>模型</a:t>
            </a:r>
            <a:endParaRPr lang="en-US" altLang="zh-CN" dirty="0">
              <a:sym typeface="Wingdings" pitchFamily="2" charset="2"/>
            </a:endParaRPr>
          </a:p>
          <a:p>
            <a:pPr lvl="1"/>
            <a:r>
              <a:rPr lang="en-US" altLang="zh-CN" dirty="0">
                <a:sym typeface="Wingdings" pitchFamily="2" charset="2"/>
              </a:rPr>
              <a:t>2015</a:t>
            </a:r>
            <a:r>
              <a:rPr lang="zh-CN" altLang="en-US" dirty="0">
                <a:sym typeface="Wingdings" pitchFamily="2" charset="2"/>
              </a:rPr>
              <a:t>年，</a:t>
            </a:r>
            <a:r>
              <a:rPr lang="en-US" altLang="zh-CN" dirty="0">
                <a:sym typeface="Wingdings" pitchFamily="2" charset="2"/>
              </a:rPr>
              <a:t>ACL</a:t>
            </a:r>
            <a:r>
              <a:rPr lang="zh-CN" altLang="en-US" dirty="0">
                <a:sym typeface="Wingdings" pitchFamily="2" charset="2"/>
              </a:rPr>
              <a:t> 神经网络方法 </a:t>
            </a:r>
            <a:r>
              <a:rPr lang="en-US" altLang="zh-CN" dirty="0">
                <a:sym typeface="Wingdings" pitchFamily="2" charset="2"/>
              </a:rPr>
              <a:t>vs</a:t>
            </a:r>
            <a:r>
              <a:rPr lang="zh-CN" altLang="en-US" dirty="0">
                <a:sym typeface="Wingdings" pitchFamily="2" charset="2"/>
              </a:rPr>
              <a:t> 传统统计方法大讨论</a:t>
            </a:r>
            <a:endParaRPr lang="en-US" altLang="zh-CN" dirty="0">
              <a:sym typeface="Wingdings" pitchFamily="2" charset="2"/>
            </a:endParaRPr>
          </a:p>
          <a:p>
            <a:pPr lvl="1"/>
            <a:r>
              <a:rPr lang="en-US" altLang="zh-CN" dirty="0">
                <a:sym typeface="Wingdings" pitchFamily="2" charset="2"/>
              </a:rPr>
              <a:t>2017</a:t>
            </a:r>
            <a:r>
              <a:rPr lang="zh-CN" altLang="en-US" dirty="0">
                <a:sym typeface="Wingdings" pitchFamily="2" charset="2"/>
              </a:rPr>
              <a:t>年，</a:t>
            </a:r>
            <a:r>
              <a:rPr lang="en-US" altLang="zh-CN" dirty="0">
                <a:sym typeface="Wingdings" pitchFamily="2" charset="2"/>
              </a:rPr>
              <a:t>Transformer</a:t>
            </a:r>
          </a:p>
          <a:p>
            <a:pPr lvl="1"/>
            <a:r>
              <a:rPr lang="en-US" altLang="zh-CN" dirty="0">
                <a:sym typeface="Wingdings" pitchFamily="2" charset="2"/>
              </a:rPr>
              <a:t>2018</a:t>
            </a:r>
            <a:r>
              <a:rPr lang="zh-CN" altLang="en-US" dirty="0">
                <a:sym typeface="Wingdings" pitchFamily="2" charset="2"/>
              </a:rPr>
              <a:t>年，预训练语言模型（</a:t>
            </a:r>
            <a:r>
              <a:rPr lang="en-US" altLang="zh-CN" dirty="0" err="1">
                <a:sym typeface="Wingdings" pitchFamily="2" charset="2"/>
              </a:rPr>
              <a:t>ELMo</a:t>
            </a:r>
            <a:r>
              <a:rPr lang="zh-CN" altLang="en-US" dirty="0">
                <a:sym typeface="Wingdings" pitchFamily="2" charset="2"/>
              </a:rPr>
              <a:t>，</a:t>
            </a:r>
            <a:r>
              <a:rPr lang="en-US" altLang="zh-CN" dirty="0">
                <a:sym typeface="Wingdings" pitchFamily="2" charset="2"/>
              </a:rPr>
              <a:t>BERT</a:t>
            </a:r>
            <a:r>
              <a:rPr lang="zh-CN" altLang="en-US" dirty="0">
                <a:sym typeface="Wingdings" pitchFamily="2" charset="2"/>
              </a:rPr>
              <a:t>，</a:t>
            </a:r>
            <a:r>
              <a:rPr lang="en-US" altLang="zh-CN" dirty="0">
                <a:sym typeface="Wingdings" pitchFamily="2" charset="2"/>
              </a:rPr>
              <a:t>GPT</a:t>
            </a:r>
            <a:r>
              <a:rPr lang="zh-CN" altLang="en-US" dirty="0">
                <a:sym typeface="Wingdings" pitchFamily="2" charset="2"/>
              </a:rPr>
              <a:t>等）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7216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688EF-1C1D-D849-A8AC-7DE0CA7B5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自然语言处理发展历史：研究范式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FA270-5377-AE46-B4C1-1ACDB08CD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研究范式：简单说，一个时期内被广泛采用的方法体系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自然语言处理两种基本范式：理性主义 </a:t>
            </a:r>
            <a:r>
              <a:rPr lang="en-US" altLang="zh-CN" dirty="0"/>
              <a:t>vs</a:t>
            </a:r>
            <a:r>
              <a:rPr lang="zh-CN" altLang="en-US" dirty="0"/>
              <a:t> 经验主义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5435E-5142-E549-9CC9-6E9381233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771" y="3367207"/>
            <a:ext cx="3592676" cy="277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999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688EF-1C1D-D849-A8AC-7DE0CA7B5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自然语言处理发展历史：研究范式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FA270-5377-AE46-B4C1-1ACDB08CD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伴随理性</a:t>
            </a:r>
            <a:r>
              <a:rPr lang="en-US" altLang="zh-CN" dirty="0"/>
              <a:t>vs</a:t>
            </a:r>
            <a:r>
              <a:rPr lang="zh-CN" altLang="en-US" dirty="0"/>
              <a:t>经验主义钟摆的是语言学在</a:t>
            </a:r>
            <a:r>
              <a:rPr lang="en-US" altLang="zh-CN" dirty="0"/>
              <a:t>NLP</a:t>
            </a:r>
            <a:r>
              <a:rPr lang="zh-CN" altLang="en-US" dirty="0"/>
              <a:t>中的地位摆动</a:t>
            </a:r>
            <a:endParaRPr lang="en-US" altLang="zh-CN" dirty="0"/>
          </a:p>
          <a:p>
            <a:pPr lvl="1"/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 （</a:t>
            </a:r>
            <a:r>
              <a:rPr lang="en-US" altLang="zh-CN" dirty="0"/>
              <a:t>Late</a:t>
            </a:r>
            <a:r>
              <a:rPr lang="zh-CN" altLang="en-US" dirty="0"/>
              <a:t> </a:t>
            </a:r>
            <a:r>
              <a:rPr lang="en-US" altLang="zh-CN" dirty="0"/>
              <a:t>1940-1960s</a:t>
            </a:r>
            <a:r>
              <a:rPr lang="zh-CN" altLang="en-US" dirty="0"/>
              <a:t>）：语言学理论建立与应用</a:t>
            </a:r>
            <a:endParaRPr lang="en-US" altLang="zh-CN" dirty="0"/>
          </a:p>
          <a:p>
            <a:pPr lvl="1"/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（</a:t>
            </a:r>
            <a:r>
              <a:rPr lang="en-US" altLang="zh-CN" dirty="0"/>
              <a:t>Late</a:t>
            </a:r>
            <a:r>
              <a:rPr lang="zh-CN" altLang="en-US" dirty="0"/>
              <a:t> </a:t>
            </a:r>
            <a:r>
              <a:rPr lang="en-US" altLang="zh-CN" dirty="0"/>
              <a:t>1960-1970s</a:t>
            </a:r>
            <a:r>
              <a:rPr lang="zh-CN" altLang="en-US" dirty="0"/>
              <a:t>）：语言学让位于传统</a:t>
            </a:r>
            <a:r>
              <a:rPr lang="en-US" altLang="zh-CN" dirty="0"/>
              <a:t>AI</a:t>
            </a:r>
          </a:p>
          <a:p>
            <a:pPr lvl="1"/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 （</a:t>
            </a:r>
            <a:r>
              <a:rPr lang="en-US" altLang="zh-CN" dirty="0"/>
              <a:t>Late</a:t>
            </a:r>
            <a:r>
              <a:rPr lang="zh-CN" altLang="en-US" dirty="0"/>
              <a:t> </a:t>
            </a:r>
            <a:r>
              <a:rPr lang="en-US" altLang="zh-CN" dirty="0"/>
              <a:t>1970-1980s</a:t>
            </a:r>
            <a:r>
              <a:rPr lang="zh-CN" altLang="en-US" dirty="0"/>
              <a:t>）：语言学重新受重视</a:t>
            </a:r>
            <a:endParaRPr lang="en-US" altLang="zh-CN" dirty="0"/>
          </a:p>
          <a:p>
            <a:pPr lvl="1"/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4</a:t>
            </a:r>
            <a:r>
              <a:rPr lang="zh-CN" altLang="en-US" dirty="0"/>
              <a:t> （</a:t>
            </a:r>
            <a:r>
              <a:rPr lang="en-US" altLang="zh-CN" dirty="0"/>
              <a:t>1990s-2010</a:t>
            </a:r>
            <a:r>
              <a:rPr lang="zh-CN" altLang="en-US" dirty="0"/>
              <a:t>）：语言学重视程度下降</a:t>
            </a:r>
            <a:endParaRPr lang="en-US" altLang="zh-CN" dirty="0"/>
          </a:p>
          <a:p>
            <a:pPr lvl="1"/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5</a:t>
            </a:r>
            <a:r>
              <a:rPr lang="zh-CN" altLang="en-US" dirty="0"/>
              <a:t> （</a:t>
            </a:r>
            <a:r>
              <a:rPr lang="en-US" altLang="zh-CN" dirty="0"/>
              <a:t>2000-</a:t>
            </a:r>
            <a:r>
              <a:rPr lang="zh-CN" altLang="en-US" dirty="0"/>
              <a:t>现在）：统计、神经网络方法占主导，数据驱动压倒语言学驱动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422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E32B8-2614-024E-9BCA-439CB11F5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自然语言处理与其他学科关系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CFFCA-5995-4844-A54C-8F85748B5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NLP</a:t>
            </a:r>
            <a:r>
              <a:rPr lang="zh-CN" altLang="en-US" dirty="0"/>
              <a:t>与</a:t>
            </a:r>
            <a:r>
              <a:rPr lang="en-US" altLang="zh-CN" dirty="0"/>
              <a:t>AI</a:t>
            </a:r>
            <a:r>
              <a:rPr lang="zh-CN" altLang="en-US" dirty="0"/>
              <a:t>、</a:t>
            </a:r>
            <a:r>
              <a:rPr lang="en-US" altLang="zh-CN" dirty="0"/>
              <a:t>CS</a:t>
            </a:r>
            <a:r>
              <a:rPr lang="zh-CN" altLang="en-US" dirty="0"/>
              <a:t>的关系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90696F-A625-9B4D-9FEF-5102BD0A4EE3}"/>
              </a:ext>
            </a:extLst>
          </p:cNvPr>
          <p:cNvSpPr/>
          <p:nvPr/>
        </p:nvSpPr>
        <p:spPr>
          <a:xfrm>
            <a:off x="2291788" y="2145513"/>
            <a:ext cx="3889093" cy="3599727"/>
          </a:xfrm>
          <a:prstGeom prst="roundRect">
            <a:avLst/>
          </a:prstGeom>
          <a:solidFill>
            <a:srgbClr val="D883FF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0FDF334-7C28-144C-AE82-AD0EB6647332}"/>
              </a:ext>
            </a:extLst>
          </p:cNvPr>
          <p:cNvSpPr/>
          <p:nvPr/>
        </p:nvSpPr>
        <p:spPr>
          <a:xfrm>
            <a:off x="2662177" y="2696902"/>
            <a:ext cx="3125165" cy="281264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16DF68-7618-574C-8B1E-39508AA17699}"/>
              </a:ext>
            </a:extLst>
          </p:cNvPr>
          <p:cNvSpPr/>
          <p:nvPr/>
        </p:nvSpPr>
        <p:spPr>
          <a:xfrm>
            <a:off x="2803606" y="3293991"/>
            <a:ext cx="1000217" cy="1000217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3CB6B2-490E-E54F-80E4-FC461C42DC8D}"/>
              </a:ext>
            </a:extLst>
          </p:cNvPr>
          <p:cNvSpPr/>
          <p:nvPr/>
        </p:nvSpPr>
        <p:spPr>
          <a:xfrm>
            <a:off x="4542340" y="2755044"/>
            <a:ext cx="1059808" cy="105980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75BEA4-AB61-6B4A-843B-1E891C7AA1BF}"/>
              </a:ext>
            </a:extLst>
          </p:cNvPr>
          <p:cNvSpPr/>
          <p:nvPr/>
        </p:nvSpPr>
        <p:spPr>
          <a:xfrm>
            <a:off x="4643978" y="4184246"/>
            <a:ext cx="891251" cy="891251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4A6E14-879D-6747-8C9C-3126E597CC13}"/>
              </a:ext>
            </a:extLst>
          </p:cNvPr>
          <p:cNvSpPr txBox="1"/>
          <p:nvPr/>
        </p:nvSpPr>
        <p:spPr>
          <a:xfrm>
            <a:off x="4585381" y="4439421"/>
            <a:ext cx="987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Robotics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A2DF4A-7625-D24F-BC8A-2B99AAD81DC1}"/>
              </a:ext>
            </a:extLst>
          </p:cNvPr>
          <p:cNvSpPr/>
          <p:nvPr/>
        </p:nvSpPr>
        <p:spPr>
          <a:xfrm>
            <a:off x="3692324" y="3055717"/>
            <a:ext cx="238274" cy="23827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C480F6B-7279-8B4D-9FA8-238233FB6765}"/>
              </a:ext>
            </a:extLst>
          </p:cNvPr>
          <p:cNvSpPr/>
          <p:nvPr/>
        </p:nvSpPr>
        <p:spPr>
          <a:xfrm>
            <a:off x="3934807" y="3674962"/>
            <a:ext cx="185780" cy="18578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F80D09D-94B4-0C48-8CFD-7B900AF7FEC2}"/>
              </a:ext>
            </a:extLst>
          </p:cNvPr>
          <p:cNvSpPr/>
          <p:nvPr/>
        </p:nvSpPr>
        <p:spPr>
          <a:xfrm>
            <a:off x="3882312" y="4272050"/>
            <a:ext cx="384497" cy="384497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A2E437F-D699-1A40-BD6B-82454DB7511D}"/>
              </a:ext>
            </a:extLst>
          </p:cNvPr>
          <p:cNvSpPr/>
          <p:nvPr/>
        </p:nvSpPr>
        <p:spPr>
          <a:xfrm>
            <a:off x="2825760" y="4610242"/>
            <a:ext cx="392001" cy="39200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EE240C4-F68F-F94D-91DE-7A0FFA937A72}"/>
              </a:ext>
            </a:extLst>
          </p:cNvPr>
          <p:cNvSpPr/>
          <p:nvPr/>
        </p:nvSpPr>
        <p:spPr>
          <a:xfrm>
            <a:off x="5334942" y="3880412"/>
            <a:ext cx="238274" cy="23827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6074E1-FAEB-3546-984D-0B3D8D518704}"/>
              </a:ext>
            </a:extLst>
          </p:cNvPr>
          <p:cNvSpPr txBox="1"/>
          <p:nvPr/>
        </p:nvSpPr>
        <p:spPr>
          <a:xfrm>
            <a:off x="3223277" y="2262680"/>
            <a:ext cx="1887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Computer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Science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CEEC49-520F-4B42-8FF3-5E2EA3C12845}"/>
              </a:ext>
            </a:extLst>
          </p:cNvPr>
          <p:cNvSpPr txBox="1"/>
          <p:nvPr/>
        </p:nvSpPr>
        <p:spPr>
          <a:xfrm>
            <a:off x="3173894" y="5146006"/>
            <a:ext cx="2101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Artificial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Intelligence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0432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E32B8-2614-024E-9BCA-439CB11F5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自然语言处理与其他学科关系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CFFCA-5995-4844-A54C-8F85748B5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NLP</a:t>
            </a:r>
            <a:r>
              <a:rPr lang="zh-CN" altLang="en-US" dirty="0"/>
              <a:t>与</a:t>
            </a:r>
            <a:r>
              <a:rPr lang="en-US" altLang="zh-CN" dirty="0"/>
              <a:t>Machine</a:t>
            </a:r>
            <a:r>
              <a:rPr lang="zh-CN" altLang="en-US" dirty="0"/>
              <a:t> </a:t>
            </a:r>
            <a:r>
              <a:rPr lang="en-US" altLang="zh-CN" dirty="0"/>
              <a:t>learning</a:t>
            </a:r>
            <a:r>
              <a:rPr lang="zh-CN" altLang="en-US" dirty="0"/>
              <a:t>、</a:t>
            </a:r>
            <a:r>
              <a:rPr lang="en-US" altLang="zh-CN" dirty="0"/>
              <a:t>deep</a:t>
            </a:r>
            <a:r>
              <a:rPr lang="zh-CN" altLang="en-US" dirty="0"/>
              <a:t> </a:t>
            </a:r>
            <a:r>
              <a:rPr lang="en-US" altLang="zh-CN" dirty="0"/>
              <a:t>learning</a:t>
            </a:r>
            <a:r>
              <a:rPr lang="zh-CN" altLang="en-US" dirty="0"/>
              <a:t>的关系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B43D36-EDC2-7547-A7EA-2839B722B308}"/>
              </a:ext>
            </a:extLst>
          </p:cNvPr>
          <p:cNvSpPr/>
          <p:nvPr/>
        </p:nvSpPr>
        <p:spPr>
          <a:xfrm>
            <a:off x="381966" y="2608552"/>
            <a:ext cx="2113919" cy="2113919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40F4C72-103B-4042-89C5-08C16F98E4A8}"/>
              </a:ext>
            </a:extLst>
          </p:cNvPr>
          <p:cNvSpPr/>
          <p:nvPr/>
        </p:nvSpPr>
        <p:spPr>
          <a:xfrm>
            <a:off x="1770927" y="2411778"/>
            <a:ext cx="2530607" cy="2530607"/>
          </a:xfrm>
          <a:prstGeom prst="roundRect">
            <a:avLst/>
          </a:prstGeom>
          <a:solidFill>
            <a:srgbClr val="942093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EE2B87D-719D-FD43-AAF0-22B129AFB63C}"/>
              </a:ext>
            </a:extLst>
          </p:cNvPr>
          <p:cNvSpPr/>
          <p:nvPr/>
        </p:nvSpPr>
        <p:spPr>
          <a:xfrm>
            <a:off x="1967696" y="2824223"/>
            <a:ext cx="1111170" cy="1539433"/>
          </a:xfrm>
          <a:prstGeom prst="roundRect">
            <a:avLst/>
          </a:prstGeom>
          <a:solidFill>
            <a:srgbClr val="FF40FF">
              <a:alpha val="7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539EB7-EC8D-A44F-8D8A-711CD5396179}"/>
              </a:ext>
            </a:extLst>
          </p:cNvPr>
          <p:cNvSpPr txBox="1"/>
          <p:nvPr/>
        </p:nvSpPr>
        <p:spPr>
          <a:xfrm>
            <a:off x="3055715" y="3480845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5E555F-19F3-4A46-9CDD-83EDFEF1BD5E}"/>
              </a:ext>
            </a:extLst>
          </p:cNvPr>
          <p:cNvSpPr txBox="1"/>
          <p:nvPr/>
        </p:nvSpPr>
        <p:spPr>
          <a:xfrm>
            <a:off x="2343502" y="3490298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47A7B8-6E6E-3F4F-8C66-D591D18C4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047" y="1900901"/>
            <a:ext cx="3341896" cy="222967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CB8B1A1-DD56-8447-893C-02ACE0A5D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927" y="4578804"/>
            <a:ext cx="2422440" cy="1514025"/>
          </a:xfrm>
          <a:prstGeom prst="rect">
            <a:avLst/>
          </a:prstGeom>
        </p:spPr>
      </p:pic>
      <p:sp>
        <p:nvSpPr>
          <p:cNvPr id="19" name="Multiply 18">
            <a:extLst>
              <a:ext uri="{FF2B5EF4-FFF2-40B4-BE49-F238E27FC236}">
                <a16:creationId xmlns:a16="http://schemas.microsoft.com/office/drawing/2014/main" id="{7AB63C67-B848-B143-A317-EDDEA95346AB}"/>
              </a:ext>
            </a:extLst>
          </p:cNvPr>
          <p:cNvSpPr/>
          <p:nvPr/>
        </p:nvSpPr>
        <p:spPr>
          <a:xfrm>
            <a:off x="5802633" y="3108819"/>
            <a:ext cx="2291787" cy="2291787"/>
          </a:xfrm>
          <a:prstGeom prst="mathMultiply">
            <a:avLst/>
          </a:prstGeom>
          <a:solidFill>
            <a:srgbClr val="FF00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695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3689A-5C3D-9F4B-A8F0-1960B4DCD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自然语言处理与其他学科关系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92646-63B1-EA44-810F-BD7A4ECB5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706" y="1339483"/>
            <a:ext cx="8515351" cy="5096039"/>
          </a:xfrm>
        </p:spPr>
        <p:txBody>
          <a:bodyPr/>
          <a:lstStyle/>
          <a:p>
            <a:r>
              <a:rPr lang="en-US" altLang="zh-CN" dirty="0"/>
              <a:t>NLP</a:t>
            </a:r>
            <a:r>
              <a:rPr lang="zh-CN" altLang="en-US" dirty="0"/>
              <a:t>与</a:t>
            </a:r>
            <a:r>
              <a:rPr lang="en-US" altLang="zh-CN" dirty="0"/>
              <a:t>CS</a:t>
            </a:r>
            <a:r>
              <a:rPr lang="zh-CN" altLang="en-US" dirty="0"/>
              <a:t>、</a:t>
            </a:r>
            <a:r>
              <a:rPr lang="en-US" altLang="zh-CN" dirty="0"/>
              <a:t>linguistics</a:t>
            </a:r>
            <a:r>
              <a:rPr lang="zh-CN" altLang="en-US" dirty="0"/>
              <a:t>的关系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9601DB-6E3A-884F-A3F2-EF6D0D03EE32}"/>
              </a:ext>
            </a:extLst>
          </p:cNvPr>
          <p:cNvSpPr/>
          <p:nvPr/>
        </p:nvSpPr>
        <p:spPr>
          <a:xfrm>
            <a:off x="2372811" y="2534853"/>
            <a:ext cx="2569581" cy="2569581"/>
          </a:xfrm>
          <a:prstGeom prst="ellipse">
            <a:avLst/>
          </a:prstGeom>
          <a:solidFill>
            <a:srgbClr val="00B05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89C224-F54E-654C-A890-8C999EE47BD5}"/>
              </a:ext>
            </a:extLst>
          </p:cNvPr>
          <p:cNvSpPr/>
          <p:nvPr/>
        </p:nvSpPr>
        <p:spPr>
          <a:xfrm>
            <a:off x="4110943" y="2552211"/>
            <a:ext cx="2569581" cy="2569581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8DDE56-D84C-F848-B65F-4489C0CE6270}"/>
              </a:ext>
            </a:extLst>
          </p:cNvPr>
          <p:cNvSpPr txBox="1"/>
          <p:nvPr/>
        </p:nvSpPr>
        <p:spPr>
          <a:xfrm>
            <a:off x="3450653" y="3652335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383992-33E7-3247-9ED1-6FFDE3FD3D64}"/>
              </a:ext>
            </a:extLst>
          </p:cNvPr>
          <p:cNvSpPr txBox="1"/>
          <p:nvPr/>
        </p:nvSpPr>
        <p:spPr>
          <a:xfrm>
            <a:off x="4285961" y="3642689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NLP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5BF97B-B2AE-2841-9D50-ADCE3D122F51}"/>
              </a:ext>
            </a:extLst>
          </p:cNvPr>
          <p:cNvSpPr txBox="1"/>
          <p:nvPr/>
        </p:nvSpPr>
        <p:spPr>
          <a:xfrm>
            <a:off x="5117407" y="3652335"/>
            <a:ext cx="1145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Linguistics</a:t>
            </a:r>
          </a:p>
        </p:txBody>
      </p:sp>
    </p:spTree>
    <p:extLst>
      <p:ext uri="{BB962C8B-B14F-4D97-AF65-F5344CB8AC3E}">
        <p14:creationId xmlns:p14="http://schemas.microsoft.com/office/powerpoint/2010/main" val="23262660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3689A-5C3D-9F4B-A8F0-1960B4DCD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自然语言处理与其他学科关系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92646-63B1-EA44-810F-BD7A4ECB5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706" y="1339483"/>
            <a:ext cx="8515351" cy="5096039"/>
          </a:xfrm>
        </p:spPr>
        <p:txBody>
          <a:bodyPr>
            <a:normAutofit/>
          </a:bodyPr>
          <a:lstStyle/>
          <a:p>
            <a:r>
              <a:rPr lang="en-US" altLang="zh-CN" dirty="0"/>
              <a:t>NLP</a:t>
            </a:r>
            <a:r>
              <a:rPr lang="zh-CN" altLang="en-US" dirty="0"/>
              <a:t>与</a:t>
            </a:r>
            <a:r>
              <a:rPr lang="en-US" altLang="zh-CN" dirty="0"/>
              <a:t>Cognitive</a:t>
            </a:r>
            <a:r>
              <a:rPr lang="zh-CN" altLang="en-US" dirty="0"/>
              <a:t> </a:t>
            </a:r>
            <a:r>
              <a:rPr lang="en-US" altLang="zh-CN" dirty="0"/>
              <a:t>Science</a:t>
            </a:r>
            <a:r>
              <a:rPr lang="zh-CN" altLang="en-US" dirty="0"/>
              <a:t>、</a:t>
            </a:r>
            <a:r>
              <a:rPr lang="en-US" altLang="zh-CN" dirty="0"/>
              <a:t>psycholinguistics</a:t>
            </a:r>
            <a:r>
              <a:rPr lang="zh-CN" altLang="en-US" dirty="0"/>
              <a:t>的关系</a:t>
            </a:r>
            <a:endParaRPr lang="en-US" altLang="zh-CN" dirty="0"/>
          </a:p>
          <a:p>
            <a:pPr lvl="1"/>
            <a:r>
              <a:rPr lang="zh-CN" altLang="en-US" dirty="0"/>
              <a:t>两者的本质联系在于</a:t>
            </a:r>
            <a:r>
              <a:rPr lang="zh-CN" altLang="en-US" dirty="0">
                <a:solidFill>
                  <a:srgbClr val="FF0000"/>
                </a:solidFill>
              </a:rPr>
              <a:t>计算机的语言处理</a:t>
            </a:r>
            <a:r>
              <a:rPr lang="en-US" altLang="zh-CN" dirty="0">
                <a:solidFill>
                  <a:srgbClr val="FF0000"/>
                </a:solidFill>
              </a:rPr>
              <a:t>vs</a:t>
            </a:r>
            <a:r>
              <a:rPr lang="zh-CN" altLang="en-US" dirty="0">
                <a:solidFill>
                  <a:srgbClr val="FF0000"/>
                </a:solidFill>
              </a:rPr>
              <a:t>人脑的语言处理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NLP</a:t>
            </a:r>
            <a:r>
              <a:rPr lang="zh-CN" altLang="en-US" dirty="0"/>
              <a:t>的方法可以用于认知科学、心理语言学</a:t>
            </a:r>
            <a:endParaRPr lang="en-US" altLang="zh-CN" dirty="0"/>
          </a:p>
          <a:p>
            <a:pPr lvl="1"/>
            <a:r>
              <a:rPr lang="zh-CN" altLang="en-US" dirty="0"/>
              <a:t>认知科学、心理语言学的相关理论可以应用于</a:t>
            </a:r>
            <a:r>
              <a:rPr lang="en-US" altLang="zh-CN" dirty="0"/>
              <a:t>NLP</a:t>
            </a:r>
          </a:p>
          <a:p>
            <a:pPr lvl="1"/>
            <a:endParaRPr lang="en-US" dirty="0"/>
          </a:p>
          <a:p>
            <a:r>
              <a:rPr lang="zh-CN" altLang="en-US" dirty="0"/>
              <a:t>两者关系的历史演变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NLP</a:t>
            </a:r>
            <a:r>
              <a:rPr lang="zh-CN" altLang="en-US" dirty="0"/>
              <a:t>早期阶段（</a:t>
            </a:r>
            <a:r>
              <a:rPr lang="en-US" altLang="zh-CN" dirty="0"/>
              <a:t>1950-1970</a:t>
            </a:r>
            <a:r>
              <a:rPr lang="zh-CN" altLang="en-US" dirty="0"/>
              <a:t>），</a:t>
            </a:r>
            <a:r>
              <a:rPr lang="en-US" altLang="zh-CN" dirty="0"/>
              <a:t>NLP</a:t>
            </a:r>
            <a:r>
              <a:rPr lang="zh-CN" altLang="en-US" dirty="0"/>
              <a:t>研究人员对认知问题充满浓厚兴趣</a:t>
            </a:r>
            <a:endParaRPr lang="en-US" altLang="zh-CN" dirty="0"/>
          </a:p>
          <a:p>
            <a:pPr lvl="1"/>
            <a:r>
              <a:rPr lang="en-US" altLang="zh-CN" dirty="0"/>
              <a:t>1980s-1990s</a:t>
            </a:r>
            <a:r>
              <a:rPr lang="zh-CN" altLang="en-US" dirty="0"/>
              <a:t>，这种兴趣不断降低</a:t>
            </a:r>
            <a:endParaRPr lang="en-US" altLang="zh-CN" dirty="0"/>
          </a:p>
          <a:p>
            <a:pPr lvl="1"/>
            <a:r>
              <a:rPr lang="zh-CN" altLang="en-US" dirty="0"/>
              <a:t>现在，认知科学的兴趣又开始逐步增加，但经历上个世纪两个十年兴趣降低带来</a:t>
            </a:r>
            <a:r>
              <a:rPr lang="en-US" altLang="zh-CN" dirty="0"/>
              <a:t>NLP-cognitive</a:t>
            </a:r>
            <a:r>
              <a:rPr lang="zh-CN" altLang="en-US" dirty="0"/>
              <a:t> </a:t>
            </a:r>
            <a:r>
              <a:rPr lang="en-US" altLang="zh-CN" dirty="0"/>
              <a:t>science</a:t>
            </a:r>
            <a:r>
              <a:rPr lang="zh-CN" altLang="en-US" dirty="0"/>
              <a:t>的割裂，</a:t>
            </a:r>
            <a:endParaRPr lang="en-US" altLang="zh-CN" dirty="0"/>
          </a:p>
          <a:p>
            <a:pPr lvl="2"/>
            <a:r>
              <a:rPr lang="zh-CN" altLang="en-US" dirty="0"/>
              <a:t>认知科学研究人员对</a:t>
            </a:r>
            <a:r>
              <a:rPr lang="en-US" altLang="zh-CN" dirty="0"/>
              <a:t>NLP</a:t>
            </a:r>
            <a:r>
              <a:rPr lang="zh-CN" altLang="en-US" dirty="0"/>
              <a:t>复杂模型望而生畏</a:t>
            </a:r>
            <a:endParaRPr lang="en-US" altLang="zh-CN" dirty="0"/>
          </a:p>
          <a:p>
            <a:pPr lvl="2"/>
            <a:r>
              <a:rPr lang="en-US" altLang="zh-CN" dirty="0"/>
              <a:t>NLP</a:t>
            </a:r>
            <a:r>
              <a:rPr lang="zh-CN" altLang="en-US" dirty="0"/>
              <a:t>研究人员对认知科学相关理论知之甚少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1576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3689A-5C3D-9F4B-A8F0-1960B4DCD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自然语言处理与其他学科关系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92646-63B1-EA44-810F-BD7A4ECB5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706" y="1339483"/>
            <a:ext cx="8515351" cy="5096039"/>
          </a:xfrm>
        </p:spPr>
        <p:txBody>
          <a:bodyPr/>
          <a:lstStyle/>
          <a:p>
            <a:r>
              <a:rPr lang="en-US" altLang="zh-CN" dirty="0"/>
              <a:t>NLP</a:t>
            </a:r>
            <a:r>
              <a:rPr lang="zh-CN" altLang="en-US" dirty="0"/>
              <a:t>与语音、图像、机器人的关系</a:t>
            </a:r>
            <a:endParaRPr lang="en-US" altLang="zh-CN" dirty="0"/>
          </a:p>
          <a:p>
            <a:pPr lvl="1"/>
            <a:r>
              <a:rPr lang="zh-CN" altLang="en-US" dirty="0"/>
              <a:t>语言、语音、图像是机器人需要处理的</a:t>
            </a:r>
            <a:r>
              <a:rPr lang="en-US" altLang="zh-CN" dirty="0"/>
              <a:t>3</a:t>
            </a:r>
            <a:r>
              <a:rPr lang="zh-CN" altLang="en-US" dirty="0"/>
              <a:t>个不同模态</a:t>
            </a:r>
            <a:endParaRPr lang="en-US" altLang="zh-CN" dirty="0"/>
          </a:p>
          <a:p>
            <a:pPr lvl="1"/>
            <a:r>
              <a:rPr lang="zh-CN" altLang="en-US" dirty="0"/>
              <a:t>语音是语言的声音信号载体</a:t>
            </a:r>
            <a:endParaRPr lang="en-US" altLang="zh-CN" dirty="0"/>
          </a:p>
          <a:p>
            <a:pPr lvl="1"/>
            <a:r>
              <a:rPr lang="zh-CN" altLang="en-US" dirty="0"/>
              <a:t>语言</a:t>
            </a:r>
            <a:r>
              <a:rPr lang="en-US" altLang="zh-CN" dirty="0"/>
              <a:t>-</a:t>
            </a:r>
            <a:r>
              <a:rPr lang="zh-CN" altLang="en-US" dirty="0"/>
              <a:t>图像可互转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4798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FDF15-DFAD-1349-9438-73DCF2EC0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自然语言处理难点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479D1-2DAF-4745-B55E-44246135B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NLP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very</a:t>
            </a:r>
            <a:r>
              <a:rPr lang="zh-CN" altLang="en-US" dirty="0"/>
              <a:t> </a:t>
            </a:r>
            <a:r>
              <a:rPr lang="en-US" altLang="zh-CN" dirty="0"/>
              <a:t>hard</a:t>
            </a:r>
          </a:p>
          <a:p>
            <a:pPr lvl="1"/>
            <a:r>
              <a:rPr lang="zh-CN" altLang="en-US" dirty="0"/>
              <a:t>目标远大：使计算机具有类似人脑的语言处理智能</a:t>
            </a:r>
            <a:endParaRPr lang="en-US" altLang="zh-CN" dirty="0"/>
          </a:p>
          <a:p>
            <a:pPr lvl="1"/>
            <a:r>
              <a:rPr lang="en-US" altLang="zh-CN" dirty="0"/>
              <a:t>AI-hard</a:t>
            </a:r>
            <a:r>
              <a:rPr lang="zh-CN" altLang="en-US" dirty="0"/>
              <a:t>：许多</a:t>
            </a:r>
            <a:r>
              <a:rPr lang="en-US" altLang="zh-CN" dirty="0"/>
              <a:t>NLP</a:t>
            </a:r>
            <a:r>
              <a:rPr lang="zh-CN" altLang="en-US" dirty="0"/>
              <a:t>问题都是</a:t>
            </a:r>
            <a:r>
              <a:rPr lang="en-US" altLang="zh-CN" dirty="0"/>
              <a:t>AI-hard</a:t>
            </a:r>
            <a:r>
              <a:rPr lang="zh-CN" altLang="en-US" dirty="0"/>
              <a:t>问题，如词义消歧、机器翻译等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NLP</a:t>
            </a:r>
            <a:r>
              <a:rPr lang="zh-CN" altLang="en-US" dirty="0"/>
              <a:t>难点</a:t>
            </a:r>
            <a:endParaRPr lang="en-US" altLang="zh-CN" dirty="0"/>
          </a:p>
          <a:p>
            <a:pPr lvl="1"/>
            <a:r>
              <a:rPr lang="zh-CN" altLang="en-US" dirty="0"/>
              <a:t>歧义无处不在</a:t>
            </a:r>
            <a:endParaRPr lang="en-US" altLang="zh-CN" dirty="0"/>
          </a:p>
          <a:p>
            <a:pPr lvl="1"/>
            <a:r>
              <a:rPr lang="zh-CN" altLang="en-US" dirty="0"/>
              <a:t>多变性</a:t>
            </a:r>
            <a:endParaRPr lang="en-US" altLang="zh-CN" dirty="0"/>
          </a:p>
          <a:p>
            <a:pPr lvl="1"/>
            <a:r>
              <a:rPr lang="zh-CN" altLang="en-US" dirty="0"/>
              <a:t>语言处理需要大量知识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090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F0AE-D7B0-8042-820A-AD5BD722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自然语言处理难点：歧义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8CCB-83DA-2140-BA33-7616C34DC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自然语言处理的各个层次都充满了歧义，很多时候自然语言处理的过程就是一个消歧的过程（排除不合理解释，获得最优、最有可能解释）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词法歧义</a:t>
            </a:r>
            <a:endParaRPr lang="en-US" altLang="zh-CN" dirty="0"/>
          </a:p>
          <a:p>
            <a:pPr lvl="1"/>
            <a:r>
              <a:rPr lang="zh-CN" altLang="en-US" dirty="0"/>
              <a:t>分词歧义</a:t>
            </a:r>
            <a:endParaRPr lang="en-US" altLang="zh-CN" dirty="0"/>
          </a:p>
          <a:p>
            <a:pPr lvl="1"/>
            <a:r>
              <a:rPr lang="zh-CN" altLang="en-US" dirty="0"/>
              <a:t>词性歧义</a:t>
            </a:r>
            <a:endParaRPr lang="en-US" altLang="zh-CN" dirty="0"/>
          </a:p>
          <a:p>
            <a:pPr lvl="2"/>
            <a:r>
              <a:rPr lang="zh-CN" altLang="en-US" dirty="0"/>
              <a:t>改变（名词 </a:t>
            </a:r>
            <a:r>
              <a:rPr lang="en-US" altLang="zh-CN" dirty="0"/>
              <a:t>vs</a:t>
            </a:r>
            <a:r>
              <a:rPr lang="zh-CN" altLang="en-US" dirty="0"/>
              <a:t> 动词）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28339C-9FA2-E34B-BFEC-7D8B758B40CD}"/>
              </a:ext>
            </a:extLst>
          </p:cNvPr>
          <p:cNvSpPr txBox="1"/>
          <p:nvPr/>
        </p:nvSpPr>
        <p:spPr>
          <a:xfrm>
            <a:off x="973862" y="5046024"/>
            <a:ext cx="2492990" cy="92333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b="1" dirty="0"/>
              <a:t>优秀人才学人才学</a:t>
            </a:r>
          </a:p>
          <a:p>
            <a:pPr>
              <a:defRPr/>
            </a:pPr>
            <a:r>
              <a:rPr lang="en-US" altLang="zh-CN" b="1" dirty="0"/>
              <a:t>1. </a:t>
            </a:r>
            <a:r>
              <a:rPr lang="zh-CN" altLang="en-US" b="1" dirty="0">
                <a:solidFill>
                  <a:srgbClr val="FF0000"/>
                </a:solidFill>
              </a:rPr>
              <a:t>优秀人</a:t>
            </a:r>
            <a:r>
              <a:rPr lang="zh-CN" altLang="en-US" b="1" dirty="0"/>
              <a:t>－才学人才学</a:t>
            </a:r>
          </a:p>
          <a:p>
            <a:pPr>
              <a:defRPr/>
            </a:pPr>
            <a:r>
              <a:rPr lang="en-US" altLang="zh-CN" b="1" dirty="0"/>
              <a:t>2. </a:t>
            </a:r>
            <a:r>
              <a:rPr lang="zh-CN" altLang="en-US" b="1" dirty="0">
                <a:solidFill>
                  <a:srgbClr val="FF0000"/>
                </a:solidFill>
              </a:rPr>
              <a:t>优秀人才</a:t>
            </a:r>
            <a:r>
              <a:rPr lang="zh-CN" altLang="en-US" b="1" dirty="0"/>
              <a:t>－学人才学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1D0B79-22AE-CE45-95C6-A709AD35459B}"/>
              </a:ext>
            </a:extLst>
          </p:cNvPr>
          <p:cNvSpPr txBox="1"/>
          <p:nvPr/>
        </p:nvSpPr>
        <p:spPr>
          <a:xfrm>
            <a:off x="4113008" y="2655750"/>
            <a:ext cx="4357634" cy="3970318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校长说衣服上除了校徽别别别的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过几天天天天气不好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看见西门吹雪点上了灯，叶孤城冷笑着说：“我也想吹吹吹雪吹过的灯”，然后就吹灭了灯。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今天多得谢逊出手相救，在这里我想真心感谢“谢谢谢逊大侠出手”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灭霸把美队按在地上一边摩擦一边给他洗脑，被打残的钢铁侠说：灭霸爸爸叭叭叭叭儿的在那叭叭啥呢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姑姑你估估我鼓鼓的口袋里有多少谷和菇！！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“你看到王刚了吗”“王刚刚刚刚走”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5067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F0AE-D7B0-8042-820A-AD5BD722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自然语言处理难点：歧义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8CCB-83DA-2140-BA33-7616C34DC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句法、语义歧义</a:t>
            </a:r>
            <a:endParaRPr lang="en-US" altLang="zh-CN" dirty="0"/>
          </a:p>
          <a:p>
            <a:pPr lvl="1"/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boy</a:t>
            </a:r>
            <a:r>
              <a:rPr lang="zh-CN" altLang="en-US" dirty="0"/>
              <a:t> </a:t>
            </a:r>
            <a:r>
              <a:rPr lang="en-US" altLang="zh-CN" dirty="0"/>
              <a:t>saw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man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on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the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mountain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with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a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telescope</a:t>
            </a:r>
            <a:endParaRPr lang="en-US" dirty="0">
              <a:solidFill>
                <a:srgbClr val="00B050"/>
              </a:solidFill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2F806655-9DFE-8248-A6F9-7A71B57FA928}"/>
              </a:ext>
            </a:extLst>
          </p:cNvPr>
          <p:cNvGrpSpPr>
            <a:grpSpLocks/>
          </p:cNvGrpSpPr>
          <p:nvPr/>
        </p:nvGrpSpPr>
        <p:grpSpPr bwMode="auto">
          <a:xfrm>
            <a:off x="1506890" y="2482854"/>
            <a:ext cx="2363788" cy="1563688"/>
            <a:chOff x="864" y="2448"/>
            <a:chExt cx="1489" cy="985"/>
          </a:xfrm>
        </p:grpSpPr>
        <p:pic>
          <p:nvPicPr>
            <p:cNvPr id="6" name="Picture 10" descr="telescope">
              <a:extLst>
                <a:ext uri="{FF2B5EF4-FFF2-40B4-BE49-F238E27FC236}">
                  <a16:creationId xmlns:a16="http://schemas.microsoft.com/office/drawing/2014/main" id="{D0CE9C63-6357-6245-812A-D77D7C49FD3E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" y="2976"/>
              <a:ext cx="528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11" descr="bd05219_">
              <a:extLst>
                <a:ext uri="{FF2B5EF4-FFF2-40B4-BE49-F238E27FC236}">
                  <a16:creationId xmlns:a16="http://schemas.microsoft.com/office/drawing/2014/main" id="{09B862A1-C1E1-9348-9B58-AB35B71006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4" y="2448"/>
              <a:ext cx="1009" cy="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2" descr="pe01549_">
              <a:extLst>
                <a:ext uri="{FF2B5EF4-FFF2-40B4-BE49-F238E27FC236}">
                  <a16:creationId xmlns:a16="http://schemas.microsoft.com/office/drawing/2014/main" id="{6C5000DB-02F9-6849-9E76-83D782351C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6" y="2496"/>
              <a:ext cx="343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13" descr="pe02043_">
              <a:extLst>
                <a:ext uri="{FF2B5EF4-FFF2-40B4-BE49-F238E27FC236}">
                  <a16:creationId xmlns:a16="http://schemas.microsoft.com/office/drawing/2014/main" id="{26B2199C-D206-934F-88C2-85DB4673AC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4" y="2928"/>
              <a:ext cx="346" cy="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Group 19">
            <a:extLst>
              <a:ext uri="{FF2B5EF4-FFF2-40B4-BE49-F238E27FC236}">
                <a16:creationId xmlns:a16="http://schemas.microsoft.com/office/drawing/2014/main" id="{0CC911F0-A9B5-514E-8037-92084C495F2B}"/>
              </a:ext>
            </a:extLst>
          </p:cNvPr>
          <p:cNvGrpSpPr>
            <a:grpSpLocks/>
          </p:cNvGrpSpPr>
          <p:nvPr/>
        </p:nvGrpSpPr>
        <p:grpSpPr bwMode="auto">
          <a:xfrm>
            <a:off x="5242766" y="2532066"/>
            <a:ext cx="2225675" cy="1500188"/>
            <a:chOff x="3072" y="1728"/>
            <a:chExt cx="1402" cy="945"/>
          </a:xfrm>
        </p:grpSpPr>
        <p:pic>
          <p:nvPicPr>
            <p:cNvPr id="11" name="Picture 20" descr="telescope">
              <a:extLst>
                <a:ext uri="{FF2B5EF4-FFF2-40B4-BE49-F238E27FC236}">
                  <a16:creationId xmlns:a16="http://schemas.microsoft.com/office/drawing/2014/main" id="{245A06E9-4589-A94B-B189-7EE5CE6A465D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4" y="1776"/>
              <a:ext cx="528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21" descr="bd05219_">
              <a:extLst>
                <a:ext uri="{FF2B5EF4-FFF2-40B4-BE49-F238E27FC236}">
                  <a16:creationId xmlns:a16="http://schemas.microsoft.com/office/drawing/2014/main" id="{902F44C6-2153-5744-9732-50DB0E3919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2" y="1728"/>
              <a:ext cx="1009" cy="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22" descr="pe01549_">
              <a:extLst>
                <a:ext uri="{FF2B5EF4-FFF2-40B4-BE49-F238E27FC236}">
                  <a16:creationId xmlns:a16="http://schemas.microsoft.com/office/drawing/2014/main" id="{06E9FFDC-97E7-0344-B7B3-BCC31A5CB6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4" y="1776"/>
              <a:ext cx="343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23" descr="pe02043_">
              <a:extLst>
                <a:ext uri="{FF2B5EF4-FFF2-40B4-BE49-F238E27FC236}">
                  <a16:creationId xmlns:a16="http://schemas.microsoft.com/office/drawing/2014/main" id="{AF0888AE-325D-0545-8226-F86734B88E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8" y="2112"/>
              <a:ext cx="346" cy="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847B5B-D53F-6F42-8D42-2417232FB2EF}"/>
              </a:ext>
            </a:extLst>
          </p:cNvPr>
          <p:cNvGrpSpPr>
            <a:grpSpLocks/>
          </p:cNvGrpSpPr>
          <p:nvPr/>
        </p:nvGrpSpPr>
        <p:grpSpPr bwMode="auto">
          <a:xfrm>
            <a:off x="1506890" y="4756949"/>
            <a:ext cx="2220913" cy="1504950"/>
            <a:chOff x="2160" y="2736"/>
            <a:chExt cx="1399" cy="948"/>
          </a:xfrm>
        </p:grpSpPr>
        <p:pic>
          <p:nvPicPr>
            <p:cNvPr id="16" name="Picture 15" descr="telescope">
              <a:extLst>
                <a:ext uri="{FF2B5EF4-FFF2-40B4-BE49-F238E27FC236}">
                  <a16:creationId xmlns:a16="http://schemas.microsoft.com/office/drawing/2014/main" id="{E3C6AA4C-203F-E149-A17D-EF7B8191C839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2" y="2784"/>
              <a:ext cx="528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16" descr="bd05219_">
              <a:extLst>
                <a:ext uri="{FF2B5EF4-FFF2-40B4-BE49-F238E27FC236}">
                  <a16:creationId xmlns:a16="http://schemas.microsoft.com/office/drawing/2014/main" id="{49A17273-4D40-8545-B9A8-44F9A3706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0" y="2736"/>
              <a:ext cx="1009" cy="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17" descr="pe01549_">
              <a:extLst>
                <a:ext uri="{FF2B5EF4-FFF2-40B4-BE49-F238E27FC236}">
                  <a16:creationId xmlns:a16="http://schemas.microsoft.com/office/drawing/2014/main" id="{B78B44F0-0D9C-6A4F-B680-18C5EEED50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" y="3216"/>
              <a:ext cx="343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18" descr="pe02043_">
              <a:extLst>
                <a:ext uri="{FF2B5EF4-FFF2-40B4-BE49-F238E27FC236}">
                  <a16:creationId xmlns:a16="http://schemas.microsoft.com/office/drawing/2014/main" id="{9670B98D-02AE-3D4C-B547-E04F1C5F25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0" y="2736"/>
              <a:ext cx="346" cy="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47DDAF-DE21-8A40-82BA-A950C66FB888}"/>
              </a:ext>
            </a:extLst>
          </p:cNvPr>
          <p:cNvGrpSpPr/>
          <p:nvPr/>
        </p:nvGrpSpPr>
        <p:grpSpPr>
          <a:xfrm>
            <a:off x="5313409" y="4724566"/>
            <a:ext cx="1992313" cy="1500188"/>
            <a:chOff x="5943600" y="4495800"/>
            <a:chExt cx="1992313" cy="1500188"/>
          </a:xfrm>
        </p:grpSpPr>
        <p:pic>
          <p:nvPicPr>
            <p:cNvPr id="21" name="Picture 24" descr="telescope">
              <a:extLst>
                <a:ext uri="{FF2B5EF4-FFF2-40B4-BE49-F238E27FC236}">
                  <a16:creationId xmlns:a16="http://schemas.microsoft.com/office/drawing/2014/main" id="{20C297BE-6C43-7345-B14B-CCC5722B963C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4648200"/>
              <a:ext cx="838200" cy="71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25" descr="bd05219_">
              <a:extLst>
                <a:ext uri="{FF2B5EF4-FFF2-40B4-BE49-F238E27FC236}">
                  <a16:creationId xmlns:a16="http://schemas.microsoft.com/office/drawing/2014/main" id="{AE328109-E564-7E4E-9DC5-11AE93E58A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24600" y="4495800"/>
              <a:ext cx="1601788" cy="150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26" descr="pe01549_">
              <a:extLst>
                <a:ext uri="{FF2B5EF4-FFF2-40B4-BE49-F238E27FC236}">
                  <a16:creationId xmlns:a16="http://schemas.microsoft.com/office/drawing/2014/main" id="{88B2A30E-DB8E-1B4E-AF1A-02F34B34D6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1400" y="4876800"/>
              <a:ext cx="544513" cy="742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27" descr="pe02043_">
              <a:extLst>
                <a:ext uri="{FF2B5EF4-FFF2-40B4-BE49-F238E27FC236}">
                  <a16:creationId xmlns:a16="http://schemas.microsoft.com/office/drawing/2014/main" id="{93524A60-482E-5F4E-8B5D-5D48CDA7B3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3600" y="5181600"/>
              <a:ext cx="549275" cy="801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420340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F0AE-D7B0-8042-820A-AD5BD722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自然语言处理难点：歧义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8CCB-83DA-2140-BA33-7616C34DC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篇章级歧义</a:t>
            </a:r>
            <a:endParaRPr lang="en-US" altLang="zh-CN" dirty="0"/>
          </a:p>
          <a:p>
            <a:pPr lvl="1"/>
            <a:r>
              <a:rPr lang="zh-CN" altLang="en-US" dirty="0"/>
              <a:t>指代歧义</a:t>
            </a:r>
            <a:endParaRPr lang="en-US" altLang="zh-CN" dirty="0"/>
          </a:p>
          <a:p>
            <a:pPr lvl="1"/>
            <a:r>
              <a:rPr lang="zh-CN" altLang="en-US" dirty="0"/>
              <a:t>断句歧义</a:t>
            </a:r>
            <a:endParaRPr lang="en-US" altLang="zh-CN" dirty="0"/>
          </a:p>
          <a:p>
            <a:pPr lvl="1"/>
            <a:r>
              <a:rPr lang="zh-CN" altLang="en-US" dirty="0"/>
              <a:t>句间关系歧义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76660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F0AE-D7B0-8042-820A-AD5BD722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自然语言处理难点：歧义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8CCB-83DA-2140-BA33-7616C34DC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篇章级歧义</a:t>
            </a:r>
            <a:endParaRPr lang="en-US" altLang="zh-CN" dirty="0"/>
          </a:p>
          <a:p>
            <a:pPr lvl="1"/>
            <a:r>
              <a:rPr lang="zh-CN" altLang="en-US" dirty="0"/>
              <a:t>指代歧义</a:t>
            </a:r>
            <a:endParaRPr lang="en-US" altLang="zh-CN" dirty="0"/>
          </a:p>
          <a:p>
            <a:pPr lvl="1"/>
            <a:r>
              <a:rPr lang="zh-CN" altLang="en-US" dirty="0"/>
              <a:t>断句歧义</a:t>
            </a:r>
            <a:endParaRPr lang="en-US" altLang="zh-CN" dirty="0"/>
          </a:p>
          <a:p>
            <a:pPr lvl="1"/>
            <a:r>
              <a:rPr lang="zh-CN" altLang="en-US" dirty="0"/>
              <a:t>句间关系歧义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093AAB-ACD1-DA48-BFB9-B9B1A3A9FC16}"/>
              </a:ext>
            </a:extLst>
          </p:cNvPr>
          <p:cNvSpPr txBox="1"/>
          <p:nvPr/>
        </p:nvSpPr>
        <p:spPr>
          <a:xfrm>
            <a:off x="1817225" y="3356659"/>
            <a:ext cx="4801314" cy="369332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无米面也可无鸡鸭也可无鱼肉也可无银钱也可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0243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F0AE-D7B0-8042-820A-AD5BD722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自然语言处理难点：歧义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8CCB-83DA-2140-BA33-7616C34DC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篇章级歧义</a:t>
            </a:r>
            <a:endParaRPr lang="en-US" altLang="zh-CN" dirty="0"/>
          </a:p>
          <a:p>
            <a:pPr lvl="1"/>
            <a:r>
              <a:rPr lang="zh-CN" altLang="en-US" dirty="0"/>
              <a:t>指代歧义</a:t>
            </a:r>
            <a:endParaRPr lang="en-US" altLang="zh-CN" dirty="0"/>
          </a:p>
          <a:p>
            <a:pPr lvl="1"/>
            <a:r>
              <a:rPr lang="zh-CN" altLang="en-US" dirty="0"/>
              <a:t>断句歧义</a:t>
            </a:r>
            <a:endParaRPr lang="en-US" altLang="zh-CN" dirty="0"/>
          </a:p>
          <a:p>
            <a:pPr lvl="1"/>
            <a:r>
              <a:rPr lang="zh-CN" altLang="en-US" dirty="0"/>
              <a:t>句间关系歧义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093AAB-ACD1-DA48-BFB9-B9B1A3A9FC16}"/>
              </a:ext>
            </a:extLst>
          </p:cNvPr>
          <p:cNvSpPr txBox="1"/>
          <p:nvPr/>
        </p:nvSpPr>
        <p:spPr>
          <a:xfrm>
            <a:off x="1817225" y="3356659"/>
            <a:ext cx="4801314" cy="369332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无米面也可无鸡鸭也可无鱼肉也可无银钱也可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B006AD-4AED-134C-8567-BDC7714B7268}"/>
              </a:ext>
            </a:extLst>
          </p:cNvPr>
          <p:cNvSpPr txBox="1"/>
          <p:nvPr/>
        </p:nvSpPr>
        <p:spPr>
          <a:xfrm>
            <a:off x="893895" y="4174223"/>
            <a:ext cx="6647974" cy="369332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无米，面也可；无鸡，鸭也可；无鱼，肉也可；无银，钱也可。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060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F0AE-D7B0-8042-820A-AD5BD722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自然语言处理难点：歧义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8CCB-83DA-2140-BA33-7616C34DC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篇章级歧义</a:t>
            </a:r>
            <a:endParaRPr lang="en-US" altLang="zh-CN" dirty="0"/>
          </a:p>
          <a:p>
            <a:pPr lvl="1"/>
            <a:r>
              <a:rPr lang="zh-CN" altLang="en-US" dirty="0"/>
              <a:t>指代歧义</a:t>
            </a:r>
            <a:endParaRPr lang="en-US" altLang="zh-CN" dirty="0"/>
          </a:p>
          <a:p>
            <a:pPr lvl="1"/>
            <a:r>
              <a:rPr lang="zh-CN" altLang="en-US" dirty="0"/>
              <a:t>断句歧义</a:t>
            </a:r>
            <a:endParaRPr lang="en-US" altLang="zh-CN" dirty="0"/>
          </a:p>
          <a:p>
            <a:pPr lvl="1"/>
            <a:r>
              <a:rPr lang="zh-CN" altLang="en-US" dirty="0"/>
              <a:t>句间关系歧义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093AAB-ACD1-DA48-BFB9-B9B1A3A9FC16}"/>
              </a:ext>
            </a:extLst>
          </p:cNvPr>
          <p:cNvSpPr txBox="1"/>
          <p:nvPr/>
        </p:nvSpPr>
        <p:spPr>
          <a:xfrm>
            <a:off x="1817225" y="3356659"/>
            <a:ext cx="4801314" cy="369332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无米面也可无鸡鸭也可无鱼肉也可无银钱也可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B006AD-4AED-134C-8567-BDC7714B7268}"/>
              </a:ext>
            </a:extLst>
          </p:cNvPr>
          <p:cNvSpPr txBox="1"/>
          <p:nvPr/>
        </p:nvSpPr>
        <p:spPr>
          <a:xfrm>
            <a:off x="893895" y="4174223"/>
            <a:ext cx="6647974" cy="369332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无米，面也可；无鸡，鸭也可；无鱼，肉也可；无银，钱也可。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EE2562-2E8A-4947-B9E5-0F260912AB36}"/>
              </a:ext>
            </a:extLst>
          </p:cNvPr>
          <p:cNvSpPr txBox="1"/>
          <p:nvPr/>
        </p:nvSpPr>
        <p:spPr>
          <a:xfrm>
            <a:off x="1470976" y="5061315"/>
            <a:ext cx="5493812" cy="369332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无米面也可，无鸡鸭也可，无鱼肉也可，无银钱也可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8474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F0AE-D7B0-8042-820A-AD5BD722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自然语言处理难点：歧义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8CCB-83DA-2140-BA33-7616C34DC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篇章级歧义</a:t>
            </a:r>
            <a:endParaRPr lang="en-US" altLang="zh-CN" dirty="0"/>
          </a:p>
          <a:p>
            <a:pPr lvl="1"/>
            <a:r>
              <a:rPr lang="zh-CN" altLang="en-US" dirty="0"/>
              <a:t>指代歧义</a:t>
            </a:r>
            <a:endParaRPr lang="en-US" altLang="zh-CN" dirty="0"/>
          </a:p>
          <a:p>
            <a:pPr lvl="1"/>
            <a:r>
              <a:rPr lang="zh-CN" altLang="en-US" dirty="0"/>
              <a:t>断句歧义</a:t>
            </a:r>
            <a:endParaRPr lang="en-US" altLang="zh-CN" dirty="0"/>
          </a:p>
          <a:p>
            <a:pPr lvl="1"/>
            <a:r>
              <a:rPr lang="zh-CN" altLang="en-US" dirty="0"/>
              <a:t>句间关系歧义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计算机应对的各个层级的歧义数量是指数级！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093AAB-ACD1-DA48-BFB9-B9B1A3A9FC16}"/>
              </a:ext>
            </a:extLst>
          </p:cNvPr>
          <p:cNvSpPr txBox="1"/>
          <p:nvPr/>
        </p:nvSpPr>
        <p:spPr>
          <a:xfrm>
            <a:off x="1817225" y="3356659"/>
            <a:ext cx="4801314" cy="369332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无米面也可无鸡鸭也可无鱼肉也可无银钱也可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B006AD-4AED-134C-8567-BDC7714B7268}"/>
              </a:ext>
            </a:extLst>
          </p:cNvPr>
          <p:cNvSpPr txBox="1"/>
          <p:nvPr/>
        </p:nvSpPr>
        <p:spPr>
          <a:xfrm>
            <a:off x="893895" y="4174223"/>
            <a:ext cx="6647974" cy="369332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无米，面也可；无鸡，鸭也可；无鱼，肉也可；无银，钱也可。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EE2562-2E8A-4947-B9E5-0F260912AB36}"/>
              </a:ext>
            </a:extLst>
          </p:cNvPr>
          <p:cNvSpPr txBox="1"/>
          <p:nvPr/>
        </p:nvSpPr>
        <p:spPr>
          <a:xfrm>
            <a:off x="1470976" y="5061315"/>
            <a:ext cx="5493812" cy="369332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无米面也可，无鸡鸭也可，无鱼肉也可，无银钱也可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3343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F0AE-D7B0-8042-820A-AD5BD722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自然语言处理难点：多变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8CCB-83DA-2140-BA33-7616C34DC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有限域的无限应用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同样的词义可以有不同单词表达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同样的意思可以有不同表达句式、表达方法、表达风格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语言在不断发展变化中，每年大量新词诞生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机器翻译、对话、语言生成等</a:t>
            </a:r>
            <a:r>
              <a:rPr lang="en-US" altLang="zh-CN" dirty="0"/>
              <a:t>NLP</a:t>
            </a:r>
            <a:r>
              <a:rPr lang="zh-CN" altLang="en-US" dirty="0"/>
              <a:t>任务：指数级可能性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4107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F0AE-D7B0-8042-820A-AD5BD722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自然语言处理难点：知识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8CCB-83DA-2140-BA33-7616C34DC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自然语言处理需要大量知识</a:t>
            </a:r>
            <a:endParaRPr lang="en-US" altLang="zh-CN" dirty="0"/>
          </a:p>
          <a:p>
            <a:pPr lvl="1"/>
            <a:r>
              <a:rPr lang="zh-CN" altLang="en-US" dirty="0"/>
              <a:t>语言知识</a:t>
            </a:r>
            <a:endParaRPr lang="en-US" altLang="zh-CN" dirty="0"/>
          </a:p>
          <a:p>
            <a:pPr lvl="1"/>
            <a:r>
              <a:rPr lang="zh-CN" altLang="en-US" dirty="0"/>
              <a:t>领域知识</a:t>
            </a:r>
            <a:endParaRPr lang="en-US" altLang="zh-CN" dirty="0"/>
          </a:p>
          <a:p>
            <a:pPr lvl="1"/>
            <a:r>
              <a:rPr lang="zh-CN" altLang="en-US" dirty="0"/>
              <a:t>世界知识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6919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F0AE-D7B0-8042-820A-AD5BD722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自然语言处理难点：知识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8CCB-83DA-2140-BA33-7616C34DC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自然语言处理需要大量知识</a:t>
            </a:r>
            <a:endParaRPr lang="en-US" altLang="zh-CN" dirty="0"/>
          </a:p>
          <a:p>
            <a:pPr lvl="1"/>
            <a:r>
              <a:rPr lang="zh-CN" altLang="en-US" dirty="0"/>
              <a:t>语言知识</a:t>
            </a:r>
            <a:endParaRPr lang="en-US" altLang="zh-CN" dirty="0"/>
          </a:p>
          <a:p>
            <a:pPr lvl="1"/>
            <a:r>
              <a:rPr lang="zh-CN" altLang="en-US" dirty="0"/>
              <a:t>领域知识</a:t>
            </a:r>
            <a:endParaRPr lang="en-US" altLang="zh-CN" dirty="0"/>
          </a:p>
          <a:p>
            <a:pPr lvl="1"/>
            <a:r>
              <a:rPr lang="zh-CN" altLang="en-US" dirty="0"/>
              <a:t>世界知识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794174-8C49-8B45-A63E-CD4C8EEB4F08}"/>
              </a:ext>
            </a:extLst>
          </p:cNvPr>
          <p:cNvSpPr txBox="1"/>
          <p:nvPr/>
        </p:nvSpPr>
        <p:spPr>
          <a:xfrm>
            <a:off x="601881" y="3125424"/>
            <a:ext cx="7650868" cy="1200329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Winograd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Schema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Challenge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The city councilmen </a:t>
            </a:r>
            <a:r>
              <a:rPr lang="en-US" dirty="0"/>
              <a:t>refused the</a:t>
            </a:r>
            <a:r>
              <a:rPr lang="en-US" dirty="0">
                <a:solidFill>
                  <a:srgbClr val="0070C0"/>
                </a:solidFill>
              </a:rPr>
              <a:t> demonstrators </a:t>
            </a:r>
            <a:r>
              <a:rPr lang="en-US" dirty="0"/>
              <a:t>a permit because </a:t>
            </a:r>
            <a:r>
              <a:rPr lang="en-US" dirty="0">
                <a:solidFill>
                  <a:srgbClr val="FF0000"/>
                </a:solidFill>
              </a:rPr>
              <a:t>they</a:t>
            </a:r>
            <a:r>
              <a:rPr lang="en-US" dirty="0"/>
              <a:t> [feared/advocated] violence</a:t>
            </a:r>
          </a:p>
        </p:txBody>
      </p:sp>
    </p:spTree>
    <p:extLst>
      <p:ext uri="{BB962C8B-B14F-4D97-AF65-F5344CB8AC3E}">
        <p14:creationId xmlns:p14="http://schemas.microsoft.com/office/powerpoint/2010/main" val="30780494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F0AE-D7B0-8042-820A-AD5BD722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自然语言处理难点：知识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8CCB-83DA-2140-BA33-7616C34DC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自然语言处理需要大量知识</a:t>
            </a:r>
            <a:endParaRPr lang="en-US" altLang="zh-CN" dirty="0"/>
          </a:p>
          <a:p>
            <a:pPr lvl="1"/>
            <a:r>
              <a:rPr lang="zh-CN" altLang="en-US" dirty="0"/>
              <a:t>语言知识</a:t>
            </a:r>
            <a:endParaRPr lang="en-US" altLang="zh-CN" dirty="0"/>
          </a:p>
          <a:p>
            <a:pPr lvl="1"/>
            <a:r>
              <a:rPr lang="zh-CN" altLang="en-US" dirty="0"/>
              <a:t>领域知识</a:t>
            </a:r>
            <a:endParaRPr lang="en-US" altLang="zh-CN" dirty="0"/>
          </a:p>
          <a:p>
            <a:pPr lvl="1"/>
            <a:r>
              <a:rPr lang="zh-CN" altLang="en-US" dirty="0"/>
              <a:t>世界知识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794174-8C49-8B45-A63E-CD4C8EEB4F08}"/>
              </a:ext>
            </a:extLst>
          </p:cNvPr>
          <p:cNvSpPr txBox="1"/>
          <p:nvPr/>
        </p:nvSpPr>
        <p:spPr>
          <a:xfrm>
            <a:off x="601881" y="3125424"/>
            <a:ext cx="7650868" cy="1200329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Winograd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Schema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Challenge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The city councilmen </a:t>
            </a:r>
            <a:r>
              <a:rPr lang="en-US" dirty="0"/>
              <a:t>refused the</a:t>
            </a:r>
            <a:r>
              <a:rPr lang="en-US" dirty="0">
                <a:solidFill>
                  <a:srgbClr val="0070C0"/>
                </a:solidFill>
              </a:rPr>
              <a:t> demonstrators </a:t>
            </a:r>
            <a:r>
              <a:rPr lang="en-US" dirty="0"/>
              <a:t>a permit because </a:t>
            </a:r>
            <a:r>
              <a:rPr lang="en-US" dirty="0">
                <a:solidFill>
                  <a:srgbClr val="FF0000"/>
                </a:solidFill>
              </a:rPr>
              <a:t>they</a:t>
            </a:r>
            <a:r>
              <a:rPr lang="en-US" dirty="0"/>
              <a:t> [feared/advocated] violence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A63C3AA-E1D5-524D-86F0-C0145D4B75A2}"/>
              </a:ext>
            </a:extLst>
          </p:cNvPr>
          <p:cNvSpPr/>
          <p:nvPr/>
        </p:nvSpPr>
        <p:spPr>
          <a:xfrm>
            <a:off x="4433104" y="2835797"/>
            <a:ext cx="2558005" cy="1006998"/>
          </a:xfrm>
          <a:custGeom>
            <a:avLst/>
            <a:gdLst>
              <a:gd name="connsiteX0" fmla="*/ 2442258 w 2442258"/>
              <a:gd name="connsiteY0" fmla="*/ 659757 h 659757"/>
              <a:gd name="connsiteX1" fmla="*/ 1585731 w 2442258"/>
              <a:gd name="connsiteY1" fmla="*/ 0 h 659757"/>
              <a:gd name="connsiteX2" fmla="*/ 0 w 2442258"/>
              <a:gd name="connsiteY2" fmla="*/ 590309 h 659757"/>
              <a:gd name="connsiteX3" fmla="*/ 0 w 2442258"/>
              <a:gd name="connsiteY3" fmla="*/ 590309 h 659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2258" h="659757">
                <a:moveTo>
                  <a:pt x="2442258" y="659757"/>
                </a:moveTo>
                <a:lnTo>
                  <a:pt x="1585731" y="0"/>
                </a:lnTo>
                <a:lnTo>
                  <a:pt x="0" y="590309"/>
                </a:lnTo>
                <a:lnTo>
                  <a:pt x="0" y="590309"/>
                </a:lnTo>
              </a:path>
            </a:pathLst>
          </a:cu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8622507-5731-F34A-9534-1B77FA684E2F}"/>
              </a:ext>
            </a:extLst>
          </p:cNvPr>
          <p:cNvSpPr/>
          <p:nvPr/>
        </p:nvSpPr>
        <p:spPr>
          <a:xfrm>
            <a:off x="2187615" y="3993266"/>
            <a:ext cx="4861367" cy="622114"/>
          </a:xfrm>
          <a:custGeom>
            <a:avLst/>
            <a:gdLst>
              <a:gd name="connsiteX0" fmla="*/ 4872941 w 4872941"/>
              <a:gd name="connsiteY0" fmla="*/ 0 h 682907"/>
              <a:gd name="connsiteX1" fmla="*/ 2974693 w 4872941"/>
              <a:gd name="connsiteY1" fmla="*/ 682907 h 682907"/>
              <a:gd name="connsiteX2" fmla="*/ 0 w 4872941"/>
              <a:gd name="connsiteY2" fmla="*/ 46299 h 6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72941" h="682907">
                <a:moveTo>
                  <a:pt x="4872941" y="0"/>
                </a:moveTo>
                <a:lnTo>
                  <a:pt x="2974693" y="682907"/>
                </a:lnTo>
                <a:lnTo>
                  <a:pt x="0" y="46299"/>
                </a:lnTo>
              </a:path>
            </a:pathLst>
          </a:custGeom>
          <a:ln w="28575"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354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F0AE-D7B0-8042-820A-AD5BD722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自然语言处理难点：知识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8CCB-83DA-2140-BA33-7616C34DC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自然语言处理需要大量知识</a:t>
            </a:r>
            <a:endParaRPr lang="en-US" altLang="zh-CN" dirty="0"/>
          </a:p>
          <a:p>
            <a:pPr lvl="1"/>
            <a:r>
              <a:rPr lang="zh-CN" altLang="en-US" dirty="0"/>
              <a:t>语言知识</a:t>
            </a:r>
            <a:endParaRPr lang="en-US" altLang="zh-CN" dirty="0"/>
          </a:p>
          <a:p>
            <a:pPr lvl="1"/>
            <a:r>
              <a:rPr lang="zh-CN" altLang="en-US" dirty="0"/>
              <a:t>领域知识</a:t>
            </a:r>
            <a:endParaRPr lang="en-US" altLang="zh-CN" dirty="0"/>
          </a:p>
          <a:p>
            <a:pPr lvl="1"/>
            <a:r>
              <a:rPr lang="zh-CN" altLang="en-US" dirty="0"/>
              <a:t>世界知识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794174-8C49-8B45-A63E-CD4C8EEB4F08}"/>
              </a:ext>
            </a:extLst>
          </p:cNvPr>
          <p:cNvSpPr txBox="1"/>
          <p:nvPr/>
        </p:nvSpPr>
        <p:spPr>
          <a:xfrm>
            <a:off x="601881" y="3125424"/>
            <a:ext cx="7650868" cy="1200329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Winograd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Schema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Challenge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The city councilmen </a:t>
            </a:r>
            <a:r>
              <a:rPr lang="en-US" dirty="0"/>
              <a:t>refused the</a:t>
            </a:r>
            <a:r>
              <a:rPr lang="en-US" dirty="0">
                <a:solidFill>
                  <a:srgbClr val="0070C0"/>
                </a:solidFill>
              </a:rPr>
              <a:t> demonstrators </a:t>
            </a:r>
            <a:r>
              <a:rPr lang="en-US" dirty="0"/>
              <a:t>a permit because </a:t>
            </a:r>
            <a:r>
              <a:rPr lang="en-US" dirty="0">
                <a:solidFill>
                  <a:srgbClr val="FF0000"/>
                </a:solidFill>
              </a:rPr>
              <a:t>they</a:t>
            </a:r>
            <a:r>
              <a:rPr lang="en-US" dirty="0"/>
              <a:t> [feared/advocated] violence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A63C3AA-E1D5-524D-86F0-C0145D4B75A2}"/>
              </a:ext>
            </a:extLst>
          </p:cNvPr>
          <p:cNvSpPr/>
          <p:nvPr/>
        </p:nvSpPr>
        <p:spPr>
          <a:xfrm>
            <a:off x="4433104" y="2835797"/>
            <a:ext cx="2558005" cy="1006998"/>
          </a:xfrm>
          <a:custGeom>
            <a:avLst/>
            <a:gdLst>
              <a:gd name="connsiteX0" fmla="*/ 2442258 w 2442258"/>
              <a:gd name="connsiteY0" fmla="*/ 659757 h 659757"/>
              <a:gd name="connsiteX1" fmla="*/ 1585731 w 2442258"/>
              <a:gd name="connsiteY1" fmla="*/ 0 h 659757"/>
              <a:gd name="connsiteX2" fmla="*/ 0 w 2442258"/>
              <a:gd name="connsiteY2" fmla="*/ 590309 h 659757"/>
              <a:gd name="connsiteX3" fmla="*/ 0 w 2442258"/>
              <a:gd name="connsiteY3" fmla="*/ 590309 h 659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2258" h="659757">
                <a:moveTo>
                  <a:pt x="2442258" y="659757"/>
                </a:moveTo>
                <a:lnTo>
                  <a:pt x="1585731" y="0"/>
                </a:lnTo>
                <a:lnTo>
                  <a:pt x="0" y="590309"/>
                </a:lnTo>
                <a:lnTo>
                  <a:pt x="0" y="590309"/>
                </a:lnTo>
              </a:path>
            </a:pathLst>
          </a:cu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8622507-5731-F34A-9534-1B77FA684E2F}"/>
              </a:ext>
            </a:extLst>
          </p:cNvPr>
          <p:cNvSpPr/>
          <p:nvPr/>
        </p:nvSpPr>
        <p:spPr>
          <a:xfrm>
            <a:off x="2187615" y="3993266"/>
            <a:ext cx="4861367" cy="622114"/>
          </a:xfrm>
          <a:custGeom>
            <a:avLst/>
            <a:gdLst>
              <a:gd name="connsiteX0" fmla="*/ 4872941 w 4872941"/>
              <a:gd name="connsiteY0" fmla="*/ 0 h 682907"/>
              <a:gd name="connsiteX1" fmla="*/ 2974693 w 4872941"/>
              <a:gd name="connsiteY1" fmla="*/ 682907 h 682907"/>
              <a:gd name="connsiteX2" fmla="*/ 0 w 4872941"/>
              <a:gd name="connsiteY2" fmla="*/ 46299 h 6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72941" h="682907">
                <a:moveTo>
                  <a:pt x="4872941" y="0"/>
                </a:moveTo>
                <a:lnTo>
                  <a:pt x="2974693" y="682907"/>
                </a:lnTo>
                <a:lnTo>
                  <a:pt x="0" y="46299"/>
                </a:lnTo>
              </a:path>
            </a:pathLst>
          </a:custGeom>
          <a:ln w="28575"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B7F82E-2328-1B40-AA22-92B488E236D2}"/>
              </a:ext>
            </a:extLst>
          </p:cNvPr>
          <p:cNvSpPr txBox="1"/>
          <p:nvPr/>
        </p:nvSpPr>
        <p:spPr>
          <a:xfrm>
            <a:off x="601881" y="5017849"/>
            <a:ext cx="7650868" cy="923330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鸡不吃了，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鸡不吃了，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36651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F0AE-D7B0-8042-820A-AD5BD722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自然语言处理难点：知识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8CCB-83DA-2140-BA33-7616C34DC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自然语言处理需要大量知识</a:t>
            </a:r>
            <a:endParaRPr lang="en-US" altLang="zh-CN" dirty="0"/>
          </a:p>
          <a:p>
            <a:pPr lvl="1"/>
            <a:r>
              <a:rPr lang="zh-CN" altLang="en-US" dirty="0"/>
              <a:t>语言知识</a:t>
            </a:r>
            <a:endParaRPr lang="en-US" altLang="zh-CN" dirty="0"/>
          </a:p>
          <a:p>
            <a:pPr lvl="1"/>
            <a:r>
              <a:rPr lang="zh-CN" altLang="en-US" dirty="0"/>
              <a:t>领域知识</a:t>
            </a:r>
            <a:endParaRPr lang="en-US" altLang="zh-CN" dirty="0"/>
          </a:p>
          <a:p>
            <a:pPr lvl="1"/>
            <a:r>
              <a:rPr lang="zh-CN" altLang="en-US" dirty="0"/>
              <a:t>世界知识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794174-8C49-8B45-A63E-CD4C8EEB4F08}"/>
              </a:ext>
            </a:extLst>
          </p:cNvPr>
          <p:cNvSpPr txBox="1"/>
          <p:nvPr/>
        </p:nvSpPr>
        <p:spPr>
          <a:xfrm>
            <a:off x="601881" y="3125424"/>
            <a:ext cx="7650868" cy="1200329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Winograd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Schema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Challenge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The city councilmen </a:t>
            </a:r>
            <a:r>
              <a:rPr lang="en-US" dirty="0"/>
              <a:t>refused the</a:t>
            </a:r>
            <a:r>
              <a:rPr lang="en-US" dirty="0">
                <a:solidFill>
                  <a:srgbClr val="0070C0"/>
                </a:solidFill>
              </a:rPr>
              <a:t> demonstrators </a:t>
            </a:r>
            <a:r>
              <a:rPr lang="en-US" dirty="0"/>
              <a:t>a permit because </a:t>
            </a:r>
            <a:r>
              <a:rPr lang="en-US" dirty="0">
                <a:solidFill>
                  <a:srgbClr val="FF0000"/>
                </a:solidFill>
              </a:rPr>
              <a:t>they</a:t>
            </a:r>
            <a:r>
              <a:rPr lang="en-US" dirty="0"/>
              <a:t> [feared/advocated] violence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A63C3AA-E1D5-524D-86F0-C0145D4B75A2}"/>
              </a:ext>
            </a:extLst>
          </p:cNvPr>
          <p:cNvSpPr/>
          <p:nvPr/>
        </p:nvSpPr>
        <p:spPr>
          <a:xfrm>
            <a:off x="4433104" y="2835797"/>
            <a:ext cx="2558005" cy="1006998"/>
          </a:xfrm>
          <a:custGeom>
            <a:avLst/>
            <a:gdLst>
              <a:gd name="connsiteX0" fmla="*/ 2442258 w 2442258"/>
              <a:gd name="connsiteY0" fmla="*/ 659757 h 659757"/>
              <a:gd name="connsiteX1" fmla="*/ 1585731 w 2442258"/>
              <a:gd name="connsiteY1" fmla="*/ 0 h 659757"/>
              <a:gd name="connsiteX2" fmla="*/ 0 w 2442258"/>
              <a:gd name="connsiteY2" fmla="*/ 590309 h 659757"/>
              <a:gd name="connsiteX3" fmla="*/ 0 w 2442258"/>
              <a:gd name="connsiteY3" fmla="*/ 590309 h 659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2258" h="659757">
                <a:moveTo>
                  <a:pt x="2442258" y="659757"/>
                </a:moveTo>
                <a:lnTo>
                  <a:pt x="1585731" y="0"/>
                </a:lnTo>
                <a:lnTo>
                  <a:pt x="0" y="590309"/>
                </a:lnTo>
                <a:lnTo>
                  <a:pt x="0" y="590309"/>
                </a:lnTo>
              </a:path>
            </a:pathLst>
          </a:cu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8622507-5731-F34A-9534-1B77FA684E2F}"/>
              </a:ext>
            </a:extLst>
          </p:cNvPr>
          <p:cNvSpPr/>
          <p:nvPr/>
        </p:nvSpPr>
        <p:spPr>
          <a:xfrm>
            <a:off x="2187615" y="3993266"/>
            <a:ext cx="4861367" cy="622114"/>
          </a:xfrm>
          <a:custGeom>
            <a:avLst/>
            <a:gdLst>
              <a:gd name="connsiteX0" fmla="*/ 4872941 w 4872941"/>
              <a:gd name="connsiteY0" fmla="*/ 0 h 682907"/>
              <a:gd name="connsiteX1" fmla="*/ 2974693 w 4872941"/>
              <a:gd name="connsiteY1" fmla="*/ 682907 h 682907"/>
              <a:gd name="connsiteX2" fmla="*/ 0 w 4872941"/>
              <a:gd name="connsiteY2" fmla="*/ 46299 h 6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72941" h="682907">
                <a:moveTo>
                  <a:pt x="4872941" y="0"/>
                </a:moveTo>
                <a:lnTo>
                  <a:pt x="2974693" y="682907"/>
                </a:lnTo>
                <a:lnTo>
                  <a:pt x="0" y="46299"/>
                </a:lnTo>
              </a:path>
            </a:pathLst>
          </a:custGeom>
          <a:ln w="28575"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B7F82E-2328-1B40-AA22-92B488E236D2}"/>
              </a:ext>
            </a:extLst>
          </p:cNvPr>
          <p:cNvSpPr txBox="1"/>
          <p:nvPr/>
        </p:nvSpPr>
        <p:spPr>
          <a:xfrm>
            <a:off x="601881" y="5017849"/>
            <a:ext cx="7650868" cy="923330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鸡不吃了，因为这只鸡已经吃了太多了。</a:t>
            </a:r>
          </a:p>
          <a:p>
            <a:endParaRPr lang="zh-CN" altLang="en-US" dirty="0"/>
          </a:p>
          <a:p>
            <a:r>
              <a:rPr lang="zh-CN" altLang="en-US" dirty="0"/>
              <a:t>鸡不吃了，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6463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F0AE-D7B0-8042-820A-AD5BD722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自然语言处理难点：知识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8CCB-83DA-2140-BA33-7616C34DC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自然语言处理需要大量知识</a:t>
            </a:r>
            <a:endParaRPr lang="en-US" altLang="zh-CN" dirty="0"/>
          </a:p>
          <a:p>
            <a:pPr lvl="1"/>
            <a:r>
              <a:rPr lang="zh-CN" altLang="en-US" dirty="0"/>
              <a:t>语言知识</a:t>
            </a:r>
            <a:endParaRPr lang="en-US" altLang="zh-CN" dirty="0"/>
          </a:p>
          <a:p>
            <a:pPr lvl="1"/>
            <a:r>
              <a:rPr lang="zh-CN" altLang="en-US" dirty="0"/>
              <a:t>领域知识</a:t>
            </a:r>
            <a:endParaRPr lang="en-US" altLang="zh-CN" dirty="0"/>
          </a:p>
          <a:p>
            <a:pPr lvl="1"/>
            <a:r>
              <a:rPr lang="zh-CN" altLang="en-US" dirty="0"/>
              <a:t>世界知识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794174-8C49-8B45-A63E-CD4C8EEB4F08}"/>
              </a:ext>
            </a:extLst>
          </p:cNvPr>
          <p:cNvSpPr txBox="1"/>
          <p:nvPr/>
        </p:nvSpPr>
        <p:spPr>
          <a:xfrm>
            <a:off x="601881" y="3125424"/>
            <a:ext cx="7650868" cy="1200329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Winograd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Schema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Challenge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The city councilmen </a:t>
            </a:r>
            <a:r>
              <a:rPr lang="en-US" dirty="0"/>
              <a:t>refused the</a:t>
            </a:r>
            <a:r>
              <a:rPr lang="en-US" dirty="0">
                <a:solidFill>
                  <a:srgbClr val="0070C0"/>
                </a:solidFill>
              </a:rPr>
              <a:t> demonstrators </a:t>
            </a:r>
            <a:r>
              <a:rPr lang="en-US" dirty="0"/>
              <a:t>a permit because </a:t>
            </a:r>
            <a:r>
              <a:rPr lang="en-US" dirty="0">
                <a:solidFill>
                  <a:srgbClr val="FF0000"/>
                </a:solidFill>
              </a:rPr>
              <a:t>they</a:t>
            </a:r>
            <a:r>
              <a:rPr lang="en-US" dirty="0"/>
              <a:t> [feared/advocated] violence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A63C3AA-E1D5-524D-86F0-C0145D4B75A2}"/>
              </a:ext>
            </a:extLst>
          </p:cNvPr>
          <p:cNvSpPr/>
          <p:nvPr/>
        </p:nvSpPr>
        <p:spPr>
          <a:xfrm>
            <a:off x="4433104" y="2835797"/>
            <a:ext cx="2558005" cy="1006998"/>
          </a:xfrm>
          <a:custGeom>
            <a:avLst/>
            <a:gdLst>
              <a:gd name="connsiteX0" fmla="*/ 2442258 w 2442258"/>
              <a:gd name="connsiteY0" fmla="*/ 659757 h 659757"/>
              <a:gd name="connsiteX1" fmla="*/ 1585731 w 2442258"/>
              <a:gd name="connsiteY1" fmla="*/ 0 h 659757"/>
              <a:gd name="connsiteX2" fmla="*/ 0 w 2442258"/>
              <a:gd name="connsiteY2" fmla="*/ 590309 h 659757"/>
              <a:gd name="connsiteX3" fmla="*/ 0 w 2442258"/>
              <a:gd name="connsiteY3" fmla="*/ 590309 h 659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2258" h="659757">
                <a:moveTo>
                  <a:pt x="2442258" y="659757"/>
                </a:moveTo>
                <a:lnTo>
                  <a:pt x="1585731" y="0"/>
                </a:lnTo>
                <a:lnTo>
                  <a:pt x="0" y="590309"/>
                </a:lnTo>
                <a:lnTo>
                  <a:pt x="0" y="590309"/>
                </a:lnTo>
              </a:path>
            </a:pathLst>
          </a:cu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8622507-5731-F34A-9534-1B77FA684E2F}"/>
              </a:ext>
            </a:extLst>
          </p:cNvPr>
          <p:cNvSpPr/>
          <p:nvPr/>
        </p:nvSpPr>
        <p:spPr>
          <a:xfrm>
            <a:off x="2187615" y="3993266"/>
            <a:ext cx="4861367" cy="622114"/>
          </a:xfrm>
          <a:custGeom>
            <a:avLst/>
            <a:gdLst>
              <a:gd name="connsiteX0" fmla="*/ 4872941 w 4872941"/>
              <a:gd name="connsiteY0" fmla="*/ 0 h 682907"/>
              <a:gd name="connsiteX1" fmla="*/ 2974693 w 4872941"/>
              <a:gd name="connsiteY1" fmla="*/ 682907 h 682907"/>
              <a:gd name="connsiteX2" fmla="*/ 0 w 4872941"/>
              <a:gd name="connsiteY2" fmla="*/ 46299 h 68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72941" h="682907">
                <a:moveTo>
                  <a:pt x="4872941" y="0"/>
                </a:moveTo>
                <a:lnTo>
                  <a:pt x="2974693" y="682907"/>
                </a:lnTo>
                <a:lnTo>
                  <a:pt x="0" y="46299"/>
                </a:lnTo>
              </a:path>
            </a:pathLst>
          </a:custGeom>
          <a:ln w="28575"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B7F82E-2328-1B40-AA22-92B488E236D2}"/>
              </a:ext>
            </a:extLst>
          </p:cNvPr>
          <p:cNvSpPr txBox="1"/>
          <p:nvPr/>
        </p:nvSpPr>
        <p:spPr>
          <a:xfrm>
            <a:off x="601881" y="5017849"/>
            <a:ext cx="7650868" cy="923330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鸡不吃了，因为这只鸡已经吃了太多了。</a:t>
            </a:r>
          </a:p>
          <a:p>
            <a:endParaRPr lang="zh-CN" altLang="en-US" dirty="0"/>
          </a:p>
          <a:p>
            <a:r>
              <a:rPr lang="zh-CN" altLang="en-US" dirty="0"/>
              <a:t>鸡不吃了，因为最近都在吃鸡，吃腻了。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4813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C9AB4-E882-AF44-95BE-5F64B93FE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自然语言处理最新进展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72448-4D33-6043-A7BA-247373CF1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最近几年取得飞速发展，几个最重要的进展（对未来</a:t>
            </a:r>
            <a:r>
              <a:rPr lang="en-US" altLang="zh-CN" dirty="0"/>
              <a:t>NLP</a:t>
            </a:r>
            <a:r>
              <a:rPr lang="zh-CN" altLang="en-US" dirty="0"/>
              <a:t>发展有重要影响）</a:t>
            </a:r>
            <a:endParaRPr lang="en-US" altLang="zh-CN" dirty="0"/>
          </a:p>
          <a:p>
            <a:pPr lvl="1"/>
            <a:r>
              <a:rPr lang="zh-CN" altLang="en-US" dirty="0"/>
              <a:t>自然语言向量化表示（</a:t>
            </a:r>
            <a:r>
              <a:rPr lang="en-US" altLang="zh-CN" dirty="0"/>
              <a:t>word/sentence/document</a:t>
            </a:r>
            <a:r>
              <a:rPr lang="zh-CN" altLang="en-US" dirty="0"/>
              <a:t> </a:t>
            </a:r>
            <a:r>
              <a:rPr lang="en-US" altLang="zh-CN" dirty="0"/>
              <a:t>embedding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任务定义、数据构建、大规模评测（方法论、文化）</a:t>
            </a:r>
            <a:endParaRPr lang="en-US" altLang="zh-CN" dirty="0"/>
          </a:p>
          <a:p>
            <a:pPr lvl="2"/>
            <a:r>
              <a:rPr lang="zh-CN" altLang="en-US" dirty="0"/>
              <a:t>机器阅读理解</a:t>
            </a:r>
            <a:endParaRPr lang="en-US" altLang="zh-CN" dirty="0"/>
          </a:p>
          <a:p>
            <a:pPr lvl="2"/>
            <a:r>
              <a:rPr lang="zh-CN" altLang="en-US" dirty="0"/>
              <a:t>常识理解</a:t>
            </a:r>
            <a:endParaRPr lang="en-US" altLang="zh-CN" dirty="0"/>
          </a:p>
          <a:p>
            <a:pPr lvl="2"/>
            <a:r>
              <a:rPr lang="zh-CN" altLang="en-US" dirty="0"/>
              <a:t>对话任务</a:t>
            </a:r>
            <a:endParaRPr lang="en-US" altLang="zh-CN" dirty="0"/>
          </a:p>
          <a:p>
            <a:pPr lvl="2"/>
            <a:r>
              <a:rPr lang="zh-CN" altLang="en-US" dirty="0"/>
              <a:t>篇章级机器翻译任务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zh-CN" altLang="en-US" dirty="0"/>
              <a:t>预训练语言模型：通用语言智能</a:t>
            </a:r>
            <a:endParaRPr lang="en-US" altLang="zh-CN" dirty="0"/>
          </a:p>
          <a:p>
            <a:pPr lvl="2"/>
            <a:r>
              <a:rPr lang="en-US" altLang="zh-CN" dirty="0"/>
              <a:t>BERT</a:t>
            </a:r>
          </a:p>
          <a:p>
            <a:pPr lvl="2"/>
            <a:r>
              <a:rPr lang="en-US" dirty="0"/>
              <a:t>GPT</a:t>
            </a:r>
          </a:p>
          <a:p>
            <a:pPr lvl="2"/>
            <a:r>
              <a:rPr lang="en-US" altLang="zh-CN" dirty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9647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CCC1F-6135-0848-AE6B-DB59ACCD7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自然语言处理未来趋势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13B85-EEBC-324C-8211-227ECA428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自然语言处理逐渐向更高层级发展</a:t>
            </a:r>
            <a:endParaRPr lang="en-US" altLang="zh-CN" dirty="0"/>
          </a:p>
          <a:p>
            <a:pPr lvl="1"/>
            <a:r>
              <a:rPr lang="zh-CN" altLang="en-US" dirty="0"/>
              <a:t>简单的词级、句级任务取得了大量进展</a:t>
            </a:r>
            <a:endParaRPr lang="en-US" altLang="zh-CN" dirty="0"/>
          </a:p>
          <a:p>
            <a:pPr lvl="1"/>
            <a:r>
              <a:rPr lang="zh-CN" altLang="en-US" dirty="0"/>
              <a:t>语用、篇章未来大有可为</a:t>
            </a:r>
            <a:endParaRPr lang="en-US" altLang="zh-CN" dirty="0"/>
          </a:p>
          <a:p>
            <a:pPr lvl="1"/>
            <a:endParaRPr lang="en-US" dirty="0"/>
          </a:p>
          <a:p>
            <a:r>
              <a:rPr lang="zh-CN" altLang="en-US" dirty="0"/>
              <a:t>新的语言资源、语言任务将会越来越多</a:t>
            </a:r>
            <a:endParaRPr lang="en-US" altLang="zh-CN" dirty="0"/>
          </a:p>
          <a:p>
            <a:pPr lvl="1"/>
            <a:r>
              <a:rPr lang="zh-CN" altLang="en-US" dirty="0"/>
              <a:t>根据新的应用场景及人脑语言处理能力，新的</a:t>
            </a:r>
            <a:r>
              <a:rPr lang="en-US" altLang="zh-CN" dirty="0"/>
              <a:t>NLP</a:t>
            </a:r>
            <a:r>
              <a:rPr lang="zh-CN" altLang="en-US" dirty="0"/>
              <a:t>任务将不断被定义</a:t>
            </a:r>
            <a:endParaRPr lang="en-US" altLang="zh-CN" dirty="0"/>
          </a:p>
          <a:p>
            <a:pPr lvl="1"/>
            <a:r>
              <a:rPr lang="zh-CN" altLang="en-US" dirty="0"/>
              <a:t>新的语言资源将越来越多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通用语言智能将越来越受重视</a:t>
            </a:r>
            <a:endParaRPr lang="en-US" altLang="zh-CN" dirty="0"/>
          </a:p>
          <a:p>
            <a:pPr lvl="1"/>
            <a:r>
              <a:rPr lang="zh-CN" altLang="en-US" dirty="0"/>
              <a:t>预训练语言模型</a:t>
            </a:r>
            <a:endParaRPr lang="en-US" altLang="zh-CN" dirty="0"/>
          </a:p>
          <a:p>
            <a:pPr lvl="1"/>
            <a:r>
              <a:rPr lang="zh-CN" altLang="en-US" dirty="0"/>
              <a:t>涵盖领域知识、世界知识的通用语言模型</a:t>
            </a:r>
            <a:endParaRPr lang="en-US" altLang="zh-C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66502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CCC1F-6135-0848-AE6B-DB59ACCD7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自然语言处理未来趋势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13B85-EEBC-324C-8211-227ECA428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多语言、多任务、多模态常态化发展</a:t>
            </a:r>
            <a:endParaRPr lang="en-US" altLang="zh-CN" dirty="0"/>
          </a:p>
          <a:p>
            <a:pPr lvl="1"/>
            <a:r>
              <a:rPr lang="en-US" dirty="0"/>
              <a:t>NLP</a:t>
            </a:r>
            <a:r>
              <a:rPr lang="zh-CN" altLang="en-US" dirty="0"/>
              <a:t>将更加接地气，不局限于单一语言、单一任务、单一场景</a:t>
            </a:r>
            <a:endParaRPr lang="en-US" altLang="zh-CN" dirty="0"/>
          </a:p>
          <a:p>
            <a:pPr lvl="1"/>
            <a:endParaRPr lang="en-US" dirty="0"/>
          </a:p>
          <a:p>
            <a:r>
              <a:rPr lang="zh-CN" altLang="en-US" dirty="0"/>
              <a:t>知识将在</a:t>
            </a:r>
            <a:r>
              <a:rPr lang="en-US" altLang="zh-CN" dirty="0"/>
              <a:t>NLP</a:t>
            </a:r>
            <a:r>
              <a:rPr lang="zh-CN" altLang="en-US" dirty="0"/>
              <a:t>中发挥越来越重要作用</a:t>
            </a:r>
            <a:endParaRPr lang="en-US" altLang="zh-CN" dirty="0"/>
          </a:p>
          <a:p>
            <a:pPr lvl="1"/>
            <a:r>
              <a:rPr lang="zh-CN" altLang="en-US" dirty="0"/>
              <a:t>数据红利应用到极致</a:t>
            </a:r>
            <a:endParaRPr lang="en-US" altLang="zh-CN" dirty="0"/>
          </a:p>
          <a:p>
            <a:pPr lvl="1"/>
            <a:r>
              <a:rPr lang="zh-CN" altLang="en-US" dirty="0"/>
              <a:t>知识红利窗口逐步打开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NLP</a:t>
            </a:r>
            <a:r>
              <a:rPr lang="zh-CN" altLang="en-US" dirty="0"/>
              <a:t>将与其他学科更加紧密结合</a:t>
            </a:r>
            <a:endParaRPr lang="en-US" altLang="zh-CN" dirty="0"/>
          </a:p>
          <a:p>
            <a:pPr lvl="1"/>
            <a:r>
              <a:rPr lang="zh-CN" altLang="en-US" dirty="0"/>
              <a:t>期待更多语言学理论、模型支持</a:t>
            </a:r>
            <a:endParaRPr lang="en-US" altLang="zh-CN" dirty="0"/>
          </a:p>
          <a:p>
            <a:pPr lvl="1"/>
            <a:r>
              <a:rPr lang="zh-CN" altLang="en-US" dirty="0"/>
              <a:t>与认知科学重新拥抱</a:t>
            </a:r>
            <a:endParaRPr lang="en-US" altLang="zh-C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4307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7732" y="1024726"/>
            <a:ext cx="8211750" cy="498407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3282492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6762</TotalTime>
  <Words>4018</Words>
  <Application>Microsoft Macintosh PowerPoint</Application>
  <PresentationFormat>On-screen Show (4:3)</PresentationFormat>
  <Paragraphs>651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5" baseType="lpstr">
      <vt:lpstr>等线</vt:lpstr>
      <vt:lpstr>等线 Light</vt:lpstr>
      <vt:lpstr>楷体</vt:lpstr>
      <vt:lpstr>Arial</vt:lpstr>
      <vt:lpstr>Calibri</vt:lpstr>
      <vt:lpstr>Calibri Light</vt:lpstr>
      <vt:lpstr>Wingdings</vt:lpstr>
      <vt:lpstr>Office Theme</vt:lpstr>
      <vt:lpstr>自然语言处理 从研究到应用、从学术到产业 从历史到未来、从入门到进阶</vt:lpstr>
      <vt:lpstr>总览</vt:lpstr>
      <vt:lpstr>总览</vt:lpstr>
      <vt:lpstr>什么是自然语言处理？</vt:lpstr>
      <vt:lpstr>语言、自然语言、形式语言</vt:lpstr>
      <vt:lpstr>语言、自然语言、形式语言</vt:lpstr>
      <vt:lpstr>语言、自然语言、形式语言</vt:lpstr>
      <vt:lpstr>语言、自然语言、形式语言</vt:lpstr>
      <vt:lpstr>自然语言处理：类似术语</vt:lpstr>
      <vt:lpstr>自然语言处理 vs 计算语言学</vt:lpstr>
      <vt:lpstr>自然语言处理 vs 计算语言学</vt:lpstr>
      <vt:lpstr>自然语言处理研究内容</vt:lpstr>
      <vt:lpstr>自然语言处理：基础研究</vt:lpstr>
      <vt:lpstr>语言层级</vt:lpstr>
      <vt:lpstr>各个层级的自然语言处理</vt:lpstr>
      <vt:lpstr>各个层级的自然语言处理</vt:lpstr>
      <vt:lpstr>各个层级的自然语言处理</vt:lpstr>
      <vt:lpstr>各个层级的自然语言处理</vt:lpstr>
      <vt:lpstr>各个层级的自然语言处理</vt:lpstr>
      <vt:lpstr>各个层级的自然语言处理</vt:lpstr>
      <vt:lpstr>自然语言处理：应用研究</vt:lpstr>
      <vt:lpstr>自然语言处理：应用研究</vt:lpstr>
      <vt:lpstr>自然语言生成（natural language generation）</vt:lpstr>
      <vt:lpstr>机器翻译（Machine Translation）</vt:lpstr>
      <vt:lpstr>自然语言对话</vt:lpstr>
      <vt:lpstr>问答与机器阅读理解</vt:lpstr>
      <vt:lpstr>NLP+应用研究</vt:lpstr>
      <vt:lpstr>NLP+应用研究</vt:lpstr>
      <vt:lpstr>NLP+应用研究</vt:lpstr>
      <vt:lpstr>ACL 2019投稿领域分布</vt:lpstr>
      <vt:lpstr>ACL 2019投稿领域分布</vt:lpstr>
      <vt:lpstr>ACL 2019投稿领域分布</vt:lpstr>
      <vt:lpstr>ACL 2019投稿领域分布</vt:lpstr>
      <vt:lpstr>ACL 2019投稿领域分布</vt:lpstr>
      <vt:lpstr>ACL 2019投稿领域分布</vt:lpstr>
      <vt:lpstr>NLP技术落地</vt:lpstr>
      <vt:lpstr>NLP基础技术工具包: Hugging Face</vt:lpstr>
      <vt:lpstr>NLP平台技术：Chatbot Ecosystem</vt:lpstr>
      <vt:lpstr>NLP+场景应用： Startups（以色列）</vt:lpstr>
      <vt:lpstr>NLP产业机会与挑战</vt:lpstr>
      <vt:lpstr>NLP产业机会与挑战</vt:lpstr>
      <vt:lpstr>NLP产业机会与挑战</vt:lpstr>
      <vt:lpstr>自然语言处理发展历史</vt:lpstr>
      <vt:lpstr>自然语言处理发展历史：Phase 0</vt:lpstr>
      <vt:lpstr>自然语言处理发展历史：Phase 1</vt:lpstr>
      <vt:lpstr>自然语言处理发展历史：Phase 1</vt:lpstr>
      <vt:lpstr>自然语言处理发展历史：Phase 2</vt:lpstr>
      <vt:lpstr>自然语言处理发展历史：Phase 3</vt:lpstr>
      <vt:lpstr>自然语言处理发展历史：Phase 4</vt:lpstr>
      <vt:lpstr>自然语言处理发展历史：Phase 4</vt:lpstr>
      <vt:lpstr>自然语言处理发展历史：Phase 5</vt:lpstr>
      <vt:lpstr>自然语言处理发展历史：研究范式</vt:lpstr>
      <vt:lpstr>自然语言处理发展历史：研究范式</vt:lpstr>
      <vt:lpstr>自然语言处理与其他学科关系</vt:lpstr>
      <vt:lpstr>自然语言处理与其他学科关系</vt:lpstr>
      <vt:lpstr>自然语言处理与其他学科关系</vt:lpstr>
      <vt:lpstr>自然语言处理与其他学科关系</vt:lpstr>
      <vt:lpstr>自然语言处理与其他学科关系</vt:lpstr>
      <vt:lpstr>自然语言处理难点</vt:lpstr>
      <vt:lpstr>自然语言处理难点：歧义</vt:lpstr>
      <vt:lpstr>自然语言处理难点：歧义</vt:lpstr>
      <vt:lpstr>自然语言处理难点：歧义</vt:lpstr>
      <vt:lpstr>自然语言处理难点：歧义</vt:lpstr>
      <vt:lpstr>自然语言处理难点：歧义</vt:lpstr>
      <vt:lpstr>自然语言处理难点：歧义</vt:lpstr>
      <vt:lpstr>自然语言处理难点：歧义</vt:lpstr>
      <vt:lpstr>自然语言处理难点：多变</vt:lpstr>
      <vt:lpstr>自然语言处理难点：知识</vt:lpstr>
      <vt:lpstr>自然语言处理难点：知识</vt:lpstr>
      <vt:lpstr>自然语言处理难点：知识</vt:lpstr>
      <vt:lpstr>自然语言处理难点：知识</vt:lpstr>
      <vt:lpstr>自然语言处理难点：知识</vt:lpstr>
      <vt:lpstr>自然语言处理难点：知识</vt:lpstr>
      <vt:lpstr>自然语言处理最新进展</vt:lpstr>
      <vt:lpstr>自然语言处理未来趋势</vt:lpstr>
      <vt:lpstr>自然语言处理未来趋势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Deyi Xiong</dc:creator>
  <cp:lastModifiedBy>Deyi Xiong</cp:lastModifiedBy>
  <cp:revision>112</cp:revision>
  <dcterms:created xsi:type="dcterms:W3CDTF">2019-10-07T02:45:22Z</dcterms:created>
  <dcterms:modified xsi:type="dcterms:W3CDTF">2019-10-31T02:55:11Z</dcterms:modified>
</cp:coreProperties>
</file>