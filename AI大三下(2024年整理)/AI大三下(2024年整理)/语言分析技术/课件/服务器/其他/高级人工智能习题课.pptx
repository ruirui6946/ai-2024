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9" r:id="rId4"/>
    <p:sldId id="260" r:id="rId5"/>
    <p:sldId id="258" r:id="rId6"/>
    <p:sldId id="261" r:id="rId7"/>
    <p:sldId id="262" r:id="rId8"/>
    <p:sldId id="264" r:id="rId9"/>
    <p:sldId id="265" r:id="rId10"/>
    <p:sldId id="266" r:id="rId11"/>
    <p:sldId id="267" r:id="rId12"/>
  </p:sldIdLst>
  <p:sldSz cx="9144000" cy="6858000" type="screen4x3"/>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28650" y="1122680"/>
            <a:ext cx="78867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628650" y="3602355"/>
            <a:ext cx="7886700" cy="1655445"/>
          </a:xfrm>
        </p:spPr>
        <p:txBody>
          <a:bodyPr/>
          <a:lstStyle>
            <a:lvl1pPr marL="0" indent="0" algn="ctr">
              <a:buNone/>
              <a:defRPr sz="24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197485"/>
            <a:ext cx="7886700" cy="1325563"/>
          </a:xfrm>
        </p:spPr>
        <p:txBody>
          <a:bodyPr anchor="b" anchorCtr="0"/>
          <a:lstStyle/>
          <a:p>
            <a:r>
              <a:rPr lang="zh-CN" altLang="en-US" smtClean="0"/>
              <a:t>单击此处编辑母版标题样式</a:t>
            </a:r>
            <a:endParaRPr lang="zh-CN" altLang="en-US"/>
          </a:p>
        </p:txBody>
      </p:sp>
      <p:sp>
        <p:nvSpPr>
          <p:cNvPr id="3" name="内容占位符 2"/>
          <p:cNvSpPr>
            <a:spLocks noGrp="1"/>
          </p:cNvSpPr>
          <p:nvPr>
            <p:ph idx="1"/>
          </p:nvPr>
        </p:nvSpPr>
        <p:spPr>
          <a:xfrm>
            <a:off x="628650" y="1702435"/>
            <a:ext cx="7886700" cy="4474845"/>
          </a:xfrm>
        </p:spPr>
        <p:txBody>
          <a:bodyPr/>
          <a:lstStyle>
            <a:lvl2pPr>
              <a:defRPr/>
            </a:lvl2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2959100"/>
            <a:ext cx="7886700" cy="2781300"/>
          </a:xfrm>
        </p:spPr>
        <p:txBody>
          <a:bodyPr anchor="t" anchorCtr="0"/>
          <a:lstStyle>
            <a:lvl1pPr>
              <a:defRPr sz="48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8650" y="1722120"/>
            <a:ext cx="7886700" cy="1102995"/>
          </a:xfrm>
        </p:spPr>
        <p:txBody>
          <a:bodyPr lIns="144145" anchor="b" anchorCtr="0"/>
          <a:lstStyle>
            <a:lvl1pPr marL="0" indent="0">
              <a:buNone/>
              <a:defRPr sz="2400">
                <a:solidFill>
                  <a:schemeClr val="tx1">
                    <a:lumMod val="50000"/>
                    <a:lumOff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ctr">
              <a:defRPr/>
            </a:lvl1p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079" y="365125"/>
            <a:ext cx="7886700" cy="800100"/>
          </a:xfrm>
        </p:spPr>
        <p:txBody>
          <a:bodyPr anchor="ctr" anchorCtr="0"/>
          <a:lstStyle>
            <a:lvl1pPr algn="ct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9603" y="1482090"/>
            <a:ext cx="3915728" cy="823595"/>
          </a:xfrm>
        </p:spPr>
        <p:txBody>
          <a:bodyPr anchor="ctr" anchorCtr="0"/>
          <a:lstStyle>
            <a:lvl1pPr marL="0" indent="0">
              <a:buNone/>
              <a:defRPr sz="3200">
                <a:solidFill>
                  <a:srgbClr val="0070C0"/>
                </a:solidFill>
              </a:defRPr>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28650" y="2368550"/>
            <a:ext cx="3916680" cy="3820795"/>
          </a:xfrm>
        </p:spPr>
        <p:txBody>
          <a:bodyPr/>
          <a:lstStyle>
            <a:lvl1pPr>
              <a:defRPr sz="2800"/>
            </a:lvl1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92491" y="1482090"/>
            <a:ext cx="3822859" cy="823595"/>
          </a:xfrm>
        </p:spPr>
        <p:txBody>
          <a:bodyPr anchor="ctr" anchorCtr="0"/>
          <a:lstStyle>
            <a:lvl1pPr marL="0" indent="0">
              <a:buNone/>
              <a:defRPr sz="3200">
                <a:solidFill>
                  <a:srgbClr val="0070C0"/>
                </a:solidFill>
              </a:defRPr>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92491" y="2368550"/>
            <a:ext cx="3822859" cy="3820795"/>
          </a:xfrm>
        </p:spPr>
        <p:txBody>
          <a:bodyPr/>
          <a:lstStyle>
            <a:lvl1pPr>
              <a:defRPr sz="2800"/>
            </a:lvl1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197485"/>
            <a:ext cx="7886700" cy="1325563"/>
          </a:xfrm>
        </p:spPr>
        <p:txBody>
          <a:bodyPr anchor="b" anchorCtr="0"/>
          <a:lstStyle/>
          <a:p>
            <a:r>
              <a:rPr lang="zh-CN" altLang="en-US" smtClean="0"/>
              <a:t>单击此处编辑母版标题样式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 + 文本">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9525" y="-1905"/>
            <a:ext cx="5263039" cy="6861810"/>
          </a:xfrm>
          <a:noFill/>
        </p:spPr>
        <p:txBody>
          <a:bodyPr lIns="252095" tIns="144145"/>
          <a:lstStyle>
            <a:lvl1pPr marL="0" indent="0" algn="ctr">
              <a:buNone/>
              <a:defRPr sz="1800">
                <a:solidFill>
                  <a:schemeClr val="tx1">
                    <a:lumMod val="50000"/>
                    <a:lumOff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2" name="标题 1"/>
          <p:cNvSpPr>
            <a:spLocks noGrp="1"/>
          </p:cNvSpPr>
          <p:nvPr>
            <p:ph type="title"/>
          </p:nvPr>
        </p:nvSpPr>
        <p:spPr>
          <a:xfrm>
            <a:off x="5512594" y="457200"/>
            <a:ext cx="3294221" cy="1055370"/>
          </a:xfrm>
        </p:spPr>
        <p:txBody>
          <a:bodyPr anchor="b" anchorCtr="0"/>
          <a:lstStyle>
            <a:lvl1pPr>
              <a:defRPr sz="3200"/>
            </a:lvl1pPr>
          </a:lstStyle>
          <a:p>
            <a:r>
              <a:rPr lang="zh-CN" altLang="en-US" smtClean="0"/>
              <a:t>单击此处编辑母版标题样式</a:t>
            </a:r>
            <a:endParaRPr lang="zh-CN" altLang="en-US"/>
          </a:p>
        </p:txBody>
      </p:sp>
      <p:sp>
        <p:nvSpPr>
          <p:cNvPr id="4" name="文本占位符 3"/>
          <p:cNvSpPr>
            <a:spLocks noGrp="1"/>
          </p:cNvSpPr>
          <p:nvPr>
            <p:ph type="body" sz="half" idx="2"/>
          </p:nvPr>
        </p:nvSpPr>
        <p:spPr>
          <a:xfrm>
            <a:off x="5512118" y="1694180"/>
            <a:ext cx="3295174" cy="4480560"/>
          </a:xfrm>
        </p:spPr>
        <p:txBody>
          <a:bodyPr/>
          <a:lstStyle>
            <a:lvl1pPr marL="0" indent="0">
              <a:buNone/>
              <a:defRPr sz="2800">
                <a:solidFill>
                  <a:schemeClr val="tx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文本 + 图片">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3887629" y="-7620"/>
            <a:ext cx="5263039" cy="6861810"/>
          </a:xfrm>
          <a:noFill/>
        </p:spPr>
        <p:txBody>
          <a:bodyPr lIns="252095" tIns="144145"/>
          <a:lstStyle>
            <a:lvl1pPr marL="0" indent="0" algn="ctr">
              <a:buNone/>
              <a:defRPr sz="1800">
                <a:solidFill>
                  <a:schemeClr val="tx1">
                    <a:lumMod val="50000"/>
                    <a:lumOff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2" name="标题 1"/>
          <p:cNvSpPr>
            <a:spLocks noGrp="1"/>
          </p:cNvSpPr>
          <p:nvPr>
            <p:ph type="title"/>
          </p:nvPr>
        </p:nvSpPr>
        <p:spPr>
          <a:xfrm>
            <a:off x="307181" y="457200"/>
            <a:ext cx="3209925" cy="1055370"/>
          </a:xfrm>
        </p:spPr>
        <p:txBody>
          <a:bodyPr anchor="t" anchorCtr="0"/>
          <a:lstStyle>
            <a:lvl1pPr>
              <a:defRPr sz="3200"/>
            </a:lvl1pPr>
          </a:lstStyle>
          <a:p>
            <a:r>
              <a:rPr lang="zh-CN" altLang="en-US" smtClean="0"/>
              <a:t>单击此处编辑母版标题样式</a:t>
            </a:r>
            <a:endParaRPr lang="zh-CN" altLang="en-US"/>
          </a:p>
        </p:txBody>
      </p:sp>
      <p:sp>
        <p:nvSpPr>
          <p:cNvPr id="4" name="文本占位符 3"/>
          <p:cNvSpPr>
            <a:spLocks noGrp="1"/>
          </p:cNvSpPr>
          <p:nvPr>
            <p:ph type="body" sz="half" idx="2"/>
          </p:nvPr>
        </p:nvSpPr>
        <p:spPr>
          <a:xfrm>
            <a:off x="307181" y="1694180"/>
            <a:ext cx="3210401" cy="4480560"/>
          </a:xfrm>
        </p:spPr>
        <p:txBody>
          <a:bodyPr/>
          <a:lstStyle>
            <a:lvl1pPr marL="0" indent="0">
              <a:buNone/>
              <a:defRPr sz="2800">
                <a:solidFill>
                  <a:schemeClr val="tx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4_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
        <p:nvSpPr>
          <p:cNvPr id="3" name="竖排标题 1"/>
          <p:cNvSpPr>
            <a:spLocks noGrp="1"/>
          </p:cNvSpPr>
          <p:nvPr>
            <p:ph type="title" orient="vert"/>
          </p:nvPr>
        </p:nvSpPr>
        <p:spPr>
          <a:xfrm>
            <a:off x="6543675" y="365125"/>
            <a:ext cx="1971675" cy="5811838"/>
          </a:xfrm>
        </p:spPr>
        <p:txBody>
          <a:bodyPr vert="eaVert"/>
          <a:p>
            <a:r>
              <a:rPr lang="zh-CN" altLang="en-US" smtClean="0"/>
              <a:t>单击此处编辑母版标题样式</a:t>
            </a:r>
            <a:endParaRPr lang="zh-CN" altLang="en-US"/>
          </a:p>
        </p:txBody>
      </p:sp>
      <p:sp>
        <p:nvSpPr>
          <p:cNvPr id="7" name="竖排文字占位符 2"/>
          <p:cNvSpPr>
            <a:spLocks noGrp="1"/>
          </p:cNvSpPr>
          <p:nvPr>
            <p:ph type="body" orient="vert" idx="1"/>
          </p:nvPr>
        </p:nvSpPr>
        <p:spPr>
          <a:xfrm>
            <a:off x="628650" y="365125"/>
            <a:ext cx="5800725" cy="5811838"/>
          </a:xfrm>
        </p:spPr>
        <p:txBody>
          <a:bodyPr vert="eaVert"/>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327025"/>
            <a:ext cx="7886700" cy="5850255"/>
          </a:xfrm>
        </p:spPr>
        <p:txBody>
          <a:bodyPr/>
          <a:lstStyle>
            <a:lvl2pPr>
              <a:defRPr/>
            </a:lvl2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a:gsLst>
            <a:gs pos="0">
              <a:schemeClr val="bg1">
                <a:lumMod val="95000"/>
              </a:schemeClr>
            </a:gs>
            <a:gs pos="100000">
              <a:schemeClr val="bg2"/>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5"/>
            <a:ext cx="7886700" cy="1325563"/>
          </a:xfrm>
          <a:prstGeom prst="rect">
            <a:avLst/>
          </a:prstGeom>
          <a:effectLst>
            <a:outerShdw blurRad="88900" dist="101600" dir="5400000" algn="ctr" rotWithShape="0">
              <a:srgbClr val="000000">
                <a:alpha val="2000"/>
              </a:srgbClr>
            </a:outerShdw>
          </a:effectLst>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latin typeface="微软雅黑 Light" panose="020B0502040204020203" charset="-122"/>
                <a:ea typeface="微软雅黑 Light" panose="020B0502040204020203" charset="-122"/>
              </a:defRPr>
            </a:lvl1pPr>
          </a:lstStyle>
          <a:p>
            <a:fld id="{82F288E0-7875-42C4-84C8-98DBBD3BF4D2}" type="datetimeFigureOut">
              <a:rPr lang="zh-CN" altLang="en-US" smtClean="0"/>
            </a:fld>
            <a:endParaRPr lang="zh-CN" altLang="en-US"/>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latin typeface="微软雅黑 Light" panose="020B0502040204020203" charset="-122"/>
                <a:ea typeface="微软雅黑 Light" panose="020B0502040204020203" charset="-122"/>
              </a:defRPr>
            </a:lvl1pPr>
          </a:lstStyle>
          <a:p>
            <a:endParaRPr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latin typeface="微软雅黑 Light" panose="020B0502040204020203" charset="-122"/>
                <a:ea typeface="微软雅黑 Light" panose="020B0502040204020203" charset="-122"/>
              </a:defRPr>
            </a:lvl1pPr>
          </a:lstStyle>
          <a:p>
            <a:fld id="{7D9BB5D0-35E4-459D-AEF3-FE4D7C45CC1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p14:dur="250">
        <p:fade/>
      </p:transition>
    </mc:Choice>
    <mc:Fallback>
      <p:transition>
        <p:fade/>
      </p:transition>
    </mc:Fallback>
  </mc:AlternateContent>
  <p:txStyles>
    <p:titleStyle>
      <a:lvl1pPr algn="l" defTabSz="914400" rtl="0" eaLnBrk="1" latinLnBrk="0" hangingPunct="1">
        <a:lnSpc>
          <a:spcPct val="90000"/>
        </a:lnSpc>
        <a:spcBef>
          <a:spcPct val="0"/>
        </a:spcBef>
        <a:buNone/>
        <a:defRPr sz="4000" kern="1200">
          <a:solidFill>
            <a:srgbClr val="202020"/>
          </a:solidFill>
          <a:effectLst>
            <a:outerShdw blurRad="50800" dist="38100" dir="5400000" algn="t" rotWithShape="0">
              <a:prstClr val="black">
                <a:alpha val="20000"/>
              </a:prstClr>
            </a:outerShdw>
          </a:effectLst>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120000"/>
        </a:lnSpc>
        <a:spcBef>
          <a:spcPts val="1000"/>
        </a:spcBef>
        <a:buSzPct val="75000"/>
        <a:buFont typeface="Arial" panose="020B0604020202020204" pitchFamily="34" charset="0"/>
        <a:buChar char="•"/>
        <a:defRPr sz="2800" kern="1200">
          <a:solidFill>
            <a:schemeClr val="tx1">
              <a:lumMod val="85000"/>
              <a:lumOff val="15000"/>
            </a:schemeClr>
          </a:solidFill>
          <a:latin typeface="微软雅黑" panose="020B0503020204020204" charset="-122"/>
          <a:ea typeface="微软雅黑" panose="020B0503020204020204" charset="-122"/>
          <a:cs typeface="+mn-cs"/>
        </a:defRPr>
      </a:lvl1pPr>
      <a:lvl2pPr marL="575945" indent="-228600" algn="l" defTabSz="914400" rtl="0" eaLnBrk="1" fontAlgn="auto" latinLnBrk="0" hangingPunct="1">
        <a:lnSpc>
          <a:spcPct val="120000"/>
        </a:lnSpc>
        <a:spcBef>
          <a:spcPts val="500"/>
        </a:spcBef>
        <a:buSzPct val="75000"/>
        <a:buFont typeface="Arial" panose="020B0604020202020204" pitchFamily="34" charset="0"/>
        <a:buChar char="•"/>
        <a:defRPr sz="2200" kern="1200">
          <a:solidFill>
            <a:schemeClr val="tx1">
              <a:lumMod val="75000"/>
              <a:lumOff val="25000"/>
            </a:schemeClr>
          </a:solidFill>
          <a:latin typeface="微软雅黑" panose="020B0503020204020204" charset="-122"/>
          <a:ea typeface="微软雅黑" panose="020B0503020204020204" charset="-122"/>
          <a:cs typeface="+mn-cs"/>
        </a:defRPr>
      </a:lvl2pPr>
      <a:lvl3pPr marL="1007745" indent="-228600" algn="l" defTabSz="914400" rtl="0" eaLnBrk="1" fontAlgn="auto" latinLnBrk="0" hangingPunct="1">
        <a:lnSpc>
          <a:spcPct val="120000"/>
        </a:lnSpc>
        <a:spcBef>
          <a:spcPts val="500"/>
        </a:spcBef>
        <a:buSzPct val="75000"/>
        <a:buFont typeface="Arial" panose="020B0604020202020204" pitchFamily="34" charset="0"/>
        <a:buChar char="‒"/>
        <a:defRPr sz="2000" kern="1200">
          <a:solidFill>
            <a:schemeClr val="tx1">
              <a:lumMod val="65000"/>
              <a:lumOff val="35000"/>
            </a:schemeClr>
          </a:solidFill>
          <a:latin typeface="微软雅黑" panose="020B0503020204020204" charset="-122"/>
          <a:ea typeface="微软雅黑" panose="020B0503020204020204" charset="-122"/>
          <a:cs typeface="+mn-cs"/>
        </a:defRPr>
      </a:lvl3pPr>
      <a:lvl4pPr marL="1511935" indent="-228600" algn="l" defTabSz="914400" rtl="0" eaLnBrk="1" fontAlgn="auto" latinLnBrk="0" hangingPunct="1">
        <a:lnSpc>
          <a:spcPct val="100000"/>
        </a:lnSpc>
        <a:spcBef>
          <a:spcPts val="500"/>
        </a:spcBef>
        <a:buSzPct val="75000"/>
        <a:buFont typeface="Arial" panose="020B0604020202020204" pitchFamily="34" charset="0"/>
        <a:buChar char="˃"/>
        <a:defRPr sz="1800" kern="1200">
          <a:solidFill>
            <a:schemeClr val="tx1">
              <a:lumMod val="50000"/>
              <a:lumOff val="50000"/>
            </a:schemeClr>
          </a:solidFill>
          <a:latin typeface="微软雅黑" panose="020B0503020204020204" charset="-122"/>
          <a:ea typeface="微软雅黑" panose="020B0503020204020204" charset="-122"/>
          <a:cs typeface="+mn-cs"/>
        </a:defRPr>
      </a:lvl4pPr>
      <a:lvl5pPr marL="1943735" indent="-228600" algn="l" defTabSz="914400" rtl="0" eaLnBrk="1" fontAlgn="auto" latinLnBrk="0" hangingPunct="1">
        <a:lnSpc>
          <a:spcPct val="90000"/>
        </a:lnSpc>
        <a:spcBef>
          <a:spcPts val="500"/>
        </a:spcBef>
        <a:buSzPct val="75000"/>
        <a:buFont typeface="Arial" panose="020B0604020202020204" pitchFamily="34" charset="0"/>
        <a:buChar char="˃"/>
        <a:defRPr sz="1800" kern="1200">
          <a:solidFill>
            <a:schemeClr val="tx1">
              <a:lumMod val="50000"/>
              <a:lumOff val="50000"/>
            </a:schemeClr>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628650" y="1158875"/>
            <a:ext cx="7886700" cy="3237865"/>
          </a:xfrm>
        </p:spPr>
        <p:txBody>
          <a:bodyPr>
            <a:normAutofit/>
          </a:bodyPr>
          <a:p>
            <a:r>
              <a:rPr lang="zh-CN" altLang="en-US" sz="7200"/>
              <a:t>高级人工智能</a:t>
            </a:r>
            <a:br>
              <a:rPr lang="zh-CN" altLang="en-US" sz="7200"/>
            </a:br>
            <a:br>
              <a:rPr lang="zh-CN" altLang="en-US" sz="7200"/>
            </a:br>
            <a:r>
              <a:rPr lang="zh-CN" altLang="en-US" sz="7200"/>
              <a:t>习题课</a:t>
            </a:r>
            <a:endParaRPr lang="zh-CN" altLang="en-US" sz="7200"/>
          </a:p>
        </p:txBody>
      </p:sp>
      <p:sp>
        <p:nvSpPr>
          <p:cNvPr id="3" name="副标题 2"/>
          <p:cNvSpPr>
            <a:spLocks noGrp="1"/>
          </p:cNvSpPr>
          <p:nvPr>
            <p:ph type="subTitle" idx="1"/>
          </p:nvPr>
        </p:nvSpPr>
        <p:spPr>
          <a:xfrm>
            <a:off x="1957705" y="4972685"/>
            <a:ext cx="5227955" cy="616585"/>
          </a:xfrm>
        </p:spPr>
        <p:txBody>
          <a:bodyPr/>
          <a:p>
            <a:pPr algn="ctr"/>
            <a:r>
              <a:rPr lang="zh-CN" altLang="en-US">
                <a:solidFill>
                  <a:schemeClr val="tx1"/>
                </a:solidFill>
              </a:rPr>
              <a:t>袁雯 章栋</a:t>
            </a:r>
            <a:endParaRPr lang="zh-CN" altLang="en-US">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28650" y="268605"/>
            <a:ext cx="7886700" cy="896620"/>
          </a:xfrm>
        </p:spPr>
        <p:txBody>
          <a:bodyPr/>
          <a:p>
            <a:r>
              <a:rPr lang="zh-CN" altLang="en-US"/>
              <a:t>启发式搜索</a:t>
            </a:r>
            <a:endParaRPr lang="zh-CN" altLang="en-US"/>
          </a:p>
        </p:txBody>
      </p:sp>
      <p:pic>
        <p:nvPicPr>
          <p:cNvPr id="4" name="内容占位符 3"/>
          <p:cNvPicPr>
            <a:picLocks noChangeAspect="1"/>
          </p:cNvPicPr>
          <p:nvPr>
            <p:ph idx="1"/>
          </p:nvPr>
        </p:nvPicPr>
        <p:blipFill>
          <a:blip r:embed="rId1"/>
          <a:stretch>
            <a:fillRect/>
          </a:stretch>
        </p:blipFill>
        <p:spPr>
          <a:xfrm>
            <a:off x="391160" y="2277110"/>
            <a:ext cx="8249285" cy="216217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28650" y="268605"/>
            <a:ext cx="7886700" cy="896620"/>
          </a:xfrm>
        </p:spPr>
        <p:txBody>
          <a:bodyPr/>
          <a:p>
            <a:r>
              <a:rPr lang="zh-CN" altLang="en-US"/>
              <a:t>启发式搜索</a:t>
            </a:r>
            <a:endParaRPr lang="zh-CN" altLang="en-US"/>
          </a:p>
        </p:txBody>
      </p:sp>
      <p:sp>
        <p:nvSpPr>
          <p:cNvPr id="5" name="文本框 4"/>
          <p:cNvSpPr txBox="1"/>
          <p:nvPr/>
        </p:nvSpPr>
        <p:spPr>
          <a:xfrm>
            <a:off x="708660" y="1557020"/>
            <a:ext cx="7726680" cy="4523105"/>
          </a:xfrm>
          <a:prstGeom prst="rect">
            <a:avLst/>
          </a:prstGeom>
          <a:noFill/>
        </p:spPr>
        <p:txBody>
          <a:bodyPr wrap="square" rtlCol="0">
            <a:spAutoFit/>
          </a:bodyPr>
          <a:p>
            <a:pPr>
              <a:lnSpc>
                <a:spcPct val="150000"/>
              </a:lnSpc>
            </a:pPr>
            <a:r>
              <a:rPr lang="en-US" altLang="zh-CN" sz="2400"/>
              <a:t>A</a:t>
            </a:r>
            <a:r>
              <a:rPr lang="zh-CN" altLang="en-US" sz="2400"/>
              <a:t> heuristic function is said to be admissible if it never overestimates the cost of reaching the goal, i.e. the cost it estimates to reach the goal is not higher than the lowest possible cost from the current point in the path.</a:t>
            </a:r>
            <a:endParaRPr lang="zh-CN" altLang="en-US" sz="2400"/>
          </a:p>
          <a:p>
            <a:pPr>
              <a:lnSpc>
                <a:spcPct val="150000"/>
              </a:lnSpc>
            </a:pPr>
            <a:endParaRPr lang="zh-CN" altLang="en-US" sz="2400"/>
          </a:p>
          <a:p>
            <a:pPr>
              <a:lnSpc>
                <a:spcPct val="150000"/>
              </a:lnSpc>
            </a:pPr>
            <a:r>
              <a:rPr lang="zh-CN" altLang="en-US" sz="2400"/>
              <a:t>如果启发式函数从来不高估达到目标的成本，即它估计达到目标的成本不高于从路径的当前点开始的最低可能成本，则称为可允许的启发式函数。</a:t>
            </a:r>
            <a:endParaRPr lang="zh-CN" altLang="en-US" sz="2400"/>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28650" y="268605"/>
            <a:ext cx="7886700" cy="896620"/>
          </a:xfrm>
        </p:spPr>
        <p:txBody>
          <a:bodyPr/>
          <a:p>
            <a:r>
              <a:rPr lang="zh-CN" altLang="en-US">
                <a:sym typeface="+mn-ea"/>
              </a:rPr>
              <a:t>对抗搜索</a:t>
            </a:r>
            <a:endParaRPr lang="zh-CN" altLang="en-US"/>
          </a:p>
        </p:txBody>
      </p:sp>
      <p:pic>
        <p:nvPicPr>
          <p:cNvPr id="4" name="内容占位符 3"/>
          <p:cNvPicPr>
            <a:picLocks noChangeAspect="1"/>
          </p:cNvPicPr>
          <p:nvPr>
            <p:ph idx="1"/>
          </p:nvPr>
        </p:nvPicPr>
        <p:blipFill>
          <a:blip r:embed="rId1"/>
          <a:stretch>
            <a:fillRect/>
          </a:stretch>
        </p:blipFill>
        <p:spPr>
          <a:xfrm>
            <a:off x="628650" y="1917065"/>
            <a:ext cx="7886700" cy="404431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28650" y="268605"/>
            <a:ext cx="7886700" cy="896620"/>
          </a:xfrm>
        </p:spPr>
        <p:txBody>
          <a:bodyPr/>
          <a:p>
            <a:r>
              <a:rPr lang="zh-CN" altLang="en-US">
                <a:sym typeface="+mn-ea"/>
              </a:rPr>
              <a:t>对抗搜索</a:t>
            </a:r>
            <a:endParaRPr lang="zh-CN" altLang="en-US"/>
          </a:p>
        </p:txBody>
      </p:sp>
      <p:sp>
        <p:nvSpPr>
          <p:cNvPr id="3" name="内容占位符 2"/>
          <p:cNvSpPr/>
          <p:nvPr>
            <p:ph idx="1"/>
          </p:nvPr>
        </p:nvSpPr>
        <p:spPr/>
        <p:txBody>
          <a:bodyPr/>
          <a:p>
            <a:pPr marL="0" indent="0">
              <a:buNone/>
            </a:pPr>
            <a:r>
              <a:rPr lang="zh-CN" altLang="en-US"/>
              <a:t>  alpha-beta剪枝是一种搜索算法，用以减少极小化极大算法搜索树的节点数。</a:t>
            </a:r>
            <a:endParaRPr lang="en-US" altLang="zh-CN"/>
          </a:p>
          <a:p>
            <a:pPr marL="0" indent="0">
              <a:buNone/>
            </a:pPr>
            <a:r>
              <a:rPr lang="zh-CN" altLang="en-US"/>
              <a:t>  对于一个</a:t>
            </a:r>
            <a:r>
              <a:rPr lang="en-US" altLang="zh-CN"/>
              <a:t>“</a:t>
            </a:r>
            <a:r>
              <a:rPr lang="zh-CN" altLang="en-US"/>
              <a:t>与</a:t>
            </a:r>
            <a:r>
              <a:rPr lang="en-US" altLang="zh-CN"/>
              <a:t>”</a:t>
            </a:r>
            <a:r>
              <a:rPr lang="zh-CN" altLang="en-US"/>
              <a:t>节点来说，它取当前子节点中的最小倒推值作为它倒推值的上界，成为</a:t>
            </a:r>
            <a:r>
              <a:rPr lang="en-US" altLang="zh-CN"/>
              <a:t>β</a:t>
            </a:r>
            <a:r>
              <a:rPr lang="zh-CN" altLang="en-US"/>
              <a:t>值；</a:t>
            </a:r>
            <a:endParaRPr lang="zh-CN" altLang="en-US"/>
          </a:p>
          <a:p>
            <a:pPr marL="0" indent="0">
              <a:buNone/>
            </a:pPr>
            <a:r>
              <a:rPr lang="zh-CN" altLang="en-US">
                <a:sym typeface="+mn-ea"/>
              </a:rPr>
              <a:t>  对于一个</a:t>
            </a:r>
            <a:r>
              <a:rPr lang="en-US" altLang="zh-CN">
                <a:sym typeface="+mn-ea"/>
              </a:rPr>
              <a:t>“</a:t>
            </a:r>
            <a:r>
              <a:rPr lang="zh-CN" altLang="en-US">
                <a:sym typeface="+mn-ea"/>
              </a:rPr>
              <a:t>或</a:t>
            </a:r>
            <a:r>
              <a:rPr lang="en-US" altLang="zh-CN">
                <a:sym typeface="+mn-ea"/>
              </a:rPr>
              <a:t>”</a:t>
            </a:r>
            <a:r>
              <a:rPr lang="zh-CN" altLang="en-US">
                <a:sym typeface="+mn-ea"/>
              </a:rPr>
              <a:t>节点来说，它取当前子节点中的最大倒推值作为它倒推值的下界，成为</a:t>
            </a:r>
            <a:r>
              <a:rPr lang="en-US" altLang="zh-CN">
                <a:sym typeface="+mn-ea"/>
              </a:rPr>
              <a:t>α</a:t>
            </a:r>
            <a:r>
              <a:rPr lang="zh-CN" altLang="en-US">
                <a:sym typeface="+mn-ea"/>
              </a:rPr>
              <a:t>值；</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28650" y="268605"/>
            <a:ext cx="7886700" cy="896620"/>
          </a:xfrm>
        </p:spPr>
        <p:txBody>
          <a:bodyPr/>
          <a:p>
            <a:r>
              <a:rPr lang="zh-CN" altLang="en-US"/>
              <a:t>决策树</a:t>
            </a:r>
            <a:endParaRPr lang="zh-CN" altLang="en-US"/>
          </a:p>
        </p:txBody>
      </p:sp>
      <p:pic>
        <p:nvPicPr>
          <p:cNvPr id="5" name="图片 4"/>
          <p:cNvPicPr>
            <a:picLocks noChangeAspect="1"/>
          </p:cNvPicPr>
          <p:nvPr/>
        </p:nvPicPr>
        <p:blipFill>
          <a:blip r:embed="rId1"/>
          <a:stretch>
            <a:fillRect/>
          </a:stretch>
        </p:blipFill>
        <p:spPr>
          <a:xfrm>
            <a:off x="643255" y="2040890"/>
            <a:ext cx="7856855" cy="162877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28650" y="268605"/>
            <a:ext cx="7886700" cy="896620"/>
          </a:xfrm>
        </p:spPr>
        <p:txBody>
          <a:bodyPr/>
          <a:p>
            <a:r>
              <a:rPr lang="zh-CN" altLang="en-US"/>
              <a:t>朴素贝叶斯</a:t>
            </a:r>
            <a:endParaRPr lang="zh-CN" altLang="en-US"/>
          </a:p>
        </p:txBody>
      </p:sp>
      <p:pic>
        <p:nvPicPr>
          <p:cNvPr id="6" name="图片 5"/>
          <p:cNvPicPr>
            <a:picLocks noChangeAspect="1"/>
          </p:cNvPicPr>
          <p:nvPr/>
        </p:nvPicPr>
        <p:blipFill>
          <a:blip r:embed="rId1"/>
          <a:stretch>
            <a:fillRect/>
          </a:stretch>
        </p:blipFill>
        <p:spPr>
          <a:xfrm>
            <a:off x="774700" y="1263650"/>
            <a:ext cx="7486650" cy="549592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28650" y="268605"/>
            <a:ext cx="7886700" cy="896620"/>
          </a:xfrm>
        </p:spPr>
        <p:txBody>
          <a:bodyPr/>
          <a:p>
            <a:r>
              <a:rPr lang="zh-CN" altLang="en-US"/>
              <a:t>决策树</a:t>
            </a:r>
            <a:endParaRPr lang="zh-CN" altLang="en-US"/>
          </a:p>
        </p:txBody>
      </p:sp>
      <p:pic>
        <p:nvPicPr>
          <p:cNvPr id="4" name="图片 3"/>
          <p:cNvPicPr>
            <a:picLocks noChangeAspect="1"/>
          </p:cNvPicPr>
          <p:nvPr/>
        </p:nvPicPr>
        <p:blipFill>
          <a:blip r:embed="rId1"/>
          <a:stretch>
            <a:fillRect/>
          </a:stretch>
        </p:blipFill>
        <p:spPr>
          <a:xfrm>
            <a:off x="207010" y="1244600"/>
            <a:ext cx="8390255" cy="551434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28650" y="268605"/>
            <a:ext cx="7886700" cy="896620"/>
          </a:xfrm>
        </p:spPr>
        <p:txBody>
          <a:bodyPr/>
          <a:p>
            <a:r>
              <a:rPr lang="zh-CN" altLang="en-US"/>
              <a:t>贝叶斯定理</a:t>
            </a:r>
            <a:endParaRPr lang="zh-CN" altLang="en-US"/>
          </a:p>
        </p:txBody>
      </p:sp>
      <p:pic>
        <p:nvPicPr>
          <p:cNvPr id="5" name="图片 4"/>
          <p:cNvPicPr>
            <a:picLocks noChangeAspect="1"/>
          </p:cNvPicPr>
          <p:nvPr/>
        </p:nvPicPr>
        <p:blipFill>
          <a:blip r:embed="rId1"/>
          <a:stretch>
            <a:fillRect/>
          </a:stretch>
        </p:blipFill>
        <p:spPr>
          <a:xfrm>
            <a:off x="661670" y="1332230"/>
            <a:ext cx="7821295" cy="53213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28650" y="268605"/>
            <a:ext cx="7886700" cy="896620"/>
          </a:xfrm>
        </p:spPr>
        <p:txBody>
          <a:bodyPr/>
          <a:p>
            <a:r>
              <a:rPr lang="zh-CN" altLang="en-US"/>
              <a:t>马尔可夫决策</a:t>
            </a:r>
            <a:endParaRPr lang="zh-CN" altLang="en-US"/>
          </a:p>
        </p:txBody>
      </p:sp>
      <p:pic>
        <p:nvPicPr>
          <p:cNvPr id="3" name="图片 2"/>
          <p:cNvPicPr>
            <a:picLocks noChangeAspect="1"/>
          </p:cNvPicPr>
          <p:nvPr/>
        </p:nvPicPr>
        <p:blipFill>
          <a:blip r:embed="rId1"/>
          <a:stretch>
            <a:fillRect/>
          </a:stretch>
        </p:blipFill>
        <p:spPr>
          <a:xfrm>
            <a:off x="515620" y="1852295"/>
            <a:ext cx="7999730" cy="347599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474</Words>
  <Application>WPS 演示</Application>
  <PresentationFormat>宽屏</PresentationFormat>
  <Paragraphs>30</Paragraphs>
  <Slides>10</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10</vt:i4>
      </vt:variant>
    </vt:vector>
  </HeadingPairs>
  <TitlesOfParts>
    <vt:vector size="18" baseType="lpstr">
      <vt:lpstr>Arial</vt:lpstr>
      <vt:lpstr>宋体</vt:lpstr>
      <vt:lpstr>Wingdings</vt:lpstr>
      <vt:lpstr>微软雅黑 Light</vt:lpstr>
      <vt:lpstr>微软雅黑</vt:lpstr>
      <vt:lpstr>Arial Unicode MS</vt:lpstr>
      <vt:lpstr>Calibri</vt:lpstr>
      <vt:lpstr>Office 主题</vt:lpstr>
      <vt:lpstr>PowerPoint 演示文稿</vt:lpstr>
      <vt:lpstr>α-β剪枝</vt:lpstr>
      <vt:lpstr>启发式搜索</vt:lpstr>
      <vt:lpstr>PowerPoint 演示文稿</vt:lpstr>
      <vt:lpstr>对抗搜索：α-β剪枝</vt:lpstr>
      <vt:lpstr>对抗搜索</vt:lpstr>
      <vt:lpstr>朴素贝叶斯</vt:lpstr>
      <vt:lpstr>朴素贝叶斯</vt:lpstr>
      <vt:lpstr>决策树</vt:lpstr>
      <vt:lpstr>贝叶斯定理</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YuanWen</cp:lastModifiedBy>
  <cp:revision>144</cp:revision>
  <dcterms:created xsi:type="dcterms:W3CDTF">2017-08-03T09:01:00Z</dcterms:created>
  <dcterms:modified xsi:type="dcterms:W3CDTF">2018-12-17T09:00:51Z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2052-10.1.0.7697</vt:lpwstr>
  </property>
</Properties>
</file>