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82" r:id="rId5"/>
    <p:sldId id="283" r:id="rId6"/>
    <p:sldId id="260" r:id="rId7"/>
    <p:sldId id="360" r:id="rId8"/>
    <p:sldId id="361" r:id="rId9"/>
    <p:sldId id="302" r:id="rId10"/>
    <p:sldId id="259" r:id="rId11"/>
    <p:sldId id="284" r:id="rId12"/>
    <p:sldId id="285" r:id="rId13"/>
    <p:sldId id="286" r:id="rId14"/>
    <p:sldId id="287" r:id="rId15"/>
    <p:sldId id="288" r:id="rId16"/>
    <p:sldId id="264" r:id="rId17"/>
    <p:sldId id="349" r:id="rId18"/>
    <p:sldId id="289" r:id="rId19"/>
    <p:sldId id="265" r:id="rId20"/>
    <p:sldId id="350" r:id="rId21"/>
    <p:sldId id="290" r:id="rId22"/>
    <p:sldId id="339" r:id="rId23"/>
    <p:sldId id="354" r:id="rId24"/>
    <p:sldId id="291" r:id="rId25"/>
    <p:sldId id="271" r:id="rId26"/>
    <p:sldId id="272" r:id="rId27"/>
    <p:sldId id="358" r:id="rId28"/>
    <p:sldId id="353" r:id="rId29"/>
    <p:sldId id="340" r:id="rId30"/>
    <p:sldId id="341" r:id="rId31"/>
    <p:sldId id="342" r:id="rId32"/>
    <p:sldId id="343" r:id="rId33"/>
    <p:sldId id="364" r:id="rId34"/>
    <p:sldId id="363" r:id="rId35"/>
    <p:sldId id="355" r:id="rId36"/>
    <p:sldId id="321" r:id="rId37"/>
    <p:sldId id="345" r:id="rId38"/>
    <p:sldId id="348" r:id="rId39"/>
    <p:sldId id="356" r:id="rId40"/>
    <p:sldId id="357" r:id="rId41"/>
    <p:sldId id="324" r:id="rId42"/>
    <p:sldId id="351" r:id="rId43"/>
    <p:sldId id="326" r:id="rId44"/>
    <p:sldId id="352" r:id="rId45"/>
    <p:sldId id="359" r:id="rId4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194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BAFF06-E8C0-46D0-A77D-8F4220E8D1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502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BE577B-94E5-4139-A83F-C51AC1731C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1076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413750-E0F1-4754-9A4C-FECFD3B781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2563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CF20D9-E961-401B-9949-719AD11DD9F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8664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351B88-61DC-4AAE-B1E4-A75736DF431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4487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F74358-8710-4539-A24A-910EAE9477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3115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42D845-FDBB-4394-91FE-23185FFD43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9749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1B5889-BABA-4C66-8CC5-3C6C88DB736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5222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086B8E-8505-4EFA-AAE7-482683B5EA1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1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2F33D1-9539-4E98-A84D-4125A3D4A22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7369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6F1863-1BE4-4AD5-993D-B0B4407EAC0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8501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E398AC7D-4B7F-4EA5-8571-148569F8D8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8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0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0.w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3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5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7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8.w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://deepmind.com/publications.html" TargetMode="External"/><Relationship Id="rId2" Type="http://schemas.openxmlformats.org/officeDocument/2006/relationships/hyperlink" Target="http://incompleteideas.net/book/the-book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Reinforcement Learning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Chapter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Outline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Concepts</a:t>
            </a:r>
          </a:p>
          <a:p>
            <a:pPr eaLnBrk="1" hangingPunct="1"/>
            <a:r>
              <a:rPr lang="en-US" altLang="zh-CN" dirty="0">
                <a:ea typeface="宋体" pitchFamily="2" charset="-122"/>
              </a:rPr>
              <a:t>Passive Learning</a:t>
            </a:r>
          </a:p>
          <a:p>
            <a:pPr lvl="1" eaLnBrk="1" hangingPunct="1"/>
            <a:r>
              <a:rPr lang="en-US" altLang="zh-CN" dirty="0">
                <a:ea typeface="宋体" pitchFamily="2" charset="-122"/>
              </a:rPr>
              <a:t>DU/ADP/TD</a:t>
            </a:r>
          </a:p>
          <a:p>
            <a:pPr eaLnBrk="1" hangingPunct="1"/>
            <a:r>
              <a:rPr lang="en-US" altLang="zh-CN" dirty="0">
                <a:ea typeface="宋体" pitchFamily="2" charset="-122"/>
              </a:rPr>
              <a:t>Active Learning</a:t>
            </a:r>
          </a:p>
          <a:p>
            <a:pPr lvl="1" eaLnBrk="1" hangingPunct="1"/>
            <a:r>
              <a:rPr lang="en-US" altLang="zh-CN" dirty="0">
                <a:ea typeface="宋体" pitchFamily="2" charset="-122"/>
              </a:rPr>
              <a:t>Exploration vs. Exploitation</a:t>
            </a:r>
          </a:p>
          <a:p>
            <a:pPr lvl="1" eaLnBrk="1" hangingPunct="1"/>
            <a:r>
              <a:rPr lang="en-US" altLang="zh-CN" dirty="0">
                <a:ea typeface="宋体" pitchFamily="2" charset="-122"/>
              </a:rPr>
              <a:t>Q-learning</a:t>
            </a:r>
          </a:p>
          <a:p>
            <a:pPr lvl="1" eaLnBrk="1" hangingPunct="1"/>
            <a:r>
              <a:rPr lang="en-US" altLang="zh-CN" dirty="0">
                <a:ea typeface="宋体" pitchFamily="2" charset="-122"/>
              </a:rPr>
              <a:t>TD-Q Learning</a:t>
            </a:r>
          </a:p>
          <a:p>
            <a:pPr eaLnBrk="1" hangingPunct="1"/>
            <a:r>
              <a:rPr lang="en-US" altLang="zh-CN" dirty="0">
                <a:ea typeface="宋体" pitchFamily="2" charset="-122"/>
              </a:rPr>
              <a:t>Functional</a:t>
            </a:r>
            <a:r>
              <a:rPr lang="zh-CN" altLang="en-US" dirty="0"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Approximation of States</a:t>
            </a:r>
          </a:p>
        </p:txBody>
      </p:sp>
    </p:spTree>
    <p:extLst>
      <p:ext uri="{BB962C8B-B14F-4D97-AF65-F5344CB8AC3E}">
        <p14:creationId xmlns:p14="http://schemas.microsoft.com/office/powerpoint/2010/main" val="2997931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Reinforcement Learning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Reinforcement learning:</a:t>
            </a:r>
          </a:p>
          <a:p>
            <a:pPr lvl="1" eaLnBrk="1" hangingPunct="1"/>
            <a:r>
              <a:rPr lang="en-US" altLang="zh-CN" dirty="0">
                <a:ea typeface="宋体" pitchFamily="2" charset="-122"/>
              </a:rPr>
              <a:t>Learning  as a result of interaction between an agent and the external environment</a:t>
            </a:r>
          </a:p>
          <a:p>
            <a:pPr lvl="1" eaLnBrk="1" hangingPunct="1"/>
            <a:r>
              <a:rPr lang="en-US" altLang="zh-CN" dirty="0">
                <a:ea typeface="宋体" pitchFamily="2" charset="-122"/>
              </a:rPr>
              <a:t>No teacher</a:t>
            </a:r>
          </a:p>
          <a:p>
            <a:pPr lvl="1" eaLnBrk="1" hangingPunct="1"/>
            <a:r>
              <a:rPr lang="en-US" altLang="zh-CN" dirty="0">
                <a:ea typeface="宋体" pitchFamily="2" charset="-122"/>
              </a:rPr>
              <a:t>Learning based on </a:t>
            </a:r>
            <a:r>
              <a:rPr lang="en-US" altLang="zh-CN" i="1" dirty="0">
                <a:ea typeface="宋体" pitchFamily="2" charset="-122"/>
              </a:rPr>
              <a:t>rewards</a:t>
            </a:r>
          </a:p>
          <a:p>
            <a:pPr lvl="1" eaLnBrk="1" hangingPunct="1"/>
            <a:r>
              <a:rPr lang="en-US" altLang="en-US" dirty="0"/>
              <a:t>Goal-oriented learning</a:t>
            </a:r>
            <a:endParaRPr lang="en-US" altLang="zh-CN" dirty="0">
              <a:ea typeface="宋体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itchFamily="2" charset="-122"/>
              </a:rPr>
              <a:t>Examples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itchFamily="2" charset="-122"/>
              </a:rPr>
              <a:t>Game playing: player knows whether it win or lose, but not know how to move at each step</a:t>
            </a:r>
          </a:p>
          <a:p>
            <a:pPr eaLnBrk="1" hangingPunct="1"/>
            <a:endParaRPr lang="en-US" altLang="zh-CN" dirty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RL is learning from interaction</a:t>
            </a:r>
          </a:p>
        </p:txBody>
      </p:sp>
      <p:graphicFrame>
        <p:nvGraphicFramePr>
          <p:cNvPr id="4099" name="Object 4"/>
          <p:cNvGraphicFramePr>
            <a:graphicFrameLocks noGrp="1" noChangeAspect="1"/>
          </p:cNvGraphicFramePr>
          <p:nvPr>
            <p:ph type="body" idx="1"/>
          </p:nvPr>
        </p:nvGraphicFramePr>
        <p:xfrm>
          <a:off x="762000" y="2290763"/>
          <a:ext cx="7772400" cy="3805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" name="位图图像" r:id="rId3" imgW="5076190" imgH="2486372" progId="Paint.Picture">
                  <p:embed/>
                </p:oleObj>
              </mc:Choice>
              <mc:Fallback>
                <p:oleObj name="位图图像" r:id="rId3" imgW="5076190" imgH="2486372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290763"/>
                        <a:ext cx="7772400" cy="3805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D856119E-0FB7-4F44-8503-FC77A9BEFF62}"/>
              </a:ext>
            </a:extLst>
          </p:cNvPr>
          <p:cNvSpPr/>
          <p:nvPr/>
        </p:nvSpPr>
        <p:spPr>
          <a:xfrm>
            <a:off x="3373595" y="2133600"/>
            <a:ext cx="41040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000" dirty="0"/>
              <a:t>stochastic and partially observable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RL model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524000"/>
            <a:ext cx="7696200" cy="404653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Each percept is enough to determine the State(the state is accessible)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The agent can decompose the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reward</a:t>
            </a:r>
            <a:r>
              <a:rPr lang="en-US" altLang="zh-CN" dirty="0">
                <a:ea typeface="宋体" pitchFamily="2" charset="-122"/>
              </a:rPr>
              <a:t> component from a percept.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The agent task: to find a optimal policy, mapping states to actions, that maximize long-run measure of the reinforcement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Can be modeled as an MDP model!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Relation to MDPs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Feedback can be provided at the end of the sequence of actions, or more frequently.</a:t>
            </a:r>
          </a:p>
          <a:p>
            <a:pPr lvl="1" eaLnBrk="1" hangingPunct="1"/>
            <a:r>
              <a:rPr lang="en-US" altLang="zh-CN" dirty="0">
                <a:ea typeface="宋体" pitchFamily="2" charset="-122"/>
              </a:rPr>
              <a:t>Compare chess and ping-pong.</a:t>
            </a:r>
          </a:p>
          <a:p>
            <a:pPr eaLnBrk="1" hangingPunct="1"/>
            <a:r>
              <a:rPr lang="en-US" altLang="zh-CN" dirty="0">
                <a:ea typeface="宋体" pitchFamily="2" charset="-122"/>
              </a:rPr>
              <a:t>No complete model of environment.</a:t>
            </a:r>
          </a:p>
          <a:p>
            <a:pPr lvl="1" eaLnBrk="1" hangingPunct="1"/>
            <a:r>
              <a:rPr lang="en-US" altLang="zh-CN" dirty="0">
                <a:ea typeface="宋体" pitchFamily="2" charset="-122"/>
              </a:rPr>
              <a:t>Transitions may be unknown.</a:t>
            </a:r>
          </a:p>
          <a:p>
            <a:pPr eaLnBrk="1" hangingPunct="1"/>
            <a:r>
              <a:rPr lang="en-US" altLang="zh-CN" dirty="0">
                <a:ea typeface="宋体" pitchFamily="2" charset="-122"/>
              </a:rPr>
              <a:t>Reward function may be unknown.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1FE834-B532-416E-8545-4D575764C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Reinforcement Learning vs. Supervised Learning</a:t>
            </a:r>
            <a:endParaRPr lang="zh-CN" altLang="en-US" sz="2800" dirty="0"/>
          </a:p>
        </p:txBody>
      </p:sp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925FEB79-6EF9-42D3-89D2-FF1954E338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893560"/>
              </p:ext>
            </p:extLst>
          </p:nvPr>
        </p:nvGraphicFramePr>
        <p:xfrm>
          <a:off x="762000" y="1524000"/>
          <a:ext cx="73152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101718162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3982174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971450938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930374825"/>
                    </a:ext>
                  </a:extLst>
                </a:gridCol>
              </a:tblGrid>
              <a:tr h="783025">
                <a:tc>
                  <a:txBody>
                    <a:bodyPr/>
                    <a:lstStyle/>
                    <a:p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训练数据</a:t>
                      </a:r>
                    </a:p>
                    <a:p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输出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训练目标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701265"/>
                  </a:ext>
                </a:extLst>
              </a:tr>
              <a:tr h="1490274">
                <a:tc>
                  <a:txBody>
                    <a:bodyPr/>
                    <a:lstStyle/>
                    <a:p>
                      <a:pPr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en-US" sz="2400" dirty="0"/>
                        <a:t>Supervised Learning </a:t>
                      </a:r>
                    </a:p>
                    <a:p>
                      <a:pPr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en-US" sz="2400" dirty="0"/>
                        <a:t>System</a:t>
                      </a:r>
                    </a:p>
                    <a:p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desired (target) outputs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任务相关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最小化误差</a:t>
                      </a:r>
                      <a:r>
                        <a:rPr lang="en-US" altLang="en-US" sz="1600" dirty="0"/>
                        <a:t>(target output  –  actual output)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984781"/>
                  </a:ext>
                </a:extLst>
              </a:tr>
              <a:tr h="1136649">
                <a:tc>
                  <a:txBody>
                    <a:bodyPr/>
                    <a:lstStyle/>
                    <a:p>
                      <a:pPr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en-US" sz="2400" dirty="0"/>
                        <a:t>RL</a:t>
                      </a:r>
                    </a:p>
                    <a:p>
                      <a:pPr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en-US" sz="2400" dirty="0"/>
                        <a:t>System</a:t>
                      </a:r>
                    </a:p>
                    <a:p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rewards / penalties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动作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最大化</a:t>
                      </a:r>
                      <a:r>
                        <a:rPr lang="en-US" altLang="en-US" sz="2400" dirty="0"/>
                        <a:t>reward 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832326"/>
                  </a:ext>
                </a:extLst>
              </a:tr>
            </a:tbl>
          </a:graphicData>
        </a:graphic>
      </p:graphicFrame>
      <p:sp>
        <p:nvSpPr>
          <p:cNvPr id="24" name="Rectangle 3">
            <a:extLst>
              <a:ext uri="{FF2B5EF4-FFF2-40B4-BE49-F238E27FC236}">
                <a16:creationId xmlns:a16="http://schemas.microsoft.com/office/drawing/2014/main" id="{63F13700-DE80-4969-BD6B-070AB5F03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8975" y="5848350"/>
            <a:ext cx="2111375" cy="889000"/>
          </a:xfrm>
          <a:prstGeom prst="rect">
            <a:avLst/>
          </a:prstGeom>
          <a:solidFill>
            <a:srgbClr val="66FFFF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 anchor="ctr"/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1600" dirty="0"/>
              <a:t>学习系统</a:t>
            </a:r>
            <a:endParaRPr lang="en-US" altLang="en-US" sz="1600" dirty="0"/>
          </a:p>
        </p:txBody>
      </p:sp>
      <p:sp>
        <p:nvSpPr>
          <p:cNvPr id="28" name="Rectangle 7">
            <a:extLst>
              <a:ext uri="{FF2B5EF4-FFF2-40B4-BE49-F238E27FC236}">
                <a16:creationId xmlns:a16="http://schemas.microsoft.com/office/drawing/2014/main" id="{6B2C57BF-072D-4AE9-B3D3-0E27B0CB1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6096000"/>
            <a:ext cx="695702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 dirty="0"/>
              <a:t>输入</a:t>
            </a:r>
            <a:endParaRPr lang="en-US" altLang="en-US" sz="2000" dirty="0"/>
          </a:p>
        </p:txBody>
      </p:sp>
      <p:sp>
        <p:nvSpPr>
          <p:cNvPr id="29" name="Rectangle 8">
            <a:extLst>
              <a:ext uri="{FF2B5EF4-FFF2-40B4-BE49-F238E27FC236}">
                <a16:creationId xmlns:a16="http://schemas.microsoft.com/office/drawing/2014/main" id="{E8883FC7-7E69-48ED-A741-33B211F50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6096000"/>
            <a:ext cx="695702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 dirty="0"/>
              <a:t>输出</a:t>
            </a:r>
            <a:endParaRPr lang="en-US" altLang="en-US" sz="2000" dirty="0"/>
          </a:p>
        </p:txBody>
      </p:sp>
      <p:sp>
        <p:nvSpPr>
          <p:cNvPr id="30" name="Rectangle 9">
            <a:extLst>
              <a:ext uri="{FF2B5EF4-FFF2-40B4-BE49-F238E27FC236}">
                <a16:creationId xmlns:a16="http://schemas.microsoft.com/office/drawing/2014/main" id="{6982F75D-FC90-434B-B0A9-830C9BC22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4337" y="5012655"/>
            <a:ext cx="1208663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 dirty="0"/>
              <a:t>训练数据</a:t>
            </a:r>
            <a:endParaRPr lang="en-US" altLang="en-US" sz="2000" dirty="0"/>
          </a:p>
        </p:txBody>
      </p:sp>
      <p:sp>
        <p:nvSpPr>
          <p:cNvPr id="33" name="箭头: 右 32">
            <a:extLst>
              <a:ext uri="{FF2B5EF4-FFF2-40B4-BE49-F238E27FC236}">
                <a16:creationId xmlns:a16="http://schemas.microsoft.com/office/drawing/2014/main" id="{65693B64-0183-4E6C-AE2F-830C1B4F2FD7}"/>
              </a:ext>
            </a:extLst>
          </p:cNvPr>
          <p:cNvSpPr/>
          <p:nvPr/>
        </p:nvSpPr>
        <p:spPr>
          <a:xfrm>
            <a:off x="2286000" y="6324600"/>
            <a:ext cx="841752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箭头: 右 34">
            <a:extLst>
              <a:ext uri="{FF2B5EF4-FFF2-40B4-BE49-F238E27FC236}">
                <a16:creationId xmlns:a16="http://schemas.microsoft.com/office/drawing/2014/main" id="{70A74ECF-E62A-4A6C-A15F-AD016658BE7A}"/>
              </a:ext>
            </a:extLst>
          </p:cNvPr>
          <p:cNvSpPr/>
          <p:nvPr/>
        </p:nvSpPr>
        <p:spPr>
          <a:xfrm flipV="1">
            <a:off x="5411599" y="6247131"/>
            <a:ext cx="841752" cy="457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箭头: 下 36">
            <a:extLst>
              <a:ext uri="{FF2B5EF4-FFF2-40B4-BE49-F238E27FC236}">
                <a16:creationId xmlns:a16="http://schemas.microsoft.com/office/drawing/2014/main" id="{CD859505-F6F3-4930-B6FA-DDA15E878922}"/>
              </a:ext>
            </a:extLst>
          </p:cNvPr>
          <p:cNvSpPr/>
          <p:nvPr/>
        </p:nvSpPr>
        <p:spPr>
          <a:xfrm>
            <a:off x="4244340" y="5368290"/>
            <a:ext cx="45719" cy="4229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4861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568012-64CB-472A-B5BA-18916CA45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RL examples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891D42-3DFD-4905-A9E4-9C98F0401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Grid World (</a:t>
            </a:r>
            <a:r>
              <a:rPr lang="zh-CN" altLang="en-US" dirty="0"/>
              <a:t>机器人房间）</a:t>
            </a:r>
            <a:endParaRPr lang="en-US" altLang="zh-CN" dirty="0"/>
          </a:p>
          <a:p>
            <a:r>
              <a:rPr lang="en-US" altLang="zh-CN" dirty="0"/>
              <a:t>Game playing</a:t>
            </a:r>
          </a:p>
          <a:p>
            <a:r>
              <a:rPr lang="en-US" altLang="en-US" dirty="0"/>
              <a:t>Elevator Dispatching</a:t>
            </a:r>
          </a:p>
          <a:p>
            <a:r>
              <a:rPr lang="en-US" altLang="zh-CN" dirty="0"/>
              <a:t>Robot-soccer</a:t>
            </a:r>
          </a:p>
          <a:p>
            <a:r>
              <a:rPr lang="en-US" altLang="zh-CN" dirty="0"/>
              <a:t>Stock investing</a:t>
            </a:r>
          </a:p>
          <a:p>
            <a:r>
              <a:rPr lang="en-US" altLang="zh-CN" dirty="0"/>
              <a:t>……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0001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439912A0-4812-427A-B701-EFFA86844E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Elevator Dispatching</a:t>
            </a:r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B4769546-8D00-41A9-ADE3-CB3D8C407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1803400"/>
            <a:ext cx="37020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7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b="1"/>
              <a:t>10 floors, 4 elevator cars</a:t>
            </a:r>
          </a:p>
        </p:txBody>
      </p:sp>
      <p:sp>
        <p:nvSpPr>
          <p:cNvPr id="93188" name="Rectangle 4">
            <a:extLst>
              <a:ext uri="{FF2B5EF4-FFF2-40B4-BE49-F238E27FC236}">
                <a16:creationId xmlns:a16="http://schemas.microsoft.com/office/drawing/2014/main" id="{DE51E80C-BE15-40CE-B71C-B772503B4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3900" y="2565400"/>
            <a:ext cx="2298700" cy="2895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189" name="Rectangle 5">
            <a:extLst>
              <a:ext uri="{FF2B5EF4-FFF2-40B4-BE49-F238E27FC236}">
                <a16:creationId xmlns:a16="http://schemas.microsoft.com/office/drawing/2014/main" id="{7A36B3F3-BF6D-4DCD-AE24-1E08F8EC6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1850" y="2673350"/>
            <a:ext cx="330200" cy="2692400"/>
          </a:xfrm>
          <a:prstGeom prst="rect">
            <a:avLst/>
          </a:prstGeom>
          <a:solidFill>
            <a:srgbClr val="C0FEF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190" name="Rectangle 6">
            <a:extLst>
              <a:ext uri="{FF2B5EF4-FFF2-40B4-BE49-F238E27FC236}">
                <a16:creationId xmlns:a16="http://schemas.microsoft.com/office/drawing/2014/main" id="{CB401959-B6BA-4CEB-83FE-1B387502A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3350" y="2673350"/>
            <a:ext cx="330200" cy="2692400"/>
          </a:xfrm>
          <a:prstGeom prst="rect">
            <a:avLst/>
          </a:prstGeom>
          <a:solidFill>
            <a:srgbClr val="C0FEF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191" name="Rectangle 7">
            <a:extLst>
              <a:ext uri="{FF2B5EF4-FFF2-40B4-BE49-F238E27FC236}">
                <a16:creationId xmlns:a16="http://schemas.microsoft.com/office/drawing/2014/main" id="{7567693A-2BD0-4959-A53F-1022F838E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4850" y="2673350"/>
            <a:ext cx="330200" cy="2692400"/>
          </a:xfrm>
          <a:prstGeom prst="rect">
            <a:avLst/>
          </a:prstGeom>
          <a:solidFill>
            <a:srgbClr val="C0FEF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192" name="Rectangle 8">
            <a:extLst>
              <a:ext uri="{FF2B5EF4-FFF2-40B4-BE49-F238E27FC236}">
                <a16:creationId xmlns:a16="http://schemas.microsoft.com/office/drawing/2014/main" id="{7FC5DCE6-152B-4051-B8F2-03E8A5C75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4450" y="2673350"/>
            <a:ext cx="330200" cy="2692400"/>
          </a:xfrm>
          <a:prstGeom prst="rect">
            <a:avLst/>
          </a:prstGeom>
          <a:solidFill>
            <a:srgbClr val="C0FEF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193" name="Rectangle 9">
            <a:extLst>
              <a:ext uri="{FF2B5EF4-FFF2-40B4-BE49-F238E27FC236}">
                <a16:creationId xmlns:a16="http://schemas.microsoft.com/office/drawing/2014/main" id="{40F67DC6-46B4-4CB8-AB16-43499A85D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3200400"/>
            <a:ext cx="203200" cy="355600"/>
          </a:xfrm>
          <a:prstGeom prst="rect">
            <a:avLst/>
          </a:prstGeom>
          <a:solidFill>
            <a:srgbClr val="063DE8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194" name="Rectangle 10">
            <a:extLst>
              <a:ext uri="{FF2B5EF4-FFF2-40B4-BE49-F238E27FC236}">
                <a16:creationId xmlns:a16="http://schemas.microsoft.com/office/drawing/2014/main" id="{4AABFFFC-AAAA-4A83-A396-FB22F362D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700" y="3568700"/>
            <a:ext cx="203200" cy="355600"/>
          </a:xfrm>
          <a:prstGeom prst="rect">
            <a:avLst/>
          </a:prstGeom>
          <a:solidFill>
            <a:srgbClr val="063DE8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195" name="Rectangle 11">
            <a:extLst>
              <a:ext uri="{FF2B5EF4-FFF2-40B4-BE49-F238E27FC236}">
                <a16:creationId xmlns:a16="http://schemas.microsoft.com/office/drawing/2014/main" id="{D6B24B2D-4B16-4D07-8C27-BDBAC90B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844800"/>
            <a:ext cx="203200" cy="355600"/>
          </a:xfrm>
          <a:prstGeom prst="rect">
            <a:avLst/>
          </a:prstGeom>
          <a:solidFill>
            <a:srgbClr val="063DE8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196" name="Rectangle 12">
            <a:extLst>
              <a:ext uri="{FF2B5EF4-FFF2-40B4-BE49-F238E27FC236}">
                <a16:creationId xmlns:a16="http://schemas.microsoft.com/office/drawing/2014/main" id="{6B45A0F8-ACCC-484A-839D-16B2084E8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4610100"/>
            <a:ext cx="203200" cy="355600"/>
          </a:xfrm>
          <a:prstGeom prst="rect">
            <a:avLst/>
          </a:prstGeom>
          <a:solidFill>
            <a:srgbClr val="063DE8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197" name="Rectangle 13">
            <a:extLst>
              <a:ext uri="{FF2B5EF4-FFF2-40B4-BE49-F238E27FC236}">
                <a16:creationId xmlns:a16="http://schemas.microsoft.com/office/drawing/2014/main" id="{3C4A58A6-B451-4782-83A5-F6B2275DF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2743200"/>
            <a:ext cx="3416300" cy="191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3500" tIns="25400" rIns="63500" bIns="25400">
            <a:spAutoFit/>
          </a:bodyPr>
          <a:lstStyle>
            <a:lvl1pPr marL="444500" indent="-444500">
              <a:buBlip>
                <a:blip r:embed="rId2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176213">
              <a:buSzPct val="70000"/>
              <a:buBlip>
                <a:blip r:embed="rId2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1588">
              <a:buSzPct val="55000"/>
              <a:buBlip>
                <a:blip r:embed="rId2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77788"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28575"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285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285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285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285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en-US" altLang="en-US" sz="1600" u="sng" dirty="0"/>
              <a:t>STATES</a:t>
            </a:r>
            <a:r>
              <a:rPr lang="en-US" altLang="en-US" sz="1600" dirty="0"/>
              <a:t>: button states;   positions, directions, and motion states of cars; passengers in cars &amp; in halls</a:t>
            </a:r>
          </a:p>
          <a:p>
            <a:pPr>
              <a:lnSpc>
                <a:spcPct val="85000"/>
              </a:lnSpc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en-US" altLang="en-US" sz="1600" u="sng" dirty="0"/>
              <a:t>ACTIONS</a:t>
            </a:r>
            <a:r>
              <a:rPr lang="en-US" altLang="en-US" sz="1600" dirty="0"/>
              <a:t>:  stop at, or go by, next floor</a:t>
            </a:r>
          </a:p>
          <a:p>
            <a:pPr>
              <a:lnSpc>
                <a:spcPct val="85000"/>
              </a:lnSpc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en-US" altLang="en-US" sz="1600" u="sng" dirty="0"/>
              <a:t>REWARDS</a:t>
            </a:r>
            <a:r>
              <a:rPr lang="en-US" altLang="en-US" sz="1600" dirty="0"/>
              <a:t>: roughly, –1  per time step for each person waiting</a:t>
            </a:r>
            <a:endParaRPr lang="en-US" altLang="en-US" sz="1600" b="1" dirty="0"/>
          </a:p>
        </p:txBody>
      </p:sp>
      <p:sp>
        <p:nvSpPr>
          <p:cNvPr id="93198" name="Rectangle 14">
            <a:extLst>
              <a:ext uri="{FF2B5EF4-FFF2-40B4-BE49-F238E27FC236}">
                <a16:creationId xmlns:a16="http://schemas.microsoft.com/office/drawing/2014/main" id="{FCEC2DCB-11EC-4E89-B533-56BE22843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4700" y="5181600"/>
            <a:ext cx="3811941" cy="286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b="1" dirty="0"/>
              <a:t>Conservatively about 10</a:t>
            </a:r>
            <a:r>
              <a:rPr lang="en-US" altLang="en-US" sz="1800" b="1" baseline="30000" dirty="0"/>
              <a:t>22</a:t>
            </a:r>
            <a:r>
              <a:rPr lang="en-US" altLang="en-US" sz="1800" b="1" dirty="0"/>
              <a:t> states</a:t>
            </a:r>
          </a:p>
        </p:txBody>
      </p:sp>
      <p:sp>
        <p:nvSpPr>
          <p:cNvPr id="93200" name="Rectangle 16">
            <a:extLst>
              <a:ext uri="{FF2B5EF4-FFF2-40B4-BE49-F238E27FC236}">
                <a16:creationId xmlns:a16="http://schemas.microsoft.com/office/drawing/2014/main" id="{025C5D27-0FF1-4B62-A5DD-BCDDCD8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1222375"/>
            <a:ext cx="323215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dirty="0"/>
              <a:t>Crites and </a:t>
            </a:r>
            <a:r>
              <a:rPr lang="en-US" altLang="en-US" dirty="0" err="1"/>
              <a:t>Barto</a:t>
            </a:r>
            <a:r>
              <a:rPr lang="en-US" altLang="en-US" dirty="0"/>
              <a:t>, 1996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Passive Reinforcement Learning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4373563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Assume fully observable environment.</a:t>
            </a:r>
          </a:p>
          <a:p>
            <a:pPr eaLnBrk="1" hangingPunct="1"/>
            <a:r>
              <a:rPr lang="en-US" altLang="zh-CN" dirty="0">
                <a:ea typeface="宋体" pitchFamily="2" charset="-122"/>
              </a:rPr>
              <a:t>Passive learning:</a:t>
            </a:r>
          </a:p>
          <a:p>
            <a:pPr lvl="1" eaLnBrk="1" hangingPunct="1"/>
            <a:r>
              <a:rPr lang="en-US" altLang="zh-CN" dirty="0">
                <a:ea typeface="宋体" pitchFamily="2" charset="-122"/>
              </a:rPr>
              <a:t>Policy is fixed (behavior does not change).</a:t>
            </a:r>
          </a:p>
          <a:p>
            <a:pPr lvl="1" eaLnBrk="1" hangingPunct="1"/>
            <a:r>
              <a:rPr lang="en-US" altLang="zh-CN" dirty="0">
                <a:ea typeface="宋体" pitchFamily="2" charset="-122"/>
              </a:rPr>
              <a:t>The agent learns how good each state is. That is, to learn the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utility</a:t>
            </a:r>
            <a:r>
              <a:rPr lang="en-US" altLang="zh-CN" dirty="0">
                <a:ea typeface="宋体" pitchFamily="2" charset="-122"/>
              </a:rPr>
              <a:t> function</a:t>
            </a:r>
          </a:p>
          <a:p>
            <a:pPr marL="457200" lvl="1" indent="0" eaLnBrk="1" hangingPunct="1">
              <a:buNone/>
            </a:pPr>
            <a:r>
              <a:rPr lang="en-US" altLang="zh-CN" dirty="0">
                <a:ea typeface="宋体" pitchFamily="2" charset="-122"/>
              </a:rPr>
              <a:t>                     </a:t>
            </a:r>
          </a:p>
          <a:p>
            <a:pPr eaLnBrk="1" hangingPunct="1"/>
            <a:r>
              <a:rPr lang="en-US" altLang="zh-CN" dirty="0">
                <a:ea typeface="宋体" pitchFamily="2" charset="-122"/>
              </a:rPr>
              <a:t>Similar to policy evaluation, but:</a:t>
            </a:r>
          </a:p>
          <a:p>
            <a:pPr lvl="1" eaLnBrk="1" hangingPunct="1"/>
            <a:r>
              <a:rPr lang="en-US" altLang="zh-CN" dirty="0">
                <a:ea typeface="宋体" pitchFamily="2" charset="-122"/>
              </a:rPr>
              <a:t>Transition function and reward function are unknown.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62F2C4C-4E3E-4445-A28F-3A17D14C98EF}"/>
              </a:ext>
            </a:extLst>
          </p:cNvPr>
          <p:cNvSpPr/>
          <p:nvPr/>
        </p:nvSpPr>
        <p:spPr>
          <a:xfrm>
            <a:off x="3276600" y="4431268"/>
            <a:ext cx="43396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dirty="0">
                <a:ea typeface="宋体" pitchFamily="2" charset="-122"/>
              </a:rPr>
              <a:t>Also called </a:t>
            </a:r>
            <a:r>
              <a:rPr lang="en-US" altLang="zh-CN" sz="1800" dirty="0">
                <a:solidFill>
                  <a:srgbClr val="FF0000"/>
                </a:solidFill>
                <a:ea typeface="宋体" pitchFamily="2" charset="-122"/>
              </a:rPr>
              <a:t>value</a:t>
            </a:r>
            <a:r>
              <a:rPr lang="en-US" altLang="zh-CN" sz="1800" dirty="0">
                <a:ea typeface="宋体" pitchFamily="2" charset="-122"/>
              </a:rPr>
              <a:t> function in many books</a:t>
            </a:r>
            <a:endParaRPr lang="zh-CN" alt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Example environment</a:t>
            </a:r>
          </a:p>
        </p:txBody>
      </p:sp>
      <p:graphicFrame>
        <p:nvGraphicFramePr>
          <p:cNvPr id="9219" name="Object 3"/>
          <p:cNvGraphicFramePr>
            <a:graphicFrameLocks noGrp="1" noChangeAspect="1"/>
          </p:cNvGraphicFramePr>
          <p:nvPr>
            <p:ph type="body" idx="1"/>
          </p:nvPr>
        </p:nvGraphicFramePr>
        <p:xfrm>
          <a:off x="2087563" y="2085975"/>
          <a:ext cx="4679950" cy="321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4" name="位图图像" r:id="rId3" imgW="4676190" imgH="3533333" progId="Paint.Picture">
                  <p:embed/>
                </p:oleObj>
              </mc:Choice>
              <mc:Fallback>
                <p:oleObj name="位图图像" r:id="rId3" imgW="4676190" imgH="3533333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563" y="2085975"/>
                        <a:ext cx="4679950" cy="321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Passive learning scenario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80010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itchFamily="2" charset="-122"/>
              </a:rPr>
              <a:t>Agent executes trials in the environment using its policy (Monte Carlo method)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itchFamily="2" charset="-122"/>
              </a:rPr>
              <a:t>The agent see the sequences of state transitions and associated rewards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itchFamily="2" charset="-122"/>
              </a:rPr>
              <a:t>The environment generates state transitions and the agent perceive them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dirty="0" err="1">
                <a:ea typeface="宋体" pitchFamily="2" charset="-122"/>
              </a:rPr>
              <a:t>e.g</a:t>
            </a:r>
            <a:r>
              <a:rPr lang="en-US" altLang="zh-CN" sz="2000" dirty="0">
                <a:ea typeface="宋体" pitchFamily="2" charset="-122"/>
              </a:rPr>
              <a:t>  </a:t>
            </a:r>
            <a:r>
              <a:rPr lang="en-US" altLang="zh-CN" sz="1800" dirty="0">
                <a:ea typeface="宋体" pitchFamily="2" charset="-122"/>
              </a:rPr>
              <a:t>(1,1)</a:t>
            </a:r>
            <a:r>
              <a:rPr lang="en-US" altLang="zh-CN" sz="1800" baseline="-25000" dirty="0">
                <a:ea typeface="宋体" pitchFamily="2" charset="-122"/>
              </a:rPr>
              <a:t>-0.04</a:t>
            </a:r>
            <a:r>
              <a:rPr lang="en-US" altLang="zh-CN" sz="1800" dirty="0">
                <a:ea typeface="宋体" pitchFamily="2" charset="-122"/>
              </a:rPr>
              <a:t> </a:t>
            </a:r>
            <a:r>
              <a:rPr lang="en-US" altLang="zh-CN" sz="1800" dirty="0">
                <a:ea typeface="宋体" pitchFamily="2" charset="-122"/>
                <a:sym typeface="Wingdings" pitchFamily="2" charset="2"/>
              </a:rPr>
              <a:t>(1,2)</a:t>
            </a:r>
            <a:r>
              <a:rPr lang="en-US" altLang="zh-CN" sz="1800" baseline="-25000" dirty="0">
                <a:ea typeface="宋体" pitchFamily="2" charset="-122"/>
              </a:rPr>
              <a:t> -0.04</a:t>
            </a:r>
            <a:r>
              <a:rPr lang="en-US" altLang="zh-CN" sz="1800" dirty="0">
                <a:ea typeface="宋体" pitchFamily="2" charset="-122"/>
                <a:sym typeface="Wingdings" pitchFamily="2" charset="2"/>
              </a:rPr>
              <a:t> (1,3)</a:t>
            </a:r>
            <a:r>
              <a:rPr lang="en-US" altLang="zh-CN" sz="1800" baseline="-25000" dirty="0">
                <a:ea typeface="宋体" pitchFamily="2" charset="-122"/>
              </a:rPr>
              <a:t> -0.04</a:t>
            </a:r>
            <a:r>
              <a:rPr lang="en-US" altLang="zh-CN" sz="1800" dirty="0">
                <a:ea typeface="宋体" pitchFamily="2" charset="-122"/>
                <a:sym typeface="Wingdings" pitchFamily="2" charset="2"/>
              </a:rPr>
              <a:t> (2,3)</a:t>
            </a:r>
            <a:r>
              <a:rPr lang="en-US" altLang="zh-CN" sz="1800" baseline="-25000" dirty="0">
                <a:ea typeface="宋体" pitchFamily="2" charset="-122"/>
              </a:rPr>
              <a:t> -0.04</a:t>
            </a:r>
            <a:r>
              <a:rPr lang="en-US" altLang="zh-CN" sz="1800" dirty="0">
                <a:ea typeface="宋体" pitchFamily="2" charset="-122"/>
                <a:sym typeface="Wingdings" pitchFamily="2" charset="2"/>
              </a:rPr>
              <a:t> (3,3)</a:t>
            </a:r>
            <a:r>
              <a:rPr lang="en-US" altLang="zh-CN" sz="1800" baseline="-25000" dirty="0">
                <a:ea typeface="宋体" pitchFamily="2" charset="-122"/>
              </a:rPr>
              <a:t> -0.04</a:t>
            </a:r>
            <a:r>
              <a:rPr lang="en-US" altLang="zh-CN" sz="1800" dirty="0">
                <a:ea typeface="宋体" pitchFamily="2" charset="-122"/>
                <a:sym typeface="Wingdings" pitchFamily="2" charset="2"/>
              </a:rPr>
              <a:t> (4,3)[</a:t>
            </a:r>
            <a:r>
              <a:rPr lang="en-US" altLang="zh-CN" sz="1800" b="1" dirty="0">
                <a:ea typeface="宋体" pitchFamily="2" charset="-122"/>
                <a:sym typeface="Wingdings" pitchFamily="2" charset="2"/>
              </a:rPr>
              <a:t>+1</a:t>
            </a:r>
            <a:r>
              <a:rPr lang="en-US" altLang="zh-CN" sz="1800" dirty="0">
                <a:ea typeface="宋体" pitchFamily="2" charset="-122"/>
                <a:sym typeface="Wingdings" pitchFamily="2" charset="2"/>
              </a:rPr>
              <a:t>]</a:t>
            </a:r>
            <a:r>
              <a:rPr lang="en-US" altLang="zh-CN" sz="2000" dirty="0">
                <a:ea typeface="宋体" pitchFamily="2" charset="-122"/>
              </a:rPr>
              <a:t> </a:t>
            </a:r>
          </a:p>
          <a:p>
            <a:pPr lvl="3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sz="1800" dirty="0">
              <a:ea typeface="宋体" pitchFamily="2" charset="-122"/>
            </a:endParaRPr>
          </a:p>
          <a:p>
            <a:pPr lvl="3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800" dirty="0">
                <a:ea typeface="宋体" pitchFamily="2" charset="-122"/>
              </a:rPr>
              <a:t> (1,1)</a:t>
            </a:r>
            <a:r>
              <a:rPr lang="en-US" altLang="zh-CN" sz="1800" baseline="-25000" dirty="0">
                <a:ea typeface="宋体" pitchFamily="2" charset="-122"/>
              </a:rPr>
              <a:t> -0.04</a:t>
            </a:r>
            <a:r>
              <a:rPr lang="en-US" altLang="zh-CN" sz="1800" dirty="0">
                <a:ea typeface="宋体" pitchFamily="2" charset="-122"/>
                <a:sym typeface="Wingdings" pitchFamily="2" charset="2"/>
              </a:rPr>
              <a:t>(1,2)</a:t>
            </a:r>
            <a:r>
              <a:rPr lang="en-US" altLang="zh-CN" sz="1800" baseline="-25000" dirty="0">
                <a:ea typeface="宋体" pitchFamily="2" charset="-122"/>
              </a:rPr>
              <a:t> -0.04</a:t>
            </a:r>
            <a:r>
              <a:rPr lang="en-US" altLang="zh-CN" sz="1800" dirty="0">
                <a:ea typeface="宋体" pitchFamily="2" charset="-122"/>
                <a:sym typeface="Wingdings" pitchFamily="2" charset="2"/>
              </a:rPr>
              <a:t> (1,3)</a:t>
            </a:r>
            <a:r>
              <a:rPr lang="en-US" altLang="zh-CN" sz="1800" baseline="-25000" dirty="0">
                <a:ea typeface="宋体" pitchFamily="2" charset="-122"/>
              </a:rPr>
              <a:t> -0.04</a:t>
            </a:r>
            <a:r>
              <a:rPr lang="en-US" altLang="zh-CN" sz="1800" dirty="0">
                <a:ea typeface="宋体" pitchFamily="2" charset="-122"/>
                <a:sym typeface="Wingdings" pitchFamily="2" charset="2"/>
              </a:rPr>
              <a:t> (1,2)</a:t>
            </a:r>
            <a:r>
              <a:rPr lang="en-US" altLang="zh-CN" sz="1800" baseline="-25000" dirty="0">
                <a:ea typeface="宋体" pitchFamily="2" charset="-122"/>
              </a:rPr>
              <a:t> -0.04</a:t>
            </a:r>
            <a:r>
              <a:rPr lang="en-US" altLang="zh-CN" sz="1800" dirty="0">
                <a:ea typeface="宋体" pitchFamily="2" charset="-122"/>
                <a:sym typeface="Wingdings" pitchFamily="2" charset="2"/>
              </a:rPr>
              <a:t> (1,3)</a:t>
            </a:r>
            <a:r>
              <a:rPr lang="en-US" altLang="zh-CN" sz="1800" baseline="-25000" dirty="0">
                <a:ea typeface="宋体" pitchFamily="2" charset="-122"/>
              </a:rPr>
              <a:t> -0.04</a:t>
            </a:r>
            <a:r>
              <a:rPr lang="en-US" altLang="zh-CN" sz="1800" dirty="0">
                <a:ea typeface="宋体" pitchFamily="2" charset="-122"/>
                <a:sym typeface="Wingdings" pitchFamily="2" charset="2"/>
              </a:rPr>
              <a:t> (1,2)</a:t>
            </a:r>
            <a:r>
              <a:rPr lang="en-US" altLang="zh-CN" sz="1800" baseline="-25000" dirty="0">
                <a:ea typeface="宋体" pitchFamily="2" charset="-122"/>
              </a:rPr>
              <a:t> -0.04</a:t>
            </a:r>
            <a:r>
              <a:rPr lang="en-US" altLang="zh-CN" sz="1800" dirty="0">
                <a:ea typeface="宋体" pitchFamily="2" charset="-122"/>
                <a:sym typeface="Wingdings" pitchFamily="2" charset="2"/>
              </a:rPr>
              <a:t> (1,1)</a:t>
            </a:r>
            <a:r>
              <a:rPr lang="en-US" altLang="zh-CN" sz="1800" baseline="-25000" dirty="0">
                <a:ea typeface="宋体" pitchFamily="2" charset="-122"/>
              </a:rPr>
              <a:t> -0.04</a:t>
            </a:r>
            <a:r>
              <a:rPr lang="en-US" altLang="zh-CN" sz="1800" dirty="0">
                <a:ea typeface="宋体" pitchFamily="2" charset="-122"/>
                <a:sym typeface="Wingdings" pitchFamily="2" charset="2"/>
              </a:rPr>
              <a:t> (2,1)</a:t>
            </a:r>
            <a:r>
              <a:rPr lang="en-US" altLang="zh-CN" sz="1800" baseline="-25000" dirty="0">
                <a:ea typeface="宋体" pitchFamily="2" charset="-122"/>
              </a:rPr>
              <a:t> -0.04</a:t>
            </a:r>
            <a:r>
              <a:rPr lang="en-US" altLang="zh-CN" sz="1800" dirty="0">
                <a:ea typeface="宋体" pitchFamily="2" charset="-122"/>
                <a:sym typeface="Wingdings" pitchFamily="2" charset="2"/>
              </a:rPr>
              <a:t> (3,1)</a:t>
            </a:r>
            <a:r>
              <a:rPr lang="en-US" altLang="zh-CN" sz="1800" baseline="-25000" dirty="0">
                <a:ea typeface="宋体" pitchFamily="2" charset="-122"/>
              </a:rPr>
              <a:t> -0.04</a:t>
            </a:r>
            <a:r>
              <a:rPr lang="en-US" altLang="zh-CN" sz="1800" dirty="0">
                <a:ea typeface="宋体" pitchFamily="2" charset="-122"/>
                <a:sym typeface="Wingdings" pitchFamily="2" charset="2"/>
              </a:rPr>
              <a:t> (4,1)</a:t>
            </a:r>
            <a:r>
              <a:rPr lang="en-US" altLang="zh-CN" sz="1800" baseline="-25000" dirty="0">
                <a:ea typeface="宋体" pitchFamily="2" charset="-122"/>
              </a:rPr>
              <a:t> -0.04</a:t>
            </a:r>
            <a:r>
              <a:rPr lang="en-US" altLang="zh-CN" sz="1800" dirty="0">
                <a:ea typeface="宋体" pitchFamily="2" charset="-122"/>
                <a:sym typeface="Wingdings" pitchFamily="2" charset="2"/>
              </a:rPr>
              <a:t> (4,2)[</a:t>
            </a:r>
            <a:r>
              <a:rPr lang="en-US" altLang="zh-CN" sz="1800" b="1" dirty="0">
                <a:ea typeface="宋体" pitchFamily="2" charset="-122"/>
                <a:sym typeface="Wingdings" pitchFamily="2" charset="2"/>
              </a:rPr>
              <a:t>-1</a:t>
            </a:r>
            <a:r>
              <a:rPr lang="en-US" altLang="zh-CN" sz="1800" dirty="0">
                <a:ea typeface="宋体" pitchFamily="2" charset="-122"/>
                <a:sym typeface="Wingdings" pitchFamily="2" charset="2"/>
              </a:rPr>
              <a:t>]</a:t>
            </a:r>
            <a:endParaRPr lang="en-US" altLang="zh-CN" sz="1800" b="1" u="sng" dirty="0">
              <a:ea typeface="宋体" pitchFamily="2" charset="-122"/>
              <a:sym typeface="Wingdings" pitchFamily="2" charset="2"/>
            </a:endParaRP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b="1" u="sng" dirty="0">
                <a:ea typeface="宋体" pitchFamily="2" charset="-122"/>
                <a:sym typeface="Wingdings" pitchFamily="2" charset="2"/>
              </a:rPr>
              <a:t>           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ea typeface="宋体" pitchFamily="2" charset="-122"/>
              </a:rPr>
              <a:t>Key idea: updating the utility value using the given training sequences.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>
                <a:ea typeface="宋体" pitchFamily="2" charset="-122"/>
              </a:rPr>
              <a:t>Direct Utility Estimation</a:t>
            </a:r>
          </a:p>
        </p:txBody>
      </p:sp>
      <p:sp>
        <p:nvSpPr>
          <p:cNvPr id="11267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143000" y="1752600"/>
            <a:ext cx="7315200" cy="4724400"/>
          </a:xfrm>
        </p:spPr>
        <p:txBody>
          <a:bodyPr/>
          <a:lstStyle/>
          <a:p>
            <a:pPr eaLnBrk="1" hangingPunct="1"/>
            <a:r>
              <a:rPr lang="en-US" altLang="zh-CN" sz="2800" b="1" i="1" dirty="0">
                <a:ea typeface="宋体" pitchFamily="2" charset="-122"/>
              </a:rPr>
              <a:t>Reward to go[</a:t>
            </a:r>
            <a:r>
              <a:rPr lang="zh-CN" altLang="en-US" sz="2800" b="1" i="1" dirty="0">
                <a:ea typeface="宋体" pitchFamily="2" charset="-122"/>
              </a:rPr>
              <a:t>累计奖励</a:t>
            </a:r>
            <a:r>
              <a:rPr lang="en-US" altLang="zh-CN" sz="2800" b="1" i="1" dirty="0">
                <a:ea typeface="宋体" pitchFamily="2" charset="-122"/>
              </a:rPr>
              <a:t>] </a:t>
            </a:r>
            <a:r>
              <a:rPr lang="en-US" altLang="zh-CN" sz="2800" dirty="0">
                <a:ea typeface="宋体" pitchFamily="2" charset="-122"/>
              </a:rPr>
              <a:t>of a state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i="1" dirty="0">
                <a:ea typeface="宋体" pitchFamily="2" charset="-122"/>
              </a:rPr>
              <a:t>    </a:t>
            </a:r>
            <a:r>
              <a:rPr lang="en-US" altLang="zh-CN" sz="2800" dirty="0">
                <a:ea typeface="宋体" pitchFamily="2" charset="-122"/>
              </a:rPr>
              <a:t>the sum of the rewards from  that state until a terminal state is reached</a:t>
            </a:r>
            <a:endParaRPr lang="en-US" altLang="zh-CN" sz="2800" b="1" i="1" dirty="0">
              <a:ea typeface="宋体" pitchFamily="2" charset="-122"/>
            </a:endParaRPr>
          </a:p>
          <a:p>
            <a:pPr eaLnBrk="1" hangingPunct="1"/>
            <a:r>
              <a:rPr lang="en-US" altLang="zh-CN" sz="2800" dirty="0">
                <a:ea typeface="宋体" pitchFamily="2" charset="-122"/>
              </a:rPr>
              <a:t>idea: use observed </a:t>
            </a:r>
            <a:r>
              <a:rPr lang="en-US" altLang="zh-CN" sz="2800" b="1" i="1" dirty="0">
                <a:ea typeface="宋体" pitchFamily="2" charset="-122"/>
              </a:rPr>
              <a:t>reward to go</a:t>
            </a:r>
            <a:r>
              <a:rPr lang="en-US" altLang="zh-CN" sz="2800" dirty="0">
                <a:ea typeface="宋体" pitchFamily="2" charset="-122"/>
              </a:rPr>
              <a:t> of the state as the direct evidence of the actual expected utility of that state</a:t>
            </a:r>
          </a:p>
          <a:p>
            <a:pPr eaLnBrk="1" hangingPunct="1"/>
            <a:r>
              <a:rPr lang="en-US" altLang="zh-CN" sz="2800" dirty="0">
                <a:ea typeface="宋体" pitchFamily="2" charset="-122"/>
              </a:rPr>
              <a:t>Learning utility function directly from </a:t>
            </a:r>
            <a:r>
              <a:rPr lang="en-US" altLang="zh-CN" sz="2800" i="1" dirty="0">
                <a:ea typeface="宋体" pitchFamily="2" charset="-122"/>
              </a:rPr>
              <a:t>trials</a:t>
            </a:r>
          </a:p>
          <a:p>
            <a:pPr eaLnBrk="1" hangingPunct="1"/>
            <a:r>
              <a:rPr lang="en-US" altLang="zh-CN" sz="2800" dirty="0">
                <a:ea typeface="宋体" pitchFamily="2" charset="-122"/>
              </a:rPr>
              <a:t>Similar to inductive learning:</a:t>
            </a:r>
          </a:p>
          <a:p>
            <a:pPr lvl="1" eaLnBrk="1" hangingPunct="1"/>
            <a:r>
              <a:rPr lang="en-US" altLang="zh-CN" sz="2400" dirty="0">
                <a:ea typeface="宋体" pitchFamily="2" charset="-122"/>
              </a:rPr>
              <a:t>Learning a function on states using samples.</a:t>
            </a:r>
          </a:p>
          <a:p>
            <a:pPr eaLnBrk="1" hangingPunct="1"/>
            <a:endParaRPr lang="en-US" altLang="zh-CN" sz="2400" dirty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DU updating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buFont typeface="Wingdings" pitchFamily="2" charset="2"/>
              <a:buNone/>
            </a:pPr>
            <a:r>
              <a:rPr lang="en-US" altLang="zh-CN" sz="2000" b="1" dirty="0">
                <a:latin typeface="Times New Roman" pitchFamily="18" charset="0"/>
                <a:ea typeface="宋体" pitchFamily="2" charset="-122"/>
              </a:rPr>
              <a:t>function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 DU-UPDATE (</a:t>
            </a:r>
            <a:r>
              <a:rPr lang="en-US" altLang="zh-CN" sz="2000" i="1" dirty="0">
                <a:latin typeface="Times New Roman" pitchFamily="18" charset="0"/>
                <a:ea typeface="宋体" pitchFamily="2" charset="-122"/>
              </a:rPr>
              <a:t>U, trial, N 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) 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</a:rPr>
              <a:t>return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 an updated </a:t>
            </a:r>
            <a:r>
              <a:rPr lang="en-US" altLang="zh-CN" sz="2000" i="1" dirty="0">
                <a:latin typeface="Times New Roman" pitchFamily="18" charset="0"/>
                <a:ea typeface="宋体" pitchFamily="2" charset="-122"/>
              </a:rPr>
              <a:t>U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 { </a:t>
            </a:r>
            <a:r>
              <a:rPr lang="en-US" altLang="zh-CN" sz="2000" i="1" dirty="0">
                <a:latin typeface="Times New Roman" pitchFamily="18" charset="0"/>
                <a:ea typeface="宋体" pitchFamily="2" charset="-122"/>
              </a:rPr>
              <a:t>reward-to-go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 0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000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 	 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for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 each s</a:t>
            </a:r>
            <a:r>
              <a:rPr lang="en-US" altLang="zh-CN" sz="2000" i="1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 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in trials (starting from end) do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000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		N[s]++</a:t>
            </a:r>
            <a:r>
              <a:rPr lang="zh-CN" altLang="en-US" sz="2000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；</a:t>
            </a:r>
            <a:endParaRPr lang="en-US" altLang="zh-CN" sz="2000" dirty="0">
              <a:latin typeface="Times New Roman" pitchFamily="18" charset="0"/>
              <a:ea typeface="宋体" pitchFamily="2" charset="-122"/>
              <a:sym typeface="Wingdings" pitchFamily="2" charset="2"/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000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		</a:t>
            </a:r>
            <a:r>
              <a:rPr lang="en-US" altLang="zh-CN" sz="2000" i="1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reward-to-go 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 </a:t>
            </a:r>
            <a:r>
              <a:rPr lang="en-US" altLang="zh-CN" sz="2000" i="1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reward-to-go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 + REWARS[</a:t>
            </a:r>
            <a:r>
              <a:rPr lang="en-US" altLang="zh-CN" sz="2000" i="1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s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]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000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		</a:t>
            </a:r>
            <a:r>
              <a:rPr lang="en-US" altLang="zh-CN" sz="2000" i="1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U[s]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 = RUNNING-AVERAGE (</a:t>
            </a:r>
            <a:r>
              <a:rPr lang="en-US" altLang="zh-CN" sz="2000" i="1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U[s], reward-to-go, N[s]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000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		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end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000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   }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000" b="1" dirty="0">
                <a:latin typeface="Times New Roman" pitchFamily="18" charset="0"/>
                <a:ea typeface="宋体" pitchFamily="2" charset="-122"/>
              </a:rPr>
              <a:t>function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 RUNNING-AVERAGE (</a:t>
            </a:r>
            <a:r>
              <a:rPr lang="en-US" altLang="zh-CN" sz="2000" i="1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U[s], reward-to-go, N[s]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 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 	 </a:t>
            </a:r>
            <a:r>
              <a:rPr lang="en-US" altLang="zh-CN" sz="2000" i="1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U[s] = 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[ </a:t>
            </a:r>
            <a:r>
              <a:rPr lang="en-US" altLang="zh-CN" sz="2000" i="1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U[s] * (N[s] – 1) + reward-to-go ] 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/ </a:t>
            </a:r>
            <a:r>
              <a:rPr lang="en-US" altLang="zh-CN" sz="2000" i="1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N[s]</a:t>
            </a:r>
            <a:endParaRPr lang="en-US" altLang="zh-CN" dirty="0"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DU updating algorithm in passive learning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828800"/>
            <a:ext cx="7848600" cy="4724400"/>
          </a:xfrm>
        </p:spPr>
        <p:txBody>
          <a:bodyPr/>
          <a:lstStyle/>
          <a:p>
            <a:pPr eaLnBrk="1" hangingPunct="1"/>
            <a:endParaRPr lang="en-US" altLang="zh-CN" sz="1800">
              <a:ea typeface="宋体" pitchFamily="2" charset="-122"/>
            </a:endParaRPr>
          </a:p>
          <a:p>
            <a:pPr eaLnBrk="1" hangingPunct="1"/>
            <a:endParaRPr lang="en-US" altLang="zh-CN" sz="1800">
              <a:ea typeface="宋体" pitchFamily="2" charset="-122"/>
            </a:endParaRPr>
          </a:p>
          <a:p>
            <a:pPr eaLnBrk="1" hangingPunct="1"/>
            <a:endParaRPr lang="en-US" altLang="zh-CN" sz="1800">
              <a:ea typeface="宋体" pitchFamily="2" charset="-122"/>
            </a:endParaRPr>
          </a:p>
          <a:p>
            <a:pPr eaLnBrk="1" hangingPunct="1"/>
            <a:endParaRPr lang="en-US" altLang="zh-CN" sz="1800">
              <a:ea typeface="宋体" pitchFamily="2" charset="-122"/>
            </a:endParaRPr>
          </a:p>
          <a:p>
            <a:pPr eaLnBrk="1" hangingPunct="1"/>
            <a:endParaRPr lang="en-US" altLang="zh-CN" sz="1800">
              <a:ea typeface="宋体" pitchFamily="2" charset="-122"/>
            </a:endParaRPr>
          </a:p>
          <a:p>
            <a:pPr eaLnBrk="1" hangingPunct="1"/>
            <a:endParaRPr lang="en-US" altLang="zh-CN" sz="1800">
              <a:ea typeface="宋体" pitchFamily="2" charset="-122"/>
            </a:endParaRPr>
          </a:p>
          <a:p>
            <a:pPr eaLnBrk="1" hangingPunct="1"/>
            <a:endParaRPr lang="en-US" altLang="zh-CN" sz="1800">
              <a:ea typeface="宋体" pitchFamily="2" charset="-122"/>
            </a:endParaRPr>
          </a:p>
          <a:p>
            <a:pPr eaLnBrk="1" hangingPunct="1"/>
            <a:endParaRPr lang="en-US" altLang="zh-CN" sz="1800">
              <a:ea typeface="宋体" pitchFamily="2" charset="-122"/>
            </a:endParaRPr>
          </a:p>
          <a:p>
            <a:pPr eaLnBrk="1" hangingPunct="1"/>
            <a:endParaRPr lang="en-US" altLang="zh-CN" sz="1800">
              <a:ea typeface="宋体" pitchFamily="2" charset="-122"/>
            </a:endParaRPr>
          </a:p>
          <a:p>
            <a:pPr eaLnBrk="1" hangingPunct="1"/>
            <a:endParaRPr lang="en-US" altLang="zh-CN" sz="1800">
              <a:ea typeface="宋体" pitchFamily="2" charset="-122"/>
            </a:endParaRPr>
          </a:p>
          <a:p>
            <a:pPr eaLnBrk="1" hangingPunct="1"/>
            <a:endParaRPr lang="en-US" altLang="zh-CN" sz="1800">
              <a:ea typeface="宋体" pitchFamily="2" charset="-122"/>
            </a:endParaRPr>
          </a:p>
          <a:p>
            <a:pPr eaLnBrk="1" hangingPunct="1"/>
            <a:r>
              <a:rPr lang="en-US" altLang="zh-CN" sz="1800">
                <a:ea typeface="宋体" pitchFamily="2" charset="-122"/>
              </a:rPr>
              <a:t>Drawback:</a:t>
            </a:r>
          </a:p>
          <a:p>
            <a:pPr lvl="1" eaLnBrk="1" hangingPunct="1"/>
            <a:r>
              <a:rPr lang="en-US" altLang="zh-CN" sz="1600">
                <a:ea typeface="宋体" pitchFamily="2" charset="-122"/>
              </a:rPr>
              <a:t>Ignores correlations between utilities of neighboring states.</a:t>
            </a:r>
          </a:p>
          <a:p>
            <a:pPr lvl="1" eaLnBrk="1" hangingPunct="1"/>
            <a:r>
              <a:rPr lang="en-US" altLang="zh-CN" sz="1600">
                <a:ea typeface="宋体" pitchFamily="2" charset="-122"/>
              </a:rPr>
              <a:t>Converge very slowly to correct utilities values (requires a lot of sequences)</a:t>
            </a:r>
          </a:p>
          <a:p>
            <a:pPr lvl="2" eaLnBrk="1" hangingPunct="1"/>
            <a:r>
              <a:rPr lang="en-US" altLang="zh-CN" sz="1400">
                <a:ea typeface="宋体" pitchFamily="2" charset="-122"/>
              </a:rPr>
              <a:t> </a:t>
            </a:r>
            <a:r>
              <a:rPr lang="en-US" altLang="zh-CN" sz="1400" i="1">
                <a:ea typeface="宋体" pitchFamily="2" charset="-122"/>
              </a:rPr>
              <a:t>for our example, &gt;1000!</a:t>
            </a:r>
          </a:p>
        </p:txBody>
      </p:sp>
      <p:graphicFrame>
        <p:nvGraphicFramePr>
          <p:cNvPr id="13316" name="Object 5"/>
          <p:cNvGraphicFramePr>
            <a:graphicFrameLocks noChangeAspect="1"/>
          </p:cNvGraphicFramePr>
          <p:nvPr/>
        </p:nvGraphicFramePr>
        <p:xfrm>
          <a:off x="1295400" y="1828800"/>
          <a:ext cx="6248400" cy="321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1" name="位图图像" r:id="rId3" imgW="5172797" imgH="2723810" progId="Paint.Picture">
                  <p:embed/>
                </p:oleObj>
              </mc:Choice>
              <mc:Fallback>
                <p:oleObj name="位图图像" r:id="rId3" imgW="5172797" imgH="2723810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828800"/>
                        <a:ext cx="6248400" cy="321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Adaptive Dynamic Programming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Learns transitions by ML estimation.</a:t>
            </a:r>
          </a:p>
          <a:p>
            <a:pPr eaLnBrk="1" hangingPunct="1"/>
            <a:r>
              <a:rPr lang="en-US" altLang="zh-CN">
                <a:ea typeface="宋体" pitchFamily="2" charset="-122"/>
              </a:rPr>
              <a:t>Plugs values into Bellman equations.</a:t>
            </a:r>
          </a:p>
          <a:p>
            <a:pPr eaLnBrk="1" hangingPunct="1"/>
            <a:endParaRPr lang="en-US" altLang="zh-CN">
              <a:ea typeface="宋体" pitchFamily="2" charset="-122"/>
            </a:endParaRPr>
          </a:p>
          <a:p>
            <a:pPr eaLnBrk="1" hangingPunct="1"/>
            <a:r>
              <a:rPr lang="en-US" altLang="zh-CN">
                <a:ea typeface="宋体" pitchFamily="2" charset="-122"/>
              </a:rPr>
              <a:t>Solves equations with linear algebra, or policy iteration to get utilities.</a:t>
            </a:r>
          </a:p>
          <a:p>
            <a:pPr eaLnBrk="1" hangingPunct="1"/>
            <a:r>
              <a:rPr lang="en-US" altLang="zh-CN">
                <a:ea typeface="宋体" pitchFamily="2" charset="-122"/>
              </a:rPr>
              <a:t>Problem:</a:t>
            </a:r>
          </a:p>
          <a:p>
            <a:pPr lvl="1" eaLnBrk="1" hangingPunct="1"/>
            <a:r>
              <a:rPr lang="en-US" altLang="zh-CN">
                <a:ea typeface="宋体" pitchFamily="2" charset="-122"/>
              </a:rPr>
              <a:t>Intractable for large number of states</a:t>
            </a:r>
            <a:r>
              <a:rPr lang="zh-CN" altLang="en-US">
                <a:ea typeface="宋体" pitchFamily="2" charset="-122"/>
              </a:rPr>
              <a:t>，</a:t>
            </a:r>
            <a:r>
              <a:rPr lang="en-US" altLang="zh-CN">
                <a:ea typeface="宋体" pitchFamily="2" charset="-122"/>
              </a:rPr>
              <a:t>e.g. backgammon: 10</a:t>
            </a:r>
            <a:r>
              <a:rPr lang="en-US" altLang="zh-CN" baseline="30000">
                <a:ea typeface="宋体" pitchFamily="2" charset="-122"/>
              </a:rPr>
              <a:t>50</a:t>
            </a:r>
            <a:r>
              <a:rPr lang="en-US" altLang="zh-CN">
                <a:ea typeface="宋体" pitchFamily="2" charset="-122"/>
              </a:rPr>
              <a:t> equations, with 10</a:t>
            </a:r>
            <a:r>
              <a:rPr lang="en-US" altLang="zh-CN" baseline="30000">
                <a:ea typeface="宋体" pitchFamily="2" charset="-122"/>
              </a:rPr>
              <a:t>50</a:t>
            </a:r>
            <a:r>
              <a:rPr lang="en-US" altLang="zh-CN">
                <a:ea typeface="宋体" pitchFamily="2" charset="-122"/>
              </a:rPr>
              <a:t> unknowns.</a:t>
            </a:r>
          </a:p>
        </p:txBody>
      </p:sp>
      <p:graphicFrame>
        <p:nvGraphicFramePr>
          <p:cNvPr id="14340" name="Object 4"/>
          <p:cNvGraphicFramePr>
            <a:graphicFrameLocks noChangeAspect="1"/>
          </p:cNvGraphicFramePr>
          <p:nvPr/>
        </p:nvGraphicFramePr>
        <p:xfrm>
          <a:off x="1676400" y="2819400"/>
          <a:ext cx="46656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5" name="Equation" r:id="rId3" imgW="2451100" imgH="342900" progId="Equation.DSMT4">
                  <p:embed/>
                </p:oleObj>
              </mc:Choice>
              <mc:Fallback>
                <p:oleObj name="Equation" r:id="rId3" imgW="2451100" imgH="3429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819400"/>
                        <a:ext cx="466566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Passive-adp-agent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1536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endParaRPr lang="zh-CN" altLang="en-US">
              <a:ea typeface="宋体" pitchFamily="2" charset="-122"/>
            </a:endParaRPr>
          </a:p>
        </p:txBody>
      </p:sp>
      <p:pic>
        <p:nvPicPr>
          <p:cNvPr id="15364" name="Picture 4" descr="C:\Users\mandel\AppData\Roaming\Tencent\Users\87169558\QQ\WinTemp\RichOle\A{M8NL)%$UNACWN6QNEX9EF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71600"/>
            <a:ext cx="7515225" cy="496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ADP learning curves</a:t>
            </a:r>
          </a:p>
        </p:txBody>
      </p:sp>
      <p:graphicFrame>
        <p:nvGraphicFramePr>
          <p:cNvPr id="16387" name="Object 3"/>
          <p:cNvGraphicFramePr>
            <a:graphicFrameLocks noGrp="1" noChangeAspect="1"/>
          </p:cNvGraphicFramePr>
          <p:nvPr>
            <p:ph type="body" idx="1"/>
          </p:nvPr>
        </p:nvGraphicFramePr>
        <p:xfrm>
          <a:off x="1905000" y="2133600"/>
          <a:ext cx="5062538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9" name="位图图像" r:id="rId3" imgW="6047619" imgH="5409524" progId="Paint.Picture">
                  <p:embed/>
                </p:oleObj>
              </mc:Choice>
              <mc:Fallback>
                <p:oleObj name="位图图像" r:id="rId3" imgW="6047619" imgH="5409524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133600"/>
                        <a:ext cx="5062538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6858000" y="2286000"/>
            <a:ext cx="4762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>
                <a:latin typeface="Times New Roman" pitchFamily="18" charset="0"/>
                <a:ea typeface="宋体" pitchFamily="2" charset="-122"/>
              </a:rPr>
              <a:t>(4,3)</a:t>
            </a: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6858000" y="3352800"/>
            <a:ext cx="4762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>
                <a:latin typeface="Times New Roman" pitchFamily="18" charset="0"/>
                <a:ea typeface="宋体" pitchFamily="2" charset="-122"/>
              </a:rPr>
              <a:t>(3,3)</a:t>
            </a:r>
          </a:p>
        </p:txBody>
      </p:sp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6858000" y="3733800"/>
            <a:ext cx="4762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>
                <a:latin typeface="Times New Roman" pitchFamily="18" charset="0"/>
                <a:ea typeface="宋体" pitchFamily="2" charset="-122"/>
              </a:rPr>
              <a:t>(2,3)</a:t>
            </a:r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6858000" y="4267200"/>
            <a:ext cx="4762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>
                <a:latin typeface="Times New Roman" pitchFamily="18" charset="0"/>
                <a:ea typeface="宋体" pitchFamily="2" charset="-122"/>
              </a:rPr>
              <a:t>(1,1)</a:t>
            </a:r>
          </a:p>
        </p:txBody>
      </p:sp>
      <p:sp>
        <p:nvSpPr>
          <p:cNvPr id="16392" name="Text Box 8"/>
          <p:cNvSpPr txBox="1">
            <a:spLocks noChangeArrowheads="1"/>
          </p:cNvSpPr>
          <p:nvPr/>
        </p:nvSpPr>
        <p:spPr bwMode="auto">
          <a:xfrm>
            <a:off x="6934200" y="4648200"/>
            <a:ext cx="4762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>
                <a:latin typeface="Times New Roman" pitchFamily="18" charset="0"/>
                <a:ea typeface="宋体" pitchFamily="2" charset="-122"/>
              </a:rPr>
              <a:t>(3,1)</a:t>
            </a:r>
          </a:p>
        </p:txBody>
      </p:sp>
      <p:sp>
        <p:nvSpPr>
          <p:cNvPr id="16393" name="Text Box 9"/>
          <p:cNvSpPr txBox="1">
            <a:spLocks noChangeArrowheads="1"/>
          </p:cNvSpPr>
          <p:nvPr/>
        </p:nvSpPr>
        <p:spPr bwMode="auto">
          <a:xfrm>
            <a:off x="6858000" y="5029200"/>
            <a:ext cx="4762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>
                <a:latin typeface="Times New Roman" pitchFamily="18" charset="0"/>
                <a:ea typeface="宋体" pitchFamily="2" charset="-122"/>
              </a:rPr>
              <a:t>(4,1)</a:t>
            </a:r>
          </a:p>
        </p:txBody>
      </p:sp>
      <p:sp>
        <p:nvSpPr>
          <p:cNvPr id="16394" name="Text Box 10"/>
          <p:cNvSpPr txBox="1">
            <a:spLocks noChangeArrowheads="1"/>
          </p:cNvSpPr>
          <p:nvPr/>
        </p:nvSpPr>
        <p:spPr bwMode="auto">
          <a:xfrm>
            <a:off x="6858000" y="5334000"/>
            <a:ext cx="4762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>
                <a:latin typeface="Times New Roman" pitchFamily="18" charset="0"/>
                <a:ea typeface="宋体" pitchFamily="2" charset="-122"/>
              </a:rPr>
              <a:t>(4,2)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Temporal Difference learning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key idea:</a:t>
            </a:r>
          </a:p>
          <a:p>
            <a:pPr lvl="1" eaLnBrk="1" hangingPunct="1"/>
            <a:r>
              <a:rPr lang="en-US" altLang="zh-CN" sz="2400">
                <a:ea typeface="宋体" pitchFamily="2" charset="-122"/>
              </a:rPr>
              <a:t>adjust the estimated utility value of the current state based on its immediate reward and the estimated value of the next state.</a:t>
            </a:r>
          </a:p>
          <a:p>
            <a:pPr eaLnBrk="1" hangingPunct="1"/>
            <a:r>
              <a:rPr lang="en-US" altLang="zh-CN" sz="2400">
                <a:ea typeface="宋体" pitchFamily="2" charset="-122"/>
              </a:rPr>
              <a:t> The updating rule</a:t>
            </a:r>
          </a:p>
          <a:p>
            <a:pPr lvl="4" eaLnBrk="1" hangingPunct="1">
              <a:buFontTx/>
              <a:buNone/>
            </a:pPr>
            <a:endParaRPr lang="en-US" altLang="zh-CN" i="1">
              <a:ea typeface="宋体" pitchFamily="2" charset="-122"/>
            </a:endParaRPr>
          </a:p>
          <a:p>
            <a:pPr lvl="1" eaLnBrk="1" hangingPunct="1"/>
            <a:r>
              <a:rPr lang="el-GR" altLang="zh-CN"/>
              <a:t>α</a:t>
            </a:r>
            <a:r>
              <a:rPr lang="en-US" altLang="zh-CN">
                <a:ea typeface="宋体" pitchFamily="2" charset="-122"/>
              </a:rPr>
              <a:t> </a:t>
            </a:r>
            <a:r>
              <a:rPr lang="en-US" altLang="zh-CN" sz="2400">
                <a:ea typeface="宋体" pitchFamily="2" charset="-122"/>
              </a:rPr>
              <a:t>is the learning rate parameter</a:t>
            </a:r>
          </a:p>
          <a:p>
            <a:pPr lvl="1" eaLnBrk="1" hangingPunct="1"/>
            <a:r>
              <a:rPr lang="en-US" altLang="zh-CN" sz="2400">
                <a:ea typeface="宋体" pitchFamily="2" charset="-122"/>
              </a:rPr>
              <a:t>when </a:t>
            </a:r>
            <a:r>
              <a:rPr lang="el-GR" altLang="zh-CN" sz="2400"/>
              <a:t>α</a:t>
            </a:r>
            <a:r>
              <a:rPr lang="en-US" altLang="zh-CN" sz="2400">
                <a:ea typeface="宋体" pitchFamily="2" charset="-122"/>
              </a:rPr>
              <a:t>  is a function that decreases as the number of times a state has been visited increases, </a:t>
            </a:r>
            <a:r>
              <a:rPr lang="en-US" altLang="zh-CN" sz="2400" i="1">
                <a:ea typeface="宋体" pitchFamily="2" charset="-122"/>
              </a:rPr>
              <a:t>U(s) </a:t>
            </a:r>
            <a:r>
              <a:rPr lang="en-US" altLang="zh-CN" sz="2400">
                <a:ea typeface="宋体" pitchFamily="2" charset="-122"/>
              </a:rPr>
              <a:t>converges to the correct value.</a:t>
            </a:r>
          </a:p>
        </p:txBody>
      </p:sp>
      <p:graphicFrame>
        <p:nvGraphicFramePr>
          <p:cNvPr id="17412" name="Object 4"/>
          <p:cNvGraphicFramePr>
            <a:graphicFrameLocks noChangeAspect="1"/>
          </p:cNvGraphicFramePr>
          <p:nvPr/>
        </p:nvGraphicFramePr>
        <p:xfrm>
          <a:off x="1366838" y="3403600"/>
          <a:ext cx="544830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7" name="Equation" r:id="rId3" imgW="2679700" imgH="228600" progId="Equation.DSMT4">
                  <p:embed/>
                </p:oleObj>
              </mc:Choice>
              <mc:Fallback>
                <p:oleObj name="Equation" r:id="rId3" imgW="26797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6838" y="3403600"/>
                        <a:ext cx="5448300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Passive-td-agent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b="1">
                <a:ea typeface="宋体" pitchFamily="2" charset="-122"/>
              </a:rPr>
              <a:t>Function</a:t>
            </a:r>
            <a:r>
              <a:rPr lang="en-US" altLang="zh-CN" sz="2000">
                <a:ea typeface="宋体" pitchFamily="2" charset="-122"/>
              </a:rPr>
              <a:t> PASSIVE-TD-AGENT(percept) </a:t>
            </a:r>
            <a:r>
              <a:rPr lang="en-US" altLang="zh-CN" sz="2000" b="1">
                <a:ea typeface="宋体" pitchFamily="2" charset="-122"/>
              </a:rPr>
              <a:t>returns</a:t>
            </a:r>
            <a:r>
              <a:rPr lang="en-US" altLang="zh-CN" sz="2000">
                <a:ea typeface="宋体" pitchFamily="2" charset="-122"/>
              </a:rPr>
              <a:t> an action</a:t>
            </a:r>
          </a:p>
          <a:p>
            <a:pPr>
              <a:buFontTx/>
              <a:buNone/>
            </a:pPr>
            <a:r>
              <a:rPr lang="en-US" altLang="zh-CN" sz="2000">
                <a:ea typeface="宋体" pitchFamily="2" charset="-122"/>
              </a:rPr>
              <a:t>	inputs: percept, a percept indicating the current state s’ and reward 	signal r’</a:t>
            </a:r>
          </a:p>
          <a:p>
            <a:pPr>
              <a:buFontTx/>
              <a:buNone/>
            </a:pPr>
            <a:r>
              <a:rPr lang="en-US" altLang="zh-CN" sz="2000">
                <a:ea typeface="宋体" pitchFamily="2" charset="-122"/>
              </a:rPr>
              <a:t>	static: </a:t>
            </a:r>
            <a:r>
              <a:rPr lang="el-GR" altLang="zh-CN" sz="2000">
                <a:ea typeface="宋体" pitchFamily="2" charset="-122"/>
              </a:rPr>
              <a:t>π</a:t>
            </a:r>
            <a:r>
              <a:rPr lang="en-US" altLang="zh-CN" sz="2000">
                <a:ea typeface="宋体" pitchFamily="2" charset="-122"/>
              </a:rPr>
              <a:t>, a fixed policy</a:t>
            </a:r>
          </a:p>
          <a:p>
            <a:pPr>
              <a:buFontTx/>
              <a:buNone/>
            </a:pPr>
            <a:r>
              <a:rPr lang="en-US" altLang="zh-CN" sz="2000">
                <a:ea typeface="宋体" pitchFamily="2" charset="-122"/>
              </a:rPr>
              <a:t>                U, a table of utilities, initially empty</a:t>
            </a:r>
          </a:p>
          <a:p>
            <a:pPr>
              <a:buFontTx/>
              <a:buNone/>
            </a:pPr>
            <a:r>
              <a:rPr lang="en-US" altLang="zh-CN" sz="2000">
                <a:ea typeface="宋体" pitchFamily="2" charset="-122"/>
              </a:rPr>
              <a:t>                Ns, a table of frequencies for states, initially zero</a:t>
            </a:r>
          </a:p>
          <a:p>
            <a:pPr>
              <a:buFontTx/>
              <a:buNone/>
            </a:pPr>
            <a:r>
              <a:rPr lang="en-US" altLang="zh-CN" sz="2000">
                <a:ea typeface="宋体" pitchFamily="2" charset="-122"/>
              </a:rPr>
              <a:t>                s, a, r, the previous state, action, and reward, initially null</a:t>
            </a:r>
          </a:p>
          <a:p>
            <a:pPr>
              <a:buFontTx/>
              <a:buNone/>
            </a:pPr>
            <a:endParaRPr lang="en-US" altLang="zh-CN" sz="2000">
              <a:ea typeface="宋体" pitchFamily="2" charset="-122"/>
            </a:endParaRPr>
          </a:p>
          <a:p>
            <a:pPr>
              <a:buFontTx/>
              <a:buNone/>
            </a:pPr>
            <a:r>
              <a:rPr lang="en-US" altLang="zh-CN" sz="2000">
                <a:ea typeface="宋体" pitchFamily="2" charset="-122"/>
              </a:rPr>
              <a:t>      if s’ is new then U[s’] ←r’</a:t>
            </a:r>
          </a:p>
          <a:p>
            <a:pPr>
              <a:buFontTx/>
              <a:buNone/>
            </a:pPr>
            <a:r>
              <a:rPr lang="en-US" altLang="zh-CN" sz="2000">
                <a:ea typeface="宋体" pitchFamily="2" charset="-122"/>
              </a:rPr>
              <a:t>      if s is not null then do</a:t>
            </a:r>
          </a:p>
          <a:p>
            <a:pPr>
              <a:buFontTx/>
              <a:buNone/>
            </a:pPr>
            <a:r>
              <a:rPr lang="en-US" altLang="zh-CN" sz="2000">
                <a:ea typeface="宋体" pitchFamily="2" charset="-122"/>
              </a:rPr>
              <a:t>            increment Ns[s]</a:t>
            </a:r>
          </a:p>
          <a:p>
            <a:pPr>
              <a:buFontTx/>
              <a:buNone/>
            </a:pPr>
            <a:r>
              <a:rPr lang="en-US" altLang="zh-CN" sz="2000">
                <a:latin typeface="Times New Roman" pitchFamily="18" charset="0"/>
                <a:ea typeface="宋体" pitchFamily="2" charset="-122"/>
              </a:rPr>
              <a:t>            </a:t>
            </a:r>
            <a:r>
              <a:rPr lang="en-US" altLang="zh-CN" sz="2000" i="1">
                <a:latin typeface="Times New Roman" pitchFamily="18" charset="0"/>
                <a:ea typeface="宋体" pitchFamily="2" charset="-122"/>
                <a:sym typeface="Wingdings" pitchFamily="2" charset="2"/>
              </a:rPr>
              <a:t>U[s] </a:t>
            </a:r>
            <a:r>
              <a:rPr lang="en-US" altLang="zh-CN" sz="2000">
                <a:ea typeface="宋体" pitchFamily="2" charset="-122"/>
              </a:rPr>
              <a:t>← </a:t>
            </a:r>
            <a:r>
              <a:rPr lang="en-US" altLang="zh-CN" sz="2000" i="1">
                <a:latin typeface="Times New Roman" pitchFamily="18" charset="0"/>
                <a:ea typeface="宋体" pitchFamily="2" charset="-122"/>
                <a:sym typeface="Wingdings" pitchFamily="2" charset="2"/>
              </a:rPr>
              <a:t> U[s] +</a:t>
            </a:r>
            <a:r>
              <a:rPr lang="el-GR" altLang="zh-CN" sz="2000" i="1">
                <a:latin typeface="Times New Roman" pitchFamily="18" charset="0"/>
                <a:ea typeface="宋体" pitchFamily="2" charset="-122"/>
                <a:sym typeface="Wingdings" pitchFamily="2" charset="2"/>
              </a:rPr>
              <a:t>α</a:t>
            </a:r>
            <a:r>
              <a:rPr lang="en-US" altLang="zh-CN" sz="2000" i="1">
                <a:latin typeface="Times New Roman" pitchFamily="18" charset="0"/>
                <a:ea typeface="宋体" pitchFamily="2" charset="-122"/>
                <a:sym typeface="Wingdings" pitchFamily="2" charset="2"/>
              </a:rPr>
              <a:t>(Ns[s])(r+</a:t>
            </a:r>
            <a:r>
              <a:rPr lang="el-GR" altLang="zh-CN" sz="2000" i="1">
                <a:latin typeface="Times New Roman" pitchFamily="18" charset="0"/>
                <a:ea typeface="宋体" pitchFamily="2" charset="-122"/>
                <a:sym typeface="Wingdings" pitchFamily="2" charset="2"/>
              </a:rPr>
              <a:t>γ</a:t>
            </a:r>
            <a:r>
              <a:rPr lang="en-US" altLang="zh-CN" sz="2000" i="1">
                <a:latin typeface="Times New Roman" pitchFamily="18" charset="0"/>
                <a:ea typeface="宋体" pitchFamily="2" charset="-122"/>
                <a:sym typeface="Wingdings" pitchFamily="2" charset="2"/>
              </a:rPr>
              <a:t>U[s’] – U[s])</a:t>
            </a:r>
          </a:p>
          <a:p>
            <a:pPr>
              <a:buFontTx/>
              <a:buNone/>
            </a:pPr>
            <a:r>
              <a:rPr lang="en-US" altLang="zh-CN" sz="2000" i="1">
                <a:latin typeface="Times New Roman" pitchFamily="18" charset="0"/>
                <a:ea typeface="宋体" pitchFamily="2" charset="-122"/>
                <a:sym typeface="Wingdings" pitchFamily="2" charset="2"/>
              </a:rPr>
              <a:t>       if terminal?[s’] then s,a,r</a:t>
            </a:r>
            <a:r>
              <a:rPr lang="en-US" altLang="zh-CN" sz="2000">
                <a:ea typeface="宋体" pitchFamily="2" charset="-122"/>
              </a:rPr>
              <a:t> ← null else s,a,r ← s’,</a:t>
            </a:r>
            <a:r>
              <a:rPr lang="el-GR" altLang="zh-CN" sz="2000">
                <a:ea typeface="宋体" pitchFamily="2" charset="-122"/>
              </a:rPr>
              <a:t> π</a:t>
            </a:r>
            <a:r>
              <a:rPr lang="en-US" altLang="zh-CN" sz="2000">
                <a:ea typeface="宋体" pitchFamily="2" charset="-122"/>
              </a:rPr>
              <a:t>[s’],r’</a:t>
            </a:r>
          </a:p>
          <a:p>
            <a:pPr>
              <a:buFontTx/>
              <a:buNone/>
            </a:pPr>
            <a:r>
              <a:rPr lang="en-US" altLang="zh-CN" sz="2000">
                <a:ea typeface="宋体" pitchFamily="2" charset="-122"/>
              </a:rPr>
              <a:t>       return a</a:t>
            </a:r>
            <a:endParaRPr lang="zh-CN" altLang="en-US" sz="200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The TD learning curve</a:t>
            </a:r>
          </a:p>
        </p:txBody>
      </p:sp>
      <p:graphicFrame>
        <p:nvGraphicFramePr>
          <p:cNvPr id="19459" name="Object 3"/>
          <p:cNvGraphicFramePr>
            <a:graphicFrameLocks noGrp="1" noChangeAspect="1"/>
          </p:cNvGraphicFramePr>
          <p:nvPr>
            <p:ph type="body" idx="1"/>
          </p:nvPr>
        </p:nvGraphicFramePr>
        <p:xfrm>
          <a:off x="2087563" y="2017713"/>
          <a:ext cx="4884737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1" name="位图图像" r:id="rId3" imgW="5866667" imgH="5439534" progId="Paint.Picture">
                  <p:embed/>
                </p:oleObj>
              </mc:Choice>
              <mc:Fallback>
                <p:oleObj name="位图图像" r:id="rId3" imgW="5866667" imgH="5439534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563" y="2017713"/>
                        <a:ext cx="4884737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6934200" y="2133600"/>
            <a:ext cx="4762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>
                <a:latin typeface="Times New Roman" pitchFamily="18" charset="0"/>
                <a:ea typeface="宋体" pitchFamily="2" charset="-122"/>
              </a:rPr>
              <a:t>(4,3)</a:t>
            </a: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6858000" y="3611563"/>
            <a:ext cx="476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>
                <a:latin typeface="Times New Roman" pitchFamily="18" charset="0"/>
                <a:ea typeface="宋体" pitchFamily="2" charset="-122"/>
              </a:rPr>
              <a:t>(2,3)</a:t>
            </a:r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6858000" y="3810000"/>
            <a:ext cx="4762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>
                <a:latin typeface="Times New Roman" pitchFamily="18" charset="0"/>
                <a:ea typeface="宋体" pitchFamily="2" charset="-122"/>
              </a:rPr>
              <a:t>(2,2)</a:t>
            </a:r>
          </a:p>
        </p:txBody>
      </p:sp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6867525" y="4267200"/>
            <a:ext cx="5238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itchFamily="18" charset="0"/>
                <a:ea typeface="宋体" pitchFamily="2" charset="-122"/>
              </a:rPr>
              <a:t>(1,1)</a:t>
            </a:r>
          </a:p>
        </p:txBody>
      </p:sp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6858000" y="4648200"/>
            <a:ext cx="4841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400"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1200">
                <a:latin typeface="Times New Roman" pitchFamily="18" charset="0"/>
                <a:ea typeface="宋体" pitchFamily="2" charset="-122"/>
              </a:rPr>
              <a:t>3,1)</a:t>
            </a:r>
          </a:p>
        </p:txBody>
      </p:sp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6858000" y="4953000"/>
            <a:ext cx="46831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000"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sz="1200">
                <a:latin typeface="Times New Roman" pitchFamily="18" charset="0"/>
                <a:ea typeface="宋体" pitchFamily="2" charset="-122"/>
              </a:rPr>
              <a:t>4,1)</a:t>
            </a:r>
          </a:p>
        </p:txBody>
      </p:sp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6858000" y="5257800"/>
            <a:ext cx="4762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200">
                <a:latin typeface="Times New Roman" pitchFamily="18" charset="0"/>
                <a:ea typeface="宋体" pitchFamily="2" charset="-122"/>
              </a:rPr>
              <a:t>(4,2)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ADP vs TD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itchFamily="2" charset="-122"/>
              </a:rPr>
              <a:t>ADP:</a:t>
            </a:r>
          </a:p>
          <a:p>
            <a:pPr lvl="1" eaLnBrk="1" hangingPunct="1"/>
            <a:r>
              <a:rPr lang="en-US" altLang="zh-CN" sz="2000">
                <a:ea typeface="宋体" pitchFamily="2" charset="-122"/>
              </a:rPr>
              <a:t>ADP algorithm converges far faster than TD learning. That is because it use the information from the model of the environment</a:t>
            </a:r>
            <a:r>
              <a:rPr lang="en-US" altLang="zh-CN" sz="2400">
                <a:ea typeface="宋体" pitchFamily="2" charset="-122"/>
              </a:rPr>
              <a:t>.</a:t>
            </a:r>
          </a:p>
          <a:p>
            <a:pPr lvl="1" eaLnBrk="1" hangingPunct="1"/>
            <a:r>
              <a:rPr lang="en-US" altLang="zh-CN" sz="2400">
                <a:ea typeface="宋体" pitchFamily="2" charset="-122"/>
              </a:rPr>
              <a:t>ADP is intractable for large state space</a:t>
            </a:r>
          </a:p>
          <a:p>
            <a:pPr lvl="1" eaLnBrk="1" hangingPunct="1"/>
            <a:r>
              <a:rPr lang="en-US" altLang="zh-CN" sz="2400">
                <a:ea typeface="宋体" pitchFamily="2" charset="-122"/>
              </a:rPr>
              <a:t>In each step, update </a:t>
            </a:r>
            <a:r>
              <a:rPr lang="en-US" altLang="zh-CN" sz="2400" i="1">
                <a:ea typeface="宋体" pitchFamily="2" charset="-122"/>
              </a:rPr>
              <a:t>U </a:t>
            </a:r>
            <a:r>
              <a:rPr lang="en-US" altLang="zh-CN" sz="2400">
                <a:ea typeface="宋体" pitchFamily="2" charset="-122"/>
              </a:rPr>
              <a:t> for all states</a:t>
            </a:r>
          </a:p>
          <a:p>
            <a:pPr lvl="1" eaLnBrk="1" hangingPunct="1"/>
            <a:endParaRPr lang="en-US" altLang="zh-CN" sz="2400">
              <a:ea typeface="宋体" pitchFamily="2" charset="-122"/>
            </a:endParaRPr>
          </a:p>
          <a:p>
            <a:pPr eaLnBrk="1" hangingPunct="1"/>
            <a:r>
              <a:rPr lang="en-US" altLang="zh-CN" sz="2800">
                <a:ea typeface="宋体" pitchFamily="2" charset="-122"/>
              </a:rPr>
              <a:t>TD</a:t>
            </a:r>
          </a:p>
          <a:p>
            <a:pPr lvl="1"/>
            <a:r>
              <a:rPr lang="en-US" altLang="zh-CN" sz="2000">
                <a:ea typeface="宋体" pitchFamily="2" charset="-122"/>
              </a:rPr>
              <a:t>TD updates observed successor rather than all successors</a:t>
            </a:r>
          </a:p>
          <a:p>
            <a:pPr lvl="1"/>
            <a:r>
              <a:rPr lang="en-US" altLang="zh-CN" sz="2000">
                <a:ea typeface="宋体" pitchFamily="2" charset="-122"/>
              </a:rPr>
              <a:t>TD is slower in convergence, but much simpler computation per observation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Passive learning v.s. Active learning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itchFamily="2" charset="-122"/>
              </a:rPr>
              <a:t>Passive learning</a:t>
            </a:r>
          </a:p>
          <a:p>
            <a:pPr lvl="1" eaLnBrk="1" hangingPunct="1"/>
            <a:r>
              <a:rPr lang="en-US" altLang="zh-CN" sz="2400">
                <a:ea typeface="宋体" pitchFamily="2" charset="-122"/>
              </a:rPr>
              <a:t>Policy is fixed, so action is fixed in a state</a:t>
            </a:r>
          </a:p>
          <a:p>
            <a:pPr lvl="1" eaLnBrk="1" hangingPunct="1"/>
            <a:r>
              <a:rPr lang="en-US" altLang="zh-CN" sz="2400">
                <a:ea typeface="宋体" pitchFamily="2" charset="-122"/>
              </a:rPr>
              <a:t>The agent simply watches the world going by and tries to learn the utilities of being in various states</a:t>
            </a:r>
          </a:p>
          <a:p>
            <a:pPr eaLnBrk="1" hangingPunct="1"/>
            <a:r>
              <a:rPr lang="en-US" altLang="zh-CN" sz="2800">
                <a:ea typeface="宋体" pitchFamily="2" charset="-122"/>
              </a:rPr>
              <a:t>Active learning</a:t>
            </a:r>
          </a:p>
          <a:p>
            <a:pPr lvl="1" eaLnBrk="1" hangingPunct="1"/>
            <a:r>
              <a:rPr lang="en-US" altLang="zh-CN" sz="2400">
                <a:ea typeface="宋体" pitchFamily="2" charset="-122"/>
              </a:rPr>
              <a:t>The agent does not simply watch, but also acts </a:t>
            </a:r>
          </a:p>
          <a:p>
            <a:pPr lvl="1" eaLnBrk="1" hangingPunct="1"/>
            <a:r>
              <a:rPr lang="en-US" altLang="zh-CN" sz="2400">
                <a:ea typeface="宋体" pitchFamily="2" charset="-122"/>
              </a:rPr>
              <a:t>Learns the policy,</a:t>
            </a:r>
            <a:r>
              <a:rPr lang="zh-CN" altLang="en-US" sz="2400">
                <a:ea typeface="宋体" pitchFamily="2" charset="-122"/>
              </a:rPr>
              <a:t> </a:t>
            </a:r>
            <a:r>
              <a:rPr lang="en-US" altLang="zh-CN" sz="2400">
                <a:ea typeface="宋体" pitchFamily="2" charset="-122"/>
              </a:rPr>
              <a:t>that is, the optimal action in each state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Model based v.s.Model free approaches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2017713"/>
            <a:ext cx="7888288" cy="44592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>
                <a:ea typeface="宋体" pitchFamily="2" charset="-122"/>
              </a:rPr>
              <a:t>the environment </a:t>
            </a:r>
            <a:r>
              <a:rPr lang="en-US" altLang="zh-CN" sz="2800" b="1">
                <a:ea typeface="宋体" pitchFamily="2" charset="-122"/>
              </a:rPr>
              <a:t>model</a:t>
            </a:r>
            <a:r>
              <a:rPr lang="en-US" altLang="zh-CN" sz="2800">
                <a:latin typeface="Times New Roman" pitchFamily="18" charset="0"/>
                <a:ea typeface="宋体" pitchFamily="2" charset="-122"/>
              </a:rPr>
              <a:t>—</a:t>
            </a:r>
            <a:r>
              <a:rPr lang="en-US" altLang="zh-CN" sz="2800">
                <a:ea typeface="宋体" pitchFamily="2" charset="-122"/>
              </a:rPr>
              <a:t>the transition function </a:t>
            </a:r>
            <a:r>
              <a:rPr lang="en-US" altLang="zh-CN" sz="2800" i="1">
                <a:ea typeface="宋体" pitchFamily="2" charset="-122"/>
              </a:rPr>
              <a:t>T(s,a,s</a:t>
            </a:r>
            <a:r>
              <a:rPr lang="en-US" altLang="zh-CN" sz="2800" i="1">
                <a:latin typeface="Times New Roman" pitchFamily="18" charset="0"/>
                <a:ea typeface="宋体" pitchFamily="2" charset="-122"/>
              </a:rPr>
              <a:t>’</a:t>
            </a:r>
            <a:r>
              <a:rPr lang="en-US" altLang="zh-CN" sz="2800" i="1">
                <a:ea typeface="宋体" pitchFamily="2" charset="-122"/>
              </a:rPr>
              <a:t>)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>
                <a:ea typeface="宋体" pitchFamily="2" charset="-122"/>
              </a:rPr>
              <a:t>two approaches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>
                <a:latin typeface="Times New Roman" pitchFamily="18" charset="0"/>
                <a:ea typeface="宋体" pitchFamily="2" charset="-122"/>
              </a:rPr>
              <a:t>Model based approach RL</a:t>
            </a:r>
            <a:r>
              <a:rPr lang="en-US" altLang="zh-CN" sz="2400">
                <a:latin typeface="Times New Roman" pitchFamily="18" charset="0"/>
                <a:ea typeface="宋体" pitchFamily="2" charset="-122"/>
              </a:rPr>
              <a:t>:</a:t>
            </a:r>
            <a:r>
              <a:rPr lang="en-US" altLang="zh-CN" sz="2400">
                <a:ea typeface="宋体" pitchFamily="2" charset="-122"/>
              </a:rPr>
              <a:t>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>
                <a:ea typeface="宋体" pitchFamily="2" charset="-122"/>
              </a:rPr>
              <a:t>   learn the model, and use it to derive utilities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>
                <a:ea typeface="宋体" pitchFamily="2" charset="-122"/>
              </a:rPr>
              <a:t>   e.g  Adaptive dynamic learning(ADP) approach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sz="2000">
              <a:ea typeface="宋体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i="1">
                <a:latin typeface="Times New Roman" pitchFamily="18" charset="0"/>
                <a:ea typeface="宋体" pitchFamily="2" charset="-122"/>
              </a:rPr>
              <a:t>Model free approach RL</a:t>
            </a:r>
            <a:r>
              <a:rPr lang="en-US" altLang="zh-CN" sz="2400">
                <a:latin typeface="Times New Roman" pitchFamily="18" charset="0"/>
                <a:ea typeface="宋体" pitchFamily="2" charset="-122"/>
              </a:rPr>
              <a:t>: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>
                <a:ea typeface="宋体" pitchFamily="2" charset="-122"/>
              </a:rPr>
              <a:t>   derive the utilities without learning the model.  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>
                <a:ea typeface="宋体" pitchFamily="2" charset="-122"/>
              </a:rPr>
              <a:t>  e.g  DU and Temporal difference approach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Active Reinforcement Learning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itchFamily="2" charset="-122"/>
              </a:rPr>
              <a:t>Using ADP learning, utilities of states and transition probabilities are learned.</a:t>
            </a:r>
          </a:p>
          <a:p>
            <a:pPr eaLnBrk="1" hangingPunct="1"/>
            <a:r>
              <a:rPr lang="en-US" altLang="zh-CN" sz="2800">
                <a:ea typeface="宋体" pitchFamily="2" charset="-122"/>
              </a:rPr>
              <a:t>Those utilities and transitions can be plugged into Bellman equations.</a:t>
            </a:r>
          </a:p>
          <a:p>
            <a:pPr eaLnBrk="1" hangingPunct="1"/>
            <a:endParaRPr lang="en-US" altLang="zh-CN" sz="2800">
              <a:ea typeface="宋体" pitchFamily="2" charset="-122"/>
            </a:endParaRPr>
          </a:p>
          <a:p>
            <a:pPr eaLnBrk="1" hangingPunct="1"/>
            <a:r>
              <a:rPr lang="en-US" altLang="zh-CN" sz="2800">
                <a:ea typeface="宋体" pitchFamily="2" charset="-122"/>
              </a:rPr>
              <a:t>Then choose optimal action</a:t>
            </a:r>
          </a:p>
          <a:p>
            <a:pPr eaLnBrk="1" hangingPunct="1"/>
            <a:endParaRPr lang="en-US" altLang="zh-CN" sz="2800">
              <a:ea typeface="宋体" pitchFamily="2" charset="-122"/>
            </a:endParaRPr>
          </a:p>
        </p:txBody>
      </p:sp>
      <p:graphicFrame>
        <p:nvGraphicFramePr>
          <p:cNvPr id="2355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0702684"/>
              </p:ext>
            </p:extLst>
          </p:nvPr>
        </p:nvGraphicFramePr>
        <p:xfrm>
          <a:off x="1768475" y="3581400"/>
          <a:ext cx="3941763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8" name="Equation" r:id="rId3" imgW="2362200" imgH="342900" progId="Equation.DSMT4">
                  <p:embed/>
                </p:oleObj>
              </mc:Choice>
              <mc:Fallback>
                <p:oleObj name="Equation" r:id="rId3" imgW="2362200" imgH="3429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8475" y="3581400"/>
                        <a:ext cx="3941763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6"/>
          <p:cNvGraphicFramePr>
            <a:graphicFrameLocks noChangeAspect="1"/>
          </p:cNvGraphicFramePr>
          <p:nvPr/>
        </p:nvGraphicFramePr>
        <p:xfrm>
          <a:off x="1658938" y="4572000"/>
          <a:ext cx="4487862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9" name="Equation" r:id="rId5" imgW="2425700" imgH="342900" progId="Equation.DSMT4">
                  <p:embed/>
                </p:oleObj>
              </mc:Choice>
              <mc:Fallback>
                <p:oleObj name="Equation" r:id="rId5" imgW="2425700" imgH="3429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8938" y="4572000"/>
                        <a:ext cx="4487862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Active Reinforcement Learning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4623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zh-CN" sz="2800">
                <a:ea typeface="宋体" pitchFamily="2" charset="-122"/>
              </a:rPr>
              <a:t>Using ADP learning, utilities of states and transition probabilities are learned.</a:t>
            </a:r>
          </a:p>
          <a:p>
            <a:pPr eaLnBrk="1" hangingPunct="1"/>
            <a:r>
              <a:rPr lang="en-US" altLang="zh-CN" sz="2800">
                <a:ea typeface="宋体" pitchFamily="2" charset="-122"/>
              </a:rPr>
              <a:t>Those utilities and transitions can be plugged into Bellman equations.</a:t>
            </a:r>
          </a:p>
          <a:p>
            <a:pPr eaLnBrk="1" hangingPunct="1"/>
            <a:endParaRPr lang="en-US" altLang="zh-CN" sz="2800">
              <a:ea typeface="宋体" pitchFamily="2" charset="-122"/>
            </a:endParaRPr>
          </a:p>
          <a:p>
            <a:pPr eaLnBrk="1" hangingPunct="1"/>
            <a:r>
              <a:rPr lang="en-US" altLang="zh-CN" sz="2800">
                <a:ea typeface="宋体" pitchFamily="2" charset="-122"/>
              </a:rPr>
              <a:t>Problem</a:t>
            </a:r>
          </a:p>
          <a:p>
            <a:pPr lvl="1" eaLnBrk="1" hangingPunct="1"/>
            <a:r>
              <a:rPr lang="en-US" altLang="zh-CN" sz="2400">
                <a:ea typeface="宋体" pitchFamily="2" charset="-122"/>
              </a:rPr>
              <a:t>Bellman equations give optimal solutions given correct utility and transition functions.</a:t>
            </a:r>
          </a:p>
          <a:p>
            <a:pPr lvl="1" eaLnBrk="1" hangingPunct="1"/>
            <a:r>
              <a:rPr lang="en-US" altLang="zh-CN" sz="2400">
                <a:ea typeface="宋体" pitchFamily="2" charset="-122"/>
              </a:rPr>
              <a:t>ADP learning produces approximate estimates of those functions. </a:t>
            </a:r>
          </a:p>
        </p:txBody>
      </p:sp>
      <p:graphicFrame>
        <p:nvGraphicFramePr>
          <p:cNvPr id="24580" name="Object 7"/>
          <p:cNvGraphicFramePr>
            <a:graphicFrameLocks noChangeAspect="1"/>
          </p:cNvGraphicFramePr>
          <p:nvPr/>
        </p:nvGraphicFramePr>
        <p:xfrm>
          <a:off x="1768475" y="3657600"/>
          <a:ext cx="3941763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5" name="Equation" r:id="rId3" imgW="2362200" imgH="342900" progId="Equation.DSMT4">
                  <p:embed/>
                </p:oleObj>
              </mc:Choice>
              <mc:Fallback>
                <p:oleObj name="Equation" r:id="rId3" imgW="2362200" imgH="3429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8475" y="3657600"/>
                        <a:ext cx="3941763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Greedy Agent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在尝试若干次以后，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Agent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可以对转移概率，对每个状态的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Utility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作出相对准确的估计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但是，如果就凭这些估算的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Utility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，来求出“最优”策略，并以此指导以后的行动，那可能是并非最优的。这称为“贪心”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Agent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鄂尔多斯的富翁与“雾霾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的成因：煤？</a:t>
            </a:r>
          </a:p>
        </p:txBody>
      </p:sp>
    </p:spTree>
    <p:extLst>
      <p:ext uri="{BB962C8B-B14F-4D97-AF65-F5344CB8AC3E}">
        <p14:creationId xmlns:p14="http://schemas.microsoft.com/office/powerpoint/2010/main" val="13120822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en-US" altLang="zh-CN" sz="2400" b="1">
                <a:ea typeface="宋体" pitchFamily="2" charset="-122"/>
              </a:rPr>
              <a:t>Optimal policy is not learned!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2560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ea typeface="宋体" pitchFamily="2" charset="-122"/>
            </a:endParaRPr>
          </a:p>
        </p:txBody>
      </p:sp>
      <p:pic>
        <p:nvPicPr>
          <p:cNvPr id="2560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19200"/>
            <a:ext cx="8616950" cy="551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2286000"/>
            <a:ext cx="7391400" cy="381000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An action has two kinds of outcome</a:t>
            </a:r>
          </a:p>
          <a:p>
            <a:pPr lvl="1" eaLnBrk="1" hangingPunct="1"/>
            <a:r>
              <a:rPr lang="en-US" altLang="zh-CN">
                <a:ea typeface="宋体" pitchFamily="2" charset="-122"/>
              </a:rPr>
              <a:t>Gain rewards on the current experience tuple (s,a,s</a:t>
            </a:r>
            <a:r>
              <a:rPr lang="en-US" altLang="zh-CN">
                <a:latin typeface="Times New Roman" pitchFamily="18" charset="0"/>
                <a:ea typeface="宋体" pitchFamily="2" charset="-122"/>
              </a:rPr>
              <a:t>’</a:t>
            </a:r>
            <a:r>
              <a:rPr lang="en-US" altLang="zh-CN">
                <a:ea typeface="宋体" pitchFamily="2" charset="-122"/>
              </a:rPr>
              <a:t>)</a:t>
            </a:r>
          </a:p>
          <a:p>
            <a:pPr lvl="1" eaLnBrk="1" hangingPunct="1"/>
            <a:r>
              <a:rPr lang="en-US" altLang="zh-CN">
                <a:ea typeface="宋体" pitchFamily="2" charset="-122"/>
              </a:rPr>
              <a:t>Affect the percepts received, and hence the ability of the agent to learn the true model</a:t>
            </a:r>
          </a:p>
        </p:txBody>
      </p:sp>
      <p:sp>
        <p:nvSpPr>
          <p:cNvPr id="2662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Exploration in Active learning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Exploration/Exploitation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8116888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ea typeface="宋体" pitchFamily="2" charset="-122"/>
              </a:rPr>
              <a:t>A trade off when choosing action between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>
                <a:ea typeface="宋体" pitchFamily="2" charset="-122"/>
              </a:rPr>
              <a:t>its immediately well-being(reflected in its current utility estimates using the what we have learned)  </a:t>
            </a:r>
            <a:r>
              <a:rPr lang="en-US" altLang="zh-CN" sz="2000" b="1" dirty="0">
                <a:ea typeface="宋体" pitchFamily="2" charset="-122"/>
              </a:rPr>
              <a:t>- exploitation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>
                <a:ea typeface="宋体" pitchFamily="2" charset="-122"/>
              </a:rPr>
              <a:t>its long term good(exploring more about the environment help it to behave optimally in the long run) - </a:t>
            </a:r>
            <a:r>
              <a:rPr lang="en-US" altLang="zh-CN" sz="2000" b="1" dirty="0">
                <a:ea typeface="宋体" pitchFamily="2" charset="-122"/>
              </a:rPr>
              <a:t>exploration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You can’t exploit all the time; you can’t explore all the time. </a:t>
            </a:r>
            <a:r>
              <a:rPr lang="en-US" altLang="zh-CN" sz="2400" dirty="0">
                <a:ea typeface="宋体" pitchFamily="2" charset="-122"/>
              </a:rPr>
              <a:t>We need both.</a:t>
            </a:r>
            <a:endParaRPr lang="en-US" altLang="zh-CN" sz="2400" i="1" dirty="0">
              <a:ea typeface="宋体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ea typeface="宋体" pitchFamily="2" charset="-122"/>
              </a:rPr>
              <a:t>Just like human in the real world! People need to decide between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>
                <a:ea typeface="宋体" pitchFamily="2" charset="-122"/>
              </a:rPr>
              <a:t>Continuing in a comfortable existence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>
                <a:ea typeface="宋体" pitchFamily="2" charset="-122"/>
              </a:rPr>
              <a:t>Or striking out into the unknown in the hopes of discovering a new and better life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Exploration in Active learning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76400"/>
            <a:ext cx="8040688" cy="487680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ea typeface="宋体" pitchFamily="2" charset="-122"/>
              </a:rPr>
              <a:t>the agent should be more explorative when it has little idea of the environment, and more greedy when it has a model that is close to being correct</a:t>
            </a:r>
          </a:p>
          <a:p>
            <a:pPr lvl="1" eaLnBrk="1" hangingPunct="1"/>
            <a:r>
              <a:rPr lang="en-US" altLang="zh-CN" sz="1800" dirty="0">
                <a:ea typeface="宋体" pitchFamily="2" charset="-122"/>
              </a:rPr>
              <a:t>In a given state, the agent should give some weight to actions that it has not tried very often.</a:t>
            </a:r>
          </a:p>
          <a:p>
            <a:pPr lvl="1" eaLnBrk="1" hangingPunct="1"/>
            <a:r>
              <a:rPr lang="en-US" altLang="zh-CN" sz="1800" dirty="0">
                <a:ea typeface="宋体" pitchFamily="2" charset="-122"/>
              </a:rPr>
              <a:t>While tend to avoid actions that are believed to be of low utility</a:t>
            </a:r>
          </a:p>
          <a:p>
            <a:pPr lvl="1" eaLnBrk="1" hangingPunct="1"/>
            <a:endParaRPr lang="en-US" altLang="zh-CN" sz="1800" dirty="0">
              <a:ea typeface="宋体" pitchFamily="2" charset="-122"/>
            </a:endParaRPr>
          </a:p>
          <a:p>
            <a:pPr eaLnBrk="1" hangingPunct="1"/>
            <a:r>
              <a:rPr lang="en-US" altLang="zh-CN" sz="2000" dirty="0">
                <a:ea typeface="宋体" pitchFamily="2" charset="-122"/>
              </a:rPr>
              <a:t>Implemented by </a:t>
            </a:r>
            <a:r>
              <a:rPr lang="en-US" altLang="zh-CN" sz="2000" b="1" i="1" dirty="0">
                <a:ea typeface="宋体" pitchFamily="2" charset="-122"/>
              </a:rPr>
              <a:t>exploration function f(</a:t>
            </a:r>
            <a:r>
              <a:rPr lang="en-US" altLang="zh-CN" sz="2000" b="1" i="1" dirty="0" err="1">
                <a:ea typeface="宋体" pitchFamily="2" charset="-122"/>
              </a:rPr>
              <a:t>u,n</a:t>
            </a:r>
            <a:r>
              <a:rPr lang="en-US" altLang="zh-CN" sz="2000" b="1" i="1" dirty="0">
                <a:ea typeface="宋体" pitchFamily="2" charset="-122"/>
              </a:rPr>
              <a:t>)</a:t>
            </a:r>
            <a:r>
              <a:rPr lang="en-US" altLang="zh-CN" sz="2000" dirty="0">
                <a:ea typeface="宋体" pitchFamily="2" charset="-122"/>
              </a:rPr>
              <a:t>: </a:t>
            </a:r>
          </a:p>
          <a:p>
            <a:pPr lvl="1" eaLnBrk="1" hangingPunct="1"/>
            <a:r>
              <a:rPr lang="en-US" altLang="zh-CN" sz="1800" dirty="0">
                <a:ea typeface="宋体" pitchFamily="2" charset="-122"/>
              </a:rPr>
              <a:t>assigning a higher utility estimate to relatively unexplored action state pairs</a:t>
            </a:r>
          </a:p>
          <a:p>
            <a:pPr lvl="1" eaLnBrk="1" hangingPunct="1"/>
            <a:r>
              <a:rPr lang="en-US" altLang="zh-CN" sz="1800" dirty="0">
                <a:ea typeface="宋体" pitchFamily="2" charset="-122"/>
              </a:rPr>
              <a:t>Chang the updating rule of value function to </a:t>
            </a:r>
          </a:p>
          <a:p>
            <a:pPr lvl="1" eaLnBrk="1" hangingPunct="1"/>
            <a:endParaRPr lang="en-US" altLang="zh-CN" sz="1800" dirty="0">
              <a:ea typeface="宋体" pitchFamily="2" charset="-122"/>
            </a:endParaRPr>
          </a:p>
          <a:p>
            <a:pPr lvl="1" eaLnBrk="1" hangingPunct="1"/>
            <a:endParaRPr lang="en-US" altLang="zh-CN" sz="1800" dirty="0">
              <a:ea typeface="宋体" pitchFamily="2" charset="-122"/>
            </a:endParaRPr>
          </a:p>
          <a:p>
            <a:pPr lvl="1" eaLnBrk="1" hangingPunct="1"/>
            <a:r>
              <a:rPr lang="en-US" altLang="zh-CN" sz="1800" i="1" dirty="0">
                <a:ea typeface="宋体" pitchFamily="2" charset="-122"/>
              </a:rPr>
              <a:t>U</a:t>
            </a:r>
            <a:r>
              <a:rPr lang="en-US" altLang="zh-CN" sz="1800" i="1" baseline="30000" dirty="0">
                <a:ea typeface="宋体" pitchFamily="2" charset="-122"/>
              </a:rPr>
              <a:t>+</a:t>
            </a:r>
            <a:r>
              <a:rPr lang="en-US" altLang="zh-CN" sz="1800" i="1" dirty="0">
                <a:ea typeface="宋体" pitchFamily="2" charset="-122"/>
              </a:rPr>
              <a:t> </a:t>
            </a:r>
            <a:r>
              <a:rPr lang="en-US" altLang="zh-CN" sz="1800" dirty="0">
                <a:ea typeface="宋体" pitchFamily="2" charset="-122"/>
              </a:rPr>
              <a:t>denote the </a:t>
            </a:r>
            <a:r>
              <a:rPr lang="en-US" altLang="zh-CN" sz="1800" b="1" u="sng" dirty="0">
                <a:ea typeface="宋体" pitchFamily="2" charset="-122"/>
              </a:rPr>
              <a:t>optimistic estimate</a:t>
            </a:r>
            <a:r>
              <a:rPr lang="en-US" altLang="zh-CN" sz="1800" dirty="0">
                <a:ea typeface="宋体" pitchFamily="2" charset="-122"/>
              </a:rPr>
              <a:t> of the utility</a:t>
            </a:r>
            <a:endParaRPr lang="en-US" altLang="zh-CN" sz="1800" i="1" dirty="0">
              <a:ea typeface="宋体" pitchFamily="2" charset="-122"/>
            </a:endParaRPr>
          </a:p>
          <a:p>
            <a:pPr eaLnBrk="1" hangingPunct="1"/>
            <a:endParaRPr lang="en-US" altLang="zh-CN" sz="2400" dirty="0">
              <a:ea typeface="宋体" pitchFamily="2" charset="-122"/>
            </a:endParaRPr>
          </a:p>
        </p:txBody>
      </p:sp>
      <p:graphicFrame>
        <p:nvGraphicFramePr>
          <p:cNvPr id="28676" name="Object 4"/>
          <p:cNvGraphicFramePr>
            <a:graphicFrameLocks noChangeAspect="1"/>
          </p:cNvGraphicFramePr>
          <p:nvPr/>
        </p:nvGraphicFramePr>
        <p:xfrm>
          <a:off x="2209800" y="5334000"/>
          <a:ext cx="44704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2" name="Equation" r:id="rId3" imgW="3200400" imgH="342900" progId="Equation.DSMT4">
                  <p:embed/>
                </p:oleObj>
              </mc:Choice>
              <mc:Fallback>
                <p:oleObj name="Equation" r:id="rId3" imgW="3200400" imgH="3429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334000"/>
                        <a:ext cx="44704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Exploration in Active learning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400" dirty="0">
                <a:ea typeface="宋体" pitchFamily="2" charset="-122"/>
              </a:rPr>
              <a:t>One kind of definition of </a:t>
            </a:r>
            <a:r>
              <a:rPr lang="en-US" altLang="zh-CN" sz="2400" i="1" dirty="0">
                <a:ea typeface="宋体" pitchFamily="2" charset="-122"/>
              </a:rPr>
              <a:t>f(</a:t>
            </a:r>
            <a:r>
              <a:rPr lang="en-US" altLang="zh-CN" sz="2400" i="1" dirty="0" err="1">
                <a:ea typeface="宋体" pitchFamily="2" charset="-122"/>
              </a:rPr>
              <a:t>u,n</a:t>
            </a:r>
            <a:r>
              <a:rPr lang="en-US" altLang="zh-CN" sz="2400" i="1" dirty="0">
                <a:ea typeface="宋体" pitchFamily="2" charset="-122"/>
              </a:rPr>
              <a:t>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000" i="1" dirty="0">
                <a:ea typeface="宋体" pitchFamily="2" charset="-122"/>
              </a:rPr>
              <a:t>                                          </a:t>
            </a:r>
            <a:r>
              <a:rPr lang="en-US" altLang="zh-CN" sz="1800" i="1" dirty="0">
                <a:ea typeface="宋体" pitchFamily="2" charset="-122"/>
              </a:rPr>
              <a:t>if  n&lt; Ne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1800" i="1" dirty="0">
                <a:ea typeface="宋体" pitchFamily="2" charset="-122"/>
              </a:rPr>
              <a:t>                                  u        otherwise</a:t>
            </a:r>
          </a:p>
          <a:p>
            <a:pPr lvl="1" eaLnBrk="1" hangingPunct="1">
              <a:buFont typeface="Wingdings" pitchFamily="2" charset="2"/>
              <a:buNone/>
            </a:pPr>
            <a:endParaRPr lang="en-US" altLang="zh-CN" sz="1800" i="1" dirty="0">
              <a:ea typeface="宋体" pitchFamily="2" charset="-122"/>
            </a:endParaRPr>
          </a:p>
          <a:p>
            <a:pPr lvl="1" eaLnBrk="1" hangingPunct="1">
              <a:buFont typeface="Wingdings" pitchFamily="2" charset="2"/>
              <a:buNone/>
            </a:pPr>
            <a:endParaRPr lang="en-US" altLang="zh-CN" sz="1800" i="1" dirty="0">
              <a:ea typeface="宋体" pitchFamily="2" charset="-122"/>
            </a:endParaRPr>
          </a:p>
          <a:p>
            <a:pPr lvl="1" eaLnBrk="1" hangingPunct="1"/>
            <a:r>
              <a:rPr lang="en-US" altLang="zh-CN" sz="1800" i="1" dirty="0">
                <a:ea typeface="宋体" pitchFamily="2" charset="-122"/>
              </a:rPr>
              <a:t>       </a:t>
            </a:r>
            <a:r>
              <a:rPr lang="en-US" altLang="zh-CN" sz="1800" dirty="0">
                <a:ea typeface="宋体" pitchFamily="2" charset="-122"/>
              </a:rPr>
              <a:t>is an </a:t>
            </a:r>
            <a:r>
              <a:rPr lang="en-US" altLang="zh-CN" sz="1800" b="1" u="sng" dirty="0">
                <a:ea typeface="宋体" pitchFamily="2" charset="-122"/>
              </a:rPr>
              <a:t>optimistic estimate</a:t>
            </a:r>
            <a:r>
              <a:rPr lang="en-US" altLang="zh-CN" sz="1800" dirty="0">
                <a:ea typeface="宋体" pitchFamily="2" charset="-122"/>
              </a:rPr>
              <a:t> of the </a:t>
            </a:r>
            <a:r>
              <a:rPr lang="en-US" altLang="zh-CN" sz="1800" b="1" u="sng" dirty="0">
                <a:ea typeface="宋体" pitchFamily="2" charset="-122"/>
              </a:rPr>
              <a:t>best possible reward</a:t>
            </a:r>
            <a:r>
              <a:rPr lang="en-US" altLang="zh-CN" sz="1800" dirty="0">
                <a:ea typeface="宋体" pitchFamily="2" charset="-122"/>
              </a:rPr>
              <a:t> obtainable in any state</a:t>
            </a:r>
          </a:p>
          <a:p>
            <a:pPr lvl="1" eaLnBrk="1" hangingPunct="1"/>
            <a:r>
              <a:rPr lang="en-US" altLang="zh-CN" sz="1800" dirty="0">
                <a:ea typeface="宋体" pitchFamily="2" charset="-122"/>
              </a:rPr>
              <a:t>The agent will try each action-state pair(</a:t>
            </a:r>
            <a:r>
              <a:rPr lang="en-US" altLang="zh-CN" sz="1800" i="1" dirty="0" err="1">
                <a:ea typeface="宋体" pitchFamily="2" charset="-122"/>
              </a:rPr>
              <a:t>s,a</a:t>
            </a:r>
            <a:r>
              <a:rPr lang="en-US" altLang="zh-CN" sz="1800" dirty="0">
                <a:ea typeface="宋体" pitchFamily="2" charset="-122"/>
              </a:rPr>
              <a:t>) at least </a:t>
            </a:r>
            <a:r>
              <a:rPr lang="en-US" altLang="zh-CN" sz="1800" i="1" dirty="0">
                <a:ea typeface="宋体" pitchFamily="2" charset="-122"/>
              </a:rPr>
              <a:t>Ne</a:t>
            </a:r>
            <a:r>
              <a:rPr lang="en-US" altLang="zh-CN" sz="1800" dirty="0">
                <a:ea typeface="宋体" pitchFamily="2" charset="-122"/>
              </a:rPr>
              <a:t> times</a:t>
            </a:r>
          </a:p>
          <a:p>
            <a:pPr lvl="1" eaLnBrk="1" hangingPunct="1"/>
            <a:r>
              <a:rPr lang="en-US" altLang="zh-CN" sz="1800" dirty="0">
                <a:ea typeface="宋体" pitchFamily="2" charset="-122"/>
              </a:rPr>
              <a:t>The agent will behave initially as if there were wonderful rewards scattered all over around</a:t>
            </a:r>
            <a:r>
              <a:rPr lang="en-US" altLang="zh-CN" sz="1800" dirty="0">
                <a:latin typeface="Times New Roman" pitchFamily="18" charset="0"/>
                <a:ea typeface="宋体" pitchFamily="2" charset="-122"/>
              </a:rPr>
              <a:t>–</a:t>
            </a:r>
            <a:r>
              <a:rPr lang="en-US" altLang="zh-CN" sz="1800" dirty="0">
                <a:ea typeface="宋体" pitchFamily="2" charset="-122"/>
              </a:rPr>
              <a:t> </a:t>
            </a:r>
            <a:r>
              <a:rPr lang="en-US" altLang="zh-CN" sz="1800" b="1" u="sng" dirty="0">
                <a:ea typeface="宋体" pitchFamily="2" charset="-122"/>
              </a:rPr>
              <a:t>optimistic</a:t>
            </a:r>
            <a:r>
              <a:rPr lang="en-US" altLang="zh-CN" sz="1800" dirty="0">
                <a:ea typeface="宋体" pitchFamily="2" charset="-122"/>
              </a:rPr>
              <a:t> . </a:t>
            </a:r>
          </a:p>
          <a:p>
            <a:pPr eaLnBrk="1" hangingPunct="1"/>
            <a:r>
              <a:rPr lang="zh-CN" altLang="en-US" sz="2200" dirty="0">
                <a:ea typeface="宋体" pitchFamily="2" charset="-122"/>
              </a:rPr>
              <a:t>采用了</a:t>
            </a:r>
            <a:r>
              <a:rPr lang="en-US" altLang="zh-CN" sz="2200" dirty="0">
                <a:ea typeface="宋体" pitchFamily="2" charset="-122"/>
              </a:rPr>
              <a:t>exploration</a:t>
            </a:r>
            <a:r>
              <a:rPr lang="zh-CN" altLang="en-US" sz="2200" dirty="0">
                <a:ea typeface="宋体" pitchFamily="2" charset="-122"/>
              </a:rPr>
              <a:t>以后，房间机器人可在比较少的尝试以后，成功地找到最优策略</a:t>
            </a:r>
            <a:r>
              <a:rPr lang="en-US" altLang="zh-CN" sz="2200" dirty="0">
                <a:ea typeface="宋体" pitchFamily="2" charset="-122"/>
              </a:rPr>
              <a:t>!</a:t>
            </a:r>
          </a:p>
        </p:txBody>
      </p:sp>
      <p:graphicFrame>
        <p:nvGraphicFramePr>
          <p:cNvPr id="29700" name="Object 5"/>
          <p:cNvGraphicFramePr>
            <a:graphicFrameLocks noChangeAspect="1"/>
          </p:cNvGraphicFramePr>
          <p:nvPr/>
        </p:nvGraphicFramePr>
        <p:xfrm>
          <a:off x="1676400" y="2209800"/>
          <a:ext cx="1063625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4" name="Equation" r:id="rId3" imgW="596641" imgH="203112" progId="Equation.3">
                  <p:embed/>
                </p:oleObj>
              </mc:Choice>
              <mc:Fallback>
                <p:oleObj name="Equation" r:id="rId3" imgW="596641" imgH="20311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209800"/>
                        <a:ext cx="1063625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6"/>
          <p:cNvGraphicFramePr>
            <a:graphicFrameLocks noChangeAspect="1"/>
          </p:cNvGraphicFramePr>
          <p:nvPr/>
        </p:nvGraphicFramePr>
        <p:xfrm>
          <a:off x="3048000" y="2057400"/>
          <a:ext cx="3810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5" name="Equation" r:id="rId5" imgW="215713" imgH="190335" progId="Equation.3">
                  <p:embed/>
                </p:oleObj>
              </mc:Choice>
              <mc:Fallback>
                <p:oleObj name="Equation" r:id="rId5" imgW="215713" imgH="19033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057400"/>
                        <a:ext cx="3810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7"/>
          <p:cNvGraphicFramePr>
            <a:graphicFrameLocks noChangeAspect="1"/>
          </p:cNvGraphicFramePr>
          <p:nvPr/>
        </p:nvGraphicFramePr>
        <p:xfrm>
          <a:off x="2895600" y="2057400"/>
          <a:ext cx="3079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6" name="Equation" r:id="rId7" imgW="164885" imgH="215619" progId="Equation.3">
                  <p:embed/>
                </p:oleObj>
              </mc:Choice>
              <mc:Fallback>
                <p:oleObj name="Equation" r:id="rId7" imgW="164885" imgH="21561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057400"/>
                        <a:ext cx="30797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Object 8"/>
          <p:cNvGraphicFramePr>
            <a:graphicFrameLocks noChangeAspect="1"/>
          </p:cNvGraphicFramePr>
          <p:nvPr/>
        </p:nvGraphicFramePr>
        <p:xfrm>
          <a:off x="1295400" y="3352800"/>
          <a:ext cx="3810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7" name="Equation" r:id="rId9" imgW="215713" imgH="190335" progId="Equation.3">
                  <p:embed/>
                </p:oleObj>
              </mc:Choice>
              <mc:Fallback>
                <p:oleObj name="Equation" r:id="rId9" imgW="215713" imgH="19033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352800"/>
                        <a:ext cx="3810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F52370-2C5E-422C-B1BF-E06074CF0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Q learning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552CBC-5FF8-40FA-AA81-3398AC5CD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Q learning:</a:t>
            </a:r>
            <a:r>
              <a:rPr lang="zh-CN" altLang="en-US" dirty="0"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learns utility function on (state, action) pairs.</a:t>
            </a:r>
          </a:p>
          <a:p>
            <a:r>
              <a:rPr lang="en-US" altLang="zh-CN" dirty="0">
                <a:ea typeface="宋体" pitchFamily="2" charset="-122"/>
              </a:rPr>
              <a:t>Define Utility as Q-value function</a:t>
            </a:r>
          </a:p>
          <a:p>
            <a:pPr lvl="1"/>
            <a:endParaRPr lang="en-US" altLang="zh-CN" dirty="0">
              <a:ea typeface="宋体" pitchFamily="2" charset="-122"/>
            </a:endParaRPr>
          </a:p>
          <a:p>
            <a:r>
              <a:rPr lang="en-US" altLang="zh-CN" dirty="0">
                <a:ea typeface="宋体" pitchFamily="2" charset="-122"/>
              </a:rPr>
              <a:t>Q-value function updating rule</a:t>
            </a:r>
          </a:p>
          <a:p>
            <a:endParaRPr lang="en-US" altLang="zh-CN" dirty="0">
              <a:ea typeface="宋体" pitchFamily="2" charset="-122"/>
            </a:endParaRPr>
          </a:p>
          <a:p>
            <a:endParaRPr lang="zh-CN" altLang="en-US" dirty="0"/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5D4917C4-333C-41EE-B778-5872C73CC9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048583"/>
              </p:ext>
            </p:extLst>
          </p:nvPr>
        </p:nvGraphicFramePr>
        <p:xfrm>
          <a:off x="1752600" y="3276600"/>
          <a:ext cx="2620141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0" name="Equation" r:id="rId3" imgW="1193800" imgH="279400" progId="Equation.3">
                  <p:embed/>
                </p:oleObj>
              </mc:Choice>
              <mc:Fallback>
                <p:oleObj name="Equation" r:id="rId3" imgW="1193800" imgH="279400" progId="Equation.3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5D4917C4-333C-41EE-B778-5872C73CC90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276600"/>
                        <a:ext cx="2620141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8">
            <a:extLst>
              <a:ext uri="{FF2B5EF4-FFF2-40B4-BE49-F238E27FC236}">
                <a16:creationId xmlns:a16="http://schemas.microsoft.com/office/drawing/2014/main" id="{2E625E67-DEBF-4FEE-98EC-5C884B3713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206724"/>
              </p:ext>
            </p:extLst>
          </p:nvPr>
        </p:nvGraphicFramePr>
        <p:xfrm>
          <a:off x="1667299" y="4495800"/>
          <a:ext cx="4885902" cy="634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1" name="Equation" r:id="rId5" imgW="2641600" imgH="342900" progId="Equation.DSMT4">
                  <p:embed/>
                </p:oleObj>
              </mc:Choice>
              <mc:Fallback>
                <p:oleObj name="Equation" r:id="rId5" imgW="2641600" imgH="342900" progId="Equation.DSMT4">
                  <p:embed/>
                  <p:pic>
                    <p:nvPicPr>
                      <p:cNvPr id="5" name="Object 8">
                        <a:extLst>
                          <a:ext uri="{FF2B5EF4-FFF2-40B4-BE49-F238E27FC236}">
                            <a16:creationId xmlns:a16="http://schemas.microsoft.com/office/drawing/2014/main" id="{2E625E67-DEBF-4FEE-98EC-5C884B3713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7299" y="4495800"/>
                        <a:ext cx="4885902" cy="6349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B208CB5D-5E1A-47D6-8D91-313FEC7DA312}"/>
              </a:ext>
            </a:extLst>
          </p:cNvPr>
          <p:cNvSpPr/>
          <p:nvPr/>
        </p:nvSpPr>
        <p:spPr>
          <a:xfrm>
            <a:off x="3781972" y="5257800"/>
            <a:ext cx="15520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ea typeface="宋体" pitchFamily="2" charset="-122"/>
              </a:rPr>
              <a:t>Model required</a:t>
            </a:r>
            <a:endParaRPr lang="zh-CN" altLang="en-US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F8754E9-CDC0-4B87-85CF-4AF3E5B1001B}"/>
              </a:ext>
            </a:extLst>
          </p:cNvPr>
          <p:cNvCxnSpPr/>
          <p:nvPr/>
        </p:nvCxnSpPr>
        <p:spPr>
          <a:xfrm flipV="1">
            <a:off x="4572000" y="4953000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5026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F52370-2C5E-422C-B1BF-E06074CF0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TD-Q learning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552CBC-5FF8-40FA-AA81-3398AC5CD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TD-Q learning is model-free (no transition)</a:t>
            </a:r>
          </a:p>
          <a:p>
            <a:pPr eaLnBrk="1" hangingPunct="1"/>
            <a:r>
              <a:rPr lang="en-US" altLang="zh-CN" dirty="0">
                <a:ea typeface="宋体" pitchFamily="2" charset="-122"/>
              </a:rPr>
              <a:t>Key idea</a:t>
            </a:r>
          </a:p>
          <a:p>
            <a:pPr lvl="1" eaLnBrk="1" hangingPunct="1"/>
            <a:r>
              <a:rPr lang="en-US" altLang="zh-CN" dirty="0">
                <a:ea typeface="宋体" pitchFamily="2" charset="-122"/>
              </a:rPr>
              <a:t>Combine Q learning with temporal difference approach</a:t>
            </a:r>
          </a:p>
          <a:p>
            <a:pPr lvl="1" eaLnBrk="1" hangingPunct="1"/>
            <a:r>
              <a:rPr lang="en-US" altLang="zh-CN" dirty="0">
                <a:ea typeface="宋体" pitchFamily="2" charset="-122"/>
              </a:rPr>
              <a:t>The updating rule</a:t>
            </a:r>
          </a:p>
          <a:p>
            <a:endParaRPr lang="en-US" altLang="zh-CN" dirty="0">
              <a:ea typeface="宋体" pitchFamily="2" charset="-122"/>
            </a:endParaRPr>
          </a:p>
          <a:p>
            <a:endParaRPr lang="en-US" altLang="zh-CN" dirty="0">
              <a:ea typeface="宋体" pitchFamily="2" charset="-122"/>
            </a:endParaRPr>
          </a:p>
          <a:p>
            <a:r>
              <a:rPr lang="en-US" altLang="zh-CN" dirty="0">
                <a:ea typeface="宋体" pitchFamily="2" charset="-122"/>
              </a:rPr>
              <a:t>Rule to chose the action to take</a:t>
            </a:r>
          </a:p>
          <a:p>
            <a:endParaRPr lang="zh-CN" altLang="en-US" dirty="0"/>
          </a:p>
        </p:txBody>
      </p:sp>
      <p:graphicFrame>
        <p:nvGraphicFramePr>
          <p:cNvPr id="5" name="Object 8">
            <a:extLst>
              <a:ext uri="{FF2B5EF4-FFF2-40B4-BE49-F238E27FC236}">
                <a16:creationId xmlns:a16="http://schemas.microsoft.com/office/drawing/2014/main" id="{2E625E67-DEBF-4FEE-98EC-5C884B3713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5730310"/>
              </p:ext>
            </p:extLst>
          </p:nvPr>
        </p:nvGraphicFramePr>
        <p:xfrm>
          <a:off x="1667299" y="4318056"/>
          <a:ext cx="4885902" cy="634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5" name="Equation" r:id="rId3" imgW="2641600" imgH="342900" progId="Equation.DSMT4">
                  <p:embed/>
                </p:oleObj>
              </mc:Choice>
              <mc:Fallback>
                <p:oleObj name="Equation" r:id="rId3" imgW="2641600" imgH="342900" progId="Equation.DSMT4">
                  <p:embed/>
                  <p:pic>
                    <p:nvPicPr>
                      <p:cNvPr id="30725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7299" y="4318056"/>
                        <a:ext cx="4885902" cy="6349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9">
            <a:extLst>
              <a:ext uri="{FF2B5EF4-FFF2-40B4-BE49-F238E27FC236}">
                <a16:creationId xmlns:a16="http://schemas.microsoft.com/office/drawing/2014/main" id="{69F9ABC4-E7BF-4763-8D2F-FA70F2CA32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6847870"/>
              </p:ext>
            </p:extLst>
          </p:nvPr>
        </p:nvGraphicFramePr>
        <p:xfrm>
          <a:off x="1676400" y="4868862"/>
          <a:ext cx="5562600" cy="4726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6" name="Equation" r:id="rId5" imgW="3289300" imgH="279400" progId="Equation.DSMT4">
                  <p:embed/>
                </p:oleObj>
              </mc:Choice>
              <mc:Fallback>
                <p:oleObj name="Equation" r:id="rId5" imgW="3289300" imgH="279400" progId="Equation.DSMT4">
                  <p:embed/>
                  <p:pic>
                    <p:nvPicPr>
                      <p:cNvPr id="3072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868862"/>
                        <a:ext cx="5562600" cy="4726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53227E7A-06F3-4557-BAAA-2199351E54C0}"/>
              </a:ext>
            </a:extLst>
          </p:cNvPr>
          <p:cNvSpPr/>
          <p:nvPr/>
        </p:nvSpPr>
        <p:spPr>
          <a:xfrm>
            <a:off x="6909149" y="4343400"/>
            <a:ext cx="119936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ea typeface="宋体" pitchFamily="2" charset="-122"/>
              </a:rPr>
              <a:t>changed to</a:t>
            </a:r>
            <a:endParaRPr lang="zh-CN" altLang="en-US" dirty="0"/>
          </a:p>
        </p:txBody>
      </p:sp>
      <p:graphicFrame>
        <p:nvGraphicFramePr>
          <p:cNvPr id="8" name="Object 10">
            <a:extLst>
              <a:ext uri="{FF2B5EF4-FFF2-40B4-BE49-F238E27FC236}">
                <a16:creationId xmlns:a16="http://schemas.microsoft.com/office/drawing/2014/main" id="{DB4759AF-1A5A-4658-A136-0785B12331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4659988"/>
              </p:ext>
            </p:extLst>
          </p:nvPr>
        </p:nvGraphicFramePr>
        <p:xfrm>
          <a:off x="1702067" y="6095999"/>
          <a:ext cx="2270890" cy="580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7" name="Equation" r:id="rId7" imgW="1193800" imgH="304800" progId="Equation.3">
                  <p:embed/>
                </p:oleObj>
              </mc:Choice>
              <mc:Fallback>
                <p:oleObj name="Equation" r:id="rId7" imgW="1193800" imgH="304800" progId="Equation.3">
                  <p:embed/>
                  <p:pic>
                    <p:nvPicPr>
                      <p:cNvPr id="30727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2067" y="6095999"/>
                        <a:ext cx="2270890" cy="5809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637345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TD-Q-learning-agent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3174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b="1" dirty="0">
                <a:ea typeface="宋体" pitchFamily="2" charset="-122"/>
              </a:rPr>
              <a:t>Function</a:t>
            </a:r>
            <a:r>
              <a:rPr lang="en-US" altLang="zh-CN" sz="2000" dirty="0">
                <a:ea typeface="宋体" pitchFamily="2" charset="-122"/>
              </a:rPr>
              <a:t> TD-Q-learning-AGENT(percept) </a:t>
            </a:r>
            <a:r>
              <a:rPr lang="en-US" altLang="zh-CN" sz="2000" b="1" dirty="0">
                <a:ea typeface="宋体" pitchFamily="2" charset="-122"/>
              </a:rPr>
              <a:t>returns</a:t>
            </a:r>
            <a:r>
              <a:rPr lang="en-US" altLang="zh-CN" sz="2000" dirty="0">
                <a:ea typeface="宋体" pitchFamily="2" charset="-122"/>
              </a:rPr>
              <a:t> an action</a:t>
            </a:r>
          </a:p>
          <a:p>
            <a:pPr>
              <a:buFontTx/>
              <a:buNone/>
            </a:pPr>
            <a:r>
              <a:rPr lang="en-US" altLang="zh-CN" sz="2000" dirty="0">
                <a:ea typeface="宋体" pitchFamily="2" charset="-122"/>
              </a:rPr>
              <a:t>	inputs: percept, a percept indicating the current state s’ and reward 	signal r’</a:t>
            </a:r>
          </a:p>
          <a:p>
            <a:pPr>
              <a:buFontTx/>
              <a:buNone/>
            </a:pPr>
            <a:r>
              <a:rPr lang="en-US" altLang="zh-CN" sz="2000" dirty="0">
                <a:ea typeface="宋体" pitchFamily="2" charset="-122"/>
              </a:rPr>
              <a:t>	static: Q, a table of action values indexed by state and action</a:t>
            </a:r>
          </a:p>
          <a:p>
            <a:pPr>
              <a:buFontTx/>
              <a:buNone/>
            </a:pPr>
            <a:r>
              <a:rPr lang="en-US" altLang="zh-CN" sz="2000" dirty="0">
                <a:ea typeface="宋体" pitchFamily="2" charset="-122"/>
              </a:rPr>
              <a:t>                </a:t>
            </a:r>
            <a:r>
              <a:rPr lang="en-US" altLang="zh-CN" sz="2000" dirty="0" err="1">
                <a:ea typeface="宋体" pitchFamily="2" charset="-122"/>
              </a:rPr>
              <a:t>N</a:t>
            </a:r>
            <a:r>
              <a:rPr lang="en-US" altLang="zh-CN" sz="2000" baseline="-25000" dirty="0" err="1">
                <a:ea typeface="宋体" pitchFamily="2" charset="-122"/>
              </a:rPr>
              <a:t>sa</a:t>
            </a:r>
            <a:r>
              <a:rPr lang="en-US" altLang="zh-CN" sz="2000" dirty="0">
                <a:ea typeface="宋体" pitchFamily="2" charset="-122"/>
              </a:rPr>
              <a:t>, a table of frequencies for state-action pairs, initially zero</a:t>
            </a:r>
          </a:p>
          <a:p>
            <a:pPr>
              <a:buFontTx/>
              <a:buNone/>
            </a:pPr>
            <a:r>
              <a:rPr lang="en-US" altLang="zh-CN" sz="2000" dirty="0">
                <a:ea typeface="宋体" pitchFamily="2" charset="-122"/>
              </a:rPr>
              <a:t>                s, a, r, the previous state, action, and reward, initially null</a:t>
            </a:r>
          </a:p>
          <a:p>
            <a:pPr>
              <a:buFontTx/>
              <a:buNone/>
            </a:pPr>
            <a:endParaRPr lang="en-US" altLang="zh-CN" sz="2000" dirty="0">
              <a:ea typeface="宋体" pitchFamily="2" charset="-122"/>
            </a:endParaRPr>
          </a:p>
          <a:p>
            <a:pPr>
              <a:buFontTx/>
              <a:buNone/>
            </a:pPr>
            <a:r>
              <a:rPr lang="en-US" altLang="zh-CN" sz="2000" dirty="0">
                <a:ea typeface="宋体" pitchFamily="2" charset="-122"/>
              </a:rPr>
              <a:t>       if s is not null then do</a:t>
            </a:r>
          </a:p>
          <a:p>
            <a:pPr>
              <a:buFontTx/>
              <a:buNone/>
            </a:pPr>
            <a:r>
              <a:rPr lang="en-US" altLang="zh-CN" sz="2000" dirty="0">
                <a:ea typeface="宋体" pitchFamily="2" charset="-122"/>
              </a:rPr>
              <a:t>            increment </a:t>
            </a:r>
            <a:r>
              <a:rPr lang="en-US" altLang="zh-CN" sz="2000" dirty="0" err="1">
                <a:ea typeface="宋体" pitchFamily="2" charset="-122"/>
              </a:rPr>
              <a:t>N</a:t>
            </a:r>
            <a:r>
              <a:rPr lang="en-US" altLang="zh-CN" sz="2000" baseline="-25000" dirty="0" err="1">
                <a:ea typeface="宋体" pitchFamily="2" charset="-122"/>
              </a:rPr>
              <a:t>sa</a:t>
            </a:r>
            <a:r>
              <a:rPr lang="en-US" altLang="zh-CN" sz="2000" dirty="0">
                <a:ea typeface="宋体" pitchFamily="2" charset="-122"/>
              </a:rPr>
              <a:t>[</a:t>
            </a:r>
            <a:r>
              <a:rPr lang="en-US" altLang="zh-CN" sz="2000" dirty="0" err="1">
                <a:ea typeface="宋体" pitchFamily="2" charset="-122"/>
              </a:rPr>
              <a:t>s,a</a:t>
            </a:r>
            <a:r>
              <a:rPr lang="en-US" altLang="zh-CN" sz="2000" dirty="0">
                <a:ea typeface="宋体" pitchFamily="2" charset="-122"/>
              </a:rPr>
              <a:t>]</a:t>
            </a:r>
          </a:p>
          <a:p>
            <a:pPr>
              <a:buFontTx/>
              <a:buNone/>
            </a:pPr>
            <a:r>
              <a:rPr lang="en-US" altLang="zh-CN" sz="2000" dirty="0">
                <a:latin typeface="Times New Roman" pitchFamily="18" charset="0"/>
                <a:ea typeface="宋体" pitchFamily="2" charset="-122"/>
              </a:rPr>
              <a:t>            Q</a:t>
            </a:r>
            <a:r>
              <a:rPr lang="en-US" altLang="zh-CN" sz="2000" i="1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[</a:t>
            </a:r>
            <a:r>
              <a:rPr lang="en-US" altLang="zh-CN" sz="2000" i="1" dirty="0" err="1">
                <a:latin typeface="Times New Roman" pitchFamily="18" charset="0"/>
                <a:ea typeface="宋体" pitchFamily="2" charset="-122"/>
                <a:sym typeface="Wingdings" pitchFamily="2" charset="2"/>
              </a:rPr>
              <a:t>a,s</a:t>
            </a:r>
            <a:r>
              <a:rPr lang="en-US" altLang="zh-CN" sz="2000" i="1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] </a:t>
            </a:r>
            <a:r>
              <a:rPr lang="en-US" altLang="zh-CN" sz="2000" dirty="0">
                <a:ea typeface="宋体" pitchFamily="2" charset="-122"/>
              </a:rPr>
              <a:t>← </a:t>
            </a:r>
            <a:r>
              <a:rPr lang="en-US" altLang="zh-CN" sz="2000" i="1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 Q[</a:t>
            </a:r>
            <a:r>
              <a:rPr lang="en-US" altLang="zh-CN" sz="2000" i="1" dirty="0" err="1">
                <a:latin typeface="Times New Roman" pitchFamily="18" charset="0"/>
                <a:ea typeface="宋体" pitchFamily="2" charset="-122"/>
                <a:sym typeface="Wingdings" pitchFamily="2" charset="2"/>
              </a:rPr>
              <a:t>a,s</a:t>
            </a:r>
            <a:r>
              <a:rPr lang="en-US" altLang="zh-CN" sz="2000" i="1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] +</a:t>
            </a:r>
            <a:r>
              <a:rPr lang="el-GR" altLang="zh-CN" sz="2000" i="1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α</a:t>
            </a:r>
            <a:r>
              <a:rPr lang="en-US" altLang="zh-CN" sz="2000" i="1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(</a:t>
            </a:r>
            <a:r>
              <a:rPr lang="en-US" altLang="zh-CN" sz="2000" i="1" dirty="0" err="1">
                <a:latin typeface="Times New Roman" pitchFamily="18" charset="0"/>
                <a:ea typeface="宋体" pitchFamily="2" charset="-122"/>
                <a:sym typeface="Wingdings" pitchFamily="2" charset="2"/>
              </a:rPr>
              <a:t>N</a:t>
            </a:r>
            <a:r>
              <a:rPr lang="en-US" altLang="zh-CN" sz="2000" i="1" baseline="-25000" dirty="0" err="1">
                <a:latin typeface="Times New Roman" pitchFamily="18" charset="0"/>
                <a:ea typeface="宋体" pitchFamily="2" charset="-122"/>
                <a:sym typeface="Wingdings" pitchFamily="2" charset="2"/>
              </a:rPr>
              <a:t>sa</a:t>
            </a:r>
            <a:r>
              <a:rPr lang="en-US" altLang="zh-CN" sz="2000" i="1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[</a:t>
            </a:r>
            <a:r>
              <a:rPr lang="en-US" altLang="zh-CN" sz="2000" i="1" dirty="0" err="1">
                <a:latin typeface="Times New Roman" pitchFamily="18" charset="0"/>
                <a:ea typeface="宋体" pitchFamily="2" charset="-122"/>
                <a:sym typeface="Wingdings" pitchFamily="2" charset="2"/>
              </a:rPr>
              <a:t>s,a</a:t>
            </a:r>
            <a:r>
              <a:rPr lang="en-US" altLang="zh-CN" sz="2000" i="1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])(r+</a:t>
            </a:r>
            <a:r>
              <a:rPr lang="el-GR" altLang="zh-CN" sz="2000" i="1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γ</a:t>
            </a:r>
            <a:r>
              <a:rPr lang="en-US" altLang="zh-CN" sz="2000" i="1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 </a:t>
            </a:r>
            <a:r>
              <a:rPr lang="en-US" altLang="zh-CN" sz="2000" i="1" dirty="0" err="1">
                <a:latin typeface="Times New Roman" pitchFamily="18" charset="0"/>
                <a:ea typeface="宋体" pitchFamily="2" charset="-122"/>
                <a:sym typeface="Wingdings" pitchFamily="2" charset="2"/>
              </a:rPr>
              <a:t>max</a:t>
            </a:r>
            <a:r>
              <a:rPr lang="en-US" altLang="zh-CN" sz="2000" i="1" baseline="-25000" dirty="0" err="1">
                <a:latin typeface="Times New Roman" pitchFamily="18" charset="0"/>
                <a:ea typeface="宋体" pitchFamily="2" charset="-122"/>
                <a:sym typeface="Wingdings" pitchFamily="2" charset="2"/>
              </a:rPr>
              <a:t>a’</a:t>
            </a:r>
            <a:r>
              <a:rPr lang="en-US" altLang="zh-CN" sz="2000" i="1" dirty="0" err="1">
                <a:latin typeface="Times New Roman" pitchFamily="18" charset="0"/>
                <a:ea typeface="宋体" pitchFamily="2" charset="-122"/>
                <a:sym typeface="Wingdings" pitchFamily="2" charset="2"/>
              </a:rPr>
              <a:t>Q</a:t>
            </a:r>
            <a:r>
              <a:rPr lang="en-US" altLang="zh-CN" sz="2000" i="1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[</a:t>
            </a:r>
            <a:r>
              <a:rPr lang="en-US" altLang="zh-CN" sz="2000" i="1" dirty="0" err="1">
                <a:latin typeface="Times New Roman" pitchFamily="18" charset="0"/>
                <a:ea typeface="宋体" pitchFamily="2" charset="-122"/>
                <a:sym typeface="Wingdings" pitchFamily="2" charset="2"/>
              </a:rPr>
              <a:t>a’,s</a:t>
            </a:r>
            <a:r>
              <a:rPr lang="en-US" altLang="zh-CN" sz="2000" i="1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’] – Q[</a:t>
            </a:r>
            <a:r>
              <a:rPr lang="en-US" altLang="zh-CN" sz="2000" i="1" dirty="0" err="1">
                <a:latin typeface="Times New Roman" pitchFamily="18" charset="0"/>
                <a:ea typeface="宋体" pitchFamily="2" charset="-122"/>
                <a:sym typeface="Wingdings" pitchFamily="2" charset="2"/>
              </a:rPr>
              <a:t>a,s</a:t>
            </a:r>
            <a:r>
              <a:rPr lang="en-US" altLang="zh-CN" sz="2000" i="1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])</a:t>
            </a:r>
          </a:p>
          <a:p>
            <a:pPr>
              <a:buFontTx/>
              <a:buNone/>
            </a:pPr>
            <a:r>
              <a:rPr lang="en-US" altLang="zh-CN" sz="2000" i="1" dirty="0">
                <a:latin typeface="Times New Roman" pitchFamily="18" charset="0"/>
                <a:ea typeface="宋体" pitchFamily="2" charset="-122"/>
                <a:sym typeface="Wingdings" pitchFamily="2" charset="2"/>
              </a:rPr>
              <a:t>       if terminal?[s’] then </a:t>
            </a:r>
            <a:r>
              <a:rPr lang="en-US" altLang="zh-CN" sz="2000" i="1" dirty="0" err="1">
                <a:latin typeface="Times New Roman" pitchFamily="18" charset="0"/>
                <a:ea typeface="宋体" pitchFamily="2" charset="-122"/>
                <a:sym typeface="Wingdings" pitchFamily="2" charset="2"/>
              </a:rPr>
              <a:t>s,a,r</a:t>
            </a:r>
            <a:r>
              <a:rPr lang="en-US" altLang="zh-CN" sz="2000" dirty="0">
                <a:ea typeface="宋体" pitchFamily="2" charset="-122"/>
              </a:rPr>
              <a:t> ← null else </a:t>
            </a:r>
          </a:p>
          <a:p>
            <a:pPr>
              <a:buFontTx/>
              <a:buNone/>
            </a:pPr>
            <a:r>
              <a:rPr lang="en-US" altLang="zh-CN" sz="2000" dirty="0">
                <a:ea typeface="宋体" pitchFamily="2" charset="-122"/>
              </a:rPr>
              <a:t>          </a:t>
            </a:r>
            <a:r>
              <a:rPr lang="en-US" altLang="zh-CN" sz="2000" dirty="0" err="1">
                <a:ea typeface="宋体" pitchFamily="2" charset="-122"/>
              </a:rPr>
              <a:t>s,a,r</a:t>
            </a:r>
            <a:r>
              <a:rPr lang="en-US" altLang="zh-CN" sz="2000" dirty="0">
                <a:ea typeface="宋体" pitchFamily="2" charset="-122"/>
              </a:rPr>
              <a:t> ← s’,</a:t>
            </a:r>
            <a:r>
              <a:rPr lang="el-GR" altLang="zh-CN" sz="2000" dirty="0">
                <a:ea typeface="宋体" pitchFamily="2" charset="-122"/>
              </a:rPr>
              <a:t> </a:t>
            </a:r>
            <a:r>
              <a:rPr lang="en-US" altLang="zh-CN" sz="2000" dirty="0" err="1">
                <a:ea typeface="宋体" pitchFamily="2" charset="-122"/>
              </a:rPr>
              <a:t>argmax</a:t>
            </a:r>
            <a:r>
              <a:rPr lang="en-US" altLang="zh-CN" sz="2000" baseline="-25000" dirty="0" err="1">
                <a:ea typeface="宋体" pitchFamily="2" charset="-122"/>
              </a:rPr>
              <a:t>a</a:t>
            </a:r>
            <a:r>
              <a:rPr lang="en-US" altLang="zh-CN" sz="2000" baseline="-25000" dirty="0">
                <a:ea typeface="宋体" pitchFamily="2" charset="-122"/>
              </a:rPr>
              <a:t>’ </a:t>
            </a:r>
            <a:r>
              <a:rPr lang="en-US" altLang="zh-CN" sz="2000" dirty="0">
                <a:ea typeface="宋体" pitchFamily="2" charset="-122"/>
              </a:rPr>
              <a:t>f(Q[</a:t>
            </a:r>
            <a:r>
              <a:rPr lang="en-US" altLang="zh-CN" sz="2000" dirty="0" err="1">
                <a:ea typeface="宋体" pitchFamily="2" charset="-122"/>
              </a:rPr>
              <a:t>a’,s</a:t>
            </a:r>
            <a:r>
              <a:rPr lang="en-US" altLang="zh-CN" sz="2000" dirty="0">
                <a:ea typeface="宋体" pitchFamily="2" charset="-122"/>
              </a:rPr>
              <a:t>’],</a:t>
            </a:r>
            <a:r>
              <a:rPr lang="en-US" altLang="zh-CN" sz="2000" dirty="0" err="1">
                <a:ea typeface="宋体" pitchFamily="2" charset="-122"/>
              </a:rPr>
              <a:t>N</a:t>
            </a:r>
            <a:r>
              <a:rPr lang="en-US" altLang="zh-CN" sz="2000" baseline="-25000" dirty="0" err="1">
                <a:ea typeface="宋体" pitchFamily="2" charset="-122"/>
              </a:rPr>
              <a:t>sa</a:t>
            </a:r>
            <a:r>
              <a:rPr lang="en-US" altLang="zh-CN" sz="2000" dirty="0">
                <a:ea typeface="宋体" pitchFamily="2" charset="-122"/>
              </a:rPr>
              <a:t>[</a:t>
            </a:r>
            <a:r>
              <a:rPr lang="en-US" altLang="zh-CN" sz="2000" dirty="0" err="1">
                <a:ea typeface="宋体" pitchFamily="2" charset="-122"/>
              </a:rPr>
              <a:t>s’,a</a:t>
            </a:r>
            <a:r>
              <a:rPr lang="en-US" altLang="zh-CN" sz="2000" dirty="0">
                <a:ea typeface="宋体" pitchFamily="2" charset="-122"/>
              </a:rPr>
              <a:t>’]), r’</a:t>
            </a:r>
          </a:p>
          <a:p>
            <a:pPr>
              <a:buFontTx/>
              <a:buNone/>
            </a:pPr>
            <a:r>
              <a:rPr lang="en-US" altLang="zh-CN" sz="2000" dirty="0">
                <a:ea typeface="宋体" pitchFamily="2" charset="-122"/>
              </a:rPr>
              <a:t>       return a</a:t>
            </a:r>
            <a:endParaRPr lang="zh-CN" altLang="en-US" sz="2000" dirty="0">
              <a:ea typeface="宋体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733800" y="6138446"/>
            <a:ext cx="24112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1" dirty="0">
                <a:ea typeface="宋体" pitchFamily="2" charset="-122"/>
              </a:rPr>
              <a:t>f: exploration function </a:t>
            </a:r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Generalization in Reinforcement Learning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400" dirty="0">
                <a:ea typeface="宋体" pitchFamily="2" charset="-122"/>
              </a:rPr>
              <a:t>So far we assumed that all the functions learned by the agent  </a:t>
            </a:r>
            <a:r>
              <a:rPr lang="en-US" altLang="zh-CN" sz="2400" i="1" dirty="0">
                <a:ea typeface="宋体" pitchFamily="2" charset="-122"/>
              </a:rPr>
              <a:t>(U, T, R, Q) </a:t>
            </a:r>
            <a:r>
              <a:rPr lang="en-US" altLang="zh-CN" sz="2400" dirty="0">
                <a:ea typeface="宋体" pitchFamily="2" charset="-122"/>
              </a:rPr>
              <a:t>are tabular forms</a:t>
            </a:r>
            <a:r>
              <a:rPr lang="en-US" altLang="zh-CN" sz="2400" dirty="0">
                <a:latin typeface="Times New Roman" pitchFamily="18" charset="0"/>
                <a:ea typeface="宋体" pitchFamily="2" charset="-122"/>
              </a:rPr>
              <a:t>—</a:t>
            </a:r>
            <a:r>
              <a:rPr lang="en-US" altLang="zh-CN" sz="2400" dirty="0">
                <a:ea typeface="宋体" pitchFamily="2" charset="-122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dirty="0">
                <a:ea typeface="宋体" pitchFamily="2" charset="-122"/>
              </a:rPr>
              <a:t>   i.e.. It is possible to enumerate state and action spaces. </a:t>
            </a:r>
          </a:p>
          <a:p>
            <a:pPr eaLnBrk="1" hangingPunct="1"/>
            <a:r>
              <a:rPr lang="en-US" altLang="zh-CN" sz="2400" dirty="0">
                <a:ea typeface="宋体" pitchFamily="2" charset="-122"/>
              </a:rPr>
              <a:t>In case it is not, use generalization techniques to deal with large state or action space.</a:t>
            </a:r>
          </a:p>
          <a:p>
            <a:pPr lvl="1" eaLnBrk="1" hangingPunct="1"/>
            <a:r>
              <a:rPr lang="en-US" altLang="zh-CN" sz="2000" dirty="0">
                <a:ea typeface="宋体" pitchFamily="2" charset="-122"/>
              </a:rPr>
              <a:t>Function approximation techniques. </a:t>
            </a:r>
            <a:r>
              <a:rPr lang="en-US" altLang="zh-CN" sz="2000" dirty="0" err="1">
                <a:ea typeface="宋体" pitchFamily="2" charset="-122"/>
              </a:rPr>
              <a:t>Eg</a:t>
            </a:r>
            <a:r>
              <a:rPr lang="en-US" altLang="zh-CN" sz="2000" dirty="0">
                <a:ea typeface="宋体" pitchFamily="2" charset="-122"/>
              </a:rPr>
              <a:t>. </a:t>
            </a:r>
            <a:r>
              <a:rPr lang="en-GB" altLang="de-DE" sz="2000" dirty="0"/>
              <a:t>an estimated utility function for game playing can be represented as a weighted linear function of a set of board features f</a:t>
            </a:r>
            <a:r>
              <a:rPr lang="en-GB" altLang="de-DE" sz="2000" baseline="-25000" dirty="0"/>
              <a:t>1</a:t>
            </a:r>
            <a:r>
              <a:rPr lang="en-GB" altLang="de-DE" sz="2000" dirty="0"/>
              <a:t>………</a:t>
            </a:r>
            <a:r>
              <a:rPr lang="en-GB" altLang="de-DE" sz="2000" dirty="0" err="1"/>
              <a:t>f</a:t>
            </a:r>
            <a:r>
              <a:rPr lang="en-GB" altLang="de-DE" sz="2000" baseline="-25000" dirty="0" err="1"/>
              <a:t>n</a:t>
            </a:r>
            <a:r>
              <a:rPr lang="en-GB" altLang="de-DE" sz="2000" dirty="0"/>
              <a:t>:           </a:t>
            </a:r>
            <a:r>
              <a:rPr lang="en-GB" altLang="de-DE" sz="1800" dirty="0"/>
              <a:t>	</a:t>
            </a:r>
          </a:p>
          <a:p>
            <a:pPr lvl="1" eaLnBrk="1" hangingPunct="1"/>
            <a:endParaRPr lang="en-GB" altLang="de-DE" sz="1800" dirty="0"/>
          </a:p>
          <a:p>
            <a:pPr lvl="1" eaLnBrk="1" hangingPunct="1"/>
            <a:endParaRPr lang="en-GB" altLang="de-DE" sz="1800" dirty="0"/>
          </a:p>
          <a:p>
            <a:pPr lvl="1" eaLnBrk="1" hangingPunct="1"/>
            <a:r>
              <a:rPr lang="en-GB" altLang="de-DE" sz="1800" dirty="0"/>
              <a:t>Even </a:t>
            </a:r>
            <a:r>
              <a:rPr lang="en-US" altLang="de-DE" sz="1800" dirty="0"/>
              <a:t>i</a:t>
            </a:r>
            <a:r>
              <a:rPr lang="en-US" altLang="zh-CN" sz="1800" dirty="0">
                <a:ea typeface="宋体" pitchFamily="2" charset="-122"/>
              </a:rPr>
              <a:t>n grid world, for state (x, y), we can have</a:t>
            </a:r>
            <a:endParaRPr lang="en-GB" altLang="de-DE" sz="1800" dirty="0"/>
          </a:p>
        </p:txBody>
      </p:sp>
      <p:pic>
        <p:nvPicPr>
          <p:cNvPr id="32772" name="Picture 5" descr="C:\Users\mandel\AppData\Roaming\Tencent\Users\87169558\QQ\WinTemp\RichOle\V$M{LT1GO)3S6T[FDU41$[I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4648200"/>
            <a:ext cx="435292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3" name="Picture 6" descr="C:\Users\mandel\AppData\Roaming\Tencent\Users\87169558\QQ\WinTemp\RichOle\}YJ1(NWM{YPY~4IL]@K7NR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5715000"/>
            <a:ext cx="3581400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Generalization in Reinforcement Learning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337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88"/>
              </a:spcBef>
            </a:pPr>
            <a:r>
              <a:rPr lang="en-GB" altLang="de-DE" dirty="0"/>
              <a:t>Enormous compression is achieved by a function representation which allows the learning agents to generalize from states it has visited to states it has not visited</a:t>
            </a:r>
          </a:p>
          <a:p>
            <a:pPr>
              <a:spcBef>
                <a:spcPts val="688"/>
              </a:spcBef>
            </a:pPr>
            <a:r>
              <a:rPr lang="en-GB" altLang="de-DE" dirty="0"/>
              <a:t>the most important aspect: it allows for inductive generalization over input states.</a:t>
            </a:r>
          </a:p>
          <a:p>
            <a:pPr>
              <a:spcBef>
                <a:spcPts val="688"/>
              </a:spcBef>
            </a:pPr>
            <a:r>
              <a:rPr lang="en-GB" altLang="de-DE" dirty="0"/>
              <a:t>Therefore, such method is said to perform input generalization</a:t>
            </a:r>
          </a:p>
          <a:p>
            <a:endParaRPr lang="zh-CN" altLang="en-US" dirty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Generalization in Reinforcement Learning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3481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88"/>
              </a:spcBef>
            </a:pPr>
            <a:r>
              <a:rPr lang="en-GB" altLang="de-DE"/>
              <a:t>The weights can be updated after each trial (</a:t>
            </a:r>
            <a:r>
              <a:rPr lang="en-GB" altLang="de-DE" i="1"/>
              <a:t>online</a:t>
            </a:r>
            <a:r>
              <a:rPr lang="en-GB" altLang="de-DE"/>
              <a:t> learning)</a:t>
            </a:r>
          </a:p>
          <a:p>
            <a:pPr>
              <a:spcBef>
                <a:spcPts val="688"/>
              </a:spcBef>
            </a:pPr>
            <a:r>
              <a:rPr lang="en-GB" altLang="zh-CN">
                <a:ea typeface="宋体" pitchFamily="2" charset="-122"/>
              </a:rPr>
              <a:t>Error function</a:t>
            </a:r>
          </a:p>
          <a:p>
            <a:pPr>
              <a:spcBef>
                <a:spcPts val="688"/>
              </a:spcBef>
            </a:pPr>
            <a:endParaRPr lang="en-GB" altLang="zh-CN">
              <a:ea typeface="宋体" pitchFamily="2" charset="-122"/>
            </a:endParaRPr>
          </a:p>
          <a:p>
            <a:pPr>
              <a:spcBef>
                <a:spcPts val="688"/>
              </a:spcBef>
            </a:pPr>
            <a:r>
              <a:rPr lang="en-US" altLang="zh-CN">
                <a:ea typeface="宋体" pitchFamily="2" charset="-122"/>
              </a:rPr>
              <a:t>Gradient update to decrease error</a:t>
            </a:r>
          </a:p>
          <a:p>
            <a:pPr>
              <a:spcBef>
                <a:spcPts val="688"/>
              </a:spcBef>
            </a:pPr>
            <a:endParaRPr lang="en-GB" altLang="zh-CN">
              <a:ea typeface="宋体" pitchFamily="2" charset="-122"/>
            </a:endParaRPr>
          </a:p>
          <a:p>
            <a:pPr>
              <a:spcBef>
                <a:spcPts val="688"/>
              </a:spcBef>
            </a:pPr>
            <a:endParaRPr lang="en-GB" altLang="zh-CN">
              <a:ea typeface="宋体" pitchFamily="2" charset="-122"/>
            </a:endParaRPr>
          </a:p>
        </p:txBody>
      </p:sp>
      <p:sp>
        <p:nvSpPr>
          <p:cNvPr id="34820" name="矩形 5"/>
          <p:cNvSpPr>
            <a:spLocks noChangeArrowheads="1"/>
          </p:cNvSpPr>
          <p:nvPr/>
        </p:nvSpPr>
        <p:spPr bwMode="auto">
          <a:xfrm>
            <a:off x="3200400" y="5481638"/>
            <a:ext cx="43164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zh-CN" sz="2400" b="1">
                <a:ea typeface="宋体" pitchFamily="2" charset="-122"/>
              </a:rPr>
              <a:t>Widrow-Hoff rule (delta rule)</a:t>
            </a:r>
            <a:endParaRPr lang="zh-CN" altLang="en-US" sz="2400" b="1">
              <a:ea typeface="宋体" pitchFamily="2" charset="-122"/>
            </a:endParaRPr>
          </a:p>
        </p:txBody>
      </p:sp>
      <p:pic>
        <p:nvPicPr>
          <p:cNvPr id="34821" name="Picture 6" descr="C:\Users\mandel\AppData\Roaming\Tencent\Users\87169558\QQ\WinTemp\RichOle\%M~181]O5FD[2}{N$K2{DDW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124200"/>
            <a:ext cx="3552825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2" name="矩形 7"/>
          <p:cNvSpPr>
            <a:spLocks noChangeArrowheads="1"/>
          </p:cNvSpPr>
          <p:nvPr/>
        </p:nvSpPr>
        <p:spPr bwMode="auto">
          <a:xfrm>
            <a:off x="5638800" y="3302000"/>
            <a:ext cx="3200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ts val="688"/>
              </a:spcBef>
              <a:buFontTx/>
              <a:buNone/>
            </a:pPr>
            <a:r>
              <a:rPr lang="en-GB" altLang="zh-CN" sz="1600">
                <a:ea typeface="宋体" pitchFamily="2" charset="-122"/>
              </a:rPr>
              <a:t>u</a:t>
            </a:r>
            <a:r>
              <a:rPr lang="en-GB" altLang="zh-CN" sz="1600" baseline="-25000">
                <a:ea typeface="宋体" pitchFamily="2" charset="-122"/>
              </a:rPr>
              <a:t>j</a:t>
            </a:r>
            <a:r>
              <a:rPr lang="en-GB" altLang="zh-CN" sz="1600">
                <a:ea typeface="宋体" pitchFamily="2" charset="-122"/>
              </a:rPr>
              <a:t>(s): observed total award from s onward in the jth trial</a:t>
            </a:r>
          </a:p>
        </p:txBody>
      </p:sp>
      <p:pic>
        <p:nvPicPr>
          <p:cNvPr id="34823" name="Picture 7" descr="C:\Users\mandel\AppData\Roaming\Tencent\Users\87169558\QQ\WinTemp\RichOle\96$[}9`X0U$UE[H6LO4Q%B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495800"/>
            <a:ext cx="643890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>
                <a:ea typeface="宋体" pitchFamily="2" charset="-122"/>
              </a:rPr>
              <a:t>Reinforcement Learning: grid world</a:t>
            </a:r>
            <a:endParaRPr lang="zh-CN" altLang="en-US" sz="4000"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914400" y="5791200"/>
                <a:ext cx="6933308" cy="6382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smtClean="0">
                              <a:latin typeface="Cambria Math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3200" b="1" i="1" smtClean="0">
                              <a:latin typeface="Cambria Math"/>
                            </a:rPr>
                            <m:t>𝒋</m:t>
                          </m:r>
                        </m:sub>
                      </m:sSub>
                      <m:d>
                        <m:d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 i="1" smtClean="0">
                              <a:latin typeface="Cambria Math"/>
                            </a:rPr>
                            <m:t>𝟏</m:t>
                          </m:r>
                          <m:r>
                            <a:rPr lang="en-US" altLang="zh-CN" sz="3200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CN" sz="3200" b="1" i="1" smtClean="0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altLang="zh-CN" sz="3200" b="1" i="1" smtClean="0">
                          <a:latin typeface="Cambria Math"/>
                        </a:rPr>
                        <m:t>=</m:t>
                      </m:r>
                      <m:r>
                        <a:rPr lang="en-US" altLang="zh-CN" sz="3200" b="1" i="1" smtClean="0">
                          <a:latin typeface="Cambria Math"/>
                        </a:rPr>
                        <m:t>𝟎</m:t>
                      </m:r>
                      <m:r>
                        <a:rPr lang="en-US" altLang="zh-CN" sz="3200" b="1" i="1" smtClean="0">
                          <a:latin typeface="Cambria Math"/>
                        </a:rPr>
                        <m:t>.</m:t>
                      </m:r>
                      <m:r>
                        <a:rPr lang="en-US" altLang="zh-CN" sz="3200" b="1" i="1" smtClean="0">
                          <a:latin typeface="Cambria Math"/>
                        </a:rPr>
                        <m:t>𝟒</m:t>
                      </m:r>
                      <m:r>
                        <a:rPr lang="en-US" altLang="zh-CN" sz="3200" b="1" i="1" smtClean="0">
                          <a:latin typeface="Cambria Math"/>
                        </a:rPr>
                        <m:t>,</m:t>
                      </m:r>
                      <m:r>
                        <a:rPr lang="zh-CN" altLang="en-US" sz="3200" b="1" i="1" smtClean="0">
                          <a:latin typeface="Cambria Math"/>
                        </a:rPr>
                        <m:t>则</m:t>
                      </m:r>
                      <m:sSub>
                        <m:sSub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 smtClean="0">
                              <a:latin typeface="Cambria Math"/>
                            </a:rPr>
                            <m:t>𝜽</m:t>
                          </m:r>
                        </m:e>
                        <m:sub>
                          <m:r>
                            <a:rPr lang="en-US" altLang="zh-CN" sz="3200" b="1" i="1" smtClean="0">
                              <a:latin typeface="Cambria Math"/>
                            </a:rPr>
                            <m:t>𝟎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 smtClean="0">
                              <a:latin typeface="Cambria Math"/>
                            </a:rPr>
                            <m:t>𝜽</m:t>
                          </m:r>
                        </m:e>
                        <m:sub>
                          <m:r>
                            <a:rPr lang="en-US" altLang="zh-CN" sz="3200" b="1" i="1" smtClean="0">
                              <a:latin typeface="Cambria Math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200" b="1" i="1" smtClean="0">
                              <a:latin typeface="Cambria Math"/>
                            </a:rPr>
                            <m:t>𝜽</m:t>
                          </m:r>
                        </m:e>
                        <m:sub>
                          <m:r>
                            <a:rPr lang="en-US" altLang="zh-CN" sz="3200" b="1" i="1" smtClean="0">
                              <a:latin typeface="Cambria Math"/>
                            </a:rPr>
                            <m:t>𝟐</m:t>
                          </m:r>
                        </m:sub>
                      </m:sSub>
                      <m:r>
                        <a:rPr lang="zh-CN" altLang="en-US" sz="3200" b="1" i="1" smtClean="0">
                          <a:latin typeface="Cambria Math"/>
                        </a:rPr>
                        <m:t>都</m:t>
                      </m:r>
                      <m:r>
                        <a:rPr lang="zh-CN" altLang="en-US" sz="3200" b="1" i="1">
                          <a:latin typeface="Cambria Math"/>
                        </a:rPr>
                        <m:t>减少</m:t>
                      </m:r>
                      <m:r>
                        <a:rPr lang="en-US" altLang="zh-CN" sz="3200" b="1" i="1" smtClean="0">
                          <a:latin typeface="Cambria Math"/>
                        </a:rPr>
                        <m:t>𝟎</m:t>
                      </m:r>
                      <m:r>
                        <a:rPr lang="en-US" altLang="zh-CN" sz="3200" b="1" i="1" smtClean="0">
                          <a:latin typeface="Cambria Math"/>
                        </a:rPr>
                        <m:t>.</m:t>
                      </m:r>
                      <m:r>
                        <a:rPr lang="en-US" altLang="zh-CN" sz="3200" b="1" i="1" smtClean="0">
                          <a:latin typeface="Cambria Math"/>
                        </a:rPr>
                        <m:t>𝟒</m:t>
                      </m:r>
                      <m:r>
                        <a:rPr lang="zh-CN" altLang="en-US" sz="3200" b="1" i="1" smtClean="0">
                          <a:latin typeface="Cambria Math"/>
                        </a:rPr>
                        <m:t>𝜶</m:t>
                      </m:r>
                    </m:oMath>
                  </m:oMathPara>
                </a14:m>
                <a:endParaRPr lang="zh-CN" altLang="en-US" sz="32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5791200"/>
                <a:ext cx="6933308" cy="63825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/>
            <a:endParaRPr lang="zh-CN" altLang="en-US" dirty="0"/>
          </a:p>
        </p:txBody>
      </p:sp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442316"/>
            <a:ext cx="6819900" cy="437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Generalization in Reinforcement Learning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33795" name="内容占位符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blipFill rotWithShape="1">
            <a:blip r:embed="rId2"/>
            <a:stretch>
              <a:fillRect l="-1630" t="-1752" b="-1213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763000" cy="1143000"/>
          </a:xfrm>
        </p:spPr>
        <p:txBody>
          <a:bodyPr/>
          <a:lstStyle/>
          <a:p>
            <a:pPr eaLnBrk="1" hangingPunct="1"/>
            <a:r>
              <a:rPr lang="en-US" altLang="zh-CN" sz="4000">
                <a:ea typeface="宋体" pitchFamily="2" charset="-122"/>
              </a:rPr>
              <a:t>Learning Parametric Utility Functions For Checkers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Approach</a:t>
            </a:r>
          </a:p>
          <a:p>
            <a:pPr lvl="1" eaLnBrk="1" hangingPunct="1"/>
            <a:r>
              <a:rPr lang="en-US" altLang="zh-CN" dirty="0">
                <a:ea typeface="宋体" pitchFamily="2" charset="-122"/>
              </a:rPr>
              <a:t>First Significant application of reinforcement learning </a:t>
            </a:r>
          </a:p>
          <a:p>
            <a:pPr lvl="1" eaLnBrk="1" hangingPunct="1"/>
            <a:r>
              <a:rPr lang="en-US" altLang="zh-CN" b="1" dirty="0">
                <a:ea typeface="宋体" pitchFamily="2" charset="-122"/>
              </a:rPr>
              <a:t>Samuel’s</a:t>
            </a:r>
            <a:r>
              <a:rPr lang="en-US" altLang="zh-CN" dirty="0">
                <a:ea typeface="宋体" pitchFamily="2" charset="-122"/>
              </a:rPr>
              <a:t> first </a:t>
            </a:r>
            <a:r>
              <a:rPr lang="en-US" altLang="zh-CN" i="1" dirty="0">
                <a:ea typeface="宋体" pitchFamily="2" charset="-122"/>
              </a:rPr>
              <a:t>learning</a:t>
            </a:r>
            <a:r>
              <a:rPr lang="en-US" altLang="zh-CN" dirty="0">
                <a:ea typeface="宋体" pitchFamily="2" charset="-122"/>
              </a:rPr>
              <a:t> program was completed in 1955 and demonstrated on television in 1956.</a:t>
            </a:r>
          </a:p>
          <a:p>
            <a:pPr lvl="1" eaLnBrk="1" hangingPunct="1"/>
            <a:r>
              <a:rPr lang="en-US" altLang="zh-CN" dirty="0">
                <a:ea typeface="宋体" pitchFamily="2" charset="-122"/>
              </a:rPr>
              <a:t>Used weighted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linear functions </a:t>
            </a:r>
            <a:r>
              <a:rPr lang="en-US" altLang="zh-CN" dirty="0">
                <a:ea typeface="宋体" pitchFamily="2" charset="-122"/>
              </a:rPr>
              <a:t>of 16 terms.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763000" cy="1143000"/>
          </a:xfrm>
        </p:spPr>
        <p:txBody>
          <a:bodyPr/>
          <a:lstStyle/>
          <a:p>
            <a:pPr eaLnBrk="1" hangingPunct="1"/>
            <a:r>
              <a:rPr lang="en-US" altLang="zh-CN" sz="4000">
                <a:ea typeface="宋体" pitchFamily="2" charset="-122"/>
              </a:rPr>
              <a:t>Learning Parametric Utility Functions For Backgammon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>
                <a:ea typeface="宋体" pitchFamily="2" charset="-122"/>
              </a:rPr>
              <a:t>Approach</a:t>
            </a:r>
          </a:p>
          <a:p>
            <a:pPr lvl="1" eaLnBrk="1" hangingPunct="1"/>
            <a:r>
              <a:rPr lang="en-US" altLang="zh-CN" sz="2400" b="1" i="1" dirty="0">
                <a:ea typeface="宋体" pitchFamily="2" charset="-122"/>
              </a:rPr>
              <a:t>TD-Gammon(1992)</a:t>
            </a:r>
            <a:r>
              <a:rPr lang="en-US" altLang="zh-CN" sz="2400" dirty="0">
                <a:ea typeface="宋体" pitchFamily="2" charset="-122"/>
              </a:rPr>
              <a:t> was a straightforward combination of the TD algorithm and </a:t>
            </a:r>
            <a:r>
              <a:rPr lang="en-US" altLang="zh-CN" sz="2400" dirty="0">
                <a:solidFill>
                  <a:srgbClr val="FF0000"/>
                </a:solidFill>
                <a:ea typeface="宋体" pitchFamily="2" charset="-122"/>
              </a:rPr>
              <a:t>nonlinear function approximation</a:t>
            </a:r>
            <a:r>
              <a:rPr lang="en-US" altLang="zh-CN" sz="2400" dirty="0">
                <a:ea typeface="宋体" pitchFamily="2" charset="-122"/>
              </a:rPr>
              <a:t> using a multi-layer neural network trained by </a:t>
            </a:r>
            <a:r>
              <a:rPr lang="en-US" altLang="zh-CN" sz="2400" dirty="0" err="1">
                <a:ea typeface="宋体" pitchFamily="2" charset="-122"/>
              </a:rPr>
              <a:t>backpropagating</a:t>
            </a:r>
            <a:r>
              <a:rPr lang="en-US" altLang="zh-CN" sz="2400" dirty="0">
                <a:ea typeface="宋体" pitchFamily="2" charset="-122"/>
              </a:rPr>
              <a:t> TD errors. </a:t>
            </a:r>
          </a:p>
          <a:p>
            <a:pPr lvl="1" eaLnBrk="1" hangingPunct="1"/>
            <a:r>
              <a:rPr lang="en-US" altLang="zh-CN" sz="2400" dirty="0">
                <a:ea typeface="宋体" pitchFamily="2" charset="-122"/>
              </a:rPr>
              <a:t>Let the system play against itself.</a:t>
            </a:r>
          </a:p>
          <a:p>
            <a:pPr eaLnBrk="1" hangingPunct="1"/>
            <a:r>
              <a:rPr lang="en-US" altLang="zh-CN" sz="2800" dirty="0">
                <a:ea typeface="宋体" pitchFamily="2" charset="-122"/>
              </a:rPr>
              <a:t>Result (after 300,000 games, a few weeks):</a:t>
            </a:r>
          </a:p>
          <a:p>
            <a:pPr lvl="1" eaLnBrk="1" hangingPunct="1"/>
            <a:r>
              <a:rPr lang="en-US" altLang="zh-CN" sz="2400" dirty="0">
                <a:ea typeface="宋体" pitchFamily="2" charset="-122"/>
              </a:rPr>
              <a:t>Program  competitive with best players in the world.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6"/>
          <p:cNvSpPr>
            <a:spLocks noChangeArrowheads="1"/>
          </p:cNvSpPr>
          <p:nvPr/>
        </p:nvSpPr>
        <p:spPr bwMode="auto">
          <a:xfrm>
            <a:off x="381000" y="1524000"/>
            <a:ext cx="8610600" cy="359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000" tIns="46800" rIns="18000" bIns="46800"/>
          <a:lstStyle>
            <a:lvl1pPr marL="342900" indent="-34290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ts val="688"/>
              </a:spcBef>
            </a:pPr>
            <a:r>
              <a:rPr lang="zh-CN" altLang="en-US" sz="2800" dirty="0">
                <a:ea typeface="宋体" pitchFamily="2" charset="-122"/>
              </a:rPr>
              <a:t>把深度学习和强化学习结合起来：</a:t>
            </a:r>
            <a:endParaRPr lang="en-US" altLang="zh-CN" sz="2800" dirty="0">
              <a:ea typeface="宋体" pitchFamily="2" charset="-122"/>
            </a:endParaRPr>
          </a:p>
          <a:p>
            <a:pPr lvl="1" eaLnBrk="1" hangingPunct="1">
              <a:spcBef>
                <a:spcPts val="688"/>
              </a:spcBef>
            </a:pPr>
            <a:r>
              <a:rPr lang="en-US" altLang="zh-CN" sz="2400" dirty="0">
                <a:ea typeface="宋体" pitchFamily="2" charset="-122"/>
              </a:rPr>
              <a:t>V </a:t>
            </a:r>
            <a:r>
              <a:rPr lang="en-US" altLang="zh-CN" sz="2400" dirty="0" err="1">
                <a:ea typeface="宋体" pitchFamily="2" charset="-122"/>
              </a:rPr>
              <a:t>Mnih</a:t>
            </a:r>
            <a:r>
              <a:rPr lang="en-US" altLang="zh-CN" sz="2400" dirty="0">
                <a:ea typeface="宋体" pitchFamily="2" charset="-122"/>
              </a:rPr>
              <a:t> et al</a:t>
            </a:r>
            <a:r>
              <a:rPr lang="zh-CN" altLang="en-US" sz="2400" dirty="0">
                <a:ea typeface="宋体" pitchFamily="2" charset="-122"/>
              </a:rPr>
              <a:t>：</a:t>
            </a:r>
            <a:r>
              <a:rPr lang="en-US" altLang="zh-CN" sz="2400" dirty="0">
                <a:ea typeface="宋体" pitchFamily="2" charset="-122"/>
              </a:rPr>
              <a:t> </a:t>
            </a:r>
            <a:r>
              <a:rPr lang="en-US" altLang="zh-CN" sz="2400" dirty="0"/>
              <a:t>Playing Atari with Deep Reinforcement Learning</a:t>
            </a:r>
            <a:r>
              <a:rPr lang="zh-CN" altLang="en-US" sz="2400" dirty="0"/>
              <a:t>，</a:t>
            </a:r>
            <a:r>
              <a:rPr lang="en-US" altLang="zh-CN" sz="2400" dirty="0"/>
              <a:t>2013</a:t>
            </a:r>
            <a:r>
              <a:rPr lang="zh-CN" altLang="en-US" sz="2400" dirty="0"/>
              <a:t>，</a:t>
            </a:r>
            <a:r>
              <a:rPr lang="en-US" altLang="zh-CN" sz="2400" dirty="0"/>
              <a:t>arxiv.org </a:t>
            </a:r>
          </a:p>
          <a:p>
            <a:pPr lvl="1" eaLnBrk="1" hangingPunct="1">
              <a:spcBef>
                <a:spcPts val="688"/>
              </a:spcBef>
            </a:pPr>
            <a:r>
              <a:rPr lang="en-US" altLang="zh-CN" sz="2400" dirty="0">
                <a:ea typeface="宋体" pitchFamily="2" charset="-122"/>
              </a:rPr>
              <a:t>V </a:t>
            </a:r>
            <a:r>
              <a:rPr lang="en-US" altLang="zh-CN" sz="2400" dirty="0" err="1">
                <a:ea typeface="宋体" pitchFamily="2" charset="-122"/>
              </a:rPr>
              <a:t>Mnih</a:t>
            </a:r>
            <a:r>
              <a:rPr lang="en-US" altLang="zh-CN" sz="2400" dirty="0">
                <a:ea typeface="宋体" pitchFamily="2" charset="-122"/>
              </a:rPr>
              <a:t> et al: Human Level Control Through Deep Reinforcement Learning. Nature 2015.</a:t>
            </a:r>
          </a:p>
          <a:p>
            <a:pPr lvl="1" eaLnBrk="1" hangingPunct="1">
              <a:spcBef>
                <a:spcPts val="688"/>
              </a:spcBef>
            </a:pPr>
            <a:r>
              <a:rPr lang="en-US" altLang="zh-CN" sz="2400" dirty="0">
                <a:ea typeface="宋体" pitchFamily="2" charset="-122"/>
              </a:rPr>
              <a:t>Matthew Lai, Giraffe: Using Deep Reinforcement Learning to Play Chess. Sept. 2015</a:t>
            </a:r>
          </a:p>
          <a:p>
            <a:pPr eaLnBrk="1" hangingPunct="1">
              <a:spcBef>
                <a:spcPts val="688"/>
              </a:spcBef>
            </a:pPr>
            <a:r>
              <a:rPr lang="en-US" altLang="zh-CN" sz="2800" dirty="0">
                <a:ea typeface="宋体" pitchFamily="2" charset="-122"/>
              </a:rPr>
              <a:t>Google</a:t>
            </a:r>
            <a:r>
              <a:rPr lang="zh-CN" altLang="en-US" sz="2800" dirty="0">
                <a:ea typeface="宋体" pitchFamily="2" charset="-122"/>
              </a:rPr>
              <a:t>提出</a:t>
            </a:r>
            <a:r>
              <a:rPr lang="en-US" altLang="zh-CN" sz="2800" dirty="0">
                <a:ea typeface="宋体" pitchFamily="2" charset="-122"/>
              </a:rPr>
              <a:t>GORILA: GOOGLE REINFORCEMENT LEARNING ARCHITECTURE</a:t>
            </a:r>
          </a:p>
          <a:p>
            <a:pPr eaLnBrk="1" hangingPunct="1">
              <a:spcBef>
                <a:spcPts val="688"/>
              </a:spcBef>
            </a:pPr>
            <a:r>
              <a:rPr lang="zh-CN" altLang="en-US" sz="2800" dirty="0">
                <a:ea typeface="宋体" pitchFamily="2" charset="-122"/>
              </a:rPr>
              <a:t>有关内容放到深度学习一起讲</a:t>
            </a:r>
            <a:endParaRPr lang="en-US" altLang="zh-CN" sz="2800" dirty="0">
              <a:ea typeface="宋体" pitchFamily="2" charset="-122"/>
            </a:endParaRPr>
          </a:p>
          <a:p>
            <a:pPr eaLnBrk="1" hangingPunct="1">
              <a:spcBef>
                <a:spcPts val="688"/>
              </a:spcBef>
            </a:pPr>
            <a:endParaRPr lang="zh-CN" altLang="en-US" dirty="0">
              <a:ea typeface="宋体" pitchFamily="2" charset="-122"/>
            </a:endParaRPr>
          </a:p>
          <a:p>
            <a:pPr eaLnBrk="1" hangingPunct="1">
              <a:spcBef>
                <a:spcPts val="688"/>
              </a:spcBef>
            </a:pPr>
            <a:endParaRPr lang="en-GB" altLang="de-DE" sz="2600" dirty="0"/>
          </a:p>
        </p:txBody>
      </p:sp>
      <p:sp>
        <p:nvSpPr>
          <p:cNvPr id="40963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de-DE" dirty="0"/>
              <a:t>Reinforcement Learning</a:t>
            </a:r>
            <a:r>
              <a:rPr lang="zh-CN" altLang="en-US" dirty="0"/>
              <a:t>进展</a:t>
            </a:r>
            <a:endParaRPr lang="zh-CN" altLang="en-US" dirty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Summary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2800" dirty="0"/>
              <a:t>RL is necessary for agents in unknown environments</a:t>
            </a:r>
          </a:p>
          <a:p>
            <a:pPr>
              <a:defRPr/>
            </a:pPr>
            <a:r>
              <a:rPr lang="en-US" altLang="zh-CN" sz="2800" dirty="0"/>
              <a:t>Passive Learning: Evaluate a given policy</a:t>
            </a:r>
          </a:p>
          <a:p>
            <a:pPr lvl="1">
              <a:defRPr/>
            </a:pPr>
            <a:r>
              <a:rPr lang="en-US" altLang="zh-CN" sz="2000" dirty="0">
                <a:ea typeface="+mn-ea"/>
                <a:cs typeface="+mn-cs"/>
              </a:rPr>
              <a:t>Direct utility estimate by supervised learning</a:t>
            </a:r>
          </a:p>
          <a:p>
            <a:pPr lvl="1">
              <a:defRPr/>
            </a:pPr>
            <a:r>
              <a:rPr lang="en-US" altLang="zh-CN" sz="2000" dirty="0">
                <a:ea typeface="+mn-ea"/>
                <a:cs typeface="+mn-cs"/>
              </a:rPr>
              <a:t>ADP learns a model and solves linear system</a:t>
            </a:r>
          </a:p>
          <a:p>
            <a:pPr lvl="1">
              <a:defRPr/>
            </a:pPr>
            <a:r>
              <a:rPr lang="en-US" altLang="zh-CN" sz="2000" dirty="0">
                <a:ea typeface="+mn-ea"/>
                <a:cs typeface="+mn-cs"/>
              </a:rPr>
              <a:t>TD only updates estimates to match successor state</a:t>
            </a:r>
          </a:p>
          <a:p>
            <a:pPr>
              <a:defRPr/>
            </a:pPr>
            <a:r>
              <a:rPr lang="en-US" altLang="zh-CN" sz="2800" dirty="0"/>
              <a:t>Active Learning: Learn an optimal policy</a:t>
            </a:r>
          </a:p>
          <a:p>
            <a:pPr lvl="1">
              <a:defRPr/>
            </a:pPr>
            <a:r>
              <a:rPr lang="en-US" altLang="zh-CN" sz="2000" dirty="0">
                <a:ea typeface="+mn-ea"/>
                <a:cs typeface="+mn-cs"/>
              </a:rPr>
              <a:t>ADP using proper exploration function</a:t>
            </a:r>
          </a:p>
          <a:p>
            <a:pPr lvl="1">
              <a:defRPr/>
            </a:pPr>
            <a:r>
              <a:rPr lang="en-US" altLang="zh-CN" sz="2000" dirty="0">
                <a:ea typeface="+mn-ea"/>
                <a:cs typeface="+mn-cs"/>
              </a:rPr>
              <a:t>Q-learning using model-free TD approach</a:t>
            </a:r>
          </a:p>
          <a:p>
            <a:pPr>
              <a:defRPr/>
            </a:pPr>
            <a:r>
              <a:rPr lang="en-US" altLang="zh-CN" sz="2800" dirty="0"/>
              <a:t>Function approximation necessary for real/large state spaces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论文选读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Richard Sutton </a:t>
            </a:r>
            <a:r>
              <a:rPr lang="zh-CN" altLang="en-US" dirty="0"/>
              <a:t>关于强化学习的教材。电子版： </a:t>
            </a:r>
            <a:r>
              <a:rPr lang="en-US" altLang="zh-CN" dirty="0">
                <a:hlinkClick r:id="rId2"/>
              </a:rPr>
              <a:t>http://incompleteideas.net/book/the-book.html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Google</a:t>
            </a:r>
            <a:r>
              <a:rPr lang="zh-CN" altLang="en-US" dirty="0"/>
              <a:t>收购了</a:t>
            </a:r>
            <a:r>
              <a:rPr lang="en-US" altLang="zh-CN" dirty="0"/>
              <a:t>AI</a:t>
            </a:r>
            <a:r>
              <a:rPr lang="zh-CN" altLang="en-US" dirty="0"/>
              <a:t>公司</a:t>
            </a:r>
            <a:r>
              <a:rPr lang="en-US" altLang="zh-CN" dirty="0"/>
              <a:t>DeepMind</a:t>
            </a:r>
            <a:r>
              <a:rPr lang="zh-CN" altLang="en-US" dirty="0"/>
              <a:t>，请阅读他们发表的有关强化（深度）学习的最新论文：</a:t>
            </a:r>
            <a:r>
              <a:rPr lang="en-US" altLang="zh-CN" dirty="0">
                <a:hlinkClick r:id="rId3"/>
              </a:rPr>
              <a:t>http://deepmind.com/publications.html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360429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2718</TotalTime>
  <Words>2105</Words>
  <Application>Microsoft Office PowerPoint</Application>
  <PresentationFormat>全屏显示(4:3)</PresentationFormat>
  <Paragraphs>321</Paragraphs>
  <Slides>45</Slides>
  <Notes>0</Notes>
  <HiddenSlides>1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45</vt:i4>
      </vt:variant>
    </vt:vector>
  </HeadingPairs>
  <TitlesOfParts>
    <vt:vector size="53" baseType="lpstr">
      <vt:lpstr>楷体</vt:lpstr>
      <vt:lpstr>Arial</vt:lpstr>
      <vt:lpstr>Cambria Math</vt:lpstr>
      <vt:lpstr>Times New Roman</vt:lpstr>
      <vt:lpstr>Wingdings</vt:lpstr>
      <vt:lpstr>Default Design</vt:lpstr>
      <vt:lpstr>位图图像</vt:lpstr>
      <vt:lpstr>Equation</vt:lpstr>
      <vt:lpstr>Reinforcement Learning</vt:lpstr>
      <vt:lpstr>Outline</vt:lpstr>
      <vt:lpstr>Reinforcement Learning</vt:lpstr>
      <vt:lpstr>RL is learning from interaction</vt:lpstr>
      <vt:lpstr>RL model</vt:lpstr>
      <vt:lpstr>Relation to MDPs</vt:lpstr>
      <vt:lpstr>Reinforcement Learning vs. Supervised Learning</vt:lpstr>
      <vt:lpstr>RL examples</vt:lpstr>
      <vt:lpstr>Elevator Dispatching</vt:lpstr>
      <vt:lpstr>Passive Reinforcement Learning</vt:lpstr>
      <vt:lpstr>Example environment</vt:lpstr>
      <vt:lpstr>Passive learning scenario</vt:lpstr>
      <vt:lpstr>Direct Utility Estimation</vt:lpstr>
      <vt:lpstr>DU updating</vt:lpstr>
      <vt:lpstr>DU updating algorithm in passive learning</vt:lpstr>
      <vt:lpstr>Adaptive Dynamic Programming</vt:lpstr>
      <vt:lpstr>Passive-adp-agent</vt:lpstr>
      <vt:lpstr>ADP learning curves</vt:lpstr>
      <vt:lpstr>Temporal Difference learning</vt:lpstr>
      <vt:lpstr>Passive-td-agent</vt:lpstr>
      <vt:lpstr>The TD learning curve</vt:lpstr>
      <vt:lpstr>ADP vs TD</vt:lpstr>
      <vt:lpstr>Passive learning v.s. Active learning</vt:lpstr>
      <vt:lpstr>Model based v.s.Model free approaches</vt:lpstr>
      <vt:lpstr>Active Reinforcement Learning</vt:lpstr>
      <vt:lpstr>Active Reinforcement Learning</vt:lpstr>
      <vt:lpstr>Greedy Agent</vt:lpstr>
      <vt:lpstr>Optimal policy is not learned!</vt:lpstr>
      <vt:lpstr>Exploration in Active learning</vt:lpstr>
      <vt:lpstr>Exploration/Exploitation</vt:lpstr>
      <vt:lpstr>Exploration in Active learning</vt:lpstr>
      <vt:lpstr>Exploration in Active learning</vt:lpstr>
      <vt:lpstr>Q learning</vt:lpstr>
      <vt:lpstr>TD-Q learning</vt:lpstr>
      <vt:lpstr>TD-Q-learning-agent</vt:lpstr>
      <vt:lpstr>Generalization in Reinforcement Learning</vt:lpstr>
      <vt:lpstr>Generalization in Reinforcement Learning</vt:lpstr>
      <vt:lpstr>Generalization in Reinforcement Learning</vt:lpstr>
      <vt:lpstr>Reinforcement Learning: grid world</vt:lpstr>
      <vt:lpstr>Generalization in Reinforcement Learning</vt:lpstr>
      <vt:lpstr>Learning Parametric Utility Functions For Checkers</vt:lpstr>
      <vt:lpstr>Learning Parametric Utility Functions For Backgammon</vt:lpstr>
      <vt:lpstr>Reinforcement Learning进展</vt:lpstr>
      <vt:lpstr>Summary</vt:lpstr>
      <vt:lpstr>论文选读</vt:lpstr>
    </vt:vector>
  </TitlesOfParts>
  <Company>UTA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Reinforcement Learning</dc:title>
  <dc:creator>Vassilis Athitsos</dc:creator>
  <cp:lastModifiedBy>mandel</cp:lastModifiedBy>
  <cp:revision>146</cp:revision>
  <dcterms:created xsi:type="dcterms:W3CDTF">2008-03-27T15:37:29Z</dcterms:created>
  <dcterms:modified xsi:type="dcterms:W3CDTF">2019-11-03T12:02:33Z</dcterms:modified>
</cp:coreProperties>
</file>