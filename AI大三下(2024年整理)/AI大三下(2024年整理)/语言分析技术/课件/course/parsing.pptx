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05" r:id="rId3"/>
    <p:sldId id="802" r:id="rId5"/>
    <p:sldId id="705" r:id="rId6"/>
    <p:sldId id="803" r:id="rId7"/>
    <p:sldId id="707" r:id="rId8"/>
    <p:sldId id="890" r:id="rId9"/>
    <p:sldId id="708" r:id="rId10"/>
    <p:sldId id="804" r:id="rId11"/>
    <p:sldId id="805" r:id="rId12"/>
    <p:sldId id="806" r:id="rId13"/>
    <p:sldId id="807" r:id="rId14"/>
    <p:sldId id="991" r:id="rId15"/>
    <p:sldId id="992" r:id="rId16"/>
    <p:sldId id="993" r:id="rId17"/>
    <p:sldId id="994" r:id="rId18"/>
    <p:sldId id="995" r:id="rId19"/>
    <p:sldId id="996" r:id="rId20"/>
    <p:sldId id="997" r:id="rId21"/>
    <p:sldId id="998" r:id="rId22"/>
    <p:sldId id="999" r:id="rId23"/>
    <p:sldId id="1000" r:id="rId24"/>
    <p:sldId id="815" r:id="rId25"/>
    <p:sldId id="816" r:id="rId26"/>
    <p:sldId id="817" r:id="rId27"/>
    <p:sldId id="818" r:id="rId28"/>
    <p:sldId id="819" r:id="rId29"/>
    <p:sldId id="820" r:id="rId30"/>
    <p:sldId id="821" r:id="rId31"/>
    <p:sldId id="822" r:id="rId32"/>
    <p:sldId id="823" r:id="rId33"/>
    <p:sldId id="825" r:id="rId34"/>
    <p:sldId id="826" r:id="rId35"/>
    <p:sldId id="827" r:id="rId36"/>
    <p:sldId id="828" r:id="rId37"/>
    <p:sldId id="829" r:id="rId38"/>
    <p:sldId id="830" r:id="rId39"/>
    <p:sldId id="831" r:id="rId40"/>
    <p:sldId id="832" r:id="rId41"/>
    <p:sldId id="833" r:id="rId42"/>
    <p:sldId id="834" r:id="rId43"/>
    <p:sldId id="835" r:id="rId44"/>
    <p:sldId id="836" r:id="rId45"/>
    <p:sldId id="840" r:id="rId46"/>
    <p:sldId id="841" r:id="rId47"/>
    <p:sldId id="842" r:id="rId48"/>
    <p:sldId id="843" r:id="rId49"/>
    <p:sldId id="844" r:id="rId50"/>
    <p:sldId id="1001" r:id="rId51"/>
    <p:sldId id="1002" r:id="rId52"/>
    <p:sldId id="1003" r:id="rId53"/>
    <p:sldId id="889" r:id="rId54"/>
    <p:sldId id="709" r:id="rId55"/>
    <p:sldId id="710" r:id="rId56"/>
    <p:sldId id="711" r:id="rId57"/>
    <p:sldId id="712" r:id="rId58"/>
    <p:sldId id="713" r:id="rId59"/>
    <p:sldId id="714" r:id="rId60"/>
    <p:sldId id="891" r:id="rId61"/>
    <p:sldId id="722" r:id="rId62"/>
    <p:sldId id="717" r:id="rId63"/>
    <p:sldId id="947" r:id="rId64"/>
    <p:sldId id="718" r:id="rId65"/>
    <p:sldId id="723" r:id="rId66"/>
    <p:sldId id="724" r:id="rId67"/>
    <p:sldId id="900" r:id="rId68"/>
    <p:sldId id="901" r:id="rId69"/>
    <p:sldId id="902" r:id="rId70"/>
    <p:sldId id="764" r:id="rId71"/>
    <p:sldId id="765" r:id="rId72"/>
    <p:sldId id="903" r:id="rId73"/>
    <p:sldId id="904" r:id="rId74"/>
    <p:sldId id="766" r:id="rId75"/>
    <p:sldId id="726" r:id="rId76"/>
    <p:sldId id="728" r:id="rId77"/>
    <p:sldId id="748" r:id="rId78"/>
    <p:sldId id="749" r:id="rId79"/>
    <p:sldId id="750" r:id="rId80"/>
    <p:sldId id="752" r:id="rId81"/>
    <p:sldId id="755" r:id="rId82"/>
    <p:sldId id="760" r:id="rId83"/>
    <p:sldId id="768" r:id="rId84"/>
    <p:sldId id="769" r:id="rId85"/>
    <p:sldId id="770" r:id="rId86"/>
    <p:sldId id="893" r:id="rId87"/>
    <p:sldId id="1005" r:id="rId88"/>
    <p:sldId id="1006" r:id="rId89"/>
    <p:sldId id="1007" r:id="rId90"/>
    <p:sldId id="1008" r:id="rId91"/>
    <p:sldId id="1009" r:id="rId92"/>
    <p:sldId id="952" r:id="rId93"/>
    <p:sldId id="981" r:id="rId94"/>
    <p:sldId id="1004" r:id="rId95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66"/>
    <a:srgbClr val="00FF00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002" autoAdjust="0"/>
  </p:normalViewPr>
  <p:slideViewPr>
    <p:cSldViewPr>
      <p:cViewPr varScale="1">
        <p:scale>
          <a:sx n="96" d="100"/>
          <a:sy n="96" d="100"/>
        </p:scale>
        <p:origin x="-205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8" Type="http://schemas.openxmlformats.org/officeDocument/2006/relationships/tableStyles" Target="tableStyles.xml"/><Relationship Id="rId97" Type="http://schemas.openxmlformats.org/officeDocument/2006/relationships/viewProps" Target="viewProps.xml"/><Relationship Id="rId96" Type="http://schemas.openxmlformats.org/officeDocument/2006/relationships/presProps" Target="presProps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image" Target="../media/image22.png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image" Target="../media/image25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2820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 smtClean="0"/>
              <a:t>Click to edit Master text styles</a:t>
            </a:r>
            <a:endParaRPr lang="en-US" altLang="zh-CN" noProof="0" smtClean="0"/>
          </a:p>
          <a:p>
            <a:pPr lvl="1"/>
            <a:r>
              <a:rPr lang="en-US" altLang="zh-CN" noProof="0" smtClean="0"/>
              <a:t>Second level</a:t>
            </a:r>
            <a:endParaRPr lang="en-US" altLang="zh-CN" noProof="0" smtClean="0"/>
          </a:p>
          <a:p>
            <a:pPr lvl="2"/>
            <a:r>
              <a:rPr lang="en-US" altLang="zh-CN" noProof="0" smtClean="0"/>
              <a:t>Third level</a:t>
            </a:r>
            <a:endParaRPr lang="en-US" altLang="zh-CN" noProof="0" smtClean="0"/>
          </a:p>
          <a:p>
            <a:pPr lvl="3"/>
            <a:r>
              <a:rPr lang="en-US" altLang="zh-CN" noProof="0" smtClean="0"/>
              <a:t>Fourth level</a:t>
            </a:r>
            <a:endParaRPr lang="en-US" altLang="zh-CN" noProof="0" smtClean="0"/>
          </a:p>
          <a:p>
            <a:pPr lvl="4"/>
            <a:r>
              <a:rPr lang="en-US" altLang="zh-CN" noProof="0" smtClean="0"/>
              <a:t>Fifth level</a:t>
            </a:r>
            <a:endParaRPr lang="en-US" altLang="zh-CN" noProof="0" smtClean="0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10600BE-AF69-4BB8-BC45-7CFA9CD4E562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CEE0253D-39FA-4682-8713-D1AF50615197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163843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163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46646BD5-09FD-4106-9932-CA16FCE920D2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164867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4C983794-16BC-4988-A092-E0A4E745BED8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165891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165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9DB6FF61-B1F4-469E-9425-1B3969E81574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166915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637B9727-0013-4AA0-B3C1-CCCDAB612F00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167939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167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140B84B1-957F-409D-B541-F989C7B599BA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168963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168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B0D65E99-2223-4F42-8B3C-C13AA3DE0B2A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169987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169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A3780945-19E8-4915-80FA-A15C787CA6FC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171011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101B446A-6BCA-4969-94B8-66BC74B37C30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172035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172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6E41AC69-BC10-415B-B653-78A05AB163B6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173059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173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374C2BF5-607D-40F5-B914-5BC9D8E15B14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174083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174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8B0F80CF-CCB0-46B2-975E-0CDF93139E10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175107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175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84B3979D-7602-4CE0-ACF6-E396C6DB4322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176131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176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13A0F6B2-46D0-44D5-B87F-2273F1C086B8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177155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177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8B76C61E-208E-4309-9981-C5FFAB433A33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178179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178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D85FE443-43E4-4224-89D1-7CB9CED591A5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179203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179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DD47184D-9E13-40AB-8FA6-20BBAB06987C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180227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1802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DEEB8208-B51D-4C45-AE8D-4195AFC4A2DE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181251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181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8202C5D2-332A-4FC8-A979-72A329C5ACAA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182275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1822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6E9A720D-0649-46AC-94D5-402D23BD91F0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183299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183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63189DA0-EAF8-40CB-B7CC-E3067315A17F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184323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1843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EB0F199A-45DF-4AD1-B6C8-57A33BE68FB1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185347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185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8EFE9226-D0A5-4CCE-9034-9D18F937847F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186371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186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D088AF6D-C2F6-467C-8834-26DFC81E7E82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187395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187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E5D0682C-A657-4166-B42A-AB6917B32A2D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188419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188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9FD8CDE4-3608-48C3-ABFF-52AA013BFA2A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189443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189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FE63AD79-E368-4E29-B7B3-DB954354F850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190467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190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C157E3F6-BE6C-475F-BD72-FD7D2F307AA4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191491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191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D46BD303-2872-43CF-AAA6-AC64D12AF90E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192515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192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D24CF05C-5B51-4898-B527-BDBA50A50C7C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193539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193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C3B2D476-1C9C-46E4-867C-7A164F748E59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194563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194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F6DA5AFC-5106-4727-A4E8-6C61C850E471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195587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195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401445E9-FA1B-45B3-BC0C-89B00C673F7E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196611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196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6AFD72E3-6144-41AB-8FC2-1384F71E349C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197635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197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ACFAF612-AC4B-4344-BB59-6F8A4DDDE2B0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198659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198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IE" altLang="zh-CN" smtClean="0">
                <a:latin typeface="Arial" panose="020B0604020202020204" pitchFamily="34" charset="0"/>
              </a:rPr>
              <a:t>The verb </a:t>
            </a:r>
            <a:r>
              <a:rPr lang="en-IE" altLang="zh-CN" b="1" smtClean="0">
                <a:latin typeface="Arial" panose="020B0604020202020204" pitchFamily="34" charset="0"/>
              </a:rPr>
              <a:t>send</a:t>
            </a:r>
            <a:r>
              <a:rPr lang="en-IE" altLang="zh-CN" smtClean="0">
                <a:latin typeface="Arial" panose="020B0604020202020204" pitchFamily="34" charset="0"/>
              </a:rPr>
              <a:t> subcategorises for a destination, which could be a PP headed by “into”</a:t>
            </a:r>
            <a:endParaRPr lang="en-GB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95239C-0E06-4E23-A021-0F2832AE5AC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E1873E-BB9D-41D1-854F-DE588953A7E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13C7CD-143B-4DEC-9627-E5121FFE63D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FBD2CA-EBB9-4BE5-8008-4D7B3808600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75EAC-76A3-4045-BDE9-833BD1E5493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40D4F5-09D9-4848-8AFF-9FD9905FF37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223449-7400-44B0-971F-D02DE920DFE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55C875-834A-4566-B311-C9428FBBF56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54C20C-299B-4139-89CB-95166BFB713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CBCCCD-C093-4973-B063-EA4E64ACA2A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7FE5D4-1E00-459D-8485-D194905EBB3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41A6D1-3974-4605-BC4E-69FA0AC9E04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5B9007-0E8A-4209-931C-E600B5623B9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CB3580-A0ED-4ADB-809D-DDEB770C649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smtClean="0"/>
              <a:t>Click to edit Master title style</a:t>
            </a:r>
            <a:endParaRPr lang="en-US" altLang="zh-CN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en-US" altLang="zh-CN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4453A10-B55B-4E36-A5F8-23F914DB5B26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hyperlink" Target="http://www.cis.upenn.edu/~dbikel/" TargetMode="External"/><Relationship Id="rId2" Type="http://schemas.openxmlformats.org/officeDocument/2006/relationships/hyperlink" Target="http://www.ai.mit.edu/people/mcollins/publications.html" TargetMode="External"/><Relationship Id="rId1" Type="http://schemas.openxmlformats.org/officeDocument/2006/relationships/hyperlink" Target="http://www.cs.brown.edu/people/ec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oleObject" Target="../embeddings/oleObject1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wmf"/><Relationship Id="rId1" Type="http://schemas.openxmlformats.org/officeDocument/2006/relationships/oleObject" Target="../embeddings/oleObject2.bin"/></Relationships>
</file>

<file path=ppt/slides/_rels/slide5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7.w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16.wmf"/><Relationship Id="rId1" Type="http://schemas.openxmlformats.org/officeDocument/2006/relationships/oleObject" Target="../embeddings/oleObject3.bin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oleObject" Target="../embeddings/oleObject7.bin"/><Relationship Id="rId4" Type="http://schemas.openxmlformats.org/officeDocument/2006/relationships/image" Target="../media/image23.png"/><Relationship Id="rId3" Type="http://schemas.openxmlformats.org/officeDocument/2006/relationships/oleObject" Target="../embeddings/oleObject6.bin"/><Relationship Id="rId2" Type="http://schemas.openxmlformats.org/officeDocument/2006/relationships/image" Target="../media/image22.png"/><Relationship Id="rId1" Type="http://schemas.openxmlformats.org/officeDocument/2006/relationships/oleObject" Target="../embeddings/oleObject5.bin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5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oleObject" Target="../embeddings/oleObject10.bin"/><Relationship Id="rId4" Type="http://schemas.openxmlformats.org/officeDocument/2006/relationships/image" Target="../media/image23.png"/><Relationship Id="rId3" Type="http://schemas.openxmlformats.org/officeDocument/2006/relationships/oleObject" Target="../embeddings/oleObject9.bin"/><Relationship Id="rId2" Type="http://schemas.openxmlformats.org/officeDocument/2006/relationships/image" Target="../media/image22.png"/><Relationship Id="rId1" Type="http://schemas.openxmlformats.org/officeDocument/2006/relationships/oleObject" Target="../embeddings/oleObject8.bin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6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oleObject" Target="../embeddings/oleObject13.bin"/><Relationship Id="rId4" Type="http://schemas.openxmlformats.org/officeDocument/2006/relationships/image" Target="../media/image23.png"/><Relationship Id="rId3" Type="http://schemas.openxmlformats.org/officeDocument/2006/relationships/oleObject" Target="../embeddings/oleObject12.bin"/><Relationship Id="rId2" Type="http://schemas.openxmlformats.org/officeDocument/2006/relationships/image" Target="../media/image22.png"/><Relationship Id="rId1" Type="http://schemas.openxmlformats.org/officeDocument/2006/relationships/oleObject" Target="../embeddings/oleObject11.bin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7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5.png"/><Relationship Id="rId3" Type="http://schemas.openxmlformats.org/officeDocument/2006/relationships/oleObject" Target="../embeddings/oleObject15.bin"/><Relationship Id="rId2" Type="http://schemas.openxmlformats.org/officeDocument/2006/relationships/image" Target="../media/image22.png"/><Relationship Id="rId1" Type="http://schemas.openxmlformats.org/officeDocument/2006/relationships/oleObject" Target="../embeddings/oleObject14.bin"/></Relationships>
</file>

<file path=ppt/slides/_rels/slide7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8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2.png"/><Relationship Id="rId3" Type="http://schemas.openxmlformats.org/officeDocument/2006/relationships/oleObject" Target="../embeddings/oleObject17.bin"/><Relationship Id="rId2" Type="http://schemas.openxmlformats.org/officeDocument/2006/relationships/image" Target="../media/image25.png"/><Relationship Id="rId1" Type="http://schemas.openxmlformats.org/officeDocument/2006/relationships/oleObject" Target="../embeddings/oleObject16.bin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-nlp.stanford.edu/~manning/papers/lex-parser.pdf" TargetMode="External"/><Relationship Id="rId1" Type="http://schemas.openxmlformats.org/officeDocument/2006/relationships/hyperlink" Target="http://nlp.stanford.edu/~manning/papers/unlexicalized-parsing.pdf" TargetMode="Externa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4"/>
          <p:cNvSpPr>
            <a:spLocks noChangeArrowheads="1"/>
          </p:cNvSpPr>
          <p:nvPr/>
        </p:nvSpPr>
        <p:spPr bwMode="auto"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400">
                <a:solidFill>
                  <a:schemeClr val="tx2"/>
                </a:solidFill>
              </a:rPr>
              <a:t>Parsing</a:t>
            </a:r>
            <a:endParaRPr lang="en-US" altLang="zh-CN" sz="4400" b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outline</a:t>
            </a:r>
            <a:endParaRPr lang="en-US" altLang="zh-CN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 smtClean="0"/>
              <a:t>what</a:t>
            </a:r>
            <a:r>
              <a:rPr lang="en-US" altLang="zh-CN" dirty="0" smtClean="0">
                <a:latin typeface="Times New Roman" panose="02020603050405020304" pitchFamily="18" charset="0"/>
              </a:rPr>
              <a:t>’</a:t>
            </a:r>
            <a:r>
              <a:rPr lang="en-US" altLang="zh-CN" dirty="0" smtClean="0"/>
              <a:t>s parsing</a:t>
            </a:r>
            <a:endParaRPr lang="en-US" altLang="zh-CN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zh-CN" dirty="0" smtClean="0"/>
              <a:t>CYK parsing</a:t>
            </a:r>
            <a:endParaRPr lang="en-US" altLang="zh-CN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zh-CN" dirty="0" smtClean="0"/>
              <a:t>Chart parsing</a:t>
            </a:r>
            <a:endParaRPr lang="en-US" altLang="zh-CN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zh-CN" dirty="0" err="1" smtClean="0"/>
              <a:t>Earley</a:t>
            </a:r>
            <a:r>
              <a:rPr lang="en-US" altLang="zh-CN" dirty="0" smtClean="0"/>
              <a:t> parsing</a:t>
            </a:r>
            <a:endParaRPr lang="en-US" altLang="zh-CN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zh-CN" dirty="0" smtClean="0"/>
              <a:t>Introduction to PCFG </a:t>
            </a:r>
            <a:endParaRPr lang="en-US" altLang="zh-CN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zh-CN" dirty="0" smtClean="0"/>
              <a:t>Probabilistic Chart </a:t>
            </a:r>
            <a:r>
              <a:rPr lang="en-US" altLang="zh-CN" dirty="0" smtClean="0"/>
              <a:t>parsing</a:t>
            </a:r>
            <a:endParaRPr lang="en-US" altLang="zh-CN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参考文献</a:t>
            </a:r>
            <a:endParaRPr lang="zh-CN" altLang="en-US" smtClean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800" smtClean="0"/>
              <a:t>nlu, fsnlp, slp</a:t>
            </a:r>
            <a:r>
              <a:rPr lang="zh-CN" altLang="en-US" sz="2800" smtClean="0"/>
              <a:t>有关章节</a:t>
            </a:r>
            <a:endParaRPr lang="zh-CN" altLang="en-US" sz="2800" smtClean="0"/>
          </a:p>
          <a:p>
            <a:pPr eaLnBrk="1" hangingPunct="1">
              <a:lnSpc>
                <a:spcPct val="80000"/>
              </a:lnSpc>
            </a:pPr>
            <a:r>
              <a:rPr lang="en-US" altLang="zh-CN" sz="2800" smtClean="0"/>
              <a:t>Eugene Charniak</a:t>
            </a:r>
            <a:r>
              <a:rPr lang="zh-CN" altLang="en-US" sz="2800" smtClean="0"/>
              <a:t>的文章：</a:t>
            </a:r>
            <a:endParaRPr lang="zh-CN" altLang="en-US" sz="2800" smtClean="0"/>
          </a:p>
          <a:p>
            <a:pPr eaLnBrk="1" hangingPunct="1">
              <a:lnSpc>
                <a:spcPct val="80000"/>
              </a:lnSpc>
            </a:pPr>
            <a:r>
              <a:rPr lang="en-US" altLang="zh-CN" sz="2800" smtClean="0">
                <a:hlinkClick r:id="rId1"/>
              </a:rPr>
              <a:t>http://www.cs.brown.edu/people/ec/</a:t>
            </a:r>
            <a:r>
              <a:rPr lang="en-US" altLang="zh-CN" sz="2800" smtClean="0"/>
              <a:t> </a:t>
            </a:r>
            <a:endParaRPr lang="en-US" altLang="zh-CN" sz="2800" smtClean="0"/>
          </a:p>
          <a:p>
            <a:pPr eaLnBrk="1" hangingPunct="1">
              <a:lnSpc>
                <a:spcPct val="80000"/>
              </a:lnSpc>
            </a:pPr>
            <a:r>
              <a:rPr lang="en-US" altLang="zh-CN" sz="2800" smtClean="0"/>
              <a:t>Michael Collins</a:t>
            </a:r>
            <a:r>
              <a:rPr lang="zh-CN" altLang="en-US" sz="2800" smtClean="0"/>
              <a:t>的文章：</a:t>
            </a:r>
            <a:endParaRPr lang="zh-CN" altLang="en-US" sz="2800" smtClean="0"/>
          </a:p>
          <a:p>
            <a:pPr eaLnBrk="1" hangingPunct="1">
              <a:lnSpc>
                <a:spcPct val="80000"/>
              </a:lnSpc>
            </a:pPr>
            <a:r>
              <a:rPr lang="en-US" altLang="zh-CN" sz="2800" smtClean="0">
                <a:hlinkClick r:id="rId2"/>
              </a:rPr>
              <a:t>http://www.ai.mit.edu/people/mcollins/publications.html</a:t>
            </a:r>
            <a:endParaRPr lang="en-US" altLang="zh-CN" sz="2800" smtClean="0"/>
          </a:p>
          <a:p>
            <a:pPr eaLnBrk="1" hangingPunct="1">
              <a:lnSpc>
                <a:spcPct val="80000"/>
              </a:lnSpc>
            </a:pPr>
            <a:r>
              <a:rPr lang="en-US" altLang="zh-CN" sz="2800" smtClean="0"/>
              <a:t>Dan Bikel</a:t>
            </a:r>
            <a:r>
              <a:rPr lang="zh-CN" altLang="en-US" sz="2800" smtClean="0"/>
              <a:t>的文章</a:t>
            </a:r>
            <a:r>
              <a:rPr lang="en-US" altLang="zh-CN" sz="2800" smtClean="0"/>
              <a:t>:</a:t>
            </a:r>
            <a:endParaRPr lang="en-US" altLang="zh-CN" sz="2800" smtClean="0"/>
          </a:p>
          <a:p>
            <a:pPr eaLnBrk="1" hangingPunct="1">
              <a:lnSpc>
                <a:spcPct val="80000"/>
              </a:lnSpc>
            </a:pPr>
            <a:r>
              <a:rPr lang="en-US" altLang="zh-CN" sz="2800" smtClean="0">
                <a:hlinkClick r:id="rId3"/>
              </a:rPr>
              <a:t>http://www.cis.upenn.edu/~dbikel/</a:t>
            </a:r>
            <a:r>
              <a:rPr lang="en-US" altLang="zh-CN" sz="2800" smtClean="0"/>
              <a:t> </a:t>
            </a:r>
            <a:endParaRPr lang="en-US" altLang="zh-CN" sz="2800" smtClean="0"/>
          </a:p>
          <a:p>
            <a:pPr eaLnBrk="1" hangingPunct="1">
              <a:lnSpc>
                <a:spcPct val="80000"/>
              </a:lnSpc>
            </a:pPr>
            <a:r>
              <a:rPr lang="en-US" altLang="zh-CN" sz="2800" smtClean="0"/>
              <a:t>Eisner</a:t>
            </a:r>
            <a:r>
              <a:rPr lang="zh-CN" altLang="en-US" sz="2800" smtClean="0"/>
              <a:t>的文章：</a:t>
            </a:r>
            <a:r>
              <a:rPr lang="en-US" altLang="zh-CN" sz="2800" smtClean="0"/>
              <a:t>three new probabilistic models for dependency parsing</a:t>
            </a:r>
            <a:endParaRPr lang="en-US" altLang="zh-CN" sz="280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什么是句法分析</a:t>
            </a:r>
            <a:endParaRPr lang="zh-CN" altLang="en-US" smtClean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b="1" smtClean="0"/>
              <a:t>定义：判断单词串是否属于某个语言</a:t>
            </a:r>
            <a:r>
              <a:rPr lang="en-US" altLang="zh-CN" b="1" smtClean="0"/>
              <a:t>(recognition)</a:t>
            </a:r>
            <a:r>
              <a:rPr lang="zh-CN" altLang="en-US" b="1" smtClean="0"/>
              <a:t>，如果是，则给出其（树）结构</a:t>
            </a:r>
            <a:r>
              <a:rPr lang="en-US" altLang="zh-CN" b="1" smtClean="0"/>
              <a:t>(parsing)</a:t>
            </a:r>
            <a:r>
              <a:rPr lang="zh-CN" altLang="en-US" b="1" smtClean="0"/>
              <a:t>。</a:t>
            </a:r>
            <a:endParaRPr lang="zh-CN" altLang="en-US" b="1" smtClean="0"/>
          </a:p>
          <a:p>
            <a:pPr eaLnBrk="1" hangingPunct="1"/>
            <a:r>
              <a:rPr lang="zh-CN" altLang="en-US" b="1" smtClean="0"/>
              <a:t>句法分析假设有结构的某种表示</a:t>
            </a:r>
            <a:r>
              <a:rPr lang="en-US" altLang="zh-CN" b="1" smtClean="0"/>
              <a:t>.</a:t>
            </a:r>
            <a:r>
              <a:rPr lang="zh-CN" altLang="en-US" b="1" smtClean="0"/>
              <a:t>这一般用文法</a:t>
            </a:r>
            <a:r>
              <a:rPr lang="en-US" altLang="zh-CN" b="1" smtClean="0"/>
              <a:t>(grammar)</a:t>
            </a:r>
            <a:r>
              <a:rPr lang="zh-CN" altLang="en-US" b="1" smtClean="0"/>
              <a:t>来刻画</a:t>
            </a:r>
            <a:r>
              <a:rPr lang="en-US" altLang="zh-CN" b="1" smtClean="0"/>
              <a:t>.</a:t>
            </a:r>
            <a:r>
              <a:rPr lang="zh-CN" altLang="en-US" b="1" smtClean="0"/>
              <a:t>常见的是短语结构文法</a:t>
            </a:r>
            <a:r>
              <a:rPr lang="en-US" altLang="zh-CN" b="1" smtClean="0"/>
              <a:t>(chomsky hierarchy),</a:t>
            </a:r>
            <a:r>
              <a:rPr lang="zh-CN" altLang="en-US" b="1" smtClean="0"/>
              <a:t>其中最常用的是上下文无关文法</a:t>
            </a:r>
            <a:r>
              <a:rPr lang="en-US" altLang="zh-CN" b="1" smtClean="0"/>
              <a:t>(CFG)</a:t>
            </a:r>
            <a:endParaRPr lang="en-US" altLang="zh-CN" b="1" smtClean="0"/>
          </a:p>
          <a:p>
            <a:pPr eaLnBrk="1" hangingPunct="1"/>
            <a:r>
              <a:rPr lang="zh-CN" altLang="en-US" b="1" smtClean="0"/>
              <a:t>分析算法当然取决于文法</a:t>
            </a:r>
            <a:r>
              <a:rPr lang="en-US" altLang="zh-CN" b="1" smtClean="0"/>
              <a:t>,</a:t>
            </a:r>
            <a:r>
              <a:rPr lang="zh-CN" altLang="en-US" b="1" smtClean="0"/>
              <a:t>但是</a:t>
            </a:r>
            <a:r>
              <a:rPr lang="en-US" altLang="zh-CN" b="1" smtClean="0"/>
              <a:t>CFG</a:t>
            </a:r>
            <a:r>
              <a:rPr lang="zh-CN" altLang="en-US" b="1" smtClean="0"/>
              <a:t>的分析算法研究得比较成熟</a:t>
            </a:r>
            <a:r>
              <a:rPr lang="en-US" altLang="zh-CN" b="1" smtClean="0"/>
              <a:t>,</a:t>
            </a:r>
            <a:r>
              <a:rPr lang="zh-CN" altLang="en-US" b="1" smtClean="0"/>
              <a:t>需要重点掌握</a:t>
            </a:r>
            <a:endParaRPr lang="zh-CN" altLang="en-US" b="1" smtClean="0"/>
          </a:p>
          <a:p>
            <a:pPr eaLnBrk="1" hangingPunct="1"/>
            <a:endParaRPr lang="en-US" altLang="zh-CN" b="1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zh-CN" smtClean="0"/>
              <a:t>CFG</a:t>
            </a:r>
            <a:r>
              <a:rPr lang="zh-CN" altLang="en-IE" smtClean="0"/>
              <a:t>的定义</a:t>
            </a:r>
            <a:endParaRPr lang="zh-CN" altLang="en-GB" smtClean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CFG defined by 4 parameters (</a:t>
            </a:r>
            <a:r>
              <a:rPr lang="en-US" altLang="zh-CN" i="1" smtClean="0"/>
              <a:t>N; </a:t>
            </a:r>
            <a:r>
              <a:rPr lang="en-US" altLang="zh-CN" i="1" smtClean="0">
                <a:cs typeface="Times New Roman" panose="02020603050405020304" pitchFamily="18" charset="0"/>
              </a:rPr>
              <a:t>T</a:t>
            </a:r>
            <a:r>
              <a:rPr lang="en-US" altLang="zh-CN" i="1" smtClean="0"/>
              <a:t>; P; S</a:t>
            </a:r>
            <a:r>
              <a:rPr lang="en-US" altLang="zh-CN" smtClean="0"/>
              <a:t>) </a:t>
            </a:r>
            <a:endParaRPr lang="en-US" altLang="zh-CN" smtClean="0"/>
          </a:p>
          <a:p>
            <a:pPr lvl="1" eaLnBrk="1" hangingPunct="1"/>
            <a:r>
              <a:rPr lang="en-US" altLang="zh-CN" i="1" smtClean="0"/>
              <a:t>N</a:t>
            </a:r>
            <a:r>
              <a:rPr lang="en-US" altLang="zh-CN" smtClean="0"/>
              <a:t> : set of nonterminal symbols </a:t>
            </a:r>
            <a:endParaRPr lang="en-US" altLang="zh-CN" smtClean="0"/>
          </a:p>
          <a:p>
            <a:pPr lvl="1" eaLnBrk="1" hangingPunct="1"/>
            <a:r>
              <a:rPr lang="en-US" altLang="zh-CN" i="1" smtClean="0">
                <a:cs typeface="Times New Roman" panose="02020603050405020304" pitchFamily="18" charset="0"/>
              </a:rPr>
              <a:t>T</a:t>
            </a:r>
            <a:r>
              <a:rPr lang="en-US" altLang="zh-CN" smtClean="0"/>
              <a:t>: set of terminal symbols </a:t>
            </a:r>
            <a:r>
              <a:rPr lang="en-US" altLang="zh-CN" i="1" smtClean="0"/>
              <a:t>N</a:t>
            </a:r>
            <a:r>
              <a:rPr lang="en-US" altLang="zh-CN" smtClean="0"/>
              <a:t> </a:t>
            </a:r>
            <a:r>
              <a:rPr lang="en-US" altLang="zh-CN" smtClean="0">
                <a:sym typeface="Symbol" panose="05050102010706020507" pitchFamily="18" charset="2"/>
              </a:rPr>
              <a:t></a:t>
            </a:r>
            <a:r>
              <a:rPr lang="en-US" altLang="zh-CN" smtClean="0"/>
              <a:t> </a:t>
            </a:r>
            <a:r>
              <a:rPr lang="en-US" altLang="zh-CN" i="1" smtClean="0">
                <a:cs typeface="Times New Roman" panose="02020603050405020304" pitchFamily="18" charset="0"/>
              </a:rPr>
              <a:t>T</a:t>
            </a:r>
            <a:r>
              <a:rPr lang="en-US" altLang="zh-CN" smtClean="0"/>
              <a:t> = </a:t>
            </a:r>
            <a:r>
              <a:rPr lang="en-US" altLang="zh-CN" smtClean="0">
                <a:cs typeface="Times New Roman" panose="02020603050405020304" pitchFamily="18" charset="0"/>
              </a:rPr>
              <a:t>Ø</a:t>
            </a:r>
            <a:r>
              <a:rPr lang="en-US" altLang="zh-CN" smtClean="0"/>
              <a:t>; </a:t>
            </a:r>
            <a:endParaRPr lang="en-US" altLang="zh-CN" smtClean="0"/>
          </a:p>
          <a:p>
            <a:pPr lvl="1" eaLnBrk="1" hangingPunct="1"/>
            <a:r>
              <a:rPr lang="en-US" altLang="zh-CN" i="1" smtClean="0"/>
              <a:t>P</a:t>
            </a:r>
            <a:r>
              <a:rPr lang="en-US" altLang="zh-CN" smtClean="0"/>
              <a:t> : set of productions of the form A </a:t>
            </a:r>
            <a:r>
              <a:rPr lang="en-US" altLang="zh-CN" smtClean="0">
                <a:sym typeface="Symbol" panose="05050102010706020507" pitchFamily="18" charset="2"/>
              </a:rPr>
              <a:t> </a:t>
            </a:r>
            <a:r>
              <a:rPr lang="en-US" altLang="zh-CN" smtClean="0"/>
              <a:t> where </a:t>
            </a:r>
            <a:r>
              <a:rPr lang="en-US" altLang="zh-CN" i="1" smtClean="0"/>
              <a:t>A</a:t>
            </a:r>
            <a:r>
              <a:rPr lang="en-US" altLang="zh-CN" smtClean="0"/>
              <a:t> </a:t>
            </a:r>
            <a:r>
              <a:rPr lang="en-US" altLang="zh-CN" smtClean="0">
                <a:sym typeface="Symbol" panose="05050102010706020507" pitchFamily="18" charset="2"/>
              </a:rPr>
              <a:t></a:t>
            </a:r>
            <a:r>
              <a:rPr lang="en-US" altLang="zh-CN" smtClean="0"/>
              <a:t> </a:t>
            </a:r>
            <a:r>
              <a:rPr lang="en-US" altLang="zh-CN" i="1" smtClean="0"/>
              <a:t>N</a:t>
            </a:r>
            <a:r>
              <a:rPr lang="en-US" altLang="zh-CN" smtClean="0"/>
              <a:t> and </a:t>
            </a:r>
            <a:r>
              <a:rPr lang="en-US" altLang="zh-CN" i="1" smtClean="0">
                <a:cs typeface="Times New Roman" panose="02020603050405020304" pitchFamily="18" charset="0"/>
              </a:rPr>
              <a:t>β</a:t>
            </a:r>
            <a:r>
              <a:rPr lang="en-US" altLang="zh-CN" smtClean="0"/>
              <a:t> is a string of symbols </a:t>
            </a:r>
            <a:r>
              <a:rPr lang="en-US" altLang="zh-CN" i="1" smtClean="0"/>
              <a:t>B</a:t>
            </a:r>
            <a:r>
              <a:rPr lang="en-US" altLang="zh-CN" baseline="-25000" smtClean="0"/>
              <a:t>i</a:t>
            </a:r>
            <a:r>
              <a:rPr lang="en-US" altLang="zh-CN" smtClean="0"/>
              <a:t> with </a:t>
            </a:r>
            <a:r>
              <a:rPr lang="en-US" altLang="zh-CN" i="1" smtClean="0"/>
              <a:t>B</a:t>
            </a:r>
            <a:r>
              <a:rPr lang="en-US" altLang="zh-CN" baseline="-25000" smtClean="0"/>
              <a:t>i</a:t>
            </a:r>
            <a:r>
              <a:rPr lang="en-US" altLang="zh-CN" smtClean="0"/>
              <a:t> </a:t>
            </a:r>
            <a:r>
              <a:rPr lang="en-US" altLang="zh-CN" smtClean="0">
                <a:sym typeface="Symbol" panose="05050102010706020507" pitchFamily="18" charset="2"/>
              </a:rPr>
              <a:t></a:t>
            </a:r>
            <a:r>
              <a:rPr lang="en-US" altLang="zh-CN" smtClean="0"/>
              <a:t> (</a:t>
            </a:r>
            <a:r>
              <a:rPr lang="en-US" altLang="zh-CN" i="1" smtClean="0"/>
              <a:t>N</a:t>
            </a:r>
            <a:r>
              <a:rPr lang="en-US" altLang="zh-CN" smtClean="0"/>
              <a:t> </a:t>
            </a:r>
            <a:r>
              <a:rPr lang="en-US" altLang="zh-CN" smtClean="0">
                <a:sym typeface="Symbol" panose="05050102010706020507" pitchFamily="18" charset="2"/>
              </a:rPr>
              <a:t></a:t>
            </a:r>
            <a:r>
              <a:rPr lang="en-US" altLang="zh-CN" smtClean="0"/>
              <a:t> </a:t>
            </a:r>
            <a:r>
              <a:rPr lang="en-US" altLang="zh-CN" i="1" smtClean="0">
                <a:cs typeface="Times New Roman" panose="02020603050405020304" pitchFamily="18" charset="0"/>
              </a:rPr>
              <a:t>T</a:t>
            </a:r>
            <a:r>
              <a:rPr lang="en-US" altLang="zh-CN" smtClean="0"/>
              <a:t>) </a:t>
            </a:r>
            <a:endParaRPr lang="en-US" altLang="zh-CN" smtClean="0"/>
          </a:p>
          <a:p>
            <a:pPr eaLnBrk="1" hangingPunct="1"/>
            <a:r>
              <a:rPr lang="en-US" altLang="zh-CN" smtClean="0"/>
              <a:t>S: designated start symbol </a:t>
            </a:r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一个简单的</a:t>
            </a:r>
            <a:r>
              <a:rPr lang="en-US" altLang="zh-CN" smtClean="0"/>
              <a:t>CFG</a:t>
            </a:r>
            <a:endParaRPr lang="en-US" altLang="zh-CN" smtClean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buFontTx/>
              <a:buNone/>
            </a:pPr>
            <a:r>
              <a:rPr lang="en-GB" altLang="zh-CN" b="1" smtClean="0">
                <a:latin typeface="Courier New" panose="02070309020205020404" pitchFamily="49" charset="0"/>
              </a:rPr>
              <a:t>S --&gt; NP VP			det --&gt; the</a:t>
            </a:r>
            <a:endParaRPr lang="en-GB" altLang="zh-CN" b="1" smtClean="0">
              <a:latin typeface="Courier New" panose="02070309020205020404" pitchFamily="49" charset="0"/>
            </a:endParaRPr>
          </a:p>
          <a:p>
            <a:pPr lvl="1" eaLnBrk="1" hangingPunct="1">
              <a:buFontTx/>
              <a:buNone/>
            </a:pPr>
            <a:r>
              <a:rPr lang="en-GB" altLang="zh-CN" b="1" smtClean="0">
                <a:latin typeface="Courier New" panose="02070309020205020404" pitchFamily="49" charset="0"/>
              </a:rPr>
              <a:t>NP --&gt; det n			n   --&gt; man</a:t>
            </a:r>
            <a:endParaRPr lang="en-GB" altLang="zh-CN" b="1" smtClean="0">
              <a:latin typeface="Courier New" panose="02070309020205020404" pitchFamily="49" charset="0"/>
            </a:endParaRPr>
          </a:p>
          <a:p>
            <a:pPr lvl="1" eaLnBrk="1" hangingPunct="1">
              <a:buFontTx/>
              <a:buNone/>
            </a:pPr>
            <a:r>
              <a:rPr lang="en-GB" altLang="zh-CN" b="1" smtClean="0">
                <a:latin typeface="Courier New" panose="02070309020205020404" pitchFamily="49" charset="0"/>
              </a:rPr>
              <a:t>NP --&gt; det n PP			n   --&gt; girl</a:t>
            </a:r>
            <a:endParaRPr lang="en-GB" altLang="zh-CN" b="1" smtClean="0">
              <a:latin typeface="Courier New" panose="02070309020205020404" pitchFamily="49" charset="0"/>
            </a:endParaRPr>
          </a:p>
          <a:p>
            <a:pPr lvl="1" eaLnBrk="1" hangingPunct="1">
              <a:buFontTx/>
              <a:buNone/>
            </a:pPr>
            <a:r>
              <a:rPr lang="en-GB" altLang="zh-CN" b="1" smtClean="0">
                <a:latin typeface="Courier New" panose="02070309020205020404" pitchFamily="49" charset="0"/>
              </a:rPr>
              <a:t>VP --&gt; v NP		 n --&gt; telescope</a:t>
            </a:r>
            <a:endParaRPr lang="en-GB" altLang="zh-CN" b="1" smtClean="0">
              <a:latin typeface="Courier New" panose="02070309020205020404" pitchFamily="49" charset="0"/>
            </a:endParaRPr>
          </a:p>
          <a:p>
            <a:pPr lvl="1" eaLnBrk="1" hangingPunct="1">
              <a:buFontTx/>
              <a:buNone/>
            </a:pPr>
            <a:r>
              <a:rPr lang="en-GB" altLang="zh-CN" b="1" smtClean="0">
                <a:latin typeface="Courier New" panose="02070309020205020404" pitchFamily="49" charset="0"/>
              </a:rPr>
              <a:t>VP --&gt; v NP PP		    v   --&gt; saw</a:t>
            </a:r>
            <a:endParaRPr lang="en-GB" altLang="zh-CN" b="1" smtClean="0">
              <a:latin typeface="Courier New" panose="02070309020205020404" pitchFamily="49" charset="0"/>
            </a:endParaRPr>
          </a:p>
          <a:p>
            <a:pPr lvl="1" eaLnBrk="1" hangingPunct="1">
              <a:buFontTx/>
              <a:buNone/>
            </a:pPr>
            <a:r>
              <a:rPr lang="en-GB" altLang="zh-CN" b="1" smtClean="0">
                <a:latin typeface="Courier New" panose="02070309020205020404" pitchFamily="49" charset="0"/>
              </a:rPr>
              <a:t>PP --&gt; p NP 			p   --&gt; with</a:t>
            </a:r>
            <a:endParaRPr lang="en-GB" altLang="zh-CN" b="1" smtClean="0">
              <a:latin typeface="Courier New" panose="02070309020205020404" pitchFamily="49" charset="0"/>
            </a:endParaRPr>
          </a:p>
          <a:p>
            <a:pPr eaLnBrk="1" hangingPunct="1"/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tree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00200"/>
            <a:ext cx="3725863" cy="321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 descr="tree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752600"/>
            <a:ext cx="3692525" cy="249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762000" y="457200"/>
            <a:ext cx="80772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zh-CN" sz="2400" b="0">
                <a:latin typeface="Times New Roman" panose="02020603050405020304" pitchFamily="18" charset="0"/>
              </a:rPr>
              <a:t>Two different parse trees for the sentence “</a:t>
            </a:r>
            <a:r>
              <a:rPr lang="en-IE" altLang="zh-CN" sz="2400" b="0" i="1">
                <a:latin typeface="Times New Roman" panose="02020603050405020304" pitchFamily="18" charset="0"/>
              </a:rPr>
              <a:t>the man saw the girl with the telescope”</a:t>
            </a:r>
            <a:endParaRPr lang="en-IE" altLang="zh-CN" sz="2400" b="0" i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GB" sz="2400" b="0" i="1">
              <a:latin typeface="Times New Roman" panose="02020603050405020304" pitchFamily="18" charset="0"/>
            </a:endParaRPr>
          </a:p>
        </p:txBody>
      </p:sp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914400" y="5791200"/>
            <a:ext cx="2774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zh-CN" sz="2000" b="0">
                <a:latin typeface="Times New Roman" panose="02020603050405020304" pitchFamily="18" charset="0"/>
              </a:rPr>
              <a:t>The girl has the telescope</a:t>
            </a:r>
            <a:endParaRPr lang="en-GB" altLang="zh-CN" sz="2000" b="0">
              <a:latin typeface="Times New Roman" panose="02020603050405020304" pitchFamily="18" charset="0"/>
            </a:endParaRPr>
          </a:p>
        </p:txBody>
      </p:sp>
      <p:sp>
        <p:nvSpPr>
          <p:cNvPr id="8198" name="Text Box 6"/>
          <p:cNvSpPr txBox="1">
            <a:spLocks noChangeArrowheads="1"/>
          </p:cNvSpPr>
          <p:nvPr/>
        </p:nvSpPr>
        <p:spPr bwMode="auto">
          <a:xfrm>
            <a:off x="5181600" y="5791200"/>
            <a:ext cx="28606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zh-CN" sz="2000" b="0">
                <a:latin typeface="Times New Roman" panose="02020603050405020304" pitchFamily="18" charset="0"/>
              </a:rPr>
              <a:t>The man has the telescope</a:t>
            </a:r>
            <a:endParaRPr lang="en-GB" altLang="zh-CN" sz="2000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文法和歧义</a:t>
            </a:r>
            <a:endParaRPr lang="zh-CN" altLang="en-US" smtClean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由于语言的线性结构及简约原则</a:t>
            </a:r>
            <a:r>
              <a:rPr lang="en-US" altLang="zh-CN" smtClean="0"/>
              <a:t>,</a:t>
            </a:r>
            <a:r>
              <a:rPr lang="zh-CN" altLang="en-US" smtClean="0"/>
              <a:t>自然语言充满歧义</a:t>
            </a:r>
            <a:r>
              <a:rPr lang="en-US" altLang="zh-CN" smtClean="0"/>
              <a:t>.</a:t>
            </a:r>
            <a:r>
              <a:rPr lang="zh-CN" altLang="en-US" smtClean="0"/>
              <a:t>这是与人工</a:t>
            </a:r>
            <a:r>
              <a:rPr lang="en-US" altLang="zh-CN" smtClean="0"/>
              <a:t>(</a:t>
            </a:r>
            <a:r>
              <a:rPr lang="zh-CN" altLang="en-US" smtClean="0"/>
              <a:t>一般是形式</a:t>
            </a:r>
            <a:r>
              <a:rPr lang="en-US" altLang="zh-CN" smtClean="0"/>
              <a:t>)</a:t>
            </a:r>
            <a:r>
              <a:rPr lang="zh-CN" altLang="en-US" smtClean="0"/>
              <a:t>语言的主要差别</a:t>
            </a:r>
            <a:r>
              <a:rPr lang="en-US" altLang="zh-CN" smtClean="0"/>
              <a:t>.</a:t>
            </a:r>
            <a:r>
              <a:rPr lang="zh-CN" altLang="en-US" smtClean="0"/>
              <a:t>分析算法必须考虑到这一点</a:t>
            </a:r>
            <a:endParaRPr lang="zh-CN" altLang="en-US" smtClean="0"/>
          </a:p>
          <a:p>
            <a:pPr eaLnBrk="1" hangingPunct="1"/>
            <a:r>
              <a:rPr lang="zh-CN" altLang="en-US" smtClean="0"/>
              <a:t>给定一种文法体系，如</a:t>
            </a:r>
            <a:r>
              <a:rPr lang="en-US" altLang="zh-CN" smtClean="0"/>
              <a:t>CFG</a:t>
            </a:r>
            <a:r>
              <a:rPr lang="zh-CN" altLang="en-US" smtClean="0"/>
              <a:t>，文法的写作也是重要的。要考虑到减少不必要的歧义</a:t>
            </a:r>
            <a:r>
              <a:rPr lang="en-US" altLang="zh-CN" smtClean="0"/>
              <a:t>,</a:t>
            </a:r>
            <a:r>
              <a:rPr lang="zh-CN" altLang="en-US" smtClean="0"/>
              <a:t>又要保证理解的自然性。非歧义的语言可以有歧义的文法。有歧义的语言只有歧义的文法。</a:t>
            </a:r>
            <a:endParaRPr lang="zh-CN" alt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v-SE" altLang="zh-CN" smtClean="0"/>
              <a:t>Processing strategies</a:t>
            </a:r>
            <a:endParaRPr lang="en-US" altLang="zh-CN" smtClean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v-SE" altLang="zh-CN" smtClean="0"/>
              <a:t>Top-down vs bottom-up processing</a:t>
            </a:r>
            <a:endParaRPr lang="sv-SE" altLang="zh-CN" smtClean="0"/>
          </a:p>
          <a:p>
            <a:pPr eaLnBrk="1" hangingPunct="1"/>
            <a:r>
              <a:rPr lang="sv-SE" altLang="zh-CN" smtClean="0"/>
              <a:t>Depth-first vs breadth-first search</a:t>
            </a:r>
            <a:endParaRPr lang="sv-SE" altLang="zh-CN" smtClean="0"/>
          </a:p>
          <a:p>
            <a:pPr eaLnBrk="1" hangingPunct="1"/>
            <a:r>
              <a:rPr lang="sv-SE" altLang="zh-CN" smtClean="0"/>
              <a:t>Left-to-right vs right-to-left scanning</a:t>
            </a:r>
            <a:endParaRPr lang="sv-SE" altLang="zh-CN" smtClean="0"/>
          </a:p>
          <a:p>
            <a:pPr eaLnBrk="1" hangingPunct="1"/>
            <a:r>
              <a:rPr lang="sv-SE" altLang="zh-CN" smtClean="0"/>
              <a:t>Deterministic vs nondeterministic parsing</a:t>
            </a:r>
            <a:endParaRPr lang="en-US" altLang="zh-CN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85775"/>
            <a:ext cx="8229600" cy="1143000"/>
          </a:xfrm>
        </p:spPr>
        <p:txBody>
          <a:bodyPr/>
          <a:lstStyle/>
          <a:p>
            <a:pPr eaLnBrk="1" hangingPunct="1"/>
            <a:r>
              <a:rPr lang="zh-CN" altLang="en-US" sz="2800" smtClean="0"/>
              <a:t>所谓自顶向下分析法也就是先构造句法树的根结点，再逐步向下扩展，直到叶结点； </a:t>
            </a:r>
            <a:br>
              <a:rPr lang="zh-CN" altLang="en-US" sz="2800" smtClean="0"/>
            </a:br>
            <a:r>
              <a:rPr lang="zh-CN" altLang="en-US" sz="2800" smtClean="0"/>
              <a:t>所谓自底向上分析法也就是先构造句法树的叶结点，再逐步向上合并，直到根结点</a:t>
            </a:r>
            <a:r>
              <a:rPr lang="zh-CN" altLang="en-US" sz="3200" smtClean="0"/>
              <a:t>。</a:t>
            </a:r>
            <a:endParaRPr lang="zh-CN" altLang="en-US" sz="3200" smtClean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3505200" cy="4522788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en-US" altLang="zh-CN" sz="1800" smtClean="0"/>
          </a:p>
          <a:p>
            <a:pPr eaLnBrk="1" hangingPunct="1">
              <a:lnSpc>
                <a:spcPct val="80000"/>
              </a:lnSpc>
            </a:pPr>
            <a:r>
              <a:rPr lang="en-GB" altLang="zh-CN" sz="1800" smtClean="0">
                <a:solidFill>
                  <a:schemeClr val="bg1"/>
                </a:solidFill>
              </a:rPr>
              <a:t>Top - Down</a:t>
            </a:r>
            <a:endParaRPr lang="en-GB" altLang="zh-CN" sz="1800" smtClean="0">
              <a:solidFill>
                <a:schemeClr val="bg1"/>
              </a:solidFill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zh-CN" sz="2800" smtClean="0"/>
              <a:t>s</a:t>
            </a:r>
            <a:endParaRPr lang="en-GB" altLang="zh-CN" sz="2800" smtClean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zh-CN" sz="2800" smtClean="0"/>
              <a:t>s -&gt; np, vp</a:t>
            </a:r>
            <a:endParaRPr lang="en-GB" altLang="zh-CN" sz="2800" smtClean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zh-CN" sz="2800" smtClean="0"/>
              <a:t>s -&gt; pron, vp</a:t>
            </a:r>
            <a:endParaRPr lang="en-GB" altLang="zh-CN" sz="2800" smtClean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zh-CN" sz="2800" smtClean="0"/>
              <a:t>s -&gt; </a:t>
            </a:r>
            <a:r>
              <a:rPr lang="en-GB" altLang="zh-CN" sz="2800" smtClean="0">
                <a:solidFill>
                  <a:schemeClr val="accent2"/>
                </a:solidFill>
              </a:rPr>
              <a:t>John</a:t>
            </a:r>
            <a:r>
              <a:rPr lang="en-GB" altLang="zh-CN" sz="2800" smtClean="0"/>
              <a:t>, vp</a:t>
            </a:r>
            <a:endParaRPr lang="en-GB" altLang="zh-CN" sz="2800" smtClean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zh-CN" sz="2800" smtClean="0"/>
              <a:t>s -&gt; </a:t>
            </a:r>
            <a:r>
              <a:rPr lang="en-GB" altLang="zh-CN" sz="2800" smtClean="0">
                <a:solidFill>
                  <a:schemeClr val="accent2"/>
                </a:solidFill>
              </a:rPr>
              <a:t>John</a:t>
            </a:r>
            <a:r>
              <a:rPr lang="en-GB" altLang="zh-CN" sz="2800" smtClean="0"/>
              <a:t>, v, np</a:t>
            </a:r>
            <a:endParaRPr lang="en-GB" altLang="zh-CN" sz="2800" smtClean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zh-CN" sz="2800" smtClean="0"/>
              <a:t>s -&gt; </a:t>
            </a:r>
            <a:r>
              <a:rPr lang="en-GB" altLang="zh-CN" sz="2800" smtClean="0">
                <a:solidFill>
                  <a:schemeClr val="accent2"/>
                </a:solidFill>
              </a:rPr>
              <a:t>John, hit,</a:t>
            </a:r>
            <a:r>
              <a:rPr lang="en-GB" altLang="zh-CN" sz="2800" smtClean="0"/>
              <a:t> np</a:t>
            </a:r>
            <a:endParaRPr lang="en-GB" altLang="zh-CN" sz="2800" smtClean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zh-CN" sz="2800" smtClean="0"/>
              <a:t>s -&gt; </a:t>
            </a:r>
            <a:r>
              <a:rPr lang="en-GB" altLang="zh-CN" sz="2800" smtClean="0">
                <a:solidFill>
                  <a:schemeClr val="accent2"/>
                </a:solidFill>
              </a:rPr>
              <a:t>John, hit</a:t>
            </a:r>
            <a:r>
              <a:rPr lang="en-GB" altLang="zh-CN" sz="2800" smtClean="0"/>
              <a:t>, det,n</a:t>
            </a:r>
            <a:endParaRPr lang="en-GB" altLang="zh-CN" sz="2800" smtClean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zh-CN" sz="2800" smtClean="0"/>
              <a:t>s -&gt;</a:t>
            </a:r>
            <a:r>
              <a:rPr lang="en-GB" altLang="zh-CN" sz="2800" smtClean="0">
                <a:solidFill>
                  <a:srgbClr val="800080"/>
                </a:solidFill>
              </a:rPr>
              <a:t> </a:t>
            </a:r>
            <a:r>
              <a:rPr lang="en-GB" altLang="zh-CN" sz="2800" smtClean="0">
                <a:solidFill>
                  <a:schemeClr val="accent2"/>
                </a:solidFill>
              </a:rPr>
              <a:t>John, hit, the,</a:t>
            </a:r>
            <a:r>
              <a:rPr lang="en-GB" altLang="zh-CN" sz="2800" smtClean="0"/>
              <a:t>n</a:t>
            </a:r>
            <a:endParaRPr lang="en-GB" altLang="zh-CN" sz="2800" smtClean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zh-CN" sz="2800" smtClean="0"/>
              <a:t>s -&gt;</a:t>
            </a:r>
            <a:r>
              <a:rPr lang="en-GB" altLang="zh-CN" sz="2800" smtClean="0">
                <a:solidFill>
                  <a:srgbClr val="800080"/>
                </a:solidFill>
              </a:rPr>
              <a:t> </a:t>
            </a:r>
            <a:r>
              <a:rPr lang="en-GB" altLang="zh-CN" sz="2800" smtClean="0">
                <a:solidFill>
                  <a:schemeClr val="accent2"/>
                </a:solidFill>
              </a:rPr>
              <a:t>John, hit, the,cat</a:t>
            </a:r>
            <a:endParaRPr lang="en-US" altLang="zh-CN" sz="2800" smtClean="0">
              <a:solidFill>
                <a:schemeClr val="accent2"/>
              </a:solidFill>
            </a:endParaRPr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4356100" y="1773238"/>
            <a:ext cx="4572000" cy="4722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zh-CN" sz="1600" b="0">
                <a:solidFill>
                  <a:schemeClr val="bg1"/>
                </a:solidFill>
                <a:latin typeface="Times New Roman" panose="02020603050405020304" pitchFamily="18" charset="0"/>
              </a:rPr>
              <a:t>Bottom - Up </a:t>
            </a:r>
            <a:endParaRPr lang="en-GB" altLang="zh-CN" sz="1600" b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zh-CN" b="0">
                <a:solidFill>
                  <a:schemeClr val="accent2"/>
                </a:solidFill>
                <a:latin typeface="Times New Roman" panose="02020603050405020304" pitchFamily="18" charset="0"/>
              </a:rPr>
              <a:t>John, hit, the, cat</a:t>
            </a:r>
            <a:endParaRPr lang="en-GB" altLang="zh-CN" b="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zh-CN" sz="2800" b="0">
                <a:solidFill>
                  <a:srgbClr val="CC0066"/>
                </a:solidFill>
                <a:latin typeface="Times New Roman" panose="02020603050405020304" pitchFamily="18" charset="0"/>
              </a:rPr>
              <a:t>pron,</a:t>
            </a:r>
            <a:r>
              <a:rPr lang="en-GB" altLang="zh-CN" b="0">
                <a:latin typeface="Times New Roman" panose="02020603050405020304" pitchFamily="18" charset="0"/>
              </a:rPr>
              <a:t> </a:t>
            </a:r>
            <a:r>
              <a:rPr lang="en-GB" altLang="zh-CN" b="0">
                <a:solidFill>
                  <a:schemeClr val="accent2"/>
                </a:solidFill>
                <a:latin typeface="Times New Roman" panose="02020603050405020304" pitchFamily="18" charset="0"/>
              </a:rPr>
              <a:t>hit, the, cat</a:t>
            </a:r>
            <a:endParaRPr lang="en-GB" altLang="zh-CN" b="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zh-CN" sz="2800" b="0">
                <a:solidFill>
                  <a:srgbClr val="CC0066"/>
                </a:solidFill>
                <a:latin typeface="Times New Roman" panose="02020603050405020304" pitchFamily="18" charset="0"/>
              </a:rPr>
              <a:t>pron, v,</a:t>
            </a:r>
            <a:r>
              <a:rPr lang="en-GB" altLang="zh-CN" b="0">
                <a:latin typeface="Times New Roman" panose="02020603050405020304" pitchFamily="18" charset="0"/>
              </a:rPr>
              <a:t> </a:t>
            </a:r>
            <a:r>
              <a:rPr lang="en-GB" altLang="zh-CN" b="0">
                <a:solidFill>
                  <a:schemeClr val="accent2"/>
                </a:solidFill>
                <a:latin typeface="Times New Roman" panose="02020603050405020304" pitchFamily="18" charset="0"/>
              </a:rPr>
              <a:t>the, cat</a:t>
            </a:r>
            <a:endParaRPr lang="en-GB" altLang="zh-CN" b="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zh-CN" b="0">
                <a:solidFill>
                  <a:srgbClr val="CC0066"/>
                </a:solidFill>
                <a:latin typeface="Times New Roman" panose="02020603050405020304" pitchFamily="18" charset="0"/>
              </a:rPr>
              <a:t>pron, v, det</a:t>
            </a:r>
            <a:r>
              <a:rPr lang="en-GB" altLang="zh-CN" b="0">
                <a:solidFill>
                  <a:srgbClr val="FFCC99"/>
                </a:solidFill>
                <a:latin typeface="Times New Roman" panose="02020603050405020304" pitchFamily="18" charset="0"/>
              </a:rPr>
              <a:t>,</a:t>
            </a:r>
            <a:r>
              <a:rPr lang="en-GB" altLang="zh-CN" b="0">
                <a:latin typeface="Times New Roman" panose="02020603050405020304" pitchFamily="18" charset="0"/>
              </a:rPr>
              <a:t> </a:t>
            </a:r>
            <a:r>
              <a:rPr lang="en-GB" altLang="zh-CN" b="0">
                <a:solidFill>
                  <a:schemeClr val="accent2"/>
                </a:solidFill>
                <a:latin typeface="Times New Roman" panose="02020603050405020304" pitchFamily="18" charset="0"/>
              </a:rPr>
              <a:t>cat</a:t>
            </a:r>
            <a:endParaRPr lang="en-GB" altLang="zh-CN" b="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zh-CN" b="0">
                <a:solidFill>
                  <a:srgbClr val="CC0066"/>
                </a:solidFill>
                <a:latin typeface="Times New Roman" panose="02020603050405020304" pitchFamily="18" charset="0"/>
              </a:rPr>
              <a:t>pron, v, det, n</a:t>
            </a:r>
            <a:endParaRPr lang="en-GB" altLang="zh-CN" b="0">
              <a:solidFill>
                <a:srgbClr val="CC0066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zh-CN" b="0">
                <a:solidFill>
                  <a:srgbClr val="CC0066"/>
                </a:solidFill>
                <a:latin typeface="Times New Roman" panose="02020603050405020304" pitchFamily="18" charset="0"/>
              </a:rPr>
              <a:t>np, v, det, n</a:t>
            </a:r>
            <a:endParaRPr lang="en-GB" altLang="zh-CN" b="0">
              <a:solidFill>
                <a:srgbClr val="CC0066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zh-CN" b="0">
                <a:solidFill>
                  <a:srgbClr val="CC0066"/>
                </a:solidFill>
                <a:latin typeface="Times New Roman" panose="02020603050405020304" pitchFamily="18" charset="0"/>
              </a:rPr>
              <a:t>np, v, np</a:t>
            </a:r>
            <a:endParaRPr lang="en-GB" altLang="zh-CN" b="0">
              <a:solidFill>
                <a:srgbClr val="CC0066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zh-CN" b="0">
                <a:solidFill>
                  <a:srgbClr val="CC0066"/>
                </a:solidFill>
                <a:latin typeface="Times New Roman" panose="02020603050405020304" pitchFamily="18" charset="0"/>
              </a:rPr>
              <a:t>np, vp</a:t>
            </a:r>
            <a:endParaRPr lang="en-GB" altLang="zh-CN" b="0">
              <a:solidFill>
                <a:srgbClr val="CC0066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zh-CN" b="0">
                <a:solidFill>
                  <a:srgbClr val="CC0066"/>
                </a:solidFill>
                <a:latin typeface="Times New Roman" panose="02020603050405020304" pitchFamily="18" charset="0"/>
              </a:rPr>
              <a:t>s</a:t>
            </a:r>
            <a:endParaRPr lang="en-GB" altLang="zh-CN" b="0">
              <a:solidFill>
                <a:srgbClr val="CC0066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处理策略</a:t>
            </a:r>
            <a:endParaRPr lang="zh-CN" altLang="en-US" smtClean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smtClean="0"/>
              <a:t>自顶向下、自底向上是两种控制策略</a:t>
            </a:r>
            <a:endParaRPr lang="zh-CN" altLang="en-US" sz="2400" smtClean="0"/>
          </a:p>
          <a:p>
            <a:pPr eaLnBrk="1" hangingPunct="1">
              <a:lnSpc>
                <a:spcPct val="90000"/>
              </a:lnSpc>
            </a:pPr>
            <a:endParaRPr lang="zh-CN" altLang="en-US" sz="2400" smtClean="0"/>
          </a:p>
          <a:p>
            <a:pPr eaLnBrk="1" hangingPunct="1">
              <a:lnSpc>
                <a:spcPct val="90000"/>
              </a:lnSpc>
            </a:pPr>
            <a:r>
              <a:rPr lang="zh-CN" altLang="en-US" sz="2400" smtClean="0"/>
              <a:t>深度优先和广度优先是搜索策略，都适用两种控制策略</a:t>
            </a:r>
            <a:r>
              <a:rPr lang="en-US" altLang="zh-CN" sz="2400" smtClean="0"/>
              <a:t>.</a:t>
            </a:r>
            <a:r>
              <a:rPr lang="zh-CN" altLang="en-US" sz="2400" smtClean="0"/>
              <a:t>就是在探索多种可能性时选择的排队策略</a:t>
            </a:r>
            <a:r>
              <a:rPr lang="en-US" altLang="zh-CN" sz="2400" smtClean="0"/>
              <a:t>(</a:t>
            </a:r>
            <a:r>
              <a:rPr lang="zh-CN" altLang="en-US" sz="2400" smtClean="0"/>
              <a:t>栈或队列</a:t>
            </a:r>
            <a:r>
              <a:rPr lang="en-US" altLang="zh-CN" sz="2400" smtClean="0"/>
              <a:t>)</a:t>
            </a:r>
            <a:endParaRPr lang="en-US" altLang="zh-CN" sz="2400" smtClean="0"/>
          </a:p>
          <a:p>
            <a:pPr eaLnBrk="1" hangingPunct="1">
              <a:lnSpc>
                <a:spcPct val="90000"/>
              </a:lnSpc>
            </a:pPr>
            <a:endParaRPr lang="en-US" altLang="zh-CN" sz="2400" smtClean="0"/>
          </a:p>
          <a:p>
            <a:pPr eaLnBrk="1" hangingPunct="1">
              <a:lnSpc>
                <a:spcPct val="90000"/>
              </a:lnSpc>
            </a:pPr>
            <a:r>
              <a:rPr lang="zh-CN" altLang="en-US" sz="2400" smtClean="0"/>
              <a:t>自左至右和自右至左</a:t>
            </a:r>
            <a:r>
              <a:rPr lang="en-US" altLang="zh-CN" sz="2400" smtClean="0"/>
              <a:t>(</a:t>
            </a:r>
            <a:r>
              <a:rPr lang="zh-CN" altLang="en-US" sz="2400" smtClean="0"/>
              <a:t>甚至“中间开花</a:t>
            </a:r>
            <a:r>
              <a:rPr lang="zh-CN" altLang="en-US" sz="2400" smtClean="0">
                <a:latin typeface="Times New Roman" panose="02020603050405020304" pitchFamily="18" charset="0"/>
              </a:rPr>
              <a:t>”</a:t>
            </a:r>
            <a:r>
              <a:rPr lang="en-US" altLang="zh-CN" sz="2400" smtClean="0"/>
              <a:t>)</a:t>
            </a:r>
            <a:r>
              <a:rPr lang="zh-CN" altLang="en-US" sz="2400" smtClean="0"/>
              <a:t>是常用的两种扫描策略</a:t>
            </a:r>
            <a:r>
              <a:rPr lang="en-US" altLang="zh-CN" sz="2400" smtClean="0"/>
              <a:t>.</a:t>
            </a:r>
            <a:endParaRPr lang="en-US" altLang="zh-CN" sz="2400" smtClean="0"/>
          </a:p>
          <a:p>
            <a:pPr eaLnBrk="1" hangingPunct="1">
              <a:lnSpc>
                <a:spcPct val="90000"/>
              </a:lnSpc>
            </a:pPr>
            <a:endParaRPr lang="en-US" altLang="zh-CN" sz="2400" smtClean="0"/>
          </a:p>
          <a:p>
            <a:pPr eaLnBrk="1" hangingPunct="1">
              <a:lnSpc>
                <a:spcPct val="90000"/>
              </a:lnSpc>
            </a:pPr>
            <a:r>
              <a:rPr lang="zh-CN" altLang="en-US" sz="2400" smtClean="0"/>
              <a:t>当文法没有二义性时</a:t>
            </a:r>
            <a:r>
              <a:rPr lang="en-US" altLang="zh-CN" sz="2400" smtClean="0"/>
              <a:t>,</a:t>
            </a:r>
            <a:r>
              <a:rPr lang="zh-CN" altLang="en-US" sz="2400" smtClean="0"/>
              <a:t>甚至假设句子理解没有二义性时</a:t>
            </a:r>
            <a:r>
              <a:rPr lang="en-US" altLang="zh-CN" sz="2400" smtClean="0"/>
              <a:t>,</a:t>
            </a:r>
            <a:r>
              <a:rPr lang="zh-CN" altLang="en-US" sz="2400" smtClean="0"/>
              <a:t>可以采用确定性算法</a:t>
            </a:r>
            <a:r>
              <a:rPr lang="en-US" altLang="zh-CN" sz="2400" smtClean="0"/>
              <a:t>(</a:t>
            </a:r>
            <a:r>
              <a:rPr lang="zh-CN" altLang="en-US" sz="2400" smtClean="0"/>
              <a:t>无回溯</a:t>
            </a:r>
            <a:r>
              <a:rPr lang="en-US" altLang="zh-CN" sz="2400" smtClean="0"/>
              <a:t>)</a:t>
            </a:r>
            <a:r>
              <a:rPr lang="zh-CN" altLang="en-US" sz="2400" smtClean="0"/>
              <a:t>，如程序语言中的</a:t>
            </a:r>
            <a:r>
              <a:rPr lang="en-US" altLang="zh-CN" sz="2400" smtClean="0"/>
              <a:t>LR</a:t>
            </a:r>
            <a:r>
              <a:rPr lang="zh-CN" altLang="en-US" sz="2400" smtClean="0"/>
              <a:t>文法</a:t>
            </a:r>
            <a:r>
              <a:rPr lang="en-US" altLang="zh-CN" sz="2400" smtClean="0"/>
              <a:t>;</a:t>
            </a:r>
            <a:r>
              <a:rPr lang="zh-CN" altLang="en-US" sz="2400" smtClean="0"/>
              <a:t>对自然语言一般不行，因此常用概率算法</a:t>
            </a:r>
            <a:endParaRPr lang="zh-CN" altLang="en-US" sz="240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CYK </a:t>
            </a:r>
            <a:r>
              <a:rPr lang="zh-CN" altLang="en-US" smtClean="0"/>
              <a:t>算法</a:t>
            </a:r>
            <a:endParaRPr lang="zh-CN" altLang="en-US" smtClean="0"/>
          </a:p>
        </p:txBody>
      </p:sp>
      <p:sp>
        <p:nvSpPr>
          <p:cNvPr id="1331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只适用于</a:t>
            </a:r>
            <a:r>
              <a:rPr lang="en-US" altLang="zh-CN" smtClean="0"/>
              <a:t>CNF(Chomsky Normal Form)</a:t>
            </a:r>
            <a:r>
              <a:rPr lang="zh-CN" altLang="en-US" smtClean="0"/>
              <a:t>文法</a:t>
            </a:r>
            <a:endParaRPr lang="en-US" altLang="zh-CN" smtClean="0"/>
          </a:p>
          <a:p>
            <a:pPr marL="342900" lvl="1" indent="-342900">
              <a:buFontTx/>
              <a:buNone/>
            </a:pPr>
            <a:r>
              <a:rPr lang="zh-CN" altLang="en-US" smtClean="0">
                <a:cs typeface="Arial" panose="020B0604020202020204" pitchFamily="34" charset="0"/>
              </a:rPr>
              <a:t>    </a:t>
            </a:r>
            <a:r>
              <a:rPr lang="en-US" altLang="ja-JP" smtClean="0">
                <a:cs typeface="Arial" panose="020B0604020202020204" pitchFamily="34" charset="0"/>
              </a:rPr>
              <a:t>all rules have one of the following two forms:  </a:t>
            </a:r>
            <a:br>
              <a:rPr lang="en-US" altLang="ja-JP" smtClean="0">
                <a:cs typeface="Arial" panose="020B0604020202020204" pitchFamily="34" charset="0"/>
              </a:rPr>
            </a:br>
            <a:r>
              <a:rPr lang="en-US" altLang="ja-JP" smtClean="0">
                <a:cs typeface="Arial" panose="020B0604020202020204" pitchFamily="34" charset="0"/>
              </a:rPr>
              <a:t>		</a:t>
            </a:r>
            <a:r>
              <a:rPr lang="en-US" altLang="ja-JP" i="1" smtClean="0"/>
              <a:t>A</a:t>
            </a:r>
            <a:r>
              <a:rPr lang="en-US" altLang="ja-JP" smtClean="0">
                <a:sym typeface="Wingdings" panose="05000000000000000000" pitchFamily="2" charset="2"/>
              </a:rPr>
              <a:t></a:t>
            </a:r>
            <a:r>
              <a:rPr lang="en-US" altLang="ja-JP" i="1" smtClean="0"/>
              <a:t>a</a:t>
            </a:r>
            <a:r>
              <a:rPr lang="en-US" altLang="ja-JP" smtClean="0"/>
              <a:t>	</a:t>
            </a:r>
            <a:br>
              <a:rPr lang="en-US" altLang="ja-JP" smtClean="0"/>
            </a:br>
            <a:r>
              <a:rPr lang="en-US" altLang="ja-JP" smtClean="0"/>
              <a:t>		</a:t>
            </a:r>
            <a:r>
              <a:rPr lang="en-US" altLang="ja-JP" i="1" smtClean="0"/>
              <a:t>A</a:t>
            </a:r>
            <a:r>
              <a:rPr lang="en-US" altLang="ja-JP" smtClean="0">
                <a:sym typeface="Wingdings" panose="05000000000000000000" pitchFamily="2" charset="2"/>
              </a:rPr>
              <a:t></a:t>
            </a:r>
            <a:r>
              <a:rPr lang="en-US" altLang="ja-JP" i="1" smtClean="0"/>
              <a:t>BC</a:t>
            </a:r>
            <a:endParaRPr lang="en-US" altLang="ja-JP" i="1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smtClean="0"/>
              <a:t>Recognition of CNF</a:t>
            </a:r>
            <a:r>
              <a:rPr lang="zh-CN" altLang="en-US" sz="3200" smtClean="0"/>
              <a:t>：</a:t>
            </a:r>
            <a:r>
              <a:rPr lang="en-US" altLang="zh-CN" sz="3200" smtClean="0"/>
              <a:t>the CYK algorithm</a:t>
            </a:r>
            <a:br>
              <a:rPr lang="en-US" altLang="zh-CN" smtClean="0"/>
            </a:br>
            <a:endParaRPr lang="en-US" altLang="zh-CN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dirty="0" smtClean="0"/>
              <a:t>用一个</a:t>
            </a:r>
            <a:r>
              <a:rPr lang="en-US" altLang="zh-CN" sz="2400" dirty="0" smtClean="0"/>
              <a:t>3</a:t>
            </a:r>
            <a:r>
              <a:rPr lang="zh-CN" altLang="en-US" sz="2400" dirty="0" smtClean="0"/>
              <a:t>维数组来来记住分析状态。对识别，定义</a:t>
            </a:r>
            <a:r>
              <a:rPr lang="en-US" altLang="zh-CN" sz="2400" dirty="0" smtClean="0"/>
              <a:t>P[i,j+1,A</a:t>
            </a:r>
            <a:r>
              <a:rPr lang="en-US" altLang="zh-CN" sz="2400" dirty="0" smtClean="0"/>
              <a:t>] = true </a:t>
            </a:r>
            <a:r>
              <a:rPr lang="en-US" altLang="zh-CN" sz="2400" dirty="0" err="1" smtClean="0"/>
              <a:t>iff</a:t>
            </a:r>
            <a:r>
              <a:rPr lang="en-US" altLang="zh-CN" sz="2400" dirty="0" smtClean="0"/>
              <a:t> A</a:t>
            </a:r>
            <a:r>
              <a:rPr lang="en-US" altLang="ja-JP" sz="2400" dirty="0" smtClean="0">
                <a:sym typeface="Wingdings" panose="05000000000000000000" pitchFamily="2" charset="2"/>
              </a:rPr>
              <a:t> </a:t>
            </a:r>
            <a:r>
              <a:rPr lang="en-US" altLang="zh-CN" sz="2400" dirty="0" smtClean="0">
                <a:sym typeface="Wingdings" panose="05000000000000000000" pitchFamily="2" charset="2"/>
              </a:rPr>
              <a:t>=&gt;</a:t>
            </a:r>
            <a:r>
              <a:rPr lang="en-US" altLang="ja-JP" sz="2400" dirty="0" err="1" smtClean="0">
                <a:sym typeface="Wingdings" panose="05000000000000000000" pitchFamily="2" charset="2"/>
              </a:rPr>
              <a:t>wi</a:t>
            </a:r>
            <a:r>
              <a:rPr lang="en-US" altLang="ja-JP" sz="2400" dirty="0" smtClean="0">
                <a:sym typeface="Wingdings" panose="05000000000000000000" pitchFamily="2" charset="2"/>
              </a:rPr>
              <a:t> … </a:t>
            </a:r>
            <a:r>
              <a:rPr lang="en-US" altLang="ja-JP" sz="2400" dirty="0" err="1" smtClean="0">
                <a:sym typeface="Wingdings" panose="05000000000000000000" pitchFamily="2" charset="2"/>
              </a:rPr>
              <a:t>wj</a:t>
            </a:r>
            <a:endParaRPr lang="en-US" altLang="ja-JP" sz="2400" dirty="0" smtClean="0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 smtClean="0"/>
              <a:t>for k := 1 to </a:t>
            </a:r>
            <a:r>
              <a:rPr lang="en-US" altLang="zh-CN" sz="2400" dirty="0" err="1" smtClean="0"/>
              <a:t>slen</a:t>
            </a:r>
            <a:r>
              <a:rPr lang="en-US" altLang="zh-CN" sz="2400" dirty="0" smtClean="0"/>
              <a:t> do </a:t>
            </a:r>
            <a:endParaRPr lang="en-US" altLang="zh-CN" sz="2400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 smtClean="0"/>
              <a:t>      </a:t>
            </a:r>
            <a:r>
              <a:rPr lang="en-US" altLang="zh-CN" sz="2400" dirty="0" err="1" smtClean="0"/>
              <a:t>foreach</a:t>
            </a:r>
            <a:r>
              <a:rPr lang="en-US" altLang="zh-CN" sz="2400" dirty="0" smtClean="0"/>
              <a:t> A -&gt; </a:t>
            </a:r>
            <a:r>
              <a:rPr lang="en-US" altLang="zh-CN" sz="2400" dirty="0" err="1" smtClean="0"/>
              <a:t>w</a:t>
            </a:r>
            <a:r>
              <a:rPr lang="en-US" altLang="zh-CN" sz="2400" baseline="-25000" dirty="0" err="1" smtClean="0"/>
              <a:t>k</a:t>
            </a:r>
            <a:r>
              <a:rPr lang="en-US" altLang="zh-CN" sz="2400" dirty="0" smtClean="0"/>
              <a:t> do P[k,k+1,A] := true</a:t>
            </a:r>
            <a:endParaRPr lang="en-US" altLang="zh-CN" sz="2400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 smtClean="0"/>
              <a:t>    for span := 2 to </a:t>
            </a:r>
            <a:r>
              <a:rPr lang="en-US" altLang="zh-CN" sz="2400" dirty="0" err="1" smtClean="0"/>
              <a:t>slen</a:t>
            </a:r>
            <a:r>
              <a:rPr lang="en-US" altLang="zh-CN" sz="2400" dirty="0" smtClean="0"/>
              <a:t> – 1 do</a:t>
            </a:r>
            <a:endParaRPr lang="en-US" altLang="zh-CN" sz="2400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 smtClean="0"/>
              <a:t>      for start := 1 to </a:t>
            </a:r>
            <a:r>
              <a:rPr lang="en-US" altLang="zh-CN" sz="2400" dirty="0" err="1" smtClean="0"/>
              <a:t>slen</a:t>
            </a:r>
            <a:r>
              <a:rPr lang="en-US" altLang="zh-CN" sz="2400" dirty="0" smtClean="0"/>
              <a:t> – 1 do</a:t>
            </a:r>
            <a:endParaRPr lang="en-US" altLang="zh-CN" sz="2400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 smtClean="0"/>
              <a:t>      { end := start + span;</a:t>
            </a:r>
            <a:endParaRPr lang="en-US" altLang="zh-CN" sz="2400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 smtClean="0"/>
              <a:t>        for k := start + 1 to end – 1 do</a:t>
            </a:r>
            <a:endParaRPr lang="en-US" altLang="zh-CN" sz="2400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 smtClean="0"/>
              <a:t>         </a:t>
            </a:r>
            <a:r>
              <a:rPr lang="en-US" altLang="zh-CN" sz="2400" dirty="0" err="1" smtClean="0"/>
              <a:t>foreach</a:t>
            </a:r>
            <a:r>
              <a:rPr lang="en-US" altLang="zh-CN" sz="2400" dirty="0" smtClean="0"/>
              <a:t> rule A -&gt; B C do</a:t>
            </a:r>
            <a:endParaRPr lang="en-US" altLang="zh-CN" sz="2400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 smtClean="0"/>
              <a:t>             P[</a:t>
            </a:r>
            <a:r>
              <a:rPr lang="en-US" altLang="zh-CN" sz="2400" dirty="0" err="1" smtClean="0"/>
              <a:t>start,end,A</a:t>
            </a:r>
            <a:r>
              <a:rPr lang="en-US" altLang="zh-CN" sz="2400" dirty="0" smtClean="0"/>
              <a:t>] |= P[</a:t>
            </a:r>
            <a:r>
              <a:rPr lang="en-US" altLang="zh-CN" sz="2400" dirty="0" err="1" smtClean="0"/>
              <a:t>start,k,B</a:t>
            </a:r>
            <a:r>
              <a:rPr lang="en-US" altLang="zh-CN" sz="2400" dirty="0" smtClean="0"/>
              <a:t>] P[</a:t>
            </a:r>
            <a:r>
              <a:rPr lang="en-US" altLang="zh-CN" sz="2400" dirty="0" err="1" smtClean="0"/>
              <a:t>k,end,C</a:t>
            </a:r>
            <a:r>
              <a:rPr lang="en-US" altLang="zh-CN" sz="2400" dirty="0" smtClean="0"/>
              <a:t>]</a:t>
            </a:r>
            <a:endParaRPr lang="en-US" altLang="zh-CN" sz="2400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 smtClean="0"/>
              <a:t>      }</a:t>
            </a:r>
            <a:endParaRPr lang="en-US" altLang="zh-CN" sz="2400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 smtClean="0"/>
              <a:t>   if </a:t>
            </a:r>
            <a:r>
              <a:rPr lang="en-US" altLang="zh-CN" sz="2400" dirty="0" smtClean="0"/>
              <a:t>P[1,slen+1,S]=</a:t>
            </a:r>
            <a:r>
              <a:rPr lang="en-US" altLang="zh-CN" sz="2400" dirty="0" smtClean="0"/>
              <a:t>true then sentence is well-formed</a:t>
            </a:r>
            <a:endParaRPr lang="en-US" altLang="zh-CN" sz="2400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 smtClean="0"/>
              <a:t>  </a:t>
            </a:r>
            <a:r>
              <a:rPr lang="zh-CN" altLang="en-US" sz="2400" dirty="0" smtClean="0"/>
              <a:t>改变</a:t>
            </a:r>
            <a:r>
              <a:rPr lang="en-US" altLang="zh-CN" sz="2400" dirty="0" smtClean="0"/>
              <a:t>P</a:t>
            </a:r>
            <a:r>
              <a:rPr lang="zh-CN" altLang="en-US" sz="2400" dirty="0" smtClean="0"/>
              <a:t>的数据结构为指针，就可以做分析而不是识别</a:t>
            </a:r>
            <a:endParaRPr lang="en-US" altLang="zh-CN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smtClean="0"/>
              <a:t>例子：语言</a:t>
            </a:r>
            <a:r>
              <a:rPr lang="en-US" altLang="zh-CN" sz="3600" smtClean="0"/>
              <a:t>{a</a:t>
            </a:r>
            <a:r>
              <a:rPr lang="en-US" altLang="zh-CN" sz="3600" baseline="30000" smtClean="0"/>
              <a:t>n</a:t>
            </a:r>
            <a:r>
              <a:rPr lang="en-US" altLang="zh-CN" sz="3600" smtClean="0"/>
              <a:t>b</a:t>
            </a:r>
            <a:r>
              <a:rPr lang="en-US" altLang="zh-CN" sz="3600" baseline="30000" smtClean="0"/>
              <a:t>n</a:t>
            </a:r>
            <a:r>
              <a:rPr lang="en-US" altLang="zh-CN" sz="3600" smtClean="0"/>
              <a:t>}</a:t>
            </a:r>
            <a:r>
              <a:rPr lang="zh-CN" altLang="en-US" sz="3600" smtClean="0"/>
              <a:t>的</a:t>
            </a:r>
            <a:r>
              <a:rPr lang="en-US" altLang="zh-CN" sz="3600" smtClean="0"/>
              <a:t>CNF</a:t>
            </a:r>
            <a:r>
              <a:rPr lang="zh-CN" altLang="en-US" sz="3600" smtClean="0"/>
              <a:t>文法</a:t>
            </a:r>
            <a:endParaRPr lang="en-US" altLang="zh-CN" sz="3600" smtClean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buFont typeface="Monotype Sorts"/>
              <a:buNone/>
            </a:pPr>
            <a:r>
              <a:rPr lang="en-US" altLang="zh-CN" sz="2800" i="1" smtClean="0"/>
              <a:t>S </a:t>
            </a:r>
            <a:r>
              <a:rPr lang="en-US" altLang="zh-CN" sz="2800" smtClean="0">
                <a:sym typeface="Wingdings" panose="05000000000000000000" pitchFamily="2" charset="2"/>
              </a:rPr>
              <a:t> </a:t>
            </a:r>
            <a:r>
              <a:rPr lang="en-US" altLang="zh-CN" sz="2800" smtClean="0">
                <a:latin typeface="Symbol" panose="05050102010706020507" pitchFamily="18" charset="2"/>
                <a:sym typeface="Wingdings" panose="05000000000000000000" pitchFamily="2" charset="2"/>
              </a:rPr>
              <a:t>e</a:t>
            </a:r>
            <a:r>
              <a:rPr lang="en-US" altLang="zh-CN" sz="2800" smtClean="0">
                <a:sym typeface="Wingdings" panose="05000000000000000000" pitchFamily="2" charset="2"/>
              </a:rPr>
              <a:t> | </a:t>
            </a:r>
            <a:r>
              <a:rPr lang="en-US" altLang="zh-CN" sz="2800" i="1" smtClean="0">
                <a:sym typeface="Wingdings" panose="05000000000000000000" pitchFamily="2" charset="2"/>
              </a:rPr>
              <a:t>AB </a:t>
            </a:r>
            <a:r>
              <a:rPr lang="en-US" altLang="zh-CN" sz="2800" smtClean="0">
                <a:sym typeface="Wingdings" panose="05000000000000000000" pitchFamily="2" charset="2"/>
              </a:rPr>
              <a:t>| </a:t>
            </a:r>
            <a:r>
              <a:rPr lang="en-US" altLang="zh-CN" sz="2800" i="1" smtClean="0">
                <a:sym typeface="Wingdings" panose="05000000000000000000" pitchFamily="2" charset="2"/>
              </a:rPr>
              <a:t>XB</a:t>
            </a:r>
            <a:endParaRPr lang="en-US" altLang="zh-CN" sz="2800" i="1" smtClean="0">
              <a:sym typeface="Wingdings" panose="05000000000000000000" pitchFamily="2" charset="2"/>
            </a:endParaRPr>
          </a:p>
          <a:p>
            <a:pPr marL="609600" indent="-609600">
              <a:buFont typeface="Monotype Sorts"/>
              <a:buNone/>
            </a:pPr>
            <a:r>
              <a:rPr lang="en-US" altLang="zh-CN" sz="2800" i="1" smtClean="0">
                <a:sym typeface="Wingdings" panose="05000000000000000000" pitchFamily="2" charset="2"/>
              </a:rPr>
              <a:t>X </a:t>
            </a:r>
            <a:r>
              <a:rPr lang="en-US" altLang="zh-CN" sz="2800" smtClean="0">
                <a:sym typeface="Wingdings" panose="05000000000000000000" pitchFamily="2" charset="2"/>
              </a:rPr>
              <a:t> </a:t>
            </a:r>
            <a:r>
              <a:rPr lang="en-US" altLang="zh-CN" sz="2800" i="1" smtClean="0">
                <a:sym typeface="Wingdings" panose="05000000000000000000" pitchFamily="2" charset="2"/>
              </a:rPr>
              <a:t>AT</a:t>
            </a:r>
            <a:endParaRPr lang="en-US" altLang="zh-CN" sz="2800" i="1" smtClean="0">
              <a:sym typeface="Wingdings" panose="05000000000000000000" pitchFamily="2" charset="2"/>
            </a:endParaRPr>
          </a:p>
          <a:p>
            <a:pPr marL="609600" indent="-609600">
              <a:buFontTx/>
              <a:buNone/>
            </a:pPr>
            <a:r>
              <a:rPr lang="en-US" altLang="zh-CN" sz="2800" i="1" smtClean="0">
                <a:sym typeface="Wingdings" panose="05000000000000000000" pitchFamily="2" charset="2"/>
              </a:rPr>
              <a:t>T </a:t>
            </a:r>
            <a:r>
              <a:rPr lang="en-US" altLang="zh-CN" sz="2800" smtClean="0">
                <a:sym typeface="Wingdings" panose="05000000000000000000" pitchFamily="2" charset="2"/>
              </a:rPr>
              <a:t> </a:t>
            </a:r>
            <a:r>
              <a:rPr lang="en-US" altLang="zh-CN" sz="2800" i="1" smtClean="0">
                <a:sym typeface="Wingdings" panose="05000000000000000000" pitchFamily="2" charset="2"/>
              </a:rPr>
              <a:t>AB </a:t>
            </a:r>
            <a:r>
              <a:rPr lang="en-US" altLang="zh-CN" sz="2800" smtClean="0">
                <a:sym typeface="Wingdings" panose="05000000000000000000" pitchFamily="2" charset="2"/>
              </a:rPr>
              <a:t>| </a:t>
            </a:r>
            <a:r>
              <a:rPr lang="en-US" altLang="zh-CN" sz="2800" i="1" smtClean="0">
                <a:sym typeface="Wingdings" panose="05000000000000000000" pitchFamily="2" charset="2"/>
              </a:rPr>
              <a:t>XB</a:t>
            </a:r>
            <a:endParaRPr lang="en-US" altLang="zh-CN" sz="2800" i="1" smtClean="0">
              <a:sym typeface="Wingdings" panose="05000000000000000000" pitchFamily="2" charset="2"/>
            </a:endParaRPr>
          </a:p>
          <a:p>
            <a:pPr marL="609600" indent="-609600">
              <a:buFont typeface="Monotype Sorts"/>
              <a:buNone/>
            </a:pPr>
            <a:r>
              <a:rPr lang="en-US" altLang="zh-CN" sz="2800" i="1" smtClean="0">
                <a:sym typeface="Wingdings" panose="05000000000000000000" pitchFamily="2" charset="2"/>
              </a:rPr>
              <a:t>A </a:t>
            </a:r>
            <a:r>
              <a:rPr lang="en-US" altLang="zh-CN" sz="2800" smtClean="0">
                <a:sym typeface="Wingdings" panose="05000000000000000000" pitchFamily="2" charset="2"/>
              </a:rPr>
              <a:t> </a:t>
            </a:r>
            <a:r>
              <a:rPr lang="en-US" altLang="zh-CN" sz="2800" i="1" smtClean="0">
                <a:sym typeface="Wingdings" panose="05000000000000000000" pitchFamily="2" charset="2"/>
              </a:rPr>
              <a:t>a</a:t>
            </a:r>
            <a:endParaRPr lang="en-US" altLang="zh-CN" sz="2800" i="1" smtClean="0">
              <a:sym typeface="Wingdings" panose="05000000000000000000" pitchFamily="2" charset="2"/>
            </a:endParaRPr>
          </a:p>
          <a:p>
            <a:pPr marL="609600" indent="-609600">
              <a:buFont typeface="Monotype Sorts"/>
              <a:buNone/>
            </a:pPr>
            <a:r>
              <a:rPr lang="en-US" altLang="zh-CN" sz="2800" i="1" smtClean="0">
                <a:sym typeface="Wingdings" panose="05000000000000000000" pitchFamily="2" charset="2"/>
              </a:rPr>
              <a:t>B </a:t>
            </a:r>
            <a:r>
              <a:rPr lang="en-US" altLang="zh-CN" sz="2800" smtClean="0">
                <a:sym typeface="Wingdings" panose="05000000000000000000" pitchFamily="2" charset="2"/>
              </a:rPr>
              <a:t> </a:t>
            </a:r>
            <a:r>
              <a:rPr lang="en-US" altLang="zh-CN" sz="2800" i="1" smtClean="0">
                <a:sym typeface="Wingdings" panose="05000000000000000000" pitchFamily="2" charset="2"/>
              </a:rPr>
              <a:t>b</a:t>
            </a:r>
            <a:endParaRPr lang="en-US" altLang="zh-CN" sz="2800" i="1" smtClean="0">
              <a:sym typeface="Wingdings" panose="05000000000000000000" pitchFamily="2" charset="2"/>
            </a:endParaRPr>
          </a:p>
          <a:p>
            <a:pPr marL="609600" indent="-609600">
              <a:buFont typeface="Monotype Sorts"/>
              <a:buNone/>
            </a:pPr>
            <a:endParaRPr lang="en-US" altLang="zh-CN" sz="2800" i="1" smtClean="0">
              <a:sym typeface="Wingdings" panose="05000000000000000000" pitchFamily="2" charset="2"/>
            </a:endParaRP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zh-CN" sz="2800" smtClean="0">
                <a:sym typeface="Wingdings" panose="05000000000000000000" pitchFamily="2" charset="2"/>
              </a:rPr>
              <a:t>Is </a:t>
            </a:r>
            <a:r>
              <a:rPr lang="en-US" altLang="zh-CN" sz="2800" i="1" smtClean="0">
                <a:sym typeface="Wingdings" panose="05000000000000000000" pitchFamily="2" charset="2"/>
              </a:rPr>
              <a:t>x </a:t>
            </a:r>
            <a:r>
              <a:rPr lang="en-US" altLang="zh-CN" sz="2800" smtClean="0">
                <a:sym typeface="Wingdings" panose="05000000000000000000" pitchFamily="2" charset="2"/>
              </a:rPr>
              <a:t>= </a:t>
            </a:r>
            <a:r>
              <a:rPr lang="en-US" altLang="zh-CN" sz="2800" i="1" smtClean="0">
                <a:sym typeface="Wingdings" panose="05000000000000000000" pitchFamily="2" charset="2"/>
              </a:rPr>
              <a:t>aaabb </a:t>
            </a:r>
            <a:r>
              <a:rPr lang="en-US" altLang="zh-CN" sz="2800" smtClean="0">
                <a:sym typeface="Wingdings" panose="05000000000000000000" pitchFamily="2" charset="2"/>
              </a:rPr>
              <a:t>in </a:t>
            </a:r>
            <a:r>
              <a:rPr lang="en-US" altLang="zh-CN" sz="2800" i="1" smtClean="0">
                <a:sym typeface="Wingdings" panose="05000000000000000000" pitchFamily="2" charset="2"/>
              </a:rPr>
              <a:t>L</a:t>
            </a:r>
            <a:r>
              <a:rPr lang="en-US" altLang="zh-CN" sz="2800" smtClean="0">
                <a:sym typeface="Wingdings" panose="05000000000000000000" pitchFamily="2" charset="2"/>
              </a:rPr>
              <a:t>(</a:t>
            </a:r>
            <a:r>
              <a:rPr lang="en-US" altLang="zh-CN" sz="2800" i="1" smtClean="0">
                <a:sym typeface="Wingdings" panose="05000000000000000000" pitchFamily="2" charset="2"/>
              </a:rPr>
              <a:t>G </a:t>
            </a:r>
            <a:r>
              <a:rPr lang="en-US" altLang="zh-CN" sz="2800" smtClean="0">
                <a:sym typeface="Wingdings" panose="05000000000000000000" pitchFamily="2" charset="2"/>
              </a:rPr>
              <a:t>)</a:t>
            </a:r>
            <a:endParaRPr lang="en-US" altLang="zh-CN" sz="2800" smtClean="0">
              <a:sym typeface="Wingdings" panose="05000000000000000000" pitchFamily="2" charset="2"/>
            </a:endParaRP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zh-CN" sz="2800" smtClean="0">
                <a:sym typeface="Wingdings" panose="05000000000000000000" pitchFamily="2" charset="2"/>
              </a:rPr>
              <a:t>Is </a:t>
            </a:r>
            <a:r>
              <a:rPr lang="en-US" altLang="zh-CN" sz="2800" i="1" smtClean="0">
                <a:sym typeface="Wingdings" panose="05000000000000000000" pitchFamily="2" charset="2"/>
              </a:rPr>
              <a:t>x </a:t>
            </a:r>
            <a:r>
              <a:rPr lang="en-US" altLang="zh-CN" sz="2800" smtClean="0">
                <a:sym typeface="Wingdings" panose="05000000000000000000" pitchFamily="2" charset="2"/>
              </a:rPr>
              <a:t>= </a:t>
            </a:r>
            <a:r>
              <a:rPr lang="en-US" altLang="zh-CN" sz="2800" i="1" smtClean="0">
                <a:sym typeface="Wingdings" panose="05000000000000000000" pitchFamily="2" charset="2"/>
              </a:rPr>
              <a:t>aaabbb </a:t>
            </a:r>
            <a:r>
              <a:rPr lang="en-US" altLang="zh-CN" sz="2800" smtClean="0">
                <a:sym typeface="Wingdings" panose="05000000000000000000" pitchFamily="2" charset="2"/>
              </a:rPr>
              <a:t>in </a:t>
            </a:r>
            <a:r>
              <a:rPr lang="en-US" altLang="zh-CN" sz="2800" i="1" smtClean="0">
                <a:sym typeface="Wingdings" panose="05000000000000000000" pitchFamily="2" charset="2"/>
              </a:rPr>
              <a:t>L</a:t>
            </a:r>
            <a:r>
              <a:rPr lang="en-US" altLang="zh-CN" sz="2800" smtClean="0">
                <a:sym typeface="Wingdings" panose="05000000000000000000" pitchFamily="2" charset="2"/>
              </a:rPr>
              <a:t>(</a:t>
            </a:r>
            <a:r>
              <a:rPr lang="en-US" altLang="zh-CN" sz="2800" i="1" smtClean="0">
                <a:sym typeface="Wingdings" panose="05000000000000000000" pitchFamily="2" charset="2"/>
              </a:rPr>
              <a:t>G </a:t>
            </a:r>
            <a:r>
              <a:rPr lang="en-US" altLang="zh-CN" sz="2800" smtClean="0">
                <a:sym typeface="Wingdings" panose="05000000000000000000" pitchFamily="2" charset="2"/>
              </a:rPr>
              <a:t>)</a:t>
            </a:r>
            <a:endParaRPr lang="en-US" altLang="zh-CN" sz="2800" smtClean="0">
              <a:sym typeface="Wingdings" panose="05000000000000000000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smtClean="0"/>
              <a:t>例子</a:t>
            </a:r>
            <a:endParaRPr lang="en-US" altLang="zh-CN" sz="3600" smtClean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1600200"/>
            <a:ext cx="7558087" cy="4114800"/>
          </a:xfrm>
        </p:spPr>
        <p:txBody>
          <a:bodyPr/>
          <a:lstStyle/>
          <a:p>
            <a:pPr>
              <a:buFont typeface="Monotype Sorts"/>
              <a:buNone/>
            </a:pPr>
            <a:r>
              <a:rPr lang="zh-CN" altLang="en-US" smtClean="0"/>
              <a:t>分析过程画在表格中</a:t>
            </a:r>
            <a:r>
              <a:rPr lang="en-US" altLang="zh-CN" smtClean="0"/>
              <a:t>  </a:t>
            </a:r>
            <a:endParaRPr lang="en-US" altLang="zh-CN" smtClean="0"/>
          </a:p>
        </p:txBody>
      </p:sp>
      <p:graphicFrame>
        <p:nvGraphicFramePr>
          <p:cNvPr id="23556" name="Group 4"/>
          <p:cNvGraphicFramePr>
            <a:graphicFrameLocks noGrp="1"/>
          </p:cNvGraphicFramePr>
          <p:nvPr/>
        </p:nvGraphicFramePr>
        <p:xfrm>
          <a:off x="900113" y="2286000"/>
          <a:ext cx="7704137" cy="4138960"/>
        </p:xfrm>
        <a:graphic>
          <a:graphicData uri="http://schemas.openxmlformats.org/drawingml/2006/table">
            <a:tbl>
              <a:tblPr/>
              <a:tblGrid>
                <a:gridCol w="1670050"/>
                <a:gridCol w="1004887"/>
                <a:gridCol w="1006475"/>
                <a:gridCol w="1004888"/>
                <a:gridCol w="1006475"/>
                <a:gridCol w="1004887"/>
                <a:gridCol w="1006475"/>
              </a:tblGrid>
              <a:tr h="103009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kumimoji="1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    end at</a:t>
                      </a:r>
                      <a:endParaRPr kumimoji="1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kumimoji="1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start at</a:t>
                      </a:r>
                      <a:endParaRPr kumimoji="1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kumimoji="1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1: </a:t>
                      </a: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</a:rPr>
                        <a:t>aabbb</a:t>
                      </a:r>
                      <a:endParaRPr kumimoji="1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kumimoji="1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2: </a:t>
                      </a: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aa</a:t>
                      </a: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</a:rPr>
                        <a:t>abbb</a:t>
                      </a:r>
                      <a:endParaRPr kumimoji="1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kumimoji="1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3: </a:t>
                      </a: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aaa</a:t>
                      </a: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</a:rPr>
                        <a:t>bbb</a:t>
                      </a:r>
                      <a:endParaRPr kumimoji="1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kumimoji="1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4: </a:t>
                      </a: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aaab</a:t>
                      </a: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</a:rPr>
                        <a:t>bb</a:t>
                      </a:r>
                      <a:endParaRPr kumimoji="1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kumimoji="1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5: </a:t>
                      </a: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aaabb</a:t>
                      </a: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kumimoji="1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kumimoji="1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6: </a:t>
                      </a: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aaabbb</a:t>
                      </a:r>
                      <a:endParaRPr kumimoji="1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5180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kumimoji="1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0:</a:t>
                      </a:r>
                      <a:r>
                        <a:rPr kumimoji="1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aaabbb</a:t>
                      </a:r>
                      <a:endParaRPr kumimoji="1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kumimoji="1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1:</a:t>
                      </a:r>
                      <a:r>
                        <a:rPr kumimoji="1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kumimoji="1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aabbb</a:t>
                      </a:r>
                      <a:endParaRPr kumimoji="1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kumimoji="1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2:</a:t>
                      </a:r>
                      <a:r>
                        <a:rPr kumimoji="1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</a:rPr>
                        <a:t>aa</a:t>
                      </a:r>
                      <a:r>
                        <a:rPr kumimoji="1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abbb</a:t>
                      </a:r>
                      <a:endParaRPr kumimoji="1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kumimoji="1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3:</a:t>
                      </a:r>
                      <a:r>
                        <a:rPr kumimoji="1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</a:rPr>
                        <a:t>aaa</a:t>
                      </a:r>
                      <a:r>
                        <a:rPr kumimoji="1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bbb</a:t>
                      </a:r>
                      <a:endParaRPr kumimoji="1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kumimoji="1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4:</a:t>
                      </a:r>
                      <a:r>
                        <a:rPr kumimoji="1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</a:rPr>
                        <a:t>aaab</a:t>
                      </a:r>
                      <a:r>
                        <a:rPr kumimoji="1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bb</a:t>
                      </a:r>
                      <a:endParaRPr kumimoji="1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r>
                        <a:rPr kumimoji="1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5:</a:t>
                      </a:r>
                      <a:r>
                        <a:rPr kumimoji="1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</a:rPr>
                        <a:t>aaabb</a:t>
                      </a:r>
                      <a:r>
                        <a:rPr kumimoji="1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kumimoji="1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smtClean="0"/>
              <a:t>例子</a:t>
            </a:r>
            <a:endParaRPr lang="en-US" altLang="zh-CN" sz="3600" smtClean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1600200"/>
            <a:ext cx="7558087" cy="4114800"/>
          </a:xfrm>
        </p:spPr>
        <p:txBody>
          <a:bodyPr/>
          <a:lstStyle/>
          <a:p>
            <a:pPr>
              <a:buFont typeface="Monotype Sorts"/>
              <a:buNone/>
            </a:pPr>
            <a:r>
              <a:rPr lang="en-US" altLang="zh-CN" smtClean="0"/>
              <a:t>1.  Variables for length 1 substrings.</a:t>
            </a:r>
            <a:endParaRPr lang="en-US" altLang="zh-CN" smtClean="0"/>
          </a:p>
        </p:txBody>
      </p:sp>
      <p:graphicFrame>
        <p:nvGraphicFramePr>
          <p:cNvPr id="24580" name="Group 4"/>
          <p:cNvGraphicFramePr>
            <a:graphicFrameLocks noGrp="1"/>
          </p:cNvGraphicFramePr>
          <p:nvPr/>
        </p:nvGraphicFramePr>
        <p:xfrm>
          <a:off x="900113" y="2286000"/>
          <a:ext cx="7632700" cy="4139030"/>
        </p:xfrm>
        <a:graphic>
          <a:graphicData uri="http://schemas.openxmlformats.org/drawingml/2006/table">
            <a:tbl>
              <a:tblPr/>
              <a:tblGrid>
                <a:gridCol w="1654175"/>
                <a:gridCol w="995362"/>
                <a:gridCol w="996950"/>
                <a:gridCol w="995363"/>
                <a:gridCol w="998537"/>
                <a:gridCol w="995363"/>
                <a:gridCol w="996950"/>
              </a:tblGrid>
              <a:tr h="103009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end at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start at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aabbb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abbb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aaa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bbb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aaab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bb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aaabb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aaabbb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aaabbb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aabbb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abbb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aaa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bbb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aaab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bb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aaabb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smtClean="0"/>
              <a:t>例子</a:t>
            </a:r>
            <a:endParaRPr lang="en-US" altLang="zh-CN" sz="3600" smtClean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1600200"/>
            <a:ext cx="7558087" cy="4114800"/>
          </a:xfrm>
        </p:spPr>
        <p:txBody>
          <a:bodyPr/>
          <a:lstStyle/>
          <a:p>
            <a:pPr>
              <a:buFont typeface="Monotype Sorts"/>
              <a:buNone/>
            </a:pPr>
            <a:r>
              <a:rPr lang="en-US" altLang="zh-CN" smtClean="0"/>
              <a:t>2.  Variables for length 2 substrings.</a:t>
            </a:r>
            <a:endParaRPr lang="en-US" altLang="zh-CN" smtClean="0"/>
          </a:p>
        </p:txBody>
      </p:sp>
      <p:graphicFrame>
        <p:nvGraphicFramePr>
          <p:cNvPr id="25604" name="Group 4"/>
          <p:cNvGraphicFramePr>
            <a:graphicFrameLocks noGrp="1"/>
          </p:cNvGraphicFramePr>
          <p:nvPr/>
        </p:nvGraphicFramePr>
        <p:xfrm>
          <a:off x="900113" y="2286000"/>
          <a:ext cx="7704137" cy="4139030"/>
        </p:xfrm>
        <a:graphic>
          <a:graphicData uri="http://schemas.openxmlformats.org/drawingml/2006/table">
            <a:tbl>
              <a:tblPr/>
              <a:tblGrid>
                <a:gridCol w="1670050"/>
                <a:gridCol w="1004887"/>
                <a:gridCol w="1006475"/>
                <a:gridCol w="1004888"/>
                <a:gridCol w="1006475"/>
                <a:gridCol w="1004887"/>
                <a:gridCol w="1006475"/>
              </a:tblGrid>
              <a:tr h="103009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end at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start at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aabbb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abbb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aaa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bbb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aaab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bb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aaabb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aaabbb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aaabbb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aabbb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abbb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S,T</a:t>
                      </a:r>
                      <a:endParaRPr kumimoji="1" lang="en-US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aaa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bbb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aaab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bb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aaabb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8503" name="Line 71"/>
          <p:cNvSpPr>
            <a:spLocks noChangeShapeType="1"/>
          </p:cNvSpPr>
          <p:nvPr/>
        </p:nvSpPr>
        <p:spPr bwMode="auto">
          <a:xfrm>
            <a:off x="5410200" y="46482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504" name="Line 72"/>
          <p:cNvSpPr>
            <a:spLocks noChangeShapeType="1"/>
          </p:cNvSpPr>
          <p:nvPr/>
        </p:nvSpPr>
        <p:spPr bwMode="auto">
          <a:xfrm flipV="1">
            <a:off x="6172200" y="48006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smtClean="0"/>
              <a:t>例子</a:t>
            </a:r>
            <a:endParaRPr lang="en-US" altLang="zh-CN" sz="3600" smtClean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1600200"/>
            <a:ext cx="7558087" cy="4114800"/>
          </a:xfrm>
        </p:spPr>
        <p:txBody>
          <a:bodyPr/>
          <a:lstStyle/>
          <a:p>
            <a:pPr>
              <a:buFont typeface="Monotype Sorts"/>
              <a:buNone/>
            </a:pPr>
            <a:r>
              <a:rPr lang="en-US" altLang="zh-CN" smtClean="0"/>
              <a:t>3.  Variables for length 3 substrings.</a:t>
            </a:r>
            <a:endParaRPr lang="en-US" altLang="zh-CN" smtClean="0"/>
          </a:p>
        </p:txBody>
      </p:sp>
      <p:graphicFrame>
        <p:nvGraphicFramePr>
          <p:cNvPr id="26628" name="Group 4"/>
          <p:cNvGraphicFramePr>
            <a:graphicFrameLocks noGrp="1"/>
          </p:cNvGraphicFramePr>
          <p:nvPr/>
        </p:nvGraphicFramePr>
        <p:xfrm>
          <a:off x="971550" y="2286000"/>
          <a:ext cx="7632700" cy="4139030"/>
        </p:xfrm>
        <a:graphic>
          <a:graphicData uri="http://schemas.openxmlformats.org/drawingml/2006/table">
            <a:tbl>
              <a:tblPr/>
              <a:tblGrid>
                <a:gridCol w="1654175"/>
                <a:gridCol w="995363"/>
                <a:gridCol w="996950"/>
                <a:gridCol w="995362"/>
                <a:gridCol w="998538"/>
                <a:gridCol w="995362"/>
                <a:gridCol w="996950"/>
              </a:tblGrid>
              <a:tr h="103009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end at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start at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aabbb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abbb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aaa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bbb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aaab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bb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aaabb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aaabbb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aaabbb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aabbb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endParaRPr kumimoji="1" lang="en-US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abbb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S,T</a:t>
                      </a:r>
                      <a:endParaRPr kumimoji="1" lang="en-US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aaa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bbb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aaab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bb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aaabb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9527" name="Line 71"/>
          <p:cNvSpPr>
            <a:spLocks noChangeShapeType="1"/>
          </p:cNvSpPr>
          <p:nvPr/>
        </p:nvSpPr>
        <p:spPr bwMode="auto">
          <a:xfrm>
            <a:off x="5410200" y="46482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9528" name="Line 72"/>
          <p:cNvSpPr>
            <a:spLocks noChangeShapeType="1"/>
          </p:cNvSpPr>
          <p:nvPr/>
        </p:nvSpPr>
        <p:spPr bwMode="auto">
          <a:xfrm flipV="1">
            <a:off x="6172200" y="48006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9529" name="Line 73"/>
          <p:cNvSpPr>
            <a:spLocks noChangeShapeType="1"/>
          </p:cNvSpPr>
          <p:nvPr/>
        </p:nvSpPr>
        <p:spPr bwMode="auto">
          <a:xfrm>
            <a:off x="4305300" y="4038600"/>
            <a:ext cx="1638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9530" name="Line 74"/>
          <p:cNvSpPr>
            <a:spLocks noChangeShapeType="1"/>
          </p:cNvSpPr>
          <p:nvPr/>
        </p:nvSpPr>
        <p:spPr bwMode="auto">
          <a:xfrm flipH="1" flipV="1">
            <a:off x="6172200" y="41910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smtClean="0"/>
              <a:t>例子</a:t>
            </a:r>
            <a:endParaRPr lang="en-US" altLang="zh-CN" sz="3600" smtClean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600200"/>
            <a:ext cx="7631112" cy="4114800"/>
          </a:xfrm>
        </p:spPr>
        <p:txBody>
          <a:bodyPr/>
          <a:lstStyle/>
          <a:p>
            <a:pPr>
              <a:buFont typeface="Monotype Sorts"/>
              <a:buNone/>
            </a:pPr>
            <a:r>
              <a:rPr lang="en-US" altLang="zh-CN" smtClean="0"/>
              <a:t>4.  Variables for length 4 substrings.</a:t>
            </a:r>
            <a:endParaRPr lang="en-US" altLang="zh-CN" smtClean="0"/>
          </a:p>
        </p:txBody>
      </p:sp>
      <p:graphicFrame>
        <p:nvGraphicFramePr>
          <p:cNvPr id="27652" name="Group 4"/>
          <p:cNvGraphicFramePr>
            <a:graphicFrameLocks noGrp="1"/>
          </p:cNvGraphicFramePr>
          <p:nvPr/>
        </p:nvGraphicFramePr>
        <p:xfrm>
          <a:off x="971550" y="2286000"/>
          <a:ext cx="7704138" cy="4139030"/>
        </p:xfrm>
        <a:graphic>
          <a:graphicData uri="http://schemas.openxmlformats.org/drawingml/2006/table">
            <a:tbl>
              <a:tblPr/>
              <a:tblGrid>
                <a:gridCol w="1670050"/>
                <a:gridCol w="1004888"/>
                <a:gridCol w="1006475"/>
                <a:gridCol w="1004887"/>
                <a:gridCol w="1006475"/>
                <a:gridCol w="1004888"/>
                <a:gridCol w="1006475"/>
              </a:tblGrid>
              <a:tr h="103009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end at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start at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aabbb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abbb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aaa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bbb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aaab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bb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aaabb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aaabbb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aaabbb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aabbb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endParaRPr kumimoji="1" lang="en-US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S,T</a:t>
                      </a:r>
                      <a:endParaRPr kumimoji="1" lang="en-US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abbb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S,T</a:t>
                      </a:r>
                      <a:endParaRPr kumimoji="1" lang="en-US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aaa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bbb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aaab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bb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aaabb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0551" name="Line 71"/>
          <p:cNvSpPr>
            <a:spLocks noChangeShapeType="1"/>
          </p:cNvSpPr>
          <p:nvPr/>
        </p:nvSpPr>
        <p:spPr bwMode="auto">
          <a:xfrm>
            <a:off x="5410200" y="46482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0552" name="Line 72"/>
          <p:cNvSpPr>
            <a:spLocks noChangeShapeType="1"/>
          </p:cNvSpPr>
          <p:nvPr/>
        </p:nvSpPr>
        <p:spPr bwMode="auto">
          <a:xfrm flipV="1">
            <a:off x="6172200" y="48006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0553" name="Line 73"/>
          <p:cNvSpPr>
            <a:spLocks noChangeShapeType="1"/>
          </p:cNvSpPr>
          <p:nvPr/>
        </p:nvSpPr>
        <p:spPr bwMode="auto">
          <a:xfrm>
            <a:off x="4305300" y="4038600"/>
            <a:ext cx="1638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0554" name="Line 74"/>
          <p:cNvSpPr>
            <a:spLocks noChangeShapeType="1"/>
          </p:cNvSpPr>
          <p:nvPr/>
        </p:nvSpPr>
        <p:spPr bwMode="auto">
          <a:xfrm flipH="1" flipV="1">
            <a:off x="6172200" y="41910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0555" name="Line 75"/>
          <p:cNvSpPr>
            <a:spLocks noChangeShapeType="1"/>
          </p:cNvSpPr>
          <p:nvPr/>
        </p:nvSpPr>
        <p:spPr bwMode="auto">
          <a:xfrm>
            <a:off x="6400800" y="4038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0556" name="Line 76"/>
          <p:cNvSpPr>
            <a:spLocks noChangeShapeType="1"/>
          </p:cNvSpPr>
          <p:nvPr/>
        </p:nvSpPr>
        <p:spPr bwMode="auto">
          <a:xfrm flipV="1">
            <a:off x="7239000" y="42672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smtClean="0"/>
              <a:t>例子</a:t>
            </a:r>
            <a:endParaRPr lang="en-US" altLang="zh-CN" sz="3600" smtClean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1600200"/>
            <a:ext cx="7486650" cy="4114800"/>
          </a:xfrm>
        </p:spPr>
        <p:txBody>
          <a:bodyPr/>
          <a:lstStyle/>
          <a:p>
            <a:pPr>
              <a:buFont typeface="Monotype Sorts"/>
              <a:buNone/>
            </a:pPr>
            <a:r>
              <a:rPr lang="en-US" altLang="zh-CN" smtClean="0"/>
              <a:t>5.  Variables for length 5 substrings.</a:t>
            </a:r>
            <a:endParaRPr lang="en-US" altLang="zh-CN" smtClean="0"/>
          </a:p>
        </p:txBody>
      </p:sp>
      <p:graphicFrame>
        <p:nvGraphicFramePr>
          <p:cNvPr id="28676" name="Group 4"/>
          <p:cNvGraphicFramePr>
            <a:graphicFrameLocks noGrp="1"/>
          </p:cNvGraphicFramePr>
          <p:nvPr/>
        </p:nvGraphicFramePr>
        <p:xfrm>
          <a:off x="1042988" y="2286000"/>
          <a:ext cx="7632700" cy="4139030"/>
        </p:xfrm>
        <a:graphic>
          <a:graphicData uri="http://schemas.openxmlformats.org/drawingml/2006/table">
            <a:tbl>
              <a:tblPr/>
              <a:tblGrid>
                <a:gridCol w="1654175"/>
                <a:gridCol w="995362"/>
                <a:gridCol w="996950"/>
                <a:gridCol w="995363"/>
                <a:gridCol w="998537"/>
                <a:gridCol w="995363"/>
                <a:gridCol w="996950"/>
              </a:tblGrid>
              <a:tr h="103009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end at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start at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aabbb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abbb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aaa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bbb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aaab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bb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aaabb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aaabbb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aaabbb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aabbb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endParaRPr kumimoji="1" lang="en-US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S,T</a:t>
                      </a:r>
                      <a:endParaRPr kumimoji="1" lang="en-US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abbb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S,T</a:t>
                      </a:r>
                      <a:endParaRPr kumimoji="1" lang="en-US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aaa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bbb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aaab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bb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aaabb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1575" name="Line 71"/>
          <p:cNvSpPr>
            <a:spLocks noChangeShapeType="1"/>
          </p:cNvSpPr>
          <p:nvPr/>
        </p:nvSpPr>
        <p:spPr bwMode="auto">
          <a:xfrm>
            <a:off x="5410200" y="46482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576" name="Line 72"/>
          <p:cNvSpPr>
            <a:spLocks noChangeShapeType="1"/>
          </p:cNvSpPr>
          <p:nvPr/>
        </p:nvSpPr>
        <p:spPr bwMode="auto">
          <a:xfrm flipV="1">
            <a:off x="6172200" y="48006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577" name="Line 73"/>
          <p:cNvSpPr>
            <a:spLocks noChangeShapeType="1"/>
          </p:cNvSpPr>
          <p:nvPr/>
        </p:nvSpPr>
        <p:spPr bwMode="auto">
          <a:xfrm>
            <a:off x="4305300" y="4038600"/>
            <a:ext cx="1638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578" name="Line 74"/>
          <p:cNvSpPr>
            <a:spLocks noChangeShapeType="1"/>
          </p:cNvSpPr>
          <p:nvPr/>
        </p:nvSpPr>
        <p:spPr bwMode="auto">
          <a:xfrm flipH="1" flipV="1">
            <a:off x="6172200" y="41910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579" name="Line 75"/>
          <p:cNvSpPr>
            <a:spLocks noChangeShapeType="1"/>
          </p:cNvSpPr>
          <p:nvPr/>
        </p:nvSpPr>
        <p:spPr bwMode="auto">
          <a:xfrm>
            <a:off x="6400800" y="4038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580" name="Line 76"/>
          <p:cNvSpPr>
            <a:spLocks noChangeShapeType="1"/>
          </p:cNvSpPr>
          <p:nvPr/>
        </p:nvSpPr>
        <p:spPr bwMode="auto">
          <a:xfrm flipV="1">
            <a:off x="7239000" y="42672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581" name="Line 77"/>
          <p:cNvSpPr>
            <a:spLocks noChangeShapeType="1"/>
          </p:cNvSpPr>
          <p:nvPr/>
        </p:nvSpPr>
        <p:spPr bwMode="auto">
          <a:xfrm flipV="1">
            <a:off x="3276600" y="3581400"/>
            <a:ext cx="381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582" name="Line 78"/>
          <p:cNvSpPr>
            <a:spLocks noChangeShapeType="1"/>
          </p:cNvSpPr>
          <p:nvPr/>
        </p:nvSpPr>
        <p:spPr bwMode="auto">
          <a:xfrm flipH="1" flipV="1">
            <a:off x="7239000" y="37338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smtClean="0"/>
              <a:t>例子</a:t>
            </a:r>
            <a:endParaRPr lang="en-US" altLang="zh-CN" sz="3600" smtClean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1600200"/>
            <a:ext cx="7486650" cy="4114800"/>
          </a:xfrm>
        </p:spPr>
        <p:txBody>
          <a:bodyPr/>
          <a:lstStyle/>
          <a:p>
            <a:pPr>
              <a:buFont typeface="Monotype Sorts"/>
              <a:buNone/>
            </a:pPr>
            <a:r>
              <a:rPr lang="en-US" altLang="zh-CN" smtClean="0"/>
              <a:t>6.  Variables for </a:t>
            </a:r>
            <a:r>
              <a:rPr lang="en-US" altLang="zh-CN" i="1" smtClean="0"/>
              <a:t>aaabbb</a:t>
            </a:r>
            <a:r>
              <a:rPr lang="en-US" altLang="zh-CN" smtClean="0"/>
              <a:t>.  ACCEPTED!</a:t>
            </a:r>
            <a:endParaRPr lang="en-US" altLang="zh-CN" smtClean="0"/>
          </a:p>
        </p:txBody>
      </p:sp>
      <p:graphicFrame>
        <p:nvGraphicFramePr>
          <p:cNvPr id="29700" name="Group 4"/>
          <p:cNvGraphicFramePr>
            <a:graphicFrameLocks noGrp="1"/>
          </p:cNvGraphicFramePr>
          <p:nvPr/>
        </p:nvGraphicFramePr>
        <p:xfrm>
          <a:off x="971550" y="2286000"/>
          <a:ext cx="7632700" cy="4139030"/>
        </p:xfrm>
        <a:graphic>
          <a:graphicData uri="http://schemas.openxmlformats.org/drawingml/2006/table">
            <a:tbl>
              <a:tblPr/>
              <a:tblGrid>
                <a:gridCol w="1654175"/>
                <a:gridCol w="995363"/>
                <a:gridCol w="996950"/>
                <a:gridCol w="995362"/>
                <a:gridCol w="998538"/>
                <a:gridCol w="995362"/>
                <a:gridCol w="996950"/>
              </a:tblGrid>
              <a:tr h="103009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end at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start at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aabbb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abbb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aaa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bbb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aaab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bb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aaabb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aaabbb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aaabbb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S,T</a:t>
                      </a:r>
                      <a:endParaRPr kumimoji="1" lang="en-US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aabbb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endParaRPr kumimoji="1" lang="en-US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S,T</a:t>
                      </a:r>
                      <a:endParaRPr kumimoji="1" lang="en-US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abbb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S,T</a:t>
                      </a:r>
                      <a:endParaRPr kumimoji="1" lang="en-US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aaa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bbb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aaab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bb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aaabb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2599" name="Line 71"/>
          <p:cNvSpPr>
            <a:spLocks noChangeShapeType="1"/>
          </p:cNvSpPr>
          <p:nvPr/>
        </p:nvSpPr>
        <p:spPr bwMode="auto">
          <a:xfrm>
            <a:off x="5410200" y="46482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600" name="Line 72"/>
          <p:cNvSpPr>
            <a:spLocks noChangeShapeType="1"/>
          </p:cNvSpPr>
          <p:nvPr/>
        </p:nvSpPr>
        <p:spPr bwMode="auto">
          <a:xfrm flipV="1">
            <a:off x="6172200" y="48006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601" name="Line 73"/>
          <p:cNvSpPr>
            <a:spLocks noChangeShapeType="1"/>
          </p:cNvSpPr>
          <p:nvPr/>
        </p:nvSpPr>
        <p:spPr bwMode="auto">
          <a:xfrm>
            <a:off x="4305300" y="4038600"/>
            <a:ext cx="1638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602" name="Line 74"/>
          <p:cNvSpPr>
            <a:spLocks noChangeShapeType="1"/>
          </p:cNvSpPr>
          <p:nvPr/>
        </p:nvSpPr>
        <p:spPr bwMode="auto">
          <a:xfrm flipH="1" flipV="1">
            <a:off x="6172200" y="41910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603" name="Line 75"/>
          <p:cNvSpPr>
            <a:spLocks noChangeShapeType="1"/>
          </p:cNvSpPr>
          <p:nvPr/>
        </p:nvSpPr>
        <p:spPr bwMode="auto">
          <a:xfrm>
            <a:off x="6400800" y="4038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604" name="Line 76"/>
          <p:cNvSpPr>
            <a:spLocks noChangeShapeType="1"/>
          </p:cNvSpPr>
          <p:nvPr/>
        </p:nvSpPr>
        <p:spPr bwMode="auto">
          <a:xfrm flipV="1">
            <a:off x="7239000" y="42672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605" name="Line 77"/>
          <p:cNvSpPr>
            <a:spLocks noChangeShapeType="1"/>
          </p:cNvSpPr>
          <p:nvPr/>
        </p:nvSpPr>
        <p:spPr bwMode="auto">
          <a:xfrm flipV="1">
            <a:off x="3276600" y="3581400"/>
            <a:ext cx="381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606" name="Line 78"/>
          <p:cNvSpPr>
            <a:spLocks noChangeShapeType="1"/>
          </p:cNvSpPr>
          <p:nvPr/>
        </p:nvSpPr>
        <p:spPr bwMode="auto">
          <a:xfrm flipH="1" flipV="1">
            <a:off x="7239000" y="37338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607" name="Line 79"/>
          <p:cNvSpPr>
            <a:spLocks noChangeShapeType="1"/>
          </p:cNvSpPr>
          <p:nvPr/>
        </p:nvSpPr>
        <p:spPr bwMode="auto">
          <a:xfrm>
            <a:off x="7467600" y="35814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608" name="Line 80"/>
          <p:cNvSpPr>
            <a:spLocks noChangeShapeType="1"/>
          </p:cNvSpPr>
          <p:nvPr/>
        </p:nvSpPr>
        <p:spPr bwMode="auto">
          <a:xfrm flipV="1">
            <a:off x="8305800" y="3810000"/>
            <a:ext cx="0" cy="213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Chart Parsing</a:t>
            </a:r>
            <a:endParaRPr lang="en-US" altLang="zh-CN" smtClean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General Principles:</a:t>
            </a:r>
            <a:endParaRPr lang="en-US" altLang="zh-CN" smtClean="0"/>
          </a:p>
          <a:p>
            <a:pPr lvl="1" eaLnBrk="1" hangingPunct="1">
              <a:buFontTx/>
              <a:buNone/>
            </a:pPr>
            <a:r>
              <a:rPr lang="en-US" altLang="zh-CN" smtClean="0"/>
              <a:t> A </a:t>
            </a:r>
            <a:r>
              <a:rPr lang="en-US" altLang="zh-CN" i="1" smtClean="0"/>
              <a:t>Bottom-Up </a:t>
            </a:r>
            <a:r>
              <a:rPr lang="en-US" altLang="zh-CN" smtClean="0"/>
              <a:t>parsing method</a:t>
            </a:r>
            <a:endParaRPr lang="en-US" altLang="zh-CN" smtClean="0"/>
          </a:p>
          <a:p>
            <a:pPr lvl="2" eaLnBrk="1" hangingPunct="1">
              <a:buFontTx/>
              <a:buNone/>
            </a:pPr>
            <a:r>
              <a:rPr lang="en-US" altLang="zh-CN" b="1" smtClean="0">
                <a:latin typeface="Times New Roman" panose="02020603050405020304" pitchFamily="18" charset="0"/>
              </a:rPr>
              <a:t>–</a:t>
            </a:r>
            <a:r>
              <a:rPr lang="en-US" altLang="zh-CN" b="1" smtClean="0"/>
              <a:t> </a:t>
            </a:r>
            <a:r>
              <a:rPr lang="en-US" altLang="zh-CN" smtClean="0"/>
              <a:t>Construct a parse starting from the input symbols</a:t>
            </a:r>
            <a:endParaRPr lang="en-US" altLang="zh-CN" smtClean="0"/>
          </a:p>
          <a:p>
            <a:pPr lvl="2" eaLnBrk="1" hangingPunct="1">
              <a:buFontTx/>
              <a:buNone/>
            </a:pPr>
            <a:r>
              <a:rPr lang="en-US" altLang="zh-CN" b="1" smtClean="0">
                <a:latin typeface="Times New Roman" panose="02020603050405020304" pitchFamily="18" charset="0"/>
              </a:rPr>
              <a:t>–</a:t>
            </a:r>
            <a:r>
              <a:rPr lang="en-US" altLang="zh-CN" b="1" smtClean="0"/>
              <a:t> </a:t>
            </a:r>
            <a:r>
              <a:rPr lang="en-US" altLang="zh-CN" smtClean="0"/>
              <a:t>Build constituents from sub-constituents</a:t>
            </a:r>
            <a:endParaRPr lang="en-US" altLang="zh-CN" smtClean="0"/>
          </a:p>
          <a:p>
            <a:pPr lvl="2" eaLnBrk="1" hangingPunct="1">
              <a:buFontTx/>
              <a:buNone/>
            </a:pPr>
            <a:r>
              <a:rPr lang="en-US" altLang="zh-CN" b="1" smtClean="0">
                <a:latin typeface="Times New Roman" panose="02020603050405020304" pitchFamily="18" charset="0"/>
              </a:rPr>
              <a:t>–</a:t>
            </a:r>
            <a:r>
              <a:rPr lang="en-US" altLang="zh-CN" b="1" smtClean="0"/>
              <a:t> </a:t>
            </a:r>
            <a:r>
              <a:rPr lang="en-US" altLang="zh-CN" smtClean="0"/>
              <a:t>When all constituents on the RHS of a rule are matched, create a constituent for the LHS of the rule</a:t>
            </a:r>
            <a:endParaRPr lang="en-US" altLang="zh-CN" smtClean="0"/>
          </a:p>
          <a:p>
            <a:pPr lvl="1" eaLnBrk="1" hangingPunct="1">
              <a:buFontTx/>
              <a:buNone/>
            </a:pPr>
            <a:r>
              <a:rPr lang="en-US" altLang="zh-CN" smtClean="0"/>
              <a:t>The </a:t>
            </a:r>
            <a:r>
              <a:rPr lang="en-US" altLang="zh-CN" i="1" smtClean="0"/>
              <a:t>Chart is a data structure that </a:t>
            </a:r>
            <a:r>
              <a:rPr lang="en-US" altLang="zh-CN" smtClean="0"/>
              <a:t>allows storing of partial analyses, so that they can be shared. (like dynamic programming)</a:t>
            </a:r>
            <a:endParaRPr lang="en-US" altLang="zh-CN" smtClean="0"/>
          </a:p>
          <a:p>
            <a:pPr lvl="1" eaLnBrk="1" hangingPunct="1">
              <a:buFontTx/>
              <a:buNone/>
            </a:pPr>
            <a:r>
              <a:rPr lang="en-US" altLang="zh-CN" smtClean="0"/>
              <a:t> </a:t>
            </a:r>
            <a:endParaRPr lang="en-US" altLang="zh-CN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chart example</a:t>
            </a:r>
            <a:endParaRPr lang="en-US" altLang="zh-CN" smtClean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smtClean="0"/>
              <a:t>John likes Mary</a:t>
            </a:r>
            <a:endParaRPr lang="en-US" altLang="zh-CN" sz="2800" smtClean="0"/>
          </a:p>
          <a:p>
            <a:pPr eaLnBrk="1" hangingPunct="1"/>
            <a:r>
              <a:rPr lang="en-US" altLang="zh-CN" sz="2800" smtClean="0"/>
              <a:t>S-&gt; NP VP			VP -&gt; v NP</a:t>
            </a:r>
            <a:endParaRPr lang="en-US" altLang="zh-CN" sz="2800" smtClean="0"/>
          </a:p>
          <a:p>
            <a:pPr eaLnBrk="1" hangingPunct="1"/>
            <a:r>
              <a:rPr lang="en-US" altLang="zh-CN" sz="2800" smtClean="0"/>
              <a:t>NP -&gt; John | Mary		v -&gt; likes</a:t>
            </a:r>
            <a:endParaRPr lang="en-US" altLang="zh-CN" sz="2800" smtClean="0"/>
          </a:p>
        </p:txBody>
      </p:sp>
      <p:pic>
        <p:nvPicPr>
          <p:cNvPr id="24580" name="Picture 4" descr="intro_emptychar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3357563"/>
            <a:ext cx="8353425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1" name="Picture 5" descr="intro_2edg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4365625"/>
            <a:ext cx="7848600" cy="165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/>
          </a:p>
        </p:txBody>
      </p:sp>
      <p:graphicFrame>
        <p:nvGraphicFramePr>
          <p:cNvPr id="25603" name="Object 3"/>
          <p:cNvGraphicFramePr>
            <a:graphicFrameLocks noChangeAspect="1"/>
          </p:cNvGraphicFramePr>
          <p:nvPr>
            <p:ph type="body" idx="1"/>
          </p:nvPr>
        </p:nvGraphicFramePr>
        <p:xfrm>
          <a:off x="468313" y="2205038"/>
          <a:ext cx="8229600" cy="2801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5" name="位图图像" r:id="rId1" imgW="6153150" imgH="2095500" progId="Paint.Picture">
                  <p:embed/>
                </p:oleObj>
              </mc:Choice>
              <mc:Fallback>
                <p:oleObj name="位图图像" r:id="rId1" imgW="6153150" imgH="2095500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2205038"/>
                        <a:ext cx="8229600" cy="2801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点规则</a:t>
            </a:r>
            <a:endParaRPr lang="zh-CN" altLang="en-US" smtClean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CN" altLang="en-US" sz="2800" smtClean="0"/>
              <a:t>当考虑自左至右分析时，引入点规则表明分析的状态。</a:t>
            </a:r>
            <a:endParaRPr lang="zh-CN" altLang="en-US" sz="2800" smtClean="0"/>
          </a:p>
          <a:p>
            <a:pPr eaLnBrk="1" hangingPunct="1">
              <a:lnSpc>
                <a:spcPct val="80000"/>
              </a:lnSpc>
            </a:pPr>
            <a:r>
              <a:rPr lang="zh-TW" altLang="en-US" sz="2800" smtClean="0">
                <a:latin typeface="宋体" panose="02010600030101010101" pitchFamily="2" charset="-122"/>
                <a:sym typeface="Symbol" panose="05050102010706020507" pitchFamily="18" charset="2"/>
              </a:rPr>
              <a:t>点规则由四部分组成：</a:t>
            </a:r>
            <a:endParaRPr lang="zh-TW" altLang="zh-CN" sz="2800" smtClean="0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TW" altLang="zh-CN" sz="2800" smtClean="0">
                <a:latin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zh-TW" altLang="en-US" sz="2800" smtClean="0">
                <a:latin typeface="宋体" panose="02010600030101010101" pitchFamily="2" charset="-122"/>
                <a:sym typeface="Symbol" panose="05050102010706020507" pitchFamily="18" charset="2"/>
              </a:rPr>
              <a:t>（</a:t>
            </a:r>
            <a:r>
              <a:rPr lang="en-US" altLang="zh-TW" sz="2800" smtClean="0">
                <a:latin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zh-TW" altLang="en-US" sz="2800" smtClean="0">
                <a:latin typeface="宋体" panose="02010600030101010101" pitchFamily="2" charset="-122"/>
                <a:sym typeface="Symbol" panose="05050102010706020507" pitchFamily="18" charset="2"/>
              </a:rPr>
              <a:t>）上下文无关文法规则</a:t>
            </a:r>
            <a:endParaRPr lang="zh-TW" altLang="zh-CN" sz="2800" smtClean="0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TW" altLang="zh-CN" sz="2800" smtClean="0">
                <a:latin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zh-TW" altLang="en-US" sz="2800" smtClean="0">
                <a:latin typeface="宋体" panose="02010600030101010101" pitchFamily="2" charset="-122"/>
                <a:sym typeface="Symbol" panose="05050102010706020507" pitchFamily="18" charset="2"/>
              </a:rPr>
              <a:t>（</a:t>
            </a:r>
            <a:r>
              <a:rPr lang="en-US" altLang="zh-TW" sz="2800" smtClean="0">
                <a:latin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zh-TW" altLang="en-US" sz="2800" smtClean="0">
                <a:latin typeface="宋体" panose="02010600030101010101" pitchFamily="2" charset="-122"/>
                <a:sym typeface="Symbol" panose="05050102010706020507" pitchFamily="18" charset="2"/>
              </a:rPr>
              <a:t>）圆点</a:t>
            </a:r>
            <a:r>
              <a:rPr lang="en-US" altLang="zh-TW" sz="2800" smtClean="0">
                <a:latin typeface="宋体" panose="02010600030101010101" pitchFamily="2" charset="-122"/>
                <a:sym typeface="Symbol" panose="05050102010706020507" pitchFamily="18" charset="2"/>
              </a:rPr>
              <a:t>·</a:t>
            </a:r>
            <a:r>
              <a:rPr lang="zh-TW" altLang="en-US" sz="2800" smtClean="0">
                <a:latin typeface="宋体" panose="02010600030101010101" pitchFamily="2" charset="-122"/>
                <a:sym typeface="Symbol" panose="05050102010706020507" pitchFamily="18" charset="2"/>
              </a:rPr>
              <a:t>（圆点左边的部分是已分析的，右边是待分析的）</a:t>
            </a:r>
            <a:endParaRPr lang="zh-TW" altLang="zh-CN" sz="2800" smtClean="0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TW" altLang="en-US" sz="2800" smtClean="0"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TW" altLang="zh-CN" sz="2800" smtClean="0"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TW" altLang="en-US" sz="2800" smtClean="0">
                <a:latin typeface="宋体" panose="02010600030101010101" pitchFamily="2" charset="-122"/>
                <a:sym typeface="Symbol" panose="05050102010706020507" pitchFamily="18" charset="2"/>
              </a:rPr>
              <a:t>（</a:t>
            </a:r>
            <a:r>
              <a:rPr lang="en-US" altLang="zh-TW" sz="2800" smtClean="0">
                <a:latin typeface="宋体" panose="02010600030101010101" pitchFamily="2" charset="-122"/>
                <a:sym typeface="Symbol" panose="05050102010706020507" pitchFamily="18" charset="2"/>
              </a:rPr>
              <a:t>3</a:t>
            </a:r>
            <a:r>
              <a:rPr lang="zh-TW" altLang="en-US" sz="2800" smtClean="0">
                <a:latin typeface="宋体" panose="02010600030101010101" pitchFamily="2" charset="-122"/>
                <a:sym typeface="Symbol" panose="05050102010706020507" pitchFamily="18" charset="2"/>
              </a:rPr>
              <a:t>）整数</a:t>
            </a:r>
            <a:r>
              <a:rPr lang="en-US" altLang="zh-TW" sz="2800" i="1" smtClean="0">
                <a:latin typeface="宋体" panose="02010600030101010101" pitchFamily="2" charset="-122"/>
                <a:sym typeface="Symbol" panose="05050102010706020507" pitchFamily="18" charset="2"/>
              </a:rPr>
              <a:t>i </a:t>
            </a:r>
            <a:r>
              <a:rPr lang="en-US" altLang="zh-TW" sz="2800" smtClean="0">
                <a:latin typeface="宋体" panose="02010600030101010101" pitchFamily="2" charset="-122"/>
                <a:sym typeface="Symbol" panose="05050102010706020507" pitchFamily="18" charset="2"/>
              </a:rPr>
              <a:t>: </a:t>
            </a:r>
            <a:r>
              <a:rPr lang="zh-TW" altLang="en-US" sz="2800" smtClean="0">
                <a:latin typeface="宋体" panose="02010600030101010101" pitchFamily="2" charset="-122"/>
                <a:sym typeface="Symbol" panose="05050102010706020507" pitchFamily="18" charset="2"/>
              </a:rPr>
              <a:t>起点（已分析子串的起点）</a:t>
            </a:r>
            <a:endParaRPr lang="zh-TW" altLang="zh-CN" sz="2800" smtClean="0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TW" altLang="zh-CN" sz="2800" smtClean="0">
                <a:latin typeface="宋体" panose="02010600030101010101" pitchFamily="2" charset="-122"/>
                <a:sym typeface="Symbol" panose="05050102010706020507" pitchFamily="18" charset="2"/>
              </a:rPr>
              <a:t>  </a:t>
            </a:r>
            <a:r>
              <a:rPr lang="zh-TW" altLang="en-US" sz="2800" smtClean="0">
                <a:latin typeface="宋体" panose="02010600030101010101" pitchFamily="2" charset="-122"/>
                <a:sym typeface="Symbol" panose="05050102010706020507" pitchFamily="18" charset="2"/>
              </a:rPr>
              <a:t>（</a:t>
            </a:r>
            <a:r>
              <a:rPr lang="en-US" altLang="zh-TW" sz="2800" smtClean="0">
                <a:latin typeface="宋体" panose="02010600030101010101" pitchFamily="2" charset="-122"/>
                <a:sym typeface="Symbol" panose="05050102010706020507" pitchFamily="18" charset="2"/>
              </a:rPr>
              <a:t>4</a:t>
            </a:r>
            <a:r>
              <a:rPr lang="zh-TW" altLang="en-US" sz="2800" smtClean="0">
                <a:latin typeface="宋体" panose="02010600030101010101" pitchFamily="2" charset="-122"/>
                <a:sym typeface="Symbol" panose="05050102010706020507" pitchFamily="18" charset="2"/>
              </a:rPr>
              <a:t>）整数</a:t>
            </a:r>
            <a:r>
              <a:rPr lang="en-US" altLang="zh-TW" sz="2800" i="1" smtClean="0">
                <a:latin typeface="宋体" panose="02010600030101010101" pitchFamily="2" charset="-122"/>
                <a:sym typeface="Symbol" panose="05050102010706020507" pitchFamily="18" charset="2"/>
              </a:rPr>
              <a:t>j </a:t>
            </a:r>
            <a:r>
              <a:rPr lang="en-US" altLang="zh-TW" sz="2800" smtClean="0">
                <a:latin typeface="宋体" panose="02010600030101010101" pitchFamily="2" charset="-122"/>
                <a:sym typeface="Symbol" panose="05050102010706020507" pitchFamily="18" charset="2"/>
              </a:rPr>
              <a:t>: </a:t>
            </a:r>
            <a:r>
              <a:rPr lang="zh-TW" altLang="en-US" sz="2800" smtClean="0">
                <a:latin typeface="宋体" panose="02010600030101010101" pitchFamily="2" charset="-122"/>
                <a:sym typeface="Symbol" panose="05050102010706020507" pitchFamily="18" charset="2"/>
              </a:rPr>
              <a:t>终点（已分析子串的终点）</a:t>
            </a:r>
            <a:r>
              <a:rPr lang="zh-TW" altLang="zh-CN" sz="2800" smtClean="0"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TW" altLang="en-US" sz="2800" smtClean="0"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TW" sz="2800" i="1" smtClean="0">
                <a:latin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TW" sz="2800" smtClean="0">
                <a:latin typeface="宋体" panose="02010600030101010101" pitchFamily="2" charset="-122"/>
                <a:sym typeface="Symbol" panose="05050102010706020507" pitchFamily="18" charset="2"/>
              </a:rPr>
              <a:t>≤</a:t>
            </a:r>
            <a:r>
              <a:rPr lang="en-US" altLang="zh-TW" sz="2800" i="1" smtClean="0">
                <a:latin typeface="宋体" panose="02010600030101010101" pitchFamily="2" charset="-122"/>
                <a:sym typeface="Symbol" panose="05050102010706020507" pitchFamily="18" charset="2"/>
              </a:rPr>
              <a:t>j</a:t>
            </a:r>
            <a:endParaRPr lang="en-US" altLang="zh-CN" sz="2800" i="1" smtClean="0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TW" altLang="zh-CN" sz="2800" i="1" smtClean="0"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TW" altLang="en-US" sz="2800" i="1" smtClean="0"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TW" altLang="zh-CN" sz="2800" i="1" smtClean="0"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TW" altLang="en-US" sz="2800" smtClean="0">
                <a:latin typeface="宋体" panose="02010600030101010101" pitchFamily="2" charset="-122"/>
                <a:sym typeface="Symbol" panose="05050102010706020507" pitchFamily="18" charset="2"/>
              </a:rPr>
              <a:t>比如：</a:t>
            </a:r>
            <a:r>
              <a:rPr lang="en-US" altLang="zh-TW" sz="2800" smtClean="0">
                <a:latin typeface="宋体" panose="02010600030101010101" pitchFamily="2" charset="-122"/>
                <a:sym typeface="Symbol" panose="05050102010706020507" pitchFamily="18" charset="2"/>
              </a:rPr>
              <a:t>S </a:t>
            </a:r>
            <a:r>
              <a:rPr lang="en-US" altLang="zh-CN" sz="2800" smtClean="0">
                <a:latin typeface="宋体" panose="02010600030101010101" pitchFamily="2" charset="-122"/>
                <a:sym typeface="Symbol" panose="05050102010706020507" pitchFamily="18" charset="2"/>
              </a:rPr>
              <a:t>→</a:t>
            </a:r>
            <a:r>
              <a:rPr lang="en-US" altLang="zh-TW" sz="2800" smtClean="0">
                <a:latin typeface="宋体" panose="02010600030101010101" pitchFamily="2" charset="-122"/>
                <a:sym typeface="Symbol" panose="05050102010706020507" pitchFamily="18" charset="2"/>
              </a:rPr>
              <a:t> NP·VP </a:t>
            </a:r>
            <a:r>
              <a:rPr lang="en-US" altLang="zh-CN" sz="2800" smtClean="0">
                <a:latin typeface="宋体" panose="02010600030101010101" pitchFamily="2" charset="-122"/>
                <a:sym typeface="Symbol" panose="05050102010706020507" pitchFamily="18" charset="2"/>
              </a:rPr>
              <a:t>&lt;1</a:t>
            </a:r>
            <a:r>
              <a:rPr lang="en-US" altLang="zh-TW" sz="2800" smtClean="0">
                <a:latin typeface="宋体" panose="02010600030101010101" pitchFamily="2" charset="-122"/>
                <a:sym typeface="Symbol" panose="05050102010706020507" pitchFamily="18" charset="2"/>
              </a:rPr>
              <a:t>,4&gt; </a:t>
            </a:r>
            <a:endParaRPr lang="en-US" altLang="zh-TW" sz="2800" smtClean="0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TW" altLang="en-US" sz="2800" smtClean="0">
                <a:latin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zh-TW" altLang="zh-CN" sz="2800" smtClean="0"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zh-CN" sz="2800" smtClean="0">
                <a:latin typeface="宋体" panose="02010600030101010101" pitchFamily="2" charset="-122"/>
                <a:sym typeface="Symbol" panose="05050102010706020507" pitchFamily="18" charset="2"/>
              </a:rPr>
              <a:t>表示在寻找</a:t>
            </a:r>
            <a:r>
              <a:rPr lang="zh-CN" altLang="en-US" sz="2800" smtClean="0"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smtClean="0">
                <a:latin typeface="宋体" panose="02010600030101010101" pitchFamily="2" charset="-122"/>
                <a:sym typeface="Symbol" panose="05050102010706020507" pitchFamily="18" charset="2"/>
              </a:rPr>
              <a:t>S </a:t>
            </a:r>
            <a:r>
              <a:rPr lang="zh-CN" altLang="en-US" sz="2800" smtClean="0">
                <a:latin typeface="宋体" panose="02010600030101010101" pitchFamily="2" charset="-122"/>
                <a:sym typeface="Symbol" panose="05050102010706020507" pitchFamily="18" charset="2"/>
              </a:rPr>
              <a:t>的过程中，在词 </a:t>
            </a:r>
            <a:r>
              <a:rPr lang="en-US" altLang="zh-CN" sz="2800" smtClean="0">
                <a:latin typeface="宋体" panose="02010600030101010101" pitchFamily="2" charset="-122"/>
                <a:sym typeface="Symbol" panose="05050102010706020507" pitchFamily="18" charset="2"/>
              </a:rPr>
              <a:t>1 </a:t>
            </a:r>
            <a:r>
              <a:rPr lang="zh-CN" altLang="en-US" sz="2800" smtClean="0">
                <a:latin typeface="宋体" panose="02010600030101010101" pitchFamily="2" charset="-122"/>
                <a:sym typeface="Symbol" panose="05050102010706020507" pitchFamily="18" charset="2"/>
              </a:rPr>
              <a:t>到 </a:t>
            </a:r>
            <a:r>
              <a:rPr lang="en-US" altLang="zh-CN" sz="2800" smtClean="0">
                <a:latin typeface="宋体" panose="02010600030101010101" pitchFamily="2" charset="-122"/>
                <a:sym typeface="Symbol" panose="05050102010706020507" pitchFamily="18" charset="2"/>
              </a:rPr>
              <a:t>4 </a:t>
            </a:r>
            <a:r>
              <a:rPr lang="zh-CN" altLang="en-US" sz="2800" smtClean="0">
                <a:latin typeface="宋体" panose="02010600030101010101" pitchFamily="2" charset="-122"/>
                <a:sym typeface="Symbol" panose="05050102010706020507" pitchFamily="18" charset="2"/>
              </a:rPr>
              <a:t>之间已发现一个 </a:t>
            </a:r>
            <a:r>
              <a:rPr lang="en-US" altLang="zh-CN" sz="2800" smtClean="0">
                <a:latin typeface="宋体" panose="02010600030101010101" pitchFamily="2" charset="-122"/>
                <a:sym typeface="Symbol" panose="05050102010706020507" pitchFamily="18" charset="2"/>
              </a:rPr>
              <a:t>NP, </a:t>
            </a:r>
            <a:r>
              <a:rPr lang="zh-CN" altLang="en-US" sz="2800" smtClean="0">
                <a:latin typeface="宋体" panose="02010600030101010101" pitchFamily="2" charset="-122"/>
                <a:sym typeface="Symbol" panose="05050102010706020507" pitchFamily="18" charset="2"/>
              </a:rPr>
              <a:t>期望下面有一个 </a:t>
            </a:r>
            <a:r>
              <a:rPr lang="en-US" altLang="zh-CN" sz="2800" smtClean="0">
                <a:latin typeface="宋体" panose="02010600030101010101" pitchFamily="2" charset="-122"/>
                <a:sym typeface="Symbol" panose="05050102010706020507" pitchFamily="18" charset="2"/>
              </a:rPr>
              <a:t>VP</a:t>
            </a:r>
            <a:endParaRPr lang="en-US" altLang="zh-CN" sz="2800" smtClean="0"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如果点不在产生式的最右部，在分析中称为“活动弧”</a:t>
            </a:r>
            <a:endParaRPr lang="zh-CN" altLang="en-US" smtClean="0"/>
          </a:p>
          <a:p>
            <a:pPr eaLnBrk="1" hangingPunct="1"/>
            <a:r>
              <a:rPr lang="en-US" altLang="zh-CN" smtClean="0"/>
              <a:t>chart parsing </a:t>
            </a:r>
            <a:r>
              <a:rPr lang="zh-CN" altLang="en-US" smtClean="0"/>
              <a:t>就是活动弧中的点不断右移，不断产生不活动弧，又不断产生新的活动弧的过程</a:t>
            </a:r>
            <a:endParaRPr lang="zh-CN" altLang="en-US" smtClean="0"/>
          </a:p>
          <a:p>
            <a:pPr eaLnBrk="1" hangingPunct="1"/>
            <a:r>
              <a:rPr lang="zh-CN" altLang="en-US" smtClean="0"/>
              <a:t>点规则在编译原理书上也称为项（</a:t>
            </a:r>
            <a:r>
              <a:rPr lang="en-US" altLang="zh-CN" smtClean="0"/>
              <a:t>item</a:t>
            </a:r>
            <a:r>
              <a:rPr lang="zh-CN" altLang="en-US" smtClean="0"/>
              <a:t>）</a:t>
            </a:r>
            <a:endParaRPr lang="zh-CN" altLang="en-US" smtClean="0"/>
          </a:p>
          <a:p>
            <a:pPr eaLnBrk="1" hangingPunct="1"/>
            <a:endParaRPr lang="zh-CN" altLang="en-US" smtClean="0"/>
          </a:p>
          <a:p>
            <a:pPr eaLnBrk="1" hangingPunct="1">
              <a:buFontTx/>
              <a:buNone/>
            </a:pPr>
            <a:endParaRPr lang="en-US" altLang="zh-TW" smtClean="0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/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Chart Parsing</a:t>
            </a:r>
            <a:endParaRPr lang="en-US" altLang="zh-CN" smtClean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buFontTx/>
              <a:buNone/>
            </a:pPr>
            <a:r>
              <a:rPr lang="en-US" altLang="zh-CN" smtClean="0"/>
              <a:t>Data structures used by the algorithm:</a:t>
            </a:r>
            <a:endParaRPr lang="en-US" altLang="zh-CN" smtClean="0"/>
          </a:p>
          <a:p>
            <a:pPr lvl="2" eaLnBrk="1" hangingPunct="1">
              <a:buFontTx/>
              <a:buNone/>
            </a:pPr>
            <a:r>
              <a:rPr lang="en-US" altLang="zh-CN" b="1" smtClean="0">
                <a:latin typeface="Times New Roman" panose="02020603050405020304" pitchFamily="18" charset="0"/>
              </a:rPr>
              <a:t>–</a:t>
            </a:r>
            <a:r>
              <a:rPr lang="en-US" altLang="zh-CN" b="1" smtClean="0"/>
              <a:t> </a:t>
            </a:r>
            <a:r>
              <a:rPr lang="en-US" altLang="zh-CN" b="1" smtClean="0">
                <a:solidFill>
                  <a:schemeClr val="accent2"/>
                </a:solidFill>
              </a:rPr>
              <a:t>The Key:</a:t>
            </a:r>
            <a:r>
              <a:rPr lang="en-US" altLang="zh-CN" b="1" smtClean="0"/>
              <a:t> </a:t>
            </a:r>
            <a:r>
              <a:rPr lang="en-US" altLang="zh-CN" smtClean="0"/>
              <a:t>the current constituent we are attempting to </a:t>
            </a:r>
            <a:r>
              <a:rPr lang="en-US" altLang="zh-CN" smtClean="0">
                <a:latin typeface="Times New Roman" panose="02020603050405020304" pitchFamily="18" charset="0"/>
              </a:rPr>
              <a:t>“</a:t>
            </a:r>
            <a:r>
              <a:rPr lang="en-US" altLang="zh-CN" smtClean="0"/>
              <a:t>match</a:t>
            </a:r>
            <a:r>
              <a:rPr lang="en-US" altLang="zh-CN" smtClean="0">
                <a:latin typeface="Times New Roman" panose="02020603050405020304" pitchFamily="18" charset="0"/>
              </a:rPr>
              <a:t>”</a:t>
            </a:r>
            <a:endParaRPr lang="en-US" altLang="zh-CN" smtClean="0"/>
          </a:p>
          <a:p>
            <a:pPr lvl="2" eaLnBrk="1" hangingPunct="1">
              <a:buFontTx/>
              <a:buNone/>
            </a:pPr>
            <a:r>
              <a:rPr lang="en-US" altLang="zh-CN" b="1" smtClean="0">
                <a:latin typeface="Times New Roman" panose="02020603050405020304" pitchFamily="18" charset="0"/>
              </a:rPr>
              <a:t>–</a:t>
            </a:r>
            <a:r>
              <a:rPr lang="en-US" altLang="zh-CN" b="1" smtClean="0"/>
              <a:t> </a:t>
            </a:r>
            <a:r>
              <a:rPr lang="en-US" altLang="zh-CN" b="1" smtClean="0">
                <a:solidFill>
                  <a:schemeClr val="accent2"/>
                </a:solidFill>
              </a:rPr>
              <a:t>An Active Arc:</a:t>
            </a:r>
            <a:r>
              <a:rPr lang="en-US" altLang="zh-CN" b="1" smtClean="0"/>
              <a:t> </a:t>
            </a:r>
            <a:r>
              <a:rPr lang="en-US" altLang="zh-CN" smtClean="0"/>
              <a:t>a grammar rule that has a partially matched RHS</a:t>
            </a:r>
            <a:endParaRPr lang="en-US" altLang="zh-CN" smtClean="0"/>
          </a:p>
          <a:p>
            <a:pPr lvl="2" eaLnBrk="1" hangingPunct="1">
              <a:buFontTx/>
              <a:buNone/>
            </a:pPr>
            <a:r>
              <a:rPr lang="en-US" altLang="zh-CN" b="1" smtClean="0">
                <a:latin typeface="Times New Roman" panose="02020603050405020304" pitchFamily="18" charset="0"/>
              </a:rPr>
              <a:t>–</a:t>
            </a:r>
            <a:r>
              <a:rPr lang="en-US" altLang="zh-CN" b="1" smtClean="0"/>
              <a:t> </a:t>
            </a:r>
            <a:r>
              <a:rPr lang="en-US" altLang="zh-CN" b="1" smtClean="0">
                <a:solidFill>
                  <a:schemeClr val="accent2"/>
                </a:solidFill>
              </a:rPr>
              <a:t>The Agenda:</a:t>
            </a:r>
            <a:r>
              <a:rPr lang="en-US" altLang="zh-CN" b="1" smtClean="0"/>
              <a:t> </a:t>
            </a:r>
            <a:r>
              <a:rPr lang="en-US" altLang="zh-CN" smtClean="0"/>
              <a:t>Keeps track of newly found unprocessed constituents</a:t>
            </a:r>
            <a:endParaRPr lang="en-US" altLang="zh-CN" smtClean="0"/>
          </a:p>
          <a:p>
            <a:pPr lvl="2" eaLnBrk="1" hangingPunct="1">
              <a:buFontTx/>
              <a:buNone/>
            </a:pPr>
            <a:r>
              <a:rPr lang="en-US" altLang="zh-CN" b="1" smtClean="0">
                <a:latin typeface="Times New Roman" panose="02020603050405020304" pitchFamily="18" charset="0"/>
              </a:rPr>
              <a:t>–</a:t>
            </a:r>
            <a:r>
              <a:rPr lang="en-US" altLang="zh-CN" b="1" smtClean="0"/>
              <a:t> </a:t>
            </a:r>
            <a:r>
              <a:rPr lang="en-US" altLang="zh-CN" b="1" smtClean="0">
                <a:solidFill>
                  <a:schemeClr val="accent2"/>
                </a:solidFill>
              </a:rPr>
              <a:t>The Chart:</a:t>
            </a:r>
            <a:r>
              <a:rPr lang="en-US" altLang="zh-CN" b="1" smtClean="0"/>
              <a:t> </a:t>
            </a:r>
            <a:r>
              <a:rPr lang="en-US" altLang="zh-CN" smtClean="0"/>
              <a:t>Records processed constituents (non-terminals) that span substrings of the input</a:t>
            </a:r>
            <a:endParaRPr lang="en-US" altLang="zh-CN" smtClean="0"/>
          </a:p>
          <a:p>
            <a:pPr eaLnBrk="1" hangingPunct="1"/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i="1" smtClean="0"/>
              <a:t>Chart Parsing</a:t>
            </a:r>
            <a:endParaRPr lang="en-US" altLang="zh-CN" i="1" smtClean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625" y="1428750"/>
            <a:ext cx="8258175" cy="469741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800" smtClean="0"/>
              <a:t>parsing input x = x</a:t>
            </a:r>
            <a:r>
              <a:rPr lang="en-US" altLang="zh-CN" sz="2400" baseline="-25000" smtClean="0"/>
              <a:t>1</a:t>
            </a:r>
            <a:r>
              <a:rPr lang="en-US" altLang="zh-CN" sz="2800" smtClean="0">
                <a:latin typeface="Times New Roman" panose="02020603050405020304" pitchFamily="18" charset="0"/>
              </a:rPr>
              <a:t>…</a:t>
            </a:r>
            <a:r>
              <a:rPr lang="en-US" altLang="zh-CN" sz="2800" smtClean="0"/>
              <a:t>x</a:t>
            </a:r>
            <a:r>
              <a:rPr lang="en-US" altLang="zh-CN" sz="2400" baseline="-25000" smtClean="0"/>
              <a:t>n</a:t>
            </a:r>
            <a:endParaRPr lang="en-US" altLang="zh-CN" sz="2400" baseline="-25000" smtClean="0"/>
          </a:p>
          <a:p>
            <a:pPr eaLnBrk="1" hangingPunct="1">
              <a:lnSpc>
                <a:spcPct val="80000"/>
              </a:lnSpc>
            </a:pPr>
            <a:r>
              <a:rPr lang="en-US" altLang="zh-CN" sz="2800" smtClean="0"/>
              <a:t>For i=1 to n do</a:t>
            </a:r>
            <a:endParaRPr lang="en-US" altLang="zh-CN" sz="2800" smtClean="0"/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1. Find all POS of the current word = x</a:t>
            </a:r>
            <a:r>
              <a:rPr lang="en-US" altLang="zh-CN" sz="2000" baseline="-25000" smtClean="0"/>
              <a:t>i</a:t>
            </a:r>
            <a:endParaRPr lang="en-US" altLang="zh-CN" sz="2400" smtClean="0"/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2. Initialize Agenda with all POS of the word:  C&lt;p</a:t>
            </a:r>
            <a:r>
              <a:rPr lang="en-US" altLang="zh-CN" sz="2400" baseline="-25000" smtClean="0"/>
              <a:t>i</a:t>
            </a:r>
            <a:r>
              <a:rPr lang="en-US" altLang="zh-CN" sz="2400" smtClean="0"/>
              <a:t>,p</a:t>
            </a:r>
            <a:r>
              <a:rPr lang="en-US" altLang="zh-CN" sz="2400" baseline="-25000" smtClean="0"/>
              <a:t>i+1</a:t>
            </a:r>
            <a:r>
              <a:rPr lang="en-US" altLang="zh-CN" sz="2400" smtClean="0"/>
              <a:t>&gt; </a:t>
            </a:r>
            <a:endParaRPr lang="en-US" altLang="zh-CN" sz="2400" smtClean="0"/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3. Pick a Key C&lt; p</a:t>
            </a:r>
            <a:r>
              <a:rPr lang="en-US" altLang="zh-CN" sz="2400" baseline="-25000" smtClean="0"/>
              <a:t>j</a:t>
            </a:r>
            <a:r>
              <a:rPr lang="en-US" altLang="zh-CN" sz="2400" smtClean="0"/>
              <a:t>,p</a:t>
            </a:r>
            <a:r>
              <a:rPr lang="en-US" altLang="zh-CN" sz="2400" baseline="-25000" smtClean="0"/>
              <a:t>k</a:t>
            </a:r>
            <a:r>
              <a:rPr lang="en-US" altLang="zh-CN" sz="2400" smtClean="0"/>
              <a:t> &gt; from the Agenda</a:t>
            </a:r>
            <a:endParaRPr lang="en-US" altLang="zh-CN" sz="2400" smtClean="0"/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4. For each grammar rule of form A </a:t>
            </a:r>
            <a:r>
              <a:rPr lang="en-US" altLang="zh-CN" sz="2400" smtClean="0">
                <a:sym typeface="Symbol" panose="05050102010706020507" pitchFamily="18" charset="2"/>
              </a:rPr>
              <a:t></a:t>
            </a:r>
            <a:r>
              <a:rPr lang="en-US" altLang="zh-CN" sz="2400" smtClean="0"/>
              <a:t> CX</a:t>
            </a:r>
            <a:r>
              <a:rPr lang="en-US" altLang="zh-CN" sz="2400" baseline="-25000" smtClean="0"/>
              <a:t>1</a:t>
            </a:r>
            <a:r>
              <a:rPr lang="en-US" altLang="zh-CN" sz="2400" smtClean="0"/>
              <a:t>…X</a:t>
            </a:r>
            <a:r>
              <a:rPr lang="en-US" altLang="zh-CN" sz="2400" baseline="-25000" smtClean="0"/>
              <a:t>m</a:t>
            </a:r>
            <a:r>
              <a:rPr lang="en-US" altLang="zh-CN" sz="2400" smtClean="0"/>
              <a:t>, add </a:t>
            </a:r>
            <a:br>
              <a:rPr lang="en-US" altLang="zh-CN" sz="2400" smtClean="0"/>
            </a:br>
            <a:r>
              <a:rPr lang="en-US" altLang="zh-CN" sz="2400" smtClean="0"/>
              <a:t>A </a:t>
            </a:r>
            <a:r>
              <a:rPr lang="en-US" altLang="zh-CN" sz="2400" smtClean="0">
                <a:sym typeface="Symbol" panose="05050102010706020507" pitchFamily="18" charset="2"/>
              </a:rPr>
              <a:t> </a:t>
            </a:r>
            <a:r>
              <a:rPr lang="en-US" altLang="zh-CN" sz="2400" smtClean="0"/>
              <a:t> CX</a:t>
            </a:r>
            <a:r>
              <a:rPr lang="en-US" altLang="zh-CN" sz="2400" baseline="-25000" smtClean="0"/>
              <a:t>1</a:t>
            </a:r>
            <a:r>
              <a:rPr lang="en-US" altLang="zh-CN" sz="2400" smtClean="0"/>
              <a:t>…X</a:t>
            </a:r>
            <a:r>
              <a:rPr lang="en-US" altLang="zh-CN" sz="2400" baseline="-25000" smtClean="0"/>
              <a:t>m</a:t>
            </a:r>
            <a:r>
              <a:rPr lang="en-US" altLang="zh-CN" sz="2400" smtClean="0"/>
              <a:t>&lt; p</a:t>
            </a:r>
            <a:r>
              <a:rPr lang="en-US" altLang="zh-CN" sz="2400" baseline="-25000" smtClean="0"/>
              <a:t>j</a:t>
            </a:r>
            <a:r>
              <a:rPr lang="en-US" altLang="zh-CN" sz="2400" smtClean="0"/>
              <a:t> ,p</a:t>
            </a:r>
            <a:r>
              <a:rPr lang="en-US" altLang="zh-CN" sz="2400" baseline="-25000" smtClean="0"/>
              <a:t>j</a:t>
            </a:r>
            <a:r>
              <a:rPr lang="en-US" altLang="zh-CN" sz="2400" smtClean="0"/>
              <a:t>&gt; to the list of active arcs</a:t>
            </a:r>
            <a:endParaRPr lang="en-US" altLang="zh-CN" sz="2400" smtClean="0"/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5. Extend any existing active arcs with the Key</a:t>
            </a:r>
            <a:endParaRPr lang="en-US" altLang="zh-CN" sz="2400" smtClean="0"/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6. Add LHS constituents of newly completed rules to the Agenda</a:t>
            </a:r>
            <a:endParaRPr lang="en-US" altLang="zh-CN" sz="2400" smtClean="0"/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7. Add the Key to the Chart</a:t>
            </a:r>
            <a:endParaRPr lang="en-US" altLang="zh-CN" sz="2400" smtClean="0"/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8. If Agenda not empty </a:t>
            </a:r>
            <a:r>
              <a:rPr lang="en-US" altLang="zh-CN" sz="2400" smtClean="0">
                <a:latin typeface="Times New Roman" panose="02020603050405020304" pitchFamily="18" charset="0"/>
              </a:rPr>
              <a:t>–</a:t>
            </a:r>
            <a:r>
              <a:rPr lang="en-US" altLang="zh-CN" sz="2400" smtClean="0"/>
              <a:t> go to (3), else go to (1)</a:t>
            </a:r>
            <a:endParaRPr lang="en-US" altLang="zh-CN" sz="2400" smtClean="0"/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9. Find all the constituents S&lt;1,n+1&gt;</a:t>
            </a:r>
            <a:endParaRPr lang="en-US" altLang="zh-CN" sz="2400" smtClean="0"/>
          </a:p>
          <a:p>
            <a:pPr eaLnBrk="1" hangingPunct="1">
              <a:lnSpc>
                <a:spcPct val="80000"/>
              </a:lnSpc>
            </a:pPr>
            <a:endParaRPr lang="en-US" altLang="zh-CN" sz="28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i="1" smtClean="0"/>
              <a:t>Chart Parsing</a:t>
            </a:r>
            <a:endParaRPr lang="en-US" altLang="zh-CN" i="1" smtClean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80000"/>
              </a:lnSpc>
            </a:pPr>
            <a:r>
              <a:rPr lang="en-US" altLang="zh-CN" sz="2400" smtClean="0"/>
              <a:t>Extending Active Arcs with a Key:</a:t>
            </a:r>
            <a:endParaRPr lang="en-US" altLang="zh-CN" sz="2400" smtClean="0"/>
          </a:p>
          <a:p>
            <a:pPr marL="609600" indent="-609600" eaLnBrk="1" hangingPunct="1">
              <a:lnSpc>
                <a:spcPct val="80000"/>
              </a:lnSpc>
              <a:buFontTx/>
              <a:buChar char="-"/>
            </a:pPr>
            <a:r>
              <a:rPr lang="en-US" altLang="zh-CN" sz="2400" smtClean="0"/>
              <a:t>Each </a:t>
            </a:r>
            <a:r>
              <a:rPr lang="en-US" altLang="zh-CN" sz="2400" b="1" smtClean="0">
                <a:solidFill>
                  <a:schemeClr val="accent2"/>
                </a:solidFill>
              </a:rPr>
              <a:t>Active Arc</a:t>
            </a:r>
            <a:r>
              <a:rPr lang="en-US" altLang="zh-CN" sz="2400" b="1" smtClean="0"/>
              <a:t> </a:t>
            </a:r>
            <a:r>
              <a:rPr lang="en-US" altLang="zh-CN" sz="2400" smtClean="0"/>
              <a:t>has the form: </a:t>
            </a:r>
            <a:endParaRPr lang="en-US" altLang="zh-CN" sz="2400" smtClean="0"/>
          </a:p>
          <a:p>
            <a:pPr marL="1371600" lvl="2" indent="-457200" eaLnBrk="1" hangingPunct="1">
              <a:lnSpc>
                <a:spcPct val="80000"/>
              </a:lnSpc>
              <a:buFontTx/>
              <a:buNone/>
            </a:pPr>
            <a:r>
              <a:rPr lang="en-US" altLang="zh-CN" baseline="-25000" smtClean="0"/>
              <a:t> </a:t>
            </a:r>
            <a:r>
              <a:rPr lang="en-US" altLang="zh-CN" smtClean="0"/>
              <a:t>A </a:t>
            </a:r>
            <a:r>
              <a:rPr lang="en-US" altLang="zh-CN" smtClean="0">
                <a:sym typeface="Symbol" panose="05050102010706020507" pitchFamily="18" charset="2"/>
              </a:rPr>
              <a:t></a:t>
            </a:r>
            <a:r>
              <a:rPr lang="en-US" altLang="zh-CN" smtClean="0"/>
              <a:t> X</a:t>
            </a:r>
            <a:r>
              <a:rPr lang="en-US" altLang="zh-CN" baseline="-25000" smtClean="0"/>
              <a:t>1</a:t>
            </a:r>
            <a:r>
              <a:rPr lang="en-US" altLang="zh-CN" smtClean="0">
                <a:latin typeface="Times New Roman" panose="02020603050405020304" pitchFamily="18" charset="0"/>
              </a:rPr>
              <a:t>…</a:t>
            </a:r>
            <a:r>
              <a:rPr lang="en-US" altLang="zh-CN" smtClean="0">
                <a:sym typeface="Symbol" panose="05050102010706020507" pitchFamily="18" charset="2"/>
              </a:rPr>
              <a:t></a:t>
            </a:r>
            <a:r>
              <a:rPr lang="en-US" altLang="zh-CN" smtClean="0"/>
              <a:t>C</a:t>
            </a:r>
            <a:r>
              <a:rPr lang="en-US" altLang="zh-CN" smtClean="0">
                <a:latin typeface="Times New Roman" panose="02020603050405020304" pitchFamily="18" charset="0"/>
              </a:rPr>
              <a:t>…</a:t>
            </a:r>
            <a:r>
              <a:rPr lang="en-US" altLang="zh-CN" smtClean="0"/>
              <a:t>X</a:t>
            </a:r>
            <a:r>
              <a:rPr lang="en-US" altLang="zh-CN" baseline="-25000" smtClean="0"/>
              <a:t>m</a:t>
            </a:r>
            <a:r>
              <a:rPr lang="en-US" altLang="zh-CN" smtClean="0"/>
              <a:t> &lt; p</a:t>
            </a:r>
            <a:r>
              <a:rPr lang="en-US" altLang="zh-CN" baseline="-25000" smtClean="0"/>
              <a:t>i</a:t>
            </a:r>
            <a:r>
              <a:rPr lang="en-US" altLang="zh-CN" smtClean="0"/>
              <a:t>,p</a:t>
            </a:r>
            <a:r>
              <a:rPr lang="en-US" altLang="zh-CN" baseline="-25000" smtClean="0"/>
              <a:t>j</a:t>
            </a:r>
            <a:r>
              <a:rPr lang="en-US" altLang="zh-CN" smtClean="0"/>
              <a:t>&gt;</a:t>
            </a:r>
            <a:endParaRPr lang="en-US" altLang="zh-CN" smtClean="0"/>
          </a:p>
          <a:p>
            <a:pPr marL="609600" indent="-609600" eaLnBrk="1" hangingPunct="1">
              <a:lnSpc>
                <a:spcPct val="80000"/>
              </a:lnSpc>
            </a:pPr>
            <a:r>
              <a:rPr lang="en-US" altLang="zh-CN" sz="2400" smtClean="0"/>
              <a:t>- A Key constituent has the form: C </a:t>
            </a:r>
            <a:r>
              <a:rPr lang="en-US" altLang="zh-CN" sz="2400" smtClean="0">
                <a:sym typeface="Symbol" panose="05050102010706020507" pitchFamily="18" charset="2"/>
              </a:rPr>
              <a:t></a:t>
            </a:r>
            <a:r>
              <a:rPr lang="en-US" altLang="zh-CN" sz="2400" smtClean="0">
                <a:latin typeface="Times New Roman" panose="02020603050405020304" pitchFamily="18" charset="0"/>
              </a:rPr>
              <a:t>…</a:t>
            </a:r>
            <a:r>
              <a:rPr lang="en-US" altLang="zh-CN" sz="2400" smtClean="0">
                <a:sym typeface="Symbol" panose="05050102010706020507" pitchFamily="18" charset="2"/>
              </a:rPr>
              <a:t></a:t>
            </a:r>
            <a:r>
              <a:rPr lang="en-US" altLang="zh-CN" sz="2400" smtClean="0"/>
              <a:t> &lt;p</a:t>
            </a:r>
            <a:r>
              <a:rPr lang="en-US" altLang="zh-CN" sz="2400" baseline="-25000" smtClean="0"/>
              <a:t>j</a:t>
            </a:r>
            <a:r>
              <a:rPr lang="en-US" altLang="zh-CN" sz="2400" smtClean="0"/>
              <a:t>,p</a:t>
            </a:r>
            <a:r>
              <a:rPr lang="en-US" altLang="zh-CN" sz="2400" baseline="-25000" smtClean="0"/>
              <a:t>k</a:t>
            </a:r>
            <a:r>
              <a:rPr lang="en-US" altLang="zh-CN" sz="2400" smtClean="0"/>
              <a:t>&gt;                  </a:t>
            </a:r>
            <a:endParaRPr lang="en-US" altLang="zh-CN" sz="2400" smtClean="0"/>
          </a:p>
          <a:p>
            <a:pPr marL="609600" indent="-609600" eaLnBrk="1" hangingPunct="1">
              <a:lnSpc>
                <a:spcPct val="80000"/>
              </a:lnSpc>
            </a:pPr>
            <a:r>
              <a:rPr lang="en-US" altLang="zh-CN" sz="2400" smtClean="0"/>
              <a:t>- When processing the Key C </a:t>
            </a:r>
            <a:r>
              <a:rPr lang="en-US" altLang="zh-CN" sz="2400" smtClean="0">
                <a:sym typeface="Symbol" panose="05050102010706020507" pitchFamily="18" charset="2"/>
              </a:rPr>
              <a:t></a:t>
            </a:r>
            <a:r>
              <a:rPr lang="en-US" altLang="zh-CN" sz="2400" smtClean="0">
                <a:latin typeface="Times New Roman" panose="02020603050405020304" pitchFamily="18" charset="0"/>
              </a:rPr>
              <a:t>…</a:t>
            </a:r>
            <a:r>
              <a:rPr lang="en-US" altLang="zh-CN" sz="2400" smtClean="0">
                <a:sym typeface="Symbol" panose="05050102010706020507" pitchFamily="18" charset="2"/>
              </a:rPr>
              <a:t></a:t>
            </a:r>
            <a:r>
              <a:rPr lang="en-US" altLang="zh-CN" sz="2400" smtClean="0"/>
              <a:t> &lt;p</a:t>
            </a:r>
            <a:r>
              <a:rPr lang="en-US" altLang="zh-CN" sz="2400" baseline="-25000" smtClean="0"/>
              <a:t>j</a:t>
            </a:r>
            <a:r>
              <a:rPr lang="en-US" altLang="zh-CN" sz="2400" smtClean="0"/>
              <a:t>,p</a:t>
            </a:r>
            <a:r>
              <a:rPr lang="en-US" altLang="zh-CN" sz="2400" baseline="-25000" smtClean="0"/>
              <a:t>k</a:t>
            </a:r>
            <a:r>
              <a:rPr lang="en-US" altLang="zh-CN" sz="2400" smtClean="0"/>
              <a:t>&gt;, we search the active arc list for an arc </a:t>
            </a:r>
            <a:r>
              <a:rPr lang="en-US" altLang="zh-CN" sz="2400" baseline="-25000" smtClean="0"/>
              <a:t> </a:t>
            </a:r>
            <a:r>
              <a:rPr lang="en-US" altLang="zh-CN" sz="2400" smtClean="0"/>
              <a:t>A </a:t>
            </a:r>
            <a:r>
              <a:rPr lang="en-US" altLang="zh-CN" sz="2400" smtClean="0">
                <a:sym typeface="Symbol" panose="05050102010706020507" pitchFamily="18" charset="2"/>
              </a:rPr>
              <a:t></a:t>
            </a:r>
            <a:r>
              <a:rPr lang="en-US" altLang="zh-CN" sz="2400" smtClean="0"/>
              <a:t> X</a:t>
            </a:r>
            <a:r>
              <a:rPr lang="en-US" altLang="zh-CN" sz="2400" baseline="-25000" smtClean="0"/>
              <a:t>1</a:t>
            </a:r>
            <a:r>
              <a:rPr lang="en-US" altLang="zh-CN" sz="2400" smtClean="0">
                <a:latin typeface="Times New Roman" panose="02020603050405020304" pitchFamily="18" charset="0"/>
              </a:rPr>
              <a:t>…</a:t>
            </a:r>
            <a:r>
              <a:rPr lang="en-US" altLang="zh-CN" sz="2400" smtClean="0">
                <a:sym typeface="Symbol" panose="05050102010706020507" pitchFamily="18" charset="2"/>
              </a:rPr>
              <a:t></a:t>
            </a:r>
            <a:r>
              <a:rPr lang="en-US" altLang="zh-CN" sz="2400" smtClean="0"/>
              <a:t>C</a:t>
            </a:r>
            <a:r>
              <a:rPr lang="en-US" altLang="zh-CN" sz="2400" smtClean="0">
                <a:latin typeface="Times New Roman" panose="02020603050405020304" pitchFamily="18" charset="0"/>
              </a:rPr>
              <a:t>…</a:t>
            </a:r>
            <a:r>
              <a:rPr lang="en-US" altLang="zh-CN" sz="2400" smtClean="0"/>
              <a:t>X</a:t>
            </a:r>
            <a:r>
              <a:rPr lang="en-US" altLang="zh-CN" sz="2400" baseline="-25000" smtClean="0"/>
              <a:t>m</a:t>
            </a:r>
            <a:r>
              <a:rPr lang="en-US" altLang="zh-CN" sz="2400" smtClean="0"/>
              <a:t>&lt; p</a:t>
            </a:r>
            <a:r>
              <a:rPr lang="en-US" altLang="zh-CN" sz="2400" baseline="-25000" smtClean="0"/>
              <a:t>i</a:t>
            </a:r>
            <a:r>
              <a:rPr lang="en-US" altLang="zh-CN" sz="2400" smtClean="0"/>
              <a:t>,p</a:t>
            </a:r>
            <a:r>
              <a:rPr lang="en-US" altLang="zh-CN" sz="2400" baseline="-25000" smtClean="0"/>
              <a:t>j</a:t>
            </a:r>
            <a:r>
              <a:rPr lang="en-US" altLang="zh-CN" sz="2400" smtClean="0"/>
              <a:t>&gt;, and then create a new active arc</a:t>
            </a:r>
            <a:br>
              <a:rPr lang="en-US" altLang="zh-CN" sz="2400" smtClean="0"/>
            </a:br>
            <a:r>
              <a:rPr lang="en-US" altLang="zh-CN" sz="2400" smtClean="0"/>
              <a:t> </a:t>
            </a:r>
            <a:r>
              <a:rPr lang="en-US" altLang="zh-CN" sz="2400" baseline="-25000" smtClean="0"/>
              <a:t> </a:t>
            </a:r>
            <a:r>
              <a:rPr lang="en-US" altLang="zh-CN" sz="2400" smtClean="0"/>
              <a:t>A </a:t>
            </a:r>
            <a:r>
              <a:rPr lang="en-US" altLang="zh-CN" sz="2400" smtClean="0">
                <a:sym typeface="Symbol" panose="05050102010706020507" pitchFamily="18" charset="2"/>
              </a:rPr>
              <a:t></a:t>
            </a:r>
            <a:r>
              <a:rPr lang="en-US" altLang="zh-CN" sz="2400" smtClean="0"/>
              <a:t> X</a:t>
            </a:r>
            <a:r>
              <a:rPr lang="en-US" altLang="zh-CN" sz="2400" baseline="-25000" smtClean="0"/>
              <a:t>1</a:t>
            </a:r>
            <a:r>
              <a:rPr lang="en-US" altLang="zh-CN" sz="2400" smtClean="0">
                <a:latin typeface="Times New Roman" panose="02020603050405020304" pitchFamily="18" charset="0"/>
              </a:rPr>
              <a:t>…</a:t>
            </a:r>
            <a:r>
              <a:rPr lang="en-US" altLang="zh-CN" sz="2400" smtClean="0"/>
              <a:t>C </a:t>
            </a:r>
            <a:r>
              <a:rPr lang="en-US" altLang="zh-CN" sz="2400" smtClean="0">
                <a:sym typeface="Symbol" panose="05050102010706020507" pitchFamily="18" charset="2"/>
              </a:rPr>
              <a:t></a:t>
            </a:r>
            <a:r>
              <a:rPr lang="en-US" altLang="zh-CN" sz="2400" smtClean="0"/>
              <a:t> </a:t>
            </a:r>
            <a:r>
              <a:rPr lang="en-US" altLang="zh-CN" sz="2400" smtClean="0">
                <a:latin typeface="Times New Roman" panose="02020603050405020304" pitchFamily="18" charset="0"/>
              </a:rPr>
              <a:t>…</a:t>
            </a:r>
            <a:r>
              <a:rPr lang="en-US" altLang="zh-CN" sz="2400" smtClean="0"/>
              <a:t>X</a:t>
            </a:r>
            <a:r>
              <a:rPr lang="en-US" altLang="zh-CN" sz="2400" baseline="-25000" smtClean="0"/>
              <a:t>m</a:t>
            </a:r>
            <a:r>
              <a:rPr lang="en-US" altLang="zh-CN" sz="2400" smtClean="0"/>
              <a:t> &lt; p</a:t>
            </a:r>
            <a:r>
              <a:rPr lang="en-US" altLang="zh-CN" sz="2400" baseline="-25000" smtClean="0"/>
              <a:t>i</a:t>
            </a:r>
            <a:r>
              <a:rPr lang="en-US" altLang="zh-CN" sz="2400" smtClean="0"/>
              <a:t>,p</a:t>
            </a:r>
            <a:r>
              <a:rPr lang="en-US" altLang="zh-CN" sz="2400" baseline="-25000" smtClean="0"/>
              <a:t>k</a:t>
            </a:r>
            <a:r>
              <a:rPr lang="en-US" altLang="zh-CN" sz="2400" smtClean="0"/>
              <a:t>&gt;</a:t>
            </a:r>
            <a:endParaRPr lang="en-US" altLang="zh-CN" sz="2400" smtClean="0"/>
          </a:p>
          <a:p>
            <a:pPr marL="609600" indent="-609600" eaLnBrk="1" hangingPunct="1">
              <a:lnSpc>
                <a:spcPct val="80000"/>
              </a:lnSpc>
            </a:pPr>
            <a:r>
              <a:rPr lang="en-US" altLang="zh-CN" sz="2400" smtClean="0"/>
              <a:t>- If the new active arc is a completed rule: </a:t>
            </a:r>
            <a:br>
              <a:rPr lang="en-US" altLang="zh-CN" sz="2400" smtClean="0"/>
            </a:br>
            <a:r>
              <a:rPr lang="en-US" altLang="zh-CN" sz="2400" smtClean="0"/>
              <a:t>  A </a:t>
            </a:r>
            <a:r>
              <a:rPr lang="en-US" altLang="zh-CN" sz="2400" smtClean="0">
                <a:sym typeface="Symbol" panose="05050102010706020507" pitchFamily="18" charset="2"/>
              </a:rPr>
              <a:t></a:t>
            </a:r>
            <a:r>
              <a:rPr lang="en-US" altLang="zh-CN" sz="2400" smtClean="0"/>
              <a:t> X</a:t>
            </a:r>
            <a:r>
              <a:rPr lang="en-US" altLang="zh-CN" sz="2400" baseline="-25000" smtClean="0"/>
              <a:t>1</a:t>
            </a:r>
            <a:r>
              <a:rPr lang="en-US" altLang="zh-CN" sz="2400" smtClean="0">
                <a:latin typeface="Times New Roman" panose="02020603050405020304" pitchFamily="18" charset="0"/>
              </a:rPr>
              <a:t>…</a:t>
            </a:r>
            <a:r>
              <a:rPr lang="en-US" altLang="zh-CN" sz="2400" smtClean="0"/>
              <a:t>C </a:t>
            </a:r>
            <a:r>
              <a:rPr lang="en-US" altLang="zh-CN" sz="2400" smtClean="0">
                <a:sym typeface="Symbol" panose="05050102010706020507" pitchFamily="18" charset="2"/>
              </a:rPr>
              <a:t></a:t>
            </a:r>
            <a:r>
              <a:rPr lang="en-US" altLang="zh-CN" sz="2400" smtClean="0"/>
              <a:t> &lt; p</a:t>
            </a:r>
            <a:r>
              <a:rPr lang="en-US" altLang="zh-CN" sz="2400" baseline="-25000" smtClean="0"/>
              <a:t>i</a:t>
            </a:r>
            <a:r>
              <a:rPr lang="en-US" altLang="zh-CN" sz="2400" smtClean="0"/>
              <a:t>,p</a:t>
            </a:r>
            <a:r>
              <a:rPr lang="en-US" altLang="zh-CN" sz="2400" baseline="-25000" smtClean="0"/>
              <a:t>k</a:t>
            </a:r>
            <a:r>
              <a:rPr lang="en-US" altLang="zh-CN" sz="2400" smtClean="0"/>
              <a:t>&gt;,</a:t>
            </a:r>
            <a:endParaRPr lang="en-US" altLang="zh-CN" sz="2400" smtClean="0"/>
          </a:p>
          <a:p>
            <a:pPr marL="609600" indent="-609600" eaLnBrk="1" hangingPunct="1">
              <a:lnSpc>
                <a:spcPct val="80000"/>
              </a:lnSpc>
            </a:pPr>
            <a:r>
              <a:rPr lang="en-US" altLang="zh-CN" sz="2400" smtClean="0"/>
              <a:t>then we add A </a:t>
            </a:r>
            <a:r>
              <a:rPr lang="en-US" altLang="zh-CN" sz="2400" smtClean="0">
                <a:sym typeface="Symbol" panose="05050102010706020507" pitchFamily="18" charset="2"/>
              </a:rPr>
              <a:t></a:t>
            </a:r>
            <a:r>
              <a:rPr lang="en-US" altLang="zh-CN" sz="2400" smtClean="0"/>
              <a:t> </a:t>
            </a:r>
            <a:r>
              <a:rPr lang="en-US" altLang="zh-CN" sz="2400" smtClean="0">
                <a:latin typeface="Times New Roman" panose="02020603050405020304" pitchFamily="18" charset="0"/>
              </a:rPr>
              <a:t>…</a:t>
            </a:r>
            <a:r>
              <a:rPr lang="en-US" altLang="zh-CN" sz="2400" smtClean="0"/>
              <a:t> </a:t>
            </a:r>
            <a:r>
              <a:rPr lang="en-US" altLang="zh-CN" sz="2400" smtClean="0">
                <a:sym typeface="Symbol" panose="05050102010706020507" pitchFamily="18" charset="2"/>
              </a:rPr>
              <a:t></a:t>
            </a:r>
            <a:r>
              <a:rPr lang="en-US" altLang="zh-CN" sz="2400" smtClean="0"/>
              <a:t> &lt; p</a:t>
            </a:r>
            <a:r>
              <a:rPr lang="en-US" altLang="zh-CN" sz="2400" baseline="-25000" smtClean="0"/>
              <a:t>i</a:t>
            </a:r>
            <a:r>
              <a:rPr lang="en-US" altLang="zh-CN" sz="2400" smtClean="0"/>
              <a:t>,p</a:t>
            </a:r>
            <a:r>
              <a:rPr lang="en-US" altLang="zh-CN" sz="2400" baseline="-25000" smtClean="0"/>
              <a:t>k</a:t>
            </a:r>
            <a:r>
              <a:rPr lang="en-US" altLang="zh-CN" sz="2400" smtClean="0"/>
              <a:t>&gt; to the Agenda</a:t>
            </a:r>
            <a:endParaRPr lang="en-US" altLang="zh-CN" sz="2400" smtClean="0"/>
          </a:p>
          <a:p>
            <a:pPr marL="609600" indent="-609600" eaLnBrk="1" hangingPunct="1">
              <a:lnSpc>
                <a:spcPct val="80000"/>
              </a:lnSpc>
            </a:pPr>
            <a:r>
              <a:rPr lang="en-US" altLang="zh-CN" sz="2400" smtClean="0"/>
              <a:t>- After </a:t>
            </a:r>
            <a:r>
              <a:rPr lang="en-US" altLang="zh-CN" sz="2400" smtClean="0">
                <a:latin typeface="Times New Roman" panose="02020603050405020304" pitchFamily="18" charset="0"/>
              </a:rPr>
              <a:t>“</a:t>
            </a:r>
            <a:r>
              <a:rPr lang="en-US" altLang="zh-CN" sz="2400" smtClean="0"/>
              <a:t>using</a:t>
            </a:r>
            <a:r>
              <a:rPr lang="en-US" altLang="zh-CN" sz="2400" smtClean="0">
                <a:latin typeface="Times New Roman" panose="02020603050405020304" pitchFamily="18" charset="0"/>
              </a:rPr>
              <a:t>”</a:t>
            </a:r>
            <a:r>
              <a:rPr lang="en-US" altLang="zh-CN" sz="2400" smtClean="0"/>
              <a:t> the key to extend all relevant arcs, it is entered into the Chart</a:t>
            </a:r>
            <a:endParaRPr lang="en-US" altLang="zh-CN" sz="2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 smtClean="0"/>
              <a:t>extending an active arc:</a:t>
            </a:r>
            <a:r>
              <a:rPr lang="zh-CN" altLang="en-US" sz="4000" smtClean="0"/>
              <a:t>合并规则</a:t>
            </a:r>
            <a:endParaRPr lang="zh-CN" altLang="en-US" sz="4000" smtClean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i="1" dirty="0" smtClean="0"/>
              <a:t>A</a:t>
            </a:r>
            <a:r>
              <a:rPr lang="en-US" altLang="zh-CN" dirty="0" smtClean="0"/>
              <a:t>→α•</a:t>
            </a:r>
            <a:r>
              <a:rPr lang="en-US" altLang="zh-CN" i="1" dirty="0" smtClean="0"/>
              <a:t>B</a:t>
            </a:r>
            <a:r>
              <a:rPr lang="en-US" altLang="zh-CN" dirty="0" smtClean="0"/>
              <a:t>β&lt;</a:t>
            </a:r>
            <a:r>
              <a:rPr lang="en-US" altLang="zh-CN" i="1" dirty="0" err="1" smtClean="0"/>
              <a:t>i</a:t>
            </a:r>
            <a:r>
              <a:rPr lang="en-US" altLang="zh-CN" dirty="0" err="1" smtClean="0"/>
              <a:t>:</a:t>
            </a:r>
            <a:r>
              <a:rPr lang="en-US" altLang="zh-CN" i="1" dirty="0" err="1" smtClean="0"/>
              <a:t>j</a:t>
            </a:r>
            <a:r>
              <a:rPr lang="en-US" altLang="zh-CN" dirty="0" smtClean="0"/>
              <a:t>&gt;, </a:t>
            </a:r>
            <a:r>
              <a:rPr lang="en-US" altLang="zh-CN" i="1" dirty="0" err="1" smtClean="0"/>
              <a:t>B</a:t>
            </a:r>
            <a:r>
              <a:rPr lang="en-US" altLang="zh-CN" dirty="0" err="1" smtClean="0"/>
              <a:t>→γ</a:t>
            </a:r>
            <a:r>
              <a:rPr lang="en-US" altLang="zh-CN" dirty="0" smtClean="0"/>
              <a:t>•&lt;</a:t>
            </a:r>
            <a:r>
              <a:rPr lang="en-US" altLang="zh-CN" i="1" dirty="0" err="1" smtClean="0"/>
              <a:t>j</a:t>
            </a:r>
            <a:r>
              <a:rPr lang="en-US" altLang="zh-CN" dirty="0" err="1" smtClean="0"/>
              <a:t>:</a:t>
            </a:r>
            <a:r>
              <a:rPr lang="en-US" altLang="zh-CN" i="1" dirty="0" err="1" smtClean="0"/>
              <a:t>k</a:t>
            </a:r>
            <a:r>
              <a:rPr lang="en-US" altLang="zh-CN" dirty="0" smtClean="0"/>
              <a:t>&gt;  </a:t>
            </a:r>
            <a:r>
              <a:rPr lang="en-US" altLang="zh-CN" dirty="0" smtClean="0">
                <a:sym typeface="Wingdings" panose="05000000000000000000" pitchFamily="2" charset="2"/>
              </a:rPr>
              <a:t></a:t>
            </a:r>
            <a:endParaRPr lang="en-US" altLang="zh-CN" dirty="0" smtClean="0">
              <a:sym typeface="Wingdings" panose="05000000000000000000" pitchFamily="2" charset="2"/>
            </a:endParaRPr>
          </a:p>
          <a:p>
            <a:pPr marL="0" indent="0" eaLnBrk="1" hangingPunct="1">
              <a:buFontTx/>
              <a:buNone/>
              <a:defRPr/>
            </a:pPr>
            <a:r>
              <a:rPr lang="en-US" altLang="zh-CN" i="1" dirty="0">
                <a:sym typeface="Wingdings" panose="05000000000000000000" pitchFamily="2" charset="2"/>
              </a:rPr>
              <a:t> </a:t>
            </a:r>
            <a:r>
              <a:rPr lang="en-US" altLang="zh-CN" i="1" dirty="0" smtClean="0">
                <a:sym typeface="Wingdings" panose="05000000000000000000" pitchFamily="2" charset="2"/>
              </a:rPr>
              <a:t>     A</a:t>
            </a:r>
            <a:r>
              <a:rPr lang="en-US" altLang="zh-CN" dirty="0" smtClean="0">
                <a:sym typeface="Wingdings" panose="05000000000000000000" pitchFamily="2" charset="2"/>
              </a:rPr>
              <a:t>→α</a:t>
            </a:r>
            <a:r>
              <a:rPr lang="en-US" altLang="zh-CN" i="1" dirty="0" smtClean="0">
                <a:sym typeface="Wingdings" panose="05000000000000000000" pitchFamily="2" charset="2"/>
              </a:rPr>
              <a:t>B</a:t>
            </a:r>
            <a:r>
              <a:rPr lang="en-US" altLang="zh-CN" dirty="0" smtClean="0">
                <a:sym typeface="Wingdings" panose="05000000000000000000" pitchFamily="2" charset="2"/>
              </a:rPr>
              <a:t>•β&lt;</a:t>
            </a:r>
            <a:r>
              <a:rPr lang="en-US" altLang="zh-CN" i="1" dirty="0" err="1" smtClean="0">
                <a:sym typeface="Wingdings" panose="05000000000000000000" pitchFamily="2" charset="2"/>
              </a:rPr>
              <a:t>i</a:t>
            </a:r>
            <a:r>
              <a:rPr lang="en-US" altLang="zh-CN" dirty="0" err="1" smtClean="0">
                <a:sym typeface="Wingdings" panose="05000000000000000000" pitchFamily="2" charset="2"/>
              </a:rPr>
              <a:t>:</a:t>
            </a:r>
            <a:r>
              <a:rPr lang="en-US" altLang="zh-CN" i="1" dirty="0" err="1" smtClean="0">
                <a:sym typeface="Wingdings" panose="05000000000000000000" pitchFamily="2" charset="2"/>
              </a:rPr>
              <a:t>k</a:t>
            </a:r>
            <a:r>
              <a:rPr lang="en-US" altLang="zh-CN" dirty="0" smtClean="0">
                <a:sym typeface="Wingdings" panose="05000000000000000000" pitchFamily="2" charset="2"/>
              </a:rPr>
              <a:t>&gt;</a:t>
            </a:r>
            <a:endParaRPr lang="en-US" altLang="zh-CN" dirty="0" smtClean="0">
              <a:sym typeface="Wingdings" panose="05000000000000000000" pitchFamily="2" charset="2"/>
            </a:endParaRPr>
          </a:p>
          <a:p>
            <a:pPr eaLnBrk="1" hangingPunct="1">
              <a:defRPr/>
            </a:pPr>
            <a:r>
              <a:rPr lang="zh-CN" altLang="en-US" dirty="0" smtClean="0">
                <a:sym typeface="Wingdings" panose="05000000000000000000" pitchFamily="2" charset="2"/>
              </a:rPr>
              <a:t>简单地说就是把点往右移一格。</a:t>
            </a:r>
            <a:endParaRPr lang="en-US" altLang="zh-CN" dirty="0" smtClean="0"/>
          </a:p>
          <a:p>
            <a:pPr eaLnBrk="1" hangingPunct="1">
              <a:defRPr/>
            </a:pPr>
            <a:endParaRPr lang="en-US" altLang="zh-CN" dirty="0" smtClean="0"/>
          </a:p>
        </p:txBody>
      </p:sp>
      <p:sp>
        <p:nvSpPr>
          <p:cNvPr id="31748" name="Picture 4" descr="fr1"/>
          <p:cNvSpPr>
            <a:spLocks noChangeAspect="1" noChangeArrowheads="1"/>
          </p:cNvSpPr>
          <p:nvPr/>
        </p:nvSpPr>
        <p:spPr bwMode="auto">
          <a:xfrm>
            <a:off x="107950" y="3141663"/>
            <a:ext cx="8928100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i="1" smtClean="0"/>
              <a:t>Chart Parsing - Example</a:t>
            </a:r>
            <a:endParaRPr lang="en-US" altLang="zh-CN" i="1" smtClean="0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The Grammar:</a:t>
            </a:r>
            <a:endParaRPr lang="en-US" altLang="zh-CN" smtClean="0"/>
          </a:p>
          <a:p>
            <a:pPr lvl="1" eaLnBrk="1" hangingPunct="1">
              <a:buFontTx/>
              <a:buNone/>
            </a:pPr>
            <a:r>
              <a:rPr lang="en-US" altLang="zh-CN" smtClean="0"/>
              <a:t>(1) S    </a:t>
            </a:r>
            <a:r>
              <a:rPr lang="en-US" altLang="zh-CN" smtClean="0">
                <a:sym typeface="Symbol" panose="05050102010706020507" pitchFamily="18" charset="2"/>
              </a:rPr>
              <a:t></a:t>
            </a:r>
            <a:r>
              <a:rPr lang="en-US" altLang="zh-CN" smtClean="0"/>
              <a:t> NP  VP</a:t>
            </a:r>
            <a:endParaRPr lang="en-US" altLang="zh-CN" smtClean="0"/>
          </a:p>
          <a:p>
            <a:pPr lvl="1" eaLnBrk="1" hangingPunct="1">
              <a:buFontTx/>
              <a:buNone/>
            </a:pPr>
            <a:r>
              <a:rPr lang="en-US" altLang="zh-CN" smtClean="0"/>
              <a:t>(2) NP </a:t>
            </a:r>
            <a:r>
              <a:rPr lang="en-US" altLang="zh-CN" smtClean="0">
                <a:sym typeface="Symbol" panose="05050102010706020507" pitchFamily="18" charset="2"/>
              </a:rPr>
              <a:t></a:t>
            </a:r>
            <a:r>
              <a:rPr lang="en-US" altLang="zh-CN" smtClean="0"/>
              <a:t> ART  ADJ  N</a:t>
            </a:r>
            <a:endParaRPr lang="en-US" altLang="zh-CN" smtClean="0"/>
          </a:p>
          <a:p>
            <a:pPr lvl="1" eaLnBrk="1" hangingPunct="1">
              <a:buFontTx/>
              <a:buNone/>
            </a:pPr>
            <a:r>
              <a:rPr lang="en-US" altLang="zh-CN" smtClean="0"/>
              <a:t>(3) NP </a:t>
            </a:r>
            <a:r>
              <a:rPr lang="en-US" altLang="zh-CN" smtClean="0">
                <a:sym typeface="Symbol" panose="05050102010706020507" pitchFamily="18" charset="2"/>
              </a:rPr>
              <a:t></a:t>
            </a:r>
            <a:r>
              <a:rPr lang="en-US" altLang="zh-CN" smtClean="0"/>
              <a:t> ART  N</a:t>
            </a:r>
            <a:endParaRPr lang="en-US" altLang="zh-CN" smtClean="0"/>
          </a:p>
          <a:p>
            <a:pPr lvl="1" eaLnBrk="1" hangingPunct="1">
              <a:buFontTx/>
              <a:buNone/>
            </a:pPr>
            <a:r>
              <a:rPr lang="en-US" altLang="zh-CN" smtClean="0"/>
              <a:t>(4) NP </a:t>
            </a:r>
            <a:r>
              <a:rPr lang="en-US" altLang="zh-CN" smtClean="0">
                <a:sym typeface="Symbol" panose="05050102010706020507" pitchFamily="18" charset="2"/>
              </a:rPr>
              <a:t></a:t>
            </a:r>
            <a:r>
              <a:rPr lang="en-US" altLang="zh-CN" smtClean="0"/>
              <a:t> ADJ  N</a:t>
            </a:r>
            <a:endParaRPr lang="en-US" altLang="zh-CN" smtClean="0"/>
          </a:p>
          <a:p>
            <a:pPr lvl="1" eaLnBrk="1" hangingPunct="1">
              <a:buFontTx/>
              <a:buNone/>
            </a:pPr>
            <a:r>
              <a:rPr lang="en-US" altLang="zh-CN" smtClean="0"/>
              <a:t>(5) VP </a:t>
            </a:r>
            <a:r>
              <a:rPr lang="en-US" altLang="zh-CN" smtClean="0">
                <a:sym typeface="Symbol" panose="05050102010706020507" pitchFamily="18" charset="2"/>
              </a:rPr>
              <a:t></a:t>
            </a:r>
            <a:r>
              <a:rPr lang="en-US" altLang="zh-CN" smtClean="0"/>
              <a:t> AUX  VP</a:t>
            </a:r>
            <a:endParaRPr lang="en-US" altLang="zh-CN" smtClean="0"/>
          </a:p>
          <a:p>
            <a:pPr lvl="1" eaLnBrk="1" hangingPunct="1">
              <a:buFontTx/>
              <a:buNone/>
            </a:pPr>
            <a:r>
              <a:rPr lang="en-US" altLang="zh-CN" smtClean="0"/>
              <a:t>(6) VP </a:t>
            </a:r>
            <a:r>
              <a:rPr lang="en-US" altLang="zh-CN" smtClean="0">
                <a:sym typeface="Symbol" panose="05050102010706020507" pitchFamily="18" charset="2"/>
              </a:rPr>
              <a:t></a:t>
            </a:r>
            <a:r>
              <a:rPr lang="en-US" altLang="zh-CN" smtClean="0"/>
              <a:t> V  NP</a:t>
            </a:r>
            <a:endParaRPr lang="en-US" altLang="zh-CN" smtClean="0"/>
          </a:p>
          <a:p>
            <a:pPr eaLnBrk="1" hangingPunct="1"/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i="1" smtClean="0"/>
              <a:t>Chart Parsing - Example</a:t>
            </a:r>
            <a:endParaRPr lang="en-US" altLang="zh-CN" i="1" smtClean="0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The input: </a:t>
            </a:r>
            <a:endParaRPr lang="en-US" altLang="zh-CN" smtClean="0"/>
          </a:p>
          <a:p>
            <a:pPr lvl="1" eaLnBrk="1" hangingPunct="1">
              <a:buFontTx/>
              <a:buNone/>
            </a:pPr>
            <a:r>
              <a:rPr lang="en-US" altLang="zh-CN" smtClean="0">
                <a:latin typeface="Times New Roman" panose="02020603050405020304" pitchFamily="18" charset="0"/>
              </a:rPr>
              <a:t>“</a:t>
            </a:r>
            <a:r>
              <a:rPr lang="en-US" altLang="zh-CN" smtClean="0"/>
              <a:t>x = The large can can hold the water</a:t>
            </a:r>
            <a:r>
              <a:rPr lang="en-US" altLang="zh-CN" smtClean="0">
                <a:latin typeface="Times New Roman" panose="02020603050405020304" pitchFamily="18" charset="0"/>
              </a:rPr>
              <a:t>”</a:t>
            </a:r>
            <a:endParaRPr lang="en-US" altLang="zh-CN" smtClean="0"/>
          </a:p>
          <a:p>
            <a:pPr eaLnBrk="1" hangingPunct="1"/>
            <a:r>
              <a:rPr lang="en-US" altLang="zh-CN" smtClean="0"/>
              <a:t>POS of Input Words:</a:t>
            </a:r>
            <a:endParaRPr lang="en-US" altLang="zh-CN" smtClean="0"/>
          </a:p>
          <a:p>
            <a:pPr lvl="1" eaLnBrk="1" hangingPunct="1"/>
            <a:r>
              <a:rPr lang="en-US" altLang="zh-CN" smtClean="0"/>
              <a:t> the: </a:t>
            </a:r>
            <a:r>
              <a:rPr lang="en-US" altLang="zh-CN" i="1" smtClean="0"/>
              <a:t>ART</a:t>
            </a:r>
            <a:endParaRPr lang="en-US" altLang="zh-CN" i="1" smtClean="0"/>
          </a:p>
          <a:p>
            <a:pPr lvl="1" eaLnBrk="1" hangingPunct="1"/>
            <a:r>
              <a:rPr lang="en-US" altLang="zh-CN" smtClean="0"/>
              <a:t> large: </a:t>
            </a:r>
            <a:r>
              <a:rPr lang="en-US" altLang="zh-CN" i="1" smtClean="0"/>
              <a:t>ADJ</a:t>
            </a:r>
            <a:endParaRPr lang="en-US" altLang="zh-CN" i="1" smtClean="0"/>
          </a:p>
          <a:p>
            <a:pPr lvl="1" eaLnBrk="1" hangingPunct="1"/>
            <a:r>
              <a:rPr lang="en-US" altLang="zh-CN" smtClean="0"/>
              <a:t> can: </a:t>
            </a:r>
            <a:r>
              <a:rPr lang="en-US" altLang="zh-CN" i="1" smtClean="0"/>
              <a:t>N, AUX, V</a:t>
            </a:r>
            <a:endParaRPr lang="en-US" altLang="zh-CN" i="1" smtClean="0"/>
          </a:p>
          <a:p>
            <a:pPr lvl="1" eaLnBrk="1" hangingPunct="1"/>
            <a:r>
              <a:rPr lang="en-US" altLang="zh-CN" smtClean="0"/>
              <a:t> hold: </a:t>
            </a:r>
            <a:r>
              <a:rPr lang="en-US" altLang="zh-CN" i="1" smtClean="0"/>
              <a:t>N, V</a:t>
            </a:r>
            <a:endParaRPr lang="en-US" altLang="zh-CN" i="1" smtClean="0"/>
          </a:p>
          <a:p>
            <a:pPr lvl="1" eaLnBrk="1" hangingPunct="1"/>
            <a:r>
              <a:rPr lang="en-US" altLang="zh-CN" smtClean="0"/>
              <a:t> water: </a:t>
            </a:r>
            <a:r>
              <a:rPr lang="en-US" altLang="zh-CN" i="1" smtClean="0"/>
              <a:t>N, V</a:t>
            </a:r>
            <a:endParaRPr lang="en-US" altLang="zh-CN" smtClean="0"/>
          </a:p>
          <a:p>
            <a:pPr lvl="1" eaLnBrk="1" hangingPunct="1"/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smtClean="0">
                <a:solidFill>
                  <a:schemeClr val="accent2"/>
                </a:solidFill>
              </a:rPr>
              <a:t>The large</a:t>
            </a:r>
            <a:r>
              <a:rPr lang="en-US" altLang="zh-CN" b="1" smtClean="0"/>
              <a:t> </a:t>
            </a:r>
            <a:r>
              <a:rPr lang="en-US" altLang="zh-CN" smtClean="0"/>
              <a:t>can can hold the water</a:t>
            </a:r>
            <a:endParaRPr lang="en-US" altLang="zh-CN" smtClean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zh-CN" smtClean="0"/>
          </a:p>
        </p:txBody>
      </p:sp>
      <p:pic>
        <p:nvPicPr>
          <p:cNvPr id="34820" name="Picture 4" descr="3-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1628775"/>
            <a:ext cx="8569325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smtClean="0">
                <a:solidFill>
                  <a:schemeClr val="accent2"/>
                </a:solidFill>
              </a:rPr>
              <a:t>The large</a:t>
            </a:r>
            <a:r>
              <a:rPr lang="en-US" altLang="zh-CN" b="1" smtClean="0"/>
              <a:t> </a:t>
            </a:r>
            <a:r>
              <a:rPr lang="en-US" altLang="zh-CN" smtClean="0">
                <a:solidFill>
                  <a:schemeClr val="accent2"/>
                </a:solidFill>
              </a:rPr>
              <a:t>can</a:t>
            </a:r>
            <a:r>
              <a:rPr lang="en-US" altLang="zh-CN" smtClean="0"/>
              <a:t> can hold the water</a:t>
            </a:r>
            <a:endParaRPr lang="en-US" altLang="zh-CN" smtClean="0"/>
          </a:p>
        </p:txBody>
      </p:sp>
      <p:pic>
        <p:nvPicPr>
          <p:cNvPr id="35843" name="Picture 3" descr="3-12b copy"/>
          <p:cNvPicPr>
            <a:picLocks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557338"/>
            <a:ext cx="8207375" cy="5111750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smtClean="0">
                <a:solidFill>
                  <a:schemeClr val="accent2"/>
                </a:solidFill>
              </a:rPr>
              <a:t>The large</a:t>
            </a:r>
            <a:r>
              <a:rPr lang="en-US" altLang="zh-CN" b="1" smtClean="0"/>
              <a:t> </a:t>
            </a:r>
            <a:r>
              <a:rPr lang="en-US" altLang="zh-CN" smtClean="0">
                <a:solidFill>
                  <a:schemeClr val="accent2"/>
                </a:solidFill>
              </a:rPr>
              <a:t>can can hold</a:t>
            </a:r>
            <a:r>
              <a:rPr lang="en-US" altLang="zh-CN" smtClean="0"/>
              <a:t> the water</a:t>
            </a:r>
            <a:endParaRPr lang="en-US" altLang="zh-CN" smtClean="0"/>
          </a:p>
        </p:txBody>
      </p:sp>
      <p:pic>
        <p:nvPicPr>
          <p:cNvPr id="36867" name="Picture 3" descr="3-13"/>
          <p:cNvPicPr>
            <a:picLocks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1188" y="1628775"/>
            <a:ext cx="7777162" cy="504031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smtClean="0">
                <a:solidFill>
                  <a:schemeClr val="accent2"/>
                </a:solidFill>
              </a:rPr>
              <a:t>The large </a:t>
            </a:r>
            <a:r>
              <a:rPr lang="en-US" altLang="zh-CN" smtClean="0">
                <a:solidFill>
                  <a:schemeClr val="accent2"/>
                </a:solidFill>
              </a:rPr>
              <a:t>can can hold the water</a:t>
            </a:r>
            <a:endParaRPr lang="en-US" altLang="zh-CN" smtClean="0">
              <a:solidFill>
                <a:schemeClr val="accent2"/>
              </a:solidFill>
            </a:endParaRPr>
          </a:p>
        </p:txBody>
      </p:sp>
      <p:pic>
        <p:nvPicPr>
          <p:cNvPr id="37891" name="Picture 3" descr="3-14"/>
          <p:cNvPicPr>
            <a:picLocks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3850" y="1557338"/>
            <a:ext cx="8064500" cy="5040312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The final Chart</a:t>
            </a:r>
            <a:endParaRPr lang="en-US" altLang="zh-CN" smtClean="0"/>
          </a:p>
        </p:txBody>
      </p:sp>
      <p:pic>
        <p:nvPicPr>
          <p:cNvPr id="38915" name="Picture 3" descr="3-15"/>
          <p:cNvPicPr>
            <a:picLocks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4213" y="1557338"/>
            <a:ext cx="7704137" cy="4967287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how is agenda organized?</a:t>
            </a:r>
            <a:endParaRPr lang="en-US" altLang="zh-CN" smtClean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as a stack</a:t>
            </a:r>
            <a:endParaRPr lang="en-US" altLang="zh-CN" smtClean="0"/>
          </a:p>
          <a:p>
            <a:pPr eaLnBrk="1" hangingPunct="1"/>
            <a:r>
              <a:rPr lang="en-US" altLang="zh-CN" smtClean="0"/>
              <a:t>as a queue</a:t>
            </a:r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blind parsing</a:t>
            </a:r>
            <a:endParaRPr lang="en-US" altLang="zh-CN" smtClean="0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adding an active arc may be blind and useless</a:t>
            </a:r>
            <a:endParaRPr lang="en-US" altLang="zh-CN" smtClean="0"/>
          </a:p>
          <a:p>
            <a:pPr eaLnBrk="1" hangingPunct="1">
              <a:buFontTx/>
              <a:buNone/>
            </a:pPr>
            <a:r>
              <a:rPr lang="en-US" altLang="zh-CN" smtClean="0"/>
              <a:t>	the large </a:t>
            </a:r>
            <a:r>
              <a:rPr lang="en-US" altLang="zh-CN" smtClean="0">
                <a:solidFill>
                  <a:srgbClr val="FF0000"/>
                </a:solidFill>
              </a:rPr>
              <a:t>can</a:t>
            </a:r>
            <a:r>
              <a:rPr lang="en-US" altLang="zh-CN" smtClean="0"/>
              <a:t> can hold hold the water</a:t>
            </a:r>
            <a:endParaRPr lang="en-US" altLang="zh-CN" smtClean="0"/>
          </a:p>
          <a:p>
            <a:pPr eaLnBrk="1" hangingPunct="1"/>
            <a:r>
              <a:rPr lang="en-US" altLang="zh-CN" smtClean="0"/>
              <a:t>the arc AUX==&gt;.can is added and extended, as are V =&gt;.can; </a:t>
            </a:r>
            <a:endParaRPr lang="en-US" altLang="zh-CN" smtClean="0"/>
          </a:p>
          <a:p>
            <a:pPr eaLnBrk="1" hangingPunct="1">
              <a:buFontTx/>
              <a:buNone/>
            </a:pPr>
            <a:r>
              <a:rPr lang="en-US" altLang="zh-CN" smtClean="0"/>
              <a:t>	Vp=&gt; .AUX VP, VP =&gt;.V NP       ......</a:t>
            </a:r>
            <a:endParaRPr lang="en-US" altLang="zh-CN" smtClean="0"/>
          </a:p>
          <a:p>
            <a:pPr eaLnBrk="1" hangingPunct="1"/>
            <a:r>
              <a:rPr lang="en-US" altLang="zh-CN" smtClean="0"/>
              <a:t>but there is no derivation S==&gt;ARJ ADJ AUX </a:t>
            </a:r>
            <a:r>
              <a:rPr lang="el-GR" altLang="zh-CN" smtClean="0">
                <a:cs typeface="Arial" panose="020B0604020202020204" pitchFamily="34" charset="0"/>
              </a:rPr>
              <a:t>β</a:t>
            </a:r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so a lot of useless constituents are generated, though only once (cf. may be generated many times if backtracking )</a:t>
            </a:r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z="4000" smtClean="0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bottom up charting parsing can be guided by done top-down filtering</a:t>
            </a:r>
            <a:endParaRPr lang="en-US" altLang="zh-CN" smtClean="0"/>
          </a:p>
          <a:p>
            <a:pPr eaLnBrk="1" hangingPunct="1"/>
            <a:r>
              <a:rPr lang="en-US" altLang="zh-CN" smtClean="0"/>
              <a:t>this is called “Earley parsing” because Earkey first described it.</a:t>
            </a:r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Earley </a:t>
            </a:r>
            <a:r>
              <a:rPr lang="zh-CN" altLang="en-US" smtClean="0"/>
              <a:t>分析算法</a:t>
            </a:r>
            <a:endParaRPr lang="zh-CN" altLang="en-US" smtClean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smtClean="0"/>
              <a:t>把自顶向下的预测能力和自底向上的数据驱动结合起来</a:t>
            </a:r>
            <a:r>
              <a:rPr lang="en-US" altLang="zh-CN" sz="2800" smtClean="0"/>
              <a:t>.</a:t>
            </a:r>
            <a:endParaRPr lang="en-US" altLang="zh-CN" sz="2800" smtClean="0"/>
          </a:p>
          <a:p>
            <a:pPr eaLnBrk="1" hangingPunct="1">
              <a:lnSpc>
                <a:spcPct val="90000"/>
              </a:lnSpc>
            </a:pPr>
            <a:endParaRPr lang="en-US" altLang="zh-CN" sz="2800" smtClean="0"/>
          </a:p>
          <a:p>
            <a:pPr eaLnBrk="1" hangingPunct="1"/>
            <a:r>
              <a:rPr lang="zh-CN" altLang="en-US" sz="2800" smtClean="0"/>
              <a:t>只有当活跃弧可以被预测到，才生成。</a:t>
            </a:r>
            <a:endParaRPr lang="en-US" altLang="zh-CN" sz="280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 smtClean="0"/>
              <a:t>implementation of earley parsing as top-down (predicative) chart parser</a:t>
            </a:r>
            <a:endParaRPr lang="en-US" altLang="zh-CN" sz="4000" smtClean="0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sz="2400" smtClean="0"/>
              <a:t>For each non-terminal A, define First(A) = the set of all leftmost non-terminals derivable from A (</a:t>
            </a:r>
            <a:r>
              <a:rPr lang="zh-CN" altLang="en-US" sz="2400" smtClean="0"/>
              <a:t>包括</a:t>
            </a:r>
            <a:r>
              <a:rPr lang="en-US" altLang="zh-CN" sz="2400" smtClean="0"/>
              <a:t>A)</a:t>
            </a:r>
            <a:endParaRPr lang="en-US" altLang="zh-CN" sz="2400" smtClean="0"/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sz="2400" smtClean="0"/>
              <a:t>Compute in advance First(A) for all non-terminals A</a:t>
            </a:r>
            <a:endParaRPr lang="en-US" altLang="zh-CN" sz="2400" smtClean="0"/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sz="2400" smtClean="0"/>
              <a:t>When processing the key C&lt;p</a:t>
            </a:r>
            <a:r>
              <a:rPr lang="en-US" altLang="zh-CN" sz="2400" baseline="-25000" smtClean="0"/>
              <a:t>j</a:t>
            </a:r>
            <a:r>
              <a:rPr lang="en-US" altLang="zh-CN" sz="2400" smtClean="0"/>
              <a:t>,p</a:t>
            </a:r>
            <a:r>
              <a:rPr lang="en-US" altLang="zh-CN" sz="2400" baseline="-25000" smtClean="0"/>
              <a:t>k</a:t>
            </a:r>
            <a:r>
              <a:rPr lang="en-US" altLang="zh-CN" sz="2400" smtClean="0"/>
              <a:t>&gt; we look for grammar rules that form an active arc A </a:t>
            </a:r>
            <a:r>
              <a:rPr lang="en-US" altLang="zh-CN" sz="2400" smtClean="0">
                <a:sym typeface="Symbol" panose="05050102010706020507" pitchFamily="18" charset="2"/>
              </a:rPr>
              <a:t></a:t>
            </a:r>
            <a:r>
              <a:rPr lang="en-US" altLang="zh-CN" sz="2400" smtClean="0"/>
              <a:t> </a:t>
            </a:r>
            <a:r>
              <a:rPr lang="en-US" altLang="zh-CN" sz="2400" smtClean="0">
                <a:sym typeface="Symbol" panose="05050102010706020507" pitchFamily="18" charset="2"/>
              </a:rPr>
              <a:t></a:t>
            </a:r>
            <a:r>
              <a:rPr lang="en-US" altLang="zh-CN" sz="2400" smtClean="0"/>
              <a:t>C X</a:t>
            </a:r>
            <a:r>
              <a:rPr lang="en-US" altLang="zh-CN" sz="2400" baseline="-25000" smtClean="0"/>
              <a:t>2</a:t>
            </a:r>
            <a:r>
              <a:rPr lang="en-US" altLang="zh-CN" sz="2400" smtClean="0"/>
              <a:t>…X</a:t>
            </a:r>
            <a:r>
              <a:rPr lang="en-US" altLang="zh-CN" sz="2400" baseline="-25000" smtClean="0"/>
              <a:t>m</a:t>
            </a:r>
            <a:r>
              <a:rPr lang="en-US" altLang="zh-CN" sz="2400" smtClean="0"/>
              <a:t>&lt; p</a:t>
            </a:r>
            <a:r>
              <a:rPr lang="en-US" altLang="zh-CN" sz="2400" baseline="-25000" smtClean="0"/>
              <a:t>j</a:t>
            </a:r>
            <a:r>
              <a:rPr lang="en-US" altLang="zh-CN" sz="2400" smtClean="0"/>
              <a:t> ,p</a:t>
            </a:r>
            <a:r>
              <a:rPr lang="en-US" altLang="zh-CN" sz="2400" baseline="-25000" smtClean="0"/>
              <a:t>j</a:t>
            </a:r>
            <a:r>
              <a:rPr lang="en-US" altLang="zh-CN" sz="2400" smtClean="0"/>
              <a:t>&gt;</a:t>
            </a:r>
            <a:endParaRPr lang="en-US" altLang="zh-CN" sz="2400" smtClean="0"/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sz="2400" smtClean="0"/>
              <a:t>Add the active arc </a:t>
            </a:r>
            <a:r>
              <a:rPr lang="en-US" altLang="zh-CN" sz="2400" i="1" smtClean="0"/>
              <a:t>only </a:t>
            </a:r>
            <a:r>
              <a:rPr lang="en-US" altLang="zh-CN" sz="2400" smtClean="0"/>
              <a:t>if A is </a:t>
            </a:r>
            <a:r>
              <a:rPr lang="en-US" altLang="zh-CN" sz="2400" i="1" smtClean="0"/>
              <a:t>predicted</a:t>
            </a:r>
            <a:r>
              <a:rPr lang="en-US" altLang="zh-CN" sz="2400" smtClean="0"/>
              <a:t>: there already exists an active arc B </a:t>
            </a:r>
            <a:r>
              <a:rPr lang="en-US" altLang="zh-CN" sz="2400" smtClean="0">
                <a:sym typeface="Symbol" panose="05050102010706020507" pitchFamily="18" charset="2"/>
              </a:rPr>
              <a:t></a:t>
            </a:r>
            <a:r>
              <a:rPr lang="en-US" altLang="zh-CN" sz="2400" smtClean="0"/>
              <a:t> X</a:t>
            </a:r>
            <a:r>
              <a:rPr lang="en-US" altLang="zh-CN" sz="2400" baseline="-25000" smtClean="0"/>
              <a:t>1</a:t>
            </a:r>
            <a:r>
              <a:rPr lang="en-US" altLang="zh-CN" sz="2400" smtClean="0"/>
              <a:t>…</a:t>
            </a:r>
            <a:r>
              <a:rPr lang="en-US" altLang="zh-CN" sz="2400" smtClean="0">
                <a:sym typeface="Symbol" panose="05050102010706020507" pitchFamily="18" charset="2"/>
              </a:rPr>
              <a:t></a:t>
            </a:r>
            <a:r>
              <a:rPr lang="en-US" altLang="zh-CN" sz="2400" smtClean="0"/>
              <a:t>D…X</a:t>
            </a:r>
            <a:r>
              <a:rPr lang="en-US" altLang="zh-CN" sz="2400" baseline="-25000" smtClean="0"/>
              <a:t>m</a:t>
            </a:r>
            <a:r>
              <a:rPr lang="en-US" altLang="zh-CN" sz="2400" smtClean="0"/>
              <a:t>&lt;p</a:t>
            </a:r>
            <a:r>
              <a:rPr lang="en-US" altLang="zh-CN" sz="2400" baseline="-25000" smtClean="0"/>
              <a:t>k</a:t>
            </a:r>
            <a:r>
              <a:rPr lang="en-US" altLang="zh-CN" sz="2400" smtClean="0"/>
              <a:t> , p</a:t>
            </a:r>
            <a:r>
              <a:rPr lang="en-US" altLang="zh-CN" sz="2400" baseline="-25000" smtClean="0"/>
              <a:t>j</a:t>
            </a:r>
            <a:r>
              <a:rPr lang="en-US" altLang="zh-CN" sz="2400" smtClean="0"/>
              <a:t>&gt; such that A </a:t>
            </a:r>
            <a:r>
              <a:rPr lang="en-US" altLang="zh-CN" sz="2400" smtClean="0">
                <a:sym typeface="Symbol" panose="05050102010706020507" pitchFamily="18" charset="2"/>
              </a:rPr>
              <a:t></a:t>
            </a:r>
            <a:r>
              <a:rPr lang="en-US" altLang="zh-CN" sz="2400" smtClean="0"/>
              <a:t> First(D)</a:t>
            </a:r>
            <a:endParaRPr lang="en-US" altLang="zh-CN" sz="2400" smtClean="0"/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zh-CN" altLang="en-US" sz="2400" smtClean="0"/>
              <a:t>初始活跃弧</a:t>
            </a:r>
            <a:r>
              <a:rPr lang="en-US" altLang="zh-CN" sz="2400" smtClean="0"/>
              <a:t>: arcs of the form A </a:t>
            </a:r>
            <a:r>
              <a:rPr lang="en-US" altLang="zh-CN" sz="2400" smtClean="0">
                <a:sym typeface="Symbol" panose="05050102010706020507" pitchFamily="18" charset="2"/>
              </a:rPr>
              <a:t> </a:t>
            </a:r>
            <a:r>
              <a:rPr lang="en-US" altLang="zh-CN" sz="2400" smtClean="0"/>
              <a:t> C X</a:t>
            </a:r>
            <a:r>
              <a:rPr lang="en-US" altLang="zh-CN" sz="2400" baseline="-25000" smtClean="0"/>
              <a:t>2</a:t>
            </a:r>
            <a:r>
              <a:rPr lang="en-US" altLang="zh-CN" sz="2400" smtClean="0">
                <a:latin typeface="Times New Roman" panose="02020603050405020304" pitchFamily="18" charset="0"/>
              </a:rPr>
              <a:t>…</a:t>
            </a:r>
            <a:r>
              <a:rPr lang="en-US" altLang="zh-CN" sz="2400" smtClean="0"/>
              <a:t>X</a:t>
            </a:r>
            <a:r>
              <a:rPr lang="en-US" altLang="zh-CN" sz="2400" baseline="-25000" smtClean="0"/>
              <a:t>m</a:t>
            </a:r>
            <a:r>
              <a:rPr lang="en-US" altLang="zh-CN" sz="2400" smtClean="0"/>
              <a:t>&lt;1,1&gt;,  A </a:t>
            </a:r>
            <a:r>
              <a:rPr lang="en-US" altLang="zh-CN" sz="2400" smtClean="0">
                <a:sym typeface="Symbol" panose="05050102010706020507" pitchFamily="18" charset="2"/>
              </a:rPr>
              <a:t></a:t>
            </a:r>
            <a:r>
              <a:rPr lang="en-US" altLang="zh-CN" sz="2400" smtClean="0"/>
              <a:t> First(S)</a:t>
            </a:r>
            <a:endParaRPr lang="en-US" altLang="zh-CN" sz="2400" smtClean="0"/>
          </a:p>
          <a:p>
            <a:pPr eaLnBrk="1" hangingPunct="1">
              <a:lnSpc>
                <a:spcPct val="90000"/>
              </a:lnSpc>
            </a:pPr>
            <a:endParaRPr lang="en-US" altLang="zh-CN" sz="280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 b="1" i="1" smtClean="0"/>
              <a:t>Earley chart Parser - Example</a:t>
            </a:r>
            <a:endParaRPr lang="en-US" altLang="zh-CN" sz="4000" i="1" smtClean="0"/>
          </a:p>
        </p:txBody>
      </p:sp>
      <p:pic>
        <p:nvPicPr>
          <p:cNvPr id="46083" name="Picture 3" descr="3-24"/>
          <p:cNvPicPr>
            <a:picLocks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4213" y="1628775"/>
            <a:ext cx="7559675" cy="504031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smtClean="0">
                <a:solidFill>
                  <a:schemeClr val="accent2"/>
                </a:solidFill>
              </a:rPr>
              <a:t>The large </a:t>
            </a:r>
            <a:r>
              <a:rPr lang="en-US" altLang="zh-CN" smtClean="0">
                <a:solidFill>
                  <a:schemeClr val="accent2"/>
                </a:solidFill>
              </a:rPr>
              <a:t>can can hold </a:t>
            </a:r>
            <a:r>
              <a:rPr lang="en-US" altLang="zh-CN" smtClean="0">
                <a:solidFill>
                  <a:schemeClr val="tx1"/>
                </a:solidFill>
              </a:rPr>
              <a:t>the water</a:t>
            </a:r>
            <a:endParaRPr lang="en-US" altLang="zh-CN" smtClean="0">
              <a:solidFill>
                <a:schemeClr val="tx1"/>
              </a:solidFill>
            </a:endParaRPr>
          </a:p>
        </p:txBody>
      </p:sp>
      <p:pic>
        <p:nvPicPr>
          <p:cNvPr id="47107" name="Picture 3" descr="3-25"/>
          <p:cNvPicPr>
            <a:picLocks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1188" y="1557338"/>
            <a:ext cx="7705725" cy="5111750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smtClean="0">
                <a:solidFill>
                  <a:schemeClr val="accent2"/>
                </a:solidFill>
              </a:rPr>
              <a:t>The large </a:t>
            </a:r>
            <a:r>
              <a:rPr lang="en-US" altLang="zh-CN" smtClean="0">
                <a:solidFill>
                  <a:schemeClr val="accent2"/>
                </a:solidFill>
              </a:rPr>
              <a:t>can can hold the water</a:t>
            </a:r>
            <a:endParaRPr lang="en-US" altLang="zh-CN" smtClean="0">
              <a:solidFill>
                <a:schemeClr val="accent2"/>
              </a:solidFill>
            </a:endParaRPr>
          </a:p>
        </p:txBody>
      </p:sp>
      <p:pic>
        <p:nvPicPr>
          <p:cNvPr id="48131" name="Picture 3" descr="3-26"/>
          <p:cNvPicPr>
            <a:picLocks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7848600" cy="4321175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Earley</a:t>
            </a:r>
            <a:r>
              <a:rPr lang="zh-CN" altLang="en-US" smtClean="0"/>
              <a:t>算法优点</a:t>
            </a:r>
            <a:endParaRPr lang="zh-CN" altLang="en-US" smtClean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自顶向下预测，同时自底向上匹配单词，效率很高，与</a:t>
            </a:r>
            <a:r>
              <a:rPr lang="en-US" altLang="zh-CN" smtClean="0"/>
              <a:t>LR(1)</a:t>
            </a:r>
            <a:r>
              <a:rPr lang="zh-CN" altLang="en-US" smtClean="0"/>
              <a:t>相比，一样具有有效前缀性质，但是没有预计算功能</a:t>
            </a:r>
            <a:r>
              <a:rPr lang="en-US" altLang="zh-CN" smtClean="0"/>
              <a:t>(</a:t>
            </a:r>
            <a:r>
              <a:rPr lang="zh-CN" altLang="en-US" smtClean="0"/>
              <a:t>非表驱动</a:t>
            </a:r>
            <a:r>
              <a:rPr lang="en-US" altLang="zh-CN" smtClean="0"/>
              <a:t>)</a:t>
            </a:r>
            <a:endParaRPr lang="zh-CN" altLang="en-US" smtClean="0"/>
          </a:p>
          <a:p>
            <a:pPr eaLnBrk="1" hangingPunct="1"/>
            <a:r>
              <a:rPr lang="en-US" altLang="zh-CN" smtClean="0"/>
              <a:t>Earley</a:t>
            </a:r>
            <a:r>
              <a:rPr lang="zh-CN" altLang="en-US" smtClean="0"/>
              <a:t>算法可以对任意</a:t>
            </a:r>
            <a:r>
              <a:rPr lang="en-US" altLang="zh-CN" smtClean="0"/>
              <a:t>CFG</a:t>
            </a:r>
            <a:r>
              <a:rPr lang="zh-CN" altLang="en-US" smtClean="0"/>
              <a:t>进行分析，但是</a:t>
            </a:r>
            <a:r>
              <a:rPr lang="en-US" altLang="zh-CN" smtClean="0"/>
              <a:t>LR</a:t>
            </a:r>
            <a:r>
              <a:rPr lang="zh-CN" altLang="en-US" smtClean="0"/>
              <a:t>处理的只是</a:t>
            </a:r>
            <a:r>
              <a:rPr lang="en-US" altLang="zh-CN" smtClean="0"/>
              <a:t>LR(k)</a:t>
            </a:r>
            <a:r>
              <a:rPr lang="zh-CN" altLang="en-US" smtClean="0"/>
              <a:t>文法</a:t>
            </a:r>
            <a:endParaRPr lang="zh-CN" altLang="en-US" smtClean="0"/>
          </a:p>
          <a:p>
            <a:pPr eaLnBrk="1" hangingPunct="1"/>
            <a:endParaRPr lang="zh-CN" altLang="en-US" smtClean="0"/>
          </a:p>
          <a:p>
            <a:pPr eaLnBrk="1" hangingPunct="1"/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用</a:t>
            </a:r>
            <a:r>
              <a:rPr lang="en-US" altLang="zh-CN" smtClean="0"/>
              <a:t>nltk</a:t>
            </a:r>
            <a:r>
              <a:rPr lang="zh-CN" altLang="en-US" smtClean="0"/>
              <a:t>做</a:t>
            </a:r>
            <a:r>
              <a:rPr lang="en-US" altLang="zh-CN" smtClean="0"/>
              <a:t>chart parsing</a:t>
            </a:r>
            <a:endParaRPr lang="zh-CN" altLang="en-US" smtClean="0"/>
          </a:p>
        </p:txBody>
      </p:sp>
      <p:sp>
        <p:nvSpPr>
          <p:cNvPr id="5017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mtClean="0"/>
              <a:t>CFG</a:t>
            </a:r>
            <a:r>
              <a:rPr lang="zh-CN" altLang="en-US" smtClean="0"/>
              <a:t>的表示</a:t>
            </a:r>
            <a:endParaRPr lang="en-US" altLang="zh-CN" smtClean="0"/>
          </a:p>
          <a:p>
            <a:pPr lvl="3"/>
            <a:r>
              <a:rPr lang="en-US" altLang="zh-CN" smtClean="0"/>
              <a:t>Import nltk</a:t>
            </a:r>
            <a:endParaRPr lang="en-US" altLang="zh-CN" smtClean="0"/>
          </a:p>
          <a:p>
            <a:pPr lvl="3"/>
            <a:r>
              <a:rPr lang="en-US" altLang="zh-CN" smtClean="0"/>
              <a:t>grammar = nltk.CFG.fromstring(""" </a:t>
            </a:r>
            <a:endParaRPr lang="en-US" altLang="zh-CN" smtClean="0"/>
          </a:p>
          <a:p>
            <a:pPr lvl="4"/>
            <a:r>
              <a:rPr lang="en-US" altLang="zh-CN" smtClean="0"/>
              <a:t>S -&gt; NP VP </a:t>
            </a:r>
            <a:endParaRPr lang="en-US" altLang="zh-CN" smtClean="0"/>
          </a:p>
          <a:p>
            <a:pPr lvl="4"/>
            <a:r>
              <a:rPr lang="en-US" altLang="zh-CN" smtClean="0"/>
              <a:t>NP -&gt; ART ADJ N | ART N | ADJ N </a:t>
            </a:r>
            <a:endParaRPr lang="en-US" altLang="zh-CN" smtClean="0"/>
          </a:p>
          <a:p>
            <a:pPr lvl="4"/>
            <a:r>
              <a:rPr lang="en-US" altLang="zh-CN" smtClean="0"/>
              <a:t>VP -&gt; AUX VP | V NP </a:t>
            </a:r>
            <a:endParaRPr lang="en-US" altLang="zh-CN" smtClean="0"/>
          </a:p>
          <a:p>
            <a:pPr lvl="4"/>
            <a:r>
              <a:rPr lang="en-US" altLang="zh-CN" smtClean="0"/>
              <a:t>ART -&gt; 'the' </a:t>
            </a:r>
            <a:endParaRPr lang="en-US" altLang="zh-CN" smtClean="0"/>
          </a:p>
          <a:p>
            <a:pPr lvl="4"/>
            <a:r>
              <a:rPr lang="en-US" altLang="zh-CN" smtClean="0"/>
              <a:t>ADJ -&gt; 'large' </a:t>
            </a:r>
            <a:endParaRPr lang="en-US" altLang="zh-CN" smtClean="0"/>
          </a:p>
          <a:p>
            <a:pPr lvl="4"/>
            <a:r>
              <a:rPr lang="en-US" altLang="zh-CN" smtClean="0"/>
              <a:t>N -&gt; 'can' | 'hold' | 'water' </a:t>
            </a:r>
            <a:endParaRPr lang="en-US" altLang="zh-CN" smtClean="0"/>
          </a:p>
          <a:p>
            <a:pPr lvl="4"/>
            <a:r>
              <a:rPr lang="en-US" altLang="zh-CN" smtClean="0"/>
              <a:t>AUX -&gt; 'can' </a:t>
            </a:r>
            <a:endParaRPr lang="en-US" altLang="zh-CN" smtClean="0"/>
          </a:p>
          <a:p>
            <a:pPr lvl="4"/>
            <a:r>
              <a:rPr lang="en-US" altLang="zh-CN" smtClean="0"/>
              <a:t>V -&gt; 'can' | 'hold' | 'water' </a:t>
            </a:r>
            <a:endParaRPr lang="en-US" altLang="zh-CN" smtClean="0"/>
          </a:p>
          <a:p>
            <a:pPr lvl="4"/>
            <a:r>
              <a:rPr lang="en-US" altLang="zh-CN" smtClean="0"/>
              <a:t>""") </a:t>
            </a:r>
            <a:endParaRPr lang="en-US" altLang="zh-CN" smtClean="0"/>
          </a:p>
          <a:p>
            <a:pPr lvl="3"/>
            <a:r>
              <a:rPr lang="en-US" altLang="zh-CN" smtClean="0"/>
              <a:t>tokens = ['the', 'large', 'can', 'can', 'hold', 'the', 'water']</a:t>
            </a:r>
            <a:endParaRPr lang="zh-CN" altLang="en-US" smtClean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2800" dirty="0" smtClean="0"/>
              <a:t>parser = </a:t>
            </a:r>
            <a:r>
              <a:rPr lang="en-US" altLang="zh-CN" sz="2800" dirty="0" err="1" smtClean="0"/>
              <a:t>nltk.ChartParser</a:t>
            </a:r>
            <a:r>
              <a:rPr lang="en-US" altLang="zh-CN" sz="2800" dirty="0" smtClean="0"/>
              <a:t>(grammar, trace=1)</a:t>
            </a:r>
            <a:endParaRPr lang="en-US" altLang="zh-CN" sz="2800" dirty="0" smtClean="0"/>
          </a:p>
          <a:p>
            <a:pPr>
              <a:defRPr/>
            </a:pPr>
            <a:r>
              <a:rPr lang="en-US" altLang="zh-CN" sz="2800" dirty="0" smtClean="0"/>
              <a:t>for tree in </a:t>
            </a:r>
            <a:r>
              <a:rPr lang="en-US" altLang="zh-CN" sz="2800" dirty="0" err="1" smtClean="0"/>
              <a:t>parser.parse</a:t>
            </a:r>
            <a:r>
              <a:rPr lang="en-US" altLang="zh-CN" sz="2800" dirty="0" smtClean="0"/>
              <a:t>(tokens):</a:t>
            </a:r>
            <a:endParaRPr lang="en-US" altLang="zh-CN" sz="2800" dirty="0" smtClean="0"/>
          </a:p>
          <a:p>
            <a:pPr>
              <a:defRPr/>
            </a:pPr>
            <a:r>
              <a:rPr lang="en-US" altLang="zh-CN" sz="2800" dirty="0" smtClean="0"/>
              <a:t>    print(tree)</a:t>
            </a:r>
            <a:endParaRPr lang="en-US" altLang="zh-CN" sz="2800" dirty="0" smtClean="0"/>
          </a:p>
          <a:p>
            <a:pPr>
              <a:defRPr/>
            </a:pPr>
            <a:r>
              <a:rPr lang="en-US" altLang="zh-CN" sz="2800" dirty="0" smtClean="0"/>
              <a:t>    </a:t>
            </a:r>
            <a:r>
              <a:rPr lang="en-US" altLang="zh-CN" sz="2800" dirty="0" err="1" smtClean="0"/>
              <a:t>tree.draw</a:t>
            </a:r>
            <a:r>
              <a:rPr lang="en-US" altLang="zh-CN" sz="2800" dirty="0" smtClean="0"/>
              <a:t>()</a:t>
            </a:r>
            <a:endParaRPr lang="en-US" altLang="zh-CN" sz="2800" dirty="0" smtClean="0"/>
          </a:p>
          <a:p>
            <a:pPr>
              <a:defRPr/>
            </a:pPr>
            <a:endParaRPr lang="en-US" altLang="zh-CN" sz="2800" dirty="0" smtClean="0"/>
          </a:p>
          <a:p>
            <a:pPr marL="0" indent="0">
              <a:buFontTx/>
              <a:buNone/>
              <a:defRPr/>
            </a:pPr>
            <a:r>
              <a:rPr lang="en-US" altLang="zh-CN" sz="2800" dirty="0" smtClean="0"/>
              <a:t>(S</a:t>
            </a:r>
            <a:endParaRPr lang="en-US" altLang="zh-CN" sz="2800" dirty="0" smtClean="0"/>
          </a:p>
          <a:p>
            <a:pPr marL="0" indent="0">
              <a:buFontTx/>
              <a:buNone/>
              <a:defRPr/>
            </a:pPr>
            <a:r>
              <a:rPr lang="en-US" altLang="zh-CN" sz="2800" dirty="0" smtClean="0"/>
              <a:t>  (NP (ART the) (ADJ large) (N can))</a:t>
            </a:r>
            <a:endParaRPr lang="en-US" altLang="zh-CN" sz="2800" dirty="0" smtClean="0"/>
          </a:p>
          <a:p>
            <a:pPr marL="0" indent="0">
              <a:buFontTx/>
              <a:buNone/>
              <a:defRPr/>
            </a:pPr>
            <a:r>
              <a:rPr lang="en-US" altLang="zh-CN" sz="2800" dirty="0" smtClean="0"/>
              <a:t>  (VP (AUX can) (VP (V hold) (NP (ART the) (N water)))))</a:t>
            </a:r>
            <a:endParaRPr lang="en-US" altLang="zh-CN" sz="2800" dirty="0" smtClean="0"/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smtClean="0"/>
          </a:p>
        </p:txBody>
      </p:sp>
      <p:sp>
        <p:nvSpPr>
          <p:cNvPr id="5222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smtClean="0"/>
          </a:p>
          <a:p>
            <a:endParaRPr lang="en-US" altLang="zh-CN" smtClean="0"/>
          </a:p>
          <a:p>
            <a:endParaRPr lang="en-US" altLang="zh-CN" smtClean="0"/>
          </a:p>
          <a:p>
            <a:endParaRPr lang="en-US" altLang="zh-CN" smtClean="0"/>
          </a:p>
          <a:p>
            <a:endParaRPr lang="en-US" altLang="zh-CN" smtClean="0"/>
          </a:p>
          <a:p>
            <a:endParaRPr lang="en-US" altLang="zh-CN" smtClean="0"/>
          </a:p>
          <a:p>
            <a:r>
              <a:rPr lang="en-US" altLang="zh-CN" sz="2800" smtClean="0"/>
              <a:t>nltk</a:t>
            </a:r>
            <a:r>
              <a:rPr lang="zh-CN" altLang="en-US" sz="2800" smtClean="0"/>
              <a:t>中实现了多种</a:t>
            </a:r>
            <a:r>
              <a:rPr lang="en-US" altLang="zh-CN" sz="2800" smtClean="0"/>
              <a:t>chartparser</a:t>
            </a:r>
            <a:r>
              <a:rPr lang="zh-CN" altLang="en-US" sz="2800" smtClean="0"/>
              <a:t>类，包括</a:t>
            </a:r>
            <a:r>
              <a:rPr lang="en-US" altLang="zh-CN" sz="2800" smtClean="0"/>
              <a:t>TopDownChartParser, BottomUpChartParser, EarleyChartParser</a:t>
            </a:r>
            <a:r>
              <a:rPr lang="zh-CN" altLang="en-US" sz="2800" smtClean="0"/>
              <a:t>等</a:t>
            </a:r>
            <a:endParaRPr lang="zh-CN" altLang="en-US" sz="2800" smtClean="0"/>
          </a:p>
        </p:txBody>
      </p:sp>
      <p:pic>
        <p:nvPicPr>
          <p:cNvPr id="52228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438" y="1412875"/>
            <a:ext cx="3933825" cy="325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作业</a:t>
            </a:r>
            <a:endParaRPr lang="zh-CN" altLang="en-US" smtClean="0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熟悉</a:t>
            </a:r>
            <a:r>
              <a:rPr lang="en-US" altLang="zh-CN" smtClean="0"/>
              <a:t>nltk</a:t>
            </a:r>
            <a:r>
              <a:rPr lang="zh-CN" altLang="en-US" smtClean="0"/>
              <a:t>中的</a:t>
            </a:r>
            <a:r>
              <a:rPr lang="en-US" altLang="zh-CN" smtClean="0"/>
              <a:t>chartparser</a:t>
            </a:r>
            <a:r>
              <a:rPr lang="zh-CN" altLang="en-US" smtClean="0"/>
              <a:t>。多用些文法及其例子试试。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下载我写的一个</a:t>
            </a:r>
            <a:r>
              <a:rPr lang="en-US" altLang="zh-CN" smtClean="0"/>
              <a:t>chart parser. </a:t>
            </a:r>
            <a:r>
              <a:rPr lang="zh-CN" altLang="en-US" smtClean="0"/>
              <a:t>能否自己实现一个？</a:t>
            </a:r>
            <a:endParaRPr lang="en-US" altLang="zh-CN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r>
              <a:rPr lang="zh-CN" altLang="en-US" smtClean="0"/>
              <a:t>   </a:t>
            </a:r>
            <a:endParaRPr lang="zh-CN" alt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zh-CN" smtClean="0"/>
              <a:t>Probabilistic CFG</a:t>
            </a:r>
            <a:endParaRPr lang="en-GB" altLang="zh-CN" smtClean="0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Probabilistic/Stochastic CFG (PCFG or SCFG)</a:t>
            </a:r>
            <a:endParaRPr lang="en-US" altLang="zh-CN" smtClean="0"/>
          </a:p>
          <a:p>
            <a:pPr eaLnBrk="1" hangingPunct="1"/>
            <a:r>
              <a:rPr lang="en-US" altLang="zh-CN" smtClean="0"/>
              <a:t>PCFG has extra parameter (</a:t>
            </a:r>
            <a:r>
              <a:rPr lang="en-US" altLang="zh-CN" i="1" smtClean="0"/>
              <a:t>N; </a:t>
            </a:r>
            <a:r>
              <a:rPr lang="en-US" altLang="zh-CN" i="1" smtClean="0">
                <a:cs typeface="Times New Roman" panose="02020603050405020304" pitchFamily="18" charset="0"/>
              </a:rPr>
              <a:t>T</a:t>
            </a:r>
            <a:r>
              <a:rPr lang="en-US" altLang="zh-CN" i="1" smtClean="0"/>
              <a:t>; P; S; D</a:t>
            </a:r>
            <a:r>
              <a:rPr lang="en-US" altLang="zh-CN" smtClean="0"/>
              <a:t>) </a:t>
            </a:r>
            <a:endParaRPr lang="en-US" altLang="zh-CN" smtClean="0"/>
          </a:p>
          <a:p>
            <a:pPr eaLnBrk="1" hangingPunct="1"/>
            <a:r>
              <a:rPr lang="en-US" altLang="zh-CN" i="1" smtClean="0"/>
              <a:t>D</a:t>
            </a:r>
            <a:r>
              <a:rPr lang="en-US" altLang="zh-CN" smtClean="0"/>
              <a:t>:  function that assigns probabilities to each rule in P </a:t>
            </a:r>
            <a:endParaRPr lang="en-US" altLang="zh-CN" smtClean="0"/>
          </a:p>
          <a:p>
            <a:pPr lvl="1" eaLnBrk="1" hangingPunct="1">
              <a:buFontTx/>
              <a:buNone/>
            </a:pPr>
            <a:r>
              <a:rPr lang="en-US" altLang="zh-CN" i="1" smtClean="0"/>
              <a:t>	A</a:t>
            </a:r>
            <a:r>
              <a:rPr lang="en-US" altLang="zh-CN" smtClean="0"/>
              <a:t> </a:t>
            </a:r>
            <a:r>
              <a:rPr lang="en-US" altLang="zh-CN" smtClean="0">
                <a:sym typeface="Symbol" panose="05050102010706020507" pitchFamily="18" charset="2"/>
              </a:rPr>
              <a:t> </a:t>
            </a:r>
            <a:r>
              <a:rPr lang="en-US" altLang="zh-CN" i="1" smtClean="0">
                <a:sym typeface="Symbol" panose="05050102010706020507" pitchFamily="18" charset="2"/>
              </a:rPr>
              <a:t></a:t>
            </a:r>
            <a:r>
              <a:rPr lang="en-US" altLang="zh-CN" smtClean="0"/>
              <a:t>		[</a:t>
            </a:r>
            <a:r>
              <a:rPr lang="en-US" altLang="zh-CN" i="1" smtClean="0"/>
              <a:t>p</a:t>
            </a:r>
            <a:r>
              <a:rPr lang="en-US" altLang="zh-CN" smtClean="0"/>
              <a:t>] </a:t>
            </a:r>
            <a:endParaRPr lang="en-US" altLang="zh-CN" smtClean="0"/>
          </a:p>
          <a:p>
            <a:pPr lvl="1" eaLnBrk="1" hangingPunct="1">
              <a:buFontTx/>
              <a:buNone/>
            </a:pPr>
            <a:r>
              <a:rPr lang="en-US" altLang="zh-CN" i="1" smtClean="0"/>
              <a:t>	p</a:t>
            </a:r>
            <a:r>
              <a:rPr lang="en-US" altLang="zh-CN" smtClean="0"/>
              <a:t> </a:t>
            </a:r>
            <a:r>
              <a:rPr lang="zh-CN" altLang="en-US" smtClean="0"/>
              <a:t>是</a:t>
            </a:r>
            <a:r>
              <a:rPr lang="en-US" altLang="zh-CN" smtClean="0"/>
              <a:t> (</a:t>
            </a:r>
            <a:r>
              <a:rPr lang="en-US" altLang="zh-CN" i="1" smtClean="0"/>
              <a:t>A</a:t>
            </a:r>
            <a:r>
              <a:rPr lang="en-US" altLang="zh-CN" smtClean="0"/>
              <a:t> </a:t>
            </a:r>
            <a:r>
              <a:rPr lang="en-US" altLang="zh-CN" smtClean="0">
                <a:sym typeface="Symbol" panose="05050102010706020507" pitchFamily="18" charset="2"/>
              </a:rPr>
              <a:t> </a:t>
            </a:r>
            <a:r>
              <a:rPr lang="en-US" altLang="zh-CN" i="1" smtClean="0">
                <a:sym typeface="Symbol" panose="05050102010706020507" pitchFamily="18" charset="2"/>
              </a:rPr>
              <a:t></a:t>
            </a:r>
            <a:r>
              <a:rPr lang="en-US" altLang="zh-CN" smtClean="0"/>
              <a:t>) </a:t>
            </a:r>
            <a:r>
              <a:rPr lang="zh-CN" altLang="en-US" smtClean="0"/>
              <a:t>的概率</a:t>
            </a:r>
            <a:endParaRPr lang="zh-CN" altLang="en-US" smtClean="0"/>
          </a:p>
          <a:p>
            <a:pPr eaLnBrk="1" hangingPunct="1"/>
            <a:r>
              <a:rPr lang="en-US" altLang="zh-CN" smtClean="0"/>
              <a:t>Note that </a:t>
            </a:r>
            <a:r>
              <a:rPr lang="en-US" altLang="zh-CN" i="1" smtClean="0"/>
              <a:t>p</a:t>
            </a:r>
            <a:r>
              <a:rPr lang="en-US" altLang="zh-CN" smtClean="0"/>
              <a:t> for all expansions of a nonterminal A must sum to 1 </a:t>
            </a:r>
            <a:endParaRPr lang="en-GB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zh-CN" smtClean="0"/>
              <a:t>Use of PCFG</a:t>
            </a:r>
            <a:endParaRPr lang="en-GB" altLang="zh-CN" smtClean="0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1131888"/>
          </a:xfrm>
        </p:spPr>
        <p:txBody>
          <a:bodyPr/>
          <a:lstStyle/>
          <a:p>
            <a:pPr eaLnBrk="1" hangingPunct="1"/>
            <a:r>
              <a:rPr lang="en-IE" altLang="zh-CN" sz="2800" smtClean="0"/>
              <a:t>We use probabilities to disambiguate parses</a:t>
            </a:r>
            <a:endParaRPr lang="en-IE" altLang="zh-CN" sz="2800" smtClean="0"/>
          </a:p>
          <a:p>
            <a:pPr eaLnBrk="1" hangingPunct="1"/>
            <a:r>
              <a:rPr lang="en-US" altLang="zh-CN" sz="2800" smtClean="0"/>
              <a:t>Choose most likely parse from multiple parses </a:t>
            </a:r>
            <a:endParaRPr lang="en-US" altLang="zh-CN" sz="2800" smtClean="0"/>
          </a:p>
        </p:txBody>
      </p:sp>
      <p:graphicFrame>
        <p:nvGraphicFramePr>
          <p:cNvPr id="56324" name="Object 4"/>
          <p:cNvGraphicFramePr>
            <a:graphicFrameLocks noChangeAspect="1"/>
          </p:cNvGraphicFramePr>
          <p:nvPr/>
        </p:nvGraphicFramePr>
        <p:xfrm>
          <a:off x="1219200" y="2514600"/>
          <a:ext cx="5943600" cy="346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6" name="Equation" r:id="rId1" imgW="2768600" imgH="1612900" progId="Equation.3">
                  <p:embed/>
                </p:oleObj>
              </mc:Choice>
              <mc:Fallback>
                <p:oleObj name="Equation" r:id="rId1" imgW="2768600" imgH="1612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514600"/>
                        <a:ext cx="5943600" cy="3462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i="1" smtClean="0"/>
              <a:t>P</a:t>
            </a:r>
            <a:r>
              <a:rPr lang="en-US" altLang="zh-CN" smtClean="0"/>
              <a:t>(</a:t>
            </a:r>
            <a:r>
              <a:rPr lang="en-US" altLang="zh-CN" i="1" smtClean="0"/>
              <a:t>T</a:t>
            </a:r>
            <a:r>
              <a:rPr lang="en-US" altLang="zh-CN" smtClean="0"/>
              <a:t>,</a:t>
            </a:r>
            <a:r>
              <a:rPr lang="en-US" altLang="zh-CN" i="1" smtClean="0"/>
              <a:t>S</a:t>
            </a:r>
            <a:r>
              <a:rPr lang="en-US" altLang="zh-CN" smtClean="0"/>
              <a:t>)</a:t>
            </a:r>
            <a:endParaRPr lang="en-GB" altLang="zh-CN" smtClean="0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1131888"/>
          </a:xfrm>
        </p:spPr>
        <p:txBody>
          <a:bodyPr/>
          <a:lstStyle/>
          <a:p>
            <a:pPr eaLnBrk="1" hangingPunct="1"/>
            <a:r>
              <a:rPr lang="en-US" altLang="zh-CN" sz="2800" i="1" smtClean="0"/>
              <a:t>n</a:t>
            </a:r>
            <a:r>
              <a:rPr lang="en-US" altLang="zh-CN" sz="2800" smtClean="0"/>
              <a:t> is a node in parse tree </a:t>
            </a:r>
            <a:endParaRPr lang="en-US" altLang="zh-CN" sz="2800" smtClean="0"/>
          </a:p>
          <a:p>
            <a:pPr eaLnBrk="1" hangingPunct="1"/>
            <a:r>
              <a:rPr lang="en-US" altLang="zh-CN" sz="2800" i="1" smtClean="0"/>
              <a:t>r</a:t>
            </a:r>
            <a:r>
              <a:rPr lang="en-US" altLang="zh-CN" sz="2800" smtClean="0"/>
              <a:t>(</a:t>
            </a:r>
            <a:r>
              <a:rPr lang="en-US" altLang="zh-CN" sz="2800" i="1" smtClean="0"/>
              <a:t>n</a:t>
            </a:r>
            <a:r>
              <a:rPr lang="en-US" altLang="zh-CN" sz="2800" smtClean="0"/>
              <a:t>) is the rule that expands </a:t>
            </a:r>
            <a:r>
              <a:rPr lang="en-US" altLang="zh-CN" sz="2800" i="1" smtClean="0"/>
              <a:t>n</a:t>
            </a:r>
            <a:endParaRPr lang="en-US" altLang="zh-CN" sz="2800" i="1" smtClean="0"/>
          </a:p>
        </p:txBody>
      </p:sp>
      <p:graphicFrame>
        <p:nvGraphicFramePr>
          <p:cNvPr id="57348" name="Object 4"/>
          <p:cNvGraphicFramePr>
            <a:graphicFrameLocks noChangeAspect="1"/>
          </p:cNvGraphicFramePr>
          <p:nvPr/>
        </p:nvGraphicFramePr>
        <p:xfrm>
          <a:off x="2209800" y="2701925"/>
          <a:ext cx="3886200" cy="216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3" name="Equation" r:id="rId1" imgW="1435100" imgH="800100" progId="Equation.3">
                  <p:embed/>
                </p:oleObj>
              </mc:Choice>
              <mc:Fallback>
                <p:oleObj name="Equation" r:id="rId1" imgW="1435100" imgH="800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701925"/>
                        <a:ext cx="3886200" cy="2166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49" name="Text Box 5"/>
          <p:cNvSpPr txBox="1">
            <a:spLocks noChangeArrowheads="1"/>
          </p:cNvSpPr>
          <p:nvPr/>
        </p:nvSpPr>
        <p:spPr bwMode="auto">
          <a:xfrm>
            <a:off x="838200" y="4854575"/>
            <a:ext cx="747499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n-IE" altLang="zh-CN" sz="2800" b="0" dirty="0" smtClean="0">
                <a:latin typeface="Times New Roman" panose="02020603050405020304" pitchFamily="18" charset="0"/>
              </a:rPr>
              <a:t>P(S|T</a:t>
            </a:r>
            <a:r>
              <a:rPr lang="en-IE" altLang="zh-CN" sz="2800" b="0" dirty="0">
                <a:latin typeface="Times New Roman" panose="02020603050405020304" pitchFamily="18" charset="0"/>
              </a:rPr>
              <a:t>) = 1, since </a:t>
            </a:r>
            <a:r>
              <a:rPr lang="en-US" altLang="zh-CN" sz="2800" b="0" dirty="0">
                <a:latin typeface="Times New Roman" panose="02020603050405020304" pitchFamily="18" charset="0"/>
              </a:rPr>
              <a:t>a parse tree T yields sentence S </a:t>
            </a:r>
            <a:endParaRPr lang="zh-CN" altLang="en-GB" sz="2800" b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57350" name="Object 6"/>
          <p:cNvGraphicFramePr>
            <a:graphicFrameLocks noChangeAspect="1"/>
          </p:cNvGraphicFramePr>
          <p:nvPr/>
        </p:nvGraphicFramePr>
        <p:xfrm>
          <a:off x="2209800" y="5562600"/>
          <a:ext cx="4267200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4" name="Equation" r:id="rId3" imgW="1663700" imgH="355600" progId="Equation.3">
                  <p:embed/>
                </p:oleObj>
              </mc:Choice>
              <mc:Fallback>
                <p:oleObj name="Equation" r:id="rId3" imgW="1663700" imgH="355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5562600"/>
                        <a:ext cx="4267200" cy="912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2"/>
          <p:cNvSpPr txBox="1">
            <a:spLocks noChangeArrowheads="1"/>
          </p:cNvSpPr>
          <p:nvPr/>
        </p:nvSpPr>
        <p:spPr bwMode="auto">
          <a:xfrm>
            <a:off x="457200" y="304800"/>
            <a:ext cx="5029200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zh-CN" sz="1800" u="sng" dirty="0">
                <a:cs typeface="Times New Roman" panose="02020603050405020304" pitchFamily="18" charset="0"/>
              </a:rPr>
              <a:t>PCFG</a:t>
            </a:r>
            <a:endParaRPr lang="en-IE" altLang="zh-CN" sz="1800" u="sng" dirty="0"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IE" altLang="zh-CN" sz="1800" u="sng" dirty="0"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zh-CN" sz="1800" b="0" dirty="0"/>
              <a:t>S→ NP VP		1</a:t>
            </a:r>
            <a:endParaRPr lang="en-IE" altLang="zh-CN" sz="1800" b="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zh-CN" sz="1800" b="0" dirty="0"/>
              <a:t>VP→ </a:t>
            </a:r>
            <a:r>
              <a:rPr lang="en-IE" altLang="zh-CN" sz="1800" b="0" dirty="0" smtClean="0"/>
              <a:t>v </a:t>
            </a:r>
            <a:r>
              <a:rPr lang="en-IE" altLang="zh-CN" sz="1800" b="0" dirty="0"/>
              <a:t>NP		0.7</a:t>
            </a:r>
            <a:endParaRPr lang="en-IE" altLang="zh-CN" sz="1800" b="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zh-CN" sz="1800" b="0" dirty="0"/>
              <a:t>VP → </a:t>
            </a:r>
            <a:r>
              <a:rPr lang="en-IE" altLang="zh-CN" sz="1800" b="0" dirty="0" smtClean="0"/>
              <a:t>v </a:t>
            </a:r>
            <a:r>
              <a:rPr lang="en-IE" altLang="zh-CN" sz="1800" b="0" dirty="0"/>
              <a:t>NP PP		0.3</a:t>
            </a:r>
            <a:endParaRPr lang="en-IE" altLang="zh-CN" sz="1800" b="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zh-CN" sz="1800" b="0" dirty="0"/>
              <a:t>NP → </a:t>
            </a:r>
            <a:r>
              <a:rPr lang="en-US" altLang="zh-CN" sz="1800" b="0" dirty="0"/>
              <a:t>d</a:t>
            </a:r>
            <a:r>
              <a:rPr lang="en-IE" altLang="zh-CN" sz="1800" b="0" dirty="0" smtClean="0"/>
              <a:t>et </a:t>
            </a:r>
            <a:r>
              <a:rPr lang="en-IE" altLang="zh-CN" sz="1800" b="0" dirty="0"/>
              <a:t>n		0.4	</a:t>
            </a:r>
            <a:endParaRPr lang="en-IE" altLang="zh-CN" sz="1800" b="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zh-CN" sz="1800" b="0" dirty="0"/>
              <a:t>NP → </a:t>
            </a:r>
            <a:r>
              <a:rPr lang="en-IE" altLang="zh-CN" sz="1800" b="0" dirty="0" err="1" smtClean="0"/>
              <a:t>det</a:t>
            </a:r>
            <a:r>
              <a:rPr lang="en-IE" altLang="zh-CN" sz="1800" b="0" dirty="0" smtClean="0"/>
              <a:t> </a:t>
            </a:r>
            <a:r>
              <a:rPr lang="en-IE" altLang="zh-CN" sz="1800" b="0" dirty="0"/>
              <a:t>n PP		0.6	</a:t>
            </a:r>
            <a:endParaRPr lang="en-IE" altLang="zh-CN" sz="1800" b="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zh-CN" sz="1800" b="0" dirty="0"/>
              <a:t>PP → p NP		1</a:t>
            </a:r>
            <a:endParaRPr lang="en-IE" altLang="zh-CN" sz="1800" b="0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IE" altLang="zh-CN" sz="1800" b="0" u="sng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zh-CN" sz="1800" u="sng" dirty="0"/>
              <a:t>Lexicon</a:t>
            </a:r>
            <a:endParaRPr lang="en-IE" altLang="zh-CN" sz="1800" u="sng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IE" altLang="zh-CN" sz="1800" u="sng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zh-CN" sz="1800" b="0" dirty="0" err="1"/>
              <a:t>det</a:t>
            </a:r>
            <a:r>
              <a:rPr lang="en-IE" altLang="zh-CN" sz="1800" b="0" dirty="0"/>
              <a:t> → the		1</a:t>
            </a:r>
            <a:endParaRPr lang="en-IE" altLang="zh-CN" sz="1800" b="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zh-CN" sz="1800" b="0" dirty="0"/>
              <a:t>n → man		0.4</a:t>
            </a:r>
            <a:endParaRPr lang="en-IE" altLang="zh-CN" sz="1800" b="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zh-CN" sz="1800" b="0" dirty="0"/>
              <a:t>n → girl			0.3	</a:t>
            </a:r>
            <a:endParaRPr lang="en-IE" altLang="zh-CN" sz="1800" b="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zh-CN" sz="1800" b="0" dirty="0"/>
              <a:t>n → telescope		0.3</a:t>
            </a:r>
            <a:endParaRPr lang="en-IE" altLang="zh-CN" sz="1800" b="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zh-CN" sz="1800" b="0" dirty="0"/>
              <a:t>v → saw			1</a:t>
            </a:r>
            <a:endParaRPr lang="en-IE" altLang="zh-CN" sz="1800" b="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zh-CN" sz="1800" b="0" dirty="0"/>
              <a:t>p → with			1</a:t>
            </a:r>
            <a:endParaRPr lang="en-GB" altLang="zh-CN" sz="1800" b="0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IE" altLang="zh-CN" sz="1800" b="0" dirty="0"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GB" sz="2400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Picture 2" descr="prob_tree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100" y="1804988"/>
            <a:ext cx="5257800" cy="324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457200" y="5334000"/>
            <a:ext cx="8037513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zh-CN" sz="1600" b="0"/>
              <a:t>P(Tree1) 	= 1.0 x 0.6 x 1.0 x 0.4 x 0.7 x 1.0 x 0.4 x 1.0 x 0.3 x 1.0 x 1.0 x 0.6 x 1.0 x 0.3</a:t>
            </a:r>
            <a:endParaRPr lang="en-IE" altLang="zh-CN" sz="1600" b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IE" altLang="zh-CN" sz="1600" b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zh-CN" sz="1600" b="0"/>
              <a:t>	= </a:t>
            </a:r>
            <a:r>
              <a:rPr lang="en-GB" altLang="zh-CN" sz="1600" b="0"/>
              <a:t>0.0036288</a:t>
            </a:r>
            <a:endParaRPr lang="en-GB" altLang="zh-CN" sz="1600" b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GB" sz="2400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8" name="Picture 2" descr="prob_tree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288" y="2079625"/>
            <a:ext cx="5303837" cy="269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19" name="Text Box 3"/>
          <p:cNvSpPr txBox="1">
            <a:spLocks noChangeArrowheads="1"/>
          </p:cNvSpPr>
          <p:nvPr/>
        </p:nvSpPr>
        <p:spPr bwMode="auto">
          <a:xfrm>
            <a:off x="457200" y="5334000"/>
            <a:ext cx="8037513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zh-CN" sz="1600" b="0"/>
              <a:t>P(Tree2) 	= 1.0 x 0.6 x 1.0 x 0.4 x 0.3 x 1.0 x 0.6 x 1.0 x 0.3 x 1.0 x 1.0 x 0.6 x 1.0 x 0.3</a:t>
            </a:r>
            <a:endParaRPr lang="en-IE" altLang="zh-CN" sz="1600" b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IE" altLang="zh-CN" sz="1600" b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zh-CN" sz="1600" b="0"/>
              <a:t>	= </a:t>
            </a:r>
            <a:r>
              <a:rPr lang="en-GB" altLang="zh-CN" sz="1600" b="0"/>
              <a:t>0.0023328</a:t>
            </a:r>
            <a:endParaRPr lang="en-GB" altLang="zh-CN" sz="1600" b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GB" sz="2400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PCFG </a:t>
            </a:r>
            <a:r>
              <a:rPr lang="zh-CN" altLang="en-US" smtClean="0"/>
              <a:t>真的有用吗？</a:t>
            </a:r>
            <a:endParaRPr lang="zh-CN" altLang="en-US" smtClean="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PCFG</a:t>
            </a:r>
            <a:r>
              <a:rPr lang="zh-CN" altLang="en-US" dirty="0" smtClean="0"/>
              <a:t>可以让我们选择分析树。</a:t>
            </a:r>
            <a:endParaRPr lang="zh-CN" altLang="en-US" dirty="0" smtClean="0"/>
          </a:p>
          <a:p>
            <a:pPr eaLnBrk="1" hangingPunct="1"/>
            <a:r>
              <a:rPr lang="zh-CN" altLang="en-US" dirty="0" smtClean="0"/>
              <a:t>但是我们从上一个例子（在不同的上下文应该选择不同的分析树）看到</a:t>
            </a:r>
            <a:r>
              <a:rPr lang="zh-CN" altLang="en-US" dirty="0" smtClean="0"/>
              <a:t>，对一个具体的例子，</a:t>
            </a:r>
            <a:r>
              <a:rPr lang="en-US" altLang="zh-CN" dirty="0" smtClean="0"/>
              <a:t>PCFG</a:t>
            </a:r>
            <a:r>
              <a:rPr lang="zh-CN" altLang="en-US" dirty="0" smtClean="0"/>
              <a:t>选择的不一定正确。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PCFG</a:t>
            </a:r>
            <a:r>
              <a:rPr lang="zh-CN" altLang="en-US" smtClean="0"/>
              <a:t>的缺陷</a:t>
            </a:r>
            <a:endParaRPr lang="zh-CN" altLang="en-US" smtClean="0"/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7859713" cy="4525963"/>
          </a:xfrm>
        </p:spPr>
        <p:txBody>
          <a:bodyPr/>
          <a:lstStyle/>
          <a:p>
            <a:pPr eaLnBrk="1" hangingPunct="1"/>
            <a:r>
              <a:rPr lang="en-US" altLang="zh-CN" dirty="0" smtClean="0"/>
              <a:t>PCFG</a:t>
            </a:r>
            <a:r>
              <a:rPr lang="zh-CN" altLang="en-US" dirty="0" smtClean="0"/>
              <a:t>中，分析树的概率只和树中的规则有关。规则的概率和上下文无关。是一种简化的数学模型。</a:t>
            </a:r>
            <a:endParaRPr lang="en-US" altLang="zh-CN" dirty="0" smtClean="0"/>
          </a:p>
          <a:p>
            <a:pPr eaLnBrk="1" hangingPunct="1"/>
            <a:r>
              <a:rPr lang="en-US" altLang="zh-CN" dirty="0" smtClean="0"/>
              <a:t>PCFG</a:t>
            </a:r>
            <a:r>
              <a:rPr lang="zh-CN" altLang="en-US" dirty="0" smtClean="0"/>
              <a:t>无法描述自然语言句法规则的两种现象</a:t>
            </a:r>
            <a:endParaRPr lang="zh-CN" altLang="en-US" dirty="0" smtClean="0"/>
          </a:p>
          <a:p>
            <a:pPr lvl="1" eaLnBrk="1" hangingPunct="1"/>
            <a:r>
              <a:rPr lang="zh-CN" altLang="en-US" dirty="0" smtClean="0"/>
              <a:t>结构相关性</a:t>
            </a:r>
            <a:endParaRPr lang="zh-CN" altLang="en-US" dirty="0" smtClean="0"/>
          </a:p>
          <a:p>
            <a:pPr lvl="1" eaLnBrk="1" hangingPunct="1"/>
            <a:r>
              <a:rPr lang="zh-CN" altLang="en-US" dirty="0" smtClean="0"/>
              <a:t>词汇相关性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zh-CN" smtClean="0"/>
              <a:t>Structural Dependencies</a:t>
            </a:r>
            <a:endParaRPr lang="en-GB" altLang="zh-CN" smtClean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12925"/>
            <a:ext cx="8229600" cy="3889375"/>
          </a:xfrm>
        </p:spPr>
        <p:txBody>
          <a:bodyPr/>
          <a:lstStyle/>
          <a:p>
            <a:pPr eaLnBrk="1" hangingPunct="1"/>
            <a:r>
              <a:rPr lang="en-US" altLang="zh-CN" sz="2800" smtClean="0"/>
              <a:t>E.g. Syntactic subject of a sentence tends to be a pronoun </a:t>
            </a:r>
            <a:endParaRPr lang="en-US" altLang="zh-CN" sz="2800" smtClean="0"/>
          </a:p>
          <a:p>
            <a:pPr lvl="1" eaLnBrk="1" hangingPunct="1"/>
            <a:r>
              <a:rPr lang="en-US" altLang="zh-CN" sz="2400" smtClean="0"/>
              <a:t>Subject tends to realize the topic of a sentence </a:t>
            </a:r>
            <a:endParaRPr lang="en-US" altLang="zh-CN" sz="2400" smtClean="0"/>
          </a:p>
          <a:p>
            <a:pPr lvl="1" eaLnBrk="1" hangingPunct="1"/>
            <a:r>
              <a:rPr lang="en-US" altLang="zh-CN" sz="2400" smtClean="0"/>
              <a:t>Topic is usually old information </a:t>
            </a:r>
            <a:endParaRPr lang="en-US" altLang="zh-CN" sz="2400" smtClean="0"/>
          </a:p>
          <a:p>
            <a:pPr lvl="1" eaLnBrk="1" hangingPunct="1"/>
            <a:r>
              <a:rPr lang="en-US" altLang="zh-CN" sz="2400" smtClean="0"/>
              <a:t>Pronouns are usually used to refer to old information </a:t>
            </a:r>
            <a:endParaRPr lang="en-US" altLang="zh-CN" sz="2400" smtClean="0"/>
          </a:p>
          <a:p>
            <a:pPr lvl="1" eaLnBrk="1" hangingPunct="1"/>
            <a:r>
              <a:rPr lang="en-US" altLang="zh-CN" sz="2400" smtClean="0"/>
              <a:t>So subject tends to be a pronoun </a:t>
            </a:r>
            <a:endParaRPr lang="en-US" altLang="zh-CN" sz="2400" smtClean="0"/>
          </a:p>
          <a:p>
            <a:pPr lvl="1" eaLnBrk="1" hangingPunct="1"/>
            <a:r>
              <a:rPr lang="en-US" altLang="zh-CN" sz="2400" smtClean="0"/>
              <a:t>In Switchboard corpus: </a:t>
            </a:r>
            <a:endParaRPr lang="en-US" altLang="zh-CN" sz="2400" smtClean="0"/>
          </a:p>
          <a:p>
            <a:pPr lvl="2" eaLnBrk="1" hangingPunct="1"/>
            <a:r>
              <a:rPr lang="en-US" altLang="zh-CN" sz="2000" smtClean="0"/>
              <a:t>91% of subjects in declarative sentences are pronouns </a:t>
            </a:r>
            <a:endParaRPr lang="en-US" altLang="zh-CN" sz="2000" smtClean="0"/>
          </a:p>
          <a:p>
            <a:pPr lvl="2" eaLnBrk="1" hangingPunct="1"/>
            <a:r>
              <a:rPr lang="en-US" altLang="zh-CN" sz="2000" smtClean="0"/>
              <a:t>66% of direct objects are lexical (nonpronominal) </a:t>
            </a:r>
            <a:endParaRPr lang="en-GB" altLang="zh-CN" sz="2000" smtClean="0"/>
          </a:p>
          <a:p>
            <a:pPr eaLnBrk="1" hangingPunct="1">
              <a:buFontTx/>
              <a:buNone/>
            </a:pPr>
            <a:endParaRPr lang="en-GB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同一个非终结符在不同的位置的推导概率不一样。比如，代词多</a:t>
            </a:r>
            <a:r>
              <a:rPr lang="zh-CN" altLang="en-US" dirty="0" smtClean="0"/>
              <a:t>用于主语位置而不是宾语位置。又如，在</a:t>
            </a:r>
            <a:r>
              <a:rPr lang="zh-CN" altLang="en-US" dirty="0" smtClean="0"/>
              <a:t>双宾语结构中，第一个宾语一般是简单宾语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eaLnBrk="1" hangingPunct="1"/>
            <a:endParaRPr lang="zh-CN" altLang="en-US" dirty="0" smtClean="0"/>
          </a:p>
          <a:p>
            <a:pPr eaLnBrk="1" hangingPunct="1"/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ext Box 2"/>
          <p:cNvSpPr txBox="1">
            <a:spLocks noChangeArrowheads="1"/>
          </p:cNvSpPr>
          <p:nvPr/>
        </p:nvSpPr>
        <p:spPr bwMode="auto">
          <a:xfrm>
            <a:off x="76200" y="1295400"/>
            <a:ext cx="906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zh-CN" sz="2400" b="0">
                <a:latin typeface="Times New Roman" panose="02020603050405020304" pitchFamily="18" charset="0"/>
              </a:rPr>
              <a:t>Two parse trees for the sentence </a:t>
            </a:r>
            <a:r>
              <a:rPr lang="en-IE" altLang="zh-CN" sz="2400" b="0" i="1">
                <a:latin typeface="Times New Roman" panose="02020603050405020304" pitchFamily="18" charset="0"/>
              </a:rPr>
              <a:t>“Moscow sent troops into Afghanistan”</a:t>
            </a:r>
            <a:endParaRPr lang="en-GB" altLang="zh-CN" sz="2400" b="0" i="1">
              <a:latin typeface="Times New Roman" panose="02020603050405020304" pitchFamily="18" charset="0"/>
            </a:endParaRPr>
          </a:p>
        </p:txBody>
      </p:sp>
      <p:pic>
        <p:nvPicPr>
          <p:cNvPr id="66563" name="Picture 3" descr="moscow_tree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905000"/>
            <a:ext cx="3382963" cy="2617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564" name="Picture 4" descr="moscow_tree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905000"/>
            <a:ext cx="3394075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5" name="Text Box 5"/>
          <p:cNvSpPr txBox="1">
            <a:spLocks noChangeArrowheads="1"/>
          </p:cNvSpPr>
          <p:nvPr/>
        </p:nvSpPr>
        <p:spPr bwMode="auto">
          <a:xfrm>
            <a:off x="685800" y="5638800"/>
            <a:ext cx="1816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zh-CN" sz="2400" b="0">
                <a:latin typeface="Times New Roman" panose="02020603050405020304" pitchFamily="18" charset="0"/>
              </a:rPr>
              <a:t>Correct parse</a:t>
            </a:r>
            <a:endParaRPr lang="en-GB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66566" name="Text Box 6"/>
          <p:cNvSpPr txBox="1">
            <a:spLocks noChangeArrowheads="1"/>
          </p:cNvSpPr>
          <p:nvPr/>
        </p:nvSpPr>
        <p:spPr bwMode="auto">
          <a:xfrm>
            <a:off x="5486400" y="5638800"/>
            <a:ext cx="20018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zh-CN" sz="2400" b="0">
                <a:latin typeface="Times New Roman" panose="02020603050405020304" pitchFamily="18" charset="0"/>
              </a:rPr>
              <a:t>Incorrect parse</a:t>
            </a:r>
            <a:endParaRPr lang="en-GB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66567" name="Text Box 7"/>
          <p:cNvSpPr txBox="1">
            <a:spLocks noChangeArrowheads="1"/>
          </p:cNvSpPr>
          <p:nvPr/>
        </p:nvSpPr>
        <p:spPr bwMode="auto">
          <a:xfrm>
            <a:off x="1981200" y="228600"/>
            <a:ext cx="5130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zh-CN" sz="4400" b="0">
                <a:latin typeface="Times New Roman" panose="02020603050405020304" pitchFamily="18" charset="0"/>
              </a:rPr>
              <a:t>Lexical Dependencies</a:t>
            </a:r>
            <a:endParaRPr lang="en-GB" altLang="zh-CN" sz="4400" b="0">
              <a:latin typeface="Times New Roman" panose="02020603050405020304" pitchFamily="18" charset="0"/>
            </a:endParaRPr>
          </a:p>
        </p:txBody>
      </p:sp>
      <p:sp>
        <p:nvSpPr>
          <p:cNvPr id="66568" name="Rectangle 8"/>
          <p:cNvSpPr>
            <a:spLocks noChangeArrowheads="1"/>
          </p:cNvSpPr>
          <p:nvPr/>
        </p:nvSpPr>
        <p:spPr bwMode="auto">
          <a:xfrm>
            <a:off x="1622425" y="5078413"/>
            <a:ext cx="6127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800" b="0"/>
              <a:t>句法规则的推导依赖于具体单词（再比如</a:t>
            </a:r>
            <a:r>
              <a:rPr lang="en-US" altLang="zh-CN" sz="1800" b="0"/>
              <a:t>rely on</a:t>
            </a:r>
            <a:r>
              <a:rPr lang="zh-CN" altLang="en-US" sz="1800" b="0"/>
              <a:t>等搭配）。</a:t>
            </a:r>
            <a:endParaRPr lang="zh-CN" altLang="en-US" sz="18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一句话，自然语言是上下文相关的。概率的</a:t>
            </a:r>
            <a:r>
              <a:rPr lang="zh-CN" altLang="en-US" dirty="0" smtClean="0"/>
              <a:t>计算也应该与</a:t>
            </a:r>
            <a:r>
              <a:rPr lang="zh-CN" altLang="en-US" dirty="0" smtClean="0"/>
              <a:t>上下文有关。这说明</a:t>
            </a:r>
            <a:r>
              <a:rPr lang="en-US" altLang="zh-CN" dirty="0" smtClean="0"/>
              <a:t>PCFG</a:t>
            </a:r>
            <a:r>
              <a:rPr lang="zh-CN" altLang="en-US" dirty="0" smtClean="0"/>
              <a:t>只是一个非常粗糙的概率模型，不一定适合描述自然语言。也许我们需要</a:t>
            </a:r>
            <a:r>
              <a:rPr lang="en-US" altLang="zh-CN" dirty="0" smtClean="0"/>
              <a:t>PCSG</a:t>
            </a:r>
            <a:r>
              <a:rPr lang="zh-CN" altLang="en-US" dirty="0" smtClean="0"/>
              <a:t>？（思考）</a:t>
            </a:r>
            <a:endParaRPr lang="zh-CN" altLang="en-US" dirty="0" smtClean="0"/>
          </a:p>
          <a:p>
            <a:pPr eaLnBrk="1" hangingPunct="1"/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Getting the Probabilities</a:t>
            </a:r>
            <a:endParaRPr lang="en-US" altLang="zh-CN" smtClean="0"/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From an annotated database</a:t>
            </a:r>
            <a:endParaRPr lang="en-US" altLang="zh-CN" smtClean="0"/>
          </a:p>
          <a:p>
            <a:pPr lvl="1" eaLnBrk="1" hangingPunct="1"/>
            <a:r>
              <a:rPr lang="en-US" altLang="zh-CN" smtClean="0"/>
              <a:t>E.g. the Penn Treebank</a:t>
            </a:r>
            <a:endParaRPr lang="en-US" altLang="zh-CN" smtClean="0"/>
          </a:p>
          <a:p>
            <a:pPr lvl="1" eaLnBrk="1" hangingPunct="1"/>
            <a:r>
              <a:rPr lang="en-US" altLang="zh-CN" smtClean="0"/>
              <a:t>To get the probability for a particular VP rule just count all the times the rule is used and divide by the number of VPs overall</a:t>
            </a:r>
            <a:endParaRPr lang="en-US" altLang="zh-CN" smtClean="0"/>
          </a:p>
          <a:p>
            <a:pPr lvl="1" eaLnBrk="1" hangingPunct="1"/>
            <a:r>
              <a:rPr lang="en-US" altLang="zh-CN" smtClean="0"/>
              <a:t>Simple?</a:t>
            </a:r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634" name="Object 2"/>
          <p:cNvGraphicFramePr>
            <a:graphicFrameLocks noChangeAspect="1"/>
          </p:cNvGraphicFramePr>
          <p:nvPr>
            <p:ph type="body" idx="1"/>
          </p:nvPr>
        </p:nvGraphicFramePr>
        <p:xfrm>
          <a:off x="3657600" y="206375"/>
          <a:ext cx="4191000" cy="314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64" name="Bitmap Image" r:id="rId1" imgW="4314825" imgH="3238500" progId="Paint.Picture">
                  <p:embed/>
                </p:oleObj>
              </mc:Choice>
              <mc:Fallback>
                <p:oleObj name="Bitmap Image" r:id="rId1" imgW="4314825" imgH="3238500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06375"/>
                        <a:ext cx="4191000" cy="314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5" name="Object 3"/>
          <p:cNvGraphicFramePr>
            <a:graphicFrameLocks noChangeAspect="1"/>
          </p:cNvGraphicFramePr>
          <p:nvPr/>
        </p:nvGraphicFramePr>
        <p:xfrm>
          <a:off x="228600" y="201613"/>
          <a:ext cx="3276600" cy="231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65" name="Bitmap Image" r:id="rId3" imgW="3305175" imgH="2333625" progId="Paint.Picture">
                  <p:embed/>
                </p:oleObj>
              </mc:Choice>
              <mc:Fallback>
                <p:oleObj name="Bitmap Image" r:id="rId3" imgW="3305175" imgH="2333625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01613"/>
                        <a:ext cx="3276600" cy="2312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6" name="Object 4"/>
          <p:cNvGraphicFramePr>
            <a:graphicFrameLocks noChangeAspect="1"/>
          </p:cNvGraphicFramePr>
          <p:nvPr/>
        </p:nvGraphicFramePr>
        <p:xfrm>
          <a:off x="228600" y="2514600"/>
          <a:ext cx="4495800" cy="285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66" name="Bitmap Image" r:id="rId5" imgW="4600575" imgH="2924175" progId="Paint.Picture">
                  <p:embed/>
                </p:oleObj>
              </mc:Choice>
              <mc:Fallback>
                <p:oleObj name="Bitmap Image" r:id="rId5" imgW="4600575" imgH="2924175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514600"/>
                        <a:ext cx="4495800" cy="2859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7541" name="Text Box 5"/>
          <p:cNvSpPr txBox="1">
            <a:spLocks noChangeArrowheads="1"/>
          </p:cNvSpPr>
          <p:nvPr/>
        </p:nvSpPr>
        <p:spPr bwMode="auto">
          <a:xfrm>
            <a:off x="5029200" y="3260725"/>
            <a:ext cx="1981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anose="020B0604030504040204" pitchFamily="34" charset="0"/>
              </a:rPr>
              <a:t>S → NP VP</a:t>
            </a:r>
            <a:endParaRPr lang="en-US" altLang="zh-CN" sz="2400" b="0">
              <a:latin typeface="Tahoma" panose="020B0604030504040204" pitchFamily="34" charset="0"/>
            </a:endParaRPr>
          </a:p>
        </p:txBody>
      </p:sp>
      <p:sp>
        <p:nvSpPr>
          <p:cNvPr id="1217542" name="Rectangle 6"/>
          <p:cNvSpPr>
            <a:spLocks noChangeArrowheads="1"/>
          </p:cNvSpPr>
          <p:nvPr/>
        </p:nvSpPr>
        <p:spPr bwMode="auto">
          <a:xfrm>
            <a:off x="762000" y="152400"/>
            <a:ext cx="1752600" cy="7620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17543" name="Rectangle 7"/>
          <p:cNvSpPr>
            <a:spLocks noChangeArrowheads="1"/>
          </p:cNvSpPr>
          <p:nvPr/>
        </p:nvSpPr>
        <p:spPr bwMode="auto">
          <a:xfrm>
            <a:off x="3733800" y="152400"/>
            <a:ext cx="1752600" cy="6858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17544" name="Rectangle 8"/>
          <p:cNvSpPr>
            <a:spLocks noChangeArrowheads="1"/>
          </p:cNvSpPr>
          <p:nvPr/>
        </p:nvSpPr>
        <p:spPr bwMode="auto">
          <a:xfrm>
            <a:off x="304800" y="2514600"/>
            <a:ext cx="2286000" cy="6858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17545" name="Rectangle 9"/>
          <p:cNvSpPr>
            <a:spLocks noChangeArrowheads="1"/>
          </p:cNvSpPr>
          <p:nvPr/>
        </p:nvSpPr>
        <p:spPr bwMode="auto">
          <a:xfrm>
            <a:off x="228600" y="2895600"/>
            <a:ext cx="381000" cy="7620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17546" name="Rectangle 10"/>
          <p:cNvSpPr>
            <a:spLocks noChangeArrowheads="1"/>
          </p:cNvSpPr>
          <p:nvPr/>
        </p:nvSpPr>
        <p:spPr bwMode="auto">
          <a:xfrm>
            <a:off x="3657600" y="609600"/>
            <a:ext cx="381000" cy="6858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17547" name="Rectangle 11"/>
          <p:cNvSpPr>
            <a:spLocks noChangeArrowheads="1"/>
          </p:cNvSpPr>
          <p:nvPr/>
        </p:nvSpPr>
        <p:spPr bwMode="auto">
          <a:xfrm>
            <a:off x="1447800" y="3886200"/>
            <a:ext cx="990600" cy="7620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17548" name="Rectangle 12"/>
          <p:cNvSpPr>
            <a:spLocks noChangeArrowheads="1"/>
          </p:cNvSpPr>
          <p:nvPr/>
        </p:nvSpPr>
        <p:spPr bwMode="auto">
          <a:xfrm>
            <a:off x="3276600" y="3886200"/>
            <a:ext cx="1143000" cy="7620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17549" name="Rectangle 13"/>
          <p:cNvSpPr>
            <a:spLocks noChangeArrowheads="1"/>
          </p:cNvSpPr>
          <p:nvPr/>
        </p:nvSpPr>
        <p:spPr bwMode="auto">
          <a:xfrm>
            <a:off x="4876800" y="1524000"/>
            <a:ext cx="1066800" cy="7620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17550" name="Rectangle 14"/>
          <p:cNvSpPr>
            <a:spLocks noChangeArrowheads="1"/>
          </p:cNvSpPr>
          <p:nvPr/>
        </p:nvSpPr>
        <p:spPr bwMode="auto">
          <a:xfrm>
            <a:off x="6705600" y="1981200"/>
            <a:ext cx="1066800" cy="7620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17551" name="Rectangle 15"/>
          <p:cNvSpPr>
            <a:spLocks noChangeArrowheads="1"/>
          </p:cNvSpPr>
          <p:nvPr/>
        </p:nvSpPr>
        <p:spPr bwMode="auto">
          <a:xfrm>
            <a:off x="2286000" y="1066800"/>
            <a:ext cx="1066800" cy="8382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17552" name="Rectangle 16"/>
          <p:cNvSpPr>
            <a:spLocks noChangeArrowheads="1"/>
          </p:cNvSpPr>
          <p:nvPr/>
        </p:nvSpPr>
        <p:spPr bwMode="auto">
          <a:xfrm>
            <a:off x="457200" y="609600"/>
            <a:ext cx="1143000" cy="7620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17553" name="Rectangle 17"/>
          <p:cNvSpPr>
            <a:spLocks noChangeArrowheads="1"/>
          </p:cNvSpPr>
          <p:nvPr/>
        </p:nvSpPr>
        <p:spPr bwMode="auto">
          <a:xfrm>
            <a:off x="5257800" y="990600"/>
            <a:ext cx="1676400" cy="8382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17554" name="Text Box 18"/>
          <p:cNvSpPr txBox="1">
            <a:spLocks noChangeArrowheads="1"/>
          </p:cNvSpPr>
          <p:nvPr/>
        </p:nvSpPr>
        <p:spPr bwMode="auto">
          <a:xfrm>
            <a:off x="7069138" y="3260725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anose="020B0604030504040204" pitchFamily="34" charset="0"/>
              </a:rPr>
              <a:t>3</a:t>
            </a:r>
            <a:endParaRPr lang="en-US" altLang="zh-CN" sz="2000" b="0">
              <a:latin typeface="Tahoma" panose="020B0604030504040204" pitchFamily="34" charset="0"/>
            </a:endParaRPr>
          </a:p>
        </p:txBody>
      </p:sp>
      <p:sp>
        <p:nvSpPr>
          <p:cNvPr id="1217555" name="Text Box 19"/>
          <p:cNvSpPr txBox="1">
            <a:spLocks noChangeArrowheads="1"/>
          </p:cNvSpPr>
          <p:nvPr/>
        </p:nvSpPr>
        <p:spPr bwMode="auto">
          <a:xfrm>
            <a:off x="7069138" y="3717925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anose="020B0604030504040204" pitchFamily="34" charset="0"/>
              </a:rPr>
              <a:t>2</a:t>
            </a:r>
            <a:endParaRPr lang="en-US" altLang="zh-CN" sz="2000" b="0">
              <a:latin typeface="Tahoma" panose="020B0604030504040204" pitchFamily="34" charset="0"/>
            </a:endParaRPr>
          </a:p>
        </p:txBody>
      </p:sp>
      <p:sp>
        <p:nvSpPr>
          <p:cNvPr id="1217556" name="Text Box 20"/>
          <p:cNvSpPr txBox="1">
            <a:spLocks noChangeArrowheads="1"/>
          </p:cNvSpPr>
          <p:nvPr/>
        </p:nvSpPr>
        <p:spPr bwMode="auto">
          <a:xfrm>
            <a:off x="7069138" y="4191000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anose="020B0604030504040204" pitchFamily="34" charset="0"/>
              </a:rPr>
              <a:t>6</a:t>
            </a:r>
            <a:endParaRPr lang="en-US" altLang="zh-CN" sz="2000" b="0">
              <a:latin typeface="Tahoma" panose="020B0604030504040204" pitchFamily="34" charset="0"/>
            </a:endParaRPr>
          </a:p>
        </p:txBody>
      </p:sp>
      <p:sp>
        <p:nvSpPr>
          <p:cNvPr id="1217557" name="Text Box 21"/>
          <p:cNvSpPr txBox="1">
            <a:spLocks noChangeArrowheads="1"/>
          </p:cNvSpPr>
          <p:nvPr/>
        </p:nvSpPr>
        <p:spPr bwMode="auto">
          <a:xfrm>
            <a:off x="7069138" y="4648200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anose="020B0604030504040204" pitchFamily="34" charset="0"/>
              </a:rPr>
              <a:t>1</a:t>
            </a:r>
            <a:endParaRPr lang="en-US" altLang="zh-CN" sz="2000" b="0">
              <a:latin typeface="Tahoma" panose="020B0604030504040204" pitchFamily="34" charset="0"/>
            </a:endParaRPr>
          </a:p>
        </p:txBody>
      </p:sp>
      <p:sp>
        <p:nvSpPr>
          <p:cNvPr id="1217558" name="Text Box 22"/>
          <p:cNvSpPr txBox="1">
            <a:spLocks noChangeArrowheads="1"/>
          </p:cNvSpPr>
          <p:nvPr/>
        </p:nvSpPr>
        <p:spPr bwMode="auto">
          <a:xfrm>
            <a:off x="7069138" y="5089525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anose="020B0604030504040204" pitchFamily="34" charset="0"/>
              </a:rPr>
              <a:t>3</a:t>
            </a:r>
            <a:endParaRPr lang="en-US" altLang="zh-CN" sz="2000" b="0">
              <a:latin typeface="Tahoma" panose="020B0604030504040204" pitchFamily="34" charset="0"/>
            </a:endParaRPr>
          </a:p>
        </p:txBody>
      </p:sp>
      <p:sp>
        <p:nvSpPr>
          <p:cNvPr id="1217559" name="Text Box 23"/>
          <p:cNvSpPr txBox="1">
            <a:spLocks noChangeArrowheads="1"/>
          </p:cNvSpPr>
          <p:nvPr/>
        </p:nvSpPr>
        <p:spPr bwMode="auto">
          <a:xfrm>
            <a:off x="7069138" y="5546725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anose="020B0604030504040204" pitchFamily="34" charset="0"/>
              </a:rPr>
              <a:t>1</a:t>
            </a:r>
            <a:endParaRPr lang="en-US" altLang="zh-CN" sz="2000" b="0">
              <a:latin typeface="Tahoma" panose="020B0604030504040204" pitchFamily="34" charset="0"/>
            </a:endParaRPr>
          </a:p>
        </p:txBody>
      </p:sp>
      <p:sp>
        <p:nvSpPr>
          <p:cNvPr id="1217560" name="Text Box 24"/>
          <p:cNvSpPr txBox="1">
            <a:spLocks noChangeArrowheads="1"/>
          </p:cNvSpPr>
          <p:nvPr/>
        </p:nvSpPr>
        <p:spPr bwMode="auto">
          <a:xfrm>
            <a:off x="7069138" y="5943600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anose="020B0604030504040204" pitchFamily="34" charset="0"/>
              </a:rPr>
              <a:t>2</a:t>
            </a:r>
            <a:endParaRPr lang="en-US" altLang="zh-CN" sz="2000" b="0">
              <a:latin typeface="Tahoma" panose="020B0604030504040204" pitchFamily="34" charset="0"/>
            </a:endParaRPr>
          </a:p>
        </p:txBody>
      </p:sp>
      <p:sp>
        <p:nvSpPr>
          <p:cNvPr id="1217561" name="Text Box 25"/>
          <p:cNvSpPr txBox="1">
            <a:spLocks noChangeArrowheads="1"/>
          </p:cNvSpPr>
          <p:nvPr/>
        </p:nvSpPr>
        <p:spPr bwMode="auto">
          <a:xfrm>
            <a:off x="5029200" y="3717925"/>
            <a:ext cx="1981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anose="020B0604030504040204" pitchFamily="34" charset="0"/>
              </a:rPr>
              <a:t>NP → Pro</a:t>
            </a:r>
            <a:endParaRPr lang="en-US" altLang="zh-CN" sz="2400" b="0">
              <a:latin typeface="Tahoma" panose="020B0604030504040204" pitchFamily="34" charset="0"/>
            </a:endParaRPr>
          </a:p>
        </p:txBody>
      </p:sp>
      <p:sp>
        <p:nvSpPr>
          <p:cNvPr id="1217562" name="Text Box 26"/>
          <p:cNvSpPr txBox="1">
            <a:spLocks noChangeArrowheads="1"/>
          </p:cNvSpPr>
          <p:nvPr/>
        </p:nvSpPr>
        <p:spPr bwMode="auto">
          <a:xfrm>
            <a:off x="5029200" y="4175125"/>
            <a:ext cx="1981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anose="020B0604030504040204" pitchFamily="34" charset="0"/>
              </a:rPr>
              <a:t>NP → Det N</a:t>
            </a:r>
            <a:endParaRPr lang="en-US" altLang="zh-CN" sz="2400" b="0">
              <a:latin typeface="Tahoma" panose="020B0604030504040204" pitchFamily="34" charset="0"/>
            </a:endParaRPr>
          </a:p>
        </p:txBody>
      </p:sp>
      <p:sp>
        <p:nvSpPr>
          <p:cNvPr id="1217563" name="Text Box 27"/>
          <p:cNvSpPr txBox="1">
            <a:spLocks noChangeArrowheads="1"/>
          </p:cNvSpPr>
          <p:nvPr/>
        </p:nvSpPr>
        <p:spPr bwMode="auto">
          <a:xfrm>
            <a:off x="5029200" y="4648200"/>
            <a:ext cx="1981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anose="020B0604030504040204" pitchFamily="34" charset="0"/>
              </a:rPr>
              <a:t>NP → NP PP</a:t>
            </a:r>
            <a:endParaRPr lang="en-US" altLang="zh-CN" sz="2400" b="0">
              <a:latin typeface="Tahoma" panose="020B0604030504040204" pitchFamily="34" charset="0"/>
            </a:endParaRPr>
          </a:p>
        </p:txBody>
      </p:sp>
      <p:sp>
        <p:nvSpPr>
          <p:cNvPr id="1217564" name="Text Box 28"/>
          <p:cNvSpPr txBox="1">
            <a:spLocks noChangeArrowheads="1"/>
          </p:cNvSpPr>
          <p:nvPr/>
        </p:nvSpPr>
        <p:spPr bwMode="auto">
          <a:xfrm>
            <a:off x="5029200" y="5105400"/>
            <a:ext cx="19812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anose="020B0604030504040204" pitchFamily="34" charset="0"/>
              </a:rPr>
              <a:t>VP → V NP</a:t>
            </a:r>
            <a:endParaRPr lang="en-US" altLang="zh-CN" sz="2000" b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800" b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anose="020B0604030504040204" pitchFamily="34" charset="0"/>
              </a:rPr>
              <a:t>VP → VP PP</a:t>
            </a:r>
            <a:endParaRPr lang="en-US" altLang="zh-CN" sz="2000" b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700" b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anose="020B0604030504040204" pitchFamily="34" charset="0"/>
              </a:rPr>
              <a:t>PP → P NP</a:t>
            </a:r>
            <a:endParaRPr lang="en-US" altLang="zh-CN" sz="2000" b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400" b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17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17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17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17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17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2175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7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2175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7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2175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7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17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17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17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17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2175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7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2175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7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217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217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217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217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217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217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217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217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12175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7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12175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7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12175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7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12175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7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12175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7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12175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7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217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217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217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12175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7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217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1217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1217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1217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7541" grpId="0"/>
      <p:bldP spid="1217542" grpId="0" animBg="1"/>
      <p:bldP spid="1217542" grpId="1" animBg="1"/>
      <p:bldP spid="1217543" grpId="0" animBg="1"/>
      <p:bldP spid="1217543" grpId="1" animBg="1"/>
      <p:bldP spid="1217544" grpId="0" animBg="1"/>
      <p:bldP spid="1217544" grpId="1" animBg="1"/>
      <p:bldP spid="1217545" grpId="0" animBg="1"/>
      <p:bldP spid="1217545" grpId="1" animBg="1"/>
      <p:bldP spid="1217546" grpId="0" animBg="1"/>
      <p:bldP spid="1217546" grpId="1" animBg="1"/>
      <p:bldP spid="1217547" grpId="0" animBg="1"/>
      <p:bldP spid="1217547" grpId="1" animBg="1"/>
      <p:bldP spid="1217548" grpId="0" animBg="1"/>
      <p:bldP spid="1217548" grpId="1" animBg="1"/>
      <p:bldP spid="1217549" grpId="0" animBg="1"/>
      <p:bldP spid="1217549" grpId="1" animBg="1"/>
      <p:bldP spid="1217550" grpId="0" animBg="1"/>
      <p:bldP spid="1217550" grpId="1" animBg="1"/>
      <p:bldP spid="1217551" grpId="0" animBg="1"/>
      <p:bldP spid="1217551" grpId="1" animBg="1"/>
      <p:bldP spid="1217552" grpId="0" animBg="1"/>
      <p:bldP spid="1217552" grpId="1" animBg="1"/>
      <p:bldP spid="1217553" grpId="0" animBg="1"/>
      <p:bldP spid="1217553" grpId="1" animBg="1"/>
      <p:bldP spid="1217554" grpId="0"/>
      <p:bldP spid="1217555" grpId="0"/>
      <p:bldP spid="1217556" grpId="0"/>
      <p:bldP spid="1217557" grpId="0"/>
      <p:bldP spid="1217558" grpId="0"/>
      <p:bldP spid="1217559" grpId="0"/>
      <p:bldP spid="1217560" grpId="0"/>
      <p:bldP spid="1217561" grpId="0"/>
      <p:bldP spid="1217562" grpId="0"/>
      <p:bldP spid="1217563" grpId="0"/>
      <p:bldP spid="1217564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658" name="Object 2"/>
          <p:cNvGraphicFramePr>
            <a:graphicFrameLocks noChangeAspect="1"/>
          </p:cNvGraphicFramePr>
          <p:nvPr>
            <p:ph type="body" idx="1"/>
          </p:nvPr>
        </p:nvGraphicFramePr>
        <p:xfrm>
          <a:off x="3657600" y="206375"/>
          <a:ext cx="4191000" cy="314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95" name="Bitmap Image" r:id="rId1" imgW="4314825" imgH="3238500" progId="Paint.Picture">
                  <p:embed/>
                </p:oleObj>
              </mc:Choice>
              <mc:Fallback>
                <p:oleObj name="Bitmap Image" r:id="rId1" imgW="4314825" imgH="3238500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06375"/>
                        <a:ext cx="4191000" cy="314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59" name="Object 3"/>
          <p:cNvGraphicFramePr>
            <a:graphicFrameLocks noChangeAspect="1"/>
          </p:cNvGraphicFramePr>
          <p:nvPr/>
        </p:nvGraphicFramePr>
        <p:xfrm>
          <a:off x="228600" y="201613"/>
          <a:ext cx="3276600" cy="231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96" name="Bitmap Image" r:id="rId3" imgW="3305175" imgH="2333625" progId="Paint.Picture">
                  <p:embed/>
                </p:oleObj>
              </mc:Choice>
              <mc:Fallback>
                <p:oleObj name="Bitmap Image" r:id="rId3" imgW="3305175" imgH="2333625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01613"/>
                        <a:ext cx="3276600" cy="2312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0" name="Object 4"/>
          <p:cNvGraphicFramePr>
            <a:graphicFrameLocks noChangeAspect="1"/>
          </p:cNvGraphicFramePr>
          <p:nvPr/>
        </p:nvGraphicFramePr>
        <p:xfrm>
          <a:off x="228600" y="2514600"/>
          <a:ext cx="4495800" cy="285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97" name="Bitmap Image" r:id="rId5" imgW="4600575" imgH="2924175" progId="Paint.Picture">
                  <p:embed/>
                </p:oleObj>
              </mc:Choice>
              <mc:Fallback>
                <p:oleObj name="Bitmap Image" r:id="rId5" imgW="4600575" imgH="2924175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514600"/>
                        <a:ext cx="4495800" cy="2859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1" name="Text Box 5"/>
          <p:cNvSpPr txBox="1">
            <a:spLocks noChangeArrowheads="1"/>
          </p:cNvSpPr>
          <p:nvPr/>
        </p:nvSpPr>
        <p:spPr bwMode="auto">
          <a:xfrm>
            <a:off x="5029200" y="3260725"/>
            <a:ext cx="1981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anose="020B0604030504040204" pitchFamily="34" charset="0"/>
              </a:rPr>
              <a:t>S → NP VP</a:t>
            </a:r>
            <a:endParaRPr lang="en-US" altLang="zh-CN" sz="2400" b="0">
              <a:latin typeface="Tahoma" panose="020B0604030504040204" pitchFamily="34" charset="0"/>
            </a:endParaRPr>
          </a:p>
        </p:txBody>
      </p:sp>
      <p:sp>
        <p:nvSpPr>
          <p:cNvPr id="70662" name="Text Box 6"/>
          <p:cNvSpPr txBox="1">
            <a:spLocks noChangeArrowheads="1"/>
          </p:cNvSpPr>
          <p:nvPr/>
        </p:nvSpPr>
        <p:spPr bwMode="auto">
          <a:xfrm>
            <a:off x="7069138" y="3260725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anose="020B0604030504040204" pitchFamily="34" charset="0"/>
              </a:rPr>
              <a:t>3</a:t>
            </a:r>
            <a:endParaRPr lang="en-US" altLang="zh-CN" sz="2000" b="0">
              <a:latin typeface="Tahoma" panose="020B0604030504040204" pitchFamily="34" charset="0"/>
            </a:endParaRPr>
          </a:p>
        </p:txBody>
      </p:sp>
      <p:sp>
        <p:nvSpPr>
          <p:cNvPr id="70663" name="Text Box 7"/>
          <p:cNvSpPr txBox="1">
            <a:spLocks noChangeArrowheads="1"/>
          </p:cNvSpPr>
          <p:nvPr/>
        </p:nvSpPr>
        <p:spPr bwMode="auto">
          <a:xfrm>
            <a:off x="7069138" y="3717925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anose="020B0604030504040204" pitchFamily="34" charset="0"/>
              </a:rPr>
              <a:t>2</a:t>
            </a:r>
            <a:endParaRPr lang="en-US" altLang="zh-CN" sz="2000" b="0">
              <a:latin typeface="Tahoma" panose="020B0604030504040204" pitchFamily="34" charset="0"/>
            </a:endParaRPr>
          </a:p>
        </p:txBody>
      </p:sp>
      <p:sp>
        <p:nvSpPr>
          <p:cNvPr id="70664" name="Text Box 8"/>
          <p:cNvSpPr txBox="1">
            <a:spLocks noChangeArrowheads="1"/>
          </p:cNvSpPr>
          <p:nvPr/>
        </p:nvSpPr>
        <p:spPr bwMode="auto">
          <a:xfrm>
            <a:off x="7069138" y="4191000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anose="020B0604030504040204" pitchFamily="34" charset="0"/>
              </a:rPr>
              <a:t>6</a:t>
            </a:r>
            <a:endParaRPr lang="en-US" altLang="zh-CN" sz="2000" b="0">
              <a:latin typeface="Tahoma" panose="020B0604030504040204" pitchFamily="34" charset="0"/>
            </a:endParaRPr>
          </a:p>
        </p:txBody>
      </p:sp>
      <p:sp>
        <p:nvSpPr>
          <p:cNvPr id="70665" name="Text Box 9"/>
          <p:cNvSpPr txBox="1">
            <a:spLocks noChangeArrowheads="1"/>
          </p:cNvSpPr>
          <p:nvPr/>
        </p:nvSpPr>
        <p:spPr bwMode="auto">
          <a:xfrm>
            <a:off x="7069138" y="4648200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anose="020B0604030504040204" pitchFamily="34" charset="0"/>
              </a:rPr>
              <a:t>1</a:t>
            </a:r>
            <a:endParaRPr lang="en-US" altLang="zh-CN" sz="2000" b="0">
              <a:latin typeface="Tahoma" panose="020B0604030504040204" pitchFamily="34" charset="0"/>
            </a:endParaRPr>
          </a:p>
        </p:txBody>
      </p:sp>
      <p:sp>
        <p:nvSpPr>
          <p:cNvPr id="70666" name="Text Box 10"/>
          <p:cNvSpPr txBox="1">
            <a:spLocks noChangeArrowheads="1"/>
          </p:cNvSpPr>
          <p:nvPr/>
        </p:nvSpPr>
        <p:spPr bwMode="auto">
          <a:xfrm>
            <a:off x="7069138" y="5089525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anose="020B0604030504040204" pitchFamily="34" charset="0"/>
              </a:rPr>
              <a:t>3</a:t>
            </a:r>
            <a:endParaRPr lang="en-US" altLang="zh-CN" sz="2000" b="0">
              <a:latin typeface="Tahoma" panose="020B0604030504040204" pitchFamily="34" charset="0"/>
            </a:endParaRPr>
          </a:p>
        </p:txBody>
      </p:sp>
      <p:sp>
        <p:nvSpPr>
          <p:cNvPr id="70667" name="Text Box 11"/>
          <p:cNvSpPr txBox="1">
            <a:spLocks noChangeArrowheads="1"/>
          </p:cNvSpPr>
          <p:nvPr/>
        </p:nvSpPr>
        <p:spPr bwMode="auto">
          <a:xfrm>
            <a:off x="7069138" y="5546725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anose="020B0604030504040204" pitchFamily="34" charset="0"/>
              </a:rPr>
              <a:t>1</a:t>
            </a:r>
            <a:endParaRPr lang="en-US" altLang="zh-CN" sz="2000" b="0">
              <a:latin typeface="Tahoma" panose="020B0604030504040204" pitchFamily="34" charset="0"/>
            </a:endParaRPr>
          </a:p>
        </p:txBody>
      </p:sp>
      <p:sp>
        <p:nvSpPr>
          <p:cNvPr id="70668" name="Text Box 12"/>
          <p:cNvSpPr txBox="1">
            <a:spLocks noChangeArrowheads="1"/>
          </p:cNvSpPr>
          <p:nvPr/>
        </p:nvSpPr>
        <p:spPr bwMode="auto">
          <a:xfrm>
            <a:off x="7069138" y="5943600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anose="020B0604030504040204" pitchFamily="34" charset="0"/>
              </a:rPr>
              <a:t>2</a:t>
            </a:r>
            <a:endParaRPr lang="en-US" altLang="zh-CN" sz="2000" b="0">
              <a:latin typeface="Tahoma" panose="020B0604030504040204" pitchFamily="34" charset="0"/>
            </a:endParaRPr>
          </a:p>
        </p:txBody>
      </p:sp>
      <p:sp>
        <p:nvSpPr>
          <p:cNvPr id="70669" name="Text Box 13"/>
          <p:cNvSpPr txBox="1">
            <a:spLocks noChangeArrowheads="1"/>
          </p:cNvSpPr>
          <p:nvPr/>
        </p:nvSpPr>
        <p:spPr bwMode="auto">
          <a:xfrm>
            <a:off x="5029200" y="3717925"/>
            <a:ext cx="1981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anose="020B0604030504040204" pitchFamily="34" charset="0"/>
              </a:rPr>
              <a:t>NP → Pro</a:t>
            </a:r>
            <a:endParaRPr lang="en-US" altLang="zh-CN" sz="2400" b="0">
              <a:latin typeface="Tahoma" panose="020B0604030504040204" pitchFamily="34" charset="0"/>
            </a:endParaRPr>
          </a:p>
        </p:txBody>
      </p:sp>
      <p:sp>
        <p:nvSpPr>
          <p:cNvPr id="70670" name="Text Box 14"/>
          <p:cNvSpPr txBox="1">
            <a:spLocks noChangeArrowheads="1"/>
          </p:cNvSpPr>
          <p:nvPr/>
        </p:nvSpPr>
        <p:spPr bwMode="auto">
          <a:xfrm>
            <a:off x="5029200" y="4175125"/>
            <a:ext cx="1981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anose="020B0604030504040204" pitchFamily="34" charset="0"/>
              </a:rPr>
              <a:t>NP → Det N</a:t>
            </a:r>
            <a:endParaRPr lang="en-US" altLang="zh-CN" sz="2400" b="0">
              <a:latin typeface="Tahoma" panose="020B0604030504040204" pitchFamily="34" charset="0"/>
            </a:endParaRPr>
          </a:p>
        </p:txBody>
      </p:sp>
      <p:sp>
        <p:nvSpPr>
          <p:cNvPr id="70671" name="Text Box 15"/>
          <p:cNvSpPr txBox="1">
            <a:spLocks noChangeArrowheads="1"/>
          </p:cNvSpPr>
          <p:nvPr/>
        </p:nvSpPr>
        <p:spPr bwMode="auto">
          <a:xfrm>
            <a:off x="5029200" y="4648200"/>
            <a:ext cx="1981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anose="020B0604030504040204" pitchFamily="34" charset="0"/>
              </a:rPr>
              <a:t>NP → NP PP</a:t>
            </a:r>
            <a:endParaRPr lang="en-US" altLang="zh-CN" sz="2400" b="0">
              <a:latin typeface="Tahoma" panose="020B0604030504040204" pitchFamily="34" charset="0"/>
            </a:endParaRPr>
          </a:p>
        </p:txBody>
      </p:sp>
      <p:sp>
        <p:nvSpPr>
          <p:cNvPr id="70672" name="Text Box 16"/>
          <p:cNvSpPr txBox="1">
            <a:spLocks noChangeArrowheads="1"/>
          </p:cNvSpPr>
          <p:nvPr/>
        </p:nvSpPr>
        <p:spPr bwMode="auto">
          <a:xfrm>
            <a:off x="5029200" y="5105400"/>
            <a:ext cx="19812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anose="020B0604030504040204" pitchFamily="34" charset="0"/>
              </a:rPr>
              <a:t>VP → V NP</a:t>
            </a:r>
            <a:endParaRPr lang="en-US" altLang="zh-CN" sz="2000" b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800" b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anose="020B0604030504040204" pitchFamily="34" charset="0"/>
              </a:rPr>
              <a:t>VP → VP PP</a:t>
            </a:r>
            <a:endParaRPr lang="en-US" altLang="zh-CN" sz="2000" b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700" b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anose="020B0604030504040204" pitchFamily="34" charset="0"/>
              </a:rPr>
              <a:t>PP → P NP</a:t>
            </a:r>
            <a:endParaRPr lang="en-US" altLang="zh-CN" sz="2000" b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400" b="0">
              <a:latin typeface="Tahoma" panose="020B0604030504040204" pitchFamily="34" charset="0"/>
            </a:endParaRPr>
          </a:p>
        </p:txBody>
      </p:sp>
      <p:sp>
        <p:nvSpPr>
          <p:cNvPr id="1218577" name="Text Box 17"/>
          <p:cNvSpPr txBox="1">
            <a:spLocks noChangeArrowheads="1"/>
          </p:cNvSpPr>
          <p:nvPr/>
        </p:nvSpPr>
        <p:spPr bwMode="auto">
          <a:xfrm>
            <a:off x="7315200" y="3260725"/>
            <a:ext cx="1352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anose="020B0604030504040204" pitchFamily="34" charset="0"/>
              </a:rPr>
              <a:t>/ 3  =  1.0</a:t>
            </a:r>
            <a:endParaRPr lang="en-US" altLang="zh-CN" sz="2000" b="0">
              <a:latin typeface="Tahoma" panose="020B0604030504040204" pitchFamily="34" charset="0"/>
            </a:endParaRPr>
          </a:p>
        </p:txBody>
      </p:sp>
      <p:sp>
        <p:nvSpPr>
          <p:cNvPr id="1218578" name="Text Box 18"/>
          <p:cNvSpPr txBox="1">
            <a:spLocks noChangeArrowheads="1"/>
          </p:cNvSpPr>
          <p:nvPr/>
        </p:nvSpPr>
        <p:spPr bwMode="auto">
          <a:xfrm>
            <a:off x="7315200" y="3717925"/>
            <a:ext cx="14906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anose="020B0604030504040204" pitchFamily="34" charset="0"/>
              </a:rPr>
              <a:t>/ 9  =  0.22</a:t>
            </a:r>
            <a:endParaRPr lang="en-US" altLang="zh-CN" sz="2000" b="0">
              <a:latin typeface="Tahoma" panose="020B0604030504040204" pitchFamily="34" charset="0"/>
            </a:endParaRPr>
          </a:p>
        </p:txBody>
      </p:sp>
      <p:sp>
        <p:nvSpPr>
          <p:cNvPr id="1218579" name="Text Box 19"/>
          <p:cNvSpPr txBox="1">
            <a:spLocks noChangeArrowheads="1"/>
          </p:cNvSpPr>
          <p:nvPr/>
        </p:nvSpPr>
        <p:spPr bwMode="auto">
          <a:xfrm>
            <a:off x="7315200" y="4175125"/>
            <a:ext cx="14906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anose="020B0604030504040204" pitchFamily="34" charset="0"/>
              </a:rPr>
              <a:t>/ 9  =  0.67</a:t>
            </a:r>
            <a:endParaRPr lang="en-US" altLang="zh-CN" sz="2000" b="0">
              <a:latin typeface="Tahoma" panose="020B0604030504040204" pitchFamily="34" charset="0"/>
            </a:endParaRPr>
          </a:p>
        </p:txBody>
      </p:sp>
      <p:sp>
        <p:nvSpPr>
          <p:cNvPr id="1218580" name="Text Box 20"/>
          <p:cNvSpPr txBox="1">
            <a:spLocks noChangeArrowheads="1"/>
          </p:cNvSpPr>
          <p:nvPr/>
        </p:nvSpPr>
        <p:spPr bwMode="auto">
          <a:xfrm>
            <a:off x="7315200" y="4632325"/>
            <a:ext cx="14906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anose="020B0604030504040204" pitchFamily="34" charset="0"/>
              </a:rPr>
              <a:t>/ 9  =  0.11</a:t>
            </a:r>
            <a:endParaRPr lang="en-US" altLang="zh-CN" sz="2000" b="0">
              <a:latin typeface="Tahoma" panose="020B0604030504040204" pitchFamily="34" charset="0"/>
            </a:endParaRPr>
          </a:p>
        </p:txBody>
      </p:sp>
      <p:sp>
        <p:nvSpPr>
          <p:cNvPr id="1218581" name="Text Box 21"/>
          <p:cNvSpPr txBox="1">
            <a:spLocks noChangeArrowheads="1"/>
          </p:cNvSpPr>
          <p:nvPr/>
        </p:nvSpPr>
        <p:spPr bwMode="auto">
          <a:xfrm>
            <a:off x="7315200" y="5089525"/>
            <a:ext cx="14906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anose="020B0604030504040204" pitchFamily="34" charset="0"/>
              </a:rPr>
              <a:t>/ 4  =  0.75</a:t>
            </a:r>
            <a:endParaRPr lang="en-US" altLang="zh-CN" sz="2000" b="0">
              <a:latin typeface="Tahoma" panose="020B0604030504040204" pitchFamily="34" charset="0"/>
            </a:endParaRPr>
          </a:p>
        </p:txBody>
      </p:sp>
      <p:sp>
        <p:nvSpPr>
          <p:cNvPr id="1218582" name="Text Box 22"/>
          <p:cNvSpPr txBox="1">
            <a:spLocks noChangeArrowheads="1"/>
          </p:cNvSpPr>
          <p:nvPr/>
        </p:nvSpPr>
        <p:spPr bwMode="auto">
          <a:xfrm>
            <a:off x="7315200" y="5546725"/>
            <a:ext cx="14906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anose="020B0604030504040204" pitchFamily="34" charset="0"/>
              </a:rPr>
              <a:t>/ 4  =  0.25</a:t>
            </a:r>
            <a:endParaRPr lang="en-US" altLang="zh-CN" sz="2000" b="0">
              <a:latin typeface="Tahoma" panose="020B0604030504040204" pitchFamily="34" charset="0"/>
            </a:endParaRPr>
          </a:p>
        </p:txBody>
      </p:sp>
      <p:sp>
        <p:nvSpPr>
          <p:cNvPr id="1218583" name="Text Box 23"/>
          <p:cNvSpPr txBox="1">
            <a:spLocks noChangeArrowheads="1"/>
          </p:cNvSpPr>
          <p:nvPr/>
        </p:nvSpPr>
        <p:spPr bwMode="auto">
          <a:xfrm>
            <a:off x="7315200" y="5927725"/>
            <a:ext cx="1352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anose="020B0604030504040204" pitchFamily="34" charset="0"/>
              </a:rPr>
              <a:t>/ 2  =  1.0</a:t>
            </a:r>
            <a:endParaRPr lang="en-US" altLang="zh-CN" sz="2000" b="0">
              <a:latin typeface="Tahoma" panose="020B0604030504040204" pitchFamily="34" charset="0"/>
            </a:endParaRPr>
          </a:p>
        </p:txBody>
      </p:sp>
      <p:sp>
        <p:nvSpPr>
          <p:cNvPr id="1218584" name="Rectangle 24"/>
          <p:cNvSpPr>
            <a:spLocks noChangeArrowheads="1"/>
          </p:cNvSpPr>
          <p:nvPr/>
        </p:nvSpPr>
        <p:spPr bwMode="auto">
          <a:xfrm>
            <a:off x="1524000" y="152400"/>
            <a:ext cx="304800" cy="3048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18585" name="Rectangle 25"/>
          <p:cNvSpPr>
            <a:spLocks noChangeArrowheads="1"/>
          </p:cNvSpPr>
          <p:nvPr/>
        </p:nvSpPr>
        <p:spPr bwMode="auto">
          <a:xfrm>
            <a:off x="1295400" y="2438400"/>
            <a:ext cx="304800" cy="3048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18586" name="Rectangle 26"/>
          <p:cNvSpPr>
            <a:spLocks noChangeArrowheads="1"/>
          </p:cNvSpPr>
          <p:nvPr/>
        </p:nvSpPr>
        <p:spPr bwMode="auto">
          <a:xfrm>
            <a:off x="4419600" y="152400"/>
            <a:ext cx="304800" cy="3048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18587" name="Rectangle 27"/>
          <p:cNvSpPr>
            <a:spLocks noChangeArrowheads="1"/>
          </p:cNvSpPr>
          <p:nvPr/>
        </p:nvSpPr>
        <p:spPr bwMode="auto">
          <a:xfrm>
            <a:off x="304800" y="2895600"/>
            <a:ext cx="304800" cy="3048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18588" name="Rectangle 28"/>
          <p:cNvSpPr>
            <a:spLocks noChangeArrowheads="1"/>
          </p:cNvSpPr>
          <p:nvPr/>
        </p:nvSpPr>
        <p:spPr bwMode="auto">
          <a:xfrm>
            <a:off x="838200" y="609600"/>
            <a:ext cx="304800" cy="3048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18589" name="Rectangle 29"/>
          <p:cNvSpPr>
            <a:spLocks noChangeArrowheads="1"/>
          </p:cNvSpPr>
          <p:nvPr/>
        </p:nvSpPr>
        <p:spPr bwMode="auto">
          <a:xfrm>
            <a:off x="3733800" y="533400"/>
            <a:ext cx="304800" cy="3048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18590" name="Rectangle 30"/>
          <p:cNvSpPr>
            <a:spLocks noChangeArrowheads="1"/>
          </p:cNvSpPr>
          <p:nvPr/>
        </p:nvSpPr>
        <p:spPr bwMode="auto">
          <a:xfrm>
            <a:off x="2667000" y="1066800"/>
            <a:ext cx="304800" cy="3048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18591" name="Rectangle 31"/>
          <p:cNvSpPr>
            <a:spLocks noChangeArrowheads="1"/>
          </p:cNvSpPr>
          <p:nvPr/>
        </p:nvSpPr>
        <p:spPr bwMode="auto">
          <a:xfrm>
            <a:off x="5943600" y="1066800"/>
            <a:ext cx="304800" cy="3048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18592" name="Rectangle 32"/>
          <p:cNvSpPr>
            <a:spLocks noChangeArrowheads="1"/>
          </p:cNvSpPr>
          <p:nvPr/>
        </p:nvSpPr>
        <p:spPr bwMode="auto">
          <a:xfrm>
            <a:off x="5257800" y="1524000"/>
            <a:ext cx="304800" cy="3048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18593" name="Rectangle 33"/>
          <p:cNvSpPr>
            <a:spLocks noChangeArrowheads="1"/>
          </p:cNvSpPr>
          <p:nvPr/>
        </p:nvSpPr>
        <p:spPr bwMode="auto">
          <a:xfrm>
            <a:off x="7086600" y="1981200"/>
            <a:ext cx="304800" cy="3048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18594" name="Rectangle 34"/>
          <p:cNvSpPr>
            <a:spLocks noChangeArrowheads="1"/>
          </p:cNvSpPr>
          <p:nvPr/>
        </p:nvSpPr>
        <p:spPr bwMode="auto">
          <a:xfrm>
            <a:off x="1828800" y="3810000"/>
            <a:ext cx="304800" cy="3048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18595" name="Rectangle 35"/>
          <p:cNvSpPr>
            <a:spLocks noChangeArrowheads="1"/>
          </p:cNvSpPr>
          <p:nvPr/>
        </p:nvSpPr>
        <p:spPr bwMode="auto">
          <a:xfrm>
            <a:off x="3733800" y="3886200"/>
            <a:ext cx="304800" cy="3048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18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18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18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18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2185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2185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2185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18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18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18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18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18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18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18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18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18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218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218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218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2185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2185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12185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12185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12185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12185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12185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12185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12185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218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218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218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577" grpId="0"/>
      <p:bldP spid="1218578" grpId="0"/>
      <p:bldP spid="1218579" grpId="0"/>
      <p:bldP spid="1218580" grpId="0"/>
      <p:bldP spid="1218581" grpId="0"/>
      <p:bldP spid="1218582" grpId="0"/>
      <p:bldP spid="1218583" grpId="0"/>
      <p:bldP spid="1218584" grpId="0" animBg="1"/>
      <p:bldP spid="1218584" grpId="1" animBg="1"/>
      <p:bldP spid="1218585" grpId="0" animBg="1"/>
      <p:bldP spid="1218585" grpId="1" animBg="1"/>
      <p:bldP spid="1218586" grpId="0" animBg="1"/>
      <p:bldP spid="1218586" grpId="1" animBg="1"/>
      <p:bldP spid="1218587" grpId="0" animBg="1"/>
      <p:bldP spid="1218587" grpId="1" animBg="1"/>
      <p:bldP spid="1218588" grpId="0" animBg="1"/>
      <p:bldP spid="1218588" grpId="1" animBg="1"/>
      <p:bldP spid="1218589" grpId="0" animBg="1"/>
      <p:bldP spid="1218589" grpId="1" animBg="1"/>
      <p:bldP spid="1218590" grpId="0" animBg="1"/>
      <p:bldP spid="1218590" grpId="1" animBg="1"/>
      <p:bldP spid="1218591" grpId="0" animBg="1"/>
      <p:bldP spid="1218591" grpId="1" animBg="1"/>
      <p:bldP spid="1218592" grpId="0" animBg="1"/>
      <p:bldP spid="1218592" grpId="1" animBg="1"/>
      <p:bldP spid="1218593" grpId="0" animBg="1"/>
      <p:bldP spid="1218593" grpId="1" animBg="1"/>
      <p:bldP spid="1218594" grpId="0" animBg="1"/>
      <p:bldP spid="1218594" grpId="1" animBg="1"/>
      <p:bldP spid="1218595" grpId="0" animBg="1"/>
      <p:bldP spid="1218595" grpId="1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682" name="Object 2"/>
          <p:cNvGraphicFramePr>
            <a:graphicFrameLocks noChangeAspect="1"/>
          </p:cNvGraphicFramePr>
          <p:nvPr>
            <p:ph type="body" idx="1"/>
          </p:nvPr>
        </p:nvGraphicFramePr>
        <p:xfrm>
          <a:off x="3657600" y="206375"/>
          <a:ext cx="4191000" cy="314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0" name="Bitmap Image" r:id="rId1" imgW="4314825" imgH="3238500" progId="Paint.Picture">
                  <p:embed/>
                </p:oleObj>
              </mc:Choice>
              <mc:Fallback>
                <p:oleObj name="Bitmap Image" r:id="rId1" imgW="4314825" imgH="3238500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06375"/>
                        <a:ext cx="4191000" cy="314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3" name="Object 3"/>
          <p:cNvGraphicFramePr>
            <a:graphicFrameLocks noChangeAspect="1"/>
          </p:cNvGraphicFramePr>
          <p:nvPr/>
        </p:nvGraphicFramePr>
        <p:xfrm>
          <a:off x="228600" y="201613"/>
          <a:ext cx="3276600" cy="231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1" name="位图图像" r:id="rId3" imgW="3305175" imgH="2333625" progId="Paint.Picture">
                  <p:embed/>
                </p:oleObj>
              </mc:Choice>
              <mc:Fallback>
                <p:oleObj name="位图图像" r:id="rId3" imgW="3305175" imgH="2333625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01613"/>
                        <a:ext cx="3276600" cy="2312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4" name="Object 4"/>
          <p:cNvGraphicFramePr>
            <a:graphicFrameLocks noChangeAspect="1"/>
          </p:cNvGraphicFramePr>
          <p:nvPr/>
        </p:nvGraphicFramePr>
        <p:xfrm>
          <a:off x="228600" y="2514600"/>
          <a:ext cx="4495800" cy="285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2" name="Bitmap Image" r:id="rId5" imgW="4600575" imgH="2924175" progId="Paint.Picture">
                  <p:embed/>
                </p:oleObj>
              </mc:Choice>
              <mc:Fallback>
                <p:oleObj name="Bitmap Image" r:id="rId5" imgW="4600575" imgH="2924175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514600"/>
                        <a:ext cx="4495800" cy="285908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5" name="Text Box 5"/>
          <p:cNvSpPr txBox="1">
            <a:spLocks noChangeArrowheads="1"/>
          </p:cNvSpPr>
          <p:nvPr/>
        </p:nvSpPr>
        <p:spPr bwMode="auto">
          <a:xfrm>
            <a:off x="5029200" y="3260725"/>
            <a:ext cx="1981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anose="020B0604030504040204" pitchFamily="34" charset="0"/>
              </a:rPr>
              <a:t>S → NP VP</a:t>
            </a:r>
            <a:endParaRPr lang="en-US" altLang="zh-CN" sz="2400" b="0">
              <a:latin typeface="Tahoma" panose="020B0604030504040204" pitchFamily="34" charset="0"/>
            </a:endParaRPr>
          </a:p>
        </p:txBody>
      </p:sp>
      <p:sp>
        <p:nvSpPr>
          <p:cNvPr id="71686" name="Text Box 6"/>
          <p:cNvSpPr txBox="1">
            <a:spLocks noChangeArrowheads="1"/>
          </p:cNvSpPr>
          <p:nvPr/>
        </p:nvSpPr>
        <p:spPr bwMode="auto">
          <a:xfrm>
            <a:off x="5029200" y="3717925"/>
            <a:ext cx="1981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anose="020B0604030504040204" pitchFamily="34" charset="0"/>
              </a:rPr>
              <a:t>NP → Pro</a:t>
            </a:r>
            <a:endParaRPr lang="en-US" altLang="zh-CN" sz="2400" b="0">
              <a:latin typeface="Tahoma" panose="020B0604030504040204" pitchFamily="34" charset="0"/>
            </a:endParaRPr>
          </a:p>
        </p:txBody>
      </p:sp>
      <p:sp>
        <p:nvSpPr>
          <p:cNvPr id="71687" name="Text Box 7"/>
          <p:cNvSpPr txBox="1">
            <a:spLocks noChangeArrowheads="1"/>
          </p:cNvSpPr>
          <p:nvPr/>
        </p:nvSpPr>
        <p:spPr bwMode="auto">
          <a:xfrm>
            <a:off x="5029200" y="4175125"/>
            <a:ext cx="1981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anose="020B0604030504040204" pitchFamily="34" charset="0"/>
              </a:rPr>
              <a:t>NP → Det N</a:t>
            </a:r>
            <a:endParaRPr lang="en-US" altLang="zh-CN" sz="2400" b="0">
              <a:latin typeface="Tahoma" panose="020B0604030504040204" pitchFamily="34" charset="0"/>
            </a:endParaRPr>
          </a:p>
        </p:txBody>
      </p:sp>
      <p:sp>
        <p:nvSpPr>
          <p:cNvPr id="71688" name="Text Box 8"/>
          <p:cNvSpPr txBox="1">
            <a:spLocks noChangeArrowheads="1"/>
          </p:cNvSpPr>
          <p:nvPr/>
        </p:nvSpPr>
        <p:spPr bwMode="auto">
          <a:xfrm>
            <a:off x="5029200" y="4648200"/>
            <a:ext cx="1981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anose="020B0604030504040204" pitchFamily="34" charset="0"/>
              </a:rPr>
              <a:t>NP → NP PP</a:t>
            </a:r>
            <a:endParaRPr lang="en-US" altLang="zh-CN" sz="2400" b="0">
              <a:latin typeface="Tahoma" panose="020B0604030504040204" pitchFamily="34" charset="0"/>
            </a:endParaRPr>
          </a:p>
        </p:txBody>
      </p:sp>
      <p:sp>
        <p:nvSpPr>
          <p:cNvPr id="71689" name="Text Box 9"/>
          <p:cNvSpPr txBox="1">
            <a:spLocks noChangeArrowheads="1"/>
          </p:cNvSpPr>
          <p:nvPr/>
        </p:nvSpPr>
        <p:spPr bwMode="auto">
          <a:xfrm>
            <a:off x="5029200" y="5105400"/>
            <a:ext cx="19812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anose="020B0604030504040204" pitchFamily="34" charset="0"/>
              </a:rPr>
              <a:t>VP → V NP</a:t>
            </a:r>
            <a:endParaRPr lang="en-US" altLang="zh-CN" sz="2000" b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800" b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anose="020B0604030504040204" pitchFamily="34" charset="0"/>
              </a:rPr>
              <a:t>VP → VP PP</a:t>
            </a:r>
            <a:endParaRPr lang="en-US" altLang="zh-CN" sz="2000" b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700" b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anose="020B0604030504040204" pitchFamily="34" charset="0"/>
              </a:rPr>
              <a:t>PP → P NP</a:t>
            </a:r>
            <a:endParaRPr lang="en-US" altLang="zh-CN" sz="2000" b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400" b="0">
              <a:latin typeface="Tahoma" panose="020B0604030504040204" pitchFamily="34" charset="0"/>
            </a:endParaRPr>
          </a:p>
        </p:txBody>
      </p:sp>
      <p:sp>
        <p:nvSpPr>
          <p:cNvPr id="71690" name="Text Box 10"/>
          <p:cNvSpPr txBox="1">
            <a:spLocks noChangeArrowheads="1"/>
          </p:cNvSpPr>
          <p:nvPr/>
        </p:nvSpPr>
        <p:spPr bwMode="auto">
          <a:xfrm>
            <a:off x="7315200" y="3260725"/>
            <a:ext cx="536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anose="020B0604030504040204" pitchFamily="34" charset="0"/>
              </a:rPr>
              <a:t>1.0</a:t>
            </a:r>
            <a:endParaRPr lang="en-US" altLang="zh-CN" sz="2000" b="0">
              <a:latin typeface="Tahoma" panose="020B0604030504040204" pitchFamily="34" charset="0"/>
            </a:endParaRPr>
          </a:p>
        </p:txBody>
      </p:sp>
      <p:sp>
        <p:nvSpPr>
          <p:cNvPr id="71691" name="Text Box 11"/>
          <p:cNvSpPr txBox="1">
            <a:spLocks noChangeArrowheads="1"/>
          </p:cNvSpPr>
          <p:nvPr/>
        </p:nvSpPr>
        <p:spPr bwMode="auto">
          <a:xfrm>
            <a:off x="7315200" y="3717925"/>
            <a:ext cx="6746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anose="020B0604030504040204" pitchFamily="34" charset="0"/>
              </a:rPr>
              <a:t>0.22</a:t>
            </a:r>
            <a:endParaRPr lang="en-US" altLang="zh-CN" sz="2000" b="0">
              <a:latin typeface="Tahoma" panose="020B0604030504040204" pitchFamily="34" charset="0"/>
            </a:endParaRPr>
          </a:p>
        </p:txBody>
      </p:sp>
      <p:sp>
        <p:nvSpPr>
          <p:cNvPr id="71692" name="Text Box 12"/>
          <p:cNvSpPr txBox="1">
            <a:spLocks noChangeArrowheads="1"/>
          </p:cNvSpPr>
          <p:nvPr/>
        </p:nvSpPr>
        <p:spPr bwMode="auto">
          <a:xfrm>
            <a:off x="7315200" y="4175125"/>
            <a:ext cx="6746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anose="020B0604030504040204" pitchFamily="34" charset="0"/>
              </a:rPr>
              <a:t>0.67</a:t>
            </a:r>
            <a:endParaRPr lang="en-US" altLang="zh-CN" sz="2000" b="0">
              <a:latin typeface="Tahoma" panose="020B0604030504040204" pitchFamily="34" charset="0"/>
            </a:endParaRPr>
          </a:p>
        </p:txBody>
      </p:sp>
      <p:sp>
        <p:nvSpPr>
          <p:cNvPr id="71693" name="Text Box 13"/>
          <p:cNvSpPr txBox="1">
            <a:spLocks noChangeArrowheads="1"/>
          </p:cNvSpPr>
          <p:nvPr/>
        </p:nvSpPr>
        <p:spPr bwMode="auto">
          <a:xfrm>
            <a:off x="7315200" y="4632325"/>
            <a:ext cx="6746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anose="020B0604030504040204" pitchFamily="34" charset="0"/>
              </a:rPr>
              <a:t>0.11</a:t>
            </a:r>
            <a:endParaRPr lang="en-US" altLang="zh-CN" sz="2000" b="0">
              <a:latin typeface="Tahoma" panose="020B0604030504040204" pitchFamily="34" charset="0"/>
            </a:endParaRPr>
          </a:p>
        </p:txBody>
      </p:sp>
      <p:sp>
        <p:nvSpPr>
          <p:cNvPr id="71694" name="Text Box 14"/>
          <p:cNvSpPr txBox="1">
            <a:spLocks noChangeArrowheads="1"/>
          </p:cNvSpPr>
          <p:nvPr/>
        </p:nvSpPr>
        <p:spPr bwMode="auto">
          <a:xfrm>
            <a:off x="7315200" y="5089525"/>
            <a:ext cx="6746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anose="020B0604030504040204" pitchFamily="34" charset="0"/>
              </a:rPr>
              <a:t>0.75</a:t>
            </a:r>
            <a:endParaRPr lang="en-US" altLang="zh-CN" sz="2000" b="0">
              <a:latin typeface="Tahoma" panose="020B0604030504040204" pitchFamily="34" charset="0"/>
            </a:endParaRPr>
          </a:p>
        </p:txBody>
      </p:sp>
      <p:sp>
        <p:nvSpPr>
          <p:cNvPr id="71695" name="Text Box 15"/>
          <p:cNvSpPr txBox="1">
            <a:spLocks noChangeArrowheads="1"/>
          </p:cNvSpPr>
          <p:nvPr/>
        </p:nvSpPr>
        <p:spPr bwMode="auto">
          <a:xfrm>
            <a:off x="7315200" y="5546725"/>
            <a:ext cx="6746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anose="020B0604030504040204" pitchFamily="34" charset="0"/>
              </a:rPr>
              <a:t>0.25</a:t>
            </a:r>
            <a:endParaRPr lang="en-US" altLang="zh-CN" sz="2000" b="0">
              <a:latin typeface="Tahoma" panose="020B0604030504040204" pitchFamily="34" charset="0"/>
            </a:endParaRPr>
          </a:p>
        </p:txBody>
      </p:sp>
      <p:sp>
        <p:nvSpPr>
          <p:cNvPr id="71696" name="Text Box 16"/>
          <p:cNvSpPr txBox="1">
            <a:spLocks noChangeArrowheads="1"/>
          </p:cNvSpPr>
          <p:nvPr/>
        </p:nvSpPr>
        <p:spPr bwMode="auto">
          <a:xfrm>
            <a:off x="7315200" y="5927725"/>
            <a:ext cx="536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anose="020B0604030504040204" pitchFamily="34" charset="0"/>
              </a:rPr>
              <a:t>1.0</a:t>
            </a:r>
            <a:endParaRPr lang="en-US" altLang="zh-CN" sz="2000" b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Evaluating Parsing Accuracy</a:t>
            </a:r>
            <a:endParaRPr lang="en-US" altLang="zh-CN" smtClean="0"/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smtClean="0"/>
              <a:t>A treebank also makes evaluation easier</a:t>
            </a:r>
            <a:endParaRPr lang="en-US" altLang="zh-CN" sz="2800" smtClean="0"/>
          </a:p>
          <a:p>
            <a:pPr eaLnBrk="1" hangingPunct="1"/>
            <a:r>
              <a:rPr lang="en-US" altLang="zh-CN" sz="2800" smtClean="0"/>
              <a:t>Few sentences are assigned a completely correct parse by any currently existing parsers.  Rather, evaluation is done in terms of the percentage of correct constituents.</a:t>
            </a:r>
            <a:endParaRPr lang="en-US" altLang="zh-CN" sz="2800" smtClean="0"/>
          </a:p>
          <a:p>
            <a:pPr eaLnBrk="1" hangingPunct="1"/>
            <a:r>
              <a:rPr lang="en-US" altLang="zh-CN" sz="2800" smtClean="0">
                <a:solidFill>
                  <a:srgbClr val="FF5050"/>
                </a:solidFill>
              </a:rPr>
              <a:t>[Label, Start, Finish]</a:t>
            </a:r>
            <a:endParaRPr lang="en-US" altLang="zh-CN" sz="2800" smtClean="0">
              <a:solidFill>
                <a:srgbClr val="FF5050"/>
              </a:solidFill>
            </a:endParaRPr>
          </a:p>
          <a:p>
            <a:pPr eaLnBrk="1" hangingPunct="1"/>
            <a:r>
              <a:rPr lang="en-US" altLang="zh-CN" sz="2800" smtClean="0"/>
              <a:t>A constituent is a triple, all of which must be in the true parse for the constituent to be marked correct.</a:t>
            </a:r>
            <a:endParaRPr lang="en-US" altLang="zh-CN" sz="280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Evaluating Constituent Accuracy</a:t>
            </a:r>
            <a:endParaRPr lang="en-US" altLang="zh-CN" smtClean="0"/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Let C be the number of correct constituents produced by the parser over the test set, M be the total number of constituents produced, and  N be the total in the correct version</a:t>
            </a:r>
            <a:endParaRPr lang="en-US" altLang="zh-CN" smtClean="0"/>
          </a:p>
          <a:p>
            <a:pPr eaLnBrk="1" hangingPunct="1">
              <a:lnSpc>
                <a:spcPct val="25000"/>
              </a:lnSpc>
            </a:pPr>
            <a:endParaRPr lang="en-US" altLang="zh-CN" smtClean="0"/>
          </a:p>
          <a:p>
            <a:pPr eaLnBrk="1" hangingPunct="1"/>
            <a:r>
              <a:rPr lang="en-US" altLang="zh-CN" smtClean="0"/>
              <a:t>	Precision = C/M</a:t>
            </a:r>
            <a:endParaRPr lang="en-US" altLang="zh-CN" smtClean="0"/>
          </a:p>
          <a:p>
            <a:pPr eaLnBrk="1" hangingPunct="1"/>
            <a:r>
              <a:rPr lang="en-US" altLang="zh-CN" smtClean="0"/>
              <a:t>	Recall = C/N</a:t>
            </a:r>
            <a:endParaRPr lang="en-US" altLang="zh-CN" smtClean="0">
              <a:solidFill>
                <a:srgbClr val="CC3300"/>
              </a:solidFill>
            </a:endParaRPr>
          </a:p>
          <a:p>
            <a:pPr eaLnBrk="1" hangingPunct="1">
              <a:lnSpc>
                <a:spcPct val="30000"/>
              </a:lnSpc>
            </a:pPr>
            <a:endParaRPr lang="en-US" altLang="zh-CN" smtClean="0"/>
          </a:p>
          <a:p>
            <a:pPr eaLnBrk="1" hangingPunct="1"/>
            <a:r>
              <a:rPr lang="en-US" altLang="zh-CN" smtClean="0">
                <a:solidFill>
                  <a:srgbClr val="F91B4B"/>
                </a:solidFill>
              </a:rPr>
              <a:t>Both are important measures.</a:t>
            </a:r>
            <a:r>
              <a:rPr lang="en-US" altLang="zh-CN" smtClean="0"/>
              <a:t> </a:t>
            </a:r>
            <a:endParaRPr lang="en-US" altLang="zh-CN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zh-CN" smtClean="0">
                <a:solidFill>
                  <a:schemeClr val="tx1"/>
                </a:solidFill>
                <a:latin typeface="Tahoma" panose="020B0604030504040204" pitchFamily="34" charset="0"/>
              </a:rPr>
              <a:t>Parser Evaluation Using the Penn Treebank</a:t>
            </a:r>
            <a:endParaRPr lang="en-US" altLang="zh-CN" smtClean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534400" cy="49530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ahoma" panose="020B0604030504040204" pitchFamily="34" charset="0"/>
              </a:rPr>
              <a:t>Labeled Precision and Recall of constituents</a:t>
            </a:r>
            <a:endParaRPr lang="en-US" altLang="zh-CN" smtClean="0">
              <a:latin typeface="Tahoma" panose="020B0604030504040204" pitchFamily="34" charset="0"/>
            </a:endParaRPr>
          </a:p>
          <a:p>
            <a:pPr eaLnBrk="1" hangingPunct="1">
              <a:buFontTx/>
              <a:buNone/>
            </a:pPr>
            <a:endParaRPr lang="en-US" altLang="zh-CN" smtClean="0">
              <a:latin typeface="Tahoma" panose="020B0604030504040204" pitchFamily="34" charset="0"/>
            </a:endParaRPr>
          </a:p>
          <a:p>
            <a:pPr eaLnBrk="1" hangingPunct="1">
              <a:buFontTx/>
              <a:buNone/>
            </a:pPr>
            <a:r>
              <a:rPr lang="en-US" altLang="zh-CN" sz="2400" smtClean="0">
                <a:latin typeface="Tahoma" panose="020B0604030504040204" pitchFamily="34" charset="0"/>
              </a:rPr>
              <a:t>Our parser says:		     The Treebank says:</a:t>
            </a:r>
            <a:endParaRPr lang="en-US" altLang="zh-CN" sz="2400" smtClean="0">
              <a:latin typeface="Tahoma" panose="020B0604030504040204" pitchFamily="34" charset="0"/>
            </a:endParaRPr>
          </a:p>
        </p:txBody>
      </p:sp>
      <p:graphicFrame>
        <p:nvGraphicFramePr>
          <p:cNvPr id="74756" name="Object 4"/>
          <p:cNvGraphicFramePr>
            <a:graphicFrameLocks noChangeAspect="1"/>
          </p:cNvGraphicFramePr>
          <p:nvPr/>
        </p:nvGraphicFramePr>
        <p:xfrm>
          <a:off x="4572000" y="3124200"/>
          <a:ext cx="3886200" cy="291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60" name="Bitmap Image" r:id="rId1" imgW="4314825" imgH="3238500" progId="Paint.Picture">
                  <p:embed/>
                </p:oleObj>
              </mc:Choice>
              <mc:Fallback>
                <p:oleObj name="Bitmap Image" r:id="rId1" imgW="4314825" imgH="3238500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124200"/>
                        <a:ext cx="3886200" cy="291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7" name="Object 5"/>
          <p:cNvGraphicFramePr>
            <a:graphicFrameLocks noChangeAspect="1"/>
          </p:cNvGraphicFramePr>
          <p:nvPr/>
        </p:nvGraphicFramePr>
        <p:xfrm>
          <a:off x="304800" y="3124200"/>
          <a:ext cx="4038600" cy="2671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61" name="Bitmap Image" r:id="rId3" imgW="4391025" imgH="2905125" progId="Paint.Picture">
                  <p:embed/>
                </p:oleObj>
              </mc:Choice>
              <mc:Fallback>
                <p:oleObj name="Bitmap Image" r:id="rId3" imgW="4391025" imgH="2905125" progId="Paint.Picture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124200"/>
                        <a:ext cx="4038600" cy="2671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zh-CN" smtClean="0">
                <a:solidFill>
                  <a:schemeClr val="tx1"/>
                </a:solidFill>
                <a:latin typeface="Tahoma" panose="020B0604030504040204" pitchFamily="34" charset="0"/>
              </a:rPr>
              <a:t>Counting Constituents</a:t>
            </a:r>
            <a:endParaRPr lang="en-US" altLang="zh-CN" smtClean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3962400"/>
            <a:ext cx="7772400" cy="2819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000" b="1" smtClean="0">
                <a:latin typeface="Courier New" panose="02070309020205020404" pitchFamily="49" charset="0"/>
              </a:rPr>
              <a:t>S		1	7			S	1	7</a:t>
            </a:r>
            <a:endParaRPr lang="en-US" altLang="zh-CN" sz="2000" b="1" smtClean="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zh-CN" sz="2000" b="1" smtClean="0">
                <a:latin typeface="Courier New" panose="02070309020205020404" pitchFamily="49" charset="0"/>
              </a:rPr>
              <a:t>NP		1	1			NP	1	1</a:t>
            </a:r>
            <a:endParaRPr lang="en-US" altLang="zh-CN" sz="2000" b="1" smtClean="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zh-CN" sz="2000" b="1" smtClean="0">
                <a:latin typeface="Courier New" panose="02070309020205020404" pitchFamily="49" charset="0"/>
              </a:rPr>
              <a:t>VP		2	7			VP	2	7</a:t>
            </a:r>
            <a:endParaRPr lang="en-US" altLang="zh-CN" sz="2000" b="1" smtClean="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zh-CN" sz="2000" b="1" smtClean="0">
                <a:latin typeface="Courier New" panose="02070309020205020404" pitchFamily="49" charset="0"/>
              </a:rPr>
              <a:t>NP		3	4			NP	3	7</a:t>
            </a:r>
            <a:endParaRPr lang="en-US" altLang="zh-CN" sz="2000" b="1" smtClean="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zh-CN" sz="2000" b="1" smtClean="0">
                <a:latin typeface="Courier New" panose="02070309020205020404" pitchFamily="49" charset="0"/>
              </a:rPr>
              <a:t>PP		5	7			NP	3	4</a:t>
            </a:r>
            <a:endParaRPr lang="en-US" altLang="zh-CN" sz="2000" b="1" smtClean="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zh-CN" sz="2000" b="1" smtClean="0">
                <a:latin typeface="Courier New" panose="02070309020205020404" pitchFamily="49" charset="0"/>
              </a:rPr>
              <a:t>NP		6	7			PP	5	7</a:t>
            </a:r>
            <a:endParaRPr lang="en-US" altLang="zh-CN" sz="2000" b="1" smtClean="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zh-CN" sz="2000" b="1" smtClean="0">
                <a:latin typeface="Courier New" panose="02070309020205020404" pitchFamily="49" charset="0"/>
              </a:rPr>
              <a:t>						NP	6	7</a:t>
            </a:r>
            <a:endParaRPr lang="en-US" altLang="zh-CN" sz="2000" b="1" smtClean="0">
              <a:latin typeface="Courier New" panose="02070309020205020404" pitchFamily="49" charset="0"/>
            </a:endParaRPr>
          </a:p>
        </p:txBody>
      </p:sp>
      <p:graphicFrame>
        <p:nvGraphicFramePr>
          <p:cNvPr id="75780" name="Object 4"/>
          <p:cNvGraphicFramePr>
            <a:graphicFrameLocks noChangeAspect="1"/>
          </p:cNvGraphicFramePr>
          <p:nvPr/>
        </p:nvGraphicFramePr>
        <p:xfrm>
          <a:off x="304800" y="1366838"/>
          <a:ext cx="4038600" cy="2671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2" name="Bitmap Image" r:id="rId1" imgW="4391025" imgH="2905125" progId="Paint.Picture">
                  <p:embed/>
                </p:oleObj>
              </mc:Choice>
              <mc:Fallback>
                <p:oleObj name="Bitmap Image" r:id="rId1" imgW="4391025" imgH="2905125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366838"/>
                        <a:ext cx="4038600" cy="2671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1" name="Object 5"/>
          <p:cNvGraphicFramePr>
            <a:graphicFrameLocks noChangeAspect="1"/>
          </p:cNvGraphicFramePr>
          <p:nvPr/>
        </p:nvGraphicFramePr>
        <p:xfrm>
          <a:off x="4572000" y="1370013"/>
          <a:ext cx="3554413" cy="2668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3" name="Bitmap Image" r:id="rId3" imgW="4314825" imgH="3238500" progId="Paint.Picture">
                  <p:embed/>
                </p:oleObj>
              </mc:Choice>
              <mc:Fallback>
                <p:oleObj name="Bitmap Image" r:id="rId3" imgW="4314825" imgH="3238500" progId="Paint.Picture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370013"/>
                        <a:ext cx="3554413" cy="2668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1638" name="Rectangle 6"/>
          <p:cNvSpPr>
            <a:spLocks noChangeArrowheads="1"/>
          </p:cNvSpPr>
          <p:nvPr/>
        </p:nvSpPr>
        <p:spPr bwMode="auto">
          <a:xfrm>
            <a:off x="762000" y="3962400"/>
            <a:ext cx="2133600" cy="3810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21639" name="Rectangle 7"/>
          <p:cNvSpPr>
            <a:spLocks noChangeArrowheads="1"/>
          </p:cNvSpPr>
          <p:nvPr/>
        </p:nvSpPr>
        <p:spPr bwMode="auto">
          <a:xfrm>
            <a:off x="457200" y="1295400"/>
            <a:ext cx="3886200" cy="25146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21640" name="Rectangle 8"/>
          <p:cNvSpPr>
            <a:spLocks noChangeArrowheads="1"/>
          </p:cNvSpPr>
          <p:nvPr/>
        </p:nvSpPr>
        <p:spPr bwMode="auto">
          <a:xfrm>
            <a:off x="762000" y="4343400"/>
            <a:ext cx="2133600" cy="3810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21641" name="Rectangle 9"/>
          <p:cNvSpPr>
            <a:spLocks noChangeArrowheads="1"/>
          </p:cNvSpPr>
          <p:nvPr/>
        </p:nvSpPr>
        <p:spPr bwMode="auto">
          <a:xfrm>
            <a:off x="457200" y="1752600"/>
            <a:ext cx="304800" cy="11430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21642" name="Rectangle 10"/>
          <p:cNvSpPr>
            <a:spLocks noChangeArrowheads="1"/>
          </p:cNvSpPr>
          <p:nvPr/>
        </p:nvSpPr>
        <p:spPr bwMode="auto">
          <a:xfrm>
            <a:off x="762000" y="4724400"/>
            <a:ext cx="2133600" cy="3810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21643" name="Rectangle 11"/>
          <p:cNvSpPr>
            <a:spLocks noChangeArrowheads="1"/>
          </p:cNvSpPr>
          <p:nvPr/>
        </p:nvSpPr>
        <p:spPr bwMode="auto">
          <a:xfrm>
            <a:off x="1066800" y="1752600"/>
            <a:ext cx="3276600" cy="20574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21644" name="Rectangle 12"/>
          <p:cNvSpPr>
            <a:spLocks noChangeArrowheads="1"/>
          </p:cNvSpPr>
          <p:nvPr/>
        </p:nvSpPr>
        <p:spPr bwMode="auto">
          <a:xfrm>
            <a:off x="762000" y="5029200"/>
            <a:ext cx="2133600" cy="3810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21645" name="Rectangle 13"/>
          <p:cNvSpPr>
            <a:spLocks noChangeArrowheads="1"/>
          </p:cNvSpPr>
          <p:nvPr/>
        </p:nvSpPr>
        <p:spPr bwMode="auto">
          <a:xfrm>
            <a:off x="1600200" y="2209800"/>
            <a:ext cx="990600" cy="12192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1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21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2216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2216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21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21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2216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2216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21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21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2216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2216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1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21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21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2216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1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2216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1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1638" grpId="0" animBg="1"/>
      <p:bldP spid="1221638" grpId="1" animBg="1"/>
      <p:bldP spid="1221639" grpId="0" animBg="1"/>
      <p:bldP spid="1221639" grpId="1" animBg="1"/>
      <p:bldP spid="1221640" grpId="0" animBg="1"/>
      <p:bldP spid="1221640" grpId="1" animBg="1"/>
      <p:bldP spid="1221641" grpId="0" animBg="1"/>
      <p:bldP spid="1221641" grpId="1" animBg="1"/>
      <p:bldP spid="1221642" grpId="0" animBg="1"/>
      <p:bldP spid="1221642" grpId="1" animBg="1"/>
      <p:bldP spid="1221643" grpId="0" animBg="1"/>
      <p:bldP spid="1221643" grpId="1" animBg="1"/>
      <p:bldP spid="1221644" grpId="0" animBg="1"/>
      <p:bldP spid="1221644" grpId="1" animBg="1"/>
      <p:bldP spid="1221645" grpId="0" animBg="1"/>
      <p:bldP spid="1221645" grpId="1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Parsing Results [Charniak]</a:t>
            </a:r>
            <a:endParaRPr lang="en-US" altLang="zh-CN" smtClean="0"/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Method					     Prec/Rec</a:t>
            </a:r>
            <a:endParaRPr lang="en-US" altLang="zh-CN" smtClean="0"/>
          </a:p>
          <a:p>
            <a:pPr lvl="2" eaLnBrk="1" hangingPunct="1">
              <a:buFontTx/>
              <a:buNone/>
            </a:pPr>
            <a:r>
              <a:rPr lang="en-US" altLang="zh-CN" smtClean="0"/>
              <a:t>							[average]</a:t>
            </a:r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en-US" altLang="zh-CN" smtClean="0"/>
              <a:t>PCFG						75%</a:t>
            </a:r>
            <a:endParaRPr lang="en-US" altLang="zh-CN" smtClean="0"/>
          </a:p>
          <a:p>
            <a:pPr eaLnBrk="1" hangingPunct="1"/>
            <a:endParaRPr lang="en-US" altLang="zh-CN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 smtClean="0"/>
              <a:t>Implementing PCFG on chart parsing</a:t>
            </a:r>
            <a:endParaRPr lang="en-US" altLang="zh-CN" sz="4000" smtClean="0"/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Bottom-up </a:t>
            </a:r>
            <a:r>
              <a:rPr lang="en-US" altLang="zh-CN" dirty="0" smtClean="0">
                <a:solidFill>
                  <a:srgbClr val="00B050"/>
                </a:solidFill>
              </a:rPr>
              <a:t>dynamic programming</a:t>
            </a:r>
            <a:r>
              <a:rPr lang="en-US" altLang="zh-CN" dirty="0" smtClean="0"/>
              <a:t> approach</a:t>
            </a:r>
            <a:endParaRPr lang="en-US" altLang="zh-CN" dirty="0" smtClean="0"/>
          </a:p>
          <a:p>
            <a:pPr eaLnBrk="1" hangingPunct="1"/>
            <a:r>
              <a:rPr lang="en-US" altLang="zh-CN" dirty="0" smtClean="0"/>
              <a:t>Assign probabilities to constituents as they are completed and placed in the table</a:t>
            </a:r>
            <a:endParaRPr lang="en-US" altLang="zh-CN" dirty="0" smtClean="0"/>
          </a:p>
          <a:p>
            <a:pPr eaLnBrk="1" hangingPunct="1"/>
            <a:r>
              <a:rPr lang="en-US" altLang="zh-CN" dirty="0" smtClean="0"/>
              <a:t>Use the </a:t>
            </a:r>
            <a:r>
              <a:rPr lang="en-US" altLang="zh-CN" dirty="0" smtClean="0">
                <a:solidFill>
                  <a:srgbClr val="00B050"/>
                </a:solidFill>
              </a:rPr>
              <a:t>max</a:t>
            </a:r>
            <a:r>
              <a:rPr lang="en-US" altLang="zh-CN" dirty="0" smtClean="0"/>
              <a:t> probability for each constituent going up the tree</a:t>
            </a:r>
            <a:endParaRPr lang="en-US" altLang="zh-CN" dirty="0" smtClean="0"/>
          </a:p>
          <a:p>
            <a:pPr eaLnBrk="1" hangingPunct="1"/>
            <a:r>
              <a:rPr lang="en-US" altLang="zh-CN" dirty="0" smtClean="0"/>
              <a:t>We can also add </a:t>
            </a:r>
            <a:r>
              <a:rPr lang="en-US" altLang="zh-CN" dirty="0" err="1" smtClean="0"/>
              <a:t>nbest</a:t>
            </a:r>
            <a:r>
              <a:rPr lang="en-US" altLang="zh-CN" dirty="0" smtClean="0"/>
              <a:t> parsing easily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Using the Maxima</a:t>
            </a:r>
            <a:endParaRPr lang="en-US" altLang="zh-CN" smtClean="0"/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800" smtClean="0"/>
              <a:t>suppose we want calculate P(NP) </a:t>
            </a:r>
            <a:endParaRPr lang="en-US" altLang="zh-CN" sz="2800" smtClean="0"/>
          </a:p>
          <a:p>
            <a:pPr eaLnBrk="1" hangingPunct="1">
              <a:lnSpc>
                <a:spcPct val="80000"/>
              </a:lnSpc>
            </a:pPr>
            <a:r>
              <a:rPr lang="en-US" altLang="zh-CN" sz="2800" smtClean="0"/>
              <a:t>what if there are multiple NPs for the span of text in question (i to j)?</a:t>
            </a:r>
            <a:endParaRPr lang="en-US" altLang="zh-CN" sz="2800" smtClean="0"/>
          </a:p>
          <a:p>
            <a:pPr eaLnBrk="1" hangingPunct="1">
              <a:lnSpc>
                <a:spcPct val="80000"/>
              </a:lnSpc>
            </a:pPr>
            <a:r>
              <a:rPr lang="en-US" altLang="zh-CN" sz="2800" smtClean="0"/>
              <a:t>Take the max!</a:t>
            </a:r>
            <a:endParaRPr lang="en-US" altLang="zh-CN" sz="2800" smtClean="0"/>
          </a:p>
          <a:p>
            <a:pPr eaLnBrk="1" hangingPunct="1">
              <a:lnSpc>
                <a:spcPct val="80000"/>
              </a:lnSpc>
            </a:pPr>
            <a:r>
              <a:rPr lang="en-US" altLang="zh-CN" sz="2800" smtClean="0"/>
              <a:t>probs for other kinds of constituents for the same span are also calculated, of course</a:t>
            </a:r>
            <a:endParaRPr lang="en-US" altLang="zh-CN" sz="2800" smtClean="0"/>
          </a:p>
          <a:p>
            <a:pPr eaLnBrk="1" hangingPunct="1">
              <a:lnSpc>
                <a:spcPct val="80000"/>
              </a:lnSpc>
            </a:pPr>
            <a:r>
              <a:rPr lang="en-IE" altLang="zh-CN" sz="2800" i="1" smtClean="0"/>
              <a:t>N</a:t>
            </a:r>
            <a:r>
              <a:rPr lang="en-IE" altLang="zh-CN" sz="2800" smtClean="0"/>
              <a:t> words </a:t>
            </a:r>
            <a:r>
              <a:rPr lang="en-IE" altLang="zh-CN" sz="2800" i="1" smtClean="0"/>
              <a:t>w</a:t>
            </a:r>
            <a:r>
              <a:rPr lang="en-IE" altLang="zh-CN" sz="2800" baseline="-25000" smtClean="0"/>
              <a:t>1</a:t>
            </a:r>
            <a:r>
              <a:rPr lang="en-IE" altLang="zh-CN" sz="2800" smtClean="0"/>
              <a:t>…</a:t>
            </a:r>
            <a:r>
              <a:rPr lang="en-IE" altLang="zh-CN" sz="2800" i="1" smtClean="0"/>
              <a:t>w</a:t>
            </a:r>
            <a:r>
              <a:rPr lang="en-IE" altLang="zh-CN" sz="2800" baseline="-25000" smtClean="0"/>
              <a:t>n</a:t>
            </a:r>
            <a:endParaRPr lang="en-IE" altLang="zh-CN" sz="2800" baseline="-25000" smtClean="0"/>
          </a:p>
          <a:p>
            <a:pPr eaLnBrk="1" hangingPunct="1">
              <a:lnSpc>
                <a:spcPct val="80000"/>
              </a:lnSpc>
            </a:pPr>
            <a:r>
              <a:rPr lang="en-IE" altLang="zh-CN" sz="2800" smtClean="0"/>
              <a:t>Array </a:t>
            </a:r>
            <a:r>
              <a:rPr lang="en-IE" altLang="zh-CN" sz="2800" smtClean="0">
                <a:cs typeface="Times New Roman" panose="02020603050405020304" pitchFamily="18" charset="0"/>
              </a:rPr>
              <a:t>α[</a:t>
            </a:r>
            <a:r>
              <a:rPr lang="en-IE" altLang="zh-CN" sz="2800" i="1" smtClean="0">
                <a:cs typeface="Times New Roman" panose="02020603050405020304" pitchFamily="18" charset="0"/>
              </a:rPr>
              <a:t>i</a:t>
            </a:r>
            <a:r>
              <a:rPr lang="en-IE" altLang="zh-CN" sz="2800" smtClean="0">
                <a:cs typeface="Times New Roman" panose="02020603050405020304" pitchFamily="18" charset="0"/>
              </a:rPr>
              <a:t>,</a:t>
            </a:r>
            <a:r>
              <a:rPr lang="en-IE" altLang="zh-CN" sz="2800" i="1" smtClean="0">
                <a:cs typeface="Times New Roman" panose="02020603050405020304" pitchFamily="18" charset="0"/>
              </a:rPr>
              <a:t>j</a:t>
            </a:r>
            <a:r>
              <a:rPr lang="en-IE" altLang="zh-CN" sz="2800" smtClean="0">
                <a:cs typeface="Times New Roman" panose="02020603050405020304" pitchFamily="18" charset="0"/>
              </a:rPr>
              <a:t>,</a:t>
            </a:r>
            <a:r>
              <a:rPr lang="en-IE" altLang="zh-CN" sz="2800" i="1" smtClean="0">
                <a:cs typeface="Times New Roman" panose="02020603050405020304" pitchFamily="18" charset="0"/>
              </a:rPr>
              <a:t>A</a:t>
            </a:r>
            <a:r>
              <a:rPr lang="en-IE" altLang="zh-CN" sz="2800" smtClean="0">
                <a:cs typeface="Times New Roman" panose="02020603050405020304" pitchFamily="18" charset="0"/>
              </a:rPr>
              <a:t>] holds the maximum probability for a constituent with non-terminal A spanning words </a:t>
            </a:r>
            <a:r>
              <a:rPr lang="en-IE" altLang="zh-CN" sz="2800" i="1" smtClean="0"/>
              <a:t>w</a:t>
            </a:r>
            <a:r>
              <a:rPr lang="en-IE" altLang="zh-CN" sz="2800" baseline="-25000" smtClean="0"/>
              <a:t>i+1</a:t>
            </a:r>
            <a:r>
              <a:rPr lang="en-IE" altLang="zh-CN" sz="2800" smtClean="0"/>
              <a:t>…</a:t>
            </a:r>
            <a:r>
              <a:rPr lang="en-IE" altLang="zh-CN" sz="2800" i="1" smtClean="0"/>
              <a:t>w</a:t>
            </a:r>
            <a:r>
              <a:rPr lang="en-IE" altLang="zh-CN" sz="2800" baseline="-25000" smtClean="0"/>
              <a:t>j</a:t>
            </a:r>
            <a:endParaRPr lang="en-IE" altLang="zh-CN" sz="2800" baseline="-25000" smtClean="0"/>
          </a:p>
          <a:p>
            <a:pPr eaLnBrk="1" hangingPunct="1">
              <a:lnSpc>
                <a:spcPct val="80000"/>
              </a:lnSpc>
            </a:pPr>
            <a:r>
              <a:rPr lang="en-IE" altLang="zh-CN" sz="2800" smtClean="0"/>
              <a:t>Maximum probability parse will be </a:t>
            </a:r>
            <a:r>
              <a:rPr lang="en-IE" altLang="zh-CN" sz="2800" smtClean="0">
                <a:cs typeface="Times New Roman" panose="02020603050405020304" pitchFamily="18" charset="0"/>
              </a:rPr>
              <a:t>α[</a:t>
            </a:r>
            <a:r>
              <a:rPr lang="en-IE" altLang="zh-CN" sz="2800" i="1" smtClean="0">
                <a:cs typeface="Times New Roman" panose="02020603050405020304" pitchFamily="18" charset="0"/>
              </a:rPr>
              <a:t>0</a:t>
            </a:r>
            <a:r>
              <a:rPr lang="en-IE" altLang="zh-CN" sz="2800" smtClean="0">
                <a:cs typeface="Times New Roman" panose="02020603050405020304" pitchFamily="18" charset="0"/>
              </a:rPr>
              <a:t>,</a:t>
            </a:r>
            <a:r>
              <a:rPr lang="en-IE" altLang="zh-CN" sz="2800" i="1" smtClean="0">
                <a:cs typeface="Times New Roman" panose="02020603050405020304" pitchFamily="18" charset="0"/>
              </a:rPr>
              <a:t>n</a:t>
            </a:r>
            <a:r>
              <a:rPr lang="en-IE" altLang="zh-CN" sz="2800" smtClean="0">
                <a:cs typeface="Times New Roman" panose="02020603050405020304" pitchFamily="18" charset="0"/>
              </a:rPr>
              <a:t>,</a:t>
            </a:r>
            <a:r>
              <a:rPr lang="en-IE" altLang="zh-CN" sz="2800" i="1" smtClean="0">
                <a:cs typeface="Times New Roman" panose="02020603050405020304" pitchFamily="18" charset="0"/>
              </a:rPr>
              <a:t>S</a:t>
            </a:r>
            <a:r>
              <a:rPr lang="en-IE" altLang="zh-CN" sz="2800" smtClean="0">
                <a:cs typeface="Times New Roman" panose="02020603050405020304" pitchFamily="18" charset="0"/>
              </a:rPr>
              <a:t>]</a:t>
            </a:r>
            <a:endParaRPr lang="en-US" altLang="zh-CN" sz="28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 smtClean="0"/>
              <a:t>Better PCFG: lexicalized parsing</a:t>
            </a:r>
            <a:endParaRPr lang="en-US" altLang="zh-CN" sz="4000" smtClean="0"/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To do better, it is necessary to condition probabilities on the actual words of the sentence.  This makes the probabilities much tighter:</a:t>
            </a:r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>
              <a:buFontTx/>
              <a:buNone/>
            </a:pPr>
            <a:r>
              <a:rPr lang="en-US" altLang="zh-CN" i="1" smtClean="0"/>
              <a:t>p</a:t>
            </a:r>
            <a:r>
              <a:rPr lang="en-US" altLang="zh-CN" smtClean="0"/>
              <a:t>(V NP NP|VP) 		= 0.00151</a:t>
            </a:r>
            <a:endParaRPr lang="en-US" altLang="zh-CN" smtClean="0"/>
          </a:p>
          <a:p>
            <a:pPr eaLnBrk="1" hangingPunct="1">
              <a:buFontTx/>
              <a:buNone/>
            </a:pPr>
            <a:r>
              <a:rPr lang="en-US" altLang="zh-CN" i="1" smtClean="0"/>
              <a:t>p</a:t>
            </a:r>
            <a:r>
              <a:rPr lang="en-US" altLang="zh-CN" smtClean="0"/>
              <a:t>(V NP NP|VP(said))	= 0.00001</a:t>
            </a:r>
            <a:endParaRPr lang="en-US" altLang="zh-CN" smtClean="0"/>
          </a:p>
          <a:p>
            <a:pPr eaLnBrk="1" hangingPunct="1">
              <a:buFontTx/>
              <a:buNone/>
            </a:pPr>
            <a:r>
              <a:rPr lang="en-US" altLang="zh-CN" i="1" smtClean="0"/>
              <a:t>p</a:t>
            </a:r>
            <a:r>
              <a:rPr lang="en-US" altLang="zh-CN" smtClean="0"/>
              <a:t>(V NP NP|VP(gave)) 	= 0.01980</a:t>
            </a:r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Heads</a:t>
            </a:r>
            <a:endParaRPr lang="en-US" altLang="zh-CN" smtClean="0"/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smtClean="0"/>
              <a:t>Make use of notion of the </a:t>
            </a:r>
            <a:r>
              <a:rPr lang="en-US" altLang="zh-CN" sz="2800" smtClean="0">
                <a:solidFill>
                  <a:schemeClr val="accent2"/>
                </a:solidFill>
              </a:rPr>
              <a:t>head</a:t>
            </a:r>
            <a:r>
              <a:rPr lang="en-US" altLang="zh-CN" sz="2800" smtClean="0">
                <a:solidFill>
                  <a:srgbClr val="008000"/>
                </a:solidFill>
              </a:rPr>
              <a:t> </a:t>
            </a:r>
            <a:r>
              <a:rPr lang="en-US" altLang="zh-CN" sz="2800" smtClean="0"/>
              <a:t>of a phrase, e.g.</a:t>
            </a:r>
            <a:endParaRPr lang="en-US" altLang="zh-CN" sz="2800" smtClean="0"/>
          </a:p>
          <a:p>
            <a:pPr lvl="1" eaLnBrk="1" hangingPunct="1"/>
            <a:r>
              <a:rPr lang="en-US" altLang="zh-CN" sz="2400" smtClean="0"/>
              <a:t>The head of an NP is its noun</a:t>
            </a:r>
            <a:endParaRPr lang="en-US" altLang="zh-CN" sz="2400" smtClean="0"/>
          </a:p>
          <a:p>
            <a:pPr lvl="1" eaLnBrk="1" hangingPunct="1"/>
            <a:r>
              <a:rPr lang="en-US" altLang="zh-CN" sz="2400" smtClean="0"/>
              <a:t>The head of a VP is its verb</a:t>
            </a:r>
            <a:endParaRPr lang="en-US" altLang="zh-CN" sz="2400" smtClean="0"/>
          </a:p>
          <a:p>
            <a:pPr lvl="1" eaLnBrk="1" hangingPunct="1"/>
            <a:r>
              <a:rPr lang="en-US" altLang="zh-CN" sz="2400" smtClean="0"/>
              <a:t>The head of a PP is its preposition</a:t>
            </a:r>
            <a:endParaRPr lang="en-US" altLang="zh-CN" sz="2400" smtClean="0"/>
          </a:p>
          <a:p>
            <a:pPr eaLnBrk="1" hangingPunct="1"/>
            <a:r>
              <a:rPr lang="en-US" altLang="zh-CN" sz="2800" smtClean="0"/>
              <a:t>Phrasal heads </a:t>
            </a:r>
            <a:endParaRPr lang="en-US" altLang="zh-CN" sz="2800" smtClean="0"/>
          </a:p>
          <a:p>
            <a:pPr lvl="1" eaLnBrk="1" hangingPunct="1"/>
            <a:r>
              <a:rPr lang="en-US" altLang="zh-CN" sz="2400" smtClean="0"/>
              <a:t>Define most important characteristics of the phrase</a:t>
            </a:r>
            <a:endParaRPr lang="en-US" altLang="zh-CN" sz="2400" smtClean="0"/>
          </a:p>
          <a:p>
            <a:pPr lvl="1" eaLnBrk="1" hangingPunct="1"/>
            <a:r>
              <a:rPr lang="en-US" altLang="zh-CN" sz="2400" smtClean="0"/>
              <a:t>Can </a:t>
            </a:r>
            <a:r>
              <a:rPr lang="en-US" altLang="zh-CN" sz="2400" smtClean="0">
                <a:latin typeface="Times New Roman" panose="02020603050405020304" pitchFamily="18" charset="0"/>
              </a:rPr>
              <a:t>‘</a:t>
            </a:r>
            <a:r>
              <a:rPr lang="en-US" altLang="zh-CN" sz="2400" smtClean="0"/>
              <a:t>take the place of</a:t>
            </a:r>
            <a:r>
              <a:rPr lang="en-US" altLang="zh-CN" sz="2400" smtClean="0">
                <a:latin typeface="Times New Roman" panose="02020603050405020304" pitchFamily="18" charset="0"/>
              </a:rPr>
              <a:t>’</a:t>
            </a:r>
            <a:r>
              <a:rPr lang="en-US" altLang="zh-CN" sz="2400" smtClean="0"/>
              <a:t> whole phrases, in some sense</a:t>
            </a:r>
            <a:endParaRPr lang="en-US" altLang="zh-CN" sz="2400" smtClean="0"/>
          </a:p>
          <a:p>
            <a:pPr lvl="1" eaLnBrk="1" hangingPunct="1"/>
            <a:r>
              <a:rPr lang="en-US" altLang="zh-CN" sz="2400" smtClean="0"/>
              <a:t>Phrases are generally identified by their heads</a:t>
            </a:r>
            <a:endParaRPr lang="en-US" altLang="zh-CN" sz="2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a parse with heads marked</a:t>
            </a:r>
            <a:endParaRPr lang="en-US" altLang="zh-CN" smtClean="0"/>
          </a:p>
        </p:txBody>
      </p:sp>
      <p:grpSp>
        <p:nvGrpSpPr>
          <p:cNvPr id="81923" name="Group 3"/>
          <p:cNvGrpSpPr>
            <a:grpSpLocks noChangeAspect="1"/>
          </p:cNvGrpSpPr>
          <p:nvPr/>
        </p:nvGrpSpPr>
        <p:grpSpPr bwMode="auto">
          <a:xfrm>
            <a:off x="365125" y="2057400"/>
            <a:ext cx="8504238" cy="3665538"/>
            <a:chOff x="1544" y="1968"/>
            <a:chExt cx="2672" cy="1152"/>
          </a:xfrm>
        </p:grpSpPr>
        <p:sp>
          <p:nvSpPr>
            <p:cNvPr id="81924" name="AutoShape 4"/>
            <p:cNvSpPr>
              <a:spLocks noChangeAspect="1" noChangeArrowheads="1" noTextEdit="1"/>
            </p:cNvSpPr>
            <p:nvPr/>
          </p:nvSpPr>
          <p:spPr bwMode="auto">
            <a:xfrm>
              <a:off x="1544" y="1968"/>
              <a:ext cx="2672" cy="1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25" name="Rectangle 5"/>
            <p:cNvSpPr>
              <a:spLocks noChangeArrowheads="1"/>
            </p:cNvSpPr>
            <p:nvPr/>
          </p:nvSpPr>
          <p:spPr bwMode="auto">
            <a:xfrm>
              <a:off x="1544" y="1968"/>
              <a:ext cx="2672" cy="1152"/>
            </a:xfrm>
            <a:prstGeom prst="rect">
              <a:avLst/>
            </a:prstGeom>
            <a:noFill/>
            <a:ln w="0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81926" name="Rectangle 6"/>
            <p:cNvSpPr>
              <a:spLocks noChangeArrowheads="1"/>
            </p:cNvSpPr>
            <p:nvPr/>
          </p:nvSpPr>
          <p:spPr bwMode="auto">
            <a:xfrm>
              <a:off x="1552" y="1972"/>
              <a:ext cx="2650" cy="4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miter lim="800000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81927" name="Rectangle 7"/>
            <p:cNvSpPr>
              <a:spLocks noChangeArrowheads="1"/>
            </p:cNvSpPr>
            <p:nvPr/>
          </p:nvSpPr>
          <p:spPr bwMode="auto">
            <a:xfrm>
              <a:off x="1552" y="1980"/>
              <a:ext cx="4" cy="1132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miter lim="800000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81928" name="Freeform 8"/>
            <p:cNvSpPr/>
            <p:nvPr/>
          </p:nvSpPr>
          <p:spPr bwMode="auto">
            <a:xfrm>
              <a:off x="2142" y="2030"/>
              <a:ext cx="34" cy="54"/>
            </a:xfrm>
            <a:custGeom>
              <a:avLst/>
              <a:gdLst>
                <a:gd name="T0" fmla="*/ 30 w 34"/>
                <a:gd name="T1" fmla="*/ 18 h 54"/>
                <a:gd name="T2" fmla="*/ 28 w 34"/>
                <a:gd name="T3" fmla="*/ 14 h 54"/>
                <a:gd name="T4" fmla="*/ 26 w 34"/>
                <a:gd name="T5" fmla="*/ 6 h 54"/>
                <a:gd name="T6" fmla="*/ 18 w 34"/>
                <a:gd name="T7" fmla="*/ 2 h 54"/>
                <a:gd name="T8" fmla="*/ 12 w 34"/>
                <a:gd name="T9" fmla="*/ 2 h 54"/>
                <a:gd name="T10" fmla="*/ 6 w 34"/>
                <a:gd name="T11" fmla="*/ 8 h 54"/>
                <a:gd name="T12" fmla="*/ 6 w 34"/>
                <a:gd name="T13" fmla="*/ 12 h 54"/>
                <a:gd name="T14" fmla="*/ 10 w 34"/>
                <a:gd name="T15" fmla="*/ 18 h 54"/>
                <a:gd name="T16" fmla="*/ 18 w 34"/>
                <a:gd name="T17" fmla="*/ 22 h 54"/>
                <a:gd name="T18" fmla="*/ 28 w 34"/>
                <a:gd name="T19" fmla="*/ 30 h 54"/>
                <a:gd name="T20" fmla="*/ 32 w 34"/>
                <a:gd name="T21" fmla="*/ 34 h 54"/>
                <a:gd name="T22" fmla="*/ 34 w 34"/>
                <a:gd name="T23" fmla="*/ 40 h 54"/>
                <a:gd name="T24" fmla="*/ 30 w 34"/>
                <a:gd name="T25" fmla="*/ 50 h 54"/>
                <a:gd name="T26" fmla="*/ 18 w 34"/>
                <a:gd name="T27" fmla="*/ 54 h 54"/>
                <a:gd name="T28" fmla="*/ 12 w 34"/>
                <a:gd name="T29" fmla="*/ 54 h 54"/>
                <a:gd name="T30" fmla="*/ 8 w 34"/>
                <a:gd name="T31" fmla="*/ 52 h 54"/>
                <a:gd name="T32" fmla="*/ 4 w 34"/>
                <a:gd name="T33" fmla="*/ 52 h 54"/>
                <a:gd name="T34" fmla="*/ 2 w 34"/>
                <a:gd name="T35" fmla="*/ 52 h 54"/>
                <a:gd name="T36" fmla="*/ 0 w 34"/>
                <a:gd name="T37" fmla="*/ 54 h 54"/>
                <a:gd name="T38" fmla="*/ 0 w 34"/>
                <a:gd name="T39" fmla="*/ 36 h 54"/>
                <a:gd name="T40" fmla="*/ 2 w 34"/>
                <a:gd name="T41" fmla="*/ 42 h 54"/>
                <a:gd name="T42" fmla="*/ 6 w 34"/>
                <a:gd name="T43" fmla="*/ 48 h 54"/>
                <a:gd name="T44" fmla="*/ 12 w 34"/>
                <a:gd name="T45" fmla="*/ 52 h 54"/>
                <a:gd name="T46" fmla="*/ 22 w 34"/>
                <a:gd name="T47" fmla="*/ 52 h 54"/>
                <a:gd name="T48" fmla="*/ 26 w 34"/>
                <a:gd name="T49" fmla="*/ 46 h 54"/>
                <a:gd name="T50" fmla="*/ 28 w 34"/>
                <a:gd name="T51" fmla="*/ 42 h 54"/>
                <a:gd name="T52" fmla="*/ 24 w 34"/>
                <a:gd name="T53" fmla="*/ 38 h 54"/>
                <a:gd name="T54" fmla="*/ 20 w 34"/>
                <a:gd name="T55" fmla="*/ 34 h 54"/>
                <a:gd name="T56" fmla="*/ 8 w 34"/>
                <a:gd name="T57" fmla="*/ 28 h 54"/>
                <a:gd name="T58" fmla="*/ 2 w 34"/>
                <a:gd name="T59" fmla="*/ 22 h 54"/>
                <a:gd name="T60" fmla="*/ 0 w 34"/>
                <a:gd name="T61" fmla="*/ 16 h 54"/>
                <a:gd name="T62" fmla="*/ 0 w 34"/>
                <a:gd name="T63" fmla="*/ 8 h 54"/>
                <a:gd name="T64" fmla="*/ 8 w 34"/>
                <a:gd name="T65" fmla="*/ 0 h 54"/>
                <a:gd name="T66" fmla="*/ 20 w 34"/>
                <a:gd name="T67" fmla="*/ 0 h 54"/>
                <a:gd name="T68" fmla="*/ 26 w 34"/>
                <a:gd name="T69" fmla="*/ 2 h 54"/>
                <a:gd name="T70" fmla="*/ 28 w 34"/>
                <a:gd name="T71" fmla="*/ 2 h 54"/>
                <a:gd name="T72" fmla="*/ 30 w 34"/>
                <a:gd name="T73" fmla="*/ 2 h 54"/>
                <a:gd name="T74" fmla="*/ 30 w 34"/>
                <a:gd name="T75" fmla="*/ 0 h 5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34"/>
                <a:gd name="T115" fmla="*/ 0 h 54"/>
                <a:gd name="T116" fmla="*/ 34 w 34"/>
                <a:gd name="T117" fmla="*/ 54 h 54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34" h="54">
                  <a:moveTo>
                    <a:pt x="30" y="0"/>
                  </a:moveTo>
                  <a:lnTo>
                    <a:pt x="30" y="18"/>
                  </a:lnTo>
                  <a:lnTo>
                    <a:pt x="28" y="14"/>
                  </a:lnTo>
                  <a:lnTo>
                    <a:pt x="28" y="10"/>
                  </a:lnTo>
                  <a:lnTo>
                    <a:pt x="26" y="6"/>
                  </a:lnTo>
                  <a:lnTo>
                    <a:pt x="22" y="4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2" y="2"/>
                  </a:lnTo>
                  <a:lnTo>
                    <a:pt x="8" y="4"/>
                  </a:lnTo>
                  <a:lnTo>
                    <a:pt x="6" y="8"/>
                  </a:lnTo>
                  <a:lnTo>
                    <a:pt x="6" y="10"/>
                  </a:lnTo>
                  <a:lnTo>
                    <a:pt x="6" y="12"/>
                  </a:lnTo>
                  <a:lnTo>
                    <a:pt x="8" y="14"/>
                  </a:lnTo>
                  <a:lnTo>
                    <a:pt x="10" y="18"/>
                  </a:lnTo>
                  <a:lnTo>
                    <a:pt x="14" y="20"/>
                  </a:lnTo>
                  <a:lnTo>
                    <a:pt x="18" y="22"/>
                  </a:lnTo>
                  <a:lnTo>
                    <a:pt x="24" y="26"/>
                  </a:lnTo>
                  <a:lnTo>
                    <a:pt x="28" y="30"/>
                  </a:lnTo>
                  <a:lnTo>
                    <a:pt x="30" y="32"/>
                  </a:lnTo>
                  <a:lnTo>
                    <a:pt x="32" y="34"/>
                  </a:lnTo>
                  <a:lnTo>
                    <a:pt x="34" y="36"/>
                  </a:lnTo>
                  <a:lnTo>
                    <a:pt x="34" y="40"/>
                  </a:lnTo>
                  <a:lnTo>
                    <a:pt x="32" y="46"/>
                  </a:lnTo>
                  <a:lnTo>
                    <a:pt x="30" y="50"/>
                  </a:lnTo>
                  <a:lnTo>
                    <a:pt x="24" y="54"/>
                  </a:lnTo>
                  <a:lnTo>
                    <a:pt x="18" y="54"/>
                  </a:lnTo>
                  <a:lnTo>
                    <a:pt x="16" y="54"/>
                  </a:lnTo>
                  <a:lnTo>
                    <a:pt x="12" y="54"/>
                  </a:lnTo>
                  <a:lnTo>
                    <a:pt x="8" y="52"/>
                  </a:lnTo>
                  <a:lnTo>
                    <a:pt x="4" y="52"/>
                  </a:lnTo>
                  <a:lnTo>
                    <a:pt x="2" y="52"/>
                  </a:lnTo>
                  <a:lnTo>
                    <a:pt x="0" y="54"/>
                  </a:lnTo>
                  <a:lnTo>
                    <a:pt x="0" y="36"/>
                  </a:lnTo>
                  <a:lnTo>
                    <a:pt x="2" y="42"/>
                  </a:lnTo>
                  <a:lnTo>
                    <a:pt x="4" y="46"/>
                  </a:lnTo>
                  <a:lnTo>
                    <a:pt x="6" y="48"/>
                  </a:lnTo>
                  <a:lnTo>
                    <a:pt x="8" y="50"/>
                  </a:lnTo>
                  <a:lnTo>
                    <a:pt x="12" y="52"/>
                  </a:lnTo>
                  <a:lnTo>
                    <a:pt x="16" y="52"/>
                  </a:lnTo>
                  <a:lnTo>
                    <a:pt x="22" y="52"/>
                  </a:lnTo>
                  <a:lnTo>
                    <a:pt x="24" y="50"/>
                  </a:lnTo>
                  <a:lnTo>
                    <a:pt x="26" y="46"/>
                  </a:lnTo>
                  <a:lnTo>
                    <a:pt x="28" y="44"/>
                  </a:lnTo>
                  <a:lnTo>
                    <a:pt x="28" y="42"/>
                  </a:lnTo>
                  <a:lnTo>
                    <a:pt x="26" y="40"/>
                  </a:lnTo>
                  <a:lnTo>
                    <a:pt x="24" y="38"/>
                  </a:lnTo>
                  <a:lnTo>
                    <a:pt x="22" y="36"/>
                  </a:lnTo>
                  <a:lnTo>
                    <a:pt x="20" y="34"/>
                  </a:lnTo>
                  <a:lnTo>
                    <a:pt x="14" y="30"/>
                  </a:lnTo>
                  <a:lnTo>
                    <a:pt x="8" y="28"/>
                  </a:lnTo>
                  <a:lnTo>
                    <a:pt x="4" y="24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6"/>
                  </a:lnTo>
                  <a:lnTo>
                    <a:pt x="0" y="14"/>
                  </a:lnTo>
                  <a:lnTo>
                    <a:pt x="0" y="8"/>
                  </a:lnTo>
                  <a:lnTo>
                    <a:pt x="4" y="4"/>
                  </a:lnTo>
                  <a:lnTo>
                    <a:pt x="8" y="0"/>
                  </a:lnTo>
                  <a:lnTo>
                    <a:pt x="14" y="0"/>
                  </a:lnTo>
                  <a:lnTo>
                    <a:pt x="20" y="0"/>
                  </a:lnTo>
                  <a:lnTo>
                    <a:pt x="24" y="2"/>
                  </a:lnTo>
                  <a:lnTo>
                    <a:pt x="26" y="2"/>
                  </a:lnTo>
                  <a:lnTo>
                    <a:pt x="28" y="4"/>
                  </a:lnTo>
                  <a:lnTo>
                    <a:pt x="28" y="2"/>
                  </a:lnTo>
                  <a:lnTo>
                    <a:pt x="30" y="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29" name="Freeform 9"/>
            <p:cNvSpPr/>
            <p:nvPr/>
          </p:nvSpPr>
          <p:spPr bwMode="auto">
            <a:xfrm>
              <a:off x="2184" y="2028"/>
              <a:ext cx="22" cy="72"/>
            </a:xfrm>
            <a:custGeom>
              <a:avLst/>
              <a:gdLst>
                <a:gd name="T0" fmla="*/ 22 w 22"/>
                <a:gd name="T1" fmla="*/ 70 h 72"/>
                <a:gd name="T2" fmla="*/ 22 w 22"/>
                <a:gd name="T3" fmla="*/ 72 h 72"/>
                <a:gd name="T4" fmla="*/ 16 w 22"/>
                <a:gd name="T5" fmla="*/ 70 h 72"/>
                <a:gd name="T6" fmla="*/ 12 w 22"/>
                <a:gd name="T7" fmla="*/ 66 h 72"/>
                <a:gd name="T8" fmla="*/ 6 w 22"/>
                <a:gd name="T9" fmla="*/ 60 h 72"/>
                <a:gd name="T10" fmla="*/ 2 w 22"/>
                <a:gd name="T11" fmla="*/ 52 h 72"/>
                <a:gd name="T12" fmla="*/ 0 w 22"/>
                <a:gd name="T13" fmla="*/ 44 h 72"/>
                <a:gd name="T14" fmla="*/ 0 w 22"/>
                <a:gd name="T15" fmla="*/ 36 h 72"/>
                <a:gd name="T16" fmla="*/ 0 w 22"/>
                <a:gd name="T17" fmla="*/ 28 h 72"/>
                <a:gd name="T18" fmla="*/ 2 w 22"/>
                <a:gd name="T19" fmla="*/ 22 h 72"/>
                <a:gd name="T20" fmla="*/ 6 w 22"/>
                <a:gd name="T21" fmla="*/ 14 h 72"/>
                <a:gd name="T22" fmla="*/ 10 w 22"/>
                <a:gd name="T23" fmla="*/ 8 h 72"/>
                <a:gd name="T24" fmla="*/ 16 w 22"/>
                <a:gd name="T25" fmla="*/ 4 h 72"/>
                <a:gd name="T26" fmla="*/ 22 w 22"/>
                <a:gd name="T27" fmla="*/ 0 h 72"/>
                <a:gd name="T28" fmla="*/ 22 w 22"/>
                <a:gd name="T29" fmla="*/ 2 h 72"/>
                <a:gd name="T30" fmla="*/ 16 w 22"/>
                <a:gd name="T31" fmla="*/ 6 h 72"/>
                <a:gd name="T32" fmla="*/ 14 w 22"/>
                <a:gd name="T33" fmla="*/ 10 h 72"/>
                <a:gd name="T34" fmla="*/ 10 w 22"/>
                <a:gd name="T35" fmla="*/ 14 h 72"/>
                <a:gd name="T36" fmla="*/ 8 w 22"/>
                <a:gd name="T37" fmla="*/ 22 h 72"/>
                <a:gd name="T38" fmla="*/ 8 w 22"/>
                <a:gd name="T39" fmla="*/ 28 h 72"/>
                <a:gd name="T40" fmla="*/ 8 w 22"/>
                <a:gd name="T41" fmla="*/ 36 h 72"/>
                <a:gd name="T42" fmla="*/ 8 w 22"/>
                <a:gd name="T43" fmla="*/ 44 h 72"/>
                <a:gd name="T44" fmla="*/ 8 w 22"/>
                <a:gd name="T45" fmla="*/ 50 h 72"/>
                <a:gd name="T46" fmla="*/ 10 w 22"/>
                <a:gd name="T47" fmla="*/ 56 h 72"/>
                <a:gd name="T48" fmla="*/ 10 w 22"/>
                <a:gd name="T49" fmla="*/ 60 h 72"/>
                <a:gd name="T50" fmla="*/ 12 w 22"/>
                <a:gd name="T51" fmla="*/ 62 h 72"/>
                <a:gd name="T52" fmla="*/ 14 w 22"/>
                <a:gd name="T53" fmla="*/ 66 h 72"/>
                <a:gd name="T54" fmla="*/ 18 w 22"/>
                <a:gd name="T55" fmla="*/ 68 h 72"/>
                <a:gd name="T56" fmla="*/ 22 w 22"/>
                <a:gd name="T57" fmla="*/ 70 h 7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2"/>
                <a:gd name="T88" fmla="*/ 0 h 72"/>
                <a:gd name="T89" fmla="*/ 22 w 22"/>
                <a:gd name="T90" fmla="*/ 72 h 7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2" h="72">
                  <a:moveTo>
                    <a:pt x="22" y="70"/>
                  </a:moveTo>
                  <a:lnTo>
                    <a:pt x="22" y="72"/>
                  </a:lnTo>
                  <a:lnTo>
                    <a:pt x="16" y="70"/>
                  </a:lnTo>
                  <a:lnTo>
                    <a:pt x="12" y="66"/>
                  </a:lnTo>
                  <a:lnTo>
                    <a:pt x="6" y="60"/>
                  </a:lnTo>
                  <a:lnTo>
                    <a:pt x="2" y="52"/>
                  </a:lnTo>
                  <a:lnTo>
                    <a:pt x="0" y="44"/>
                  </a:lnTo>
                  <a:lnTo>
                    <a:pt x="0" y="36"/>
                  </a:lnTo>
                  <a:lnTo>
                    <a:pt x="0" y="28"/>
                  </a:lnTo>
                  <a:lnTo>
                    <a:pt x="2" y="22"/>
                  </a:lnTo>
                  <a:lnTo>
                    <a:pt x="6" y="14"/>
                  </a:lnTo>
                  <a:lnTo>
                    <a:pt x="10" y="8"/>
                  </a:lnTo>
                  <a:lnTo>
                    <a:pt x="16" y="4"/>
                  </a:lnTo>
                  <a:lnTo>
                    <a:pt x="22" y="0"/>
                  </a:lnTo>
                  <a:lnTo>
                    <a:pt x="22" y="2"/>
                  </a:lnTo>
                  <a:lnTo>
                    <a:pt x="16" y="6"/>
                  </a:lnTo>
                  <a:lnTo>
                    <a:pt x="14" y="10"/>
                  </a:lnTo>
                  <a:lnTo>
                    <a:pt x="10" y="14"/>
                  </a:lnTo>
                  <a:lnTo>
                    <a:pt x="8" y="22"/>
                  </a:lnTo>
                  <a:lnTo>
                    <a:pt x="8" y="28"/>
                  </a:lnTo>
                  <a:lnTo>
                    <a:pt x="8" y="36"/>
                  </a:lnTo>
                  <a:lnTo>
                    <a:pt x="8" y="44"/>
                  </a:lnTo>
                  <a:lnTo>
                    <a:pt x="8" y="50"/>
                  </a:lnTo>
                  <a:lnTo>
                    <a:pt x="10" y="56"/>
                  </a:lnTo>
                  <a:lnTo>
                    <a:pt x="10" y="60"/>
                  </a:lnTo>
                  <a:lnTo>
                    <a:pt x="12" y="62"/>
                  </a:lnTo>
                  <a:lnTo>
                    <a:pt x="14" y="66"/>
                  </a:lnTo>
                  <a:lnTo>
                    <a:pt x="18" y="68"/>
                  </a:lnTo>
                  <a:lnTo>
                    <a:pt x="22" y="7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30" name="Freeform 10"/>
            <p:cNvSpPr>
              <a:spLocks noEditPoints="1"/>
            </p:cNvSpPr>
            <p:nvPr/>
          </p:nvSpPr>
          <p:spPr bwMode="auto">
            <a:xfrm>
              <a:off x="2210" y="2028"/>
              <a:ext cx="36" cy="56"/>
            </a:xfrm>
            <a:custGeom>
              <a:avLst/>
              <a:gdLst>
                <a:gd name="T0" fmla="*/ 24 w 36"/>
                <a:gd name="T1" fmla="*/ 50 h 56"/>
                <a:gd name="T2" fmla="*/ 22 w 36"/>
                <a:gd name="T3" fmla="*/ 54 h 56"/>
                <a:gd name="T4" fmla="*/ 20 w 36"/>
                <a:gd name="T5" fmla="*/ 56 h 56"/>
                <a:gd name="T6" fmla="*/ 16 w 36"/>
                <a:gd name="T7" fmla="*/ 56 h 56"/>
                <a:gd name="T8" fmla="*/ 14 w 36"/>
                <a:gd name="T9" fmla="*/ 56 h 56"/>
                <a:gd name="T10" fmla="*/ 8 w 36"/>
                <a:gd name="T11" fmla="*/ 56 h 56"/>
                <a:gd name="T12" fmla="*/ 4 w 36"/>
                <a:gd name="T13" fmla="*/ 52 h 56"/>
                <a:gd name="T14" fmla="*/ 0 w 36"/>
                <a:gd name="T15" fmla="*/ 46 h 56"/>
                <a:gd name="T16" fmla="*/ 0 w 36"/>
                <a:gd name="T17" fmla="*/ 40 h 56"/>
                <a:gd name="T18" fmla="*/ 0 w 36"/>
                <a:gd name="T19" fmla="*/ 32 h 56"/>
                <a:gd name="T20" fmla="*/ 4 w 36"/>
                <a:gd name="T21" fmla="*/ 26 h 56"/>
                <a:gd name="T22" fmla="*/ 8 w 36"/>
                <a:gd name="T23" fmla="*/ 22 h 56"/>
                <a:gd name="T24" fmla="*/ 12 w 36"/>
                <a:gd name="T25" fmla="*/ 20 h 56"/>
                <a:gd name="T26" fmla="*/ 16 w 36"/>
                <a:gd name="T27" fmla="*/ 20 h 56"/>
                <a:gd name="T28" fmla="*/ 20 w 36"/>
                <a:gd name="T29" fmla="*/ 20 h 56"/>
                <a:gd name="T30" fmla="*/ 24 w 36"/>
                <a:gd name="T31" fmla="*/ 22 h 56"/>
                <a:gd name="T32" fmla="*/ 24 w 36"/>
                <a:gd name="T33" fmla="*/ 16 h 56"/>
                <a:gd name="T34" fmla="*/ 24 w 36"/>
                <a:gd name="T35" fmla="*/ 10 h 56"/>
                <a:gd name="T36" fmla="*/ 24 w 36"/>
                <a:gd name="T37" fmla="*/ 6 h 56"/>
                <a:gd name="T38" fmla="*/ 24 w 36"/>
                <a:gd name="T39" fmla="*/ 6 h 56"/>
                <a:gd name="T40" fmla="*/ 24 w 36"/>
                <a:gd name="T41" fmla="*/ 4 h 56"/>
                <a:gd name="T42" fmla="*/ 22 w 36"/>
                <a:gd name="T43" fmla="*/ 4 h 56"/>
                <a:gd name="T44" fmla="*/ 22 w 36"/>
                <a:gd name="T45" fmla="*/ 4 h 56"/>
                <a:gd name="T46" fmla="*/ 22 w 36"/>
                <a:gd name="T47" fmla="*/ 4 h 56"/>
                <a:gd name="T48" fmla="*/ 20 w 36"/>
                <a:gd name="T49" fmla="*/ 6 h 56"/>
                <a:gd name="T50" fmla="*/ 20 w 36"/>
                <a:gd name="T51" fmla="*/ 4 h 56"/>
                <a:gd name="T52" fmla="*/ 30 w 36"/>
                <a:gd name="T53" fmla="*/ 0 h 56"/>
                <a:gd name="T54" fmla="*/ 30 w 36"/>
                <a:gd name="T55" fmla="*/ 0 h 56"/>
                <a:gd name="T56" fmla="*/ 30 w 36"/>
                <a:gd name="T57" fmla="*/ 42 h 56"/>
                <a:gd name="T58" fmla="*/ 32 w 36"/>
                <a:gd name="T59" fmla="*/ 48 h 56"/>
                <a:gd name="T60" fmla="*/ 32 w 36"/>
                <a:gd name="T61" fmla="*/ 50 h 56"/>
                <a:gd name="T62" fmla="*/ 32 w 36"/>
                <a:gd name="T63" fmla="*/ 50 h 56"/>
                <a:gd name="T64" fmla="*/ 32 w 36"/>
                <a:gd name="T65" fmla="*/ 52 h 56"/>
                <a:gd name="T66" fmla="*/ 32 w 36"/>
                <a:gd name="T67" fmla="*/ 52 h 56"/>
                <a:gd name="T68" fmla="*/ 34 w 36"/>
                <a:gd name="T69" fmla="*/ 52 h 56"/>
                <a:gd name="T70" fmla="*/ 34 w 36"/>
                <a:gd name="T71" fmla="*/ 52 h 56"/>
                <a:gd name="T72" fmla="*/ 36 w 36"/>
                <a:gd name="T73" fmla="*/ 52 h 56"/>
                <a:gd name="T74" fmla="*/ 36 w 36"/>
                <a:gd name="T75" fmla="*/ 52 h 56"/>
                <a:gd name="T76" fmla="*/ 26 w 36"/>
                <a:gd name="T77" fmla="*/ 56 h 56"/>
                <a:gd name="T78" fmla="*/ 24 w 36"/>
                <a:gd name="T79" fmla="*/ 56 h 56"/>
                <a:gd name="T80" fmla="*/ 24 w 36"/>
                <a:gd name="T81" fmla="*/ 50 h 56"/>
                <a:gd name="T82" fmla="*/ 24 w 36"/>
                <a:gd name="T83" fmla="*/ 48 h 56"/>
                <a:gd name="T84" fmla="*/ 24 w 36"/>
                <a:gd name="T85" fmla="*/ 30 h 56"/>
                <a:gd name="T86" fmla="*/ 24 w 36"/>
                <a:gd name="T87" fmla="*/ 28 h 56"/>
                <a:gd name="T88" fmla="*/ 22 w 36"/>
                <a:gd name="T89" fmla="*/ 26 h 56"/>
                <a:gd name="T90" fmla="*/ 22 w 36"/>
                <a:gd name="T91" fmla="*/ 24 h 56"/>
                <a:gd name="T92" fmla="*/ 20 w 36"/>
                <a:gd name="T93" fmla="*/ 22 h 56"/>
                <a:gd name="T94" fmla="*/ 18 w 36"/>
                <a:gd name="T95" fmla="*/ 22 h 56"/>
                <a:gd name="T96" fmla="*/ 16 w 36"/>
                <a:gd name="T97" fmla="*/ 22 h 56"/>
                <a:gd name="T98" fmla="*/ 12 w 36"/>
                <a:gd name="T99" fmla="*/ 22 h 56"/>
                <a:gd name="T100" fmla="*/ 10 w 36"/>
                <a:gd name="T101" fmla="*/ 24 h 56"/>
                <a:gd name="T102" fmla="*/ 6 w 36"/>
                <a:gd name="T103" fmla="*/ 30 h 56"/>
                <a:gd name="T104" fmla="*/ 6 w 36"/>
                <a:gd name="T105" fmla="*/ 36 h 56"/>
                <a:gd name="T106" fmla="*/ 6 w 36"/>
                <a:gd name="T107" fmla="*/ 42 h 56"/>
                <a:gd name="T108" fmla="*/ 10 w 36"/>
                <a:gd name="T109" fmla="*/ 48 h 56"/>
                <a:gd name="T110" fmla="*/ 14 w 36"/>
                <a:gd name="T111" fmla="*/ 50 h 56"/>
                <a:gd name="T112" fmla="*/ 18 w 36"/>
                <a:gd name="T113" fmla="*/ 52 h 56"/>
                <a:gd name="T114" fmla="*/ 20 w 36"/>
                <a:gd name="T115" fmla="*/ 50 h 56"/>
                <a:gd name="T116" fmla="*/ 24 w 36"/>
                <a:gd name="T117" fmla="*/ 48 h 5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36"/>
                <a:gd name="T178" fmla="*/ 0 h 56"/>
                <a:gd name="T179" fmla="*/ 36 w 36"/>
                <a:gd name="T180" fmla="*/ 56 h 5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36" h="56">
                  <a:moveTo>
                    <a:pt x="24" y="50"/>
                  </a:moveTo>
                  <a:lnTo>
                    <a:pt x="22" y="54"/>
                  </a:lnTo>
                  <a:lnTo>
                    <a:pt x="20" y="56"/>
                  </a:lnTo>
                  <a:lnTo>
                    <a:pt x="16" y="56"/>
                  </a:lnTo>
                  <a:lnTo>
                    <a:pt x="14" y="56"/>
                  </a:lnTo>
                  <a:lnTo>
                    <a:pt x="8" y="56"/>
                  </a:lnTo>
                  <a:lnTo>
                    <a:pt x="4" y="52"/>
                  </a:lnTo>
                  <a:lnTo>
                    <a:pt x="0" y="46"/>
                  </a:lnTo>
                  <a:lnTo>
                    <a:pt x="0" y="40"/>
                  </a:lnTo>
                  <a:lnTo>
                    <a:pt x="0" y="32"/>
                  </a:lnTo>
                  <a:lnTo>
                    <a:pt x="4" y="26"/>
                  </a:lnTo>
                  <a:lnTo>
                    <a:pt x="8" y="22"/>
                  </a:lnTo>
                  <a:lnTo>
                    <a:pt x="12" y="20"/>
                  </a:lnTo>
                  <a:lnTo>
                    <a:pt x="16" y="20"/>
                  </a:lnTo>
                  <a:lnTo>
                    <a:pt x="20" y="20"/>
                  </a:lnTo>
                  <a:lnTo>
                    <a:pt x="24" y="22"/>
                  </a:lnTo>
                  <a:lnTo>
                    <a:pt x="24" y="16"/>
                  </a:lnTo>
                  <a:lnTo>
                    <a:pt x="24" y="10"/>
                  </a:lnTo>
                  <a:lnTo>
                    <a:pt x="24" y="6"/>
                  </a:lnTo>
                  <a:lnTo>
                    <a:pt x="24" y="4"/>
                  </a:lnTo>
                  <a:lnTo>
                    <a:pt x="22" y="4"/>
                  </a:lnTo>
                  <a:lnTo>
                    <a:pt x="20" y="6"/>
                  </a:lnTo>
                  <a:lnTo>
                    <a:pt x="20" y="4"/>
                  </a:lnTo>
                  <a:lnTo>
                    <a:pt x="30" y="0"/>
                  </a:lnTo>
                  <a:lnTo>
                    <a:pt x="30" y="42"/>
                  </a:lnTo>
                  <a:lnTo>
                    <a:pt x="32" y="48"/>
                  </a:lnTo>
                  <a:lnTo>
                    <a:pt x="32" y="50"/>
                  </a:lnTo>
                  <a:lnTo>
                    <a:pt x="32" y="52"/>
                  </a:lnTo>
                  <a:lnTo>
                    <a:pt x="34" y="52"/>
                  </a:lnTo>
                  <a:lnTo>
                    <a:pt x="36" y="52"/>
                  </a:lnTo>
                  <a:lnTo>
                    <a:pt x="26" y="56"/>
                  </a:lnTo>
                  <a:lnTo>
                    <a:pt x="24" y="56"/>
                  </a:lnTo>
                  <a:lnTo>
                    <a:pt x="24" y="50"/>
                  </a:lnTo>
                  <a:close/>
                  <a:moveTo>
                    <a:pt x="24" y="48"/>
                  </a:moveTo>
                  <a:lnTo>
                    <a:pt x="24" y="30"/>
                  </a:lnTo>
                  <a:lnTo>
                    <a:pt x="24" y="28"/>
                  </a:lnTo>
                  <a:lnTo>
                    <a:pt x="22" y="26"/>
                  </a:lnTo>
                  <a:lnTo>
                    <a:pt x="22" y="24"/>
                  </a:lnTo>
                  <a:lnTo>
                    <a:pt x="20" y="22"/>
                  </a:lnTo>
                  <a:lnTo>
                    <a:pt x="18" y="22"/>
                  </a:lnTo>
                  <a:lnTo>
                    <a:pt x="16" y="22"/>
                  </a:lnTo>
                  <a:lnTo>
                    <a:pt x="12" y="22"/>
                  </a:lnTo>
                  <a:lnTo>
                    <a:pt x="10" y="24"/>
                  </a:lnTo>
                  <a:lnTo>
                    <a:pt x="6" y="30"/>
                  </a:lnTo>
                  <a:lnTo>
                    <a:pt x="6" y="36"/>
                  </a:lnTo>
                  <a:lnTo>
                    <a:pt x="6" y="42"/>
                  </a:lnTo>
                  <a:lnTo>
                    <a:pt x="10" y="48"/>
                  </a:lnTo>
                  <a:lnTo>
                    <a:pt x="14" y="50"/>
                  </a:lnTo>
                  <a:lnTo>
                    <a:pt x="18" y="52"/>
                  </a:lnTo>
                  <a:lnTo>
                    <a:pt x="20" y="50"/>
                  </a:lnTo>
                  <a:lnTo>
                    <a:pt x="24" y="4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31" name="Freeform 11"/>
            <p:cNvSpPr/>
            <p:nvPr/>
          </p:nvSpPr>
          <p:spPr bwMode="auto">
            <a:xfrm>
              <a:off x="2248" y="2048"/>
              <a:ext cx="38" cy="36"/>
            </a:xfrm>
            <a:custGeom>
              <a:avLst/>
              <a:gdLst>
                <a:gd name="T0" fmla="*/ 32 w 38"/>
                <a:gd name="T1" fmla="*/ 0 h 36"/>
                <a:gd name="T2" fmla="*/ 32 w 38"/>
                <a:gd name="T3" fmla="*/ 22 h 36"/>
                <a:gd name="T4" fmla="*/ 34 w 38"/>
                <a:gd name="T5" fmla="*/ 26 h 36"/>
                <a:gd name="T6" fmla="*/ 34 w 38"/>
                <a:gd name="T7" fmla="*/ 30 h 36"/>
                <a:gd name="T8" fmla="*/ 34 w 38"/>
                <a:gd name="T9" fmla="*/ 30 h 36"/>
                <a:gd name="T10" fmla="*/ 34 w 38"/>
                <a:gd name="T11" fmla="*/ 32 h 36"/>
                <a:gd name="T12" fmla="*/ 34 w 38"/>
                <a:gd name="T13" fmla="*/ 32 h 36"/>
                <a:gd name="T14" fmla="*/ 36 w 38"/>
                <a:gd name="T15" fmla="*/ 32 h 36"/>
                <a:gd name="T16" fmla="*/ 36 w 38"/>
                <a:gd name="T17" fmla="*/ 32 h 36"/>
                <a:gd name="T18" fmla="*/ 38 w 38"/>
                <a:gd name="T19" fmla="*/ 32 h 36"/>
                <a:gd name="T20" fmla="*/ 38 w 38"/>
                <a:gd name="T21" fmla="*/ 32 h 36"/>
                <a:gd name="T22" fmla="*/ 28 w 38"/>
                <a:gd name="T23" fmla="*/ 36 h 36"/>
                <a:gd name="T24" fmla="*/ 26 w 38"/>
                <a:gd name="T25" fmla="*/ 36 h 36"/>
                <a:gd name="T26" fmla="*/ 26 w 38"/>
                <a:gd name="T27" fmla="*/ 28 h 36"/>
                <a:gd name="T28" fmla="*/ 22 w 38"/>
                <a:gd name="T29" fmla="*/ 34 h 36"/>
                <a:gd name="T30" fmla="*/ 20 w 38"/>
                <a:gd name="T31" fmla="*/ 36 h 36"/>
                <a:gd name="T32" fmla="*/ 16 w 38"/>
                <a:gd name="T33" fmla="*/ 36 h 36"/>
                <a:gd name="T34" fmla="*/ 14 w 38"/>
                <a:gd name="T35" fmla="*/ 36 h 36"/>
                <a:gd name="T36" fmla="*/ 12 w 38"/>
                <a:gd name="T37" fmla="*/ 36 h 36"/>
                <a:gd name="T38" fmla="*/ 8 w 38"/>
                <a:gd name="T39" fmla="*/ 34 h 36"/>
                <a:gd name="T40" fmla="*/ 6 w 38"/>
                <a:gd name="T41" fmla="*/ 32 h 36"/>
                <a:gd name="T42" fmla="*/ 6 w 38"/>
                <a:gd name="T43" fmla="*/ 30 h 36"/>
                <a:gd name="T44" fmla="*/ 4 w 38"/>
                <a:gd name="T45" fmla="*/ 28 h 36"/>
                <a:gd name="T46" fmla="*/ 4 w 38"/>
                <a:gd name="T47" fmla="*/ 22 h 36"/>
                <a:gd name="T48" fmla="*/ 4 w 38"/>
                <a:gd name="T49" fmla="*/ 6 h 36"/>
                <a:gd name="T50" fmla="*/ 4 w 38"/>
                <a:gd name="T51" fmla="*/ 4 h 36"/>
                <a:gd name="T52" fmla="*/ 4 w 38"/>
                <a:gd name="T53" fmla="*/ 2 h 36"/>
                <a:gd name="T54" fmla="*/ 4 w 38"/>
                <a:gd name="T55" fmla="*/ 2 h 36"/>
                <a:gd name="T56" fmla="*/ 2 w 38"/>
                <a:gd name="T57" fmla="*/ 2 h 36"/>
                <a:gd name="T58" fmla="*/ 2 w 38"/>
                <a:gd name="T59" fmla="*/ 0 h 36"/>
                <a:gd name="T60" fmla="*/ 0 w 38"/>
                <a:gd name="T61" fmla="*/ 0 h 36"/>
                <a:gd name="T62" fmla="*/ 0 w 38"/>
                <a:gd name="T63" fmla="*/ 0 h 36"/>
                <a:gd name="T64" fmla="*/ 12 w 38"/>
                <a:gd name="T65" fmla="*/ 0 h 36"/>
                <a:gd name="T66" fmla="*/ 12 w 38"/>
                <a:gd name="T67" fmla="*/ 24 h 36"/>
                <a:gd name="T68" fmla="*/ 12 w 38"/>
                <a:gd name="T69" fmla="*/ 28 h 36"/>
                <a:gd name="T70" fmla="*/ 14 w 38"/>
                <a:gd name="T71" fmla="*/ 30 h 36"/>
                <a:gd name="T72" fmla="*/ 16 w 38"/>
                <a:gd name="T73" fmla="*/ 32 h 36"/>
                <a:gd name="T74" fmla="*/ 18 w 38"/>
                <a:gd name="T75" fmla="*/ 32 h 36"/>
                <a:gd name="T76" fmla="*/ 20 w 38"/>
                <a:gd name="T77" fmla="*/ 32 h 36"/>
                <a:gd name="T78" fmla="*/ 22 w 38"/>
                <a:gd name="T79" fmla="*/ 30 h 36"/>
                <a:gd name="T80" fmla="*/ 24 w 38"/>
                <a:gd name="T81" fmla="*/ 30 h 36"/>
                <a:gd name="T82" fmla="*/ 26 w 38"/>
                <a:gd name="T83" fmla="*/ 26 h 36"/>
                <a:gd name="T84" fmla="*/ 26 w 38"/>
                <a:gd name="T85" fmla="*/ 6 h 36"/>
                <a:gd name="T86" fmla="*/ 26 w 38"/>
                <a:gd name="T87" fmla="*/ 4 h 36"/>
                <a:gd name="T88" fmla="*/ 26 w 38"/>
                <a:gd name="T89" fmla="*/ 2 h 36"/>
                <a:gd name="T90" fmla="*/ 24 w 38"/>
                <a:gd name="T91" fmla="*/ 2 h 36"/>
                <a:gd name="T92" fmla="*/ 22 w 38"/>
                <a:gd name="T93" fmla="*/ 0 h 36"/>
                <a:gd name="T94" fmla="*/ 22 w 38"/>
                <a:gd name="T95" fmla="*/ 0 h 36"/>
                <a:gd name="T96" fmla="*/ 32 w 38"/>
                <a:gd name="T97" fmla="*/ 0 h 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8"/>
                <a:gd name="T148" fmla="*/ 0 h 36"/>
                <a:gd name="T149" fmla="*/ 38 w 38"/>
                <a:gd name="T150" fmla="*/ 36 h 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8" h="36">
                  <a:moveTo>
                    <a:pt x="32" y="0"/>
                  </a:moveTo>
                  <a:lnTo>
                    <a:pt x="32" y="22"/>
                  </a:lnTo>
                  <a:lnTo>
                    <a:pt x="34" y="26"/>
                  </a:lnTo>
                  <a:lnTo>
                    <a:pt x="34" y="30"/>
                  </a:lnTo>
                  <a:lnTo>
                    <a:pt x="34" y="32"/>
                  </a:lnTo>
                  <a:lnTo>
                    <a:pt x="36" y="32"/>
                  </a:lnTo>
                  <a:lnTo>
                    <a:pt x="38" y="32"/>
                  </a:lnTo>
                  <a:lnTo>
                    <a:pt x="28" y="36"/>
                  </a:lnTo>
                  <a:lnTo>
                    <a:pt x="26" y="36"/>
                  </a:lnTo>
                  <a:lnTo>
                    <a:pt x="26" y="28"/>
                  </a:lnTo>
                  <a:lnTo>
                    <a:pt x="22" y="34"/>
                  </a:lnTo>
                  <a:lnTo>
                    <a:pt x="20" y="36"/>
                  </a:lnTo>
                  <a:lnTo>
                    <a:pt x="16" y="36"/>
                  </a:lnTo>
                  <a:lnTo>
                    <a:pt x="14" y="36"/>
                  </a:lnTo>
                  <a:lnTo>
                    <a:pt x="12" y="36"/>
                  </a:lnTo>
                  <a:lnTo>
                    <a:pt x="8" y="34"/>
                  </a:lnTo>
                  <a:lnTo>
                    <a:pt x="6" y="32"/>
                  </a:lnTo>
                  <a:lnTo>
                    <a:pt x="6" y="30"/>
                  </a:lnTo>
                  <a:lnTo>
                    <a:pt x="4" y="28"/>
                  </a:lnTo>
                  <a:lnTo>
                    <a:pt x="4" y="22"/>
                  </a:lnTo>
                  <a:lnTo>
                    <a:pt x="4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2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12" y="0"/>
                  </a:lnTo>
                  <a:lnTo>
                    <a:pt x="12" y="24"/>
                  </a:lnTo>
                  <a:lnTo>
                    <a:pt x="12" y="28"/>
                  </a:lnTo>
                  <a:lnTo>
                    <a:pt x="14" y="30"/>
                  </a:lnTo>
                  <a:lnTo>
                    <a:pt x="16" y="32"/>
                  </a:lnTo>
                  <a:lnTo>
                    <a:pt x="18" y="32"/>
                  </a:lnTo>
                  <a:lnTo>
                    <a:pt x="20" y="32"/>
                  </a:lnTo>
                  <a:lnTo>
                    <a:pt x="22" y="30"/>
                  </a:lnTo>
                  <a:lnTo>
                    <a:pt x="24" y="30"/>
                  </a:lnTo>
                  <a:lnTo>
                    <a:pt x="26" y="26"/>
                  </a:lnTo>
                  <a:lnTo>
                    <a:pt x="26" y="6"/>
                  </a:lnTo>
                  <a:lnTo>
                    <a:pt x="26" y="4"/>
                  </a:lnTo>
                  <a:lnTo>
                    <a:pt x="26" y="2"/>
                  </a:lnTo>
                  <a:lnTo>
                    <a:pt x="24" y="2"/>
                  </a:lnTo>
                  <a:lnTo>
                    <a:pt x="22" y="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32" name="Freeform 12"/>
            <p:cNvSpPr/>
            <p:nvPr/>
          </p:nvSpPr>
          <p:spPr bwMode="auto">
            <a:xfrm>
              <a:off x="2288" y="2048"/>
              <a:ext cx="60" cy="36"/>
            </a:xfrm>
            <a:custGeom>
              <a:avLst/>
              <a:gdLst>
                <a:gd name="T0" fmla="*/ 14 w 60"/>
                <a:gd name="T1" fmla="*/ 4 h 36"/>
                <a:gd name="T2" fmla="*/ 18 w 60"/>
                <a:gd name="T3" fmla="*/ 2 h 36"/>
                <a:gd name="T4" fmla="*/ 22 w 60"/>
                <a:gd name="T5" fmla="*/ 0 h 36"/>
                <a:gd name="T6" fmla="*/ 26 w 60"/>
                <a:gd name="T7" fmla="*/ 0 h 36"/>
                <a:gd name="T8" fmla="*/ 32 w 60"/>
                <a:gd name="T9" fmla="*/ 4 h 36"/>
                <a:gd name="T10" fmla="*/ 36 w 60"/>
                <a:gd name="T11" fmla="*/ 4 h 36"/>
                <a:gd name="T12" fmla="*/ 42 w 60"/>
                <a:gd name="T13" fmla="*/ 0 h 36"/>
                <a:gd name="T14" fmla="*/ 48 w 60"/>
                <a:gd name="T15" fmla="*/ 0 h 36"/>
                <a:gd name="T16" fmla="*/ 52 w 60"/>
                <a:gd name="T17" fmla="*/ 2 h 36"/>
                <a:gd name="T18" fmla="*/ 54 w 60"/>
                <a:gd name="T19" fmla="*/ 8 h 36"/>
                <a:gd name="T20" fmla="*/ 54 w 60"/>
                <a:gd name="T21" fmla="*/ 28 h 36"/>
                <a:gd name="T22" fmla="*/ 56 w 60"/>
                <a:gd name="T23" fmla="*/ 32 h 36"/>
                <a:gd name="T24" fmla="*/ 56 w 60"/>
                <a:gd name="T25" fmla="*/ 34 h 36"/>
                <a:gd name="T26" fmla="*/ 60 w 60"/>
                <a:gd name="T27" fmla="*/ 36 h 36"/>
                <a:gd name="T28" fmla="*/ 42 w 60"/>
                <a:gd name="T29" fmla="*/ 36 h 36"/>
                <a:gd name="T30" fmla="*/ 44 w 60"/>
                <a:gd name="T31" fmla="*/ 36 h 36"/>
                <a:gd name="T32" fmla="*/ 46 w 60"/>
                <a:gd name="T33" fmla="*/ 34 h 36"/>
                <a:gd name="T34" fmla="*/ 48 w 60"/>
                <a:gd name="T35" fmla="*/ 32 h 36"/>
                <a:gd name="T36" fmla="*/ 48 w 60"/>
                <a:gd name="T37" fmla="*/ 28 h 36"/>
                <a:gd name="T38" fmla="*/ 48 w 60"/>
                <a:gd name="T39" fmla="*/ 8 h 36"/>
                <a:gd name="T40" fmla="*/ 46 w 60"/>
                <a:gd name="T41" fmla="*/ 4 h 36"/>
                <a:gd name="T42" fmla="*/ 40 w 60"/>
                <a:gd name="T43" fmla="*/ 4 h 36"/>
                <a:gd name="T44" fmla="*/ 36 w 60"/>
                <a:gd name="T45" fmla="*/ 6 h 36"/>
                <a:gd name="T46" fmla="*/ 32 w 60"/>
                <a:gd name="T47" fmla="*/ 10 h 36"/>
                <a:gd name="T48" fmla="*/ 32 w 60"/>
                <a:gd name="T49" fmla="*/ 28 h 36"/>
                <a:gd name="T50" fmla="*/ 34 w 60"/>
                <a:gd name="T51" fmla="*/ 32 h 36"/>
                <a:gd name="T52" fmla="*/ 34 w 60"/>
                <a:gd name="T53" fmla="*/ 34 h 36"/>
                <a:gd name="T54" fmla="*/ 38 w 60"/>
                <a:gd name="T55" fmla="*/ 36 h 36"/>
                <a:gd name="T56" fmla="*/ 22 w 60"/>
                <a:gd name="T57" fmla="*/ 36 h 36"/>
                <a:gd name="T58" fmla="*/ 24 w 60"/>
                <a:gd name="T59" fmla="*/ 34 h 36"/>
                <a:gd name="T60" fmla="*/ 26 w 60"/>
                <a:gd name="T61" fmla="*/ 34 h 36"/>
                <a:gd name="T62" fmla="*/ 26 w 60"/>
                <a:gd name="T63" fmla="*/ 30 h 36"/>
                <a:gd name="T64" fmla="*/ 26 w 60"/>
                <a:gd name="T65" fmla="*/ 12 h 36"/>
                <a:gd name="T66" fmla="*/ 26 w 60"/>
                <a:gd name="T67" fmla="*/ 6 h 36"/>
                <a:gd name="T68" fmla="*/ 20 w 60"/>
                <a:gd name="T69" fmla="*/ 4 h 36"/>
                <a:gd name="T70" fmla="*/ 16 w 60"/>
                <a:gd name="T71" fmla="*/ 6 h 36"/>
                <a:gd name="T72" fmla="*/ 12 w 60"/>
                <a:gd name="T73" fmla="*/ 8 h 36"/>
                <a:gd name="T74" fmla="*/ 12 w 60"/>
                <a:gd name="T75" fmla="*/ 30 h 36"/>
                <a:gd name="T76" fmla="*/ 12 w 60"/>
                <a:gd name="T77" fmla="*/ 34 h 36"/>
                <a:gd name="T78" fmla="*/ 14 w 60"/>
                <a:gd name="T79" fmla="*/ 34 h 36"/>
                <a:gd name="T80" fmla="*/ 16 w 60"/>
                <a:gd name="T81" fmla="*/ 36 h 36"/>
                <a:gd name="T82" fmla="*/ 0 w 60"/>
                <a:gd name="T83" fmla="*/ 36 h 36"/>
                <a:gd name="T84" fmla="*/ 2 w 60"/>
                <a:gd name="T85" fmla="*/ 34 h 36"/>
                <a:gd name="T86" fmla="*/ 4 w 60"/>
                <a:gd name="T87" fmla="*/ 32 h 36"/>
                <a:gd name="T88" fmla="*/ 4 w 60"/>
                <a:gd name="T89" fmla="*/ 28 h 36"/>
                <a:gd name="T90" fmla="*/ 4 w 60"/>
                <a:gd name="T91" fmla="*/ 8 h 36"/>
                <a:gd name="T92" fmla="*/ 4 w 60"/>
                <a:gd name="T93" fmla="*/ 4 h 36"/>
                <a:gd name="T94" fmla="*/ 4 w 60"/>
                <a:gd name="T95" fmla="*/ 4 h 36"/>
                <a:gd name="T96" fmla="*/ 2 w 60"/>
                <a:gd name="T97" fmla="*/ 4 h 36"/>
                <a:gd name="T98" fmla="*/ 0 w 60"/>
                <a:gd name="T99" fmla="*/ 4 h 36"/>
                <a:gd name="T100" fmla="*/ 12 w 60"/>
                <a:gd name="T101" fmla="*/ 0 h 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60"/>
                <a:gd name="T154" fmla="*/ 0 h 36"/>
                <a:gd name="T155" fmla="*/ 60 w 60"/>
                <a:gd name="T156" fmla="*/ 36 h 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60" h="36">
                  <a:moveTo>
                    <a:pt x="12" y="8"/>
                  </a:moveTo>
                  <a:lnTo>
                    <a:pt x="14" y="4"/>
                  </a:lnTo>
                  <a:lnTo>
                    <a:pt x="16" y="2"/>
                  </a:lnTo>
                  <a:lnTo>
                    <a:pt x="18" y="2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30" y="2"/>
                  </a:lnTo>
                  <a:lnTo>
                    <a:pt x="32" y="4"/>
                  </a:lnTo>
                  <a:lnTo>
                    <a:pt x="32" y="8"/>
                  </a:lnTo>
                  <a:lnTo>
                    <a:pt x="36" y="4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6" y="0"/>
                  </a:lnTo>
                  <a:lnTo>
                    <a:pt x="48" y="0"/>
                  </a:lnTo>
                  <a:lnTo>
                    <a:pt x="50" y="0"/>
                  </a:lnTo>
                  <a:lnTo>
                    <a:pt x="52" y="2"/>
                  </a:lnTo>
                  <a:lnTo>
                    <a:pt x="54" y="6"/>
                  </a:lnTo>
                  <a:lnTo>
                    <a:pt x="54" y="8"/>
                  </a:lnTo>
                  <a:lnTo>
                    <a:pt x="54" y="12"/>
                  </a:lnTo>
                  <a:lnTo>
                    <a:pt x="54" y="28"/>
                  </a:lnTo>
                  <a:lnTo>
                    <a:pt x="54" y="30"/>
                  </a:lnTo>
                  <a:lnTo>
                    <a:pt x="56" y="32"/>
                  </a:lnTo>
                  <a:lnTo>
                    <a:pt x="56" y="34"/>
                  </a:lnTo>
                  <a:lnTo>
                    <a:pt x="58" y="34"/>
                  </a:lnTo>
                  <a:lnTo>
                    <a:pt x="60" y="36"/>
                  </a:lnTo>
                  <a:lnTo>
                    <a:pt x="42" y="36"/>
                  </a:lnTo>
                  <a:lnTo>
                    <a:pt x="44" y="36"/>
                  </a:lnTo>
                  <a:lnTo>
                    <a:pt x="46" y="34"/>
                  </a:lnTo>
                  <a:lnTo>
                    <a:pt x="48" y="34"/>
                  </a:lnTo>
                  <a:lnTo>
                    <a:pt x="48" y="32"/>
                  </a:lnTo>
                  <a:lnTo>
                    <a:pt x="48" y="30"/>
                  </a:lnTo>
                  <a:lnTo>
                    <a:pt x="48" y="28"/>
                  </a:lnTo>
                  <a:lnTo>
                    <a:pt x="48" y="12"/>
                  </a:lnTo>
                  <a:lnTo>
                    <a:pt x="48" y="8"/>
                  </a:lnTo>
                  <a:lnTo>
                    <a:pt x="46" y="6"/>
                  </a:lnTo>
                  <a:lnTo>
                    <a:pt x="46" y="4"/>
                  </a:lnTo>
                  <a:lnTo>
                    <a:pt x="42" y="4"/>
                  </a:lnTo>
                  <a:lnTo>
                    <a:pt x="40" y="4"/>
                  </a:lnTo>
                  <a:lnTo>
                    <a:pt x="38" y="6"/>
                  </a:lnTo>
                  <a:lnTo>
                    <a:pt x="36" y="6"/>
                  </a:lnTo>
                  <a:lnTo>
                    <a:pt x="34" y="8"/>
                  </a:lnTo>
                  <a:lnTo>
                    <a:pt x="32" y="10"/>
                  </a:lnTo>
                  <a:lnTo>
                    <a:pt x="32" y="12"/>
                  </a:lnTo>
                  <a:lnTo>
                    <a:pt x="32" y="28"/>
                  </a:lnTo>
                  <a:lnTo>
                    <a:pt x="34" y="30"/>
                  </a:lnTo>
                  <a:lnTo>
                    <a:pt x="34" y="32"/>
                  </a:lnTo>
                  <a:lnTo>
                    <a:pt x="34" y="34"/>
                  </a:lnTo>
                  <a:lnTo>
                    <a:pt x="36" y="34"/>
                  </a:lnTo>
                  <a:lnTo>
                    <a:pt x="38" y="36"/>
                  </a:lnTo>
                  <a:lnTo>
                    <a:pt x="22" y="36"/>
                  </a:lnTo>
                  <a:lnTo>
                    <a:pt x="24" y="34"/>
                  </a:lnTo>
                  <a:lnTo>
                    <a:pt x="26" y="34"/>
                  </a:lnTo>
                  <a:lnTo>
                    <a:pt x="26" y="32"/>
                  </a:lnTo>
                  <a:lnTo>
                    <a:pt x="26" y="30"/>
                  </a:lnTo>
                  <a:lnTo>
                    <a:pt x="26" y="28"/>
                  </a:lnTo>
                  <a:lnTo>
                    <a:pt x="26" y="12"/>
                  </a:lnTo>
                  <a:lnTo>
                    <a:pt x="26" y="10"/>
                  </a:lnTo>
                  <a:lnTo>
                    <a:pt x="26" y="6"/>
                  </a:lnTo>
                  <a:lnTo>
                    <a:pt x="24" y="4"/>
                  </a:lnTo>
                  <a:lnTo>
                    <a:pt x="20" y="4"/>
                  </a:lnTo>
                  <a:lnTo>
                    <a:pt x="18" y="4"/>
                  </a:lnTo>
                  <a:lnTo>
                    <a:pt x="16" y="6"/>
                  </a:lnTo>
                  <a:lnTo>
                    <a:pt x="14" y="8"/>
                  </a:lnTo>
                  <a:lnTo>
                    <a:pt x="12" y="8"/>
                  </a:lnTo>
                  <a:lnTo>
                    <a:pt x="12" y="28"/>
                  </a:lnTo>
                  <a:lnTo>
                    <a:pt x="12" y="30"/>
                  </a:lnTo>
                  <a:lnTo>
                    <a:pt x="12" y="32"/>
                  </a:lnTo>
                  <a:lnTo>
                    <a:pt x="12" y="34"/>
                  </a:lnTo>
                  <a:lnTo>
                    <a:pt x="14" y="34"/>
                  </a:lnTo>
                  <a:lnTo>
                    <a:pt x="16" y="36"/>
                  </a:lnTo>
                  <a:lnTo>
                    <a:pt x="0" y="36"/>
                  </a:lnTo>
                  <a:lnTo>
                    <a:pt x="2" y="34"/>
                  </a:lnTo>
                  <a:lnTo>
                    <a:pt x="4" y="34"/>
                  </a:lnTo>
                  <a:lnTo>
                    <a:pt x="4" y="32"/>
                  </a:lnTo>
                  <a:lnTo>
                    <a:pt x="4" y="30"/>
                  </a:lnTo>
                  <a:lnTo>
                    <a:pt x="4" y="28"/>
                  </a:lnTo>
                  <a:lnTo>
                    <a:pt x="4" y="14"/>
                  </a:lnTo>
                  <a:lnTo>
                    <a:pt x="4" y="8"/>
                  </a:lnTo>
                  <a:lnTo>
                    <a:pt x="4" y="6"/>
                  </a:lnTo>
                  <a:lnTo>
                    <a:pt x="4" y="4"/>
                  </a:lnTo>
                  <a:lnTo>
                    <a:pt x="2" y="4"/>
                  </a:lnTo>
                  <a:lnTo>
                    <a:pt x="0" y="4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33" name="Freeform 13"/>
            <p:cNvSpPr>
              <a:spLocks noEditPoints="1"/>
            </p:cNvSpPr>
            <p:nvPr/>
          </p:nvSpPr>
          <p:spPr bwMode="auto">
            <a:xfrm>
              <a:off x="2348" y="2048"/>
              <a:ext cx="38" cy="54"/>
            </a:xfrm>
            <a:custGeom>
              <a:avLst/>
              <a:gdLst>
                <a:gd name="T0" fmla="*/ 12 w 38"/>
                <a:gd name="T1" fmla="*/ 0 h 54"/>
                <a:gd name="T2" fmla="*/ 14 w 38"/>
                <a:gd name="T3" fmla="*/ 8 h 54"/>
                <a:gd name="T4" fmla="*/ 20 w 38"/>
                <a:gd name="T5" fmla="*/ 2 h 54"/>
                <a:gd name="T6" fmla="*/ 26 w 38"/>
                <a:gd name="T7" fmla="*/ 0 h 54"/>
                <a:gd name="T8" fmla="*/ 34 w 38"/>
                <a:gd name="T9" fmla="*/ 4 h 54"/>
                <a:gd name="T10" fmla="*/ 38 w 38"/>
                <a:gd name="T11" fmla="*/ 16 h 54"/>
                <a:gd name="T12" fmla="*/ 36 w 38"/>
                <a:gd name="T13" fmla="*/ 28 h 54"/>
                <a:gd name="T14" fmla="*/ 28 w 38"/>
                <a:gd name="T15" fmla="*/ 36 h 54"/>
                <a:gd name="T16" fmla="*/ 20 w 38"/>
                <a:gd name="T17" fmla="*/ 36 h 54"/>
                <a:gd name="T18" fmla="*/ 16 w 38"/>
                <a:gd name="T19" fmla="*/ 34 h 54"/>
                <a:gd name="T20" fmla="*/ 14 w 38"/>
                <a:gd name="T21" fmla="*/ 46 h 54"/>
                <a:gd name="T22" fmla="*/ 14 w 38"/>
                <a:gd name="T23" fmla="*/ 50 h 54"/>
                <a:gd name="T24" fmla="*/ 16 w 38"/>
                <a:gd name="T25" fmla="*/ 52 h 54"/>
                <a:gd name="T26" fmla="*/ 18 w 38"/>
                <a:gd name="T27" fmla="*/ 52 h 54"/>
                <a:gd name="T28" fmla="*/ 0 w 38"/>
                <a:gd name="T29" fmla="*/ 54 h 54"/>
                <a:gd name="T30" fmla="*/ 2 w 38"/>
                <a:gd name="T31" fmla="*/ 52 h 54"/>
                <a:gd name="T32" fmla="*/ 6 w 38"/>
                <a:gd name="T33" fmla="*/ 52 h 54"/>
                <a:gd name="T34" fmla="*/ 6 w 38"/>
                <a:gd name="T35" fmla="*/ 50 h 54"/>
                <a:gd name="T36" fmla="*/ 8 w 38"/>
                <a:gd name="T37" fmla="*/ 46 h 54"/>
                <a:gd name="T38" fmla="*/ 8 w 38"/>
                <a:gd name="T39" fmla="*/ 8 h 54"/>
                <a:gd name="T40" fmla="*/ 6 w 38"/>
                <a:gd name="T41" fmla="*/ 4 h 54"/>
                <a:gd name="T42" fmla="*/ 6 w 38"/>
                <a:gd name="T43" fmla="*/ 4 h 54"/>
                <a:gd name="T44" fmla="*/ 4 w 38"/>
                <a:gd name="T45" fmla="*/ 4 h 54"/>
                <a:gd name="T46" fmla="*/ 2 w 38"/>
                <a:gd name="T47" fmla="*/ 4 h 54"/>
                <a:gd name="T48" fmla="*/ 14 w 38"/>
                <a:gd name="T49" fmla="*/ 24 h 54"/>
                <a:gd name="T50" fmla="*/ 14 w 38"/>
                <a:gd name="T51" fmla="*/ 28 h 54"/>
                <a:gd name="T52" fmla="*/ 16 w 38"/>
                <a:gd name="T53" fmla="*/ 32 h 54"/>
                <a:gd name="T54" fmla="*/ 22 w 38"/>
                <a:gd name="T55" fmla="*/ 34 h 54"/>
                <a:gd name="T56" fmla="*/ 28 w 38"/>
                <a:gd name="T57" fmla="*/ 32 h 54"/>
                <a:gd name="T58" fmla="*/ 32 w 38"/>
                <a:gd name="T59" fmla="*/ 20 h 54"/>
                <a:gd name="T60" fmla="*/ 28 w 38"/>
                <a:gd name="T61" fmla="*/ 8 h 54"/>
                <a:gd name="T62" fmla="*/ 22 w 38"/>
                <a:gd name="T63" fmla="*/ 6 h 54"/>
                <a:gd name="T64" fmla="*/ 18 w 38"/>
                <a:gd name="T65" fmla="*/ 6 h 54"/>
                <a:gd name="T66" fmla="*/ 14 w 38"/>
                <a:gd name="T67" fmla="*/ 10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38"/>
                <a:gd name="T103" fmla="*/ 0 h 54"/>
                <a:gd name="T104" fmla="*/ 38 w 38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38" h="54">
                  <a:moveTo>
                    <a:pt x="2" y="4"/>
                  </a:moveTo>
                  <a:lnTo>
                    <a:pt x="12" y="0"/>
                  </a:lnTo>
                  <a:lnTo>
                    <a:pt x="14" y="0"/>
                  </a:lnTo>
                  <a:lnTo>
                    <a:pt x="14" y="8"/>
                  </a:lnTo>
                  <a:lnTo>
                    <a:pt x="16" y="4"/>
                  </a:lnTo>
                  <a:lnTo>
                    <a:pt x="20" y="2"/>
                  </a:lnTo>
                  <a:lnTo>
                    <a:pt x="22" y="0"/>
                  </a:lnTo>
                  <a:lnTo>
                    <a:pt x="26" y="0"/>
                  </a:lnTo>
                  <a:lnTo>
                    <a:pt x="30" y="0"/>
                  </a:lnTo>
                  <a:lnTo>
                    <a:pt x="34" y="4"/>
                  </a:lnTo>
                  <a:lnTo>
                    <a:pt x="38" y="10"/>
                  </a:lnTo>
                  <a:lnTo>
                    <a:pt x="38" y="16"/>
                  </a:lnTo>
                  <a:lnTo>
                    <a:pt x="38" y="22"/>
                  </a:lnTo>
                  <a:lnTo>
                    <a:pt x="36" y="28"/>
                  </a:lnTo>
                  <a:lnTo>
                    <a:pt x="34" y="32"/>
                  </a:lnTo>
                  <a:lnTo>
                    <a:pt x="28" y="36"/>
                  </a:lnTo>
                  <a:lnTo>
                    <a:pt x="22" y="36"/>
                  </a:lnTo>
                  <a:lnTo>
                    <a:pt x="20" y="36"/>
                  </a:lnTo>
                  <a:lnTo>
                    <a:pt x="18" y="36"/>
                  </a:lnTo>
                  <a:lnTo>
                    <a:pt x="16" y="34"/>
                  </a:lnTo>
                  <a:lnTo>
                    <a:pt x="14" y="34"/>
                  </a:lnTo>
                  <a:lnTo>
                    <a:pt x="14" y="46"/>
                  </a:lnTo>
                  <a:lnTo>
                    <a:pt x="14" y="48"/>
                  </a:lnTo>
                  <a:lnTo>
                    <a:pt x="14" y="50"/>
                  </a:lnTo>
                  <a:lnTo>
                    <a:pt x="14" y="52"/>
                  </a:lnTo>
                  <a:lnTo>
                    <a:pt x="16" y="52"/>
                  </a:lnTo>
                  <a:lnTo>
                    <a:pt x="18" y="52"/>
                  </a:lnTo>
                  <a:lnTo>
                    <a:pt x="18" y="54"/>
                  </a:lnTo>
                  <a:lnTo>
                    <a:pt x="0" y="54"/>
                  </a:lnTo>
                  <a:lnTo>
                    <a:pt x="0" y="52"/>
                  </a:lnTo>
                  <a:lnTo>
                    <a:pt x="2" y="52"/>
                  </a:lnTo>
                  <a:lnTo>
                    <a:pt x="4" y="52"/>
                  </a:lnTo>
                  <a:lnTo>
                    <a:pt x="6" y="52"/>
                  </a:lnTo>
                  <a:lnTo>
                    <a:pt x="6" y="50"/>
                  </a:lnTo>
                  <a:lnTo>
                    <a:pt x="8" y="48"/>
                  </a:lnTo>
                  <a:lnTo>
                    <a:pt x="8" y="46"/>
                  </a:lnTo>
                  <a:lnTo>
                    <a:pt x="8" y="10"/>
                  </a:lnTo>
                  <a:lnTo>
                    <a:pt x="8" y="8"/>
                  </a:lnTo>
                  <a:lnTo>
                    <a:pt x="6" y="6"/>
                  </a:lnTo>
                  <a:lnTo>
                    <a:pt x="6" y="4"/>
                  </a:lnTo>
                  <a:lnTo>
                    <a:pt x="4" y="4"/>
                  </a:lnTo>
                  <a:lnTo>
                    <a:pt x="2" y="4"/>
                  </a:lnTo>
                  <a:close/>
                  <a:moveTo>
                    <a:pt x="14" y="10"/>
                  </a:moveTo>
                  <a:lnTo>
                    <a:pt x="14" y="24"/>
                  </a:lnTo>
                  <a:lnTo>
                    <a:pt x="14" y="26"/>
                  </a:lnTo>
                  <a:lnTo>
                    <a:pt x="14" y="28"/>
                  </a:lnTo>
                  <a:lnTo>
                    <a:pt x="16" y="30"/>
                  </a:lnTo>
                  <a:lnTo>
                    <a:pt x="16" y="32"/>
                  </a:lnTo>
                  <a:lnTo>
                    <a:pt x="20" y="34"/>
                  </a:lnTo>
                  <a:lnTo>
                    <a:pt x="22" y="34"/>
                  </a:lnTo>
                  <a:lnTo>
                    <a:pt x="26" y="34"/>
                  </a:lnTo>
                  <a:lnTo>
                    <a:pt x="28" y="32"/>
                  </a:lnTo>
                  <a:lnTo>
                    <a:pt x="32" y="26"/>
                  </a:lnTo>
                  <a:lnTo>
                    <a:pt x="32" y="20"/>
                  </a:lnTo>
                  <a:lnTo>
                    <a:pt x="32" y="14"/>
                  </a:lnTo>
                  <a:lnTo>
                    <a:pt x="28" y="8"/>
                  </a:lnTo>
                  <a:lnTo>
                    <a:pt x="26" y="6"/>
                  </a:lnTo>
                  <a:lnTo>
                    <a:pt x="22" y="6"/>
                  </a:lnTo>
                  <a:lnTo>
                    <a:pt x="20" y="6"/>
                  </a:lnTo>
                  <a:lnTo>
                    <a:pt x="18" y="6"/>
                  </a:lnTo>
                  <a:lnTo>
                    <a:pt x="16" y="8"/>
                  </a:lnTo>
                  <a:lnTo>
                    <a:pt x="14" y="1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34" name="Freeform 14"/>
            <p:cNvSpPr>
              <a:spLocks noEditPoints="1"/>
            </p:cNvSpPr>
            <p:nvPr/>
          </p:nvSpPr>
          <p:spPr bwMode="auto">
            <a:xfrm>
              <a:off x="2392" y="2048"/>
              <a:ext cx="30" cy="36"/>
            </a:xfrm>
            <a:custGeom>
              <a:avLst/>
              <a:gdLst>
                <a:gd name="T0" fmla="*/ 6 w 30"/>
                <a:gd name="T1" fmla="*/ 14 h 36"/>
                <a:gd name="T2" fmla="*/ 6 w 30"/>
                <a:gd name="T3" fmla="*/ 20 h 36"/>
                <a:gd name="T4" fmla="*/ 10 w 30"/>
                <a:gd name="T5" fmla="*/ 26 h 36"/>
                <a:gd name="T6" fmla="*/ 14 w 30"/>
                <a:gd name="T7" fmla="*/ 28 h 36"/>
                <a:gd name="T8" fmla="*/ 18 w 30"/>
                <a:gd name="T9" fmla="*/ 30 h 36"/>
                <a:gd name="T10" fmla="*/ 22 w 30"/>
                <a:gd name="T11" fmla="*/ 30 h 36"/>
                <a:gd name="T12" fmla="*/ 24 w 30"/>
                <a:gd name="T13" fmla="*/ 28 h 36"/>
                <a:gd name="T14" fmla="*/ 28 w 30"/>
                <a:gd name="T15" fmla="*/ 26 h 36"/>
                <a:gd name="T16" fmla="*/ 28 w 30"/>
                <a:gd name="T17" fmla="*/ 22 h 36"/>
                <a:gd name="T18" fmla="*/ 30 w 30"/>
                <a:gd name="T19" fmla="*/ 22 h 36"/>
                <a:gd name="T20" fmla="*/ 28 w 30"/>
                <a:gd name="T21" fmla="*/ 28 h 36"/>
                <a:gd name="T22" fmla="*/ 26 w 30"/>
                <a:gd name="T23" fmla="*/ 32 h 36"/>
                <a:gd name="T24" fmla="*/ 20 w 30"/>
                <a:gd name="T25" fmla="*/ 36 h 36"/>
                <a:gd name="T26" fmla="*/ 16 w 30"/>
                <a:gd name="T27" fmla="*/ 36 h 36"/>
                <a:gd name="T28" fmla="*/ 10 w 30"/>
                <a:gd name="T29" fmla="*/ 36 h 36"/>
                <a:gd name="T30" fmla="*/ 4 w 30"/>
                <a:gd name="T31" fmla="*/ 32 h 36"/>
                <a:gd name="T32" fmla="*/ 0 w 30"/>
                <a:gd name="T33" fmla="*/ 26 h 36"/>
                <a:gd name="T34" fmla="*/ 0 w 30"/>
                <a:gd name="T35" fmla="*/ 18 h 36"/>
                <a:gd name="T36" fmla="*/ 0 w 30"/>
                <a:gd name="T37" fmla="*/ 12 h 36"/>
                <a:gd name="T38" fmla="*/ 2 w 30"/>
                <a:gd name="T39" fmla="*/ 8 h 36"/>
                <a:gd name="T40" fmla="*/ 4 w 30"/>
                <a:gd name="T41" fmla="*/ 4 h 36"/>
                <a:gd name="T42" fmla="*/ 10 w 30"/>
                <a:gd name="T43" fmla="*/ 0 h 36"/>
                <a:gd name="T44" fmla="*/ 16 w 30"/>
                <a:gd name="T45" fmla="*/ 0 h 36"/>
                <a:gd name="T46" fmla="*/ 22 w 30"/>
                <a:gd name="T47" fmla="*/ 0 h 36"/>
                <a:gd name="T48" fmla="*/ 26 w 30"/>
                <a:gd name="T49" fmla="*/ 4 h 36"/>
                <a:gd name="T50" fmla="*/ 28 w 30"/>
                <a:gd name="T51" fmla="*/ 8 h 36"/>
                <a:gd name="T52" fmla="*/ 30 w 30"/>
                <a:gd name="T53" fmla="*/ 14 h 36"/>
                <a:gd name="T54" fmla="*/ 6 w 30"/>
                <a:gd name="T55" fmla="*/ 14 h 36"/>
                <a:gd name="T56" fmla="*/ 6 w 30"/>
                <a:gd name="T57" fmla="*/ 10 h 36"/>
                <a:gd name="T58" fmla="*/ 22 w 30"/>
                <a:gd name="T59" fmla="*/ 10 h 36"/>
                <a:gd name="T60" fmla="*/ 22 w 30"/>
                <a:gd name="T61" fmla="*/ 8 h 36"/>
                <a:gd name="T62" fmla="*/ 20 w 30"/>
                <a:gd name="T63" fmla="*/ 6 h 36"/>
                <a:gd name="T64" fmla="*/ 20 w 30"/>
                <a:gd name="T65" fmla="*/ 4 h 36"/>
                <a:gd name="T66" fmla="*/ 18 w 30"/>
                <a:gd name="T67" fmla="*/ 2 h 36"/>
                <a:gd name="T68" fmla="*/ 16 w 30"/>
                <a:gd name="T69" fmla="*/ 2 h 36"/>
                <a:gd name="T70" fmla="*/ 14 w 30"/>
                <a:gd name="T71" fmla="*/ 2 h 36"/>
                <a:gd name="T72" fmla="*/ 12 w 30"/>
                <a:gd name="T73" fmla="*/ 2 h 36"/>
                <a:gd name="T74" fmla="*/ 8 w 30"/>
                <a:gd name="T75" fmla="*/ 4 h 36"/>
                <a:gd name="T76" fmla="*/ 6 w 30"/>
                <a:gd name="T77" fmla="*/ 6 h 36"/>
                <a:gd name="T78" fmla="*/ 6 w 30"/>
                <a:gd name="T79" fmla="*/ 10 h 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30"/>
                <a:gd name="T121" fmla="*/ 0 h 36"/>
                <a:gd name="T122" fmla="*/ 30 w 30"/>
                <a:gd name="T123" fmla="*/ 36 h 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30" h="36">
                  <a:moveTo>
                    <a:pt x="6" y="14"/>
                  </a:moveTo>
                  <a:lnTo>
                    <a:pt x="6" y="20"/>
                  </a:lnTo>
                  <a:lnTo>
                    <a:pt x="10" y="26"/>
                  </a:lnTo>
                  <a:lnTo>
                    <a:pt x="14" y="28"/>
                  </a:lnTo>
                  <a:lnTo>
                    <a:pt x="18" y="30"/>
                  </a:lnTo>
                  <a:lnTo>
                    <a:pt x="22" y="30"/>
                  </a:lnTo>
                  <a:lnTo>
                    <a:pt x="24" y="28"/>
                  </a:lnTo>
                  <a:lnTo>
                    <a:pt x="28" y="26"/>
                  </a:lnTo>
                  <a:lnTo>
                    <a:pt x="28" y="22"/>
                  </a:lnTo>
                  <a:lnTo>
                    <a:pt x="30" y="22"/>
                  </a:lnTo>
                  <a:lnTo>
                    <a:pt x="28" y="28"/>
                  </a:lnTo>
                  <a:lnTo>
                    <a:pt x="26" y="32"/>
                  </a:lnTo>
                  <a:lnTo>
                    <a:pt x="20" y="36"/>
                  </a:lnTo>
                  <a:lnTo>
                    <a:pt x="16" y="36"/>
                  </a:lnTo>
                  <a:lnTo>
                    <a:pt x="10" y="36"/>
                  </a:lnTo>
                  <a:lnTo>
                    <a:pt x="4" y="32"/>
                  </a:lnTo>
                  <a:lnTo>
                    <a:pt x="0" y="26"/>
                  </a:lnTo>
                  <a:lnTo>
                    <a:pt x="0" y="18"/>
                  </a:lnTo>
                  <a:lnTo>
                    <a:pt x="0" y="12"/>
                  </a:lnTo>
                  <a:lnTo>
                    <a:pt x="2" y="8"/>
                  </a:lnTo>
                  <a:lnTo>
                    <a:pt x="4" y="4"/>
                  </a:lnTo>
                  <a:lnTo>
                    <a:pt x="10" y="0"/>
                  </a:lnTo>
                  <a:lnTo>
                    <a:pt x="16" y="0"/>
                  </a:lnTo>
                  <a:lnTo>
                    <a:pt x="22" y="0"/>
                  </a:lnTo>
                  <a:lnTo>
                    <a:pt x="26" y="4"/>
                  </a:lnTo>
                  <a:lnTo>
                    <a:pt x="28" y="8"/>
                  </a:lnTo>
                  <a:lnTo>
                    <a:pt x="30" y="14"/>
                  </a:lnTo>
                  <a:lnTo>
                    <a:pt x="6" y="14"/>
                  </a:lnTo>
                  <a:close/>
                  <a:moveTo>
                    <a:pt x="6" y="10"/>
                  </a:moveTo>
                  <a:lnTo>
                    <a:pt x="22" y="10"/>
                  </a:lnTo>
                  <a:lnTo>
                    <a:pt x="22" y="8"/>
                  </a:lnTo>
                  <a:lnTo>
                    <a:pt x="20" y="6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4" y="2"/>
                  </a:lnTo>
                  <a:lnTo>
                    <a:pt x="12" y="2"/>
                  </a:lnTo>
                  <a:lnTo>
                    <a:pt x="8" y="4"/>
                  </a:lnTo>
                  <a:lnTo>
                    <a:pt x="6" y="6"/>
                  </a:lnTo>
                  <a:lnTo>
                    <a:pt x="6" y="1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35" name="Freeform 15"/>
            <p:cNvSpPr>
              <a:spLocks noEditPoints="1"/>
            </p:cNvSpPr>
            <p:nvPr/>
          </p:nvSpPr>
          <p:spPr bwMode="auto">
            <a:xfrm>
              <a:off x="2428" y="2028"/>
              <a:ext cx="36" cy="56"/>
            </a:xfrm>
            <a:custGeom>
              <a:avLst/>
              <a:gdLst>
                <a:gd name="T0" fmla="*/ 24 w 36"/>
                <a:gd name="T1" fmla="*/ 50 h 56"/>
                <a:gd name="T2" fmla="*/ 22 w 36"/>
                <a:gd name="T3" fmla="*/ 54 h 56"/>
                <a:gd name="T4" fmla="*/ 20 w 36"/>
                <a:gd name="T5" fmla="*/ 56 h 56"/>
                <a:gd name="T6" fmla="*/ 16 w 36"/>
                <a:gd name="T7" fmla="*/ 56 h 56"/>
                <a:gd name="T8" fmla="*/ 14 w 36"/>
                <a:gd name="T9" fmla="*/ 56 h 56"/>
                <a:gd name="T10" fmla="*/ 8 w 36"/>
                <a:gd name="T11" fmla="*/ 56 h 56"/>
                <a:gd name="T12" fmla="*/ 4 w 36"/>
                <a:gd name="T13" fmla="*/ 52 h 56"/>
                <a:gd name="T14" fmla="*/ 0 w 36"/>
                <a:gd name="T15" fmla="*/ 46 h 56"/>
                <a:gd name="T16" fmla="*/ 0 w 36"/>
                <a:gd name="T17" fmla="*/ 40 h 56"/>
                <a:gd name="T18" fmla="*/ 0 w 36"/>
                <a:gd name="T19" fmla="*/ 32 h 56"/>
                <a:gd name="T20" fmla="*/ 4 w 36"/>
                <a:gd name="T21" fmla="*/ 26 h 56"/>
                <a:gd name="T22" fmla="*/ 8 w 36"/>
                <a:gd name="T23" fmla="*/ 22 h 56"/>
                <a:gd name="T24" fmla="*/ 12 w 36"/>
                <a:gd name="T25" fmla="*/ 20 h 56"/>
                <a:gd name="T26" fmla="*/ 16 w 36"/>
                <a:gd name="T27" fmla="*/ 20 h 56"/>
                <a:gd name="T28" fmla="*/ 22 w 36"/>
                <a:gd name="T29" fmla="*/ 20 h 56"/>
                <a:gd name="T30" fmla="*/ 24 w 36"/>
                <a:gd name="T31" fmla="*/ 22 h 56"/>
                <a:gd name="T32" fmla="*/ 24 w 36"/>
                <a:gd name="T33" fmla="*/ 16 h 56"/>
                <a:gd name="T34" fmla="*/ 24 w 36"/>
                <a:gd name="T35" fmla="*/ 10 h 56"/>
                <a:gd name="T36" fmla="*/ 24 w 36"/>
                <a:gd name="T37" fmla="*/ 6 h 56"/>
                <a:gd name="T38" fmla="*/ 24 w 36"/>
                <a:gd name="T39" fmla="*/ 6 h 56"/>
                <a:gd name="T40" fmla="*/ 24 w 36"/>
                <a:gd name="T41" fmla="*/ 4 h 56"/>
                <a:gd name="T42" fmla="*/ 24 w 36"/>
                <a:gd name="T43" fmla="*/ 4 h 56"/>
                <a:gd name="T44" fmla="*/ 22 w 36"/>
                <a:gd name="T45" fmla="*/ 4 h 56"/>
                <a:gd name="T46" fmla="*/ 22 w 36"/>
                <a:gd name="T47" fmla="*/ 4 h 56"/>
                <a:gd name="T48" fmla="*/ 20 w 36"/>
                <a:gd name="T49" fmla="*/ 6 h 56"/>
                <a:gd name="T50" fmla="*/ 20 w 36"/>
                <a:gd name="T51" fmla="*/ 4 h 56"/>
                <a:gd name="T52" fmla="*/ 30 w 36"/>
                <a:gd name="T53" fmla="*/ 0 h 56"/>
                <a:gd name="T54" fmla="*/ 32 w 36"/>
                <a:gd name="T55" fmla="*/ 0 h 56"/>
                <a:gd name="T56" fmla="*/ 32 w 36"/>
                <a:gd name="T57" fmla="*/ 42 h 56"/>
                <a:gd name="T58" fmla="*/ 32 w 36"/>
                <a:gd name="T59" fmla="*/ 48 h 56"/>
                <a:gd name="T60" fmla="*/ 32 w 36"/>
                <a:gd name="T61" fmla="*/ 50 h 56"/>
                <a:gd name="T62" fmla="*/ 32 w 36"/>
                <a:gd name="T63" fmla="*/ 50 h 56"/>
                <a:gd name="T64" fmla="*/ 32 w 36"/>
                <a:gd name="T65" fmla="*/ 52 h 56"/>
                <a:gd name="T66" fmla="*/ 32 w 36"/>
                <a:gd name="T67" fmla="*/ 52 h 56"/>
                <a:gd name="T68" fmla="*/ 34 w 36"/>
                <a:gd name="T69" fmla="*/ 52 h 56"/>
                <a:gd name="T70" fmla="*/ 34 w 36"/>
                <a:gd name="T71" fmla="*/ 52 h 56"/>
                <a:gd name="T72" fmla="*/ 36 w 36"/>
                <a:gd name="T73" fmla="*/ 52 h 56"/>
                <a:gd name="T74" fmla="*/ 36 w 36"/>
                <a:gd name="T75" fmla="*/ 52 h 56"/>
                <a:gd name="T76" fmla="*/ 26 w 36"/>
                <a:gd name="T77" fmla="*/ 56 h 56"/>
                <a:gd name="T78" fmla="*/ 24 w 36"/>
                <a:gd name="T79" fmla="*/ 56 h 56"/>
                <a:gd name="T80" fmla="*/ 24 w 36"/>
                <a:gd name="T81" fmla="*/ 50 h 56"/>
                <a:gd name="T82" fmla="*/ 24 w 36"/>
                <a:gd name="T83" fmla="*/ 48 h 56"/>
                <a:gd name="T84" fmla="*/ 24 w 36"/>
                <a:gd name="T85" fmla="*/ 30 h 56"/>
                <a:gd name="T86" fmla="*/ 24 w 36"/>
                <a:gd name="T87" fmla="*/ 28 h 56"/>
                <a:gd name="T88" fmla="*/ 24 w 36"/>
                <a:gd name="T89" fmla="*/ 26 h 56"/>
                <a:gd name="T90" fmla="*/ 22 w 36"/>
                <a:gd name="T91" fmla="*/ 24 h 56"/>
                <a:gd name="T92" fmla="*/ 20 w 36"/>
                <a:gd name="T93" fmla="*/ 22 h 56"/>
                <a:gd name="T94" fmla="*/ 18 w 36"/>
                <a:gd name="T95" fmla="*/ 22 h 56"/>
                <a:gd name="T96" fmla="*/ 16 w 36"/>
                <a:gd name="T97" fmla="*/ 22 h 56"/>
                <a:gd name="T98" fmla="*/ 12 w 36"/>
                <a:gd name="T99" fmla="*/ 22 h 56"/>
                <a:gd name="T100" fmla="*/ 10 w 36"/>
                <a:gd name="T101" fmla="*/ 24 h 56"/>
                <a:gd name="T102" fmla="*/ 8 w 36"/>
                <a:gd name="T103" fmla="*/ 30 h 56"/>
                <a:gd name="T104" fmla="*/ 6 w 36"/>
                <a:gd name="T105" fmla="*/ 36 h 56"/>
                <a:gd name="T106" fmla="*/ 8 w 36"/>
                <a:gd name="T107" fmla="*/ 42 h 56"/>
                <a:gd name="T108" fmla="*/ 10 w 36"/>
                <a:gd name="T109" fmla="*/ 48 h 56"/>
                <a:gd name="T110" fmla="*/ 14 w 36"/>
                <a:gd name="T111" fmla="*/ 50 h 56"/>
                <a:gd name="T112" fmla="*/ 18 w 36"/>
                <a:gd name="T113" fmla="*/ 52 h 56"/>
                <a:gd name="T114" fmla="*/ 22 w 36"/>
                <a:gd name="T115" fmla="*/ 50 h 56"/>
                <a:gd name="T116" fmla="*/ 24 w 36"/>
                <a:gd name="T117" fmla="*/ 48 h 5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36"/>
                <a:gd name="T178" fmla="*/ 0 h 56"/>
                <a:gd name="T179" fmla="*/ 36 w 36"/>
                <a:gd name="T180" fmla="*/ 56 h 5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36" h="56">
                  <a:moveTo>
                    <a:pt x="24" y="50"/>
                  </a:moveTo>
                  <a:lnTo>
                    <a:pt x="22" y="54"/>
                  </a:lnTo>
                  <a:lnTo>
                    <a:pt x="20" y="56"/>
                  </a:lnTo>
                  <a:lnTo>
                    <a:pt x="16" y="56"/>
                  </a:lnTo>
                  <a:lnTo>
                    <a:pt x="14" y="56"/>
                  </a:lnTo>
                  <a:lnTo>
                    <a:pt x="8" y="56"/>
                  </a:lnTo>
                  <a:lnTo>
                    <a:pt x="4" y="52"/>
                  </a:lnTo>
                  <a:lnTo>
                    <a:pt x="0" y="46"/>
                  </a:lnTo>
                  <a:lnTo>
                    <a:pt x="0" y="40"/>
                  </a:lnTo>
                  <a:lnTo>
                    <a:pt x="0" y="32"/>
                  </a:lnTo>
                  <a:lnTo>
                    <a:pt x="4" y="26"/>
                  </a:lnTo>
                  <a:lnTo>
                    <a:pt x="8" y="22"/>
                  </a:lnTo>
                  <a:lnTo>
                    <a:pt x="12" y="20"/>
                  </a:lnTo>
                  <a:lnTo>
                    <a:pt x="16" y="20"/>
                  </a:lnTo>
                  <a:lnTo>
                    <a:pt x="22" y="20"/>
                  </a:lnTo>
                  <a:lnTo>
                    <a:pt x="24" y="22"/>
                  </a:lnTo>
                  <a:lnTo>
                    <a:pt x="24" y="16"/>
                  </a:lnTo>
                  <a:lnTo>
                    <a:pt x="24" y="10"/>
                  </a:lnTo>
                  <a:lnTo>
                    <a:pt x="24" y="6"/>
                  </a:lnTo>
                  <a:lnTo>
                    <a:pt x="24" y="4"/>
                  </a:lnTo>
                  <a:lnTo>
                    <a:pt x="22" y="4"/>
                  </a:lnTo>
                  <a:lnTo>
                    <a:pt x="20" y="6"/>
                  </a:lnTo>
                  <a:lnTo>
                    <a:pt x="20" y="4"/>
                  </a:lnTo>
                  <a:lnTo>
                    <a:pt x="30" y="0"/>
                  </a:lnTo>
                  <a:lnTo>
                    <a:pt x="32" y="0"/>
                  </a:lnTo>
                  <a:lnTo>
                    <a:pt x="32" y="42"/>
                  </a:lnTo>
                  <a:lnTo>
                    <a:pt x="32" y="48"/>
                  </a:lnTo>
                  <a:lnTo>
                    <a:pt x="32" y="50"/>
                  </a:lnTo>
                  <a:lnTo>
                    <a:pt x="32" y="52"/>
                  </a:lnTo>
                  <a:lnTo>
                    <a:pt x="34" y="52"/>
                  </a:lnTo>
                  <a:lnTo>
                    <a:pt x="36" y="52"/>
                  </a:lnTo>
                  <a:lnTo>
                    <a:pt x="26" y="56"/>
                  </a:lnTo>
                  <a:lnTo>
                    <a:pt x="24" y="56"/>
                  </a:lnTo>
                  <a:lnTo>
                    <a:pt x="24" y="50"/>
                  </a:lnTo>
                  <a:close/>
                  <a:moveTo>
                    <a:pt x="24" y="48"/>
                  </a:moveTo>
                  <a:lnTo>
                    <a:pt x="24" y="30"/>
                  </a:lnTo>
                  <a:lnTo>
                    <a:pt x="24" y="28"/>
                  </a:lnTo>
                  <a:lnTo>
                    <a:pt x="24" y="26"/>
                  </a:lnTo>
                  <a:lnTo>
                    <a:pt x="22" y="24"/>
                  </a:lnTo>
                  <a:lnTo>
                    <a:pt x="20" y="22"/>
                  </a:lnTo>
                  <a:lnTo>
                    <a:pt x="18" y="22"/>
                  </a:lnTo>
                  <a:lnTo>
                    <a:pt x="16" y="22"/>
                  </a:lnTo>
                  <a:lnTo>
                    <a:pt x="12" y="22"/>
                  </a:lnTo>
                  <a:lnTo>
                    <a:pt x="10" y="24"/>
                  </a:lnTo>
                  <a:lnTo>
                    <a:pt x="8" y="30"/>
                  </a:lnTo>
                  <a:lnTo>
                    <a:pt x="6" y="36"/>
                  </a:lnTo>
                  <a:lnTo>
                    <a:pt x="8" y="42"/>
                  </a:lnTo>
                  <a:lnTo>
                    <a:pt x="10" y="48"/>
                  </a:lnTo>
                  <a:lnTo>
                    <a:pt x="14" y="50"/>
                  </a:lnTo>
                  <a:lnTo>
                    <a:pt x="18" y="52"/>
                  </a:lnTo>
                  <a:lnTo>
                    <a:pt x="22" y="50"/>
                  </a:lnTo>
                  <a:lnTo>
                    <a:pt x="24" y="4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36" name="Freeform 16"/>
            <p:cNvSpPr/>
            <p:nvPr/>
          </p:nvSpPr>
          <p:spPr bwMode="auto">
            <a:xfrm>
              <a:off x="2466" y="2028"/>
              <a:ext cx="22" cy="72"/>
            </a:xfrm>
            <a:custGeom>
              <a:avLst/>
              <a:gdLst>
                <a:gd name="T0" fmla="*/ 0 w 22"/>
                <a:gd name="T1" fmla="*/ 2 h 72"/>
                <a:gd name="T2" fmla="*/ 0 w 22"/>
                <a:gd name="T3" fmla="*/ 0 h 72"/>
                <a:gd name="T4" fmla="*/ 6 w 22"/>
                <a:gd name="T5" fmla="*/ 4 h 72"/>
                <a:gd name="T6" fmla="*/ 10 w 22"/>
                <a:gd name="T7" fmla="*/ 8 h 72"/>
                <a:gd name="T8" fmla="*/ 16 w 22"/>
                <a:gd name="T9" fmla="*/ 14 h 72"/>
                <a:gd name="T10" fmla="*/ 20 w 22"/>
                <a:gd name="T11" fmla="*/ 20 h 72"/>
                <a:gd name="T12" fmla="*/ 22 w 22"/>
                <a:gd name="T13" fmla="*/ 28 h 72"/>
                <a:gd name="T14" fmla="*/ 22 w 22"/>
                <a:gd name="T15" fmla="*/ 36 h 72"/>
                <a:gd name="T16" fmla="*/ 22 w 22"/>
                <a:gd name="T17" fmla="*/ 44 h 72"/>
                <a:gd name="T18" fmla="*/ 20 w 22"/>
                <a:gd name="T19" fmla="*/ 52 h 72"/>
                <a:gd name="T20" fmla="*/ 16 w 22"/>
                <a:gd name="T21" fmla="*/ 58 h 72"/>
                <a:gd name="T22" fmla="*/ 12 w 22"/>
                <a:gd name="T23" fmla="*/ 64 h 72"/>
                <a:gd name="T24" fmla="*/ 6 w 22"/>
                <a:gd name="T25" fmla="*/ 70 h 72"/>
                <a:gd name="T26" fmla="*/ 0 w 22"/>
                <a:gd name="T27" fmla="*/ 72 h 72"/>
                <a:gd name="T28" fmla="*/ 0 w 22"/>
                <a:gd name="T29" fmla="*/ 70 h 72"/>
                <a:gd name="T30" fmla="*/ 6 w 22"/>
                <a:gd name="T31" fmla="*/ 68 h 72"/>
                <a:gd name="T32" fmla="*/ 8 w 22"/>
                <a:gd name="T33" fmla="*/ 64 h 72"/>
                <a:gd name="T34" fmla="*/ 12 w 22"/>
                <a:gd name="T35" fmla="*/ 58 h 72"/>
                <a:gd name="T36" fmla="*/ 14 w 22"/>
                <a:gd name="T37" fmla="*/ 52 h 72"/>
                <a:gd name="T38" fmla="*/ 14 w 22"/>
                <a:gd name="T39" fmla="*/ 46 h 72"/>
                <a:gd name="T40" fmla="*/ 16 w 22"/>
                <a:gd name="T41" fmla="*/ 38 h 72"/>
                <a:gd name="T42" fmla="*/ 14 w 22"/>
                <a:gd name="T43" fmla="*/ 30 h 72"/>
                <a:gd name="T44" fmla="*/ 14 w 22"/>
                <a:gd name="T45" fmla="*/ 22 h 72"/>
                <a:gd name="T46" fmla="*/ 12 w 22"/>
                <a:gd name="T47" fmla="*/ 18 h 72"/>
                <a:gd name="T48" fmla="*/ 12 w 22"/>
                <a:gd name="T49" fmla="*/ 14 h 72"/>
                <a:gd name="T50" fmla="*/ 10 w 22"/>
                <a:gd name="T51" fmla="*/ 12 h 72"/>
                <a:gd name="T52" fmla="*/ 8 w 22"/>
                <a:gd name="T53" fmla="*/ 8 h 72"/>
                <a:gd name="T54" fmla="*/ 4 w 22"/>
                <a:gd name="T55" fmla="*/ 6 h 72"/>
                <a:gd name="T56" fmla="*/ 0 w 22"/>
                <a:gd name="T57" fmla="*/ 2 h 7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2"/>
                <a:gd name="T88" fmla="*/ 0 h 72"/>
                <a:gd name="T89" fmla="*/ 22 w 22"/>
                <a:gd name="T90" fmla="*/ 72 h 7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2" h="72">
                  <a:moveTo>
                    <a:pt x="0" y="2"/>
                  </a:moveTo>
                  <a:lnTo>
                    <a:pt x="0" y="0"/>
                  </a:lnTo>
                  <a:lnTo>
                    <a:pt x="6" y="4"/>
                  </a:lnTo>
                  <a:lnTo>
                    <a:pt x="10" y="8"/>
                  </a:lnTo>
                  <a:lnTo>
                    <a:pt x="16" y="14"/>
                  </a:lnTo>
                  <a:lnTo>
                    <a:pt x="20" y="20"/>
                  </a:lnTo>
                  <a:lnTo>
                    <a:pt x="22" y="28"/>
                  </a:lnTo>
                  <a:lnTo>
                    <a:pt x="22" y="36"/>
                  </a:lnTo>
                  <a:lnTo>
                    <a:pt x="22" y="44"/>
                  </a:lnTo>
                  <a:lnTo>
                    <a:pt x="20" y="52"/>
                  </a:lnTo>
                  <a:lnTo>
                    <a:pt x="16" y="58"/>
                  </a:lnTo>
                  <a:lnTo>
                    <a:pt x="12" y="64"/>
                  </a:lnTo>
                  <a:lnTo>
                    <a:pt x="6" y="70"/>
                  </a:lnTo>
                  <a:lnTo>
                    <a:pt x="0" y="72"/>
                  </a:lnTo>
                  <a:lnTo>
                    <a:pt x="0" y="70"/>
                  </a:lnTo>
                  <a:lnTo>
                    <a:pt x="6" y="68"/>
                  </a:lnTo>
                  <a:lnTo>
                    <a:pt x="8" y="64"/>
                  </a:lnTo>
                  <a:lnTo>
                    <a:pt x="12" y="58"/>
                  </a:lnTo>
                  <a:lnTo>
                    <a:pt x="14" y="52"/>
                  </a:lnTo>
                  <a:lnTo>
                    <a:pt x="14" y="46"/>
                  </a:lnTo>
                  <a:lnTo>
                    <a:pt x="16" y="38"/>
                  </a:lnTo>
                  <a:lnTo>
                    <a:pt x="14" y="30"/>
                  </a:lnTo>
                  <a:lnTo>
                    <a:pt x="14" y="22"/>
                  </a:lnTo>
                  <a:lnTo>
                    <a:pt x="12" y="18"/>
                  </a:lnTo>
                  <a:lnTo>
                    <a:pt x="12" y="14"/>
                  </a:lnTo>
                  <a:lnTo>
                    <a:pt x="10" y="12"/>
                  </a:lnTo>
                  <a:lnTo>
                    <a:pt x="8" y="8"/>
                  </a:lnTo>
                  <a:lnTo>
                    <a:pt x="4" y="6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37" name="Freeform 17"/>
            <p:cNvSpPr/>
            <p:nvPr/>
          </p:nvSpPr>
          <p:spPr bwMode="auto">
            <a:xfrm>
              <a:off x="1586" y="2222"/>
              <a:ext cx="58" cy="54"/>
            </a:xfrm>
            <a:custGeom>
              <a:avLst/>
              <a:gdLst>
                <a:gd name="T0" fmla="*/ 0 w 58"/>
                <a:gd name="T1" fmla="*/ 0 h 54"/>
                <a:gd name="T2" fmla="*/ 14 w 58"/>
                <a:gd name="T3" fmla="*/ 0 h 54"/>
                <a:gd name="T4" fmla="*/ 48 w 58"/>
                <a:gd name="T5" fmla="*/ 40 h 54"/>
                <a:gd name="T6" fmla="*/ 48 w 58"/>
                <a:gd name="T7" fmla="*/ 8 h 54"/>
                <a:gd name="T8" fmla="*/ 48 w 58"/>
                <a:gd name="T9" fmla="*/ 4 h 54"/>
                <a:gd name="T10" fmla="*/ 46 w 58"/>
                <a:gd name="T11" fmla="*/ 2 h 54"/>
                <a:gd name="T12" fmla="*/ 44 w 58"/>
                <a:gd name="T13" fmla="*/ 0 h 54"/>
                <a:gd name="T14" fmla="*/ 42 w 58"/>
                <a:gd name="T15" fmla="*/ 0 h 54"/>
                <a:gd name="T16" fmla="*/ 40 w 58"/>
                <a:gd name="T17" fmla="*/ 0 h 54"/>
                <a:gd name="T18" fmla="*/ 40 w 58"/>
                <a:gd name="T19" fmla="*/ 0 h 54"/>
                <a:gd name="T20" fmla="*/ 58 w 58"/>
                <a:gd name="T21" fmla="*/ 0 h 54"/>
                <a:gd name="T22" fmla="*/ 58 w 58"/>
                <a:gd name="T23" fmla="*/ 0 h 54"/>
                <a:gd name="T24" fmla="*/ 56 w 58"/>
                <a:gd name="T25" fmla="*/ 0 h 54"/>
                <a:gd name="T26" fmla="*/ 54 w 58"/>
                <a:gd name="T27" fmla="*/ 0 h 54"/>
                <a:gd name="T28" fmla="*/ 52 w 58"/>
                <a:gd name="T29" fmla="*/ 2 h 54"/>
                <a:gd name="T30" fmla="*/ 52 w 58"/>
                <a:gd name="T31" fmla="*/ 4 h 54"/>
                <a:gd name="T32" fmla="*/ 52 w 58"/>
                <a:gd name="T33" fmla="*/ 8 h 54"/>
                <a:gd name="T34" fmla="*/ 52 w 58"/>
                <a:gd name="T35" fmla="*/ 54 h 54"/>
                <a:gd name="T36" fmla="*/ 50 w 58"/>
                <a:gd name="T37" fmla="*/ 54 h 54"/>
                <a:gd name="T38" fmla="*/ 14 w 58"/>
                <a:gd name="T39" fmla="*/ 12 h 54"/>
                <a:gd name="T40" fmla="*/ 14 w 58"/>
                <a:gd name="T41" fmla="*/ 44 h 54"/>
                <a:gd name="T42" fmla="*/ 14 w 58"/>
                <a:gd name="T43" fmla="*/ 48 h 54"/>
                <a:gd name="T44" fmla="*/ 16 w 58"/>
                <a:gd name="T45" fmla="*/ 50 h 54"/>
                <a:gd name="T46" fmla="*/ 18 w 58"/>
                <a:gd name="T47" fmla="*/ 52 h 54"/>
                <a:gd name="T48" fmla="*/ 20 w 58"/>
                <a:gd name="T49" fmla="*/ 52 h 54"/>
                <a:gd name="T50" fmla="*/ 22 w 58"/>
                <a:gd name="T51" fmla="*/ 52 h 54"/>
                <a:gd name="T52" fmla="*/ 22 w 58"/>
                <a:gd name="T53" fmla="*/ 52 h 54"/>
                <a:gd name="T54" fmla="*/ 4 w 58"/>
                <a:gd name="T55" fmla="*/ 52 h 54"/>
                <a:gd name="T56" fmla="*/ 4 w 58"/>
                <a:gd name="T57" fmla="*/ 52 h 54"/>
                <a:gd name="T58" fmla="*/ 6 w 58"/>
                <a:gd name="T59" fmla="*/ 52 h 54"/>
                <a:gd name="T60" fmla="*/ 8 w 58"/>
                <a:gd name="T61" fmla="*/ 52 h 54"/>
                <a:gd name="T62" fmla="*/ 10 w 58"/>
                <a:gd name="T63" fmla="*/ 50 h 54"/>
                <a:gd name="T64" fmla="*/ 10 w 58"/>
                <a:gd name="T65" fmla="*/ 48 h 54"/>
                <a:gd name="T66" fmla="*/ 12 w 58"/>
                <a:gd name="T67" fmla="*/ 44 h 54"/>
                <a:gd name="T68" fmla="*/ 12 w 58"/>
                <a:gd name="T69" fmla="*/ 8 h 54"/>
                <a:gd name="T70" fmla="*/ 8 w 58"/>
                <a:gd name="T71" fmla="*/ 4 h 54"/>
                <a:gd name="T72" fmla="*/ 8 w 58"/>
                <a:gd name="T73" fmla="*/ 4 h 54"/>
                <a:gd name="T74" fmla="*/ 6 w 58"/>
                <a:gd name="T75" fmla="*/ 2 h 54"/>
                <a:gd name="T76" fmla="*/ 4 w 58"/>
                <a:gd name="T77" fmla="*/ 2 h 54"/>
                <a:gd name="T78" fmla="*/ 2 w 58"/>
                <a:gd name="T79" fmla="*/ 2 h 54"/>
                <a:gd name="T80" fmla="*/ 0 w 58"/>
                <a:gd name="T81" fmla="*/ 2 h 54"/>
                <a:gd name="T82" fmla="*/ 0 w 58"/>
                <a:gd name="T83" fmla="*/ 0 h 5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58"/>
                <a:gd name="T127" fmla="*/ 0 h 54"/>
                <a:gd name="T128" fmla="*/ 58 w 58"/>
                <a:gd name="T129" fmla="*/ 54 h 5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58" h="54">
                  <a:moveTo>
                    <a:pt x="0" y="0"/>
                  </a:moveTo>
                  <a:lnTo>
                    <a:pt x="14" y="0"/>
                  </a:lnTo>
                  <a:lnTo>
                    <a:pt x="48" y="40"/>
                  </a:lnTo>
                  <a:lnTo>
                    <a:pt x="48" y="8"/>
                  </a:lnTo>
                  <a:lnTo>
                    <a:pt x="48" y="4"/>
                  </a:lnTo>
                  <a:lnTo>
                    <a:pt x="46" y="2"/>
                  </a:lnTo>
                  <a:lnTo>
                    <a:pt x="44" y="0"/>
                  </a:lnTo>
                  <a:lnTo>
                    <a:pt x="42" y="0"/>
                  </a:lnTo>
                  <a:lnTo>
                    <a:pt x="40" y="0"/>
                  </a:lnTo>
                  <a:lnTo>
                    <a:pt x="58" y="0"/>
                  </a:lnTo>
                  <a:lnTo>
                    <a:pt x="56" y="0"/>
                  </a:lnTo>
                  <a:lnTo>
                    <a:pt x="54" y="0"/>
                  </a:lnTo>
                  <a:lnTo>
                    <a:pt x="52" y="2"/>
                  </a:lnTo>
                  <a:lnTo>
                    <a:pt x="52" y="4"/>
                  </a:lnTo>
                  <a:lnTo>
                    <a:pt x="52" y="8"/>
                  </a:lnTo>
                  <a:lnTo>
                    <a:pt x="52" y="54"/>
                  </a:lnTo>
                  <a:lnTo>
                    <a:pt x="50" y="54"/>
                  </a:lnTo>
                  <a:lnTo>
                    <a:pt x="14" y="12"/>
                  </a:lnTo>
                  <a:lnTo>
                    <a:pt x="14" y="44"/>
                  </a:lnTo>
                  <a:lnTo>
                    <a:pt x="14" y="48"/>
                  </a:lnTo>
                  <a:lnTo>
                    <a:pt x="16" y="50"/>
                  </a:lnTo>
                  <a:lnTo>
                    <a:pt x="18" y="52"/>
                  </a:lnTo>
                  <a:lnTo>
                    <a:pt x="20" y="52"/>
                  </a:lnTo>
                  <a:lnTo>
                    <a:pt x="22" y="52"/>
                  </a:lnTo>
                  <a:lnTo>
                    <a:pt x="4" y="52"/>
                  </a:lnTo>
                  <a:lnTo>
                    <a:pt x="6" y="52"/>
                  </a:lnTo>
                  <a:lnTo>
                    <a:pt x="8" y="52"/>
                  </a:lnTo>
                  <a:lnTo>
                    <a:pt x="10" y="50"/>
                  </a:lnTo>
                  <a:lnTo>
                    <a:pt x="10" y="48"/>
                  </a:lnTo>
                  <a:lnTo>
                    <a:pt x="12" y="44"/>
                  </a:lnTo>
                  <a:lnTo>
                    <a:pt x="12" y="8"/>
                  </a:lnTo>
                  <a:lnTo>
                    <a:pt x="8" y="4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38" name="Freeform 18"/>
            <p:cNvSpPr>
              <a:spLocks noEditPoints="1"/>
            </p:cNvSpPr>
            <p:nvPr/>
          </p:nvSpPr>
          <p:spPr bwMode="auto">
            <a:xfrm>
              <a:off x="1646" y="2222"/>
              <a:ext cx="42" cy="52"/>
            </a:xfrm>
            <a:custGeom>
              <a:avLst/>
              <a:gdLst>
                <a:gd name="T0" fmla="*/ 16 w 42"/>
                <a:gd name="T1" fmla="*/ 28 h 52"/>
                <a:gd name="T2" fmla="*/ 16 w 42"/>
                <a:gd name="T3" fmla="*/ 44 h 52"/>
                <a:gd name="T4" fmla="*/ 16 w 42"/>
                <a:gd name="T5" fmla="*/ 48 h 52"/>
                <a:gd name="T6" fmla="*/ 16 w 42"/>
                <a:gd name="T7" fmla="*/ 50 h 52"/>
                <a:gd name="T8" fmla="*/ 18 w 42"/>
                <a:gd name="T9" fmla="*/ 52 h 52"/>
                <a:gd name="T10" fmla="*/ 20 w 42"/>
                <a:gd name="T11" fmla="*/ 52 h 52"/>
                <a:gd name="T12" fmla="*/ 22 w 42"/>
                <a:gd name="T13" fmla="*/ 52 h 52"/>
                <a:gd name="T14" fmla="*/ 22 w 42"/>
                <a:gd name="T15" fmla="*/ 52 h 52"/>
                <a:gd name="T16" fmla="*/ 0 w 42"/>
                <a:gd name="T17" fmla="*/ 52 h 52"/>
                <a:gd name="T18" fmla="*/ 0 w 42"/>
                <a:gd name="T19" fmla="*/ 52 h 52"/>
                <a:gd name="T20" fmla="*/ 2 w 42"/>
                <a:gd name="T21" fmla="*/ 52 h 52"/>
                <a:gd name="T22" fmla="*/ 4 w 42"/>
                <a:gd name="T23" fmla="*/ 52 h 52"/>
                <a:gd name="T24" fmla="*/ 6 w 42"/>
                <a:gd name="T25" fmla="*/ 50 h 52"/>
                <a:gd name="T26" fmla="*/ 8 w 42"/>
                <a:gd name="T27" fmla="*/ 48 h 52"/>
                <a:gd name="T28" fmla="*/ 8 w 42"/>
                <a:gd name="T29" fmla="*/ 44 h 52"/>
                <a:gd name="T30" fmla="*/ 8 w 42"/>
                <a:gd name="T31" fmla="*/ 8 h 52"/>
                <a:gd name="T32" fmla="*/ 8 w 42"/>
                <a:gd name="T33" fmla="*/ 4 h 52"/>
                <a:gd name="T34" fmla="*/ 6 w 42"/>
                <a:gd name="T35" fmla="*/ 2 h 52"/>
                <a:gd name="T36" fmla="*/ 4 w 42"/>
                <a:gd name="T37" fmla="*/ 0 h 52"/>
                <a:gd name="T38" fmla="*/ 2 w 42"/>
                <a:gd name="T39" fmla="*/ 0 h 52"/>
                <a:gd name="T40" fmla="*/ 0 w 42"/>
                <a:gd name="T41" fmla="*/ 0 h 52"/>
                <a:gd name="T42" fmla="*/ 0 w 42"/>
                <a:gd name="T43" fmla="*/ 0 h 52"/>
                <a:gd name="T44" fmla="*/ 20 w 42"/>
                <a:gd name="T45" fmla="*/ 0 h 52"/>
                <a:gd name="T46" fmla="*/ 26 w 42"/>
                <a:gd name="T47" fmla="*/ 0 h 52"/>
                <a:gd name="T48" fmla="*/ 32 w 42"/>
                <a:gd name="T49" fmla="*/ 2 h 52"/>
                <a:gd name="T50" fmla="*/ 34 w 42"/>
                <a:gd name="T51" fmla="*/ 2 h 52"/>
                <a:gd name="T52" fmla="*/ 38 w 42"/>
                <a:gd name="T53" fmla="*/ 6 h 52"/>
                <a:gd name="T54" fmla="*/ 40 w 42"/>
                <a:gd name="T55" fmla="*/ 10 h 52"/>
                <a:gd name="T56" fmla="*/ 42 w 42"/>
                <a:gd name="T57" fmla="*/ 14 h 52"/>
                <a:gd name="T58" fmla="*/ 40 w 42"/>
                <a:gd name="T59" fmla="*/ 20 h 52"/>
                <a:gd name="T60" fmla="*/ 36 w 42"/>
                <a:gd name="T61" fmla="*/ 24 h 52"/>
                <a:gd name="T62" fmla="*/ 32 w 42"/>
                <a:gd name="T63" fmla="*/ 28 h 52"/>
                <a:gd name="T64" fmla="*/ 24 w 42"/>
                <a:gd name="T65" fmla="*/ 28 h 52"/>
                <a:gd name="T66" fmla="*/ 22 w 42"/>
                <a:gd name="T67" fmla="*/ 28 h 52"/>
                <a:gd name="T68" fmla="*/ 20 w 42"/>
                <a:gd name="T69" fmla="*/ 28 h 52"/>
                <a:gd name="T70" fmla="*/ 18 w 42"/>
                <a:gd name="T71" fmla="*/ 28 h 52"/>
                <a:gd name="T72" fmla="*/ 16 w 42"/>
                <a:gd name="T73" fmla="*/ 28 h 52"/>
                <a:gd name="T74" fmla="*/ 16 w 42"/>
                <a:gd name="T75" fmla="*/ 26 h 52"/>
                <a:gd name="T76" fmla="*/ 18 w 42"/>
                <a:gd name="T77" fmla="*/ 26 h 52"/>
                <a:gd name="T78" fmla="*/ 18 w 42"/>
                <a:gd name="T79" fmla="*/ 26 h 52"/>
                <a:gd name="T80" fmla="*/ 20 w 42"/>
                <a:gd name="T81" fmla="*/ 26 h 52"/>
                <a:gd name="T82" fmla="*/ 22 w 42"/>
                <a:gd name="T83" fmla="*/ 26 h 52"/>
                <a:gd name="T84" fmla="*/ 26 w 42"/>
                <a:gd name="T85" fmla="*/ 26 h 52"/>
                <a:gd name="T86" fmla="*/ 28 w 42"/>
                <a:gd name="T87" fmla="*/ 22 h 52"/>
                <a:gd name="T88" fmla="*/ 32 w 42"/>
                <a:gd name="T89" fmla="*/ 20 h 52"/>
                <a:gd name="T90" fmla="*/ 32 w 42"/>
                <a:gd name="T91" fmla="*/ 14 h 52"/>
                <a:gd name="T92" fmla="*/ 32 w 42"/>
                <a:gd name="T93" fmla="*/ 12 h 52"/>
                <a:gd name="T94" fmla="*/ 30 w 42"/>
                <a:gd name="T95" fmla="*/ 8 h 52"/>
                <a:gd name="T96" fmla="*/ 28 w 42"/>
                <a:gd name="T97" fmla="*/ 6 h 52"/>
                <a:gd name="T98" fmla="*/ 26 w 42"/>
                <a:gd name="T99" fmla="*/ 4 h 52"/>
                <a:gd name="T100" fmla="*/ 24 w 42"/>
                <a:gd name="T101" fmla="*/ 2 h 52"/>
                <a:gd name="T102" fmla="*/ 20 w 42"/>
                <a:gd name="T103" fmla="*/ 2 h 52"/>
                <a:gd name="T104" fmla="*/ 18 w 42"/>
                <a:gd name="T105" fmla="*/ 2 h 52"/>
                <a:gd name="T106" fmla="*/ 16 w 42"/>
                <a:gd name="T107" fmla="*/ 2 h 52"/>
                <a:gd name="T108" fmla="*/ 16 w 42"/>
                <a:gd name="T109" fmla="*/ 26 h 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42"/>
                <a:gd name="T166" fmla="*/ 0 h 52"/>
                <a:gd name="T167" fmla="*/ 42 w 42"/>
                <a:gd name="T168" fmla="*/ 52 h 52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42" h="52">
                  <a:moveTo>
                    <a:pt x="16" y="28"/>
                  </a:moveTo>
                  <a:lnTo>
                    <a:pt x="16" y="44"/>
                  </a:lnTo>
                  <a:lnTo>
                    <a:pt x="16" y="48"/>
                  </a:lnTo>
                  <a:lnTo>
                    <a:pt x="16" y="50"/>
                  </a:lnTo>
                  <a:lnTo>
                    <a:pt x="18" y="52"/>
                  </a:lnTo>
                  <a:lnTo>
                    <a:pt x="20" y="52"/>
                  </a:lnTo>
                  <a:lnTo>
                    <a:pt x="22" y="52"/>
                  </a:lnTo>
                  <a:lnTo>
                    <a:pt x="0" y="52"/>
                  </a:lnTo>
                  <a:lnTo>
                    <a:pt x="2" y="52"/>
                  </a:lnTo>
                  <a:lnTo>
                    <a:pt x="4" y="52"/>
                  </a:lnTo>
                  <a:lnTo>
                    <a:pt x="6" y="50"/>
                  </a:lnTo>
                  <a:lnTo>
                    <a:pt x="8" y="48"/>
                  </a:lnTo>
                  <a:lnTo>
                    <a:pt x="8" y="44"/>
                  </a:lnTo>
                  <a:lnTo>
                    <a:pt x="8" y="8"/>
                  </a:lnTo>
                  <a:lnTo>
                    <a:pt x="8" y="4"/>
                  </a:lnTo>
                  <a:lnTo>
                    <a:pt x="6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20" y="0"/>
                  </a:lnTo>
                  <a:lnTo>
                    <a:pt x="26" y="0"/>
                  </a:lnTo>
                  <a:lnTo>
                    <a:pt x="32" y="2"/>
                  </a:lnTo>
                  <a:lnTo>
                    <a:pt x="34" y="2"/>
                  </a:lnTo>
                  <a:lnTo>
                    <a:pt x="38" y="6"/>
                  </a:lnTo>
                  <a:lnTo>
                    <a:pt x="40" y="10"/>
                  </a:lnTo>
                  <a:lnTo>
                    <a:pt x="42" y="14"/>
                  </a:lnTo>
                  <a:lnTo>
                    <a:pt x="40" y="20"/>
                  </a:lnTo>
                  <a:lnTo>
                    <a:pt x="36" y="24"/>
                  </a:lnTo>
                  <a:lnTo>
                    <a:pt x="32" y="28"/>
                  </a:lnTo>
                  <a:lnTo>
                    <a:pt x="24" y="28"/>
                  </a:lnTo>
                  <a:lnTo>
                    <a:pt x="22" y="28"/>
                  </a:lnTo>
                  <a:lnTo>
                    <a:pt x="20" y="28"/>
                  </a:lnTo>
                  <a:lnTo>
                    <a:pt x="18" y="28"/>
                  </a:lnTo>
                  <a:lnTo>
                    <a:pt x="16" y="28"/>
                  </a:lnTo>
                  <a:close/>
                  <a:moveTo>
                    <a:pt x="16" y="26"/>
                  </a:moveTo>
                  <a:lnTo>
                    <a:pt x="18" y="26"/>
                  </a:lnTo>
                  <a:lnTo>
                    <a:pt x="20" y="26"/>
                  </a:lnTo>
                  <a:lnTo>
                    <a:pt x="22" y="26"/>
                  </a:lnTo>
                  <a:lnTo>
                    <a:pt x="26" y="26"/>
                  </a:lnTo>
                  <a:lnTo>
                    <a:pt x="28" y="22"/>
                  </a:lnTo>
                  <a:lnTo>
                    <a:pt x="32" y="20"/>
                  </a:lnTo>
                  <a:lnTo>
                    <a:pt x="32" y="14"/>
                  </a:lnTo>
                  <a:lnTo>
                    <a:pt x="32" y="12"/>
                  </a:lnTo>
                  <a:lnTo>
                    <a:pt x="30" y="8"/>
                  </a:lnTo>
                  <a:lnTo>
                    <a:pt x="28" y="6"/>
                  </a:lnTo>
                  <a:lnTo>
                    <a:pt x="26" y="4"/>
                  </a:lnTo>
                  <a:lnTo>
                    <a:pt x="24" y="2"/>
                  </a:lnTo>
                  <a:lnTo>
                    <a:pt x="20" y="2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6" y="2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39" name="Freeform 19"/>
            <p:cNvSpPr/>
            <p:nvPr/>
          </p:nvSpPr>
          <p:spPr bwMode="auto">
            <a:xfrm>
              <a:off x="1692" y="2220"/>
              <a:ext cx="22" cy="72"/>
            </a:xfrm>
            <a:custGeom>
              <a:avLst/>
              <a:gdLst>
                <a:gd name="T0" fmla="*/ 22 w 22"/>
                <a:gd name="T1" fmla="*/ 70 h 72"/>
                <a:gd name="T2" fmla="*/ 22 w 22"/>
                <a:gd name="T3" fmla="*/ 72 h 72"/>
                <a:gd name="T4" fmla="*/ 18 w 22"/>
                <a:gd name="T5" fmla="*/ 68 h 72"/>
                <a:gd name="T6" fmla="*/ 12 w 22"/>
                <a:gd name="T7" fmla="*/ 64 h 72"/>
                <a:gd name="T8" fmla="*/ 8 w 22"/>
                <a:gd name="T9" fmla="*/ 58 h 72"/>
                <a:gd name="T10" fmla="*/ 4 w 22"/>
                <a:gd name="T11" fmla="*/ 52 h 72"/>
                <a:gd name="T12" fmla="*/ 2 w 22"/>
                <a:gd name="T13" fmla="*/ 44 h 72"/>
                <a:gd name="T14" fmla="*/ 0 w 22"/>
                <a:gd name="T15" fmla="*/ 36 h 72"/>
                <a:gd name="T16" fmla="*/ 2 w 22"/>
                <a:gd name="T17" fmla="*/ 28 h 72"/>
                <a:gd name="T18" fmla="*/ 4 w 22"/>
                <a:gd name="T19" fmla="*/ 20 h 72"/>
                <a:gd name="T20" fmla="*/ 6 w 22"/>
                <a:gd name="T21" fmla="*/ 14 h 72"/>
                <a:gd name="T22" fmla="*/ 12 w 22"/>
                <a:gd name="T23" fmla="*/ 8 h 72"/>
                <a:gd name="T24" fmla="*/ 16 w 22"/>
                <a:gd name="T25" fmla="*/ 4 h 72"/>
                <a:gd name="T26" fmla="*/ 22 w 22"/>
                <a:gd name="T27" fmla="*/ 0 h 72"/>
                <a:gd name="T28" fmla="*/ 22 w 22"/>
                <a:gd name="T29" fmla="*/ 2 h 72"/>
                <a:gd name="T30" fmla="*/ 18 w 22"/>
                <a:gd name="T31" fmla="*/ 4 h 72"/>
                <a:gd name="T32" fmla="*/ 14 w 22"/>
                <a:gd name="T33" fmla="*/ 8 h 72"/>
                <a:gd name="T34" fmla="*/ 12 w 22"/>
                <a:gd name="T35" fmla="*/ 14 h 72"/>
                <a:gd name="T36" fmla="*/ 10 w 22"/>
                <a:gd name="T37" fmla="*/ 20 h 72"/>
                <a:gd name="T38" fmla="*/ 8 w 22"/>
                <a:gd name="T39" fmla="*/ 28 h 72"/>
                <a:gd name="T40" fmla="*/ 8 w 22"/>
                <a:gd name="T41" fmla="*/ 34 h 72"/>
                <a:gd name="T42" fmla="*/ 8 w 22"/>
                <a:gd name="T43" fmla="*/ 42 h 72"/>
                <a:gd name="T44" fmla="*/ 10 w 22"/>
                <a:gd name="T45" fmla="*/ 50 h 72"/>
                <a:gd name="T46" fmla="*/ 10 w 22"/>
                <a:gd name="T47" fmla="*/ 54 h 72"/>
                <a:gd name="T48" fmla="*/ 12 w 22"/>
                <a:gd name="T49" fmla="*/ 58 h 72"/>
                <a:gd name="T50" fmla="*/ 14 w 22"/>
                <a:gd name="T51" fmla="*/ 62 h 72"/>
                <a:gd name="T52" fmla="*/ 16 w 22"/>
                <a:gd name="T53" fmla="*/ 64 h 72"/>
                <a:gd name="T54" fmla="*/ 18 w 22"/>
                <a:gd name="T55" fmla="*/ 68 h 72"/>
                <a:gd name="T56" fmla="*/ 22 w 22"/>
                <a:gd name="T57" fmla="*/ 70 h 7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2"/>
                <a:gd name="T88" fmla="*/ 0 h 72"/>
                <a:gd name="T89" fmla="*/ 22 w 22"/>
                <a:gd name="T90" fmla="*/ 72 h 7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2" h="72">
                  <a:moveTo>
                    <a:pt x="22" y="70"/>
                  </a:moveTo>
                  <a:lnTo>
                    <a:pt x="22" y="72"/>
                  </a:lnTo>
                  <a:lnTo>
                    <a:pt x="18" y="68"/>
                  </a:lnTo>
                  <a:lnTo>
                    <a:pt x="12" y="64"/>
                  </a:lnTo>
                  <a:lnTo>
                    <a:pt x="8" y="58"/>
                  </a:lnTo>
                  <a:lnTo>
                    <a:pt x="4" y="52"/>
                  </a:lnTo>
                  <a:lnTo>
                    <a:pt x="2" y="44"/>
                  </a:lnTo>
                  <a:lnTo>
                    <a:pt x="0" y="36"/>
                  </a:lnTo>
                  <a:lnTo>
                    <a:pt x="2" y="28"/>
                  </a:lnTo>
                  <a:lnTo>
                    <a:pt x="4" y="20"/>
                  </a:lnTo>
                  <a:lnTo>
                    <a:pt x="6" y="14"/>
                  </a:lnTo>
                  <a:lnTo>
                    <a:pt x="12" y="8"/>
                  </a:lnTo>
                  <a:lnTo>
                    <a:pt x="16" y="4"/>
                  </a:lnTo>
                  <a:lnTo>
                    <a:pt x="22" y="0"/>
                  </a:lnTo>
                  <a:lnTo>
                    <a:pt x="22" y="2"/>
                  </a:lnTo>
                  <a:lnTo>
                    <a:pt x="18" y="4"/>
                  </a:lnTo>
                  <a:lnTo>
                    <a:pt x="14" y="8"/>
                  </a:lnTo>
                  <a:lnTo>
                    <a:pt x="12" y="14"/>
                  </a:lnTo>
                  <a:lnTo>
                    <a:pt x="10" y="20"/>
                  </a:lnTo>
                  <a:lnTo>
                    <a:pt x="8" y="28"/>
                  </a:lnTo>
                  <a:lnTo>
                    <a:pt x="8" y="34"/>
                  </a:lnTo>
                  <a:lnTo>
                    <a:pt x="8" y="42"/>
                  </a:lnTo>
                  <a:lnTo>
                    <a:pt x="10" y="50"/>
                  </a:lnTo>
                  <a:lnTo>
                    <a:pt x="10" y="54"/>
                  </a:lnTo>
                  <a:lnTo>
                    <a:pt x="12" y="58"/>
                  </a:lnTo>
                  <a:lnTo>
                    <a:pt x="14" y="62"/>
                  </a:lnTo>
                  <a:lnTo>
                    <a:pt x="16" y="64"/>
                  </a:lnTo>
                  <a:lnTo>
                    <a:pt x="18" y="68"/>
                  </a:lnTo>
                  <a:lnTo>
                    <a:pt x="22" y="7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40" name="Freeform 20"/>
            <p:cNvSpPr/>
            <p:nvPr/>
          </p:nvSpPr>
          <p:spPr bwMode="auto">
            <a:xfrm>
              <a:off x="1716" y="2240"/>
              <a:ext cx="58" cy="36"/>
            </a:xfrm>
            <a:custGeom>
              <a:avLst/>
              <a:gdLst>
                <a:gd name="T0" fmla="*/ 0 w 58"/>
                <a:gd name="T1" fmla="*/ 0 h 36"/>
                <a:gd name="T2" fmla="*/ 16 w 58"/>
                <a:gd name="T3" fmla="*/ 0 h 36"/>
                <a:gd name="T4" fmla="*/ 16 w 58"/>
                <a:gd name="T5" fmla="*/ 0 h 36"/>
                <a:gd name="T6" fmla="*/ 14 w 58"/>
                <a:gd name="T7" fmla="*/ 0 h 36"/>
                <a:gd name="T8" fmla="*/ 14 w 58"/>
                <a:gd name="T9" fmla="*/ 0 h 36"/>
                <a:gd name="T10" fmla="*/ 12 w 58"/>
                <a:gd name="T11" fmla="*/ 2 h 36"/>
                <a:gd name="T12" fmla="*/ 12 w 58"/>
                <a:gd name="T13" fmla="*/ 2 h 36"/>
                <a:gd name="T14" fmla="*/ 12 w 58"/>
                <a:gd name="T15" fmla="*/ 4 h 36"/>
                <a:gd name="T16" fmla="*/ 14 w 58"/>
                <a:gd name="T17" fmla="*/ 6 h 36"/>
                <a:gd name="T18" fmla="*/ 20 w 58"/>
                <a:gd name="T19" fmla="*/ 26 h 36"/>
                <a:gd name="T20" fmla="*/ 28 w 58"/>
                <a:gd name="T21" fmla="*/ 8 h 36"/>
                <a:gd name="T22" fmla="*/ 26 w 58"/>
                <a:gd name="T23" fmla="*/ 4 h 36"/>
                <a:gd name="T24" fmla="*/ 26 w 58"/>
                <a:gd name="T25" fmla="*/ 2 h 36"/>
                <a:gd name="T26" fmla="*/ 24 w 58"/>
                <a:gd name="T27" fmla="*/ 0 h 36"/>
                <a:gd name="T28" fmla="*/ 24 w 58"/>
                <a:gd name="T29" fmla="*/ 0 h 36"/>
                <a:gd name="T30" fmla="*/ 22 w 58"/>
                <a:gd name="T31" fmla="*/ 0 h 36"/>
                <a:gd name="T32" fmla="*/ 22 w 58"/>
                <a:gd name="T33" fmla="*/ 0 h 36"/>
                <a:gd name="T34" fmla="*/ 38 w 58"/>
                <a:gd name="T35" fmla="*/ 0 h 36"/>
                <a:gd name="T36" fmla="*/ 38 w 58"/>
                <a:gd name="T37" fmla="*/ 0 h 36"/>
                <a:gd name="T38" fmla="*/ 36 w 58"/>
                <a:gd name="T39" fmla="*/ 0 h 36"/>
                <a:gd name="T40" fmla="*/ 34 w 58"/>
                <a:gd name="T41" fmla="*/ 2 h 36"/>
                <a:gd name="T42" fmla="*/ 34 w 58"/>
                <a:gd name="T43" fmla="*/ 2 h 36"/>
                <a:gd name="T44" fmla="*/ 34 w 58"/>
                <a:gd name="T45" fmla="*/ 4 h 36"/>
                <a:gd name="T46" fmla="*/ 34 w 58"/>
                <a:gd name="T47" fmla="*/ 4 h 36"/>
                <a:gd name="T48" fmla="*/ 34 w 58"/>
                <a:gd name="T49" fmla="*/ 6 h 36"/>
                <a:gd name="T50" fmla="*/ 44 w 58"/>
                <a:gd name="T51" fmla="*/ 26 h 36"/>
                <a:gd name="T52" fmla="*/ 50 w 58"/>
                <a:gd name="T53" fmla="*/ 6 h 36"/>
                <a:gd name="T54" fmla="*/ 52 w 58"/>
                <a:gd name="T55" fmla="*/ 4 h 36"/>
                <a:gd name="T56" fmla="*/ 52 w 58"/>
                <a:gd name="T57" fmla="*/ 2 h 36"/>
                <a:gd name="T58" fmla="*/ 52 w 58"/>
                <a:gd name="T59" fmla="*/ 2 h 36"/>
                <a:gd name="T60" fmla="*/ 50 w 58"/>
                <a:gd name="T61" fmla="*/ 0 h 36"/>
                <a:gd name="T62" fmla="*/ 50 w 58"/>
                <a:gd name="T63" fmla="*/ 0 h 36"/>
                <a:gd name="T64" fmla="*/ 48 w 58"/>
                <a:gd name="T65" fmla="*/ 0 h 36"/>
                <a:gd name="T66" fmla="*/ 48 w 58"/>
                <a:gd name="T67" fmla="*/ 0 h 36"/>
                <a:gd name="T68" fmla="*/ 58 w 58"/>
                <a:gd name="T69" fmla="*/ 0 h 36"/>
                <a:gd name="T70" fmla="*/ 58 w 58"/>
                <a:gd name="T71" fmla="*/ 0 h 36"/>
                <a:gd name="T72" fmla="*/ 56 w 58"/>
                <a:gd name="T73" fmla="*/ 2 h 36"/>
                <a:gd name="T74" fmla="*/ 54 w 58"/>
                <a:gd name="T75" fmla="*/ 6 h 36"/>
                <a:gd name="T76" fmla="*/ 42 w 58"/>
                <a:gd name="T77" fmla="*/ 36 h 36"/>
                <a:gd name="T78" fmla="*/ 40 w 58"/>
                <a:gd name="T79" fmla="*/ 36 h 36"/>
                <a:gd name="T80" fmla="*/ 30 w 58"/>
                <a:gd name="T81" fmla="*/ 12 h 36"/>
                <a:gd name="T82" fmla="*/ 18 w 58"/>
                <a:gd name="T83" fmla="*/ 36 h 36"/>
                <a:gd name="T84" fmla="*/ 18 w 58"/>
                <a:gd name="T85" fmla="*/ 36 h 36"/>
                <a:gd name="T86" fmla="*/ 6 w 58"/>
                <a:gd name="T87" fmla="*/ 6 h 36"/>
                <a:gd name="T88" fmla="*/ 4 w 58"/>
                <a:gd name="T89" fmla="*/ 4 h 36"/>
                <a:gd name="T90" fmla="*/ 4 w 58"/>
                <a:gd name="T91" fmla="*/ 2 h 36"/>
                <a:gd name="T92" fmla="*/ 2 w 58"/>
                <a:gd name="T93" fmla="*/ 0 h 36"/>
                <a:gd name="T94" fmla="*/ 0 w 58"/>
                <a:gd name="T95" fmla="*/ 0 h 36"/>
                <a:gd name="T96" fmla="*/ 0 w 58"/>
                <a:gd name="T97" fmla="*/ 0 h 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58"/>
                <a:gd name="T148" fmla="*/ 0 h 36"/>
                <a:gd name="T149" fmla="*/ 58 w 58"/>
                <a:gd name="T150" fmla="*/ 36 h 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58" h="36">
                  <a:moveTo>
                    <a:pt x="0" y="0"/>
                  </a:moveTo>
                  <a:lnTo>
                    <a:pt x="16" y="0"/>
                  </a:lnTo>
                  <a:lnTo>
                    <a:pt x="14" y="0"/>
                  </a:lnTo>
                  <a:lnTo>
                    <a:pt x="12" y="2"/>
                  </a:lnTo>
                  <a:lnTo>
                    <a:pt x="12" y="4"/>
                  </a:lnTo>
                  <a:lnTo>
                    <a:pt x="14" y="6"/>
                  </a:lnTo>
                  <a:lnTo>
                    <a:pt x="20" y="26"/>
                  </a:lnTo>
                  <a:lnTo>
                    <a:pt x="28" y="8"/>
                  </a:lnTo>
                  <a:lnTo>
                    <a:pt x="26" y="4"/>
                  </a:lnTo>
                  <a:lnTo>
                    <a:pt x="26" y="2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38" y="0"/>
                  </a:lnTo>
                  <a:lnTo>
                    <a:pt x="36" y="0"/>
                  </a:lnTo>
                  <a:lnTo>
                    <a:pt x="34" y="2"/>
                  </a:lnTo>
                  <a:lnTo>
                    <a:pt x="34" y="4"/>
                  </a:lnTo>
                  <a:lnTo>
                    <a:pt x="34" y="6"/>
                  </a:lnTo>
                  <a:lnTo>
                    <a:pt x="44" y="26"/>
                  </a:lnTo>
                  <a:lnTo>
                    <a:pt x="50" y="6"/>
                  </a:lnTo>
                  <a:lnTo>
                    <a:pt x="52" y="4"/>
                  </a:lnTo>
                  <a:lnTo>
                    <a:pt x="52" y="2"/>
                  </a:lnTo>
                  <a:lnTo>
                    <a:pt x="50" y="0"/>
                  </a:lnTo>
                  <a:lnTo>
                    <a:pt x="48" y="0"/>
                  </a:lnTo>
                  <a:lnTo>
                    <a:pt x="58" y="0"/>
                  </a:lnTo>
                  <a:lnTo>
                    <a:pt x="56" y="2"/>
                  </a:lnTo>
                  <a:lnTo>
                    <a:pt x="54" y="6"/>
                  </a:lnTo>
                  <a:lnTo>
                    <a:pt x="42" y="36"/>
                  </a:lnTo>
                  <a:lnTo>
                    <a:pt x="40" y="36"/>
                  </a:lnTo>
                  <a:lnTo>
                    <a:pt x="30" y="12"/>
                  </a:lnTo>
                  <a:lnTo>
                    <a:pt x="18" y="36"/>
                  </a:lnTo>
                  <a:lnTo>
                    <a:pt x="6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41" name="Freeform 21"/>
            <p:cNvSpPr>
              <a:spLocks noEditPoints="1"/>
            </p:cNvSpPr>
            <p:nvPr/>
          </p:nvSpPr>
          <p:spPr bwMode="auto">
            <a:xfrm>
              <a:off x="1776" y="2238"/>
              <a:ext cx="34" cy="38"/>
            </a:xfrm>
            <a:custGeom>
              <a:avLst/>
              <a:gdLst>
                <a:gd name="T0" fmla="*/ 16 w 34"/>
                <a:gd name="T1" fmla="*/ 0 h 38"/>
                <a:gd name="T2" fmla="*/ 22 w 34"/>
                <a:gd name="T3" fmla="*/ 0 h 38"/>
                <a:gd name="T4" fmla="*/ 26 w 34"/>
                <a:gd name="T5" fmla="*/ 2 h 38"/>
                <a:gd name="T6" fmla="*/ 30 w 34"/>
                <a:gd name="T7" fmla="*/ 6 h 38"/>
                <a:gd name="T8" fmla="*/ 32 w 34"/>
                <a:gd name="T9" fmla="*/ 12 h 38"/>
                <a:gd name="T10" fmla="*/ 34 w 34"/>
                <a:gd name="T11" fmla="*/ 18 h 38"/>
                <a:gd name="T12" fmla="*/ 32 w 34"/>
                <a:gd name="T13" fmla="*/ 24 h 38"/>
                <a:gd name="T14" fmla="*/ 32 w 34"/>
                <a:gd name="T15" fmla="*/ 28 h 38"/>
                <a:gd name="T16" fmla="*/ 28 w 34"/>
                <a:gd name="T17" fmla="*/ 32 h 38"/>
                <a:gd name="T18" fmla="*/ 24 w 34"/>
                <a:gd name="T19" fmla="*/ 36 h 38"/>
                <a:gd name="T20" fmla="*/ 20 w 34"/>
                <a:gd name="T21" fmla="*/ 38 h 38"/>
                <a:gd name="T22" fmla="*/ 16 w 34"/>
                <a:gd name="T23" fmla="*/ 38 h 38"/>
                <a:gd name="T24" fmla="*/ 10 w 34"/>
                <a:gd name="T25" fmla="*/ 38 h 38"/>
                <a:gd name="T26" fmla="*/ 6 w 34"/>
                <a:gd name="T27" fmla="*/ 34 h 38"/>
                <a:gd name="T28" fmla="*/ 4 w 34"/>
                <a:gd name="T29" fmla="*/ 32 h 38"/>
                <a:gd name="T30" fmla="*/ 0 w 34"/>
                <a:gd name="T31" fmla="*/ 26 h 38"/>
                <a:gd name="T32" fmla="*/ 0 w 34"/>
                <a:gd name="T33" fmla="*/ 20 h 38"/>
                <a:gd name="T34" fmla="*/ 0 w 34"/>
                <a:gd name="T35" fmla="*/ 14 h 38"/>
                <a:gd name="T36" fmla="*/ 2 w 34"/>
                <a:gd name="T37" fmla="*/ 10 h 38"/>
                <a:gd name="T38" fmla="*/ 4 w 34"/>
                <a:gd name="T39" fmla="*/ 6 h 38"/>
                <a:gd name="T40" fmla="*/ 8 w 34"/>
                <a:gd name="T41" fmla="*/ 2 h 38"/>
                <a:gd name="T42" fmla="*/ 12 w 34"/>
                <a:gd name="T43" fmla="*/ 0 h 38"/>
                <a:gd name="T44" fmla="*/ 16 w 34"/>
                <a:gd name="T45" fmla="*/ 0 h 38"/>
                <a:gd name="T46" fmla="*/ 16 w 34"/>
                <a:gd name="T47" fmla="*/ 2 h 38"/>
                <a:gd name="T48" fmla="*/ 12 w 34"/>
                <a:gd name="T49" fmla="*/ 4 h 38"/>
                <a:gd name="T50" fmla="*/ 10 w 34"/>
                <a:gd name="T51" fmla="*/ 4 h 38"/>
                <a:gd name="T52" fmla="*/ 8 w 34"/>
                <a:gd name="T53" fmla="*/ 6 h 38"/>
                <a:gd name="T54" fmla="*/ 8 w 34"/>
                <a:gd name="T55" fmla="*/ 8 h 38"/>
                <a:gd name="T56" fmla="*/ 6 w 34"/>
                <a:gd name="T57" fmla="*/ 12 h 38"/>
                <a:gd name="T58" fmla="*/ 6 w 34"/>
                <a:gd name="T59" fmla="*/ 16 h 38"/>
                <a:gd name="T60" fmla="*/ 6 w 34"/>
                <a:gd name="T61" fmla="*/ 24 h 38"/>
                <a:gd name="T62" fmla="*/ 10 w 34"/>
                <a:gd name="T63" fmla="*/ 30 h 38"/>
                <a:gd name="T64" fmla="*/ 12 w 34"/>
                <a:gd name="T65" fmla="*/ 34 h 38"/>
                <a:gd name="T66" fmla="*/ 18 w 34"/>
                <a:gd name="T67" fmla="*/ 36 h 38"/>
                <a:gd name="T68" fmla="*/ 22 w 34"/>
                <a:gd name="T69" fmla="*/ 34 h 38"/>
                <a:gd name="T70" fmla="*/ 24 w 34"/>
                <a:gd name="T71" fmla="*/ 32 h 38"/>
                <a:gd name="T72" fmla="*/ 26 w 34"/>
                <a:gd name="T73" fmla="*/ 28 h 38"/>
                <a:gd name="T74" fmla="*/ 26 w 34"/>
                <a:gd name="T75" fmla="*/ 22 h 38"/>
                <a:gd name="T76" fmla="*/ 26 w 34"/>
                <a:gd name="T77" fmla="*/ 16 h 38"/>
                <a:gd name="T78" fmla="*/ 24 w 34"/>
                <a:gd name="T79" fmla="*/ 10 h 38"/>
                <a:gd name="T80" fmla="*/ 22 w 34"/>
                <a:gd name="T81" fmla="*/ 6 h 38"/>
                <a:gd name="T82" fmla="*/ 20 w 34"/>
                <a:gd name="T83" fmla="*/ 4 h 38"/>
                <a:gd name="T84" fmla="*/ 16 w 34"/>
                <a:gd name="T85" fmla="*/ 2 h 38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4"/>
                <a:gd name="T130" fmla="*/ 0 h 38"/>
                <a:gd name="T131" fmla="*/ 34 w 34"/>
                <a:gd name="T132" fmla="*/ 38 h 38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4" h="38">
                  <a:moveTo>
                    <a:pt x="16" y="0"/>
                  </a:moveTo>
                  <a:lnTo>
                    <a:pt x="22" y="0"/>
                  </a:lnTo>
                  <a:lnTo>
                    <a:pt x="26" y="2"/>
                  </a:lnTo>
                  <a:lnTo>
                    <a:pt x="30" y="6"/>
                  </a:lnTo>
                  <a:lnTo>
                    <a:pt x="32" y="12"/>
                  </a:lnTo>
                  <a:lnTo>
                    <a:pt x="34" y="18"/>
                  </a:lnTo>
                  <a:lnTo>
                    <a:pt x="32" y="24"/>
                  </a:lnTo>
                  <a:lnTo>
                    <a:pt x="32" y="28"/>
                  </a:lnTo>
                  <a:lnTo>
                    <a:pt x="28" y="32"/>
                  </a:lnTo>
                  <a:lnTo>
                    <a:pt x="24" y="36"/>
                  </a:lnTo>
                  <a:lnTo>
                    <a:pt x="20" y="38"/>
                  </a:lnTo>
                  <a:lnTo>
                    <a:pt x="16" y="38"/>
                  </a:lnTo>
                  <a:lnTo>
                    <a:pt x="10" y="38"/>
                  </a:lnTo>
                  <a:lnTo>
                    <a:pt x="6" y="34"/>
                  </a:lnTo>
                  <a:lnTo>
                    <a:pt x="4" y="32"/>
                  </a:lnTo>
                  <a:lnTo>
                    <a:pt x="0" y="26"/>
                  </a:lnTo>
                  <a:lnTo>
                    <a:pt x="0" y="20"/>
                  </a:lnTo>
                  <a:lnTo>
                    <a:pt x="0" y="14"/>
                  </a:lnTo>
                  <a:lnTo>
                    <a:pt x="2" y="10"/>
                  </a:lnTo>
                  <a:lnTo>
                    <a:pt x="4" y="6"/>
                  </a:lnTo>
                  <a:lnTo>
                    <a:pt x="8" y="2"/>
                  </a:lnTo>
                  <a:lnTo>
                    <a:pt x="12" y="0"/>
                  </a:lnTo>
                  <a:lnTo>
                    <a:pt x="16" y="0"/>
                  </a:lnTo>
                  <a:close/>
                  <a:moveTo>
                    <a:pt x="16" y="2"/>
                  </a:moveTo>
                  <a:lnTo>
                    <a:pt x="12" y="4"/>
                  </a:lnTo>
                  <a:lnTo>
                    <a:pt x="10" y="4"/>
                  </a:lnTo>
                  <a:lnTo>
                    <a:pt x="8" y="6"/>
                  </a:lnTo>
                  <a:lnTo>
                    <a:pt x="8" y="8"/>
                  </a:lnTo>
                  <a:lnTo>
                    <a:pt x="6" y="12"/>
                  </a:lnTo>
                  <a:lnTo>
                    <a:pt x="6" y="16"/>
                  </a:lnTo>
                  <a:lnTo>
                    <a:pt x="6" y="24"/>
                  </a:lnTo>
                  <a:lnTo>
                    <a:pt x="10" y="30"/>
                  </a:lnTo>
                  <a:lnTo>
                    <a:pt x="12" y="34"/>
                  </a:lnTo>
                  <a:lnTo>
                    <a:pt x="18" y="36"/>
                  </a:lnTo>
                  <a:lnTo>
                    <a:pt x="22" y="34"/>
                  </a:lnTo>
                  <a:lnTo>
                    <a:pt x="24" y="32"/>
                  </a:lnTo>
                  <a:lnTo>
                    <a:pt x="26" y="28"/>
                  </a:lnTo>
                  <a:lnTo>
                    <a:pt x="26" y="22"/>
                  </a:lnTo>
                  <a:lnTo>
                    <a:pt x="26" y="16"/>
                  </a:lnTo>
                  <a:lnTo>
                    <a:pt x="24" y="10"/>
                  </a:lnTo>
                  <a:lnTo>
                    <a:pt x="22" y="6"/>
                  </a:lnTo>
                  <a:lnTo>
                    <a:pt x="20" y="4"/>
                  </a:lnTo>
                  <a:lnTo>
                    <a:pt x="16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42" name="Freeform 22"/>
            <p:cNvSpPr/>
            <p:nvPr/>
          </p:nvSpPr>
          <p:spPr bwMode="auto">
            <a:xfrm>
              <a:off x="1814" y="2238"/>
              <a:ext cx="26" cy="36"/>
            </a:xfrm>
            <a:custGeom>
              <a:avLst/>
              <a:gdLst>
                <a:gd name="T0" fmla="*/ 12 w 26"/>
                <a:gd name="T1" fmla="*/ 0 h 36"/>
                <a:gd name="T2" fmla="*/ 12 w 26"/>
                <a:gd name="T3" fmla="*/ 10 h 36"/>
                <a:gd name="T4" fmla="*/ 14 w 26"/>
                <a:gd name="T5" fmla="*/ 4 h 36"/>
                <a:gd name="T6" fmla="*/ 18 w 26"/>
                <a:gd name="T7" fmla="*/ 2 h 36"/>
                <a:gd name="T8" fmla="*/ 20 w 26"/>
                <a:gd name="T9" fmla="*/ 0 h 36"/>
                <a:gd name="T10" fmla="*/ 22 w 26"/>
                <a:gd name="T11" fmla="*/ 0 h 36"/>
                <a:gd name="T12" fmla="*/ 24 w 26"/>
                <a:gd name="T13" fmla="*/ 2 h 36"/>
                <a:gd name="T14" fmla="*/ 26 w 26"/>
                <a:gd name="T15" fmla="*/ 4 h 36"/>
                <a:gd name="T16" fmla="*/ 26 w 26"/>
                <a:gd name="T17" fmla="*/ 6 h 36"/>
                <a:gd name="T18" fmla="*/ 26 w 26"/>
                <a:gd name="T19" fmla="*/ 6 h 36"/>
                <a:gd name="T20" fmla="*/ 24 w 26"/>
                <a:gd name="T21" fmla="*/ 8 h 36"/>
                <a:gd name="T22" fmla="*/ 24 w 26"/>
                <a:gd name="T23" fmla="*/ 10 h 36"/>
                <a:gd name="T24" fmla="*/ 22 w 26"/>
                <a:gd name="T25" fmla="*/ 10 h 36"/>
                <a:gd name="T26" fmla="*/ 20 w 26"/>
                <a:gd name="T27" fmla="*/ 8 h 36"/>
                <a:gd name="T28" fmla="*/ 20 w 26"/>
                <a:gd name="T29" fmla="*/ 8 h 36"/>
                <a:gd name="T30" fmla="*/ 18 w 26"/>
                <a:gd name="T31" fmla="*/ 6 h 36"/>
                <a:gd name="T32" fmla="*/ 16 w 26"/>
                <a:gd name="T33" fmla="*/ 6 h 36"/>
                <a:gd name="T34" fmla="*/ 16 w 26"/>
                <a:gd name="T35" fmla="*/ 6 h 36"/>
                <a:gd name="T36" fmla="*/ 14 w 26"/>
                <a:gd name="T37" fmla="*/ 6 h 36"/>
                <a:gd name="T38" fmla="*/ 14 w 26"/>
                <a:gd name="T39" fmla="*/ 10 h 36"/>
                <a:gd name="T40" fmla="*/ 12 w 26"/>
                <a:gd name="T41" fmla="*/ 12 h 36"/>
                <a:gd name="T42" fmla="*/ 12 w 26"/>
                <a:gd name="T43" fmla="*/ 28 h 36"/>
                <a:gd name="T44" fmla="*/ 12 w 26"/>
                <a:gd name="T45" fmla="*/ 32 h 36"/>
                <a:gd name="T46" fmla="*/ 12 w 26"/>
                <a:gd name="T47" fmla="*/ 34 h 36"/>
                <a:gd name="T48" fmla="*/ 12 w 26"/>
                <a:gd name="T49" fmla="*/ 34 h 36"/>
                <a:gd name="T50" fmla="*/ 14 w 26"/>
                <a:gd name="T51" fmla="*/ 36 h 36"/>
                <a:gd name="T52" fmla="*/ 16 w 26"/>
                <a:gd name="T53" fmla="*/ 36 h 36"/>
                <a:gd name="T54" fmla="*/ 18 w 26"/>
                <a:gd name="T55" fmla="*/ 36 h 36"/>
                <a:gd name="T56" fmla="*/ 18 w 26"/>
                <a:gd name="T57" fmla="*/ 36 h 36"/>
                <a:gd name="T58" fmla="*/ 0 w 26"/>
                <a:gd name="T59" fmla="*/ 36 h 36"/>
                <a:gd name="T60" fmla="*/ 0 w 26"/>
                <a:gd name="T61" fmla="*/ 36 h 36"/>
                <a:gd name="T62" fmla="*/ 2 w 26"/>
                <a:gd name="T63" fmla="*/ 36 h 36"/>
                <a:gd name="T64" fmla="*/ 4 w 26"/>
                <a:gd name="T65" fmla="*/ 36 h 36"/>
                <a:gd name="T66" fmla="*/ 4 w 26"/>
                <a:gd name="T67" fmla="*/ 34 h 36"/>
                <a:gd name="T68" fmla="*/ 4 w 26"/>
                <a:gd name="T69" fmla="*/ 32 h 36"/>
                <a:gd name="T70" fmla="*/ 4 w 26"/>
                <a:gd name="T71" fmla="*/ 32 h 36"/>
                <a:gd name="T72" fmla="*/ 4 w 26"/>
                <a:gd name="T73" fmla="*/ 28 h 36"/>
                <a:gd name="T74" fmla="*/ 4 w 26"/>
                <a:gd name="T75" fmla="*/ 16 h 36"/>
                <a:gd name="T76" fmla="*/ 4 w 26"/>
                <a:gd name="T77" fmla="*/ 10 h 36"/>
                <a:gd name="T78" fmla="*/ 4 w 26"/>
                <a:gd name="T79" fmla="*/ 8 h 36"/>
                <a:gd name="T80" fmla="*/ 4 w 26"/>
                <a:gd name="T81" fmla="*/ 6 h 36"/>
                <a:gd name="T82" fmla="*/ 4 w 26"/>
                <a:gd name="T83" fmla="*/ 6 h 36"/>
                <a:gd name="T84" fmla="*/ 2 w 26"/>
                <a:gd name="T85" fmla="*/ 4 h 36"/>
                <a:gd name="T86" fmla="*/ 2 w 26"/>
                <a:gd name="T87" fmla="*/ 4 h 36"/>
                <a:gd name="T88" fmla="*/ 2 w 26"/>
                <a:gd name="T89" fmla="*/ 4 h 36"/>
                <a:gd name="T90" fmla="*/ 0 w 26"/>
                <a:gd name="T91" fmla="*/ 6 h 36"/>
                <a:gd name="T92" fmla="*/ 0 w 26"/>
                <a:gd name="T93" fmla="*/ 4 h 36"/>
                <a:gd name="T94" fmla="*/ 10 w 26"/>
                <a:gd name="T95" fmla="*/ 0 h 36"/>
                <a:gd name="T96" fmla="*/ 12 w 26"/>
                <a:gd name="T97" fmla="*/ 0 h 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26"/>
                <a:gd name="T148" fmla="*/ 0 h 36"/>
                <a:gd name="T149" fmla="*/ 26 w 26"/>
                <a:gd name="T150" fmla="*/ 36 h 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26" h="36">
                  <a:moveTo>
                    <a:pt x="12" y="0"/>
                  </a:moveTo>
                  <a:lnTo>
                    <a:pt x="12" y="10"/>
                  </a:lnTo>
                  <a:lnTo>
                    <a:pt x="14" y="4"/>
                  </a:lnTo>
                  <a:lnTo>
                    <a:pt x="18" y="2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4" y="2"/>
                  </a:lnTo>
                  <a:lnTo>
                    <a:pt x="26" y="4"/>
                  </a:lnTo>
                  <a:lnTo>
                    <a:pt x="26" y="6"/>
                  </a:lnTo>
                  <a:lnTo>
                    <a:pt x="24" y="8"/>
                  </a:lnTo>
                  <a:lnTo>
                    <a:pt x="24" y="10"/>
                  </a:lnTo>
                  <a:lnTo>
                    <a:pt x="22" y="10"/>
                  </a:lnTo>
                  <a:lnTo>
                    <a:pt x="20" y="8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4" y="6"/>
                  </a:lnTo>
                  <a:lnTo>
                    <a:pt x="14" y="10"/>
                  </a:lnTo>
                  <a:lnTo>
                    <a:pt x="12" y="12"/>
                  </a:lnTo>
                  <a:lnTo>
                    <a:pt x="12" y="28"/>
                  </a:lnTo>
                  <a:lnTo>
                    <a:pt x="12" y="32"/>
                  </a:lnTo>
                  <a:lnTo>
                    <a:pt x="12" y="34"/>
                  </a:lnTo>
                  <a:lnTo>
                    <a:pt x="14" y="36"/>
                  </a:lnTo>
                  <a:lnTo>
                    <a:pt x="16" y="36"/>
                  </a:lnTo>
                  <a:lnTo>
                    <a:pt x="18" y="36"/>
                  </a:lnTo>
                  <a:lnTo>
                    <a:pt x="0" y="36"/>
                  </a:lnTo>
                  <a:lnTo>
                    <a:pt x="2" y="36"/>
                  </a:lnTo>
                  <a:lnTo>
                    <a:pt x="4" y="36"/>
                  </a:lnTo>
                  <a:lnTo>
                    <a:pt x="4" y="34"/>
                  </a:lnTo>
                  <a:lnTo>
                    <a:pt x="4" y="32"/>
                  </a:lnTo>
                  <a:lnTo>
                    <a:pt x="4" y="28"/>
                  </a:lnTo>
                  <a:lnTo>
                    <a:pt x="4" y="16"/>
                  </a:lnTo>
                  <a:lnTo>
                    <a:pt x="4" y="10"/>
                  </a:lnTo>
                  <a:lnTo>
                    <a:pt x="4" y="8"/>
                  </a:lnTo>
                  <a:lnTo>
                    <a:pt x="4" y="6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4"/>
                  </a:lnTo>
                  <a:lnTo>
                    <a:pt x="10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43" name="Freeform 23"/>
            <p:cNvSpPr/>
            <p:nvPr/>
          </p:nvSpPr>
          <p:spPr bwMode="auto">
            <a:xfrm>
              <a:off x="1840" y="2220"/>
              <a:ext cx="40" cy="54"/>
            </a:xfrm>
            <a:custGeom>
              <a:avLst/>
              <a:gdLst>
                <a:gd name="T0" fmla="*/ 12 w 40"/>
                <a:gd name="T1" fmla="*/ 34 h 54"/>
                <a:gd name="T2" fmla="*/ 24 w 40"/>
                <a:gd name="T3" fmla="*/ 24 h 54"/>
                <a:gd name="T4" fmla="*/ 26 w 40"/>
                <a:gd name="T5" fmla="*/ 22 h 54"/>
                <a:gd name="T6" fmla="*/ 26 w 40"/>
                <a:gd name="T7" fmla="*/ 22 h 54"/>
                <a:gd name="T8" fmla="*/ 24 w 40"/>
                <a:gd name="T9" fmla="*/ 20 h 54"/>
                <a:gd name="T10" fmla="*/ 22 w 40"/>
                <a:gd name="T11" fmla="*/ 20 h 54"/>
                <a:gd name="T12" fmla="*/ 38 w 40"/>
                <a:gd name="T13" fmla="*/ 20 h 54"/>
                <a:gd name="T14" fmla="*/ 32 w 40"/>
                <a:gd name="T15" fmla="*/ 20 h 54"/>
                <a:gd name="T16" fmla="*/ 28 w 40"/>
                <a:gd name="T17" fmla="*/ 24 h 54"/>
                <a:gd name="T18" fmla="*/ 28 w 40"/>
                <a:gd name="T19" fmla="*/ 44 h 54"/>
                <a:gd name="T20" fmla="*/ 34 w 40"/>
                <a:gd name="T21" fmla="*/ 50 h 54"/>
                <a:gd name="T22" fmla="*/ 36 w 40"/>
                <a:gd name="T23" fmla="*/ 52 h 54"/>
                <a:gd name="T24" fmla="*/ 40 w 40"/>
                <a:gd name="T25" fmla="*/ 54 h 54"/>
                <a:gd name="T26" fmla="*/ 22 w 40"/>
                <a:gd name="T27" fmla="*/ 54 h 54"/>
                <a:gd name="T28" fmla="*/ 24 w 40"/>
                <a:gd name="T29" fmla="*/ 54 h 54"/>
                <a:gd name="T30" fmla="*/ 24 w 40"/>
                <a:gd name="T31" fmla="*/ 52 h 54"/>
                <a:gd name="T32" fmla="*/ 24 w 40"/>
                <a:gd name="T33" fmla="*/ 50 h 54"/>
                <a:gd name="T34" fmla="*/ 12 w 40"/>
                <a:gd name="T35" fmla="*/ 34 h 54"/>
                <a:gd name="T36" fmla="*/ 12 w 40"/>
                <a:gd name="T37" fmla="*/ 50 h 54"/>
                <a:gd name="T38" fmla="*/ 12 w 40"/>
                <a:gd name="T39" fmla="*/ 52 h 54"/>
                <a:gd name="T40" fmla="*/ 14 w 40"/>
                <a:gd name="T41" fmla="*/ 54 h 54"/>
                <a:gd name="T42" fmla="*/ 16 w 40"/>
                <a:gd name="T43" fmla="*/ 54 h 54"/>
                <a:gd name="T44" fmla="*/ 0 w 40"/>
                <a:gd name="T45" fmla="*/ 54 h 54"/>
                <a:gd name="T46" fmla="*/ 4 w 40"/>
                <a:gd name="T47" fmla="*/ 54 h 54"/>
                <a:gd name="T48" fmla="*/ 4 w 40"/>
                <a:gd name="T49" fmla="*/ 52 h 54"/>
                <a:gd name="T50" fmla="*/ 6 w 40"/>
                <a:gd name="T51" fmla="*/ 46 h 54"/>
                <a:gd name="T52" fmla="*/ 6 w 40"/>
                <a:gd name="T53" fmla="*/ 8 h 54"/>
                <a:gd name="T54" fmla="*/ 4 w 40"/>
                <a:gd name="T55" fmla="*/ 4 h 54"/>
                <a:gd name="T56" fmla="*/ 4 w 40"/>
                <a:gd name="T57" fmla="*/ 4 h 54"/>
                <a:gd name="T58" fmla="*/ 2 w 40"/>
                <a:gd name="T59" fmla="*/ 4 h 54"/>
                <a:gd name="T60" fmla="*/ 0 w 40"/>
                <a:gd name="T61" fmla="*/ 4 h 54"/>
                <a:gd name="T62" fmla="*/ 12 w 40"/>
                <a:gd name="T63" fmla="*/ 0 h 54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40"/>
                <a:gd name="T97" fmla="*/ 0 h 54"/>
                <a:gd name="T98" fmla="*/ 40 w 40"/>
                <a:gd name="T99" fmla="*/ 54 h 54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40" h="54">
                  <a:moveTo>
                    <a:pt x="12" y="0"/>
                  </a:moveTo>
                  <a:lnTo>
                    <a:pt x="12" y="34"/>
                  </a:lnTo>
                  <a:lnTo>
                    <a:pt x="22" y="26"/>
                  </a:lnTo>
                  <a:lnTo>
                    <a:pt x="24" y="24"/>
                  </a:lnTo>
                  <a:lnTo>
                    <a:pt x="24" y="22"/>
                  </a:lnTo>
                  <a:lnTo>
                    <a:pt x="26" y="22"/>
                  </a:lnTo>
                  <a:lnTo>
                    <a:pt x="24" y="20"/>
                  </a:lnTo>
                  <a:lnTo>
                    <a:pt x="22" y="20"/>
                  </a:lnTo>
                  <a:lnTo>
                    <a:pt x="38" y="20"/>
                  </a:lnTo>
                  <a:lnTo>
                    <a:pt x="34" y="20"/>
                  </a:lnTo>
                  <a:lnTo>
                    <a:pt x="32" y="20"/>
                  </a:lnTo>
                  <a:lnTo>
                    <a:pt x="30" y="22"/>
                  </a:lnTo>
                  <a:lnTo>
                    <a:pt x="28" y="24"/>
                  </a:lnTo>
                  <a:lnTo>
                    <a:pt x="18" y="32"/>
                  </a:lnTo>
                  <a:lnTo>
                    <a:pt x="28" y="44"/>
                  </a:lnTo>
                  <a:lnTo>
                    <a:pt x="32" y="48"/>
                  </a:lnTo>
                  <a:lnTo>
                    <a:pt x="34" y="50"/>
                  </a:lnTo>
                  <a:lnTo>
                    <a:pt x="34" y="52"/>
                  </a:lnTo>
                  <a:lnTo>
                    <a:pt x="36" y="52"/>
                  </a:lnTo>
                  <a:lnTo>
                    <a:pt x="38" y="54"/>
                  </a:lnTo>
                  <a:lnTo>
                    <a:pt x="40" y="54"/>
                  </a:lnTo>
                  <a:lnTo>
                    <a:pt x="22" y="54"/>
                  </a:lnTo>
                  <a:lnTo>
                    <a:pt x="24" y="54"/>
                  </a:lnTo>
                  <a:lnTo>
                    <a:pt x="24" y="52"/>
                  </a:lnTo>
                  <a:lnTo>
                    <a:pt x="26" y="52"/>
                  </a:lnTo>
                  <a:lnTo>
                    <a:pt x="24" y="50"/>
                  </a:lnTo>
                  <a:lnTo>
                    <a:pt x="24" y="48"/>
                  </a:lnTo>
                  <a:lnTo>
                    <a:pt x="12" y="34"/>
                  </a:lnTo>
                  <a:lnTo>
                    <a:pt x="12" y="46"/>
                  </a:lnTo>
                  <a:lnTo>
                    <a:pt x="12" y="50"/>
                  </a:lnTo>
                  <a:lnTo>
                    <a:pt x="12" y="52"/>
                  </a:lnTo>
                  <a:lnTo>
                    <a:pt x="14" y="54"/>
                  </a:lnTo>
                  <a:lnTo>
                    <a:pt x="16" y="54"/>
                  </a:lnTo>
                  <a:lnTo>
                    <a:pt x="0" y="54"/>
                  </a:lnTo>
                  <a:lnTo>
                    <a:pt x="2" y="54"/>
                  </a:lnTo>
                  <a:lnTo>
                    <a:pt x="4" y="54"/>
                  </a:lnTo>
                  <a:lnTo>
                    <a:pt x="4" y="52"/>
                  </a:lnTo>
                  <a:lnTo>
                    <a:pt x="6" y="50"/>
                  </a:lnTo>
                  <a:lnTo>
                    <a:pt x="6" y="46"/>
                  </a:lnTo>
                  <a:lnTo>
                    <a:pt x="6" y="14"/>
                  </a:lnTo>
                  <a:lnTo>
                    <a:pt x="6" y="8"/>
                  </a:lnTo>
                  <a:lnTo>
                    <a:pt x="4" y="6"/>
                  </a:lnTo>
                  <a:lnTo>
                    <a:pt x="4" y="4"/>
                  </a:lnTo>
                  <a:lnTo>
                    <a:pt x="2" y="4"/>
                  </a:lnTo>
                  <a:lnTo>
                    <a:pt x="0" y="4"/>
                  </a:lnTo>
                  <a:lnTo>
                    <a:pt x="10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44" name="Freeform 24"/>
            <p:cNvSpPr>
              <a:spLocks noEditPoints="1"/>
            </p:cNvSpPr>
            <p:nvPr/>
          </p:nvSpPr>
          <p:spPr bwMode="auto">
            <a:xfrm>
              <a:off x="1880" y="2238"/>
              <a:ext cx="30" cy="38"/>
            </a:xfrm>
            <a:custGeom>
              <a:avLst/>
              <a:gdLst>
                <a:gd name="T0" fmla="*/ 6 w 30"/>
                <a:gd name="T1" fmla="*/ 14 h 38"/>
                <a:gd name="T2" fmla="*/ 8 w 30"/>
                <a:gd name="T3" fmla="*/ 22 h 38"/>
                <a:gd name="T4" fmla="*/ 10 w 30"/>
                <a:gd name="T5" fmla="*/ 26 h 38"/>
                <a:gd name="T6" fmla="*/ 14 w 30"/>
                <a:gd name="T7" fmla="*/ 30 h 38"/>
                <a:gd name="T8" fmla="*/ 20 w 30"/>
                <a:gd name="T9" fmla="*/ 32 h 38"/>
                <a:gd name="T10" fmla="*/ 22 w 30"/>
                <a:gd name="T11" fmla="*/ 30 h 38"/>
                <a:gd name="T12" fmla="*/ 26 w 30"/>
                <a:gd name="T13" fmla="*/ 30 h 38"/>
                <a:gd name="T14" fmla="*/ 28 w 30"/>
                <a:gd name="T15" fmla="*/ 26 h 38"/>
                <a:gd name="T16" fmla="*/ 30 w 30"/>
                <a:gd name="T17" fmla="*/ 22 h 38"/>
                <a:gd name="T18" fmla="*/ 30 w 30"/>
                <a:gd name="T19" fmla="*/ 24 h 38"/>
                <a:gd name="T20" fmla="*/ 30 w 30"/>
                <a:gd name="T21" fmla="*/ 28 h 38"/>
                <a:gd name="T22" fmla="*/ 26 w 30"/>
                <a:gd name="T23" fmla="*/ 34 h 38"/>
                <a:gd name="T24" fmla="*/ 22 w 30"/>
                <a:gd name="T25" fmla="*/ 36 h 38"/>
                <a:gd name="T26" fmla="*/ 16 w 30"/>
                <a:gd name="T27" fmla="*/ 38 h 38"/>
                <a:gd name="T28" fmla="*/ 10 w 30"/>
                <a:gd name="T29" fmla="*/ 36 h 38"/>
                <a:gd name="T30" fmla="*/ 6 w 30"/>
                <a:gd name="T31" fmla="*/ 32 h 38"/>
                <a:gd name="T32" fmla="*/ 2 w 30"/>
                <a:gd name="T33" fmla="*/ 26 h 38"/>
                <a:gd name="T34" fmla="*/ 0 w 30"/>
                <a:gd name="T35" fmla="*/ 20 h 38"/>
                <a:gd name="T36" fmla="*/ 2 w 30"/>
                <a:gd name="T37" fmla="*/ 14 h 38"/>
                <a:gd name="T38" fmla="*/ 2 w 30"/>
                <a:gd name="T39" fmla="*/ 10 h 38"/>
                <a:gd name="T40" fmla="*/ 6 w 30"/>
                <a:gd name="T41" fmla="*/ 6 h 38"/>
                <a:gd name="T42" fmla="*/ 10 w 30"/>
                <a:gd name="T43" fmla="*/ 2 h 38"/>
                <a:gd name="T44" fmla="*/ 18 w 30"/>
                <a:gd name="T45" fmla="*/ 0 h 38"/>
                <a:gd name="T46" fmla="*/ 22 w 30"/>
                <a:gd name="T47" fmla="*/ 2 h 38"/>
                <a:gd name="T48" fmla="*/ 28 w 30"/>
                <a:gd name="T49" fmla="*/ 4 h 38"/>
                <a:gd name="T50" fmla="*/ 30 w 30"/>
                <a:gd name="T51" fmla="*/ 8 h 38"/>
                <a:gd name="T52" fmla="*/ 30 w 30"/>
                <a:gd name="T53" fmla="*/ 14 h 38"/>
                <a:gd name="T54" fmla="*/ 6 w 30"/>
                <a:gd name="T55" fmla="*/ 14 h 38"/>
                <a:gd name="T56" fmla="*/ 6 w 30"/>
                <a:gd name="T57" fmla="*/ 12 h 38"/>
                <a:gd name="T58" fmla="*/ 22 w 30"/>
                <a:gd name="T59" fmla="*/ 12 h 38"/>
                <a:gd name="T60" fmla="*/ 22 w 30"/>
                <a:gd name="T61" fmla="*/ 10 h 38"/>
                <a:gd name="T62" fmla="*/ 22 w 30"/>
                <a:gd name="T63" fmla="*/ 8 h 38"/>
                <a:gd name="T64" fmla="*/ 20 w 30"/>
                <a:gd name="T65" fmla="*/ 6 h 38"/>
                <a:gd name="T66" fmla="*/ 20 w 30"/>
                <a:gd name="T67" fmla="*/ 4 h 38"/>
                <a:gd name="T68" fmla="*/ 18 w 30"/>
                <a:gd name="T69" fmla="*/ 4 h 38"/>
                <a:gd name="T70" fmla="*/ 16 w 30"/>
                <a:gd name="T71" fmla="*/ 2 h 38"/>
                <a:gd name="T72" fmla="*/ 12 w 30"/>
                <a:gd name="T73" fmla="*/ 4 h 38"/>
                <a:gd name="T74" fmla="*/ 10 w 30"/>
                <a:gd name="T75" fmla="*/ 6 h 38"/>
                <a:gd name="T76" fmla="*/ 8 w 30"/>
                <a:gd name="T77" fmla="*/ 8 h 38"/>
                <a:gd name="T78" fmla="*/ 6 w 30"/>
                <a:gd name="T79" fmla="*/ 12 h 38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30"/>
                <a:gd name="T121" fmla="*/ 0 h 38"/>
                <a:gd name="T122" fmla="*/ 30 w 30"/>
                <a:gd name="T123" fmla="*/ 38 h 38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30" h="38">
                  <a:moveTo>
                    <a:pt x="6" y="14"/>
                  </a:moveTo>
                  <a:lnTo>
                    <a:pt x="8" y="22"/>
                  </a:lnTo>
                  <a:lnTo>
                    <a:pt x="10" y="26"/>
                  </a:lnTo>
                  <a:lnTo>
                    <a:pt x="14" y="30"/>
                  </a:lnTo>
                  <a:lnTo>
                    <a:pt x="20" y="32"/>
                  </a:lnTo>
                  <a:lnTo>
                    <a:pt x="22" y="30"/>
                  </a:lnTo>
                  <a:lnTo>
                    <a:pt x="26" y="30"/>
                  </a:lnTo>
                  <a:lnTo>
                    <a:pt x="28" y="26"/>
                  </a:lnTo>
                  <a:lnTo>
                    <a:pt x="30" y="22"/>
                  </a:lnTo>
                  <a:lnTo>
                    <a:pt x="30" y="24"/>
                  </a:lnTo>
                  <a:lnTo>
                    <a:pt x="30" y="28"/>
                  </a:lnTo>
                  <a:lnTo>
                    <a:pt x="26" y="34"/>
                  </a:lnTo>
                  <a:lnTo>
                    <a:pt x="22" y="36"/>
                  </a:lnTo>
                  <a:lnTo>
                    <a:pt x="16" y="38"/>
                  </a:lnTo>
                  <a:lnTo>
                    <a:pt x="10" y="36"/>
                  </a:lnTo>
                  <a:lnTo>
                    <a:pt x="6" y="32"/>
                  </a:lnTo>
                  <a:lnTo>
                    <a:pt x="2" y="26"/>
                  </a:lnTo>
                  <a:lnTo>
                    <a:pt x="0" y="20"/>
                  </a:lnTo>
                  <a:lnTo>
                    <a:pt x="2" y="14"/>
                  </a:lnTo>
                  <a:lnTo>
                    <a:pt x="2" y="10"/>
                  </a:lnTo>
                  <a:lnTo>
                    <a:pt x="6" y="6"/>
                  </a:lnTo>
                  <a:lnTo>
                    <a:pt x="10" y="2"/>
                  </a:lnTo>
                  <a:lnTo>
                    <a:pt x="18" y="0"/>
                  </a:lnTo>
                  <a:lnTo>
                    <a:pt x="22" y="2"/>
                  </a:lnTo>
                  <a:lnTo>
                    <a:pt x="28" y="4"/>
                  </a:lnTo>
                  <a:lnTo>
                    <a:pt x="30" y="8"/>
                  </a:lnTo>
                  <a:lnTo>
                    <a:pt x="30" y="14"/>
                  </a:lnTo>
                  <a:lnTo>
                    <a:pt x="6" y="14"/>
                  </a:lnTo>
                  <a:close/>
                  <a:moveTo>
                    <a:pt x="6" y="12"/>
                  </a:moveTo>
                  <a:lnTo>
                    <a:pt x="22" y="12"/>
                  </a:lnTo>
                  <a:lnTo>
                    <a:pt x="22" y="10"/>
                  </a:lnTo>
                  <a:lnTo>
                    <a:pt x="22" y="8"/>
                  </a:lnTo>
                  <a:lnTo>
                    <a:pt x="20" y="6"/>
                  </a:lnTo>
                  <a:lnTo>
                    <a:pt x="20" y="4"/>
                  </a:lnTo>
                  <a:lnTo>
                    <a:pt x="18" y="4"/>
                  </a:lnTo>
                  <a:lnTo>
                    <a:pt x="16" y="2"/>
                  </a:lnTo>
                  <a:lnTo>
                    <a:pt x="12" y="4"/>
                  </a:lnTo>
                  <a:lnTo>
                    <a:pt x="10" y="6"/>
                  </a:lnTo>
                  <a:lnTo>
                    <a:pt x="8" y="8"/>
                  </a:lnTo>
                  <a:lnTo>
                    <a:pt x="6" y="1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45" name="Freeform 25"/>
            <p:cNvSpPr/>
            <p:nvPr/>
          </p:nvSpPr>
          <p:spPr bwMode="auto">
            <a:xfrm>
              <a:off x="1916" y="2238"/>
              <a:ext cx="24" cy="36"/>
            </a:xfrm>
            <a:custGeom>
              <a:avLst/>
              <a:gdLst>
                <a:gd name="T0" fmla="*/ 10 w 24"/>
                <a:gd name="T1" fmla="*/ 0 h 36"/>
                <a:gd name="T2" fmla="*/ 10 w 24"/>
                <a:gd name="T3" fmla="*/ 10 h 36"/>
                <a:gd name="T4" fmla="*/ 14 w 24"/>
                <a:gd name="T5" fmla="*/ 4 h 36"/>
                <a:gd name="T6" fmla="*/ 16 w 24"/>
                <a:gd name="T7" fmla="*/ 2 h 36"/>
                <a:gd name="T8" fmla="*/ 20 w 24"/>
                <a:gd name="T9" fmla="*/ 0 h 36"/>
                <a:gd name="T10" fmla="*/ 22 w 24"/>
                <a:gd name="T11" fmla="*/ 0 h 36"/>
                <a:gd name="T12" fmla="*/ 24 w 24"/>
                <a:gd name="T13" fmla="*/ 2 h 36"/>
                <a:gd name="T14" fmla="*/ 24 w 24"/>
                <a:gd name="T15" fmla="*/ 4 h 36"/>
                <a:gd name="T16" fmla="*/ 24 w 24"/>
                <a:gd name="T17" fmla="*/ 6 h 36"/>
                <a:gd name="T18" fmla="*/ 24 w 24"/>
                <a:gd name="T19" fmla="*/ 6 h 36"/>
                <a:gd name="T20" fmla="*/ 24 w 24"/>
                <a:gd name="T21" fmla="*/ 8 h 36"/>
                <a:gd name="T22" fmla="*/ 22 w 24"/>
                <a:gd name="T23" fmla="*/ 10 h 36"/>
                <a:gd name="T24" fmla="*/ 22 w 24"/>
                <a:gd name="T25" fmla="*/ 10 h 36"/>
                <a:gd name="T26" fmla="*/ 20 w 24"/>
                <a:gd name="T27" fmla="*/ 8 h 36"/>
                <a:gd name="T28" fmla="*/ 18 w 24"/>
                <a:gd name="T29" fmla="*/ 8 h 36"/>
                <a:gd name="T30" fmla="*/ 18 w 24"/>
                <a:gd name="T31" fmla="*/ 6 h 36"/>
                <a:gd name="T32" fmla="*/ 16 w 24"/>
                <a:gd name="T33" fmla="*/ 6 h 36"/>
                <a:gd name="T34" fmla="*/ 16 w 24"/>
                <a:gd name="T35" fmla="*/ 6 h 36"/>
                <a:gd name="T36" fmla="*/ 14 w 24"/>
                <a:gd name="T37" fmla="*/ 6 h 36"/>
                <a:gd name="T38" fmla="*/ 12 w 24"/>
                <a:gd name="T39" fmla="*/ 10 h 36"/>
                <a:gd name="T40" fmla="*/ 10 w 24"/>
                <a:gd name="T41" fmla="*/ 12 h 36"/>
                <a:gd name="T42" fmla="*/ 10 w 24"/>
                <a:gd name="T43" fmla="*/ 28 h 36"/>
                <a:gd name="T44" fmla="*/ 10 w 24"/>
                <a:gd name="T45" fmla="*/ 32 h 36"/>
                <a:gd name="T46" fmla="*/ 12 w 24"/>
                <a:gd name="T47" fmla="*/ 34 h 36"/>
                <a:gd name="T48" fmla="*/ 12 w 24"/>
                <a:gd name="T49" fmla="*/ 34 h 36"/>
                <a:gd name="T50" fmla="*/ 14 w 24"/>
                <a:gd name="T51" fmla="*/ 36 h 36"/>
                <a:gd name="T52" fmla="*/ 16 w 24"/>
                <a:gd name="T53" fmla="*/ 36 h 36"/>
                <a:gd name="T54" fmla="*/ 18 w 24"/>
                <a:gd name="T55" fmla="*/ 36 h 36"/>
                <a:gd name="T56" fmla="*/ 18 w 24"/>
                <a:gd name="T57" fmla="*/ 36 h 36"/>
                <a:gd name="T58" fmla="*/ 0 w 24"/>
                <a:gd name="T59" fmla="*/ 36 h 36"/>
                <a:gd name="T60" fmla="*/ 0 w 24"/>
                <a:gd name="T61" fmla="*/ 36 h 36"/>
                <a:gd name="T62" fmla="*/ 2 w 24"/>
                <a:gd name="T63" fmla="*/ 36 h 36"/>
                <a:gd name="T64" fmla="*/ 2 w 24"/>
                <a:gd name="T65" fmla="*/ 36 h 36"/>
                <a:gd name="T66" fmla="*/ 4 w 24"/>
                <a:gd name="T67" fmla="*/ 34 h 36"/>
                <a:gd name="T68" fmla="*/ 4 w 24"/>
                <a:gd name="T69" fmla="*/ 32 h 36"/>
                <a:gd name="T70" fmla="*/ 4 w 24"/>
                <a:gd name="T71" fmla="*/ 32 h 36"/>
                <a:gd name="T72" fmla="*/ 4 w 24"/>
                <a:gd name="T73" fmla="*/ 28 h 36"/>
                <a:gd name="T74" fmla="*/ 4 w 24"/>
                <a:gd name="T75" fmla="*/ 16 h 36"/>
                <a:gd name="T76" fmla="*/ 4 w 24"/>
                <a:gd name="T77" fmla="*/ 10 h 36"/>
                <a:gd name="T78" fmla="*/ 4 w 24"/>
                <a:gd name="T79" fmla="*/ 8 h 36"/>
                <a:gd name="T80" fmla="*/ 4 w 24"/>
                <a:gd name="T81" fmla="*/ 6 h 36"/>
                <a:gd name="T82" fmla="*/ 4 w 24"/>
                <a:gd name="T83" fmla="*/ 6 h 36"/>
                <a:gd name="T84" fmla="*/ 2 w 24"/>
                <a:gd name="T85" fmla="*/ 4 h 36"/>
                <a:gd name="T86" fmla="*/ 2 w 24"/>
                <a:gd name="T87" fmla="*/ 4 h 36"/>
                <a:gd name="T88" fmla="*/ 0 w 24"/>
                <a:gd name="T89" fmla="*/ 4 h 36"/>
                <a:gd name="T90" fmla="*/ 0 w 24"/>
                <a:gd name="T91" fmla="*/ 6 h 36"/>
                <a:gd name="T92" fmla="*/ 0 w 24"/>
                <a:gd name="T93" fmla="*/ 4 h 36"/>
                <a:gd name="T94" fmla="*/ 10 w 24"/>
                <a:gd name="T95" fmla="*/ 0 h 36"/>
                <a:gd name="T96" fmla="*/ 10 w 24"/>
                <a:gd name="T97" fmla="*/ 0 h 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24"/>
                <a:gd name="T148" fmla="*/ 0 h 36"/>
                <a:gd name="T149" fmla="*/ 24 w 24"/>
                <a:gd name="T150" fmla="*/ 36 h 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24" h="36">
                  <a:moveTo>
                    <a:pt x="10" y="0"/>
                  </a:moveTo>
                  <a:lnTo>
                    <a:pt x="10" y="10"/>
                  </a:lnTo>
                  <a:lnTo>
                    <a:pt x="14" y="4"/>
                  </a:lnTo>
                  <a:lnTo>
                    <a:pt x="16" y="2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4" y="2"/>
                  </a:lnTo>
                  <a:lnTo>
                    <a:pt x="24" y="4"/>
                  </a:lnTo>
                  <a:lnTo>
                    <a:pt x="24" y="6"/>
                  </a:lnTo>
                  <a:lnTo>
                    <a:pt x="24" y="8"/>
                  </a:lnTo>
                  <a:lnTo>
                    <a:pt x="22" y="10"/>
                  </a:lnTo>
                  <a:lnTo>
                    <a:pt x="20" y="8"/>
                  </a:lnTo>
                  <a:lnTo>
                    <a:pt x="18" y="8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4" y="6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10" y="28"/>
                  </a:lnTo>
                  <a:lnTo>
                    <a:pt x="10" y="32"/>
                  </a:lnTo>
                  <a:lnTo>
                    <a:pt x="12" y="34"/>
                  </a:lnTo>
                  <a:lnTo>
                    <a:pt x="14" y="36"/>
                  </a:lnTo>
                  <a:lnTo>
                    <a:pt x="16" y="36"/>
                  </a:lnTo>
                  <a:lnTo>
                    <a:pt x="18" y="36"/>
                  </a:lnTo>
                  <a:lnTo>
                    <a:pt x="0" y="36"/>
                  </a:lnTo>
                  <a:lnTo>
                    <a:pt x="2" y="36"/>
                  </a:lnTo>
                  <a:lnTo>
                    <a:pt x="4" y="34"/>
                  </a:lnTo>
                  <a:lnTo>
                    <a:pt x="4" y="32"/>
                  </a:lnTo>
                  <a:lnTo>
                    <a:pt x="4" y="28"/>
                  </a:lnTo>
                  <a:lnTo>
                    <a:pt x="4" y="16"/>
                  </a:lnTo>
                  <a:lnTo>
                    <a:pt x="4" y="10"/>
                  </a:lnTo>
                  <a:lnTo>
                    <a:pt x="4" y="8"/>
                  </a:lnTo>
                  <a:lnTo>
                    <a:pt x="4" y="6"/>
                  </a:lnTo>
                  <a:lnTo>
                    <a:pt x="2" y="4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4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46" name="Freeform 26"/>
            <p:cNvSpPr/>
            <p:nvPr/>
          </p:nvSpPr>
          <p:spPr bwMode="auto">
            <a:xfrm>
              <a:off x="1946" y="2238"/>
              <a:ext cx="24" cy="38"/>
            </a:xfrm>
            <a:custGeom>
              <a:avLst/>
              <a:gdLst>
                <a:gd name="T0" fmla="*/ 20 w 24"/>
                <a:gd name="T1" fmla="*/ 0 h 38"/>
                <a:gd name="T2" fmla="*/ 20 w 24"/>
                <a:gd name="T3" fmla="*/ 12 h 38"/>
                <a:gd name="T4" fmla="*/ 20 w 24"/>
                <a:gd name="T5" fmla="*/ 12 h 38"/>
                <a:gd name="T6" fmla="*/ 18 w 24"/>
                <a:gd name="T7" fmla="*/ 8 h 38"/>
                <a:gd name="T8" fmla="*/ 16 w 24"/>
                <a:gd name="T9" fmla="*/ 4 h 38"/>
                <a:gd name="T10" fmla="*/ 14 w 24"/>
                <a:gd name="T11" fmla="*/ 4 h 38"/>
                <a:gd name="T12" fmla="*/ 10 w 24"/>
                <a:gd name="T13" fmla="*/ 2 h 38"/>
                <a:gd name="T14" fmla="*/ 8 w 24"/>
                <a:gd name="T15" fmla="*/ 4 h 38"/>
                <a:gd name="T16" fmla="*/ 6 w 24"/>
                <a:gd name="T17" fmla="*/ 4 h 38"/>
                <a:gd name="T18" fmla="*/ 4 w 24"/>
                <a:gd name="T19" fmla="*/ 6 h 38"/>
                <a:gd name="T20" fmla="*/ 4 w 24"/>
                <a:gd name="T21" fmla="*/ 8 h 38"/>
                <a:gd name="T22" fmla="*/ 4 w 24"/>
                <a:gd name="T23" fmla="*/ 10 h 38"/>
                <a:gd name="T24" fmla="*/ 6 w 24"/>
                <a:gd name="T25" fmla="*/ 10 h 38"/>
                <a:gd name="T26" fmla="*/ 6 w 24"/>
                <a:gd name="T27" fmla="*/ 12 h 38"/>
                <a:gd name="T28" fmla="*/ 10 w 24"/>
                <a:gd name="T29" fmla="*/ 14 h 38"/>
                <a:gd name="T30" fmla="*/ 16 w 24"/>
                <a:gd name="T31" fmla="*/ 16 h 38"/>
                <a:gd name="T32" fmla="*/ 20 w 24"/>
                <a:gd name="T33" fmla="*/ 20 h 38"/>
                <a:gd name="T34" fmla="*/ 22 w 24"/>
                <a:gd name="T35" fmla="*/ 24 h 38"/>
                <a:gd name="T36" fmla="*/ 24 w 24"/>
                <a:gd name="T37" fmla="*/ 26 h 38"/>
                <a:gd name="T38" fmla="*/ 22 w 24"/>
                <a:gd name="T39" fmla="*/ 32 h 38"/>
                <a:gd name="T40" fmla="*/ 20 w 24"/>
                <a:gd name="T41" fmla="*/ 34 h 38"/>
                <a:gd name="T42" fmla="*/ 16 w 24"/>
                <a:gd name="T43" fmla="*/ 36 h 38"/>
                <a:gd name="T44" fmla="*/ 12 w 24"/>
                <a:gd name="T45" fmla="*/ 38 h 38"/>
                <a:gd name="T46" fmla="*/ 8 w 24"/>
                <a:gd name="T47" fmla="*/ 38 h 38"/>
                <a:gd name="T48" fmla="*/ 4 w 24"/>
                <a:gd name="T49" fmla="*/ 36 h 38"/>
                <a:gd name="T50" fmla="*/ 2 w 24"/>
                <a:gd name="T51" fmla="*/ 36 h 38"/>
                <a:gd name="T52" fmla="*/ 2 w 24"/>
                <a:gd name="T53" fmla="*/ 36 h 38"/>
                <a:gd name="T54" fmla="*/ 0 w 24"/>
                <a:gd name="T55" fmla="*/ 36 h 38"/>
                <a:gd name="T56" fmla="*/ 0 w 24"/>
                <a:gd name="T57" fmla="*/ 38 h 38"/>
                <a:gd name="T58" fmla="*/ 0 w 24"/>
                <a:gd name="T59" fmla="*/ 38 h 38"/>
                <a:gd name="T60" fmla="*/ 0 w 24"/>
                <a:gd name="T61" fmla="*/ 26 h 38"/>
                <a:gd name="T62" fmla="*/ 0 w 24"/>
                <a:gd name="T63" fmla="*/ 26 h 38"/>
                <a:gd name="T64" fmla="*/ 2 w 24"/>
                <a:gd name="T65" fmla="*/ 30 h 38"/>
                <a:gd name="T66" fmla="*/ 4 w 24"/>
                <a:gd name="T67" fmla="*/ 32 h 38"/>
                <a:gd name="T68" fmla="*/ 8 w 24"/>
                <a:gd name="T69" fmla="*/ 34 h 38"/>
                <a:gd name="T70" fmla="*/ 12 w 24"/>
                <a:gd name="T71" fmla="*/ 36 h 38"/>
                <a:gd name="T72" fmla="*/ 14 w 24"/>
                <a:gd name="T73" fmla="*/ 34 h 38"/>
                <a:gd name="T74" fmla="*/ 16 w 24"/>
                <a:gd name="T75" fmla="*/ 34 h 38"/>
                <a:gd name="T76" fmla="*/ 16 w 24"/>
                <a:gd name="T77" fmla="*/ 32 h 38"/>
                <a:gd name="T78" fmla="*/ 18 w 24"/>
                <a:gd name="T79" fmla="*/ 30 h 38"/>
                <a:gd name="T80" fmla="*/ 16 w 24"/>
                <a:gd name="T81" fmla="*/ 28 h 38"/>
                <a:gd name="T82" fmla="*/ 16 w 24"/>
                <a:gd name="T83" fmla="*/ 26 h 38"/>
                <a:gd name="T84" fmla="*/ 12 w 24"/>
                <a:gd name="T85" fmla="*/ 24 h 38"/>
                <a:gd name="T86" fmla="*/ 8 w 24"/>
                <a:gd name="T87" fmla="*/ 20 h 38"/>
                <a:gd name="T88" fmla="*/ 4 w 24"/>
                <a:gd name="T89" fmla="*/ 18 h 38"/>
                <a:gd name="T90" fmla="*/ 0 w 24"/>
                <a:gd name="T91" fmla="*/ 16 h 38"/>
                <a:gd name="T92" fmla="*/ 0 w 24"/>
                <a:gd name="T93" fmla="*/ 14 h 38"/>
                <a:gd name="T94" fmla="*/ 0 w 24"/>
                <a:gd name="T95" fmla="*/ 10 h 38"/>
                <a:gd name="T96" fmla="*/ 0 w 24"/>
                <a:gd name="T97" fmla="*/ 6 h 38"/>
                <a:gd name="T98" fmla="*/ 2 w 24"/>
                <a:gd name="T99" fmla="*/ 4 h 38"/>
                <a:gd name="T100" fmla="*/ 6 w 24"/>
                <a:gd name="T101" fmla="*/ 0 h 38"/>
                <a:gd name="T102" fmla="*/ 10 w 24"/>
                <a:gd name="T103" fmla="*/ 0 h 38"/>
                <a:gd name="T104" fmla="*/ 12 w 24"/>
                <a:gd name="T105" fmla="*/ 0 h 38"/>
                <a:gd name="T106" fmla="*/ 16 w 24"/>
                <a:gd name="T107" fmla="*/ 2 h 38"/>
                <a:gd name="T108" fmla="*/ 18 w 24"/>
                <a:gd name="T109" fmla="*/ 2 h 38"/>
                <a:gd name="T110" fmla="*/ 18 w 24"/>
                <a:gd name="T111" fmla="*/ 2 h 38"/>
                <a:gd name="T112" fmla="*/ 18 w 24"/>
                <a:gd name="T113" fmla="*/ 2 h 38"/>
                <a:gd name="T114" fmla="*/ 20 w 24"/>
                <a:gd name="T115" fmla="*/ 2 h 38"/>
                <a:gd name="T116" fmla="*/ 20 w 24"/>
                <a:gd name="T117" fmla="*/ 2 h 38"/>
                <a:gd name="T118" fmla="*/ 20 w 24"/>
                <a:gd name="T119" fmla="*/ 0 h 38"/>
                <a:gd name="T120" fmla="*/ 20 w 24"/>
                <a:gd name="T121" fmla="*/ 0 h 3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4"/>
                <a:gd name="T184" fmla="*/ 0 h 38"/>
                <a:gd name="T185" fmla="*/ 24 w 24"/>
                <a:gd name="T186" fmla="*/ 38 h 38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4" h="38">
                  <a:moveTo>
                    <a:pt x="20" y="0"/>
                  </a:moveTo>
                  <a:lnTo>
                    <a:pt x="20" y="12"/>
                  </a:lnTo>
                  <a:lnTo>
                    <a:pt x="18" y="8"/>
                  </a:lnTo>
                  <a:lnTo>
                    <a:pt x="16" y="4"/>
                  </a:lnTo>
                  <a:lnTo>
                    <a:pt x="14" y="4"/>
                  </a:lnTo>
                  <a:lnTo>
                    <a:pt x="10" y="2"/>
                  </a:lnTo>
                  <a:lnTo>
                    <a:pt x="8" y="4"/>
                  </a:lnTo>
                  <a:lnTo>
                    <a:pt x="6" y="4"/>
                  </a:lnTo>
                  <a:lnTo>
                    <a:pt x="4" y="6"/>
                  </a:lnTo>
                  <a:lnTo>
                    <a:pt x="4" y="8"/>
                  </a:lnTo>
                  <a:lnTo>
                    <a:pt x="4" y="10"/>
                  </a:lnTo>
                  <a:lnTo>
                    <a:pt x="6" y="10"/>
                  </a:lnTo>
                  <a:lnTo>
                    <a:pt x="6" y="12"/>
                  </a:lnTo>
                  <a:lnTo>
                    <a:pt x="10" y="14"/>
                  </a:lnTo>
                  <a:lnTo>
                    <a:pt x="16" y="16"/>
                  </a:lnTo>
                  <a:lnTo>
                    <a:pt x="20" y="20"/>
                  </a:lnTo>
                  <a:lnTo>
                    <a:pt x="22" y="24"/>
                  </a:lnTo>
                  <a:lnTo>
                    <a:pt x="24" y="26"/>
                  </a:lnTo>
                  <a:lnTo>
                    <a:pt x="22" y="32"/>
                  </a:lnTo>
                  <a:lnTo>
                    <a:pt x="20" y="34"/>
                  </a:lnTo>
                  <a:lnTo>
                    <a:pt x="16" y="36"/>
                  </a:lnTo>
                  <a:lnTo>
                    <a:pt x="12" y="38"/>
                  </a:lnTo>
                  <a:lnTo>
                    <a:pt x="8" y="38"/>
                  </a:lnTo>
                  <a:lnTo>
                    <a:pt x="4" y="36"/>
                  </a:lnTo>
                  <a:lnTo>
                    <a:pt x="2" y="36"/>
                  </a:lnTo>
                  <a:lnTo>
                    <a:pt x="0" y="36"/>
                  </a:lnTo>
                  <a:lnTo>
                    <a:pt x="0" y="38"/>
                  </a:lnTo>
                  <a:lnTo>
                    <a:pt x="0" y="26"/>
                  </a:lnTo>
                  <a:lnTo>
                    <a:pt x="2" y="30"/>
                  </a:lnTo>
                  <a:lnTo>
                    <a:pt x="4" y="32"/>
                  </a:lnTo>
                  <a:lnTo>
                    <a:pt x="8" y="34"/>
                  </a:lnTo>
                  <a:lnTo>
                    <a:pt x="12" y="36"/>
                  </a:lnTo>
                  <a:lnTo>
                    <a:pt x="14" y="34"/>
                  </a:lnTo>
                  <a:lnTo>
                    <a:pt x="16" y="34"/>
                  </a:lnTo>
                  <a:lnTo>
                    <a:pt x="16" y="32"/>
                  </a:lnTo>
                  <a:lnTo>
                    <a:pt x="18" y="30"/>
                  </a:lnTo>
                  <a:lnTo>
                    <a:pt x="16" y="28"/>
                  </a:lnTo>
                  <a:lnTo>
                    <a:pt x="16" y="26"/>
                  </a:lnTo>
                  <a:lnTo>
                    <a:pt x="12" y="24"/>
                  </a:lnTo>
                  <a:lnTo>
                    <a:pt x="8" y="20"/>
                  </a:lnTo>
                  <a:lnTo>
                    <a:pt x="4" y="18"/>
                  </a:lnTo>
                  <a:lnTo>
                    <a:pt x="0" y="16"/>
                  </a:lnTo>
                  <a:lnTo>
                    <a:pt x="0" y="14"/>
                  </a:lnTo>
                  <a:lnTo>
                    <a:pt x="0" y="10"/>
                  </a:lnTo>
                  <a:lnTo>
                    <a:pt x="0" y="6"/>
                  </a:lnTo>
                  <a:lnTo>
                    <a:pt x="2" y="4"/>
                  </a:lnTo>
                  <a:lnTo>
                    <a:pt x="6" y="0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6" y="2"/>
                  </a:lnTo>
                  <a:lnTo>
                    <a:pt x="18" y="2"/>
                  </a:lnTo>
                  <a:lnTo>
                    <a:pt x="20" y="2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47" name="Freeform 27"/>
            <p:cNvSpPr/>
            <p:nvPr/>
          </p:nvSpPr>
          <p:spPr bwMode="auto">
            <a:xfrm>
              <a:off x="1974" y="2220"/>
              <a:ext cx="22" cy="72"/>
            </a:xfrm>
            <a:custGeom>
              <a:avLst/>
              <a:gdLst>
                <a:gd name="T0" fmla="*/ 0 w 22"/>
                <a:gd name="T1" fmla="*/ 2 h 72"/>
                <a:gd name="T2" fmla="*/ 0 w 22"/>
                <a:gd name="T3" fmla="*/ 0 h 72"/>
                <a:gd name="T4" fmla="*/ 4 w 22"/>
                <a:gd name="T5" fmla="*/ 4 h 72"/>
                <a:gd name="T6" fmla="*/ 10 w 22"/>
                <a:gd name="T7" fmla="*/ 6 h 72"/>
                <a:gd name="T8" fmla="*/ 14 w 22"/>
                <a:gd name="T9" fmla="*/ 12 h 72"/>
                <a:gd name="T10" fmla="*/ 18 w 22"/>
                <a:gd name="T11" fmla="*/ 20 h 72"/>
                <a:gd name="T12" fmla="*/ 20 w 22"/>
                <a:gd name="T13" fmla="*/ 28 h 72"/>
                <a:gd name="T14" fmla="*/ 22 w 22"/>
                <a:gd name="T15" fmla="*/ 36 h 72"/>
                <a:gd name="T16" fmla="*/ 20 w 22"/>
                <a:gd name="T17" fmla="*/ 44 h 72"/>
                <a:gd name="T18" fmla="*/ 18 w 22"/>
                <a:gd name="T19" fmla="*/ 50 h 72"/>
                <a:gd name="T20" fmla="*/ 16 w 22"/>
                <a:gd name="T21" fmla="*/ 58 h 72"/>
                <a:gd name="T22" fmla="*/ 10 w 22"/>
                <a:gd name="T23" fmla="*/ 64 h 72"/>
                <a:gd name="T24" fmla="*/ 6 w 22"/>
                <a:gd name="T25" fmla="*/ 68 h 72"/>
                <a:gd name="T26" fmla="*/ 0 w 22"/>
                <a:gd name="T27" fmla="*/ 72 h 72"/>
                <a:gd name="T28" fmla="*/ 0 w 22"/>
                <a:gd name="T29" fmla="*/ 70 h 72"/>
                <a:gd name="T30" fmla="*/ 4 w 22"/>
                <a:gd name="T31" fmla="*/ 66 h 72"/>
                <a:gd name="T32" fmla="*/ 8 w 22"/>
                <a:gd name="T33" fmla="*/ 62 h 72"/>
                <a:gd name="T34" fmla="*/ 10 w 22"/>
                <a:gd name="T35" fmla="*/ 58 h 72"/>
                <a:gd name="T36" fmla="*/ 12 w 22"/>
                <a:gd name="T37" fmla="*/ 52 h 72"/>
                <a:gd name="T38" fmla="*/ 14 w 22"/>
                <a:gd name="T39" fmla="*/ 44 h 72"/>
                <a:gd name="T40" fmla="*/ 14 w 22"/>
                <a:gd name="T41" fmla="*/ 36 h 72"/>
                <a:gd name="T42" fmla="*/ 14 w 22"/>
                <a:gd name="T43" fmla="*/ 28 h 72"/>
                <a:gd name="T44" fmla="*/ 12 w 22"/>
                <a:gd name="T45" fmla="*/ 22 h 72"/>
                <a:gd name="T46" fmla="*/ 12 w 22"/>
                <a:gd name="T47" fmla="*/ 18 h 72"/>
                <a:gd name="T48" fmla="*/ 10 w 22"/>
                <a:gd name="T49" fmla="*/ 14 h 72"/>
                <a:gd name="T50" fmla="*/ 8 w 22"/>
                <a:gd name="T51" fmla="*/ 10 h 72"/>
                <a:gd name="T52" fmla="*/ 6 w 22"/>
                <a:gd name="T53" fmla="*/ 8 h 72"/>
                <a:gd name="T54" fmla="*/ 4 w 22"/>
                <a:gd name="T55" fmla="*/ 4 h 72"/>
                <a:gd name="T56" fmla="*/ 0 w 22"/>
                <a:gd name="T57" fmla="*/ 2 h 7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2"/>
                <a:gd name="T88" fmla="*/ 0 h 72"/>
                <a:gd name="T89" fmla="*/ 22 w 22"/>
                <a:gd name="T90" fmla="*/ 72 h 7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2" h="72">
                  <a:moveTo>
                    <a:pt x="0" y="2"/>
                  </a:moveTo>
                  <a:lnTo>
                    <a:pt x="0" y="0"/>
                  </a:lnTo>
                  <a:lnTo>
                    <a:pt x="4" y="4"/>
                  </a:lnTo>
                  <a:lnTo>
                    <a:pt x="10" y="6"/>
                  </a:lnTo>
                  <a:lnTo>
                    <a:pt x="14" y="12"/>
                  </a:lnTo>
                  <a:lnTo>
                    <a:pt x="18" y="20"/>
                  </a:lnTo>
                  <a:lnTo>
                    <a:pt x="20" y="28"/>
                  </a:lnTo>
                  <a:lnTo>
                    <a:pt x="22" y="36"/>
                  </a:lnTo>
                  <a:lnTo>
                    <a:pt x="20" y="44"/>
                  </a:lnTo>
                  <a:lnTo>
                    <a:pt x="18" y="50"/>
                  </a:lnTo>
                  <a:lnTo>
                    <a:pt x="16" y="58"/>
                  </a:lnTo>
                  <a:lnTo>
                    <a:pt x="10" y="64"/>
                  </a:lnTo>
                  <a:lnTo>
                    <a:pt x="6" y="68"/>
                  </a:lnTo>
                  <a:lnTo>
                    <a:pt x="0" y="72"/>
                  </a:lnTo>
                  <a:lnTo>
                    <a:pt x="0" y="70"/>
                  </a:lnTo>
                  <a:lnTo>
                    <a:pt x="4" y="66"/>
                  </a:lnTo>
                  <a:lnTo>
                    <a:pt x="8" y="62"/>
                  </a:lnTo>
                  <a:lnTo>
                    <a:pt x="10" y="58"/>
                  </a:lnTo>
                  <a:lnTo>
                    <a:pt x="12" y="52"/>
                  </a:lnTo>
                  <a:lnTo>
                    <a:pt x="14" y="44"/>
                  </a:lnTo>
                  <a:lnTo>
                    <a:pt x="14" y="36"/>
                  </a:lnTo>
                  <a:lnTo>
                    <a:pt x="14" y="28"/>
                  </a:lnTo>
                  <a:lnTo>
                    <a:pt x="12" y="22"/>
                  </a:lnTo>
                  <a:lnTo>
                    <a:pt x="12" y="18"/>
                  </a:lnTo>
                  <a:lnTo>
                    <a:pt x="10" y="14"/>
                  </a:lnTo>
                  <a:lnTo>
                    <a:pt x="8" y="10"/>
                  </a:lnTo>
                  <a:lnTo>
                    <a:pt x="6" y="8"/>
                  </a:lnTo>
                  <a:lnTo>
                    <a:pt x="4" y="4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48" name="Freeform 28"/>
            <p:cNvSpPr/>
            <p:nvPr/>
          </p:nvSpPr>
          <p:spPr bwMode="auto">
            <a:xfrm>
              <a:off x="2602" y="2222"/>
              <a:ext cx="56" cy="54"/>
            </a:xfrm>
            <a:custGeom>
              <a:avLst/>
              <a:gdLst>
                <a:gd name="T0" fmla="*/ 56 w 56"/>
                <a:gd name="T1" fmla="*/ 0 h 54"/>
                <a:gd name="T2" fmla="*/ 56 w 56"/>
                <a:gd name="T3" fmla="*/ 0 h 54"/>
                <a:gd name="T4" fmla="*/ 52 w 56"/>
                <a:gd name="T5" fmla="*/ 2 h 54"/>
                <a:gd name="T6" fmla="*/ 50 w 56"/>
                <a:gd name="T7" fmla="*/ 2 h 54"/>
                <a:gd name="T8" fmla="*/ 50 w 56"/>
                <a:gd name="T9" fmla="*/ 6 h 54"/>
                <a:gd name="T10" fmla="*/ 48 w 56"/>
                <a:gd name="T11" fmla="*/ 8 h 54"/>
                <a:gd name="T12" fmla="*/ 30 w 56"/>
                <a:gd name="T13" fmla="*/ 54 h 54"/>
                <a:gd name="T14" fmla="*/ 28 w 56"/>
                <a:gd name="T15" fmla="*/ 54 h 54"/>
                <a:gd name="T16" fmla="*/ 8 w 56"/>
                <a:gd name="T17" fmla="*/ 8 h 54"/>
                <a:gd name="T18" fmla="*/ 6 w 56"/>
                <a:gd name="T19" fmla="*/ 6 h 54"/>
                <a:gd name="T20" fmla="*/ 6 w 56"/>
                <a:gd name="T21" fmla="*/ 4 h 54"/>
                <a:gd name="T22" fmla="*/ 4 w 56"/>
                <a:gd name="T23" fmla="*/ 2 h 54"/>
                <a:gd name="T24" fmla="*/ 4 w 56"/>
                <a:gd name="T25" fmla="*/ 2 h 54"/>
                <a:gd name="T26" fmla="*/ 2 w 56"/>
                <a:gd name="T27" fmla="*/ 0 h 54"/>
                <a:gd name="T28" fmla="*/ 0 w 56"/>
                <a:gd name="T29" fmla="*/ 0 h 54"/>
                <a:gd name="T30" fmla="*/ 0 w 56"/>
                <a:gd name="T31" fmla="*/ 0 h 54"/>
                <a:gd name="T32" fmla="*/ 22 w 56"/>
                <a:gd name="T33" fmla="*/ 0 h 54"/>
                <a:gd name="T34" fmla="*/ 22 w 56"/>
                <a:gd name="T35" fmla="*/ 0 h 54"/>
                <a:gd name="T36" fmla="*/ 18 w 56"/>
                <a:gd name="T37" fmla="*/ 0 h 54"/>
                <a:gd name="T38" fmla="*/ 16 w 56"/>
                <a:gd name="T39" fmla="*/ 2 h 54"/>
                <a:gd name="T40" fmla="*/ 16 w 56"/>
                <a:gd name="T41" fmla="*/ 2 h 54"/>
                <a:gd name="T42" fmla="*/ 16 w 56"/>
                <a:gd name="T43" fmla="*/ 4 h 54"/>
                <a:gd name="T44" fmla="*/ 16 w 56"/>
                <a:gd name="T45" fmla="*/ 6 h 54"/>
                <a:gd name="T46" fmla="*/ 16 w 56"/>
                <a:gd name="T47" fmla="*/ 10 h 54"/>
                <a:gd name="T48" fmla="*/ 30 w 56"/>
                <a:gd name="T49" fmla="*/ 42 h 54"/>
                <a:gd name="T50" fmla="*/ 42 w 56"/>
                <a:gd name="T51" fmla="*/ 10 h 54"/>
                <a:gd name="T52" fmla="*/ 44 w 56"/>
                <a:gd name="T53" fmla="*/ 6 h 54"/>
                <a:gd name="T54" fmla="*/ 44 w 56"/>
                <a:gd name="T55" fmla="*/ 4 h 54"/>
                <a:gd name="T56" fmla="*/ 44 w 56"/>
                <a:gd name="T57" fmla="*/ 4 h 54"/>
                <a:gd name="T58" fmla="*/ 44 w 56"/>
                <a:gd name="T59" fmla="*/ 2 h 54"/>
                <a:gd name="T60" fmla="*/ 42 w 56"/>
                <a:gd name="T61" fmla="*/ 2 h 54"/>
                <a:gd name="T62" fmla="*/ 40 w 56"/>
                <a:gd name="T63" fmla="*/ 0 h 54"/>
                <a:gd name="T64" fmla="*/ 40 w 56"/>
                <a:gd name="T65" fmla="*/ 0 h 54"/>
                <a:gd name="T66" fmla="*/ 40 w 56"/>
                <a:gd name="T67" fmla="*/ 0 h 54"/>
                <a:gd name="T68" fmla="*/ 40 w 56"/>
                <a:gd name="T69" fmla="*/ 0 h 54"/>
                <a:gd name="T70" fmla="*/ 56 w 56"/>
                <a:gd name="T71" fmla="*/ 0 h 5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56"/>
                <a:gd name="T109" fmla="*/ 0 h 54"/>
                <a:gd name="T110" fmla="*/ 56 w 56"/>
                <a:gd name="T111" fmla="*/ 54 h 5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56" h="54">
                  <a:moveTo>
                    <a:pt x="56" y="0"/>
                  </a:moveTo>
                  <a:lnTo>
                    <a:pt x="56" y="0"/>
                  </a:lnTo>
                  <a:lnTo>
                    <a:pt x="52" y="2"/>
                  </a:lnTo>
                  <a:lnTo>
                    <a:pt x="50" y="2"/>
                  </a:lnTo>
                  <a:lnTo>
                    <a:pt x="50" y="6"/>
                  </a:lnTo>
                  <a:lnTo>
                    <a:pt x="48" y="8"/>
                  </a:lnTo>
                  <a:lnTo>
                    <a:pt x="30" y="54"/>
                  </a:lnTo>
                  <a:lnTo>
                    <a:pt x="28" y="54"/>
                  </a:lnTo>
                  <a:lnTo>
                    <a:pt x="8" y="8"/>
                  </a:lnTo>
                  <a:lnTo>
                    <a:pt x="6" y="6"/>
                  </a:lnTo>
                  <a:lnTo>
                    <a:pt x="6" y="4"/>
                  </a:lnTo>
                  <a:lnTo>
                    <a:pt x="4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22" y="0"/>
                  </a:lnTo>
                  <a:lnTo>
                    <a:pt x="18" y="0"/>
                  </a:lnTo>
                  <a:lnTo>
                    <a:pt x="16" y="2"/>
                  </a:lnTo>
                  <a:lnTo>
                    <a:pt x="16" y="4"/>
                  </a:lnTo>
                  <a:lnTo>
                    <a:pt x="16" y="6"/>
                  </a:lnTo>
                  <a:lnTo>
                    <a:pt x="16" y="10"/>
                  </a:lnTo>
                  <a:lnTo>
                    <a:pt x="30" y="42"/>
                  </a:lnTo>
                  <a:lnTo>
                    <a:pt x="42" y="10"/>
                  </a:lnTo>
                  <a:lnTo>
                    <a:pt x="44" y="6"/>
                  </a:lnTo>
                  <a:lnTo>
                    <a:pt x="44" y="4"/>
                  </a:lnTo>
                  <a:lnTo>
                    <a:pt x="44" y="2"/>
                  </a:lnTo>
                  <a:lnTo>
                    <a:pt x="42" y="2"/>
                  </a:lnTo>
                  <a:lnTo>
                    <a:pt x="40" y="0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49" name="Freeform 29"/>
            <p:cNvSpPr>
              <a:spLocks noEditPoints="1"/>
            </p:cNvSpPr>
            <p:nvPr/>
          </p:nvSpPr>
          <p:spPr bwMode="auto">
            <a:xfrm>
              <a:off x="2658" y="2222"/>
              <a:ext cx="42" cy="52"/>
            </a:xfrm>
            <a:custGeom>
              <a:avLst/>
              <a:gdLst>
                <a:gd name="T0" fmla="*/ 16 w 42"/>
                <a:gd name="T1" fmla="*/ 28 h 52"/>
                <a:gd name="T2" fmla="*/ 16 w 42"/>
                <a:gd name="T3" fmla="*/ 44 h 52"/>
                <a:gd name="T4" fmla="*/ 16 w 42"/>
                <a:gd name="T5" fmla="*/ 48 h 52"/>
                <a:gd name="T6" fmla="*/ 18 w 42"/>
                <a:gd name="T7" fmla="*/ 50 h 52"/>
                <a:gd name="T8" fmla="*/ 18 w 42"/>
                <a:gd name="T9" fmla="*/ 52 h 52"/>
                <a:gd name="T10" fmla="*/ 22 w 42"/>
                <a:gd name="T11" fmla="*/ 52 h 52"/>
                <a:gd name="T12" fmla="*/ 24 w 42"/>
                <a:gd name="T13" fmla="*/ 52 h 52"/>
                <a:gd name="T14" fmla="*/ 24 w 42"/>
                <a:gd name="T15" fmla="*/ 52 h 52"/>
                <a:gd name="T16" fmla="*/ 0 w 42"/>
                <a:gd name="T17" fmla="*/ 52 h 52"/>
                <a:gd name="T18" fmla="*/ 0 w 42"/>
                <a:gd name="T19" fmla="*/ 52 h 52"/>
                <a:gd name="T20" fmla="*/ 2 w 42"/>
                <a:gd name="T21" fmla="*/ 52 h 52"/>
                <a:gd name="T22" fmla="*/ 6 w 42"/>
                <a:gd name="T23" fmla="*/ 52 h 52"/>
                <a:gd name="T24" fmla="*/ 8 w 42"/>
                <a:gd name="T25" fmla="*/ 50 h 52"/>
                <a:gd name="T26" fmla="*/ 8 w 42"/>
                <a:gd name="T27" fmla="*/ 48 h 52"/>
                <a:gd name="T28" fmla="*/ 8 w 42"/>
                <a:gd name="T29" fmla="*/ 44 h 52"/>
                <a:gd name="T30" fmla="*/ 8 w 42"/>
                <a:gd name="T31" fmla="*/ 8 h 52"/>
                <a:gd name="T32" fmla="*/ 8 w 42"/>
                <a:gd name="T33" fmla="*/ 4 h 52"/>
                <a:gd name="T34" fmla="*/ 8 w 42"/>
                <a:gd name="T35" fmla="*/ 2 h 52"/>
                <a:gd name="T36" fmla="*/ 6 w 42"/>
                <a:gd name="T37" fmla="*/ 0 h 52"/>
                <a:gd name="T38" fmla="*/ 2 w 42"/>
                <a:gd name="T39" fmla="*/ 0 h 52"/>
                <a:gd name="T40" fmla="*/ 0 w 42"/>
                <a:gd name="T41" fmla="*/ 0 h 52"/>
                <a:gd name="T42" fmla="*/ 0 w 42"/>
                <a:gd name="T43" fmla="*/ 0 h 52"/>
                <a:gd name="T44" fmla="*/ 20 w 42"/>
                <a:gd name="T45" fmla="*/ 0 h 52"/>
                <a:gd name="T46" fmla="*/ 28 w 42"/>
                <a:gd name="T47" fmla="*/ 0 h 52"/>
                <a:gd name="T48" fmla="*/ 32 w 42"/>
                <a:gd name="T49" fmla="*/ 2 h 52"/>
                <a:gd name="T50" fmla="*/ 36 w 42"/>
                <a:gd name="T51" fmla="*/ 2 h 52"/>
                <a:gd name="T52" fmla="*/ 38 w 42"/>
                <a:gd name="T53" fmla="*/ 6 h 52"/>
                <a:gd name="T54" fmla="*/ 42 w 42"/>
                <a:gd name="T55" fmla="*/ 10 h 52"/>
                <a:gd name="T56" fmla="*/ 42 w 42"/>
                <a:gd name="T57" fmla="*/ 14 h 52"/>
                <a:gd name="T58" fmla="*/ 40 w 42"/>
                <a:gd name="T59" fmla="*/ 20 h 52"/>
                <a:gd name="T60" fmla="*/ 38 w 42"/>
                <a:gd name="T61" fmla="*/ 24 h 52"/>
                <a:gd name="T62" fmla="*/ 32 w 42"/>
                <a:gd name="T63" fmla="*/ 28 h 52"/>
                <a:gd name="T64" fmla="*/ 26 w 42"/>
                <a:gd name="T65" fmla="*/ 28 h 52"/>
                <a:gd name="T66" fmla="*/ 24 w 42"/>
                <a:gd name="T67" fmla="*/ 28 h 52"/>
                <a:gd name="T68" fmla="*/ 20 w 42"/>
                <a:gd name="T69" fmla="*/ 28 h 52"/>
                <a:gd name="T70" fmla="*/ 18 w 42"/>
                <a:gd name="T71" fmla="*/ 28 h 52"/>
                <a:gd name="T72" fmla="*/ 16 w 42"/>
                <a:gd name="T73" fmla="*/ 28 h 52"/>
                <a:gd name="T74" fmla="*/ 16 w 42"/>
                <a:gd name="T75" fmla="*/ 26 h 52"/>
                <a:gd name="T76" fmla="*/ 18 w 42"/>
                <a:gd name="T77" fmla="*/ 26 h 52"/>
                <a:gd name="T78" fmla="*/ 20 w 42"/>
                <a:gd name="T79" fmla="*/ 26 h 52"/>
                <a:gd name="T80" fmla="*/ 22 w 42"/>
                <a:gd name="T81" fmla="*/ 26 h 52"/>
                <a:gd name="T82" fmla="*/ 22 w 42"/>
                <a:gd name="T83" fmla="*/ 26 h 52"/>
                <a:gd name="T84" fmla="*/ 26 w 42"/>
                <a:gd name="T85" fmla="*/ 26 h 52"/>
                <a:gd name="T86" fmla="*/ 30 w 42"/>
                <a:gd name="T87" fmla="*/ 22 h 52"/>
                <a:gd name="T88" fmla="*/ 32 w 42"/>
                <a:gd name="T89" fmla="*/ 20 h 52"/>
                <a:gd name="T90" fmla="*/ 32 w 42"/>
                <a:gd name="T91" fmla="*/ 14 h 52"/>
                <a:gd name="T92" fmla="*/ 32 w 42"/>
                <a:gd name="T93" fmla="*/ 12 h 52"/>
                <a:gd name="T94" fmla="*/ 32 w 42"/>
                <a:gd name="T95" fmla="*/ 8 h 52"/>
                <a:gd name="T96" fmla="*/ 30 w 42"/>
                <a:gd name="T97" fmla="*/ 6 h 52"/>
                <a:gd name="T98" fmla="*/ 28 w 42"/>
                <a:gd name="T99" fmla="*/ 4 h 52"/>
                <a:gd name="T100" fmla="*/ 24 w 42"/>
                <a:gd name="T101" fmla="*/ 2 h 52"/>
                <a:gd name="T102" fmla="*/ 22 w 42"/>
                <a:gd name="T103" fmla="*/ 2 h 52"/>
                <a:gd name="T104" fmla="*/ 18 w 42"/>
                <a:gd name="T105" fmla="*/ 2 h 52"/>
                <a:gd name="T106" fmla="*/ 16 w 42"/>
                <a:gd name="T107" fmla="*/ 2 h 52"/>
                <a:gd name="T108" fmla="*/ 16 w 42"/>
                <a:gd name="T109" fmla="*/ 26 h 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42"/>
                <a:gd name="T166" fmla="*/ 0 h 52"/>
                <a:gd name="T167" fmla="*/ 42 w 42"/>
                <a:gd name="T168" fmla="*/ 52 h 52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42" h="52">
                  <a:moveTo>
                    <a:pt x="16" y="28"/>
                  </a:moveTo>
                  <a:lnTo>
                    <a:pt x="16" y="44"/>
                  </a:lnTo>
                  <a:lnTo>
                    <a:pt x="16" y="48"/>
                  </a:lnTo>
                  <a:lnTo>
                    <a:pt x="18" y="50"/>
                  </a:lnTo>
                  <a:lnTo>
                    <a:pt x="18" y="52"/>
                  </a:lnTo>
                  <a:lnTo>
                    <a:pt x="22" y="52"/>
                  </a:lnTo>
                  <a:lnTo>
                    <a:pt x="24" y="52"/>
                  </a:lnTo>
                  <a:lnTo>
                    <a:pt x="0" y="52"/>
                  </a:lnTo>
                  <a:lnTo>
                    <a:pt x="2" y="52"/>
                  </a:lnTo>
                  <a:lnTo>
                    <a:pt x="6" y="52"/>
                  </a:lnTo>
                  <a:lnTo>
                    <a:pt x="8" y="50"/>
                  </a:lnTo>
                  <a:lnTo>
                    <a:pt x="8" y="48"/>
                  </a:lnTo>
                  <a:lnTo>
                    <a:pt x="8" y="44"/>
                  </a:lnTo>
                  <a:lnTo>
                    <a:pt x="8" y="8"/>
                  </a:lnTo>
                  <a:lnTo>
                    <a:pt x="8" y="4"/>
                  </a:lnTo>
                  <a:lnTo>
                    <a:pt x="8" y="2"/>
                  </a:lnTo>
                  <a:lnTo>
                    <a:pt x="6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20" y="0"/>
                  </a:lnTo>
                  <a:lnTo>
                    <a:pt x="28" y="0"/>
                  </a:lnTo>
                  <a:lnTo>
                    <a:pt x="32" y="2"/>
                  </a:lnTo>
                  <a:lnTo>
                    <a:pt x="36" y="2"/>
                  </a:lnTo>
                  <a:lnTo>
                    <a:pt x="38" y="6"/>
                  </a:lnTo>
                  <a:lnTo>
                    <a:pt x="42" y="10"/>
                  </a:lnTo>
                  <a:lnTo>
                    <a:pt x="42" y="14"/>
                  </a:lnTo>
                  <a:lnTo>
                    <a:pt x="40" y="20"/>
                  </a:lnTo>
                  <a:lnTo>
                    <a:pt x="38" y="24"/>
                  </a:lnTo>
                  <a:lnTo>
                    <a:pt x="32" y="28"/>
                  </a:lnTo>
                  <a:lnTo>
                    <a:pt x="26" y="28"/>
                  </a:lnTo>
                  <a:lnTo>
                    <a:pt x="24" y="28"/>
                  </a:lnTo>
                  <a:lnTo>
                    <a:pt x="20" y="28"/>
                  </a:lnTo>
                  <a:lnTo>
                    <a:pt x="18" y="28"/>
                  </a:lnTo>
                  <a:lnTo>
                    <a:pt x="16" y="28"/>
                  </a:lnTo>
                  <a:close/>
                  <a:moveTo>
                    <a:pt x="16" y="26"/>
                  </a:moveTo>
                  <a:lnTo>
                    <a:pt x="18" y="26"/>
                  </a:lnTo>
                  <a:lnTo>
                    <a:pt x="20" y="26"/>
                  </a:lnTo>
                  <a:lnTo>
                    <a:pt x="22" y="26"/>
                  </a:lnTo>
                  <a:lnTo>
                    <a:pt x="26" y="26"/>
                  </a:lnTo>
                  <a:lnTo>
                    <a:pt x="30" y="22"/>
                  </a:lnTo>
                  <a:lnTo>
                    <a:pt x="32" y="20"/>
                  </a:lnTo>
                  <a:lnTo>
                    <a:pt x="32" y="14"/>
                  </a:lnTo>
                  <a:lnTo>
                    <a:pt x="32" y="12"/>
                  </a:lnTo>
                  <a:lnTo>
                    <a:pt x="32" y="8"/>
                  </a:lnTo>
                  <a:lnTo>
                    <a:pt x="30" y="6"/>
                  </a:lnTo>
                  <a:lnTo>
                    <a:pt x="28" y="4"/>
                  </a:lnTo>
                  <a:lnTo>
                    <a:pt x="24" y="2"/>
                  </a:lnTo>
                  <a:lnTo>
                    <a:pt x="22" y="2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6" y="2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50" name="Freeform 30"/>
            <p:cNvSpPr/>
            <p:nvPr/>
          </p:nvSpPr>
          <p:spPr bwMode="auto">
            <a:xfrm>
              <a:off x="2706" y="2220"/>
              <a:ext cx="22" cy="72"/>
            </a:xfrm>
            <a:custGeom>
              <a:avLst/>
              <a:gdLst>
                <a:gd name="T0" fmla="*/ 22 w 22"/>
                <a:gd name="T1" fmla="*/ 70 h 72"/>
                <a:gd name="T2" fmla="*/ 22 w 22"/>
                <a:gd name="T3" fmla="*/ 72 h 72"/>
                <a:gd name="T4" fmla="*/ 16 w 22"/>
                <a:gd name="T5" fmla="*/ 68 h 72"/>
                <a:gd name="T6" fmla="*/ 12 w 22"/>
                <a:gd name="T7" fmla="*/ 64 h 72"/>
                <a:gd name="T8" fmla="*/ 6 w 22"/>
                <a:gd name="T9" fmla="*/ 58 h 72"/>
                <a:gd name="T10" fmla="*/ 2 w 22"/>
                <a:gd name="T11" fmla="*/ 52 h 72"/>
                <a:gd name="T12" fmla="*/ 0 w 22"/>
                <a:gd name="T13" fmla="*/ 44 h 72"/>
                <a:gd name="T14" fmla="*/ 0 w 22"/>
                <a:gd name="T15" fmla="*/ 36 h 72"/>
                <a:gd name="T16" fmla="*/ 0 w 22"/>
                <a:gd name="T17" fmla="*/ 28 h 72"/>
                <a:gd name="T18" fmla="*/ 2 w 22"/>
                <a:gd name="T19" fmla="*/ 20 h 72"/>
                <a:gd name="T20" fmla="*/ 6 w 22"/>
                <a:gd name="T21" fmla="*/ 14 h 72"/>
                <a:gd name="T22" fmla="*/ 10 w 22"/>
                <a:gd name="T23" fmla="*/ 8 h 72"/>
                <a:gd name="T24" fmla="*/ 16 w 22"/>
                <a:gd name="T25" fmla="*/ 4 h 72"/>
                <a:gd name="T26" fmla="*/ 22 w 22"/>
                <a:gd name="T27" fmla="*/ 0 h 72"/>
                <a:gd name="T28" fmla="*/ 22 w 22"/>
                <a:gd name="T29" fmla="*/ 2 h 72"/>
                <a:gd name="T30" fmla="*/ 16 w 22"/>
                <a:gd name="T31" fmla="*/ 4 h 72"/>
                <a:gd name="T32" fmla="*/ 14 w 22"/>
                <a:gd name="T33" fmla="*/ 8 h 72"/>
                <a:gd name="T34" fmla="*/ 10 w 22"/>
                <a:gd name="T35" fmla="*/ 14 h 72"/>
                <a:gd name="T36" fmla="*/ 8 w 22"/>
                <a:gd name="T37" fmla="*/ 20 h 72"/>
                <a:gd name="T38" fmla="*/ 8 w 22"/>
                <a:gd name="T39" fmla="*/ 28 h 72"/>
                <a:gd name="T40" fmla="*/ 8 w 22"/>
                <a:gd name="T41" fmla="*/ 34 h 72"/>
                <a:gd name="T42" fmla="*/ 8 w 22"/>
                <a:gd name="T43" fmla="*/ 42 h 72"/>
                <a:gd name="T44" fmla="*/ 8 w 22"/>
                <a:gd name="T45" fmla="*/ 50 h 72"/>
                <a:gd name="T46" fmla="*/ 10 w 22"/>
                <a:gd name="T47" fmla="*/ 54 h 72"/>
                <a:gd name="T48" fmla="*/ 10 w 22"/>
                <a:gd name="T49" fmla="*/ 58 h 72"/>
                <a:gd name="T50" fmla="*/ 12 w 22"/>
                <a:gd name="T51" fmla="*/ 62 h 72"/>
                <a:gd name="T52" fmla="*/ 14 w 22"/>
                <a:gd name="T53" fmla="*/ 64 h 72"/>
                <a:gd name="T54" fmla="*/ 18 w 22"/>
                <a:gd name="T55" fmla="*/ 68 h 72"/>
                <a:gd name="T56" fmla="*/ 22 w 22"/>
                <a:gd name="T57" fmla="*/ 70 h 7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2"/>
                <a:gd name="T88" fmla="*/ 0 h 72"/>
                <a:gd name="T89" fmla="*/ 22 w 22"/>
                <a:gd name="T90" fmla="*/ 72 h 7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2" h="72">
                  <a:moveTo>
                    <a:pt x="22" y="70"/>
                  </a:moveTo>
                  <a:lnTo>
                    <a:pt x="22" y="72"/>
                  </a:lnTo>
                  <a:lnTo>
                    <a:pt x="16" y="68"/>
                  </a:lnTo>
                  <a:lnTo>
                    <a:pt x="12" y="64"/>
                  </a:lnTo>
                  <a:lnTo>
                    <a:pt x="6" y="58"/>
                  </a:lnTo>
                  <a:lnTo>
                    <a:pt x="2" y="52"/>
                  </a:lnTo>
                  <a:lnTo>
                    <a:pt x="0" y="44"/>
                  </a:lnTo>
                  <a:lnTo>
                    <a:pt x="0" y="36"/>
                  </a:lnTo>
                  <a:lnTo>
                    <a:pt x="0" y="28"/>
                  </a:lnTo>
                  <a:lnTo>
                    <a:pt x="2" y="20"/>
                  </a:lnTo>
                  <a:lnTo>
                    <a:pt x="6" y="14"/>
                  </a:lnTo>
                  <a:lnTo>
                    <a:pt x="10" y="8"/>
                  </a:lnTo>
                  <a:lnTo>
                    <a:pt x="16" y="4"/>
                  </a:lnTo>
                  <a:lnTo>
                    <a:pt x="22" y="0"/>
                  </a:lnTo>
                  <a:lnTo>
                    <a:pt x="22" y="2"/>
                  </a:lnTo>
                  <a:lnTo>
                    <a:pt x="16" y="4"/>
                  </a:lnTo>
                  <a:lnTo>
                    <a:pt x="14" y="8"/>
                  </a:lnTo>
                  <a:lnTo>
                    <a:pt x="10" y="14"/>
                  </a:lnTo>
                  <a:lnTo>
                    <a:pt x="8" y="20"/>
                  </a:lnTo>
                  <a:lnTo>
                    <a:pt x="8" y="28"/>
                  </a:lnTo>
                  <a:lnTo>
                    <a:pt x="8" y="34"/>
                  </a:lnTo>
                  <a:lnTo>
                    <a:pt x="8" y="42"/>
                  </a:lnTo>
                  <a:lnTo>
                    <a:pt x="8" y="50"/>
                  </a:lnTo>
                  <a:lnTo>
                    <a:pt x="10" y="54"/>
                  </a:lnTo>
                  <a:lnTo>
                    <a:pt x="10" y="58"/>
                  </a:lnTo>
                  <a:lnTo>
                    <a:pt x="12" y="62"/>
                  </a:lnTo>
                  <a:lnTo>
                    <a:pt x="14" y="64"/>
                  </a:lnTo>
                  <a:lnTo>
                    <a:pt x="18" y="68"/>
                  </a:lnTo>
                  <a:lnTo>
                    <a:pt x="22" y="7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51" name="Freeform 31"/>
            <p:cNvSpPr>
              <a:spLocks noEditPoints="1"/>
            </p:cNvSpPr>
            <p:nvPr/>
          </p:nvSpPr>
          <p:spPr bwMode="auto">
            <a:xfrm>
              <a:off x="2732" y="2220"/>
              <a:ext cx="36" cy="56"/>
            </a:xfrm>
            <a:custGeom>
              <a:avLst/>
              <a:gdLst>
                <a:gd name="T0" fmla="*/ 24 w 36"/>
                <a:gd name="T1" fmla="*/ 50 h 56"/>
                <a:gd name="T2" fmla="*/ 22 w 36"/>
                <a:gd name="T3" fmla="*/ 52 h 56"/>
                <a:gd name="T4" fmla="*/ 20 w 36"/>
                <a:gd name="T5" fmla="*/ 54 h 56"/>
                <a:gd name="T6" fmla="*/ 16 w 36"/>
                <a:gd name="T7" fmla="*/ 56 h 56"/>
                <a:gd name="T8" fmla="*/ 14 w 36"/>
                <a:gd name="T9" fmla="*/ 56 h 56"/>
                <a:gd name="T10" fmla="*/ 8 w 36"/>
                <a:gd name="T11" fmla="*/ 54 h 56"/>
                <a:gd name="T12" fmla="*/ 4 w 36"/>
                <a:gd name="T13" fmla="*/ 50 h 56"/>
                <a:gd name="T14" fmla="*/ 0 w 36"/>
                <a:gd name="T15" fmla="*/ 46 h 56"/>
                <a:gd name="T16" fmla="*/ 0 w 36"/>
                <a:gd name="T17" fmla="*/ 38 h 56"/>
                <a:gd name="T18" fmla="*/ 0 w 36"/>
                <a:gd name="T19" fmla="*/ 32 h 56"/>
                <a:gd name="T20" fmla="*/ 4 w 36"/>
                <a:gd name="T21" fmla="*/ 24 h 56"/>
                <a:gd name="T22" fmla="*/ 8 w 36"/>
                <a:gd name="T23" fmla="*/ 22 h 56"/>
                <a:gd name="T24" fmla="*/ 12 w 36"/>
                <a:gd name="T25" fmla="*/ 18 h 56"/>
                <a:gd name="T26" fmla="*/ 16 w 36"/>
                <a:gd name="T27" fmla="*/ 18 h 56"/>
                <a:gd name="T28" fmla="*/ 20 w 36"/>
                <a:gd name="T29" fmla="*/ 20 h 56"/>
                <a:gd name="T30" fmla="*/ 24 w 36"/>
                <a:gd name="T31" fmla="*/ 22 h 56"/>
                <a:gd name="T32" fmla="*/ 24 w 36"/>
                <a:gd name="T33" fmla="*/ 14 h 56"/>
                <a:gd name="T34" fmla="*/ 24 w 36"/>
                <a:gd name="T35" fmla="*/ 8 h 56"/>
                <a:gd name="T36" fmla="*/ 24 w 36"/>
                <a:gd name="T37" fmla="*/ 6 h 56"/>
                <a:gd name="T38" fmla="*/ 24 w 36"/>
                <a:gd name="T39" fmla="*/ 4 h 56"/>
                <a:gd name="T40" fmla="*/ 24 w 36"/>
                <a:gd name="T41" fmla="*/ 4 h 56"/>
                <a:gd name="T42" fmla="*/ 22 w 36"/>
                <a:gd name="T43" fmla="*/ 4 h 56"/>
                <a:gd name="T44" fmla="*/ 22 w 36"/>
                <a:gd name="T45" fmla="*/ 4 h 56"/>
                <a:gd name="T46" fmla="*/ 22 w 36"/>
                <a:gd name="T47" fmla="*/ 4 h 56"/>
                <a:gd name="T48" fmla="*/ 20 w 36"/>
                <a:gd name="T49" fmla="*/ 4 h 56"/>
                <a:gd name="T50" fmla="*/ 20 w 36"/>
                <a:gd name="T51" fmla="*/ 4 h 56"/>
                <a:gd name="T52" fmla="*/ 30 w 36"/>
                <a:gd name="T53" fmla="*/ 0 h 56"/>
                <a:gd name="T54" fmla="*/ 32 w 36"/>
                <a:gd name="T55" fmla="*/ 0 h 56"/>
                <a:gd name="T56" fmla="*/ 32 w 36"/>
                <a:gd name="T57" fmla="*/ 40 h 56"/>
                <a:gd name="T58" fmla="*/ 32 w 36"/>
                <a:gd name="T59" fmla="*/ 46 h 56"/>
                <a:gd name="T60" fmla="*/ 32 w 36"/>
                <a:gd name="T61" fmla="*/ 48 h 56"/>
                <a:gd name="T62" fmla="*/ 32 w 36"/>
                <a:gd name="T63" fmla="*/ 50 h 56"/>
                <a:gd name="T64" fmla="*/ 32 w 36"/>
                <a:gd name="T65" fmla="*/ 50 h 56"/>
                <a:gd name="T66" fmla="*/ 32 w 36"/>
                <a:gd name="T67" fmla="*/ 52 h 56"/>
                <a:gd name="T68" fmla="*/ 34 w 36"/>
                <a:gd name="T69" fmla="*/ 52 h 56"/>
                <a:gd name="T70" fmla="*/ 34 w 36"/>
                <a:gd name="T71" fmla="*/ 52 h 56"/>
                <a:gd name="T72" fmla="*/ 36 w 36"/>
                <a:gd name="T73" fmla="*/ 50 h 56"/>
                <a:gd name="T74" fmla="*/ 36 w 36"/>
                <a:gd name="T75" fmla="*/ 52 h 56"/>
                <a:gd name="T76" fmla="*/ 26 w 36"/>
                <a:gd name="T77" fmla="*/ 56 h 56"/>
                <a:gd name="T78" fmla="*/ 24 w 36"/>
                <a:gd name="T79" fmla="*/ 56 h 56"/>
                <a:gd name="T80" fmla="*/ 24 w 36"/>
                <a:gd name="T81" fmla="*/ 50 h 56"/>
                <a:gd name="T82" fmla="*/ 24 w 36"/>
                <a:gd name="T83" fmla="*/ 46 h 56"/>
                <a:gd name="T84" fmla="*/ 24 w 36"/>
                <a:gd name="T85" fmla="*/ 30 h 56"/>
                <a:gd name="T86" fmla="*/ 24 w 36"/>
                <a:gd name="T87" fmla="*/ 28 h 56"/>
                <a:gd name="T88" fmla="*/ 24 w 36"/>
                <a:gd name="T89" fmla="*/ 24 h 56"/>
                <a:gd name="T90" fmla="*/ 22 w 36"/>
                <a:gd name="T91" fmla="*/ 24 h 56"/>
                <a:gd name="T92" fmla="*/ 20 w 36"/>
                <a:gd name="T93" fmla="*/ 22 h 56"/>
                <a:gd name="T94" fmla="*/ 18 w 36"/>
                <a:gd name="T95" fmla="*/ 20 h 56"/>
                <a:gd name="T96" fmla="*/ 16 w 36"/>
                <a:gd name="T97" fmla="*/ 20 h 56"/>
                <a:gd name="T98" fmla="*/ 12 w 36"/>
                <a:gd name="T99" fmla="*/ 22 h 56"/>
                <a:gd name="T100" fmla="*/ 10 w 36"/>
                <a:gd name="T101" fmla="*/ 24 h 56"/>
                <a:gd name="T102" fmla="*/ 8 w 36"/>
                <a:gd name="T103" fmla="*/ 28 h 56"/>
                <a:gd name="T104" fmla="*/ 6 w 36"/>
                <a:gd name="T105" fmla="*/ 36 h 56"/>
                <a:gd name="T106" fmla="*/ 8 w 36"/>
                <a:gd name="T107" fmla="*/ 42 h 56"/>
                <a:gd name="T108" fmla="*/ 10 w 36"/>
                <a:gd name="T109" fmla="*/ 46 h 56"/>
                <a:gd name="T110" fmla="*/ 14 w 36"/>
                <a:gd name="T111" fmla="*/ 50 h 56"/>
                <a:gd name="T112" fmla="*/ 18 w 36"/>
                <a:gd name="T113" fmla="*/ 50 h 56"/>
                <a:gd name="T114" fmla="*/ 22 w 36"/>
                <a:gd name="T115" fmla="*/ 50 h 56"/>
                <a:gd name="T116" fmla="*/ 24 w 36"/>
                <a:gd name="T117" fmla="*/ 46 h 5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36"/>
                <a:gd name="T178" fmla="*/ 0 h 56"/>
                <a:gd name="T179" fmla="*/ 36 w 36"/>
                <a:gd name="T180" fmla="*/ 56 h 5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36" h="56">
                  <a:moveTo>
                    <a:pt x="24" y="50"/>
                  </a:moveTo>
                  <a:lnTo>
                    <a:pt x="22" y="52"/>
                  </a:lnTo>
                  <a:lnTo>
                    <a:pt x="20" y="54"/>
                  </a:lnTo>
                  <a:lnTo>
                    <a:pt x="16" y="56"/>
                  </a:lnTo>
                  <a:lnTo>
                    <a:pt x="14" y="56"/>
                  </a:lnTo>
                  <a:lnTo>
                    <a:pt x="8" y="54"/>
                  </a:lnTo>
                  <a:lnTo>
                    <a:pt x="4" y="50"/>
                  </a:lnTo>
                  <a:lnTo>
                    <a:pt x="0" y="46"/>
                  </a:lnTo>
                  <a:lnTo>
                    <a:pt x="0" y="38"/>
                  </a:lnTo>
                  <a:lnTo>
                    <a:pt x="0" y="32"/>
                  </a:lnTo>
                  <a:lnTo>
                    <a:pt x="4" y="24"/>
                  </a:lnTo>
                  <a:lnTo>
                    <a:pt x="8" y="22"/>
                  </a:lnTo>
                  <a:lnTo>
                    <a:pt x="12" y="18"/>
                  </a:lnTo>
                  <a:lnTo>
                    <a:pt x="16" y="18"/>
                  </a:lnTo>
                  <a:lnTo>
                    <a:pt x="20" y="20"/>
                  </a:lnTo>
                  <a:lnTo>
                    <a:pt x="24" y="22"/>
                  </a:lnTo>
                  <a:lnTo>
                    <a:pt x="24" y="14"/>
                  </a:lnTo>
                  <a:lnTo>
                    <a:pt x="24" y="8"/>
                  </a:lnTo>
                  <a:lnTo>
                    <a:pt x="24" y="6"/>
                  </a:lnTo>
                  <a:lnTo>
                    <a:pt x="24" y="4"/>
                  </a:lnTo>
                  <a:lnTo>
                    <a:pt x="22" y="4"/>
                  </a:lnTo>
                  <a:lnTo>
                    <a:pt x="20" y="4"/>
                  </a:lnTo>
                  <a:lnTo>
                    <a:pt x="30" y="0"/>
                  </a:lnTo>
                  <a:lnTo>
                    <a:pt x="32" y="0"/>
                  </a:lnTo>
                  <a:lnTo>
                    <a:pt x="32" y="40"/>
                  </a:lnTo>
                  <a:lnTo>
                    <a:pt x="32" y="46"/>
                  </a:lnTo>
                  <a:lnTo>
                    <a:pt x="32" y="48"/>
                  </a:lnTo>
                  <a:lnTo>
                    <a:pt x="32" y="50"/>
                  </a:lnTo>
                  <a:lnTo>
                    <a:pt x="32" y="52"/>
                  </a:lnTo>
                  <a:lnTo>
                    <a:pt x="34" y="52"/>
                  </a:lnTo>
                  <a:lnTo>
                    <a:pt x="36" y="50"/>
                  </a:lnTo>
                  <a:lnTo>
                    <a:pt x="36" y="52"/>
                  </a:lnTo>
                  <a:lnTo>
                    <a:pt x="26" y="56"/>
                  </a:lnTo>
                  <a:lnTo>
                    <a:pt x="24" y="56"/>
                  </a:lnTo>
                  <a:lnTo>
                    <a:pt x="24" y="50"/>
                  </a:lnTo>
                  <a:close/>
                  <a:moveTo>
                    <a:pt x="24" y="46"/>
                  </a:moveTo>
                  <a:lnTo>
                    <a:pt x="24" y="30"/>
                  </a:lnTo>
                  <a:lnTo>
                    <a:pt x="24" y="28"/>
                  </a:lnTo>
                  <a:lnTo>
                    <a:pt x="24" y="24"/>
                  </a:lnTo>
                  <a:lnTo>
                    <a:pt x="22" y="24"/>
                  </a:lnTo>
                  <a:lnTo>
                    <a:pt x="20" y="22"/>
                  </a:lnTo>
                  <a:lnTo>
                    <a:pt x="18" y="20"/>
                  </a:lnTo>
                  <a:lnTo>
                    <a:pt x="16" y="20"/>
                  </a:lnTo>
                  <a:lnTo>
                    <a:pt x="12" y="22"/>
                  </a:lnTo>
                  <a:lnTo>
                    <a:pt x="10" y="24"/>
                  </a:lnTo>
                  <a:lnTo>
                    <a:pt x="8" y="28"/>
                  </a:lnTo>
                  <a:lnTo>
                    <a:pt x="6" y="36"/>
                  </a:lnTo>
                  <a:lnTo>
                    <a:pt x="8" y="42"/>
                  </a:lnTo>
                  <a:lnTo>
                    <a:pt x="10" y="46"/>
                  </a:lnTo>
                  <a:lnTo>
                    <a:pt x="14" y="50"/>
                  </a:lnTo>
                  <a:lnTo>
                    <a:pt x="18" y="50"/>
                  </a:lnTo>
                  <a:lnTo>
                    <a:pt x="22" y="50"/>
                  </a:lnTo>
                  <a:lnTo>
                    <a:pt x="24" y="4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52" name="Freeform 32"/>
            <p:cNvSpPr/>
            <p:nvPr/>
          </p:nvSpPr>
          <p:spPr bwMode="auto">
            <a:xfrm>
              <a:off x="2770" y="2240"/>
              <a:ext cx="38" cy="36"/>
            </a:xfrm>
            <a:custGeom>
              <a:avLst/>
              <a:gdLst>
                <a:gd name="T0" fmla="*/ 34 w 38"/>
                <a:gd name="T1" fmla="*/ 0 h 36"/>
                <a:gd name="T2" fmla="*/ 34 w 38"/>
                <a:gd name="T3" fmla="*/ 20 h 36"/>
                <a:gd name="T4" fmla="*/ 34 w 38"/>
                <a:gd name="T5" fmla="*/ 26 h 36"/>
                <a:gd name="T6" fmla="*/ 34 w 38"/>
                <a:gd name="T7" fmla="*/ 28 h 36"/>
                <a:gd name="T8" fmla="*/ 34 w 38"/>
                <a:gd name="T9" fmla="*/ 30 h 36"/>
                <a:gd name="T10" fmla="*/ 34 w 38"/>
                <a:gd name="T11" fmla="*/ 30 h 36"/>
                <a:gd name="T12" fmla="*/ 34 w 38"/>
                <a:gd name="T13" fmla="*/ 32 h 36"/>
                <a:gd name="T14" fmla="*/ 36 w 38"/>
                <a:gd name="T15" fmla="*/ 32 h 36"/>
                <a:gd name="T16" fmla="*/ 36 w 38"/>
                <a:gd name="T17" fmla="*/ 32 h 36"/>
                <a:gd name="T18" fmla="*/ 38 w 38"/>
                <a:gd name="T19" fmla="*/ 30 h 36"/>
                <a:gd name="T20" fmla="*/ 38 w 38"/>
                <a:gd name="T21" fmla="*/ 32 h 36"/>
                <a:gd name="T22" fmla="*/ 28 w 38"/>
                <a:gd name="T23" fmla="*/ 36 h 36"/>
                <a:gd name="T24" fmla="*/ 26 w 38"/>
                <a:gd name="T25" fmla="*/ 36 h 36"/>
                <a:gd name="T26" fmla="*/ 26 w 38"/>
                <a:gd name="T27" fmla="*/ 28 h 36"/>
                <a:gd name="T28" fmla="*/ 22 w 38"/>
                <a:gd name="T29" fmla="*/ 32 h 36"/>
                <a:gd name="T30" fmla="*/ 20 w 38"/>
                <a:gd name="T31" fmla="*/ 34 h 36"/>
                <a:gd name="T32" fmla="*/ 16 w 38"/>
                <a:gd name="T33" fmla="*/ 36 h 36"/>
                <a:gd name="T34" fmla="*/ 14 w 38"/>
                <a:gd name="T35" fmla="*/ 36 h 36"/>
                <a:gd name="T36" fmla="*/ 12 w 38"/>
                <a:gd name="T37" fmla="*/ 36 h 36"/>
                <a:gd name="T38" fmla="*/ 8 w 38"/>
                <a:gd name="T39" fmla="*/ 34 h 36"/>
                <a:gd name="T40" fmla="*/ 6 w 38"/>
                <a:gd name="T41" fmla="*/ 32 h 36"/>
                <a:gd name="T42" fmla="*/ 6 w 38"/>
                <a:gd name="T43" fmla="*/ 30 h 36"/>
                <a:gd name="T44" fmla="*/ 6 w 38"/>
                <a:gd name="T45" fmla="*/ 26 h 36"/>
                <a:gd name="T46" fmla="*/ 4 w 38"/>
                <a:gd name="T47" fmla="*/ 22 h 36"/>
                <a:gd name="T48" fmla="*/ 4 w 38"/>
                <a:gd name="T49" fmla="*/ 6 h 36"/>
                <a:gd name="T50" fmla="*/ 4 w 38"/>
                <a:gd name="T51" fmla="*/ 4 h 36"/>
                <a:gd name="T52" fmla="*/ 4 w 38"/>
                <a:gd name="T53" fmla="*/ 2 h 36"/>
                <a:gd name="T54" fmla="*/ 4 w 38"/>
                <a:gd name="T55" fmla="*/ 2 h 36"/>
                <a:gd name="T56" fmla="*/ 4 w 38"/>
                <a:gd name="T57" fmla="*/ 0 h 36"/>
                <a:gd name="T58" fmla="*/ 2 w 38"/>
                <a:gd name="T59" fmla="*/ 0 h 36"/>
                <a:gd name="T60" fmla="*/ 0 w 38"/>
                <a:gd name="T61" fmla="*/ 0 h 36"/>
                <a:gd name="T62" fmla="*/ 0 w 38"/>
                <a:gd name="T63" fmla="*/ 0 h 36"/>
                <a:gd name="T64" fmla="*/ 12 w 38"/>
                <a:gd name="T65" fmla="*/ 0 h 36"/>
                <a:gd name="T66" fmla="*/ 12 w 38"/>
                <a:gd name="T67" fmla="*/ 22 h 36"/>
                <a:gd name="T68" fmla="*/ 12 w 38"/>
                <a:gd name="T69" fmla="*/ 26 h 36"/>
                <a:gd name="T70" fmla="*/ 14 w 38"/>
                <a:gd name="T71" fmla="*/ 30 h 36"/>
                <a:gd name="T72" fmla="*/ 16 w 38"/>
                <a:gd name="T73" fmla="*/ 30 h 36"/>
                <a:gd name="T74" fmla="*/ 18 w 38"/>
                <a:gd name="T75" fmla="*/ 30 h 36"/>
                <a:gd name="T76" fmla="*/ 20 w 38"/>
                <a:gd name="T77" fmla="*/ 30 h 36"/>
                <a:gd name="T78" fmla="*/ 22 w 38"/>
                <a:gd name="T79" fmla="*/ 30 h 36"/>
                <a:gd name="T80" fmla="*/ 24 w 38"/>
                <a:gd name="T81" fmla="*/ 28 h 36"/>
                <a:gd name="T82" fmla="*/ 26 w 38"/>
                <a:gd name="T83" fmla="*/ 26 h 36"/>
                <a:gd name="T84" fmla="*/ 26 w 38"/>
                <a:gd name="T85" fmla="*/ 6 h 36"/>
                <a:gd name="T86" fmla="*/ 26 w 38"/>
                <a:gd name="T87" fmla="*/ 2 h 36"/>
                <a:gd name="T88" fmla="*/ 26 w 38"/>
                <a:gd name="T89" fmla="*/ 2 h 36"/>
                <a:gd name="T90" fmla="*/ 24 w 38"/>
                <a:gd name="T91" fmla="*/ 0 h 36"/>
                <a:gd name="T92" fmla="*/ 22 w 38"/>
                <a:gd name="T93" fmla="*/ 0 h 36"/>
                <a:gd name="T94" fmla="*/ 22 w 38"/>
                <a:gd name="T95" fmla="*/ 0 h 36"/>
                <a:gd name="T96" fmla="*/ 34 w 38"/>
                <a:gd name="T97" fmla="*/ 0 h 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8"/>
                <a:gd name="T148" fmla="*/ 0 h 36"/>
                <a:gd name="T149" fmla="*/ 38 w 38"/>
                <a:gd name="T150" fmla="*/ 36 h 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8" h="36">
                  <a:moveTo>
                    <a:pt x="34" y="0"/>
                  </a:moveTo>
                  <a:lnTo>
                    <a:pt x="34" y="20"/>
                  </a:lnTo>
                  <a:lnTo>
                    <a:pt x="34" y="26"/>
                  </a:lnTo>
                  <a:lnTo>
                    <a:pt x="34" y="28"/>
                  </a:lnTo>
                  <a:lnTo>
                    <a:pt x="34" y="30"/>
                  </a:lnTo>
                  <a:lnTo>
                    <a:pt x="34" y="32"/>
                  </a:lnTo>
                  <a:lnTo>
                    <a:pt x="36" y="32"/>
                  </a:lnTo>
                  <a:lnTo>
                    <a:pt x="38" y="30"/>
                  </a:lnTo>
                  <a:lnTo>
                    <a:pt x="38" y="32"/>
                  </a:lnTo>
                  <a:lnTo>
                    <a:pt x="28" y="36"/>
                  </a:lnTo>
                  <a:lnTo>
                    <a:pt x="26" y="36"/>
                  </a:lnTo>
                  <a:lnTo>
                    <a:pt x="26" y="28"/>
                  </a:lnTo>
                  <a:lnTo>
                    <a:pt x="22" y="32"/>
                  </a:lnTo>
                  <a:lnTo>
                    <a:pt x="20" y="34"/>
                  </a:lnTo>
                  <a:lnTo>
                    <a:pt x="16" y="36"/>
                  </a:lnTo>
                  <a:lnTo>
                    <a:pt x="14" y="36"/>
                  </a:lnTo>
                  <a:lnTo>
                    <a:pt x="12" y="36"/>
                  </a:lnTo>
                  <a:lnTo>
                    <a:pt x="8" y="34"/>
                  </a:lnTo>
                  <a:lnTo>
                    <a:pt x="6" y="32"/>
                  </a:lnTo>
                  <a:lnTo>
                    <a:pt x="6" y="30"/>
                  </a:lnTo>
                  <a:lnTo>
                    <a:pt x="6" y="26"/>
                  </a:lnTo>
                  <a:lnTo>
                    <a:pt x="4" y="22"/>
                  </a:lnTo>
                  <a:lnTo>
                    <a:pt x="4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12" y="0"/>
                  </a:lnTo>
                  <a:lnTo>
                    <a:pt x="12" y="22"/>
                  </a:lnTo>
                  <a:lnTo>
                    <a:pt x="12" y="26"/>
                  </a:lnTo>
                  <a:lnTo>
                    <a:pt x="14" y="30"/>
                  </a:lnTo>
                  <a:lnTo>
                    <a:pt x="16" y="30"/>
                  </a:lnTo>
                  <a:lnTo>
                    <a:pt x="18" y="30"/>
                  </a:lnTo>
                  <a:lnTo>
                    <a:pt x="20" y="30"/>
                  </a:lnTo>
                  <a:lnTo>
                    <a:pt x="22" y="30"/>
                  </a:lnTo>
                  <a:lnTo>
                    <a:pt x="24" y="28"/>
                  </a:lnTo>
                  <a:lnTo>
                    <a:pt x="26" y="26"/>
                  </a:lnTo>
                  <a:lnTo>
                    <a:pt x="26" y="6"/>
                  </a:lnTo>
                  <a:lnTo>
                    <a:pt x="26" y="2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53" name="Freeform 33"/>
            <p:cNvSpPr/>
            <p:nvPr/>
          </p:nvSpPr>
          <p:spPr bwMode="auto">
            <a:xfrm>
              <a:off x="2810" y="2238"/>
              <a:ext cx="60" cy="36"/>
            </a:xfrm>
            <a:custGeom>
              <a:avLst/>
              <a:gdLst>
                <a:gd name="T0" fmla="*/ 14 w 60"/>
                <a:gd name="T1" fmla="*/ 4 h 36"/>
                <a:gd name="T2" fmla="*/ 18 w 60"/>
                <a:gd name="T3" fmla="*/ 2 h 36"/>
                <a:gd name="T4" fmla="*/ 22 w 60"/>
                <a:gd name="T5" fmla="*/ 0 h 36"/>
                <a:gd name="T6" fmla="*/ 28 w 60"/>
                <a:gd name="T7" fmla="*/ 0 h 36"/>
                <a:gd name="T8" fmla="*/ 32 w 60"/>
                <a:gd name="T9" fmla="*/ 4 h 36"/>
                <a:gd name="T10" fmla="*/ 36 w 60"/>
                <a:gd name="T11" fmla="*/ 4 h 36"/>
                <a:gd name="T12" fmla="*/ 42 w 60"/>
                <a:gd name="T13" fmla="*/ 0 h 36"/>
                <a:gd name="T14" fmla="*/ 48 w 60"/>
                <a:gd name="T15" fmla="*/ 0 h 36"/>
                <a:gd name="T16" fmla="*/ 52 w 60"/>
                <a:gd name="T17" fmla="*/ 4 h 36"/>
                <a:gd name="T18" fmla="*/ 54 w 60"/>
                <a:gd name="T19" fmla="*/ 10 h 36"/>
                <a:gd name="T20" fmla="*/ 54 w 60"/>
                <a:gd name="T21" fmla="*/ 28 h 36"/>
                <a:gd name="T22" fmla="*/ 56 w 60"/>
                <a:gd name="T23" fmla="*/ 34 h 36"/>
                <a:gd name="T24" fmla="*/ 56 w 60"/>
                <a:gd name="T25" fmla="*/ 36 h 36"/>
                <a:gd name="T26" fmla="*/ 60 w 60"/>
                <a:gd name="T27" fmla="*/ 36 h 36"/>
                <a:gd name="T28" fmla="*/ 44 w 60"/>
                <a:gd name="T29" fmla="*/ 36 h 36"/>
                <a:gd name="T30" fmla="*/ 44 w 60"/>
                <a:gd name="T31" fmla="*/ 36 h 36"/>
                <a:gd name="T32" fmla="*/ 46 w 60"/>
                <a:gd name="T33" fmla="*/ 36 h 36"/>
                <a:gd name="T34" fmla="*/ 48 w 60"/>
                <a:gd name="T35" fmla="*/ 32 h 36"/>
                <a:gd name="T36" fmla="*/ 48 w 60"/>
                <a:gd name="T37" fmla="*/ 28 h 36"/>
                <a:gd name="T38" fmla="*/ 48 w 60"/>
                <a:gd name="T39" fmla="*/ 10 h 36"/>
                <a:gd name="T40" fmla="*/ 46 w 60"/>
                <a:gd name="T41" fmla="*/ 6 h 36"/>
                <a:gd name="T42" fmla="*/ 40 w 60"/>
                <a:gd name="T43" fmla="*/ 6 h 36"/>
                <a:gd name="T44" fmla="*/ 36 w 60"/>
                <a:gd name="T45" fmla="*/ 8 h 36"/>
                <a:gd name="T46" fmla="*/ 34 w 60"/>
                <a:gd name="T47" fmla="*/ 10 h 36"/>
                <a:gd name="T48" fmla="*/ 34 w 60"/>
                <a:gd name="T49" fmla="*/ 28 h 36"/>
                <a:gd name="T50" fmla="*/ 34 w 60"/>
                <a:gd name="T51" fmla="*/ 34 h 36"/>
                <a:gd name="T52" fmla="*/ 34 w 60"/>
                <a:gd name="T53" fmla="*/ 36 h 36"/>
                <a:gd name="T54" fmla="*/ 38 w 60"/>
                <a:gd name="T55" fmla="*/ 36 h 36"/>
                <a:gd name="T56" fmla="*/ 22 w 60"/>
                <a:gd name="T57" fmla="*/ 36 h 36"/>
                <a:gd name="T58" fmla="*/ 24 w 60"/>
                <a:gd name="T59" fmla="*/ 36 h 36"/>
                <a:gd name="T60" fmla="*/ 26 w 60"/>
                <a:gd name="T61" fmla="*/ 34 h 36"/>
                <a:gd name="T62" fmla="*/ 26 w 60"/>
                <a:gd name="T63" fmla="*/ 32 h 36"/>
                <a:gd name="T64" fmla="*/ 26 w 60"/>
                <a:gd name="T65" fmla="*/ 14 h 36"/>
                <a:gd name="T66" fmla="*/ 26 w 60"/>
                <a:gd name="T67" fmla="*/ 8 h 36"/>
                <a:gd name="T68" fmla="*/ 20 w 60"/>
                <a:gd name="T69" fmla="*/ 6 h 36"/>
                <a:gd name="T70" fmla="*/ 16 w 60"/>
                <a:gd name="T71" fmla="*/ 6 h 36"/>
                <a:gd name="T72" fmla="*/ 12 w 60"/>
                <a:gd name="T73" fmla="*/ 10 h 36"/>
                <a:gd name="T74" fmla="*/ 12 w 60"/>
                <a:gd name="T75" fmla="*/ 32 h 36"/>
                <a:gd name="T76" fmla="*/ 12 w 60"/>
                <a:gd name="T77" fmla="*/ 34 h 36"/>
                <a:gd name="T78" fmla="*/ 14 w 60"/>
                <a:gd name="T79" fmla="*/ 36 h 36"/>
                <a:gd name="T80" fmla="*/ 16 w 60"/>
                <a:gd name="T81" fmla="*/ 36 h 36"/>
                <a:gd name="T82" fmla="*/ 0 w 60"/>
                <a:gd name="T83" fmla="*/ 36 h 36"/>
                <a:gd name="T84" fmla="*/ 2 w 60"/>
                <a:gd name="T85" fmla="*/ 36 h 36"/>
                <a:gd name="T86" fmla="*/ 4 w 60"/>
                <a:gd name="T87" fmla="*/ 34 h 36"/>
                <a:gd name="T88" fmla="*/ 4 w 60"/>
                <a:gd name="T89" fmla="*/ 28 h 36"/>
                <a:gd name="T90" fmla="*/ 4 w 60"/>
                <a:gd name="T91" fmla="*/ 10 h 36"/>
                <a:gd name="T92" fmla="*/ 4 w 60"/>
                <a:gd name="T93" fmla="*/ 6 h 36"/>
                <a:gd name="T94" fmla="*/ 4 w 60"/>
                <a:gd name="T95" fmla="*/ 4 h 36"/>
                <a:gd name="T96" fmla="*/ 2 w 60"/>
                <a:gd name="T97" fmla="*/ 4 h 36"/>
                <a:gd name="T98" fmla="*/ 0 w 60"/>
                <a:gd name="T99" fmla="*/ 4 h 36"/>
                <a:gd name="T100" fmla="*/ 12 w 60"/>
                <a:gd name="T101" fmla="*/ 0 h 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60"/>
                <a:gd name="T154" fmla="*/ 0 h 36"/>
                <a:gd name="T155" fmla="*/ 60 w 60"/>
                <a:gd name="T156" fmla="*/ 36 h 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60" h="36">
                  <a:moveTo>
                    <a:pt x="12" y="8"/>
                  </a:moveTo>
                  <a:lnTo>
                    <a:pt x="14" y="4"/>
                  </a:lnTo>
                  <a:lnTo>
                    <a:pt x="16" y="4"/>
                  </a:lnTo>
                  <a:lnTo>
                    <a:pt x="18" y="2"/>
                  </a:lnTo>
                  <a:lnTo>
                    <a:pt x="20" y="2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8" y="0"/>
                  </a:lnTo>
                  <a:lnTo>
                    <a:pt x="30" y="2"/>
                  </a:lnTo>
                  <a:lnTo>
                    <a:pt x="32" y="4"/>
                  </a:lnTo>
                  <a:lnTo>
                    <a:pt x="32" y="8"/>
                  </a:lnTo>
                  <a:lnTo>
                    <a:pt x="36" y="4"/>
                  </a:lnTo>
                  <a:lnTo>
                    <a:pt x="40" y="2"/>
                  </a:lnTo>
                  <a:lnTo>
                    <a:pt x="42" y="0"/>
                  </a:lnTo>
                  <a:lnTo>
                    <a:pt x="46" y="0"/>
                  </a:lnTo>
                  <a:lnTo>
                    <a:pt x="48" y="0"/>
                  </a:lnTo>
                  <a:lnTo>
                    <a:pt x="50" y="2"/>
                  </a:lnTo>
                  <a:lnTo>
                    <a:pt x="52" y="4"/>
                  </a:lnTo>
                  <a:lnTo>
                    <a:pt x="54" y="6"/>
                  </a:lnTo>
                  <a:lnTo>
                    <a:pt x="54" y="10"/>
                  </a:lnTo>
                  <a:lnTo>
                    <a:pt x="54" y="14"/>
                  </a:lnTo>
                  <a:lnTo>
                    <a:pt x="54" y="28"/>
                  </a:lnTo>
                  <a:lnTo>
                    <a:pt x="54" y="32"/>
                  </a:lnTo>
                  <a:lnTo>
                    <a:pt x="56" y="34"/>
                  </a:lnTo>
                  <a:lnTo>
                    <a:pt x="56" y="36"/>
                  </a:lnTo>
                  <a:lnTo>
                    <a:pt x="58" y="36"/>
                  </a:lnTo>
                  <a:lnTo>
                    <a:pt x="60" y="36"/>
                  </a:lnTo>
                  <a:lnTo>
                    <a:pt x="44" y="36"/>
                  </a:lnTo>
                  <a:lnTo>
                    <a:pt x="46" y="36"/>
                  </a:lnTo>
                  <a:lnTo>
                    <a:pt x="48" y="34"/>
                  </a:lnTo>
                  <a:lnTo>
                    <a:pt x="48" y="32"/>
                  </a:lnTo>
                  <a:lnTo>
                    <a:pt x="48" y="28"/>
                  </a:lnTo>
                  <a:lnTo>
                    <a:pt x="48" y="14"/>
                  </a:lnTo>
                  <a:lnTo>
                    <a:pt x="48" y="10"/>
                  </a:lnTo>
                  <a:lnTo>
                    <a:pt x="48" y="8"/>
                  </a:lnTo>
                  <a:lnTo>
                    <a:pt x="46" y="6"/>
                  </a:lnTo>
                  <a:lnTo>
                    <a:pt x="42" y="6"/>
                  </a:lnTo>
                  <a:lnTo>
                    <a:pt x="40" y="6"/>
                  </a:lnTo>
                  <a:lnTo>
                    <a:pt x="38" y="6"/>
                  </a:lnTo>
                  <a:lnTo>
                    <a:pt x="36" y="8"/>
                  </a:lnTo>
                  <a:lnTo>
                    <a:pt x="34" y="10"/>
                  </a:lnTo>
                  <a:lnTo>
                    <a:pt x="34" y="12"/>
                  </a:lnTo>
                  <a:lnTo>
                    <a:pt x="34" y="28"/>
                  </a:lnTo>
                  <a:lnTo>
                    <a:pt x="34" y="32"/>
                  </a:lnTo>
                  <a:lnTo>
                    <a:pt x="34" y="34"/>
                  </a:lnTo>
                  <a:lnTo>
                    <a:pt x="34" y="36"/>
                  </a:lnTo>
                  <a:lnTo>
                    <a:pt x="36" y="36"/>
                  </a:lnTo>
                  <a:lnTo>
                    <a:pt x="38" y="36"/>
                  </a:lnTo>
                  <a:lnTo>
                    <a:pt x="22" y="36"/>
                  </a:lnTo>
                  <a:lnTo>
                    <a:pt x="24" y="36"/>
                  </a:lnTo>
                  <a:lnTo>
                    <a:pt x="26" y="34"/>
                  </a:lnTo>
                  <a:lnTo>
                    <a:pt x="26" y="32"/>
                  </a:lnTo>
                  <a:lnTo>
                    <a:pt x="26" y="28"/>
                  </a:lnTo>
                  <a:lnTo>
                    <a:pt x="26" y="14"/>
                  </a:lnTo>
                  <a:lnTo>
                    <a:pt x="26" y="10"/>
                  </a:lnTo>
                  <a:lnTo>
                    <a:pt x="26" y="8"/>
                  </a:lnTo>
                  <a:lnTo>
                    <a:pt x="24" y="6"/>
                  </a:lnTo>
                  <a:lnTo>
                    <a:pt x="20" y="6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4" y="8"/>
                  </a:lnTo>
                  <a:lnTo>
                    <a:pt x="12" y="10"/>
                  </a:lnTo>
                  <a:lnTo>
                    <a:pt x="12" y="28"/>
                  </a:lnTo>
                  <a:lnTo>
                    <a:pt x="12" y="32"/>
                  </a:lnTo>
                  <a:lnTo>
                    <a:pt x="12" y="34"/>
                  </a:lnTo>
                  <a:lnTo>
                    <a:pt x="14" y="36"/>
                  </a:lnTo>
                  <a:lnTo>
                    <a:pt x="16" y="36"/>
                  </a:lnTo>
                  <a:lnTo>
                    <a:pt x="0" y="36"/>
                  </a:lnTo>
                  <a:lnTo>
                    <a:pt x="2" y="36"/>
                  </a:lnTo>
                  <a:lnTo>
                    <a:pt x="4" y="34"/>
                  </a:lnTo>
                  <a:lnTo>
                    <a:pt x="4" y="32"/>
                  </a:lnTo>
                  <a:lnTo>
                    <a:pt x="4" y="28"/>
                  </a:lnTo>
                  <a:lnTo>
                    <a:pt x="4" y="16"/>
                  </a:lnTo>
                  <a:lnTo>
                    <a:pt x="4" y="10"/>
                  </a:lnTo>
                  <a:lnTo>
                    <a:pt x="4" y="8"/>
                  </a:lnTo>
                  <a:lnTo>
                    <a:pt x="4" y="6"/>
                  </a:lnTo>
                  <a:lnTo>
                    <a:pt x="4" y="4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4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54" name="Freeform 34"/>
            <p:cNvSpPr>
              <a:spLocks noEditPoints="1"/>
            </p:cNvSpPr>
            <p:nvPr/>
          </p:nvSpPr>
          <p:spPr bwMode="auto">
            <a:xfrm>
              <a:off x="2870" y="2238"/>
              <a:ext cx="38" cy="54"/>
            </a:xfrm>
            <a:custGeom>
              <a:avLst/>
              <a:gdLst>
                <a:gd name="T0" fmla="*/ 12 w 38"/>
                <a:gd name="T1" fmla="*/ 0 h 54"/>
                <a:gd name="T2" fmla="*/ 14 w 38"/>
                <a:gd name="T3" fmla="*/ 8 h 54"/>
                <a:gd name="T4" fmla="*/ 20 w 38"/>
                <a:gd name="T5" fmla="*/ 2 h 54"/>
                <a:gd name="T6" fmla="*/ 26 w 38"/>
                <a:gd name="T7" fmla="*/ 0 h 54"/>
                <a:gd name="T8" fmla="*/ 34 w 38"/>
                <a:gd name="T9" fmla="*/ 4 h 54"/>
                <a:gd name="T10" fmla="*/ 38 w 38"/>
                <a:gd name="T11" fmla="*/ 18 h 54"/>
                <a:gd name="T12" fmla="*/ 36 w 38"/>
                <a:gd name="T13" fmla="*/ 28 h 54"/>
                <a:gd name="T14" fmla="*/ 28 w 38"/>
                <a:gd name="T15" fmla="*/ 36 h 54"/>
                <a:gd name="T16" fmla="*/ 20 w 38"/>
                <a:gd name="T17" fmla="*/ 38 h 54"/>
                <a:gd name="T18" fmla="*/ 16 w 38"/>
                <a:gd name="T19" fmla="*/ 36 h 54"/>
                <a:gd name="T20" fmla="*/ 14 w 38"/>
                <a:gd name="T21" fmla="*/ 46 h 54"/>
                <a:gd name="T22" fmla="*/ 14 w 38"/>
                <a:gd name="T23" fmla="*/ 52 h 54"/>
                <a:gd name="T24" fmla="*/ 16 w 38"/>
                <a:gd name="T25" fmla="*/ 52 h 54"/>
                <a:gd name="T26" fmla="*/ 18 w 38"/>
                <a:gd name="T27" fmla="*/ 54 h 54"/>
                <a:gd name="T28" fmla="*/ 0 w 38"/>
                <a:gd name="T29" fmla="*/ 54 h 54"/>
                <a:gd name="T30" fmla="*/ 2 w 38"/>
                <a:gd name="T31" fmla="*/ 54 h 54"/>
                <a:gd name="T32" fmla="*/ 6 w 38"/>
                <a:gd name="T33" fmla="*/ 52 h 54"/>
                <a:gd name="T34" fmla="*/ 6 w 38"/>
                <a:gd name="T35" fmla="*/ 52 h 54"/>
                <a:gd name="T36" fmla="*/ 8 w 38"/>
                <a:gd name="T37" fmla="*/ 46 h 54"/>
                <a:gd name="T38" fmla="*/ 8 w 38"/>
                <a:gd name="T39" fmla="*/ 8 h 54"/>
                <a:gd name="T40" fmla="*/ 6 w 38"/>
                <a:gd name="T41" fmla="*/ 6 h 54"/>
                <a:gd name="T42" fmla="*/ 6 w 38"/>
                <a:gd name="T43" fmla="*/ 4 h 54"/>
                <a:gd name="T44" fmla="*/ 4 w 38"/>
                <a:gd name="T45" fmla="*/ 4 h 54"/>
                <a:gd name="T46" fmla="*/ 2 w 38"/>
                <a:gd name="T47" fmla="*/ 4 h 54"/>
                <a:gd name="T48" fmla="*/ 14 w 38"/>
                <a:gd name="T49" fmla="*/ 24 h 54"/>
                <a:gd name="T50" fmla="*/ 14 w 38"/>
                <a:gd name="T51" fmla="*/ 30 h 54"/>
                <a:gd name="T52" fmla="*/ 18 w 38"/>
                <a:gd name="T53" fmla="*/ 34 h 54"/>
                <a:gd name="T54" fmla="*/ 22 w 38"/>
                <a:gd name="T55" fmla="*/ 36 h 54"/>
                <a:gd name="T56" fmla="*/ 30 w 38"/>
                <a:gd name="T57" fmla="*/ 32 h 54"/>
                <a:gd name="T58" fmla="*/ 32 w 38"/>
                <a:gd name="T59" fmla="*/ 22 h 54"/>
                <a:gd name="T60" fmla="*/ 28 w 38"/>
                <a:gd name="T61" fmla="*/ 10 h 54"/>
                <a:gd name="T62" fmla="*/ 22 w 38"/>
                <a:gd name="T63" fmla="*/ 6 h 54"/>
                <a:gd name="T64" fmla="*/ 18 w 38"/>
                <a:gd name="T65" fmla="*/ 6 h 54"/>
                <a:gd name="T66" fmla="*/ 14 w 38"/>
                <a:gd name="T67" fmla="*/ 12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38"/>
                <a:gd name="T103" fmla="*/ 0 h 54"/>
                <a:gd name="T104" fmla="*/ 38 w 38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38" h="54">
                  <a:moveTo>
                    <a:pt x="2" y="4"/>
                  </a:moveTo>
                  <a:lnTo>
                    <a:pt x="12" y="0"/>
                  </a:lnTo>
                  <a:lnTo>
                    <a:pt x="14" y="0"/>
                  </a:lnTo>
                  <a:lnTo>
                    <a:pt x="14" y="8"/>
                  </a:lnTo>
                  <a:lnTo>
                    <a:pt x="16" y="4"/>
                  </a:lnTo>
                  <a:lnTo>
                    <a:pt x="20" y="2"/>
                  </a:lnTo>
                  <a:lnTo>
                    <a:pt x="22" y="0"/>
                  </a:lnTo>
                  <a:lnTo>
                    <a:pt x="26" y="0"/>
                  </a:lnTo>
                  <a:lnTo>
                    <a:pt x="30" y="2"/>
                  </a:lnTo>
                  <a:lnTo>
                    <a:pt x="34" y="4"/>
                  </a:lnTo>
                  <a:lnTo>
                    <a:pt x="38" y="10"/>
                  </a:lnTo>
                  <a:lnTo>
                    <a:pt x="38" y="18"/>
                  </a:lnTo>
                  <a:lnTo>
                    <a:pt x="38" y="24"/>
                  </a:lnTo>
                  <a:lnTo>
                    <a:pt x="36" y="28"/>
                  </a:lnTo>
                  <a:lnTo>
                    <a:pt x="34" y="32"/>
                  </a:lnTo>
                  <a:lnTo>
                    <a:pt x="28" y="36"/>
                  </a:lnTo>
                  <a:lnTo>
                    <a:pt x="22" y="38"/>
                  </a:lnTo>
                  <a:lnTo>
                    <a:pt x="20" y="38"/>
                  </a:lnTo>
                  <a:lnTo>
                    <a:pt x="18" y="36"/>
                  </a:lnTo>
                  <a:lnTo>
                    <a:pt x="16" y="36"/>
                  </a:lnTo>
                  <a:lnTo>
                    <a:pt x="14" y="34"/>
                  </a:lnTo>
                  <a:lnTo>
                    <a:pt x="14" y="46"/>
                  </a:lnTo>
                  <a:lnTo>
                    <a:pt x="14" y="50"/>
                  </a:lnTo>
                  <a:lnTo>
                    <a:pt x="14" y="52"/>
                  </a:lnTo>
                  <a:lnTo>
                    <a:pt x="16" y="52"/>
                  </a:lnTo>
                  <a:lnTo>
                    <a:pt x="16" y="54"/>
                  </a:lnTo>
                  <a:lnTo>
                    <a:pt x="18" y="54"/>
                  </a:lnTo>
                  <a:lnTo>
                    <a:pt x="0" y="54"/>
                  </a:lnTo>
                  <a:lnTo>
                    <a:pt x="2" y="54"/>
                  </a:lnTo>
                  <a:lnTo>
                    <a:pt x="4" y="54"/>
                  </a:lnTo>
                  <a:lnTo>
                    <a:pt x="6" y="52"/>
                  </a:lnTo>
                  <a:lnTo>
                    <a:pt x="8" y="50"/>
                  </a:lnTo>
                  <a:lnTo>
                    <a:pt x="8" y="46"/>
                  </a:lnTo>
                  <a:lnTo>
                    <a:pt x="8" y="12"/>
                  </a:lnTo>
                  <a:lnTo>
                    <a:pt x="8" y="8"/>
                  </a:lnTo>
                  <a:lnTo>
                    <a:pt x="8" y="6"/>
                  </a:lnTo>
                  <a:lnTo>
                    <a:pt x="6" y="6"/>
                  </a:lnTo>
                  <a:lnTo>
                    <a:pt x="6" y="4"/>
                  </a:lnTo>
                  <a:lnTo>
                    <a:pt x="4" y="4"/>
                  </a:lnTo>
                  <a:lnTo>
                    <a:pt x="2" y="6"/>
                  </a:lnTo>
                  <a:lnTo>
                    <a:pt x="2" y="4"/>
                  </a:lnTo>
                  <a:close/>
                  <a:moveTo>
                    <a:pt x="14" y="12"/>
                  </a:moveTo>
                  <a:lnTo>
                    <a:pt x="14" y="24"/>
                  </a:lnTo>
                  <a:lnTo>
                    <a:pt x="14" y="28"/>
                  </a:lnTo>
                  <a:lnTo>
                    <a:pt x="14" y="30"/>
                  </a:lnTo>
                  <a:lnTo>
                    <a:pt x="16" y="32"/>
                  </a:lnTo>
                  <a:lnTo>
                    <a:pt x="18" y="34"/>
                  </a:lnTo>
                  <a:lnTo>
                    <a:pt x="20" y="34"/>
                  </a:lnTo>
                  <a:lnTo>
                    <a:pt x="22" y="36"/>
                  </a:lnTo>
                  <a:lnTo>
                    <a:pt x="26" y="34"/>
                  </a:lnTo>
                  <a:lnTo>
                    <a:pt x="30" y="32"/>
                  </a:lnTo>
                  <a:lnTo>
                    <a:pt x="32" y="28"/>
                  </a:lnTo>
                  <a:lnTo>
                    <a:pt x="32" y="22"/>
                  </a:lnTo>
                  <a:lnTo>
                    <a:pt x="32" y="14"/>
                  </a:lnTo>
                  <a:lnTo>
                    <a:pt x="28" y="10"/>
                  </a:lnTo>
                  <a:lnTo>
                    <a:pt x="26" y="6"/>
                  </a:lnTo>
                  <a:lnTo>
                    <a:pt x="22" y="6"/>
                  </a:lnTo>
                  <a:lnTo>
                    <a:pt x="20" y="6"/>
                  </a:lnTo>
                  <a:lnTo>
                    <a:pt x="18" y="6"/>
                  </a:lnTo>
                  <a:lnTo>
                    <a:pt x="16" y="8"/>
                  </a:lnTo>
                  <a:lnTo>
                    <a:pt x="14" y="1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55" name="Freeform 35"/>
            <p:cNvSpPr>
              <a:spLocks noEditPoints="1"/>
            </p:cNvSpPr>
            <p:nvPr/>
          </p:nvSpPr>
          <p:spPr bwMode="auto">
            <a:xfrm>
              <a:off x="2914" y="2238"/>
              <a:ext cx="30" cy="38"/>
            </a:xfrm>
            <a:custGeom>
              <a:avLst/>
              <a:gdLst>
                <a:gd name="T0" fmla="*/ 6 w 30"/>
                <a:gd name="T1" fmla="*/ 14 h 38"/>
                <a:gd name="T2" fmla="*/ 6 w 30"/>
                <a:gd name="T3" fmla="*/ 22 h 38"/>
                <a:gd name="T4" fmla="*/ 10 w 30"/>
                <a:gd name="T5" fmla="*/ 26 h 38"/>
                <a:gd name="T6" fmla="*/ 14 w 30"/>
                <a:gd name="T7" fmla="*/ 30 h 38"/>
                <a:gd name="T8" fmla="*/ 18 w 30"/>
                <a:gd name="T9" fmla="*/ 32 h 38"/>
                <a:gd name="T10" fmla="*/ 22 w 30"/>
                <a:gd name="T11" fmla="*/ 30 h 38"/>
                <a:gd name="T12" fmla="*/ 24 w 30"/>
                <a:gd name="T13" fmla="*/ 30 h 38"/>
                <a:gd name="T14" fmla="*/ 28 w 30"/>
                <a:gd name="T15" fmla="*/ 26 h 38"/>
                <a:gd name="T16" fmla="*/ 30 w 30"/>
                <a:gd name="T17" fmla="*/ 22 h 38"/>
                <a:gd name="T18" fmla="*/ 30 w 30"/>
                <a:gd name="T19" fmla="*/ 24 h 38"/>
                <a:gd name="T20" fmla="*/ 28 w 30"/>
                <a:gd name="T21" fmla="*/ 28 h 38"/>
                <a:gd name="T22" fmla="*/ 26 w 30"/>
                <a:gd name="T23" fmla="*/ 34 h 38"/>
                <a:gd name="T24" fmla="*/ 20 w 30"/>
                <a:gd name="T25" fmla="*/ 36 h 38"/>
                <a:gd name="T26" fmla="*/ 16 w 30"/>
                <a:gd name="T27" fmla="*/ 38 h 38"/>
                <a:gd name="T28" fmla="*/ 10 w 30"/>
                <a:gd name="T29" fmla="*/ 36 h 38"/>
                <a:gd name="T30" fmla="*/ 4 w 30"/>
                <a:gd name="T31" fmla="*/ 32 h 38"/>
                <a:gd name="T32" fmla="*/ 2 w 30"/>
                <a:gd name="T33" fmla="*/ 26 h 38"/>
                <a:gd name="T34" fmla="*/ 0 w 30"/>
                <a:gd name="T35" fmla="*/ 20 h 38"/>
                <a:gd name="T36" fmla="*/ 0 w 30"/>
                <a:gd name="T37" fmla="*/ 14 h 38"/>
                <a:gd name="T38" fmla="*/ 2 w 30"/>
                <a:gd name="T39" fmla="*/ 10 h 38"/>
                <a:gd name="T40" fmla="*/ 4 w 30"/>
                <a:gd name="T41" fmla="*/ 6 h 38"/>
                <a:gd name="T42" fmla="*/ 10 w 30"/>
                <a:gd name="T43" fmla="*/ 2 h 38"/>
                <a:gd name="T44" fmla="*/ 16 w 30"/>
                <a:gd name="T45" fmla="*/ 0 h 38"/>
                <a:gd name="T46" fmla="*/ 22 w 30"/>
                <a:gd name="T47" fmla="*/ 2 h 38"/>
                <a:gd name="T48" fmla="*/ 26 w 30"/>
                <a:gd name="T49" fmla="*/ 4 h 38"/>
                <a:gd name="T50" fmla="*/ 30 w 30"/>
                <a:gd name="T51" fmla="*/ 8 h 38"/>
                <a:gd name="T52" fmla="*/ 30 w 30"/>
                <a:gd name="T53" fmla="*/ 14 h 38"/>
                <a:gd name="T54" fmla="*/ 6 w 30"/>
                <a:gd name="T55" fmla="*/ 14 h 38"/>
                <a:gd name="T56" fmla="*/ 6 w 30"/>
                <a:gd name="T57" fmla="*/ 12 h 38"/>
                <a:gd name="T58" fmla="*/ 22 w 30"/>
                <a:gd name="T59" fmla="*/ 12 h 38"/>
                <a:gd name="T60" fmla="*/ 22 w 30"/>
                <a:gd name="T61" fmla="*/ 10 h 38"/>
                <a:gd name="T62" fmla="*/ 20 w 30"/>
                <a:gd name="T63" fmla="*/ 8 h 38"/>
                <a:gd name="T64" fmla="*/ 20 w 30"/>
                <a:gd name="T65" fmla="*/ 6 h 38"/>
                <a:gd name="T66" fmla="*/ 18 w 30"/>
                <a:gd name="T67" fmla="*/ 4 h 38"/>
                <a:gd name="T68" fmla="*/ 16 w 30"/>
                <a:gd name="T69" fmla="*/ 4 h 38"/>
                <a:gd name="T70" fmla="*/ 14 w 30"/>
                <a:gd name="T71" fmla="*/ 2 h 38"/>
                <a:gd name="T72" fmla="*/ 12 w 30"/>
                <a:gd name="T73" fmla="*/ 4 h 38"/>
                <a:gd name="T74" fmla="*/ 8 w 30"/>
                <a:gd name="T75" fmla="*/ 6 h 38"/>
                <a:gd name="T76" fmla="*/ 6 w 30"/>
                <a:gd name="T77" fmla="*/ 8 h 38"/>
                <a:gd name="T78" fmla="*/ 6 w 30"/>
                <a:gd name="T79" fmla="*/ 12 h 38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30"/>
                <a:gd name="T121" fmla="*/ 0 h 38"/>
                <a:gd name="T122" fmla="*/ 30 w 30"/>
                <a:gd name="T123" fmla="*/ 38 h 38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30" h="38">
                  <a:moveTo>
                    <a:pt x="6" y="14"/>
                  </a:moveTo>
                  <a:lnTo>
                    <a:pt x="6" y="22"/>
                  </a:lnTo>
                  <a:lnTo>
                    <a:pt x="10" y="26"/>
                  </a:lnTo>
                  <a:lnTo>
                    <a:pt x="14" y="30"/>
                  </a:lnTo>
                  <a:lnTo>
                    <a:pt x="18" y="32"/>
                  </a:lnTo>
                  <a:lnTo>
                    <a:pt x="22" y="30"/>
                  </a:lnTo>
                  <a:lnTo>
                    <a:pt x="24" y="30"/>
                  </a:lnTo>
                  <a:lnTo>
                    <a:pt x="28" y="26"/>
                  </a:lnTo>
                  <a:lnTo>
                    <a:pt x="30" y="22"/>
                  </a:lnTo>
                  <a:lnTo>
                    <a:pt x="30" y="24"/>
                  </a:lnTo>
                  <a:lnTo>
                    <a:pt x="28" y="28"/>
                  </a:lnTo>
                  <a:lnTo>
                    <a:pt x="26" y="34"/>
                  </a:lnTo>
                  <a:lnTo>
                    <a:pt x="20" y="36"/>
                  </a:lnTo>
                  <a:lnTo>
                    <a:pt x="16" y="38"/>
                  </a:lnTo>
                  <a:lnTo>
                    <a:pt x="10" y="36"/>
                  </a:lnTo>
                  <a:lnTo>
                    <a:pt x="4" y="32"/>
                  </a:lnTo>
                  <a:lnTo>
                    <a:pt x="2" y="26"/>
                  </a:lnTo>
                  <a:lnTo>
                    <a:pt x="0" y="20"/>
                  </a:lnTo>
                  <a:lnTo>
                    <a:pt x="0" y="14"/>
                  </a:lnTo>
                  <a:lnTo>
                    <a:pt x="2" y="10"/>
                  </a:lnTo>
                  <a:lnTo>
                    <a:pt x="4" y="6"/>
                  </a:lnTo>
                  <a:lnTo>
                    <a:pt x="10" y="2"/>
                  </a:lnTo>
                  <a:lnTo>
                    <a:pt x="16" y="0"/>
                  </a:lnTo>
                  <a:lnTo>
                    <a:pt x="22" y="2"/>
                  </a:lnTo>
                  <a:lnTo>
                    <a:pt x="26" y="4"/>
                  </a:lnTo>
                  <a:lnTo>
                    <a:pt x="30" y="8"/>
                  </a:lnTo>
                  <a:lnTo>
                    <a:pt x="30" y="14"/>
                  </a:lnTo>
                  <a:lnTo>
                    <a:pt x="6" y="14"/>
                  </a:lnTo>
                  <a:close/>
                  <a:moveTo>
                    <a:pt x="6" y="12"/>
                  </a:moveTo>
                  <a:lnTo>
                    <a:pt x="22" y="12"/>
                  </a:lnTo>
                  <a:lnTo>
                    <a:pt x="22" y="10"/>
                  </a:lnTo>
                  <a:lnTo>
                    <a:pt x="20" y="8"/>
                  </a:lnTo>
                  <a:lnTo>
                    <a:pt x="20" y="6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4" y="2"/>
                  </a:lnTo>
                  <a:lnTo>
                    <a:pt x="12" y="4"/>
                  </a:lnTo>
                  <a:lnTo>
                    <a:pt x="8" y="6"/>
                  </a:lnTo>
                  <a:lnTo>
                    <a:pt x="6" y="8"/>
                  </a:lnTo>
                  <a:lnTo>
                    <a:pt x="6" y="1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56" name="Freeform 36"/>
            <p:cNvSpPr>
              <a:spLocks noEditPoints="1"/>
            </p:cNvSpPr>
            <p:nvPr/>
          </p:nvSpPr>
          <p:spPr bwMode="auto">
            <a:xfrm>
              <a:off x="2950" y="2220"/>
              <a:ext cx="36" cy="56"/>
            </a:xfrm>
            <a:custGeom>
              <a:avLst/>
              <a:gdLst>
                <a:gd name="T0" fmla="*/ 24 w 36"/>
                <a:gd name="T1" fmla="*/ 50 h 56"/>
                <a:gd name="T2" fmla="*/ 22 w 36"/>
                <a:gd name="T3" fmla="*/ 52 h 56"/>
                <a:gd name="T4" fmla="*/ 20 w 36"/>
                <a:gd name="T5" fmla="*/ 54 h 56"/>
                <a:gd name="T6" fmla="*/ 18 w 36"/>
                <a:gd name="T7" fmla="*/ 56 h 56"/>
                <a:gd name="T8" fmla="*/ 14 w 36"/>
                <a:gd name="T9" fmla="*/ 56 h 56"/>
                <a:gd name="T10" fmla="*/ 8 w 36"/>
                <a:gd name="T11" fmla="*/ 54 h 56"/>
                <a:gd name="T12" fmla="*/ 4 w 36"/>
                <a:gd name="T13" fmla="*/ 50 h 56"/>
                <a:gd name="T14" fmla="*/ 0 w 36"/>
                <a:gd name="T15" fmla="*/ 46 h 56"/>
                <a:gd name="T16" fmla="*/ 0 w 36"/>
                <a:gd name="T17" fmla="*/ 38 h 56"/>
                <a:gd name="T18" fmla="*/ 2 w 36"/>
                <a:gd name="T19" fmla="*/ 32 h 56"/>
                <a:gd name="T20" fmla="*/ 4 w 36"/>
                <a:gd name="T21" fmla="*/ 24 h 56"/>
                <a:gd name="T22" fmla="*/ 8 w 36"/>
                <a:gd name="T23" fmla="*/ 22 h 56"/>
                <a:gd name="T24" fmla="*/ 12 w 36"/>
                <a:gd name="T25" fmla="*/ 18 h 56"/>
                <a:gd name="T26" fmla="*/ 18 w 36"/>
                <a:gd name="T27" fmla="*/ 18 h 56"/>
                <a:gd name="T28" fmla="*/ 22 w 36"/>
                <a:gd name="T29" fmla="*/ 20 h 56"/>
                <a:gd name="T30" fmla="*/ 24 w 36"/>
                <a:gd name="T31" fmla="*/ 22 h 56"/>
                <a:gd name="T32" fmla="*/ 24 w 36"/>
                <a:gd name="T33" fmla="*/ 14 h 56"/>
                <a:gd name="T34" fmla="*/ 24 w 36"/>
                <a:gd name="T35" fmla="*/ 8 h 56"/>
                <a:gd name="T36" fmla="*/ 24 w 36"/>
                <a:gd name="T37" fmla="*/ 6 h 56"/>
                <a:gd name="T38" fmla="*/ 24 w 36"/>
                <a:gd name="T39" fmla="*/ 4 h 56"/>
                <a:gd name="T40" fmla="*/ 24 w 36"/>
                <a:gd name="T41" fmla="*/ 4 h 56"/>
                <a:gd name="T42" fmla="*/ 24 w 36"/>
                <a:gd name="T43" fmla="*/ 4 h 56"/>
                <a:gd name="T44" fmla="*/ 22 w 36"/>
                <a:gd name="T45" fmla="*/ 4 h 56"/>
                <a:gd name="T46" fmla="*/ 22 w 36"/>
                <a:gd name="T47" fmla="*/ 4 h 56"/>
                <a:gd name="T48" fmla="*/ 20 w 36"/>
                <a:gd name="T49" fmla="*/ 4 h 56"/>
                <a:gd name="T50" fmla="*/ 20 w 36"/>
                <a:gd name="T51" fmla="*/ 4 h 56"/>
                <a:gd name="T52" fmla="*/ 30 w 36"/>
                <a:gd name="T53" fmla="*/ 0 h 56"/>
                <a:gd name="T54" fmla="*/ 32 w 36"/>
                <a:gd name="T55" fmla="*/ 0 h 56"/>
                <a:gd name="T56" fmla="*/ 32 w 36"/>
                <a:gd name="T57" fmla="*/ 40 h 56"/>
                <a:gd name="T58" fmla="*/ 32 w 36"/>
                <a:gd name="T59" fmla="*/ 46 h 56"/>
                <a:gd name="T60" fmla="*/ 32 w 36"/>
                <a:gd name="T61" fmla="*/ 48 h 56"/>
                <a:gd name="T62" fmla="*/ 32 w 36"/>
                <a:gd name="T63" fmla="*/ 50 h 56"/>
                <a:gd name="T64" fmla="*/ 32 w 36"/>
                <a:gd name="T65" fmla="*/ 50 h 56"/>
                <a:gd name="T66" fmla="*/ 34 w 36"/>
                <a:gd name="T67" fmla="*/ 52 h 56"/>
                <a:gd name="T68" fmla="*/ 34 w 36"/>
                <a:gd name="T69" fmla="*/ 52 h 56"/>
                <a:gd name="T70" fmla="*/ 34 w 36"/>
                <a:gd name="T71" fmla="*/ 52 h 56"/>
                <a:gd name="T72" fmla="*/ 36 w 36"/>
                <a:gd name="T73" fmla="*/ 50 h 56"/>
                <a:gd name="T74" fmla="*/ 36 w 36"/>
                <a:gd name="T75" fmla="*/ 52 h 56"/>
                <a:gd name="T76" fmla="*/ 26 w 36"/>
                <a:gd name="T77" fmla="*/ 56 h 56"/>
                <a:gd name="T78" fmla="*/ 24 w 36"/>
                <a:gd name="T79" fmla="*/ 56 h 56"/>
                <a:gd name="T80" fmla="*/ 24 w 36"/>
                <a:gd name="T81" fmla="*/ 50 h 56"/>
                <a:gd name="T82" fmla="*/ 24 w 36"/>
                <a:gd name="T83" fmla="*/ 46 h 56"/>
                <a:gd name="T84" fmla="*/ 24 w 36"/>
                <a:gd name="T85" fmla="*/ 30 h 56"/>
                <a:gd name="T86" fmla="*/ 24 w 36"/>
                <a:gd name="T87" fmla="*/ 28 h 56"/>
                <a:gd name="T88" fmla="*/ 24 w 36"/>
                <a:gd name="T89" fmla="*/ 24 h 56"/>
                <a:gd name="T90" fmla="*/ 22 w 36"/>
                <a:gd name="T91" fmla="*/ 24 h 56"/>
                <a:gd name="T92" fmla="*/ 20 w 36"/>
                <a:gd name="T93" fmla="*/ 22 h 56"/>
                <a:gd name="T94" fmla="*/ 18 w 36"/>
                <a:gd name="T95" fmla="*/ 20 h 56"/>
                <a:gd name="T96" fmla="*/ 16 w 36"/>
                <a:gd name="T97" fmla="*/ 20 h 56"/>
                <a:gd name="T98" fmla="*/ 14 w 36"/>
                <a:gd name="T99" fmla="*/ 22 h 56"/>
                <a:gd name="T100" fmla="*/ 10 w 36"/>
                <a:gd name="T101" fmla="*/ 24 h 56"/>
                <a:gd name="T102" fmla="*/ 8 w 36"/>
                <a:gd name="T103" fmla="*/ 28 h 56"/>
                <a:gd name="T104" fmla="*/ 6 w 36"/>
                <a:gd name="T105" fmla="*/ 36 h 56"/>
                <a:gd name="T106" fmla="*/ 8 w 36"/>
                <a:gd name="T107" fmla="*/ 42 h 56"/>
                <a:gd name="T108" fmla="*/ 10 w 36"/>
                <a:gd name="T109" fmla="*/ 46 h 56"/>
                <a:gd name="T110" fmla="*/ 14 w 36"/>
                <a:gd name="T111" fmla="*/ 50 h 56"/>
                <a:gd name="T112" fmla="*/ 18 w 36"/>
                <a:gd name="T113" fmla="*/ 50 h 56"/>
                <a:gd name="T114" fmla="*/ 22 w 36"/>
                <a:gd name="T115" fmla="*/ 50 h 56"/>
                <a:gd name="T116" fmla="*/ 24 w 36"/>
                <a:gd name="T117" fmla="*/ 46 h 5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36"/>
                <a:gd name="T178" fmla="*/ 0 h 56"/>
                <a:gd name="T179" fmla="*/ 36 w 36"/>
                <a:gd name="T180" fmla="*/ 56 h 5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36" h="56">
                  <a:moveTo>
                    <a:pt x="24" y="50"/>
                  </a:moveTo>
                  <a:lnTo>
                    <a:pt x="22" y="52"/>
                  </a:lnTo>
                  <a:lnTo>
                    <a:pt x="20" y="54"/>
                  </a:lnTo>
                  <a:lnTo>
                    <a:pt x="18" y="56"/>
                  </a:lnTo>
                  <a:lnTo>
                    <a:pt x="14" y="56"/>
                  </a:lnTo>
                  <a:lnTo>
                    <a:pt x="8" y="54"/>
                  </a:lnTo>
                  <a:lnTo>
                    <a:pt x="4" y="50"/>
                  </a:lnTo>
                  <a:lnTo>
                    <a:pt x="0" y="46"/>
                  </a:lnTo>
                  <a:lnTo>
                    <a:pt x="0" y="38"/>
                  </a:lnTo>
                  <a:lnTo>
                    <a:pt x="2" y="32"/>
                  </a:lnTo>
                  <a:lnTo>
                    <a:pt x="4" y="24"/>
                  </a:lnTo>
                  <a:lnTo>
                    <a:pt x="8" y="22"/>
                  </a:lnTo>
                  <a:lnTo>
                    <a:pt x="12" y="18"/>
                  </a:lnTo>
                  <a:lnTo>
                    <a:pt x="18" y="18"/>
                  </a:lnTo>
                  <a:lnTo>
                    <a:pt x="22" y="20"/>
                  </a:lnTo>
                  <a:lnTo>
                    <a:pt x="24" y="22"/>
                  </a:lnTo>
                  <a:lnTo>
                    <a:pt x="24" y="14"/>
                  </a:lnTo>
                  <a:lnTo>
                    <a:pt x="24" y="8"/>
                  </a:lnTo>
                  <a:lnTo>
                    <a:pt x="24" y="6"/>
                  </a:lnTo>
                  <a:lnTo>
                    <a:pt x="24" y="4"/>
                  </a:lnTo>
                  <a:lnTo>
                    <a:pt x="22" y="4"/>
                  </a:lnTo>
                  <a:lnTo>
                    <a:pt x="20" y="4"/>
                  </a:lnTo>
                  <a:lnTo>
                    <a:pt x="30" y="0"/>
                  </a:lnTo>
                  <a:lnTo>
                    <a:pt x="32" y="0"/>
                  </a:lnTo>
                  <a:lnTo>
                    <a:pt x="32" y="40"/>
                  </a:lnTo>
                  <a:lnTo>
                    <a:pt x="32" y="46"/>
                  </a:lnTo>
                  <a:lnTo>
                    <a:pt x="32" y="48"/>
                  </a:lnTo>
                  <a:lnTo>
                    <a:pt x="32" y="50"/>
                  </a:lnTo>
                  <a:lnTo>
                    <a:pt x="34" y="52"/>
                  </a:lnTo>
                  <a:lnTo>
                    <a:pt x="36" y="50"/>
                  </a:lnTo>
                  <a:lnTo>
                    <a:pt x="36" y="52"/>
                  </a:lnTo>
                  <a:lnTo>
                    <a:pt x="26" y="56"/>
                  </a:lnTo>
                  <a:lnTo>
                    <a:pt x="24" y="56"/>
                  </a:lnTo>
                  <a:lnTo>
                    <a:pt x="24" y="50"/>
                  </a:lnTo>
                  <a:close/>
                  <a:moveTo>
                    <a:pt x="24" y="46"/>
                  </a:moveTo>
                  <a:lnTo>
                    <a:pt x="24" y="30"/>
                  </a:lnTo>
                  <a:lnTo>
                    <a:pt x="24" y="28"/>
                  </a:lnTo>
                  <a:lnTo>
                    <a:pt x="24" y="24"/>
                  </a:lnTo>
                  <a:lnTo>
                    <a:pt x="22" y="24"/>
                  </a:lnTo>
                  <a:lnTo>
                    <a:pt x="20" y="22"/>
                  </a:lnTo>
                  <a:lnTo>
                    <a:pt x="18" y="20"/>
                  </a:lnTo>
                  <a:lnTo>
                    <a:pt x="16" y="20"/>
                  </a:lnTo>
                  <a:lnTo>
                    <a:pt x="14" y="22"/>
                  </a:lnTo>
                  <a:lnTo>
                    <a:pt x="10" y="24"/>
                  </a:lnTo>
                  <a:lnTo>
                    <a:pt x="8" y="28"/>
                  </a:lnTo>
                  <a:lnTo>
                    <a:pt x="6" y="36"/>
                  </a:lnTo>
                  <a:lnTo>
                    <a:pt x="8" y="42"/>
                  </a:lnTo>
                  <a:lnTo>
                    <a:pt x="10" y="46"/>
                  </a:lnTo>
                  <a:lnTo>
                    <a:pt x="14" y="50"/>
                  </a:lnTo>
                  <a:lnTo>
                    <a:pt x="18" y="50"/>
                  </a:lnTo>
                  <a:lnTo>
                    <a:pt x="22" y="50"/>
                  </a:lnTo>
                  <a:lnTo>
                    <a:pt x="24" y="4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57" name="Freeform 37"/>
            <p:cNvSpPr/>
            <p:nvPr/>
          </p:nvSpPr>
          <p:spPr bwMode="auto">
            <a:xfrm>
              <a:off x="2988" y="2220"/>
              <a:ext cx="22" cy="72"/>
            </a:xfrm>
            <a:custGeom>
              <a:avLst/>
              <a:gdLst>
                <a:gd name="T0" fmla="*/ 0 w 22"/>
                <a:gd name="T1" fmla="*/ 2 h 72"/>
                <a:gd name="T2" fmla="*/ 0 w 22"/>
                <a:gd name="T3" fmla="*/ 0 h 72"/>
                <a:gd name="T4" fmla="*/ 6 w 22"/>
                <a:gd name="T5" fmla="*/ 4 h 72"/>
                <a:gd name="T6" fmla="*/ 10 w 22"/>
                <a:gd name="T7" fmla="*/ 6 h 72"/>
                <a:gd name="T8" fmla="*/ 16 w 22"/>
                <a:gd name="T9" fmla="*/ 12 h 72"/>
                <a:gd name="T10" fmla="*/ 20 w 22"/>
                <a:gd name="T11" fmla="*/ 20 h 72"/>
                <a:gd name="T12" fmla="*/ 22 w 22"/>
                <a:gd name="T13" fmla="*/ 28 h 72"/>
                <a:gd name="T14" fmla="*/ 22 w 22"/>
                <a:gd name="T15" fmla="*/ 36 h 72"/>
                <a:gd name="T16" fmla="*/ 22 w 22"/>
                <a:gd name="T17" fmla="*/ 44 h 72"/>
                <a:gd name="T18" fmla="*/ 20 w 22"/>
                <a:gd name="T19" fmla="*/ 50 h 72"/>
                <a:gd name="T20" fmla="*/ 16 w 22"/>
                <a:gd name="T21" fmla="*/ 58 h 72"/>
                <a:gd name="T22" fmla="*/ 12 w 22"/>
                <a:gd name="T23" fmla="*/ 64 h 72"/>
                <a:gd name="T24" fmla="*/ 8 w 22"/>
                <a:gd name="T25" fmla="*/ 68 h 72"/>
                <a:gd name="T26" fmla="*/ 0 w 22"/>
                <a:gd name="T27" fmla="*/ 72 h 72"/>
                <a:gd name="T28" fmla="*/ 0 w 22"/>
                <a:gd name="T29" fmla="*/ 70 h 72"/>
                <a:gd name="T30" fmla="*/ 6 w 22"/>
                <a:gd name="T31" fmla="*/ 66 h 72"/>
                <a:gd name="T32" fmla="*/ 8 w 22"/>
                <a:gd name="T33" fmla="*/ 62 h 72"/>
                <a:gd name="T34" fmla="*/ 12 w 22"/>
                <a:gd name="T35" fmla="*/ 58 h 72"/>
                <a:gd name="T36" fmla="*/ 14 w 22"/>
                <a:gd name="T37" fmla="*/ 52 h 72"/>
                <a:gd name="T38" fmla="*/ 14 w 22"/>
                <a:gd name="T39" fmla="*/ 44 h 72"/>
                <a:gd name="T40" fmla="*/ 16 w 22"/>
                <a:gd name="T41" fmla="*/ 36 h 72"/>
                <a:gd name="T42" fmla="*/ 14 w 22"/>
                <a:gd name="T43" fmla="*/ 28 h 72"/>
                <a:gd name="T44" fmla="*/ 14 w 22"/>
                <a:gd name="T45" fmla="*/ 22 h 72"/>
                <a:gd name="T46" fmla="*/ 12 w 22"/>
                <a:gd name="T47" fmla="*/ 18 h 72"/>
                <a:gd name="T48" fmla="*/ 12 w 22"/>
                <a:gd name="T49" fmla="*/ 14 h 72"/>
                <a:gd name="T50" fmla="*/ 10 w 22"/>
                <a:gd name="T51" fmla="*/ 10 h 72"/>
                <a:gd name="T52" fmla="*/ 8 w 22"/>
                <a:gd name="T53" fmla="*/ 8 h 72"/>
                <a:gd name="T54" fmla="*/ 4 w 22"/>
                <a:gd name="T55" fmla="*/ 4 h 72"/>
                <a:gd name="T56" fmla="*/ 0 w 22"/>
                <a:gd name="T57" fmla="*/ 2 h 7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2"/>
                <a:gd name="T88" fmla="*/ 0 h 72"/>
                <a:gd name="T89" fmla="*/ 22 w 22"/>
                <a:gd name="T90" fmla="*/ 72 h 7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2" h="72">
                  <a:moveTo>
                    <a:pt x="0" y="2"/>
                  </a:moveTo>
                  <a:lnTo>
                    <a:pt x="0" y="0"/>
                  </a:lnTo>
                  <a:lnTo>
                    <a:pt x="6" y="4"/>
                  </a:lnTo>
                  <a:lnTo>
                    <a:pt x="10" y="6"/>
                  </a:lnTo>
                  <a:lnTo>
                    <a:pt x="16" y="12"/>
                  </a:lnTo>
                  <a:lnTo>
                    <a:pt x="20" y="20"/>
                  </a:lnTo>
                  <a:lnTo>
                    <a:pt x="22" y="28"/>
                  </a:lnTo>
                  <a:lnTo>
                    <a:pt x="22" y="36"/>
                  </a:lnTo>
                  <a:lnTo>
                    <a:pt x="22" y="44"/>
                  </a:lnTo>
                  <a:lnTo>
                    <a:pt x="20" y="50"/>
                  </a:lnTo>
                  <a:lnTo>
                    <a:pt x="16" y="58"/>
                  </a:lnTo>
                  <a:lnTo>
                    <a:pt x="12" y="64"/>
                  </a:lnTo>
                  <a:lnTo>
                    <a:pt x="8" y="68"/>
                  </a:lnTo>
                  <a:lnTo>
                    <a:pt x="0" y="72"/>
                  </a:lnTo>
                  <a:lnTo>
                    <a:pt x="0" y="70"/>
                  </a:lnTo>
                  <a:lnTo>
                    <a:pt x="6" y="66"/>
                  </a:lnTo>
                  <a:lnTo>
                    <a:pt x="8" y="62"/>
                  </a:lnTo>
                  <a:lnTo>
                    <a:pt x="12" y="58"/>
                  </a:lnTo>
                  <a:lnTo>
                    <a:pt x="14" y="52"/>
                  </a:lnTo>
                  <a:lnTo>
                    <a:pt x="14" y="44"/>
                  </a:lnTo>
                  <a:lnTo>
                    <a:pt x="16" y="36"/>
                  </a:lnTo>
                  <a:lnTo>
                    <a:pt x="14" y="28"/>
                  </a:lnTo>
                  <a:lnTo>
                    <a:pt x="14" y="22"/>
                  </a:lnTo>
                  <a:lnTo>
                    <a:pt x="12" y="18"/>
                  </a:lnTo>
                  <a:lnTo>
                    <a:pt x="12" y="14"/>
                  </a:lnTo>
                  <a:lnTo>
                    <a:pt x="10" y="10"/>
                  </a:lnTo>
                  <a:lnTo>
                    <a:pt x="8" y="8"/>
                  </a:lnTo>
                  <a:lnTo>
                    <a:pt x="4" y="4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58" name="Freeform 38"/>
            <p:cNvSpPr/>
            <p:nvPr/>
          </p:nvSpPr>
          <p:spPr bwMode="auto">
            <a:xfrm>
              <a:off x="1558" y="2414"/>
              <a:ext cx="58" cy="54"/>
            </a:xfrm>
            <a:custGeom>
              <a:avLst/>
              <a:gdLst>
                <a:gd name="T0" fmla="*/ 0 w 58"/>
                <a:gd name="T1" fmla="*/ 0 h 54"/>
                <a:gd name="T2" fmla="*/ 14 w 58"/>
                <a:gd name="T3" fmla="*/ 0 h 54"/>
                <a:gd name="T4" fmla="*/ 46 w 58"/>
                <a:gd name="T5" fmla="*/ 40 h 54"/>
                <a:gd name="T6" fmla="*/ 46 w 58"/>
                <a:gd name="T7" fmla="*/ 8 h 54"/>
                <a:gd name="T8" fmla="*/ 46 w 58"/>
                <a:gd name="T9" fmla="*/ 4 h 54"/>
                <a:gd name="T10" fmla="*/ 46 w 58"/>
                <a:gd name="T11" fmla="*/ 2 h 54"/>
                <a:gd name="T12" fmla="*/ 44 w 58"/>
                <a:gd name="T13" fmla="*/ 0 h 54"/>
                <a:gd name="T14" fmla="*/ 42 w 58"/>
                <a:gd name="T15" fmla="*/ 0 h 54"/>
                <a:gd name="T16" fmla="*/ 40 w 58"/>
                <a:gd name="T17" fmla="*/ 0 h 54"/>
                <a:gd name="T18" fmla="*/ 40 w 58"/>
                <a:gd name="T19" fmla="*/ 0 h 54"/>
                <a:gd name="T20" fmla="*/ 58 w 58"/>
                <a:gd name="T21" fmla="*/ 0 h 54"/>
                <a:gd name="T22" fmla="*/ 58 w 58"/>
                <a:gd name="T23" fmla="*/ 0 h 54"/>
                <a:gd name="T24" fmla="*/ 56 w 58"/>
                <a:gd name="T25" fmla="*/ 0 h 54"/>
                <a:gd name="T26" fmla="*/ 52 w 58"/>
                <a:gd name="T27" fmla="*/ 0 h 54"/>
                <a:gd name="T28" fmla="*/ 52 w 58"/>
                <a:gd name="T29" fmla="*/ 2 h 54"/>
                <a:gd name="T30" fmla="*/ 50 w 58"/>
                <a:gd name="T31" fmla="*/ 4 h 54"/>
                <a:gd name="T32" fmla="*/ 50 w 58"/>
                <a:gd name="T33" fmla="*/ 8 h 54"/>
                <a:gd name="T34" fmla="*/ 50 w 58"/>
                <a:gd name="T35" fmla="*/ 54 h 54"/>
                <a:gd name="T36" fmla="*/ 48 w 58"/>
                <a:gd name="T37" fmla="*/ 54 h 54"/>
                <a:gd name="T38" fmla="*/ 14 w 58"/>
                <a:gd name="T39" fmla="*/ 12 h 54"/>
                <a:gd name="T40" fmla="*/ 14 w 58"/>
                <a:gd name="T41" fmla="*/ 44 h 54"/>
                <a:gd name="T42" fmla="*/ 14 w 58"/>
                <a:gd name="T43" fmla="*/ 48 h 54"/>
                <a:gd name="T44" fmla="*/ 14 w 58"/>
                <a:gd name="T45" fmla="*/ 50 h 54"/>
                <a:gd name="T46" fmla="*/ 16 w 58"/>
                <a:gd name="T47" fmla="*/ 52 h 54"/>
                <a:gd name="T48" fmla="*/ 20 w 58"/>
                <a:gd name="T49" fmla="*/ 52 h 54"/>
                <a:gd name="T50" fmla="*/ 22 w 58"/>
                <a:gd name="T51" fmla="*/ 52 h 54"/>
                <a:gd name="T52" fmla="*/ 22 w 58"/>
                <a:gd name="T53" fmla="*/ 52 h 54"/>
                <a:gd name="T54" fmla="*/ 2 w 58"/>
                <a:gd name="T55" fmla="*/ 52 h 54"/>
                <a:gd name="T56" fmla="*/ 2 w 58"/>
                <a:gd name="T57" fmla="*/ 52 h 54"/>
                <a:gd name="T58" fmla="*/ 4 w 58"/>
                <a:gd name="T59" fmla="*/ 52 h 54"/>
                <a:gd name="T60" fmla="*/ 8 w 58"/>
                <a:gd name="T61" fmla="*/ 52 h 54"/>
                <a:gd name="T62" fmla="*/ 10 w 58"/>
                <a:gd name="T63" fmla="*/ 50 h 54"/>
                <a:gd name="T64" fmla="*/ 10 w 58"/>
                <a:gd name="T65" fmla="*/ 48 h 54"/>
                <a:gd name="T66" fmla="*/ 10 w 58"/>
                <a:gd name="T67" fmla="*/ 44 h 54"/>
                <a:gd name="T68" fmla="*/ 10 w 58"/>
                <a:gd name="T69" fmla="*/ 8 h 54"/>
                <a:gd name="T70" fmla="*/ 8 w 58"/>
                <a:gd name="T71" fmla="*/ 4 h 54"/>
                <a:gd name="T72" fmla="*/ 6 w 58"/>
                <a:gd name="T73" fmla="*/ 4 h 54"/>
                <a:gd name="T74" fmla="*/ 6 w 58"/>
                <a:gd name="T75" fmla="*/ 2 h 54"/>
                <a:gd name="T76" fmla="*/ 4 w 58"/>
                <a:gd name="T77" fmla="*/ 2 h 54"/>
                <a:gd name="T78" fmla="*/ 2 w 58"/>
                <a:gd name="T79" fmla="*/ 2 h 54"/>
                <a:gd name="T80" fmla="*/ 0 w 58"/>
                <a:gd name="T81" fmla="*/ 2 h 54"/>
                <a:gd name="T82" fmla="*/ 0 w 58"/>
                <a:gd name="T83" fmla="*/ 0 h 5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58"/>
                <a:gd name="T127" fmla="*/ 0 h 54"/>
                <a:gd name="T128" fmla="*/ 58 w 58"/>
                <a:gd name="T129" fmla="*/ 54 h 5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58" h="54">
                  <a:moveTo>
                    <a:pt x="0" y="0"/>
                  </a:moveTo>
                  <a:lnTo>
                    <a:pt x="14" y="0"/>
                  </a:lnTo>
                  <a:lnTo>
                    <a:pt x="46" y="40"/>
                  </a:lnTo>
                  <a:lnTo>
                    <a:pt x="46" y="8"/>
                  </a:lnTo>
                  <a:lnTo>
                    <a:pt x="46" y="4"/>
                  </a:lnTo>
                  <a:lnTo>
                    <a:pt x="46" y="2"/>
                  </a:lnTo>
                  <a:lnTo>
                    <a:pt x="44" y="0"/>
                  </a:lnTo>
                  <a:lnTo>
                    <a:pt x="42" y="0"/>
                  </a:lnTo>
                  <a:lnTo>
                    <a:pt x="40" y="0"/>
                  </a:lnTo>
                  <a:lnTo>
                    <a:pt x="58" y="0"/>
                  </a:lnTo>
                  <a:lnTo>
                    <a:pt x="56" y="0"/>
                  </a:lnTo>
                  <a:lnTo>
                    <a:pt x="52" y="0"/>
                  </a:lnTo>
                  <a:lnTo>
                    <a:pt x="52" y="2"/>
                  </a:lnTo>
                  <a:lnTo>
                    <a:pt x="50" y="4"/>
                  </a:lnTo>
                  <a:lnTo>
                    <a:pt x="50" y="8"/>
                  </a:lnTo>
                  <a:lnTo>
                    <a:pt x="50" y="54"/>
                  </a:lnTo>
                  <a:lnTo>
                    <a:pt x="48" y="54"/>
                  </a:lnTo>
                  <a:lnTo>
                    <a:pt x="14" y="12"/>
                  </a:lnTo>
                  <a:lnTo>
                    <a:pt x="14" y="44"/>
                  </a:lnTo>
                  <a:lnTo>
                    <a:pt x="14" y="48"/>
                  </a:lnTo>
                  <a:lnTo>
                    <a:pt x="14" y="50"/>
                  </a:lnTo>
                  <a:lnTo>
                    <a:pt x="16" y="52"/>
                  </a:lnTo>
                  <a:lnTo>
                    <a:pt x="20" y="52"/>
                  </a:lnTo>
                  <a:lnTo>
                    <a:pt x="22" y="52"/>
                  </a:lnTo>
                  <a:lnTo>
                    <a:pt x="2" y="52"/>
                  </a:lnTo>
                  <a:lnTo>
                    <a:pt x="4" y="52"/>
                  </a:lnTo>
                  <a:lnTo>
                    <a:pt x="8" y="52"/>
                  </a:lnTo>
                  <a:lnTo>
                    <a:pt x="10" y="50"/>
                  </a:lnTo>
                  <a:lnTo>
                    <a:pt x="10" y="48"/>
                  </a:lnTo>
                  <a:lnTo>
                    <a:pt x="10" y="44"/>
                  </a:lnTo>
                  <a:lnTo>
                    <a:pt x="10" y="8"/>
                  </a:lnTo>
                  <a:lnTo>
                    <a:pt x="8" y="4"/>
                  </a:lnTo>
                  <a:lnTo>
                    <a:pt x="6" y="4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59" name="Freeform 39"/>
            <p:cNvSpPr/>
            <p:nvPr/>
          </p:nvSpPr>
          <p:spPr bwMode="auto">
            <a:xfrm>
              <a:off x="1616" y="2414"/>
              <a:ext cx="58" cy="54"/>
            </a:xfrm>
            <a:custGeom>
              <a:avLst/>
              <a:gdLst>
                <a:gd name="T0" fmla="*/ 0 w 58"/>
                <a:gd name="T1" fmla="*/ 0 h 54"/>
                <a:gd name="T2" fmla="*/ 14 w 58"/>
                <a:gd name="T3" fmla="*/ 0 h 54"/>
                <a:gd name="T4" fmla="*/ 46 w 58"/>
                <a:gd name="T5" fmla="*/ 40 h 54"/>
                <a:gd name="T6" fmla="*/ 46 w 58"/>
                <a:gd name="T7" fmla="*/ 8 h 54"/>
                <a:gd name="T8" fmla="*/ 46 w 58"/>
                <a:gd name="T9" fmla="*/ 4 h 54"/>
                <a:gd name="T10" fmla="*/ 46 w 58"/>
                <a:gd name="T11" fmla="*/ 2 h 54"/>
                <a:gd name="T12" fmla="*/ 44 w 58"/>
                <a:gd name="T13" fmla="*/ 0 h 54"/>
                <a:gd name="T14" fmla="*/ 40 w 58"/>
                <a:gd name="T15" fmla="*/ 0 h 54"/>
                <a:gd name="T16" fmla="*/ 38 w 58"/>
                <a:gd name="T17" fmla="*/ 0 h 54"/>
                <a:gd name="T18" fmla="*/ 38 w 58"/>
                <a:gd name="T19" fmla="*/ 0 h 54"/>
                <a:gd name="T20" fmla="*/ 58 w 58"/>
                <a:gd name="T21" fmla="*/ 0 h 54"/>
                <a:gd name="T22" fmla="*/ 58 w 58"/>
                <a:gd name="T23" fmla="*/ 0 h 54"/>
                <a:gd name="T24" fmla="*/ 56 w 58"/>
                <a:gd name="T25" fmla="*/ 0 h 54"/>
                <a:gd name="T26" fmla="*/ 52 w 58"/>
                <a:gd name="T27" fmla="*/ 0 h 54"/>
                <a:gd name="T28" fmla="*/ 50 w 58"/>
                <a:gd name="T29" fmla="*/ 2 h 54"/>
                <a:gd name="T30" fmla="*/ 50 w 58"/>
                <a:gd name="T31" fmla="*/ 4 h 54"/>
                <a:gd name="T32" fmla="*/ 50 w 58"/>
                <a:gd name="T33" fmla="*/ 8 h 54"/>
                <a:gd name="T34" fmla="*/ 50 w 58"/>
                <a:gd name="T35" fmla="*/ 54 h 54"/>
                <a:gd name="T36" fmla="*/ 48 w 58"/>
                <a:gd name="T37" fmla="*/ 54 h 54"/>
                <a:gd name="T38" fmla="*/ 14 w 58"/>
                <a:gd name="T39" fmla="*/ 12 h 54"/>
                <a:gd name="T40" fmla="*/ 14 w 58"/>
                <a:gd name="T41" fmla="*/ 44 h 54"/>
                <a:gd name="T42" fmla="*/ 14 w 58"/>
                <a:gd name="T43" fmla="*/ 48 h 54"/>
                <a:gd name="T44" fmla="*/ 14 w 58"/>
                <a:gd name="T45" fmla="*/ 50 h 54"/>
                <a:gd name="T46" fmla="*/ 16 w 58"/>
                <a:gd name="T47" fmla="*/ 52 h 54"/>
                <a:gd name="T48" fmla="*/ 18 w 58"/>
                <a:gd name="T49" fmla="*/ 52 h 54"/>
                <a:gd name="T50" fmla="*/ 20 w 58"/>
                <a:gd name="T51" fmla="*/ 52 h 54"/>
                <a:gd name="T52" fmla="*/ 20 w 58"/>
                <a:gd name="T53" fmla="*/ 52 h 54"/>
                <a:gd name="T54" fmla="*/ 2 w 58"/>
                <a:gd name="T55" fmla="*/ 52 h 54"/>
                <a:gd name="T56" fmla="*/ 2 w 58"/>
                <a:gd name="T57" fmla="*/ 52 h 54"/>
                <a:gd name="T58" fmla="*/ 4 w 58"/>
                <a:gd name="T59" fmla="*/ 52 h 54"/>
                <a:gd name="T60" fmla="*/ 6 w 58"/>
                <a:gd name="T61" fmla="*/ 52 h 54"/>
                <a:gd name="T62" fmla="*/ 8 w 58"/>
                <a:gd name="T63" fmla="*/ 50 h 54"/>
                <a:gd name="T64" fmla="*/ 10 w 58"/>
                <a:gd name="T65" fmla="*/ 48 h 54"/>
                <a:gd name="T66" fmla="*/ 10 w 58"/>
                <a:gd name="T67" fmla="*/ 44 h 54"/>
                <a:gd name="T68" fmla="*/ 10 w 58"/>
                <a:gd name="T69" fmla="*/ 8 h 54"/>
                <a:gd name="T70" fmla="*/ 8 w 58"/>
                <a:gd name="T71" fmla="*/ 4 h 54"/>
                <a:gd name="T72" fmla="*/ 6 w 58"/>
                <a:gd name="T73" fmla="*/ 4 h 54"/>
                <a:gd name="T74" fmla="*/ 4 w 58"/>
                <a:gd name="T75" fmla="*/ 2 h 54"/>
                <a:gd name="T76" fmla="*/ 2 w 58"/>
                <a:gd name="T77" fmla="*/ 2 h 54"/>
                <a:gd name="T78" fmla="*/ 2 w 58"/>
                <a:gd name="T79" fmla="*/ 2 h 54"/>
                <a:gd name="T80" fmla="*/ 0 w 58"/>
                <a:gd name="T81" fmla="*/ 2 h 54"/>
                <a:gd name="T82" fmla="*/ 0 w 58"/>
                <a:gd name="T83" fmla="*/ 0 h 5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58"/>
                <a:gd name="T127" fmla="*/ 0 h 54"/>
                <a:gd name="T128" fmla="*/ 58 w 58"/>
                <a:gd name="T129" fmla="*/ 54 h 5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58" h="54">
                  <a:moveTo>
                    <a:pt x="0" y="0"/>
                  </a:moveTo>
                  <a:lnTo>
                    <a:pt x="14" y="0"/>
                  </a:lnTo>
                  <a:lnTo>
                    <a:pt x="46" y="40"/>
                  </a:lnTo>
                  <a:lnTo>
                    <a:pt x="46" y="8"/>
                  </a:lnTo>
                  <a:lnTo>
                    <a:pt x="46" y="4"/>
                  </a:lnTo>
                  <a:lnTo>
                    <a:pt x="46" y="2"/>
                  </a:lnTo>
                  <a:lnTo>
                    <a:pt x="44" y="0"/>
                  </a:lnTo>
                  <a:lnTo>
                    <a:pt x="40" y="0"/>
                  </a:lnTo>
                  <a:lnTo>
                    <a:pt x="38" y="0"/>
                  </a:lnTo>
                  <a:lnTo>
                    <a:pt x="58" y="0"/>
                  </a:lnTo>
                  <a:lnTo>
                    <a:pt x="56" y="0"/>
                  </a:lnTo>
                  <a:lnTo>
                    <a:pt x="52" y="0"/>
                  </a:lnTo>
                  <a:lnTo>
                    <a:pt x="50" y="2"/>
                  </a:lnTo>
                  <a:lnTo>
                    <a:pt x="50" y="4"/>
                  </a:lnTo>
                  <a:lnTo>
                    <a:pt x="50" y="8"/>
                  </a:lnTo>
                  <a:lnTo>
                    <a:pt x="50" y="54"/>
                  </a:lnTo>
                  <a:lnTo>
                    <a:pt x="48" y="54"/>
                  </a:lnTo>
                  <a:lnTo>
                    <a:pt x="14" y="12"/>
                  </a:lnTo>
                  <a:lnTo>
                    <a:pt x="14" y="44"/>
                  </a:lnTo>
                  <a:lnTo>
                    <a:pt x="14" y="48"/>
                  </a:lnTo>
                  <a:lnTo>
                    <a:pt x="14" y="50"/>
                  </a:lnTo>
                  <a:lnTo>
                    <a:pt x="16" y="52"/>
                  </a:lnTo>
                  <a:lnTo>
                    <a:pt x="18" y="52"/>
                  </a:lnTo>
                  <a:lnTo>
                    <a:pt x="20" y="52"/>
                  </a:lnTo>
                  <a:lnTo>
                    <a:pt x="2" y="52"/>
                  </a:lnTo>
                  <a:lnTo>
                    <a:pt x="4" y="52"/>
                  </a:lnTo>
                  <a:lnTo>
                    <a:pt x="6" y="52"/>
                  </a:lnTo>
                  <a:lnTo>
                    <a:pt x="8" y="50"/>
                  </a:lnTo>
                  <a:lnTo>
                    <a:pt x="10" y="48"/>
                  </a:lnTo>
                  <a:lnTo>
                    <a:pt x="10" y="44"/>
                  </a:lnTo>
                  <a:lnTo>
                    <a:pt x="10" y="8"/>
                  </a:lnTo>
                  <a:lnTo>
                    <a:pt x="8" y="4"/>
                  </a:lnTo>
                  <a:lnTo>
                    <a:pt x="6" y="4"/>
                  </a:lnTo>
                  <a:lnTo>
                    <a:pt x="4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60" name="Freeform 40"/>
            <p:cNvSpPr/>
            <p:nvPr/>
          </p:nvSpPr>
          <p:spPr bwMode="auto">
            <a:xfrm>
              <a:off x="1680" y="2412"/>
              <a:ext cx="34" cy="56"/>
            </a:xfrm>
            <a:custGeom>
              <a:avLst/>
              <a:gdLst>
                <a:gd name="T0" fmla="*/ 30 w 34"/>
                <a:gd name="T1" fmla="*/ 20 h 56"/>
                <a:gd name="T2" fmla="*/ 28 w 34"/>
                <a:gd name="T3" fmla="*/ 14 h 56"/>
                <a:gd name="T4" fmla="*/ 26 w 34"/>
                <a:gd name="T5" fmla="*/ 8 h 56"/>
                <a:gd name="T6" fmla="*/ 18 w 34"/>
                <a:gd name="T7" fmla="*/ 4 h 56"/>
                <a:gd name="T8" fmla="*/ 12 w 34"/>
                <a:gd name="T9" fmla="*/ 4 h 56"/>
                <a:gd name="T10" fmla="*/ 6 w 34"/>
                <a:gd name="T11" fmla="*/ 8 h 56"/>
                <a:gd name="T12" fmla="*/ 6 w 34"/>
                <a:gd name="T13" fmla="*/ 14 h 56"/>
                <a:gd name="T14" fmla="*/ 10 w 34"/>
                <a:gd name="T15" fmla="*/ 18 h 56"/>
                <a:gd name="T16" fmla="*/ 18 w 34"/>
                <a:gd name="T17" fmla="*/ 24 h 56"/>
                <a:gd name="T18" fmla="*/ 28 w 34"/>
                <a:gd name="T19" fmla="*/ 30 h 56"/>
                <a:gd name="T20" fmla="*/ 32 w 34"/>
                <a:gd name="T21" fmla="*/ 36 h 56"/>
                <a:gd name="T22" fmla="*/ 34 w 34"/>
                <a:gd name="T23" fmla="*/ 42 h 56"/>
                <a:gd name="T24" fmla="*/ 30 w 34"/>
                <a:gd name="T25" fmla="*/ 52 h 56"/>
                <a:gd name="T26" fmla="*/ 18 w 34"/>
                <a:gd name="T27" fmla="*/ 56 h 56"/>
                <a:gd name="T28" fmla="*/ 12 w 34"/>
                <a:gd name="T29" fmla="*/ 56 h 56"/>
                <a:gd name="T30" fmla="*/ 8 w 34"/>
                <a:gd name="T31" fmla="*/ 54 h 56"/>
                <a:gd name="T32" fmla="*/ 4 w 34"/>
                <a:gd name="T33" fmla="*/ 52 h 56"/>
                <a:gd name="T34" fmla="*/ 2 w 34"/>
                <a:gd name="T35" fmla="*/ 54 h 56"/>
                <a:gd name="T36" fmla="*/ 0 w 34"/>
                <a:gd name="T37" fmla="*/ 56 h 56"/>
                <a:gd name="T38" fmla="*/ 0 w 34"/>
                <a:gd name="T39" fmla="*/ 38 h 56"/>
                <a:gd name="T40" fmla="*/ 2 w 34"/>
                <a:gd name="T41" fmla="*/ 42 h 56"/>
                <a:gd name="T42" fmla="*/ 6 w 34"/>
                <a:gd name="T43" fmla="*/ 50 h 56"/>
                <a:gd name="T44" fmla="*/ 12 w 34"/>
                <a:gd name="T45" fmla="*/ 52 h 56"/>
                <a:gd name="T46" fmla="*/ 22 w 34"/>
                <a:gd name="T47" fmla="*/ 52 h 56"/>
                <a:gd name="T48" fmla="*/ 26 w 34"/>
                <a:gd name="T49" fmla="*/ 48 h 56"/>
                <a:gd name="T50" fmla="*/ 28 w 34"/>
                <a:gd name="T51" fmla="*/ 42 h 56"/>
                <a:gd name="T52" fmla="*/ 24 w 34"/>
                <a:gd name="T53" fmla="*/ 38 h 56"/>
                <a:gd name="T54" fmla="*/ 20 w 34"/>
                <a:gd name="T55" fmla="*/ 36 h 56"/>
                <a:gd name="T56" fmla="*/ 8 w 34"/>
                <a:gd name="T57" fmla="*/ 28 h 56"/>
                <a:gd name="T58" fmla="*/ 2 w 34"/>
                <a:gd name="T59" fmla="*/ 24 h 56"/>
                <a:gd name="T60" fmla="*/ 0 w 34"/>
                <a:gd name="T61" fmla="*/ 18 h 56"/>
                <a:gd name="T62" fmla="*/ 0 w 34"/>
                <a:gd name="T63" fmla="*/ 10 h 56"/>
                <a:gd name="T64" fmla="*/ 8 w 34"/>
                <a:gd name="T65" fmla="*/ 2 h 56"/>
                <a:gd name="T66" fmla="*/ 20 w 34"/>
                <a:gd name="T67" fmla="*/ 2 h 56"/>
                <a:gd name="T68" fmla="*/ 26 w 34"/>
                <a:gd name="T69" fmla="*/ 4 h 56"/>
                <a:gd name="T70" fmla="*/ 28 w 34"/>
                <a:gd name="T71" fmla="*/ 4 h 56"/>
                <a:gd name="T72" fmla="*/ 30 w 34"/>
                <a:gd name="T73" fmla="*/ 2 h 56"/>
                <a:gd name="T74" fmla="*/ 30 w 34"/>
                <a:gd name="T75" fmla="*/ 0 h 5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34"/>
                <a:gd name="T115" fmla="*/ 0 h 56"/>
                <a:gd name="T116" fmla="*/ 34 w 34"/>
                <a:gd name="T117" fmla="*/ 56 h 5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34" h="56">
                  <a:moveTo>
                    <a:pt x="30" y="0"/>
                  </a:moveTo>
                  <a:lnTo>
                    <a:pt x="30" y="20"/>
                  </a:lnTo>
                  <a:lnTo>
                    <a:pt x="28" y="14"/>
                  </a:lnTo>
                  <a:lnTo>
                    <a:pt x="28" y="10"/>
                  </a:lnTo>
                  <a:lnTo>
                    <a:pt x="26" y="8"/>
                  </a:lnTo>
                  <a:lnTo>
                    <a:pt x="22" y="6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2" y="4"/>
                  </a:lnTo>
                  <a:lnTo>
                    <a:pt x="8" y="6"/>
                  </a:lnTo>
                  <a:lnTo>
                    <a:pt x="6" y="8"/>
                  </a:lnTo>
                  <a:lnTo>
                    <a:pt x="6" y="12"/>
                  </a:lnTo>
                  <a:lnTo>
                    <a:pt x="6" y="14"/>
                  </a:lnTo>
                  <a:lnTo>
                    <a:pt x="8" y="16"/>
                  </a:lnTo>
                  <a:lnTo>
                    <a:pt x="10" y="18"/>
                  </a:lnTo>
                  <a:lnTo>
                    <a:pt x="14" y="20"/>
                  </a:lnTo>
                  <a:lnTo>
                    <a:pt x="18" y="24"/>
                  </a:lnTo>
                  <a:lnTo>
                    <a:pt x="24" y="28"/>
                  </a:lnTo>
                  <a:lnTo>
                    <a:pt x="28" y="30"/>
                  </a:lnTo>
                  <a:lnTo>
                    <a:pt x="30" y="32"/>
                  </a:lnTo>
                  <a:lnTo>
                    <a:pt x="32" y="36"/>
                  </a:lnTo>
                  <a:lnTo>
                    <a:pt x="34" y="38"/>
                  </a:lnTo>
                  <a:lnTo>
                    <a:pt x="34" y="42"/>
                  </a:lnTo>
                  <a:lnTo>
                    <a:pt x="32" y="46"/>
                  </a:lnTo>
                  <a:lnTo>
                    <a:pt x="30" y="52"/>
                  </a:lnTo>
                  <a:lnTo>
                    <a:pt x="24" y="54"/>
                  </a:lnTo>
                  <a:lnTo>
                    <a:pt x="18" y="56"/>
                  </a:lnTo>
                  <a:lnTo>
                    <a:pt x="16" y="56"/>
                  </a:lnTo>
                  <a:lnTo>
                    <a:pt x="12" y="56"/>
                  </a:lnTo>
                  <a:lnTo>
                    <a:pt x="12" y="54"/>
                  </a:lnTo>
                  <a:lnTo>
                    <a:pt x="8" y="54"/>
                  </a:lnTo>
                  <a:lnTo>
                    <a:pt x="4" y="52"/>
                  </a:lnTo>
                  <a:lnTo>
                    <a:pt x="2" y="52"/>
                  </a:lnTo>
                  <a:lnTo>
                    <a:pt x="2" y="54"/>
                  </a:lnTo>
                  <a:lnTo>
                    <a:pt x="0" y="56"/>
                  </a:lnTo>
                  <a:lnTo>
                    <a:pt x="0" y="38"/>
                  </a:lnTo>
                  <a:lnTo>
                    <a:pt x="2" y="42"/>
                  </a:lnTo>
                  <a:lnTo>
                    <a:pt x="4" y="46"/>
                  </a:lnTo>
                  <a:lnTo>
                    <a:pt x="6" y="50"/>
                  </a:lnTo>
                  <a:lnTo>
                    <a:pt x="8" y="52"/>
                  </a:lnTo>
                  <a:lnTo>
                    <a:pt x="12" y="52"/>
                  </a:lnTo>
                  <a:lnTo>
                    <a:pt x="16" y="54"/>
                  </a:lnTo>
                  <a:lnTo>
                    <a:pt x="22" y="52"/>
                  </a:lnTo>
                  <a:lnTo>
                    <a:pt x="24" y="50"/>
                  </a:lnTo>
                  <a:lnTo>
                    <a:pt x="26" y="48"/>
                  </a:lnTo>
                  <a:lnTo>
                    <a:pt x="28" y="44"/>
                  </a:lnTo>
                  <a:lnTo>
                    <a:pt x="28" y="42"/>
                  </a:lnTo>
                  <a:lnTo>
                    <a:pt x="26" y="40"/>
                  </a:lnTo>
                  <a:lnTo>
                    <a:pt x="24" y="38"/>
                  </a:lnTo>
                  <a:lnTo>
                    <a:pt x="22" y="36"/>
                  </a:lnTo>
                  <a:lnTo>
                    <a:pt x="20" y="36"/>
                  </a:lnTo>
                  <a:lnTo>
                    <a:pt x="14" y="32"/>
                  </a:lnTo>
                  <a:lnTo>
                    <a:pt x="8" y="28"/>
                  </a:lnTo>
                  <a:lnTo>
                    <a:pt x="4" y="26"/>
                  </a:lnTo>
                  <a:lnTo>
                    <a:pt x="2" y="24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4"/>
                  </a:lnTo>
                  <a:lnTo>
                    <a:pt x="0" y="10"/>
                  </a:lnTo>
                  <a:lnTo>
                    <a:pt x="4" y="4"/>
                  </a:lnTo>
                  <a:lnTo>
                    <a:pt x="8" y="2"/>
                  </a:lnTo>
                  <a:lnTo>
                    <a:pt x="14" y="0"/>
                  </a:lnTo>
                  <a:lnTo>
                    <a:pt x="20" y="2"/>
                  </a:lnTo>
                  <a:lnTo>
                    <a:pt x="24" y="2"/>
                  </a:lnTo>
                  <a:lnTo>
                    <a:pt x="26" y="4"/>
                  </a:lnTo>
                  <a:lnTo>
                    <a:pt x="28" y="4"/>
                  </a:lnTo>
                  <a:lnTo>
                    <a:pt x="30" y="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61" name="Freeform 41"/>
            <p:cNvSpPr/>
            <p:nvPr/>
          </p:nvSpPr>
          <p:spPr bwMode="auto">
            <a:xfrm>
              <a:off x="1722" y="2412"/>
              <a:ext cx="22" cy="72"/>
            </a:xfrm>
            <a:custGeom>
              <a:avLst/>
              <a:gdLst>
                <a:gd name="T0" fmla="*/ 22 w 22"/>
                <a:gd name="T1" fmla="*/ 70 h 72"/>
                <a:gd name="T2" fmla="*/ 22 w 22"/>
                <a:gd name="T3" fmla="*/ 72 h 72"/>
                <a:gd name="T4" fmla="*/ 16 w 22"/>
                <a:gd name="T5" fmla="*/ 68 h 72"/>
                <a:gd name="T6" fmla="*/ 12 w 22"/>
                <a:gd name="T7" fmla="*/ 64 h 72"/>
                <a:gd name="T8" fmla="*/ 6 w 22"/>
                <a:gd name="T9" fmla="*/ 58 h 72"/>
                <a:gd name="T10" fmla="*/ 2 w 22"/>
                <a:gd name="T11" fmla="*/ 52 h 72"/>
                <a:gd name="T12" fmla="*/ 0 w 22"/>
                <a:gd name="T13" fmla="*/ 44 h 72"/>
                <a:gd name="T14" fmla="*/ 0 w 22"/>
                <a:gd name="T15" fmla="*/ 36 h 72"/>
                <a:gd name="T16" fmla="*/ 0 w 22"/>
                <a:gd name="T17" fmla="*/ 28 h 72"/>
                <a:gd name="T18" fmla="*/ 2 w 22"/>
                <a:gd name="T19" fmla="*/ 20 h 72"/>
                <a:gd name="T20" fmla="*/ 6 w 22"/>
                <a:gd name="T21" fmla="*/ 14 h 72"/>
                <a:gd name="T22" fmla="*/ 10 w 22"/>
                <a:gd name="T23" fmla="*/ 8 h 72"/>
                <a:gd name="T24" fmla="*/ 16 w 22"/>
                <a:gd name="T25" fmla="*/ 4 h 72"/>
                <a:gd name="T26" fmla="*/ 22 w 22"/>
                <a:gd name="T27" fmla="*/ 0 h 72"/>
                <a:gd name="T28" fmla="*/ 22 w 22"/>
                <a:gd name="T29" fmla="*/ 2 h 72"/>
                <a:gd name="T30" fmla="*/ 16 w 22"/>
                <a:gd name="T31" fmla="*/ 4 h 72"/>
                <a:gd name="T32" fmla="*/ 14 w 22"/>
                <a:gd name="T33" fmla="*/ 8 h 72"/>
                <a:gd name="T34" fmla="*/ 10 w 22"/>
                <a:gd name="T35" fmla="*/ 14 h 72"/>
                <a:gd name="T36" fmla="*/ 8 w 22"/>
                <a:gd name="T37" fmla="*/ 20 h 72"/>
                <a:gd name="T38" fmla="*/ 8 w 22"/>
                <a:gd name="T39" fmla="*/ 28 h 72"/>
                <a:gd name="T40" fmla="*/ 8 w 22"/>
                <a:gd name="T41" fmla="*/ 34 h 72"/>
                <a:gd name="T42" fmla="*/ 8 w 22"/>
                <a:gd name="T43" fmla="*/ 42 h 72"/>
                <a:gd name="T44" fmla="*/ 8 w 22"/>
                <a:gd name="T45" fmla="*/ 50 h 72"/>
                <a:gd name="T46" fmla="*/ 10 w 22"/>
                <a:gd name="T47" fmla="*/ 54 h 72"/>
                <a:gd name="T48" fmla="*/ 10 w 22"/>
                <a:gd name="T49" fmla="*/ 58 h 72"/>
                <a:gd name="T50" fmla="*/ 12 w 22"/>
                <a:gd name="T51" fmla="*/ 62 h 72"/>
                <a:gd name="T52" fmla="*/ 14 w 22"/>
                <a:gd name="T53" fmla="*/ 64 h 72"/>
                <a:gd name="T54" fmla="*/ 18 w 22"/>
                <a:gd name="T55" fmla="*/ 68 h 72"/>
                <a:gd name="T56" fmla="*/ 22 w 22"/>
                <a:gd name="T57" fmla="*/ 70 h 7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2"/>
                <a:gd name="T88" fmla="*/ 0 h 72"/>
                <a:gd name="T89" fmla="*/ 22 w 22"/>
                <a:gd name="T90" fmla="*/ 72 h 7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2" h="72">
                  <a:moveTo>
                    <a:pt x="22" y="70"/>
                  </a:moveTo>
                  <a:lnTo>
                    <a:pt x="22" y="72"/>
                  </a:lnTo>
                  <a:lnTo>
                    <a:pt x="16" y="68"/>
                  </a:lnTo>
                  <a:lnTo>
                    <a:pt x="12" y="64"/>
                  </a:lnTo>
                  <a:lnTo>
                    <a:pt x="6" y="58"/>
                  </a:lnTo>
                  <a:lnTo>
                    <a:pt x="2" y="52"/>
                  </a:lnTo>
                  <a:lnTo>
                    <a:pt x="0" y="44"/>
                  </a:lnTo>
                  <a:lnTo>
                    <a:pt x="0" y="36"/>
                  </a:lnTo>
                  <a:lnTo>
                    <a:pt x="0" y="28"/>
                  </a:lnTo>
                  <a:lnTo>
                    <a:pt x="2" y="20"/>
                  </a:lnTo>
                  <a:lnTo>
                    <a:pt x="6" y="14"/>
                  </a:lnTo>
                  <a:lnTo>
                    <a:pt x="10" y="8"/>
                  </a:lnTo>
                  <a:lnTo>
                    <a:pt x="16" y="4"/>
                  </a:lnTo>
                  <a:lnTo>
                    <a:pt x="22" y="0"/>
                  </a:lnTo>
                  <a:lnTo>
                    <a:pt x="22" y="2"/>
                  </a:lnTo>
                  <a:lnTo>
                    <a:pt x="16" y="4"/>
                  </a:lnTo>
                  <a:lnTo>
                    <a:pt x="14" y="8"/>
                  </a:lnTo>
                  <a:lnTo>
                    <a:pt x="10" y="14"/>
                  </a:lnTo>
                  <a:lnTo>
                    <a:pt x="8" y="20"/>
                  </a:lnTo>
                  <a:lnTo>
                    <a:pt x="8" y="28"/>
                  </a:lnTo>
                  <a:lnTo>
                    <a:pt x="8" y="34"/>
                  </a:lnTo>
                  <a:lnTo>
                    <a:pt x="8" y="42"/>
                  </a:lnTo>
                  <a:lnTo>
                    <a:pt x="8" y="50"/>
                  </a:lnTo>
                  <a:lnTo>
                    <a:pt x="10" y="54"/>
                  </a:lnTo>
                  <a:lnTo>
                    <a:pt x="10" y="58"/>
                  </a:lnTo>
                  <a:lnTo>
                    <a:pt x="12" y="62"/>
                  </a:lnTo>
                  <a:lnTo>
                    <a:pt x="14" y="64"/>
                  </a:lnTo>
                  <a:lnTo>
                    <a:pt x="18" y="68"/>
                  </a:lnTo>
                  <a:lnTo>
                    <a:pt x="22" y="7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62" name="Freeform 42"/>
            <p:cNvSpPr/>
            <p:nvPr/>
          </p:nvSpPr>
          <p:spPr bwMode="auto">
            <a:xfrm>
              <a:off x="1746" y="2432"/>
              <a:ext cx="56" cy="36"/>
            </a:xfrm>
            <a:custGeom>
              <a:avLst/>
              <a:gdLst>
                <a:gd name="T0" fmla="*/ 0 w 56"/>
                <a:gd name="T1" fmla="*/ 0 h 36"/>
                <a:gd name="T2" fmla="*/ 14 w 56"/>
                <a:gd name="T3" fmla="*/ 0 h 36"/>
                <a:gd name="T4" fmla="*/ 14 w 56"/>
                <a:gd name="T5" fmla="*/ 0 h 36"/>
                <a:gd name="T6" fmla="*/ 12 w 56"/>
                <a:gd name="T7" fmla="*/ 0 h 36"/>
                <a:gd name="T8" fmla="*/ 12 w 56"/>
                <a:gd name="T9" fmla="*/ 0 h 36"/>
                <a:gd name="T10" fmla="*/ 12 w 56"/>
                <a:gd name="T11" fmla="*/ 2 h 36"/>
                <a:gd name="T12" fmla="*/ 12 w 56"/>
                <a:gd name="T13" fmla="*/ 2 h 36"/>
                <a:gd name="T14" fmla="*/ 12 w 56"/>
                <a:gd name="T15" fmla="*/ 4 h 36"/>
                <a:gd name="T16" fmla="*/ 12 w 56"/>
                <a:gd name="T17" fmla="*/ 6 h 36"/>
                <a:gd name="T18" fmla="*/ 20 w 56"/>
                <a:gd name="T19" fmla="*/ 26 h 36"/>
                <a:gd name="T20" fmla="*/ 28 w 56"/>
                <a:gd name="T21" fmla="*/ 8 h 36"/>
                <a:gd name="T22" fmla="*/ 26 w 56"/>
                <a:gd name="T23" fmla="*/ 4 h 36"/>
                <a:gd name="T24" fmla="*/ 24 w 56"/>
                <a:gd name="T25" fmla="*/ 2 h 36"/>
                <a:gd name="T26" fmla="*/ 24 w 56"/>
                <a:gd name="T27" fmla="*/ 0 h 36"/>
                <a:gd name="T28" fmla="*/ 22 w 56"/>
                <a:gd name="T29" fmla="*/ 0 h 36"/>
                <a:gd name="T30" fmla="*/ 20 w 56"/>
                <a:gd name="T31" fmla="*/ 0 h 36"/>
                <a:gd name="T32" fmla="*/ 20 w 56"/>
                <a:gd name="T33" fmla="*/ 0 h 36"/>
                <a:gd name="T34" fmla="*/ 36 w 56"/>
                <a:gd name="T35" fmla="*/ 0 h 36"/>
                <a:gd name="T36" fmla="*/ 36 w 56"/>
                <a:gd name="T37" fmla="*/ 0 h 36"/>
                <a:gd name="T38" fmla="*/ 34 w 56"/>
                <a:gd name="T39" fmla="*/ 0 h 36"/>
                <a:gd name="T40" fmla="*/ 32 w 56"/>
                <a:gd name="T41" fmla="*/ 2 h 36"/>
                <a:gd name="T42" fmla="*/ 32 w 56"/>
                <a:gd name="T43" fmla="*/ 2 h 36"/>
                <a:gd name="T44" fmla="*/ 32 w 56"/>
                <a:gd name="T45" fmla="*/ 4 h 36"/>
                <a:gd name="T46" fmla="*/ 32 w 56"/>
                <a:gd name="T47" fmla="*/ 4 h 36"/>
                <a:gd name="T48" fmla="*/ 32 w 56"/>
                <a:gd name="T49" fmla="*/ 6 h 36"/>
                <a:gd name="T50" fmla="*/ 42 w 56"/>
                <a:gd name="T51" fmla="*/ 26 h 36"/>
                <a:gd name="T52" fmla="*/ 48 w 56"/>
                <a:gd name="T53" fmla="*/ 6 h 36"/>
                <a:gd name="T54" fmla="*/ 50 w 56"/>
                <a:gd name="T55" fmla="*/ 4 h 36"/>
                <a:gd name="T56" fmla="*/ 50 w 56"/>
                <a:gd name="T57" fmla="*/ 2 h 36"/>
                <a:gd name="T58" fmla="*/ 50 w 56"/>
                <a:gd name="T59" fmla="*/ 2 h 36"/>
                <a:gd name="T60" fmla="*/ 50 w 56"/>
                <a:gd name="T61" fmla="*/ 0 h 36"/>
                <a:gd name="T62" fmla="*/ 48 w 56"/>
                <a:gd name="T63" fmla="*/ 0 h 36"/>
                <a:gd name="T64" fmla="*/ 46 w 56"/>
                <a:gd name="T65" fmla="*/ 0 h 36"/>
                <a:gd name="T66" fmla="*/ 46 w 56"/>
                <a:gd name="T67" fmla="*/ 0 h 36"/>
                <a:gd name="T68" fmla="*/ 56 w 56"/>
                <a:gd name="T69" fmla="*/ 0 h 36"/>
                <a:gd name="T70" fmla="*/ 56 w 56"/>
                <a:gd name="T71" fmla="*/ 0 h 36"/>
                <a:gd name="T72" fmla="*/ 54 w 56"/>
                <a:gd name="T73" fmla="*/ 2 h 36"/>
                <a:gd name="T74" fmla="*/ 52 w 56"/>
                <a:gd name="T75" fmla="*/ 6 h 36"/>
                <a:gd name="T76" fmla="*/ 40 w 56"/>
                <a:gd name="T77" fmla="*/ 36 h 36"/>
                <a:gd name="T78" fmla="*/ 38 w 56"/>
                <a:gd name="T79" fmla="*/ 36 h 36"/>
                <a:gd name="T80" fmla="*/ 28 w 56"/>
                <a:gd name="T81" fmla="*/ 12 h 36"/>
                <a:gd name="T82" fmla="*/ 18 w 56"/>
                <a:gd name="T83" fmla="*/ 36 h 36"/>
                <a:gd name="T84" fmla="*/ 16 w 56"/>
                <a:gd name="T85" fmla="*/ 36 h 36"/>
                <a:gd name="T86" fmla="*/ 4 w 56"/>
                <a:gd name="T87" fmla="*/ 6 h 36"/>
                <a:gd name="T88" fmla="*/ 4 w 56"/>
                <a:gd name="T89" fmla="*/ 4 h 36"/>
                <a:gd name="T90" fmla="*/ 2 w 56"/>
                <a:gd name="T91" fmla="*/ 2 h 36"/>
                <a:gd name="T92" fmla="*/ 2 w 56"/>
                <a:gd name="T93" fmla="*/ 0 h 36"/>
                <a:gd name="T94" fmla="*/ 0 w 56"/>
                <a:gd name="T95" fmla="*/ 0 h 36"/>
                <a:gd name="T96" fmla="*/ 0 w 56"/>
                <a:gd name="T97" fmla="*/ 0 h 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56"/>
                <a:gd name="T148" fmla="*/ 0 h 36"/>
                <a:gd name="T149" fmla="*/ 56 w 56"/>
                <a:gd name="T150" fmla="*/ 36 h 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56" h="36">
                  <a:moveTo>
                    <a:pt x="0" y="0"/>
                  </a:moveTo>
                  <a:lnTo>
                    <a:pt x="14" y="0"/>
                  </a:lnTo>
                  <a:lnTo>
                    <a:pt x="12" y="0"/>
                  </a:lnTo>
                  <a:lnTo>
                    <a:pt x="12" y="2"/>
                  </a:lnTo>
                  <a:lnTo>
                    <a:pt x="12" y="4"/>
                  </a:lnTo>
                  <a:lnTo>
                    <a:pt x="12" y="6"/>
                  </a:lnTo>
                  <a:lnTo>
                    <a:pt x="20" y="26"/>
                  </a:lnTo>
                  <a:lnTo>
                    <a:pt x="28" y="8"/>
                  </a:lnTo>
                  <a:lnTo>
                    <a:pt x="26" y="4"/>
                  </a:lnTo>
                  <a:lnTo>
                    <a:pt x="24" y="2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2" y="2"/>
                  </a:lnTo>
                  <a:lnTo>
                    <a:pt x="32" y="4"/>
                  </a:lnTo>
                  <a:lnTo>
                    <a:pt x="32" y="6"/>
                  </a:lnTo>
                  <a:lnTo>
                    <a:pt x="42" y="26"/>
                  </a:lnTo>
                  <a:lnTo>
                    <a:pt x="48" y="6"/>
                  </a:lnTo>
                  <a:lnTo>
                    <a:pt x="50" y="4"/>
                  </a:lnTo>
                  <a:lnTo>
                    <a:pt x="50" y="2"/>
                  </a:lnTo>
                  <a:lnTo>
                    <a:pt x="50" y="0"/>
                  </a:lnTo>
                  <a:lnTo>
                    <a:pt x="48" y="0"/>
                  </a:lnTo>
                  <a:lnTo>
                    <a:pt x="46" y="0"/>
                  </a:lnTo>
                  <a:lnTo>
                    <a:pt x="56" y="0"/>
                  </a:lnTo>
                  <a:lnTo>
                    <a:pt x="54" y="2"/>
                  </a:lnTo>
                  <a:lnTo>
                    <a:pt x="52" y="6"/>
                  </a:lnTo>
                  <a:lnTo>
                    <a:pt x="40" y="36"/>
                  </a:lnTo>
                  <a:lnTo>
                    <a:pt x="38" y="36"/>
                  </a:lnTo>
                  <a:lnTo>
                    <a:pt x="28" y="12"/>
                  </a:lnTo>
                  <a:lnTo>
                    <a:pt x="18" y="36"/>
                  </a:lnTo>
                  <a:lnTo>
                    <a:pt x="16" y="36"/>
                  </a:lnTo>
                  <a:lnTo>
                    <a:pt x="4" y="6"/>
                  </a:lnTo>
                  <a:lnTo>
                    <a:pt x="4" y="4"/>
                  </a:lnTo>
                  <a:lnTo>
                    <a:pt x="2" y="2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63" name="Freeform 43"/>
            <p:cNvSpPr>
              <a:spLocks noEditPoints="1"/>
            </p:cNvSpPr>
            <p:nvPr/>
          </p:nvSpPr>
          <p:spPr bwMode="auto">
            <a:xfrm>
              <a:off x="1804" y="2430"/>
              <a:ext cx="34" cy="38"/>
            </a:xfrm>
            <a:custGeom>
              <a:avLst/>
              <a:gdLst>
                <a:gd name="T0" fmla="*/ 18 w 34"/>
                <a:gd name="T1" fmla="*/ 0 h 38"/>
                <a:gd name="T2" fmla="*/ 22 w 34"/>
                <a:gd name="T3" fmla="*/ 0 h 38"/>
                <a:gd name="T4" fmla="*/ 26 w 34"/>
                <a:gd name="T5" fmla="*/ 2 h 38"/>
                <a:gd name="T6" fmla="*/ 30 w 34"/>
                <a:gd name="T7" fmla="*/ 6 h 38"/>
                <a:gd name="T8" fmla="*/ 34 w 34"/>
                <a:gd name="T9" fmla="*/ 12 h 38"/>
                <a:gd name="T10" fmla="*/ 34 w 34"/>
                <a:gd name="T11" fmla="*/ 18 h 38"/>
                <a:gd name="T12" fmla="*/ 34 w 34"/>
                <a:gd name="T13" fmla="*/ 24 h 38"/>
                <a:gd name="T14" fmla="*/ 32 w 34"/>
                <a:gd name="T15" fmla="*/ 28 h 38"/>
                <a:gd name="T16" fmla="*/ 30 w 34"/>
                <a:gd name="T17" fmla="*/ 32 h 38"/>
                <a:gd name="T18" fmla="*/ 26 w 34"/>
                <a:gd name="T19" fmla="*/ 36 h 38"/>
                <a:gd name="T20" fmla="*/ 22 w 34"/>
                <a:gd name="T21" fmla="*/ 38 h 38"/>
                <a:gd name="T22" fmla="*/ 16 w 34"/>
                <a:gd name="T23" fmla="*/ 38 h 38"/>
                <a:gd name="T24" fmla="*/ 12 w 34"/>
                <a:gd name="T25" fmla="*/ 38 h 38"/>
                <a:gd name="T26" fmla="*/ 8 w 34"/>
                <a:gd name="T27" fmla="*/ 34 h 38"/>
                <a:gd name="T28" fmla="*/ 4 w 34"/>
                <a:gd name="T29" fmla="*/ 32 h 38"/>
                <a:gd name="T30" fmla="*/ 0 w 34"/>
                <a:gd name="T31" fmla="*/ 26 h 38"/>
                <a:gd name="T32" fmla="*/ 0 w 34"/>
                <a:gd name="T33" fmla="*/ 20 h 38"/>
                <a:gd name="T34" fmla="*/ 0 w 34"/>
                <a:gd name="T35" fmla="*/ 14 h 38"/>
                <a:gd name="T36" fmla="*/ 2 w 34"/>
                <a:gd name="T37" fmla="*/ 10 h 38"/>
                <a:gd name="T38" fmla="*/ 6 w 34"/>
                <a:gd name="T39" fmla="*/ 6 h 38"/>
                <a:gd name="T40" fmla="*/ 8 w 34"/>
                <a:gd name="T41" fmla="*/ 2 h 38"/>
                <a:gd name="T42" fmla="*/ 12 w 34"/>
                <a:gd name="T43" fmla="*/ 0 h 38"/>
                <a:gd name="T44" fmla="*/ 18 w 34"/>
                <a:gd name="T45" fmla="*/ 0 h 38"/>
                <a:gd name="T46" fmla="*/ 16 w 34"/>
                <a:gd name="T47" fmla="*/ 2 h 38"/>
                <a:gd name="T48" fmla="*/ 14 w 34"/>
                <a:gd name="T49" fmla="*/ 4 h 38"/>
                <a:gd name="T50" fmla="*/ 12 w 34"/>
                <a:gd name="T51" fmla="*/ 4 h 38"/>
                <a:gd name="T52" fmla="*/ 10 w 34"/>
                <a:gd name="T53" fmla="*/ 6 h 38"/>
                <a:gd name="T54" fmla="*/ 8 w 34"/>
                <a:gd name="T55" fmla="*/ 8 h 38"/>
                <a:gd name="T56" fmla="*/ 6 w 34"/>
                <a:gd name="T57" fmla="*/ 12 h 38"/>
                <a:gd name="T58" fmla="*/ 6 w 34"/>
                <a:gd name="T59" fmla="*/ 16 h 38"/>
                <a:gd name="T60" fmla="*/ 8 w 34"/>
                <a:gd name="T61" fmla="*/ 24 h 38"/>
                <a:gd name="T62" fmla="*/ 10 w 34"/>
                <a:gd name="T63" fmla="*/ 30 h 38"/>
                <a:gd name="T64" fmla="*/ 14 w 34"/>
                <a:gd name="T65" fmla="*/ 34 h 38"/>
                <a:gd name="T66" fmla="*/ 18 w 34"/>
                <a:gd name="T67" fmla="*/ 36 h 38"/>
                <a:gd name="T68" fmla="*/ 22 w 34"/>
                <a:gd name="T69" fmla="*/ 34 h 38"/>
                <a:gd name="T70" fmla="*/ 24 w 34"/>
                <a:gd name="T71" fmla="*/ 32 h 38"/>
                <a:gd name="T72" fmla="*/ 26 w 34"/>
                <a:gd name="T73" fmla="*/ 28 h 38"/>
                <a:gd name="T74" fmla="*/ 28 w 34"/>
                <a:gd name="T75" fmla="*/ 22 h 38"/>
                <a:gd name="T76" fmla="*/ 26 w 34"/>
                <a:gd name="T77" fmla="*/ 16 h 38"/>
                <a:gd name="T78" fmla="*/ 26 w 34"/>
                <a:gd name="T79" fmla="*/ 10 h 38"/>
                <a:gd name="T80" fmla="*/ 24 w 34"/>
                <a:gd name="T81" fmla="*/ 6 h 38"/>
                <a:gd name="T82" fmla="*/ 20 w 34"/>
                <a:gd name="T83" fmla="*/ 4 h 38"/>
                <a:gd name="T84" fmla="*/ 16 w 34"/>
                <a:gd name="T85" fmla="*/ 2 h 38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4"/>
                <a:gd name="T130" fmla="*/ 0 h 38"/>
                <a:gd name="T131" fmla="*/ 34 w 34"/>
                <a:gd name="T132" fmla="*/ 38 h 38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4" h="38">
                  <a:moveTo>
                    <a:pt x="18" y="0"/>
                  </a:moveTo>
                  <a:lnTo>
                    <a:pt x="22" y="0"/>
                  </a:lnTo>
                  <a:lnTo>
                    <a:pt x="26" y="2"/>
                  </a:lnTo>
                  <a:lnTo>
                    <a:pt x="30" y="6"/>
                  </a:lnTo>
                  <a:lnTo>
                    <a:pt x="34" y="12"/>
                  </a:lnTo>
                  <a:lnTo>
                    <a:pt x="34" y="18"/>
                  </a:lnTo>
                  <a:lnTo>
                    <a:pt x="34" y="24"/>
                  </a:lnTo>
                  <a:lnTo>
                    <a:pt x="32" y="28"/>
                  </a:lnTo>
                  <a:lnTo>
                    <a:pt x="30" y="32"/>
                  </a:lnTo>
                  <a:lnTo>
                    <a:pt x="26" y="36"/>
                  </a:lnTo>
                  <a:lnTo>
                    <a:pt x="22" y="38"/>
                  </a:lnTo>
                  <a:lnTo>
                    <a:pt x="16" y="38"/>
                  </a:lnTo>
                  <a:lnTo>
                    <a:pt x="12" y="38"/>
                  </a:lnTo>
                  <a:lnTo>
                    <a:pt x="8" y="34"/>
                  </a:lnTo>
                  <a:lnTo>
                    <a:pt x="4" y="32"/>
                  </a:lnTo>
                  <a:lnTo>
                    <a:pt x="0" y="26"/>
                  </a:lnTo>
                  <a:lnTo>
                    <a:pt x="0" y="20"/>
                  </a:lnTo>
                  <a:lnTo>
                    <a:pt x="0" y="14"/>
                  </a:lnTo>
                  <a:lnTo>
                    <a:pt x="2" y="10"/>
                  </a:lnTo>
                  <a:lnTo>
                    <a:pt x="6" y="6"/>
                  </a:lnTo>
                  <a:lnTo>
                    <a:pt x="8" y="2"/>
                  </a:lnTo>
                  <a:lnTo>
                    <a:pt x="12" y="0"/>
                  </a:lnTo>
                  <a:lnTo>
                    <a:pt x="18" y="0"/>
                  </a:lnTo>
                  <a:close/>
                  <a:moveTo>
                    <a:pt x="16" y="2"/>
                  </a:moveTo>
                  <a:lnTo>
                    <a:pt x="14" y="4"/>
                  </a:lnTo>
                  <a:lnTo>
                    <a:pt x="12" y="4"/>
                  </a:lnTo>
                  <a:lnTo>
                    <a:pt x="10" y="6"/>
                  </a:lnTo>
                  <a:lnTo>
                    <a:pt x="8" y="8"/>
                  </a:lnTo>
                  <a:lnTo>
                    <a:pt x="6" y="12"/>
                  </a:lnTo>
                  <a:lnTo>
                    <a:pt x="6" y="16"/>
                  </a:lnTo>
                  <a:lnTo>
                    <a:pt x="8" y="24"/>
                  </a:lnTo>
                  <a:lnTo>
                    <a:pt x="10" y="30"/>
                  </a:lnTo>
                  <a:lnTo>
                    <a:pt x="14" y="34"/>
                  </a:lnTo>
                  <a:lnTo>
                    <a:pt x="18" y="36"/>
                  </a:lnTo>
                  <a:lnTo>
                    <a:pt x="22" y="34"/>
                  </a:lnTo>
                  <a:lnTo>
                    <a:pt x="24" y="32"/>
                  </a:lnTo>
                  <a:lnTo>
                    <a:pt x="26" y="28"/>
                  </a:lnTo>
                  <a:lnTo>
                    <a:pt x="28" y="22"/>
                  </a:lnTo>
                  <a:lnTo>
                    <a:pt x="26" y="16"/>
                  </a:lnTo>
                  <a:lnTo>
                    <a:pt x="26" y="10"/>
                  </a:lnTo>
                  <a:lnTo>
                    <a:pt x="24" y="6"/>
                  </a:lnTo>
                  <a:lnTo>
                    <a:pt x="20" y="4"/>
                  </a:lnTo>
                  <a:lnTo>
                    <a:pt x="16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64" name="Freeform 44"/>
            <p:cNvSpPr/>
            <p:nvPr/>
          </p:nvSpPr>
          <p:spPr bwMode="auto">
            <a:xfrm>
              <a:off x="1842" y="2430"/>
              <a:ext cx="26" cy="36"/>
            </a:xfrm>
            <a:custGeom>
              <a:avLst/>
              <a:gdLst>
                <a:gd name="T0" fmla="*/ 12 w 26"/>
                <a:gd name="T1" fmla="*/ 0 h 36"/>
                <a:gd name="T2" fmla="*/ 12 w 26"/>
                <a:gd name="T3" fmla="*/ 10 h 36"/>
                <a:gd name="T4" fmla="*/ 14 w 26"/>
                <a:gd name="T5" fmla="*/ 4 h 36"/>
                <a:gd name="T6" fmla="*/ 18 w 26"/>
                <a:gd name="T7" fmla="*/ 2 h 36"/>
                <a:gd name="T8" fmla="*/ 22 w 26"/>
                <a:gd name="T9" fmla="*/ 0 h 36"/>
                <a:gd name="T10" fmla="*/ 24 w 26"/>
                <a:gd name="T11" fmla="*/ 0 h 36"/>
                <a:gd name="T12" fmla="*/ 24 w 26"/>
                <a:gd name="T13" fmla="*/ 2 h 36"/>
                <a:gd name="T14" fmla="*/ 26 w 26"/>
                <a:gd name="T15" fmla="*/ 4 h 36"/>
                <a:gd name="T16" fmla="*/ 26 w 26"/>
                <a:gd name="T17" fmla="*/ 6 h 36"/>
                <a:gd name="T18" fmla="*/ 26 w 26"/>
                <a:gd name="T19" fmla="*/ 6 h 36"/>
                <a:gd name="T20" fmla="*/ 26 w 26"/>
                <a:gd name="T21" fmla="*/ 8 h 36"/>
                <a:gd name="T22" fmla="*/ 24 w 26"/>
                <a:gd name="T23" fmla="*/ 10 h 36"/>
                <a:gd name="T24" fmla="*/ 22 w 26"/>
                <a:gd name="T25" fmla="*/ 10 h 36"/>
                <a:gd name="T26" fmla="*/ 22 w 26"/>
                <a:gd name="T27" fmla="*/ 8 h 36"/>
                <a:gd name="T28" fmla="*/ 20 w 26"/>
                <a:gd name="T29" fmla="*/ 8 h 36"/>
                <a:gd name="T30" fmla="*/ 18 w 26"/>
                <a:gd name="T31" fmla="*/ 6 h 36"/>
                <a:gd name="T32" fmla="*/ 18 w 26"/>
                <a:gd name="T33" fmla="*/ 6 h 36"/>
                <a:gd name="T34" fmla="*/ 16 w 26"/>
                <a:gd name="T35" fmla="*/ 6 h 36"/>
                <a:gd name="T36" fmla="*/ 16 w 26"/>
                <a:gd name="T37" fmla="*/ 6 h 36"/>
                <a:gd name="T38" fmla="*/ 14 w 26"/>
                <a:gd name="T39" fmla="*/ 10 h 36"/>
                <a:gd name="T40" fmla="*/ 12 w 26"/>
                <a:gd name="T41" fmla="*/ 12 h 36"/>
                <a:gd name="T42" fmla="*/ 12 w 26"/>
                <a:gd name="T43" fmla="*/ 28 h 36"/>
                <a:gd name="T44" fmla="*/ 12 w 26"/>
                <a:gd name="T45" fmla="*/ 32 h 36"/>
                <a:gd name="T46" fmla="*/ 12 w 26"/>
                <a:gd name="T47" fmla="*/ 34 h 36"/>
                <a:gd name="T48" fmla="*/ 14 w 26"/>
                <a:gd name="T49" fmla="*/ 34 h 36"/>
                <a:gd name="T50" fmla="*/ 14 w 26"/>
                <a:gd name="T51" fmla="*/ 36 h 36"/>
                <a:gd name="T52" fmla="*/ 16 w 26"/>
                <a:gd name="T53" fmla="*/ 36 h 36"/>
                <a:gd name="T54" fmla="*/ 18 w 26"/>
                <a:gd name="T55" fmla="*/ 36 h 36"/>
                <a:gd name="T56" fmla="*/ 18 w 26"/>
                <a:gd name="T57" fmla="*/ 36 h 36"/>
                <a:gd name="T58" fmla="*/ 0 w 26"/>
                <a:gd name="T59" fmla="*/ 36 h 36"/>
                <a:gd name="T60" fmla="*/ 0 w 26"/>
                <a:gd name="T61" fmla="*/ 36 h 36"/>
                <a:gd name="T62" fmla="*/ 2 w 26"/>
                <a:gd name="T63" fmla="*/ 36 h 36"/>
                <a:gd name="T64" fmla="*/ 4 w 26"/>
                <a:gd name="T65" fmla="*/ 36 h 36"/>
                <a:gd name="T66" fmla="*/ 4 w 26"/>
                <a:gd name="T67" fmla="*/ 34 h 36"/>
                <a:gd name="T68" fmla="*/ 6 w 26"/>
                <a:gd name="T69" fmla="*/ 32 h 36"/>
                <a:gd name="T70" fmla="*/ 6 w 26"/>
                <a:gd name="T71" fmla="*/ 32 h 36"/>
                <a:gd name="T72" fmla="*/ 6 w 26"/>
                <a:gd name="T73" fmla="*/ 28 h 36"/>
                <a:gd name="T74" fmla="*/ 6 w 26"/>
                <a:gd name="T75" fmla="*/ 16 h 36"/>
                <a:gd name="T76" fmla="*/ 6 w 26"/>
                <a:gd name="T77" fmla="*/ 10 h 36"/>
                <a:gd name="T78" fmla="*/ 6 w 26"/>
                <a:gd name="T79" fmla="*/ 8 h 36"/>
                <a:gd name="T80" fmla="*/ 4 w 26"/>
                <a:gd name="T81" fmla="*/ 6 h 36"/>
                <a:gd name="T82" fmla="*/ 4 w 26"/>
                <a:gd name="T83" fmla="*/ 6 h 36"/>
                <a:gd name="T84" fmla="*/ 4 w 26"/>
                <a:gd name="T85" fmla="*/ 4 h 36"/>
                <a:gd name="T86" fmla="*/ 2 w 26"/>
                <a:gd name="T87" fmla="*/ 4 h 36"/>
                <a:gd name="T88" fmla="*/ 2 w 26"/>
                <a:gd name="T89" fmla="*/ 4 h 36"/>
                <a:gd name="T90" fmla="*/ 0 w 26"/>
                <a:gd name="T91" fmla="*/ 6 h 36"/>
                <a:gd name="T92" fmla="*/ 0 w 26"/>
                <a:gd name="T93" fmla="*/ 4 h 36"/>
                <a:gd name="T94" fmla="*/ 10 w 26"/>
                <a:gd name="T95" fmla="*/ 0 h 36"/>
                <a:gd name="T96" fmla="*/ 12 w 26"/>
                <a:gd name="T97" fmla="*/ 0 h 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26"/>
                <a:gd name="T148" fmla="*/ 0 h 36"/>
                <a:gd name="T149" fmla="*/ 26 w 26"/>
                <a:gd name="T150" fmla="*/ 36 h 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26" h="36">
                  <a:moveTo>
                    <a:pt x="12" y="0"/>
                  </a:moveTo>
                  <a:lnTo>
                    <a:pt x="12" y="10"/>
                  </a:lnTo>
                  <a:lnTo>
                    <a:pt x="14" y="4"/>
                  </a:lnTo>
                  <a:lnTo>
                    <a:pt x="18" y="2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4" y="2"/>
                  </a:lnTo>
                  <a:lnTo>
                    <a:pt x="26" y="4"/>
                  </a:lnTo>
                  <a:lnTo>
                    <a:pt x="26" y="6"/>
                  </a:lnTo>
                  <a:lnTo>
                    <a:pt x="26" y="8"/>
                  </a:lnTo>
                  <a:lnTo>
                    <a:pt x="24" y="10"/>
                  </a:lnTo>
                  <a:lnTo>
                    <a:pt x="22" y="10"/>
                  </a:lnTo>
                  <a:lnTo>
                    <a:pt x="22" y="8"/>
                  </a:lnTo>
                  <a:lnTo>
                    <a:pt x="20" y="8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4" y="10"/>
                  </a:lnTo>
                  <a:lnTo>
                    <a:pt x="12" y="12"/>
                  </a:lnTo>
                  <a:lnTo>
                    <a:pt x="12" y="28"/>
                  </a:lnTo>
                  <a:lnTo>
                    <a:pt x="12" y="32"/>
                  </a:lnTo>
                  <a:lnTo>
                    <a:pt x="12" y="34"/>
                  </a:lnTo>
                  <a:lnTo>
                    <a:pt x="14" y="34"/>
                  </a:lnTo>
                  <a:lnTo>
                    <a:pt x="14" y="36"/>
                  </a:lnTo>
                  <a:lnTo>
                    <a:pt x="16" y="36"/>
                  </a:lnTo>
                  <a:lnTo>
                    <a:pt x="18" y="36"/>
                  </a:lnTo>
                  <a:lnTo>
                    <a:pt x="0" y="36"/>
                  </a:lnTo>
                  <a:lnTo>
                    <a:pt x="2" y="36"/>
                  </a:lnTo>
                  <a:lnTo>
                    <a:pt x="4" y="36"/>
                  </a:lnTo>
                  <a:lnTo>
                    <a:pt x="4" y="34"/>
                  </a:lnTo>
                  <a:lnTo>
                    <a:pt x="6" y="32"/>
                  </a:lnTo>
                  <a:lnTo>
                    <a:pt x="6" y="28"/>
                  </a:lnTo>
                  <a:lnTo>
                    <a:pt x="6" y="16"/>
                  </a:lnTo>
                  <a:lnTo>
                    <a:pt x="6" y="10"/>
                  </a:lnTo>
                  <a:lnTo>
                    <a:pt x="6" y="8"/>
                  </a:lnTo>
                  <a:lnTo>
                    <a:pt x="4" y="6"/>
                  </a:lnTo>
                  <a:lnTo>
                    <a:pt x="4" y="4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4"/>
                  </a:lnTo>
                  <a:lnTo>
                    <a:pt x="10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65" name="Freeform 45"/>
            <p:cNvSpPr/>
            <p:nvPr/>
          </p:nvSpPr>
          <p:spPr bwMode="auto">
            <a:xfrm>
              <a:off x="1868" y="2412"/>
              <a:ext cx="40" cy="54"/>
            </a:xfrm>
            <a:custGeom>
              <a:avLst/>
              <a:gdLst>
                <a:gd name="T0" fmla="*/ 12 w 40"/>
                <a:gd name="T1" fmla="*/ 34 h 54"/>
                <a:gd name="T2" fmla="*/ 24 w 40"/>
                <a:gd name="T3" fmla="*/ 24 h 54"/>
                <a:gd name="T4" fmla="*/ 26 w 40"/>
                <a:gd name="T5" fmla="*/ 22 h 54"/>
                <a:gd name="T6" fmla="*/ 26 w 40"/>
                <a:gd name="T7" fmla="*/ 22 h 54"/>
                <a:gd name="T8" fmla="*/ 24 w 40"/>
                <a:gd name="T9" fmla="*/ 20 h 54"/>
                <a:gd name="T10" fmla="*/ 24 w 40"/>
                <a:gd name="T11" fmla="*/ 20 h 54"/>
                <a:gd name="T12" fmla="*/ 38 w 40"/>
                <a:gd name="T13" fmla="*/ 20 h 54"/>
                <a:gd name="T14" fmla="*/ 34 w 40"/>
                <a:gd name="T15" fmla="*/ 20 h 54"/>
                <a:gd name="T16" fmla="*/ 28 w 40"/>
                <a:gd name="T17" fmla="*/ 24 h 54"/>
                <a:gd name="T18" fmla="*/ 28 w 40"/>
                <a:gd name="T19" fmla="*/ 44 h 54"/>
                <a:gd name="T20" fmla="*/ 34 w 40"/>
                <a:gd name="T21" fmla="*/ 50 h 54"/>
                <a:gd name="T22" fmla="*/ 36 w 40"/>
                <a:gd name="T23" fmla="*/ 52 h 54"/>
                <a:gd name="T24" fmla="*/ 40 w 40"/>
                <a:gd name="T25" fmla="*/ 54 h 54"/>
                <a:gd name="T26" fmla="*/ 24 w 40"/>
                <a:gd name="T27" fmla="*/ 54 h 54"/>
                <a:gd name="T28" fmla="*/ 24 w 40"/>
                <a:gd name="T29" fmla="*/ 54 h 54"/>
                <a:gd name="T30" fmla="*/ 26 w 40"/>
                <a:gd name="T31" fmla="*/ 52 h 54"/>
                <a:gd name="T32" fmla="*/ 26 w 40"/>
                <a:gd name="T33" fmla="*/ 50 h 54"/>
                <a:gd name="T34" fmla="*/ 12 w 40"/>
                <a:gd name="T35" fmla="*/ 34 h 54"/>
                <a:gd name="T36" fmla="*/ 12 w 40"/>
                <a:gd name="T37" fmla="*/ 50 h 54"/>
                <a:gd name="T38" fmla="*/ 14 w 40"/>
                <a:gd name="T39" fmla="*/ 52 h 54"/>
                <a:gd name="T40" fmla="*/ 16 w 40"/>
                <a:gd name="T41" fmla="*/ 54 h 54"/>
                <a:gd name="T42" fmla="*/ 18 w 40"/>
                <a:gd name="T43" fmla="*/ 54 h 54"/>
                <a:gd name="T44" fmla="*/ 0 w 40"/>
                <a:gd name="T45" fmla="*/ 54 h 54"/>
                <a:gd name="T46" fmla="*/ 4 w 40"/>
                <a:gd name="T47" fmla="*/ 54 h 54"/>
                <a:gd name="T48" fmla="*/ 6 w 40"/>
                <a:gd name="T49" fmla="*/ 52 h 54"/>
                <a:gd name="T50" fmla="*/ 6 w 40"/>
                <a:gd name="T51" fmla="*/ 46 h 54"/>
                <a:gd name="T52" fmla="*/ 6 w 40"/>
                <a:gd name="T53" fmla="*/ 8 h 54"/>
                <a:gd name="T54" fmla="*/ 6 w 40"/>
                <a:gd name="T55" fmla="*/ 4 h 54"/>
                <a:gd name="T56" fmla="*/ 4 w 40"/>
                <a:gd name="T57" fmla="*/ 4 h 54"/>
                <a:gd name="T58" fmla="*/ 2 w 40"/>
                <a:gd name="T59" fmla="*/ 4 h 54"/>
                <a:gd name="T60" fmla="*/ 0 w 40"/>
                <a:gd name="T61" fmla="*/ 4 h 54"/>
                <a:gd name="T62" fmla="*/ 12 w 40"/>
                <a:gd name="T63" fmla="*/ 0 h 54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40"/>
                <a:gd name="T97" fmla="*/ 0 h 54"/>
                <a:gd name="T98" fmla="*/ 40 w 40"/>
                <a:gd name="T99" fmla="*/ 54 h 54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40" h="54">
                  <a:moveTo>
                    <a:pt x="12" y="0"/>
                  </a:moveTo>
                  <a:lnTo>
                    <a:pt x="12" y="34"/>
                  </a:lnTo>
                  <a:lnTo>
                    <a:pt x="22" y="26"/>
                  </a:lnTo>
                  <a:lnTo>
                    <a:pt x="24" y="24"/>
                  </a:lnTo>
                  <a:lnTo>
                    <a:pt x="26" y="22"/>
                  </a:lnTo>
                  <a:lnTo>
                    <a:pt x="26" y="20"/>
                  </a:lnTo>
                  <a:lnTo>
                    <a:pt x="24" y="20"/>
                  </a:lnTo>
                  <a:lnTo>
                    <a:pt x="38" y="20"/>
                  </a:lnTo>
                  <a:lnTo>
                    <a:pt x="36" y="20"/>
                  </a:lnTo>
                  <a:lnTo>
                    <a:pt x="34" y="20"/>
                  </a:lnTo>
                  <a:lnTo>
                    <a:pt x="30" y="22"/>
                  </a:lnTo>
                  <a:lnTo>
                    <a:pt x="28" y="24"/>
                  </a:lnTo>
                  <a:lnTo>
                    <a:pt x="18" y="32"/>
                  </a:lnTo>
                  <a:lnTo>
                    <a:pt x="28" y="44"/>
                  </a:lnTo>
                  <a:lnTo>
                    <a:pt x="32" y="48"/>
                  </a:lnTo>
                  <a:lnTo>
                    <a:pt x="34" y="50"/>
                  </a:lnTo>
                  <a:lnTo>
                    <a:pt x="36" y="52"/>
                  </a:lnTo>
                  <a:lnTo>
                    <a:pt x="38" y="54"/>
                  </a:lnTo>
                  <a:lnTo>
                    <a:pt x="40" y="54"/>
                  </a:lnTo>
                  <a:lnTo>
                    <a:pt x="24" y="54"/>
                  </a:lnTo>
                  <a:lnTo>
                    <a:pt x="26" y="54"/>
                  </a:lnTo>
                  <a:lnTo>
                    <a:pt x="26" y="52"/>
                  </a:lnTo>
                  <a:lnTo>
                    <a:pt x="26" y="50"/>
                  </a:lnTo>
                  <a:lnTo>
                    <a:pt x="24" y="48"/>
                  </a:lnTo>
                  <a:lnTo>
                    <a:pt x="12" y="34"/>
                  </a:lnTo>
                  <a:lnTo>
                    <a:pt x="12" y="46"/>
                  </a:lnTo>
                  <a:lnTo>
                    <a:pt x="12" y="50"/>
                  </a:lnTo>
                  <a:lnTo>
                    <a:pt x="14" y="52"/>
                  </a:lnTo>
                  <a:lnTo>
                    <a:pt x="14" y="54"/>
                  </a:lnTo>
                  <a:lnTo>
                    <a:pt x="16" y="54"/>
                  </a:lnTo>
                  <a:lnTo>
                    <a:pt x="18" y="54"/>
                  </a:lnTo>
                  <a:lnTo>
                    <a:pt x="0" y="54"/>
                  </a:lnTo>
                  <a:lnTo>
                    <a:pt x="2" y="54"/>
                  </a:lnTo>
                  <a:lnTo>
                    <a:pt x="4" y="54"/>
                  </a:lnTo>
                  <a:lnTo>
                    <a:pt x="4" y="52"/>
                  </a:lnTo>
                  <a:lnTo>
                    <a:pt x="6" y="52"/>
                  </a:lnTo>
                  <a:lnTo>
                    <a:pt x="6" y="50"/>
                  </a:lnTo>
                  <a:lnTo>
                    <a:pt x="6" y="46"/>
                  </a:lnTo>
                  <a:lnTo>
                    <a:pt x="6" y="14"/>
                  </a:lnTo>
                  <a:lnTo>
                    <a:pt x="6" y="8"/>
                  </a:lnTo>
                  <a:lnTo>
                    <a:pt x="6" y="6"/>
                  </a:lnTo>
                  <a:lnTo>
                    <a:pt x="6" y="4"/>
                  </a:lnTo>
                  <a:lnTo>
                    <a:pt x="4" y="4"/>
                  </a:lnTo>
                  <a:lnTo>
                    <a:pt x="2" y="4"/>
                  </a:lnTo>
                  <a:lnTo>
                    <a:pt x="0" y="4"/>
                  </a:lnTo>
                  <a:lnTo>
                    <a:pt x="10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66" name="Freeform 46"/>
            <p:cNvSpPr>
              <a:spLocks noEditPoints="1"/>
            </p:cNvSpPr>
            <p:nvPr/>
          </p:nvSpPr>
          <p:spPr bwMode="auto">
            <a:xfrm>
              <a:off x="1910" y="2430"/>
              <a:ext cx="30" cy="38"/>
            </a:xfrm>
            <a:custGeom>
              <a:avLst/>
              <a:gdLst>
                <a:gd name="T0" fmla="*/ 6 w 30"/>
                <a:gd name="T1" fmla="*/ 14 h 38"/>
                <a:gd name="T2" fmla="*/ 6 w 30"/>
                <a:gd name="T3" fmla="*/ 22 h 38"/>
                <a:gd name="T4" fmla="*/ 10 w 30"/>
                <a:gd name="T5" fmla="*/ 26 h 38"/>
                <a:gd name="T6" fmla="*/ 14 w 30"/>
                <a:gd name="T7" fmla="*/ 30 h 38"/>
                <a:gd name="T8" fmla="*/ 18 w 30"/>
                <a:gd name="T9" fmla="*/ 32 h 38"/>
                <a:gd name="T10" fmla="*/ 22 w 30"/>
                <a:gd name="T11" fmla="*/ 30 h 38"/>
                <a:gd name="T12" fmla="*/ 24 w 30"/>
                <a:gd name="T13" fmla="*/ 30 h 38"/>
                <a:gd name="T14" fmla="*/ 26 w 30"/>
                <a:gd name="T15" fmla="*/ 26 h 38"/>
                <a:gd name="T16" fmla="*/ 28 w 30"/>
                <a:gd name="T17" fmla="*/ 22 h 38"/>
                <a:gd name="T18" fmla="*/ 30 w 30"/>
                <a:gd name="T19" fmla="*/ 24 h 38"/>
                <a:gd name="T20" fmla="*/ 28 w 30"/>
                <a:gd name="T21" fmla="*/ 28 h 38"/>
                <a:gd name="T22" fmla="*/ 24 w 30"/>
                <a:gd name="T23" fmla="*/ 34 h 38"/>
                <a:gd name="T24" fmla="*/ 20 w 30"/>
                <a:gd name="T25" fmla="*/ 36 h 38"/>
                <a:gd name="T26" fmla="*/ 16 w 30"/>
                <a:gd name="T27" fmla="*/ 38 h 38"/>
                <a:gd name="T28" fmla="*/ 10 w 30"/>
                <a:gd name="T29" fmla="*/ 36 h 38"/>
                <a:gd name="T30" fmla="*/ 4 w 30"/>
                <a:gd name="T31" fmla="*/ 32 h 38"/>
                <a:gd name="T32" fmla="*/ 0 w 30"/>
                <a:gd name="T33" fmla="*/ 26 h 38"/>
                <a:gd name="T34" fmla="*/ 0 w 30"/>
                <a:gd name="T35" fmla="*/ 20 h 38"/>
                <a:gd name="T36" fmla="*/ 0 w 30"/>
                <a:gd name="T37" fmla="*/ 14 h 38"/>
                <a:gd name="T38" fmla="*/ 2 w 30"/>
                <a:gd name="T39" fmla="*/ 10 h 38"/>
                <a:gd name="T40" fmla="*/ 4 w 30"/>
                <a:gd name="T41" fmla="*/ 6 h 38"/>
                <a:gd name="T42" fmla="*/ 10 w 30"/>
                <a:gd name="T43" fmla="*/ 2 h 38"/>
                <a:gd name="T44" fmla="*/ 16 w 30"/>
                <a:gd name="T45" fmla="*/ 0 h 38"/>
                <a:gd name="T46" fmla="*/ 22 w 30"/>
                <a:gd name="T47" fmla="*/ 2 h 38"/>
                <a:gd name="T48" fmla="*/ 26 w 30"/>
                <a:gd name="T49" fmla="*/ 4 h 38"/>
                <a:gd name="T50" fmla="*/ 28 w 30"/>
                <a:gd name="T51" fmla="*/ 8 h 38"/>
                <a:gd name="T52" fmla="*/ 30 w 30"/>
                <a:gd name="T53" fmla="*/ 14 h 38"/>
                <a:gd name="T54" fmla="*/ 6 w 30"/>
                <a:gd name="T55" fmla="*/ 14 h 38"/>
                <a:gd name="T56" fmla="*/ 6 w 30"/>
                <a:gd name="T57" fmla="*/ 12 h 38"/>
                <a:gd name="T58" fmla="*/ 22 w 30"/>
                <a:gd name="T59" fmla="*/ 12 h 38"/>
                <a:gd name="T60" fmla="*/ 22 w 30"/>
                <a:gd name="T61" fmla="*/ 10 h 38"/>
                <a:gd name="T62" fmla="*/ 20 w 30"/>
                <a:gd name="T63" fmla="*/ 8 h 38"/>
                <a:gd name="T64" fmla="*/ 20 w 30"/>
                <a:gd name="T65" fmla="*/ 6 h 38"/>
                <a:gd name="T66" fmla="*/ 18 w 30"/>
                <a:gd name="T67" fmla="*/ 4 h 38"/>
                <a:gd name="T68" fmla="*/ 16 w 30"/>
                <a:gd name="T69" fmla="*/ 4 h 38"/>
                <a:gd name="T70" fmla="*/ 14 w 30"/>
                <a:gd name="T71" fmla="*/ 2 h 38"/>
                <a:gd name="T72" fmla="*/ 10 w 30"/>
                <a:gd name="T73" fmla="*/ 4 h 38"/>
                <a:gd name="T74" fmla="*/ 8 w 30"/>
                <a:gd name="T75" fmla="*/ 6 h 38"/>
                <a:gd name="T76" fmla="*/ 6 w 30"/>
                <a:gd name="T77" fmla="*/ 8 h 38"/>
                <a:gd name="T78" fmla="*/ 6 w 30"/>
                <a:gd name="T79" fmla="*/ 12 h 38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30"/>
                <a:gd name="T121" fmla="*/ 0 h 38"/>
                <a:gd name="T122" fmla="*/ 30 w 30"/>
                <a:gd name="T123" fmla="*/ 38 h 38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30" h="38">
                  <a:moveTo>
                    <a:pt x="6" y="14"/>
                  </a:moveTo>
                  <a:lnTo>
                    <a:pt x="6" y="22"/>
                  </a:lnTo>
                  <a:lnTo>
                    <a:pt x="10" y="26"/>
                  </a:lnTo>
                  <a:lnTo>
                    <a:pt x="14" y="30"/>
                  </a:lnTo>
                  <a:lnTo>
                    <a:pt x="18" y="32"/>
                  </a:lnTo>
                  <a:lnTo>
                    <a:pt x="22" y="30"/>
                  </a:lnTo>
                  <a:lnTo>
                    <a:pt x="24" y="30"/>
                  </a:lnTo>
                  <a:lnTo>
                    <a:pt x="26" y="26"/>
                  </a:lnTo>
                  <a:lnTo>
                    <a:pt x="28" y="22"/>
                  </a:lnTo>
                  <a:lnTo>
                    <a:pt x="30" y="24"/>
                  </a:lnTo>
                  <a:lnTo>
                    <a:pt x="28" y="28"/>
                  </a:lnTo>
                  <a:lnTo>
                    <a:pt x="24" y="34"/>
                  </a:lnTo>
                  <a:lnTo>
                    <a:pt x="20" y="36"/>
                  </a:lnTo>
                  <a:lnTo>
                    <a:pt x="16" y="38"/>
                  </a:lnTo>
                  <a:lnTo>
                    <a:pt x="10" y="36"/>
                  </a:lnTo>
                  <a:lnTo>
                    <a:pt x="4" y="32"/>
                  </a:lnTo>
                  <a:lnTo>
                    <a:pt x="0" y="26"/>
                  </a:lnTo>
                  <a:lnTo>
                    <a:pt x="0" y="20"/>
                  </a:lnTo>
                  <a:lnTo>
                    <a:pt x="0" y="14"/>
                  </a:lnTo>
                  <a:lnTo>
                    <a:pt x="2" y="10"/>
                  </a:lnTo>
                  <a:lnTo>
                    <a:pt x="4" y="6"/>
                  </a:lnTo>
                  <a:lnTo>
                    <a:pt x="10" y="2"/>
                  </a:lnTo>
                  <a:lnTo>
                    <a:pt x="16" y="0"/>
                  </a:lnTo>
                  <a:lnTo>
                    <a:pt x="22" y="2"/>
                  </a:lnTo>
                  <a:lnTo>
                    <a:pt x="26" y="4"/>
                  </a:lnTo>
                  <a:lnTo>
                    <a:pt x="28" y="8"/>
                  </a:lnTo>
                  <a:lnTo>
                    <a:pt x="30" y="14"/>
                  </a:lnTo>
                  <a:lnTo>
                    <a:pt x="6" y="14"/>
                  </a:lnTo>
                  <a:close/>
                  <a:moveTo>
                    <a:pt x="6" y="12"/>
                  </a:moveTo>
                  <a:lnTo>
                    <a:pt x="22" y="12"/>
                  </a:lnTo>
                  <a:lnTo>
                    <a:pt x="22" y="10"/>
                  </a:lnTo>
                  <a:lnTo>
                    <a:pt x="20" y="8"/>
                  </a:lnTo>
                  <a:lnTo>
                    <a:pt x="20" y="6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4" y="2"/>
                  </a:lnTo>
                  <a:lnTo>
                    <a:pt x="10" y="4"/>
                  </a:lnTo>
                  <a:lnTo>
                    <a:pt x="8" y="6"/>
                  </a:lnTo>
                  <a:lnTo>
                    <a:pt x="6" y="8"/>
                  </a:lnTo>
                  <a:lnTo>
                    <a:pt x="6" y="1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67" name="Freeform 47"/>
            <p:cNvSpPr/>
            <p:nvPr/>
          </p:nvSpPr>
          <p:spPr bwMode="auto">
            <a:xfrm>
              <a:off x="1944" y="2430"/>
              <a:ext cx="26" cy="36"/>
            </a:xfrm>
            <a:custGeom>
              <a:avLst/>
              <a:gdLst>
                <a:gd name="T0" fmla="*/ 12 w 26"/>
                <a:gd name="T1" fmla="*/ 0 h 36"/>
                <a:gd name="T2" fmla="*/ 12 w 26"/>
                <a:gd name="T3" fmla="*/ 10 h 36"/>
                <a:gd name="T4" fmla="*/ 14 w 26"/>
                <a:gd name="T5" fmla="*/ 4 h 36"/>
                <a:gd name="T6" fmla="*/ 18 w 26"/>
                <a:gd name="T7" fmla="*/ 2 h 36"/>
                <a:gd name="T8" fmla="*/ 20 w 26"/>
                <a:gd name="T9" fmla="*/ 0 h 36"/>
                <a:gd name="T10" fmla="*/ 22 w 26"/>
                <a:gd name="T11" fmla="*/ 0 h 36"/>
                <a:gd name="T12" fmla="*/ 24 w 26"/>
                <a:gd name="T13" fmla="*/ 2 h 36"/>
                <a:gd name="T14" fmla="*/ 26 w 26"/>
                <a:gd name="T15" fmla="*/ 4 h 36"/>
                <a:gd name="T16" fmla="*/ 26 w 26"/>
                <a:gd name="T17" fmla="*/ 6 h 36"/>
                <a:gd name="T18" fmla="*/ 26 w 26"/>
                <a:gd name="T19" fmla="*/ 6 h 36"/>
                <a:gd name="T20" fmla="*/ 24 w 26"/>
                <a:gd name="T21" fmla="*/ 8 h 36"/>
                <a:gd name="T22" fmla="*/ 24 w 26"/>
                <a:gd name="T23" fmla="*/ 10 h 36"/>
                <a:gd name="T24" fmla="*/ 22 w 26"/>
                <a:gd name="T25" fmla="*/ 10 h 36"/>
                <a:gd name="T26" fmla="*/ 22 w 26"/>
                <a:gd name="T27" fmla="*/ 8 h 36"/>
                <a:gd name="T28" fmla="*/ 20 w 26"/>
                <a:gd name="T29" fmla="*/ 8 h 36"/>
                <a:gd name="T30" fmla="*/ 18 w 26"/>
                <a:gd name="T31" fmla="*/ 6 h 36"/>
                <a:gd name="T32" fmla="*/ 16 w 26"/>
                <a:gd name="T33" fmla="*/ 6 h 36"/>
                <a:gd name="T34" fmla="*/ 16 w 26"/>
                <a:gd name="T35" fmla="*/ 6 h 36"/>
                <a:gd name="T36" fmla="*/ 16 w 26"/>
                <a:gd name="T37" fmla="*/ 6 h 36"/>
                <a:gd name="T38" fmla="*/ 14 w 26"/>
                <a:gd name="T39" fmla="*/ 10 h 36"/>
                <a:gd name="T40" fmla="*/ 12 w 26"/>
                <a:gd name="T41" fmla="*/ 12 h 36"/>
                <a:gd name="T42" fmla="*/ 12 w 26"/>
                <a:gd name="T43" fmla="*/ 28 h 36"/>
                <a:gd name="T44" fmla="*/ 12 w 26"/>
                <a:gd name="T45" fmla="*/ 32 h 36"/>
                <a:gd name="T46" fmla="*/ 12 w 26"/>
                <a:gd name="T47" fmla="*/ 34 h 36"/>
                <a:gd name="T48" fmla="*/ 12 w 26"/>
                <a:gd name="T49" fmla="*/ 34 h 36"/>
                <a:gd name="T50" fmla="*/ 14 w 26"/>
                <a:gd name="T51" fmla="*/ 36 h 36"/>
                <a:gd name="T52" fmla="*/ 16 w 26"/>
                <a:gd name="T53" fmla="*/ 36 h 36"/>
                <a:gd name="T54" fmla="*/ 18 w 26"/>
                <a:gd name="T55" fmla="*/ 36 h 36"/>
                <a:gd name="T56" fmla="*/ 18 w 26"/>
                <a:gd name="T57" fmla="*/ 36 h 36"/>
                <a:gd name="T58" fmla="*/ 0 w 26"/>
                <a:gd name="T59" fmla="*/ 36 h 36"/>
                <a:gd name="T60" fmla="*/ 0 w 26"/>
                <a:gd name="T61" fmla="*/ 36 h 36"/>
                <a:gd name="T62" fmla="*/ 2 w 26"/>
                <a:gd name="T63" fmla="*/ 36 h 36"/>
                <a:gd name="T64" fmla="*/ 4 w 26"/>
                <a:gd name="T65" fmla="*/ 36 h 36"/>
                <a:gd name="T66" fmla="*/ 4 w 26"/>
                <a:gd name="T67" fmla="*/ 34 h 36"/>
                <a:gd name="T68" fmla="*/ 4 w 26"/>
                <a:gd name="T69" fmla="*/ 32 h 36"/>
                <a:gd name="T70" fmla="*/ 4 w 26"/>
                <a:gd name="T71" fmla="*/ 32 h 36"/>
                <a:gd name="T72" fmla="*/ 4 w 26"/>
                <a:gd name="T73" fmla="*/ 28 h 36"/>
                <a:gd name="T74" fmla="*/ 4 w 26"/>
                <a:gd name="T75" fmla="*/ 16 h 36"/>
                <a:gd name="T76" fmla="*/ 4 w 26"/>
                <a:gd name="T77" fmla="*/ 10 h 36"/>
                <a:gd name="T78" fmla="*/ 4 w 26"/>
                <a:gd name="T79" fmla="*/ 8 h 36"/>
                <a:gd name="T80" fmla="*/ 4 w 26"/>
                <a:gd name="T81" fmla="*/ 6 h 36"/>
                <a:gd name="T82" fmla="*/ 4 w 26"/>
                <a:gd name="T83" fmla="*/ 6 h 36"/>
                <a:gd name="T84" fmla="*/ 4 w 26"/>
                <a:gd name="T85" fmla="*/ 4 h 36"/>
                <a:gd name="T86" fmla="*/ 2 w 26"/>
                <a:gd name="T87" fmla="*/ 4 h 36"/>
                <a:gd name="T88" fmla="*/ 2 w 26"/>
                <a:gd name="T89" fmla="*/ 4 h 36"/>
                <a:gd name="T90" fmla="*/ 0 w 26"/>
                <a:gd name="T91" fmla="*/ 6 h 36"/>
                <a:gd name="T92" fmla="*/ 0 w 26"/>
                <a:gd name="T93" fmla="*/ 4 h 36"/>
                <a:gd name="T94" fmla="*/ 10 w 26"/>
                <a:gd name="T95" fmla="*/ 0 h 36"/>
                <a:gd name="T96" fmla="*/ 12 w 26"/>
                <a:gd name="T97" fmla="*/ 0 h 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26"/>
                <a:gd name="T148" fmla="*/ 0 h 36"/>
                <a:gd name="T149" fmla="*/ 26 w 26"/>
                <a:gd name="T150" fmla="*/ 36 h 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26" h="36">
                  <a:moveTo>
                    <a:pt x="12" y="0"/>
                  </a:moveTo>
                  <a:lnTo>
                    <a:pt x="12" y="10"/>
                  </a:lnTo>
                  <a:lnTo>
                    <a:pt x="14" y="4"/>
                  </a:lnTo>
                  <a:lnTo>
                    <a:pt x="18" y="2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4" y="2"/>
                  </a:lnTo>
                  <a:lnTo>
                    <a:pt x="26" y="4"/>
                  </a:lnTo>
                  <a:lnTo>
                    <a:pt x="26" y="6"/>
                  </a:lnTo>
                  <a:lnTo>
                    <a:pt x="24" y="8"/>
                  </a:lnTo>
                  <a:lnTo>
                    <a:pt x="24" y="10"/>
                  </a:lnTo>
                  <a:lnTo>
                    <a:pt x="22" y="10"/>
                  </a:lnTo>
                  <a:lnTo>
                    <a:pt x="22" y="8"/>
                  </a:lnTo>
                  <a:lnTo>
                    <a:pt x="20" y="8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4" y="10"/>
                  </a:lnTo>
                  <a:lnTo>
                    <a:pt x="12" y="12"/>
                  </a:lnTo>
                  <a:lnTo>
                    <a:pt x="12" y="28"/>
                  </a:lnTo>
                  <a:lnTo>
                    <a:pt x="12" y="32"/>
                  </a:lnTo>
                  <a:lnTo>
                    <a:pt x="12" y="34"/>
                  </a:lnTo>
                  <a:lnTo>
                    <a:pt x="14" y="36"/>
                  </a:lnTo>
                  <a:lnTo>
                    <a:pt x="16" y="36"/>
                  </a:lnTo>
                  <a:lnTo>
                    <a:pt x="18" y="36"/>
                  </a:lnTo>
                  <a:lnTo>
                    <a:pt x="0" y="36"/>
                  </a:lnTo>
                  <a:lnTo>
                    <a:pt x="2" y="36"/>
                  </a:lnTo>
                  <a:lnTo>
                    <a:pt x="4" y="36"/>
                  </a:lnTo>
                  <a:lnTo>
                    <a:pt x="4" y="34"/>
                  </a:lnTo>
                  <a:lnTo>
                    <a:pt x="4" y="32"/>
                  </a:lnTo>
                  <a:lnTo>
                    <a:pt x="4" y="28"/>
                  </a:lnTo>
                  <a:lnTo>
                    <a:pt x="4" y="16"/>
                  </a:lnTo>
                  <a:lnTo>
                    <a:pt x="4" y="10"/>
                  </a:lnTo>
                  <a:lnTo>
                    <a:pt x="4" y="8"/>
                  </a:lnTo>
                  <a:lnTo>
                    <a:pt x="4" y="6"/>
                  </a:lnTo>
                  <a:lnTo>
                    <a:pt x="4" y="4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4"/>
                  </a:lnTo>
                  <a:lnTo>
                    <a:pt x="10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68" name="Freeform 48"/>
            <p:cNvSpPr/>
            <p:nvPr/>
          </p:nvSpPr>
          <p:spPr bwMode="auto">
            <a:xfrm>
              <a:off x="1974" y="2430"/>
              <a:ext cx="24" cy="38"/>
            </a:xfrm>
            <a:custGeom>
              <a:avLst/>
              <a:gdLst>
                <a:gd name="T0" fmla="*/ 22 w 24"/>
                <a:gd name="T1" fmla="*/ 0 h 38"/>
                <a:gd name="T2" fmla="*/ 22 w 24"/>
                <a:gd name="T3" fmla="*/ 12 h 38"/>
                <a:gd name="T4" fmla="*/ 20 w 24"/>
                <a:gd name="T5" fmla="*/ 12 h 38"/>
                <a:gd name="T6" fmla="*/ 18 w 24"/>
                <a:gd name="T7" fmla="*/ 8 h 38"/>
                <a:gd name="T8" fmla="*/ 16 w 24"/>
                <a:gd name="T9" fmla="*/ 4 h 38"/>
                <a:gd name="T10" fmla="*/ 14 w 24"/>
                <a:gd name="T11" fmla="*/ 4 h 38"/>
                <a:gd name="T12" fmla="*/ 10 w 24"/>
                <a:gd name="T13" fmla="*/ 2 h 38"/>
                <a:gd name="T14" fmla="*/ 8 w 24"/>
                <a:gd name="T15" fmla="*/ 4 h 38"/>
                <a:gd name="T16" fmla="*/ 6 w 24"/>
                <a:gd name="T17" fmla="*/ 4 h 38"/>
                <a:gd name="T18" fmla="*/ 6 w 24"/>
                <a:gd name="T19" fmla="*/ 6 h 38"/>
                <a:gd name="T20" fmla="*/ 4 w 24"/>
                <a:gd name="T21" fmla="*/ 8 h 38"/>
                <a:gd name="T22" fmla="*/ 6 w 24"/>
                <a:gd name="T23" fmla="*/ 10 h 38"/>
                <a:gd name="T24" fmla="*/ 6 w 24"/>
                <a:gd name="T25" fmla="*/ 10 h 38"/>
                <a:gd name="T26" fmla="*/ 8 w 24"/>
                <a:gd name="T27" fmla="*/ 12 h 38"/>
                <a:gd name="T28" fmla="*/ 10 w 24"/>
                <a:gd name="T29" fmla="*/ 14 h 38"/>
                <a:gd name="T30" fmla="*/ 16 w 24"/>
                <a:gd name="T31" fmla="*/ 16 h 38"/>
                <a:gd name="T32" fmla="*/ 20 w 24"/>
                <a:gd name="T33" fmla="*/ 20 h 38"/>
                <a:gd name="T34" fmla="*/ 24 w 24"/>
                <a:gd name="T35" fmla="*/ 24 h 38"/>
                <a:gd name="T36" fmla="*/ 24 w 24"/>
                <a:gd name="T37" fmla="*/ 26 h 38"/>
                <a:gd name="T38" fmla="*/ 24 w 24"/>
                <a:gd name="T39" fmla="*/ 32 h 38"/>
                <a:gd name="T40" fmla="*/ 20 w 24"/>
                <a:gd name="T41" fmla="*/ 34 h 38"/>
                <a:gd name="T42" fmla="*/ 16 w 24"/>
                <a:gd name="T43" fmla="*/ 36 h 38"/>
                <a:gd name="T44" fmla="*/ 12 w 24"/>
                <a:gd name="T45" fmla="*/ 38 h 38"/>
                <a:gd name="T46" fmla="*/ 8 w 24"/>
                <a:gd name="T47" fmla="*/ 38 h 38"/>
                <a:gd name="T48" fmla="*/ 4 w 24"/>
                <a:gd name="T49" fmla="*/ 36 h 38"/>
                <a:gd name="T50" fmla="*/ 4 w 24"/>
                <a:gd name="T51" fmla="*/ 36 h 38"/>
                <a:gd name="T52" fmla="*/ 2 w 24"/>
                <a:gd name="T53" fmla="*/ 36 h 38"/>
                <a:gd name="T54" fmla="*/ 2 w 24"/>
                <a:gd name="T55" fmla="*/ 36 h 38"/>
                <a:gd name="T56" fmla="*/ 0 w 24"/>
                <a:gd name="T57" fmla="*/ 38 h 38"/>
                <a:gd name="T58" fmla="*/ 0 w 24"/>
                <a:gd name="T59" fmla="*/ 38 h 38"/>
                <a:gd name="T60" fmla="*/ 0 w 24"/>
                <a:gd name="T61" fmla="*/ 26 h 38"/>
                <a:gd name="T62" fmla="*/ 0 w 24"/>
                <a:gd name="T63" fmla="*/ 26 h 38"/>
                <a:gd name="T64" fmla="*/ 2 w 24"/>
                <a:gd name="T65" fmla="*/ 30 h 38"/>
                <a:gd name="T66" fmla="*/ 4 w 24"/>
                <a:gd name="T67" fmla="*/ 32 h 38"/>
                <a:gd name="T68" fmla="*/ 8 w 24"/>
                <a:gd name="T69" fmla="*/ 34 h 38"/>
                <a:gd name="T70" fmla="*/ 12 w 24"/>
                <a:gd name="T71" fmla="*/ 36 h 38"/>
                <a:gd name="T72" fmla="*/ 14 w 24"/>
                <a:gd name="T73" fmla="*/ 34 h 38"/>
                <a:gd name="T74" fmla="*/ 16 w 24"/>
                <a:gd name="T75" fmla="*/ 34 h 38"/>
                <a:gd name="T76" fmla="*/ 18 w 24"/>
                <a:gd name="T77" fmla="*/ 32 h 38"/>
                <a:gd name="T78" fmla="*/ 18 w 24"/>
                <a:gd name="T79" fmla="*/ 30 h 38"/>
                <a:gd name="T80" fmla="*/ 18 w 24"/>
                <a:gd name="T81" fmla="*/ 28 h 38"/>
                <a:gd name="T82" fmla="*/ 16 w 24"/>
                <a:gd name="T83" fmla="*/ 26 h 38"/>
                <a:gd name="T84" fmla="*/ 14 w 24"/>
                <a:gd name="T85" fmla="*/ 24 h 38"/>
                <a:gd name="T86" fmla="*/ 8 w 24"/>
                <a:gd name="T87" fmla="*/ 20 h 38"/>
                <a:gd name="T88" fmla="*/ 4 w 24"/>
                <a:gd name="T89" fmla="*/ 18 h 38"/>
                <a:gd name="T90" fmla="*/ 2 w 24"/>
                <a:gd name="T91" fmla="*/ 16 h 38"/>
                <a:gd name="T92" fmla="*/ 0 w 24"/>
                <a:gd name="T93" fmla="*/ 14 h 38"/>
                <a:gd name="T94" fmla="*/ 0 w 24"/>
                <a:gd name="T95" fmla="*/ 10 h 38"/>
                <a:gd name="T96" fmla="*/ 0 w 24"/>
                <a:gd name="T97" fmla="*/ 6 h 38"/>
                <a:gd name="T98" fmla="*/ 2 w 24"/>
                <a:gd name="T99" fmla="*/ 4 h 38"/>
                <a:gd name="T100" fmla="*/ 6 w 24"/>
                <a:gd name="T101" fmla="*/ 0 h 38"/>
                <a:gd name="T102" fmla="*/ 10 w 24"/>
                <a:gd name="T103" fmla="*/ 0 h 38"/>
                <a:gd name="T104" fmla="*/ 14 w 24"/>
                <a:gd name="T105" fmla="*/ 0 h 38"/>
                <a:gd name="T106" fmla="*/ 16 w 24"/>
                <a:gd name="T107" fmla="*/ 2 h 38"/>
                <a:gd name="T108" fmla="*/ 18 w 24"/>
                <a:gd name="T109" fmla="*/ 2 h 38"/>
                <a:gd name="T110" fmla="*/ 18 w 24"/>
                <a:gd name="T111" fmla="*/ 2 h 38"/>
                <a:gd name="T112" fmla="*/ 20 w 24"/>
                <a:gd name="T113" fmla="*/ 2 h 38"/>
                <a:gd name="T114" fmla="*/ 20 w 24"/>
                <a:gd name="T115" fmla="*/ 2 h 38"/>
                <a:gd name="T116" fmla="*/ 20 w 24"/>
                <a:gd name="T117" fmla="*/ 2 h 38"/>
                <a:gd name="T118" fmla="*/ 20 w 24"/>
                <a:gd name="T119" fmla="*/ 0 h 38"/>
                <a:gd name="T120" fmla="*/ 22 w 24"/>
                <a:gd name="T121" fmla="*/ 0 h 3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4"/>
                <a:gd name="T184" fmla="*/ 0 h 38"/>
                <a:gd name="T185" fmla="*/ 24 w 24"/>
                <a:gd name="T186" fmla="*/ 38 h 38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4" h="38">
                  <a:moveTo>
                    <a:pt x="22" y="0"/>
                  </a:moveTo>
                  <a:lnTo>
                    <a:pt x="22" y="12"/>
                  </a:lnTo>
                  <a:lnTo>
                    <a:pt x="20" y="12"/>
                  </a:lnTo>
                  <a:lnTo>
                    <a:pt x="18" y="8"/>
                  </a:lnTo>
                  <a:lnTo>
                    <a:pt x="16" y="4"/>
                  </a:lnTo>
                  <a:lnTo>
                    <a:pt x="14" y="4"/>
                  </a:lnTo>
                  <a:lnTo>
                    <a:pt x="10" y="2"/>
                  </a:lnTo>
                  <a:lnTo>
                    <a:pt x="8" y="4"/>
                  </a:lnTo>
                  <a:lnTo>
                    <a:pt x="6" y="4"/>
                  </a:lnTo>
                  <a:lnTo>
                    <a:pt x="6" y="6"/>
                  </a:lnTo>
                  <a:lnTo>
                    <a:pt x="4" y="8"/>
                  </a:lnTo>
                  <a:lnTo>
                    <a:pt x="6" y="10"/>
                  </a:lnTo>
                  <a:lnTo>
                    <a:pt x="8" y="12"/>
                  </a:lnTo>
                  <a:lnTo>
                    <a:pt x="10" y="14"/>
                  </a:lnTo>
                  <a:lnTo>
                    <a:pt x="16" y="16"/>
                  </a:lnTo>
                  <a:lnTo>
                    <a:pt x="20" y="20"/>
                  </a:lnTo>
                  <a:lnTo>
                    <a:pt x="24" y="24"/>
                  </a:lnTo>
                  <a:lnTo>
                    <a:pt x="24" y="26"/>
                  </a:lnTo>
                  <a:lnTo>
                    <a:pt x="24" y="32"/>
                  </a:lnTo>
                  <a:lnTo>
                    <a:pt x="20" y="34"/>
                  </a:lnTo>
                  <a:lnTo>
                    <a:pt x="16" y="36"/>
                  </a:lnTo>
                  <a:lnTo>
                    <a:pt x="12" y="38"/>
                  </a:lnTo>
                  <a:lnTo>
                    <a:pt x="8" y="38"/>
                  </a:lnTo>
                  <a:lnTo>
                    <a:pt x="4" y="36"/>
                  </a:lnTo>
                  <a:lnTo>
                    <a:pt x="2" y="36"/>
                  </a:lnTo>
                  <a:lnTo>
                    <a:pt x="0" y="38"/>
                  </a:lnTo>
                  <a:lnTo>
                    <a:pt x="0" y="26"/>
                  </a:lnTo>
                  <a:lnTo>
                    <a:pt x="2" y="30"/>
                  </a:lnTo>
                  <a:lnTo>
                    <a:pt x="4" y="32"/>
                  </a:lnTo>
                  <a:lnTo>
                    <a:pt x="8" y="34"/>
                  </a:lnTo>
                  <a:lnTo>
                    <a:pt x="12" y="36"/>
                  </a:lnTo>
                  <a:lnTo>
                    <a:pt x="14" y="34"/>
                  </a:lnTo>
                  <a:lnTo>
                    <a:pt x="16" y="34"/>
                  </a:lnTo>
                  <a:lnTo>
                    <a:pt x="18" y="32"/>
                  </a:lnTo>
                  <a:lnTo>
                    <a:pt x="18" y="30"/>
                  </a:lnTo>
                  <a:lnTo>
                    <a:pt x="18" y="28"/>
                  </a:lnTo>
                  <a:lnTo>
                    <a:pt x="16" y="26"/>
                  </a:lnTo>
                  <a:lnTo>
                    <a:pt x="14" y="24"/>
                  </a:lnTo>
                  <a:lnTo>
                    <a:pt x="8" y="20"/>
                  </a:lnTo>
                  <a:lnTo>
                    <a:pt x="4" y="18"/>
                  </a:lnTo>
                  <a:lnTo>
                    <a:pt x="2" y="16"/>
                  </a:lnTo>
                  <a:lnTo>
                    <a:pt x="0" y="14"/>
                  </a:lnTo>
                  <a:lnTo>
                    <a:pt x="0" y="10"/>
                  </a:lnTo>
                  <a:lnTo>
                    <a:pt x="0" y="6"/>
                  </a:lnTo>
                  <a:lnTo>
                    <a:pt x="2" y="4"/>
                  </a:lnTo>
                  <a:lnTo>
                    <a:pt x="6" y="0"/>
                  </a:lnTo>
                  <a:lnTo>
                    <a:pt x="10" y="0"/>
                  </a:lnTo>
                  <a:lnTo>
                    <a:pt x="14" y="0"/>
                  </a:lnTo>
                  <a:lnTo>
                    <a:pt x="16" y="2"/>
                  </a:lnTo>
                  <a:lnTo>
                    <a:pt x="18" y="2"/>
                  </a:lnTo>
                  <a:lnTo>
                    <a:pt x="20" y="2"/>
                  </a:lnTo>
                  <a:lnTo>
                    <a:pt x="20" y="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69" name="Freeform 49"/>
            <p:cNvSpPr/>
            <p:nvPr/>
          </p:nvSpPr>
          <p:spPr bwMode="auto">
            <a:xfrm>
              <a:off x="2002" y="2412"/>
              <a:ext cx="22" cy="72"/>
            </a:xfrm>
            <a:custGeom>
              <a:avLst/>
              <a:gdLst>
                <a:gd name="T0" fmla="*/ 0 w 22"/>
                <a:gd name="T1" fmla="*/ 2 h 72"/>
                <a:gd name="T2" fmla="*/ 0 w 22"/>
                <a:gd name="T3" fmla="*/ 0 h 72"/>
                <a:gd name="T4" fmla="*/ 6 w 22"/>
                <a:gd name="T5" fmla="*/ 4 h 72"/>
                <a:gd name="T6" fmla="*/ 10 w 22"/>
                <a:gd name="T7" fmla="*/ 6 h 72"/>
                <a:gd name="T8" fmla="*/ 16 w 22"/>
                <a:gd name="T9" fmla="*/ 12 h 72"/>
                <a:gd name="T10" fmla="*/ 18 w 22"/>
                <a:gd name="T11" fmla="*/ 20 h 72"/>
                <a:gd name="T12" fmla="*/ 22 w 22"/>
                <a:gd name="T13" fmla="*/ 28 h 72"/>
                <a:gd name="T14" fmla="*/ 22 w 22"/>
                <a:gd name="T15" fmla="*/ 36 h 72"/>
                <a:gd name="T16" fmla="*/ 22 w 22"/>
                <a:gd name="T17" fmla="*/ 44 h 72"/>
                <a:gd name="T18" fmla="*/ 20 w 22"/>
                <a:gd name="T19" fmla="*/ 50 h 72"/>
                <a:gd name="T20" fmla="*/ 16 w 22"/>
                <a:gd name="T21" fmla="*/ 58 h 72"/>
                <a:gd name="T22" fmla="*/ 12 w 22"/>
                <a:gd name="T23" fmla="*/ 64 h 72"/>
                <a:gd name="T24" fmla="*/ 6 w 22"/>
                <a:gd name="T25" fmla="*/ 68 h 72"/>
                <a:gd name="T26" fmla="*/ 0 w 22"/>
                <a:gd name="T27" fmla="*/ 72 h 72"/>
                <a:gd name="T28" fmla="*/ 0 w 22"/>
                <a:gd name="T29" fmla="*/ 70 h 72"/>
                <a:gd name="T30" fmla="*/ 4 w 22"/>
                <a:gd name="T31" fmla="*/ 66 h 72"/>
                <a:gd name="T32" fmla="*/ 8 w 22"/>
                <a:gd name="T33" fmla="*/ 62 h 72"/>
                <a:gd name="T34" fmla="*/ 10 w 22"/>
                <a:gd name="T35" fmla="*/ 58 h 72"/>
                <a:gd name="T36" fmla="*/ 12 w 22"/>
                <a:gd name="T37" fmla="*/ 52 h 72"/>
                <a:gd name="T38" fmla="*/ 14 w 22"/>
                <a:gd name="T39" fmla="*/ 44 h 72"/>
                <a:gd name="T40" fmla="*/ 14 w 22"/>
                <a:gd name="T41" fmla="*/ 36 h 72"/>
                <a:gd name="T42" fmla="*/ 14 w 22"/>
                <a:gd name="T43" fmla="*/ 28 h 72"/>
                <a:gd name="T44" fmla="*/ 12 w 22"/>
                <a:gd name="T45" fmla="*/ 22 h 72"/>
                <a:gd name="T46" fmla="*/ 12 w 22"/>
                <a:gd name="T47" fmla="*/ 18 h 72"/>
                <a:gd name="T48" fmla="*/ 10 w 22"/>
                <a:gd name="T49" fmla="*/ 14 h 72"/>
                <a:gd name="T50" fmla="*/ 8 w 22"/>
                <a:gd name="T51" fmla="*/ 10 h 72"/>
                <a:gd name="T52" fmla="*/ 6 w 22"/>
                <a:gd name="T53" fmla="*/ 8 h 72"/>
                <a:gd name="T54" fmla="*/ 4 w 22"/>
                <a:gd name="T55" fmla="*/ 4 h 72"/>
                <a:gd name="T56" fmla="*/ 0 w 22"/>
                <a:gd name="T57" fmla="*/ 2 h 7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2"/>
                <a:gd name="T88" fmla="*/ 0 h 72"/>
                <a:gd name="T89" fmla="*/ 22 w 22"/>
                <a:gd name="T90" fmla="*/ 72 h 7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2" h="72">
                  <a:moveTo>
                    <a:pt x="0" y="2"/>
                  </a:moveTo>
                  <a:lnTo>
                    <a:pt x="0" y="0"/>
                  </a:lnTo>
                  <a:lnTo>
                    <a:pt x="6" y="4"/>
                  </a:lnTo>
                  <a:lnTo>
                    <a:pt x="10" y="6"/>
                  </a:lnTo>
                  <a:lnTo>
                    <a:pt x="16" y="12"/>
                  </a:lnTo>
                  <a:lnTo>
                    <a:pt x="18" y="20"/>
                  </a:lnTo>
                  <a:lnTo>
                    <a:pt x="22" y="28"/>
                  </a:lnTo>
                  <a:lnTo>
                    <a:pt x="22" y="36"/>
                  </a:lnTo>
                  <a:lnTo>
                    <a:pt x="22" y="44"/>
                  </a:lnTo>
                  <a:lnTo>
                    <a:pt x="20" y="50"/>
                  </a:lnTo>
                  <a:lnTo>
                    <a:pt x="16" y="58"/>
                  </a:lnTo>
                  <a:lnTo>
                    <a:pt x="12" y="64"/>
                  </a:lnTo>
                  <a:lnTo>
                    <a:pt x="6" y="68"/>
                  </a:lnTo>
                  <a:lnTo>
                    <a:pt x="0" y="72"/>
                  </a:lnTo>
                  <a:lnTo>
                    <a:pt x="0" y="70"/>
                  </a:lnTo>
                  <a:lnTo>
                    <a:pt x="4" y="66"/>
                  </a:lnTo>
                  <a:lnTo>
                    <a:pt x="8" y="62"/>
                  </a:lnTo>
                  <a:lnTo>
                    <a:pt x="10" y="58"/>
                  </a:lnTo>
                  <a:lnTo>
                    <a:pt x="12" y="52"/>
                  </a:lnTo>
                  <a:lnTo>
                    <a:pt x="14" y="44"/>
                  </a:lnTo>
                  <a:lnTo>
                    <a:pt x="14" y="36"/>
                  </a:lnTo>
                  <a:lnTo>
                    <a:pt x="14" y="28"/>
                  </a:lnTo>
                  <a:lnTo>
                    <a:pt x="12" y="22"/>
                  </a:lnTo>
                  <a:lnTo>
                    <a:pt x="12" y="18"/>
                  </a:lnTo>
                  <a:lnTo>
                    <a:pt x="10" y="14"/>
                  </a:lnTo>
                  <a:lnTo>
                    <a:pt x="8" y="10"/>
                  </a:lnTo>
                  <a:lnTo>
                    <a:pt x="6" y="8"/>
                  </a:lnTo>
                  <a:lnTo>
                    <a:pt x="4" y="4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70" name="Freeform 50"/>
            <p:cNvSpPr/>
            <p:nvPr/>
          </p:nvSpPr>
          <p:spPr bwMode="auto">
            <a:xfrm>
              <a:off x="2076" y="2414"/>
              <a:ext cx="56" cy="54"/>
            </a:xfrm>
            <a:custGeom>
              <a:avLst/>
              <a:gdLst>
                <a:gd name="T0" fmla="*/ 56 w 56"/>
                <a:gd name="T1" fmla="*/ 0 h 54"/>
                <a:gd name="T2" fmla="*/ 56 w 56"/>
                <a:gd name="T3" fmla="*/ 0 h 54"/>
                <a:gd name="T4" fmla="*/ 52 w 56"/>
                <a:gd name="T5" fmla="*/ 2 h 54"/>
                <a:gd name="T6" fmla="*/ 50 w 56"/>
                <a:gd name="T7" fmla="*/ 2 h 54"/>
                <a:gd name="T8" fmla="*/ 48 w 56"/>
                <a:gd name="T9" fmla="*/ 6 h 54"/>
                <a:gd name="T10" fmla="*/ 48 w 56"/>
                <a:gd name="T11" fmla="*/ 8 h 54"/>
                <a:gd name="T12" fmla="*/ 30 w 56"/>
                <a:gd name="T13" fmla="*/ 54 h 54"/>
                <a:gd name="T14" fmla="*/ 28 w 56"/>
                <a:gd name="T15" fmla="*/ 54 h 54"/>
                <a:gd name="T16" fmla="*/ 8 w 56"/>
                <a:gd name="T17" fmla="*/ 8 h 54"/>
                <a:gd name="T18" fmla="*/ 6 w 56"/>
                <a:gd name="T19" fmla="*/ 6 h 54"/>
                <a:gd name="T20" fmla="*/ 6 w 56"/>
                <a:gd name="T21" fmla="*/ 4 h 54"/>
                <a:gd name="T22" fmla="*/ 4 w 56"/>
                <a:gd name="T23" fmla="*/ 2 h 54"/>
                <a:gd name="T24" fmla="*/ 4 w 56"/>
                <a:gd name="T25" fmla="*/ 2 h 54"/>
                <a:gd name="T26" fmla="*/ 2 w 56"/>
                <a:gd name="T27" fmla="*/ 0 h 54"/>
                <a:gd name="T28" fmla="*/ 0 w 56"/>
                <a:gd name="T29" fmla="*/ 0 h 54"/>
                <a:gd name="T30" fmla="*/ 0 w 56"/>
                <a:gd name="T31" fmla="*/ 0 h 54"/>
                <a:gd name="T32" fmla="*/ 20 w 56"/>
                <a:gd name="T33" fmla="*/ 0 h 54"/>
                <a:gd name="T34" fmla="*/ 20 w 56"/>
                <a:gd name="T35" fmla="*/ 0 h 54"/>
                <a:gd name="T36" fmla="*/ 18 w 56"/>
                <a:gd name="T37" fmla="*/ 0 h 54"/>
                <a:gd name="T38" fmla="*/ 16 w 56"/>
                <a:gd name="T39" fmla="*/ 2 h 54"/>
                <a:gd name="T40" fmla="*/ 16 w 56"/>
                <a:gd name="T41" fmla="*/ 2 h 54"/>
                <a:gd name="T42" fmla="*/ 16 w 56"/>
                <a:gd name="T43" fmla="*/ 4 h 54"/>
                <a:gd name="T44" fmla="*/ 16 w 56"/>
                <a:gd name="T45" fmla="*/ 6 h 54"/>
                <a:gd name="T46" fmla="*/ 16 w 56"/>
                <a:gd name="T47" fmla="*/ 10 h 54"/>
                <a:gd name="T48" fmla="*/ 30 w 56"/>
                <a:gd name="T49" fmla="*/ 42 h 54"/>
                <a:gd name="T50" fmla="*/ 42 w 56"/>
                <a:gd name="T51" fmla="*/ 10 h 54"/>
                <a:gd name="T52" fmla="*/ 44 w 56"/>
                <a:gd name="T53" fmla="*/ 6 h 54"/>
                <a:gd name="T54" fmla="*/ 44 w 56"/>
                <a:gd name="T55" fmla="*/ 4 h 54"/>
                <a:gd name="T56" fmla="*/ 44 w 56"/>
                <a:gd name="T57" fmla="*/ 4 h 54"/>
                <a:gd name="T58" fmla="*/ 44 w 56"/>
                <a:gd name="T59" fmla="*/ 2 h 54"/>
                <a:gd name="T60" fmla="*/ 42 w 56"/>
                <a:gd name="T61" fmla="*/ 2 h 54"/>
                <a:gd name="T62" fmla="*/ 40 w 56"/>
                <a:gd name="T63" fmla="*/ 0 h 54"/>
                <a:gd name="T64" fmla="*/ 40 w 56"/>
                <a:gd name="T65" fmla="*/ 0 h 54"/>
                <a:gd name="T66" fmla="*/ 38 w 56"/>
                <a:gd name="T67" fmla="*/ 0 h 54"/>
                <a:gd name="T68" fmla="*/ 38 w 56"/>
                <a:gd name="T69" fmla="*/ 0 h 54"/>
                <a:gd name="T70" fmla="*/ 56 w 56"/>
                <a:gd name="T71" fmla="*/ 0 h 5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56"/>
                <a:gd name="T109" fmla="*/ 0 h 54"/>
                <a:gd name="T110" fmla="*/ 56 w 56"/>
                <a:gd name="T111" fmla="*/ 54 h 5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56" h="54">
                  <a:moveTo>
                    <a:pt x="56" y="0"/>
                  </a:moveTo>
                  <a:lnTo>
                    <a:pt x="56" y="0"/>
                  </a:lnTo>
                  <a:lnTo>
                    <a:pt x="52" y="2"/>
                  </a:lnTo>
                  <a:lnTo>
                    <a:pt x="50" y="2"/>
                  </a:lnTo>
                  <a:lnTo>
                    <a:pt x="48" y="6"/>
                  </a:lnTo>
                  <a:lnTo>
                    <a:pt x="48" y="8"/>
                  </a:lnTo>
                  <a:lnTo>
                    <a:pt x="30" y="54"/>
                  </a:lnTo>
                  <a:lnTo>
                    <a:pt x="28" y="54"/>
                  </a:lnTo>
                  <a:lnTo>
                    <a:pt x="8" y="8"/>
                  </a:lnTo>
                  <a:lnTo>
                    <a:pt x="6" y="6"/>
                  </a:lnTo>
                  <a:lnTo>
                    <a:pt x="6" y="4"/>
                  </a:lnTo>
                  <a:lnTo>
                    <a:pt x="4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6" y="2"/>
                  </a:lnTo>
                  <a:lnTo>
                    <a:pt x="16" y="4"/>
                  </a:lnTo>
                  <a:lnTo>
                    <a:pt x="16" y="6"/>
                  </a:lnTo>
                  <a:lnTo>
                    <a:pt x="16" y="10"/>
                  </a:lnTo>
                  <a:lnTo>
                    <a:pt x="30" y="42"/>
                  </a:lnTo>
                  <a:lnTo>
                    <a:pt x="42" y="10"/>
                  </a:lnTo>
                  <a:lnTo>
                    <a:pt x="44" y="6"/>
                  </a:lnTo>
                  <a:lnTo>
                    <a:pt x="44" y="4"/>
                  </a:lnTo>
                  <a:lnTo>
                    <a:pt x="44" y="2"/>
                  </a:lnTo>
                  <a:lnTo>
                    <a:pt x="42" y="2"/>
                  </a:lnTo>
                  <a:lnTo>
                    <a:pt x="40" y="0"/>
                  </a:lnTo>
                  <a:lnTo>
                    <a:pt x="38" y="0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71" name="Freeform 51"/>
            <p:cNvSpPr>
              <a:spLocks noEditPoints="1"/>
            </p:cNvSpPr>
            <p:nvPr/>
          </p:nvSpPr>
          <p:spPr bwMode="auto">
            <a:xfrm>
              <a:off x="2132" y="2414"/>
              <a:ext cx="48" cy="52"/>
            </a:xfrm>
            <a:custGeom>
              <a:avLst/>
              <a:gdLst>
                <a:gd name="T0" fmla="*/ 42 w 48"/>
                <a:gd name="T1" fmla="*/ 28 h 52"/>
                <a:gd name="T2" fmla="*/ 48 w 48"/>
                <a:gd name="T3" fmla="*/ 34 h 52"/>
                <a:gd name="T4" fmla="*/ 48 w 48"/>
                <a:gd name="T5" fmla="*/ 42 h 52"/>
                <a:gd name="T6" fmla="*/ 42 w 48"/>
                <a:gd name="T7" fmla="*/ 50 h 52"/>
                <a:gd name="T8" fmla="*/ 34 w 48"/>
                <a:gd name="T9" fmla="*/ 52 h 52"/>
                <a:gd name="T10" fmla="*/ 0 w 48"/>
                <a:gd name="T11" fmla="*/ 52 h 52"/>
                <a:gd name="T12" fmla="*/ 2 w 48"/>
                <a:gd name="T13" fmla="*/ 52 h 52"/>
                <a:gd name="T14" fmla="*/ 8 w 48"/>
                <a:gd name="T15" fmla="*/ 50 h 52"/>
                <a:gd name="T16" fmla="*/ 8 w 48"/>
                <a:gd name="T17" fmla="*/ 44 h 52"/>
                <a:gd name="T18" fmla="*/ 8 w 48"/>
                <a:gd name="T19" fmla="*/ 4 h 52"/>
                <a:gd name="T20" fmla="*/ 6 w 48"/>
                <a:gd name="T21" fmla="*/ 0 h 52"/>
                <a:gd name="T22" fmla="*/ 0 w 48"/>
                <a:gd name="T23" fmla="*/ 0 h 52"/>
                <a:gd name="T24" fmla="*/ 24 w 48"/>
                <a:gd name="T25" fmla="*/ 0 h 52"/>
                <a:gd name="T26" fmla="*/ 34 w 48"/>
                <a:gd name="T27" fmla="*/ 0 h 52"/>
                <a:gd name="T28" fmla="*/ 42 w 48"/>
                <a:gd name="T29" fmla="*/ 6 h 52"/>
                <a:gd name="T30" fmla="*/ 46 w 48"/>
                <a:gd name="T31" fmla="*/ 14 h 52"/>
                <a:gd name="T32" fmla="*/ 44 w 48"/>
                <a:gd name="T33" fmla="*/ 22 h 52"/>
                <a:gd name="T34" fmla="*/ 36 w 48"/>
                <a:gd name="T35" fmla="*/ 26 h 52"/>
                <a:gd name="T36" fmla="*/ 18 w 48"/>
                <a:gd name="T37" fmla="*/ 24 h 52"/>
                <a:gd name="T38" fmla="*/ 22 w 48"/>
                <a:gd name="T39" fmla="*/ 24 h 52"/>
                <a:gd name="T40" fmla="*/ 28 w 48"/>
                <a:gd name="T41" fmla="*/ 24 h 52"/>
                <a:gd name="T42" fmla="*/ 34 w 48"/>
                <a:gd name="T43" fmla="*/ 22 h 52"/>
                <a:gd name="T44" fmla="*/ 36 w 48"/>
                <a:gd name="T45" fmla="*/ 16 h 52"/>
                <a:gd name="T46" fmla="*/ 36 w 48"/>
                <a:gd name="T47" fmla="*/ 10 h 52"/>
                <a:gd name="T48" fmla="*/ 28 w 48"/>
                <a:gd name="T49" fmla="*/ 2 h 52"/>
                <a:gd name="T50" fmla="*/ 20 w 48"/>
                <a:gd name="T51" fmla="*/ 2 h 52"/>
                <a:gd name="T52" fmla="*/ 16 w 48"/>
                <a:gd name="T53" fmla="*/ 24 h 52"/>
                <a:gd name="T54" fmla="*/ 20 w 48"/>
                <a:gd name="T55" fmla="*/ 50 h 52"/>
                <a:gd name="T56" fmla="*/ 32 w 48"/>
                <a:gd name="T57" fmla="*/ 50 h 52"/>
                <a:gd name="T58" fmla="*/ 38 w 48"/>
                <a:gd name="T59" fmla="*/ 44 h 52"/>
                <a:gd name="T60" fmla="*/ 38 w 48"/>
                <a:gd name="T61" fmla="*/ 36 h 52"/>
                <a:gd name="T62" fmla="*/ 36 w 48"/>
                <a:gd name="T63" fmla="*/ 30 h 52"/>
                <a:gd name="T64" fmla="*/ 28 w 48"/>
                <a:gd name="T65" fmla="*/ 28 h 52"/>
                <a:gd name="T66" fmla="*/ 20 w 48"/>
                <a:gd name="T67" fmla="*/ 28 h 52"/>
                <a:gd name="T68" fmla="*/ 18 w 48"/>
                <a:gd name="T69" fmla="*/ 28 h 52"/>
                <a:gd name="T70" fmla="*/ 16 w 48"/>
                <a:gd name="T71" fmla="*/ 50 h 5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48"/>
                <a:gd name="T109" fmla="*/ 0 h 52"/>
                <a:gd name="T110" fmla="*/ 48 w 48"/>
                <a:gd name="T111" fmla="*/ 52 h 52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48" h="52">
                  <a:moveTo>
                    <a:pt x="36" y="26"/>
                  </a:moveTo>
                  <a:lnTo>
                    <a:pt x="42" y="28"/>
                  </a:lnTo>
                  <a:lnTo>
                    <a:pt x="44" y="30"/>
                  </a:lnTo>
                  <a:lnTo>
                    <a:pt x="48" y="34"/>
                  </a:lnTo>
                  <a:lnTo>
                    <a:pt x="48" y="38"/>
                  </a:lnTo>
                  <a:lnTo>
                    <a:pt x="48" y="42"/>
                  </a:lnTo>
                  <a:lnTo>
                    <a:pt x="46" y="46"/>
                  </a:lnTo>
                  <a:lnTo>
                    <a:pt x="42" y="50"/>
                  </a:lnTo>
                  <a:lnTo>
                    <a:pt x="40" y="52"/>
                  </a:lnTo>
                  <a:lnTo>
                    <a:pt x="34" y="52"/>
                  </a:lnTo>
                  <a:lnTo>
                    <a:pt x="26" y="52"/>
                  </a:lnTo>
                  <a:lnTo>
                    <a:pt x="0" y="52"/>
                  </a:lnTo>
                  <a:lnTo>
                    <a:pt x="2" y="52"/>
                  </a:lnTo>
                  <a:lnTo>
                    <a:pt x="6" y="52"/>
                  </a:lnTo>
                  <a:lnTo>
                    <a:pt x="8" y="50"/>
                  </a:lnTo>
                  <a:lnTo>
                    <a:pt x="8" y="48"/>
                  </a:lnTo>
                  <a:lnTo>
                    <a:pt x="8" y="44"/>
                  </a:lnTo>
                  <a:lnTo>
                    <a:pt x="8" y="8"/>
                  </a:lnTo>
                  <a:lnTo>
                    <a:pt x="8" y="4"/>
                  </a:lnTo>
                  <a:lnTo>
                    <a:pt x="8" y="2"/>
                  </a:lnTo>
                  <a:lnTo>
                    <a:pt x="6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24" y="0"/>
                  </a:lnTo>
                  <a:lnTo>
                    <a:pt x="30" y="0"/>
                  </a:lnTo>
                  <a:lnTo>
                    <a:pt x="34" y="0"/>
                  </a:lnTo>
                  <a:lnTo>
                    <a:pt x="40" y="2"/>
                  </a:lnTo>
                  <a:lnTo>
                    <a:pt x="42" y="6"/>
                  </a:lnTo>
                  <a:lnTo>
                    <a:pt x="46" y="10"/>
                  </a:lnTo>
                  <a:lnTo>
                    <a:pt x="46" y="14"/>
                  </a:lnTo>
                  <a:lnTo>
                    <a:pt x="46" y="18"/>
                  </a:lnTo>
                  <a:lnTo>
                    <a:pt x="44" y="22"/>
                  </a:lnTo>
                  <a:lnTo>
                    <a:pt x="40" y="24"/>
                  </a:lnTo>
                  <a:lnTo>
                    <a:pt x="36" y="26"/>
                  </a:lnTo>
                  <a:close/>
                  <a:moveTo>
                    <a:pt x="16" y="24"/>
                  </a:moveTo>
                  <a:lnTo>
                    <a:pt x="18" y="24"/>
                  </a:lnTo>
                  <a:lnTo>
                    <a:pt x="20" y="24"/>
                  </a:lnTo>
                  <a:lnTo>
                    <a:pt x="22" y="24"/>
                  </a:lnTo>
                  <a:lnTo>
                    <a:pt x="24" y="24"/>
                  </a:lnTo>
                  <a:lnTo>
                    <a:pt x="28" y="24"/>
                  </a:lnTo>
                  <a:lnTo>
                    <a:pt x="32" y="24"/>
                  </a:lnTo>
                  <a:lnTo>
                    <a:pt x="34" y="22"/>
                  </a:lnTo>
                  <a:lnTo>
                    <a:pt x="36" y="20"/>
                  </a:lnTo>
                  <a:lnTo>
                    <a:pt x="36" y="16"/>
                  </a:lnTo>
                  <a:lnTo>
                    <a:pt x="36" y="14"/>
                  </a:lnTo>
                  <a:lnTo>
                    <a:pt x="36" y="10"/>
                  </a:lnTo>
                  <a:lnTo>
                    <a:pt x="34" y="6"/>
                  </a:lnTo>
                  <a:lnTo>
                    <a:pt x="28" y="2"/>
                  </a:lnTo>
                  <a:lnTo>
                    <a:pt x="22" y="2"/>
                  </a:lnTo>
                  <a:lnTo>
                    <a:pt x="20" y="2"/>
                  </a:lnTo>
                  <a:lnTo>
                    <a:pt x="16" y="2"/>
                  </a:lnTo>
                  <a:lnTo>
                    <a:pt x="16" y="24"/>
                  </a:lnTo>
                  <a:close/>
                  <a:moveTo>
                    <a:pt x="16" y="50"/>
                  </a:moveTo>
                  <a:lnTo>
                    <a:pt x="20" y="50"/>
                  </a:lnTo>
                  <a:lnTo>
                    <a:pt x="24" y="50"/>
                  </a:lnTo>
                  <a:lnTo>
                    <a:pt x="32" y="50"/>
                  </a:lnTo>
                  <a:lnTo>
                    <a:pt x="36" y="48"/>
                  </a:lnTo>
                  <a:lnTo>
                    <a:pt x="38" y="44"/>
                  </a:lnTo>
                  <a:lnTo>
                    <a:pt x="40" y="40"/>
                  </a:lnTo>
                  <a:lnTo>
                    <a:pt x="38" y="36"/>
                  </a:lnTo>
                  <a:lnTo>
                    <a:pt x="38" y="34"/>
                  </a:lnTo>
                  <a:lnTo>
                    <a:pt x="36" y="30"/>
                  </a:lnTo>
                  <a:lnTo>
                    <a:pt x="32" y="28"/>
                  </a:lnTo>
                  <a:lnTo>
                    <a:pt x="28" y="28"/>
                  </a:lnTo>
                  <a:lnTo>
                    <a:pt x="22" y="28"/>
                  </a:lnTo>
                  <a:lnTo>
                    <a:pt x="20" y="28"/>
                  </a:lnTo>
                  <a:lnTo>
                    <a:pt x="18" y="28"/>
                  </a:lnTo>
                  <a:lnTo>
                    <a:pt x="16" y="28"/>
                  </a:lnTo>
                  <a:lnTo>
                    <a:pt x="16" y="5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72" name="Freeform 52"/>
            <p:cNvSpPr>
              <a:spLocks noEditPoints="1"/>
            </p:cNvSpPr>
            <p:nvPr/>
          </p:nvSpPr>
          <p:spPr bwMode="auto">
            <a:xfrm>
              <a:off x="2186" y="2414"/>
              <a:ext cx="54" cy="52"/>
            </a:xfrm>
            <a:custGeom>
              <a:avLst/>
              <a:gdLst>
                <a:gd name="T0" fmla="*/ 0 w 54"/>
                <a:gd name="T1" fmla="*/ 52 h 52"/>
                <a:gd name="T2" fmla="*/ 0 w 54"/>
                <a:gd name="T3" fmla="*/ 52 h 52"/>
                <a:gd name="T4" fmla="*/ 2 w 54"/>
                <a:gd name="T5" fmla="*/ 52 h 52"/>
                <a:gd name="T6" fmla="*/ 6 w 54"/>
                <a:gd name="T7" fmla="*/ 52 h 52"/>
                <a:gd name="T8" fmla="*/ 6 w 54"/>
                <a:gd name="T9" fmla="*/ 50 h 52"/>
                <a:gd name="T10" fmla="*/ 8 w 54"/>
                <a:gd name="T11" fmla="*/ 48 h 52"/>
                <a:gd name="T12" fmla="*/ 8 w 54"/>
                <a:gd name="T13" fmla="*/ 44 h 52"/>
                <a:gd name="T14" fmla="*/ 8 w 54"/>
                <a:gd name="T15" fmla="*/ 8 h 52"/>
                <a:gd name="T16" fmla="*/ 8 w 54"/>
                <a:gd name="T17" fmla="*/ 4 h 52"/>
                <a:gd name="T18" fmla="*/ 6 w 54"/>
                <a:gd name="T19" fmla="*/ 2 h 52"/>
                <a:gd name="T20" fmla="*/ 4 w 54"/>
                <a:gd name="T21" fmla="*/ 0 h 52"/>
                <a:gd name="T22" fmla="*/ 2 w 54"/>
                <a:gd name="T23" fmla="*/ 0 h 52"/>
                <a:gd name="T24" fmla="*/ 0 w 54"/>
                <a:gd name="T25" fmla="*/ 0 h 52"/>
                <a:gd name="T26" fmla="*/ 0 w 54"/>
                <a:gd name="T27" fmla="*/ 0 h 52"/>
                <a:gd name="T28" fmla="*/ 22 w 54"/>
                <a:gd name="T29" fmla="*/ 0 h 52"/>
                <a:gd name="T30" fmla="*/ 30 w 54"/>
                <a:gd name="T31" fmla="*/ 0 h 52"/>
                <a:gd name="T32" fmla="*/ 36 w 54"/>
                <a:gd name="T33" fmla="*/ 0 h 52"/>
                <a:gd name="T34" fmla="*/ 40 w 54"/>
                <a:gd name="T35" fmla="*/ 2 h 52"/>
                <a:gd name="T36" fmla="*/ 46 w 54"/>
                <a:gd name="T37" fmla="*/ 6 h 52"/>
                <a:gd name="T38" fmla="*/ 50 w 54"/>
                <a:gd name="T39" fmla="*/ 12 h 52"/>
                <a:gd name="T40" fmla="*/ 52 w 54"/>
                <a:gd name="T41" fmla="*/ 18 h 52"/>
                <a:gd name="T42" fmla="*/ 54 w 54"/>
                <a:gd name="T43" fmla="*/ 26 h 52"/>
                <a:gd name="T44" fmla="*/ 52 w 54"/>
                <a:gd name="T45" fmla="*/ 32 h 52"/>
                <a:gd name="T46" fmla="*/ 50 w 54"/>
                <a:gd name="T47" fmla="*/ 40 h 52"/>
                <a:gd name="T48" fmla="*/ 46 w 54"/>
                <a:gd name="T49" fmla="*/ 44 h 52"/>
                <a:gd name="T50" fmla="*/ 40 w 54"/>
                <a:gd name="T51" fmla="*/ 50 h 52"/>
                <a:gd name="T52" fmla="*/ 34 w 54"/>
                <a:gd name="T53" fmla="*/ 52 h 52"/>
                <a:gd name="T54" fmla="*/ 24 w 54"/>
                <a:gd name="T55" fmla="*/ 52 h 52"/>
                <a:gd name="T56" fmla="*/ 0 w 54"/>
                <a:gd name="T57" fmla="*/ 52 h 52"/>
                <a:gd name="T58" fmla="*/ 16 w 54"/>
                <a:gd name="T59" fmla="*/ 50 h 52"/>
                <a:gd name="T60" fmla="*/ 20 w 54"/>
                <a:gd name="T61" fmla="*/ 50 h 52"/>
                <a:gd name="T62" fmla="*/ 24 w 54"/>
                <a:gd name="T63" fmla="*/ 50 h 52"/>
                <a:gd name="T64" fmla="*/ 30 w 54"/>
                <a:gd name="T65" fmla="*/ 50 h 52"/>
                <a:gd name="T66" fmla="*/ 34 w 54"/>
                <a:gd name="T67" fmla="*/ 48 h 52"/>
                <a:gd name="T68" fmla="*/ 38 w 54"/>
                <a:gd name="T69" fmla="*/ 44 h 52"/>
                <a:gd name="T70" fmla="*/ 42 w 54"/>
                <a:gd name="T71" fmla="*/ 40 h 52"/>
                <a:gd name="T72" fmla="*/ 44 w 54"/>
                <a:gd name="T73" fmla="*/ 34 h 52"/>
                <a:gd name="T74" fmla="*/ 44 w 54"/>
                <a:gd name="T75" fmla="*/ 26 h 52"/>
                <a:gd name="T76" fmla="*/ 44 w 54"/>
                <a:gd name="T77" fmla="*/ 20 h 52"/>
                <a:gd name="T78" fmla="*/ 42 w 54"/>
                <a:gd name="T79" fmla="*/ 14 h 52"/>
                <a:gd name="T80" fmla="*/ 38 w 54"/>
                <a:gd name="T81" fmla="*/ 8 h 52"/>
                <a:gd name="T82" fmla="*/ 34 w 54"/>
                <a:gd name="T83" fmla="*/ 4 h 52"/>
                <a:gd name="T84" fmla="*/ 30 w 54"/>
                <a:gd name="T85" fmla="*/ 2 h 52"/>
                <a:gd name="T86" fmla="*/ 24 w 54"/>
                <a:gd name="T87" fmla="*/ 2 h 52"/>
                <a:gd name="T88" fmla="*/ 20 w 54"/>
                <a:gd name="T89" fmla="*/ 2 h 52"/>
                <a:gd name="T90" fmla="*/ 16 w 54"/>
                <a:gd name="T91" fmla="*/ 4 h 52"/>
                <a:gd name="T92" fmla="*/ 16 w 54"/>
                <a:gd name="T93" fmla="*/ 50 h 52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54"/>
                <a:gd name="T142" fmla="*/ 0 h 52"/>
                <a:gd name="T143" fmla="*/ 54 w 54"/>
                <a:gd name="T144" fmla="*/ 52 h 52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54" h="52">
                  <a:moveTo>
                    <a:pt x="0" y="52"/>
                  </a:moveTo>
                  <a:lnTo>
                    <a:pt x="0" y="52"/>
                  </a:lnTo>
                  <a:lnTo>
                    <a:pt x="2" y="52"/>
                  </a:lnTo>
                  <a:lnTo>
                    <a:pt x="6" y="52"/>
                  </a:lnTo>
                  <a:lnTo>
                    <a:pt x="6" y="50"/>
                  </a:lnTo>
                  <a:lnTo>
                    <a:pt x="8" y="48"/>
                  </a:lnTo>
                  <a:lnTo>
                    <a:pt x="8" y="44"/>
                  </a:lnTo>
                  <a:lnTo>
                    <a:pt x="8" y="8"/>
                  </a:lnTo>
                  <a:lnTo>
                    <a:pt x="8" y="4"/>
                  </a:lnTo>
                  <a:lnTo>
                    <a:pt x="6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22" y="0"/>
                  </a:lnTo>
                  <a:lnTo>
                    <a:pt x="30" y="0"/>
                  </a:lnTo>
                  <a:lnTo>
                    <a:pt x="36" y="0"/>
                  </a:lnTo>
                  <a:lnTo>
                    <a:pt x="40" y="2"/>
                  </a:lnTo>
                  <a:lnTo>
                    <a:pt x="46" y="6"/>
                  </a:lnTo>
                  <a:lnTo>
                    <a:pt x="50" y="12"/>
                  </a:lnTo>
                  <a:lnTo>
                    <a:pt x="52" y="18"/>
                  </a:lnTo>
                  <a:lnTo>
                    <a:pt x="54" y="26"/>
                  </a:lnTo>
                  <a:lnTo>
                    <a:pt x="52" y="32"/>
                  </a:lnTo>
                  <a:lnTo>
                    <a:pt x="50" y="40"/>
                  </a:lnTo>
                  <a:lnTo>
                    <a:pt x="46" y="44"/>
                  </a:lnTo>
                  <a:lnTo>
                    <a:pt x="40" y="50"/>
                  </a:lnTo>
                  <a:lnTo>
                    <a:pt x="34" y="52"/>
                  </a:lnTo>
                  <a:lnTo>
                    <a:pt x="24" y="52"/>
                  </a:lnTo>
                  <a:lnTo>
                    <a:pt x="0" y="52"/>
                  </a:lnTo>
                  <a:close/>
                  <a:moveTo>
                    <a:pt x="16" y="50"/>
                  </a:moveTo>
                  <a:lnTo>
                    <a:pt x="20" y="50"/>
                  </a:lnTo>
                  <a:lnTo>
                    <a:pt x="24" y="50"/>
                  </a:lnTo>
                  <a:lnTo>
                    <a:pt x="30" y="50"/>
                  </a:lnTo>
                  <a:lnTo>
                    <a:pt x="34" y="48"/>
                  </a:lnTo>
                  <a:lnTo>
                    <a:pt x="38" y="44"/>
                  </a:lnTo>
                  <a:lnTo>
                    <a:pt x="42" y="40"/>
                  </a:lnTo>
                  <a:lnTo>
                    <a:pt x="44" y="34"/>
                  </a:lnTo>
                  <a:lnTo>
                    <a:pt x="44" y="26"/>
                  </a:lnTo>
                  <a:lnTo>
                    <a:pt x="44" y="20"/>
                  </a:lnTo>
                  <a:lnTo>
                    <a:pt x="42" y="14"/>
                  </a:lnTo>
                  <a:lnTo>
                    <a:pt x="38" y="8"/>
                  </a:lnTo>
                  <a:lnTo>
                    <a:pt x="34" y="4"/>
                  </a:lnTo>
                  <a:lnTo>
                    <a:pt x="30" y="2"/>
                  </a:lnTo>
                  <a:lnTo>
                    <a:pt x="24" y="2"/>
                  </a:lnTo>
                  <a:lnTo>
                    <a:pt x="20" y="2"/>
                  </a:lnTo>
                  <a:lnTo>
                    <a:pt x="16" y="4"/>
                  </a:lnTo>
                  <a:lnTo>
                    <a:pt x="16" y="5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73" name="Freeform 53"/>
            <p:cNvSpPr/>
            <p:nvPr/>
          </p:nvSpPr>
          <p:spPr bwMode="auto">
            <a:xfrm>
              <a:off x="2246" y="2412"/>
              <a:ext cx="22" cy="72"/>
            </a:xfrm>
            <a:custGeom>
              <a:avLst/>
              <a:gdLst>
                <a:gd name="T0" fmla="*/ 22 w 22"/>
                <a:gd name="T1" fmla="*/ 70 h 72"/>
                <a:gd name="T2" fmla="*/ 22 w 22"/>
                <a:gd name="T3" fmla="*/ 72 h 72"/>
                <a:gd name="T4" fmla="*/ 16 w 22"/>
                <a:gd name="T5" fmla="*/ 68 h 72"/>
                <a:gd name="T6" fmla="*/ 12 w 22"/>
                <a:gd name="T7" fmla="*/ 64 h 72"/>
                <a:gd name="T8" fmla="*/ 6 w 22"/>
                <a:gd name="T9" fmla="*/ 58 h 72"/>
                <a:gd name="T10" fmla="*/ 4 w 22"/>
                <a:gd name="T11" fmla="*/ 52 h 72"/>
                <a:gd name="T12" fmla="*/ 0 w 22"/>
                <a:gd name="T13" fmla="*/ 44 h 72"/>
                <a:gd name="T14" fmla="*/ 0 w 22"/>
                <a:gd name="T15" fmla="*/ 36 h 72"/>
                <a:gd name="T16" fmla="*/ 0 w 22"/>
                <a:gd name="T17" fmla="*/ 28 h 72"/>
                <a:gd name="T18" fmla="*/ 2 w 22"/>
                <a:gd name="T19" fmla="*/ 20 h 72"/>
                <a:gd name="T20" fmla="*/ 6 w 22"/>
                <a:gd name="T21" fmla="*/ 14 h 72"/>
                <a:gd name="T22" fmla="*/ 10 w 22"/>
                <a:gd name="T23" fmla="*/ 8 h 72"/>
                <a:gd name="T24" fmla="*/ 16 w 22"/>
                <a:gd name="T25" fmla="*/ 4 h 72"/>
                <a:gd name="T26" fmla="*/ 22 w 22"/>
                <a:gd name="T27" fmla="*/ 0 h 72"/>
                <a:gd name="T28" fmla="*/ 22 w 22"/>
                <a:gd name="T29" fmla="*/ 2 h 72"/>
                <a:gd name="T30" fmla="*/ 18 w 22"/>
                <a:gd name="T31" fmla="*/ 4 h 72"/>
                <a:gd name="T32" fmla="*/ 14 w 22"/>
                <a:gd name="T33" fmla="*/ 8 h 72"/>
                <a:gd name="T34" fmla="*/ 12 w 22"/>
                <a:gd name="T35" fmla="*/ 14 h 72"/>
                <a:gd name="T36" fmla="*/ 10 w 22"/>
                <a:gd name="T37" fmla="*/ 20 h 72"/>
                <a:gd name="T38" fmla="*/ 8 w 22"/>
                <a:gd name="T39" fmla="*/ 28 h 72"/>
                <a:gd name="T40" fmla="*/ 8 w 22"/>
                <a:gd name="T41" fmla="*/ 34 h 72"/>
                <a:gd name="T42" fmla="*/ 8 w 22"/>
                <a:gd name="T43" fmla="*/ 42 h 72"/>
                <a:gd name="T44" fmla="*/ 10 w 22"/>
                <a:gd name="T45" fmla="*/ 50 h 72"/>
                <a:gd name="T46" fmla="*/ 10 w 22"/>
                <a:gd name="T47" fmla="*/ 54 h 72"/>
                <a:gd name="T48" fmla="*/ 12 w 22"/>
                <a:gd name="T49" fmla="*/ 58 h 72"/>
                <a:gd name="T50" fmla="*/ 14 w 22"/>
                <a:gd name="T51" fmla="*/ 62 h 72"/>
                <a:gd name="T52" fmla="*/ 16 w 22"/>
                <a:gd name="T53" fmla="*/ 64 h 72"/>
                <a:gd name="T54" fmla="*/ 18 w 22"/>
                <a:gd name="T55" fmla="*/ 68 h 72"/>
                <a:gd name="T56" fmla="*/ 22 w 22"/>
                <a:gd name="T57" fmla="*/ 70 h 7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2"/>
                <a:gd name="T88" fmla="*/ 0 h 72"/>
                <a:gd name="T89" fmla="*/ 22 w 22"/>
                <a:gd name="T90" fmla="*/ 72 h 7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2" h="72">
                  <a:moveTo>
                    <a:pt x="22" y="70"/>
                  </a:moveTo>
                  <a:lnTo>
                    <a:pt x="22" y="72"/>
                  </a:lnTo>
                  <a:lnTo>
                    <a:pt x="16" y="68"/>
                  </a:lnTo>
                  <a:lnTo>
                    <a:pt x="12" y="64"/>
                  </a:lnTo>
                  <a:lnTo>
                    <a:pt x="6" y="58"/>
                  </a:lnTo>
                  <a:lnTo>
                    <a:pt x="4" y="52"/>
                  </a:lnTo>
                  <a:lnTo>
                    <a:pt x="0" y="44"/>
                  </a:lnTo>
                  <a:lnTo>
                    <a:pt x="0" y="36"/>
                  </a:lnTo>
                  <a:lnTo>
                    <a:pt x="0" y="28"/>
                  </a:lnTo>
                  <a:lnTo>
                    <a:pt x="2" y="20"/>
                  </a:lnTo>
                  <a:lnTo>
                    <a:pt x="6" y="14"/>
                  </a:lnTo>
                  <a:lnTo>
                    <a:pt x="10" y="8"/>
                  </a:lnTo>
                  <a:lnTo>
                    <a:pt x="16" y="4"/>
                  </a:lnTo>
                  <a:lnTo>
                    <a:pt x="22" y="0"/>
                  </a:lnTo>
                  <a:lnTo>
                    <a:pt x="22" y="2"/>
                  </a:lnTo>
                  <a:lnTo>
                    <a:pt x="18" y="4"/>
                  </a:lnTo>
                  <a:lnTo>
                    <a:pt x="14" y="8"/>
                  </a:lnTo>
                  <a:lnTo>
                    <a:pt x="12" y="14"/>
                  </a:lnTo>
                  <a:lnTo>
                    <a:pt x="10" y="20"/>
                  </a:lnTo>
                  <a:lnTo>
                    <a:pt x="8" y="28"/>
                  </a:lnTo>
                  <a:lnTo>
                    <a:pt x="8" y="34"/>
                  </a:lnTo>
                  <a:lnTo>
                    <a:pt x="8" y="42"/>
                  </a:lnTo>
                  <a:lnTo>
                    <a:pt x="10" y="50"/>
                  </a:lnTo>
                  <a:lnTo>
                    <a:pt x="10" y="54"/>
                  </a:lnTo>
                  <a:lnTo>
                    <a:pt x="12" y="58"/>
                  </a:lnTo>
                  <a:lnTo>
                    <a:pt x="14" y="62"/>
                  </a:lnTo>
                  <a:lnTo>
                    <a:pt x="16" y="64"/>
                  </a:lnTo>
                  <a:lnTo>
                    <a:pt x="18" y="68"/>
                  </a:lnTo>
                  <a:lnTo>
                    <a:pt x="22" y="7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74" name="Freeform 54"/>
            <p:cNvSpPr>
              <a:spLocks noEditPoints="1"/>
            </p:cNvSpPr>
            <p:nvPr/>
          </p:nvSpPr>
          <p:spPr bwMode="auto">
            <a:xfrm>
              <a:off x="2272" y="2412"/>
              <a:ext cx="36" cy="56"/>
            </a:xfrm>
            <a:custGeom>
              <a:avLst/>
              <a:gdLst>
                <a:gd name="T0" fmla="*/ 26 w 36"/>
                <a:gd name="T1" fmla="*/ 50 h 56"/>
                <a:gd name="T2" fmla="*/ 22 w 36"/>
                <a:gd name="T3" fmla="*/ 52 h 56"/>
                <a:gd name="T4" fmla="*/ 20 w 36"/>
                <a:gd name="T5" fmla="*/ 54 h 56"/>
                <a:gd name="T6" fmla="*/ 18 w 36"/>
                <a:gd name="T7" fmla="*/ 56 h 56"/>
                <a:gd name="T8" fmla="*/ 14 w 36"/>
                <a:gd name="T9" fmla="*/ 56 h 56"/>
                <a:gd name="T10" fmla="*/ 10 w 36"/>
                <a:gd name="T11" fmla="*/ 54 h 56"/>
                <a:gd name="T12" fmla="*/ 4 w 36"/>
                <a:gd name="T13" fmla="*/ 50 h 56"/>
                <a:gd name="T14" fmla="*/ 2 w 36"/>
                <a:gd name="T15" fmla="*/ 46 h 56"/>
                <a:gd name="T16" fmla="*/ 0 w 36"/>
                <a:gd name="T17" fmla="*/ 38 h 56"/>
                <a:gd name="T18" fmla="*/ 2 w 36"/>
                <a:gd name="T19" fmla="*/ 32 h 56"/>
                <a:gd name="T20" fmla="*/ 4 w 36"/>
                <a:gd name="T21" fmla="*/ 24 h 56"/>
                <a:gd name="T22" fmla="*/ 8 w 36"/>
                <a:gd name="T23" fmla="*/ 22 h 56"/>
                <a:gd name="T24" fmla="*/ 12 w 36"/>
                <a:gd name="T25" fmla="*/ 18 h 56"/>
                <a:gd name="T26" fmla="*/ 18 w 36"/>
                <a:gd name="T27" fmla="*/ 18 h 56"/>
                <a:gd name="T28" fmla="*/ 22 w 36"/>
                <a:gd name="T29" fmla="*/ 20 h 56"/>
                <a:gd name="T30" fmla="*/ 26 w 36"/>
                <a:gd name="T31" fmla="*/ 22 h 56"/>
                <a:gd name="T32" fmla="*/ 26 w 36"/>
                <a:gd name="T33" fmla="*/ 14 h 56"/>
                <a:gd name="T34" fmla="*/ 24 w 36"/>
                <a:gd name="T35" fmla="*/ 8 h 56"/>
                <a:gd name="T36" fmla="*/ 24 w 36"/>
                <a:gd name="T37" fmla="*/ 6 h 56"/>
                <a:gd name="T38" fmla="*/ 24 w 36"/>
                <a:gd name="T39" fmla="*/ 4 h 56"/>
                <a:gd name="T40" fmla="*/ 24 w 36"/>
                <a:gd name="T41" fmla="*/ 4 h 56"/>
                <a:gd name="T42" fmla="*/ 24 w 36"/>
                <a:gd name="T43" fmla="*/ 4 h 56"/>
                <a:gd name="T44" fmla="*/ 22 w 36"/>
                <a:gd name="T45" fmla="*/ 4 h 56"/>
                <a:gd name="T46" fmla="*/ 22 w 36"/>
                <a:gd name="T47" fmla="*/ 4 h 56"/>
                <a:gd name="T48" fmla="*/ 20 w 36"/>
                <a:gd name="T49" fmla="*/ 4 h 56"/>
                <a:gd name="T50" fmla="*/ 20 w 36"/>
                <a:gd name="T51" fmla="*/ 4 h 56"/>
                <a:gd name="T52" fmla="*/ 30 w 36"/>
                <a:gd name="T53" fmla="*/ 0 h 56"/>
                <a:gd name="T54" fmla="*/ 32 w 36"/>
                <a:gd name="T55" fmla="*/ 0 h 56"/>
                <a:gd name="T56" fmla="*/ 32 w 36"/>
                <a:gd name="T57" fmla="*/ 40 h 56"/>
                <a:gd name="T58" fmla="*/ 32 w 36"/>
                <a:gd name="T59" fmla="*/ 46 h 56"/>
                <a:gd name="T60" fmla="*/ 32 w 36"/>
                <a:gd name="T61" fmla="*/ 48 h 56"/>
                <a:gd name="T62" fmla="*/ 32 w 36"/>
                <a:gd name="T63" fmla="*/ 50 h 56"/>
                <a:gd name="T64" fmla="*/ 32 w 36"/>
                <a:gd name="T65" fmla="*/ 50 h 56"/>
                <a:gd name="T66" fmla="*/ 34 w 36"/>
                <a:gd name="T67" fmla="*/ 52 h 56"/>
                <a:gd name="T68" fmla="*/ 34 w 36"/>
                <a:gd name="T69" fmla="*/ 52 h 56"/>
                <a:gd name="T70" fmla="*/ 36 w 36"/>
                <a:gd name="T71" fmla="*/ 52 h 56"/>
                <a:gd name="T72" fmla="*/ 36 w 36"/>
                <a:gd name="T73" fmla="*/ 50 h 56"/>
                <a:gd name="T74" fmla="*/ 36 w 36"/>
                <a:gd name="T75" fmla="*/ 52 h 56"/>
                <a:gd name="T76" fmla="*/ 26 w 36"/>
                <a:gd name="T77" fmla="*/ 56 h 56"/>
                <a:gd name="T78" fmla="*/ 26 w 36"/>
                <a:gd name="T79" fmla="*/ 56 h 56"/>
                <a:gd name="T80" fmla="*/ 26 w 36"/>
                <a:gd name="T81" fmla="*/ 50 h 56"/>
                <a:gd name="T82" fmla="*/ 26 w 36"/>
                <a:gd name="T83" fmla="*/ 46 h 56"/>
                <a:gd name="T84" fmla="*/ 26 w 36"/>
                <a:gd name="T85" fmla="*/ 30 h 56"/>
                <a:gd name="T86" fmla="*/ 24 w 36"/>
                <a:gd name="T87" fmla="*/ 28 h 56"/>
                <a:gd name="T88" fmla="*/ 24 w 36"/>
                <a:gd name="T89" fmla="*/ 24 h 56"/>
                <a:gd name="T90" fmla="*/ 22 w 36"/>
                <a:gd name="T91" fmla="*/ 24 h 56"/>
                <a:gd name="T92" fmla="*/ 20 w 36"/>
                <a:gd name="T93" fmla="*/ 22 h 56"/>
                <a:gd name="T94" fmla="*/ 18 w 36"/>
                <a:gd name="T95" fmla="*/ 20 h 56"/>
                <a:gd name="T96" fmla="*/ 16 w 36"/>
                <a:gd name="T97" fmla="*/ 20 h 56"/>
                <a:gd name="T98" fmla="*/ 14 w 36"/>
                <a:gd name="T99" fmla="*/ 22 h 56"/>
                <a:gd name="T100" fmla="*/ 10 w 36"/>
                <a:gd name="T101" fmla="*/ 24 h 56"/>
                <a:gd name="T102" fmla="*/ 8 w 36"/>
                <a:gd name="T103" fmla="*/ 28 h 56"/>
                <a:gd name="T104" fmla="*/ 6 w 36"/>
                <a:gd name="T105" fmla="*/ 36 h 56"/>
                <a:gd name="T106" fmla="*/ 8 w 36"/>
                <a:gd name="T107" fmla="*/ 42 h 56"/>
                <a:gd name="T108" fmla="*/ 10 w 36"/>
                <a:gd name="T109" fmla="*/ 46 h 56"/>
                <a:gd name="T110" fmla="*/ 14 w 36"/>
                <a:gd name="T111" fmla="*/ 50 h 56"/>
                <a:gd name="T112" fmla="*/ 18 w 36"/>
                <a:gd name="T113" fmla="*/ 50 h 56"/>
                <a:gd name="T114" fmla="*/ 22 w 36"/>
                <a:gd name="T115" fmla="*/ 50 h 56"/>
                <a:gd name="T116" fmla="*/ 26 w 36"/>
                <a:gd name="T117" fmla="*/ 46 h 5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36"/>
                <a:gd name="T178" fmla="*/ 0 h 56"/>
                <a:gd name="T179" fmla="*/ 36 w 36"/>
                <a:gd name="T180" fmla="*/ 56 h 5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36" h="56">
                  <a:moveTo>
                    <a:pt x="26" y="50"/>
                  </a:moveTo>
                  <a:lnTo>
                    <a:pt x="22" y="52"/>
                  </a:lnTo>
                  <a:lnTo>
                    <a:pt x="20" y="54"/>
                  </a:lnTo>
                  <a:lnTo>
                    <a:pt x="18" y="56"/>
                  </a:lnTo>
                  <a:lnTo>
                    <a:pt x="14" y="56"/>
                  </a:lnTo>
                  <a:lnTo>
                    <a:pt x="10" y="54"/>
                  </a:lnTo>
                  <a:lnTo>
                    <a:pt x="4" y="50"/>
                  </a:lnTo>
                  <a:lnTo>
                    <a:pt x="2" y="46"/>
                  </a:lnTo>
                  <a:lnTo>
                    <a:pt x="0" y="38"/>
                  </a:lnTo>
                  <a:lnTo>
                    <a:pt x="2" y="32"/>
                  </a:lnTo>
                  <a:lnTo>
                    <a:pt x="4" y="24"/>
                  </a:lnTo>
                  <a:lnTo>
                    <a:pt x="8" y="22"/>
                  </a:lnTo>
                  <a:lnTo>
                    <a:pt x="12" y="18"/>
                  </a:lnTo>
                  <a:lnTo>
                    <a:pt x="18" y="18"/>
                  </a:lnTo>
                  <a:lnTo>
                    <a:pt x="22" y="20"/>
                  </a:lnTo>
                  <a:lnTo>
                    <a:pt x="26" y="22"/>
                  </a:lnTo>
                  <a:lnTo>
                    <a:pt x="26" y="14"/>
                  </a:lnTo>
                  <a:lnTo>
                    <a:pt x="24" y="8"/>
                  </a:lnTo>
                  <a:lnTo>
                    <a:pt x="24" y="6"/>
                  </a:lnTo>
                  <a:lnTo>
                    <a:pt x="24" y="4"/>
                  </a:lnTo>
                  <a:lnTo>
                    <a:pt x="22" y="4"/>
                  </a:lnTo>
                  <a:lnTo>
                    <a:pt x="20" y="4"/>
                  </a:lnTo>
                  <a:lnTo>
                    <a:pt x="30" y="0"/>
                  </a:lnTo>
                  <a:lnTo>
                    <a:pt x="32" y="0"/>
                  </a:lnTo>
                  <a:lnTo>
                    <a:pt x="32" y="40"/>
                  </a:lnTo>
                  <a:lnTo>
                    <a:pt x="32" y="46"/>
                  </a:lnTo>
                  <a:lnTo>
                    <a:pt x="32" y="48"/>
                  </a:lnTo>
                  <a:lnTo>
                    <a:pt x="32" y="50"/>
                  </a:lnTo>
                  <a:lnTo>
                    <a:pt x="34" y="52"/>
                  </a:lnTo>
                  <a:lnTo>
                    <a:pt x="36" y="52"/>
                  </a:lnTo>
                  <a:lnTo>
                    <a:pt x="36" y="50"/>
                  </a:lnTo>
                  <a:lnTo>
                    <a:pt x="36" y="52"/>
                  </a:lnTo>
                  <a:lnTo>
                    <a:pt x="26" y="56"/>
                  </a:lnTo>
                  <a:lnTo>
                    <a:pt x="26" y="50"/>
                  </a:lnTo>
                  <a:close/>
                  <a:moveTo>
                    <a:pt x="26" y="46"/>
                  </a:moveTo>
                  <a:lnTo>
                    <a:pt x="26" y="30"/>
                  </a:lnTo>
                  <a:lnTo>
                    <a:pt x="24" y="28"/>
                  </a:lnTo>
                  <a:lnTo>
                    <a:pt x="24" y="24"/>
                  </a:lnTo>
                  <a:lnTo>
                    <a:pt x="22" y="24"/>
                  </a:lnTo>
                  <a:lnTo>
                    <a:pt x="20" y="22"/>
                  </a:lnTo>
                  <a:lnTo>
                    <a:pt x="18" y="20"/>
                  </a:lnTo>
                  <a:lnTo>
                    <a:pt x="16" y="20"/>
                  </a:lnTo>
                  <a:lnTo>
                    <a:pt x="14" y="22"/>
                  </a:lnTo>
                  <a:lnTo>
                    <a:pt x="10" y="24"/>
                  </a:lnTo>
                  <a:lnTo>
                    <a:pt x="8" y="28"/>
                  </a:lnTo>
                  <a:lnTo>
                    <a:pt x="6" y="36"/>
                  </a:lnTo>
                  <a:lnTo>
                    <a:pt x="8" y="42"/>
                  </a:lnTo>
                  <a:lnTo>
                    <a:pt x="10" y="46"/>
                  </a:lnTo>
                  <a:lnTo>
                    <a:pt x="14" y="50"/>
                  </a:lnTo>
                  <a:lnTo>
                    <a:pt x="18" y="50"/>
                  </a:lnTo>
                  <a:lnTo>
                    <a:pt x="22" y="50"/>
                  </a:lnTo>
                  <a:lnTo>
                    <a:pt x="26" y="4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75" name="Freeform 55"/>
            <p:cNvSpPr/>
            <p:nvPr/>
          </p:nvSpPr>
          <p:spPr bwMode="auto">
            <a:xfrm>
              <a:off x="2310" y="2432"/>
              <a:ext cx="38" cy="36"/>
            </a:xfrm>
            <a:custGeom>
              <a:avLst/>
              <a:gdLst>
                <a:gd name="T0" fmla="*/ 34 w 38"/>
                <a:gd name="T1" fmla="*/ 0 h 36"/>
                <a:gd name="T2" fmla="*/ 34 w 38"/>
                <a:gd name="T3" fmla="*/ 20 h 36"/>
                <a:gd name="T4" fmla="*/ 34 w 38"/>
                <a:gd name="T5" fmla="*/ 26 h 36"/>
                <a:gd name="T6" fmla="*/ 34 w 38"/>
                <a:gd name="T7" fmla="*/ 28 h 36"/>
                <a:gd name="T8" fmla="*/ 34 w 38"/>
                <a:gd name="T9" fmla="*/ 30 h 36"/>
                <a:gd name="T10" fmla="*/ 34 w 38"/>
                <a:gd name="T11" fmla="*/ 30 h 36"/>
                <a:gd name="T12" fmla="*/ 36 w 38"/>
                <a:gd name="T13" fmla="*/ 32 h 36"/>
                <a:gd name="T14" fmla="*/ 36 w 38"/>
                <a:gd name="T15" fmla="*/ 32 h 36"/>
                <a:gd name="T16" fmla="*/ 38 w 38"/>
                <a:gd name="T17" fmla="*/ 32 h 36"/>
                <a:gd name="T18" fmla="*/ 38 w 38"/>
                <a:gd name="T19" fmla="*/ 30 h 36"/>
                <a:gd name="T20" fmla="*/ 38 w 38"/>
                <a:gd name="T21" fmla="*/ 32 h 36"/>
                <a:gd name="T22" fmla="*/ 28 w 38"/>
                <a:gd name="T23" fmla="*/ 36 h 36"/>
                <a:gd name="T24" fmla="*/ 28 w 38"/>
                <a:gd name="T25" fmla="*/ 36 h 36"/>
                <a:gd name="T26" fmla="*/ 28 w 38"/>
                <a:gd name="T27" fmla="*/ 28 h 36"/>
                <a:gd name="T28" fmla="*/ 22 w 38"/>
                <a:gd name="T29" fmla="*/ 32 h 36"/>
                <a:gd name="T30" fmla="*/ 20 w 38"/>
                <a:gd name="T31" fmla="*/ 34 h 36"/>
                <a:gd name="T32" fmla="*/ 18 w 38"/>
                <a:gd name="T33" fmla="*/ 36 h 36"/>
                <a:gd name="T34" fmla="*/ 14 w 38"/>
                <a:gd name="T35" fmla="*/ 36 h 36"/>
                <a:gd name="T36" fmla="*/ 12 w 38"/>
                <a:gd name="T37" fmla="*/ 36 h 36"/>
                <a:gd name="T38" fmla="*/ 10 w 38"/>
                <a:gd name="T39" fmla="*/ 34 h 36"/>
                <a:gd name="T40" fmla="*/ 8 w 38"/>
                <a:gd name="T41" fmla="*/ 32 h 36"/>
                <a:gd name="T42" fmla="*/ 6 w 38"/>
                <a:gd name="T43" fmla="*/ 30 h 36"/>
                <a:gd name="T44" fmla="*/ 6 w 38"/>
                <a:gd name="T45" fmla="*/ 26 h 36"/>
                <a:gd name="T46" fmla="*/ 6 w 38"/>
                <a:gd name="T47" fmla="*/ 22 h 36"/>
                <a:gd name="T48" fmla="*/ 6 w 38"/>
                <a:gd name="T49" fmla="*/ 6 h 36"/>
                <a:gd name="T50" fmla="*/ 6 w 38"/>
                <a:gd name="T51" fmla="*/ 4 h 36"/>
                <a:gd name="T52" fmla="*/ 4 w 38"/>
                <a:gd name="T53" fmla="*/ 2 h 36"/>
                <a:gd name="T54" fmla="*/ 4 w 38"/>
                <a:gd name="T55" fmla="*/ 2 h 36"/>
                <a:gd name="T56" fmla="*/ 4 w 38"/>
                <a:gd name="T57" fmla="*/ 0 h 36"/>
                <a:gd name="T58" fmla="*/ 2 w 38"/>
                <a:gd name="T59" fmla="*/ 0 h 36"/>
                <a:gd name="T60" fmla="*/ 0 w 38"/>
                <a:gd name="T61" fmla="*/ 0 h 36"/>
                <a:gd name="T62" fmla="*/ 0 w 38"/>
                <a:gd name="T63" fmla="*/ 0 h 36"/>
                <a:gd name="T64" fmla="*/ 12 w 38"/>
                <a:gd name="T65" fmla="*/ 0 h 36"/>
                <a:gd name="T66" fmla="*/ 12 w 38"/>
                <a:gd name="T67" fmla="*/ 22 h 36"/>
                <a:gd name="T68" fmla="*/ 12 w 38"/>
                <a:gd name="T69" fmla="*/ 26 h 36"/>
                <a:gd name="T70" fmla="*/ 14 w 38"/>
                <a:gd name="T71" fmla="*/ 30 h 36"/>
                <a:gd name="T72" fmla="*/ 16 w 38"/>
                <a:gd name="T73" fmla="*/ 30 h 36"/>
                <a:gd name="T74" fmla="*/ 18 w 38"/>
                <a:gd name="T75" fmla="*/ 30 h 36"/>
                <a:gd name="T76" fmla="*/ 20 w 38"/>
                <a:gd name="T77" fmla="*/ 30 h 36"/>
                <a:gd name="T78" fmla="*/ 22 w 38"/>
                <a:gd name="T79" fmla="*/ 30 h 36"/>
                <a:gd name="T80" fmla="*/ 24 w 38"/>
                <a:gd name="T81" fmla="*/ 28 h 36"/>
                <a:gd name="T82" fmla="*/ 28 w 38"/>
                <a:gd name="T83" fmla="*/ 26 h 36"/>
                <a:gd name="T84" fmla="*/ 28 w 38"/>
                <a:gd name="T85" fmla="*/ 6 h 36"/>
                <a:gd name="T86" fmla="*/ 26 w 38"/>
                <a:gd name="T87" fmla="*/ 2 h 36"/>
                <a:gd name="T88" fmla="*/ 26 w 38"/>
                <a:gd name="T89" fmla="*/ 2 h 36"/>
                <a:gd name="T90" fmla="*/ 24 w 38"/>
                <a:gd name="T91" fmla="*/ 0 h 36"/>
                <a:gd name="T92" fmla="*/ 22 w 38"/>
                <a:gd name="T93" fmla="*/ 0 h 36"/>
                <a:gd name="T94" fmla="*/ 22 w 38"/>
                <a:gd name="T95" fmla="*/ 0 h 36"/>
                <a:gd name="T96" fmla="*/ 34 w 38"/>
                <a:gd name="T97" fmla="*/ 0 h 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8"/>
                <a:gd name="T148" fmla="*/ 0 h 36"/>
                <a:gd name="T149" fmla="*/ 38 w 38"/>
                <a:gd name="T150" fmla="*/ 36 h 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8" h="36">
                  <a:moveTo>
                    <a:pt x="34" y="0"/>
                  </a:moveTo>
                  <a:lnTo>
                    <a:pt x="34" y="20"/>
                  </a:lnTo>
                  <a:lnTo>
                    <a:pt x="34" y="26"/>
                  </a:lnTo>
                  <a:lnTo>
                    <a:pt x="34" y="28"/>
                  </a:lnTo>
                  <a:lnTo>
                    <a:pt x="34" y="30"/>
                  </a:lnTo>
                  <a:lnTo>
                    <a:pt x="36" y="32"/>
                  </a:lnTo>
                  <a:lnTo>
                    <a:pt x="38" y="32"/>
                  </a:lnTo>
                  <a:lnTo>
                    <a:pt x="38" y="30"/>
                  </a:lnTo>
                  <a:lnTo>
                    <a:pt x="38" y="32"/>
                  </a:lnTo>
                  <a:lnTo>
                    <a:pt x="28" y="36"/>
                  </a:lnTo>
                  <a:lnTo>
                    <a:pt x="28" y="28"/>
                  </a:lnTo>
                  <a:lnTo>
                    <a:pt x="22" y="32"/>
                  </a:lnTo>
                  <a:lnTo>
                    <a:pt x="20" y="34"/>
                  </a:lnTo>
                  <a:lnTo>
                    <a:pt x="18" y="36"/>
                  </a:lnTo>
                  <a:lnTo>
                    <a:pt x="14" y="36"/>
                  </a:lnTo>
                  <a:lnTo>
                    <a:pt x="12" y="36"/>
                  </a:lnTo>
                  <a:lnTo>
                    <a:pt x="10" y="34"/>
                  </a:lnTo>
                  <a:lnTo>
                    <a:pt x="8" y="32"/>
                  </a:lnTo>
                  <a:lnTo>
                    <a:pt x="6" y="30"/>
                  </a:lnTo>
                  <a:lnTo>
                    <a:pt x="6" y="26"/>
                  </a:lnTo>
                  <a:lnTo>
                    <a:pt x="6" y="22"/>
                  </a:lnTo>
                  <a:lnTo>
                    <a:pt x="6" y="6"/>
                  </a:lnTo>
                  <a:lnTo>
                    <a:pt x="6" y="4"/>
                  </a:lnTo>
                  <a:lnTo>
                    <a:pt x="4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12" y="0"/>
                  </a:lnTo>
                  <a:lnTo>
                    <a:pt x="12" y="22"/>
                  </a:lnTo>
                  <a:lnTo>
                    <a:pt x="12" y="26"/>
                  </a:lnTo>
                  <a:lnTo>
                    <a:pt x="14" y="30"/>
                  </a:lnTo>
                  <a:lnTo>
                    <a:pt x="16" y="30"/>
                  </a:lnTo>
                  <a:lnTo>
                    <a:pt x="18" y="30"/>
                  </a:lnTo>
                  <a:lnTo>
                    <a:pt x="20" y="30"/>
                  </a:lnTo>
                  <a:lnTo>
                    <a:pt x="22" y="30"/>
                  </a:lnTo>
                  <a:lnTo>
                    <a:pt x="24" y="28"/>
                  </a:lnTo>
                  <a:lnTo>
                    <a:pt x="28" y="26"/>
                  </a:lnTo>
                  <a:lnTo>
                    <a:pt x="28" y="6"/>
                  </a:lnTo>
                  <a:lnTo>
                    <a:pt x="26" y="2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76" name="Freeform 56"/>
            <p:cNvSpPr/>
            <p:nvPr/>
          </p:nvSpPr>
          <p:spPr bwMode="auto">
            <a:xfrm>
              <a:off x="2350" y="2430"/>
              <a:ext cx="60" cy="36"/>
            </a:xfrm>
            <a:custGeom>
              <a:avLst/>
              <a:gdLst>
                <a:gd name="T0" fmla="*/ 16 w 60"/>
                <a:gd name="T1" fmla="*/ 4 h 36"/>
                <a:gd name="T2" fmla="*/ 18 w 60"/>
                <a:gd name="T3" fmla="*/ 2 h 36"/>
                <a:gd name="T4" fmla="*/ 22 w 60"/>
                <a:gd name="T5" fmla="*/ 0 h 36"/>
                <a:gd name="T6" fmla="*/ 28 w 60"/>
                <a:gd name="T7" fmla="*/ 0 h 36"/>
                <a:gd name="T8" fmla="*/ 32 w 60"/>
                <a:gd name="T9" fmla="*/ 4 h 36"/>
                <a:gd name="T10" fmla="*/ 38 w 60"/>
                <a:gd name="T11" fmla="*/ 4 h 36"/>
                <a:gd name="T12" fmla="*/ 44 w 60"/>
                <a:gd name="T13" fmla="*/ 0 h 36"/>
                <a:gd name="T14" fmla="*/ 48 w 60"/>
                <a:gd name="T15" fmla="*/ 0 h 36"/>
                <a:gd name="T16" fmla="*/ 54 w 60"/>
                <a:gd name="T17" fmla="*/ 4 h 36"/>
                <a:gd name="T18" fmla="*/ 56 w 60"/>
                <a:gd name="T19" fmla="*/ 10 h 36"/>
                <a:gd name="T20" fmla="*/ 56 w 60"/>
                <a:gd name="T21" fmla="*/ 28 h 36"/>
                <a:gd name="T22" fmla="*/ 56 w 60"/>
                <a:gd name="T23" fmla="*/ 34 h 36"/>
                <a:gd name="T24" fmla="*/ 58 w 60"/>
                <a:gd name="T25" fmla="*/ 36 h 36"/>
                <a:gd name="T26" fmla="*/ 60 w 60"/>
                <a:gd name="T27" fmla="*/ 36 h 36"/>
                <a:gd name="T28" fmla="*/ 44 w 60"/>
                <a:gd name="T29" fmla="*/ 36 h 36"/>
                <a:gd name="T30" fmla="*/ 44 w 60"/>
                <a:gd name="T31" fmla="*/ 36 h 36"/>
                <a:gd name="T32" fmla="*/ 48 w 60"/>
                <a:gd name="T33" fmla="*/ 36 h 36"/>
                <a:gd name="T34" fmla="*/ 48 w 60"/>
                <a:gd name="T35" fmla="*/ 32 h 36"/>
                <a:gd name="T36" fmla="*/ 48 w 60"/>
                <a:gd name="T37" fmla="*/ 28 h 36"/>
                <a:gd name="T38" fmla="*/ 48 w 60"/>
                <a:gd name="T39" fmla="*/ 10 h 36"/>
                <a:gd name="T40" fmla="*/ 46 w 60"/>
                <a:gd name="T41" fmla="*/ 6 h 36"/>
                <a:gd name="T42" fmla="*/ 40 w 60"/>
                <a:gd name="T43" fmla="*/ 6 h 36"/>
                <a:gd name="T44" fmla="*/ 36 w 60"/>
                <a:gd name="T45" fmla="*/ 8 h 36"/>
                <a:gd name="T46" fmla="*/ 34 w 60"/>
                <a:gd name="T47" fmla="*/ 10 h 36"/>
                <a:gd name="T48" fmla="*/ 34 w 60"/>
                <a:gd name="T49" fmla="*/ 28 h 36"/>
                <a:gd name="T50" fmla="*/ 34 w 60"/>
                <a:gd name="T51" fmla="*/ 34 h 36"/>
                <a:gd name="T52" fmla="*/ 36 w 60"/>
                <a:gd name="T53" fmla="*/ 36 h 36"/>
                <a:gd name="T54" fmla="*/ 38 w 60"/>
                <a:gd name="T55" fmla="*/ 36 h 36"/>
                <a:gd name="T56" fmla="*/ 22 w 60"/>
                <a:gd name="T57" fmla="*/ 36 h 36"/>
                <a:gd name="T58" fmla="*/ 24 w 60"/>
                <a:gd name="T59" fmla="*/ 36 h 36"/>
                <a:gd name="T60" fmla="*/ 26 w 60"/>
                <a:gd name="T61" fmla="*/ 34 h 36"/>
                <a:gd name="T62" fmla="*/ 28 w 60"/>
                <a:gd name="T63" fmla="*/ 32 h 36"/>
                <a:gd name="T64" fmla="*/ 28 w 60"/>
                <a:gd name="T65" fmla="*/ 14 h 36"/>
                <a:gd name="T66" fmla="*/ 26 w 60"/>
                <a:gd name="T67" fmla="*/ 8 h 36"/>
                <a:gd name="T68" fmla="*/ 22 w 60"/>
                <a:gd name="T69" fmla="*/ 6 h 36"/>
                <a:gd name="T70" fmla="*/ 16 w 60"/>
                <a:gd name="T71" fmla="*/ 6 h 36"/>
                <a:gd name="T72" fmla="*/ 12 w 60"/>
                <a:gd name="T73" fmla="*/ 10 h 36"/>
                <a:gd name="T74" fmla="*/ 12 w 60"/>
                <a:gd name="T75" fmla="*/ 32 h 36"/>
                <a:gd name="T76" fmla="*/ 12 w 60"/>
                <a:gd name="T77" fmla="*/ 34 h 36"/>
                <a:gd name="T78" fmla="*/ 14 w 60"/>
                <a:gd name="T79" fmla="*/ 36 h 36"/>
                <a:gd name="T80" fmla="*/ 18 w 60"/>
                <a:gd name="T81" fmla="*/ 36 h 36"/>
                <a:gd name="T82" fmla="*/ 0 w 60"/>
                <a:gd name="T83" fmla="*/ 36 h 36"/>
                <a:gd name="T84" fmla="*/ 4 w 60"/>
                <a:gd name="T85" fmla="*/ 36 h 36"/>
                <a:gd name="T86" fmla="*/ 4 w 60"/>
                <a:gd name="T87" fmla="*/ 34 h 36"/>
                <a:gd name="T88" fmla="*/ 6 w 60"/>
                <a:gd name="T89" fmla="*/ 28 h 36"/>
                <a:gd name="T90" fmla="*/ 6 w 60"/>
                <a:gd name="T91" fmla="*/ 10 h 36"/>
                <a:gd name="T92" fmla="*/ 4 w 60"/>
                <a:gd name="T93" fmla="*/ 6 h 36"/>
                <a:gd name="T94" fmla="*/ 4 w 60"/>
                <a:gd name="T95" fmla="*/ 4 h 36"/>
                <a:gd name="T96" fmla="*/ 2 w 60"/>
                <a:gd name="T97" fmla="*/ 4 h 36"/>
                <a:gd name="T98" fmla="*/ 0 w 60"/>
                <a:gd name="T99" fmla="*/ 4 h 36"/>
                <a:gd name="T100" fmla="*/ 12 w 60"/>
                <a:gd name="T101" fmla="*/ 0 h 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60"/>
                <a:gd name="T154" fmla="*/ 0 h 36"/>
                <a:gd name="T155" fmla="*/ 60 w 60"/>
                <a:gd name="T156" fmla="*/ 36 h 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60" h="36">
                  <a:moveTo>
                    <a:pt x="12" y="8"/>
                  </a:moveTo>
                  <a:lnTo>
                    <a:pt x="16" y="4"/>
                  </a:lnTo>
                  <a:lnTo>
                    <a:pt x="18" y="2"/>
                  </a:lnTo>
                  <a:lnTo>
                    <a:pt x="20" y="2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8" y="0"/>
                  </a:lnTo>
                  <a:lnTo>
                    <a:pt x="30" y="2"/>
                  </a:lnTo>
                  <a:lnTo>
                    <a:pt x="32" y="4"/>
                  </a:lnTo>
                  <a:lnTo>
                    <a:pt x="34" y="8"/>
                  </a:lnTo>
                  <a:lnTo>
                    <a:pt x="38" y="4"/>
                  </a:lnTo>
                  <a:lnTo>
                    <a:pt x="40" y="2"/>
                  </a:lnTo>
                  <a:lnTo>
                    <a:pt x="44" y="0"/>
                  </a:lnTo>
                  <a:lnTo>
                    <a:pt x="46" y="0"/>
                  </a:lnTo>
                  <a:lnTo>
                    <a:pt x="48" y="0"/>
                  </a:lnTo>
                  <a:lnTo>
                    <a:pt x="52" y="2"/>
                  </a:lnTo>
                  <a:lnTo>
                    <a:pt x="54" y="4"/>
                  </a:lnTo>
                  <a:lnTo>
                    <a:pt x="54" y="6"/>
                  </a:lnTo>
                  <a:lnTo>
                    <a:pt x="56" y="10"/>
                  </a:lnTo>
                  <a:lnTo>
                    <a:pt x="56" y="14"/>
                  </a:lnTo>
                  <a:lnTo>
                    <a:pt x="56" y="28"/>
                  </a:lnTo>
                  <a:lnTo>
                    <a:pt x="56" y="32"/>
                  </a:lnTo>
                  <a:lnTo>
                    <a:pt x="56" y="34"/>
                  </a:lnTo>
                  <a:lnTo>
                    <a:pt x="58" y="36"/>
                  </a:lnTo>
                  <a:lnTo>
                    <a:pt x="60" y="36"/>
                  </a:lnTo>
                  <a:lnTo>
                    <a:pt x="44" y="36"/>
                  </a:lnTo>
                  <a:lnTo>
                    <a:pt x="46" y="36"/>
                  </a:lnTo>
                  <a:lnTo>
                    <a:pt x="48" y="36"/>
                  </a:lnTo>
                  <a:lnTo>
                    <a:pt x="48" y="34"/>
                  </a:lnTo>
                  <a:lnTo>
                    <a:pt x="48" y="32"/>
                  </a:lnTo>
                  <a:lnTo>
                    <a:pt x="48" y="28"/>
                  </a:lnTo>
                  <a:lnTo>
                    <a:pt x="48" y="14"/>
                  </a:lnTo>
                  <a:lnTo>
                    <a:pt x="48" y="10"/>
                  </a:lnTo>
                  <a:lnTo>
                    <a:pt x="48" y="8"/>
                  </a:lnTo>
                  <a:lnTo>
                    <a:pt x="46" y="6"/>
                  </a:lnTo>
                  <a:lnTo>
                    <a:pt x="42" y="6"/>
                  </a:lnTo>
                  <a:lnTo>
                    <a:pt x="40" y="6"/>
                  </a:lnTo>
                  <a:lnTo>
                    <a:pt x="38" y="6"/>
                  </a:lnTo>
                  <a:lnTo>
                    <a:pt x="36" y="8"/>
                  </a:lnTo>
                  <a:lnTo>
                    <a:pt x="34" y="10"/>
                  </a:lnTo>
                  <a:lnTo>
                    <a:pt x="34" y="12"/>
                  </a:lnTo>
                  <a:lnTo>
                    <a:pt x="34" y="28"/>
                  </a:lnTo>
                  <a:lnTo>
                    <a:pt x="34" y="32"/>
                  </a:lnTo>
                  <a:lnTo>
                    <a:pt x="34" y="34"/>
                  </a:lnTo>
                  <a:lnTo>
                    <a:pt x="36" y="36"/>
                  </a:lnTo>
                  <a:lnTo>
                    <a:pt x="38" y="36"/>
                  </a:lnTo>
                  <a:lnTo>
                    <a:pt x="22" y="36"/>
                  </a:lnTo>
                  <a:lnTo>
                    <a:pt x="24" y="36"/>
                  </a:lnTo>
                  <a:lnTo>
                    <a:pt x="26" y="36"/>
                  </a:lnTo>
                  <a:lnTo>
                    <a:pt x="26" y="34"/>
                  </a:lnTo>
                  <a:lnTo>
                    <a:pt x="26" y="32"/>
                  </a:lnTo>
                  <a:lnTo>
                    <a:pt x="28" y="32"/>
                  </a:lnTo>
                  <a:lnTo>
                    <a:pt x="28" y="28"/>
                  </a:lnTo>
                  <a:lnTo>
                    <a:pt x="28" y="14"/>
                  </a:lnTo>
                  <a:lnTo>
                    <a:pt x="26" y="10"/>
                  </a:lnTo>
                  <a:lnTo>
                    <a:pt x="26" y="8"/>
                  </a:lnTo>
                  <a:lnTo>
                    <a:pt x="24" y="6"/>
                  </a:lnTo>
                  <a:lnTo>
                    <a:pt x="22" y="6"/>
                  </a:lnTo>
                  <a:lnTo>
                    <a:pt x="20" y="6"/>
                  </a:lnTo>
                  <a:lnTo>
                    <a:pt x="16" y="6"/>
                  </a:lnTo>
                  <a:lnTo>
                    <a:pt x="14" y="8"/>
                  </a:lnTo>
                  <a:lnTo>
                    <a:pt x="12" y="10"/>
                  </a:lnTo>
                  <a:lnTo>
                    <a:pt x="12" y="28"/>
                  </a:lnTo>
                  <a:lnTo>
                    <a:pt x="12" y="32"/>
                  </a:lnTo>
                  <a:lnTo>
                    <a:pt x="12" y="34"/>
                  </a:lnTo>
                  <a:lnTo>
                    <a:pt x="14" y="36"/>
                  </a:lnTo>
                  <a:lnTo>
                    <a:pt x="18" y="36"/>
                  </a:lnTo>
                  <a:lnTo>
                    <a:pt x="0" y="36"/>
                  </a:lnTo>
                  <a:lnTo>
                    <a:pt x="2" y="36"/>
                  </a:lnTo>
                  <a:lnTo>
                    <a:pt x="4" y="36"/>
                  </a:lnTo>
                  <a:lnTo>
                    <a:pt x="4" y="34"/>
                  </a:lnTo>
                  <a:lnTo>
                    <a:pt x="6" y="32"/>
                  </a:lnTo>
                  <a:lnTo>
                    <a:pt x="6" y="28"/>
                  </a:lnTo>
                  <a:lnTo>
                    <a:pt x="6" y="16"/>
                  </a:lnTo>
                  <a:lnTo>
                    <a:pt x="6" y="10"/>
                  </a:lnTo>
                  <a:lnTo>
                    <a:pt x="6" y="8"/>
                  </a:lnTo>
                  <a:lnTo>
                    <a:pt x="4" y="6"/>
                  </a:lnTo>
                  <a:lnTo>
                    <a:pt x="4" y="4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4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77" name="Freeform 57"/>
            <p:cNvSpPr>
              <a:spLocks noEditPoints="1"/>
            </p:cNvSpPr>
            <p:nvPr/>
          </p:nvSpPr>
          <p:spPr bwMode="auto">
            <a:xfrm>
              <a:off x="2412" y="2430"/>
              <a:ext cx="38" cy="54"/>
            </a:xfrm>
            <a:custGeom>
              <a:avLst/>
              <a:gdLst>
                <a:gd name="T0" fmla="*/ 12 w 38"/>
                <a:gd name="T1" fmla="*/ 0 h 54"/>
                <a:gd name="T2" fmla="*/ 12 w 38"/>
                <a:gd name="T3" fmla="*/ 8 h 54"/>
                <a:gd name="T4" fmla="*/ 18 w 38"/>
                <a:gd name="T5" fmla="*/ 2 h 54"/>
                <a:gd name="T6" fmla="*/ 24 w 38"/>
                <a:gd name="T7" fmla="*/ 0 h 54"/>
                <a:gd name="T8" fmla="*/ 34 w 38"/>
                <a:gd name="T9" fmla="*/ 4 h 54"/>
                <a:gd name="T10" fmla="*/ 38 w 38"/>
                <a:gd name="T11" fmla="*/ 18 h 54"/>
                <a:gd name="T12" fmla="*/ 36 w 38"/>
                <a:gd name="T13" fmla="*/ 28 h 54"/>
                <a:gd name="T14" fmla="*/ 28 w 38"/>
                <a:gd name="T15" fmla="*/ 36 h 54"/>
                <a:gd name="T16" fmla="*/ 18 w 38"/>
                <a:gd name="T17" fmla="*/ 38 h 54"/>
                <a:gd name="T18" fmla="*/ 14 w 38"/>
                <a:gd name="T19" fmla="*/ 36 h 54"/>
                <a:gd name="T20" fmla="*/ 12 w 38"/>
                <a:gd name="T21" fmla="*/ 46 h 54"/>
                <a:gd name="T22" fmla="*/ 12 w 38"/>
                <a:gd name="T23" fmla="*/ 52 h 54"/>
                <a:gd name="T24" fmla="*/ 14 w 38"/>
                <a:gd name="T25" fmla="*/ 52 h 54"/>
                <a:gd name="T26" fmla="*/ 18 w 38"/>
                <a:gd name="T27" fmla="*/ 54 h 54"/>
                <a:gd name="T28" fmla="*/ 0 w 38"/>
                <a:gd name="T29" fmla="*/ 54 h 54"/>
                <a:gd name="T30" fmla="*/ 0 w 38"/>
                <a:gd name="T31" fmla="*/ 54 h 54"/>
                <a:gd name="T32" fmla="*/ 4 w 38"/>
                <a:gd name="T33" fmla="*/ 52 h 54"/>
                <a:gd name="T34" fmla="*/ 6 w 38"/>
                <a:gd name="T35" fmla="*/ 52 h 54"/>
                <a:gd name="T36" fmla="*/ 6 w 38"/>
                <a:gd name="T37" fmla="*/ 46 h 54"/>
                <a:gd name="T38" fmla="*/ 6 w 38"/>
                <a:gd name="T39" fmla="*/ 8 h 54"/>
                <a:gd name="T40" fmla="*/ 6 w 38"/>
                <a:gd name="T41" fmla="*/ 6 h 54"/>
                <a:gd name="T42" fmla="*/ 4 w 38"/>
                <a:gd name="T43" fmla="*/ 4 h 54"/>
                <a:gd name="T44" fmla="*/ 2 w 38"/>
                <a:gd name="T45" fmla="*/ 4 h 54"/>
                <a:gd name="T46" fmla="*/ 0 w 38"/>
                <a:gd name="T47" fmla="*/ 4 h 54"/>
                <a:gd name="T48" fmla="*/ 12 w 38"/>
                <a:gd name="T49" fmla="*/ 24 h 54"/>
                <a:gd name="T50" fmla="*/ 12 w 38"/>
                <a:gd name="T51" fmla="*/ 30 h 54"/>
                <a:gd name="T52" fmla="*/ 16 w 38"/>
                <a:gd name="T53" fmla="*/ 34 h 54"/>
                <a:gd name="T54" fmla="*/ 22 w 38"/>
                <a:gd name="T55" fmla="*/ 36 h 54"/>
                <a:gd name="T56" fmla="*/ 28 w 38"/>
                <a:gd name="T57" fmla="*/ 32 h 54"/>
                <a:gd name="T58" fmla="*/ 30 w 38"/>
                <a:gd name="T59" fmla="*/ 22 h 54"/>
                <a:gd name="T60" fmla="*/ 28 w 38"/>
                <a:gd name="T61" fmla="*/ 10 h 54"/>
                <a:gd name="T62" fmla="*/ 22 w 38"/>
                <a:gd name="T63" fmla="*/ 6 h 54"/>
                <a:gd name="T64" fmla="*/ 18 w 38"/>
                <a:gd name="T65" fmla="*/ 6 h 54"/>
                <a:gd name="T66" fmla="*/ 12 w 38"/>
                <a:gd name="T67" fmla="*/ 12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38"/>
                <a:gd name="T103" fmla="*/ 0 h 54"/>
                <a:gd name="T104" fmla="*/ 38 w 38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38" h="54">
                  <a:moveTo>
                    <a:pt x="0" y="4"/>
                  </a:moveTo>
                  <a:lnTo>
                    <a:pt x="12" y="0"/>
                  </a:lnTo>
                  <a:lnTo>
                    <a:pt x="12" y="8"/>
                  </a:lnTo>
                  <a:lnTo>
                    <a:pt x="16" y="4"/>
                  </a:lnTo>
                  <a:lnTo>
                    <a:pt x="18" y="2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30" y="2"/>
                  </a:lnTo>
                  <a:lnTo>
                    <a:pt x="34" y="4"/>
                  </a:lnTo>
                  <a:lnTo>
                    <a:pt x="36" y="10"/>
                  </a:lnTo>
                  <a:lnTo>
                    <a:pt x="38" y="18"/>
                  </a:lnTo>
                  <a:lnTo>
                    <a:pt x="36" y="24"/>
                  </a:lnTo>
                  <a:lnTo>
                    <a:pt x="36" y="28"/>
                  </a:lnTo>
                  <a:lnTo>
                    <a:pt x="32" y="32"/>
                  </a:lnTo>
                  <a:lnTo>
                    <a:pt x="28" y="36"/>
                  </a:lnTo>
                  <a:lnTo>
                    <a:pt x="22" y="38"/>
                  </a:lnTo>
                  <a:lnTo>
                    <a:pt x="18" y="38"/>
                  </a:lnTo>
                  <a:lnTo>
                    <a:pt x="16" y="36"/>
                  </a:lnTo>
                  <a:lnTo>
                    <a:pt x="14" y="36"/>
                  </a:lnTo>
                  <a:lnTo>
                    <a:pt x="12" y="34"/>
                  </a:lnTo>
                  <a:lnTo>
                    <a:pt x="12" y="46"/>
                  </a:lnTo>
                  <a:lnTo>
                    <a:pt x="12" y="50"/>
                  </a:lnTo>
                  <a:lnTo>
                    <a:pt x="12" y="52"/>
                  </a:lnTo>
                  <a:lnTo>
                    <a:pt x="14" y="52"/>
                  </a:lnTo>
                  <a:lnTo>
                    <a:pt x="16" y="54"/>
                  </a:lnTo>
                  <a:lnTo>
                    <a:pt x="18" y="54"/>
                  </a:lnTo>
                  <a:lnTo>
                    <a:pt x="0" y="54"/>
                  </a:lnTo>
                  <a:lnTo>
                    <a:pt x="2" y="54"/>
                  </a:lnTo>
                  <a:lnTo>
                    <a:pt x="4" y="52"/>
                  </a:lnTo>
                  <a:lnTo>
                    <a:pt x="6" y="52"/>
                  </a:lnTo>
                  <a:lnTo>
                    <a:pt x="6" y="50"/>
                  </a:lnTo>
                  <a:lnTo>
                    <a:pt x="6" y="46"/>
                  </a:lnTo>
                  <a:lnTo>
                    <a:pt x="6" y="12"/>
                  </a:lnTo>
                  <a:lnTo>
                    <a:pt x="6" y="8"/>
                  </a:lnTo>
                  <a:lnTo>
                    <a:pt x="6" y="6"/>
                  </a:lnTo>
                  <a:lnTo>
                    <a:pt x="4" y="6"/>
                  </a:lnTo>
                  <a:lnTo>
                    <a:pt x="4" y="4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4"/>
                  </a:lnTo>
                  <a:close/>
                  <a:moveTo>
                    <a:pt x="12" y="12"/>
                  </a:moveTo>
                  <a:lnTo>
                    <a:pt x="12" y="24"/>
                  </a:lnTo>
                  <a:lnTo>
                    <a:pt x="12" y="28"/>
                  </a:lnTo>
                  <a:lnTo>
                    <a:pt x="12" y="30"/>
                  </a:lnTo>
                  <a:lnTo>
                    <a:pt x="14" y="32"/>
                  </a:lnTo>
                  <a:lnTo>
                    <a:pt x="16" y="34"/>
                  </a:lnTo>
                  <a:lnTo>
                    <a:pt x="18" y="34"/>
                  </a:lnTo>
                  <a:lnTo>
                    <a:pt x="22" y="36"/>
                  </a:lnTo>
                  <a:lnTo>
                    <a:pt x="24" y="34"/>
                  </a:lnTo>
                  <a:lnTo>
                    <a:pt x="28" y="32"/>
                  </a:lnTo>
                  <a:lnTo>
                    <a:pt x="30" y="28"/>
                  </a:lnTo>
                  <a:lnTo>
                    <a:pt x="30" y="22"/>
                  </a:lnTo>
                  <a:lnTo>
                    <a:pt x="30" y="14"/>
                  </a:lnTo>
                  <a:lnTo>
                    <a:pt x="28" y="10"/>
                  </a:lnTo>
                  <a:lnTo>
                    <a:pt x="24" y="6"/>
                  </a:lnTo>
                  <a:lnTo>
                    <a:pt x="22" y="6"/>
                  </a:lnTo>
                  <a:lnTo>
                    <a:pt x="20" y="6"/>
                  </a:lnTo>
                  <a:lnTo>
                    <a:pt x="18" y="6"/>
                  </a:lnTo>
                  <a:lnTo>
                    <a:pt x="16" y="8"/>
                  </a:lnTo>
                  <a:lnTo>
                    <a:pt x="12" y="1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78" name="Freeform 58"/>
            <p:cNvSpPr>
              <a:spLocks noEditPoints="1"/>
            </p:cNvSpPr>
            <p:nvPr/>
          </p:nvSpPr>
          <p:spPr bwMode="auto">
            <a:xfrm>
              <a:off x="2454" y="2430"/>
              <a:ext cx="30" cy="38"/>
            </a:xfrm>
            <a:custGeom>
              <a:avLst/>
              <a:gdLst>
                <a:gd name="T0" fmla="*/ 6 w 30"/>
                <a:gd name="T1" fmla="*/ 14 h 38"/>
                <a:gd name="T2" fmla="*/ 8 w 30"/>
                <a:gd name="T3" fmla="*/ 22 h 38"/>
                <a:gd name="T4" fmla="*/ 10 w 30"/>
                <a:gd name="T5" fmla="*/ 26 h 38"/>
                <a:gd name="T6" fmla="*/ 14 w 30"/>
                <a:gd name="T7" fmla="*/ 30 h 38"/>
                <a:gd name="T8" fmla="*/ 20 w 30"/>
                <a:gd name="T9" fmla="*/ 32 h 38"/>
                <a:gd name="T10" fmla="*/ 22 w 30"/>
                <a:gd name="T11" fmla="*/ 30 h 38"/>
                <a:gd name="T12" fmla="*/ 26 w 30"/>
                <a:gd name="T13" fmla="*/ 30 h 38"/>
                <a:gd name="T14" fmla="*/ 28 w 30"/>
                <a:gd name="T15" fmla="*/ 26 h 38"/>
                <a:gd name="T16" fmla="*/ 30 w 30"/>
                <a:gd name="T17" fmla="*/ 22 h 38"/>
                <a:gd name="T18" fmla="*/ 30 w 30"/>
                <a:gd name="T19" fmla="*/ 24 h 38"/>
                <a:gd name="T20" fmla="*/ 28 w 30"/>
                <a:gd name="T21" fmla="*/ 28 h 38"/>
                <a:gd name="T22" fmla="*/ 26 w 30"/>
                <a:gd name="T23" fmla="*/ 34 h 38"/>
                <a:gd name="T24" fmla="*/ 22 w 30"/>
                <a:gd name="T25" fmla="*/ 36 h 38"/>
                <a:gd name="T26" fmla="*/ 16 w 30"/>
                <a:gd name="T27" fmla="*/ 38 h 38"/>
                <a:gd name="T28" fmla="*/ 10 w 30"/>
                <a:gd name="T29" fmla="*/ 36 h 38"/>
                <a:gd name="T30" fmla="*/ 6 w 30"/>
                <a:gd name="T31" fmla="*/ 32 h 38"/>
                <a:gd name="T32" fmla="*/ 2 w 30"/>
                <a:gd name="T33" fmla="*/ 26 h 38"/>
                <a:gd name="T34" fmla="*/ 0 w 30"/>
                <a:gd name="T35" fmla="*/ 20 h 38"/>
                <a:gd name="T36" fmla="*/ 2 w 30"/>
                <a:gd name="T37" fmla="*/ 14 h 38"/>
                <a:gd name="T38" fmla="*/ 2 w 30"/>
                <a:gd name="T39" fmla="*/ 10 h 38"/>
                <a:gd name="T40" fmla="*/ 6 w 30"/>
                <a:gd name="T41" fmla="*/ 6 h 38"/>
                <a:gd name="T42" fmla="*/ 10 w 30"/>
                <a:gd name="T43" fmla="*/ 2 h 38"/>
                <a:gd name="T44" fmla="*/ 16 w 30"/>
                <a:gd name="T45" fmla="*/ 0 h 38"/>
                <a:gd name="T46" fmla="*/ 22 w 30"/>
                <a:gd name="T47" fmla="*/ 2 h 38"/>
                <a:gd name="T48" fmla="*/ 26 w 30"/>
                <a:gd name="T49" fmla="*/ 4 h 38"/>
                <a:gd name="T50" fmla="*/ 30 w 30"/>
                <a:gd name="T51" fmla="*/ 8 h 38"/>
                <a:gd name="T52" fmla="*/ 30 w 30"/>
                <a:gd name="T53" fmla="*/ 14 h 38"/>
                <a:gd name="T54" fmla="*/ 6 w 30"/>
                <a:gd name="T55" fmla="*/ 14 h 38"/>
                <a:gd name="T56" fmla="*/ 6 w 30"/>
                <a:gd name="T57" fmla="*/ 12 h 38"/>
                <a:gd name="T58" fmla="*/ 22 w 30"/>
                <a:gd name="T59" fmla="*/ 12 h 38"/>
                <a:gd name="T60" fmla="*/ 22 w 30"/>
                <a:gd name="T61" fmla="*/ 10 h 38"/>
                <a:gd name="T62" fmla="*/ 22 w 30"/>
                <a:gd name="T63" fmla="*/ 8 h 38"/>
                <a:gd name="T64" fmla="*/ 20 w 30"/>
                <a:gd name="T65" fmla="*/ 6 h 38"/>
                <a:gd name="T66" fmla="*/ 18 w 30"/>
                <a:gd name="T67" fmla="*/ 4 h 38"/>
                <a:gd name="T68" fmla="*/ 16 w 30"/>
                <a:gd name="T69" fmla="*/ 4 h 38"/>
                <a:gd name="T70" fmla="*/ 14 w 30"/>
                <a:gd name="T71" fmla="*/ 2 h 38"/>
                <a:gd name="T72" fmla="*/ 12 w 30"/>
                <a:gd name="T73" fmla="*/ 4 h 38"/>
                <a:gd name="T74" fmla="*/ 10 w 30"/>
                <a:gd name="T75" fmla="*/ 6 h 38"/>
                <a:gd name="T76" fmla="*/ 8 w 30"/>
                <a:gd name="T77" fmla="*/ 8 h 38"/>
                <a:gd name="T78" fmla="*/ 6 w 30"/>
                <a:gd name="T79" fmla="*/ 12 h 38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30"/>
                <a:gd name="T121" fmla="*/ 0 h 38"/>
                <a:gd name="T122" fmla="*/ 30 w 30"/>
                <a:gd name="T123" fmla="*/ 38 h 38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30" h="38">
                  <a:moveTo>
                    <a:pt x="6" y="14"/>
                  </a:moveTo>
                  <a:lnTo>
                    <a:pt x="8" y="22"/>
                  </a:lnTo>
                  <a:lnTo>
                    <a:pt x="10" y="26"/>
                  </a:lnTo>
                  <a:lnTo>
                    <a:pt x="14" y="30"/>
                  </a:lnTo>
                  <a:lnTo>
                    <a:pt x="20" y="32"/>
                  </a:lnTo>
                  <a:lnTo>
                    <a:pt x="22" y="30"/>
                  </a:lnTo>
                  <a:lnTo>
                    <a:pt x="26" y="30"/>
                  </a:lnTo>
                  <a:lnTo>
                    <a:pt x="28" y="26"/>
                  </a:lnTo>
                  <a:lnTo>
                    <a:pt x="30" y="22"/>
                  </a:lnTo>
                  <a:lnTo>
                    <a:pt x="30" y="24"/>
                  </a:lnTo>
                  <a:lnTo>
                    <a:pt x="28" y="28"/>
                  </a:lnTo>
                  <a:lnTo>
                    <a:pt x="26" y="34"/>
                  </a:lnTo>
                  <a:lnTo>
                    <a:pt x="22" y="36"/>
                  </a:lnTo>
                  <a:lnTo>
                    <a:pt x="16" y="38"/>
                  </a:lnTo>
                  <a:lnTo>
                    <a:pt x="10" y="36"/>
                  </a:lnTo>
                  <a:lnTo>
                    <a:pt x="6" y="32"/>
                  </a:lnTo>
                  <a:lnTo>
                    <a:pt x="2" y="26"/>
                  </a:lnTo>
                  <a:lnTo>
                    <a:pt x="0" y="20"/>
                  </a:lnTo>
                  <a:lnTo>
                    <a:pt x="2" y="14"/>
                  </a:lnTo>
                  <a:lnTo>
                    <a:pt x="2" y="10"/>
                  </a:lnTo>
                  <a:lnTo>
                    <a:pt x="6" y="6"/>
                  </a:lnTo>
                  <a:lnTo>
                    <a:pt x="10" y="2"/>
                  </a:lnTo>
                  <a:lnTo>
                    <a:pt x="16" y="0"/>
                  </a:lnTo>
                  <a:lnTo>
                    <a:pt x="22" y="2"/>
                  </a:lnTo>
                  <a:lnTo>
                    <a:pt x="26" y="4"/>
                  </a:lnTo>
                  <a:lnTo>
                    <a:pt x="30" y="8"/>
                  </a:lnTo>
                  <a:lnTo>
                    <a:pt x="30" y="14"/>
                  </a:lnTo>
                  <a:lnTo>
                    <a:pt x="6" y="14"/>
                  </a:lnTo>
                  <a:close/>
                  <a:moveTo>
                    <a:pt x="6" y="12"/>
                  </a:moveTo>
                  <a:lnTo>
                    <a:pt x="22" y="12"/>
                  </a:lnTo>
                  <a:lnTo>
                    <a:pt x="22" y="10"/>
                  </a:lnTo>
                  <a:lnTo>
                    <a:pt x="22" y="8"/>
                  </a:lnTo>
                  <a:lnTo>
                    <a:pt x="20" y="6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4" y="2"/>
                  </a:lnTo>
                  <a:lnTo>
                    <a:pt x="12" y="4"/>
                  </a:lnTo>
                  <a:lnTo>
                    <a:pt x="10" y="6"/>
                  </a:lnTo>
                  <a:lnTo>
                    <a:pt x="8" y="8"/>
                  </a:lnTo>
                  <a:lnTo>
                    <a:pt x="6" y="1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79" name="Freeform 59"/>
            <p:cNvSpPr>
              <a:spLocks noEditPoints="1"/>
            </p:cNvSpPr>
            <p:nvPr/>
          </p:nvSpPr>
          <p:spPr bwMode="auto">
            <a:xfrm>
              <a:off x="2490" y="2412"/>
              <a:ext cx="38" cy="56"/>
            </a:xfrm>
            <a:custGeom>
              <a:avLst/>
              <a:gdLst>
                <a:gd name="T0" fmla="*/ 26 w 38"/>
                <a:gd name="T1" fmla="*/ 50 h 56"/>
                <a:gd name="T2" fmla="*/ 22 w 38"/>
                <a:gd name="T3" fmla="*/ 52 h 56"/>
                <a:gd name="T4" fmla="*/ 20 w 38"/>
                <a:gd name="T5" fmla="*/ 54 h 56"/>
                <a:gd name="T6" fmla="*/ 18 w 38"/>
                <a:gd name="T7" fmla="*/ 56 h 56"/>
                <a:gd name="T8" fmla="*/ 14 w 38"/>
                <a:gd name="T9" fmla="*/ 56 h 56"/>
                <a:gd name="T10" fmla="*/ 10 w 38"/>
                <a:gd name="T11" fmla="*/ 54 h 56"/>
                <a:gd name="T12" fmla="*/ 4 w 38"/>
                <a:gd name="T13" fmla="*/ 50 h 56"/>
                <a:gd name="T14" fmla="*/ 2 w 38"/>
                <a:gd name="T15" fmla="*/ 46 h 56"/>
                <a:gd name="T16" fmla="*/ 0 w 38"/>
                <a:gd name="T17" fmla="*/ 38 h 56"/>
                <a:gd name="T18" fmla="*/ 2 w 38"/>
                <a:gd name="T19" fmla="*/ 32 h 56"/>
                <a:gd name="T20" fmla="*/ 6 w 38"/>
                <a:gd name="T21" fmla="*/ 24 h 56"/>
                <a:gd name="T22" fmla="*/ 8 w 38"/>
                <a:gd name="T23" fmla="*/ 22 h 56"/>
                <a:gd name="T24" fmla="*/ 12 w 38"/>
                <a:gd name="T25" fmla="*/ 18 h 56"/>
                <a:gd name="T26" fmla="*/ 18 w 38"/>
                <a:gd name="T27" fmla="*/ 18 h 56"/>
                <a:gd name="T28" fmla="*/ 22 w 38"/>
                <a:gd name="T29" fmla="*/ 20 h 56"/>
                <a:gd name="T30" fmla="*/ 26 w 38"/>
                <a:gd name="T31" fmla="*/ 22 h 56"/>
                <a:gd name="T32" fmla="*/ 26 w 38"/>
                <a:gd name="T33" fmla="*/ 14 h 56"/>
                <a:gd name="T34" fmla="*/ 26 w 38"/>
                <a:gd name="T35" fmla="*/ 8 h 56"/>
                <a:gd name="T36" fmla="*/ 26 w 38"/>
                <a:gd name="T37" fmla="*/ 6 h 56"/>
                <a:gd name="T38" fmla="*/ 24 w 38"/>
                <a:gd name="T39" fmla="*/ 4 h 56"/>
                <a:gd name="T40" fmla="*/ 24 w 38"/>
                <a:gd name="T41" fmla="*/ 4 h 56"/>
                <a:gd name="T42" fmla="*/ 24 w 38"/>
                <a:gd name="T43" fmla="*/ 4 h 56"/>
                <a:gd name="T44" fmla="*/ 24 w 38"/>
                <a:gd name="T45" fmla="*/ 4 h 56"/>
                <a:gd name="T46" fmla="*/ 22 w 38"/>
                <a:gd name="T47" fmla="*/ 4 h 56"/>
                <a:gd name="T48" fmla="*/ 20 w 38"/>
                <a:gd name="T49" fmla="*/ 4 h 56"/>
                <a:gd name="T50" fmla="*/ 20 w 38"/>
                <a:gd name="T51" fmla="*/ 4 h 56"/>
                <a:gd name="T52" fmla="*/ 30 w 38"/>
                <a:gd name="T53" fmla="*/ 0 h 56"/>
                <a:gd name="T54" fmla="*/ 32 w 38"/>
                <a:gd name="T55" fmla="*/ 0 h 56"/>
                <a:gd name="T56" fmla="*/ 32 w 38"/>
                <a:gd name="T57" fmla="*/ 40 h 56"/>
                <a:gd name="T58" fmla="*/ 32 w 38"/>
                <a:gd name="T59" fmla="*/ 46 h 56"/>
                <a:gd name="T60" fmla="*/ 32 w 38"/>
                <a:gd name="T61" fmla="*/ 48 h 56"/>
                <a:gd name="T62" fmla="*/ 32 w 38"/>
                <a:gd name="T63" fmla="*/ 50 h 56"/>
                <a:gd name="T64" fmla="*/ 34 w 38"/>
                <a:gd name="T65" fmla="*/ 50 h 56"/>
                <a:gd name="T66" fmla="*/ 34 w 38"/>
                <a:gd name="T67" fmla="*/ 52 h 56"/>
                <a:gd name="T68" fmla="*/ 34 w 38"/>
                <a:gd name="T69" fmla="*/ 52 h 56"/>
                <a:gd name="T70" fmla="*/ 36 w 38"/>
                <a:gd name="T71" fmla="*/ 52 h 56"/>
                <a:gd name="T72" fmla="*/ 36 w 38"/>
                <a:gd name="T73" fmla="*/ 50 h 56"/>
                <a:gd name="T74" fmla="*/ 38 w 38"/>
                <a:gd name="T75" fmla="*/ 52 h 56"/>
                <a:gd name="T76" fmla="*/ 28 w 38"/>
                <a:gd name="T77" fmla="*/ 56 h 56"/>
                <a:gd name="T78" fmla="*/ 26 w 38"/>
                <a:gd name="T79" fmla="*/ 56 h 56"/>
                <a:gd name="T80" fmla="*/ 26 w 38"/>
                <a:gd name="T81" fmla="*/ 50 h 56"/>
                <a:gd name="T82" fmla="*/ 26 w 38"/>
                <a:gd name="T83" fmla="*/ 46 h 56"/>
                <a:gd name="T84" fmla="*/ 26 w 38"/>
                <a:gd name="T85" fmla="*/ 30 h 56"/>
                <a:gd name="T86" fmla="*/ 24 w 38"/>
                <a:gd name="T87" fmla="*/ 28 h 56"/>
                <a:gd name="T88" fmla="*/ 24 w 38"/>
                <a:gd name="T89" fmla="*/ 24 h 56"/>
                <a:gd name="T90" fmla="*/ 22 w 38"/>
                <a:gd name="T91" fmla="*/ 24 h 56"/>
                <a:gd name="T92" fmla="*/ 20 w 38"/>
                <a:gd name="T93" fmla="*/ 22 h 56"/>
                <a:gd name="T94" fmla="*/ 18 w 38"/>
                <a:gd name="T95" fmla="*/ 20 h 56"/>
                <a:gd name="T96" fmla="*/ 16 w 38"/>
                <a:gd name="T97" fmla="*/ 20 h 56"/>
                <a:gd name="T98" fmla="*/ 14 w 38"/>
                <a:gd name="T99" fmla="*/ 22 h 56"/>
                <a:gd name="T100" fmla="*/ 10 w 38"/>
                <a:gd name="T101" fmla="*/ 24 h 56"/>
                <a:gd name="T102" fmla="*/ 8 w 38"/>
                <a:gd name="T103" fmla="*/ 28 h 56"/>
                <a:gd name="T104" fmla="*/ 8 w 38"/>
                <a:gd name="T105" fmla="*/ 36 h 56"/>
                <a:gd name="T106" fmla="*/ 8 w 38"/>
                <a:gd name="T107" fmla="*/ 42 h 56"/>
                <a:gd name="T108" fmla="*/ 10 w 38"/>
                <a:gd name="T109" fmla="*/ 46 h 56"/>
                <a:gd name="T110" fmla="*/ 14 w 38"/>
                <a:gd name="T111" fmla="*/ 50 h 56"/>
                <a:gd name="T112" fmla="*/ 18 w 38"/>
                <a:gd name="T113" fmla="*/ 50 h 56"/>
                <a:gd name="T114" fmla="*/ 22 w 38"/>
                <a:gd name="T115" fmla="*/ 50 h 56"/>
                <a:gd name="T116" fmla="*/ 26 w 38"/>
                <a:gd name="T117" fmla="*/ 46 h 5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38"/>
                <a:gd name="T178" fmla="*/ 0 h 56"/>
                <a:gd name="T179" fmla="*/ 38 w 38"/>
                <a:gd name="T180" fmla="*/ 56 h 5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38" h="56">
                  <a:moveTo>
                    <a:pt x="26" y="50"/>
                  </a:moveTo>
                  <a:lnTo>
                    <a:pt x="22" y="52"/>
                  </a:lnTo>
                  <a:lnTo>
                    <a:pt x="20" y="54"/>
                  </a:lnTo>
                  <a:lnTo>
                    <a:pt x="18" y="56"/>
                  </a:lnTo>
                  <a:lnTo>
                    <a:pt x="14" y="56"/>
                  </a:lnTo>
                  <a:lnTo>
                    <a:pt x="10" y="54"/>
                  </a:lnTo>
                  <a:lnTo>
                    <a:pt x="4" y="50"/>
                  </a:lnTo>
                  <a:lnTo>
                    <a:pt x="2" y="46"/>
                  </a:lnTo>
                  <a:lnTo>
                    <a:pt x="0" y="38"/>
                  </a:lnTo>
                  <a:lnTo>
                    <a:pt x="2" y="32"/>
                  </a:lnTo>
                  <a:lnTo>
                    <a:pt x="6" y="24"/>
                  </a:lnTo>
                  <a:lnTo>
                    <a:pt x="8" y="22"/>
                  </a:lnTo>
                  <a:lnTo>
                    <a:pt x="12" y="18"/>
                  </a:lnTo>
                  <a:lnTo>
                    <a:pt x="18" y="18"/>
                  </a:lnTo>
                  <a:lnTo>
                    <a:pt x="22" y="20"/>
                  </a:lnTo>
                  <a:lnTo>
                    <a:pt x="26" y="22"/>
                  </a:lnTo>
                  <a:lnTo>
                    <a:pt x="26" y="14"/>
                  </a:lnTo>
                  <a:lnTo>
                    <a:pt x="26" y="8"/>
                  </a:lnTo>
                  <a:lnTo>
                    <a:pt x="26" y="6"/>
                  </a:lnTo>
                  <a:lnTo>
                    <a:pt x="24" y="4"/>
                  </a:lnTo>
                  <a:lnTo>
                    <a:pt x="22" y="4"/>
                  </a:lnTo>
                  <a:lnTo>
                    <a:pt x="20" y="4"/>
                  </a:lnTo>
                  <a:lnTo>
                    <a:pt x="30" y="0"/>
                  </a:lnTo>
                  <a:lnTo>
                    <a:pt x="32" y="0"/>
                  </a:lnTo>
                  <a:lnTo>
                    <a:pt x="32" y="40"/>
                  </a:lnTo>
                  <a:lnTo>
                    <a:pt x="32" y="46"/>
                  </a:lnTo>
                  <a:lnTo>
                    <a:pt x="32" y="48"/>
                  </a:lnTo>
                  <a:lnTo>
                    <a:pt x="32" y="50"/>
                  </a:lnTo>
                  <a:lnTo>
                    <a:pt x="34" y="50"/>
                  </a:lnTo>
                  <a:lnTo>
                    <a:pt x="34" y="52"/>
                  </a:lnTo>
                  <a:lnTo>
                    <a:pt x="36" y="52"/>
                  </a:lnTo>
                  <a:lnTo>
                    <a:pt x="36" y="50"/>
                  </a:lnTo>
                  <a:lnTo>
                    <a:pt x="38" y="52"/>
                  </a:lnTo>
                  <a:lnTo>
                    <a:pt x="28" y="56"/>
                  </a:lnTo>
                  <a:lnTo>
                    <a:pt x="26" y="56"/>
                  </a:lnTo>
                  <a:lnTo>
                    <a:pt x="26" y="50"/>
                  </a:lnTo>
                  <a:close/>
                  <a:moveTo>
                    <a:pt x="26" y="46"/>
                  </a:moveTo>
                  <a:lnTo>
                    <a:pt x="26" y="30"/>
                  </a:lnTo>
                  <a:lnTo>
                    <a:pt x="24" y="28"/>
                  </a:lnTo>
                  <a:lnTo>
                    <a:pt x="24" y="24"/>
                  </a:lnTo>
                  <a:lnTo>
                    <a:pt x="22" y="24"/>
                  </a:lnTo>
                  <a:lnTo>
                    <a:pt x="20" y="22"/>
                  </a:lnTo>
                  <a:lnTo>
                    <a:pt x="18" y="20"/>
                  </a:lnTo>
                  <a:lnTo>
                    <a:pt x="16" y="20"/>
                  </a:lnTo>
                  <a:lnTo>
                    <a:pt x="14" y="22"/>
                  </a:lnTo>
                  <a:lnTo>
                    <a:pt x="10" y="24"/>
                  </a:lnTo>
                  <a:lnTo>
                    <a:pt x="8" y="28"/>
                  </a:lnTo>
                  <a:lnTo>
                    <a:pt x="8" y="36"/>
                  </a:lnTo>
                  <a:lnTo>
                    <a:pt x="8" y="42"/>
                  </a:lnTo>
                  <a:lnTo>
                    <a:pt x="10" y="46"/>
                  </a:lnTo>
                  <a:lnTo>
                    <a:pt x="14" y="50"/>
                  </a:lnTo>
                  <a:lnTo>
                    <a:pt x="18" y="50"/>
                  </a:lnTo>
                  <a:lnTo>
                    <a:pt x="22" y="50"/>
                  </a:lnTo>
                  <a:lnTo>
                    <a:pt x="26" y="4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80" name="Freeform 60"/>
            <p:cNvSpPr/>
            <p:nvPr/>
          </p:nvSpPr>
          <p:spPr bwMode="auto">
            <a:xfrm>
              <a:off x="2530" y="2412"/>
              <a:ext cx="22" cy="72"/>
            </a:xfrm>
            <a:custGeom>
              <a:avLst/>
              <a:gdLst>
                <a:gd name="T0" fmla="*/ 0 w 22"/>
                <a:gd name="T1" fmla="*/ 2 h 72"/>
                <a:gd name="T2" fmla="*/ 0 w 22"/>
                <a:gd name="T3" fmla="*/ 0 h 72"/>
                <a:gd name="T4" fmla="*/ 6 w 22"/>
                <a:gd name="T5" fmla="*/ 4 h 72"/>
                <a:gd name="T6" fmla="*/ 10 w 22"/>
                <a:gd name="T7" fmla="*/ 6 h 72"/>
                <a:gd name="T8" fmla="*/ 14 w 22"/>
                <a:gd name="T9" fmla="*/ 12 h 72"/>
                <a:gd name="T10" fmla="*/ 18 w 22"/>
                <a:gd name="T11" fmla="*/ 20 h 72"/>
                <a:gd name="T12" fmla="*/ 20 w 22"/>
                <a:gd name="T13" fmla="*/ 28 h 72"/>
                <a:gd name="T14" fmla="*/ 22 w 22"/>
                <a:gd name="T15" fmla="*/ 36 h 72"/>
                <a:gd name="T16" fmla="*/ 20 w 22"/>
                <a:gd name="T17" fmla="*/ 44 h 72"/>
                <a:gd name="T18" fmla="*/ 18 w 22"/>
                <a:gd name="T19" fmla="*/ 50 h 72"/>
                <a:gd name="T20" fmla="*/ 16 w 22"/>
                <a:gd name="T21" fmla="*/ 58 h 72"/>
                <a:gd name="T22" fmla="*/ 10 w 22"/>
                <a:gd name="T23" fmla="*/ 64 h 72"/>
                <a:gd name="T24" fmla="*/ 6 w 22"/>
                <a:gd name="T25" fmla="*/ 68 h 72"/>
                <a:gd name="T26" fmla="*/ 0 w 22"/>
                <a:gd name="T27" fmla="*/ 72 h 72"/>
                <a:gd name="T28" fmla="*/ 0 w 22"/>
                <a:gd name="T29" fmla="*/ 70 h 72"/>
                <a:gd name="T30" fmla="*/ 4 w 22"/>
                <a:gd name="T31" fmla="*/ 66 h 72"/>
                <a:gd name="T32" fmla="*/ 8 w 22"/>
                <a:gd name="T33" fmla="*/ 62 h 72"/>
                <a:gd name="T34" fmla="*/ 10 w 22"/>
                <a:gd name="T35" fmla="*/ 58 h 72"/>
                <a:gd name="T36" fmla="*/ 12 w 22"/>
                <a:gd name="T37" fmla="*/ 52 h 72"/>
                <a:gd name="T38" fmla="*/ 14 w 22"/>
                <a:gd name="T39" fmla="*/ 44 h 72"/>
                <a:gd name="T40" fmla="*/ 14 w 22"/>
                <a:gd name="T41" fmla="*/ 36 h 72"/>
                <a:gd name="T42" fmla="*/ 14 w 22"/>
                <a:gd name="T43" fmla="*/ 28 h 72"/>
                <a:gd name="T44" fmla="*/ 12 w 22"/>
                <a:gd name="T45" fmla="*/ 22 h 72"/>
                <a:gd name="T46" fmla="*/ 12 w 22"/>
                <a:gd name="T47" fmla="*/ 18 h 72"/>
                <a:gd name="T48" fmla="*/ 10 w 22"/>
                <a:gd name="T49" fmla="*/ 14 h 72"/>
                <a:gd name="T50" fmla="*/ 8 w 22"/>
                <a:gd name="T51" fmla="*/ 10 h 72"/>
                <a:gd name="T52" fmla="*/ 6 w 22"/>
                <a:gd name="T53" fmla="*/ 8 h 72"/>
                <a:gd name="T54" fmla="*/ 4 w 22"/>
                <a:gd name="T55" fmla="*/ 4 h 72"/>
                <a:gd name="T56" fmla="*/ 0 w 22"/>
                <a:gd name="T57" fmla="*/ 2 h 7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2"/>
                <a:gd name="T88" fmla="*/ 0 h 72"/>
                <a:gd name="T89" fmla="*/ 22 w 22"/>
                <a:gd name="T90" fmla="*/ 72 h 7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2" h="72">
                  <a:moveTo>
                    <a:pt x="0" y="2"/>
                  </a:moveTo>
                  <a:lnTo>
                    <a:pt x="0" y="0"/>
                  </a:lnTo>
                  <a:lnTo>
                    <a:pt x="6" y="4"/>
                  </a:lnTo>
                  <a:lnTo>
                    <a:pt x="10" y="6"/>
                  </a:lnTo>
                  <a:lnTo>
                    <a:pt x="14" y="12"/>
                  </a:lnTo>
                  <a:lnTo>
                    <a:pt x="18" y="20"/>
                  </a:lnTo>
                  <a:lnTo>
                    <a:pt x="20" y="28"/>
                  </a:lnTo>
                  <a:lnTo>
                    <a:pt x="22" y="36"/>
                  </a:lnTo>
                  <a:lnTo>
                    <a:pt x="20" y="44"/>
                  </a:lnTo>
                  <a:lnTo>
                    <a:pt x="18" y="50"/>
                  </a:lnTo>
                  <a:lnTo>
                    <a:pt x="16" y="58"/>
                  </a:lnTo>
                  <a:lnTo>
                    <a:pt x="10" y="64"/>
                  </a:lnTo>
                  <a:lnTo>
                    <a:pt x="6" y="68"/>
                  </a:lnTo>
                  <a:lnTo>
                    <a:pt x="0" y="72"/>
                  </a:lnTo>
                  <a:lnTo>
                    <a:pt x="0" y="70"/>
                  </a:lnTo>
                  <a:lnTo>
                    <a:pt x="4" y="66"/>
                  </a:lnTo>
                  <a:lnTo>
                    <a:pt x="8" y="62"/>
                  </a:lnTo>
                  <a:lnTo>
                    <a:pt x="10" y="58"/>
                  </a:lnTo>
                  <a:lnTo>
                    <a:pt x="12" y="52"/>
                  </a:lnTo>
                  <a:lnTo>
                    <a:pt x="14" y="44"/>
                  </a:lnTo>
                  <a:lnTo>
                    <a:pt x="14" y="36"/>
                  </a:lnTo>
                  <a:lnTo>
                    <a:pt x="14" y="28"/>
                  </a:lnTo>
                  <a:lnTo>
                    <a:pt x="12" y="22"/>
                  </a:lnTo>
                  <a:lnTo>
                    <a:pt x="12" y="18"/>
                  </a:lnTo>
                  <a:lnTo>
                    <a:pt x="10" y="14"/>
                  </a:lnTo>
                  <a:lnTo>
                    <a:pt x="8" y="10"/>
                  </a:lnTo>
                  <a:lnTo>
                    <a:pt x="6" y="8"/>
                  </a:lnTo>
                  <a:lnTo>
                    <a:pt x="4" y="4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81" name="Freeform 61"/>
            <p:cNvSpPr/>
            <p:nvPr/>
          </p:nvSpPr>
          <p:spPr bwMode="auto">
            <a:xfrm>
              <a:off x="2640" y="2414"/>
              <a:ext cx="58" cy="54"/>
            </a:xfrm>
            <a:custGeom>
              <a:avLst/>
              <a:gdLst>
                <a:gd name="T0" fmla="*/ 0 w 58"/>
                <a:gd name="T1" fmla="*/ 0 h 54"/>
                <a:gd name="T2" fmla="*/ 14 w 58"/>
                <a:gd name="T3" fmla="*/ 0 h 54"/>
                <a:gd name="T4" fmla="*/ 48 w 58"/>
                <a:gd name="T5" fmla="*/ 40 h 54"/>
                <a:gd name="T6" fmla="*/ 48 w 58"/>
                <a:gd name="T7" fmla="*/ 8 h 54"/>
                <a:gd name="T8" fmla="*/ 48 w 58"/>
                <a:gd name="T9" fmla="*/ 4 h 54"/>
                <a:gd name="T10" fmla="*/ 46 w 58"/>
                <a:gd name="T11" fmla="*/ 2 h 54"/>
                <a:gd name="T12" fmla="*/ 44 w 58"/>
                <a:gd name="T13" fmla="*/ 0 h 54"/>
                <a:gd name="T14" fmla="*/ 42 w 58"/>
                <a:gd name="T15" fmla="*/ 0 h 54"/>
                <a:gd name="T16" fmla="*/ 40 w 58"/>
                <a:gd name="T17" fmla="*/ 0 h 54"/>
                <a:gd name="T18" fmla="*/ 40 w 58"/>
                <a:gd name="T19" fmla="*/ 0 h 54"/>
                <a:gd name="T20" fmla="*/ 58 w 58"/>
                <a:gd name="T21" fmla="*/ 0 h 54"/>
                <a:gd name="T22" fmla="*/ 58 w 58"/>
                <a:gd name="T23" fmla="*/ 0 h 54"/>
                <a:gd name="T24" fmla="*/ 56 w 58"/>
                <a:gd name="T25" fmla="*/ 0 h 54"/>
                <a:gd name="T26" fmla="*/ 54 w 58"/>
                <a:gd name="T27" fmla="*/ 0 h 54"/>
                <a:gd name="T28" fmla="*/ 52 w 58"/>
                <a:gd name="T29" fmla="*/ 2 h 54"/>
                <a:gd name="T30" fmla="*/ 52 w 58"/>
                <a:gd name="T31" fmla="*/ 4 h 54"/>
                <a:gd name="T32" fmla="*/ 52 w 58"/>
                <a:gd name="T33" fmla="*/ 8 h 54"/>
                <a:gd name="T34" fmla="*/ 52 w 58"/>
                <a:gd name="T35" fmla="*/ 54 h 54"/>
                <a:gd name="T36" fmla="*/ 50 w 58"/>
                <a:gd name="T37" fmla="*/ 54 h 54"/>
                <a:gd name="T38" fmla="*/ 14 w 58"/>
                <a:gd name="T39" fmla="*/ 12 h 54"/>
                <a:gd name="T40" fmla="*/ 14 w 58"/>
                <a:gd name="T41" fmla="*/ 44 h 54"/>
                <a:gd name="T42" fmla="*/ 14 w 58"/>
                <a:gd name="T43" fmla="*/ 48 h 54"/>
                <a:gd name="T44" fmla="*/ 16 w 58"/>
                <a:gd name="T45" fmla="*/ 50 h 54"/>
                <a:gd name="T46" fmla="*/ 18 w 58"/>
                <a:gd name="T47" fmla="*/ 52 h 54"/>
                <a:gd name="T48" fmla="*/ 20 w 58"/>
                <a:gd name="T49" fmla="*/ 52 h 54"/>
                <a:gd name="T50" fmla="*/ 22 w 58"/>
                <a:gd name="T51" fmla="*/ 52 h 54"/>
                <a:gd name="T52" fmla="*/ 22 w 58"/>
                <a:gd name="T53" fmla="*/ 52 h 54"/>
                <a:gd name="T54" fmla="*/ 4 w 58"/>
                <a:gd name="T55" fmla="*/ 52 h 54"/>
                <a:gd name="T56" fmla="*/ 4 w 58"/>
                <a:gd name="T57" fmla="*/ 52 h 54"/>
                <a:gd name="T58" fmla="*/ 6 w 58"/>
                <a:gd name="T59" fmla="*/ 52 h 54"/>
                <a:gd name="T60" fmla="*/ 8 w 58"/>
                <a:gd name="T61" fmla="*/ 52 h 54"/>
                <a:gd name="T62" fmla="*/ 10 w 58"/>
                <a:gd name="T63" fmla="*/ 50 h 54"/>
                <a:gd name="T64" fmla="*/ 10 w 58"/>
                <a:gd name="T65" fmla="*/ 48 h 54"/>
                <a:gd name="T66" fmla="*/ 12 w 58"/>
                <a:gd name="T67" fmla="*/ 44 h 54"/>
                <a:gd name="T68" fmla="*/ 12 w 58"/>
                <a:gd name="T69" fmla="*/ 8 h 54"/>
                <a:gd name="T70" fmla="*/ 10 w 58"/>
                <a:gd name="T71" fmla="*/ 4 h 54"/>
                <a:gd name="T72" fmla="*/ 8 w 58"/>
                <a:gd name="T73" fmla="*/ 4 h 54"/>
                <a:gd name="T74" fmla="*/ 6 w 58"/>
                <a:gd name="T75" fmla="*/ 2 h 54"/>
                <a:gd name="T76" fmla="*/ 4 w 58"/>
                <a:gd name="T77" fmla="*/ 2 h 54"/>
                <a:gd name="T78" fmla="*/ 2 w 58"/>
                <a:gd name="T79" fmla="*/ 2 h 54"/>
                <a:gd name="T80" fmla="*/ 0 w 58"/>
                <a:gd name="T81" fmla="*/ 2 h 54"/>
                <a:gd name="T82" fmla="*/ 0 w 58"/>
                <a:gd name="T83" fmla="*/ 0 h 5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58"/>
                <a:gd name="T127" fmla="*/ 0 h 54"/>
                <a:gd name="T128" fmla="*/ 58 w 58"/>
                <a:gd name="T129" fmla="*/ 54 h 5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58" h="54">
                  <a:moveTo>
                    <a:pt x="0" y="0"/>
                  </a:moveTo>
                  <a:lnTo>
                    <a:pt x="14" y="0"/>
                  </a:lnTo>
                  <a:lnTo>
                    <a:pt x="48" y="40"/>
                  </a:lnTo>
                  <a:lnTo>
                    <a:pt x="48" y="8"/>
                  </a:lnTo>
                  <a:lnTo>
                    <a:pt x="48" y="4"/>
                  </a:lnTo>
                  <a:lnTo>
                    <a:pt x="46" y="2"/>
                  </a:lnTo>
                  <a:lnTo>
                    <a:pt x="44" y="0"/>
                  </a:lnTo>
                  <a:lnTo>
                    <a:pt x="42" y="0"/>
                  </a:lnTo>
                  <a:lnTo>
                    <a:pt x="40" y="0"/>
                  </a:lnTo>
                  <a:lnTo>
                    <a:pt x="58" y="0"/>
                  </a:lnTo>
                  <a:lnTo>
                    <a:pt x="56" y="0"/>
                  </a:lnTo>
                  <a:lnTo>
                    <a:pt x="54" y="0"/>
                  </a:lnTo>
                  <a:lnTo>
                    <a:pt x="52" y="2"/>
                  </a:lnTo>
                  <a:lnTo>
                    <a:pt x="52" y="4"/>
                  </a:lnTo>
                  <a:lnTo>
                    <a:pt x="52" y="8"/>
                  </a:lnTo>
                  <a:lnTo>
                    <a:pt x="52" y="54"/>
                  </a:lnTo>
                  <a:lnTo>
                    <a:pt x="50" y="54"/>
                  </a:lnTo>
                  <a:lnTo>
                    <a:pt x="14" y="12"/>
                  </a:lnTo>
                  <a:lnTo>
                    <a:pt x="14" y="44"/>
                  </a:lnTo>
                  <a:lnTo>
                    <a:pt x="14" y="48"/>
                  </a:lnTo>
                  <a:lnTo>
                    <a:pt x="16" y="50"/>
                  </a:lnTo>
                  <a:lnTo>
                    <a:pt x="18" y="52"/>
                  </a:lnTo>
                  <a:lnTo>
                    <a:pt x="20" y="52"/>
                  </a:lnTo>
                  <a:lnTo>
                    <a:pt x="22" y="52"/>
                  </a:lnTo>
                  <a:lnTo>
                    <a:pt x="4" y="52"/>
                  </a:lnTo>
                  <a:lnTo>
                    <a:pt x="6" y="52"/>
                  </a:lnTo>
                  <a:lnTo>
                    <a:pt x="8" y="52"/>
                  </a:lnTo>
                  <a:lnTo>
                    <a:pt x="10" y="50"/>
                  </a:lnTo>
                  <a:lnTo>
                    <a:pt x="10" y="48"/>
                  </a:lnTo>
                  <a:lnTo>
                    <a:pt x="12" y="44"/>
                  </a:lnTo>
                  <a:lnTo>
                    <a:pt x="12" y="8"/>
                  </a:lnTo>
                  <a:lnTo>
                    <a:pt x="10" y="4"/>
                  </a:lnTo>
                  <a:lnTo>
                    <a:pt x="8" y="4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82" name="Freeform 62"/>
            <p:cNvSpPr>
              <a:spLocks noEditPoints="1"/>
            </p:cNvSpPr>
            <p:nvPr/>
          </p:nvSpPr>
          <p:spPr bwMode="auto">
            <a:xfrm>
              <a:off x="2700" y="2414"/>
              <a:ext cx="42" cy="52"/>
            </a:xfrm>
            <a:custGeom>
              <a:avLst/>
              <a:gdLst>
                <a:gd name="T0" fmla="*/ 16 w 42"/>
                <a:gd name="T1" fmla="*/ 28 h 52"/>
                <a:gd name="T2" fmla="*/ 16 w 42"/>
                <a:gd name="T3" fmla="*/ 44 h 52"/>
                <a:gd name="T4" fmla="*/ 16 w 42"/>
                <a:gd name="T5" fmla="*/ 48 h 52"/>
                <a:gd name="T6" fmla="*/ 16 w 42"/>
                <a:gd name="T7" fmla="*/ 50 h 52"/>
                <a:gd name="T8" fmla="*/ 18 w 42"/>
                <a:gd name="T9" fmla="*/ 52 h 52"/>
                <a:gd name="T10" fmla="*/ 20 w 42"/>
                <a:gd name="T11" fmla="*/ 52 h 52"/>
                <a:gd name="T12" fmla="*/ 22 w 42"/>
                <a:gd name="T13" fmla="*/ 52 h 52"/>
                <a:gd name="T14" fmla="*/ 22 w 42"/>
                <a:gd name="T15" fmla="*/ 52 h 52"/>
                <a:gd name="T16" fmla="*/ 0 w 42"/>
                <a:gd name="T17" fmla="*/ 52 h 52"/>
                <a:gd name="T18" fmla="*/ 0 w 42"/>
                <a:gd name="T19" fmla="*/ 52 h 52"/>
                <a:gd name="T20" fmla="*/ 2 w 42"/>
                <a:gd name="T21" fmla="*/ 52 h 52"/>
                <a:gd name="T22" fmla="*/ 6 w 42"/>
                <a:gd name="T23" fmla="*/ 52 h 52"/>
                <a:gd name="T24" fmla="*/ 6 w 42"/>
                <a:gd name="T25" fmla="*/ 50 h 52"/>
                <a:gd name="T26" fmla="*/ 8 w 42"/>
                <a:gd name="T27" fmla="*/ 48 h 52"/>
                <a:gd name="T28" fmla="*/ 8 w 42"/>
                <a:gd name="T29" fmla="*/ 44 h 52"/>
                <a:gd name="T30" fmla="*/ 8 w 42"/>
                <a:gd name="T31" fmla="*/ 8 h 52"/>
                <a:gd name="T32" fmla="*/ 8 w 42"/>
                <a:gd name="T33" fmla="*/ 4 h 52"/>
                <a:gd name="T34" fmla="*/ 6 w 42"/>
                <a:gd name="T35" fmla="*/ 2 h 52"/>
                <a:gd name="T36" fmla="*/ 4 w 42"/>
                <a:gd name="T37" fmla="*/ 0 h 52"/>
                <a:gd name="T38" fmla="*/ 2 w 42"/>
                <a:gd name="T39" fmla="*/ 0 h 52"/>
                <a:gd name="T40" fmla="*/ 0 w 42"/>
                <a:gd name="T41" fmla="*/ 0 h 52"/>
                <a:gd name="T42" fmla="*/ 0 w 42"/>
                <a:gd name="T43" fmla="*/ 0 h 52"/>
                <a:gd name="T44" fmla="*/ 20 w 42"/>
                <a:gd name="T45" fmla="*/ 0 h 52"/>
                <a:gd name="T46" fmla="*/ 26 w 42"/>
                <a:gd name="T47" fmla="*/ 0 h 52"/>
                <a:gd name="T48" fmla="*/ 32 w 42"/>
                <a:gd name="T49" fmla="*/ 2 h 52"/>
                <a:gd name="T50" fmla="*/ 36 w 42"/>
                <a:gd name="T51" fmla="*/ 2 h 52"/>
                <a:gd name="T52" fmla="*/ 38 w 42"/>
                <a:gd name="T53" fmla="*/ 6 h 52"/>
                <a:gd name="T54" fmla="*/ 40 w 42"/>
                <a:gd name="T55" fmla="*/ 10 h 52"/>
                <a:gd name="T56" fmla="*/ 42 w 42"/>
                <a:gd name="T57" fmla="*/ 14 h 52"/>
                <a:gd name="T58" fmla="*/ 40 w 42"/>
                <a:gd name="T59" fmla="*/ 20 h 52"/>
                <a:gd name="T60" fmla="*/ 36 w 42"/>
                <a:gd name="T61" fmla="*/ 24 h 52"/>
                <a:gd name="T62" fmla="*/ 32 w 42"/>
                <a:gd name="T63" fmla="*/ 28 h 52"/>
                <a:gd name="T64" fmla="*/ 24 w 42"/>
                <a:gd name="T65" fmla="*/ 28 h 52"/>
                <a:gd name="T66" fmla="*/ 22 w 42"/>
                <a:gd name="T67" fmla="*/ 28 h 52"/>
                <a:gd name="T68" fmla="*/ 20 w 42"/>
                <a:gd name="T69" fmla="*/ 28 h 52"/>
                <a:gd name="T70" fmla="*/ 18 w 42"/>
                <a:gd name="T71" fmla="*/ 28 h 52"/>
                <a:gd name="T72" fmla="*/ 16 w 42"/>
                <a:gd name="T73" fmla="*/ 28 h 52"/>
                <a:gd name="T74" fmla="*/ 16 w 42"/>
                <a:gd name="T75" fmla="*/ 26 h 52"/>
                <a:gd name="T76" fmla="*/ 18 w 42"/>
                <a:gd name="T77" fmla="*/ 26 h 52"/>
                <a:gd name="T78" fmla="*/ 18 w 42"/>
                <a:gd name="T79" fmla="*/ 26 h 52"/>
                <a:gd name="T80" fmla="*/ 20 w 42"/>
                <a:gd name="T81" fmla="*/ 26 h 52"/>
                <a:gd name="T82" fmla="*/ 22 w 42"/>
                <a:gd name="T83" fmla="*/ 26 h 52"/>
                <a:gd name="T84" fmla="*/ 26 w 42"/>
                <a:gd name="T85" fmla="*/ 26 h 52"/>
                <a:gd name="T86" fmla="*/ 28 w 42"/>
                <a:gd name="T87" fmla="*/ 22 h 52"/>
                <a:gd name="T88" fmla="*/ 32 w 42"/>
                <a:gd name="T89" fmla="*/ 20 h 52"/>
                <a:gd name="T90" fmla="*/ 32 w 42"/>
                <a:gd name="T91" fmla="*/ 14 h 52"/>
                <a:gd name="T92" fmla="*/ 32 w 42"/>
                <a:gd name="T93" fmla="*/ 12 h 52"/>
                <a:gd name="T94" fmla="*/ 30 w 42"/>
                <a:gd name="T95" fmla="*/ 8 h 52"/>
                <a:gd name="T96" fmla="*/ 28 w 42"/>
                <a:gd name="T97" fmla="*/ 6 h 52"/>
                <a:gd name="T98" fmla="*/ 26 w 42"/>
                <a:gd name="T99" fmla="*/ 4 h 52"/>
                <a:gd name="T100" fmla="*/ 24 w 42"/>
                <a:gd name="T101" fmla="*/ 2 h 52"/>
                <a:gd name="T102" fmla="*/ 20 w 42"/>
                <a:gd name="T103" fmla="*/ 2 h 52"/>
                <a:gd name="T104" fmla="*/ 18 w 42"/>
                <a:gd name="T105" fmla="*/ 2 h 52"/>
                <a:gd name="T106" fmla="*/ 16 w 42"/>
                <a:gd name="T107" fmla="*/ 2 h 52"/>
                <a:gd name="T108" fmla="*/ 16 w 42"/>
                <a:gd name="T109" fmla="*/ 26 h 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42"/>
                <a:gd name="T166" fmla="*/ 0 h 52"/>
                <a:gd name="T167" fmla="*/ 42 w 42"/>
                <a:gd name="T168" fmla="*/ 52 h 52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42" h="52">
                  <a:moveTo>
                    <a:pt x="16" y="28"/>
                  </a:moveTo>
                  <a:lnTo>
                    <a:pt x="16" y="44"/>
                  </a:lnTo>
                  <a:lnTo>
                    <a:pt x="16" y="48"/>
                  </a:lnTo>
                  <a:lnTo>
                    <a:pt x="16" y="50"/>
                  </a:lnTo>
                  <a:lnTo>
                    <a:pt x="18" y="52"/>
                  </a:lnTo>
                  <a:lnTo>
                    <a:pt x="20" y="52"/>
                  </a:lnTo>
                  <a:lnTo>
                    <a:pt x="22" y="52"/>
                  </a:lnTo>
                  <a:lnTo>
                    <a:pt x="0" y="52"/>
                  </a:lnTo>
                  <a:lnTo>
                    <a:pt x="2" y="52"/>
                  </a:lnTo>
                  <a:lnTo>
                    <a:pt x="6" y="52"/>
                  </a:lnTo>
                  <a:lnTo>
                    <a:pt x="6" y="50"/>
                  </a:lnTo>
                  <a:lnTo>
                    <a:pt x="8" y="48"/>
                  </a:lnTo>
                  <a:lnTo>
                    <a:pt x="8" y="44"/>
                  </a:lnTo>
                  <a:lnTo>
                    <a:pt x="8" y="8"/>
                  </a:lnTo>
                  <a:lnTo>
                    <a:pt x="8" y="4"/>
                  </a:lnTo>
                  <a:lnTo>
                    <a:pt x="6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20" y="0"/>
                  </a:lnTo>
                  <a:lnTo>
                    <a:pt x="26" y="0"/>
                  </a:lnTo>
                  <a:lnTo>
                    <a:pt x="32" y="2"/>
                  </a:lnTo>
                  <a:lnTo>
                    <a:pt x="36" y="2"/>
                  </a:lnTo>
                  <a:lnTo>
                    <a:pt x="38" y="6"/>
                  </a:lnTo>
                  <a:lnTo>
                    <a:pt x="40" y="10"/>
                  </a:lnTo>
                  <a:lnTo>
                    <a:pt x="42" y="14"/>
                  </a:lnTo>
                  <a:lnTo>
                    <a:pt x="40" y="20"/>
                  </a:lnTo>
                  <a:lnTo>
                    <a:pt x="36" y="24"/>
                  </a:lnTo>
                  <a:lnTo>
                    <a:pt x="32" y="28"/>
                  </a:lnTo>
                  <a:lnTo>
                    <a:pt x="24" y="28"/>
                  </a:lnTo>
                  <a:lnTo>
                    <a:pt x="22" y="28"/>
                  </a:lnTo>
                  <a:lnTo>
                    <a:pt x="20" y="28"/>
                  </a:lnTo>
                  <a:lnTo>
                    <a:pt x="18" y="28"/>
                  </a:lnTo>
                  <a:lnTo>
                    <a:pt x="16" y="28"/>
                  </a:lnTo>
                  <a:close/>
                  <a:moveTo>
                    <a:pt x="16" y="26"/>
                  </a:moveTo>
                  <a:lnTo>
                    <a:pt x="18" y="26"/>
                  </a:lnTo>
                  <a:lnTo>
                    <a:pt x="20" y="26"/>
                  </a:lnTo>
                  <a:lnTo>
                    <a:pt x="22" y="26"/>
                  </a:lnTo>
                  <a:lnTo>
                    <a:pt x="26" y="26"/>
                  </a:lnTo>
                  <a:lnTo>
                    <a:pt x="28" y="22"/>
                  </a:lnTo>
                  <a:lnTo>
                    <a:pt x="32" y="20"/>
                  </a:lnTo>
                  <a:lnTo>
                    <a:pt x="32" y="14"/>
                  </a:lnTo>
                  <a:lnTo>
                    <a:pt x="32" y="12"/>
                  </a:lnTo>
                  <a:lnTo>
                    <a:pt x="30" y="8"/>
                  </a:lnTo>
                  <a:lnTo>
                    <a:pt x="28" y="6"/>
                  </a:lnTo>
                  <a:lnTo>
                    <a:pt x="26" y="4"/>
                  </a:lnTo>
                  <a:lnTo>
                    <a:pt x="24" y="2"/>
                  </a:lnTo>
                  <a:lnTo>
                    <a:pt x="20" y="2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6" y="2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83" name="Freeform 63"/>
            <p:cNvSpPr/>
            <p:nvPr/>
          </p:nvSpPr>
          <p:spPr bwMode="auto">
            <a:xfrm>
              <a:off x="2746" y="2412"/>
              <a:ext cx="22" cy="72"/>
            </a:xfrm>
            <a:custGeom>
              <a:avLst/>
              <a:gdLst>
                <a:gd name="T0" fmla="*/ 22 w 22"/>
                <a:gd name="T1" fmla="*/ 70 h 72"/>
                <a:gd name="T2" fmla="*/ 22 w 22"/>
                <a:gd name="T3" fmla="*/ 72 h 72"/>
                <a:gd name="T4" fmla="*/ 18 w 22"/>
                <a:gd name="T5" fmla="*/ 68 h 72"/>
                <a:gd name="T6" fmla="*/ 12 w 22"/>
                <a:gd name="T7" fmla="*/ 64 h 72"/>
                <a:gd name="T8" fmla="*/ 8 w 22"/>
                <a:gd name="T9" fmla="*/ 58 h 72"/>
                <a:gd name="T10" fmla="*/ 4 w 22"/>
                <a:gd name="T11" fmla="*/ 52 h 72"/>
                <a:gd name="T12" fmla="*/ 2 w 22"/>
                <a:gd name="T13" fmla="*/ 44 h 72"/>
                <a:gd name="T14" fmla="*/ 0 w 22"/>
                <a:gd name="T15" fmla="*/ 36 h 72"/>
                <a:gd name="T16" fmla="*/ 2 w 22"/>
                <a:gd name="T17" fmla="*/ 28 h 72"/>
                <a:gd name="T18" fmla="*/ 4 w 22"/>
                <a:gd name="T19" fmla="*/ 20 h 72"/>
                <a:gd name="T20" fmla="*/ 6 w 22"/>
                <a:gd name="T21" fmla="*/ 14 h 72"/>
                <a:gd name="T22" fmla="*/ 12 w 22"/>
                <a:gd name="T23" fmla="*/ 8 h 72"/>
                <a:gd name="T24" fmla="*/ 16 w 22"/>
                <a:gd name="T25" fmla="*/ 4 h 72"/>
                <a:gd name="T26" fmla="*/ 22 w 22"/>
                <a:gd name="T27" fmla="*/ 0 h 72"/>
                <a:gd name="T28" fmla="*/ 22 w 22"/>
                <a:gd name="T29" fmla="*/ 2 h 72"/>
                <a:gd name="T30" fmla="*/ 18 w 22"/>
                <a:gd name="T31" fmla="*/ 4 h 72"/>
                <a:gd name="T32" fmla="*/ 14 w 22"/>
                <a:gd name="T33" fmla="*/ 8 h 72"/>
                <a:gd name="T34" fmla="*/ 12 w 22"/>
                <a:gd name="T35" fmla="*/ 14 h 72"/>
                <a:gd name="T36" fmla="*/ 10 w 22"/>
                <a:gd name="T37" fmla="*/ 20 h 72"/>
                <a:gd name="T38" fmla="*/ 8 w 22"/>
                <a:gd name="T39" fmla="*/ 28 h 72"/>
                <a:gd name="T40" fmla="*/ 8 w 22"/>
                <a:gd name="T41" fmla="*/ 34 h 72"/>
                <a:gd name="T42" fmla="*/ 8 w 22"/>
                <a:gd name="T43" fmla="*/ 42 h 72"/>
                <a:gd name="T44" fmla="*/ 10 w 22"/>
                <a:gd name="T45" fmla="*/ 50 h 72"/>
                <a:gd name="T46" fmla="*/ 10 w 22"/>
                <a:gd name="T47" fmla="*/ 54 h 72"/>
                <a:gd name="T48" fmla="*/ 12 w 22"/>
                <a:gd name="T49" fmla="*/ 58 h 72"/>
                <a:gd name="T50" fmla="*/ 14 w 22"/>
                <a:gd name="T51" fmla="*/ 62 h 72"/>
                <a:gd name="T52" fmla="*/ 16 w 22"/>
                <a:gd name="T53" fmla="*/ 64 h 72"/>
                <a:gd name="T54" fmla="*/ 18 w 22"/>
                <a:gd name="T55" fmla="*/ 68 h 72"/>
                <a:gd name="T56" fmla="*/ 22 w 22"/>
                <a:gd name="T57" fmla="*/ 70 h 7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2"/>
                <a:gd name="T88" fmla="*/ 0 h 72"/>
                <a:gd name="T89" fmla="*/ 22 w 22"/>
                <a:gd name="T90" fmla="*/ 72 h 7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2" h="72">
                  <a:moveTo>
                    <a:pt x="22" y="70"/>
                  </a:moveTo>
                  <a:lnTo>
                    <a:pt x="22" y="72"/>
                  </a:lnTo>
                  <a:lnTo>
                    <a:pt x="18" y="68"/>
                  </a:lnTo>
                  <a:lnTo>
                    <a:pt x="12" y="64"/>
                  </a:lnTo>
                  <a:lnTo>
                    <a:pt x="8" y="58"/>
                  </a:lnTo>
                  <a:lnTo>
                    <a:pt x="4" y="52"/>
                  </a:lnTo>
                  <a:lnTo>
                    <a:pt x="2" y="44"/>
                  </a:lnTo>
                  <a:lnTo>
                    <a:pt x="0" y="36"/>
                  </a:lnTo>
                  <a:lnTo>
                    <a:pt x="2" y="28"/>
                  </a:lnTo>
                  <a:lnTo>
                    <a:pt x="4" y="20"/>
                  </a:lnTo>
                  <a:lnTo>
                    <a:pt x="6" y="14"/>
                  </a:lnTo>
                  <a:lnTo>
                    <a:pt x="12" y="8"/>
                  </a:lnTo>
                  <a:lnTo>
                    <a:pt x="16" y="4"/>
                  </a:lnTo>
                  <a:lnTo>
                    <a:pt x="22" y="0"/>
                  </a:lnTo>
                  <a:lnTo>
                    <a:pt x="22" y="2"/>
                  </a:lnTo>
                  <a:lnTo>
                    <a:pt x="18" y="4"/>
                  </a:lnTo>
                  <a:lnTo>
                    <a:pt x="14" y="8"/>
                  </a:lnTo>
                  <a:lnTo>
                    <a:pt x="12" y="14"/>
                  </a:lnTo>
                  <a:lnTo>
                    <a:pt x="10" y="20"/>
                  </a:lnTo>
                  <a:lnTo>
                    <a:pt x="8" y="28"/>
                  </a:lnTo>
                  <a:lnTo>
                    <a:pt x="8" y="34"/>
                  </a:lnTo>
                  <a:lnTo>
                    <a:pt x="8" y="42"/>
                  </a:lnTo>
                  <a:lnTo>
                    <a:pt x="10" y="50"/>
                  </a:lnTo>
                  <a:lnTo>
                    <a:pt x="10" y="54"/>
                  </a:lnTo>
                  <a:lnTo>
                    <a:pt x="12" y="58"/>
                  </a:lnTo>
                  <a:lnTo>
                    <a:pt x="14" y="62"/>
                  </a:lnTo>
                  <a:lnTo>
                    <a:pt x="16" y="64"/>
                  </a:lnTo>
                  <a:lnTo>
                    <a:pt x="18" y="68"/>
                  </a:lnTo>
                  <a:lnTo>
                    <a:pt x="22" y="7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84" name="Freeform 64"/>
            <p:cNvSpPr/>
            <p:nvPr/>
          </p:nvSpPr>
          <p:spPr bwMode="auto">
            <a:xfrm>
              <a:off x="2774" y="2430"/>
              <a:ext cx="24" cy="38"/>
            </a:xfrm>
            <a:custGeom>
              <a:avLst/>
              <a:gdLst>
                <a:gd name="T0" fmla="*/ 22 w 24"/>
                <a:gd name="T1" fmla="*/ 0 h 38"/>
                <a:gd name="T2" fmla="*/ 22 w 24"/>
                <a:gd name="T3" fmla="*/ 12 h 38"/>
                <a:gd name="T4" fmla="*/ 22 w 24"/>
                <a:gd name="T5" fmla="*/ 12 h 38"/>
                <a:gd name="T6" fmla="*/ 20 w 24"/>
                <a:gd name="T7" fmla="*/ 8 h 38"/>
                <a:gd name="T8" fmla="*/ 18 w 24"/>
                <a:gd name="T9" fmla="*/ 4 h 38"/>
                <a:gd name="T10" fmla="*/ 14 w 24"/>
                <a:gd name="T11" fmla="*/ 4 h 38"/>
                <a:gd name="T12" fmla="*/ 12 w 24"/>
                <a:gd name="T13" fmla="*/ 2 h 38"/>
                <a:gd name="T14" fmla="*/ 10 w 24"/>
                <a:gd name="T15" fmla="*/ 4 h 38"/>
                <a:gd name="T16" fmla="*/ 8 w 24"/>
                <a:gd name="T17" fmla="*/ 4 h 38"/>
                <a:gd name="T18" fmla="*/ 6 w 24"/>
                <a:gd name="T19" fmla="*/ 6 h 38"/>
                <a:gd name="T20" fmla="*/ 6 w 24"/>
                <a:gd name="T21" fmla="*/ 8 h 38"/>
                <a:gd name="T22" fmla="*/ 6 w 24"/>
                <a:gd name="T23" fmla="*/ 10 h 38"/>
                <a:gd name="T24" fmla="*/ 6 w 24"/>
                <a:gd name="T25" fmla="*/ 10 h 38"/>
                <a:gd name="T26" fmla="*/ 8 w 24"/>
                <a:gd name="T27" fmla="*/ 12 h 38"/>
                <a:gd name="T28" fmla="*/ 12 w 24"/>
                <a:gd name="T29" fmla="*/ 14 h 38"/>
                <a:gd name="T30" fmla="*/ 16 w 24"/>
                <a:gd name="T31" fmla="*/ 16 h 38"/>
                <a:gd name="T32" fmla="*/ 22 w 24"/>
                <a:gd name="T33" fmla="*/ 20 h 38"/>
                <a:gd name="T34" fmla="*/ 24 w 24"/>
                <a:gd name="T35" fmla="*/ 24 h 38"/>
                <a:gd name="T36" fmla="*/ 24 w 24"/>
                <a:gd name="T37" fmla="*/ 26 h 38"/>
                <a:gd name="T38" fmla="*/ 24 w 24"/>
                <a:gd name="T39" fmla="*/ 32 h 38"/>
                <a:gd name="T40" fmla="*/ 20 w 24"/>
                <a:gd name="T41" fmla="*/ 34 h 38"/>
                <a:gd name="T42" fmla="*/ 16 w 24"/>
                <a:gd name="T43" fmla="*/ 36 h 38"/>
                <a:gd name="T44" fmla="*/ 12 w 24"/>
                <a:gd name="T45" fmla="*/ 38 h 38"/>
                <a:gd name="T46" fmla="*/ 8 w 24"/>
                <a:gd name="T47" fmla="*/ 38 h 38"/>
                <a:gd name="T48" fmla="*/ 4 w 24"/>
                <a:gd name="T49" fmla="*/ 36 h 38"/>
                <a:gd name="T50" fmla="*/ 4 w 24"/>
                <a:gd name="T51" fmla="*/ 36 h 38"/>
                <a:gd name="T52" fmla="*/ 2 w 24"/>
                <a:gd name="T53" fmla="*/ 36 h 38"/>
                <a:gd name="T54" fmla="*/ 2 w 24"/>
                <a:gd name="T55" fmla="*/ 36 h 38"/>
                <a:gd name="T56" fmla="*/ 2 w 24"/>
                <a:gd name="T57" fmla="*/ 38 h 38"/>
                <a:gd name="T58" fmla="*/ 0 w 24"/>
                <a:gd name="T59" fmla="*/ 38 h 38"/>
                <a:gd name="T60" fmla="*/ 0 w 24"/>
                <a:gd name="T61" fmla="*/ 26 h 38"/>
                <a:gd name="T62" fmla="*/ 2 w 24"/>
                <a:gd name="T63" fmla="*/ 26 h 38"/>
                <a:gd name="T64" fmla="*/ 2 w 24"/>
                <a:gd name="T65" fmla="*/ 30 h 38"/>
                <a:gd name="T66" fmla="*/ 6 w 24"/>
                <a:gd name="T67" fmla="*/ 32 h 38"/>
                <a:gd name="T68" fmla="*/ 8 w 24"/>
                <a:gd name="T69" fmla="*/ 34 h 38"/>
                <a:gd name="T70" fmla="*/ 12 w 24"/>
                <a:gd name="T71" fmla="*/ 36 h 38"/>
                <a:gd name="T72" fmla="*/ 16 w 24"/>
                <a:gd name="T73" fmla="*/ 34 h 38"/>
                <a:gd name="T74" fmla="*/ 18 w 24"/>
                <a:gd name="T75" fmla="*/ 34 h 38"/>
                <a:gd name="T76" fmla="*/ 18 w 24"/>
                <a:gd name="T77" fmla="*/ 32 h 38"/>
                <a:gd name="T78" fmla="*/ 18 w 24"/>
                <a:gd name="T79" fmla="*/ 30 h 38"/>
                <a:gd name="T80" fmla="*/ 18 w 24"/>
                <a:gd name="T81" fmla="*/ 28 h 38"/>
                <a:gd name="T82" fmla="*/ 16 w 24"/>
                <a:gd name="T83" fmla="*/ 26 h 38"/>
                <a:gd name="T84" fmla="*/ 14 w 24"/>
                <a:gd name="T85" fmla="*/ 24 h 38"/>
                <a:gd name="T86" fmla="*/ 10 w 24"/>
                <a:gd name="T87" fmla="*/ 20 h 38"/>
                <a:gd name="T88" fmla="*/ 4 w 24"/>
                <a:gd name="T89" fmla="*/ 18 h 38"/>
                <a:gd name="T90" fmla="*/ 2 w 24"/>
                <a:gd name="T91" fmla="*/ 16 h 38"/>
                <a:gd name="T92" fmla="*/ 0 w 24"/>
                <a:gd name="T93" fmla="*/ 14 h 38"/>
                <a:gd name="T94" fmla="*/ 0 w 24"/>
                <a:gd name="T95" fmla="*/ 10 h 38"/>
                <a:gd name="T96" fmla="*/ 2 w 24"/>
                <a:gd name="T97" fmla="*/ 6 h 38"/>
                <a:gd name="T98" fmla="*/ 4 w 24"/>
                <a:gd name="T99" fmla="*/ 4 h 38"/>
                <a:gd name="T100" fmla="*/ 8 w 24"/>
                <a:gd name="T101" fmla="*/ 0 h 38"/>
                <a:gd name="T102" fmla="*/ 12 w 24"/>
                <a:gd name="T103" fmla="*/ 0 h 38"/>
                <a:gd name="T104" fmla="*/ 14 w 24"/>
                <a:gd name="T105" fmla="*/ 0 h 38"/>
                <a:gd name="T106" fmla="*/ 16 w 24"/>
                <a:gd name="T107" fmla="*/ 2 h 38"/>
                <a:gd name="T108" fmla="*/ 18 w 24"/>
                <a:gd name="T109" fmla="*/ 2 h 38"/>
                <a:gd name="T110" fmla="*/ 20 w 24"/>
                <a:gd name="T111" fmla="*/ 2 h 38"/>
                <a:gd name="T112" fmla="*/ 20 w 24"/>
                <a:gd name="T113" fmla="*/ 2 h 38"/>
                <a:gd name="T114" fmla="*/ 20 w 24"/>
                <a:gd name="T115" fmla="*/ 2 h 38"/>
                <a:gd name="T116" fmla="*/ 20 w 24"/>
                <a:gd name="T117" fmla="*/ 2 h 38"/>
                <a:gd name="T118" fmla="*/ 22 w 24"/>
                <a:gd name="T119" fmla="*/ 0 h 38"/>
                <a:gd name="T120" fmla="*/ 22 w 24"/>
                <a:gd name="T121" fmla="*/ 0 h 3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4"/>
                <a:gd name="T184" fmla="*/ 0 h 38"/>
                <a:gd name="T185" fmla="*/ 24 w 24"/>
                <a:gd name="T186" fmla="*/ 38 h 38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4" h="38">
                  <a:moveTo>
                    <a:pt x="22" y="0"/>
                  </a:moveTo>
                  <a:lnTo>
                    <a:pt x="22" y="12"/>
                  </a:lnTo>
                  <a:lnTo>
                    <a:pt x="20" y="8"/>
                  </a:lnTo>
                  <a:lnTo>
                    <a:pt x="18" y="4"/>
                  </a:lnTo>
                  <a:lnTo>
                    <a:pt x="14" y="4"/>
                  </a:lnTo>
                  <a:lnTo>
                    <a:pt x="12" y="2"/>
                  </a:lnTo>
                  <a:lnTo>
                    <a:pt x="10" y="4"/>
                  </a:lnTo>
                  <a:lnTo>
                    <a:pt x="8" y="4"/>
                  </a:lnTo>
                  <a:lnTo>
                    <a:pt x="6" y="6"/>
                  </a:lnTo>
                  <a:lnTo>
                    <a:pt x="6" y="8"/>
                  </a:lnTo>
                  <a:lnTo>
                    <a:pt x="6" y="10"/>
                  </a:lnTo>
                  <a:lnTo>
                    <a:pt x="8" y="12"/>
                  </a:lnTo>
                  <a:lnTo>
                    <a:pt x="12" y="14"/>
                  </a:lnTo>
                  <a:lnTo>
                    <a:pt x="16" y="16"/>
                  </a:lnTo>
                  <a:lnTo>
                    <a:pt x="22" y="20"/>
                  </a:lnTo>
                  <a:lnTo>
                    <a:pt x="24" y="24"/>
                  </a:lnTo>
                  <a:lnTo>
                    <a:pt x="24" y="26"/>
                  </a:lnTo>
                  <a:lnTo>
                    <a:pt x="24" y="32"/>
                  </a:lnTo>
                  <a:lnTo>
                    <a:pt x="20" y="34"/>
                  </a:lnTo>
                  <a:lnTo>
                    <a:pt x="16" y="36"/>
                  </a:lnTo>
                  <a:lnTo>
                    <a:pt x="12" y="38"/>
                  </a:lnTo>
                  <a:lnTo>
                    <a:pt x="8" y="38"/>
                  </a:lnTo>
                  <a:lnTo>
                    <a:pt x="4" y="36"/>
                  </a:lnTo>
                  <a:lnTo>
                    <a:pt x="2" y="36"/>
                  </a:lnTo>
                  <a:lnTo>
                    <a:pt x="2" y="38"/>
                  </a:lnTo>
                  <a:lnTo>
                    <a:pt x="0" y="38"/>
                  </a:lnTo>
                  <a:lnTo>
                    <a:pt x="0" y="26"/>
                  </a:lnTo>
                  <a:lnTo>
                    <a:pt x="2" y="26"/>
                  </a:lnTo>
                  <a:lnTo>
                    <a:pt x="2" y="30"/>
                  </a:lnTo>
                  <a:lnTo>
                    <a:pt x="6" y="32"/>
                  </a:lnTo>
                  <a:lnTo>
                    <a:pt x="8" y="34"/>
                  </a:lnTo>
                  <a:lnTo>
                    <a:pt x="12" y="36"/>
                  </a:lnTo>
                  <a:lnTo>
                    <a:pt x="16" y="34"/>
                  </a:lnTo>
                  <a:lnTo>
                    <a:pt x="18" y="34"/>
                  </a:lnTo>
                  <a:lnTo>
                    <a:pt x="18" y="32"/>
                  </a:lnTo>
                  <a:lnTo>
                    <a:pt x="18" y="30"/>
                  </a:lnTo>
                  <a:lnTo>
                    <a:pt x="18" y="28"/>
                  </a:lnTo>
                  <a:lnTo>
                    <a:pt x="16" y="26"/>
                  </a:lnTo>
                  <a:lnTo>
                    <a:pt x="14" y="24"/>
                  </a:lnTo>
                  <a:lnTo>
                    <a:pt x="10" y="20"/>
                  </a:lnTo>
                  <a:lnTo>
                    <a:pt x="4" y="18"/>
                  </a:lnTo>
                  <a:lnTo>
                    <a:pt x="2" y="16"/>
                  </a:lnTo>
                  <a:lnTo>
                    <a:pt x="0" y="14"/>
                  </a:lnTo>
                  <a:lnTo>
                    <a:pt x="0" y="10"/>
                  </a:lnTo>
                  <a:lnTo>
                    <a:pt x="2" y="6"/>
                  </a:lnTo>
                  <a:lnTo>
                    <a:pt x="4" y="4"/>
                  </a:lnTo>
                  <a:lnTo>
                    <a:pt x="8" y="0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6" y="2"/>
                  </a:lnTo>
                  <a:lnTo>
                    <a:pt x="18" y="2"/>
                  </a:lnTo>
                  <a:lnTo>
                    <a:pt x="20" y="2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85" name="Freeform 65"/>
            <p:cNvSpPr>
              <a:spLocks noEditPoints="1"/>
            </p:cNvSpPr>
            <p:nvPr/>
          </p:nvSpPr>
          <p:spPr bwMode="auto">
            <a:xfrm>
              <a:off x="2804" y="2430"/>
              <a:ext cx="32" cy="38"/>
            </a:xfrm>
            <a:custGeom>
              <a:avLst/>
              <a:gdLst>
                <a:gd name="T0" fmla="*/ 16 w 32"/>
                <a:gd name="T1" fmla="*/ 34 h 38"/>
                <a:gd name="T2" fmla="*/ 10 w 32"/>
                <a:gd name="T3" fmla="*/ 38 h 38"/>
                <a:gd name="T4" fmla="*/ 4 w 32"/>
                <a:gd name="T5" fmla="*/ 38 h 38"/>
                <a:gd name="T6" fmla="*/ 0 w 32"/>
                <a:gd name="T7" fmla="*/ 32 h 38"/>
                <a:gd name="T8" fmla="*/ 0 w 32"/>
                <a:gd name="T9" fmla="*/ 26 h 38"/>
                <a:gd name="T10" fmla="*/ 2 w 32"/>
                <a:gd name="T11" fmla="*/ 22 h 38"/>
                <a:gd name="T12" fmla="*/ 12 w 32"/>
                <a:gd name="T13" fmla="*/ 16 h 38"/>
                <a:gd name="T14" fmla="*/ 20 w 32"/>
                <a:gd name="T15" fmla="*/ 12 h 38"/>
                <a:gd name="T16" fmla="*/ 18 w 32"/>
                <a:gd name="T17" fmla="*/ 4 h 38"/>
                <a:gd name="T18" fmla="*/ 14 w 32"/>
                <a:gd name="T19" fmla="*/ 2 h 38"/>
                <a:gd name="T20" fmla="*/ 10 w 32"/>
                <a:gd name="T21" fmla="*/ 4 h 38"/>
                <a:gd name="T22" fmla="*/ 8 w 32"/>
                <a:gd name="T23" fmla="*/ 8 h 38"/>
                <a:gd name="T24" fmla="*/ 8 w 32"/>
                <a:gd name="T25" fmla="*/ 12 h 38"/>
                <a:gd name="T26" fmla="*/ 6 w 32"/>
                <a:gd name="T27" fmla="*/ 14 h 38"/>
                <a:gd name="T28" fmla="*/ 4 w 32"/>
                <a:gd name="T29" fmla="*/ 14 h 38"/>
                <a:gd name="T30" fmla="*/ 2 w 32"/>
                <a:gd name="T31" fmla="*/ 12 h 38"/>
                <a:gd name="T32" fmla="*/ 2 w 32"/>
                <a:gd name="T33" fmla="*/ 6 h 38"/>
                <a:gd name="T34" fmla="*/ 8 w 32"/>
                <a:gd name="T35" fmla="*/ 0 h 38"/>
                <a:gd name="T36" fmla="*/ 18 w 32"/>
                <a:gd name="T37" fmla="*/ 0 h 38"/>
                <a:gd name="T38" fmla="*/ 24 w 32"/>
                <a:gd name="T39" fmla="*/ 4 h 38"/>
                <a:gd name="T40" fmla="*/ 26 w 32"/>
                <a:gd name="T41" fmla="*/ 8 h 38"/>
                <a:gd name="T42" fmla="*/ 26 w 32"/>
                <a:gd name="T43" fmla="*/ 24 h 38"/>
                <a:gd name="T44" fmla="*/ 26 w 32"/>
                <a:gd name="T45" fmla="*/ 30 h 38"/>
                <a:gd name="T46" fmla="*/ 28 w 32"/>
                <a:gd name="T47" fmla="*/ 32 h 38"/>
                <a:gd name="T48" fmla="*/ 28 w 32"/>
                <a:gd name="T49" fmla="*/ 32 h 38"/>
                <a:gd name="T50" fmla="*/ 30 w 32"/>
                <a:gd name="T51" fmla="*/ 32 h 38"/>
                <a:gd name="T52" fmla="*/ 32 w 32"/>
                <a:gd name="T53" fmla="*/ 30 h 38"/>
                <a:gd name="T54" fmla="*/ 28 w 32"/>
                <a:gd name="T55" fmla="*/ 36 h 38"/>
                <a:gd name="T56" fmla="*/ 22 w 32"/>
                <a:gd name="T57" fmla="*/ 38 h 38"/>
                <a:gd name="T58" fmla="*/ 20 w 32"/>
                <a:gd name="T59" fmla="*/ 34 h 38"/>
                <a:gd name="T60" fmla="*/ 20 w 32"/>
                <a:gd name="T61" fmla="*/ 30 h 38"/>
                <a:gd name="T62" fmla="*/ 14 w 32"/>
                <a:gd name="T63" fmla="*/ 18 h 38"/>
                <a:gd name="T64" fmla="*/ 10 w 32"/>
                <a:gd name="T65" fmla="*/ 20 h 38"/>
                <a:gd name="T66" fmla="*/ 6 w 32"/>
                <a:gd name="T67" fmla="*/ 24 h 38"/>
                <a:gd name="T68" fmla="*/ 6 w 32"/>
                <a:gd name="T69" fmla="*/ 28 h 38"/>
                <a:gd name="T70" fmla="*/ 10 w 32"/>
                <a:gd name="T71" fmla="*/ 32 h 38"/>
                <a:gd name="T72" fmla="*/ 16 w 32"/>
                <a:gd name="T73" fmla="*/ 32 h 38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32"/>
                <a:gd name="T112" fmla="*/ 0 h 38"/>
                <a:gd name="T113" fmla="*/ 32 w 32"/>
                <a:gd name="T114" fmla="*/ 38 h 38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32" h="38">
                  <a:moveTo>
                    <a:pt x="20" y="32"/>
                  </a:moveTo>
                  <a:lnTo>
                    <a:pt x="16" y="34"/>
                  </a:lnTo>
                  <a:lnTo>
                    <a:pt x="12" y="36"/>
                  </a:lnTo>
                  <a:lnTo>
                    <a:pt x="10" y="38"/>
                  </a:lnTo>
                  <a:lnTo>
                    <a:pt x="8" y="38"/>
                  </a:lnTo>
                  <a:lnTo>
                    <a:pt x="4" y="38"/>
                  </a:lnTo>
                  <a:lnTo>
                    <a:pt x="2" y="36"/>
                  </a:lnTo>
                  <a:lnTo>
                    <a:pt x="0" y="32"/>
                  </a:lnTo>
                  <a:lnTo>
                    <a:pt x="0" y="28"/>
                  </a:lnTo>
                  <a:lnTo>
                    <a:pt x="0" y="26"/>
                  </a:lnTo>
                  <a:lnTo>
                    <a:pt x="0" y="24"/>
                  </a:lnTo>
                  <a:lnTo>
                    <a:pt x="2" y="22"/>
                  </a:lnTo>
                  <a:lnTo>
                    <a:pt x="6" y="20"/>
                  </a:lnTo>
                  <a:lnTo>
                    <a:pt x="12" y="16"/>
                  </a:lnTo>
                  <a:lnTo>
                    <a:pt x="20" y="14"/>
                  </a:lnTo>
                  <a:lnTo>
                    <a:pt x="20" y="12"/>
                  </a:lnTo>
                  <a:lnTo>
                    <a:pt x="20" y="8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4" y="2"/>
                  </a:lnTo>
                  <a:lnTo>
                    <a:pt x="10" y="4"/>
                  </a:lnTo>
                  <a:lnTo>
                    <a:pt x="8" y="6"/>
                  </a:lnTo>
                  <a:lnTo>
                    <a:pt x="8" y="8"/>
                  </a:lnTo>
                  <a:lnTo>
                    <a:pt x="8" y="10"/>
                  </a:lnTo>
                  <a:lnTo>
                    <a:pt x="8" y="12"/>
                  </a:lnTo>
                  <a:lnTo>
                    <a:pt x="6" y="12"/>
                  </a:lnTo>
                  <a:lnTo>
                    <a:pt x="6" y="14"/>
                  </a:lnTo>
                  <a:lnTo>
                    <a:pt x="4" y="14"/>
                  </a:lnTo>
                  <a:lnTo>
                    <a:pt x="2" y="12"/>
                  </a:lnTo>
                  <a:lnTo>
                    <a:pt x="2" y="10"/>
                  </a:lnTo>
                  <a:lnTo>
                    <a:pt x="2" y="6"/>
                  </a:lnTo>
                  <a:lnTo>
                    <a:pt x="4" y="4"/>
                  </a:lnTo>
                  <a:lnTo>
                    <a:pt x="8" y="0"/>
                  </a:lnTo>
                  <a:lnTo>
                    <a:pt x="14" y="0"/>
                  </a:lnTo>
                  <a:lnTo>
                    <a:pt x="18" y="0"/>
                  </a:lnTo>
                  <a:lnTo>
                    <a:pt x="22" y="2"/>
                  </a:lnTo>
                  <a:lnTo>
                    <a:pt x="24" y="4"/>
                  </a:lnTo>
                  <a:lnTo>
                    <a:pt x="26" y="6"/>
                  </a:lnTo>
                  <a:lnTo>
                    <a:pt x="26" y="8"/>
                  </a:lnTo>
                  <a:lnTo>
                    <a:pt x="26" y="12"/>
                  </a:lnTo>
                  <a:lnTo>
                    <a:pt x="26" y="24"/>
                  </a:lnTo>
                  <a:lnTo>
                    <a:pt x="26" y="28"/>
                  </a:lnTo>
                  <a:lnTo>
                    <a:pt x="26" y="30"/>
                  </a:lnTo>
                  <a:lnTo>
                    <a:pt x="26" y="32"/>
                  </a:lnTo>
                  <a:lnTo>
                    <a:pt x="28" y="32"/>
                  </a:lnTo>
                  <a:lnTo>
                    <a:pt x="30" y="32"/>
                  </a:lnTo>
                  <a:lnTo>
                    <a:pt x="32" y="30"/>
                  </a:lnTo>
                  <a:lnTo>
                    <a:pt x="32" y="32"/>
                  </a:lnTo>
                  <a:lnTo>
                    <a:pt x="28" y="36"/>
                  </a:lnTo>
                  <a:lnTo>
                    <a:pt x="24" y="38"/>
                  </a:lnTo>
                  <a:lnTo>
                    <a:pt x="22" y="38"/>
                  </a:lnTo>
                  <a:lnTo>
                    <a:pt x="20" y="36"/>
                  </a:lnTo>
                  <a:lnTo>
                    <a:pt x="20" y="34"/>
                  </a:lnTo>
                  <a:lnTo>
                    <a:pt x="20" y="32"/>
                  </a:lnTo>
                  <a:close/>
                  <a:moveTo>
                    <a:pt x="20" y="30"/>
                  </a:moveTo>
                  <a:lnTo>
                    <a:pt x="20" y="16"/>
                  </a:lnTo>
                  <a:lnTo>
                    <a:pt x="14" y="18"/>
                  </a:lnTo>
                  <a:lnTo>
                    <a:pt x="12" y="20"/>
                  </a:lnTo>
                  <a:lnTo>
                    <a:pt x="10" y="20"/>
                  </a:lnTo>
                  <a:lnTo>
                    <a:pt x="8" y="22"/>
                  </a:lnTo>
                  <a:lnTo>
                    <a:pt x="6" y="24"/>
                  </a:lnTo>
                  <a:lnTo>
                    <a:pt x="6" y="26"/>
                  </a:lnTo>
                  <a:lnTo>
                    <a:pt x="6" y="28"/>
                  </a:lnTo>
                  <a:lnTo>
                    <a:pt x="8" y="30"/>
                  </a:lnTo>
                  <a:lnTo>
                    <a:pt x="10" y="32"/>
                  </a:lnTo>
                  <a:lnTo>
                    <a:pt x="12" y="32"/>
                  </a:lnTo>
                  <a:lnTo>
                    <a:pt x="16" y="32"/>
                  </a:lnTo>
                  <a:lnTo>
                    <a:pt x="20" y="3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86" name="Freeform 66"/>
            <p:cNvSpPr/>
            <p:nvPr/>
          </p:nvSpPr>
          <p:spPr bwMode="auto">
            <a:xfrm>
              <a:off x="2840" y="2430"/>
              <a:ext cx="30" cy="38"/>
            </a:xfrm>
            <a:custGeom>
              <a:avLst/>
              <a:gdLst>
                <a:gd name="T0" fmla="*/ 30 w 30"/>
                <a:gd name="T1" fmla="*/ 22 h 38"/>
                <a:gd name="T2" fmla="*/ 28 w 30"/>
                <a:gd name="T3" fmla="*/ 30 h 38"/>
                <a:gd name="T4" fmla="*/ 24 w 30"/>
                <a:gd name="T5" fmla="*/ 34 h 38"/>
                <a:gd name="T6" fmla="*/ 20 w 30"/>
                <a:gd name="T7" fmla="*/ 36 h 38"/>
                <a:gd name="T8" fmla="*/ 14 w 30"/>
                <a:gd name="T9" fmla="*/ 38 h 38"/>
                <a:gd name="T10" fmla="*/ 8 w 30"/>
                <a:gd name="T11" fmla="*/ 36 h 38"/>
                <a:gd name="T12" fmla="*/ 4 w 30"/>
                <a:gd name="T13" fmla="*/ 32 h 38"/>
                <a:gd name="T14" fmla="*/ 2 w 30"/>
                <a:gd name="T15" fmla="*/ 28 h 38"/>
                <a:gd name="T16" fmla="*/ 0 w 30"/>
                <a:gd name="T17" fmla="*/ 24 h 38"/>
                <a:gd name="T18" fmla="*/ 0 w 30"/>
                <a:gd name="T19" fmla="*/ 18 h 38"/>
                <a:gd name="T20" fmla="*/ 0 w 30"/>
                <a:gd name="T21" fmla="*/ 14 h 38"/>
                <a:gd name="T22" fmla="*/ 2 w 30"/>
                <a:gd name="T23" fmla="*/ 10 h 38"/>
                <a:gd name="T24" fmla="*/ 4 w 30"/>
                <a:gd name="T25" fmla="*/ 6 h 38"/>
                <a:gd name="T26" fmla="*/ 10 w 30"/>
                <a:gd name="T27" fmla="*/ 2 h 38"/>
                <a:gd name="T28" fmla="*/ 16 w 30"/>
                <a:gd name="T29" fmla="*/ 0 h 38"/>
                <a:gd name="T30" fmla="*/ 20 w 30"/>
                <a:gd name="T31" fmla="*/ 0 h 38"/>
                <a:gd name="T32" fmla="*/ 24 w 30"/>
                <a:gd name="T33" fmla="*/ 2 h 38"/>
                <a:gd name="T34" fmla="*/ 26 w 30"/>
                <a:gd name="T35" fmla="*/ 6 h 38"/>
                <a:gd name="T36" fmla="*/ 28 w 30"/>
                <a:gd name="T37" fmla="*/ 8 h 38"/>
                <a:gd name="T38" fmla="*/ 28 w 30"/>
                <a:gd name="T39" fmla="*/ 10 h 38"/>
                <a:gd name="T40" fmla="*/ 26 w 30"/>
                <a:gd name="T41" fmla="*/ 10 h 38"/>
                <a:gd name="T42" fmla="*/ 26 w 30"/>
                <a:gd name="T43" fmla="*/ 12 h 38"/>
                <a:gd name="T44" fmla="*/ 24 w 30"/>
                <a:gd name="T45" fmla="*/ 12 h 38"/>
                <a:gd name="T46" fmla="*/ 22 w 30"/>
                <a:gd name="T47" fmla="*/ 12 h 38"/>
                <a:gd name="T48" fmla="*/ 22 w 30"/>
                <a:gd name="T49" fmla="*/ 10 h 38"/>
                <a:gd name="T50" fmla="*/ 20 w 30"/>
                <a:gd name="T51" fmla="*/ 10 h 38"/>
                <a:gd name="T52" fmla="*/ 20 w 30"/>
                <a:gd name="T53" fmla="*/ 8 h 38"/>
                <a:gd name="T54" fmla="*/ 20 w 30"/>
                <a:gd name="T55" fmla="*/ 6 h 38"/>
                <a:gd name="T56" fmla="*/ 18 w 30"/>
                <a:gd name="T57" fmla="*/ 4 h 38"/>
                <a:gd name="T58" fmla="*/ 18 w 30"/>
                <a:gd name="T59" fmla="*/ 4 h 38"/>
                <a:gd name="T60" fmla="*/ 16 w 30"/>
                <a:gd name="T61" fmla="*/ 2 h 38"/>
                <a:gd name="T62" fmla="*/ 12 w 30"/>
                <a:gd name="T63" fmla="*/ 4 h 38"/>
                <a:gd name="T64" fmla="*/ 10 w 30"/>
                <a:gd name="T65" fmla="*/ 6 h 38"/>
                <a:gd name="T66" fmla="*/ 6 w 30"/>
                <a:gd name="T67" fmla="*/ 10 h 38"/>
                <a:gd name="T68" fmla="*/ 6 w 30"/>
                <a:gd name="T69" fmla="*/ 16 h 38"/>
                <a:gd name="T70" fmla="*/ 6 w 30"/>
                <a:gd name="T71" fmla="*/ 22 h 38"/>
                <a:gd name="T72" fmla="*/ 10 w 30"/>
                <a:gd name="T73" fmla="*/ 26 h 38"/>
                <a:gd name="T74" fmla="*/ 12 w 30"/>
                <a:gd name="T75" fmla="*/ 30 h 38"/>
                <a:gd name="T76" fmla="*/ 18 w 30"/>
                <a:gd name="T77" fmla="*/ 32 h 38"/>
                <a:gd name="T78" fmla="*/ 22 w 30"/>
                <a:gd name="T79" fmla="*/ 30 h 38"/>
                <a:gd name="T80" fmla="*/ 24 w 30"/>
                <a:gd name="T81" fmla="*/ 28 h 38"/>
                <a:gd name="T82" fmla="*/ 26 w 30"/>
                <a:gd name="T83" fmla="*/ 26 h 38"/>
                <a:gd name="T84" fmla="*/ 28 w 30"/>
                <a:gd name="T85" fmla="*/ 22 h 38"/>
                <a:gd name="T86" fmla="*/ 30 w 30"/>
                <a:gd name="T87" fmla="*/ 22 h 38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0"/>
                <a:gd name="T133" fmla="*/ 0 h 38"/>
                <a:gd name="T134" fmla="*/ 30 w 30"/>
                <a:gd name="T135" fmla="*/ 38 h 38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0" h="38">
                  <a:moveTo>
                    <a:pt x="30" y="22"/>
                  </a:moveTo>
                  <a:lnTo>
                    <a:pt x="28" y="30"/>
                  </a:lnTo>
                  <a:lnTo>
                    <a:pt x="24" y="34"/>
                  </a:lnTo>
                  <a:lnTo>
                    <a:pt x="20" y="36"/>
                  </a:lnTo>
                  <a:lnTo>
                    <a:pt x="14" y="38"/>
                  </a:lnTo>
                  <a:lnTo>
                    <a:pt x="8" y="36"/>
                  </a:lnTo>
                  <a:lnTo>
                    <a:pt x="4" y="32"/>
                  </a:lnTo>
                  <a:lnTo>
                    <a:pt x="2" y="28"/>
                  </a:lnTo>
                  <a:lnTo>
                    <a:pt x="0" y="24"/>
                  </a:lnTo>
                  <a:lnTo>
                    <a:pt x="0" y="18"/>
                  </a:lnTo>
                  <a:lnTo>
                    <a:pt x="0" y="14"/>
                  </a:lnTo>
                  <a:lnTo>
                    <a:pt x="2" y="10"/>
                  </a:lnTo>
                  <a:lnTo>
                    <a:pt x="4" y="6"/>
                  </a:lnTo>
                  <a:lnTo>
                    <a:pt x="10" y="2"/>
                  </a:lnTo>
                  <a:lnTo>
                    <a:pt x="16" y="0"/>
                  </a:lnTo>
                  <a:lnTo>
                    <a:pt x="20" y="0"/>
                  </a:lnTo>
                  <a:lnTo>
                    <a:pt x="24" y="2"/>
                  </a:lnTo>
                  <a:lnTo>
                    <a:pt x="26" y="6"/>
                  </a:lnTo>
                  <a:lnTo>
                    <a:pt x="28" y="8"/>
                  </a:lnTo>
                  <a:lnTo>
                    <a:pt x="28" y="10"/>
                  </a:lnTo>
                  <a:lnTo>
                    <a:pt x="26" y="10"/>
                  </a:lnTo>
                  <a:lnTo>
                    <a:pt x="26" y="12"/>
                  </a:lnTo>
                  <a:lnTo>
                    <a:pt x="24" y="12"/>
                  </a:lnTo>
                  <a:lnTo>
                    <a:pt x="22" y="12"/>
                  </a:lnTo>
                  <a:lnTo>
                    <a:pt x="22" y="10"/>
                  </a:lnTo>
                  <a:lnTo>
                    <a:pt x="20" y="10"/>
                  </a:lnTo>
                  <a:lnTo>
                    <a:pt x="20" y="8"/>
                  </a:lnTo>
                  <a:lnTo>
                    <a:pt x="20" y="6"/>
                  </a:lnTo>
                  <a:lnTo>
                    <a:pt x="18" y="4"/>
                  </a:lnTo>
                  <a:lnTo>
                    <a:pt x="16" y="2"/>
                  </a:lnTo>
                  <a:lnTo>
                    <a:pt x="12" y="4"/>
                  </a:lnTo>
                  <a:lnTo>
                    <a:pt x="10" y="6"/>
                  </a:lnTo>
                  <a:lnTo>
                    <a:pt x="6" y="10"/>
                  </a:lnTo>
                  <a:lnTo>
                    <a:pt x="6" y="16"/>
                  </a:lnTo>
                  <a:lnTo>
                    <a:pt x="6" y="22"/>
                  </a:lnTo>
                  <a:lnTo>
                    <a:pt x="10" y="26"/>
                  </a:lnTo>
                  <a:lnTo>
                    <a:pt x="12" y="30"/>
                  </a:lnTo>
                  <a:lnTo>
                    <a:pt x="18" y="32"/>
                  </a:lnTo>
                  <a:lnTo>
                    <a:pt x="22" y="30"/>
                  </a:lnTo>
                  <a:lnTo>
                    <a:pt x="24" y="28"/>
                  </a:lnTo>
                  <a:lnTo>
                    <a:pt x="26" y="26"/>
                  </a:lnTo>
                  <a:lnTo>
                    <a:pt x="28" y="22"/>
                  </a:lnTo>
                  <a:lnTo>
                    <a:pt x="30" y="2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87" name="Freeform 67"/>
            <p:cNvSpPr/>
            <p:nvPr/>
          </p:nvSpPr>
          <p:spPr bwMode="auto">
            <a:xfrm>
              <a:off x="2874" y="2412"/>
              <a:ext cx="38" cy="54"/>
            </a:xfrm>
            <a:custGeom>
              <a:avLst/>
              <a:gdLst>
                <a:gd name="T0" fmla="*/ 12 w 38"/>
                <a:gd name="T1" fmla="*/ 34 h 54"/>
                <a:gd name="T2" fmla="*/ 24 w 38"/>
                <a:gd name="T3" fmla="*/ 24 h 54"/>
                <a:gd name="T4" fmla="*/ 24 w 38"/>
                <a:gd name="T5" fmla="*/ 22 h 54"/>
                <a:gd name="T6" fmla="*/ 24 w 38"/>
                <a:gd name="T7" fmla="*/ 22 h 54"/>
                <a:gd name="T8" fmla="*/ 24 w 38"/>
                <a:gd name="T9" fmla="*/ 20 h 54"/>
                <a:gd name="T10" fmla="*/ 22 w 38"/>
                <a:gd name="T11" fmla="*/ 20 h 54"/>
                <a:gd name="T12" fmla="*/ 38 w 38"/>
                <a:gd name="T13" fmla="*/ 20 h 54"/>
                <a:gd name="T14" fmla="*/ 32 w 38"/>
                <a:gd name="T15" fmla="*/ 20 h 54"/>
                <a:gd name="T16" fmla="*/ 28 w 38"/>
                <a:gd name="T17" fmla="*/ 24 h 54"/>
                <a:gd name="T18" fmla="*/ 28 w 38"/>
                <a:gd name="T19" fmla="*/ 44 h 54"/>
                <a:gd name="T20" fmla="*/ 32 w 38"/>
                <a:gd name="T21" fmla="*/ 50 h 54"/>
                <a:gd name="T22" fmla="*/ 36 w 38"/>
                <a:gd name="T23" fmla="*/ 52 h 54"/>
                <a:gd name="T24" fmla="*/ 38 w 38"/>
                <a:gd name="T25" fmla="*/ 54 h 54"/>
                <a:gd name="T26" fmla="*/ 22 w 38"/>
                <a:gd name="T27" fmla="*/ 54 h 54"/>
                <a:gd name="T28" fmla="*/ 24 w 38"/>
                <a:gd name="T29" fmla="*/ 54 h 54"/>
                <a:gd name="T30" fmla="*/ 24 w 38"/>
                <a:gd name="T31" fmla="*/ 52 h 54"/>
                <a:gd name="T32" fmla="*/ 24 w 38"/>
                <a:gd name="T33" fmla="*/ 50 h 54"/>
                <a:gd name="T34" fmla="*/ 12 w 38"/>
                <a:gd name="T35" fmla="*/ 34 h 54"/>
                <a:gd name="T36" fmla="*/ 12 w 38"/>
                <a:gd name="T37" fmla="*/ 50 h 54"/>
                <a:gd name="T38" fmla="*/ 12 w 38"/>
                <a:gd name="T39" fmla="*/ 52 h 54"/>
                <a:gd name="T40" fmla="*/ 14 w 38"/>
                <a:gd name="T41" fmla="*/ 54 h 54"/>
                <a:gd name="T42" fmla="*/ 16 w 38"/>
                <a:gd name="T43" fmla="*/ 54 h 54"/>
                <a:gd name="T44" fmla="*/ 0 w 38"/>
                <a:gd name="T45" fmla="*/ 54 h 54"/>
                <a:gd name="T46" fmla="*/ 4 w 38"/>
                <a:gd name="T47" fmla="*/ 54 h 54"/>
                <a:gd name="T48" fmla="*/ 4 w 38"/>
                <a:gd name="T49" fmla="*/ 52 h 54"/>
                <a:gd name="T50" fmla="*/ 4 w 38"/>
                <a:gd name="T51" fmla="*/ 46 h 54"/>
                <a:gd name="T52" fmla="*/ 4 w 38"/>
                <a:gd name="T53" fmla="*/ 8 h 54"/>
                <a:gd name="T54" fmla="*/ 4 w 38"/>
                <a:gd name="T55" fmla="*/ 4 h 54"/>
                <a:gd name="T56" fmla="*/ 2 w 38"/>
                <a:gd name="T57" fmla="*/ 4 h 54"/>
                <a:gd name="T58" fmla="*/ 2 w 38"/>
                <a:gd name="T59" fmla="*/ 4 h 54"/>
                <a:gd name="T60" fmla="*/ 0 w 38"/>
                <a:gd name="T61" fmla="*/ 4 h 54"/>
                <a:gd name="T62" fmla="*/ 12 w 38"/>
                <a:gd name="T63" fmla="*/ 0 h 54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38"/>
                <a:gd name="T97" fmla="*/ 0 h 54"/>
                <a:gd name="T98" fmla="*/ 38 w 38"/>
                <a:gd name="T99" fmla="*/ 54 h 54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38" h="54">
                  <a:moveTo>
                    <a:pt x="12" y="0"/>
                  </a:moveTo>
                  <a:lnTo>
                    <a:pt x="12" y="34"/>
                  </a:lnTo>
                  <a:lnTo>
                    <a:pt x="20" y="26"/>
                  </a:lnTo>
                  <a:lnTo>
                    <a:pt x="24" y="24"/>
                  </a:lnTo>
                  <a:lnTo>
                    <a:pt x="24" y="22"/>
                  </a:lnTo>
                  <a:lnTo>
                    <a:pt x="24" y="20"/>
                  </a:lnTo>
                  <a:lnTo>
                    <a:pt x="22" y="20"/>
                  </a:lnTo>
                  <a:lnTo>
                    <a:pt x="38" y="20"/>
                  </a:lnTo>
                  <a:lnTo>
                    <a:pt x="34" y="20"/>
                  </a:lnTo>
                  <a:lnTo>
                    <a:pt x="32" y="20"/>
                  </a:lnTo>
                  <a:lnTo>
                    <a:pt x="30" y="22"/>
                  </a:lnTo>
                  <a:lnTo>
                    <a:pt x="28" y="24"/>
                  </a:lnTo>
                  <a:lnTo>
                    <a:pt x="18" y="32"/>
                  </a:lnTo>
                  <a:lnTo>
                    <a:pt x="28" y="44"/>
                  </a:lnTo>
                  <a:lnTo>
                    <a:pt x="30" y="48"/>
                  </a:lnTo>
                  <a:lnTo>
                    <a:pt x="32" y="50"/>
                  </a:lnTo>
                  <a:lnTo>
                    <a:pt x="34" y="52"/>
                  </a:lnTo>
                  <a:lnTo>
                    <a:pt x="36" y="52"/>
                  </a:lnTo>
                  <a:lnTo>
                    <a:pt x="36" y="54"/>
                  </a:lnTo>
                  <a:lnTo>
                    <a:pt x="38" y="54"/>
                  </a:lnTo>
                  <a:lnTo>
                    <a:pt x="22" y="54"/>
                  </a:lnTo>
                  <a:lnTo>
                    <a:pt x="24" y="54"/>
                  </a:lnTo>
                  <a:lnTo>
                    <a:pt x="24" y="52"/>
                  </a:lnTo>
                  <a:lnTo>
                    <a:pt x="24" y="50"/>
                  </a:lnTo>
                  <a:lnTo>
                    <a:pt x="22" y="48"/>
                  </a:lnTo>
                  <a:lnTo>
                    <a:pt x="12" y="34"/>
                  </a:lnTo>
                  <a:lnTo>
                    <a:pt x="12" y="46"/>
                  </a:lnTo>
                  <a:lnTo>
                    <a:pt x="12" y="50"/>
                  </a:lnTo>
                  <a:lnTo>
                    <a:pt x="12" y="52"/>
                  </a:lnTo>
                  <a:lnTo>
                    <a:pt x="12" y="54"/>
                  </a:lnTo>
                  <a:lnTo>
                    <a:pt x="14" y="54"/>
                  </a:lnTo>
                  <a:lnTo>
                    <a:pt x="16" y="54"/>
                  </a:lnTo>
                  <a:lnTo>
                    <a:pt x="0" y="54"/>
                  </a:lnTo>
                  <a:lnTo>
                    <a:pt x="2" y="54"/>
                  </a:lnTo>
                  <a:lnTo>
                    <a:pt x="4" y="54"/>
                  </a:lnTo>
                  <a:lnTo>
                    <a:pt x="4" y="52"/>
                  </a:lnTo>
                  <a:lnTo>
                    <a:pt x="4" y="50"/>
                  </a:lnTo>
                  <a:lnTo>
                    <a:pt x="4" y="46"/>
                  </a:lnTo>
                  <a:lnTo>
                    <a:pt x="4" y="14"/>
                  </a:lnTo>
                  <a:lnTo>
                    <a:pt x="4" y="8"/>
                  </a:lnTo>
                  <a:lnTo>
                    <a:pt x="4" y="6"/>
                  </a:lnTo>
                  <a:lnTo>
                    <a:pt x="4" y="4"/>
                  </a:lnTo>
                  <a:lnTo>
                    <a:pt x="2" y="4"/>
                  </a:lnTo>
                  <a:lnTo>
                    <a:pt x="0" y="4"/>
                  </a:lnTo>
                  <a:lnTo>
                    <a:pt x="10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88" name="Freeform 68"/>
            <p:cNvSpPr/>
            <p:nvPr/>
          </p:nvSpPr>
          <p:spPr bwMode="auto">
            <a:xfrm>
              <a:off x="2916" y="2430"/>
              <a:ext cx="26" cy="38"/>
            </a:xfrm>
            <a:custGeom>
              <a:avLst/>
              <a:gdLst>
                <a:gd name="T0" fmla="*/ 22 w 26"/>
                <a:gd name="T1" fmla="*/ 0 h 38"/>
                <a:gd name="T2" fmla="*/ 22 w 26"/>
                <a:gd name="T3" fmla="*/ 12 h 38"/>
                <a:gd name="T4" fmla="*/ 22 w 26"/>
                <a:gd name="T5" fmla="*/ 12 h 38"/>
                <a:gd name="T6" fmla="*/ 20 w 26"/>
                <a:gd name="T7" fmla="*/ 8 h 38"/>
                <a:gd name="T8" fmla="*/ 18 w 26"/>
                <a:gd name="T9" fmla="*/ 4 h 38"/>
                <a:gd name="T10" fmla="*/ 16 w 26"/>
                <a:gd name="T11" fmla="*/ 4 h 38"/>
                <a:gd name="T12" fmla="*/ 12 w 26"/>
                <a:gd name="T13" fmla="*/ 2 h 38"/>
                <a:gd name="T14" fmla="*/ 10 w 26"/>
                <a:gd name="T15" fmla="*/ 4 h 38"/>
                <a:gd name="T16" fmla="*/ 8 w 26"/>
                <a:gd name="T17" fmla="*/ 4 h 38"/>
                <a:gd name="T18" fmla="*/ 6 w 26"/>
                <a:gd name="T19" fmla="*/ 6 h 38"/>
                <a:gd name="T20" fmla="*/ 6 w 26"/>
                <a:gd name="T21" fmla="*/ 8 h 38"/>
                <a:gd name="T22" fmla="*/ 6 w 26"/>
                <a:gd name="T23" fmla="*/ 10 h 38"/>
                <a:gd name="T24" fmla="*/ 6 w 26"/>
                <a:gd name="T25" fmla="*/ 10 h 38"/>
                <a:gd name="T26" fmla="*/ 8 w 26"/>
                <a:gd name="T27" fmla="*/ 12 h 38"/>
                <a:gd name="T28" fmla="*/ 12 w 26"/>
                <a:gd name="T29" fmla="*/ 14 h 38"/>
                <a:gd name="T30" fmla="*/ 18 w 26"/>
                <a:gd name="T31" fmla="*/ 16 h 38"/>
                <a:gd name="T32" fmla="*/ 22 w 26"/>
                <a:gd name="T33" fmla="*/ 20 h 38"/>
                <a:gd name="T34" fmla="*/ 24 w 26"/>
                <a:gd name="T35" fmla="*/ 24 h 38"/>
                <a:gd name="T36" fmla="*/ 26 w 26"/>
                <a:gd name="T37" fmla="*/ 26 h 38"/>
                <a:gd name="T38" fmla="*/ 24 w 26"/>
                <a:gd name="T39" fmla="*/ 32 h 38"/>
                <a:gd name="T40" fmla="*/ 22 w 26"/>
                <a:gd name="T41" fmla="*/ 34 h 38"/>
                <a:gd name="T42" fmla="*/ 18 w 26"/>
                <a:gd name="T43" fmla="*/ 36 h 38"/>
                <a:gd name="T44" fmla="*/ 12 w 26"/>
                <a:gd name="T45" fmla="*/ 38 h 38"/>
                <a:gd name="T46" fmla="*/ 10 w 26"/>
                <a:gd name="T47" fmla="*/ 38 h 38"/>
                <a:gd name="T48" fmla="*/ 6 w 26"/>
                <a:gd name="T49" fmla="*/ 36 h 38"/>
                <a:gd name="T50" fmla="*/ 4 w 26"/>
                <a:gd name="T51" fmla="*/ 36 h 38"/>
                <a:gd name="T52" fmla="*/ 4 w 26"/>
                <a:gd name="T53" fmla="*/ 36 h 38"/>
                <a:gd name="T54" fmla="*/ 2 w 26"/>
                <a:gd name="T55" fmla="*/ 36 h 38"/>
                <a:gd name="T56" fmla="*/ 2 w 26"/>
                <a:gd name="T57" fmla="*/ 38 h 38"/>
                <a:gd name="T58" fmla="*/ 0 w 26"/>
                <a:gd name="T59" fmla="*/ 38 h 38"/>
                <a:gd name="T60" fmla="*/ 0 w 26"/>
                <a:gd name="T61" fmla="*/ 26 h 38"/>
                <a:gd name="T62" fmla="*/ 2 w 26"/>
                <a:gd name="T63" fmla="*/ 26 h 38"/>
                <a:gd name="T64" fmla="*/ 4 w 26"/>
                <a:gd name="T65" fmla="*/ 30 h 38"/>
                <a:gd name="T66" fmla="*/ 6 w 26"/>
                <a:gd name="T67" fmla="*/ 32 h 38"/>
                <a:gd name="T68" fmla="*/ 10 w 26"/>
                <a:gd name="T69" fmla="*/ 34 h 38"/>
                <a:gd name="T70" fmla="*/ 14 w 26"/>
                <a:gd name="T71" fmla="*/ 36 h 38"/>
                <a:gd name="T72" fmla="*/ 16 w 26"/>
                <a:gd name="T73" fmla="*/ 34 h 38"/>
                <a:gd name="T74" fmla="*/ 18 w 26"/>
                <a:gd name="T75" fmla="*/ 34 h 38"/>
                <a:gd name="T76" fmla="*/ 18 w 26"/>
                <a:gd name="T77" fmla="*/ 32 h 38"/>
                <a:gd name="T78" fmla="*/ 20 w 26"/>
                <a:gd name="T79" fmla="*/ 30 h 38"/>
                <a:gd name="T80" fmla="*/ 18 w 26"/>
                <a:gd name="T81" fmla="*/ 28 h 38"/>
                <a:gd name="T82" fmla="*/ 18 w 26"/>
                <a:gd name="T83" fmla="*/ 26 h 38"/>
                <a:gd name="T84" fmla="*/ 14 w 26"/>
                <a:gd name="T85" fmla="*/ 24 h 38"/>
                <a:gd name="T86" fmla="*/ 10 w 26"/>
                <a:gd name="T87" fmla="*/ 20 h 38"/>
                <a:gd name="T88" fmla="*/ 6 w 26"/>
                <a:gd name="T89" fmla="*/ 18 h 38"/>
                <a:gd name="T90" fmla="*/ 2 w 26"/>
                <a:gd name="T91" fmla="*/ 16 h 38"/>
                <a:gd name="T92" fmla="*/ 2 w 26"/>
                <a:gd name="T93" fmla="*/ 14 h 38"/>
                <a:gd name="T94" fmla="*/ 0 w 26"/>
                <a:gd name="T95" fmla="*/ 10 h 38"/>
                <a:gd name="T96" fmla="*/ 2 w 26"/>
                <a:gd name="T97" fmla="*/ 6 h 38"/>
                <a:gd name="T98" fmla="*/ 4 w 26"/>
                <a:gd name="T99" fmla="*/ 4 h 38"/>
                <a:gd name="T100" fmla="*/ 8 w 26"/>
                <a:gd name="T101" fmla="*/ 0 h 38"/>
                <a:gd name="T102" fmla="*/ 12 w 26"/>
                <a:gd name="T103" fmla="*/ 0 h 38"/>
                <a:gd name="T104" fmla="*/ 14 w 26"/>
                <a:gd name="T105" fmla="*/ 0 h 38"/>
                <a:gd name="T106" fmla="*/ 18 w 26"/>
                <a:gd name="T107" fmla="*/ 2 h 38"/>
                <a:gd name="T108" fmla="*/ 18 w 26"/>
                <a:gd name="T109" fmla="*/ 2 h 38"/>
                <a:gd name="T110" fmla="*/ 20 w 26"/>
                <a:gd name="T111" fmla="*/ 2 h 38"/>
                <a:gd name="T112" fmla="*/ 20 w 26"/>
                <a:gd name="T113" fmla="*/ 2 h 38"/>
                <a:gd name="T114" fmla="*/ 20 w 26"/>
                <a:gd name="T115" fmla="*/ 2 h 38"/>
                <a:gd name="T116" fmla="*/ 22 w 26"/>
                <a:gd name="T117" fmla="*/ 2 h 38"/>
                <a:gd name="T118" fmla="*/ 22 w 26"/>
                <a:gd name="T119" fmla="*/ 0 h 38"/>
                <a:gd name="T120" fmla="*/ 22 w 26"/>
                <a:gd name="T121" fmla="*/ 0 h 3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6"/>
                <a:gd name="T184" fmla="*/ 0 h 38"/>
                <a:gd name="T185" fmla="*/ 26 w 26"/>
                <a:gd name="T186" fmla="*/ 38 h 38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6" h="38">
                  <a:moveTo>
                    <a:pt x="22" y="0"/>
                  </a:moveTo>
                  <a:lnTo>
                    <a:pt x="22" y="12"/>
                  </a:lnTo>
                  <a:lnTo>
                    <a:pt x="20" y="8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2" y="2"/>
                  </a:lnTo>
                  <a:lnTo>
                    <a:pt x="10" y="4"/>
                  </a:lnTo>
                  <a:lnTo>
                    <a:pt x="8" y="4"/>
                  </a:lnTo>
                  <a:lnTo>
                    <a:pt x="6" y="6"/>
                  </a:lnTo>
                  <a:lnTo>
                    <a:pt x="6" y="8"/>
                  </a:lnTo>
                  <a:lnTo>
                    <a:pt x="6" y="10"/>
                  </a:lnTo>
                  <a:lnTo>
                    <a:pt x="8" y="12"/>
                  </a:lnTo>
                  <a:lnTo>
                    <a:pt x="12" y="14"/>
                  </a:lnTo>
                  <a:lnTo>
                    <a:pt x="18" y="16"/>
                  </a:lnTo>
                  <a:lnTo>
                    <a:pt x="22" y="20"/>
                  </a:lnTo>
                  <a:lnTo>
                    <a:pt x="24" y="24"/>
                  </a:lnTo>
                  <a:lnTo>
                    <a:pt x="26" y="26"/>
                  </a:lnTo>
                  <a:lnTo>
                    <a:pt x="24" y="32"/>
                  </a:lnTo>
                  <a:lnTo>
                    <a:pt x="22" y="34"/>
                  </a:lnTo>
                  <a:lnTo>
                    <a:pt x="18" y="36"/>
                  </a:lnTo>
                  <a:lnTo>
                    <a:pt x="12" y="38"/>
                  </a:lnTo>
                  <a:lnTo>
                    <a:pt x="10" y="38"/>
                  </a:lnTo>
                  <a:lnTo>
                    <a:pt x="6" y="36"/>
                  </a:lnTo>
                  <a:lnTo>
                    <a:pt x="4" y="36"/>
                  </a:lnTo>
                  <a:lnTo>
                    <a:pt x="2" y="36"/>
                  </a:lnTo>
                  <a:lnTo>
                    <a:pt x="2" y="38"/>
                  </a:lnTo>
                  <a:lnTo>
                    <a:pt x="0" y="38"/>
                  </a:lnTo>
                  <a:lnTo>
                    <a:pt x="0" y="26"/>
                  </a:lnTo>
                  <a:lnTo>
                    <a:pt x="2" y="26"/>
                  </a:lnTo>
                  <a:lnTo>
                    <a:pt x="4" y="30"/>
                  </a:lnTo>
                  <a:lnTo>
                    <a:pt x="6" y="32"/>
                  </a:lnTo>
                  <a:lnTo>
                    <a:pt x="10" y="34"/>
                  </a:lnTo>
                  <a:lnTo>
                    <a:pt x="14" y="36"/>
                  </a:lnTo>
                  <a:lnTo>
                    <a:pt x="16" y="34"/>
                  </a:lnTo>
                  <a:lnTo>
                    <a:pt x="18" y="34"/>
                  </a:lnTo>
                  <a:lnTo>
                    <a:pt x="18" y="32"/>
                  </a:lnTo>
                  <a:lnTo>
                    <a:pt x="20" y="30"/>
                  </a:lnTo>
                  <a:lnTo>
                    <a:pt x="18" y="28"/>
                  </a:lnTo>
                  <a:lnTo>
                    <a:pt x="18" y="26"/>
                  </a:lnTo>
                  <a:lnTo>
                    <a:pt x="14" y="24"/>
                  </a:lnTo>
                  <a:lnTo>
                    <a:pt x="10" y="20"/>
                  </a:lnTo>
                  <a:lnTo>
                    <a:pt x="6" y="18"/>
                  </a:lnTo>
                  <a:lnTo>
                    <a:pt x="2" y="16"/>
                  </a:lnTo>
                  <a:lnTo>
                    <a:pt x="2" y="14"/>
                  </a:lnTo>
                  <a:lnTo>
                    <a:pt x="0" y="10"/>
                  </a:lnTo>
                  <a:lnTo>
                    <a:pt x="2" y="6"/>
                  </a:lnTo>
                  <a:lnTo>
                    <a:pt x="4" y="4"/>
                  </a:lnTo>
                  <a:lnTo>
                    <a:pt x="8" y="0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8" y="2"/>
                  </a:lnTo>
                  <a:lnTo>
                    <a:pt x="20" y="2"/>
                  </a:lnTo>
                  <a:lnTo>
                    <a:pt x="22" y="2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89" name="Freeform 69"/>
            <p:cNvSpPr/>
            <p:nvPr/>
          </p:nvSpPr>
          <p:spPr bwMode="auto">
            <a:xfrm>
              <a:off x="2946" y="2412"/>
              <a:ext cx="20" cy="72"/>
            </a:xfrm>
            <a:custGeom>
              <a:avLst/>
              <a:gdLst>
                <a:gd name="T0" fmla="*/ 0 w 20"/>
                <a:gd name="T1" fmla="*/ 2 h 72"/>
                <a:gd name="T2" fmla="*/ 0 w 20"/>
                <a:gd name="T3" fmla="*/ 0 h 72"/>
                <a:gd name="T4" fmla="*/ 4 w 20"/>
                <a:gd name="T5" fmla="*/ 4 h 72"/>
                <a:gd name="T6" fmla="*/ 10 w 20"/>
                <a:gd name="T7" fmla="*/ 6 h 72"/>
                <a:gd name="T8" fmla="*/ 14 w 20"/>
                <a:gd name="T9" fmla="*/ 12 h 72"/>
                <a:gd name="T10" fmla="*/ 18 w 20"/>
                <a:gd name="T11" fmla="*/ 20 h 72"/>
                <a:gd name="T12" fmla="*/ 20 w 20"/>
                <a:gd name="T13" fmla="*/ 28 h 72"/>
                <a:gd name="T14" fmla="*/ 20 w 20"/>
                <a:gd name="T15" fmla="*/ 36 h 72"/>
                <a:gd name="T16" fmla="*/ 20 w 20"/>
                <a:gd name="T17" fmla="*/ 44 h 72"/>
                <a:gd name="T18" fmla="*/ 18 w 20"/>
                <a:gd name="T19" fmla="*/ 50 h 72"/>
                <a:gd name="T20" fmla="*/ 14 w 20"/>
                <a:gd name="T21" fmla="*/ 58 h 72"/>
                <a:gd name="T22" fmla="*/ 10 w 20"/>
                <a:gd name="T23" fmla="*/ 64 h 72"/>
                <a:gd name="T24" fmla="*/ 6 w 20"/>
                <a:gd name="T25" fmla="*/ 68 h 72"/>
                <a:gd name="T26" fmla="*/ 0 w 20"/>
                <a:gd name="T27" fmla="*/ 72 h 72"/>
                <a:gd name="T28" fmla="*/ 0 w 20"/>
                <a:gd name="T29" fmla="*/ 70 h 72"/>
                <a:gd name="T30" fmla="*/ 4 w 20"/>
                <a:gd name="T31" fmla="*/ 66 h 72"/>
                <a:gd name="T32" fmla="*/ 8 w 20"/>
                <a:gd name="T33" fmla="*/ 62 h 72"/>
                <a:gd name="T34" fmla="*/ 10 w 20"/>
                <a:gd name="T35" fmla="*/ 58 h 72"/>
                <a:gd name="T36" fmla="*/ 12 w 20"/>
                <a:gd name="T37" fmla="*/ 52 h 72"/>
                <a:gd name="T38" fmla="*/ 14 w 20"/>
                <a:gd name="T39" fmla="*/ 44 h 72"/>
                <a:gd name="T40" fmla="*/ 14 w 20"/>
                <a:gd name="T41" fmla="*/ 36 h 72"/>
                <a:gd name="T42" fmla="*/ 14 w 20"/>
                <a:gd name="T43" fmla="*/ 28 h 72"/>
                <a:gd name="T44" fmla="*/ 12 w 20"/>
                <a:gd name="T45" fmla="*/ 22 h 72"/>
                <a:gd name="T46" fmla="*/ 12 w 20"/>
                <a:gd name="T47" fmla="*/ 18 h 72"/>
                <a:gd name="T48" fmla="*/ 10 w 20"/>
                <a:gd name="T49" fmla="*/ 14 h 72"/>
                <a:gd name="T50" fmla="*/ 8 w 20"/>
                <a:gd name="T51" fmla="*/ 10 h 72"/>
                <a:gd name="T52" fmla="*/ 6 w 20"/>
                <a:gd name="T53" fmla="*/ 8 h 72"/>
                <a:gd name="T54" fmla="*/ 2 w 20"/>
                <a:gd name="T55" fmla="*/ 4 h 72"/>
                <a:gd name="T56" fmla="*/ 0 w 20"/>
                <a:gd name="T57" fmla="*/ 2 h 7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0"/>
                <a:gd name="T88" fmla="*/ 0 h 72"/>
                <a:gd name="T89" fmla="*/ 20 w 20"/>
                <a:gd name="T90" fmla="*/ 72 h 7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0" h="72">
                  <a:moveTo>
                    <a:pt x="0" y="2"/>
                  </a:moveTo>
                  <a:lnTo>
                    <a:pt x="0" y="0"/>
                  </a:lnTo>
                  <a:lnTo>
                    <a:pt x="4" y="4"/>
                  </a:lnTo>
                  <a:lnTo>
                    <a:pt x="10" y="6"/>
                  </a:lnTo>
                  <a:lnTo>
                    <a:pt x="14" y="12"/>
                  </a:lnTo>
                  <a:lnTo>
                    <a:pt x="18" y="20"/>
                  </a:lnTo>
                  <a:lnTo>
                    <a:pt x="20" y="28"/>
                  </a:lnTo>
                  <a:lnTo>
                    <a:pt x="20" y="36"/>
                  </a:lnTo>
                  <a:lnTo>
                    <a:pt x="20" y="44"/>
                  </a:lnTo>
                  <a:lnTo>
                    <a:pt x="18" y="50"/>
                  </a:lnTo>
                  <a:lnTo>
                    <a:pt x="14" y="58"/>
                  </a:lnTo>
                  <a:lnTo>
                    <a:pt x="10" y="64"/>
                  </a:lnTo>
                  <a:lnTo>
                    <a:pt x="6" y="68"/>
                  </a:lnTo>
                  <a:lnTo>
                    <a:pt x="0" y="72"/>
                  </a:lnTo>
                  <a:lnTo>
                    <a:pt x="0" y="70"/>
                  </a:lnTo>
                  <a:lnTo>
                    <a:pt x="4" y="66"/>
                  </a:lnTo>
                  <a:lnTo>
                    <a:pt x="8" y="62"/>
                  </a:lnTo>
                  <a:lnTo>
                    <a:pt x="10" y="58"/>
                  </a:lnTo>
                  <a:lnTo>
                    <a:pt x="12" y="52"/>
                  </a:lnTo>
                  <a:lnTo>
                    <a:pt x="14" y="44"/>
                  </a:lnTo>
                  <a:lnTo>
                    <a:pt x="14" y="36"/>
                  </a:lnTo>
                  <a:lnTo>
                    <a:pt x="14" y="28"/>
                  </a:lnTo>
                  <a:lnTo>
                    <a:pt x="12" y="22"/>
                  </a:lnTo>
                  <a:lnTo>
                    <a:pt x="12" y="18"/>
                  </a:lnTo>
                  <a:lnTo>
                    <a:pt x="10" y="14"/>
                  </a:lnTo>
                  <a:lnTo>
                    <a:pt x="8" y="10"/>
                  </a:lnTo>
                  <a:lnTo>
                    <a:pt x="6" y="8"/>
                  </a:lnTo>
                  <a:lnTo>
                    <a:pt x="2" y="4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90" name="Freeform 70"/>
            <p:cNvSpPr>
              <a:spLocks noEditPoints="1"/>
            </p:cNvSpPr>
            <p:nvPr/>
          </p:nvSpPr>
          <p:spPr bwMode="auto">
            <a:xfrm>
              <a:off x="3330" y="2414"/>
              <a:ext cx="40" cy="52"/>
            </a:xfrm>
            <a:custGeom>
              <a:avLst/>
              <a:gdLst>
                <a:gd name="T0" fmla="*/ 16 w 40"/>
                <a:gd name="T1" fmla="*/ 28 h 52"/>
                <a:gd name="T2" fmla="*/ 16 w 40"/>
                <a:gd name="T3" fmla="*/ 44 h 52"/>
                <a:gd name="T4" fmla="*/ 16 w 40"/>
                <a:gd name="T5" fmla="*/ 48 h 52"/>
                <a:gd name="T6" fmla="*/ 16 w 40"/>
                <a:gd name="T7" fmla="*/ 50 h 52"/>
                <a:gd name="T8" fmla="*/ 18 w 40"/>
                <a:gd name="T9" fmla="*/ 52 h 52"/>
                <a:gd name="T10" fmla="*/ 20 w 40"/>
                <a:gd name="T11" fmla="*/ 52 h 52"/>
                <a:gd name="T12" fmla="*/ 22 w 40"/>
                <a:gd name="T13" fmla="*/ 52 h 52"/>
                <a:gd name="T14" fmla="*/ 22 w 40"/>
                <a:gd name="T15" fmla="*/ 52 h 52"/>
                <a:gd name="T16" fmla="*/ 0 w 40"/>
                <a:gd name="T17" fmla="*/ 52 h 52"/>
                <a:gd name="T18" fmla="*/ 0 w 40"/>
                <a:gd name="T19" fmla="*/ 52 h 52"/>
                <a:gd name="T20" fmla="*/ 2 w 40"/>
                <a:gd name="T21" fmla="*/ 52 h 52"/>
                <a:gd name="T22" fmla="*/ 4 w 40"/>
                <a:gd name="T23" fmla="*/ 52 h 52"/>
                <a:gd name="T24" fmla="*/ 6 w 40"/>
                <a:gd name="T25" fmla="*/ 50 h 52"/>
                <a:gd name="T26" fmla="*/ 8 w 40"/>
                <a:gd name="T27" fmla="*/ 48 h 52"/>
                <a:gd name="T28" fmla="*/ 8 w 40"/>
                <a:gd name="T29" fmla="*/ 44 h 52"/>
                <a:gd name="T30" fmla="*/ 8 w 40"/>
                <a:gd name="T31" fmla="*/ 8 h 52"/>
                <a:gd name="T32" fmla="*/ 8 w 40"/>
                <a:gd name="T33" fmla="*/ 4 h 52"/>
                <a:gd name="T34" fmla="*/ 6 w 40"/>
                <a:gd name="T35" fmla="*/ 2 h 52"/>
                <a:gd name="T36" fmla="*/ 4 w 40"/>
                <a:gd name="T37" fmla="*/ 0 h 52"/>
                <a:gd name="T38" fmla="*/ 2 w 40"/>
                <a:gd name="T39" fmla="*/ 0 h 52"/>
                <a:gd name="T40" fmla="*/ 0 w 40"/>
                <a:gd name="T41" fmla="*/ 0 h 52"/>
                <a:gd name="T42" fmla="*/ 0 w 40"/>
                <a:gd name="T43" fmla="*/ 0 h 52"/>
                <a:gd name="T44" fmla="*/ 20 w 40"/>
                <a:gd name="T45" fmla="*/ 0 h 52"/>
                <a:gd name="T46" fmla="*/ 26 w 40"/>
                <a:gd name="T47" fmla="*/ 0 h 52"/>
                <a:gd name="T48" fmla="*/ 32 w 40"/>
                <a:gd name="T49" fmla="*/ 2 h 52"/>
                <a:gd name="T50" fmla="*/ 34 w 40"/>
                <a:gd name="T51" fmla="*/ 2 h 52"/>
                <a:gd name="T52" fmla="*/ 38 w 40"/>
                <a:gd name="T53" fmla="*/ 6 h 52"/>
                <a:gd name="T54" fmla="*/ 40 w 40"/>
                <a:gd name="T55" fmla="*/ 10 h 52"/>
                <a:gd name="T56" fmla="*/ 40 w 40"/>
                <a:gd name="T57" fmla="*/ 14 h 52"/>
                <a:gd name="T58" fmla="*/ 40 w 40"/>
                <a:gd name="T59" fmla="*/ 20 h 52"/>
                <a:gd name="T60" fmla="*/ 36 w 40"/>
                <a:gd name="T61" fmla="*/ 24 h 52"/>
                <a:gd name="T62" fmla="*/ 32 w 40"/>
                <a:gd name="T63" fmla="*/ 28 h 52"/>
                <a:gd name="T64" fmla="*/ 24 w 40"/>
                <a:gd name="T65" fmla="*/ 28 h 52"/>
                <a:gd name="T66" fmla="*/ 22 w 40"/>
                <a:gd name="T67" fmla="*/ 28 h 52"/>
                <a:gd name="T68" fmla="*/ 20 w 40"/>
                <a:gd name="T69" fmla="*/ 28 h 52"/>
                <a:gd name="T70" fmla="*/ 18 w 40"/>
                <a:gd name="T71" fmla="*/ 28 h 52"/>
                <a:gd name="T72" fmla="*/ 16 w 40"/>
                <a:gd name="T73" fmla="*/ 28 h 52"/>
                <a:gd name="T74" fmla="*/ 16 w 40"/>
                <a:gd name="T75" fmla="*/ 26 h 52"/>
                <a:gd name="T76" fmla="*/ 18 w 40"/>
                <a:gd name="T77" fmla="*/ 26 h 52"/>
                <a:gd name="T78" fmla="*/ 18 w 40"/>
                <a:gd name="T79" fmla="*/ 26 h 52"/>
                <a:gd name="T80" fmla="*/ 20 w 40"/>
                <a:gd name="T81" fmla="*/ 26 h 52"/>
                <a:gd name="T82" fmla="*/ 22 w 40"/>
                <a:gd name="T83" fmla="*/ 26 h 52"/>
                <a:gd name="T84" fmla="*/ 26 w 40"/>
                <a:gd name="T85" fmla="*/ 26 h 52"/>
                <a:gd name="T86" fmla="*/ 28 w 40"/>
                <a:gd name="T87" fmla="*/ 22 h 52"/>
                <a:gd name="T88" fmla="*/ 32 w 40"/>
                <a:gd name="T89" fmla="*/ 20 h 52"/>
                <a:gd name="T90" fmla="*/ 32 w 40"/>
                <a:gd name="T91" fmla="*/ 14 h 52"/>
                <a:gd name="T92" fmla="*/ 32 w 40"/>
                <a:gd name="T93" fmla="*/ 12 h 52"/>
                <a:gd name="T94" fmla="*/ 30 w 40"/>
                <a:gd name="T95" fmla="*/ 8 h 52"/>
                <a:gd name="T96" fmla="*/ 28 w 40"/>
                <a:gd name="T97" fmla="*/ 6 h 52"/>
                <a:gd name="T98" fmla="*/ 26 w 40"/>
                <a:gd name="T99" fmla="*/ 4 h 52"/>
                <a:gd name="T100" fmla="*/ 24 w 40"/>
                <a:gd name="T101" fmla="*/ 2 h 52"/>
                <a:gd name="T102" fmla="*/ 20 w 40"/>
                <a:gd name="T103" fmla="*/ 2 h 52"/>
                <a:gd name="T104" fmla="*/ 18 w 40"/>
                <a:gd name="T105" fmla="*/ 2 h 52"/>
                <a:gd name="T106" fmla="*/ 16 w 40"/>
                <a:gd name="T107" fmla="*/ 2 h 52"/>
                <a:gd name="T108" fmla="*/ 16 w 40"/>
                <a:gd name="T109" fmla="*/ 26 h 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40"/>
                <a:gd name="T166" fmla="*/ 0 h 52"/>
                <a:gd name="T167" fmla="*/ 40 w 40"/>
                <a:gd name="T168" fmla="*/ 52 h 52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40" h="52">
                  <a:moveTo>
                    <a:pt x="16" y="28"/>
                  </a:moveTo>
                  <a:lnTo>
                    <a:pt x="16" y="44"/>
                  </a:lnTo>
                  <a:lnTo>
                    <a:pt x="16" y="48"/>
                  </a:lnTo>
                  <a:lnTo>
                    <a:pt x="16" y="50"/>
                  </a:lnTo>
                  <a:lnTo>
                    <a:pt x="18" y="52"/>
                  </a:lnTo>
                  <a:lnTo>
                    <a:pt x="20" y="52"/>
                  </a:lnTo>
                  <a:lnTo>
                    <a:pt x="22" y="52"/>
                  </a:lnTo>
                  <a:lnTo>
                    <a:pt x="0" y="52"/>
                  </a:lnTo>
                  <a:lnTo>
                    <a:pt x="2" y="52"/>
                  </a:lnTo>
                  <a:lnTo>
                    <a:pt x="4" y="52"/>
                  </a:lnTo>
                  <a:lnTo>
                    <a:pt x="6" y="50"/>
                  </a:lnTo>
                  <a:lnTo>
                    <a:pt x="8" y="48"/>
                  </a:lnTo>
                  <a:lnTo>
                    <a:pt x="8" y="44"/>
                  </a:lnTo>
                  <a:lnTo>
                    <a:pt x="8" y="8"/>
                  </a:lnTo>
                  <a:lnTo>
                    <a:pt x="8" y="4"/>
                  </a:lnTo>
                  <a:lnTo>
                    <a:pt x="6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20" y="0"/>
                  </a:lnTo>
                  <a:lnTo>
                    <a:pt x="26" y="0"/>
                  </a:lnTo>
                  <a:lnTo>
                    <a:pt x="32" y="2"/>
                  </a:lnTo>
                  <a:lnTo>
                    <a:pt x="34" y="2"/>
                  </a:lnTo>
                  <a:lnTo>
                    <a:pt x="38" y="6"/>
                  </a:lnTo>
                  <a:lnTo>
                    <a:pt x="40" y="10"/>
                  </a:lnTo>
                  <a:lnTo>
                    <a:pt x="40" y="14"/>
                  </a:lnTo>
                  <a:lnTo>
                    <a:pt x="40" y="20"/>
                  </a:lnTo>
                  <a:lnTo>
                    <a:pt x="36" y="24"/>
                  </a:lnTo>
                  <a:lnTo>
                    <a:pt x="32" y="28"/>
                  </a:lnTo>
                  <a:lnTo>
                    <a:pt x="24" y="28"/>
                  </a:lnTo>
                  <a:lnTo>
                    <a:pt x="22" y="28"/>
                  </a:lnTo>
                  <a:lnTo>
                    <a:pt x="20" y="28"/>
                  </a:lnTo>
                  <a:lnTo>
                    <a:pt x="18" y="28"/>
                  </a:lnTo>
                  <a:lnTo>
                    <a:pt x="16" y="28"/>
                  </a:lnTo>
                  <a:close/>
                  <a:moveTo>
                    <a:pt x="16" y="26"/>
                  </a:moveTo>
                  <a:lnTo>
                    <a:pt x="18" y="26"/>
                  </a:lnTo>
                  <a:lnTo>
                    <a:pt x="20" y="26"/>
                  </a:lnTo>
                  <a:lnTo>
                    <a:pt x="22" y="26"/>
                  </a:lnTo>
                  <a:lnTo>
                    <a:pt x="26" y="26"/>
                  </a:lnTo>
                  <a:lnTo>
                    <a:pt x="28" y="22"/>
                  </a:lnTo>
                  <a:lnTo>
                    <a:pt x="32" y="20"/>
                  </a:lnTo>
                  <a:lnTo>
                    <a:pt x="32" y="14"/>
                  </a:lnTo>
                  <a:lnTo>
                    <a:pt x="32" y="12"/>
                  </a:lnTo>
                  <a:lnTo>
                    <a:pt x="30" y="8"/>
                  </a:lnTo>
                  <a:lnTo>
                    <a:pt x="28" y="6"/>
                  </a:lnTo>
                  <a:lnTo>
                    <a:pt x="26" y="4"/>
                  </a:lnTo>
                  <a:lnTo>
                    <a:pt x="24" y="2"/>
                  </a:lnTo>
                  <a:lnTo>
                    <a:pt x="20" y="2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6" y="2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91" name="Freeform 71"/>
            <p:cNvSpPr>
              <a:spLocks noEditPoints="1"/>
            </p:cNvSpPr>
            <p:nvPr/>
          </p:nvSpPr>
          <p:spPr bwMode="auto">
            <a:xfrm>
              <a:off x="3374" y="2414"/>
              <a:ext cx="42" cy="52"/>
            </a:xfrm>
            <a:custGeom>
              <a:avLst/>
              <a:gdLst>
                <a:gd name="T0" fmla="*/ 16 w 42"/>
                <a:gd name="T1" fmla="*/ 28 h 52"/>
                <a:gd name="T2" fmla="*/ 16 w 42"/>
                <a:gd name="T3" fmla="*/ 44 h 52"/>
                <a:gd name="T4" fmla="*/ 16 w 42"/>
                <a:gd name="T5" fmla="*/ 48 h 52"/>
                <a:gd name="T6" fmla="*/ 16 w 42"/>
                <a:gd name="T7" fmla="*/ 50 h 52"/>
                <a:gd name="T8" fmla="*/ 18 w 42"/>
                <a:gd name="T9" fmla="*/ 52 h 52"/>
                <a:gd name="T10" fmla="*/ 20 w 42"/>
                <a:gd name="T11" fmla="*/ 52 h 52"/>
                <a:gd name="T12" fmla="*/ 22 w 42"/>
                <a:gd name="T13" fmla="*/ 52 h 52"/>
                <a:gd name="T14" fmla="*/ 22 w 42"/>
                <a:gd name="T15" fmla="*/ 52 h 52"/>
                <a:gd name="T16" fmla="*/ 0 w 42"/>
                <a:gd name="T17" fmla="*/ 52 h 52"/>
                <a:gd name="T18" fmla="*/ 0 w 42"/>
                <a:gd name="T19" fmla="*/ 52 h 52"/>
                <a:gd name="T20" fmla="*/ 2 w 42"/>
                <a:gd name="T21" fmla="*/ 52 h 52"/>
                <a:gd name="T22" fmla="*/ 6 w 42"/>
                <a:gd name="T23" fmla="*/ 52 h 52"/>
                <a:gd name="T24" fmla="*/ 8 w 42"/>
                <a:gd name="T25" fmla="*/ 50 h 52"/>
                <a:gd name="T26" fmla="*/ 8 w 42"/>
                <a:gd name="T27" fmla="*/ 48 h 52"/>
                <a:gd name="T28" fmla="*/ 8 w 42"/>
                <a:gd name="T29" fmla="*/ 44 h 52"/>
                <a:gd name="T30" fmla="*/ 8 w 42"/>
                <a:gd name="T31" fmla="*/ 8 h 52"/>
                <a:gd name="T32" fmla="*/ 8 w 42"/>
                <a:gd name="T33" fmla="*/ 4 h 52"/>
                <a:gd name="T34" fmla="*/ 6 w 42"/>
                <a:gd name="T35" fmla="*/ 2 h 52"/>
                <a:gd name="T36" fmla="*/ 4 w 42"/>
                <a:gd name="T37" fmla="*/ 0 h 52"/>
                <a:gd name="T38" fmla="*/ 2 w 42"/>
                <a:gd name="T39" fmla="*/ 0 h 52"/>
                <a:gd name="T40" fmla="*/ 0 w 42"/>
                <a:gd name="T41" fmla="*/ 0 h 52"/>
                <a:gd name="T42" fmla="*/ 0 w 42"/>
                <a:gd name="T43" fmla="*/ 0 h 52"/>
                <a:gd name="T44" fmla="*/ 20 w 42"/>
                <a:gd name="T45" fmla="*/ 0 h 52"/>
                <a:gd name="T46" fmla="*/ 26 w 42"/>
                <a:gd name="T47" fmla="*/ 0 h 52"/>
                <a:gd name="T48" fmla="*/ 32 w 42"/>
                <a:gd name="T49" fmla="*/ 2 h 52"/>
                <a:gd name="T50" fmla="*/ 36 w 42"/>
                <a:gd name="T51" fmla="*/ 2 h 52"/>
                <a:gd name="T52" fmla="*/ 38 w 42"/>
                <a:gd name="T53" fmla="*/ 6 h 52"/>
                <a:gd name="T54" fmla="*/ 40 w 42"/>
                <a:gd name="T55" fmla="*/ 10 h 52"/>
                <a:gd name="T56" fmla="*/ 42 w 42"/>
                <a:gd name="T57" fmla="*/ 14 h 52"/>
                <a:gd name="T58" fmla="*/ 40 w 42"/>
                <a:gd name="T59" fmla="*/ 20 h 52"/>
                <a:gd name="T60" fmla="*/ 36 w 42"/>
                <a:gd name="T61" fmla="*/ 24 h 52"/>
                <a:gd name="T62" fmla="*/ 32 w 42"/>
                <a:gd name="T63" fmla="*/ 28 h 52"/>
                <a:gd name="T64" fmla="*/ 24 w 42"/>
                <a:gd name="T65" fmla="*/ 28 h 52"/>
                <a:gd name="T66" fmla="*/ 22 w 42"/>
                <a:gd name="T67" fmla="*/ 28 h 52"/>
                <a:gd name="T68" fmla="*/ 20 w 42"/>
                <a:gd name="T69" fmla="*/ 28 h 52"/>
                <a:gd name="T70" fmla="*/ 18 w 42"/>
                <a:gd name="T71" fmla="*/ 28 h 52"/>
                <a:gd name="T72" fmla="*/ 16 w 42"/>
                <a:gd name="T73" fmla="*/ 28 h 52"/>
                <a:gd name="T74" fmla="*/ 16 w 42"/>
                <a:gd name="T75" fmla="*/ 26 h 52"/>
                <a:gd name="T76" fmla="*/ 18 w 42"/>
                <a:gd name="T77" fmla="*/ 26 h 52"/>
                <a:gd name="T78" fmla="*/ 20 w 42"/>
                <a:gd name="T79" fmla="*/ 26 h 52"/>
                <a:gd name="T80" fmla="*/ 20 w 42"/>
                <a:gd name="T81" fmla="*/ 26 h 52"/>
                <a:gd name="T82" fmla="*/ 22 w 42"/>
                <a:gd name="T83" fmla="*/ 26 h 52"/>
                <a:gd name="T84" fmla="*/ 26 w 42"/>
                <a:gd name="T85" fmla="*/ 26 h 52"/>
                <a:gd name="T86" fmla="*/ 28 w 42"/>
                <a:gd name="T87" fmla="*/ 22 h 52"/>
                <a:gd name="T88" fmla="*/ 32 w 42"/>
                <a:gd name="T89" fmla="*/ 20 h 52"/>
                <a:gd name="T90" fmla="*/ 32 w 42"/>
                <a:gd name="T91" fmla="*/ 14 h 52"/>
                <a:gd name="T92" fmla="*/ 32 w 42"/>
                <a:gd name="T93" fmla="*/ 12 h 52"/>
                <a:gd name="T94" fmla="*/ 30 w 42"/>
                <a:gd name="T95" fmla="*/ 8 h 52"/>
                <a:gd name="T96" fmla="*/ 28 w 42"/>
                <a:gd name="T97" fmla="*/ 6 h 52"/>
                <a:gd name="T98" fmla="*/ 26 w 42"/>
                <a:gd name="T99" fmla="*/ 4 h 52"/>
                <a:gd name="T100" fmla="*/ 24 w 42"/>
                <a:gd name="T101" fmla="*/ 2 h 52"/>
                <a:gd name="T102" fmla="*/ 20 w 42"/>
                <a:gd name="T103" fmla="*/ 2 h 52"/>
                <a:gd name="T104" fmla="*/ 18 w 42"/>
                <a:gd name="T105" fmla="*/ 2 h 52"/>
                <a:gd name="T106" fmla="*/ 16 w 42"/>
                <a:gd name="T107" fmla="*/ 2 h 52"/>
                <a:gd name="T108" fmla="*/ 16 w 42"/>
                <a:gd name="T109" fmla="*/ 26 h 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42"/>
                <a:gd name="T166" fmla="*/ 0 h 52"/>
                <a:gd name="T167" fmla="*/ 42 w 42"/>
                <a:gd name="T168" fmla="*/ 52 h 52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42" h="52">
                  <a:moveTo>
                    <a:pt x="16" y="28"/>
                  </a:moveTo>
                  <a:lnTo>
                    <a:pt x="16" y="44"/>
                  </a:lnTo>
                  <a:lnTo>
                    <a:pt x="16" y="48"/>
                  </a:lnTo>
                  <a:lnTo>
                    <a:pt x="16" y="50"/>
                  </a:lnTo>
                  <a:lnTo>
                    <a:pt x="18" y="52"/>
                  </a:lnTo>
                  <a:lnTo>
                    <a:pt x="20" y="52"/>
                  </a:lnTo>
                  <a:lnTo>
                    <a:pt x="22" y="52"/>
                  </a:lnTo>
                  <a:lnTo>
                    <a:pt x="0" y="52"/>
                  </a:lnTo>
                  <a:lnTo>
                    <a:pt x="2" y="52"/>
                  </a:lnTo>
                  <a:lnTo>
                    <a:pt x="6" y="52"/>
                  </a:lnTo>
                  <a:lnTo>
                    <a:pt x="8" y="50"/>
                  </a:lnTo>
                  <a:lnTo>
                    <a:pt x="8" y="48"/>
                  </a:lnTo>
                  <a:lnTo>
                    <a:pt x="8" y="44"/>
                  </a:lnTo>
                  <a:lnTo>
                    <a:pt x="8" y="8"/>
                  </a:lnTo>
                  <a:lnTo>
                    <a:pt x="8" y="4"/>
                  </a:lnTo>
                  <a:lnTo>
                    <a:pt x="6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20" y="0"/>
                  </a:lnTo>
                  <a:lnTo>
                    <a:pt x="26" y="0"/>
                  </a:lnTo>
                  <a:lnTo>
                    <a:pt x="32" y="2"/>
                  </a:lnTo>
                  <a:lnTo>
                    <a:pt x="36" y="2"/>
                  </a:lnTo>
                  <a:lnTo>
                    <a:pt x="38" y="6"/>
                  </a:lnTo>
                  <a:lnTo>
                    <a:pt x="40" y="10"/>
                  </a:lnTo>
                  <a:lnTo>
                    <a:pt x="42" y="14"/>
                  </a:lnTo>
                  <a:lnTo>
                    <a:pt x="40" y="20"/>
                  </a:lnTo>
                  <a:lnTo>
                    <a:pt x="36" y="24"/>
                  </a:lnTo>
                  <a:lnTo>
                    <a:pt x="32" y="28"/>
                  </a:lnTo>
                  <a:lnTo>
                    <a:pt x="24" y="28"/>
                  </a:lnTo>
                  <a:lnTo>
                    <a:pt x="22" y="28"/>
                  </a:lnTo>
                  <a:lnTo>
                    <a:pt x="20" y="28"/>
                  </a:lnTo>
                  <a:lnTo>
                    <a:pt x="18" y="28"/>
                  </a:lnTo>
                  <a:lnTo>
                    <a:pt x="16" y="28"/>
                  </a:lnTo>
                  <a:close/>
                  <a:moveTo>
                    <a:pt x="16" y="26"/>
                  </a:moveTo>
                  <a:lnTo>
                    <a:pt x="18" y="26"/>
                  </a:lnTo>
                  <a:lnTo>
                    <a:pt x="20" y="26"/>
                  </a:lnTo>
                  <a:lnTo>
                    <a:pt x="22" y="26"/>
                  </a:lnTo>
                  <a:lnTo>
                    <a:pt x="26" y="26"/>
                  </a:lnTo>
                  <a:lnTo>
                    <a:pt x="28" y="22"/>
                  </a:lnTo>
                  <a:lnTo>
                    <a:pt x="32" y="20"/>
                  </a:lnTo>
                  <a:lnTo>
                    <a:pt x="32" y="14"/>
                  </a:lnTo>
                  <a:lnTo>
                    <a:pt x="32" y="12"/>
                  </a:lnTo>
                  <a:lnTo>
                    <a:pt x="30" y="8"/>
                  </a:lnTo>
                  <a:lnTo>
                    <a:pt x="28" y="6"/>
                  </a:lnTo>
                  <a:lnTo>
                    <a:pt x="26" y="4"/>
                  </a:lnTo>
                  <a:lnTo>
                    <a:pt x="24" y="2"/>
                  </a:lnTo>
                  <a:lnTo>
                    <a:pt x="20" y="2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6" y="2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92" name="Freeform 72"/>
            <p:cNvSpPr/>
            <p:nvPr/>
          </p:nvSpPr>
          <p:spPr bwMode="auto">
            <a:xfrm>
              <a:off x="3420" y="2412"/>
              <a:ext cx="22" cy="72"/>
            </a:xfrm>
            <a:custGeom>
              <a:avLst/>
              <a:gdLst>
                <a:gd name="T0" fmla="*/ 22 w 22"/>
                <a:gd name="T1" fmla="*/ 70 h 72"/>
                <a:gd name="T2" fmla="*/ 22 w 22"/>
                <a:gd name="T3" fmla="*/ 72 h 72"/>
                <a:gd name="T4" fmla="*/ 18 w 22"/>
                <a:gd name="T5" fmla="*/ 68 h 72"/>
                <a:gd name="T6" fmla="*/ 12 w 22"/>
                <a:gd name="T7" fmla="*/ 64 h 72"/>
                <a:gd name="T8" fmla="*/ 8 w 22"/>
                <a:gd name="T9" fmla="*/ 58 h 72"/>
                <a:gd name="T10" fmla="*/ 4 w 22"/>
                <a:gd name="T11" fmla="*/ 52 h 72"/>
                <a:gd name="T12" fmla="*/ 2 w 22"/>
                <a:gd name="T13" fmla="*/ 44 h 72"/>
                <a:gd name="T14" fmla="*/ 0 w 22"/>
                <a:gd name="T15" fmla="*/ 36 h 72"/>
                <a:gd name="T16" fmla="*/ 2 w 22"/>
                <a:gd name="T17" fmla="*/ 28 h 72"/>
                <a:gd name="T18" fmla="*/ 4 w 22"/>
                <a:gd name="T19" fmla="*/ 20 h 72"/>
                <a:gd name="T20" fmla="*/ 6 w 22"/>
                <a:gd name="T21" fmla="*/ 14 h 72"/>
                <a:gd name="T22" fmla="*/ 12 w 22"/>
                <a:gd name="T23" fmla="*/ 8 h 72"/>
                <a:gd name="T24" fmla="*/ 16 w 22"/>
                <a:gd name="T25" fmla="*/ 4 h 72"/>
                <a:gd name="T26" fmla="*/ 22 w 22"/>
                <a:gd name="T27" fmla="*/ 0 h 72"/>
                <a:gd name="T28" fmla="*/ 22 w 22"/>
                <a:gd name="T29" fmla="*/ 2 h 72"/>
                <a:gd name="T30" fmla="*/ 18 w 22"/>
                <a:gd name="T31" fmla="*/ 4 h 72"/>
                <a:gd name="T32" fmla="*/ 14 w 22"/>
                <a:gd name="T33" fmla="*/ 8 h 72"/>
                <a:gd name="T34" fmla="*/ 12 w 22"/>
                <a:gd name="T35" fmla="*/ 14 h 72"/>
                <a:gd name="T36" fmla="*/ 10 w 22"/>
                <a:gd name="T37" fmla="*/ 20 h 72"/>
                <a:gd name="T38" fmla="*/ 8 w 22"/>
                <a:gd name="T39" fmla="*/ 28 h 72"/>
                <a:gd name="T40" fmla="*/ 8 w 22"/>
                <a:gd name="T41" fmla="*/ 34 h 72"/>
                <a:gd name="T42" fmla="*/ 8 w 22"/>
                <a:gd name="T43" fmla="*/ 42 h 72"/>
                <a:gd name="T44" fmla="*/ 10 w 22"/>
                <a:gd name="T45" fmla="*/ 50 h 72"/>
                <a:gd name="T46" fmla="*/ 10 w 22"/>
                <a:gd name="T47" fmla="*/ 54 h 72"/>
                <a:gd name="T48" fmla="*/ 12 w 22"/>
                <a:gd name="T49" fmla="*/ 58 h 72"/>
                <a:gd name="T50" fmla="*/ 14 w 22"/>
                <a:gd name="T51" fmla="*/ 62 h 72"/>
                <a:gd name="T52" fmla="*/ 16 w 22"/>
                <a:gd name="T53" fmla="*/ 64 h 72"/>
                <a:gd name="T54" fmla="*/ 20 w 22"/>
                <a:gd name="T55" fmla="*/ 68 h 72"/>
                <a:gd name="T56" fmla="*/ 22 w 22"/>
                <a:gd name="T57" fmla="*/ 70 h 7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2"/>
                <a:gd name="T88" fmla="*/ 0 h 72"/>
                <a:gd name="T89" fmla="*/ 22 w 22"/>
                <a:gd name="T90" fmla="*/ 72 h 7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2" h="72">
                  <a:moveTo>
                    <a:pt x="22" y="70"/>
                  </a:moveTo>
                  <a:lnTo>
                    <a:pt x="22" y="72"/>
                  </a:lnTo>
                  <a:lnTo>
                    <a:pt x="18" y="68"/>
                  </a:lnTo>
                  <a:lnTo>
                    <a:pt x="12" y="64"/>
                  </a:lnTo>
                  <a:lnTo>
                    <a:pt x="8" y="58"/>
                  </a:lnTo>
                  <a:lnTo>
                    <a:pt x="4" y="52"/>
                  </a:lnTo>
                  <a:lnTo>
                    <a:pt x="2" y="44"/>
                  </a:lnTo>
                  <a:lnTo>
                    <a:pt x="0" y="36"/>
                  </a:lnTo>
                  <a:lnTo>
                    <a:pt x="2" y="28"/>
                  </a:lnTo>
                  <a:lnTo>
                    <a:pt x="4" y="20"/>
                  </a:lnTo>
                  <a:lnTo>
                    <a:pt x="6" y="14"/>
                  </a:lnTo>
                  <a:lnTo>
                    <a:pt x="12" y="8"/>
                  </a:lnTo>
                  <a:lnTo>
                    <a:pt x="16" y="4"/>
                  </a:lnTo>
                  <a:lnTo>
                    <a:pt x="22" y="0"/>
                  </a:lnTo>
                  <a:lnTo>
                    <a:pt x="22" y="2"/>
                  </a:lnTo>
                  <a:lnTo>
                    <a:pt x="18" y="4"/>
                  </a:lnTo>
                  <a:lnTo>
                    <a:pt x="14" y="8"/>
                  </a:lnTo>
                  <a:lnTo>
                    <a:pt x="12" y="14"/>
                  </a:lnTo>
                  <a:lnTo>
                    <a:pt x="10" y="20"/>
                  </a:lnTo>
                  <a:lnTo>
                    <a:pt x="8" y="28"/>
                  </a:lnTo>
                  <a:lnTo>
                    <a:pt x="8" y="34"/>
                  </a:lnTo>
                  <a:lnTo>
                    <a:pt x="8" y="42"/>
                  </a:lnTo>
                  <a:lnTo>
                    <a:pt x="10" y="50"/>
                  </a:lnTo>
                  <a:lnTo>
                    <a:pt x="10" y="54"/>
                  </a:lnTo>
                  <a:lnTo>
                    <a:pt x="12" y="58"/>
                  </a:lnTo>
                  <a:lnTo>
                    <a:pt x="14" y="62"/>
                  </a:lnTo>
                  <a:lnTo>
                    <a:pt x="16" y="64"/>
                  </a:lnTo>
                  <a:lnTo>
                    <a:pt x="20" y="68"/>
                  </a:lnTo>
                  <a:lnTo>
                    <a:pt x="22" y="7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93" name="Freeform 73"/>
            <p:cNvSpPr>
              <a:spLocks noEditPoints="1"/>
            </p:cNvSpPr>
            <p:nvPr/>
          </p:nvSpPr>
          <p:spPr bwMode="auto">
            <a:xfrm>
              <a:off x="3448" y="2412"/>
              <a:ext cx="16" cy="54"/>
            </a:xfrm>
            <a:custGeom>
              <a:avLst/>
              <a:gdLst>
                <a:gd name="T0" fmla="*/ 8 w 16"/>
                <a:gd name="T1" fmla="*/ 0 h 54"/>
                <a:gd name="T2" fmla="*/ 10 w 16"/>
                <a:gd name="T3" fmla="*/ 0 h 54"/>
                <a:gd name="T4" fmla="*/ 10 w 16"/>
                <a:gd name="T5" fmla="*/ 0 h 54"/>
                <a:gd name="T6" fmla="*/ 12 w 16"/>
                <a:gd name="T7" fmla="*/ 2 h 54"/>
                <a:gd name="T8" fmla="*/ 12 w 16"/>
                <a:gd name="T9" fmla="*/ 4 h 54"/>
                <a:gd name="T10" fmla="*/ 12 w 16"/>
                <a:gd name="T11" fmla="*/ 6 h 54"/>
                <a:gd name="T12" fmla="*/ 10 w 16"/>
                <a:gd name="T13" fmla="*/ 6 h 54"/>
                <a:gd name="T14" fmla="*/ 10 w 16"/>
                <a:gd name="T15" fmla="*/ 8 h 54"/>
                <a:gd name="T16" fmla="*/ 8 w 16"/>
                <a:gd name="T17" fmla="*/ 8 h 54"/>
                <a:gd name="T18" fmla="*/ 6 w 16"/>
                <a:gd name="T19" fmla="*/ 8 h 54"/>
                <a:gd name="T20" fmla="*/ 4 w 16"/>
                <a:gd name="T21" fmla="*/ 6 h 54"/>
                <a:gd name="T22" fmla="*/ 4 w 16"/>
                <a:gd name="T23" fmla="*/ 6 h 54"/>
                <a:gd name="T24" fmla="*/ 2 w 16"/>
                <a:gd name="T25" fmla="*/ 4 h 54"/>
                <a:gd name="T26" fmla="*/ 4 w 16"/>
                <a:gd name="T27" fmla="*/ 2 h 54"/>
                <a:gd name="T28" fmla="*/ 4 w 16"/>
                <a:gd name="T29" fmla="*/ 0 h 54"/>
                <a:gd name="T30" fmla="*/ 6 w 16"/>
                <a:gd name="T31" fmla="*/ 0 h 54"/>
                <a:gd name="T32" fmla="*/ 8 w 16"/>
                <a:gd name="T33" fmla="*/ 0 h 54"/>
                <a:gd name="T34" fmla="*/ 12 w 16"/>
                <a:gd name="T35" fmla="*/ 18 h 54"/>
                <a:gd name="T36" fmla="*/ 12 w 16"/>
                <a:gd name="T37" fmla="*/ 46 h 54"/>
                <a:gd name="T38" fmla="*/ 12 w 16"/>
                <a:gd name="T39" fmla="*/ 50 h 54"/>
                <a:gd name="T40" fmla="*/ 12 w 16"/>
                <a:gd name="T41" fmla="*/ 52 h 54"/>
                <a:gd name="T42" fmla="*/ 12 w 16"/>
                <a:gd name="T43" fmla="*/ 52 h 54"/>
                <a:gd name="T44" fmla="*/ 14 w 16"/>
                <a:gd name="T45" fmla="*/ 54 h 54"/>
                <a:gd name="T46" fmla="*/ 14 w 16"/>
                <a:gd name="T47" fmla="*/ 54 h 54"/>
                <a:gd name="T48" fmla="*/ 16 w 16"/>
                <a:gd name="T49" fmla="*/ 54 h 54"/>
                <a:gd name="T50" fmla="*/ 16 w 16"/>
                <a:gd name="T51" fmla="*/ 54 h 54"/>
                <a:gd name="T52" fmla="*/ 0 w 16"/>
                <a:gd name="T53" fmla="*/ 54 h 54"/>
                <a:gd name="T54" fmla="*/ 0 w 16"/>
                <a:gd name="T55" fmla="*/ 54 h 54"/>
                <a:gd name="T56" fmla="*/ 2 w 16"/>
                <a:gd name="T57" fmla="*/ 54 h 54"/>
                <a:gd name="T58" fmla="*/ 2 w 16"/>
                <a:gd name="T59" fmla="*/ 54 h 54"/>
                <a:gd name="T60" fmla="*/ 4 w 16"/>
                <a:gd name="T61" fmla="*/ 52 h 54"/>
                <a:gd name="T62" fmla="*/ 4 w 16"/>
                <a:gd name="T63" fmla="*/ 52 h 54"/>
                <a:gd name="T64" fmla="*/ 4 w 16"/>
                <a:gd name="T65" fmla="*/ 50 h 54"/>
                <a:gd name="T66" fmla="*/ 4 w 16"/>
                <a:gd name="T67" fmla="*/ 46 h 54"/>
                <a:gd name="T68" fmla="*/ 4 w 16"/>
                <a:gd name="T69" fmla="*/ 34 h 54"/>
                <a:gd name="T70" fmla="*/ 4 w 16"/>
                <a:gd name="T71" fmla="*/ 28 h 54"/>
                <a:gd name="T72" fmla="*/ 4 w 16"/>
                <a:gd name="T73" fmla="*/ 24 h 54"/>
                <a:gd name="T74" fmla="*/ 4 w 16"/>
                <a:gd name="T75" fmla="*/ 24 h 54"/>
                <a:gd name="T76" fmla="*/ 4 w 16"/>
                <a:gd name="T77" fmla="*/ 24 h 54"/>
                <a:gd name="T78" fmla="*/ 4 w 16"/>
                <a:gd name="T79" fmla="*/ 22 h 54"/>
                <a:gd name="T80" fmla="*/ 2 w 16"/>
                <a:gd name="T81" fmla="*/ 22 h 54"/>
                <a:gd name="T82" fmla="*/ 2 w 16"/>
                <a:gd name="T83" fmla="*/ 22 h 54"/>
                <a:gd name="T84" fmla="*/ 0 w 16"/>
                <a:gd name="T85" fmla="*/ 24 h 54"/>
                <a:gd name="T86" fmla="*/ 0 w 16"/>
                <a:gd name="T87" fmla="*/ 22 h 54"/>
                <a:gd name="T88" fmla="*/ 10 w 16"/>
                <a:gd name="T89" fmla="*/ 18 h 54"/>
                <a:gd name="T90" fmla="*/ 12 w 16"/>
                <a:gd name="T91" fmla="*/ 18 h 54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6"/>
                <a:gd name="T139" fmla="*/ 0 h 54"/>
                <a:gd name="T140" fmla="*/ 16 w 16"/>
                <a:gd name="T141" fmla="*/ 54 h 54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6" h="54">
                  <a:moveTo>
                    <a:pt x="8" y="0"/>
                  </a:moveTo>
                  <a:lnTo>
                    <a:pt x="10" y="0"/>
                  </a:lnTo>
                  <a:lnTo>
                    <a:pt x="12" y="2"/>
                  </a:lnTo>
                  <a:lnTo>
                    <a:pt x="12" y="4"/>
                  </a:lnTo>
                  <a:lnTo>
                    <a:pt x="12" y="6"/>
                  </a:lnTo>
                  <a:lnTo>
                    <a:pt x="10" y="6"/>
                  </a:lnTo>
                  <a:lnTo>
                    <a:pt x="10" y="8"/>
                  </a:lnTo>
                  <a:lnTo>
                    <a:pt x="8" y="8"/>
                  </a:lnTo>
                  <a:lnTo>
                    <a:pt x="6" y="8"/>
                  </a:lnTo>
                  <a:lnTo>
                    <a:pt x="4" y="6"/>
                  </a:lnTo>
                  <a:lnTo>
                    <a:pt x="2" y="4"/>
                  </a:lnTo>
                  <a:lnTo>
                    <a:pt x="4" y="2"/>
                  </a:lnTo>
                  <a:lnTo>
                    <a:pt x="4" y="0"/>
                  </a:lnTo>
                  <a:lnTo>
                    <a:pt x="6" y="0"/>
                  </a:lnTo>
                  <a:lnTo>
                    <a:pt x="8" y="0"/>
                  </a:lnTo>
                  <a:close/>
                  <a:moveTo>
                    <a:pt x="12" y="18"/>
                  </a:moveTo>
                  <a:lnTo>
                    <a:pt x="12" y="46"/>
                  </a:lnTo>
                  <a:lnTo>
                    <a:pt x="12" y="50"/>
                  </a:lnTo>
                  <a:lnTo>
                    <a:pt x="12" y="52"/>
                  </a:lnTo>
                  <a:lnTo>
                    <a:pt x="14" y="54"/>
                  </a:lnTo>
                  <a:lnTo>
                    <a:pt x="16" y="54"/>
                  </a:lnTo>
                  <a:lnTo>
                    <a:pt x="0" y="54"/>
                  </a:lnTo>
                  <a:lnTo>
                    <a:pt x="2" y="54"/>
                  </a:lnTo>
                  <a:lnTo>
                    <a:pt x="4" y="52"/>
                  </a:lnTo>
                  <a:lnTo>
                    <a:pt x="4" y="50"/>
                  </a:lnTo>
                  <a:lnTo>
                    <a:pt x="4" y="46"/>
                  </a:lnTo>
                  <a:lnTo>
                    <a:pt x="4" y="34"/>
                  </a:lnTo>
                  <a:lnTo>
                    <a:pt x="4" y="28"/>
                  </a:lnTo>
                  <a:lnTo>
                    <a:pt x="4" y="24"/>
                  </a:lnTo>
                  <a:lnTo>
                    <a:pt x="4" y="22"/>
                  </a:lnTo>
                  <a:lnTo>
                    <a:pt x="2" y="22"/>
                  </a:lnTo>
                  <a:lnTo>
                    <a:pt x="0" y="24"/>
                  </a:lnTo>
                  <a:lnTo>
                    <a:pt x="0" y="22"/>
                  </a:lnTo>
                  <a:lnTo>
                    <a:pt x="10" y="18"/>
                  </a:lnTo>
                  <a:lnTo>
                    <a:pt x="12" y="1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94" name="Freeform 74"/>
            <p:cNvSpPr/>
            <p:nvPr/>
          </p:nvSpPr>
          <p:spPr bwMode="auto">
            <a:xfrm>
              <a:off x="3468" y="2430"/>
              <a:ext cx="38" cy="36"/>
            </a:xfrm>
            <a:custGeom>
              <a:avLst/>
              <a:gdLst>
                <a:gd name="T0" fmla="*/ 12 w 38"/>
                <a:gd name="T1" fmla="*/ 8 h 36"/>
                <a:gd name="T2" fmla="*/ 16 w 38"/>
                <a:gd name="T3" fmla="*/ 4 h 36"/>
                <a:gd name="T4" fmla="*/ 20 w 38"/>
                <a:gd name="T5" fmla="*/ 2 h 36"/>
                <a:gd name="T6" fmla="*/ 24 w 38"/>
                <a:gd name="T7" fmla="*/ 0 h 36"/>
                <a:gd name="T8" fmla="*/ 26 w 38"/>
                <a:gd name="T9" fmla="*/ 0 h 36"/>
                <a:gd name="T10" fmla="*/ 28 w 38"/>
                <a:gd name="T11" fmla="*/ 2 h 36"/>
                <a:gd name="T12" fmla="*/ 30 w 38"/>
                <a:gd name="T13" fmla="*/ 4 h 36"/>
                <a:gd name="T14" fmla="*/ 32 w 38"/>
                <a:gd name="T15" fmla="*/ 6 h 36"/>
                <a:gd name="T16" fmla="*/ 32 w 38"/>
                <a:gd name="T17" fmla="*/ 10 h 36"/>
                <a:gd name="T18" fmla="*/ 32 w 38"/>
                <a:gd name="T19" fmla="*/ 14 h 36"/>
                <a:gd name="T20" fmla="*/ 32 w 38"/>
                <a:gd name="T21" fmla="*/ 28 h 36"/>
                <a:gd name="T22" fmla="*/ 34 w 38"/>
                <a:gd name="T23" fmla="*/ 32 h 36"/>
                <a:gd name="T24" fmla="*/ 34 w 38"/>
                <a:gd name="T25" fmla="*/ 34 h 36"/>
                <a:gd name="T26" fmla="*/ 34 w 38"/>
                <a:gd name="T27" fmla="*/ 34 h 36"/>
                <a:gd name="T28" fmla="*/ 34 w 38"/>
                <a:gd name="T29" fmla="*/ 36 h 36"/>
                <a:gd name="T30" fmla="*/ 36 w 38"/>
                <a:gd name="T31" fmla="*/ 36 h 36"/>
                <a:gd name="T32" fmla="*/ 38 w 38"/>
                <a:gd name="T33" fmla="*/ 36 h 36"/>
                <a:gd name="T34" fmla="*/ 38 w 38"/>
                <a:gd name="T35" fmla="*/ 36 h 36"/>
                <a:gd name="T36" fmla="*/ 22 w 38"/>
                <a:gd name="T37" fmla="*/ 36 h 36"/>
                <a:gd name="T38" fmla="*/ 22 w 38"/>
                <a:gd name="T39" fmla="*/ 36 h 36"/>
                <a:gd name="T40" fmla="*/ 22 w 38"/>
                <a:gd name="T41" fmla="*/ 36 h 36"/>
                <a:gd name="T42" fmla="*/ 24 w 38"/>
                <a:gd name="T43" fmla="*/ 36 h 36"/>
                <a:gd name="T44" fmla="*/ 24 w 38"/>
                <a:gd name="T45" fmla="*/ 36 h 36"/>
                <a:gd name="T46" fmla="*/ 26 w 38"/>
                <a:gd name="T47" fmla="*/ 34 h 36"/>
                <a:gd name="T48" fmla="*/ 26 w 38"/>
                <a:gd name="T49" fmla="*/ 32 h 36"/>
                <a:gd name="T50" fmla="*/ 26 w 38"/>
                <a:gd name="T51" fmla="*/ 32 h 36"/>
                <a:gd name="T52" fmla="*/ 26 w 38"/>
                <a:gd name="T53" fmla="*/ 28 h 36"/>
                <a:gd name="T54" fmla="*/ 26 w 38"/>
                <a:gd name="T55" fmla="*/ 14 h 36"/>
                <a:gd name="T56" fmla="*/ 26 w 38"/>
                <a:gd name="T57" fmla="*/ 10 h 36"/>
                <a:gd name="T58" fmla="*/ 24 w 38"/>
                <a:gd name="T59" fmla="*/ 8 h 36"/>
                <a:gd name="T60" fmla="*/ 24 w 38"/>
                <a:gd name="T61" fmla="*/ 6 h 36"/>
                <a:gd name="T62" fmla="*/ 20 w 38"/>
                <a:gd name="T63" fmla="*/ 6 h 36"/>
                <a:gd name="T64" fmla="*/ 16 w 38"/>
                <a:gd name="T65" fmla="*/ 6 h 36"/>
                <a:gd name="T66" fmla="*/ 12 w 38"/>
                <a:gd name="T67" fmla="*/ 10 h 36"/>
                <a:gd name="T68" fmla="*/ 12 w 38"/>
                <a:gd name="T69" fmla="*/ 28 h 36"/>
                <a:gd name="T70" fmla="*/ 12 w 38"/>
                <a:gd name="T71" fmla="*/ 32 h 36"/>
                <a:gd name="T72" fmla="*/ 12 w 38"/>
                <a:gd name="T73" fmla="*/ 34 h 36"/>
                <a:gd name="T74" fmla="*/ 12 w 38"/>
                <a:gd name="T75" fmla="*/ 34 h 36"/>
                <a:gd name="T76" fmla="*/ 12 w 38"/>
                <a:gd name="T77" fmla="*/ 36 h 36"/>
                <a:gd name="T78" fmla="*/ 14 w 38"/>
                <a:gd name="T79" fmla="*/ 36 h 36"/>
                <a:gd name="T80" fmla="*/ 16 w 38"/>
                <a:gd name="T81" fmla="*/ 36 h 36"/>
                <a:gd name="T82" fmla="*/ 16 w 38"/>
                <a:gd name="T83" fmla="*/ 36 h 36"/>
                <a:gd name="T84" fmla="*/ 0 w 38"/>
                <a:gd name="T85" fmla="*/ 36 h 36"/>
                <a:gd name="T86" fmla="*/ 0 w 38"/>
                <a:gd name="T87" fmla="*/ 36 h 36"/>
                <a:gd name="T88" fmla="*/ 0 w 38"/>
                <a:gd name="T89" fmla="*/ 36 h 36"/>
                <a:gd name="T90" fmla="*/ 2 w 38"/>
                <a:gd name="T91" fmla="*/ 36 h 36"/>
                <a:gd name="T92" fmla="*/ 4 w 38"/>
                <a:gd name="T93" fmla="*/ 34 h 36"/>
                <a:gd name="T94" fmla="*/ 4 w 38"/>
                <a:gd name="T95" fmla="*/ 32 h 36"/>
                <a:gd name="T96" fmla="*/ 4 w 38"/>
                <a:gd name="T97" fmla="*/ 28 h 36"/>
                <a:gd name="T98" fmla="*/ 4 w 38"/>
                <a:gd name="T99" fmla="*/ 16 h 36"/>
                <a:gd name="T100" fmla="*/ 4 w 38"/>
                <a:gd name="T101" fmla="*/ 10 h 36"/>
                <a:gd name="T102" fmla="*/ 4 w 38"/>
                <a:gd name="T103" fmla="*/ 8 h 36"/>
                <a:gd name="T104" fmla="*/ 4 w 38"/>
                <a:gd name="T105" fmla="*/ 6 h 36"/>
                <a:gd name="T106" fmla="*/ 4 w 38"/>
                <a:gd name="T107" fmla="*/ 6 h 36"/>
                <a:gd name="T108" fmla="*/ 4 w 38"/>
                <a:gd name="T109" fmla="*/ 4 h 36"/>
                <a:gd name="T110" fmla="*/ 2 w 38"/>
                <a:gd name="T111" fmla="*/ 4 h 36"/>
                <a:gd name="T112" fmla="*/ 2 w 38"/>
                <a:gd name="T113" fmla="*/ 4 h 36"/>
                <a:gd name="T114" fmla="*/ 0 w 38"/>
                <a:gd name="T115" fmla="*/ 6 h 36"/>
                <a:gd name="T116" fmla="*/ 0 w 38"/>
                <a:gd name="T117" fmla="*/ 4 h 36"/>
                <a:gd name="T118" fmla="*/ 10 w 38"/>
                <a:gd name="T119" fmla="*/ 0 h 36"/>
                <a:gd name="T120" fmla="*/ 12 w 38"/>
                <a:gd name="T121" fmla="*/ 0 h 36"/>
                <a:gd name="T122" fmla="*/ 12 w 38"/>
                <a:gd name="T123" fmla="*/ 8 h 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38"/>
                <a:gd name="T187" fmla="*/ 0 h 36"/>
                <a:gd name="T188" fmla="*/ 38 w 38"/>
                <a:gd name="T189" fmla="*/ 36 h 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38" h="36">
                  <a:moveTo>
                    <a:pt x="12" y="8"/>
                  </a:moveTo>
                  <a:lnTo>
                    <a:pt x="16" y="4"/>
                  </a:lnTo>
                  <a:lnTo>
                    <a:pt x="20" y="2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2"/>
                  </a:lnTo>
                  <a:lnTo>
                    <a:pt x="30" y="4"/>
                  </a:lnTo>
                  <a:lnTo>
                    <a:pt x="32" y="6"/>
                  </a:lnTo>
                  <a:lnTo>
                    <a:pt x="32" y="10"/>
                  </a:lnTo>
                  <a:lnTo>
                    <a:pt x="32" y="14"/>
                  </a:lnTo>
                  <a:lnTo>
                    <a:pt x="32" y="28"/>
                  </a:lnTo>
                  <a:lnTo>
                    <a:pt x="34" y="32"/>
                  </a:lnTo>
                  <a:lnTo>
                    <a:pt x="34" y="34"/>
                  </a:lnTo>
                  <a:lnTo>
                    <a:pt x="34" y="36"/>
                  </a:lnTo>
                  <a:lnTo>
                    <a:pt x="36" y="36"/>
                  </a:lnTo>
                  <a:lnTo>
                    <a:pt x="38" y="36"/>
                  </a:lnTo>
                  <a:lnTo>
                    <a:pt x="22" y="36"/>
                  </a:lnTo>
                  <a:lnTo>
                    <a:pt x="24" y="36"/>
                  </a:lnTo>
                  <a:lnTo>
                    <a:pt x="26" y="34"/>
                  </a:lnTo>
                  <a:lnTo>
                    <a:pt x="26" y="32"/>
                  </a:lnTo>
                  <a:lnTo>
                    <a:pt x="26" y="28"/>
                  </a:lnTo>
                  <a:lnTo>
                    <a:pt x="26" y="14"/>
                  </a:lnTo>
                  <a:lnTo>
                    <a:pt x="26" y="10"/>
                  </a:lnTo>
                  <a:lnTo>
                    <a:pt x="24" y="8"/>
                  </a:lnTo>
                  <a:lnTo>
                    <a:pt x="24" y="6"/>
                  </a:lnTo>
                  <a:lnTo>
                    <a:pt x="20" y="6"/>
                  </a:lnTo>
                  <a:lnTo>
                    <a:pt x="16" y="6"/>
                  </a:lnTo>
                  <a:lnTo>
                    <a:pt x="12" y="10"/>
                  </a:lnTo>
                  <a:lnTo>
                    <a:pt x="12" y="28"/>
                  </a:lnTo>
                  <a:lnTo>
                    <a:pt x="12" y="32"/>
                  </a:lnTo>
                  <a:lnTo>
                    <a:pt x="12" y="34"/>
                  </a:lnTo>
                  <a:lnTo>
                    <a:pt x="12" y="36"/>
                  </a:lnTo>
                  <a:lnTo>
                    <a:pt x="14" y="36"/>
                  </a:lnTo>
                  <a:lnTo>
                    <a:pt x="16" y="36"/>
                  </a:lnTo>
                  <a:lnTo>
                    <a:pt x="0" y="36"/>
                  </a:lnTo>
                  <a:lnTo>
                    <a:pt x="2" y="36"/>
                  </a:lnTo>
                  <a:lnTo>
                    <a:pt x="4" y="34"/>
                  </a:lnTo>
                  <a:lnTo>
                    <a:pt x="4" y="32"/>
                  </a:lnTo>
                  <a:lnTo>
                    <a:pt x="4" y="28"/>
                  </a:lnTo>
                  <a:lnTo>
                    <a:pt x="4" y="16"/>
                  </a:lnTo>
                  <a:lnTo>
                    <a:pt x="4" y="10"/>
                  </a:lnTo>
                  <a:lnTo>
                    <a:pt x="4" y="8"/>
                  </a:lnTo>
                  <a:lnTo>
                    <a:pt x="4" y="6"/>
                  </a:lnTo>
                  <a:lnTo>
                    <a:pt x="4" y="4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4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95" name="Freeform 75"/>
            <p:cNvSpPr/>
            <p:nvPr/>
          </p:nvSpPr>
          <p:spPr bwMode="auto">
            <a:xfrm>
              <a:off x="3506" y="2420"/>
              <a:ext cx="24" cy="48"/>
            </a:xfrm>
            <a:custGeom>
              <a:avLst/>
              <a:gdLst>
                <a:gd name="T0" fmla="*/ 14 w 24"/>
                <a:gd name="T1" fmla="*/ 0 h 48"/>
                <a:gd name="T2" fmla="*/ 14 w 24"/>
                <a:gd name="T3" fmla="*/ 12 h 48"/>
                <a:gd name="T4" fmla="*/ 22 w 24"/>
                <a:gd name="T5" fmla="*/ 12 h 48"/>
                <a:gd name="T6" fmla="*/ 22 w 24"/>
                <a:gd name="T7" fmla="*/ 14 h 48"/>
                <a:gd name="T8" fmla="*/ 14 w 24"/>
                <a:gd name="T9" fmla="*/ 14 h 48"/>
                <a:gd name="T10" fmla="*/ 14 w 24"/>
                <a:gd name="T11" fmla="*/ 36 h 48"/>
                <a:gd name="T12" fmla="*/ 14 w 24"/>
                <a:gd name="T13" fmla="*/ 40 h 48"/>
                <a:gd name="T14" fmla="*/ 14 w 24"/>
                <a:gd name="T15" fmla="*/ 42 h 48"/>
                <a:gd name="T16" fmla="*/ 16 w 24"/>
                <a:gd name="T17" fmla="*/ 42 h 48"/>
                <a:gd name="T18" fmla="*/ 18 w 24"/>
                <a:gd name="T19" fmla="*/ 42 h 48"/>
                <a:gd name="T20" fmla="*/ 18 w 24"/>
                <a:gd name="T21" fmla="*/ 42 h 48"/>
                <a:gd name="T22" fmla="*/ 20 w 24"/>
                <a:gd name="T23" fmla="*/ 42 h 48"/>
                <a:gd name="T24" fmla="*/ 20 w 24"/>
                <a:gd name="T25" fmla="*/ 42 h 48"/>
                <a:gd name="T26" fmla="*/ 22 w 24"/>
                <a:gd name="T27" fmla="*/ 40 h 48"/>
                <a:gd name="T28" fmla="*/ 24 w 24"/>
                <a:gd name="T29" fmla="*/ 40 h 48"/>
                <a:gd name="T30" fmla="*/ 22 w 24"/>
                <a:gd name="T31" fmla="*/ 44 h 48"/>
                <a:gd name="T32" fmla="*/ 20 w 24"/>
                <a:gd name="T33" fmla="*/ 46 h 48"/>
                <a:gd name="T34" fmla="*/ 16 w 24"/>
                <a:gd name="T35" fmla="*/ 48 h 48"/>
                <a:gd name="T36" fmla="*/ 14 w 24"/>
                <a:gd name="T37" fmla="*/ 48 h 48"/>
                <a:gd name="T38" fmla="*/ 12 w 24"/>
                <a:gd name="T39" fmla="*/ 48 h 48"/>
                <a:gd name="T40" fmla="*/ 10 w 24"/>
                <a:gd name="T41" fmla="*/ 46 h 48"/>
                <a:gd name="T42" fmla="*/ 8 w 24"/>
                <a:gd name="T43" fmla="*/ 46 h 48"/>
                <a:gd name="T44" fmla="*/ 8 w 24"/>
                <a:gd name="T45" fmla="*/ 44 h 48"/>
                <a:gd name="T46" fmla="*/ 6 w 24"/>
                <a:gd name="T47" fmla="*/ 42 h 48"/>
                <a:gd name="T48" fmla="*/ 6 w 24"/>
                <a:gd name="T49" fmla="*/ 38 h 48"/>
                <a:gd name="T50" fmla="*/ 6 w 24"/>
                <a:gd name="T51" fmla="*/ 14 h 48"/>
                <a:gd name="T52" fmla="*/ 0 w 24"/>
                <a:gd name="T53" fmla="*/ 14 h 48"/>
                <a:gd name="T54" fmla="*/ 0 w 24"/>
                <a:gd name="T55" fmla="*/ 12 h 48"/>
                <a:gd name="T56" fmla="*/ 4 w 24"/>
                <a:gd name="T57" fmla="*/ 12 h 48"/>
                <a:gd name="T58" fmla="*/ 6 w 24"/>
                <a:gd name="T59" fmla="*/ 10 h 48"/>
                <a:gd name="T60" fmla="*/ 8 w 24"/>
                <a:gd name="T61" fmla="*/ 8 h 48"/>
                <a:gd name="T62" fmla="*/ 10 w 24"/>
                <a:gd name="T63" fmla="*/ 4 h 48"/>
                <a:gd name="T64" fmla="*/ 10 w 24"/>
                <a:gd name="T65" fmla="*/ 2 h 48"/>
                <a:gd name="T66" fmla="*/ 12 w 24"/>
                <a:gd name="T67" fmla="*/ 0 h 48"/>
                <a:gd name="T68" fmla="*/ 14 w 24"/>
                <a:gd name="T69" fmla="*/ 0 h 4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4"/>
                <a:gd name="T106" fmla="*/ 0 h 48"/>
                <a:gd name="T107" fmla="*/ 24 w 24"/>
                <a:gd name="T108" fmla="*/ 48 h 4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4" h="48">
                  <a:moveTo>
                    <a:pt x="14" y="0"/>
                  </a:moveTo>
                  <a:lnTo>
                    <a:pt x="14" y="12"/>
                  </a:lnTo>
                  <a:lnTo>
                    <a:pt x="22" y="12"/>
                  </a:lnTo>
                  <a:lnTo>
                    <a:pt x="22" y="14"/>
                  </a:lnTo>
                  <a:lnTo>
                    <a:pt x="14" y="14"/>
                  </a:lnTo>
                  <a:lnTo>
                    <a:pt x="14" y="36"/>
                  </a:lnTo>
                  <a:lnTo>
                    <a:pt x="14" y="40"/>
                  </a:lnTo>
                  <a:lnTo>
                    <a:pt x="14" y="42"/>
                  </a:lnTo>
                  <a:lnTo>
                    <a:pt x="16" y="42"/>
                  </a:lnTo>
                  <a:lnTo>
                    <a:pt x="18" y="42"/>
                  </a:lnTo>
                  <a:lnTo>
                    <a:pt x="20" y="42"/>
                  </a:lnTo>
                  <a:lnTo>
                    <a:pt x="22" y="40"/>
                  </a:lnTo>
                  <a:lnTo>
                    <a:pt x="24" y="40"/>
                  </a:lnTo>
                  <a:lnTo>
                    <a:pt x="22" y="44"/>
                  </a:lnTo>
                  <a:lnTo>
                    <a:pt x="20" y="46"/>
                  </a:lnTo>
                  <a:lnTo>
                    <a:pt x="16" y="48"/>
                  </a:lnTo>
                  <a:lnTo>
                    <a:pt x="14" y="48"/>
                  </a:lnTo>
                  <a:lnTo>
                    <a:pt x="12" y="48"/>
                  </a:lnTo>
                  <a:lnTo>
                    <a:pt x="10" y="46"/>
                  </a:lnTo>
                  <a:lnTo>
                    <a:pt x="8" y="46"/>
                  </a:lnTo>
                  <a:lnTo>
                    <a:pt x="8" y="44"/>
                  </a:lnTo>
                  <a:lnTo>
                    <a:pt x="6" y="42"/>
                  </a:lnTo>
                  <a:lnTo>
                    <a:pt x="6" y="38"/>
                  </a:lnTo>
                  <a:lnTo>
                    <a:pt x="6" y="14"/>
                  </a:lnTo>
                  <a:lnTo>
                    <a:pt x="0" y="14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6" y="10"/>
                  </a:lnTo>
                  <a:lnTo>
                    <a:pt x="8" y="8"/>
                  </a:lnTo>
                  <a:lnTo>
                    <a:pt x="10" y="4"/>
                  </a:lnTo>
                  <a:lnTo>
                    <a:pt x="10" y="2"/>
                  </a:lnTo>
                  <a:lnTo>
                    <a:pt x="12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96" name="Freeform 76"/>
            <p:cNvSpPr>
              <a:spLocks noEditPoints="1"/>
            </p:cNvSpPr>
            <p:nvPr/>
          </p:nvSpPr>
          <p:spPr bwMode="auto">
            <a:xfrm>
              <a:off x="3532" y="2430"/>
              <a:ext cx="34" cy="38"/>
            </a:xfrm>
            <a:custGeom>
              <a:avLst/>
              <a:gdLst>
                <a:gd name="T0" fmla="*/ 16 w 34"/>
                <a:gd name="T1" fmla="*/ 0 h 38"/>
                <a:gd name="T2" fmla="*/ 22 w 34"/>
                <a:gd name="T3" fmla="*/ 0 h 38"/>
                <a:gd name="T4" fmla="*/ 26 w 34"/>
                <a:gd name="T5" fmla="*/ 2 h 38"/>
                <a:gd name="T6" fmla="*/ 30 w 34"/>
                <a:gd name="T7" fmla="*/ 6 h 38"/>
                <a:gd name="T8" fmla="*/ 32 w 34"/>
                <a:gd name="T9" fmla="*/ 12 h 38"/>
                <a:gd name="T10" fmla="*/ 34 w 34"/>
                <a:gd name="T11" fmla="*/ 18 h 38"/>
                <a:gd name="T12" fmla="*/ 34 w 34"/>
                <a:gd name="T13" fmla="*/ 24 h 38"/>
                <a:gd name="T14" fmla="*/ 32 w 34"/>
                <a:gd name="T15" fmla="*/ 28 h 38"/>
                <a:gd name="T16" fmla="*/ 28 w 34"/>
                <a:gd name="T17" fmla="*/ 32 h 38"/>
                <a:gd name="T18" fmla="*/ 26 w 34"/>
                <a:gd name="T19" fmla="*/ 36 h 38"/>
                <a:gd name="T20" fmla="*/ 22 w 34"/>
                <a:gd name="T21" fmla="*/ 38 h 38"/>
                <a:gd name="T22" fmla="*/ 16 w 34"/>
                <a:gd name="T23" fmla="*/ 38 h 38"/>
                <a:gd name="T24" fmla="*/ 12 w 34"/>
                <a:gd name="T25" fmla="*/ 38 h 38"/>
                <a:gd name="T26" fmla="*/ 8 w 34"/>
                <a:gd name="T27" fmla="*/ 34 h 38"/>
                <a:gd name="T28" fmla="*/ 4 w 34"/>
                <a:gd name="T29" fmla="*/ 32 h 38"/>
                <a:gd name="T30" fmla="*/ 0 w 34"/>
                <a:gd name="T31" fmla="*/ 26 h 38"/>
                <a:gd name="T32" fmla="*/ 0 w 34"/>
                <a:gd name="T33" fmla="*/ 20 h 38"/>
                <a:gd name="T34" fmla="*/ 0 w 34"/>
                <a:gd name="T35" fmla="*/ 14 h 38"/>
                <a:gd name="T36" fmla="*/ 2 w 34"/>
                <a:gd name="T37" fmla="*/ 10 h 38"/>
                <a:gd name="T38" fmla="*/ 4 w 34"/>
                <a:gd name="T39" fmla="*/ 6 h 38"/>
                <a:gd name="T40" fmla="*/ 8 w 34"/>
                <a:gd name="T41" fmla="*/ 2 h 38"/>
                <a:gd name="T42" fmla="*/ 12 w 34"/>
                <a:gd name="T43" fmla="*/ 0 h 38"/>
                <a:gd name="T44" fmla="*/ 16 w 34"/>
                <a:gd name="T45" fmla="*/ 0 h 38"/>
                <a:gd name="T46" fmla="*/ 16 w 34"/>
                <a:gd name="T47" fmla="*/ 2 h 38"/>
                <a:gd name="T48" fmla="*/ 14 w 34"/>
                <a:gd name="T49" fmla="*/ 4 h 38"/>
                <a:gd name="T50" fmla="*/ 12 w 34"/>
                <a:gd name="T51" fmla="*/ 4 h 38"/>
                <a:gd name="T52" fmla="*/ 10 w 34"/>
                <a:gd name="T53" fmla="*/ 6 h 38"/>
                <a:gd name="T54" fmla="*/ 8 w 34"/>
                <a:gd name="T55" fmla="*/ 8 h 38"/>
                <a:gd name="T56" fmla="*/ 6 w 34"/>
                <a:gd name="T57" fmla="*/ 12 h 38"/>
                <a:gd name="T58" fmla="*/ 6 w 34"/>
                <a:gd name="T59" fmla="*/ 16 h 38"/>
                <a:gd name="T60" fmla="*/ 8 w 34"/>
                <a:gd name="T61" fmla="*/ 24 h 38"/>
                <a:gd name="T62" fmla="*/ 10 w 34"/>
                <a:gd name="T63" fmla="*/ 30 h 38"/>
                <a:gd name="T64" fmla="*/ 14 w 34"/>
                <a:gd name="T65" fmla="*/ 34 h 38"/>
                <a:gd name="T66" fmla="*/ 18 w 34"/>
                <a:gd name="T67" fmla="*/ 36 h 38"/>
                <a:gd name="T68" fmla="*/ 22 w 34"/>
                <a:gd name="T69" fmla="*/ 34 h 38"/>
                <a:gd name="T70" fmla="*/ 24 w 34"/>
                <a:gd name="T71" fmla="*/ 32 h 38"/>
                <a:gd name="T72" fmla="*/ 26 w 34"/>
                <a:gd name="T73" fmla="*/ 28 h 38"/>
                <a:gd name="T74" fmla="*/ 28 w 34"/>
                <a:gd name="T75" fmla="*/ 22 h 38"/>
                <a:gd name="T76" fmla="*/ 26 w 34"/>
                <a:gd name="T77" fmla="*/ 16 h 38"/>
                <a:gd name="T78" fmla="*/ 26 w 34"/>
                <a:gd name="T79" fmla="*/ 10 h 38"/>
                <a:gd name="T80" fmla="*/ 24 w 34"/>
                <a:gd name="T81" fmla="*/ 6 h 38"/>
                <a:gd name="T82" fmla="*/ 20 w 34"/>
                <a:gd name="T83" fmla="*/ 4 h 38"/>
                <a:gd name="T84" fmla="*/ 16 w 34"/>
                <a:gd name="T85" fmla="*/ 2 h 38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4"/>
                <a:gd name="T130" fmla="*/ 0 h 38"/>
                <a:gd name="T131" fmla="*/ 34 w 34"/>
                <a:gd name="T132" fmla="*/ 38 h 38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4" h="38">
                  <a:moveTo>
                    <a:pt x="16" y="0"/>
                  </a:moveTo>
                  <a:lnTo>
                    <a:pt x="22" y="0"/>
                  </a:lnTo>
                  <a:lnTo>
                    <a:pt x="26" y="2"/>
                  </a:lnTo>
                  <a:lnTo>
                    <a:pt x="30" y="6"/>
                  </a:lnTo>
                  <a:lnTo>
                    <a:pt x="32" y="12"/>
                  </a:lnTo>
                  <a:lnTo>
                    <a:pt x="34" y="18"/>
                  </a:lnTo>
                  <a:lnTo>
                    <a:pt x="34" y="24"/>
                  </a:lnTo>
                  <a:lnTo>
                    <a:pt x="32" y="28"/>
                  </a:lnTo>
                  <a:lnTo>
                    <a:pt x="28" y="32"/>
                  </a:lnTo>
                  <a:lnTo>
                    <a:pt x="26" y="36"/>
                  </a:lnTo>
                  <a:lnTo>
                    <a:pt x="22" y="38"/>
                  </a:lnTo>
                  <a:lnTo>
                    <a:pt x="16" y="38"/>
                  </a:lnTo>
                  <a:lnTo>
                    <a:pt x="12" y="38"/>
                  </a:lnTo>
                  <a:lnTo>
                    <a:pt x="8" y="34"/>
                  </a:lnTo>
                  <a:lnTo>
                    <a:pt x="4" y="32"/>
                  </a:lnTo>
                  <a:lnTo>
                    <a:pt x="0" y="26"/>
                  </a:lnTo>
                  <a:lnTo>
                    <a:pt x="0" y="20"/>
                  </a:lnTo>
                  <a:lnTo>
                    <a:pt x="0" y="14"/>
                  </a:lnTo>
                  <a:lnTo>
                    <a:pt x="2" y="10"/>
                  </a:lnTo>
                  <a:lnTo>
                    <a:pt x="4" y="6"/>
                  </a:lnTo>
                  <a:lnTo>
                    <a:pt x="8" y="2"/>
                  </a:lnTo>
                  <a:lnTo>
                    <a:pt x="12" y="0"/>
                  </a:lnTo>
                  <a:lnTo>
                    <a:pt x="16" y="0"/>
                  </a:lnTo>
                  <a:close/>
                  <a:moveTo>
                    <a:pt x="16" y="2"/>
                  </a:moveTo>
                  <a:lnTo>
                    <a:pt x="14" y="4"/>
                  </a:lnTo>
                  <a:lnTo>
                    <a:pt x="12" y="4"/>
                  </a:lnTo>
                  <a:lnTo>
                    <a:pt x="10" y="6"/>
                  </a:lnTo>
                  <a:lnTo>
                    <a:pt x="8" y="8"/>
                  </a:lnTo>
                  <a:lnTo>
                    <a:pt x="6" y="12"/>
                  </a:lnTo>
                  <a:lnTo>
                    <a:pt x="6" y="16"/>
                  </a:lnTo>
                  <a:lnTo>
                    <a:pt x="8" y="24"/>
                  </a:lnTo>
                  <a:lnTo>
                    <a:pt x="10" y="30"/>
                  </a:lnTo>
                  <a:lnTo>
                    <a:pt x="14" y="34"/>
                  </a:lnTo>
                  <a:lnTo>
                    <a:pt x="18" y="36"/>
                  </a:lnTo>
                  <a:lnTo>
                    <a:pt x="22" y="34"/>
                  </a:lnTo>
                  <a:lnTo>
                    <a:pt x="24" y="32"/>
                  </a:lnTo>
                  <a:lnTo>
                    <a:pt x="26" y="28"/>
                  </a:lnTo>
                  <a:lnTo>
                    <a:pt x="28" y="22"/>
                  </a:lnTo>
                  <a:lnTo>
                    <a:pt x="26" y="16"/>
                  </a:lnTo>
                  <a:lnTo>
                    <a:pt x="26" y="10"/>
                  </a:lnTo>
                  <a:lnTo>
                    <a:pt x="24" y="6"/>
                  </a:lnTo>
                  <a:lnTo>
                    <a:pt x="20" y="4"/>
                  </a:lnTo>
                  <a:lnTo>
                    <a:pt x="16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97" name="Freeform 77"/>
            <p:cNvSpPr/>
            <p:nvPr/>
          </p:nvSpPr>
          <p:spPr bwMode="auto">
            <a:xfrm>
              <a:off x="3570" y="2412"/>
              <a:ext cx="22" cy="72"/>
            </a:xfrm>
            <a:custGeom>
              <a:avLst/>
              <a:gdLst>
                <a:gd name="T0" fmla="*/ 0 w 22"/>
                <a:gd name="T1" fmla="*/ 2 h 72"/>
                <a:gd name="T2" fmla="*/ 0 w 22"/>
                <a:gd name="T3" fmla="*/ 0 h 72"/>
                <a:gd name="T4" fmla="*/ 6 w 22"/>
                <a:gd name="T5" fmla="*/ 4 h 72"/>
                <a:gd name="T6" fmla="*/ 10 w 22"/>
                <a:gd name="T7" fmla="*/ 6 h 72"/>
                <a:gd name="T8" fmla="*/ 16 w 22"/>
                <a:gd name="T9" fmla="*/ 12 h 72"/>
                <a:gd name="T10" fmla="*/ 20 w 22"/>
                <a:gd name="T11" fmla="*/ 20 h 72"/>
                <a:gd name="T12" fmla="*/ 22 w 22"/>
                <a:gd name="T13" fmla="*/ 28 h 72"/>
                <a:gd name="T14" fmla="*/ 22 w 22"/>
                <a:gd name="T15" fmla="*/ 36 h 72"/>
                <a:gd name="T16" fmla="*/ 22 w 22"/>
                <a:gd name="T17" fmla="*/ 44 h 72"/>
                <a:gd name="T18" fmla="*/ 20 w 22"/>
                <a:gd name="T19" fmla="*/ 50 h 72"/>
                <a:gd name="T20" fmla="*/ 16 w 22"/>
                <a:gd name="T21" fmla="*/ 58 h 72"/>
                <a:gd name="T22" fmla="*/ 12 w 22"/>
                <a:gd name="T23" fmla="*/ 64 h 72"/>
                <a:gd name="T24" fmla="*/ 8 w 22"/>
                <a:gd name="T25" fmla="*/ 68 h 72"/>
                <a:gd name="T26" fmla="*/ 0 w 22"/>
                <a:gd name="T27" fmla="*/ 72 h 72"/>
                <a:gd name="T28" fmla="*/ 0 w 22"/>
                <a:gd name="T29" fmla="*/ 70 h 72"/>
                <a:gd name="T30" fmla="*/ 6 w 22"/>
                <a:gd name="T31" fmla="*/ 66 h 72"/>
                <a:gd name="T32" fmla="*/ 8 w 22"/>
                <a:gd name="T33" fmla="*/ 62 h 72"/>
                <a:gd name="T34" fmla="*/ 12 w 22"/>
                <a:gd name="T35" fmla="*/ 58 h 72"/>
                <a:gd name="T36" fmla="*/ 14 w 22"/>
                <a:gd name="T37" fmla="*/ 52 h 72"/>
                <a:gd name="T38" fmla="*/ 14 w 22"/>
                <a:gd name="T39" fmla="*/ 44 h 72"/>
                <a:gd name="T40" fmla="*/ 16 w 22"/>
                <a:gd name="T41" fmla="*/ 36 h 72"/>
                <a:gd name="T42" fmla="*/ 14 w 22"/>
                <a:gd name="T43" fmla="*/ 28 h 72"/>
                <a:gd name="T44" fmla="*/ 14 w 22"/>
                <a:gd name="T45" fmla="*/ 22 h 72"/>
                <a:gd name="T46" fmla="*/ 12 w 22"/>
                <a:gd name="T47" fmla="*/ 18 h 72"/>
                <a:gd name="T48" fmla="*/ 12 w 22"/>
                <a:gd name="T49" fmla="*/ 14 h 72"/>
                <a:gd name="T50" fmla="*/ 10 w 22"/>
                <a:gd name="T51" fmla="*/ 10 h 72"/>
                <a:gd name="T52" fmla="*/ 8 w 22"/>
                <a:gd name="T53" fmla="*/ 8 h 72"/>
                <a:gd name="T54" fmla="*/ 4 w 22"/>
                <a:gd name="T55" fmla="*/ 4 h 72"/>
                <a:gd name="T56" fmla="*/ 0 w 22"/>
                <a:gd name="T57" fmla="*/ 2 h 7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2"/>
                <a:gd name="T88" fmla="*/ 0 h 72"/>
                <a:gd name="T89" fmla="*/ 22 w 22"/>
                <a:gd name="T90" fmla="*/ 72 h 7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2" h="72">
                  <a:moveTo>
                    <a:pt x="0" y="2"/>
                  </a:moveTo>
                  <a:lnTo>
                    <a:pt x="0" y="0"/>
                  </a:lnTo>
                  <a:lnTo>
                    <a:pt x="6" y="4"/>
                  </a:lnTo>
                  <a:lnTo>
                    <a:pt x="10" y="6"/>
                  </a:lnTo>
                  <a:lnTo>
                    <a:pt x="16" y="12"/>
                  </a:lnTo>
                  <a:lnTo>
                    <a:pt x="20" y="20"/>
                  </a:lnTo>
                  <a:lnTo>
                    <a:pt x="22" y="28"/>
                  </a:lnTo>
                  <a:lnTo>
                    <a:pt x="22" y="36"/>
                  </a:lnTo>
                  <a:lnTo>
                    <a:pt x="22" y="44"/>
                  </a:lnTo>
                  <a:lnTo>
                    <a:pt x="20" y="50"/>
                  </a:lnTo>
                  <a:lnTo>
                    <a:pt x="16" y="58"/>
                  </a:lnTo>
                  <a:lnTo>
                    <a:pt x="12" y="64"/>
                  </a:lnTo>
                  <a:lnTo>
                    <a:pt x="8" y="68"/>
                  </a:lnTo>
                  <a:lnTo>
                    <a:pt x="0" y="72"/>
                  </a:lnTo>
                  <a:lnTo>
                    <a:pt x="0" y="70"/>
                  </a:lnTo>
                  <a:lnTo>
                    <a:pt x="6" y="66"/>
                  </a:lnTo>
                  <a:lnTo>
                    <a:pt x="8" y="62"/>
                  </a:lnTo>
                  <a:lnTo>
                    <a:pt x="12" y="58"/>
                  </a:lnTo>
                  <a:lnTo>
                    <a:pt x="14" y="52"/>
                  </a:lnTo>
                  <a:lnTo>
                    <a:pt x="14" y="44"/>
                  </a:lnTo>
                  <a:lnTo>
                    <a:pt x="16" y="36"/>
                  </a:lnTo>
                  <a:lnTo>
                    <a:pt x="14" y="28"/>
                  </a:lnTo>
                  <a:lnTo>
                    <a:pt x="14" y="22"/>
                  </a:lnTo>
                  <a:lnTo>
                    <a:pt x="12" y="18"/>
                  </a:lnTo>
                  <a:lnTo>
                    <a:pt x="12" y="14"/>
                  </a:lnTo>
                  <a:lnTo>
                    <a:pt x="10" y="10"/>
                  </a:lnTo>
                  <a:lnTo>
                    <a:pt x="8" y="8"/>
                  </a:lnTo>
                  <a:lnTo>
                    <a:pt x="4" y="4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98" name="Freeform 78"/>
            <p:cNvSpPr/>
            <p:nvPr/>
          </p:nvSpPr>
          <p:spPr bwMode="auto">
            <a:xfrm>
              <a:off x="2612" y="2604"/>
              <a:ext cx="58" cy="54"/>
            </a:xfrm>
            <a:custGeom>
              <a:avLst/>
              <a:gdLst>
                <a:gd name="T0" fmla="*/ 0 w 58"/>
                <a:gd name="T1" fmla="*/ 0 h 54"/>
                <a:gd name="T2" fmla="*/ 14 w 58"/>
                <a:gd name="T3" fmla="*/ 0 h 54"/>
                <a:gd name="T4" fmla="*/ 46 w 58"/>
                <a:gd name="T5" fmla="*/ 42 h 54"/>
                <a:gd name="T6" fmla="*/ 46 w 58"/>
                <a:gd name="T7" fmla="*/ 10 h 54"/>
                <a:gd name="T8" fmla="*/ 46 w 58"/>
                <a:gd name="T9" fmla="*/ 6 h 54"/>
                <a:gd name="T10" fmla="*/ 46 w 58"/>
                <a:gd name="T11" fmla="*/ 4 h 54"/>
                <a:gd name="T12" fmla="*/ 44 w 58"/>
                <a:gd name="T13" fmla="*/ 2 h 54"/>
                <a:gd name="T14" fmla="*/ 42 w 58"/>
                <a:gd name="T15" fmla="*/ 2 h 54"/>
                <a:gd name="T16" fmla="*/ 40 w 58"/>
                <a:gd name="T17" fmla="*/ 2 h 54"/>
                <a:gd name="T18" fmla="*/ 40 w 58"/>
                <a:gd name="T19" fmla="*/ 0 h 54"/>
                <a:gd name="T20" fmla="*/ 58 w 58"/>
                <a:gd name="T21" fmla="*/ 0 h 54"/>
                <a:gd name="T22" fmla="*/ 58 w 58"/>
                <a:gd name="T23" fmla="*/ 2 h 54"/>
                <a:gd name="T24" fmla="*/ 56 w 58"/>
                <a:gd name="T25" fmla="*/ 2 h 54"/>
                <a:gd name="T26" fmla="*/ 54 w 58"/>
                <a:gd name="T27" fmla="*/ 2 h 54"/>
                <a:gd name="T28" fmla="*/ 52 w 58"/>
                <a:gd name="T29" fmla="*/ 4 h 54"/>
                <a:gd name="T30" fmla="*/ 50 w 58"/>
                <a:gd name="T31" fmla="*/ 6 h 54"/>
                <a:gd name="T32" fmla="*/ 50 w 58"/>
                <a:gd name="T33" fmla="*/ 10 h 54"/>
                <a:gd name="T34" fmla="*/ 50 w 58"/>
                <a:gd name="T35" fmla="*/ 54 h 54"/>
                <a:gd name="T36" fmla="*/ 48 w 58"/>
                <a:gd name="T37" fmla="*/ 54 h 54"/>
                <a:gd name="T38" fmla="*/ 14 w 58"/>
                <a:gd name="T39" fmla="*/ 12 h 54"/>
                <a:gd name="T40" fmla="*/ 14 w 58"/>
                <a:gd name="T41" fmla="*/ 44 h 54"/>
                <a:gd name="T42" fmla="*/ 14 w 58"/>
                <a:gd name="T43" fmla="*/ 50 h 54"/>
                <a:gd name="T44" fmla="*/ 14 w 58"/>
                <a:gd name="T45" fmla="*/ 52 h 54"/>
                <a:gd name="T46" fmla="*/ 16 w 58"/>
                <a:gd name="T47" fmla="*/ 52 h 54"/>
                <a:gd name="T48" fmla="*/ 20 w 58"/>
                <a:gd name="T49" fmla="*/ 54 h 54"/>
                <a:gd name="T50" fmla="*/ 22 w 58"/>
                <a:gd name="T51" fmla="*/ 54 h 54"/>
                <a:gd name="T52" fmla="*/ 22 w 58"/>
                <a:gd name="T53" fmla="*/ 54 h 54"/>
                <a:gd name="T54" fmla="*/ 2 w 58"/>
                <a:gd name="T55" fmla="*/ 54 h 54"/>
                <a:gd name="T56" fmla="*/ 2 w 58"/>
                <a:gd name="T57" fmla="*/ 54 h 54"/>
                <a:gd name="T58" fmla="*/ 4 w 58"/>
                <a:gd name="T59" fmla="*/ 54 h 54"/>
                <a:gd name="T60" fmla="*/ 8 w 58"/>
                <a:gd name="T61" fmla="*/ 52 h 54"/>
                <a:gd name="T62" fmla="*/ 10 w 58"/>
                <a:gd name="T63" fmla="*/ 50 h 54"/>
                <a:gd name="T64" fmla="*/ 10 w 58"/>
                <a:gd name="T65" fmla="*/ 48 h 54"/>
                <a:gd name="T66" fmla="*/ 10 w 58"/>
                <a:gd name="T67" fmla="*/ 44 h 54"/>
                <a:gd name="T68" fmla="*/ 10 w 58"/>
                <a:gd name="T69" fmla="*/ 8 h 54"/>
                <a:gd name="T70" fmla="*/ 8 w 58"/>
                <a:gd name="T71" fmla="*/ 6 h 54"/>
                <a:gd name="T72" fmla="*/ 6 w 58"/>
                <a:gd name="T73" fmla="*/ 4 h 54"/>
                <a:gd name="T74" fmla="*/ 6 w 58"/>
                <a:gd name="T75" fmla="*/ 4 h 54"/>
                <a:gd name="T76" fmla="*/ 4 w 58"/>
                <a:gd name="T77" fmla="*/ 2 h 54"/>
                <a:gd name="T78" fmla="*/ 2 w 58"/>
                <a:gd name="T79" fmla="*/ 2 h 54"/>
                <a:gd name="T80" fmla="*/ 0 w 58"/>
                <a:gd name="T81" fmla="*/ 2 h 54"/>
                <a:gd name="T82" fmla="*/ 0 w 58"/>
                <a:gd name="T83" fmla="*/ 0 h 5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58"/>
                <a:gd name="T127" fmla="*/ 0 h 54"/>
                <a:gd name="T128" fmla="*/ 58 w 58"/>
                <a:gd name="T129" fmla="*/ 54 h 5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58" h="54">
                  <a:moveTo>
                    <a:pt x="0" y="0"/>
                  </a:moveTo>
                  <a:lnTo>
                    <a:pt x="14" y="0"/>
                  </a:lnTo>
                  <a:lnTo>
                    <a:pt x="46" y="42"/>
                  </a:lnTo>
                  <a:lnTo>
                    <a:pt x="46" y="10"/>
                  </a:lnTo>
                  <a:lnTo>
                    <a:pt x="46" y="6"/>
                  </a:lnTo>
                  <a:lnTo>
                    <a:pt x="46" y="4"/>
                  </a:lnTo>
                  <a:lnTo>
                    <a:pt x="44" y="2"/>
                  </a:lnTo>
                  <a:lnTo>
                    <a:pt x="42" y="2"/>
                  </a:lnTo>
                  <a:lnTo>
                    <a:pt x="40" y="2"/>
                  </a:lnTo>
                  <a:lnTo>
                    <a:pt x="40" y="0"/>
                  </a:lnTo>
                  <a:lnTo>
                    <a:pt x="58" y="0"/>
                  </a:lnTo>
                  <a:lnTo>
                    <a:pt x="58" y="2"/>
                  </a:lnTo>
                  <a:lnTo>
                    <a:pt x="56" y="2"/>
                  </a:lnTo>
                  <a:lnTo>
                    <a:pt x="54" y="2"/>
                  </a:lnTo>
                  <a:lnTo>
                    <a:pt x="52" y="4"/>
                  </a:lnTo>
                  <a:lnTo>
                    <a:pt x="50" y="6"/>
                  </a:lnTo>
                  <a:lnTo>
                    <a:pt x="50" y="10"/>
                  </a:lnTo>
                  <a:lnTo>
                    <a:pt x="50" y="54"/>
                  </a:lnTo>
                  <a:lnTo>
                    <a:pt x="48" y="54"/>
                  </a:lnTo>
                  <a:lnTo>
                    <a:pt x="14" y="12"/>
                  </a:lnTo>
                  <a:lnTo>
                    <a:pt x="14" y="44"/>
                  </a:lnTo>
                  <a:lnTo>
                    <a:pt x="14" y="50"/>
                  </a:lnTo>
                  <a:lnTo>
                    <a:pt x="14" y="52"/>
                  </a:lnTo>
                  <a:lnTo>
                    <a:pt x="16" y="52"/>
                  </a:lnTo>
                  <a:lnTo>
                    <a:pt x="20" y="54"/>
                  </a:lnTo>
                  <a:lnTo>
                    <a:pt x="22" y="54"/>
                  </a:lnTo>
                  <a:lnTo>
                    <a:pt x="2" y="54"/>
                  </a:lnTo>
                  <a:lnTo>
                    <a:pt x="4" y="54"/>
                  </a:lnTo>
                  <a:lnTo>
                    <a:pt x="8" y="52"/>
                  </a:lnTo>
                  <a:lnTo>
                    <a:pt x="10" y="50"/>
                  </a:lnTo>
                  <a:lnTo>
                    <a:pt x="10" y="48"/>
                  </a:lnTo>
                  <a:lnTo>
                    <a:pt x="10" y="44"/>
                  </a:lnTo>
                  <a:lnTo>
                    <a:pt x="10" y="8"/>
                  </a:lnTo>
                  <a:lnTo>
                    <a:pt x="8" y="6"/>
                  </a:lnTo>
                  <a:lnTo>
                    <a:pt x="6" y="4"/>
                  </a:lnTo>
                  <a:lnTo>
                    <a:pt x="4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99" name="Freeform 79"/>
            <p:cNvSpPr/>
            <p:nvPr/>
          </p:nvSpPr>
          <p:spPr bwMode="auto">
            <a:xfrm>
              <a:off x="2670" y="2604"/>
              <a:ext cx="58" cy="54"/>
            </a:xfrm>
            <a:custGeom>
              <a:avLst/>
              <a:gdLst>
                <a:gd name="T0" fmla="*/ 0 w 58"/>
                <a:gd name="T1" fmla="*/ 0 h 54"/>
                <a:gd name="T2" fmla="*/ 14 w 58"/>
                <a:gd name="T3" fmla="*/ 0 h 54"/>
                <a:gd name="T4" fmla="*/ 46 w 58"/>
                <a:gd name="T5" fmla="*/ 42 h 54"/>
                <a:gd name="T6" fmla="*/ 46 w 58"/>
                <a:gd name="T7" fmla="*/ 10 h 54"/>
                <a:gd name="T8" fmla="*/ 46 w 58"/>
                <a:gd name="T9" fmla="*/ 6 h 54"/>
                <a:gd name="T10" fmla="*/ 46 w 58"/>
                <a:gd name="T11" fmla="*/ 4 h 54"/>
                <a:gd name="T12" fmla="*/ 44 w 58"/>
                <a:gd name="T13" fmla="*/ 2 h 54"/>
                <a:gd name="T14" fmla="*/ 40 w 58"/>
                <a:gd name="T15" fmla="*/ 2 h 54"/>
                <a:gd name="T16" fmla="*/ 38 w 58"/>
                <a:gd name="T17" fmla="*/ 2 h 54"/>
                <a:gd name="T18" fmla="*/ 38 w 58"/>
                <a:gd name="T19" fmla="*/ 0 h 54"/>
                <a:gd name="T20" fmla="*/ 58 w 58"/>
                <a:gd name="T21" fmla="*/ 0 h 54"/>
                <a:gd name="T22" fmla="*/ 58 w 58"/>
                <a:gd name="T23" fmla="*/ 2 h 54"/>
                <a:gd name="T24" fmla="*/ 56 w 58"/>
                <a:gd name="T25" fmla="*/ 2 h 54"/>
                <a:gd name="T26" fmla="*/ 52 w 58"/>
                <a:gd name="T27" fmla="*/ 2 h 54"/>
                <a:gd name="T28" fmla="*/ 50 w 58"/>
                <a:gd name="T29" fmla="*/ 4 h 54"/>
                <a:gd name="T30" fmla="*/ 50 w 58"/>
                <a:gd name="T31" fmla="*/ 6 h 54"/>
                <a:gd name="T32" fmla="*/ 50 w 58"/>
                <a:gd name="T33" fmla="*/ 10 h 54"/>
                <a:gd name="T34" fmla="*/ 50 w 58"/>
                <a:gd name="T35" fmla="*/ 54 h 54"/>
                <a:gd name="T36" fmla="*/ 48 w 58"/>
                <a:gd name="T37" fmla="*/ 54 h 54"/>
                <a:gd name="T38" fmla="*/ 14 w 58"/>
                <a:gd name="T39" fmla="*/ 12 h 54"/>
                <a:gd name="T40" fmla="*/ 14 w 58"/>
                <a:gd name="T41" fmla="*/ 44 h 54"/>
                <a:gd name="T42" fmla="*/ 14 w 58"/>
                <a:gd name="T43" fmla="*/ 50 h 54"/>
                <a:gd name="T44" fmla="*/ 14 w 58"/>
                <a:gd name="T45" fmla="*/ 52 h 54"/>
                <a:gd name="T46" fmla="*/ 16 w 58"/>
                <a:gd name="T47" fmla="*/ 52 h 54"/>
                <a:gd name="T48" fmla="*/ 18 w 58"/>
                <a:gd name="T49" fmla="*/ 54 h 54"/>
                <a:gd name="T50" fmla="*/ 20 w 58"/>
                <a:gd name="T51" fmla="*/ 54 h 54"/>
                <a:gd name="T52" fmla="*/ 20 w 58"/>
                <a:gd name="T53" fmla="*/ 54 h 54"/>
                <a:gd name="T54" fmla="*/ 2 w 58"/>
                <a:gd name="T55" fmla="*/ 54 h 54"/>
                <a:gd name="T56" fmla="*/ 2 w 58"/>
                <a:gd name="T57" fmla="*/ 54 h 54"/>
                <a:gd name="T58" fmla="*/ 4 w 58"/>
                <a:gd name="T59" fmla="*/ 54 h 54"/>
                <a:gd name="T60" fmla="*/ 8 w 58"/>
                <a:gd name="T61" fmla="*/ 52 h 54"/>
                <a:gd name="T62" fmla="*/ 8 w 58"/>
                <a:gd name="T63" fmla="*/ 50 h 54"/>
                <a:gd name="T64" fmla="*/ 10 w 58"/>
                <a:gd name="T65" fmla="*/ 48 h 54"/>
                <a:gd name="T66" fmla="*/ 10 w 58"/>
                <a:gd name="T67" fmla="*/ 44 h 54"/>
                <a:gd name="T68" fmla="*/ 10 w 58"/>
                <a:gd name="T69" fmla="*/ 8 h 54"/>
                <a:gd name="T70" fmla="*/ 8 w 58"/>
                <a:gd name="T71" fmla="*/ 6 h 54"/>
                <a:gd name="T72" fmla="*/ 6 w 58"/>
                <a:gd name="T73" fmla="*/ 4 h 54"/>
                <a:gd name="T74" fmla="*/ 4 w 58"/>
                <a:gd name="T75" fmla="*/ 4 h 54"/>
                <a:gd name="T76" fmla="*/ 2 w 58"/>
                <a:gd name="T77" fmla="*/ 2 h 54"/>
                <a:gd name="T78" fmla="*/ 2 w 58"/>
                <a:gd name="T79" fmla="*/ 2 h 54"/>
                <a:gd name="T80" fmla="*/ 0 w 58"/>
                <a:gd name="T81" fmla="*/ 2 h 54"/>
                <a:gd name="T82" fmla="*/ 0 w 58"/>
                <a:gd name="T83" fmla="*/ 0 h 5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58"/>
                <a:gd name="T127" fmla="*/ 0 h 54"/>
                <a:gd name="T128" fmla="*/ 58 w 58"/>
                <a:gd name="T129" fmla="*/ 54 h 5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58" h="54">
                  <a:moveTo>
                    <a:pt x="0" y="0"/>
                  </a:moveTo>
                  <a:lnTo>
                    <a:pt x="14" y="0"/>
                  </a:lnTo>
                  <a:lnTo>
                    <a:pt x="46" y="42"/>
                  </a:lnTo>
                  <a:lnTo>
                    <a:pt x="46" y="10"/>
                  </a:lnTo>
                  <a:lnTo>
                    <a:pt x="46" y="6"/>
                  </a:lnTo>
                  <a:lnTo>
                    <a:pt x="46" y="4"/>
                  </a:lnTo>
                  <a:lnTo>
                    <a:pt x="44" y="2"/>
                  </a:lnTo>
                  <a:lnTo>
                    <a:pt x="40" y="2"/>
                  </a:lnTo>
                  <a:lnTo>
                    <a:pt x="38" y="2"/>
                  </a:lnTo>
                  <a:lnTo>
                    <a:pt x="38" y="0"/>
                  </a:lnTo>
                  <a:lnTo>
                    <a:pt x="58" y="0"/>
                  </a:lnTo>
                  <a:lnTo>
                    <a:pt x="58" y="2"/>
                  </a:lnTo>
                  <a:lnTo>
                    <a:pt x="56" y="2"/>
                  </a:lnTo>
                  <a:lnTo>
                    <a:pt x="52" y="2"/>
                  </a:lnTo>
                  <a:lnTo>
                    <a:pt x="50" y="4"/>
                  </a:lnTo>
                  <a:lnTo>
                    <a:pt x="50" y="6"/>
                  </a:lnTo>
                  <a:lnTo>
                    <a:pt x="50" y="10"/>
                  </a:lnTo>
                  <a:lnTo>
                    <a:pt x="50" y="54"/>
                  </a:lnTo>
                  <a:lnTo>
                    <a:pt x="48" y="54"/>
                  </a:lnTo>
                  <a:lnTo>
                    <a:pt x="14" y="12"/>
                  </a:lnTo>
                  <a:lnTo>
                    <a:pt x="14" y="44"/>
                  </a:lnTo>
                  <a:lnTo>
                    <a:pt x="14" y="50"/>
                  </a:lnTo>
                  <a:lnTo>
                    <a:pt x="14" y="52"/>
                  </a:lnTo>
                  <a:lnTo>
                    <a:pt x="16" y="52"/>
                  </a:lnTo>
                  <a:lnTo>
                    <a:pt x="18" y="54"/>
                  </a:lnTo>
                  <a:lnTo>
                    <a:pt x="20" y="54"/>
                  </a:lnTo>
                  <a:lnTo>
                    <a:pt x="2" y="54"/>
                  </a:lnTo>
                  <a:lnTo>
                    <a:pt x="4" y="54"/>
                  </a:lnTo>
                  <a:lnTo>
                    <a:pt x="8" y="52"/>
                  </a:lnTo>
                  <a:lnTo>
                    <a:pt x="8" y="50"/>
                  </a:lnTo>
                  <a:lnTo>
                    <a:pt x="10" y="48"/>
                  </a:lnTo>
                  <a:lnTo>
                    <a:pt x="10" y="44"/>
                  </a:lnTo>
                  <a:lnTo>
                    <a:pt x="10" y="8"/>
                  </a:lnTo>
                  <a:lnTo>
                    <a:pt x="8" y="6"/>
                  </a:lnTo>
                  <a:lnTo>
                    <a:pt x="6" y="4"/>
                  </a:lnTo>
                  <a:lnTo>
                    <a:pt x="4" y="4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00" name="Freeform 80"/>
            <p:cNvSpPr/>
            <p:nvPr/>
          </p:nvSpPr>
          <p:spPr bwMode="auto">
            <a:xfrm>
              <a:off x="2734" y="2604"/>
              <a:ext cx="34" cy="54"/>
            </a:xfrm>
            <a:custGeom>
              <a:avLst/>
              <a:gdLst>
                <a:gd name="T0" fmla="*/ 30 w 34"/>
                <a:gd name="T1" fmla="*/ 18 h 54"/>
                <a:gd name="T2" fmla="*/ 28 w 34"/>
                <a:gd name="T3" fmla="*/ 14 h 54"/>
                <a:gd name="T4" fmla="*/ 26 w 34"/>
                <a:gd name="T5" fmla="*/ 6 h 54"/>
                <a:gd name="T6" fmla="*/ 18 w 34"/>
                <a:gd name="T7" fmla="*/ 2 h 54"/>
                <a:gd name="T8" fmla="*/ 12 w 34"/>
                <a:gd name="T9" fmla="*/ 2 h 54"/>
                <a:gd name="T10" fmla="*/ 6 w 34"/>
                <a:gd name="T11" fmla="*/ 8 h 54"/>
                <a:gd name="T12" fmla="*/ 6 w 34"/>
                <a:gd name="T13" fmla="*/ 12 h 54"/>
                <a:gd name="T14" fmla="*/ 10 w 34"/>
                <a:gd name="T15" fmla="*/ 18 h 54"/>
                <a:gd name="T16" fmla="*/ 18 w 34"/>
                <a:gd name="T17" fmla="*/ 22 h 54"/>
                <a:gd name="T18" fmla="*/ 28 w 34"/>
                <a:gd name="T19" fmla="*/ 30 h 54"/>
                <a:gd name="T20" fmla="*/ 32 w 34"/>
                <a:gd name="T21" fmla="*/ 34 h 54"/>
                <a:gd name="T22" fmla="*/ 34 w 34"/>
                <a:gd name="T23" fmla="*/ 40 h 54"/>
                <a:gd name="T24" fmla="*/ 30 w 34"/>
                <a:gd name="T25" fmla="*/ 50 h 54"/>
                <a:gd name="T26" fmla="*/ 18 w 34"/>
                <a:gd name="T27" fmla="*/ 54 h 54"/>
                <a:gd name="T28" fmla="*/ 14 w 34"/>
                <a:gd name="T29" fmla="*/ 54 h 54"/>
                <a:gd name="T30" fmla="*/ 8 w 34"/>
                <a:gd name="T31" fmla="*/ 52 h 54"/>
                <a:gd name="T32" fmla="*/ 4 w 34"/>
                <a:gd name="T33" fmla="*/ 52 h 54"/>
                <a:gd name="T34" fmla="*/ 2 w 34"/>
                <a:gd name="T35" fmla="*/ 52 h 54"/>
                <a:gd name="T36" fmla="*/ 0 w 34"/>
                <a:gd name="T37" fmla="*/ 54 h 54"/>
                <a:gd name="T38" fmla="*/ 0 w 34"/>
                <a:gd name="T39" fmla="*/ 36 h 54"/>
                <a:gd name="T40" fmla="*/ 2 w 34"/>
                <a:gd name="T41" fmla="*/ 42 h 54"/>
                <a:gd name="T42" fmla="*/ 6 w 34"/>
                <a:gd name="T43" fmla="*/ 48 h 54"/>
                <a:gd name="T44" fmla="*/ 12 w 34"/>
                <a:gd name="T45" fmla="*/ 52 h 54"/>
                <a:gd name="T46" fmla="*/ 22 w 34"/>
                <a:gd name="T47" fmla="*/ 52 h 54"/>
                <a:gd name="T48" fmla="*/ 26 w 34"/>
                <a:gd name="T49" fmla="*/ 46 h 54"/>
                <a:gd name="T50" fmla="*/ 28 w 34"/>
                <a:gd name="T51" fmla="*/ 42 h 54"/>
                <a:gd name="T52" fmla="*/ 24 w 34"/>
                <a:gd name="T53" fmla="*/ 38 h 54"/>
                <a:gd name="T54" fmla="*/ 20 w 34"/>
                <a:gd name="T55" fmla="*/ 34 h 54"/>
                <a:gd name="T56" fmla="*/ 8 w 34"/>
                <a:gd name="T57" fmla="*/ 28 h 54"/>
                <a:gd name="T58" fmla="*/ 2 w 34"/>
                <a:gd name="T59" fmla="*/ 22 h 54"/>
                <a:gd name="T60" fmla="*/ 0 w 34"/>
                <a:gd name="T61" fmla="*/ 18 h 54"/>
                <a:gd name="T62" fmla="*/ 0 w 34"/>
                <a:gd name="T63" fmla="*/ 8 h 54"/>
                <a:gd name="T64" fmla="*/ 8 w 34"/>
                <a:gd name="T65" fmla="*/ 0 h 54"/>
                <a:gd name="T66" fmla="*/ 20 w 34"/>
                <a:gd name="T67" fmla="*/ 0 h 54"/>
                <a:gd name="T68" fmla="*/ 26 w 34"/>
                <a:gd name="T69" fmla="*/ 2 h 54"/>
                <a:gd name="T70" fmla="*/ 28 w 34"/>
                <a:gd name="T71" fmla="*/ 2 h 54"/>
                <a:gd name="T72" fmla="*/ 30 w 34"/>
                <a:gd name="T73" fmla="*/ 2 h 54"/>
                <a:gd name="T74" fmla="*/ 30 w 34"/>
                <a:gd name="T75" fmla="*/ 0 h 5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34"/>
                <a:gd name="T115" fmla="*/ 0 h 54"/>
                <a:gd name="T116" fmla="*/ 34 w 34"/>
                <a:gd name="T117" fmla="*/ 54 h 54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34" h="54">
                  <a:moveTo>
                    <a:pt x="30" y="0"/>
                  </a:moveTo>
                  <a:lnTo>
                    <a:pt x="30" y="18"/>
                  </a:lnTo>
                  <a:lnTo>
                    <a:pt x="28" y="14"/>
                  </a:lnTo>
                  <a:lnTo>
                    <a:pt x="28" y="10"/>
                  </a:lnTo>
                  <a:lnTo>
                    <a:pt x="26" y="6"/>
                  </a:lnTo>
                  <a:lnTo>
                    <a:pt x="22" y="4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2" y="2"/>
                  </a:lnTo>
                  <a:lnTo>
                    <a:pt x="8" y="4"/>
                  </a:lnTo>
                  <a:lnTo>
                    <a:pt x="6" y="8"/>
                  </a:lnTo>
                  <a:lnTo>
                    <a:pt x="6" y="10"/>
                  </a:lnTo>
                  <a:lnTo>
                    <a:pt x="6" y="12"/>
                  </a:lnTo>
                  <a:lnTo>
                    <a:pt x="8" y="14"/>
                  </a:lnTo>
                  <a:lnTo>
                    <a:pt x="10" y="18"/>
                  </a:lnTo>
                  <a:lnTo>
                    <a:pt x="14" y="20"/>
                  </a:lnTo>
                  <a:lnTo>
                    <a:pt x="18" y="22"/>
                  </a:lnTo>
                  <a:lnTo>
                    <a:pt x="24" y="26"/>
                  </a:lnTo>
                  <a:lnTo>
                    <a:pt x="28" y="30"/>
                  </a:lnTo>
                  <a:lnTo>
                    <a:pt x="30" y="32"/>
                  </a:lnTo>
                  <a:lnTo>
                    <a:pt x="32" y="34"/>
                  </a:lnTo>
                  <a:lnTo>
                    <a:pt x="34" y="38"/>
                  </a:lnTo>
                  <a:lnTo>
                    <a:pt x="34" y="40"/>
                  </a:lnTo>
                  <a:lnTo>
                    <a:pt x="32" y="46"/>
                  </a:lnTo>
                  <a:lnTo>
                    <a:pt x="30" y="50"/>
                  </a:lnTo>
                  <a:lnTo>
                    <a:pt x="24" y="54"/>
                  </a:lnTo>
                  <a:lnTo>
                    <a:pt x="18" y="54"/>
                  </a:lnTo>
                  <a:lnTo>
                    <a:pt x="16" y="54"/>
                  </a:lnTo>
                  <a:lnTo>
                    <a:pt x="14" y="54"/>
                  </a:lnTo>
                  <a:lnTo>
                    <a:pt x="12" y="54"/>
                  </a:lnTo>
                  <a:lnTo>
                    <a:pt x="8" y="52"/>
                  </a:lnTo>
                  <a:lnTo>
                    <a:pt x="4" y="52"/>
                  </a:lnTo>
                  <a:lnTo>
                    <a:pt x="2" y="52"/>
                  </a:lnTo>
                  <a:lnTo>
                    <a:pt x="2" y="54"/>
                  </a:lnTo>
                  <a:lnTo>
                    <a:pt x="0" y="54"/>
                  </a:lnTo>
                  <a:lnTo>
                    <a:pt x="0" y="36"/>
                  </a:lnTo>
                  <a:lnTo>
                    <a:pt x="2" y="42"/>
                  </a:lnTo>
                  <a:lnTo>
                    <a:pt x="4" y="46"/>
                  </a:lnTo>
                  <a:lnTo>
                    <a:pt x="6" y="48"/>
                  </a:lnTo>
                  <a:lnTo>
                    <a:pt x="8" y="50"/>
                  </a:lnTo>
                  <a:lnTo>
                    <a:pt x="12" y="52"/>
                  </a:lnTo>
                  <a:lnTo>
                    <a:pt x="16" y="52"/>
                  </a:lnTo>
                  <a:lnTo>
                    <a:pt x="22" y="52"/>
                  </a:lnTo>
                  <a:lnTo>
                    <a:pt x="24" y="50"/>
                  </a:lnTo>
                  <a:lnTo>
                    <a:pt x="26" y="46"/>
                  </a:lnTo>
                  <a:lnTo>
                    <a:pt x="28" y="44"/>
                  </a:lnTo>
                  <a:lnTo>
                    <a:pt x="28" y="42"/>
                  </a:lnTo>
                  <a:lnTo>
                    <a:pt x="26" y="40"/>
                  </a:lnTo>
                  <a:lnTo>
                    <a:pt x="24" y="38"/>
                  </a:lnTo>
                  <a:lnTo>
                    <a:pt x="24" y="36"/>
                  </a:lnTo>
                  <a:lnTo>
                    <a:pt x="20" y="34"/>
                  </a:lnTo>
                  <a:lnTo>
                    <a:pt x="14" y="32"/>
                  </a:lnTo>
                  <a:lnTo>
                    <a:pt x="8" y="28"/>
                  </a:lnTo>
                  <a:lnTo>
                    <a:pt x="6" y="24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4"/>
                  </a:lnTo>
                  <a:lnTo>
                    <a:pt x="0" y="8"/>
                  </a:lnTo>
                  <a:lnTo>
                    <a:pt x="4" y="4"/>
                  </a:lnTo>
                  <a:lnTo>
                    <a:pt x="8" y="0"/>
                  </a:lnTo>
                  <a:lnTo>
                    <a:pt x="14" y="0"/>
                  </a:lnTo>
                  <a:lnTo>
                    <a:pt x="20" y="0"/>
                  </a:lnTo>
                  <a:lnTo>
                    <a:pt x="24" y="2"/>
                  </a:lnTo>
                  <a:lnTo>
                    <a:pt x="26" y="2"/>
                  </a:lnTo>
                  <a:lnTo>
                    <a:pt x="28" y="4"/>
                  </a:lnTo>
                  <a:lnTo>
                    <a:pt x="28" y="2"/>
                  </a:lnTo>
                  <a:lnTo>
                    <a:pt x="30" y="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01" name="Freeform 81"/>
            <p:cNvSpPr/>
            <p:nvPr/>
          </p:nvSpPr>
          <p:spPr bwMode="auto">
            <a:xfrm>
              <a:off x="2776" y="2602"/>
              <a:ext cx="22" cy="72"/>
            </a:xfrm>
            <a:custGeom>
              <a:avLst/>
              <a:gdLst>
                <a:gd name="T0" fmla="*/ 22 w 22"/>
                <a:gd name="T1" fmla="*/ 70 h 72"/>
                <a:gd name="T2" fmla="*/ 22 w 22"/>
                <a:gd name="T3" fmla="*/ 72 h 72"/>
                <a:gd name="T4" fmla="*/ 16 w 22"/>
                <a:gd name="T5" fmla="*/ 70 h 72"/>
                <a:gd name="T6" fmla="*/ 12 w 22"/>
                <a:gd name="T7" fmla="*/ 66 h 72"/>
                <a:gd name="T8" fmla="*/ 6 w 22"/>
                <a:gd name="T9" fmla="*/ 60 h 72"/>
                <a:gd name="T10" fmla="*/ 2 w 22"/>
                <a:gd name="T11" fmla="*/ 52 h 72"/>
                <a:gd name="T12" fmla="*/ 0 w 22"/>
                <a:gd name="T13" fmla="*/ 44 h 72"/>
                <a:gd name="T14" fmla="*/ 0 w 22"/>
                <a:gd name="T15" fmla="*/ 36 h 72"/>
                <a:gd name="T16" fmla="*/ 0 w 22"/>
                <a:gd name="T17" fmla="*/ 30 h 72"/>
                <a:gd name="T18" fmla="*/ 2 w 22"/>
                <a:gd name="T19" fmla="*/ 22 h 72"/>
                <a:gd name="T20" fmla="*/ 6 w 22"/>
                <a:gd name="T21" fmla="*/ 16 h 72"/>
                <a:gd name="T22" fmla="*/ 10 w 22"/>
                <a:gd name="T23" fmla="*/ 10 h 72"/>
                <a:gd name="T24" fmla="*/ 16 w 22"/>
                <a:gd name="T25" fmla="*/ 4 h 72"/>
                <a:gd name="T26" fmla="*/ 22 w 22"/>
                <a:gd name="T27" fmla="*/ 0 h 72"/>
                <a:gd name="T28" fmla="*/ 22 w 22"/>
                <a:gd name="T29" fmla="*/ 2 h 72"/>
                <a:gd name="T30" fmla="*/ 16 w 22"/>
                <a:gd name="T31" fmla="*/ 6 h 72"/>
                <a:gd name="T32" fmla="*/ 14 w 22"/>
                <a:gd name="T33" fmla="*/ 10 h 72"/>
                <a:gd name="T34" fmla="*/ 10 w 22"/>
                <a:gd name="T35" fmla="*/ 14 h 72"/>
                <a:gd name="T36" fmla="*/ 8 w 22"/>
                <a:gd name="T37" fmla="*/ 22 h 72"/>
                <a:gd name="T38" fmla="*/ 8 w 22"/>
                <a:gd name="T39" fmla="*/ 28 h 72"/>
                <a:gd name="T40" fmla="*/ 8 w 22"/>
                <a:gd name="T41" fmla="*/ 36 h 72"/>
                <a:gd name="T42" fmla="*/ 8 w 22"/>
                <a:gd name="T43" fmla="*/ 44 h 72"/>
                <a:gd name="T44" fmla="*/ 8 w 22"/>
                <a:gd name="T45" fmla="*/ 50 h 72"/>
                <a:gd name="T46" fmla="*/ 10 w 22"/>
                <a:gd name="T47" fmla="*/ 56 h 72"/>
                <a:gd name="T48" fmla="*/ 10 w 22"/>
                <a:gd name="T49" fmla="*/ 60 h 72"/>
                <a:gd name="T50" fmla="*/ 12 w 22"/>
                <a:gd name="T51" fmla="*/ 62 h 72"/>
                <a:gd name="T52" fmla="*/ 14 w 22"/>
                <a:gd name="T53" fmla="*/ 66 h 72"/>
                <a:gd name="T54" fmla="*/ 18 w 22"/>
                <a:gd name="T55" fmla="*/ 68 h 72"/>
                <a:gd name="T56" fmla="*/ 22 w 22"/>
                <a:gd name="T57" fmla="*/ 70 h 7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2"/>
                <a:gd name="T88" fmla="*/ 0 h 72"/>
                <a:gd name="T89" fmla="*/ 22 w 22"/>
                <a:gd name="T90" fmla="*/ 72 h 7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2" h="72">
                  <a:moveTo>
                    <a:pt x="22" y="70"/>
                  </a:moveTo>
                  <a:lnTo>
                    <a:pt x="22" y="72"/>
                  </a:lnTo>
                  <a:lnTo>
                    <a:pt x="16" y="70"/>
                  </a:lnTo>
                  <a:lnTo>
                    <a:pt x="12" y="66"/>
                  </a:lnTo>
                  <a:lnTo>
                    <a:pt x="6" y="60"/>
                  </a:lnTo>
                  <a:lnTo>
                    <a:pt x="2" y="52"/>
                  </a:lnTo>
                  <a:lnTo>
                    <a:pt x="0" y="44"/>
                  </a:lnTo>
                  <a:lnTo>
                    <a:pt x="0" y="36"/>
                  </a:lnTo>
                  <a:lnTo>
                    <a:pt x="0" y="30"/>
                  </a:lnTo>
                  <a:lnTo>
                    <a:pt x="2" y="22"/>
                  </a:lnTo>
                  <a:lnTo>
                    <a:pt x="6" y="16"/>
                  </a:lnTo>
                  <a:lnTo>
                    <a:pt x="10" y="10"/>
                  </a:lnTo>
                  <a:lnTo>
                    <a:pt x="16" y="4"/>
                  </a:lnTo>
                  <a:lnTo>
                    <a:pt x="22" y="0"/>
                  </a:lnTo>
                  <a:lnTo>
                    <a:pt x="22" y="2"/>
                  </a:lnTo>
                  <a:lnTo>
                    <a:pt x="16" y="6"/>
                  </a:lnTo>
                  <a:lnTo>
                    <a:pt x="14" y="10"/>
                  </a:lnTo>
                  <a:lnTo>
                    <a:pt x="10" y="14"/>
                  </a:lnTo>
                  <a:lnTo>
                    <a:pt x="8" y="22"/>
                  </a:lnTo>
                  <a:lnTo>
                    <a:pt x="8" y="28"/>
                  </a:lnTo>
                  <a:lnTo>
                    <a:pt x="8" y="36"/>
                  </a:lnTo>
                  <a:lnTo>
                    <a:pt x="8" y="44"/>
                  </a:lnTo>
                  <a:lnTo>
                    <a:pt x="8" y="50"/>
                  </a:lnTo>
                  <a:lnTo>
                    <a:pt x="10" y="56"/>
                  </a:lnTo>
                  <a:lnTo>
                    <a:pt x="10" y="60"/>
                  </a:lnTo>
                  <a:lnTo>
                    <a:pt x="12" y="62"/>
                  </a:lnTo>
                  <a:lnTo>
                    <a:pt x="14" y="66"/>
                  </a:lnTo>
                  <a:lnTo>
                    <a:pt x="18" y="68"/>
                  </a:lnTo>
                  <a:lnTo>
                    <a:pt x="22" y="7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02" name="Freeform 82"/>
            <p:cNvSpPr/>
            <p:nvPr/>
          </p:nvSpPr>
          <p:spPr bwMode="auto">
            <a:xfrm>
              <a:off x="2804" y="2622"/>
              <a:ext cx="24" cy="36"/>
            </a:xfrm>
            <a:custGeom>
              <a:avLst/>
              <a:gdLst>
                <a:gd name="T0" fmla="*/ 20 w 24"/>
                <a:gd name="T1" fmla="*/ 0 h 36"/>
                <a:gd name="T2" fmla="*/ 20 w 24"/>
                <a:gd name="T3" fmla="*/ 12 h 36"/>
                <a:gd name="T4" fmla="*/ 20 w 24"/>
                <a:gd name="T5" fmla="*/ 12 h 36"/>
                <a:gd name="T6" fmla="*/ 18 w 24"/>
                <a:gd name="T7" fmla="*/ 6 h 36"/>
                <a:gd name="T8" fmla="*/ 16 w 24"/>
                <a:gd name="T9" fmla="*/ 4 h 36"/>
                <a:gd name="T10" fmla="*/ 14 w 24"/>
                <a:gd name="T11" fmla="*/ 2 h 36"/>
                <a:gd name="T12" fmla="*/ 10 w 24"/>
                <a:gd name="T13" fmla="*/ 2 h 36"/>
                <a:gd name="T14" fmla="*/ 8 w 24"/>
                <a:gd name="T15" fmla="*/ 2 h 36"/>
                <a:gd name="T16" fmla="*/ 6 w 24"/>
                <a:gd name="T17" fmla="*/ 4 h 36"/>
                <a:gd name="T18" fmla="*/ 4 w 24"/>
                <a:gd name="T19" fmla="*/ 4 h 36"/>
                <a:gd name="T20" fmla="*/ 4 w 24"/>
                <a:gd name="T21" fmla="*/ 6 h 36"/>
                <a:gd name="T22" fmla="*/ 4 w 24"/>
                <a:gd name="T23" fmla="*/ 8 h 36"/>
                <a:gd name="T24" fmla="*/ 6 w 24"/>
                <a:gd name="T25" fmla="*/ 10 h 36"/>
                <a:gd name="T26" fmla="*/ 6 w 24"/>
                <a:gd name="T27" fmla="*/ 12 h 36"/>
                <a:gd name="T28" fmla="*/ 10 w 24"/>
                <a:gd name="T29" fmla="*/ 14 h 36"/>
                <a:gd name="T30" fmla="*/ 16 w 24"/>
                <a:gd name="T31" fmla="*/ 16 h 36"/>
                <a:gd name="T32" fmla="*/ 20 w 24"/>
                <a:gd name="T33" fmla="*/ 18 h 36"/>
                <a:gd name="T34" fmla="*/ 22 w 24"/>
                <a:gd name="T35" fmla="*/ 22 h 36"/>
                <a:gd name="T36" fmla="*/ 24 w 24"/>
                <a:gd name="T37" fmla="*/ 26 h 36"/>
                <a:gd name="T38" fmla="*/ 22 w 24"/>
                <a:gd name="T39" fmla="*/ 30 h 36"/>
                <a:gd name="T40" fmla="*/ 20 w 24"/>
                <a:gd name="T41" fmla="*/ 34 h 36"/>
                <a:gd name="T42" fmla="*/ 16 w 24"/>
                <a:gd name="T43" fmla="*/ 36 h 36"/>
                <a:gd name="T44" fmla="*/ 12 w 24"/>
                <a:gd name="T45" fmla="*/ 36 h 36"/>
                <a:gd name="T46" fmla="*/ 8 w 24"/>
                <a:gd name="T47" fmla="*/ 36 h 36"/>
                <a:gd name="T48" fmla="*/ 4 w 24"/>
                <a:gd name="T49" fmla="*/ 36 h 36"/>
                <a:gd name="T50" fmla="*/ 2 w 24"/>
                <a:gd name="T51" fmla="*/ 36 h 36"/>
                <a:gd name="T52" fmla="*/ 2 w 24"/>
                <a:gd name="T53" fmla="*/ 36 h 36"/>
                <a:gd name="T54" fmla="*/ 0 w 24"/>
                <a:gd name="T55" fmla="*/ 36 h 36"/>
                <a:gd name="T56" fmla="*/ 0 w 24"/>
                <a:gd name="T57" fmla="*/ 36 h 36"/>
                <a:gd name="T58" fmla="*/ 0 w 24"/>
                <a:gd name="T59" fmla="*/ 36 h 36"/>
                <a:gd name="T60" fmla="*/ 0 w 24"/>
                <a:gd name="T61" fmla="*/ 24 h 36"/>
                <a:gd name="T62" fmla="*/ 0 w 24"/>
                <a:gd name="T63" fmla="*/ 24 h 36"/>
                <a:gd name="T64" fmla="*/ 2 w 24"/>
                <a:gd name="T65" fmla="*/ 28 h 36"/>
                <a:gd name="T66" fmla="*/ 4 w 24"/>
                <a:gd name="T67" fmla="*/ 32 h 36"/>
                <a:gd name="T68" fmla="*/ 8 w 24"/>
                <a:gd name="T69" fmla="*/ 34 h 36"/>
                <a:gd name="T70" fmla="*/ 12 w 24"/>
                <a:gd name="T71" fmla="*/ 34 h 36"/>
                <a:gd name="T72" fmla="*/ 14 w 24"/>
                <a:gd name="T73" fmla="*/ 34 h 36"/>
                <a:gd name="T74" fmla="*/ 16 w 24"/>
                <a:gd name="T75" fmla="*/ 32 h 36"/>
                <a:gd name="T76" fmla="*/ 18 w 24"/>
                <a:gd name="T77" fmla="*/ 30 h 36"/>
                <a:gd name="T78" fmla="*/ 18 w 24"/>
                <a:gd name="T79" fmla="*/ 28 h 36"/>
                <a:gd name="T80" fmla="*/ 18 w 24"/>
                <a:gd name="T81" fmla="*/ 26 h 36"/>
                <a:gd name="T82" fmla="*/ 16 w 24"/>
                <a:gd name="T83" fmla="*/ 24 h 36"/>
                <a:gd name="T84" fmla="*/ 12 w 24"/>
                <a:gd name="T85" fmla="*/ 22 h 36"/>
                <a:gd name="T86" fmla="*/ 8 w 24"/>
                <a:gd name="T87" fmla="*/ 20 h 36"/>
                <a:gd name="T88" fmla="*/ 4 w 24"/>
                <a:gd name="T89" fmla="*/ 18 h 36"/>
                <a:gd name="T90" fmla="*/ 0 w 24"/>
                <a:gd name="T91" fmla="*/ 14 h 36"/>
                <a:gd name="T92" fmla="*/ 0 w 24"/>
                <a:gd name="T93" fmla="*/ 12 h 36"/>
                <a:gd name="T94" fmla="*/ 0 w 24"/>
                <a:gd name="T95" fmla="*/ 10 h 36"/>
                <a:gd name="T96" fmla="*/ 0 w 24"/>
                <a:gd name="T97" fmla="*/ 6 h 36"/>
                <a:gd name="T98" fmla="*/ 2 w 24"/>
                <a:gd name="T99" fmla="*/ 2 h 36"/>
                <a:gd name="T100" fmla="*/ 6 w 24"/>
                <a:gd name="T101" fmla="*/ 0 h 36"/>
                <a:gd name="T102" fmla="*/ 10 w 24"/>
                <a:gd name="T103" fmla="*/ 0 h 36"/>
                <a:gd name="T104" fmla="*/ 12 w 24"/>
                <a:gd name="T105" fmla="*/ 0 h 36"/>
                <a:gd name="T106" fmla="*/ 16 w 24"/>
                <a:gd name="T107" fmla="*/ 0 h 36"/>
                <a:gd name="T108" fmla="*/ 18 w 24"/>
                <a:gd name="T109" fmla="*/ 0 h 36"/>
                <a:gd name="T110" fmla="*/ 18 w 24"/>
                <a:gd name="T111" fmla="*/ 0 h 36"/>
                <a:gd name="T112" fmla="*/ 18 w 24"/>
                <a:gd name="T113" fmla="*/ 0 h 36"/>
                <a:gd name="T114" fmla="*/ 20 w 24"/>
                <a:gd name="T115" fmla="*/ 0 h 36"/>
                <a:gd name="T116" fmla="*/ 20 w 24"/>
                <a:gd name="T117" fmla="*/ 0 h 36"/>
                <a:gd name="T118" fmla="*/ 20 w 24"/>
                <a:gd name="T119" fmla="*/ 0 h 36"/>
                <a:gd name="T120" fmla="*/ 20 w 24"/>
                <a:gd name="T121" fmla="*/ 0 h 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4"/>
                <a:gd name="T184" fmla="*/ 0 h 36"/>
                <a:gd name="T185" fmla="*/ 24 w 24"/>
                <a:gd name="T186" fmla="*/ 36 h 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4" h="36">
                  <a:moveTo>
                    <a:pt x="20" y="0"/>
                  </a:moveTo>
                  <a:lnTo>
                    <a:pt x="20" y="12"/>
                  </a:lnTo>
                  <a:lnTo>
                    <a:pt x="18" y="6"/>
                  </a:lnTo>
                  <a:lnTo>
                    <a:pt x="16" y="4"/>
                  </a:lnTo>
                  <a:lnTo>
                    <a:pt x="14" y="2"/>
                  </a:lnTo>
                  <a:lnTo>
                    <a:pt x="10" y="2"/>
                  </a:lnTo>
                  <a:lnTo>
                    <a:pt x="8" y="2"/>
                  </a:lnTo>
                  <a:lnTo>
                    <a:pt x="6" y="4"/>
                  </a:lnTo>
                  <a:lnTo>
                    <a:pt x="4" y="4"/>
                  </a:lnTo>
                  <a:lnTo>
                    <a:pt x="4" y="6"/>
                  </a:lnTo>
                  <a:lnTo>
                    <a:pt x="4" y="8"/>
                  </a:lnTo>
                  <a:lnTo>
                    <a:pt x="6" y="10"/>
                  </a:lnTo>
                  <a:lnTo>
                    <a:pt x="6" y="12"/>
                  </a:lnTo>
                  <a:lnTo>
                    <a:pt x="10" y="14"/>
                  </a:lnTo>
                  <a:lnTo>
                    <a:pt x="16" y="16"/>
                  </a:lnTo>
                  <a:lnTo>
                    <a:pt x="20" y="18"/>
                  </a:lnTo>
                  <a:lnTo>
                    <a:pt x="22" y="22"/>
                  </a:lnTo>
                  <a:lnTo>
                    <a:pt x="24" y="26"/>
                  </a:lnTo>
                  <a:lnTo>
                    <a:pt x="22" y="30"/>
                  </a:lnTo>
                  <a:lnTo>
                    <a:pt x="20" y="34"/>
                  </a:lnTo>
                  <a:lnTo>
                    <a:pt x="16" y="36"/>
                  </a:lnTo>
                  <a:lnTo>
                    <a:pt x="12" y="36"/>
                  </a:lnTo>
                  <a:lnTo>
                    <a:pt x="8" y="36"/>
                  </a:lnTo>
                  <a:lnTo>
                    <a:pt x="4" y="36"/>
                  </a:lnTo>
                  <a:lnTo>
                    <a:pt x="2" y="36"/>
                  </a:lnTo>
                  <a:lnTo>
                    <a:pt x="0" y="36"/>
                  </a:lnTo>
                  <a:lnTo>
                    <a:pt x="0" y="24"/>
                  </a:lnTo>
                  <a:lnTo>
                    <a:pt x="2" y="28"/>
                  </a:lnTo>
                  <a:lnTo>
                    <a:pt x="4" y="32"/>
                  </a:lnTo>
                  <a:lnTo>
                    <a:pt x="8" y="34"/>
                  </a:lnTo>
                  <a:lnTo>
                    <a:pt x="12" y="34"/>
                  </a:lnTo>
                  <a:lnTo>
                    <a:pt x="14" y="34"/>
                  </a:lnTo>
                  <a:lnTo>
                    <a:pt x="16" y="32"/>
                  </a:lnTo>
                  <a:lnTo>
                    <a:pt x="18" y="30"/>
                  </a:lnTo>
                  <a:lnTo>
                    <a:pt x="18" y="28"/>
                  </a:lnTo>
                  <a:lnTo>
                    <a:pt x="18" y="26"/>
                  </a:lnTo>
                  <a:lnTo>
                    <a:pt x="16" y="24"/>
                  </a:lnTo>
                  <a:lnTo>
                    <a:pt x="12" y="22"/>
                  </a:lnTo>
                  <a:lnTo>
                    <a:pt x="8" y="20"/>
                  </a:lnTo>
                  <a:lnTo>
                    <a:pt x="4" y="18"/>
                  </a:lnTo>
                  <a:lnTo>
                    <a:pt x="0" y="14"/>
                  </a:lnTo>
                  <a:lnTo>
                    <a:pt x="0" y="12"/>
                  </a:lnTo>
                  <a:lnTo>
                    <a:pt x="0" y="10"/>
                  </a:ln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18" y="0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03" name="Freeform 83"/>
            <p:cNvSpPr>
              <a:spLocks noEditPoints="1"/>
            </p:cNvSpPr>
            <p:nvPr/>
          </p:nvSpPr>
          <p:spPr bwMode="auto">
            <a:xfrm>
              <a:off x="2832" y="2622"/>
              <a:ext cx="32" cy="36"/>
            </a:xfrm>
            <a:custGeom>
              <a:avLst/>
              <a:gdLst>
                <a:gd name="T0" fmla="*/ 16 w 32"/>
                <a:gd name="T1" fmla="*/ 34 h 36"/>
                <a:gd name="T2" fmla="*/ 12 w 32"/>
                <a:gd name="T3" fmla="*/ 36 h 36"/>
                <a:gd name="T4" fmla="*/ 6 w 32"/>
                <a:gd name="T5" fmla="*/ 36 h 36"/>
                <a:gd name="T6" fmla="*/ 0 w 32"/>
                <a:gd name="T7" fmla="*/ 32 h 36"/>
                <a:gd name="T8" fmla="*/ 0 w 32"/>
                <a:gd name="T9" fmla="*/ 26 h 36"/>
                <a:gd name="T10" fmla="*/ 4 w 32"/>
                <a:gd name="T11" fmla="*/ 20 h 36"/>
                <a:gd name="T12" fmla="*/ 12 w 32"/>
                <a:gd name="T13" fmla="*/ 16 h 36"/>
                <a:gd name="T14" fmla="*/ 20 w 32"/>
                <a:gd name="T15" fmla="*/ 12 h 36"/>
                <a:gd name="T16" fmla="*/ 18 w 32"/>
                <a:gd name="T17" fmla="*/ 4 h 36"/>
                <a:gd name="T18" fmla="*/ 14 w 32"/>
                <a:gd name="T19" fmla="*/ 2 h 36"/>
                <a:gd name="T20" fmla="*/ 10 w 32"/>
                <a:gd name="T21" fmla="*/ 4 h 36"/>
                <a:gd name="T22" fmla="*/ 8 w 32"/>
                <a:gd name="T23" fmla="*/ 6 h 36"/>
                <a:gd name="T24" fmla="*/ 8 w 32"/>
                <a:gd name="T25" fmla="*/ 10 h 36"/>
                <a:gd name="T26" fmla="*/ 6 w 32"/>
                <a:gd name="T27" fmla="*/ 12 h 36"/>
                <a:gd name="T28" fmla="*/ 4 w 32"/>
                <a:gd name="T29" fmla="*/ 12 h 36"/>
                <a:gd name="T30" fmla="*/ 2 w 32"/>
                <a:gd name="T31" fmla="*/ 10 h 36"/>
                <a:gd name="T32" fmla="*/ 2 w 32"/>
                <a:gd name="T33" fmla="*/ 6 h 36"/>
                <a:gd name="T34" fmla="*/ 10 w 32"/>
                <a:gd name="T35" fmla="*/ 0 h 36"/>
                <a:gd name="T36" fmla="*/ 20 w 32"/>
                <a:gd name="T37" fmla="*/ 0 h 36"/>
                <a:gd name="T38" fmla="*/ 24 w 32"/>
                <a:gd name="T39" fmla="*/ 2 h 36"/>
                <a:gd name="T40" fmla="*/ 26 w 32"/>
                <a:gd name="T41" fmla="*/ 8 h 36"/>
                <a:gd name="T42" fmla="*/ 26 w 32"/>
                <a:gd name="T43" fmla="*/ 24 h 36"/>
                <a:gd name="T44" fmla="*/ 28 w 32"/>
                <a:gd name="T45" fmla="*/ 30 h 36"/>
                <a:gd name="T46" fmla="*/ 28 w 32"/>
                <a:gd name="T47" fmla="*/ 32 h 36"/>
                <a:gd name="T48" fmla="*/ 28 w 32"/>
                <a:gd name="T49" fmla="*/ 32 h 36"/>
                <a:gd name="T50" fmla="*/ 30 w 32"/>
                <a:gd name="T51" fmla="*/ 32 h 36"/>
                <a:gd name="T52" fmla="*/ 32 w 32"/>
                <a:gd name="T53" fmla="*/ 30 h 36"/>
                <a:gd name="T54" fmla="*/ 28 w 32"/>
                <a:gd name="T55" fmla="*/ 36 h 36"/>
                <a:gd name="T56" fmla="*/ 22 w 32"/>
                <a:gd name="T57" fmla="*/ 36 h 36"/>
                <a:gd name="T58" fmla="*/ 20 w 32"/>
                <a:gd name="T59" fmla="*/ 34 h 36"/>
                <a:gd name="T60" fmla="*/ 20 w 32"/>
                <a:gd name="T61" fmla="*/ 28 h 36"/>
                <a:gd name="T62" fmla="*/ 16 w 32"/>
                <a:gd name="T63" fmla="*/ 16 h 36"/>
                <a:gd name="T64" fmla="*/ 10 w 32"/>
                <a:gd name="T65" fmla="*/ 20 h 36"/>
                <a:gd name="T66" fmla="*/ 8 w 32"/>
                <a:gd name="T67" fmla="*/ 24 h 36"/>
                <a:gd name="T68" fmla="*/ 8 w 32"/>
                <a:gd name="T69" fmla="*/ 28 h 36"/>
                <a:gd name="T70" fmla="*/ 10 w 32"/>
                <a:gd name="T71" fmla="*/ 32 h 36"/>
                <a:gd name="T72" fmla="*/ 16 w 32"/>
                <a:gd name="T73" fmla="*/ 30 h 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32"/>
                <a:gd name="T112" fmla="*/ 0 h 36"/>
                <a:gd name="T113" fmla="*/ 32 w 32"/>
                <a:gd name="T114" fmla="*/ 36 h 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32" h="36">
                  <a:moveTo>
                    <a:pt x="20" y="30"/>
                  </a:moveTo>
                  <a:lnTo>
                    <a:pt x="16" y="34"/>
                  </a:lnTo>
                  <a:lnTo>
                    <a:pt x="14" y="36"/>
                  </a:lnTo>
                  <a:lnTo>
                    <a:pt x="12" y="36"/>
                  </a:lnTo>
                  <a:lnTo>
                    <a:pt x="8" y="36"/>
                  </a:lnTo>
                  <a:lnTo>
                    <a:pt x="6" y="36"/>
                  </a:lnTo>
                  <a:lnTo>
                    <a:pt x="2" y="34"/>
                  </a:lnTo>
                  <a:lnTo>
                    <a:pt x="0" y="32"/>
                  </a:lnTo>
                  <a:lnTo>
                    <a:pt x="0" y="28"/>
                  </a:lnTo>
                  <a:lnTo>
                    <a:pt x="0" y="26"/>
                  </a:lnTo>
                  <a:lnTo>
                    <a:pt x="2" y="24"/>
                  </a:lnTo>
                  <a:lnTo>
                    <a:pt x="4" y="20"/>
                  </a:lnTo>
                  <a:lnTo>
                    <a:pt x="8" y="18"/>
                  </a:lnTo>
                  <a:lnTo>
                    <a:pt x="12" y="16"/>
                  </a:lnTo>
                  <a:lnTo>
                    <a:pt x="20" y="12"/>
                  </a:lnTo>
                  <a:lnTo>
                    <a:pt x="20" y="6"/>
                  </a:lnTo>
                  <a:lnTo>
                    <a:pt x="18" y="4"/>
                  </a:lnTo>
                  <a:lnTo>
                    <a:pt x="16" y="2"/>
                  </a:lnTo>
                  <a:lnTo>
                    <a:pt x="14" y="2"/>
                  </a:lnTo>
                  <a:lnTo>
                    <a:pt x="12" y="2"/>
                  </a:lnTo>
                  <a:lnTo>
                    <a:pt x="10" y="4"/>
                  </a:lnTo>
                  <a:lnTo>
                    <a:pt x="8" y="4"/>
                  </a:lnTo>
                  <a:lnTo>
                    <a:pt x="8" y="6"/>
                  </a:lnTo>
                  <a:lnTo>
                    <a:pt x="8" y="8"/>
                  </a:lnTo>
                  <a:lnTo>
                    <a:pt x="8" y="10"/>
                  </a:lnTo>
                  <a:lnTo>
                    <a:pt x="8" y="12"/>
                  </a:lnTo>
                  <a:lnTo>
                    <a:pt x="6" y="12"/>
                  </a:lnTo>
                  <a:lnTo>
                    <a:pt x="4" y="12"/>
                  </a:lnTo>
                  <a:lnTo>
                    <a:pt x="2" y="12"/>
                  </a:lnTo>
                  <a:lnTo>
                    <a:pt x="2" y="10"/>
                  </a:lnTo>
                  <a:lnTo>
                    <a:pt x="2" y="8"/>
                  </a:lnTo>
                  <a:lnTo>
                    <a:pt x="2" y="6"/>
                  </a:lnTo>
                  <a:lnTo>
                    <a:pt x="6" y="2"/>
                  </a:lnTo>
                  <a:lnTo>
                    <a:pt x="10" y="0"/>
                  </a:lnTo>
                  <a:lnTo>
                    <a:pt x="16" y="0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4" y="2"/>
                  </a:lnTo>
                  <a:lnTo>
                    <a:pt x="26" y="4"/>
                  </a:lnTo>
                  <a:lnTo>
                    <a:pt x="26" y="8"/>
                  </a:lnTo>
                  <a:lnTo>
                    <a:pt x="26" y="12"/>
                  </a:lnTo>
                  <a:lnTo>
                    <a:pt x="26" y="24"/>
                  </a:lnTo>
                  <a:lnTo>
                    <a:pt x="28" y="28"/>
                  </a:lnTo>
                  <a:lnTo>
                    <a:pt x="28" y="30"/>
                  </a:lnTo>
                  <a:lnTo>
                    <a:pt x="28" y="32"/>
                  </a:lnTo>
                  <a:lnTo>
                    <a:pt x="30" y="32"/>
                  </a:lnTo>
                  <a:lnTo>
                    <a:pt x="30" y="30"/>
                  </a:lnTo>
                  <a:lnTo>
                    <a:pt x="32" y="30"/>
                  </a:lnTo>
                  <a:lnTo>
                    <a:pt x="28" y="36"/>
                  </a:lnTo>
                  <a:lnTo>
                    <a:pt x="24" y="36"/>
                  </a:lnTo>
                  <a:lnTo>
                    <a:pt x="22" y="36"/>
                  </a:lnTo>
                  <a:lnTo>
                    <a:pt x="20" y="34"/>
                  </a:lnTo>
                  <a:lnTo>
                    <a:pt x="20" y="30"/>
                  </a:lnTo>
                  <a:close/>
                  <a:moveTo>
                    <a:pt x="20" y="28"/>
                  </a:moveTo>
                  <a:lnTo>
                    <a:pt x="20" y="16"/>
                  </a:lnTo>
                  <a:lnTo>
                    <a:pt x="16" y="16"/>
                  </a:lnTo>
                  <a:lnTo>
                    <a:pt x="12" y="18"/>
                  </a:lnTo>
                  <a:lnTo>
                    <a:pt x="10" y="20"/>
                  </a:lnTo>
                  <a:lnTo>
                    <a:pt x="8" y="22"/>
                  </a:lnTo>
                  <a:lnTo>
                    <a:pt x="8" y="24"/>
                  </a:lnTo>
                  <a:lnTo>
                    <a:pt x="6" y="26"/>
                  </a:lnTo>
                  <a:lnTo>
                    <a:pt x="8" y="28"/>
                  </a:lnTo>
                  <a:lnTo>
                    <a:pt x="8" y="30"/>
                  </a:lnTo>
                  <a:lnTo>
                    <a:pt x="10" y="32"/>
                  </a:lnTo>
                  <a:lnTo>
                    <a:pt x="12" y="32"/>
                  </a:lnTo>
                  <a:lnTo>
                    <a:pt x="16" y="30"/>
                  </a:lnTo>
                  <a:lnTo>
                    <a:pt x="20" y="2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04" name="Freeform 84"/>
            <p:cNvSpPr/>
            <p:nvPr/>
          </p:nvSpPr>
          <p:spPr bwMode="auto">
            <a:xfrm>
              <a:off x="2868" y="2622"/>
              <a:ext cx="30" cy="36"/>
            </a:xfrm>
            <a:custGeom>
              <a:avLst/>
              <a:gdLst>
                <a:gd name="T0" fmla="*/ 30 w 30"/>
                <a:gd name="T1" fmla="*/ 22 h 36"/>
                <a:gd name="T2" fmla="*/ 28 w 30"/>
                <a:gd name="T3" fmla="*/ 28 h 36"/>
                <a:gd name="T4" fmla="*/ 24 w 30"/>
                <a:gd name="T5" fmla="*/ 32 h 36"/>
                <a:gd name="T6" fmla="*/ 20 w 30"/>
                <a:gd name="T7" fmla="*/ 36 h 36"/>
                <a:gd name="T8" fmla="*/ 16 w 30"/>
                <a:gd name="T9" fmla="*/ 36 h 36"/>
                <a:gd name="T10" fmla="*/ 10 w 30"/>
                <a:gd name="T11" fmla="*/ 36 h 36"/>
                <a:gd name="T12" fmla="*/ 4 w 30"/>
                <a:gd name="T13" fmla="*/ 32 h 36"/>
                <a:gd name="T14" fmla="*/ 2 w 30"/>
                <a:gd name="T15" fmla="*/ 28 h 36"/>
                <a:gd name="T16" fmla="*/ 0 w 30"/>
                <a:gd name="T17" fmla="*/ 24 h 36"/>
                <a:gd name="T18" fmla="*/ 0 w 30"/>
                <a:gd name="T19" fmla="*/ 18 h 36"/>
                <a:gd name="T20" fmla="*/ 0 w 30"/>
                <a:gd name="T21" fmla="*/ 12 h 36"/>
                <a:gd name="T22" fmla="*/ 2 w 30"/>
                <a:gd name="T23" fmla="*/ 8 h 36"/>
                <a:gd name="T24" fmla="*/ 6 w 30"/>
                <a:gd name="T25" fmla="*/ 4 h 36"/>
                <a:gd name="T26" fmla="*/ 10 w 30"/>
                <a:gd name="T27" fmla="*/ 0 h 36"/>
                <a:gd name="T28" fmla="*/ 16 w 30"/>
                <a:gd name="T29" fmla="*/ 0 h 36"/>
                <a:gd name="T30" fmla="*/ 22 w 30"/>
                <a:gd name="T31" fmla="*/ 0 h 36"/>
                <a:gd name="T32" fmla="*/ 26 w 30"/>
                <a:gd name="T33" fmla="*/ 2 h 36"/>
                <a:gd name="T34" fmla="*/ 28 w 30"/>
                <a:gd name="T35" fmla="*/ 4 h 36"/>
                <a:gd name="T36" fmla="*/ 28 w 30"/>
                <a:gd name="T37" fmla="*/ 8 h 36"/>
                <a:gd name="T38" fmla="*/ 28 w 30"/>
                <a:gd name="T39" fmla="*/ 8 h 36"/>
                <a:gd name="T40" fmla="*/ 28 w 30"/>
                <a:gd name="T41" fmla="*/ 10 h 36"/>
                <a:gd name="T42" fmla="*/ 26 w 30"/>
                <a:gd name="T43" fmla="*/ 10 h 36"/>
                <a:gd name="T44" fmla="*/ 26 w 30"/>
                <a:gd name="T45" fmla="*/ 10 h 36"/>
                <a:gd name="T46" fmla="*/ 24 w 30"/>
                <a:gd name="T47" fmla="*/ 10 h 36"/>
                <a:gd name="T48" fmla="*/ 22 w 30"/>
                <a:gd name="T49" fmla="*/ 10 h 36"/>
                <a:gd name="T50" fmla="*/ 22 w 30"/>
                <a:gd name="T51" fmla="*/ 8 h 36"/>
                <a:gd name="T52" fmla="*/ 20 w 30"/>
                <a:gd name="T53" fmla="*/ 6 h 36"/>
                <a:gd name="T54" fmla="*/ 20 w 30"/>
                <a:gd name="T55" fmla="*/ 4 h 36"/>
                <a:gd name="T56" fmla="*/ 20 w 30"/>
                <a:gd name="T57" fmla="*/ 2 h 36"/>
                <a:gd name="T58" fmla="*/ 18 w 30"/>
                <a:gd name="T59" fmla="*/ 2 h 36"/>
                <a:gd name="T60" fmla="*/ 16 w 30"/>
                <a:gd name="T61" fmla="*/ 2 h 36"/>
                <a:gd name="T62" fmla="*/ 12 w 30"/>
                <a:gd name="T63" fmla="*/ 2 h 36"/>
                <a:gd name="T64" fmla="*/ 10 w 30"/>
                <a:gd name="T65" fmla="*/ 4 h 36"/>
                <a:gd name="T66" fmla="*/ 8 w 30"/>
                <a:gd name="T67" fmla="*/ 8 h 36"/>
                <a:gd name="T68" fmla="*/ 6 w 30"/>
                <a:gd name="T69" fmla="*/ 14 h 36"/>
                <a:gd name="T70" fmla="*/ 8 w 30"/>
                <a:gd name="T71" fmla="*/ 20 h 36"/>
                <a:gd name="T72" fmla="*/ 10 w 30"/>
                <a:gd name="T73" fmla="*/ 26 h 36"/>
                <a:gd name="T74" fmla="*/ 14 w 30"/>
                <a:gd name="T75" fmla="*/ 28 h 36"/>
                <a:gd name="T76" fmla="*/ 18 w 30"/>
                <a:gd name="T77" fmla="*/ 30 h 36"/>
                <a:gd name="T78" fmla="*/ 22 w 30"/>
                <a:gd name="T79" fmla="*/ 30 h 36"/>
                <a:gd name="T80" fmla="*/ 26 w 30"/>
                <a:gd name="T81" fmla="*/ 28 h 36"/>
                <a:gd name="T82" fmla="*/ 28 w 30"/>
                <a:gd name="T83" fmla="*/ 26 h 36"/>
                <a:gd name="T84" fmla="*/ 30 w 30"/>
                <a:gd name="T85" fmla="*/ 20 h 36"/>
                <a:gd name="T86" fmla="*/ 30 w 30"/>
                <a:gd name="T87" fmla="*/ 22 h 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0"/>
                <a:gd name="T133" fmla="*/ 0 h 36"/>
                <a:gd name="T134" fmla="*/ 30 w 30"/>
                <a:gd name="T135" fmla="*/ 36 h 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0" h="36">
                  <a:moveTo>
                    <a:pt x="30" y="22"/>
                  </a:moveTo>
                  <a:lnTo>
                    <a:pt x="28" y="28"/>
                  </a:lnTo>
                  <a:lnTo>
                    <a:pt x="24" y="32"/>
                  </a:lnTo>
                  <a:lnTo>
                    <a:pt x="20" y="36"/>
                  </a:lnTo>
                  <a:lnTo>
                    <a:pt x="16" y="36"/>
                  </a:lnTo>
                  <a:lnTo>
                    <a:pt x="10" y="36"/>
                  </a:lnTo>
                  <a:lnTo>
                    <a:pt x="4" y="32"/>
                  </a:lnTo>
                  <a:lnTo>
                    <a:pt x="2" y="28"/>
                  </a:lnTo>
                  <a:lnTo>
                    <a:pt x="0" y="24"/>
                  </a:lnTo>
                  <a:lnTo>
                    <a:pt x="0" y="18"/>
                  </a:lnTo>
                  <a:lnTo>
                    <a:pt x="0" y="12"/>
                  </a:lnTo>
                  <a:lnTo>
                    <a:pt x="2" y="8"/>
                  </a:lnTo>
                  <a:lnTo>
                    <a:pt x="6" y="4"/>
                  </a:lnTo>
                  <a:lnTo>
                    <a:pt x="10" y="0"/>
                  </a:lnTo>
                  <a:lnTo>
                    <a:pt x="16" y="0"/>
                  </a:lnTo>
                  <a:lnTo>
                    <a:pt x="22" y="0"/>
                  </a:lnTo>
                  <a:lnTo>
                    <a:pt x="26" y="2"/>
                  </a:lnTo>
                  <a:lnTo>
                    <a:pt x="28" y="4"/>
                  </a:lnTo>
                  <a:lnTo>
                    <a:pt x="28" y="8"/>
                  </a:lnTo>
                  <a:lnTo>
                    <a:pt x="28" y="10"/>
                  </a:lnTo>
                  <a:lnTo>
                    <a:pt x="26" y="10"/>
                  </a:lnTo>
                  <a:lnTo>
                    <a:pt x="24" y="10"/>
                  </a:lnTo>
                  <a:lnTo>
                    <a:pt x="22" y="10"/>
                  </a:lnTo>
                  <a:lnTo>
                    <a:pt x="22" y="8"/>
                  </a:lnTo>
                  <a:lnTo>
                    <a:pt x="20" y="6"/>
                  </a:lnTo>
                  <a:lnTo>
                    <a:pt x="20" y="4"/>
                  </a:lnTo>
                  <a:lnTo>
                    <a:pt x="20" y="2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2" y="2"/>
                  </a:lnTo>
                  <a:lnTo>
                    <a:pt x="10" y="4"/>
                  </a:lnTo>
                  <a:lnTo>
                    <a:pt x="8" y="8"/>
                  </a:lnTo>
                  <a:lnTo>
                    <a:pt x="6" y="14"/>
                  </a:lnTo>
                  <a:lnTo>
                    <a:pt x="8" y="20"/>
                  </a:lnTo>
                  <a:lnTo>
                    <a:pt x="10" y="26"/>
                  </a:lnTo>
                  <a:lnTo>
                    <a:pt x="14" y="28"/>
                  </a:lnTo>
                  <a:lnTo>
                    <a:pt x="18" y="30"/>
                  </a:lnTo>
                  <a:lnTo>
                    <a:pt x="22" y="30"/>
                  </a:lnTo>
                  <a:lnTo>
                    <a:pt x="26" y="28"/>
                  </a:lnTo>
                  <a:lnTo>
                    <a:pt x="28" y="26"/>
                  </a:lnTo>
                  <a:lnTo>
                    <a:pt x="30" y="20"/>
                  </a:lnTo>
                  <a:lnTo>
                    <a:pt x="30" y="2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05" name="Freeform 85"/>
            <p:cNvSpPr/>
            <p:nvPr/>
          </p:nvSpPr>
          <p:spPr bwMode="auto">
            <a:xfrm>
              <a:off x="2902" y="2602"/>
              <a:ext cx="40" cy="56"/>
            </a:xfrm>
            <a:custGeom>
              <a:avLst/>
              <a:gdLst>
                <a:gd name="T0" fmla="*/ 12 w 40"/>
                <a:gd name="T1" fmla="*/ 36 h 56"/>
                <a:gd name="T2" fmla="*/ 24 w 40"/>
                <a:gd name="T3" fmla="*/ 26 h 56"/>
                <a:gd name="T4" fmla="*/ 26 w 40"/>
                <a:gd name="T5" fmla="*/ 24 h 56"/>
                <a:gd name="T6" fmla="*/ 26 w 40"/>
                <a:gd name="T7" fmla="*/ 22 h 56"/>
                <a:gd name="T8" fmla="*/ 24 w 40"/>
                <a:gd name="T9" fmla="*/ 22 h 56"/>
                <a:gd name="T10" fmla="*/ 22 w 40"/>
                <a:gd name="T11" fmla="*/ 20 h 56"/>
                <a:gd name="T12" fmla="*/ 38 w 40"/>
                <a:gd name="T13" fmla="*/ 20 h 56"/>
                <a:gd name="T14" fmla="*/ 32 w 40"/>
                <a:gd name="T15" fmla="*/ 22 h 56"/>
                <a:gd name="T16" fmla="*/ 28 w 40"/>
                <a:gd name="T17" fmla="*/ 26 h 56"/>
                <a:gd name="T18" fmla="*/ 28 w 40"/>
                <a:gd name="T19" fmla="*/ 46 h 56"/>
                <a:gd name="T20" fmla="*/ 34 w 40"/>
                <a:gd name="T21" fmla="*/ 52 h 56"/>
                <a:gd name="T22" fmla="*/ 36 w 40"/>
                <a:gd name="T23" fmla="*/ 54 h 56"/>
                <a:gd name="T24" fmla="*/ 40 w 40"/>
                <a:gd name="T25" fmla="*/ 54 h 56"/>
                <a:gd name="T26" fmla="*/ 22 w 40"/>
                <a:gd name="T27" fmla="*/ 56 h 56"/>
                <a:gd name="T28" fmla="*/ 24 w 40"/>
                <a:gd name="T29" fmla="*/ 54 h 56"/>
                <a:gd name="T30" fmla="*/ 24 w 40"/>
                <a:gd name="T31" fmla="*/ 54 h 56"/>
                <a:gd name="T32" fmla="*/ 24 w 40"/>
                <a:gd name="T33" fmla="*/ 52 h 56"/>
                <a:gd name="T34" fmla="*/ 12 w 40"/>
                <a:gd name="T35" fmla="*/ 36 h 56"/>
                <a:gd name="T36" fmla="*/ 12 w 40"/>
                <a:gd name="T37" fmla="*/ 50 h 56"/>
                <a:gd name="T38" fmla="*/ 12 w 40"/>
                <a:gd name="T39" fmla="*/ 54 h 56"/>
                <a:gd name="T40" fmla="*/ 14 w 40"/>
                <a:gd name="T41" fmla="*/ 54 h 56"/>
                <a:gd name="T42" fmla="*/ 16 w 40"/>
                <a:gd name="T43" fmla="*/ 56 h 56"/>
                <a:gd name="T44" fmla="*/ 0 w 40"/>
                <a:gd name="T45" fmla="*/ 56 h 56"/>
                <a:gd name="T46" fmla="*/ 4 w 40"/>
                <a:gd name="T47" fmla="*/ 54 h 56"/>
                <a:gd name="T48" fmla="*/ 4 w 40"/>
                <a:gd name="T49" fmla="*/ 52 h 56"/>
                <a:gd name="T50" fmla="*/ 6 w 40"/>
                <a:gd name="T51" fmla="*/ 48 h 56"/>
                <a:gd name="T52" fmla="*/ 6 w 40"/>
                <a:gd name="T53" fmla="*/ 10 h 56"/>
                <a:gd name="T54" fmla="*/ 4 w 40"/>
                <a:gd name="T55" fmla="*/ 6 h 56"/>
                <a:gd name="T56" fmla="*/ 4 w 40"/>
                <a:gd name="T57" fmla="*/ 4 h 56"/>
                <a:gd name="T58" fmla="*/ 2 w 40"/>
                <a:gd name="T59" fmla="*/ 4 h 56"/>
                <a:gd name="T60" fmla="*/ 0 w 40"/>
                <a:gd name="T61" fmla="*/ 4 h 56"/>
                <a:gd name="T62" fmla="*/ 12 w 40"/>
                <a:gd name="T63" fmla="*/ 0 h 5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40"/>
                <a:gd name="T97" fmla="*/ 0 h 56"/>
                <a:gd name="T98" fmla="*/ 40 w 40"/>
                <a:gd name="T99" fmla="*/ 56 h 5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40" h="56">
                  <a:moveTo>
                    <a:pt x="12" y="0"/>
                  </a:moveTo>
                  <a:lnTo>
                    <a:pt x="12" y="36"/>
                  </a:lnTo>
                  <a:lnTo>
                    <a:pt x="22" y="28"/>
                  </a:lnTo>
                  <a:lnTo>
                    <a:pt x="24" y="26"/>
                  </a:lnTo>
                  <a:lnTo>
                    <a:pt x="26" y="24"/>
                  </a:lnTo>
                  <a:lnTo>
                    <a:pt x="26" y="22"/>
                  </a:lnTo>
                  <a:lnTo>
                    <a:pt x="24" y="22"/>
                  </a:lnTo>
                  <a:lnTo>
                    <a:pt x="22" y="20"/>
                  </a:lnTo>
                  <a:lnTo>
                    <a:pt x="38" y="20"/>
                  </a:lnTo>
                  <a:lnTo>
                    <a:pt x="34" y="22"/>
                  </a:lnTo>
                  <a:lnTo>
                    <a:pt x="32" y="22"/>
                  </a:lnTo>
                  <a:lnTo>
                    <a:pt x="30" y="24"/>
                  </a:lnTo>
                  <a:lnTo>
                    <a:pt x="28" y="26"/>
                  </a:lnTo>
                  <a:lnTo>
                    <a:pt x="18" y="34"/>
                  </a:lnTo>
                  <a:lnTo>
                    <a:pt x="28" y="46"/>
                  </a:lnTo>
                  <a:lnTo>
                    <a:pt x="32" y="50"/>
                  </a:lnTo>
                  <a:lnTo>
                    <a:pt x="34" y="52"/>
                  </a:lnTo>
                  <a:lnTo>
                    <a:pt x="34" y="54"/>
                  </a:lnTo>
                  <a:lnTo>
                    <a:pt x="36" y="54"/>
                  </a:lnTo>
                  <a:lnTo>
                    <a:pt x="38" y="54"/>
                  </a:lnTo>
                  <a:lnTo>
                    <a:pt x="40" y="54"/>
                  </a:lnTo>
                  <a:lnTo>
                    <a:pt x="40" y="56"/>
                  </a:lnTo>
                  <a:lnTo>
                    <a:pt x="22" y="56"/>
                  </a:lnTo>
                  <a:lnTo>
                    <a:pt x="24" y="54"/>
                  </a:lnTo>
                  <a:lnTo>
                    <a:pt x="26" y="54"/>
                  </a:lnTo>
                  <a:lnTo>
                    <a:pt x="24" y="52"/>
                  </a:lnTo>
                  <a:lnTo>
                    <a:pt x="24" y="50"/>
                  </a:lnTo>
                  <a:lnTo>
                    <a:pt x="12" y="36"/>
                  </a:lnTo>
                  <a:lnTo>
                    <a:pt x="12" y="48"/>
                  </a:lnTo>
                  <a:lnTo>
                    <a:pt x="12" y="50"/>
                  </a:lnTo>
                  <a:lnTo>
                    <a:pt x="12" y="52"/>
                  </a:lnTo>
                  <a:lnTo>
                    <a:pt x="12" y="54"/>
                  </a:lnTo>
                  <a:lnTo>
                    <a:pt x="14" y="54"/>
                  </a:lnTo>
                  <a:lnTo>
                    <a:pt x="16" y="56"/>
                  </a:lnTo>
                  <a:lnTo>
                    <a:pt x="0" y="56"/>
                  </a:lnTo>
                  <a:lnTo>
                    <a:pt x="2" y="54"/>
                  </a:lnTo>
                  <a:lnTo>
                    <a:pt x="4" y="54"/>
                  </a:lnTo>
                  <a:lnTo>
                    <a:pt x="4" y="52"/>
                  </a:lnTo>
                  <a:lnTo>
                    <a:pt x="6" y="50"/>
                  </a:lnTo>
                  <a:lnTo>
                    <a:pt x="6" y="48"/>
                  </a:lnTo>
                  <a:lnTo>
                    <a:pt x="6" y="16"/>
                  </a:lnTo>
                  <a:lnTo>
                    <a:pt x="6" y="10"/>
                  </a:lnTo>
                  <a:lnTo>
                    <a:pt x="6" y="6"/>
                  </a:lnTo>
                  <a:lnTo>
                    <a:pt x="4" y="6"/>
                  </a:lnTo>
                  <a:lnTo>
                    <a:pt x="4" y="4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4"/>
                  </a:lnTo>
                  <a:lnTo>
                    <a:pt x="10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06" name="Freeform 86"/>
            <p:cNvSpPr/>
            <p:nvPr/>
          </p:nvSpPr>
          <p:spPr bwMode="auto">
            <a:xfrm>
              <a:off x="2946" y="2622"/>
              <a:ext cx="24" cy="36"/>
            </a:xfrm>
            <a:custGeom>
              <a:avLst/>
              <a:gdLst>
                <a:gd name="T0" fmla="*/ 22 w 24"/>
                <a:gd name="T1" fmla="*/ 0 h 36"/>
                <a:gd name="T2" fmla="*/ 22 w 24"/>
                <a:gd name="T3" fmla="*/ 12 h 36"/>
                <a:gd name="T4" fmla="*/ 20 w 24"/>
                <a:gd name="T5" fmla="*/ 12 h 36"/>
                <a:gd name="T6" fmla="*/ 18 w 24"/>
                <a:gd name="T7" fmla="*/ 6 h 36"/>
                <a:gd name="T8" fmla="*/ 16 w 24"/>
                <a:gd name="T9" fmla="*/ 4 h 36"/>
                <a:gd name="T10" fmla="*/ 14 w 24"/>
                <a:gd name="T11" fmla="*/ 2 h 36"/>
                <a:gd name="T12" fmla="*/ 10 w 24"/>
                <a:gd name="T13" fmla="*/ 2 h 36"/>
                <a:gd name="T14" fmla="*/ 8 w 24"/>
                <a:gd name="T15" fmla="*/ 2 h 36"/>
                <a:gd name="T16" fmla="*/ 6 w 24"/>
                <a:gd name="T17" fmla="*/ 4 h 36"/>
                <a:gd name="T18" fmla="*/ 6 w 24"/>
                <a:gd name="T19" fmla="*/ 4 h 36"/>
                <a:gd name="T20" fmla="*/ 4 w 24"/>
                <a:gd name="T21" fmla="*/ 6 h 36"/>
                <a:gd name="T22" fmla="*/ 4 w 24"/>
                <a:gd name="T23" fmla="*/ 8 h 36"/>
                <a:gd name="T24" fmla="*/ 6 w 24"/>
                <a:gd name="T25" fmla="*/ 10 h 36"/>
                <a:gd name="T26" fmla="*/ 8 w 24"/>
                <a:gd name="T27" fmla="*/ 12 h 36"/>
                <a:gd name="T28" fmla="*/ 10 w 24"/>
                <a:gd name="T29" fmla="*/ 14 h 36"/>
                <a:gd name="T30" fmla="*/ 16 w 24"/>
                <a:gd name="T31" fmla="*/ 16 h 36"/>
                <a:gd name="T32" fmla="*/ 20 w 24"/>
                <a:gd name="T33" fmla="*/ 18 h 36"/>
                <a:gd name="T34" fmla="*/ 22 w 24"/>
                <a:gd name="T35" fmla="*/ 22 h 36"/>
                <a:gd name="T36" fmla="*/ 24 w 24"/>
                <a:gd name="T37" fmla="*/ 26 h 36"/>
                <a:gd name="T38" fmla="*/ 22 w 24"/>
                <a:gd name="T39" fmla="*/ 30 h 36"/>
                <a:gd name="T40" fmla="*/ 20 w 24"/>
                <a:gd name="T41" fmla="*/ 34 h 36"/>
                <a:gd name="T42" fmla="*/ 16 w 24"/>
                <a:gd name="T43" fmla="*/ 36 h 36"/>
                <a:gd name="T44" fmla="*/ 12 w 24"/>
                <a:gd name="T45" fmla="*/ 36 h 36"/>
                <a:gd name="T46" fmla="*/ 8 w 24"/>
                <a:gd name="T47" fmla="*/ 36 h 36"/>
                <a:gd name="T48" fmla="*/ 4 w 24"/>
                <a:gd name="T49" fmla="*/ 36 h 36"/>
                <a:gd name="T50" fmla="*/ 2 w 24"/>
                <a:gd name="T51" fmla="*/ 36 h 36"/>
                <a:gd name="T52" fmla="*/ 2 w 24"/>
                <a:gd name="T53" fmla="*/ 36 h 36"/>
                <a:gd name="T54" fmla="*/ 2 w 24"/>
                <a:gd name="T55" fmla="*/ 36 h 36"/>
                <a:gd name="T56" fmla="*/ 0 w 24"/>
                <a:gd name="T57" fmla="*/ 36 h 36"/>
                <a:gd name="T58" fmla="*/ 0 w 24"/>
                <a:gd name="T59" fmla="*/ 36 h 36"/>
                <a:gd name="T60" fmla="*/ 0 w 24"/>
                <a:gd name="T61" fmla="*/ 24 h 36"/>
                <a:gd name="T62" fmla="*/ 0 w 24"/>
                <a:gd name="T63" fmla="*/ 24 h 36"/>
                <a:gd name="T64" fmla="*/ 2 w 24"/>
                <a:gd name="T65" fmla="*/ 28 h 36"/>
                <a:gd name="T66" fmla="*/ 4 w 24"/>
                <a:gd name="T67" fmla="*/ 32 h 36"/>
                <a:gd name="T68" fmla="*/ 8 w 24"/>
                <a:gd name="T69" fmla="*/ 34 h 36"/>
                <a:gd name="T70" fmla="*/ 12 w 24"/>
                <a:gd name="T71" fmla="*/ 34 h 36"/>
                <a:gd name="T72" fmla="*/ 14 w 24"/>
                <a:gd name="T73" fmla="*/ 34 h 36"/>
                <a:gd name="T74" fmla="*/ 16 w 24"/>
                <a:gd name="T75" fmla="*/ 32 h 36"/>
                <a:gd name="T76" fmla="*/ 18 w 24"/>
                <a:gd name="T77" fmla="*/ 30 h 36"/>
                <a:gd name="T78" fmla="*/ 18 w 24"/>
                <a:gd name="T79" fmla="*/ 28 h 36"/>
                <a:gd name="T80" fmla="*/ 18 w 24"/>
                <a:gd name="T81" fmla="*/ 26 h 36"/>
                <a:gd name="T82" fmla="*/ 16 w 24"/>
                <a:gd name="T83" fmla="*/ 24 h 36"/>
                <a:gd name="T84" fmla="*/ 14 w 24"/>
                <a:gd name="T85" fmla="*/ 22 h 36"/>
                <a:gd name="T86" fmla="*/ 8 w 24"/>
                <a:gd name="T87" fmla="*/ 20 h 36"/>
                <a:gd name="T88" fmla="*/ 4 w 24"/>
                <a:gd name="T89" fmla="*/ 18 h 36"/>
                <a:gd name="T90" fmla="*/ 2 w 24"/>
                <a:gd name="T91" fmla="*/ 14 h 36"/>
                <a:gd name="T92" fmla="*/ 0 w 24"/>
                <a:gd name="T93" fmla="*/ 12 h 36"/>
                <a:gd name="T94" fmla="*/ 0 w 24"/>
                <a:gd name="T95" fmla="*/ 10 h 36"/>
                <a:gd name="T96" fmla="*/ 0 w 24"/>
                <a:gd name="T97" fmla="*/ 6 h 36"/>
                <a:gd name="T98" fmla="*/ 2 w 24"/>
                <a:gd name="T99" fmla="*/ 2 h 36"/>
                <a:gd name="T100" fmla="*/ 6 w 24"/>
                <a:gd name="T101" fmla="*/ 0 h 36"/>
                <a:gd name="T102" fmla="*/ 10 w 24"/>
                <a:gd name="T103" fmla="*/ 0 h 36"/>
                <a:gd name="T104" fmla="*/ 14 w 24"/>
                <a:gd name="T105" fmla="*/ 0 h 36"/>
                <a:gd name="T106" fmla="*/ 16 w 24"/>
                <a:gd name="T107" fmla="*/ 0 h 36"/>
                <a:gd name="T108" fmla="*/ 18 w 24"/>
                <a:gd name="T109" fmla="*/ 0 h 36"/>
                <a:gd name="T110" fmla="*/ 18 w 24"/>
                <a:gd name="T111" fmla="*/ 0 h 36"/>
                <a:gd name="T112" fmla="*/ 20 w 24"/>
                <a:gd name="T113" fmla="*/ 0 h 36"/>
                <a:gd name="T114" fmla="*/ 20 w 24"/>
                <a:gd name="T115" fmla="*/ 0 h 36"/>
                <a:gd name="T116" fmla="*/ 20 w 24"/>
                <a:gd name="T117" fmla="*/ 0 h 36"/>
                <a:gd name="T118" fmla="*/ 20 w 24"/>
                <a:gd name="T119" fmla="*/ 0 h 36"/>
                <a:gd name="T120" fmla="*/ 22 w 24"/>
                <a:gd name="T121" fmla="*/ 0 h 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4"/>
                <a:gd name="T184" fmla="*/ 0 h 36"/>
                <a:gd name="T185" fmla="*/ 24 w 24"/>
                <a:gd name="T186" fmla="*/ 36 h 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4" h="36">
                  <a:moveTo>
                    <a:pt x="22" y="0"/>
                  </a:moveTo>
                  <a:lnTo>
                    <a:pt x="22" y="12"/>
                  </a:lnTo>
                  <a:lnTo>
                    <a:pt x="20" y="12"/>
                  </a:lnTo>
                  <a:lnTo>
                    <a:pt x="18" y="6"/>
                  </a:lnTo>
                  <a:lnTo>
                    <a:pt x="16" y="4"/>
                  </a:lnTo>
                  <a:lnTo>
                    <a:pt x="14" y="2"/>
                  </a:lnTo>
                  <a:lnTo>
                    <a:pt x="10" y="2"/>
                  </a:lnTo>
                  <a:lnTo>
                    <a:pt x="8" y="2"/>
                  </a:lnTo>
                  <a:lnTo>
                    <a:pt x="6" y="4"/>
                  </a:lnTo>
                  <a:lnTo>
                    <a:pt x="4" y="6"/>
                  </a:lnTo>
                  <a:lnTo>
                    <a:pt x="4" y="8"/>
                  </a:lnTo>
                  <a:lnTo>
                    <a:pt x="6" y="10"/>
                  </a:lnTo>
                  <a:lnTo>
                    <a:pt x="8" y="12"/>
                  </a:lnTo>
                  <a:lnTo>
                    <a:pt x="10" y="14"/>
                  </a:lnTo>
                  <a:lnTo>
                    <a:pt x="16" y="16"/>
                  </a:lnTo>
                  <a:lnTo>
                    <a:pt x="20" y="18"/>
                  </a:lnTo>
                  <a:lnTo>
                    <a:pt x="22" y="22"/>
                  </a:lnTo>
                  <a:lnTo>
                    <a:pt x="24" y="26"/>
                  </a:lnTo>
                  <a:lnTo>
                    <a:pt x="22" y="30"/>
                  </a:lnTo>
                  <a:lnTo>
                    <a:pt x="20" y="34"/>
                  </a:lnTo>
                  <a:lnTo>
                    <a:pt x="16" y="36"/>
                  </a:lnTo>
                  <a:lnTo>
                    <a:pt x="12" y="36"/>
                  </a:lnTo>
                  <a:lnTo>
                    <a:pt x="8" y="36"/>
                  </a:lnTo>
                  <a:lnTo>
                    <a:pt x="4" y="36"/>
                  </a:lnTo>
                  <a:lnTo>
                    <a:pt x="2" y="36"/>
                  </a:lnTo>
                  <a:lnTo>
                    <a:pt x="0" y="36"/>
                  </a:lnTo>
                  <a:lnTo>
                    <a:pt x="0" y="24"/>
                  </a:lnTo>
                  <a:lnTo>
                    <a:pt x="2" y="28"/>
                  </a:lnTo>
                  <a:lnTo>
                    <a:pt x="4" y="32"/>
                  </a:lnTo>
                  <a:lnTo>
                    <a:pt x="8" y="34"/>
                  </a:lnTo>
                  <a:lnTo>
                    <a:pt x="12" y="34"/>
                  </a:lnTo>
                  <a:lnTo>
                    <a:pt x="14" y="34"/>
                  </a:lnTo>
                  <a:lnTo>
                    <a:pt x="16" y="32"/>
                  </a:lnTo>
                  <a:lnTo>
                    <a:pt x="18" y="30"/>
                  </a:lnTo>
                  <a:lnTo>
                    <a:pt x="18" y="28"/>
                  </a:lnTo>
                  <a:lnTo>
                    <a:pt x="18" y="26"/>
                  </a:lnTo>
                  <a:lnTo>
                    <a:pt x="16" y="24"/>
                  </a:lnTo>
                  <a:lnTo>
                    <a:pt x="14" y="22"/>
                  </a:lnTo>
                  <a:lnTo>
                    <a:pt x="8" y="20"/>
                  </a:lnTo>
                  <a:lnTo>
                    <a:pt x="4" y="18"/>
                  </a:lnTo>
                  <a:lnTo>
                    <a:pt x="2" y="14"/>
                  </a:lnTo>
                  <a:lnTo>
                    <a:pt x="0" y="12"/>
                  </a:lnTo>
                  <a:lnTo>
                    <a:pt x="0" y="10"/>
                  </a:ln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0"/>
                  </a:lnTo>
                  <a:lnTo>
                    <a:pt x="14" y="0"/>
                  </a:lnTo>
                  <a:lnTo>
                    <a:pt x="16" y="0"/>
                  </a:lnTo>
                  <a:lnTo>
                    <a:pt x="18" y="0"/>
                  </a:lnTo>
                  <a:lnTo>
                    <a:pt x="20" y="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07" name="Freeform 87"/>
            <p:cNvSpPr/>
            <p:nvPr/>
          </p:nvSpPr>
          <p:spPr bwMode="auto">
            <a:xfrm>
              <a:off x="2974" y="2602"/>
              <a:ext cx="22" cy="72"/>
            </a:xfrm>
            <a:custGeom>
              <a:avLst/>
              <a:gdLst>
                <a:gd name="T0" fmla="*/ 0 w 22"/>
                <a:gd name="T1" fmla="*/ 2 h 72"/>
                <a:gd name="T2" fmla="*/ 0 w 22"/>
                <a:gd name="T3" fmla="*/ 0 h 72"/>
                <a:gd name="T4" fmla="*/ 6 w 22"/>
                <a:gd name="T5" fmla="*/ 4 h 72"/>
                <a:gd name="T6" fmla="*/ 10 w 22"/>
                <a:gd name="T7" fmla="*/ 8 h 72"/>
                <a:gd name="T8" fmla="*/ 14 w 22"/>
                <a:gd name="T9" fmla="*/ 14 h 72"/>
                <a:gd name="T10" fmla="*/ 18 w 22"/>
                <a:gd name="T11" fmla="*/ 20 h 72"/>
                <a:gd name="T12" fmla="*/ 20 w 22"/>
                <a:gd name="T13" fmla="*/ 28 h 72"/>
                <a:gd name="T14" fmla="*/ 22 w 22"/>
                <a:gd name="T15" fmla="*/ 36 h 72"/>
                <a:gd name="T16" fmla="*/ 20 w 22"/>
                <a:gd name="T17" fmla="*/ 44 h 72"/>
                <a:gd name="T18" fmla="*/ 18 w 22"/>
                <a:gd name="T19" fmla="*/ 52 h 72"/>
                <a:gd name="T20" fmla="*/ 16 w 22"/>
                <a:gd name="T21" fmla="*/ 58 h 72"/>
                <a:gd name="T22" fmla="*/ 12 w 22"/>
                <a:gd name="T23" fmla="*/ 64 h 72"/>
                <a:gd name="T24" fmla="*/ 6 w 22"/>
                <a:gd name="T25" fmla="*/ 70 h 72"/>
                <a:gd name="T26" fmla="*/ 0 w 22"/>
                <a:gd name="T27" fmla="*/ 72 h 72"/>
                <a:gd name="T28" fmla="*/ 0 w 22"/>
                <a:gd name="T29" fmla="*/ 70 h 72"/>
                <a:gd name="T30" fmla="*/ 4 w 22"/>
                <a:gd name="T31" fmla="*/ 68 h 72"/>
                <a:gd name="T32" fmla="*/ 8 w 22"/>
                <a:gd name="T33" fmla="*/ 64 h 72"/>
                <a:gd name="T34" fmla="*/ 10 w 22"/>
                <a:gd name="T35" fmla="*/ 58 h 72"/>
                <a:gd name="T36" fmla="*/ 12 w 22"/>
                <a:gd name="T37" fmla="*/ 52 h 72"/>
                <a:gd name="T38" fmla="*/ 14 w 22"/>
                <a:gd name="T39" fmla="*/ 46 h 72"/>
                <a:gd name="T40" fmla="*/ 14 w 22"/>
                <a:gd name="T41" fmla="*/ 38 h 72"/>
                <a:gd name="T42" fmla="*/ 14 w 22"/>
                <a:gd name="T43" fmla="*/ 30 h 72"/>
                <a:gd name="T44" fmla="*/ 12 w 22"/>
                <a:gd name="T45" fmla="*/ 22 h 72"/>
                <a:gd name="T46" fmla="*/ 12 w 22"/>
                <a:gd name="T47" fmla="*/ 18 h 72"/>
                <a:gd name="T48" fmla="*/ 10 w 22"/>
                <a:gd name="T49" fmla="*/ 14 h 72"/>
                <a:gd name="T50" fmla="*/ 8 w 22"/>
                <a:gd name="T51" fmla="*/ 12 h 72"/>
                <a:gd name="T52" fmla="*/ 6 w 22"/>
                <a:gd name="T53" fmla="*/ 8 h 72"/>
                <a:gd name="T54" fmla="*/ 4 w 22"/>
                <a:gd name="T55" fmla="*/ 6 h 72"/>
                <a:gd name="T56" fmla="*/ 0 w 22"/>
                <a:gd name="T57" fmla="*/ 2 h 7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2"/>
                <a:gd name="T88" fmla="*/ 0 h 72"/>
                <a:gd name="T89" fmla="*/ 22 w 22"/>
                <a:gd name="T90" fmla="*/ 72 h 7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2" h="72">
                  <a:moveTo>
                    <a:pt x="0" y="2"/>
                  </a:moveTo>
                  <a:lnTo>
                    <a:pt x="0" y="0"/>
                  </a:lnTo>
                  <a:lnTo>
                    <a:pt x="6" y="4"/>
                  </a:lnTo>
                  <a:lnTo>
                    <a:pt x="10" y="8"/>
                  </a:lnTo>
                  <a:lnTo>
                    <a:pt x="14" y="14"/>
                  </a:lnTo>
                  <a:lnTo>
                    <a:pt x="18" y="20"/>
                  </a:lnTo>
                  <a:lnTo>
                    <a:pt x="20" y="28"/>
                  </a:lnTo>
                  <a:lnTo>
                    <a:pt x="22" y="36"/>
                  </a:lnTo>
                  <a:lnTo>
                    <a:pt x="20" y="44"/>
                  </a:lnTo>
                  <a:lnTo>
                    <a:pt x="18" y="52"/>
                  </a:lnTo>
                  <a:lnTo>
                    <a:pt x="16" y="58"/>
                  </a:lnTo>
                  <a:lnTo>
                    <a:pt x="12" y="64"/>
                  </a:lnTo>
                  <a:lnTo>
                    <a:pt x="6" y="70"/>
                  </a:lnTo>
                  <a:lnTo>
                    <a:pt x="0" y="72"/>
                  </a:lnTo>
                  <a:lnTo>
                    <a:pt x="0" y="70"/>
                  </a:lnTo>
                  <a:lnTo>
                    <a:pt x="4" y="68"/>
                  </a:lnTo>
                  <a:lnTo>
                    <a:pt x="8" y="64"/>
                  </a:lnTo>
                  <a:lnTo>
                    <a:pt x="10" y="58"/>
                  </a:lnTo>
                  <a:lnTo>
                    <a:pt x="12" y="52"/>
                  </a:lnTo>
                  <a:lnTo>
                    <a:pt x="14" y="46"/>
                  </a:lnTo>
                  <a:lnTo>
                    <a:pt x="14" y="38"/>
                  </a:lnTo>
                  <a:lnTo>
                    <a:pt x="14" y="30"/>
                  </a:lnTo>
                  <a:lnTo>
                    <a:pt x="12" y="22"/>
                  </a:lnTo>
                  <a:lnTo>
                    <a:pt x="12" y="18"/>
                  </a:lnTo>
                  <a:lnTo>
                    <a:pt x="10" y="14"/>
                  </a:lnTo>
                  <a:lnTo>
                    <a:pt x="8" y="12"/>
                  </a:lnTo>
                  <a:lnTo>
                    <a:pt x="6" y="8"/>
                  </a:lnTo>
                  <a:lnTo>
                    <a:pt x="4" y="6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08" name="Freeform 88"/>
            <p:cNvSpPr>
              <a:spLocks noEditPoints="1"/>
            </p:cNvSpPr>
            <p:nvPr/>
          </p:nvSpPr>
          <p:spPr bwMode="auto">
            <a:xfrm>
              <a:off x="3060" y="2604"/>
              <a:ext cx="42" cy="54"/>
            </a:xfrm>
            <a:custGeom>
              <a:avLst/>
              <a:gdLst>
                <a:gd name="T0" fmla="*/ 16 w 42"/>
                <a:gd name="T1" fmla="*/ 28 h 54"/>
                <a:gd name="T2" fmla="*/ 16 w 42"/>
                <a:gd name="T3" fmla="*/ 44 h 54"/>
                <a:gd name="T4" fmla="*/ 16 w 42"/>
                <a:gd name="T5" fmla="*/ 50 h 54"/>
                <a:gd name="T6" fmla="*/ 16 w 42"/>
                <a:gd name="T7" fmla="*/ 52 h 54"/>
                <a:gd name="T8" fmla="*/ 18 w 42"/>
                <a:gd name="T9" fmla="*/ 52 h 54"/>
                <a:gd name="T10" fmla="*/ 20 w 42"/>
                <a:gd name="T11" fmla="*/ 54 h 54"/>
                <a:gd name="T12" fmla="*/ 22 w 42"/>
                <a:gd name="T13" fmla="*/ 54 h 54"/>
                <a:gd name="T14" fmla="*/ 22 w 42"/>
                <a:gd name="T15" fmla="*/ 54 h 54"/>
                <a:gd name="T16" fmla="*/ 0 w 42"/>
                <a:gd name="T17" fmla="*/ 54 h 54"/>
                <a:gd name="T18" fmla="*/ 0 w 42"/>
                <a:gd name="T19" fmla="*/ 54 h 54"/>
                <a:gd name="T20" fmla="*/ 2 w 42"/>
                <a:gd name="T21" fmla="*/ 54 h 54"/>
                <a:gd name="T22" fmla="*/ 6 w 42"/>
                <a:gd name="T23" fmla="*/ 52 h 54"/>
                <a:gd name="T24" fmla="*/ 8 w 42"/>
                <a:gd name="T25" fmla="*/ 50 h 54"/>
                <a:gd name="T26" fmla="*/ 8 w 42"/>
                <a:gd name="T27" fmla="*/ 48 h 54"/>
                <a:gd name="T28" fmla="*/ 8 w 42"/>
                <a:gd name="T29" fmla="*/ 44 h 54"/>
                <a:gd name="T30" fmla="*/ 8 w 42"/>
                <a:gd name="T31" fmla="*/ 10 h 54"/>
                <a:gd name="T32" fmla="*/ 8 w 42"/>
                <a:gd name="T33" fmla="*/ 6 h 54"/>
                <a:gd name="T34" fmla="*/ 6 w 42"/>
                <a:gd name="T35" fmla="*/ 4 h 54"/>
                <a:gd name="T36" fmla="*/ 4 w 42"/>
                <a:gd name="T37" fmla="*/ 2 h 54"/>
                <a:gd name="T38" fmla="*/ 2 w 42"/>
                <a:gd name="T39" fmla="*/ 2 h 54"/>
                <a:gd name="T40" fmla="*/ 0 w 42"/>
                <a:gd name="T41" fmla="*/ 2 h 54"/>
                <a:gd name="T42" fmla="*/ 0 w 42"/>
                <a:gd name="T43" fmla="*/ 0 h 54"/>
                <a:gd name="T44" fmla="*/ 20 w 42"/>
                <a:gd name="T45" fmla="*/ 0 h 54"/>
                <a:gd name="T46" fmla="*/ 26 w 42"/>
                <a:gd name="T47" fmla="*/ 0 h 54"/>
                <a:gd name="T48" fmla="*/ 32 w 42"/>
                <a:gd name="T49" fmla="*/ 2 h 54"/>
                <a:gd name="T50" fmla="*/ 36 w 42"/>
                <a:gd name="T51" fmla="*/ 4 h 54"/>
                <a:gd name="T52" fmla="*/ 38 w 42"/>
                <a:gd name="T53" fmla="*/ 6 h 54"/>
                <a:gd name="T54" fmla="*/ 40 w 42"/>
                <a:gd name="T55" fmla="*/ 10 h 54"/>
                <a:gd name="T56" fmla="*/ 42 w 42"/>
                <a:gd name="T57" fmla="*/ 16 h 54"/>
                <a:gd name="T58" fmla="*/ 40 w 42"/>
                <a:gd name="T59" fmla="*/ 22 h 54"/>
                <a:gd name="T60" fmla="*/ 36 w 42"/>
                <a:gd name="T61" fmla="*/ 26 h 54"/>
                <a:gd name="T62" fmla="*/ 32 w 42"/>
                <a:gd name="T63" fmla="*/ 28 h 54"/>
                <a:gd name="T64" fmla="*/ 24 w 42"/>
                <a:gd name="T65" fmla="*/ 30 h 54"/>
                <a:gd name="T66" fmla="*/ 22 w 42"/>
                <a:gd name="T67" fmla="*/ 30 h 54"/>
                <a:gd name="T68" fmla="*/ 20 w 42"/>
                <a:gd name="T69" fmla="*/ 30 h 54"/>
                <a:gd name="T70" fmla="*/ 18 w 42"/>
                <a:gd name="T71" fmla="*/ 30 h 54"/>
                <a:gd name="T72" fmla="*/ 16 w 42"/>
                <a:gd name="T73" fmla="*/ 28 h 54"/>
                <a:gd name="T74" fmla="*/ 16 w 42"/>
                <a:gd name="T75" fmla="*/ 26 h 54"/>
                <a:gd name="T76" fmla="*/ 18 w 42"/>
                <a:gd name="T77" fmla="*/ 26 h 54"/>
                <a:gd name="T78" fmla="*/ 20 w 42"/>
                <a:gd name="T79" fmla="*/ 28 h 54"/>
                <a:gd name="T80" fmla="*/ 20 w 42"/>
                <a:gd name="T81" fmla="*/ 28 h 54"/>
                <a:gd name="T82" fmla="*/ 22 w 42"/>
                <a:gd name="T83" fmla="*/ 28 h 54"/>
                <a:gd name="T84" fmla="*/ 26 w 42"/>
                <a:gd name="T85" fmla="*/ 26 h 54"/>
                <a:gd name="T86" fmla="*/ 30 w 42"/>
                <a:gd name="T87" fmla="*/ 24 h 54"/>
                <a:gd name="T88" fmla="*/ 32 w 42"/>
                <a:gd name="T89" fmla="*/ 20 h 54"/>
                <a:gd name="T90" fmla="*/ 32 w 42"/>
                <a:gd name="T91" fmla="*/ 16 h 54"/>
                <a:gd name="T92" fmla="*/ 32 w 42"/>
                <a:gd name="T93" fmla="*/ 12 h 54"/>
                <a:gd name="T94" fmla="*/ 30 w 42"/>
                <a:gd name="T95" fmla="*/ 10 h 54"/>
                <a:gd name="T96" fmla="*/ 28 w 42"/>
                <a:gd name="T97" fmla="*/ 6 h 54"/>
                <a:gd name="T98" fmla="*/ 26 w 42"/>
                <a:gd name="T99" fmla="*/ 4 h 54"/>
                <a:gd name="T100" fmla="*/ 24 w 42"/>
                <a:gd name="T101" fmla="*/ 4 h 54"/>
                <a:gd name="T102" fmla="*/ 20 w 42"/>
                <a:gd name="T103" fmla="*/ 4 h 54"/>
                <a:gd name="T104" fmla="*/ 18 w 42"/>
                <a:gd name="T105" fmla="*/ 4 h 54"/>
                <a:gd name="T106" fmla="*/ 16 w 42"/>
                <a:gd name="T107" fmla="*/ 4 h 54"/>
                <a:gd name="T108" fmla="*/ 16 w 42"/>
                <a:gd name="T109" fmla="*/ 26 h 54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42"/>
                <a:gd name="T166" fmla="*/ 0 h 54"/>
                <a:gd name="T167" fmla="*/ 42 w 42"/>
                <a:gd name="T168" fmla="*/ 54 h 54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42" h="54">
                  <a:moveTo>
                    <a:pt x="16" y="28"/>
                  </a:moveTo>
                  <a:lnTo>
                    <a:pt x="16" y="44"/>
                  </a:lnTo>
                  <a:lnTo>
                    <a:pt x="16" y="50"/>
                  </a:lnTo>
                  <a:lnTo>
                    <a:pt x="16" y="52"/>
                  </a:lnTo>
                  <a:lnTo>
                    <a:pt x="18" y="52"/>
                  </a:lnTo>
                  <a:lnTo>
                    <a:pt x="20" y="54"/>
                  </a:lnTo>
                  <a:lnTo>
                    <a:pt x="22" y="54"/>
                  </a:lnTo>
                  <a:lnTo>
                    <a:pt x="0" y="54"/>
                  </a:lnTo>
                  <a:lnTo>
                    <a:pt x="2" y="54"/>
                  </a:lnTo>
                  <a:lnTo>
                    <a:pt x="6" y="52"/>
                  </a:lnTo>
                  <a:lnTo>
                    <a:pt x="8" y="50"/>
                  </a:lnTo>
                  <a:lnTo>
                    <a:pt x="8" y="48"/>
                  </a:lnTo>
                  <a:lnTo>
                    <a:pt x="8" y="44"/>
                  </a:lnTo>
                  <a:lnTo>
                    <a:pt x="8" y="10"/>
                  </a:lnTo>
                  <a:lnTo>
                    <a:pt x="8" y="6"/>
                  </a:lnTo>
                  <a:lnTo>
                    <a:pt x="6" y="4"/>
                  </a:lnTo>
                  <a:lnTo>
                    <a:pt x="4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20" y="0"/>
                  </a:lnTo>
                  <a:lnTo>
                    <a:pt x="26" y="0"/>
                  </a:lnTo>
                  <a:lnTo>
                    <a:pt x="32" y="2"/>
                  </a:lnTo>
                  <a:lnTo>
                    <a:pt x="36" y="4"/>
                  </a:lnTo>
                  <a:lnTo>
                    <a:pt x="38" y="6"/>
                  </a:lnTo>
                  <a:lnTo>
                    <a:pt x="40" y="10"/>
                  </a:lnTo>
                  <a:lnTo>
                    <a:pt x="42" y="16"/>
                  </a:lnTo>
                  <a:lnTo>
                    <a:pt x="40" y="22"/>
                  </a:lnTo>
                  <a:lnTo>
                    <a:pt x="36" y="26"/>
                  </a:lnTo>
                  <a:lnTo>
                    <a:pt x="32" y="28"/>
                  </a:lnTo>
                  <a:lnTo>
                    <a:pt x="24" y="30"/>
                  </a:lnTo>
                  <a:lnTo>
                    <a:pt x="22" y="30"/>
                  </a:lnTo>
                  <a:lnTo>
                    <a:pt x="20" y="30"/>
                  </a:lnTo>
                  <a:lnTo>
                    <a:pt x="18" y="30"/>
                  </a:lnTo>
                  <a:lnTo>
                    <a:pt x="16" y="28"/>
                  </a:lnTo>
                  <a:close/>
                  <a:moveTo>
                    <a:pt x="16" y="26"/>
                  </a:moveTo>
                  <a:lnTo>
                    <a:pt x="18" y="26"/>
                  </a:lnTo>
                  <a:lnTo>
                    <a:pt x="20" y="28"/>
                  </a:lnTo>
                  <a:lnTo>
                    <a:pt x="22" y="28"/>
                  </a:lnTo>
                  <a:lnTo>
                    <a:pt x="26" y="26"/>
                  </a:lnTo>
                  <a:lnTo>
                    <a:pt x="30" y="24"/>
                  </a:lnTo>
                  <a:lnTo>
                    <a:pt x="32" y="20"/>
                  </a:lnTo>
                  <a:lnTo>
                    <a:pt x="32" y="16"/>
                  </a:lnTo>
                  <a:lnTo>
                    <a:pt x="32" y="12"/>
                  </a:lnTo>
                  <a:lnTo>
                    <a:pt x="30" y="10"/>
                  </a:lnTo>
                  <a:lnTo>
                    <a:pt x="28" y="6"/>
                  </a:lnTo>
                  <a:lnTo>
                    <a:pt x="26" y="4"/>
                  </a:lnTo>
                  <a:lnTo>
                    <a:pt x="24" y="4"/>
                  </a:lnTo>
                  <a:lnTo>
                    <a:pt x="20" y="4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6" y="2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09" name="Freeform 89"/>
            <p:cNvSpPr/>
            <p:nvPr/>
          </p:nvSpPr>
          <p:spPr bwMode="auto">
            <a:xfrm>
              <a:off x="3108" y="2602"/>
              <a:ext cx="20" cy="72"/>
            </a:xfrm>
            <a:custGeom>
              <a:avLst/>
              <a:gdLst>
                <a:gd name="T0" fmla="*/ 20 w 20"/>
                <a:gd name="T1" fmla="*/ 70 h 72"/>
                <a:gd name="T2" fmla="*/ 20 w 20"/>
                <a:gd name="T3" fmla="*/ 72 h 72"/>
                <a:gd name="T4" fmla="*/ 16 w 20"/>
                <a:gd name="T5" fmla="*/ 70 h 72"/>
                <a:gd name="T6" fmla="*/ 10 w 20"/>
                <a:gd name="T7" fmla="*/ 66 h 72"/>
                <a:gd name="T8" fmla="*/ 6 w 20"/>
                <a:gd name="T9" fmla="*/ 60 h 72"/>
                <a:gd name="T10" fmla="*/ 2 w 20"/>
                <a:gd name="T11" fmla="*/ 52 h 72"/>
                <a:gd name="T12" fmla="*/ 0 w 20"/>
                <a:gd name="T13" fmla="*/ 44 h 72"/>
                <a:gd name="T14" fmla="*/ 0 w 20"/>
                <a:gd name="T15" fmla="*/ 36 h 72"/>
                <a:gd name="T16" fmla="*/ 0 w 20"/>
                <a:gd name="T17" fmla="*/ 30 h 72"/>
                <a:gd name="T18" fmla="*/ 2 w 20"/>
                <a:gd name="T19" fmla="*/ 22 h 72"/>
                <a:gd name="T20" fmla="*/ 6 w 20"/>
                <a:gd name="T21" fmla="*/ 16 h 72"/>
                <a:gd name="T22" fmla="*/ 10 w 20"/>
                <a:gd name="T23" fmla="*/ 10 h 72"/>
                <a:gd name="T24" fmla="*/ 14 w 20"/>
                <a:gd name="T25" fmla="*/ 4 h 72"/>
                <a:gd name="T26" fmla="*/ 20 w 20"/>
                <a:gd name="T27" fmla="*/ 0 h 72"/>
                <a:gd name="T28" fmla="*/ 20 w 20"/>
                <a:gd name="T29" fmla="*/ 2 h 72"/>
                <a:gd name="T30" fmla="*/ 16 w 20"/>
                <a:gd name="T31" fmla="*/ 6 h 72"/>
                <a:gd name="T32" fmla="*/ 12 w 20"/>
                <a:gd name="T33" fmla="*/ 10 h 72"/>
                <a:gd name="T34" fmla="*/ 10 w 20"/>
                <a:gd name="T35" fmla="*/ 14 h 72"/>
                <a:gd name="T36" fmla="*/ 8 w 20"/>
                <a:gd name="T37" fmla="*/ 22 h 72"/>
                <a:gd name="T38" fmla="*/ 6 w 20"/>
                <a:gd name="T39" fmla="*/ 28 h 72"/>
                <a:gd name="T40" fmla="*/ 6 w 20"/>
                <a:gd name="T41" fmla="*/ 36 h 72"/>
                <a:gd name="T42" fmla="*/ 6 w 20"/>
                <a:gd name="T43" fmla="*/ 44 h 72"/>
                <a:gd name="T44" fmla="*/ 8 w 20"/>
                <a:gd name="T45" fmla="*/ 50 h 72"/>
                <a:gd name="T46" fmla="*/ 8 w 20"/>
                <a:gd name="T47" fmla="*/ 56 h 72"/>
                <a:gd name="T48" fmla="*/ 10 w 20"/>
                <a:gd name="T49" fmla="*/ 60 h 72"/>
                <a:gd name="T50" fmla="*/ 12 w 20"/>
                <a:gd name="T51" fmla="*/ 62 h 72"/>
                <a:gd name="T52" fmla="*/ 14 w 20"/>
                <a:gd name="T53" fmla="*/ 66 h 72"/>
                <a:gd name="T54" fmla="*/ 18 w 20"/>
                <a:gd name="T55" fmla="*/ 68 h 72"/>
                <a:gd name="T56" fmla="*/ 20 w 20"/>
                <a:gd name="T57" fmla="*/ 70 h 7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0"/>
                <a:gd name="T88" fmla="*/ 0 h 72"/>
                <a:gd name="T89" fmla="*/ 20 w 20"/>
                <a:gd name="T90" fmla="*/ 72 h 7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0" h="72">
                  <a:moveTo>
                    <a:pt x="20" y="70"/>
                  </a:moveTo>
                  <a:lnTo>
                    <a:pt x="20" y="72"/>
                  </a:lnTo>
                  <a:lnTo>
                    <a:pt x="16" y="70"/>
                  </a:lnTo>
                  <a:lnTo>
                    <a:pt x="10" y="66"/>
                  </a:lnTo>
                  <a:lnTo>
                    <a:pt x="6" y="60"/>
                  </a:lnTo>
                  <a:lnTo>
                    <a:pt x="2" y="52"/>
                  </a:lnTo>
                  <a:lnTo>
                    <a:pt x="0" y="44"/>
                  </a:lnTo>
                  <a:lnTo>
                    <a:pt x="0" y="36"/>
                  </a:lnTo>
                  <a:lnTo>
                    <a:pt x="0" y="30"/>
                  </a:lnTo>
                  <a:lnTo>
                    <a:pt x="2" y="22"/>
                  </a:lnTo>
                  <a:lnTo>
                    <a:pt x="6" y="16"/>
                  </a:lnTo>
                  <a:lnTo>
                    <a:pt x="10" y="10"/>
                  </a:lnTo>
                  <a:lnTo>
                    <a:pt x="14" y="4"/>
                  </a:lnTo>
                  <a:lnTo>
                    <a:pt x="20" y="0"/>
                  </a:lnTo>
                  <a:lnTo>
                    <a:pt x="20" y="2"/>
                  </a:lnTo>
                  <a:lnTo>
                    <a:pt x="16" y="6"/>
                  </a:lnTo>
                  <a:lnTo>
                    <a:pt x="12" y="10"/>
                  </a:lnTo>
                  <a:lnTo>
                    <a:pt x="10" y="14"/>
                  </a:lnTo>
                  <a:lnTo>
                    <a:pt x="8" y="22"/>
                  </a:lnTo>
                  <a:lnTo>
                    <a:pt x="6" y="28"/>
                  </a:lnTo>
                  <a:lnTo>
                    <a:pt x="6" y="36"/>
                  </a:lnTo>
                  <a:lnTo>
                    <a:pt x="6" y="44"/>
                  </a:lnTo>
                  <a:lnTo>
                    <a:pt x="8" y="50"/>
                  </a:lnTo>
                  <a:lnTo>
                    <a:pt x="8" y="56"/>
                  </a:lnTo>
                  <a:lnTo>
                    <a:pt x="10" y="60"/>
                  </a:lnTo>
                  <a:lnTo>
                    <a:pt x="12" y="62"/>
                  </a:lnTo>
                  <a:lnTo>
                    <a:pt x="14" y="66"/>
                  </a:lnTo>
                  <a:lnTo>
                    <a:pt x="18" y="68"/>
                  </a:lnTo>
                  <a:lnTo>
                    <a:pt x="20" y="7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10" name="Freeform 90"/>
            <p:cNvSpPr>
              <a:spLocks noEditPoints="1"/>
            </p:cNvSpPr>
            <p:nvPr/>
          </p:nvSpPr>
          <p:spPr bwMode="auto">
            <a:xfrm>
              <a:off x="3134" y="2602"/>
              <a:ext cx="16" cy="56"/>
            </a:xfrm>
            <a:custGeom>
              <a:avLst/>
              <a:gdLst>
                <a:gd name="T0" fmla="*/ 8 w 16"/>
                <a:gd name="T1" fmla="*/ 0 h 56"/>
                <a:gd name="T2" fmla="*/ 10 w 16"/>
                <a:gd name="T3" fmla="*/ 0 h 56"/>
                <a:gd name="T4" fmla="*/ 10 w 16"/>
                <a:gd name="T5" fmla="*/ 2 h 56"/>
                <a:gd name="T6" fmla="*/ 12 w 16"/>
                <a:gd name="T7" fmla="*/ 2 h 56"/>
                <a:gd name="T8" fmla="*/ 12 w 16"/>
                <a:gd name="T9" fmla="*/ 4 h 56"/>
                <a:gd name="T10" fmla="*/ 12 w 16"/>
                <a:gd name="T11" fmla="*/ 6 h 56"/>
                <a:gd name="T12" fmla="*/ 10 w 16"/>
                <a:gd name="T13" fmla="*/ 8 h 56"/>
                <a:gd name="T14" fmla="*/ 10 w 16"/>
                <a:gd name="T15" fmla="*/ 8 h 56"/>
                <a:gd name="T16" fmla="*/ 8 w 16"/>
                <a:gd name="T17" fmla="*/ 10 h 56"/>
                <a:gd name="T18" fmla="*/ 6 w 16"/>
                <a:gd name="T19" fmla="*/ 8 h 56"/>
                <a:gd name="T20" fmla="*/ 4 w 16"/>
                <a:gd name="T21" fmla="*/ 8 h 56"/>
                <a:gd name="T22" fmla="*/ 4 w 16"/>
                <a:gd name="T23" fmla="*/ 6 h 56"/>
                <a:gd name="T24" fmla="*/ 4 w 16"/>
                <a:gd name="T25" fmla="*/ 4 h 56"/>
                <a:gd name="T26" fmla="*/ 4 w 16"/>
                <a:gd name="T27" fmla="*/ 2 h 56"/>
                <a:gd name="T28" fmla="*/ 4 w 16"/>
                <a:gd name="T29" fmla="*/ 2 h 56"/>
                <a:gd name="T30" fmla="*/ 6 w 16"/>
                <a:gd name="T31" fmla="*/ 0 h 56"/>
                <a:gd name="T32" fmla="*/ 8 w 16"/>
                <a:gd name="T33" fmla="*/ 0 h 56"/>
                <a:gd name="T34" fmla="*/ 12 w 16"/>
                <a:gd name="T35" fmla="*/ 20 h 56"/>
                <a:gd name="T36" fmla="*/ 12 w 16"/>
                <a:gd name="T37" fmla="*/ 48 h 56"/>
                <a:gd name="T38" fmla="*/ 12 w 16"/>
                <a:gd name="T39" fmla="*/ 50 h 56"/>
                <a:gd name="T40" fmla="*/ 12 w 16"/>
                <a:gd name="T41" fmla="*/ 52 h 56"/>
                <a:gd name="T42" fmla="*/ 12 w 16"/>
                <a:gd name="T43" fmla="*/ 54 h 56"/>
                <a:gd name="T44" fmla="*/ 14 w 16"/>
                <a:gd name="T45" fmla="*/ 54 h 56"/>
                <a:gd name="T46" fmla="*/ 14 w 16"/>
                <a:gd name="T47" fmla="*/ 54 h 56"/>
                <a:gd name="T48" fmla="*/ 16 w 16"/>
                <a:gd name="T49" fmla="*/ 56 h 56"/>
                <a:gd name="T50" fmla="*/ 16 w 16"/>
                <a:gd name="T51" fmla="*/ 56 h 56"/>
                <a:gd name="T52" fmla="*/ 0 w 16"/>
                <a:gd name="T53" fmla="*/ 56 h 56"/>
                <a:gd name="T54" fmla="*/ 0 w 16"/>
                <a:gd name="T55" fmla="*/ 56 h 56"/>
                <a:gd name="T56" fmla="*/ 2 w 16"/>
                <a:gd name="T57" fmla="*/ 54 h 56"/>
                <a:gd name="T58" fmla="*/ 2 w 16"/>
                <a:gd name="T59" fmla="*/ 54 h 56"/>
                <a:gd name="T60" fmla="*/ 4 w 16"/>
                <a:gd name="T61" fmla="*/ 54 h 56"/>
                <a:gd name="T62" fmla="*/ 4 w 16"/>
                <a:gd name="T63" fmla="*/ 52 h 56"/>
                <a:gd name="T64" fmla="*/ 4 w 16"/>
                <a:gd name="T65" fmla="*/ 50 h 56"/>
                <a:gd name="T66" fmla="*/ 4 w 16"/>
                <a:gd name="T67" fmla="*/ 48 h 56"/>
                <a:gd name="T68" fmla="*/ 4 w 16"/>
                <a:gd name="T69" fmla="*/ 34 h 56"/>
                <a:gd name="T70" fmla="*/ 4 w 16"/>
                <a:gd name="T71" fmla="*/ 30 h 56"/>
                <a:gd name="T72" fmla="*/ 4 w 16"/>
                <a:gd name="T73" fmla="*/ 26 h 56"/>
                <a:gd name="T74" fmla="*/ 4 w 16"/>
                <a:gd name="T75" fmla="*/ 24 h 56"/>
                <a:gd name="T76" fmla="*/ 4 w 16"/>
                <a:gd name="T77" fmla="*/ 24 h 56"/>
                <a:gd name="T78" fmla="*/ 4 w 16"/>
                <a:gd name="T79" fmla="*/ 24 h 56"/>
                <a:gd name="T80" fmla="*/ 2 w 16"/>
                <a:gd name="T81" fmla="*/ 24 h 56"/>
                <a:gd name="T82" fmla="*/ 2 w 16"/>
                <a:gd name="T83" fmla="*/ 24 h 56"/>
                <a:gd name="T84" fmla="*/ 0 w 16"/>
                <a:gd name="T85" fmla="*/ 24 h 56"/>
                <a:gd name="T86" fmla="*/ 0 w 16"/>
                <a:gd name="T87" fmla="*/ 24 h 56"/>
                <a:gd name="T88" fmla="*/ 10 w 16"/>
                <a:gd name="T89" fmla="*/ 20 h 56"/>
                <a:gd name="T90" fmla="*/ 12 w 16"/>
                <a:gd name="T91" fmla="*/ 20 h 5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6"/>
                <a:gd name="T139" fmla="*/ 0 h 56"/>
                <a:gd name="T140" fmla="*/ 16 w 16"/>
                <a:gd name="T141" fmla="*/ 56 h 5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6" h="56">
                  <a:moveTo>
                    <a:pt x="8" y="0"/>
                  </a:moveTo>
                  <a:lnTo>
                    <a:pt x="10" y="0"/>
                  </a:lnTo>
                  <a:lnTo>
                    <a:pt x="10" y="2"/>
                  </a:lnTo>
                  <a:lnTo>
                    <a:pt x="12" y="2"/>
                  </a:lnTo>
                  <a:lnTo>
                    <a:pt x="12" y="4"/>
                  </a:lnTo>
                  <a:lnTo>
                    <a:pt x="12" y="6"/>
                  </a:lnTo>
                  <a:lnTo>
                    <a:pt x="10" y="8"/>
                  </a:lnTo>
                  <a:lnTo>
                    <a:pt x="8" y="10"/>
                  </a:lnTo>
                  <a:lnTo>
                    <a:pt x="6" y="8"/>
                  </a:lnTo>
                  <a:lnTo>
                    <a:pt x="4" y="8"/>
                  </a:lnTo>
                  <a:lnTo>
                    <a:pt x="4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6" y="0"/>
                  </a:lnTo>
                  <a:lnTo>
                    <a:pt x="8" y="0"/>
                  </a:lnTo>
                  <a:close/>
                  <a:moveTo>
                    <a:pt x="12" y="20"/>
                  </a:moveTo>
                  <a:lnTo>
                    <a:pt x="12" y="48"/>
                  </a:lnTo>
                  <a:lnTo>
                    <a:pt x="12" y="50"/>
                  </a:lnTo>
                  <a:lnTo>
                    <a:pt x="12" y="52"/>
                  </a:lnTo>
                  <a:lnTo>
                    <a:pt x="12" y="54"/>
                  </a:lnTo>
                  <a:lnTo>
                    <a:pt x="14" y="54"/>
                  </a:lnTo>
                  <a:lnTo>
                    <a:pt x="16" y="56"/>
                  </a:lnTo>
                  <a:lnTo>
                    <a:pt x="0" y="56"/>
                  </a:lnTo>
                  <a:lnTo>
                    <a:pt x="2" y="54"/>
                  </a:lnTo>
                  <a:lnTo>
                    <a:pt x="4" y="54"/>
                  </a:lnTo>
                  <a:lnTo>
                    <a:pt x="4" y="52"/>
                  </a:lnTo>
                  <a:lnTo>
                    <a:pt x="4" y="50"/>
                  </a:lnTo>
                  <a:lnTo>
                    <a:pt x="4" y="48"/>
                  </a:lnTo>
                  <a:lnTo>
                    <a:pt x="4" y="34"/>
                  </a:lnTo>
                  <a:lnTo>
                    <a:pt x="4" y="30"/>
                  </a:lnTo>
                  <a:lnTo>
                    <a:pt x="4" y="26"/>
                  </a:lnTo>
                  <a:lnTo>
                    <a:pt x="4" y="24"/>
                  </a:lnTo>
                  <a:lnTo>
                    <a:pt x="2" y="24"/>
                  </a:lnTo>
                  <a:lnTo>
                    <a:pt x="0" y="24"/>
                  </a:lnTo>
                  <a:lnTo>
                    <a:pt x="10" y="20"/>
                  </a:lnTo>
                  <a:lnTo>
                    <a:pt x="12" y="2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11" name="Freeform 91"/>
            <p:cNvSpPr/>
            <p:nvPr/>
          </p:nvSpPr>
          <p:spPr bwMode="auto">
            <a:xfrm>
              <a:off x="3154" y="2622"/>
              <a:ext cx="38" cy="36"/>
            </a:xfrm>
            <a:custGeom>
              <a:avLst/>
              <a:gdLst>
                <a:gd name="T0" fmla="*/ 12 w 38"/>
                <a:gd name="T1" fmla="*/ 8 h 36"/>
                <a:gd name="T2" fmla="*/ 16 w 38"/>
                <a:gd name="T3" fmla="*/ 2 h 36"/>
                <a:gd name="T4" fmla="*/ 20 w 38"/>
                <a:gd name="T5" fmla="*/ 0 h 36"/>
                <a:gd name="T6" fmla="*/ 24 w 38"/>
                <a:gd name="T7" fmla="*/ 0 h 36"/>
                <a:gd name="T8" fmla="*/ 26 w 38"/>
                <a:gd name="T9" fmla="*/ 0 h 36"/>
                <a:gd name="T10" fmla="*/ 28 w 38"/>
                <a:gd name="T11" fmla="*/ 0 h 36"/>
                <a:gd name="T12" fmla="*/ 30 w 38"/>
                <a:gd name="T13" fmla="*/ 2 h 36"/>
                <a:gd name="T14" fmla="*/ 32 w 38"/>
                <a:gd name="T15" fmla="*/ 6 h 36"/>
                <a:gd name="T16" fmla="*/ 32 w 38"/>
                <a:gd name="T17" fmla="*/ 8 h 36"/>
                <a:gd name="T18" fmla="*/ 34 w 38"/>
                <a:gd name="T19" fmla="*/ 12 h 36"/>
                <a:gd name="T20" fmla="*/ 34 w 38"/>
                <a:gd name="T21" fmla="*/ 28 h 36"/>
                <a:gd name="T22" fmla="*/ 34 w 38"/>
                <a:gd name="T23" fmla="*/ 30 h 36"/>
                <a:gd name="T24" fmla="*/ 34 w 38"/>
                <a:gd name="T25" fmla="*/ 32 h 36"/>
                <a:gd name="T26" fmla="*/ 34 w 38"/>
                <a:gd name="T27" fmla="*/ 34 h 36"/>
                <a:gd name="T28" fmla="*/ 34 w 38"/>
                <a:gd name="T29" fmla="*/ 34 h 36"/>
                <a:gd name="T30" fmla="*/ 36 w 38"/>
                <a:gd name="T31" fmla="*/ 34 h 36"/>
                <a:gd name="T32" fmla="*/ 38 w 38"/>
                <a:gd name="T33" fmla="*/ 36 h 36"/>
                <a:gd name="T34" fmla="*/ 38 w 38"/>
                <a:gd name="T35" fmla="*/ 36 h 36"/>
                <a:gd name="T36" fmla="*/ 22 w 38"/>
                <a:gd name="T37" fmla="*/ 36 h 36"/>
                <a:gd name="T38" fmla="*/ 22 w 38"/>
                <a:gd name="T39" fmla="*/ 36 h 36"/>
                <a:gd name="T40" fmla="*/ 22 w 38"/>
                <a:gd name="T41" fmla="*/ 36 h 36"/>
                <a:gd name="T42" fmla="*/ 24 w 38"/>
                <a:gd name="T43" fmla="*/ 34 h 36"/>
                <a:gd name="T44" fmla="*/ 26 w 38"/>
                <a:gd name="T45" fmla="*/ 34 h 36"/>
                <a:gd name="T46" fmla="*/ 26 w 38"/>
                <a:gd name="T47" fmla="*/ 34 h 36"/>
                <a:gd name="T48" fmla="*/ 26 w 38"/>
                <a:gd name="T49" fmla="*/ 32 h 36"/>
                <a:gd name="T50" fmla="*/ 26 w 38"/>
                <a:gd name="T51" fmla="*/ 30 h 36"/>
                <a:gd name="T52" fmla="*/ 26 w 38"/>
                <a:gd name="T53" fmla="*/ 28 h 36"/>
                <a:gd name="T54" fmla="*/ 26 w 38"/>
                <a:gd name="T55" fmla="*/ 14 h 36"/>
                <a:gd name="T56" fmla="*/ 26 w 38"/>
                <a:gd name="T57" fmla="*/ 10 h 36"/>
                <a:gd name="T58" fmla="*/ 26 w 38"/>
                <a:gd name="T59" fmla="*/ 6 h 36"/>
                <a:gd name="T60" fmla="*/ 24 w 38"/>
                <a:gd name="T61" fmla="*/ 4 h 36"/>
                <a:gd name="T62" fmla="*/ 20 w 38"/>
                <a:gd name="T63" fmla="*/ 4 h 36"/>
                <a:gd name="T64" fmla="*/ 16 w 38"/>
                <a:gd name="T65" fmla="*/ 6 h 36"/>
                <a:gd name="T66" fmla="*/ 12 w 38"/>
                <a:gd name="T67" fmla="*/ 10 h 36"/>
                <a:gd name="T68" fmla="*/ 12 w 38"/>
                <a:gd name="T69" fmla="*/ 28 h 36"/>
                <a:gd name="T70" fmla="*/ 12 w 38"/>
                <a:gd name="T71" fmla="*/ 30 h 36"/>
                <a:gd name="T72" fmla="*/ 12 w 38"/>
                <a:gd name="T73" fmla="*/ 32 h 36"/>
                <a:gd name="T74" fmla="*/ 12 w 38"/>
                <a:gd name="T75" fmla="*/ 34 h 36"/>
                <a:gd name="T76" fmla="*/ 14 w 38"/>
                <a:gd name="T77" fmla="*/ 34 h 36"/>
                <a:gd name="T78" fmla="*/ 14 w 38"/>
                <a:gd name="T79" fmla="*/ 34 h 36"/>
                <a:gd name="T80" fmla="*/ 16 w 38"/>
                <a:gd name="T81" fmla="*/ 36 h 36"/>
                <a:gd name="T82" fmla="*/ 16 w 38"/>
                <a:gd name="T83" fmla="*/ 36 h 36"/>
                <a:gd name="T84" fmla="*/ 0 w 38"/>
                <a:gd name="T85" fmla="*/ 36 h 36"/>
                <a:gd name="T86" fmla="*/ 0 w 38"/>
                <a:gd name="T87" fmla="*/ 36 h 36"/>
                <a:gd name="T88" fmla="*/ 0 w 38"/>
                <a:gd name="T89" fmla="*/ 36 h 36"/>
                <a:gd name="T90" fmla="*/ 2 w 38"/>
                <a:gd name="T91" fmla="*/ 34 h 36"/>
                <a:gd name="T92" fmla="*/ 4 w 38"/>
                <a:gd name="T93" fmla="*/ 34 h 36"/>
                <a:gd name="T94" fmla="*/ 4 w 38"/>
                <a:gd name="T95" fmla="*/ 32 h 36"/>
                <a:gd name="T96" fmla="*/ 4 w 38"/>
                <a:gd name="T97" fmla="*/ 28 h 36"/>
                <a:gd name="T98" fmla="*/ 4 w 38"/>
                <a:gd name="T99" fmla="*/ 14 h 36"/>
                <a:gd name="T100" fmla="*/ 4 w 38"/>
                <a:gd name="T101" fmla="*/ 8 h 36"/>
                <a:gd name="T102" fmla="*/ 4 w 38"/>
                <a:gd name="T103" fmla="*/ 6 h 36"/>
                <a:gd name="T104" fmla="*/ 4 w 38"/>
                <a:gd name="T105" fmla="*/ 4 h 36"/>
                <a:gd name="T106" fmla="*/ 4 w 38"/>
                <a:gd name="T107" fmla="*/ 4 h 36"/>
                <a:gd name="T108" fmla="*/ 4 w 38"/>
                <a:gd name="T109" fmla="*/ 4 h 36"/>
                <a:gd name="T110" fmla="*/ 2 w 38"/>
                <a:gd name="T111" fmla="*/ 4 h 36"/>
                <a:gd name="T112" fmla="*/ 2 w 38"/>
                <a:gd name="T113" fmla="*/ 4 h 36"/>
                <a:gd name="T114" fmla="*/ 0 w 38"/>
                <a:gd name="T115" fmla="*/ 4 h 36"/>
                <a:gd name="T116" fmla="*/ 0 w 38"/>
                <a:gd name="T117" fmla="*/ 4 h 36"/>
                <a:gd name="T118" fmla="*/ 10 w 38"/>
                <a:gd name="T119" fmla="*/ 0 h 36"/>
                <a:gd name="T120" fmla="*/ 12 w 38"/>
                <a:gd name="T121" fmla="*/ 0 h 36"/>
                <a:gd name="T122" fmla="*/ 12 w 38"/>
                <a:gd name="T123" fmla="*/ 8 h 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38"/>
                <a:gd name="T187" fmla="*/ 0 h 36"/>
                <a:gd name="T188" fmla="*/ 38 w 38"/>
                <a:gd name="T189" fmla="*/ 36 h 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38" h="36">
                  <a:moveTo>
                    <a:pt x="12" y="8"/>
                  </a:moveTo>
                  <a:lnTo>
                    <a:pt x="16" y="2"/>
                  </a:lnTo>
                  <a:lnTo>
                    <a:pt x="20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0" y="2"/>
                  </a:lnTo>
                  <a:lnTo>
                    <a:pt x="32" y="6"/>
                  </a:lnTo>
                  <a:lnTo>
                    <a:pt x="32" y="8"/>
                  </a:lnTo>
                  <a:lnTo>
                    <a:pt x="34" y="12"/>
                  </a:lnTo>
                  <a:lnTo>
                    <a:pt x="34" y="28"/>
                  </a:lnTo>
                  <a:lnTo>
                    <a:pt x="34" y="30"/>
                  </a:lnTo>
                  <a:lnTo>
                    <a:pt x="34" y="32"/>
                  </a:lnTo>
                  <a:lnTo>
                    <a:pt x="34" y="34"/>
                  </a:lnTo>
                  <a:lnTo>
                    <a:pt x="36" y="34"/>
                  </a:lnTo>
                  <a:lnTo>
                    <a:pt x="38" y="36"/>
                  </a:lnTo>
                  <a:lnTo>
                    <a:pt x="22" y="36"/>
                  </a:lnTo>
                  <a:lnTo>
                    <a:pt x="24" y="34"/>
                  </a:lnTo>
                  <a:lnTo>
                    <a:pt x="26" y="34"/>
                  </a:lnTo>
                  <a:lnTo>
                    <a:pt x="26" y="32"/>
                  </a:lnTo>
                  <a:lnTo>
                    <a:pt x="26" y="30"/>
                  </a:lnTo>
                  <a:lnTo>
                    <a:pt x="26" y="28"/>
                  </a:lnTo>
                  <a:lnTo>
                    <a:pt x="26" y="14"/>
                  </a:lnTo>
                  <a:lnTo>
                    <a:pt x="26" y="10"/>
                  </a:lnTo>
                  <a:lnTo>
                    <a:pt x="26" y="6"/>
                  </a:lnTo>
                  <a:lnTo>
                    <a:pt x="24" y="4"/>
                  </a:lnTo>
                  <a:lnTo>
                    <a:pt x="20" y="4"/>
                  </a:lnTo>
                  <a:lnTo>
                    <a:pt x="16" y="6"/>
                  </a:lnTo>
                  <a:lnTo>
                    <a:pt x="12" y="10"/>
                  </a:lnTo>
                  <a:lnTo>
                    <a:pt x="12" y="28"/>
                  </a:lnTo>
                  <a:lnTo>
                    <a:pt x="12" y="30"/>
                  </a:lnTo>
                  <a:lnTo>
                    <a:pt x="12" y="32"/>
                  </a:lnTo>
                  <a:lnTo>
                    <a:pt x="12" y="34"/>
                  </a:lnTo>
                  <a:lnTo>
                    <a:pt x="14" y="34"/>
                  </a:lnTo>
                  <a:lnTo>
                    <a:pt x="16" y="36"/>
                  </a:lnTo>
                  <a:lnTo>
                    <a:pt x="0" y="36"/>
                  </a:lnTo>
                  <a:lnTo>
                    <a:pt x="2" y="34"/>
                  </a:lnTo>
                  <a:lnTo>
                    <a:pt x="4" y="34"/>
                  </a:lnTo>
                  <a:lnTo>
                    <a:pt x="4" y="32"/>
                  </a:lnTo>
                  <a:lnTo>
                    <a:pt x="4" y="28"/>
                  </a:lnTo>
                  <a:lnTo>
                    <a:pt x="4" y="14"/>
                  </a:lnTo>
                  <a:lnTo>
                    <a:pt x="4" y="8"/>
                  </a:lnTo>
                  <a:lnTo>
                    <a:pt x="4" y="6"/>
                  </a:lnTo>
                  <a:lnTo>
                    <a:pt x="4" y="4"/>
                  </a:lnTo>
                  <a:lnTo>
                    <a:pt x="2" y="4"/>
                  </a:lnTo>
                  <a:lnTo>
                    <a:pt x="0" y="4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12" name="Freeform 92"/>
            <p:cNvSpPr/>
            <p:nvPr/>
          </p:nvSpPr>
          <p:spPr bwMode="auto">
            <a:xfrm>
              <a:off x="3192" y="2610"/>
              <a:ext cx="24" cy="48"/>
            </a:xfrm>
            <a:custGeom>
              <a:avLst/>
              <a:gdLst>
                <a:gd name="T0" fmla="*/ 14 w 24"/>
                <a:gd name="T1" fmla="*/ 0 h 48"/>
                <a:gd name="T2" fmla="*/ 14 w 24"/>
                <a:gd name="T3" fmla="*/ 12 h 48"/>
                <a:gd name="T4" fmla="*/ 22 w 24"/>
                <a:gd name="T5" fmla="*/ 12 h 48"/>
                <a:gd name="T6" fmla="*/ 22 w 24"/>
                <a:gd name="T7" fmla="*/ 14 h 48"/>
                <a:gd name="T8" fmla="*/ 14 w 24"/>
                <a:gd name="T9" fmla="*/ 14 h 48"/>
                <a:gd name="T10" fmla="*/ 14 w 24"/>
                <a:gd name="T11" fmla="*/ 38 h 48"/>
                <a:gd name="T12" fmla="*/ 14 w 24"/>
                <a:gd name="T13" fmla="*/ 40 h 48"/>
                <a:gd name="T14" fmla="*/ 14 w 24"/>
                <a:gd name="T15" fmla="*/ 42 h 48"/>
                <a:gd name="T16" fmla="*/ 16 w 24"/>
                <a:gd name="T17" fmla="*/ 44 h 48"/>
                <a:gd name="T18" fmla="*/ 18 w 24"/>
                <a:gd name="T19" fmla="*/ 44 h 48"/>
                <a:gd name="T20" fmla="*/ 18 w 24"/>
                <a:gd name="T21" fmla="*/ 44 h 48"/>
                <a:gd name="T22" fmla="*/ 20 w 24"/>
                <a:gd name="T23" fmla="*/ 44 h 48"/>
                <a:gd name="T24" fmla="*/ 20 w 24"/>
                <a:gd name="T25" fmla="*/ 42 h 48"/>
                <a:gd name="T26" fmla="*/ 22 w 24"/>
                <a:gd name="T27" fmla="*/ 42 h 48"/>
                <a:gd name="T28" fmla="*/ 24 w 24"/>
                <a:gd name="T29" fmla="*/ 42 h 48"/>
                <a:gd name="T30" fmla="*/ 22 w 24"/>
                <a:gd name="T31" fmla="*/ 44 h 48"/>
                <a:gd name="T32" fmla="*/ 20 w 24"/>
                <a:gd name="T33" fmla="*/ 46 h 48"/>
                <a:gd name="T34" fmla="*/ 16 w 24"/>
                <a:gd name="T35" fmla="*/ 48 h 48"/>
                <a:gd name="T36" fmla="*/ 14 w 24"/>
                <a:gd name="T37" fmla="*/ 48 h 48"/>
                <a:gd name="T38" fmla="*/ 12 w 24"/>
                <a:gd name="T39" fmla="*/ 48 h 48"/>
                <a:gd name="T40" fmla="*/ 10 w 24"/>
                <a:gd name="T41" fmla="*/ 48 h 48"/>
                <a:gd name="T42" fmla="*/ 8 w 24"/>
                <a:gd name="T43" fmla="*/ 46 h 48"/>
                <a:gd name="T44" fmla="*/ 8 w 24"/>
                <a:gd name="T45" fmla="*/ 44 h 48"/>
                <a:gd name="T46" fmla="*/ 6 w 24"/>
                <a:gd name="T47" fmla="*/ 42 h 48"/>
                <a:gd name="T48" fmla="*/ 6 w 24"/>
                <a:gd name="T49" fmla="*/ 40 h 48"/>
                <a:gd name="T50" fmla="*/ 6 w 24"/>
                <a:gd name="T51" fmla="*/ 14 h 48"/>
                <a:gd name="T52" fmla="*/ 0 w 24"/>
                <a:gd name="T53" fmla="*/ 14 h 48"/>
                <a:gd name="T54" fmla="*/ 0 w 24"/>
                <a:gd name="T55" fmla="*/ 14 h 48"/>
                <a:gd name="T56" fmla="*/ 4 w 24"/>
                <a:gd name="T57" fmla="*/ 12 h 48"/>
                <a:gd name="T58" fmla="*/ 6 w 24"/>
                <a:gd name="T59" fmla="*/ 10 h 48"/>
                <a:gd name="T60" fmla="*/ 8 w 24"/>
                <a:gd name="T61" fmla="*/ 8 h 48"/>
                <a:gd name="T62" fmla="*/ 10 w 24"/>
                <a:gd name="T63" fmla="*/ 6 h 48"/>
                <a:gd name="T64" fmla="*/ 10 w 24"/>
                <a:gd name="T65" fmla="*/ 4 h 48"/>
                <a:gd name="T66" fmla="*/ 12 w 24"/>
                <a:gd name="T67" fmla="*/ 0 h 48"/>
                <a:gd name="T68" fmla="*/ 14 w 24"/>
                <a:gd name="T69" fmla="*/ 0 h 4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4"/>
                <a:gd name="T106" fmla="*/ 0 h 48"/>
                <a:gd name="T107" fmla="*/ 24 w 24"/>
                <a:gd name="T108" fmla="*/ 48 h 4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4" h="48">
                  <a:moveTo>
                    <a:pt x="14" y="0"/>
                  </a:moveTo>
                  <a:lnTo>
                    <a:pt x="14" y="12"/>
                  </a:lnTo>
                  <a:lnTo>
                    <a:pt x="22" y="12"/>
                  </a:lnTo>
                  <a:lnTo>
                    <a:pt x="22" y="14"/>
                  </a:lnTo>
                  <a:lnTo>
                    <a:pt x="14" y="14"/>
                  </a:lnTo>
                  <a:lnTo>
                    <a:pt x="14" y="38"/>
                  </a:lnTo>
                  <a:lnTo>
                    <a:pt x="14" y="40"/>
                  </a:lnTo>
                  <a:lnTo>
                    <a:pt x="14" y="42"/>
                  </a:lnTo>
                  <a:lnTo>
                    <a:pt x="16" y="44"/>
                  </a:lnTo>
                  <a:lnTo>
                    <a:pt x="18" y="44"/>
                  </a:lnTo>
                  <a:lnTo>
                    <a:pt x="20" y="44"/>
                  </a:lnTo>
                  <a:lnTo>
                    <a:pt x="20" y="42"/>
                  </a:lnTo>
                  <a:lnTo>
                    <a:pt x="22" y="42"/>
                  </a:lnTo>
                  <a:lnTo>
                    <a:pt x="24" y="42"/>
                  </a:lnTo>
                  <a:lnTo>
                    <a:pt x="22" y="44"/>
                  </a:lnTo>
                  <a:lnTo>
                    <a:pt x="20" y="46"/>
                  </a:lnTo>
                  <a:lnTo>
                    <a:pt x="16" y="48"/>
                  </a:lnTo>
                  <a:lnTo>
                    <a:pt x="14" y="48"/>
                  </a:lnTo>
                  <a:lnTo>
                    <a:pt x="12" y="48"/>
                  </a:lnTo>
                  <a:lnTo>
                    <a:pt x="10" y="48"/>
                  </a:lnTo>
                  <a:lnTo>
                    <a:pt x="8" y="46"/>
                  </a:lnTo>
                  <a:lnTo>
                    <a:pt x="8" y="44"/>
                  </a:lnTo>
                  <a:lnTo>
                    <a:pt x="6" y="42"/>
                  </a:lnTo>
                  <a:lnTo>
                    <a:pt x="6" y="40"/>
                  </a:lnTo>
                  <a:lnTo>
                    <a:pt x="6" y="14"/>
                  </a:lnTo>
                  <a:lnTo>
                    <a:pt x="0" y="14"/>
                  </a:lnTo>
                  <a:lnTo>
                    <a:pt x="4" y="12"/>
                  </a:lnTo>
                  <a:lnTo>
                    <a:pt x="6" y="10"/>
                  </a:lnTo>
                  <a:lnTo>
                    <a:pt x="8" y="8"/>
                  </a:lnTo>
                  <a:lnTo>
                    <a:pt x="10" y="6"/>
                  </a:lnTo>
                  <a:lnTo>
                    <a:pt x="10" y="4"/>
                  </a:lnTo>
                  <a:lnTo>
                    <a:pt x="12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13" name="Freeform 93"/>
            <p:cNvSpPr>
              <a:spLocks noEditPoints="1"/>
            </p:cNvSpPr>
            <p:nvPr/>
          </p:nvSpPr>
          <p:spPr bwMode="auto">
            <a:xfrm>
              <a:off x="3218" y="2622"/>
              <a:ext cx="34" cy="36"/>
            </a:xfrm>
            <a:custGeom>
              <a:avLst/>
              <a:gdLst>
                <a:gd name="T0" fmla="*/ 16 w 34"/>
                <a:gd name="T1" fmla="*/ 0 h 36"/>
                <a:gd name="T2" fmla="*/ 22 w 34"/>
                <a:gd name="T3" fmla="*/ 0 h 36"/>
                <a:gd name="T4" fmla="*/ 26 w 34"/>
                <a:gd name="T5" fmla="*/ 2 h 36"/>
                <a:gd name="T6" fmla="*/ 30 w 34"/>
                <a:gd name="T7" fmla="*/ 6 h 36"/>
                <a:gd name="T8" fmla="*/ 32 w 34"/>
                <a:gd name="T9" fmla="*/ 10 h 36"/>
                <a:gd name="T10" fmla="*/ 34 w 34"/>
                <a:gd name="T11" fmla="*/ 18 h 36"/>
                <a:gd name="T12" fmla="*/ 34 w 34"/>
                <a:gd name="T13" fmla="*/ 22 h 36"/>
                <a:gd name="T14" fmla="*/ 32 w 34"/>
                <a:gd name="T15" fmla="*/ 26 h 36"/>
                <a:gd name="T16" fmla="*/ 30 w 34"/>
                <a:gd name="T17" fmla="*/ 32 h 36"/>
                <a:gd name="T18" fmla="*/ 26 w 34"/>
                <a:gd name="T19" fmla="*/ 34 h 36"/>
                <a:gd name="T20" fmla="*/ 22 w 34"/>
                <a:gd name="T21" fmla="*/ 36 h 36"/>
                <a:gd name="T22" fmla="*/ 16 w 34"/>
                <a:gd name="T23" fmla="*/ 36 h 36"/>
                <a:gd name="T24" fmla="*/ 12 w 34"/>
                <a:gd name="T25" fmla="*/ 36 h 36"/>
                <a:gd name="T26" fmla="*/ 8 w 34"/>
                <a:gd name="T27" fmla="*/ 34 h 36"/>
                <a:gd name="T28" fmla="*/ 4 w 34"/>
                <a:gd name="T29" fmla="*/ 30 h 36"/>
                <a:gd name="T30" fmla="*/ 0 w 34"/>
                <a:gd name="T31" fmla="*/ 24 h 36"/>
                <a:gd name="T32" fmla="*/ 0 w 34"/>
                <a:gd name="T33" fmla="*/ 18 h 36"/>
                <a:gd name="T34" fmla="*/ 0 w 34"/>
                <a:gd name="T35" fmla="*/ 14 h 36"/>
                <a:gd name="T36" fmla="*/ 2 w 34"/>
                <a:gd name="T37" fmla="*/ 8 h 36"/>
                <a:gd name="T38" fmla="*/ 6 w 34"/>
                <a:gd name="T39" fmla="*/ 4 h 36"/>
                <a:gd name="T40" fmla="*/ 8 w 34"/>
                <a:gd name="T41" fmla="*/ 2 h 36"/>
                <a:gd name="T42" fmla="*/ 12 w 34"/>
                <a:gd name="T43" fmla="*/ 0 h 36"/>
                <a:gd name="T44" fmla="*/ 16 w 34"/>
                <a:gd name="T45" fmla="*/ 0 h 36"/>
                <a:gd name="T46" fmla="*/ 16 w 34"/>
                <a:gd name="T47" fmla="*/ 2 h 36"/>
                <a:gd name="T48" fmla="*/ 14 w 34"/>
                <a:gd name="T49" fmla="*/ 2 h 36"/>
                <a:gd name="T50" fmla="*/ 12 w 34"/>
                <a:gd name="T51" fmla="*/ 2 h 36"/>
                <a:gd name="T52" fmla="*/ 10 w 34"/>
                <a:gd name="T53" fmla="*/ 4 h 36"/>
                <a:gd name="T54" fmla="*/ 8 w 34"/>
                <a:gd name="T55" fmla="*/ 8 h 36"/>
                <a:gd name="T56" fmla="*/ 6 w 34"/>
                <a:gd name="T57" fmla="*/ 10 h 36"/>
                <a:gd name="T58" fmla="*/ 6 w 34"/>
                <a:gd name="T59" fmla="*/ 16 h 36"/>
                <a:gd name="T60" fmla="*/ 8 w 34"/>
                <a:gd name="T61" fmla="*/ 22 h 36"/>
                <a:gd name="T62" fmla="*/ 10 w 34"/>
                <a:gd name="T63" fmla="*/ 28 h 36"/>
                <a:gd name="T64" fmla="*/ 14 w 34"/>
                <a:gd name="T65" fmla="*/ 32 h 36"/>
                <a:gd name="T66" fmla="*/ 18 w 34"/>
                <a:gd name="T67" fmla="*/ 34 h 36"/>
                <a:gd name="T68" fmla="*/ 22 w 34"/>
                <a:gd name="T69" fmla="*/ 34 h 36"/>
                <a:gd name="T70" fmla="*/ 24 w 34"/>
                <a:gd name="T71" fmla="*/ 32 h 36"/>
                <a:gd name="T72" fmla="*/ 26 w 34"/>
                <a:gd name="T73" fmla="*/ 26 h 36"/>
                <a:gd name="T74" fmla="*/ 28 w 34"/>
                <a:gd name="T75" fmla="*/ 20 h 36"/>
                <a:gd name="T76" fmla="*/ 26 w 34"/>
                <a:gd name="T77" fmla="*/ 14 h 36"/>
                <a:gd name="T78" fmla="*/ 26 w 34"/>
                <a:gd name="T79" fmla="*/ 10 h 36"/>
                <a:gd name="T80" fmla="*/ 24 w 34"/>
                <a:gd name="T81" fmla="*/ 6 h 36"/>
                <a:gd name="T82" fmla="*/ 20 w 34"/>
                <a:gd name="T83" fmla="*/ 2 h 36"/>
                <a:gd name="T84" fmla="*/ 16 w 34"/>
                <a:gd name="T85" fmla="*/ 2 h 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4"/>
                <a:gd name="T130" fmla="*/ 0 h 36"/>
                <a:gd name="T131" fmla="*/ 34 w 34"/>
                <a:gd name="T132" fmla="*/ 36 h 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4" h="36">
                  <a:moveTo>
                    <a:pt x="16" y="0"/>
                  </a:moveTo>
                  <a:lnTo>
                    <a:pt x="22" y="0"/>
                  </a:lnTo>
                  <a:lnTo>
                    <a:pt x="26" y="2"/>
                  </a:lnTo>
                  <a:lnTo>
                    <a:pt x="30" y="6"/>
                  </a:lnTo>
                  <a:lnTo>
                    <a:pt x="32" y="10"/>
                  </a:lnTo>
                  <a:lnTo>
                    <a:pt x="34" y="18"/>
                  </a:lnTo>
                  <a:lnTo>
                    <a:pt x="34" y="22"/>
                  </a:lnTo>
                  <a:lnTo>
                    <a:pt x="32" y="26"/>
                  </a:lnTo>
                  <a:lnTo>
                    <a:pt x="30" y="32"/>
                  </a:lnTo>
                  <a:lnTo>
                    <a:pt x="26" y="34"/>
                  </a:lnTo>
                  <a:lnTo>
                    <a:pt x="22" y="36"/>
                  </a:lnTo>
                  <a:lnTo>
                    <a:pt x="16" y="36"/>
                  </a:lnTo>
                  <a:lnTo>
                    <a:pt x="12" y="36"/>
                  </a:lnTo>
                  <a:lnTo>
                    <a:pt x="8" y="34"/>
                  </a:lnTo>
                  <a:lnTo>
                    <a:pt x="4" y="30"/>
                  </a:lnTo>
                  <a:lnTo>
                    <a:pt x="0" y="24"/>
                  </a:lnTo>
                  <a:lnTo>
                    <a:pt x="0" y="18"/>
                  </a:lnTo>
                  <a:lnTo>
                    <a:pt x="0" y="14"/>
                  </a:lnTo>
                  <a:lnTo>
                    <a:pt x="2" y="8"/>
                  </a:lnTo>
                  <a:lnTo>
                    <a:pt x="6" y="4"/>
                  </a:lnTo>
                  <a:lnTo>
                    <a:pt x="8" y="2"/>
                  </a:lnTo>
                  <a:lnTo>
                    <a:pt x="12" y="0"/>
                  </a:lnTo>
                  <a:lnTo>
                    <a:pt x="16" y="0"/>
                  </a:lnTo>
                  <a:close/>
                  <a:moveTo>
                    <a:pt x="16" y="2"/>
                  </a:moveTo>
                  <a:lnTo>
                    <a:pt x="14" y="2"/>
                  </a:lnTo>
                  <a:lnTo>
                    <a:pt x="12" y="2"/>
                  </a:lnTo>
                  <a:lnTo>
                    <a:pt x="10" y="4"/>
                  </a:lnTo>
                  <a:lnTo>
                    <a:pt x="8" y="8"/>
                  </a:lnTo>
                  <a:lnTo>
                    <a:pt x="6" y="10"/>
                  </a:lnTo>
                  <a:lnTo>
                    <a:pt x="6" y="16"/>
                  </a:lnTo>
                  <a:lnTo>
                    <a:pt x="8" y="22"/>
                  </a:lnTo>
                  <a:lnTo>
                    <a:pt x="10" y="28"/>
                  </a:lnTo>
                  <a:lnTo>
                    <a:pt x="14" y="32"/>
                  </a:lnTo>
                  <a:lnTo>
                    <a:pt x="18" y="34"/>
                  </a:lnTo>
                  <a:lnTo>
                    <a:pt x="22" y="34"/>
                  </a:lnTo>
                  <a:lnTo>
                    <a:pt x="24" y="32"/>
                  </a:lnTo>
                  <a:lnTo>
                    <a:pt x="26" y="26"/>
                  </a:lnTo>
                  <a:lnTo>
                    <a:pt x="28" y="20"/>
                  </a:lnTo>
                  <a:lnTo>
                    <a:pt x="26" y="14"/>
                  </a:lnTo>
                  <a:lnTo>
                    <a:pt x="26" y="10"/>
                  </a:lnTo>
                  <a:lnTo>
                    <a:pt x="24" y="6"/>
                  </a:lnTo>
                  <a:lnTo>
                    <a:pt x="20" y="2"/>
                  </a:lnTo>
                  <a:lnTo>
                    <a:pt x="16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14" name="Freeform 94"/>
            <p:cNvSpPr/>
            <p:nvPr/>
          </p:nvSpPr>
          <p:spPr bwMode="auto">
            <a:xfrm>
              <a:off x="3258" y="2602"/>
              <a:ext cx="20" cy="72"/>
            </a:xfrm>
            <a:custGeom>
              <a:avLst/>
              <a:gdLst>
                <a:gd name="T0" fmla="*/ 0 w 20"/>
                <a:gd name="T1" fmla="*/ 2 h 72"/>
                <a:gd name="T2" fmla="*/ 0 w 20"/>
                <a:gd name="T3" fmla="*/ 0 h 72"/>
                <a:gd name="T4" fmla="*/ 4 w 20"/>
                <a:gd name="T5" fmla="*/ 4 h 72"/>
                <a:gd name="T6" fmla="*/ 8 w 20"/>
                <a:gd name="T7" fmla="*/ 8 h 72"/>
                <a:gd name="T8" fmla="*/ 14 w 20"/>
                <a:gd name="T9" fmla="*/ 14 h 72"/>
                <a:gd name="T10" fmla="*/ 18 w 20"/>
                <a:gd name="T11" fmla="*/ 20 h 72"/>
                <a:gd name="T12" fmla="*/ 20 w 20"/>
                <a:gd name="T13" fmla="*/ 28 h 72"/>
                <a:gd name="T14" fmla="*/ 20 w 20"/>
                <a:gd name="T15" fmla="*/ 36 h 72"/>
                <a:gd name="T16" fmla="*/ 20 w 20"/>
                <a:gd name="T17" fmla="*/ 44 h 72"/>
                <a:gd name="T18" fmla="*/ 18 w 20"/>
                <a:gd name="T19" fmla="*/ 52 h 72"/>
                <a:gd name="T20" fmla="*/ 14 w 20"/>
                <a:gd name="T21" fmla="*/ 58 h 72"/>
                <a:gd name="T22" fmla="*/ 10 w 20"/>
                <a:gd name="T23" fmla="*/ 64 h 72"/>
                <a:gd name="T24" fmla="*/ 6 w 20"/>
                <a:gd name="T25" fmla="*/ 70 h 72"/>
                <a:gd name="T26" fmla="*/ 0 w 20"/>
                <a:gd name="T27" fmla="*/ 72 h 72"/>
                <a:gd name="T28" fmla="*/ 0 w 20"/>
                <a:gd name="T29" fmla="*/ 70 h 72"/>
                <a:gd name="T30" fmla="*/ 4 w 20"/>
                <a:gd name="T31" fmla="*/ 68 h 72"/>
                <a:gd name="T32" fmla="*/ 8 w 20"/>
                <a:gd name="T33" fmla="*/ 64 h 72"/>
                <a:gd name="T34" fmla="*/ 10 w 20"/>
                <a:gd name="T35" fmla="*/ 58 h 72"/>
                <a:gd name="T36" fmla="*/ 12 w 20"/>
                <a:gd name="T37" fmla="*/ 52 h 72"/>
                <a:gd name="T38" fmla="*/ 12 w 20"/>
                <a:gd name="T39" fmla="*/ 46 h 72"/>
                <a:gd name="T40" fmla="*/ 14 w 20"/>
                <a:gd name="T41" fmla="*/ 38 h 72"/>
                <a:gd name="T42" fmla="*/ 12 w 20"/>
                <a:gd name="T43" fmla="*/ 30 h 72"/>
                <a:gd name="T44" fmla="*/ 12 w 20"/>
                <a:gd name="T45" fmla="*/ 22 h 72"/>
                <a:gd name="T46" fmla="*/ 10 w 20"/>
                <a:gd name="T47" fmla="*/ 18 h 72"/>
                <a:gd name="T48" fmla="*/ 10 w 20"/>
                <a:gd name="T49" fmla="*/ 14 h 72"/>
                <a:gd name="T50" fmla="*/ 8 w 20"/>
                <a:gd name="T51" fmla="*/ 12 h 72"/>
                <a:gd name="T52" fmla="*/ 6 w 20"/>
                <a:gd name="T53" fmla="*/ 8 h 72"/>
                <a:gd name="T54" fmla="*/ 2 w 20"/>
                <a:gd name="T55" fmla="*/ 6 h 72"/>
                <a:gd name="T56" fmla="*/ 0 w 20"/>
                <a:gd name="T57" fmla="*/ 2 h 7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0"/>
                <a:gd name="T88" fmla="*/ 0 h 72"/>
                <a:gd name="T89" fmla="*/ 20 w 20"/>
                <a:gd name="T90" fmla="*/ 72 h 7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0" h="72">
                  <a:moveTo>
                    <a:pt x="0" y="2"/>
                  </a:moveTo>
                  <a:lnTo>
                    <a:pt x="0" y="0"/>
                  </a:lnTo>
                  <a:lnTo>
                    <a:pt x="4" y="4"/>
                  </a:lnTo>
                  <a:lnTo>
                    <a:pt x="8" y="8"/>
                  </a:lnTo>
                  <a:lnTo>
                    <a:pt x="14" y="14"/>
                  </a:lnTo>
                  <a:lnTo>
                    <a:pt x="18" y="20"/>
                  </a:lnTo>
                  <a:lnTo>
                    <a:pt x="20" y="28"/>
                  </a:lnTo>
                  <a:lnTo>
                    <a:pt x="20" y="36"/>
                  </a:lnTo>
                  <a:lnTo>
                    <a:pt x="20" y="44"/>
                  </a:lnTo>
                  <a:lnTo>
                    <a:pt x="18" y="52"/>
                  </a:lnTo>
                  <a:lnTo>
                    <a:pt x="14" y="58"/>
                  </a:lnTo>
                  <a:lnTo>
                    <a:pt x="10" y="64"/>
                  </a:lnTo>
                  <a:lnTo>
                    <a:pt x="6" y="70"/>
                  </a:lnTo>
                  <a:lnTo>
                    <a:pt x="0" y="72"/>
                  </a:lnTo>
                  <a:lnTo>
                    <a:pt x="0" y="70"/>
                  </a:lnTo>
                  <a:lnTo>
                    <a:pt x="4" y="68"/>
                  </a:lnTo>
                  <a:lnTo>
                    <a:pt x="8" y="64"/>
                  </a:lnTo>
                  <a:lnTo>
                    <a:pt x="10" y="58"/>
                  </a:lnTo>
                  <a:lnTo>
                    <a:pt x="12" y="52"/>
                  </a:lnTo>
                  <a:lnTo>
                    <a:pt x="12" y="46"/>
                  </a:lnTo>
                  <a:lnTo>
                    <a:pt x="14" y="38"/>
                  </a:lnTo>
                  <a:lnTo>
                    <a:pt x="12" y="30"/>
                  </a:lnTo>
                  <a:lnTo>
                    <a:pt x="12" y="22"/>
                  </a:lnTo>
                  <a:lnTo>
                    <a:pt x="10" y="18"/>
                  </a:lnTo>
                  <a:lnTo>
                    <a:pt x="10" y="14"/>
                  </a:lnTo>
                  <a:lnTo>
                    <a:pt x="8" y="12"/>
                  </a:lnTo>
                  <a:lnTo>
                    <a:pt x="6" y="8"/>
                  </a:lnTo>
                  <a:lnTo>
                    <a:pt x="2" y="6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15" name="Freeform 95"/>
            <p:cNvSpPr/>
            <p:nvPr/>
          </p:nvSpPr>
          <p:spPr bwMode="auto">
            <a:xfrm>
              <a:off x="3640" y="2604"/>
              <a:ext cx="58" cy="54"/>
            </a:xfrm>
            <a:custGeom>
              <a:avLst/>
              <a:gdLst>
                <a:gd name="T0" fmla="*/ 0 w 58"/>
                <a:gd name="T1" fmla="*/ 0 h 54"/>
                <a:gd name="T2" fmla="*/ 14 w 58"/>
                <a:gd name="T3" fmla="*/ 0 h 54"/>
                <a:gd name="T4" fmla="*/ 48 w 58"/>
                <a:gd name="T5" fmla="*/ 42 h 54"/>
                <a:gd name="T6" fmla="*/ 48 w 58"/>
                <a:gd name="T7" fmla="*/ 10 h 54"/>
                <a:gd name="T8" fmla="*/ 48 w 58"/>
                <a:gd name="T9" fmla="*/ 6 h 54"/>
                <a:gd name="T10" fmla="*/ 46 w 58"/>
                <a:gd name="T11" fmla="*/ 4 h 54"/>
                <a:gd name="T12" fmla="*/ 46 w 58"/>
                <a:gd name="T13" fmla="*/ 2 h 54"/>
                <a:gd name="T14" fmla="*/ 42 w 58"/>
                <a:gd name="T15" fmla="*/ 2 h 54"/>
                <a:gd name="T16" fmla="*/ 40 w 58"/>
                <a:gd name="T17" fmla="*/ 2 h 54"/>
                <a:gd name="T18" fmla="*/ 40 w 58"/>
                <a:gd name="T19" fmla="*/ 0 h 54"/>
                <a:gd name="T20" fmla="*/ 58 w 58"/>
                <a:gd name="T21" fmla="*/ 0 h 54"/>
                <a:gd name="T22" fmla="*/ 58 w 58"/>
                <a:gd name="T23" fmla="*/ 2 h 54"/>
                <a:gd name="T24" fmla="*/ 58 w 58"/>
                <a:gd name="T25" fmla="*/ 2 h 54"/>
                <a:gd name="T26" fmla="*/ 54 w 58"/>
                <a:gd name="T27" fmla="*/ 2 h 54"/>
                <a:gd name="T28" fmla="*/ 52 w 58"/>
                <a:gd name="T29" fmla="*/ 4 h 54"/>
                <a:gd name="T30" fmla="*/ 52 w 58"/>
                <a:gd name="T31" fmla="*/ 6 h 54"/>
                <a:gd name="T32" fmla="*/ 52 w 58"/>
                <a:gd name="T33" fmla="*/ 10 h 54"/>
                <a:gd name="T34" fmla="*/ 52 w 58"/>
                <a:gd name="T35" fmla="*/ 54 h 54"/>
                <a:gd name="T36" fmla="*/ 50 w 58"/>
                <a:gd name="T37" fmla="*/ 54 h 54"/>
                <a:gd name="T38" fmla="*/ 14 w 58"/>
                <a:gd name="T39" fmla="*/ 12 h 54"/>
                <a:gd name="T40" fmla="*/ 14 w 58"/>
                <a:gd name="T41" fmla="*/ 44 h 54"/>
                <a:gd name="T42" fmla="*/ 16 w 58"/>
                <a:gd name="T43" fmla="*/ 50 h 54"/>
                <a:gd name="T44" fmla="*/ 16 w 58"/>
                <a:gd name="T45" fmla="*/ 52 h 54"/>
                <a:gd name="T46" fmla="*/ 18 w 58"/>
                <a:gd name="T47" fmla="*/ 52 h 54"/>
                <a:gd name="T48" fmla="*/ 20 w 58"/>
                <a:gd name="T49" fmla="*/ 54 h 54"/>
                <a:gd name="T50" fmla="*/ 22 w 58"/>
                <a:gd name="T51" fmla="*/ 54 h 54"/>
                <a:gd name="T52" fmla="*/ 22 w 58"/>
                <a:gd name="T53" fmla="*/ 54 h 54"/>
                <a:gd name="T54" fmla="*/ 4 w 58"/>
                <a:gd name="T55" fmla="*/ 54 h 54"/>
                <a:gd name="T56" fmla="*/ 4 w 58"/>
                <a:gd name="T57" fmla="*/ 54 h 54"/>
                <a:gd name="T58" fmla="*/ 6 w 58"/>
                <a:gd name="T59" fmla="*/ 54 h 54"/>
                <a:gd name="T60" fmla="*/ 8 w 58"/>
                <a:gd name="T61" fmla="*/ 52 h 54"/>
                <a:gd name="T62" fmla="*/ 10 w 58"/>
                <a:gd name="T63" fmla="*/ 50 h 54"/>
                <a:gd name="T64" fmla="*/ 12 w 58"/>
                <a:gd name="T65" fmla="*/ 48 h 54"/>
                <a:gd name="T66" fmla="*/ 12 w 58"/>
                <a:gd name="T67" fmla="*/ 44 h 54"/>
                <a:gd name="T68" fmla="*/ 12 w 58"/>
                <a:gd name="T69" fmla="*/ 8 h 54"/>
                <a:gd name="T70" fmla="*/ 10 w 58"/>
                <a:gd name="T71" fmla="*/ 6 h 54"/>
                <a:gd name="T72" fmla="*/ 8 w 58"/>
                <a:gd name="T73" fmla="*/ 4 h 54"/>
                <a:gd name="T74" fmla="*/ 6 w 58"/>
                <a:gd name="T75" fmla="*/ 4 h 54"/>
                <a:gd name="T76" fmla="*/ 4 w 58"/>
                <a:gd name="T77" fmla="*/ 2 h 54"/>
                <a:gd name="T78" fmla="*/ 2 w 58"/>
                <a:gd name="T79" fmla="*/ 2 h 54"/>
                <a:gd name="T80" fmla="*/ 0 w 58"/>
                <a:gd name="T81" fmla="*/ 2 h 54"/>
                <a:gd name="T82" fmla="*/ 0 w 58"/>
                <a:gd name="T83" fmla="*/ 0 h 5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58"/>
                <a:gd name="T127" fmla="*/ 0 h 54"/>
                <a:gd name="T128" fmla="*/ 58 w 58"/>
                <a:gd name="T129" fmla="*/ 54 h 5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58" h="54">
                  <a:moveTo>
                    <a:pt x="0" y="0"/>
                  </a:moveTo>
                  <a:lnTo>
                    <a:pt x="14" y="0"/>
                  </a:lnTo>
                  <a:lnTo>
                    <a:pt x="48" y="42"/>
                  </a:lnTo>
                  <a:lnTo>
                    <a:pt x="48" y="10"/>
                  </a:lnTo>
                  <a:lnTo>
                    <a:pt x="48" y="6"/>
                  </a:lnTo>
                  <a:lnTo>
                    <a:pt x="46" y="4"/>
                  </a:lnTo>
                  <a:lnTo>
                    <a:pt x="46" y="2"/>
                  </a:lnTo>
                  <a:lnTo>
                    <a:pt x="42" y="2"/>
                  </a:lnTo>
                  <a:lnTo>
                    <a:pt x="40" y="2"/>
                  </a:lnTo>
                  <a:lnTo>
                    <a:pt x="40" y="0"/>
                  </a:lnTo>
                  <a:lnTo>
                    <a:pt x="58" y="0"/>
                  </a:lnTo>
                  <a:lnTo>
                    <a:pt x="58" y="2"/>
                  </a:lnTo>
                  <a:lnTo>
                    <a:pt x="54" y="2"/>
                  </a:lnTo>
                  <a:lnTo>
                    <a:pt x="52" y="4"/>
                  </a:lnTo>
                  <a:lnTo>
                    <a:pt x="52" y="6"/>
                  </a:lnTo>
                  <a:lnTo>
                    <a:pt x="52" y="10"/>
                  </a:lnTo>
                  <a:lnTo>
                    <a:pt x="52" y="54"/>
                  </a:lnTo>
                  <a:lnTo>
                    <a:pt x="50" y="54"/>
                  </a:lnTo>
                  <a:lnTo>
                    <a:pt x="14" y="12"/>
                  </a:lnTo>
                  <a:lnTo>
                    <a:pt x="14" y="44"/>
                  </a:lnTo>
                  <a:lnTo>
                    <a:pt x="16" y="50"/>
                  </a:lnTo>
                  <a:lnTo>
                    <a:pt x="16" y="52"/>
                  </a:lnTo>
                  <a:lnTo>
                    <a:pt x="18" y="52"/>
                  </a:lnTo>
                  <a:lnTo>
                    <a:pt x="20" y="54"/>
                  </a:lnTo>
                  <a:lnTo>
                    <a:pt x="22" y="54"/>
                  </a:lnTo>
                  <a:lnTo>
                    <a:pt x="4" y="54"/>
                  </a:lnTo>
                  <a:lnTo>
                    <a:pt x="6" y="54"/>
                  </a:lnTo>
                  <a:lnTo>
                    <a:pt x="8" y="52"/>
                  </a:lnTo>
                  <a:lnTo>
                    <a:pt x="10" y="50"/>
                  </a:lnTo>
                  <a:lnTo>
                    <a:pt x="12" y="48"/>
                  </a:lnTo>
                  <a:lnTo>
                    <a:pt x="12" y="44"/>
                  </a:lnTo>
                  <a:lnTo>
                    <a:pt x="12" y="8"/>
                  </a:lnTo>
                  <a:lnTo>
                    <a:pt x="10" y="6"/>
                  </a:lnTo>
                  <a:lnTo>
                    <a:pt x="8" y="4"/>
                  </a:lnTo>
                  <a:lnTo>
                    <a:pt x="6" y="4"/>
                  </a:lnTo>
                  <a:lnTo>
                    <a:pt x="4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16" name="Freeform 96"/>
            <p:cNvSpPr>
              <a:spLocks noEditPoints="1"/>
            </p:cNvSpPr>
            <p:nvPr/>
          </p:nvSpPr>
          <p:spPr bwMode="auto">
            <a:xfrm>
              <a:off x="3700" y="2604"/>
              <a:ext cx="42" cy="54"/>
            </a:xfrm>
            <a:custGeom>
              <a:avLst/>
              <a:gdLst>
                <a:gd name="T0" fmla="*/ 16 w 42"/>
                <a:gd name="T1" fmla="*/ 28 h 54"/>
                <a:gd name="T2" fmla="*/ 16 w 42"/>
                <a:gd name="T3" fmla="*/ 44 h 54"/>
                <a:gd name="T4" fmla="*/ 16 w 42"/>
                <a:gd name="T5" fmla="*/ 50 h 54"/>
                <a:gd name="T6" fmla="*/ 16 w 42"/>
                <a:gd name="T7" fmla="*/ 52 h 54"/>
                <a:gd name="T8" fmla="*/ 18 w 42"/>
                <a:gd name="T9" fmla="*/ 52 h 54"/>
                <a:gd name="T10" fmla="*/ 22 w 42"/>
                <a:gd name="T11" fmla="*/ 54 h 54"/>
                <a:gd name="T12" fmla="*/ 24 w 42"/>
                <a:gd name="T13" fmla="*/ 54 h 54"/>
                <a:gd name="T14" fmla="*/ 24 w 42"/>
                <a:gd name="T15" fmla="*/ 54 h 54"/>
                <a:gd name="T16" fmla="*/ 0 w 42"/>
                <a:gd name="T17" fmla="*/ 54 h 54"/>
                <a:gd name="T18" fmla="*/ 0 w 42"/>
                <a:gd name="T19" fmla="*/ 54 h 54"/>
                <a:gd name="T20" fmla="*/ 2 w 42"/>
                <a:gd name="T21" fmla="*/ 54 h 54"/>
                <a:gd name="T22" fmla="*/ 6 w 42"/>
                <a:gd name="T23" fmla="*/ 52 h 54"/>
                <a:gd name="T24" fmla="*/ 8 w 42"/>
                <a:gd name="T25" fmla="*/ 50 h 54"/>
                <a:gd name="T26" fmla="*/ 8 w 42"/>
                <a:gd name="T27" fmla="*/ 48 h 54"/>
                <a:gd name="T28" fmla="*/ 8 w 42"/>
                <a:gd name="T29" fmla="*/ 44 h 54"/>
                <a:gd name="T30" fmla="*/ 8 w 42"/>
                <a:gd name="T31" fmla="*/ 10 h 54"/>
                <a:gd name="T32" fmla="*/ 8 w 42"/>
                <a:gd name="T33" fmla="*/ 6 h 54"/>
                <a:gd name="T34" fmla="*/ 8 w 42"/>
                <a:gd name="T35" fmla="*/ 4 h 54"/>
                <a:gd name="T36" fmla="*/ 6 w 42"/>
                <a:gd name="T37" fmla="*/ 2 h 54"/>
                <a:gd name="T38" fmla="*/ 2 w 42"/>
                <a:gd name="T39" fmla="*/ 2 h 54"/>
                <a:gd name="T40" fmla="*/ 0 w 42"/>
                <a:gd name="T41" fmla="*/ 2 h 54"/>
                <a:gd name="T42" fmla="*/ 0 w 42"/>
                <a:gd name="T43" fmla="*/ 0 h 54"/>
                <a:gd name="T44" fmla="*/ 20 w 42"/>
                <a:gd name="T45" fmla="*/ 0 h 54"/>
                <a:gd name="T46" fmla="*/ 26 w 42"/>
                <a:gd name="T47" fmla="*/ 0 h 54"/>
                <a:gd name="T48" fmla="*/ 32 w 42"/>
                <a:gd name="T49" fmla="*/ 2 h 54"/>
                <a:gd name="T50" fmla="*/ 36 w 42"/>
                <a:gd name="T51" fmla="*/ 4 h 54"/>
                <a:gd name="T52" fmla="*/ 38 w 42"/>
                <a:gd name="T53" fmla="*/ 6 h 54"/>
                <a:gd name="T54" fmla="*/ 40 w 42"/>
                <a:gd name="T55" fmla="*/ 10 h 54"/>
                <a:gd name="T56" fmla="*/ 42 w 42"/>
                <a:gd name="T57" fmla="*/ 16 h 54"/>
                <a:gd name="T58" fmla="*/ 40 w 42"/>
                <a:gd name="T59" fmla="*/ 22 h 54"/>
                <a:gd name="T60" fmla="*/ 38 w 42"/>
                <a:gd name="T61" fmla="*/ 26 h 54"/>
                <a:gd name="T62" fmla="*/ 32 w 42"/>
                <a:gd name="T63" fmla="*/ 28 h 54"/>
                <a:gd name="T64" fmla="*/ 24 w 42"/>
                <a:gd name="T65" fmla="*/ 30 h 54"/>
                <a:gd name="T66" fmla="*/ 22 w 42"/>
                <a:gd name="T67" fmla="*/ 30 h 54"/>
                <a:gd name="T68" fmla="*/ 20 w 42"/>
                <a:gd name="T69" fmla="*/ 30 h 54"/>
                <a:gd name="T70" fmla="*/ 18 w 42"/>
                <a:gd name="T71" fmla="*/ 30 h 54"/>
                <a:gd name="T72" fmla="*/ 16 w 42"/>
                <a:gd name="T73" fmla="*/ 28 h 54"/>
                <a:gd name="T74" fmla="*/ 16 w 42"/>
                <a:gd name="T75" fmla="*/ 26 h 54"/>
                <a:gd name="T76" fmla="*/ 18 w 42"/>
                <a:gd name="T77" fmla="*/ 26 h 54"/>
                <a:gd name="T78" fmla="*/ 20 w 42"/>
                <a:gd name="T79" fmla="*/ 28 h 54"/>
                <a:gd name="T80" fmla="*/ 20 w 42"/>
                <a:gd name="T81" fmla="*/ 28 h 54"/>
                <a:gd name="T82" fmla="*/ 22 w 42"/>
                <a:gd name="T83" fmla="*/ 28 h 54"/>
                <a:gd name="T84" fmla="*/ 26 w 42"/>
                <a:gd name="T85" fmla="*/ 26 h 54"/>
                <a:gd name="T86" fmla="*/ 30 w 42"/>
                <a:gd name="T87" fmla="*/ 24 h 54"/>
                <a:gd name="T88" fmla="*/ 32 w 42"/>
                <a:gd name="T89" fmla="*/ 20 h 54"/>
                <a:gd name="T90" fmla="*/ 32 w 42"/>
                <a:gd name="T91" fmla="*/ 16 h 54"/>
                <a:gd name="T92" fmla="*/ 32 w 42"/>
                <a:gd name="T93" fmla="*/ 12 h 54"/>
                <a:gd name="T94" fmla="*/ 30 w 42"/>
                <a:gd name="T95" fmla="*/ 10 h 54"/>
                <a:gd name="T96" fmla="*/ 30 w 42"/>
                <a:gd name="T97" fmla="*/ 6 h 54"/>
                <a:gd name="T98" fmla="*/ 26 w 42"/>
                <a:gd name="T99" fmla="*/ 4 h 54"/>
                <a:gd name="T100" fmla="*/ 24 w 42"/>
                <a:gd name="T101" fmla="*/ 4 h 54"/>
                <a:gd name="T102" fmla="*/ 20 w 42"/>
                <a:gd name="T103" fmla="*/ 4 h 54"/>
                <a:gd name="T104" fmla="*/ 18 w 42"/>
                <a:gd name="T105" fmla="*/ 4 h 54"/>
                <a:gd name="T106" fmla="*/ 16 w 42"/>
                <a:gd name="T107" fmla="*/ 4 h 54"/>
                <a:gd name="T108" fmla="*/ 16 w 42"/>
                <a:gd name="T109" fmla="*/ 26 h 54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42"/>
                <a:gd name="T166" fmla="*/ 0 h 54"/>
                <a:gd name="T167" fmla="*/ 42 w 42"/>
                <a:gd name="T168" fmla="*/ 54 h 54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42" h="54">
                  <a:moveTo>
                    <a:pt x="16" y="28"/>
                  </a:moveTo>
                  <a:lnTo>
                    <a:pt x="16" y="44"/>
                  </a:lnTo>
                  <a:lnTo>
                    <a:pt x="16" y="50"/>
                  </a:lnTo>
                  <a:lnTo>
                    <a:pt x="16" y="52"/>
                  </a:lnTo>
                  <a:lnTo>
                    <a:pt x="18" y="52"/>
                  </a:lnTo>
                  <a:lnTo>
                    <a:pt x="22" y="54"/>
                  </a:lnTo>
                  <a:lnTo>
                    <a:pt x="24" y="54"/>
                  </a:lnTo>
                  <a:lnTo>
                    <a:pt x="0" y="54"/>
                  </a:lnTo>
                  <a:lnTo>
                    <a:pt x="2" y="54"/>
                  </a:lnTo>
                  <a:lnTo>
                    <a:pt x="6" y="52"/>
                  </a:lnTo>
                  <a:lnTo>
                    <a:pt x="8" y="50"/>
                  </a:lnTo>
                  <a:lnTo>
                    <a:pt x="8" y="48"/>
                  </a:lnTo>
                  <a:lnTo>
                    <a:pt x="8" y="44"/>
                  </a:lnTo>
                  <a:lnTo>
                    <a:pt x="8" y="10"/>
                  </a:lnTo>
                  <a:lnTo>
                    <a:pt x="8" y="6"/>
                  </a:lnTo>
                  <a:lnTo>
                    <a:pt x="8" y="4"/>
                  </a:lnTo>
                  <a:lnTo>
                    <a:pt x="6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20" y="0"/>
                  </a:lnTo>
                  <a:lnTo>
                    <a:pt x="26" y="0"/>
                  </a:lnTo>
                  <a:lnTo>
                    <a:pt x="32" y="2"/>
                  </a:lnTo>
                  <a:lnTo>
                    <a:pt x="36" y="4"/>
                  </a:lnTo>
                  <a:lnTo>
                    <a:pt x="38" y="6"/>
                  </a:lnTo>
                  <a:lnTo>
                    <a:pt x="40" y="10"/>
                  </a:lnTo>
                  <a:lnTo>
                    <a:pt x="42" y="16"/>
                  </a:lnTo>
                  <a:lnTo>
                    <a:pt x="40" y="22"/>
                  </a:lnTo>
                  <a:lnTo>
                    <a:pt x="38" y="26"/>
                  </a:lnTo>
                  <a:lnTo>
                    <a:pt x="32" y="28"/>
                  </a:lnTo>
                  <a:lnTo>
                    <a:pt x="24" y="30"/>
                  </a:lnTo>
                  <a:lnTo>
                    <a:pt x="22" y="30"/>
                  </a:lnTo>
                  <a:lnTo>
                    <a:pt x="20" y="30"/>
                  </a:lnTo>
                  <a:lnTo>
                    <a:pt x="18" y="30"/>
                  </a:lnTo>
                  <a:lnTo>
                    <a:pt x="16" y="28"/>
                  </a:lnTo>
                  <a:close/>
                  <a:moveTo>
                    <a:pt x="16" y="26"/>
                  </a:moveTo>
                  <a:lnTo>
                    <a:pt x="18" y="26"/>
                  </a:lnTo>
                  <a:lnTo>
                    <a:pt x="20" y="28"/>
                  </a:lnTo>
                  <a:lnTo>
                    <a:pt x="22" y="28"/>
                  </a:lnTo>
                  <a:lnTo>
                    <a:pt x="26" y="26"/>
                  </a:lnTo>
                  <a:lnTo>
                    <a:pt x="30" y="24"/>
                  </a:lnTo>
                  <a:lnTo>
                    <a:pt x="32" y="20"/>
                  </a:lnTo>
                  <a:lnTo>
                    <a:pt x="32" y="16"/>
                  </a:lnTo>
                  <a:lnTo>
                    <a:pt x="32" y="12"/>
                  </a:lnTo>
                  <a:lnTo>
                    <a:pt x="30" y="10"/>
                  </a:lnTo>
                  <a:lnTo>
                    <a:pt x="30" y="6"/>
                  </a:lnTo>
                  <a:lnTo>
                    <a:pt x="26" y="4"/>
                  </a:lnTo>
                  <a:lnTo>
                    <a:pt x="24" y="4"/>
                  </a:lnTo>
                  <a:lnTo>
                    <a:pt x="20" y="4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6" y="2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17" name="Freeform 97"/>
            <p:cNvSpPr/>
            <p:nvPr/>
          </p:nvSpPr>
          <p:spPr bwMode="auto">
            <a:xfrm>
              <a:off x="3748" y="2602"/>
              <a:ext cx="20" cy="72"/>
            </a:xfrm>
            <a:custGeom>
              <a:avLst/>
              <a:gdLst>
                <a:gd name="T0" fmla="*/ 20 w 20"/>
                <a:gd name="T1" fmla="*/ 70 h 72"/>
                <a:gd name="T2" fmla="*/ 20 w 20"/>
                <a:gd name="T3" fmla="*/ 72 h 72"/>
                <a:gd name="T4" fmla="*/ 16 w 20"/>
                <a:gd name="T5" fmla="*/ 70 h 72"/>
                <a:gd name="T6" fmla="*/ 12 w 20"/>
                <a:gd name="T7" fmla="*/ 66 h 72"/>
                <a:gd name="T8" fmla="*/ 6 w 20"/>
                <a:gd name="T9" fmla="*/ 60 h 72"/>
                <a:gd name="T10" fmla="*/ 2 w 20"/>
                <a:gd name="T11" fmla="*/ 52 h 72"/>
                <a:gd name="T12" fmla="*/ 0 w 20"/>
                <a:gd name="T13" fmla="*/ 44 h 72"/>
                <a:gd name="T14" fmla="*/ 0 w 20"/>
                <a:gd name="T15" fmla="*/ 36 h 72"/>
                <a:gd name="T16" fmla="*/ 0 w 20"/>
                <a:gd name="T17" fmla="*/ 30 h 72"/>
                <a:gd name="T18" fmla="*/ 2 w 20"/>
                <a:gd name="T19" fmla="*/ 22 h 72"/>
                <a:gd name="T20" fmla="*/ 6 w 20"/>
                <a:gd name="T21" fmla="*/ 16 h 72"/>
                <a:gd name="T22" fmla="*/ 10 w 20"/>
                <a:gd name="T23" fmla="*/ 10 h 72"/>
                <a:gd name="T24" fmla="*/ 14 w 20"/>
                <a:gd name="T25" fmla="*/ 4 h 72"/>
                <a:gd name="T26" fmla="*/ 20 w 20"/>
                <a:gd name="T27" fmla="*/ 0 h 72"/>
                <a:gd name="T28" fmla="*/ 20 w 20"/>
                <a:gd name="T29" fmla="*/ 2 h 72"/>
                <a:gd name="T30" fmla="*/ 16 w 20"/>
                <a:gd name="T31" fmla="*/ 6 h 72"/>
                <a:gd name="T32" fmla="*/ 12 w 20"/>
                <a:gd name="T33" fmla="*/ 10 h 72"/>
                <a:gd name="T34" fmla="*/ 10 w 20"/>
                <a:gd name="T35" fmla="*/ 14 h 72"/>
                <a:gd name="T36" fmla="*/ 8 w 20"/>
                <a:gd name="T37" fmla="*/ 22 h 72"/>
                <a:gd name="T38" fmla="*/ 8 w 20"/>
                <a:gd name="T39" fmla="*/ 28 h 72"/>
                <a:gd name="T40" fmla="*/ 6 w 20"/>
                <a:gd name="T41" fmla="*/ 36 h 72"/>
                <a:gd name="T42" fmla="*/ 8 w 20"/>
                <a:gd name="T43" fmla="*/ 44 h 72"/>
                <a:gd name="T44" fmla="*/ 8 w 20"/>
                <a:gd name="T45" fmla="*/ 50 h 72"/>
                <a:gd name="T46" fmla="*/ 10 w 20"/>
                <a:gd name="T47" fmla="*/ 56 h 72"/>
                <a:gd name="T48" fmla="*/ 10 w 20"/>
                <a:gd name="T49" fmla="*/ 60 h 72"/>
                <a:gd name="T50" fmla="*/ 12 w 20"/>
                <a:gd name="T51" fmla="*/ 62 h 72"/>
                <a:gd name="T52" fmla="*/ 14 w 20"/>
                <a:gd name="T53" fmla="*/ 66 h 72"/>
                <a:gd name="T54" fmla="*/ 18 w 20"/>
                <a:gd name="T55" fmla="*/ 68 h 72"/>
                <a:gd name="T56" fmla="*/ 20 w 20"/>
                <a:gd name="T57" fmla="*/ 70 h 7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0"/>
                <a:gd name="T88" fmla="*/ 0 h 72"/>
                <a:gd name="T89" fmla="*/ 20 w 20"/>
                <a:gd name="T90" fmla="*/ 72 h 7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0" h="72">
                  <a:moveTo>
                    <a:pt x="20" y="70"/>
                  </a:moveTo>
                  <a:lnTo>
                    <a:pt x="20" y="72"/>
                  </a:lnTo>
                  <a:lnTo>
                    <a:pt x="16" y="70"/>
                  </a:lnTo>
                  <a:lnTo>
                    <a:pt x="12" y="66"/>
                  </a:lnTo>
                  <a:lnTo>
                    <a:pt x="6" y="60"/>
                  </a:lnTo>
                  <a:lnTo>
                    <a:pt x="2" y="52"/>
                  </a:lnTo>
                  <a:lnTo>
                    <a:pt x="0" y="44"/>
                  </a:lnTo>
                  <a:lnTo>
                    <a:pt x="0" y="36"/>
                  </a:lnTo>
                  <a:lnTo>
                    <a:pt x="0" y="30"/>
                  </a:lnTo>
                  <a:lnTo>
                    <a:pt x="2" y="22"/>
                  </a:lnTo>
                  <a:lnTo>
                    <a:pt x="6" y="16"/>
                  </a:lnTo>
                  <a:lnTo>
                    <a:pt x="10" y="10"/>
                  </a:lnTo>
                  <a:lnTo>
                    <a:pt x="14" y="4"/>
                  </a:lnTo>
                  <a:lnTo>
                    <a:pt x="20" y="0"/>
                  </a:lnTo>
                  <a:lnTo>
                    <a:pt x="20" y="2"/>
                  </a:lnTo>
                  <a:lnTo>
                    <a:pt x="16" y="6"/>
                  </a:lnTo>
                  <a:lnTo>
                    <a:pt x="12" y="10"/>
                  </a:lnTo>
                  <a:lnTo>
                    <a:pt x="10" y="14"/>
                  </a:lnTo>
                  <a:lnTo>
                    <a:pt x="8" y="22"/>
                  </a:lnTo>
                  <a:lnTo>
                    <a:pt x="8" y="28"/>
                  </a:lnTo>
                  <a:lnTo>
                    <a:pt x="6" y="36"/>
                  </a:lnTo>
                  <a:lnTo>
                    <a:pt x="8" y="44"/>
                  </a:lnTo>
                  <a:lnTo>
                    <a:pt x="8" y="50"/>
                  </a:lnTo>
                  <a:lnTo>
                    <a:pt x="10" y="56"/>
                  </a:lnTo>
                  <a:lnTo>
                    <a:pt x="10" y="60"/>
                  </a:lnTo>
                  <a:lnTo>
                    <a:pt x="12" y="62"/>
                  </a:lnTo>
                  <a:lnTo>
                    <a:pt x="14" y="66"/>
                  </a:lnTo>
                  <a:lnTo>
                    <a:pt x="18" y="68"/>
                  </a:lnTo>
                  <a:lnTo>
                    <a:pt x="20" y="7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18" name="Freeform 98"/>
            <p:cNvSpPr>
              <a:spLocks noEditPoints="1"/>
            </p:cNvSpPr>
            <p:nvPr/>
          </p:nvSpPr>
          <p:spPr bwMode="auto">
            <a:xfrm>
              <a:off x="3772" y="2602"/>
              <a:ext cx="36" cy="56"/>
            </a:xfrm>
            <a:custGeom>
              <a:avLst/>
              <a:gdLst>
                <a:gd name="T0" fmla="*/ 12 w 36"/>
                <a:gd name="T1" fmla="*/ 26 h 56"/>
                <a:gd name="T2" fmla="*/ 14 w 36"/>
                <a:gd name="T3" fmla="*/ 22 h 56"/>
                <a:gd name="T4" fmla="*/ 18 w 36"/>
                <a:gd name="T5" fmla="*/ 20 h 56"/>
                <a:gd name="T6" fmla="*/ 22 w 36"/>
                <a:gd name="T7" fmla="*/ 20 h 56"/>
                <a:gd name="T8" fmla="*/ 28 w 36"/>
                <a:gd name="T9" fmla="*/ 20 h 56"/>
                <a:gd name="T10" fmla="*/ 32 w 36"/>
                <a:gd name="T11" fmla="*/ 24 h 56"/>
                <a:gd name="T12" fmla="*/ 36 w 36"/>
                <a:gd name="T13" fmla="*/ 30 h 56"/>
                <a:gd name="T14" fmla="*/ 36 w 36"/>
                <a:gd name="T15" fmla="*/ 36 h 56"/>
                <a:gd name="T16" fmla="*/ 36 w 36"/>
                <a:gd name="T17" fmla="*/ 42 h 56"/>
                <a:gd name="T18" fmla="*/ 34 w 36"/>
                <a:gd name="T19" fmla="*/ 48 h 56"/>
                <a:gd name="T20" fmla="*/ 30 w 36"/>
                <a:gd name="T21" fmla="*/ 52 h 56"/>
                <a:gd name="T22" fmla="*/ 24 w 36"/>
                <a:gd name="T23" fmla="*/ 56 h 56"/>
                <a:gd name="T24" fmla="*/ 18 w 36"/>
                <a:gd name="T25" fmla="*/ 56 h 56"/>
                <a:gd name="T26" fmla="*/ 14 w 36"/>
                <a:gd name="T27" fmla="*/ 56 h 56"/>
                <a:gd name="T28" fmla="*/ 12 w 36"/>
                <a:gd name="T29" fmla="*/ 56 h 56"/>
                <a:gd name="T30" fmla="*/ 8 w 36"/>
                <a:gd name="T31" fmla="*/ 54 h 56"/>
                <a:gd name="T32" fmla="*/ 4 w 36"/>
                <a:gd name="T33" fmla="*/ 52 h 56"/>
                <a:gd name="T34" fmla="*/ 4 w 36"/>
                <a:gd name="T35" fmla="*/ 16 h 56"/>
                <a:gd name="T36" fmla="*/ 4 w 36"/>
                <a:gd name="T37" fmla="*/ 10 h 56"/>
                <a:gd name="T38" fmla="*/ 4 w 36"/>
                <a:gd name="T39" fmla="*/ 8 h 56"/>
                <a:gd name="T40" fmla="*/ 4 w 36"/>
                <a:gd name="T41" fmla="*/ 6 h 56"/>
                <a:gd name="T42" fmla="*/ 4 w 36"/>
                <a:gd name="T43" fmla="*/ 4 h 56"/>
                <a:gd name="T44" fmla="*/ 2 w 36"/>
                <a:gd name="T45" fmla="*/ 4 h 56"/>
                <a:gd name="T46" fmla="*/ 2 w 36"/>
                <a:gd name="T47" fmla="*/ 4 h 56"/>
                <a:gd name="T48" fmla="*/ 2 w 36"/>
                <a:gd name="T49" fmla="*/ 4 h 56"/>
                <a:gd name="T50" fmla="*/ 0 w 36"/>
                <a:gd name="T51" fmla="*/ 6 h 56"/>
                <a:gd name="T52" fmla="*/ 0 w 36"/>
                <a:gd name="T53" fmla="*/ 4 h 56"/>
                <a:gd name="T54" fmla="*/ 10 w 36"/>
                <a:gd name="T55" fmla="*/ 0 h 56"/>
                <a:gd name="T56" fmla="*/ 12 w 36"/>
                <a:gd name="T57" fmla="*/ 0 h 56"/>
                <a:gd name="T58" fmla="*/ 12 w 36"/>
                <a:gd name="T59" fmla="*/ 26 h 56"/>
                <a:gd name="T60" fmla="*/ 12 w 36"/>
                <a:gd name="T61" fmla="*/ 30 h 56"/>
                <a:gd name="T62" fmla="*/ 12 w 36"/>
                <a:gd name="T63" fmla="*/ 50 h 56"/>
                <a:gd name="T64" fmla="*/ 14 w 36"/>
                <a:gd name="T65" fmla="*/ 52 h 56"/>
                <a:gd name="T66" fmla="*/ 16 w 36"/>
                <a:gd name="T67" fmla="*/ 54 h 56"/>
                <a:gd name="T68" fmla="*/ 18 w 36"/>
                <a:gd name="T69" fmla="*/ 54 h 56"/>
                <a:gd name="T70" fmla="*/ 20 w 36"/>
                <a:gd name="T71" fmla="*/ 54 h 56"/>
                <a:gd name="T72" fmla="*/ 24 w 36"/>
                <a:gd name="T73" fmla="*/ 54 h 56"/>
                <a:gd name="T74" fmla="*/ 26 w 36"/>
                <a:gd name="T75" fmla="*/ 50 h 56"/>
                <a:gd name="T76" fmla="*/ 28 w 36"/>
                <a:gd name="T77" fmla="*/ 46 h 56"/>
                <a:gd name="T78" fmla="*/ 30 w 36"/>
                <a:gd name="T79" fmla="*/ 40 h 56"/>
                <a:gd name="T80" fmla="*/ 28 w 36"/>
                <a:gd name="T81" fmla="*/ 34 h 56"/>
                <a:gd name="T82" fmla="*/ 26 w 36"/>
                <a:gd name="T83" fmla="*/ 28 h 56"/>
                <a:gd name="T84" fmla="*/ 24 w 36"/>
                <a:gd name="T85" fmla="*/ 26 h 56"/>
                <a:gd name="T86" fmla="*/ 20 w 36"/>
                <a:gd name="T87" fmla="*/ 26 h 56"/>
                <a:gd name="T88" fmla="*/ 18 w 36"/>
                <a:gd name="T89" fmla="*/ 26 h 56"/>
                <a:gd name="T90" fmla="*/ 16 w 36"/>
                <a:gd name="T91" fmla="*/ 26 h 56"/>
                <a:gd name="T92" fmla="*/ 14 w 36"/>
                <a:gd name="T93" fmla="*/ 28 h 56"/>
                <a:gd name="T94" fmla="*/ 12 w 36"/>
                <a:gd name="T95" fmla="*/ 30 h 5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36"/>
                <a:gd name="T145" fmla="*/ 0 h 56"/>
                <a:gd name="T146" fmla="*/ 36 w 36"/>
                <a:gd name="T147" fmla="*/ 56 h 5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36" h="56">
                  <a:moveTo>
                    <a:pt x="12" y="26"/>
                  </a:moveTo>
                  <a:lnTo>
                    <a:pt x="14" y="22"/>
                  </a:lnTo>
                  <a:lnTo>
                    <a:pt x="18" y="20"/>
                  </a:lnTo>
                  <a:lnTo>
                    <a:pt x="22" y="20"/>
                  </a:lnTo>
                  <a:lnTo>
                    <a:pt x="28" y="20"/>
                  </a:lnTo>
                  <a:lnTo>
                    <a:pt x="32" y="24"/>
                  </a:lnTo>
                  <a:lnTo>
                    <a:pt x="36" y="30"/>
                  </a:lnTo>
                  <a:lnTo>
                    <a:pt x="36" y="36"/>
                  </a:lnTo>
                  <a:lnTo>
                    <a:pt x="36" y="42"/>
                  </a:lnTo>
                  <a:lnTo>
                    <a:pt x="34" y="48"/>
                  </a:lnTo>
                  <a:lnTo>
                    <a:pt x="30" y="52"/>
                  </a:lnTo>
                  <a:lnTo>
                    <a:pt x="24" y="56"/>
                  </a:lnTo>
                  <a:lnTo>
                    <a:pt x="18" y="56"/>
                  </a:lnTo>
                  <a:lnTo>
                    <a:pt x="14" y="56"/>
                  </a:lnTo>
                  <a:lnTo>
                    <a:pt x="12" y="56"/>
                  </a:lnTo>
                  <a:lnTo>
                    <a:pt x="8" y="54"/>
                  </a:lnTo>
                  <a:lnTo>
                    <a:pt x="4" y="52"/>
                  </a:lnTo>
                  <a:lnTo>
                    <a:pt x="4" y="16"/>
                  </a:lnTo>
                  <a:lnTo>
                    <a:pt x="4" y="10"/>
                  </a:lnTo>
                  <a:lnTo>
                    <a:pt x="4" y="8"/>
                  </a:lnTo>
                  <a:lnTo>
                    <a:pt x="4" y="6"/>
                  </a:lnTo>
                  <a:lnTo>
                    <a:pt x="4" y="4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4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2" y="26"/>
                  </a:lnTo>
                  <a:close/>
                  <a:moveTo>
                    <a:pt x="12" y="30"/>
                  </a:moveTo>
                  <a:lnTo>
                    <a:pt x="12" y="50"/>
                  </a:lnTo>
                  <a:lnTo>
                    <a:pt x="14" y="52"/>
                  </a:lnTo>
                  <a:lnTo>
                    <a:pt x="16" y="54"/>
                  </a:lnTo>
                  <a:lnTo>
                    <a:pt x="18" y="54"/>
                  </a:lnTo>
                  <a:lnTo>
                    <a:pt x="20" y="54"/>
                  </a:lnTo>
                  <a:lnTo>
                    <a:pt x="24" y="54"/>
                  </a:lnTo>
                  <a:lnTo>
                    <a:pt x="26" y="50"/>
                  </a:lnTo>
                  <a:lnTo>
                    <a:pt x="28" y="46"/>
                  </a:lnTo>
                  <a:lnTo>
                    <a:pt x="30" y="40"/>
                  </a:lnTo>
                  <a:lnTo>
                    <a:pt x="28" y="34"/>
                  </a:lnTo>
                  <a:lnTo>
                    <a:pt x="26" y="28"/>
                  </a:lnTo>
                  <a:lnTo>
                    <a:pt x="24" y="26"/>
                  </a:lnTo>
                  <a:lnTo>
                    <a:pt x="20" y="26"/>
                  </a:lnTo>
                  <a:lnTo>
                    <a:pt x="18" y="26"/>
                  </a:lnTo>
                  <a:lnTo>
                    <a:pt x="16" y="26"/>
                  </a:lnTo>
                  <a:lnTo>
                    <a:pt x="14" y="28"/>
                  </a:lnTo>
                  <a:lnTo>
                    <a:pt x="12" y="3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19" name="Freeform 99"/>
            <p:cNvSpPr>
              <a:spLocks noEditPoints="1"/>
            </p:cNvSpPr>
            <p:nvPr/>
          </p:nvSpPr>
          <p:spPr bwMode="auto">
            <a:xfrm>
              <a:off x="3814" y="2602"/>
              <a:ext cx="16" cy="56"/>
            </a:xfrm>
            <a:custGeom>
              <a:avLst/>
              <a:gdLst>
                <a:gd name="T0" fmla="*/ 8 w 16"/>
                <a:gd name="T1" fmla="*/ 0 h 56"/>
                <a:gd name="T2" fmla="*/ 10 w 16"/>
                <a:gd name="T3" fmla="*/ 0 h 56"/>
                <a:gd name="T4" fmla="*/ 12 w 16"/>
                <a:gd name="T5" fmla="*/ 2 h 56"/>
                <a:gd name="T6" fmla="*/ 12 w 16"/>
                <a:gd name="T7" fmla="*/ 2 h 56"/>
                <a:gd name="T8" fmla="*/ 12 w 16"/>
                <a:gd name="T9" fmla="*/ 4 h 56"/>
                <a:gd name="T10" fmla="*/ 12 w 16"/>
                <a:gd name="T11" fmla="*/ 6 h 56"/>
                <a:gd name="T12" fmla="*/ 12 w 16"/>
                <a:gd name="T13" fmla="*/ 8 h 56"/>
                <a:gd name="T14" fmla="*/ 10 w 16"/>
                <a:gd name="T15" fmla="*/ 8 h 56"/>
                <a:gd name="T16" fmla="*/ 8 w 16"/>
                <a:gd name="T17" fmla="*/ 10 h 56"/>
                <a:gd name="T18" fmla="*/ 6 w 16"/>
                <a:gd name="T19" fmla="*/ 8 h 56"/>
                <a:gd name="T20" fmla="*/ 4 w 16"/>
                <a:gd name="T21" fmla="*/ 8 h 56"/>
                <a:gd name="T22" fmla="*/ 4 w 16"/>
                <a:gd name="T23" fmla="*/ 6 h 56"/>
                <a:gd name="T24" fmla="*/ 4 w 16"/>
                <a:gd name="T25" fmla="*/ 4 h 56"/>
                <a:gd name="T26" fmla="*/ 4 w 16"/>
                <a:gd name="T27" fmla="*/ 2 h 56"/>
                <a:gd name="T28" fmla="*/ 4 w 16"/>
                <a:gd name="T29" fmla="*/ 2 h 56"/>
                <a:gd name="T30" fmla="*/ 6 w 16"/>
                <a:gd name="T31" fmla="*/ 0 h 56"/>
                <a:gd name="T32" fmla="*/ 8 w 16"/>
                <a:gd name="T33" fmla="*/ 0 h 56"/>
                <a:gd name="T34" fmla="*/ 12 w 16"/>
                <a:gd name="T35" fmla="*/ 20 h 56"/>
                <a:gd name="T36" fmla="*/ 12 w 16"/>
                <a:gd name="T37" fmla="*/ 48 h 56"/>
                <a:gd name="T38" fmla="*/ 12 w 16"/>
                <a:gd name="T39" fmla="*/ 50 h 56"/>
                <a:gd name="T40" fmla="*/ 12 w 16"/>
                <a:gd name="T41" fmla="*/ 52 h 56"/>
                <a:gd name="T42" fmla="*/ 12 w 16"/>
                <a:gd name="T43" fmla="*/ 54 h 56"/>
                <a:gd name="T44" fmla="*/ 14 w 16"/>
                <a:gd name="T45" fmla="*/ 54 h 56"/>
                <a:gd name="T46" fmla="*/ 14 w 16"/>
                <a:gd name="T47" fmla="*/ 54 h 56"/>
                <a:gd name="T48" fmla="*/ 16 w 16"/>
                <a:gd name="T49" fmla="*/ 56 h 56"/>
                <a:gd name="T50" fmla="*/ 16 w 16"/>
                <a:gd name="T51" fmla="*/ 56 h 56"/>
                <a:gd name="T52" fmla="*/ 0 w 16"/>
                <a:gd name="T53" fmla="*/ 56 h 56"/>
                <a:gd name="T54" fmla="*/ 0 w 16"/>
                <a:gd name="T55" fmla="*/ 56 h 56"/>
                <a:gd name="T56" fmla="*/ 2 w 16"/>
                <a:gd name="T57" fmla="*/ 54 h 56"/>
                <a:gd name="T58" fmla="*/ 4 w 16"/>
                <a:gd name="T59" fmla="*/ 54 h 56"/>
                <a:gd name="T60" fmla="*/ 4 w 16"/>
                <a:gd name="T61" fmla="*/ 54 h 56"/>
                <a:gd name="T62" fmla="*/ 4 w 16"/>
                <a:gd name="T63" fmla="*/ 52 h 56"/>
                <a:gd name="T64" fmla="*/ 4 w 16"/>
                <a:gd name="T65" fmla="*/ 50 h 56"/>
                <a:gd name="T66" fmla="*/ 4 w 16"/>
                <a:gd name="T67" fmla="*/ 48 h 56"/>
                <a:gd name="T68" fmla="*/ 4 w 16"/>
                <a:gd name="T69" fmla="*/ 34 h 56"/>
                <a:gd name="T70" fmla="*/ 4 w 16"/>
                <a:gd name="T71" fmla="*/ 30 h 56"/>
                <a:gd name="T72" fmla="*/ 4 w 16"/>
                <a:gd name="T73" fmla="*/ 26 h 56"/>
                <a:gd name="T74" fmla="*/ 4 w 16"/>
                <a:gd name="T75" fmla="*/ 24 h 56"/>
                <a:gd name="T76" fmla="*/ 4 w 16"/>
                <a:gd name="T77" fmla="*/ 24 h 56"/>
                <a:gd name="T78" fmla="*/ 4 w 16"/>
                <a:gd name="T79" fmla="*/ 24 h 56"/>
                <a:gd name="T80" fmla="*/ 2 w 16"/>
                <a:gd name="T81" fmla="*/ 24 h 56"/>
                <a:gd name="T82" fmla="*/ 2 w 16"/>
                <a:gd name="T83" fmla="*/ 24 h 56"/>
                <a:gd name="T84" fmla="*/ 0 w 16"/>
                <a:gd name="T85" fmla="*/ 24 h 56"/>
                <a:gd name="T86" fmla="*/ 0 w 16"/>
                <a:gd name="T87" fmla="*/ 24 h 56"/>
                <a:gd name="T88" fmla="*/ 10 w 16"/>
                <a:gd name="T89" fmla="*/ 20 h 56"/>
                <a:gd name="T90" fmla="*/ 12 w 16"/>
                <a:gd name="T91" fmla="*/ 20 h 5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6"/>
                <a:gd name="T139" fmla="*/ 0 h 56"/>
                <a:gd name="T140" fmla="*/ 16 w 16"/>
                <a:gd name="T141" fmla="*/ 56 h 5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6" h="56">
                  <a:moveTo>
                    <a:pt x="8" y="0"/>
                  </a:moveTo>
                  <a:lnTo>
                    <a:pt x="10" y="0"/>
                  </a:lnTo>
                  <a:lnTo>
                    <a:pt x="12" y="2"/>
                  </a:lnTo>
                  <a:lnTo>
                    <a:pt x="12" y="4"/>
                  </a:lnTo>
                  <a:lnTo>
                    <a:pt x="12" y="6"/>
                  </a:lnTo>
                  <a:lnTo>
                    <a:pt x="12" y="8"/>
                  </a:lnTo>
                  <a:lnTo>
                    <a:pt x="10" y="8"/>
                  </a:lnTo>
                  <a:lnTo>
                    <a:pt x="8" y="10"/>
                  </a:lnTo>
                  <a:lnTo>
                    <a:pt x="6" y="8"/>
                  </a:lnTo>
                  <a:lnTo>
                    <a:pt x="4" y="8"/>
                  </a:lnTo>
                  <a:lnTo>
                    <a:pt x="4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6" y="0"/>
                  </a:lnTo>
                  <a:lnTo>
                    <a:pt x="8" y="0"/>
                  </a:lnTo>
                  <a:close/>
                  <a:moveTo>
                    <a:pt x="12" y="20"/>
                  </a:moveTo>
                  <a:lnTo>
                    <a:pt x="12" y="48"/>
                  </a:lnTo>
                  <a:lnTo>
                    <a:pt x="12" y="50"/>
                  </a:lnTo>
                  <a:lnTo>
                    <a:pt x="12" y="52"/>
                  </a:lnTo>
                  <a:lnTo>
                    <a:pt x="12" y="54"/>
                  </a:lnTo>
                  <a:lnTo>
                    <a:pt x="14" y="54"/>
                  </a:lnTo>
                  <a:lnTo>
                    <a:pt x="16" y="56"/>
                  </a:lnTo>
                  <a:lnTo>
                    <a:pt x="0" y="56"/>
                  </a:lnTo>
                  <a:lnTo>
                    <a:pt x="2" y="54"/>
                  </a:lnTo>
                  <a:lnTo>
                    <a:pt x="4" y="54"/>
                  </a:lnTo>
                  <a:lnTo>
                    <a:pt x="4" y="52"/>
                  </a:lnTo>
                  <a:lnTo>
                    <a:pt x="4" y="50"/>
                  </a:lnTo>
                  <a:lnTo>
                    <a:pt x="4" y="48"/>
                  </a:lnTo>
                  <a:lnTo>
                    <a:pt x="4" y="34"/>
                  </a:lnTo>
                  <a:lnTo>
                    <a:pt x="4" y="30"/>
                  </a:lnTo>
                  <a:lnTo>
                    <a:pt x="4" y="26"/>
                  </a:lnTo>
                  <a:lnTo>
                    <a:pt x="4" y="24"/>
                  </a:lnTo>
                  <a:lnTo>
                    <a:pt x="2" y="24"/>
                  </a:lnTo>
                  <a:lnTo>
                    <a:pt x="0" y="24"/>
                  </a:lnTo>
                  <a:lnTo>
                    <a:pt x="10" y="20"/>
                  </a:lnTo>
                  <a:lnTo>
                    <a:pt x="12" y="2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20" name="Freeform 100"/>
            <p:cNvSpPr/>
            <p:nvPr/>
          </p:nvSpPr>
          <p:spPr bwMode="auto">
            <a:xfrm>
              <a:off x="3834" y="2622"/>
              <a:ext cx="38" cy="36"/>
            </a:xfrm>
            <a:custGeom>
              <a:avLst/>
              <a:gdLst>
                <a:gd name="T0" fmla="*/ 12 w 38"/>
                <a:gd name="T1" fmla="*/ 8 h 36"/>
                <a:gd name="T2" fmla="*/ 16 w 38"/>
                <a:gd name="T3" fmla="*/ 2 h 36"/>
                <a:gd name="T4" fmla="*/ 20 w 38"/>
                <a:gd name="T5" fmla="*/ 0 h 36"/>
                <a:gd name="T6" fmla="*/ 24 w 38"/>
                <a:gd name="T7" fmla="*/ 0 h 36"/>
                <a:gd name="T8" fmla="*/ 26 w 38"/>
                <a:gd name="T9" fmla="*/ 0 h 36"/>
                <a:gd name="T10" fmla="*/ 28 w 38"/>
                <a:gd name="T11" fmla="*/ 0 h 36"/>
                <a:gd name="T12" fmla="*/ 30 w 38"/>
                <a:gd name="T13" fmla="*/ 2 h 36"/>
                <a:gd name="T14" fmla="*/ 32 w 38"/>
                <a:gd name="T15" fmla="*/ 6 h 36"/>
                <a:gd name="T16" fmla="*/ 34 w 38"/>
                <a:gd name="T17" fmla="*/ 8 h 36"/>
                <a:gd name="T18" fmla="*/ 34 w 38"/>
                <a:gd name="T19" fmla="*/ 12 h 36"/>
                <a:gd name="T20" fmla="*/ 34 w 38"/>
                <a:gd name="T21" fmla="*/ 28 h 36"/>
                <a:gd name="T22" fmla="*/ 34 w 38"/>
                <a:gd name="T23" fmla="*/ 30 h 36"/>
                <a:gd name="T24" fmla="*/ 34 w 38"/>
                <a:gd name="T25" fmla="*/ 32 h 36"/>
                <a:gd name="T26" fmla="*/ 34 w 38"/>
                <a:gd name="T27" fmla="*/ 34 h 36"/>
                <a:gd name="T28" fmla="*/ 36 w 38"/>
                <a:gd name="T29" fmla="*/ 34 h 36"/>
                <a:gd name="T30" fmla="*/ 36 w 38"/>
                <a:gd name="T31" fmla="*/ 34 h 36"/>
                <a:gd name="T32" fmla="*/ 38 w 38"/>
                <a:gd name="T33" fmla="*/ 36 h 36"/>
                <a:gd name="T34" fmla="*/ 38 w 38"/>
                <a:gd name="T35" fmla="*/ 36 h 36"/>
                <a:gd name="T36" fmla="*/ 22 w 38"/>
                <a:gd name="T37" fmla="*/ 36 h 36"/>
                <a:gd name="T38" fmla="*/ 22 w 38"/>
                <a:gd name="T39" fmla="*/ 36 h 36"/>
                <a:gd name="T40" fmla="*/ 22 w 38"/>
                <a:gd name="T41" fmla="*/ 36 h 36"/>
                <a:gd name="T42" fmla="*/ 24 w 38"/>
                <a:gd name="T43" fmla="*/ 34 h 36"/>
                <a:gd name="T44" fmla="*/ 26 w 38"/>
                <a:gd name="T45" fmla="*/ 34 h 36"/>
                <a:gd name="T46" fmla="*/ 26 w 38"/>
                <a:gd name="T47" fmla="*/ 34 h 36"/>
                <a:gd name="T48" fmla="*/ 26 w 38"/>
                <a:gd name="T49" fmla="*/ 32 h 36"/>
                <a:gd name="T50" fmla="*/ 26 w 38"/>
                <a:gd name="T51" fmla="*/ 30 h 36"/>
                <a:gd name="T52" fmla="*/ 26 w 38"/>
                <a:gd name="T53" fmla="*/ 28 h 36"/>
                <a:gd name="T54" fmla="*/ 26 w 38"/>
                <a:gd name="T55" fmla="*/ 14 h 36"/>
                <a:gd name="T56" fmla="*/ 26 w 38"/>
                <a:gd name="T57" fmla="*/ 10 h 36"/>
                <a:gd name="T58" fmla="*/ 26 w 38"/>
                <a:gd name="T59" fmla="*/ 6 h 36"/>
                <a:gd name="T60" fmla="*/ 24 w 38"/>
                <a:gd name="T61" fmla="*/ 4 h 36"/>
                <a:gd name="T62" fmla="*/ 20 w 38"/>
                <a:gd name="T63" fmla="*/ 4 h 36"/>
                <a:gd name="T64" fmla="*/ 16 w 38"/>
                <a:gd name="T65" fmla="*/ 6 h 36"/>
                <a:gd name="T66" fmla="*/ 12 w 38"/>
                <a:gd name="T67" fmla="*/ 10 h 36"/>
                <a:gd name="T68" fmla="*/ 12 w 38"/>
                <a:gd name="T69" fmla="*/ 28 h 36"/>
                <a:gd name="T70" fmla="*/ 12 w 38"/>
                <a:gd name="T71" fmla="*/ 30 h 36"/>
                <a:gd name="T72" fmla="*/ 12 w 38"/>
                <a:gd name="T73" fmla="*/ 32 h 36"/>
                <a:gd name="T74" fmla="*/ 12 w 38"/>
                <a:gd name="T75" fmla="*/ 34 h 36"/>
                <a:gd name="T76" fmla="*/ 14 w 38"/>
                <a:gd name="T77" fmla="*/ 34 h 36"/>
                <a:gd name="T78" fmla="*/ 14 w 38"/>
                <a:gd name="T79" fmla="*/ 34 h 36"/>
                <a:gd name="T80" fmla="*/ 16 w 38"/>
                <a:gd name="T81" fmla="*/ 36 h 36"/>
                <a:gd name="T82" fmla="*/ 16 w 38"/>
                <a:gd name="T83" fmla="*/ 36 h 36"/>
                <a:gd name="T84" fmla="*/ 0 w 38"/>
                <a:gd name="T85" fmla="*/ 36 h 36"/>
                <a:gd name="T86" fmla="*/ 0 w 38"/>
                <a:gd name="T87" fmla="*/ 36 h 36"/>
                <a:gd name="T88" fmla="*/ 0 w 38"/>
                <a:gd name="T89" fmla="*/ 36 h 36"/>
                <a:gd name="T90" fmla="*/ 2 w 38"/>
                <a:gd name="T91" fmla="*/ 34 h 36"/>
                <a:gd name="T92" fmla="*/ 4 w 38"/>
                <a:gd name="T93" fmla="*/ 34 h 36"/>
                <a:gd name="T94" fmla="*/ 4 w 38"/>
                <a:gd name="T95" fmla="*/ 32 h 36"/>
                <a:gd name="T96" fmla="*/ 4 w 38"/>
                <a:gd name="T97" fmla="*/ 28 h 36"/>
                <a:gd name="T98" fmla="*/ 4 w 38"/>
                <a:gd name="T99" fmla="*/ 14 h 36"/>
                <a:gd name="T100" fmla="*/ 4 w 38"/>
                <a:gd name="T101" fmla="*/ 8 h 36"/>
                <a:gd name="T102" fmla="*/ 4 w 38"/>
                <a:gd name="T103" fmla="*/ 6 h 36"/>
                <a:gd name="T104" fmla="*/ 4 w 38"/>
                <a:gd name="T105" fmla="*/ 4 h 36"/>
                <a:gd name="T106" fmla="*/ 4 w 38"/>
                <a:gd name="T107" fmla="*/ 4 h 36"/>
                <a:gd name="T108" fmla="*/ 4 w 38"/>
                <a:gd name="T109" fmla="*/ 4 h 36"/>
                <a:gd name="T110" fmla="*/ 2 w 38"/>
                <a:gd name="T111" fmla="*/ 4 h 36"/>
                <a:gd name="T112" fmla="*/ 2 w 38"/>
                <a:gd name="T113" fmla="*/ 4 h 36"/>
                <a:gd name="T114" fmla="*/ 0 w 38"/>
                <a:gd name="T115" fmla="*/ 4 h 36"/>
                <a:gd name="T116" fmla="*/ 0 w 38"/>
                <a:gd name="T117" fmla="*/ 4 h 36"/>
                <a:gd name="T118" fmla="*/ 10 w 38"/>
                <a:gd name="T119" fmla="*/ 0 h 36"/>
                <a:gd name="T120" fmla="*/ 12 w 38"/>
                <a:gd name="T121" fmla="*/ 0 h 36"/>
                <a:gd name="T122" fmla="*/ 12 w 38"/>
                <a:gd name="T123" fmla="*/ 8 h 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38"/>
                <a:gd name="T187" fmla="*/ 0 h 36"/>
                <a:gd name="T188" fmla="*/ 38 w 38"/>
                <a:gd name="T189" fmla="*/ 36 h 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38" h="36">
                  <a:moveTo>
                    <a:pt x="12" y="8"/>
                  </a:moveTo>
                  <a:lnTo>
                    <a:pt x="16" y="2"/>
                  </a:lnTo>
                  <a:lnTo>
                    <a:pt x="20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0" y="2"/>
                  </a:lnTo>
                  <a:lnTo>
                    <a:pt x="32" y="6"/>
                  </a:lnTo>
                  <a:lnTo>
                    <a:pt x="34" y="8"/>
                  </a:lnTo>
                  <a:lnTo>
                    <a:pt x="34" y="12"/>
                  </a:lnTo>
                  <a:lnTo>
                    <a:pt x="34" y="28"/>
                  </a:lnTo>
                  <a:lnTo>
                    <a:pt x="34" y="30"/>
                  </a:lnTo>
                  <a:lnTo>
                    <a:pt x="34" y="32"/>
                  </a:lnTo>
                  <a:lnTo>
                    <a:pt x="34" y="34"/>
                  </a:lnTo>
                  <a:lnTo>
                    <a:pt x="36" y="34"/>
                  </a:lnTo>
                  <a:lnTo>
                    <a:pt x="38" y="36"/>
                  </a:lnTo>
                  <a:lnTo>
                    <a:pt x="22" y="36"/>
                  </a:lnTo>
                  <a:lnTo>
                    <a:pt x="24" y="34"/>
                  </a:lnTo>
                  <a:lnTo>
                    <a:pt x="26" y="34"/>
                  </a:lnTo>
                  <a:lnTo>
                    <a:pt x="26" y="32"/>
                  </a:lnTo>
                  <a:lnTo>
                    <a:pt x="26" y="30"/>
                  </a:lnTo>
                  <a:lnTo>
                    <a:pt x="26" y="28"/>
                  </a:lnTo>
                  <a:lnTo>
                    <a:pt x="26" y="14"/>
                  </a:lnTo>
                  <a:lnTo>
                    <a:pt x="26" y="10"/>
                  </a:lnTo>
                  <a:lnTo>
                    <a:pt x="26" y="6"/>
                  </a:lnTo>
                  <a:lnTo>
                    <a:pt x="24" y="4"/>
                  </a:lnTo>
                  <a:lnTo>
                    <a:pt x="20" y="4"/>
                  </a:lnTo>
                  <a:lnTo>
                    <a:pt x="16" y="6"/>
                  </a:lnTo>
                  <a:lnTo>
                    <a:pt x="12" y="10"/>
                  </a:lnTo>
                  <a:lnTo>
                    <a:pt x="12" y="28"/>
                  </a:lnTo>
                  <a:lnTo>
                    <a:pt x="12" y="30"/>
                  </a:lnTo>
                  <a:lnTo>
                    <a:pt x="12" y="32"/>
                  </a:lnTo>
                  <a:lnTo>
                    <a:pt x="12" y="34"/>
                  </a:lnTo>
                  <a:lnTo>
                    <a:pt x="14" y="34"/>
                  </a:lnTo>
                  <a:lnTo>
                    <a:pt x="16" y="36"/>
                  </a:lnTo>
                  <a:lnTo>
                    <a:pt x="0" y="36"/>
                  </a:lnTo>
                  <a:lnTo>
                    <a:pt x="2" y="34"/>
                  </a:lnTo>
                  <a:lnTo>
                    <a:pt x="4" y="34"/>
                  </a:lnTo>
                  <a:lnTo>
                    <a:pt x="4" y="32"/>
                  </a:lnTo>
                  <a:lnTo>
                    <a:pt x="4" y="28"/>
                  </a:lnTo>
                  <a:lnTo>
                    <a:pt x="4" y="14"/>
                  </a:lnTo>
                  <a:lnTo>
                    <a:pt x="4" y="8"/>
                  </a:lnTo>
                  <a:lnTo>
                    <a:pt x="4" y="6"/>
                  </a:lnTo>
                  <a:lnTo>
                    <a:pt x="4" y="4"/>
                  </a:lnTo>
                  <a:lnTo>
                    <a:pt x="2" y="4"/>
                  </a:lnTo>
                  <a:lnTo>
                    <a:pt x="0" y="4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21" name="Freeform 101"/>
            <p:cNvSpPr/>
            <p:nvPr/>
          </p:nvSpPr>
          <p:spPr bwMode="auto">
            <a:xfrm>
              <a:off x="3874" y="2602"/>
              <a:ext cx="22" cy="72"/>
            </a:xfrm>
            <a:custGeom>
              <a:avLst/>
              <a:gdLst>
                <a:gd name="T0" fmla="*/ 0 w 22"/>
                <a:gd name="T1" fmla="*/ 2 h 72"/>
                <a:gd name="T2" fmla="*/ 0 w 22"/>
                <a:gd name="T3" fmla="*/ 0 h 72"/>
                <a:gd name="T4" fmla="*/ 6 w 22"/>
                <a:gd name="T5" fmla="*/ 4 h 72"/>
                <a:gd name="T6" fmla="*/ 10 w 22"/>
                <a:gd name="T7" fmla="*/ 8 h 72"/>
                <a:gd name="T8" fmla="*/ 16 w 22"/>
                <a:gd name="T9" fmla="*/ 14 h 72"/>
                <a:gd name="T10" fmla="*/ 20 w 22"/>
                <a:gd name="T11" fmla="*/ 20 h 72"/>
                <a:gd name="T12" fmla="*/ 22 w 22"/>
                <a:gd name="T13" fmla="*/ 28 h 72"/>
                <a:gd name="T14" fmla="*/ 22 w 22"/>
                <a:gd name="T15" fmla="*/ 36 h 72"/>
                <a:gd name="T16" fmla="*/ 22 w 22"/>
                <a:gd name="T17" fmla="*/ 44 h 72"/>
                <a:gd name="T18" fmla="*/ 20 w 22"/>
                <a:gd name="T19" fmla="*/ 52 h 72"/>
                <a:gd name="T20" fmla="*/ 16 w 22"/>
                <a:gd name="T21" fmla="*/ 58 h 72"/>
                <a:gd name="T22" fmla="*/ 12 w 22"/>
                <a:gd name="T23" fmla="*/ 64 h 72"/>
                <a:gd name="T24" fmla="*/ 6 w 22"/>
                <a:gd name="T25" fmla="*/ 70 h 72"/>
                <a:gd name="T26" fmla="*/ 0 w 22"/>
                <a:gd name="T27" fmla="*/ 72 h 72"/>
                <a:gd name="T28" fmla="*/ 0 w 22"/>
                <a:gd name="T29" fmla="*/ 70 h 72"/>
                <a:gd name="T30" fmla="*/ 6 w 22"/>
                <a:gd name="T31" fmla="*/ 68 h 72"/>
                <a:gd name="T32" fmla="*/ 8 w 22"/>
                <a:gd name="T33" fmla="*/ 64 h 72"/>
                <a:gd name="T34" fmla="*/ 12 w 22"/>
                <a:gd name="T35" fmla="*/ 58 h 72"/>
                <a:gd name="T36" fmla="*/ 14 w 22"/>
                <a:gd name="T37" fmla="*/ 52 h 72"/>
                <a:gd name="T38" fmla="*/ 14 w 22"/>
                <a:gd name="T39" fmla="*/ 46 h 72"/>
                <a:gd name="T40" fmla="*/ 14 w 22"/>
                <a:gd name="T41" fmla="*/ 38 h 72"/>
                <a:gd name="T42" fmla="*/ 14 w 22"/>
                <a:gd name="T43" fmla="*/ 30 h 72"/>
                <a:gd name="T44" fmla="*/ 14 w 22"/>
                <a:gd name="T45" fmla="*/ 22 h 72"/>
                <a:gd name="T46" fmla="*/ 12 w 22"/>
                <a:gd name="T47" fmla="*/ 18 h 72"/>
                <a:gd name="T48" fmla="*/ 12 w 22"/>
                <a:gd name="T49" fmla="*/ 14 h 72"/>
                <a:gd name="T50" fmla="*/ 10 w 22"/>
                <a:gd name="T51" fmla="*/ 12 h 72"/>
                <a:gd name="T52" fmla="*/ 8 w 22"/>
                <a:gd name="T53" fmla="*/ 8 h 72"/>
                <a:gd name="T54" fmla="*/ 4 w 22"/>
                <a:gd name="T55" fmla="*/ 6 h 72"/>
                <a:gd name="T56" fmla="*/ 0 w 22"/>
                <a:gd name="T57" fmla="*/ 2 h 7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2"/>
                <a:gd name="T88" fmla="*/ 0 h 72"/>
                <a:gd name="T89" fmla="*/ 22 w 22"/>
                <a:gd name="T90" fmla="*/ 72 h 7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2" h="72">
                  <a:moveTo>
                    <a:pt x="0" y="2"/>
                  </a:moveTo>
                  <a:lnTo>
                    <a:pt x="0" y="0"/>
                  </a:lnTo>
                  <a:lnTo>
                    <a:pt x="6" y="4"/>
                  </a:lnTo>
                  <a:lnTo>
                    <a:pt x="10" y="8"/>
                  </a:lnTo>
                  <a:lnTo>
                    <a:pt x="16" y="14"/>
                  </a:lnTo>
                  <a:lnTo>
                    <a:pt x="20" y="20"/>
                  </a:lnTo>
                  <a:lnTo>
                    <a:pt x="22" y="28"/>
                  </a:lnTo>
                  <a:lnTo>
                    <a:pt x="22" y="36"/>
                  </a:lnTo>
                  <a:lnTo>
                    <a:pt x="22" y="44"/>
                  </a:lnTo>
                  <a:lnTo>
                    <a:pt x="20" y="52"/>
                  </a:lnTo>
                  <a:lnTo>
                    <a:pt x="16" y="58"/>
                  </a:lnTo>
                  <a:lnTo>
                    <a:pt x="12" y="64"/>
                  </a:lnTo>
                  <a:lnTo>
                    <a:pt x="6" y="70"/>
                  </a:lnTo>
                  <a:lnTo>
                    <a:pt x="0" y="72"/>
                  </a:lnTo>
                  <a:lnTo>
                    <a:pt x="0" y="70"/>
                  </a:lnTo>
                  <a:lnTo>
                    <a:pt x="6" y="68"/>
                  </a:lnTo>
                  <a:lnTo>
                    <a:pt x="8" y="64"/>
                  </a:lnTo>
                  <a:lnTo>
                    <a:pt x="12" y="58"/>
                  </a:lnTo>
                  <a:lnTo>
                    <a:pt x="14" y="52"/>
                  </a:lnTo>
                  <a:lnTo>
                    <a:pt x="14" y="46"/>
                  </a:lnTo>
                  <a:lnTo>
                    <a:pt x="14" y="38"/>
                  </a:lnTo>
                  <a:lnTo>
                    <a:pt x="14" y="30"/>
                  </a:lnTo>
                  <a:lnTo>
                    <a:pt x="14" y="22"/>
                  </a:lnTo>
                  <a:lnTo>
                    <a:pt x="12" y="18"/>
                  </a:lnTo>
                  <a:lnTo>
                    <a:pt x="12" y="14"/>
                  </a:lnTo>
                  <a:lnTo>
                    <a:pt x="10" y="12"/>
                  </a:lnTo>
                  <a:lnTo>
                    <a:pt x="8" y="8"/>
                  </a:lnTo>
                  <a:lnTo>
                    <a:pt x="4" y="6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22" name="Freeform 102"/>
            <p:cNvSpPr>
              <a:spLocks noEditPoints="1"/>
            </p:cNvSpPr>
            <p:nvPr/>
          </p:nvSpPr>
          <p:spPr bwMode="auto">
            <a:xfrm>
              <a:off x="3366" y="2796"/>
              <a:ext cx="52" cy="52"/>
            </a:xfrm>
            <a:custGeom>
              <a:avLst/>
              <a:gdLst>
                <a:gd name="T0" fmla="*/ 0 w 52"/>
                <a:gd name="T1" fmla="*/ 52 h 52"/>
                <a:gd name="T2" fmla="*/ 0 w 52"/>
                <a:gd name="T3" fmla="*/ 52 h 52"/>
                <a:gd name="T4" fmla="*/ 2 w 52"/>
                <a:gd name="T5" fmla="*/ 52 h 52"/>
                <a:gd name="T6" fmla="*/ 4 w 52"/>
                <a:gd name="T7" fmla="*/ 52 h 52"/>
                <a:gd name="T8" fmla="*/ 6 w 52"/>
                <a:gd name="T9" fmla="*/ 50 h 52"/>
                <a:gd name="T10" fmla="*/ 6 w 52"/>
                <a:gd name="T11" fmla="*/ 48 h 52"/>
                <a:gd name="T12" fmla="*/ 8 w 52"/>
                <a:gd name="T13" fmla="*/ 44 h 52"/>
                <a:gd name="T14" fmla="*/ 8 w 52"/>
                <a:gd name="T15" fmla="*/ 8 h 52"/>
                <a:gd name="T16" fmla="*/ 6 w 52"/>
                <a:gd name="T17" fmla="*/ 4 h 52"/>
                <a:gd name="T18" fmla="*/ 6 w 52"/>
                <a:gd name="T19" fmla="*/ 2 h 52"/>
                <a:gd name="T20" fmla="*/ 4 w 52"/>
                <a:gd name="T21" fmla="*/ 0 h 52"/>
                <a:gd name="T22" fmla="*/ 2 w 52"/>
                <a:gd name="T23" fmla="*/ 0 h 52"/>
                <a:gd name="T24" fmla="*/ 0 w 52"/>
                <a:gd name="T25" fmla="*/ 0 h 52"/>
                <a:gd name="T26" fmla="*/ 0 w 52"/>
                <a:gd name="T27" fmla="*/ 0 h 52"/>
                <a:gd name="T28" fmla="*/ 22 w 52"/>
                <a:gd name="T29" fmla="*/ 0 h 52"/>
                <a:gd name="T30" fmla="*/ 28 w 52"/>
                <a:gd name="T31" fmla="*/ 0 h 52"/>
                <a:gd name="T32" fmla="*/ 34 w 52"/>
                <a:gd name="T33" fmla="*/ 0 h 52"/>
                <a:gd name="T34" fmla="*/ 40 w 52"/>
                <a:gd name="T35" fmla="*/ 2 h 52"/>
                <a:gd name="T36" fmla="*/ 44 w 52"/>
                <a:gd name="T37" fmla="*/ 6 h 52"/>
                <a:gd name="T38" fmla="*/ 50 w 52"/>
                <a:gd name="T39" fmla="*/ 12 h 52"/>
                <a:gd name="T40" fmla="*/ 52 w 52"/>
                <a:gd name="T41" fmla="*/ 18 h 52"/>
                <a:gd name="T42" fmla="*/ 52 w 52"/>
                <a:gd name="T43" fmla="*/ 26 h 52"/>
                <a:gd name="T44" fmla="*/ 52 w 52"/>
                <a:gd name="T45" fmla="*/ 34 h 52"/>
                <a:gd name="T46" fmla="*/ 50 w 52"/>
                <a:gd name="T47" fmla="*/ 40 h 52"/>
                <a:gd name="T48" fmla="*/ 46 w 52"/>
                <a:gd name="T49" fmla="*/ 44 h 52"/>
                <a:gd name="T50" fmla="*/ 40 w 52"/>
                <a:gd name="T51" fmla="*/ 50 h 52"/>
                <a:gd name="T52" fmla="*/ 32 w 52"/>
                <a:gd name="T53" fmla="*/ 52 h 52"/>
                <a:gd name="T54" fmla="*/ 24 w 52"/>
                <a:gd name="T55" fmla="*/ 52 h 52"/>
                <a:gd name="T56" fmla="*/ 0 w 52"/>
                <a:gd name="T57" fmla="*/ 52 h 52"/>
                <a:gd name="T58" fmla="*/ 14 w 52"/>
                <a:gd name="T59" fmla="*/ 50 h 52"/>
                <a:gd name="T60" fmla="*/ 20 w 52"/>
                <a:gd name="T61" fmla="*/ 50 h 52"/>
                <a:gd name="T62" fmla="*/ 22 w 52"/>
                <a:gd name="T63" fmla="*/ 50 h 52"/>
                <a:gd name="T64" fmla="*/ 28 w 52"/>
                <a:gd name="T65" fmla="*/ 50 h 52"/>
                <a:gd name="T66" fmla="*/ 34 w 52"/>
                <a:gd name="T67" fmla="*/ 48 h 52"/>
                <a:gd name="T68" fmla="*/ 38 w 52"/>
                <a:gd name="T69" fmla="*/ 44 h 52"/>
                <a:gd name="T70" fmla="*/ 42 w 52"/>
                <a:gd name="T71" fmla="*/ 40 h 52"/>
                <a:gd name="T72" fmla="*/ 44 w 52"/>
                <a:gd name="T73" fmla="*/ 34 h 52"/>
                <a:gd name="T74" fmla="*/ 44 w 52"/>
                <a:gd name="T75" fmla="*/ 26 h 52"/>
                <a:gd name="T76" fmla="*/ 44 w 52"/>
                <a:gd name="T77" fmla="*/ 20 h 52"/>
                <a:gd name="T78" fmla="*/ 42 w 52"/>
                <a:gd name="T79" fmla="*/ 14 h 52"/>
                <a:gd name="T80" fmla="*/ 38 w 52"/>
                <a:gd name="T81" fmla="*/ 8 h 52"/>
                <a:gd name="T82" fmla="*/ 34 w 52"/>
                <a:gd name="T83" fmla="*/ 6 h 52"/>
                <a:gd name="T84" fmla="*/ 28 w 52"/>
                <a:gd name="T85" fmla="*/ 2 h 52"/>
                <a:gd name="T86" fmla="*/ 22 w 52"/>
                <a:gd name="T87" fmla="*/ 2 h 52"/>
                <a:gd name="T88" fmla="*/ 18 w 52"/>
                <a:gd name="T89" fmla="*/ 2 h 52"/>
                <a:gd name="T90" fmla="*/ 14 w 52"/>
                <a:gd name="T91" fmla="*/ 4 h 52"/>
                <a:gd name="T92" fmla="*/ 14 w 52"/>
                <a:gd name="T93" fmla="*/ 50 h 52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52"/>
                <a:gd name="T142" fmla="*/ 0 h 52"/>
                <a:gd name="T143" fmla="*/ 52 w 52"/>
                <a:gd name="T144" fmla="*/ 52 h 52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52" h="52">
                  <a:moveTo>
                    <a:pt x="0" y="52"/>
                  </a:moveTo>
                  <a:lnTo>
                    <a:pt x="0" y="52"/>
                  </a:lnTo>
                  <a:lnTo>
                    <a:pt x="2" y="52"/>
                  </a:lnTo>
                  <a:lnTo>
                    <a:pt x="4" y="52"/>
                  </a:lnTo>
                  <a:lnTo>
                    <a:pt x="6" y="50"/>
                  </a:lnTo>
                  <a:lnTo>
                    <a:pt x="6" y="48"/>
                  </a:lnTo>
                  <a:lnTo>
                    <a:pt x="8" y="44"/>
                  </a:lnTo>
                  <a:lnTo>
                    <a:pt x="8" y="8"/>
                  </a:lnTo>
                  <a:lnTo>
                    <a:pt x="6" y="4"/>
                  </a:lnTo>
                  <a:lnTo>
                    <a:pt x="6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22" y="0"/>
                  </a:lnTo>
                  <a:lnTo>
                    <a:pt x="28" y="0"/>
                  </a:lnTo>
                  <a:lnTo>
                    <a:pt x="34" y="0"/>
                  </a:lnTo>
                  <a:lnTo>
                    <a:pt x="40" y="2"/>
                  </a:lnTo>
                  <a:lnTo>
                    <a:pt x="44" y="6"/>
                  </a:lnTo>
                  <a:lnTo>
                    <a:pt x="50" y="12"/>
                  </a:lnTo>
                  <a:lnTo>
                    <a:pt x="52" y="18"/>
                  </a:lnTo>
                  <a:lnTo>
                    <a:pt x="52" y="26"/>
                  </a:lnTo>
                  <a:lnTo>
                    <a:pt x="52" y="34"/>
                  </a:lnTo>
                  <a:lnTo>
                    <a:pt x="50" y="40"/>
                  </a:lnTo>
                  <a:lnTo>
                    <a:pt x="46" y="44"/>
                  </a:lnTo>
                  <a:lnTo>
                    <a:pt x="40" y="50"/>
                  </a:lnTo>
                  <a:lnTo>
                    <a:pt x="32" y="52"/>
                  </a:lnTo>
                  <a:lnTo>
                    <a:pt x="24" y="52"/>
                  </a:lnTo>
                  <a:lnTo>
                    <a:pt x="0" y="52"/>
                  </a:lnTo>
                  <a:close/>
                  <a:moveTo>
                    <a:pt x="14" y="50"/>
                  </a:moveTo>
                  <a:lnTo>
                    <a:pt x="20" y="50"/>
                  </a:lnTo>
                  <a:lnTo>
                    <a:pt x="22" y="50"/>
                  </a:lnTo>
                  <a:lnTo>
                    <a:pt x="28" y="50"/>
                  </a:lnTo>
                  <a:lnTo>
                    <a:pt x="34" y="48"/>
                  </a:lnTo>
                  <a:lnTo>
                    <a:pt x="38" y="44"/>
                  </a:lnTo>
                  <a:lnTo>
                    <a:pt x="42" y="40"/>
                  </a:lnTo>
                  <a:lnTo>
                    <a:pt x="44" y="34"/>
                  </a:lnTo>
                  <a:lnTo>
                    <a:pt x="44" y="26"/>
                  </a:lnTo>
                  <a:lnTo>
                    <a:pt x="44" y="20"/>
                  </a:lnTo>
                  <a:lnTo>
                    <a:pt x="42" y="14"/>
                  </a:lnTo>
                  <a:lnTo>
                    <a:pt x="38" y="8"/>
                  </a:lnTo>
                  <a:lnTo>
                    <a:pt x="34" y="6"/>
                  </a:lnTo>
                  <a:lnTo>
                    <a:pt x="28" y="2"/>
                  </a:lnTo>
                  <a:lnTo>
                    <a:pt x="22" y="2"/>
                  </a:lnTo>
                  <a:lnTo>
                    <a:pt x="18" y="2"/>
                  </a:lnTo>
                  <a:lnTo>
                    <a:pt x="14" y="4"/>
                  </a:lnTo>
                  <a:lnTo>
                    <a:pt x="14" y="5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23" name="Freeform 103"/>
            <p:cNvSpPr/>
            <p:nvPr/>
          </p:nvSpPr>
          <p:spPr bwMode="auto">
            <a:xfrm>
              <a:off x="3424" y="2796"/>
              <a:ext cx="46" cy="52"/>
            </a:xfrm>
            <a:custGeom>
              <a:avLst/>
              <a:gdLst>
                <a:gd name="T0" fmla="*/ 44 w 46"/>
                <a:gd name="T1" fmla="*/ 0 h 52"/>
                <a:gd name="T2" fmla="*/ 46 w 46"/>
                <a:gd name="T3" fmla="*/ 12 h 52"/>
                <a:gd name="T4" fmla="*/ 44 w 46"/>
                <a:gd name="T5" fmla="*/ 12 h 52"/>
                <a:gd name="T6" fmla="*/ 44 w 46"/>
                <a:gd name="T7" fmla="*/ 8 h 52"/>
                <a:gd name="T8" fmla="*/ 44 w 46"/>
                <a:gd name="T9" fmla="*/ 6 h 52"/>
                <a:gd name="T10" fmla="*/ 42 w 46"/>
                <a:gd name="T11" fmla="*/ 4 h 52"/>
                <a:gd name="T12" fmla="*/ 40 w 46"/>
                <a:gd name="T13" fmla="*/ 4 h 52"/>
                <a:gd name="T14" fmla="*/ 38 w 46"/>
                <a:gd name="T15" fmla="*/ 2 h 52"/>
                <a:gd name="T16" fmla="*/ 34 w 46"/>
                <a:gd name="T17" fmla="*/ 2 h 52"/>
                <a:gd name="T18" fmla="*/ 26 w 46"/>
                <a:gd name="T19" fmla="*/ 2 h 52"/>
                <a:gd name="T20" fmla="*/ 26 w 46"/>
                <a:gd name="T21" fmla="*/ 44 h 52"/>
                <a:gd name="T22" fmla="*/ 26 w 46"/>
                <a:gd name="T23" fmla="*/ 48 h 52"/>
                <a:gd name="T24" fmla="*/ 28 w 46"/>
                <a:gd name="T25" fmla="*/ 50 h 52"/>
                <a:gd name="T26" fmla="*/ 30 w 46"/>
                <a:gd name="T27" fmla="*/ 52 h 52"/>
                <a:gd name="T28" fmla="*/ 32 w 46"/>
                <a:gd name="T29" fmla="*/ 52 h 52"/>
                <a:gd name="T30" fmla="*/ 34 w 46"/>
                <a:gd name="T31" fmla="*/ 52 h 52"/>
                <a:gd name="T32" fmla="*/ 34 w 46"/>
                <a:gd name="T33" fmla="*/ 52 h 52"/>
                <a:gd name="T34" fmla="*/ 12 w 46"/>
                <a:gd name="T35" fmla="*/ 52 h 52"/>
                <a:gd name="T36" fmla="*/ 12 w 46"/>
                <a:gd name="T37" fmla="*/ 52 h 52"/>
                <a:gd name="T38" fmla="*/ 14 w 46"/>
                <a:gd name="T39" fmla="*/ 52 h 52"/>
                <a:gd name="T40" fmla="*/ 16 w 46"/>
                <a:gd name="T41" fmla="*/ 52 h 52"/>
                <a:gd name="T42" fmla="*/ 18 w 46"/>
                <a:gd name="T43" fmla="*/ 50 h 52"/>
                <a:gd name="T44" fmla="*/ 18 w 46"/>
                <a:gd name="T45" fmla="*/ 48 h 52"/>
                <a:gd name="T46" fmla="*/ 20 w 46"/>
                <a:gd name="T47" fmla="*/ 44 h 52"/>
                <a:gd name="T48" fmla="*/ 20 w 46"/>
                <a:gd name="T49" fmla="*/ 2 h 52"/>
                <a:gd name="T50" fmla="*/ 12 w 46"/>
                <a:gd name="T51" fmla="*/ 2 h 52"/>
                <a:gd name="T52" fmla="*/ 10 w 46"/>
                <a:gd name="T53" fmla="*/ 2 h 52"/>
                <a:gd name="T54" fmla="*/ 8 w 46"/>
                <a:gd name="T55" fmla="*/ 2 h 52"/>
                <a:gd name="T56" fmla="*/ 6 w 46"/>
                <a:gd name="T57" fmla="*/ 4 h 52"/>
                <a:gd name="T58" fmla="*/ 4 w 46"/>
                <a:gd name="T59" fmla="*/ 6 h 52"/>
                <a:gd name="T60" fmla="*/ 2 w 46"/>
                <a:gd name="T61" fmla="*/ 8 h 52"/>
                <a:gd name="T62" fmla="*/ 2 w 46"/>
                <a:gd name="T63" fmla="*/ 12 h 52"/>
                <a:gd name="T64" fmla="*/ 0 w 46"/>
                <a:gd name="T65" fmla="*/ 12 h 52"/>
                <a:gd name="T66" fmla="*/ 2 w 46"/>
                <a:gd name="T67" fmla="*/ 0 h 52"/>
                <a:gd name="T68" fmla="*/ 44 w 46"/>
                <a:gd name="T69" fmla="*/ 0 h 52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46"/>
                <a:gd name="T106" fmla="*/ 0 h 52"/>
                <a:gd name="T107" fmla="*/ 46 w 46"/>
                <a:gd name="T108" fmla="*/ 52 h 52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46" h="52">
                  <a:moveTo>
                    <a:pt x="44" y="0"/>
                  </a:moveTo>
                  <a:lnTo>
                    <a:pt x="46" y="12"/>
                  </a:lnTo>
                  <a:lnTo>
                    <a:pt x="44" y="12"/>
                  </a:lnTo>
                  <a:lnTo>
                    <a:pt x="44" y="8"/>
                  </a:lnTo>
                  <a:lnTo>
                    <a:pt x="44" y="6"/>
                  </a:lnTo>
                  <a:lnTo>
                    <a:pt x="42" y="4"/>
                  </a:lnTo>
                  <a:lnTo>
                    <a:pt x="40" y="4"/>
                  </a:lnTo>
                  <a:lnTo>
                    <a:pt x="38" y="2"/>
                  </a:lnTo>
                  <a:lnTo>
                    <a:pt x="34" y="2"/>
                  </a:lnTo>
                  <a:lnTo>
                    <a:pt x="26" y="2"/>
                  </a:lnTo>
                  <a:lnTo>
                    <a:pt x="26" y="44"/>
                  </a:lnTo>
                  <a:lnTo>
                    <a:pt x="26" y="48"/>
                  </a:lnTo>
                  <a:lnTo>
                    <a:pt x="28" y="50"/>
                  </a:lnTo>
                  <a:lnTo>
                    <a:pt x="30" y="52"/>
                  </a:lnTo>
                  <a:lnTo>
                    <a:pt x="32" y="52"/>
                  </a:lnTo>
                  <a:lnTo>
                    <a:pt x="34" y="52"/>
                  </a:lnTo>
                  <a:lnTo>
                    <a:pt x="12" y="52"/>
                  </a:lnTo>
                  <a:lnTo>
                    <a:pt x="14" y="52"/>
                  </a:lnTo>
                  <a:lnTo>
                    <a:pt x="16" y="52"/>
                  </a:lnTo>
                  <a:lnTo>
                    <a:pt x="18" y="50"/>
                  </a:lnTo>
                  <a:lnTo>
                    <a:pt x="18" y="48"/>
                  </a:lnTo>
                  <a:lnTo>
                    <a:pt x="20" y="44"/>
                  </a:lnTo>
                  <a:lnTo>
                    <a:pt x="20" y="2"/>
                  </a:lnTo>
                  <a:lnTo>
                    <a:pt x="12" y="2"/>
                  </a:lnTo>
                  <a:lnTo>
                    <a:pt x="10" y="2"/>
                  </a:lnTo>
                  <a:lnTo>
                    <a:pt x="8" y="2"/>
                  </a:lnTo>
                  <a:lnTo>
                    <a:pt x="6" y="4"/>
                  </a:lnTo>
                  <a:lnTo>
                    <a:pt x="4" y="6"/>
                  </a:lnTo>
                  <a:lnTo>
                    <a:pt x="2" y="8"/>
                  </a:lnTo>
                  <a:lnTo>
                    <a:pt x="2" y="12"/>
                  </a:lnTo>
                  <a:lnTo>
                    <a:pt x="0" y="12"/>
                  </a:lnTo>
                  <a:lnTo>
                    <a:pt x="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24" name="Freeform 104"/>
            <p:cNvSpPr/>
            <p:nvPr/>
          </p:nvSpPr>
          <p:spPr bwMode="auto">
            <a:xfrm>
              <a:off x="3474" y="2794"/>
              <a:ext cx="22" cy="72"/>
            </a:xfrm>
            <a:custGeom>
              <a:avLst/>
              <a:gdLst>
                <a:gd name="T0" fmla="*/ 22 w 22"/>
                <a:gd name="T1" fmla="*/ 70 h 72"/>
                <a:gd name="T2" fmla="*/ 22 w 22"/>
                <a:gd name="T3" fmla="*/ 72 h 72"/>
                <a:gd name="T4" fmla="*/ 18 w 22"/>
                <a:gd name="T5" fmla="*/ 68 h 72"/>
                <a:gd name="T6" fmla="*/ 12 w 22"/>
                <a:gd name="T7" fmla="*/ 64 h 72"/>
                <a:gd name="T8" fmla="*/ 8 w 22"/>
                <a:gd name="T9" fmla="*/ 58 h 72"/>
                <a:gd name="T10" fmla="*/ 4 w 22"/>
                <a:gd name="T11" fmla="*/ 52 h 72"/>
                <a:gd name="T12" fmla="*/ 2 w 22"/>
                <a:gd name="T13" fmla="*/ 44 h 72"/>
                <a:gd name="T14" fmla="*/ 0 w 22"/>
                <a:gd name="T15" fmla="*/ 36 h 72"/>
                <a:gd name="T16" fmla="*/ 2 w 22"/>
                <a:gd name="T17" fmla="*/ 28 h 72"/>
                <a:gd name="T18" fmla="*/ 4 w 22"/>
                <a:gd name="T19" fmla="*/ 20 h 72"/>
                <a:gd name="T20" fmla="*/ 6 w 22"/>
                <a:gd name="T21" fmla="*/ 14 h 72"/>
                <a:gd name="T22" fmla="*/ 12 w 22"/>
                <a:gd name="T23" fmla="*/ 8 h 72"/>
                <a:gd name="T24" fmla="*/ 16 w 22"/>
                <a:gd name="T25" fmla="*/ 4 h 72"/>
                <a:gd name="T26" fmla="*/ 22 w 22"/>
                <a:gd name="T27" fmla="*/ 0 h 72"/>
                <a:gd name="T28" fmla="*/ 22 w 22"/>
                <a:gd name="T29" fmla="*/ 2 h 72"/>
                <a:gd name="T30" fmla="*/ 18 w 22"/>
                <a:gd name="T31" fmla="*/ 4 h 72"/>
                <a:gd name="T32" fmla="*/ 14 w 22"/>
                <a:gd name="T33" fmla="*/ 8 h 72"/>
                <a:gd name="T34" fmla="*/ 12 w 22"/>
                <a:gd name="T35" fmla="*/ 14 h 72"/>
                <a:gd name="T36" fmla="*/ 10 w 22"/>
                <a:gd name="T37" fmla="*/ 20 h 72"/>
                <a:gd name="T38" fmla="*/ 8 w 22"/>
                <a:gd name="T39" fmla="*/ 28 h 72"/>
                <a:gd name="T40" fmla="*/ 8 w 22"/>
                <a:gd name="T41" fmla="*/ 34 h 72"/>
                <a:gd name="T42" fmla="*/ 8 w 22"/>
                <a:gd name="T43" fmla="*/ 42 h 72"/>
                <a:gd name="T44" fmla="*/ 10 w 22"/>
                <a:gd name="T45" fmla="*/ 50 h 72"/>
                <a:gd name="T46" fmla="*/ 10 w 22"/>
                <a:gd name="T47" fmla="*/ 54 h 72"/>
                <a:gd name="T48" fmla="*/ 12 w 22"/>
                <a:gd name="T49" fmla="*/ 58 h 72"/>
                <a:gd name="T50" fmla="*/ 14 w 22"/>
                <a:gd name="T51" fmla="*/ 62 h 72"/>
                <a:gd name="T52" fmla="*/ 16 w 22"/>
                <a:gd name="T53" fmla="*/ 64 h 72"/>
                <a:gd name="T54" fmla="*/ 18 w 22"/>
                <a:gd name="T55" fmla="*/ 68 h 72"/>
                <a:gd name="T56" fmla="*/ 22 w 22"/>
                <a:gd name="T57" fmla="*/ 70 h 7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2"/>
                <a:gd name="T88" fmla="*/ 0 h 72"/>
                <a:gd name="T89" fmla="*/ 22 w 22"/>
                <a:gd name="T90" fmla="*/ 72 h 7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2" h="72">
                  <a:moveTo>
                    <a:pt x="22" y="70"/>
                  </a:moveTo>
                  <a:lnTo>
                    <a:pt x="22" y="72"/>
                  </a:lnTo>
                  <a:lnTo>
                    <a:pt x="18" y="68"/>
                  </a:lnTo>
                  <a:lnTo>
                    <a:pt x="12" y="64"/>
                  </a:lnTo>
                  <a:lnTo>
                    <a:pt x="8" y="58"/>
                  </a:lnTo>
                  <a:lnTo>
                    <a:pt x="4" y="52"/>
                  </a:lnTo>
                  <a:lnTo>
                    <a:pt x="2" y="44"/>
                  </a:lnTo>
                  <a:lnTo>
                    <a:pt x="0" y="36"/>
                  </a:lnTo>
                  <a:lnTo>
                    <a:pt x="2" y="28"/>
                  </a:lnTo>
                  <a:lnTo>
                    <a:pt x="4" y="20"/>
                  </a:lnTo>
                  <a:lnTo>
                    <a:pt x="6" y="14"/>
                  </a:lnTo>
                  <a:lnTo>
                    <a:pt x="12" y="8"/>
                  </a:lnTo>
                  <a:lnTo>
                    <a:pt x="16" y="4"/>
                  </a:lnTo>
                  <a:lnTo>
                    <a:pt x="22" y="0"/>
                  </a:lnTo>
                  <a:lnTo>
                    <a:pt x="22" y="2"/>
                  </a:lnTo>
                  <a:lnTo>
                    <a:pt x="18" y="4"/>
                  </a:lnTo>
                  <a:lnTo>
                    <a:pt x="14" y="8"/>
                  </a:lnTo>
                  <a:lnTo>
                    <a:pt x="12" y="14"/>
                  </a:lnTo>
                  <a:lnTo>
                    <a:pt x="10" y="20"/>
                  </a:lnTo>
                  <a:lnTo>
                    <a:pt x="8" y="28"/>
                  </a:lnTo>
                  <a:lnTo>
                    <a:pt x="8" y="34"/>
                  </a:lnTo>
                  <a:lnTo>
                    <a:pt x="8" y="42"/>
                  </a:lnTo>
                  <a:lnTo>
                    <a:pt x="10" y="50"/>
                  </a:lnTo>
                  <a:lnTo>
                    <a:pt x="10" y="54"/>
                  </a:lnTo>
                  <a:lnTo>
                    <a:pt x="12" y="58"/>
                  </a:lnTo>
                  <a:lnTo>
                    <a:pt x="14" y="62"/>
                  </a:lnTo>
                  <a:lnTo>
                    <a:pt x="16" y="64"/>
                  </a:lnTo>
                  <a:lnTo>
                    <a:pt x="18" y="68"/>
                  </a:lnTo>
                  <a:lnTo>
                    <a:pt x="22" y="7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25" name="Freeform 105"/>
            <p:cNvSpPr>
              <a:spLocks noEditPoints="1"/>
            </p:cNvSpPr>
            <p:nvPr/>
          </p:nvSpPr>
          <p:spPr bwMode="auto">
            <a:xfrm>
              <a:off x="3500" y="2812"/>
              <a:ext cx="34" cy="38"/>
            </a:xfrm>
            <a:custGeom>
              <a:avLst/>
              <a:gdLst>
                <a:gd name="T0" fmla="*/ 16 w 34"/>
                <a:gd name="T1" fmla="*/ 36 h 38"/>
                <a:gd name="T2" fmla="*/ 12 w 34"/>
                <a:gd name="T3" fmla="*/ 38 h 38"/>
                <a:gd name="T4" fmla="*/ 6 w 34"/>
                <a:gd name="T5" fmla="*/ 38 h 38"/>
                <a:gd name="T6" fmla="*/ 2 w 34"/>
                <a:gd name="T7" fmla="*/ 32 h 38"/>
                <a:gd name="T8" fmla="*/ 0 w 34"/>
                <a:gd name="T9" fmla="*/ 26 h 38"/>
                <a:gd name="T10" fmla="*/ 4 w 34"/>
                <a:gd name="T11" fmla="*/ 22 h 38"/>
                <a:gd name="T12" fmla="*/ 12 w 34"/>
                <a:gd name="T13" fmla="*/ 16 h 38"/>
                <a:gd name="T14" fmla="*/ 20 w 34"/>
                <a:gd name="T15" fmla="*/ 12 h 38"/>
                <a:gd name="T16" fmla="*/ 18 w 34"/>
                <a:gd name="T17" fmla="*/ 4 h 38"/>
                <a:gd name="T18" fmla="*/ 14 w 34"/>
                <a:gd name="T19" fmla="*/ 2 h 38"/>
                <a:gd name="T20" fmla="*/ 10 w 34"/>
                <a:gd name="T21" fmla="*/ 4 h 38"/>
                <a:gd name="T22" fmla="*/ 8 w 34"/>
                <a:gd name="T23" fmla="*/ 8 h 38"/>
                <a:gd name="T24" fmla="*/ 8 w 34"/>
                <a:gd name="T25" fmla="*/ 12 h 38"/>
                <a:gd name="T26" fmla="*/ 6 w 34"/>
                <a:gd name="T27" fmla="*/ 14 h 38"/>
                <a:gd name="T28" fmla="*/ 4 w 34"/>
                <a:gd name="T29" fmla="*/ 14 h 38"/>
                <a:gd name="T30" fmla="*/ 2 w 34"/>
                <a:gd name="T31" fmla="*/ 12 h 38"/>
                <a:gd name="T32" fmla="*/ 4 w 34"/>
                <a:gd name="T33" fmla="*/ 6 h 38"/>
                <a:gd name="T34" fmla="*/ 10 w 34"/>
                <a:gd name="T35" fmla="*/ 2 h 38"/>
                <a:gd name="T36" fmla="*/ 20 w 34"/>
                <a:gd name="T37" fmla="*/ 0 h 38"/>
                <a:gd name="T38" fmla="*/ 26 w 34"/>
                <a:gd name="T39" fmla="*/ 4 h 38"/>
                <a:gd name="T40" fmla="*/ 28 w 34"/>
                <a:gd name="T41" fmla="*/ 8 h 38"/>
                <a:gd name="T42" fmla="*/ 28 w 34"/>
                <a:gd name="T43" fmla="*/ 24 h 38"/>
                <a:gd name="T44" fmla="*/ 28 w 34"/>
                <a:gd name="T45" fmla="*/ 30 h 38"/>
                <a:gd name="T46" fmla="*/ 28 w 34"/>
                <a:gd name="T47" fmla="*/ 32 h 38"/>
                <a:gd name="T48" fmla="*/ 30 w 34"/>
                <a:gd name="T49" fmla="*/ 32 h 38"/>
                <a:gd name="T50" fmla="*/ 30 w 34"/>
                <a:gd name="T51" fmla="*/ 32 h 38"/>
                <a:gd name="T52" fmla="*/ 34 w 34"/>
                <a:gd name="T53" fmla="*/ 30 h 38"/>
                <a:gd name="T54" fmla="*/ 28 w 34"/>
                <a:gd name="T55" fmla="*/ 36 h 38"/>
                <a:gd name="T56" fmla="*/ 24 w 34"/>
                <a:gd name="T57" fmla="*/ 38 h 38"/>
                <a:gd name="T58" fmla="*/ 20 w 34"/>
                <a:gd name="T59" fmla="*/ 34 h 38"/>
                <a:gd name="T60" fmla="*/ 20 w 34"/>
                <a:gd name="T61" fmla="*/ 30 h 38"/>
                <a:gd name="T62" fmla="*/ 16 w 34"/>
                <a:gd name="T63" fmla="*/ 18 h 38"/>
                <a:gd name="T64" fmla="*/ 10 w 34"/>
                <a:gd name="T65" fmla="*/ 20 h 38"/>
                <a:gd name="T66" fmla="*/ 8 w 34"/>
                <a:gd name="T67" fmla="*/ 24 h 38"/>
                <a:gd name="T68" fmla="*/ 8 w 34"/>
                <a:gd name="T69" fmla="*/ 30 h 38"/>
                <a:gd name="T70" fmla="*/ 10 w 34"/>
                <a:gd name="T71" fmla="*/ 32 h 38"/>
                <a:gd name="T72" fmla="*/ 16 w 34"/>
                <a:gd name="T73" fmla="*/ 32 h 38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34"/>
                <a:gd name="T112" fmla="*/ 0 h 38"/>
                <a:gd name="T113" fmla="*/ 34 w 34"/>
                <a:gd name="T114" fmla="*/ 38 h 38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34" h="38">
                  <a:moveTo>
                    <a:pt x="20" y="32"/>
                  </a:moveTo>
                  <a:lnTo>
                    <a:pt x="16" y="36"/>
                  </a:lnTo>
                  <a:lnTo>
                    <a:pt x="14" y="36"/>
                  </a:lnTo>
                  <a:lnTo>
                    <a:pt x="12" y="38"/>
                  </a:lnTo>
                  <a:lnTo>
                    <a:pt x="10" y="38"/>
                  </a:lnTo>
                  <a:lnTo>
                    <a:pt x="6" y="38"/>
                  </a:lnTo>
                  <a:lnTo>
                    <a:pt x="4" y="36"/>
                  </a:lnTo>
                  <a:lnTo>
                    <a:pt x="2" y="32"/>
                  </a:lnTo>
                  <a:lnTo>
                    <a:pt x="0" y="28"/>
                  </a:lnTo>
                  <a:lnTo>
                    <a:pt x="0" y="26"/>
                  </a:lnTo>
                  <a:lnTo>
                    <a:pt x="2" y="24"/>
                  </a:lnTo>
                  <a:lnTo>
                    <a:pt x="4" y="22"/>
                  </a:lnTo>
                  <a:lnTo>
                    <a:pt x="8" y="20"/>
                  </a:lnTo>
                  <a:lnTo>
                    <a:pt x="12" y="16"/>
                  </a:lnTo>
                  <a:lnTo>
                    <a:pt x="20" y="14"/>
                  </a:lnTo>
                  <a:lnTo>
                    <a:pt x="20" y="12"/>
                  </a:lnTo>
                  <a:lnTo>
                    <a:pt x="20" y="8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4" y="2"/>
                  </a:lnTo>
                  <a:lnTo>
                    <a:pt x="12" y="4"/>
                  </a:lnTo>
                  <a:lnTo>
                    <a:pt x="10" y="4"/>
                  </a:lnTo>
                  <a:lnTo>
                    <a:pt x="10" y="6"/>
                  </a:lnTo>
                  <a:lnTo>
                    <a:pt x="8" y="8"/>
                  </a:lnTo>
                  <a:lnTo>
                    <a:pt x="8" y="10"/>
                  </a:lnTo>
                  <a:lnTo>
                    <a:pt x="8" y="12"/>
                  </a:lnTo>
                  <a:lnTo>
                    <a:pt x="6" y="14"/>
                  </a:lnTo>
                  <a:lnTo>
                    <a:pt x="4" y="14"/>
                  </a:lnTo>
                  <a:lnTo>
                    <a:pt x="4" y="12"/>
                  </a:lnTo>
                  <a:lnTo>
                    <a:pt x="2" y="12"/>
                  </a:lnTo>
                  <a:lnTo>
                    <a:pt x="2" y="10"/>
                  </a:lnTo>
                  <a:lnTo>
                    <a:pt x="4" y="6"/>
                  </a:lnTo>
                  <a:lnTo>
                    <a:pt x="6" y="4"/>
                  </a:lnTo>
                  <a:lnTo>
                    <a:pt x="10" y="2"/>
                  </a:lnTo>
                  <a:lnTo>
                    <a:pt x="16" y="0"/>
                  </a:lnTo>
                  <a:lnTo>
                    <a:pt x="20" y="0"/>
                  </a:lnTo>
                  <a:lnTo>
                    <a:pt x="24" y="2"/>
                  </a:lnTo>
                  <a:lnTo>
                    <a:pt x="26" y="4"/>
                  </a:lnTo>
                  <a:lnTo>
                    <a:pt x="26" y="6"/>
                  </a:lnTo>
                  <a:lnTo>
                    <a:pt x="28" y="8"/>
                  </a:lnTo>
                  <a:lnTo>
                    <a:pt x="28" y="12"/>
                  </a:lnTo>
                  <a:lnTo>
                    <a:pt x="28" y="24"/>
                  </a:lnTo>
                  <a:lnTo>
                    <a:pt x="28" y="28"/>
                  </a:lnTo>
                  <a:lnTo>
                    <a:pt x="28" y="30"/>
                  </a:lnTo>
                  <a:lnTo>
                    <a:pt x="28" y="32"/>
                  </a:lnTo>
                  <a:lnTo>
                    <a:pt x="30" y="32"/>
                  </a:lnTo>
                  <a:lnTo>
                    <a:pt x="32" y="32"/>
                  </a:lnTo>
                  <a:lnTo>
                    <a:pt x="34" y="30"/>
                  </a:lnTo>
                  <a:lnTo>
                    <a:pt x="34" y="32"/>
                  </a:lnTo>
                  <a:lnTo>
                    <a:pt x="28" y="36"/>
                  </a:lnTo>
                  <a:lnTo>
                    <a:pt x="24" y="38"/>
                  </a:lnTo>
                  <a:lnTo>
                    <a:pt x="22" y="36"/>
                  </a:lnTo>
                  <a:lnTo>
                    <a:pt x="20" y="34"/>
                  </a:lnTo>
                  <a:lnTo>
                    <a:pt x="20" y="32"/>
                  </a:lnTo>
                  <a:close/>
                  <a:moveTo>
                    <a:pt x="20" y="30"/>
                  </a:moveTo>
                  <a:lnTo>
                    <a:pt x="20" y="16"/>
                  </a:lnTo>
                  <a:lnTo>
                    <a:pt x="16" y="18"/>
                  </a:lnTo>
                  <a:lnTo>
                    <a:pt x="14" y="20"/>
                  </a:lnTo>
                  <a:lnTo>
                    <a:pt x="10" y="20"/>
                  </a:lnTo>
                  <a:lnTo>
                    <a:pt x="8" y="22"/>
                  </a:lnTo>
                  <a:lnTo>
                    <a:pt x="8" y="24"/>
                  </a:lnTo>
                  <a:lnTo>
                    <a:pt x="8" y="26"/>
                  </a:lnTo>
                  <a:lnTo>
                    <a:pt x="8" y="30"/>
                  </a:lnTo>
                  <a:lnTo>
                    <a:pt x="8" y="32"/>
                  </a:lnTo>
                  <a:lnTo>
                    <a:pt x="10" y="32"/>
                  </a:lnTo>
                  <a:lnTo>
                    <a:pt x="12" y="32"/>
                  </a:lnTo>
                  <a:lnTo>
                    <a:pt x="16" y="32"/>
                  </a:lnTo>
                  <a:lnTo>
                    <a:pt x="20" y="3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26" name="Freeform 106"/>
            <p:cNvSpPr/>
            <p:nvPr/>
          </p:nvSpPr>
          <p:spPr bwMode="auto">
            <a:xfrm>
              <a:off x="3536" y="2794"/>
              <a:ext cx="22" cy="72"/>
            </a:xfrm>
            <a:custGeom>
              <a:avLst/>
              <a:gdLst>
                <a:gd name="T0" fmla="*/ 0 w 22"/>
                <a:gd name="T1" fmla="*/ 2 h 72"/>
                <a:gd name="T2" fmla="*/ 0 w 22"/>
                <a:gd name="T3" fmla="*/ 0 h 72"/>
                <a:gd name="T4" fmla="*/ 6 w 22"/>
                <a:gd name="T5" fmla="*/ 4 h 72"/>
                <a:gd name="T6" fmla="*/ 10 w 22"/>
                <a:gd name="T7" fmla="*/ 6 h 72"/>
                <a:gd name="T8" fmla="*/ 14 w 22"/>
                <a:gd name="T9" fmla="*/ 12 h 72"/>
                <a:gd name="T10" fmla="*/ 18 w 22"/>
                <a:gd name="T11" fmla="*/ 20 h 72"/>
                <a:gd name="T12" fmla="*/ 20 w 22"/>
                <a:gd name="T13" fmla="*/ 28 h 72"/>
                <a:gd name="T14" fmla="*/ 22 w 22"/>
                <a:gd name="T15" fmla="*/ 36 h 72"/>
                <a:gd name="T16" fmla="*/ 20 w 22"/>
                <a:gd name="T17" fmla="*/ 44 h 72"/>
                <a:gd name="T18" fmla="*/ 18 w 22"/>
                <a:gd name="T19" fmla="*/ 50 h 72"/>
                <a:gd name="T20" fmla="*/ 16 w 22"/>
                <a:gd name="T21" fmla="*/ 58 h 72"/>
                <a:gd name="T22" fmla="*/ 10 w 22"/>
                <a:gd name="T23" fmla="*/ 64 h 72"/>
                <a:gd name="T24" fmla="*/ 6 w 22"/>
                <a:gd name="T25" fmla="*/ 68 h 72"/>
                <a:gd name="T26" fmla="*/ 0 w 22"/>
                <a:gd name="T27" fmla="*/ 72 h 72"/>
                <a:gd name="T28" fmla="*/ 0 w 22"/>
                <a:gd name="T29" fmla="*/ 70 h 72"/>
                <a:gd name="T30" fmla="*/ 4 w 22"/>
                <a:gd name="T31" fmla="*/ 66 h 72"/>
                <a:gd name="T32" fmla="*/ 8 w 22"/>
                <a:gd name="T33" fmla="*/ 62 h 72"/>
                <a:gd name="T34" fmla="*/ 10 w 22"/>
                <a:gd name="T35" fmla="*/ 58 h 72"/>
                <a:gd name="T36" fmla="*/ 12 w 22"/>
                <a:gd name="T37" fmla="*/ 52 h 72"/>
                <a:gd name="T38" fmla="*/ 14 w 22"/>
                <a:gd name="T39" fmla="*/ 44 h 72"/>
                <a:gd name="T40" fmla="*/ 14 w 22"/>
                <a:gd name="T41" fmla="*/ 36 h 72"/>
                <a:gd name="T42" fmla="*/ 14 w 22"/>
                <a:gd name="T43" fmla="*/ 28 h 72"/>
                <a:gd name="T44" fmla="*/ 12 w 22"/>
                <a:gd name="T45" fmla="*/ 22 h 72"/>
                <a:gd name="T46" fmla="*/ 12 w 22"/>
                <a:gd name="T47" fmla="*/ 18 h 72"/>
                <a:gd name="T48" fmla="*/ 10 w 22"/>
                <a:gd name="T49" fmla="*/ 14 h 72"/>
                <a:gd name="T50" fmla="*/ 8 w 22"/>
                <a:gd name="T51" fmla="*/ 10 h 72"/>
                <a:gd name="T52" fmla="*/ 6 w 22"/>
                <a:gd name="T53" fmla="*/ 8 h 72"/>
                <a:gd name="T54" fmla="*/ 4 w 22"/>
                <a:gd name="T55" fmla="*/ 4 h 72"/>
                <a:gd name="T56" fmla="*/ 0 w 22"/>
                <a:gd name="T57" fmla="*/ 2 h 7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2"/>
                <a:gd name="T88" fmla="*/ 0 h 72"/>
                <a:gd name="T89" fmla="*/ 22 w 22"/>
                <a:gd name="T90" fmla="*/ 72 h 7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2" h="72">
                  <a:moveTo>
                    <a:pt x="0" y="2"/>
                  </a:moveTo>
                  <a:lnTo>
                    <a:pt x="0" y="0"/>
                  </a:lnTo>
                  <a:lnTo>
                    <a:pt x="6" y="4"/>
                  </a:lnTo>
                  <a:lnTo>
                    <a:pt x="10" y="6"/>
                  </a:lnTo>
                  <a:lnTo>
                    <a:pt x="14" y="12"/>
                  </a:lnTo>
                  <a:lnTo>
                    <a:pt x="18" y="20"/>
                  </a:lnTo>
                  <a:lnTo>
                    <a:pt x="20" y="28"/>
                  </a:lnTo>
                  <a:lnTo>
                    <a:pt x="22" y="36"/>
                  </a:lnTo>
                  <a:lnTo>
                    <a:pt x="20" y="44"/>
                  </a:lnTo>
                  <a:lnTo>
                    <a:pt x="18" y="50"/>
                  </a:lnTo>
                  <a:lnTo>
                    <a:pt x="16" y="58"/>
                  </a:lnTo>
                  <a:lnTo>
                    <a:pt x="10" y="64"/>
                  </a:lnTo>
                  <a:lnTo>
                    <a:pt x="6" y="68"/>
                  </a:lnTo>
                  <a:lnTo>
                    <a:pt x="0" y="72"/>
                  </a:lnTo>
                  <a:lnTo>
                    <a:pt x="0" y="70"/>
                  </a:lnTo>
                  <a:lnTo>
                    <a:pt x="4" y="66"/>
                  </a:lnTo>
                  <a:lnTo>
                    <a:pt x="8" y="62"/>
                  </a:lnTo>
                  <a:lnTo>
                    <a:pt x="10" y="58"/>
                  </a:lnTo>
                  <a:lnTo>
                    <a:pt x="12" y="52"/>
                  </a:lnTo>
                  <a:lnTo>
                    <a:pt x="14" y="44"/>
                  </a:lnTo>
                  <a:lnTo>
                    <a:pt x="14" y="36"/>
                  </a:lnTo>
                  <a:lnTo>
                    <a:pt x="14" y="28"/>
                  </a:lnTo>
                  <a:lnTo>
                    <a:pt x="12" y="22"/>
                  </a:lnTo>
                  <a:lnTo>
                    <a:pt x="12" y="18"/>
                  </a:lnTo>
                  <a:lnTo>
                    <a:pt x="10" y="14"/>
                  </a:lnTo>
                  <a:lnTo>
                    <a:pt x="8" y="10"/>
                  </a:lnTo>
                  <a:lnTo>
                    <a:pt x="6" y="8"/>
                  </a:lnTo>
                  <a:lnTo>
                    <a:pt x="4" y="4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27" name="Freeform 107"/>
            <p:cNvSpPr/>
            <p:nvPr/>
          </p:nvSpPr>
          <p:spPr bwMode="auto">
            <a:xfrm>
              <a:off x="3906" y="2796"/>
              <a:ext cx="58" cy="54"/>
            </a:xfrm>
            <a:custGeom>
              <a:avLst/>
              <a:gdLst>
                <a:gd name="T0" fmla="*/ 0 w 58"/>
                <a:gd name="T1" fmla="*/ 0 h 54"/>
                <a:gd name="T2" fmla="*/ 14 w 58"/>
                <a:gd name="T3" fmla="*/ 0 h 54"/>
                <a:gd name="T4" fmla="*/ 48 w 58"/>
                <a:gd name="T5" fmla="*/ 40 h 54"/>
                <a:gd name="T6" fmla="*/ 48 w 58"/>
                <a:gd name="T7" fmla="*/ 8 h 54"/>
                <a:gd name="T8" fmla="*/ 46 w 58"/>
                <a:gd name="T9" fmla="*/ 4 h 54"/>
                <a:gd name="T10" fmla="*/ 46 w 58"/>
                <a:gd name="T11" fmla="*/ 2 h 54"/>
                <a:gd name="T12" fmla="*/ 44 w 58"/>
                <a:gd name="T13" fmla="*/ 0 h 54"/>
                <a:gd name="T14" fmla="*/ 42 w 58"/>
                <a:gd name="T15" fmla="*/ 0 h 54"/>
                <a:gd name="T16" fmla="*/ 40 w 58"/>
                <a:gd name="T17" fmla="*/ 0 h 54"/>
                <a:gd name="T18" fmla="*/ 40 w 58"/>
                <a:gd name="T19" fmla="*/ 0 h 54"/>
                <a:gd name="T20" fmla="*/ 58 w 58"/>
                <a:gd name="T21" fmla="*/ 0 h 54"/>
                <a:gd name="T22" fmla="*/ 58 w 58"/>
                <a:gd name="T23" fmla="*/ 0 h 54"/>
                <a:gd name="T24" fmla="*/ 56 w 58"/>
                <a:gd name="T25" fmla="*/ 0 h 54"/>
                <a:gd name="T26" fmla="*/ 54 w 58"/>
                <a:gd name="T27" fmla="*/ 2 h 54"/>
                <a:gd name="T28" fmla="*/ 52 w 58"/>
                <a:gd name="T29" fmla="*/ 2 h 54"/>
                <a:gd name="T30" fmla="*/ 50 w 58"/>
                <a:gd name="T31" fmla="*/ 4 h 54"/>
                <a:gd name="T32" fmla="*/ 50 w 58"/>
                <a:gd name="T33" fmla="*/ 8 h 54"/>
                <a:gd name="T34" fmla="*/ 50 w 58"/>
                <a:gd name="T35" fmla="*/ 54 h 54"/>
                <a:gd name="T36" fmla="*/ 48 w 58"/>
                <a:gd name="T37" fmla="*/ 54 h 54"/>
                <a:gd name="T38" fmla="*/ 14 w 58"/>
                <a:gd name="T39" fmla="*/ 12 h 54"/>
                <a:gd name="T40" fmla="*/ 14 w 58"/>
                <a:gd name="T41" fmla="*/ 44 h 54"/>
                <a:gd name="T42" fmla="*/ 14 w 58"/>
                <a:gd name="T43" fmla="*/ 48 h 54"/>
                <a:gd name="T44" fmla="*/ 14 w 58"/>
                <a:gd name="T45" fmla="*/ 50 h 54"/>
                <a:gd name="T46" fmla="*/ 16 w 58"/>
                <a:gd name="T47" fmla="*/ 52 h 54"/>
                <a:gd name="T48" fmla="*/ 20 w 58"/>
                <a:gd name="T49" fmla="*/ 52 h 54"/>
                <a:gd name="T50" fmla="*/ 22 w 58"/>
                <a:gd name="T51" fmla="*/ 52 h 54"/>
                <a:gd name="T52" fmla="*/ 22 w 58"/>
                <a:gd name="T53" fmla="*/ 52 h 54"/>
                <a:gd name="T54" fmla="*/ 2 w 58"/>
                <a:gd name="T55" fmla="*/ 52 h 54"/>
                <a:gd name="T56" fmla="*/ 2 w 58"/>
                <a:gd name="T57" fmla="*/ 52 h 54"/>
                <a:gd name="T58" fmla="*/ 4 w 58"/>
                <a:gd name="T59" fmla="*/ 52 h 54"/>
                <a:gd name="T60" fmla="*/ 8 w 58"/>
                <a:gd name="T61" fmla="*/ 52 h 54"/>
                <a:gd name="T62" fmla="*/ 10 w 58"/>
                <a:gd name="T63" fmla="*/ 50 h 54"/>
                <a:gd name="T64" fmla="*/ 10 w 58"/>
                <a:gd name="T65" fmla="*/ 48 h 54"/>
                <a:gd name="T66" fmla="*/ 10 w 58"/>
                <a:gd name="T67" fmla="*/ 44 h 54"/>
                <a:gd name="T68" fmla="*/ 10 w 58"/>
                <a:gd name="T69" fmla="*/ 8 h 54"/>
                <a:gd name="T70" fmla="*/ 8 w 58"/>
                <a:gd name="T71" fmla="*/ 4 h 54"/>
                <a:gd name="T72" fmla="*/ 6 w 58"/>
                <a:gd name="T73" fmla="*/ 4 h 54"/>
                <a:gd name="T74" fmla="*/ 6 w 58"/>
                <a:gd name="T75" fmla="*/ 2 h 54"/>
                <a:gd name="T76" fmla="*/ 4 w 58"/>
                <a:gd name="T77" fmla="*/ 2 h 54"/>
                <a:gd name="T78" fmla="*/ 2 w 58"/>
                <a:gd name="T79" fmla="*/ 2 h 54"/>
                <a:gd name="T80" fmla="*/ 0 w 58"/>
                <a:gd name="T81" fmla="*/ 2 h 54"/>
                <a:gd name="T82" fmla="*/ 0 w 58"/>
                <a:gd name="T83" fmla="*/ 0 h 5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58"/>
                <a:gd name="T127" fmla="*/ 0 h 54"/>
                <a:gd name="T128" fmla="*/ 58 w 58"/>
                <a:gd name="T129" fmla="*/ 54 h 5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58" h="54">
                  <a:moveTo>
                    <a:pt x="0" y="0"/>
                  </a:moveTo>
                  <a:lnTo>
                    <a:pt x="14" y="0"/>
                  </a:lnTo>
                  <a:lnTo>
                    <a:pt x="48" y="40"/>
                  </a:lnTo>
                  <a:lnTo>
                    <a:pt x="48" y="8"/>
                  </a:lnTo>
                  <a:lnTo>
                    <a:pt x="46" y="4"/>
                  </a:lnTo>
                  <a:lnTo>
                    <a:pt x="46" y="2"/>
                  </a:lnTo>
                  <a:lnTo>
                    <a:pt x="44" y="0"/>
                  </a:lnTo>
                  <a:lnTo>
                    <a:pt x="42" y="0"/>
                  </a:lnTo>
                  <a:lnTo>
                    <a:pt x="40" y="0"/>
                  </a:lnTo>
                  <a:lnTo>
                    <a:pt x="58" y="0"/>
                  </a:lnTo>
                  <a:lnTo>
                    <a:pt x="56" y="0"/>
                  </a:lnTo>
                  <a:lnTo>
                    <a:pt x="54" y="2"/>
                  </a:lnTo>
                  <a:lnTo>
                    <a:pt x="52" y="2"/>
                  </a:lnTo>
                  <a:lnTo>
                    <a:pt x="50" y="4"/>
                  </a:lnTo>
                  <a:lnTo>
                    <a:pt x="50" y="8"/>
                  </a:lnTo>
                  <a:lnTo>
                    <a:pt x="50" y="54"/>
                  </a:lnTo>
                  <a:lnTo>
                    <a:pt x="48" y="54"/>
                  </a:lnTo>
                  <a:lnTo>
                    <a:pt x="14" y="12"/>
                  </a:lnTo>
                  <a:lnTo>
                    <a:pt x="14" y="44"/>
                  </a:lnTo>
                  <a:lnTo>
                    <a:pt x="14" y="48"/>
                  </a:lnTo>
                  <a:lnTo>
                    <a:pt x="14" y="50"/>
                  </a:lnTo>
                  <a:lnTo>
                    <a:pt x="16" y="52"/>
                  </a:lnTo>
                  <a:lnTo>
                    <a:pt x="20" y="52"/>
                  </a:lnTo>
                  <a:lnTo>
                    <a:pt x="22" y="52"/>
                  </a:lnTo>
                  <a:lnTo>
                    <a:pt x="2" y="52"/>
                  </a:lnTo>
                  <a:lnTo>
                    <a:pt x="4" y="52"/>
                  </a:lnTo>
                  <a:lnTo>
                    <a:pt x="8" y="52"/>
                  </a:lnTo>
                  <a:lnTo>
                    <a:pt x="10" y="50"/>
                  </a:lnTo>
                  <a:lnTo>
                    <a:pt x="10" y="48"/>
                  </a:lnTo>
                  <a:lnTo>
                    <a:pt x="10" y="44"/>
                  </a:lnTo>
                  <a:lnTo>
                    <a:pt x="10" y="8"/>
                  </a:lnTo>
                  <a:lnTo>
                    <a:pt x="8" y="4"/>
                  </a:lnTo>
                  <a:lnTo>
                    <a:pt x="6" y="4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28" name="Freeform 108"/>
            <p:cNvSpPr/>
            <p:nvPr/>
          </p:nvSpPr>
          <p:spPr bwMode="auto">
            <a:xfrm>
              <a:off x="3964" y="2796"/>
              <a:ext cx="58" cy="54"/>
            </a:xfrm>
            <a:custGeom>
              <a:avLst/>
              <a:gdLst>
                <a:gd name="T0" fmla="*/ 0 w 58"/>
                <a:gd name="T1" fmla="*/ 0 h 54"/>
                <a:gd name="T2" fmla="*/ 14 w 58"/>
                <a:gd name="T3" fmla="*/ 0 h 54"/>
                <a:gd name="T4" fmla="*/ 46 w 58"/>
                <a:gd name="T5" fmla="*/ 40 h 54"/>
                <a:gd name="T6" fmla="*/ 46 w 58"/>
                <a:gd name="T7" fmla="*/ 8 h 54"/>
                <a:gd name="T8" fmla="*/ 46 w 58"/>
                <a:gd name="T9" fmla="*/ 4 h 54"/>
                <a:gd name="T10" fmla="*/ 46 w 58"/>
                <a:gd name="T11" fmla="*/ 2 h 54"/>
                <a:gd name="T12" fmla="*/ 44 w 58"/>
                <a:gd name="T13" fmla="*/ 0 h 54"/>
                <a:gd name="T14" fmla="*/ 40 w 58"/>
                <a:gd name="T15" fmla="*/ 0 h 54"/>
                <a:gd name="T16" fmla="*/ 40 w 58"/>
                <a:gd name="T17" fmla="*/ 0 h 54"/>
                <a:gd name="T18" fmla="*/ 40 w 58"/>
                <a:gd name="T19" fmla="*/ 0 h 54"/>
                <a:gd name="T20" fmla="*/ 58 w 58"/>
                <a:gd name="T21" fmla="*/ 0 h 54"/>
                <a:gd name="T22" fmla="*/ 58 w 58"/>
                <a:gd name="T23" fmla="*/ 0 h 54"/>
                <a:gd name="T24" fmla="*/ 56 w 58"/>
                <a:gd name="T25" fmla="*/ 0 h 54"/>
                <a:gd name="T26" fmla="*/ 52 w 58"/>
                <a:gd name="T27" fmla="*/ 2 h 54"/>
                <a:gd name="T28" fmla="*/ 50 w 58"/>
                <a:gd name="T29" fmla="*/ 2 h 54"/>
                <a:gd name="T30" fmla="*/ 50 w 58"/>
                <a:gd name="T31" fmla="*/ 4 h 54"/>
                <a:gd name="T32" fmla="*/ 50 w 58"/>
                <a:gd name="T33" fmla="*/ 8 h 54"/>
                <a:gd name="T34" fmla="*/ 50 w 58"/>
                <a:gd name="T35" fmla="*/ 54 h 54"/>
                <a:gd name="T36" fmla="*/ 48 w 58"/>
                <a:gd name="T37" fmla="*/ 54 h 54"/>
                <a:gd name="T38" fmla="*/ 14 w 58"/>
                <a:gd name="T39" fmla="*/ 12 h 54"/>
                <a:gd name="T40" fmla="*/ 14 w 58"/>
                <a:gd name="T41" fmla="*/ 44 h 54"/>
                <a:gd name="T42" fmla="*/ 14 w 58"/>
                <a:gd name="T43" fmla="*/ 48 h 54"/>
                <a:gd name="T44" fmla="*/ 14 w 58"/>
                <a:gd name="T45" fmla="*/ 50 h 54"/>
                <a:gd name="T46" fmla="*/ 16 w 58"/>
                <a:gd name="T47" fmla="*/ 52 h 54"/>
                <a:gd name="T48" fmla="*/ 18 w 58"/>
                <a:gd name="T49" fmla="*/ 52 h 54"/>
                <a:gd name="T50" fmla="*/ 20 w 58"/>
                <a:gd name="T51" fmla="*/ 52 h 54"/>
                <a:gd name="T52" fmla="*/ 20 w 58"/>
                <a:gd name="T53" fmla="*/ 52 h 54"/>
                <a:gd name="T54" fmla="*/ 2 w 58"/>
                <a:gd name="T55" fmla="*/ 52 h 54"/>
                <a:gd name="T56" fmla="*/ 2 w 58"/>
                <a:gd name="T57" fmla="*/ 52 h 54"/>
                <a:gd name="T58" fmla="*/ 4 w 58"/>
                <a:gd name="T59" fmla="*/ 52 h 54"/>
                <a:gd name="T60" fmla="*/ 8 w 58"/>
                <a:gd name="T61" fmla="*/ 52 h 54"/>
                <a:gd name="T62" fmla="*/ 10 w 58"/>
                <a:gd name="T63" fmla="*/ 50 h 54"/>
                <a:gd name="T64" fmla="*/ 10 w 58"/>
                <a:gd name="T65" fmla="*/ 48 h 54"/>
                <a:gd name="T66" fmla="*/ 10 w 58"/>
                <a:gd name="T67" fmla="*/ 44 h 54"/>
                <a:gd name="T68" fmla="*/ 10 w 58"/>
                <a:gd name="T69" fmla="*/ 8 h 54"/>
                <a:gd name="T70" fmla="*/ 8 w 58"/>
                <a:gd name="T71" fmla="*/ 4 h 54"/>
                <a:gd name="T72" fmla="*/ 6 w 58"/>
                <a:gd name="T73" fmla="*/ 4 h 54"/>
                <a:gd name="T74" fmla="*/ 4 w 58"/>
                <a:gd name="T75" fmla="*/ 2 h 54"/>
                <a:gd name="T76" fmla="*/ 2 w 58"/>
                <a:gd name="T77" fmla="*/ 2 h 54"/>
                <a:gd name="T78" fmla="*/ 2 w 58"/>
                <a:gd name="T79" fmla="*/ 2 h 54"/>
                <a:gd name="T80" fmla="*/ 0 w 58"/>
                <a:gd name="T81" fmla="*/ 2 h 54"/>
                <a:gd name="T82" fmla="*/ 0 w 58"/>
                <a:gd name="T83" fmla="*/ 0 h 5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58"/>
                <a:gd name="T127" fmla="*/ 0 h 54"/>
                <a:gd name="T128" fmla="*/ 58 w 58"/>
                <a:gd name="T129" fmla="*/ 54 h 5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58" h="54">
                  <a:moveTo>
                    <a:pt x="0" y="0"/>
                  </a:moveTo>
                  <a:lnTo>
                    <a:pt x="14" y="0"/>
                  </a:lnTo>
                  <a:lnTo>
                    <a:pt x="46" y="40"/>
                  </a:lnTo>
                  <a:lnTo>
                    <a:pt x="46" y="8"/>
                  </a:lnTo>
                  <a:lnTo>
                    <a:pt x="46" y="4"/>
                  </a:lnTo>
                  <a:lnTo>
                    <a:pt x="46" y="2"/>
                  </a:lnTo>
                  <a:lnTo>
                    <a:pt x="44" y="0"/>
                  </a:lnTo>
                  <a:lnTo>
                    <a:pt x="40" y="0"/>
                  </a:lnTo>
                  <a:lnTo>
                    <a:pt x="58" y="0"/>
                  </a:lnTo>
                  <a:lnTo>
                    <a:pt x="56" y="0"/>
                  </a:lnTo>
                  <a:lnTo>
                    <a:pt x="52" y="2"/>
                  </a:lnTo>
                  <a:lnTo>
                    <a:pt x="50" y="2"/>
                  </a:lnTo>
                  <a:lnTo>
                    <a:pt x="50" y="4"/>
                  </a:lnTo>
                  <a:lnTo>
                    <a:pt x="50" y="8"/>
                  </a:lnTo>
                  <a:lnTo>
                    <a:pt x="50" y="54"/>
                  </a:lnTo>
                  <a:lnTo>
                    <a:pt x="48" y="54"/>
                  </a:lnTo>
                  <a:lnTo>
                    <a:pt x="14" y="12"/>
                  </a:lnTo>
                  <a:lnTo>
                    <a:pt x="14" y="44"/>
                  </a:lnTo>
                  <a:lnTo>
                    <a:pt x="14" y="48"/>
                  </a:lnTo>
                  <a:lnTo>
                    <a:pt x="14" y="50"/>
                  </a:lnTo>
                  <a:lnTo>
                    <a:pt x="16" y="52"/>
                  </a:lnTo>
                  <a:lnTo>
                    <a:pt x="18" y="52"/>
                  </a:lnTo>
                  <a:lnTo>
                    <a:pt x="20" y="52"/>
                  </a:lnTo>
                  <a:lnTo>
                    <a:pt x="2" y="52"/>
                  </a:lnTo>
                  <a:lnTo>
                    <a:pt x="4" y="52"/>
                  </a:lnTo>
                  <a:lnTo>
                    <a:pt x="8" y="52"/>
                  </a:lnTo>
                  <a:lnTo>
                    <a:pt x="10" y="50"/>
                  </a:lnTo>
                  <a:lnTo>
                    <a:pt x="10" y="48"/>
                  </a:lnTo>
                  <a:lnTo>
                    <a:pt x="10" y="44"/>
                  </a:lnTo>
                  <a:lnTo>
                    <a:pt x="10" y="8"/>
                  </a:lnTo>
                  <a:lnTo>
                    <a:pt x="8" y="4"/>
                  </a:lnTo>
                  <a:lnTo>
                    <a:pt x="6" y="4"/>
                  </a:lnTo>
                  <a:lnTo>
                    <a:pt x="4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29" name="Freeform 109"/>
            <p:cNvSpPr/>
            <p:nvPr/>
          </p:nvSpPr>
          <p:spPr bwMode="auto">
            <a:xfrm>
              <a:off x="4026" y="2794"/>
              <a:ext cx="22" cy="72"/>
            </a:xfrm>
            <a:custGeom>
              <a:avLst/>
              <a:gdLst>
                <a:gd name="T0" fmla="*/ 22 w 22"/>
                <a:gd name="T1" fmla="*/ 70 h 72"/>
                <a:gd name="T2" fmla="*/ 22 w 22"/>
                <a:gd name="T3" fmla="*/ 72 h 72"/>
                <a:gd name="T4" fmla="*/ 16 w 22"/>
                <a:gd name="T5" fmla="*/ 68 h 72"/>
                <a:gd name="T6" fmla="*/ 12 w 22"/>
                <a:gd name="T7" fmla="*/ 64 h 72"/>
                <a:gd name="T8" fmla="*/ 6 w 22"/>
                <a:gd name="T9" fmla="*/ 58 h 72"/>
                <a:gd name="T10" fmla="*/ 2 w 22"/>
                <a:gd name="T11" fmla="*/ 52 h 72"/>
                <a:gd name="T12" fmla="*/ 0 w 22"/>
                <a:gd name="T13" fmla="*/ 44 h 72"/>
                <a:gd name="T14" fmla="*/ 0 w 22"/>
                <a:gd name="T15" fmla="*/ 36 h 72"/>
                <a:gd name="T16" fmla="*/ 0 w 22"/>
                <a:gd name="T17" fmla="*/ 28 h 72"/>
                <a:gd name="T18" fmla="*/ 2 w 22"/>
                <a:gd name="T19" fmla="*/ 20 h 72"/>
                <a:gd name="T20" fmla="*/ 6 w 22"/>
                <a:gd name="T21" fmla="*/ 14 h 72"/>
                <a:gd name="T22" fmla="*/ 10 w 22"/>
                <a:gd name="T23" fmla="*/ 8 h 72"/>
                <a:gd name="T24" fmla="*/ 16 w 22"/>
                <a:gd name="T25" fmla="*/ 4 h 72"/>
                <a:gd name="T26" fmla="*/ 22 w 22"/>
                <a:gd name="T27" fmla="*/ 0 h 72"/>
                <a:gd name="T28" fmla="*/ 22 w 22"/>
                <a:gd name="T29" fmla="*/ 2 h 72"/>
                <a:gd name="T30" fmla="*/ 16 w 22"/>
                <a:gd name="T31" fmla="*/ 4 h 72"/>
                <a:gd name="T32" fmla="*/ 14 w 22"/>
                <a:gd name="T33" fmla="*/ 8 h 72"/>
                <a:gd name="T34" fmla="*/ 10 w 22"/>
                <a:gd name="T35" fmla="*/ 14 h 72"/>
                <a:gd name="T36" fmla="*/ 8 w 22"/>
                <a:gd name="T37" fmla="*/ 20 h 72"/>
                <a:gd name="T38" fmla="*/ 8 w 22"/>
                <a:gd name="T39" fmla="*/ 28 h 72"/>
                <a:gd name="T40" fmla="*/ 8 w 22"/>
                <a:gd name="T41" fmla="*/ 34 h 72"/>
                <a:gd name="T42" fmla="*/ 8 w 22"/>
                <a:gd name="T43" fmla="*/ 42 h 72"/>
                <a:gd name="T44" fmla="*/ 8 w 22"/>
                <a:gd name="T45" fmla="*/ 50 h 72"/>
                <a:gd name="T46" fmla="*/ 10 w 22"/>
                <a:gd name="T47" fmla="*/ 54 h 72"/>
                <a:gd name="T48" fmla="*/ 10 w 22"/>
                <a:gd name="T49" fmla="*/ 58 h 72"/>
                <a:gd name="T50" fmla="*/ 12 w 22"/>
                <a:gd name="T51" fmla="*/ 62 h 72"/>
                <a:gd name="T52" fmla="*/ 14 w 22"/>
                <a:gd name="T53" fmla="*/ 64 h 72"/>
                <a:gd name="T54" fmla="*/ 18 w 22"/>
                <a:gd name="T55" fmla="*/ 68 h 72"/>
                <a:gd name="T56" fmla="*/ 22 w 22"/>
                <a:gd name="T57" fmla="*/ 70 h 7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2"/>
                <a:gd name="T88" fmla="*/ 0 h 72"/>
                <a:gd name="T89" fmla="*/ 22 w 22"/>
                <a:gd name="T90" fmla="*/ 72 h 7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2" h="72">
                  <a:moveTo>
                    <a:pt x="22" y="70"/>
                  </a:moveTo>
                  <a:lnTo>
                    <a:pt x="22" y="72"/>
                  </a:lnTo>
                  <a:lnTo>
                    <a:pt x="16" y="68"/>
                  </a:lnTo>
                  <a:lnTo>
                    <a:pt x="12" y="64"/>
                  </a:lnTo>
                  <a:lnTo>
                    <a:pt x="6" y="58"/>
                  </a:lnTo>
                  <a:lnTo>
                    <a:pt x="2" y="52"/>
                  </a:lnTo>
                  <a:lnTo>
                    <a:pt x="0" y="44"/>
                  </a:lnTo>
                  <a:lnTo>
                    <a:pt x="0" y="36"/>
                  </a:lnTo>
                  <a:lnTo>
                    <a:pt x="0" y="28"/>
                  </a:lnTo>
                  <a:lnTo>
                    <a:pt x="2" y="20"/>
                  </a:lnTo>
                  <a:lnTo>
                    <a:pt x="6" y="14"/>
                  </a:lnTo>
                  <a:lnTo>
                    <a:pt x="10" y="8"/>
                  </a:lnTo>
                  <a:lnTo>
                    <a:pt x="16" y="4"/>
                  </a:lnTo>
                  <a:lnTo>
                    <a:pt x="22" y="0"/>
                  </a:lnTo>
                  <a:lnTo>
                    <a:pt x="22" y="2"/>
                  </a:lnTo>
                  <a:lnTo>
                    <a:pt x="16" y="4"/>
                  </a:lnTo>
                  <a:lnTo>
                    <a:pt x="14" y="8"/>
                  </a:lnTo>
                  <a:lnTo>
                    <a:pt x="10" y="14"/>
                  </a:lnTo>
                  <a:lnTo>
                    <a:pt x="8" y="20"/>
                  </a:lnTo>
                  <a:lnTo>
                    <a:pt x="8" y="28"/>
                  </a:lnTo>
                  <a:lnTo>
                    <a:pt x="8" y="34"/>
                  </a:lnTo>
                  <a:lnTo>
                    <a:pt x="8" y="42"/>
                  </a:lnTo>
                  <a:lnTo>
                    <a:pt x="8" y="50"/>
                  </a:lnTo>
                  <a:lnTo>
                    <a:pt x="10" y="54"/>
                  </a:lnTo>
                  <a:lnTo>
                    <a:pt x="10" y="58"/>
                  </a:lnTo>
                  <a:lnTo>
                    <a:pt x="12" y="62"/>
                  </a:lnTo>
                  <a:lnTo>
                    <a:pt x="14" y="64"/>
                  </a:lnTo>
                  <a:lnTo>
                    <a:pt x="18" y="68"/>
                  </a:lnTo>
                  <a:lnTo>
                    <a:pt x="22" y="7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30" name="Freeform 110"/>
            <p:cNvSpPr>
              <a:spLocks noEditPoints="1"/>
            </p:cNvSpPr>
            <p:nvPr/>
          </p:nvSpPr>
          <p:spPr bwMode="auto">
            <a:xfrm>
              <a:off x="4050" y="2794"/>
              <a:ext cx="36" cy="56"/>
            </a:xfrm>
            <a:custGeom>
              <a:avLst/>
              <a:gdLst>
                <a:gd name="T0" fmla="*/ 12 w 36"/>
                <a:gd name="T1" fmla="*/ 26 h 56"/>
                <a:gd name="T2" fmla="*/ 14 w 36"/>
                <a:gd name="T3" fmla="*/ 22 h 56"/>
                <a:gd name="T4" fmla="*/ 18 w 36"/>
                <a:gd name="T5" fmla="*/ 20 h 56"/>
                <a:gd name="T6" fmla="*/ 22 w 36"/>
                <a:gd name="T7" fmla="*/ 18 h 56"/>
                <a:gd name="T8" fmla="*/ 28 w 36"/>
                <a:gd name="T9" fmla="*/ 20 h 56"/>
                <a:gd name="T10" fmla="*/ 32 w 36"/>
                <a:gd name="T11" fmla="*/ 22 h 56"/>
                <a:gd name="T12" fmla="*/ 36 w 36"/>
                <a:gd name="T13" fmla="*/ 28 h 56"/>
                <a:gd name="T14" fmla="*/ 36 w 36"/>
                <a:gd name="T15" fmla="*/ 36 h 56"/>
                <a:gd name="T16" fmla="*/ 36 w 36"/>
                <a:gd name="T17" fmla="*/ 42 h 56"/>
                <a:gd name="T18" fmla="*/ 34 w 36"/>
                <a:gd name="T19" fmla="*/ 46 h 56"/>
                <a:gd name="T20" fmla="*/ 30 w 36"/>
                <a:gd name="T21" fmla="*/ 50 h 56"/>
                <a:gd name="T22" fmla="*/ 24 w 36"/>
                <a:gd name="T23" fmla="*/ 54 h 56"/>
                <a:gd name="T24" fmla="*/ 18 w 36"/>
                <a:gd name="T25" fmla="*/ 56 h 56"/>
                <a:gd name="T26" fmla="*/ 14 w 36"/>
                <a:gd name="T27" fmla="*/ 56 h 56"/>
                <a:gd name="T28" fmla="*/ 12 w 36"/>
                <a:gd name="T29" fmla="*/ 54 h 56"/>
                <a:gd name="T30" fmla="*/ 8 w 36"/>
                <a:gd name="T31" fmla="*/ 54 h 56"/>
                <a:gd name="T32" fmla="*/ 4 w 36"/>
                <a:gd name="T33" fmla="*/ 52 h 56"/>
                <a:gd name="T34" fmla="*/ 4 w 36"/>
                <a:gd name="T35" fmla="*/ 14 h 56"/>
                <a:gd name="T36" fmla="*/ 4 w 36"/>
                <a:gd name="T37" fmla="*/ 8 h 56"/>
                <a:gd name="T38" fmla="*/ 4 w 36"/>
                <a:gd name="T39" fmla="*/ 6 h 56"/>
                <a:gd name="T40" fmla="*/ 4 w 36"/>
                <a:gd name="T41" fmla="*/ 4 h 56"/>
                <a:gd name="T42" fmla="*/ 4 w 36"/>
                <a:gd name="T43" fmla="*/ 4 h 56"/>
                <a:gd name="T44" fmla="*/ 4 w 36"/>
                <a:gd name="T45" fmla="*/ 4 h 56"/>
                <a:gd name="T46" fmla="*/ 2 w 36"/>
                <a:gd name="T47" fmla="*/ 4 h 56"/>
                <a:gd name="T48" fmla="*/ 2 w 36"/>
                <a:gd name="T49" fmla="*/ 4 h 56"/>
                <a:gd name="T50" fmla="*/ 0 w 36"/>
                <a:gd name="T51" fmla="*/ 4 h 56"/>
                <a:gd name="T52" fmla="*/ 0 w 36"/>
                <a:gd name="T53" fmla="*/ 4 h 56"/>
                <a:gd name="T54" fmla="*/ 10 w 36"/>
                <a:gd name="T55" fmla="*/ 0 h 56"/>
                <a:gd name="T56" fmla="*/ 12 w 36"/>
                <a:gd name="T57" fmla="*/ 0 h 56"/>
                <a:gd name="T58" fmla="*/ 12 w 36"/>
                <a:gd name="T59" fmla="*/ 26 h 56"/>
                <a:gd name="T60" fmla="*/ 12 w 36"/>
                <a:gd name="T61" fmla="*/ 28 h 56"/>
                <a:gd name="T62" fmla="*/ 12 w 36"/>
                <a:gd name="T63" fmla="*/ 50 h 56"/>
                <a:gd name="T64" fmla="*/ 14 w 36"/>
                <a:gd name="T65" fmla="*/ 52 h 56"/>
                <a:gd name="T66" fmla="*/ 16 w 36"/>
                <a:gd name="T67" fmla="*/ 52 h 56"/>
                <a:gd name="T68" fmla="*/ 18 w 36"/>
                <a:gd name="T69" fmla="*/ 54 h 56"/>
                <a:gd name="T70" fmla="*/ 20 w 36"/>
                <a:gd name="T71" fmla="*/ 54 h 56"/>
                <a:gd name="T72" fmla="*/ 24 w 36"/>
                <a:gd name="T73" fmla="*/ 52 h 56"/>
                <a:gd name="T74" fmla="*/ 26 w 36"/>
                <a:gd name="T75" fmla="*/ 50 h 56"/>
                <a:gd name="T76" fmla="*/ 28 w 36"/>
                <a:gd name="T77" fmla="*/ 44 h 56"/>
                <a:gd name="T78" fmla="*/ 30 w 36"/>
                <a:gd name="T79" fmla="*/ 38 h 56"/>
                <a:gd name="T80" fmla="*/ 28 w 36"/>
                <a:gd name="T81" fmla="*/ 32 h 56"/>
                <a:gd name="T82" fmla="*/ 26 w 36"/>
                <a:gd name="T83" fmla="*/ 28 h 56"/>
                <a:gd name="T84" fmla="*/ 24 w 36"/>
                <a:gd name="T85" fmla="*/ 26 h 56"/>
                <a:gd name="T86" fmla="*/ 20 w 36"/>
                <a:gd name="T87" fmla="*/ 24 h 56"/>
                <a:gd name="T88" fmla="*/ 18 w 36"/>
                <a:gd name="T89" fmla="*/ 24 h 56"/>
                <a:gd name="T90" fmla="*/ 16 w 36"/>
                <a:gd name="T91" fmla="*/ 26 h 56"/>
                <a:gd name="T92" fmla="*/ 14 w 36"/>
                <a:gd name="T93" fmla="*/ 26 h 56"/>
                <a:gd name="T94" fmla="*/ 12 w 36"/>
                <a:gd name="T95" fmla="*/ 28 h 5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36"/>
                <a:gd name="T145" fmla="*/ 0 h 56"/>
                <a:gd name="T146" fmla="*/ 36 w 36"/>
                <a:gd name="T147" fmla="*/ 56 h 5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36" h="56">
                  <a:moveTo>
                    <a:pt x="12" y="26"/>
                  </a:moveTo>
                  <a:lnTo>
                    <a:pt x="14" y="22"/>
                  </a:lnTo>
                  <a:lnTo>
                    <a:pt x="18" y="20"/>
                  </a:lnTo>
                  <a:lnTo>
                    <a:pt x="22" y="18"/>
                  </a:lnTo>
                  <a:lnTo>
                    <a:pt x="28" y="20"/>
                  </a:lnTo>
                  <a:lnTo>
                    <a:pt x="32" y="22"/>
                  </a:lnTo>
                  <a:lnTo>
                    <a:pt x="36" y="28"/>
                  </a:lnTo>
                  <a:lnTo>
                    <a:pt x="36" y="36"/>
                  </a:lnTo>
                  <a:lnTo>
                    <a:pt x="36" y="42"/>
                  </a:lnTo>
                  <a:lnTo>
                    <a:pt x="34" y="46"/>
                  </a:lnTo>
                  <a:lnTo>
                    <a:pt x="30" y="50"/>
                  </a:lnTo>
                  <a:lnTo>
                    <a:pt x="24" y="54"/>
                  </a:lnTo>
                  <a:lnTo>
                    <a:pt x="18" y="56"/>
                  </a:lnTo>
                  <a:lnTo>
                    <a:pt x="14" y="56"/>
                  </a:lnTo>
                  <a:lnTo>
                    <a:pt x="12" y="54"/>
                  </a:lnTo>
                  <a:lnTo>
                    <a:pt x="8" y="54"/>
                  </a:lnTo>
                  <a:lnTo>
                    <a:pt x="4" y="52"/>
                  </a:lnTo>
                  <a:lnTo>
                    <a:pt x="4" y="14"/>
                  </a:lnTo>
                  <a:lnTo>
                    <a:pt x="4" y="8"/>
                  </a:lnTo>
                  <a:lnTo>
                    <a:pt x="4" y="6"/>
                  </a:lnTo>
                  <a:lnTo>
                    <a:pt x="4" y="4"/>
                  </a:lnTo>
                  <a:lnTo>
                    <a:pt x="2" y="4"/>
                  </a:lnTo>
                  <a:lnTo>
                    <a:pt x="0" y="4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2" y="26"/>
                  </a:lnTo>
                  <a:close/>
                  <a:moveTo>
                    <a:pt x="12" y="28"/>
                  </a:moveTo>
                  <a:lnTo>
                    <a:pt x="12" y="50"/>
                  </a:lnTo>
                  <a:lnTo>
                    <a:pt x="14" y="52"/>
                  </a:lnTo>
                  <a:lnTo>
                    <a:pt x="16" y="52"/>
                  </a:lnTo>
                  <a:lnTo>
                    <a:pt x="18" y="54"/>
                  </a:lnTo>
                  <a:lnTo>
                    <a:pt x="20" y="54"/>
                  </a:lnTo>
                  <a:lnTo>
                    <a:pt x="24" y="52"/>
                  </a:lnTo>
                  <a:lnTo>
                    <a:pt x="26" y="50"/>
                  </a:lnTo>
                  <a:lnTo>
                    <a:pt x="28" y="44"/>
                  </a:lnTo>
                  <a:lnTo>
                    <a:pt x="30" y="38"/>
                  </a:lnTo>
                  <a:lnTo>
                    <a:pt x="28" y="32"/>
                  </a:lnTo>
                  <a:lnTo>
                    <a:pt x="26" y="28"/>
                  </a:lnTo>
                  <a:lnTo>
                    <a:pt x="24" y="26"/>
                  </a:lnTo>
                  <a:lnTo>
                    <a:pt x="20" y="24"/>
                  </a:lnTo>
                  <a:lnTo>
                    <a:pt x="18" y="24"/>
                  </a:lnTo>
                  <a:lnTo>
                    <a:pt x="16" y="26"/>
                  </a:lnTo>
                  <a:lnTo>
                    <a:pt x="14" y="26"/>
                  </a:lnTo>
                  <a:lnTo>
                    <a:pt x="12" y="2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31" name="Freeform 111"/>
            <p:cNvSpPr>
              <a:spLocks noEditPoints="1"/>
            </p:cNvSpPr>
            <p:nvPr/>
          </p:nvSpPr>
          <p:spPr bwMode="auto">
            <a:xfrm>
              <a:off x="4092" y="2794"/>
              <a:ext cx="16" cy="54"/>
            </a:xfrm>
            <a:custGeom>
              <a:avLst/>
              <a:gdLst>
                <a:gd name="T0" fmla="*/ 8 w 16"/>
                <a:gd name="T1" fmla="*/ 0 h 54"/>
                <a:gd name="T2" fmla="*/ 10 w 16"/>
                <a:gd name="T3" fmla="*/ 0 h 54"/>
                <a:gd name="T4" fmla="*/ 12 w 16"/>
                <a:gd name="T5" fmla="*/ 0 h 54"/>
                <a:gd name="T6" fmla="*/ 12 w 16"/>
                <a:gd name="T7" fmla="*/ 2 h 54"/>
                <a:gd name="T8" fmla="*/ 12 w 16"/>
                <a:gd name="T9" fmla="*/ 4 h 54"/>
                <a:gd name="T10" fmla="*/ 12 w 16"/>
                <a:gd name="T11" fmla="*/ 6 h 54"/>
                <a:gd name="T12" fmla="*/ 12 w 16"/>
                <a:gd name="T13" fmla="*/ 6 h 54"/>
                <a:gd name="T14" fmla="*/ 10 w 16"/>
                <a:gd name="T15" fmla="*/ 8 h 54"/>
                <a:gd name="T16" fmla="*/ 8 w 16"/>
                <a:gd name="T17" fmla="*/ 8 h 54"/>
                <a:gd name="T18" fmla="*/ 6 w 16"/>
                <a:gd name="T19" fmla="*/ 8 h 54"/>
                <a:gd name="T20" fmla="*/ 4 w 16"/>
                <a:gd name="T21" fmla="*/ 6 h 54"/>
                <a:gd name="T22" fmla="*/ 4 w 16"/>
                <a:gd name="T23" fmla="*/ 6 h 54"/>
                <a:gd name="T24" fmla="*/ 4 w 16"/>
                <a:gd name="T25" fmla="*/ 4 h 54"/>
                <a:gd name="T26" fmla="*/ 4 w 16"/>
                <a:gd name="T27" fmla="*/ 2 h 54"/>
                <a:gd name="T28" fmla="*/ 4 w 16"/>
                <a:gd name="T29" fmla="*/ 0 h 54"/>
                <a:gd name="T30" fmla="*/ 6 w 16"/>
                <a:gd name="T31" fmla="*/ 0 h 54"/>
                <a:gd name="T32" fmla="*/ 8 w 16"/>
                <a:gd name="T33" fmla="*/ 0 h 54"/>
                <a:gd name="T34" fmla="*/ 12 w 16"/>
                <a:gd name="T35" fmla="*/ 18 h 54"/>
                <a:gd name="T36" fmla="*/ 12 w 16"/>
                <a:gd name="T37" fmla="*/ 46 h 54"/>
                <a:gd name="T38" fmla="*/ 12 w 16"/>
                <a:gd name="T39" fmla="*/ 50 h 54"/>
                <a:gd name="T40" fmla="*/ 12 w 16"/>
                <a:gd name="T41" fmla="*/ 52 h 54"/>
                <a:gd name="T42" fmla="*/ 12 w 16"/>
                <a:gd name="T43" fmla="*/ 52 h 54"/>
                <a:gd name="T44" fmla="*/ 14 w 16"/>
                <a:gd name="T45" fmla="*/ 54 h 54"/>
                <a:gd name="T46" fmla="*/ 14 w 16"/>
                <a:gd name="T47" fmla="*/ 54 h 54"/>
                <a:gd name="T48" fmla="*/ 16 w 16"/>
                <a:gd name="T49" fmla="*/ 54 h 54"/>
                <a:gd name="T50" fmla="*/ 16 w 16"/>
                <a:gd name="T51" fmla="*/ 54 h 54"/>
                <a:gd name="T52" fmla="*/ 0 w 16"/>
                <a:gd name="T53" fmla="*/ 54 h 54"/>
                <a:gd name="T54" fmla="*/ 0 w 16"/>
                <a:gd name="T55" fmla="*/ 54 h 54"/>
                <a:gd name="T56" fmla="*/ 2 w 16"/>
                <a:gd name="T57" fmla="*/ 54 h 54"/>
                <a:gd name="T58" fmla="*/ 4 w 16"/>
                <a:gd name="T59" fmla="*/ 54 h 54"/>
                <a:gd name="T60" fmla="*/ 4 w 16"/>
                <a:gd name="T61" fmla="*/ 52 h 54"/>
                <a:gd name="T62" fmla="*/ 4 w 16"/>
                <a:gd name="T63" fmla="*/ 52 h 54"/>
                <a:gd name="T64" fmla="*/ 6 w 16"/>
                <a:gd name="T65" fmla="*/ 50 h 54"/>
                <a:gd name="T66" fmla="*/ 6 w 16"/>
                <a:gd name="T67" fmla="*/ 46 h 54"/>
                <a:gd name="T68" fmla="*/ 6 w 16"/>
                <a:gd name="T69" fmla="*/ 34 h 54"/>
                <a:gd name="T70" fmla="*/ 6 w 16"/>
                <a:gd name="T71" fmla="*/ 28 h 54"/>
                <a:gd name="T72" fmla="*/ 4 w 16"/>
                <a:gd name="T73" fmla="*/ 26 h 54"/>
                <a:gd name="T74" fmla="*/ 4 w 16"/>
                <a:gd name="T75" fmla="*/ 24 h 54"/>
                <a:gd name="T76" fmla="*/ 4 w 16"/>
                <a:gd name="T77" fmla="*/ 24 h 54"/>
                <a:gd name="T78" fmla="*/ 4 w 16"/>
                <a:gd name="T79" fmla="*/ 22 h 54"/>
                <a:gd name="T80" fmla="*/ 2 w 16"/>
                <a:gd name="T81" fmla="*/ 22 h 54"/>
                <a:gd name="T82" fmla="*/ 2 w 16"/>
                <a:gd name="T83" fmla="*/ 22 h 54"/>
                <a:gd name="T84" fmla="*/ 0 w 16"/>
                <a:gd name="T85" fmla="*/ 24 h 54"/>
                <a:gd name="T86" fmla="*/ 0 w 16"/>
                <a:gd name="T87" fmla="*/ 22 h 54"/>
                <a:gd name="T88" fmla="*/ 10 w 16"/>
                <a:gd name="T89" fmla="*/ 18 h 54"/>
                <a:gd name="T90" fmla="*/ 12 w 16"/>
                <a:gd name="T91" fmla="*/ 18 h 54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6"/>
                <a:gd name="T139" fmla="*/ 0 h 54"/>
                <a:gd name="T140" fmla="*/ 16 w 16"/>
                <a:gd name="T141" fmla="*/ 54 h 54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6" h="54">
                  <a:moveTo>
                    <a:pt x="8" y="0"/>
                  </a:moveTo>
                  <a:lnTo>
                    <a:pt x="10" y="0"/>
                  </a:lnTo>
                  <a:lnTo>
                    <a:pt x="12" y="0"/>
                  </a:lnTo>
                  <a:lnTo>
                    <a:pt x="12" y="2"/>
                  </a:lnTo>
                  <a:lnTo>
                    <a:pt x="12" y="4"/>
                  </a:lnTo>
                  <a:lnTo>
                    <a:pt x="12" y="6"/>
                  </a:lnTo>
                  <a:lnTo>
                    <a:pt x="10" y="8"/>
                  </a:lnTo>
                  <a:lnTo>
                    <a:pt x="8" y="8"/>
                  </a:lnTo>
                  <a:lnTo>
                    <a:pt x="6" y="8"/>
                  </a:lnTo>
                  <a:lnTo>
                    <a:pt x="4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0"/>
                  </a:lnTo>
                  <a:lnTo>
                    <a:pt x="6" y="0"/>
                  </a:lnTo>
                  <a:lnTo>
                    <a:pt x="8" y="0"/>
                  </a:lnTo>
                  <a:close/>
                  <a:moveTo>
                    <a:pt x="12" y="18"/>
                  </a:moveTo>
                  <a:lnTo>
                    <a:pt x="12" y="46"/>
                  </a:lnTo>
                  <a:lnTo>
                    <a:pt x="12" y="50"/>
                  </a:lnTo>
                  <a:lnTo>
                    <a:pt x="12" y="52"/>
                  </a:lnTo>
                  <a:lnTo>
                    <a:pt x="14" y="54"/>
                  </a:lnTo>
                  <a:lnTo>
                    <a:pt x="16" y="54"/>
                  </a:lnTo>
                  <a:lnTo>
                    <a:pt x="0" y="54"/>
                  </a:lnTo>
                  <a:lnTo>
                    <a:pt x="2" y="54"/>
                  </a:lnTo>
                  <a:lnTo>
                    <a:pt x="4" y="54"/>
                  </a:lnTo>
                  <a:lnTo>
                    <a:pt x="4" y="52"/>
                  </a:lnTo>
                  <a:lnTo>
                    <a:pt x="6" y="50"/>
                  </a:lnTo>
                  <a:lnTo>
                    <a:pt x="6" y="46"/>
                  </a:lnTo>
                  <a:lnTo>
                    <a:pt x="6" y="34"/>
                  </a:lnTo>
                  <a:lnTo>
                    <a:pt x="6" y="28"/>
                  </a:lnTo>
                  <a:lnTo>
                    <a:pt x="4" y="26"/>
                  </a:lnTo>
                  <a:lnTo>
                    <a:pt x="4" y="24"/>
                  </a:lnTo>
                  <a:lnTo>
                    <a:pt x="4" y="22"/>
                  </a:lnTo>
                  <a:lnTo>
                    <a:pt x="2" y="22"/>
                  </a:lnTo>
                  <a:lnTo>
                    <a:pt x="0" y="24"/>
                  </a:lnTo>
                  <a:lnTo>
                    <a:pt x="0" y="22"/>
                  </a:lnTo>
                  <a:lnTo>
                    <a:pt x="10" y="18"/>
                  </a:lnTo>
                  <a:lnTo>
                    <a:pt x="12" y="1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32" name="Freeform 112"/>
            <p:cNvSpPr/>
            <p:nvPr/>
          </p:nvSpPr>
          <p:spPr bwMode="auto">
            <a:xfrm>
              <a:off x="4112" y="2812"/>
              <a:ext cx="38" cy="36"/>
            </a:xfrm>
            <a:custGeom>
              <a:avLst/>
              <a:gdLst>
                <a:gd name="T0" fmla="*/ 12 w 38"/>
                <a:gd name="T1" fmla="*/ 8 h 36"/>
                <a:gd name="T2" fmla="*/ 16 w 38"/>
                <a:gd name="T3" fmla="*/ 4 h 36"/>
                <a:gd name="T4" fmla="*/ 20 w 38"/>
                <a:gd name="T5" fmla="*/ 2 h 36"/>
                <a:gd name="T6" fmla="*/ 24 w 38"/>
                <a:gd name="T7" fmla="*/ 0 h 36"/>
                <a:gd name="T8" fmla="*/ 26 w 38"/>
                <a:gd name="T9" fmla="*/ 0 h 36"/>
                <a:gd name="T10" fmla="*/ 30 w 38"/>
                <a:gd name="T11" fmla="*/ 2 h 36"/>
                <a:gd name="T12" fmla="*/ 32 w 38"/>
                <a:gd name="T13" fmla="*/ 4 h 36"/>
                <a:gd name="T14" fmla="*/ 32 w 38"/>
                <a:gd name="T15" fmla="*/ 6 h 36"/>
                <a:gd name="T16" fmla="*/ 34 w 38"/>
                <a:gd name="T17" fmla="*/ 10 h 36"/>
                <a:gd name="T18" fmla="*/ 34 w 38"/>
                <a:gd name="T19" fmla="*/ 14 h 36"/>
                <a:gd name="T20" fmla="*/ 34 w 38"/>
                <a:gd name="T21" fmla="*/ 28 h 36"/>
                <a:gd name="T22" fmla="*/ 34 w 38"/>
                <a:gd name="T23" fmla="*/ 32 h 36"/>
                <a:gd name="T24" fmla="*/ 34 w 38"/>
                <a:gd name="T25" fmla="*/ 34 h 36"/>
                <a:gd name="T26" fmla="*/ 34 w 38"/>
                <a:gd name="T27" fmla="*/ 34 h 36"/>
                <a:gd name="T28" fmla="*/ 36 w 38"/>
                <a:gd name="T29" fmla="*/ 36 h 36"/>
                <a:gd name="T30" fmla="*/ 36 w 38"/>
                <a:gd name="T31" fmla="*/ 36 h 36"/>
                <a:gd name="T32" fmla="*/ 38 w 38"/>
                <a:gd name="T33" fmla="*/ 36 h 36"/>
                <a:gd name="T34" fmla="*/ 38 w 38"/>
                <a:gd name="T35" fmla="*/ 36 h 36"/>
                <a:gd name="T36" fmla="*/ 22 w 38"/>
                <a:gd name="T37" fmla="*/ 36 h 36"/>
                <a:gd name="T38" fmla="*/ 22 w 38"/>
                <a:gd name="T39" fmla="*/ 36 h 36"/>
                <a:gd name="T40" fmla="*/ 22 w 38"/>
                <a:gd name="T41" fmla="*/ 36 h 36"/>
                <a:gd name="T42" fmla="*/ 24 w 38"/>
                <a:gd name="T43" fmla="*/ 36 h 36"/>
                <a:gd name="T44" fmla="*/ 26 w 38"/>
                <a:gd name="T45" fmla="*/ 36 h 36"/>
                <a:gd name="T46" fmla="*/ 26 w 38"/>
                <a:gd name="T47" fmla="*/ 34 h 36"/>
                <a:gd name="T48" fmla="*/ 26 w 38"/>
                <a:gd name="T49" fmla="*/ 32 h 36"/>
                <a:gd name="T50" fmla="*/ 26 w 38"/>
                <a:gd name="T51" fmla="*/ 32 h 36"/>
                <a:gd name="T52" fmla="*/ 26 w 38"/>
                <a:gd name="T53" fmla="*/ 28 h 36"/>
                <a:gd name="T54" fmla="*/ 26 w 38"/>
                <a:gd name="T55" fmla="*/ 14 h 36"/>
                <a:gd name="T56" fmla="*/ 26 w 38"/>
                <a:gd name="T57" fmla="*/ 10 h 36"/>
                <a:gd name="T58" fmla="*/ 26 w 38"/>
                <a:gd name="T59" fmla="*/ 8 h 36"/>
                <a:gd name="T60" fmla="*/ 24 w 38"/>
                <a:gd name="T61" fmla="*/ 6 h 36"/>
                <a:gd name="T62" fmla="*/ 22 w 38"/>
                <a:gd name="T63" fmla="*/ 6 h 36"/>
                <a:gd name="T64" fmla="*/ 16 w 38"/>
                <a:gd name="T65" fmla="*/ 6 h 36"/>
                <a:gd name="T66" fmla="*/ 12 w 38"/>
                <a:gd name="T67" fmla="*/ 10 h 36"/>
                <a:gd name="T68" fmla="*/ 12 w 38"/>
                <a:gd name="T69" fmla="*/ 28 h 36"/>
                <a:gd name="T70" fmla="*/ 12 w 38"/>
                <a:gd name="T71" fmla="*/ 32 h 36"/>
                <a:gd name="T72" fmla="*/ 12 w 38"/>
                <a:gd name="T73" fmla="*/ 34 h 36"/>
                <a:gd name="T74" fmla="*/ 12 w 38"/>
                <a:gd name="T75" fmla="*/ 34 h 36"/>
                <a:gd name="T76" fmla="*/ 14 w 38"/>
                <a:gd name="T77" fmla="*/ 36 h 36"/>
                <a:gd name="T78" fmla="*/ 14 w 38"/>
                <a:gd name="T79" fmla="*/ 36 h 36"/>
                <a:gd name="T80" fmla="*/ 16 w 38"/>
                <a:gd name="T81" fmla="*/ 36 h 36"/>
                <a:gd name="T82" fmla="*/ 16 w 38"/>
                <a:gd name="T83" fmla="*/ 36 h 36"/>
                <a:gd name="T84" fmla="*/ 0 w 38"/>
                <a:gd name="T85" fmla="*/ 36 h 36"/>
                <a:gd name="T86" fmla="*/ 0 w 38"/>
                <a:gd name="T87" fmla="*/ 36 h 36"/>
                <a:gd name="T88" fmla="*/ 0 w 38"/>
                <a:gd name="T89" fmla="*/ 36 h 36"/>
                <a:gd name="T90" fmla="*/ 4 w 38"/>
                <a:gd name="T91" fmla="*/ 36 h 36"/>
                <a:gd name="T92" fmla="*/ 4 w 38"/>
                <a:gd name="T93" fmla="*/ 34 h 36"/>
                <a:gd name="T94" fmla="*/ 4 w 38"/>
                <a:gd name="T95" fmla="*/ 32 h 36"/>
                <a:gd name="T96" fmla="*/ 6 w 38"/>
                <a:gd name="T97" fmla="*/ 28 h 36"/>
                <a:gd name="T98" fmla="*/ 6 w 38"/>
                <a:gd name="T99" fmla="*/ 16 h 36"/>
                <a:gd name="T100" fmla="*/ 6 w 38"/>
                <a:gd name="T101" fmla="*/ 10 h 36"/>
                <a:gd name="T102" fmla="*/ 4 w 38"/>
                <a:gd name="T103" fmla="*/ 8 h 36"/>
                <a:gd name="T104" fmla="*/ 4 w 38"/>
                <a:gd name="T105" fmla="*/ 6 h 36"/>
                <a:gd name="T106" fmla="*/ 4 w 38"/>
                <a:gd name="T107" fmla="*/ 6 h 36"/>
                <a:gd name="T108" fmla="*/ 4 w 38"/>
                <a:gd name="T109" fmla="*/ 4 h 36"/>
                <a:gd name="T110" fmla="*/ 2 w 38"/>
                <a:gd name="T111" fmla="*/ 4 h 36"/>
                <a:gd name="T112" fmla="*/ 2 w 38"/>
                <a:gd name="T113" fmla="*/ 4 h 36"/>
                <a:gd name="T114" fmla="*/ 0 w 38"/>
                <a:gd name="T115" fmla="*/ 6 h 36"/>
                <a:gd name="T116" fmla="*/ 0 w 38"/>
                <a:gd name="T117" fmla="*/ 4 h 36"/>
                <a:gd name="T118" fmla="*/ 10 w 38"/>
                <a:gd name="T119" fmla="*/ 0 h 36"/>
                <a:gd name="T120" fmla="*/ 12 w 38"/>
                <a:gd name="T121" fmla="*/ 0 h 36"/>
                <a:gd name="T122" fmla="*/ 12 w 38"/>
                <a:gd name="T123" fmla="*/ 8 h 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38"/>
                <a:gd name="T187" fmla="*/ 0 h 36"/>
                <a:gd name="T188" fmla="*/ 38 w 38"/>
                <a:gd name="T189" fmla="*/ 36 h 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38" h="36">
                  <a:moveTo>
                    <a:pt x="12" y="8"/>
                  </a:moveTo>
                  <a:lnTo>
                    <a:pt x="16" y="4"/>
                  </a:lnTo>
                  <a:lnTo>
                    <a:pt x="20" y="2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30" y="2"/>
                  </a:lnTo>
                  <a:lnTo>
                    <a:pt x="32" y="4"/>
                  </a:lnTo>
                  <a:lnTo>
                    <a:pt x="32" y="6"/>
                  </a:lnTo>
                  <a:lnTo>
                    <a:pt x="34" y="10"/>
                  </a:lnTo>
                  <a:lnTo>
                    <a:pt x="34" y="14"/>
                  </a:lnTo>
                  <a:lnTo>
                    <a:pt x="34" y="28"/>
                  </a:lnTo>
                  <a:lnTo>
                    <a:pt x="34" y="32"/>
                  </a:lnTo>
                  <a:lnTo>
                    <a:pt x="34" y="34"/>
                  </a:lnTo>
                  <a:lnTo>
                    <a:pt x="36" y="36"/>
                  </a:lnTo>
                  <a:lnTo>
                    <a:pt x="38" y="36"/>
                  </a:lnTo>
                  <a:lnTo>
                    <a:pt x="22" y="36"/>
                  </a:lnTo>
                  <a:lnTo>
                    <a:pt x="24" y="36"/>
                  </a:lnTo>
                  <a:lnTo>
                    <a:pt x="26" y="36"/>
                  </a:lnTo>
                  <a:lnTo>
                    <a:pt x="26" y="34"/>
                  </a:lnTo>
                  <a:lnTo>
                    <a:pt x="26" y="32"/>
                  </a:lnTo>
                  <a:lnTo>
                    <a:pt x="26" y="28"/>
                  </a:lnTo>
                  <a:lnTo>
                    <a:pt x="26" y="14"/>
                  </a:lnTo>
                  <a:lnTo>
                    <a:pt x="26" y="10"/>
                  </a:lnTo>
                  <a:lnTo>
                    <a:pt x="26" y="8"/>
                  </a:lnTo>
                  <a:lnTo>
                    <a:pt x="24" y="6"/>
                  </a:lnTo>
                  <a:lnTo>
                    <a:pt x="22" y="6"/>
                  </a:lnTo>
                  <a:lnTo>
                    <a:pt x="16" y="6"/>
                  </a:lnTo>
                  <a:lnTo>
                    <a:pt x="12" y="10"/>
                  </a:lnTo>
                  <a:lnTo>
                    <a:pt x="12" y="28"/>
                  </a:lnTo>
                  <a:lnTo>
                    <a:pt x="12" y="32"/>
                  </a:lnTo>
                  <a:lnTo>
                    <a:pt x="12" y="34"/>
                  </a:lnTo>
                  <a:lnTo>
                    <a:pt x="14" y="36"/>
                  </a:lnTo>
                  <a:lnTo>
                    <a:pt x="16" y="36"/>
                  </a:lnTo>
                  <a:lnTo>
                    <a:pt x="0" y="36"/>
                  </a:lnTo>
                  <a:lnTo>
                    <a:pt x="4" y="36"/>
                  </a:lnTo>
                  <a:lnTo>
                    <a:pt x="4" y="34"/>
                  </a:lnTo>
                  <a:lnTo>
                    <a:pt x="4" y="32"/>
                  </a:lnTo>
                  <a:lnTo>
                    <a:pt x="6" y="28"/>
                  </a:lnTo>
                  <a:lnTo>
                    <a:pt x="6" y="16"/>
                  </a:lnTo>
                  <a:lnTo>
                    <a:pt x="6" y="10"/>
                  </a:lnTo>
                  <a:lnTo>
                    <a:pt x="4" y="8"/>
                  </a:lnTo>
                  <a:lnTo>
                    <a:pt x="4" y="6"/>
                  </a:lnTo>
                  <a:lnTo>
                    <a:pt x="4" y="4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4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33" name="Freeform 113"/>
            <p:cNvSpPr/>
            <p:nvPr/>
          </p:nvSpPr>
          <p:spPr bwMode="auto">
            <a:xfrm>
              <a:off x="4154" y="2794"/>
              <a:ext cx="20" cy="72"/>
            </a:xfrm>
            <a:custGeom>
              <a:avLst/>
              <a:gdLst>
                <a:gd name="T0" fmla="*/ 0 w 20"/>
                <a:gd name="T1" fmla="*/ 2 h 72"/>
                <a:gd name="T2" fmla="*/ 0 w 20"/>
                <a:gd name="T3" fmla="*/ 0 h 72"/>
                <a:gd name="T4" fmla="*/ 4 w 20"/>
                <a:gd name="T5" fmla="*/ 4 h 72"/>
                <a:gd name="T6" fmla="*/ 8 w 20"/>
                <a:gd name="T7" fmla="*/ 6 h 72"/>
                <a:gd name="T8" fmla="*/ 14 w 20"/>
                <a:gd name="T9" fmla="*/ 12 h 72"/>
                <a:gd name="T10" fmla="*/ 18 w 20"/>
                <a:gd name="T11" fmla="*/ 20 h 72"/>
                <a:gd name="T12" fmla="*/ 20 w 20"/>
                <a:gd name="T13" fmla="*/ 28 h 72"/>
                <a:gd name="T14" fmla="*/ 20 w 20"/>
                <a:gd name="T15" fmla="*/ 36 h 72"/>
                <a:gd name="T16" fmla="*/ 20 w 20"/>
                <a:gd name="T17" fmla="*/ 44 h 72"/>
                <a:gd name="T18" fmla="*/ 18 w 20"/>
                <a:gd name="T19" fmla="*/ 50 h 72"/>
                <a:gd name="T20" fmla="*/ 14 w 20"/>
                <a:gd name="T21" fmla="*/ 58 h 72"/>
                <a:gd name="T22" fmla="*/ 10 w 20"/>
                <a:gd name="T23" fmla="*/ 64 h 72"/>
                <a:gd name="T24" fmla="*/ 6 w 20"/>
                <a:gd name="T25" fmla="*/ 68 h 72"/>
                <a:gd name="T26" fmla="*/ 0 w 20"/>
                <a:gd name="T27" fmla="*/ 72 h 72"/>
                <a:gd name="T28" fmla="*/ 0 w 20"/>
                <a:gd name="T29" fmla="*/ 70 h 72"/>
                <a:gd name="T30" fmla="*/ 4 w 20"/>
                <a:gd name="T31" fmla="*/ 66 h 72"/>
                <a:gd name="T32" fmla="*/ 8 w 20"/>
                <a:gd name="T33" fmla="*/ 62 h 72"/>
                <a:gd name="T34" fmla="*/ 10 w 20"/>
                <a:gd name="T35" fmla="*/ 58 h 72"/>
                <a:gd name="T36" fmla="*/ 12 w 20"/>
                <a:gd name="T37" fmla="*/ 52 h 72"/>
                <a:gd name="T38" fmla="*/ 12 w 20"/>
                <a:gd name="T39" fmla="*/ 44 h 72"/>
                <a:gd name="T40" fmla="*/ 14 w 20"/>
                <a:gd name="T41" fmla="*/ 36 h 72"/>
                <a:gd name="T42" fmla="*/ 12 w 20"/>
                <a:gd name="T43" fmla="*/ 28 h 72"/>
                <a:gd name="T44" fmla="*/ 12 w 20"/>
                <a:gd name="T45" fmla="*/ 22 h 72"/>
                <a:gd name="T46" fmla="*/ 10 w 20"/>
                <a:gd name="T47" fmla="*/ 18 h 72"/>
                <a:gd name="T48" fmla="*/ 10 w 20"/>
                <a:gd name="T49" fmla="*/ 14 h 72"/>
                <a:gd name="T50" fmla="*/ 8 w 20"/>
                <a:gd name="T51" fmla="*/ 10 h 72"/>
                <a:gd name="T52" fmla="*/ 6 w 20"/>
                <a:gd name="T53" fmla="*/ 8 h 72"/>
                <a:gd name="T54" fmla="*/ 2 w 20"/>
                <a:gd name="T55" fmla="*/ 4 h 72"/>
                <a:gd name="T56" fmla="*/ 0 w 20"/>
                <a:gd name="T57" fmla="*/ 2 h 7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0"/>
                <a:gd name="T88" fmla="*/ 0 h 72"/>
                <a:gd name="T89" fmla="*/ 20 w 20"/>
                <a:gd name="T90" fmla="*/ 72 h 7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0" h="72">
                  <a:moveTo>
                    <a:pt x="0" y="2"/>
                  </a:moveTo>
                  <a:lnTo>
                    <a:pt x="0" y="0"/>
                  </a:lnTo>
                  <a:lnTo>
                    <a:pt x="4" y="4"/>
                  </a:lnTo>
                  <a:lnTo>
                    <a:pt x="8" y="6"/>
                  </a:lnTo>
                  <a:lnTo>
                    <a:pt x="14" y="12"/>
                  </a:lnTo>
                  <a:lnTo>
                    <a:pt x="18" y="20"/>
                  </a:lnTo>
                  <a:lnTo>
                    <a:pt x="20" y="28"/>
                  </a:lnTo>
                  <a:lnTo>
                    <a:pt x="20" y="36"/>
                  </a:lnTo>
                  <a:lnTo>
                    <a:pt x="20" y="44"/>
                  </a:lnTo>
                  <a:lnTo>
                    <a:pt x="18" y="50"/>
                  </a:lnTo>
                  <a:lnTo>
                    <a:pt x="14" y="58"/>
                  </a:lnTo>
                  <a:lnTo>
                    <a:pt x="10" y="64"/>
                  </a:lnTo>
                  <a:lnTo>
                    <a:pt x="6" y="68"/>
                  </a:lnTo>
                  <a:lnTo>
                    <a:pt x="0" y="72"/>
                  </a:lnTo>
                  <a:lnTo>
                    <a:pt x="0" y="70"/>
                  </a:lnTo>
                  <a:lnTo>
                    <a:pt x="4" y="66"/>
                  </a:lnTo>
                  <a:lnTo>
                    <a:pt x="8" y="62"/>
                  </a:lnTo>
                  <a:lnTo>
                    <a:pt x="10" y="58"/>
                  </a:lnTo>
                  <a:lnTo>
                    <a:pt x="12" y="52"/>
                  </a:lnTo>
                  <a:lnTo>
                    <a:pt x="12" y="44"/>
                  </a:lnTo>
                  <a:lnTo>
                    <a:pt x="14" y="36"/>
                  </a:lnTo>
                  <a:lnTo>
                    <a:pt x="12" y="28"/>
                  </a:lnTo>
                  <a:lnTo>
                    <a:pt x="12" y="22"/>
                  </a:lnTo>
                  <a:lnTo>
                    <a:pt x="10" y="18"/>
                  </a:lnTo>
                  <a:lnTo>
                    <a:pt x="10" y="14"/>
                  </a:lnTo>
                  <a:lnTo>
                    <a:pt x="8" y="10"/>
                  </a:lnTo>
                  <a:lnTo>
                    <a:pt x="6" y="8"/>
                  </a:lnTo>
                  <a:lnTo>
                    <a:pt x="2" y="4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34" name="Freeform 114"/>
            <p:cNvSpPr/>
            <p:nvPr/>
          </p:nvSpPr>
          <p:spPr bwMode="auto">
            <a:xfrm>
              <a:off x="1664" y="3004"/>
              <a:ext cx="58" cy="36"/>
            </a:xfrm>
            <a:custGeom>
              <a:avLst/>
              <a:gdLst>
                <a:gd name="T0" fmla="*/ 0 w 58"/>
                <a:gd name="T1" fmla="*/ 0 h 36"/>
                <a:gd name="T2" fmla="*/ 16 w 58"/>
                <a:gd name="T3" fmla="*/ 0 h 36"/>
                <a:gd name="T4" fmla="*/ 16 w 58"/>
                <a:gd name="T5" fmla="*/ 0 h 36"/>
                <a:gd name="T6" fmla="*/ 14 w 58"/>
                <a:gd name="T7" fmla="*/ 2 h 36"/>
                <a:gd name="T8" fmla="*/ 14 w 58"/>
                <a:gd name="T9" fmla="*/ 2 h 36"/>
                <a:gd name="T10" fmla="*/ 14 w 58"/>
                <a:gd name="T11" fmla="*/ 2 h 36"/>
                <a:gd name="T12" fmla="*/ 12 w 58"/>
                <a:gd name="T13" fmla="*/ 4 h 36"/>
                <a:gd name="T14" fmla="*/ 14 w 58"/>
                <a:gd name="T15" fmla="*/ 6 h 36"/>
                <a:gd name="T16" fmla="*/ 14 w 58"/>
                <a:gd name="T17" fmla="*/ 6 h 36"/>
                <a:gd name="T18" fmla="*/ 22 w 58"/>
                <a:gd name="T19" fmla="*/ 26 h 36"/>
                <a:gd name="T20" fmla="*/ 30 w 58"/>
                <a:gd name="T21" fmla="*/ 10 h 36"/>
                <a:gd name="T22" fmla="*/ 28 w 58"/>
                <a:gd name="T23" fmla="*/ 6 h 36"/>
                <a:gd name="T24" fmla="*/ 26 w 58"/>
                <a:gd name="T25" fmla="*/ 4 h 36"/>
                <a:gd name="T26" fmla="*/ 24 w 58"/>
                <a:gd name="T27" fmla="*/ 2 h 36"/>
                <a:gd name="T28" fmla="*/ 24 w 58"/>
                <a:gd name="T29" fmla="*/ 2 h 36"/>
                <a:gd name="T30" fmla="*/ 22 w 58"/>
                <a:gd name="T31" fmla="*/ 0 h 36"/>
                <a:gd name="T32" fmla="*/ 22 w 58"/>
                <a:gd name="T33" fmla="*/ 0 h 36"/>
                <a:gd name="T34" fmla="*/ 38 w 58"/>
                <a:gd name="T35" fmla="*/ 0 h 36"/>
                <a:gd name="T36" fmla="*/ 38 w 58"/>
                <a:gd name="T37" fmla="*/ 0 h 36"/>
                <a:gd name="T38" fmla="*/ 36 w 58"/>
                <a:gd name="T39" fmla="*/ 2 h 36"/>
                <a:gd name="T40" fmla="*/ 34 w 58"/>
                <a:gd name="T41" fmla="*/ 2 h 36"/>
                <a:gd name="T42" fmla="*/ 34 w 58"/>
                <a:gd name="T43" fmla="*/ 4 h 36"/>
                <a:gd name="T44" fmla="*/ 34 w 58"/>
                <a:gd name="T45" fmla="*/ 4 h 36"/>
                <a:gd name="T46" fmla="*/ 34 w 58"/>
                <a:gd name="T47" fmla="*/ 6 h 36"/>
                <a:gd name="T48" fmla="*/ 34 w 58"/>
                <a:gd name="T49" fmla="*/ 6 h 36"/>
                <a:gd name="T50" fmla="*/ 44 w 58"/>
                <a:gd name="T51" fmla="*/ 26 h 36"/>
                <a:gd name="T52" fmla="*/ 50 w 58"/>
                <a:gd name="T53" fmla="*/ 6 h 36"/>
                <a:gd name="T54" fmla="*/ 52 w 58"/>
                <a:gd name="T55" fmla="*/ 4 h 36"/>
                <a:gd name="T56" fmla="*/ 52 w 58"/>
                <a:gd name="T57" fmla="*/ 4 h 36"/>
                <a:gd name="T58" fmla="*/ 52 w 58"/>
                <a:gd name="T59" fmla="*/ 2 h 36"/>
                <a:gd name="T60" fmla="*/ 52 w 58"/>
                <a:gd name="T61" fmla="*/ 2 h 36"/>
                <a:gd name="T62" fmla="*/ 50 w 58"/>
                <a:gd name="T63" fmla="*/ 2 h 36"/>
                <a:gd name="T64" fmla="*/ 48 w 58"/>
                <a:gd name="T65" fmla="*/ 0 h 36"/>
                <a:gd name="T66" fmla="*/ 48 w 58"/>
                <a:gd name="T67" fmla="*/ 0 h 36"/>
                <a:gd name="T68" fmla="*/ 58 w 58"/>
                <a:gd name="T69" fmla="*/ 0 h 36"/>
                <a:gd name="T70" fmla="*/ 58 w 58"/>
                <a:gd name="T71" fmla="*/ 0 h 36"/>
                <a:gd name="T72" fmla="*/ 56 w 58"/>
                <a:gd name="T73" fmla="*/ 2 h 36"/>
                <a:gd name="T74" fmla="*/ 54 w 58"/>
                <a:gd name="T75" fmla="*/ 6 h 36"/>
                <a:gd name="T76" fmla="*/ 42 w 58"/>
                <a:gd name="T77" fmla="*/ 36 h 36"/>
                <a:gd name="T78" fmla="*/ 40 w 58"/>
                <a:gd name="T79" fmla="*/ 36 h 36"/>
                <a:gd name="T80" fmla="*/ 30 w 58"/>
                <a:gd name="T81" fmla="*/ 14 h 36"/>
                <a:gd name="T82" fmla="*/ 20 w 58"/>
                <a:gd name="T83" fmla="*/ 36 h 36"/>
                <a:gd name="T84" fmla="*/ 18 w 58"/>
                <a:gd name="T85" fmla="*/ 36 h 36"/>
                <a:gd name="T86" fmla="*/ 6 w 58"/>
                <a:gd name="T87" fmla="*/ 6 h 36"/>
                <a:gd name="T88" fmla="*/ 6 w 58"/>
                <a:gd name="T89" fmla="*/ 4 h 36"/>
                <a:gd name="T90" fmla="*/ 4 w 58"/>
                <a:gd name="T91" fmla="*/ 2 h 36"/>
                <a:gd name="T92" fmla="*/ 2 w 58"/>
                <a:gd name="T93" fmla="*/ 2 h 36"/>
                <a:gd name="T94" fmla="*/ 0 w 58"/>
                <a:gd name="T95" fmla="*/ 0 h 36"/>
                <a:gd name="T96" fmla="*/ 0 w 58"/>
                <a:gd name="T97" fmla="*/ 0 h 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58"/>
                <a:gd name="T148" fmla="*/ 0 h 36"/>
                <a:gd name="T149" fmla="*/ 58 w 58"/>
                <a:gd name="T150" fmla="*/ 36 h 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58" h="36">
                  <a:moveTo>
                    <a:pt x="0" y="0"/>
                  </a:moveTo>
                  <a:lnTo>
                    <a:pt x="16" y="0"/>
                  </a:lnTo>
                  <a:lnTo>
                    <a:pt x="14" y="2"/>
                  </a:lnTo>
                  <a:lnTo>
                    <a:pt x="12" y="4"/>
                  </a:lnTo>
                  <a:lnTo>
                    <a:pt x="14" y="6"/>
                  </a:lnTo>
                  <a:lnTo>
                    <a:pt x="22" y="26"/>
                  </a:lnTo>
                  <a:lnTo>
                    <a:pt x="30" y="10"/>
                  </a:lnTo>
                  <a:lnTo>
                    <a:pt x="28" y="6"/>
                  </a:lnTo>
                  <a:lnTo>
                    <a:pt x="26" y="4"/>
                  </a:lnTo>
                  <a:lnTo>
                    <a:pt x="24" y="2"/>
                  </a:lnTo>
                  <a:lnTo>
                    <a:pt x="22" y="0"/>
                  </a:lnTo>
                  <a:lnTo>
                    <a:pt x="38" y="0"/>
                  </a:lnTo>
                  <a:lnTo>
                    <a:pt x="36" y="2"/>
                  </a:lnTo>
                  <a:lnTo>
                    <a:pt x="34" y="2"/>
                  </a:lnTo>
                  <a:lnTo>
                    <a:pt x="34" y="4"/>
                  </a:lnTo>
                  <a:lnTo>
                    <a:pt x="34" y="6"/>
                  </a:lnTo>
                  <a:lnTo>
                    <a:pt x="44" y="26"/>
                  </a:lnTo>
                  <a:lnTo>
                    <a:pt x="50" y="6"/>
                  </a:lnTo>
                  <a:lnTo>
                    <a:pt x="52" y="4"/>
                  </a:lnTo>
                  <a:lnTo>
                    <a:pt x="52" y="2"/>
                  </a:lnTo>
                  <a:lnTo>
                    <a:pt x="50" y="2"/>
                  </a:lnTo>
                  <a:lnTo>
                    <a:pt x="48" y="0"/>
                  </a:lnTo>
                  <a:lnTo>
                    <a:pt x="58" y="0"/>
                  </a:lnTo>
                  <a:lnTo>
                    <a:pt x="56" y="2"/>
                  </a:lnTo>
                  <a:lnTo>
                    <a:pt x="54" y="6"/>
                  </a:lnTo>
                  <a:lnTo>
                    <a:pt x="42" y="36"/>
                  </a:lnTo>
                  <a:lnTo>
                    <a:pt x="40" y="36"/>
                  </a:lnTo>
                  <a:lnTo>
                    <a:pt x="30" y="14"/>
                  </a:lnTo>
                  <a:lnTo>
                    <a:pt x="20" y="36"/>
                  </a:lnTo>
                  <a:lnTo>
                    <a:pt x="18" y="36"/>
                  </a:lnTo>
                  <a:lnTo>
                    <a:pt x="6" y="6"/>
                  </a:lnTo>
                  <a:lnTo>
                    <a:pt x="6" y="4"/>
                  </a:lnTo>
                  <a:lnTo>
                    <a:pt x="4" y="2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35" name="Freeform 115"/>
            <p:cNvSpPr>
              <a:spLocks noEditPoints="1"/>
            </p:cNvSpPr>
            <p:nvPr/>
          </p:nvSpPr>
          <p:spPr bwMode="auto">
            <a:xfrm>
              <a:off x="1724" y="3004"/>
              <a:ext cx="34" cy="36"/>
            </a:xfrm>
            <a:custGeom>
              <a:avLst/>
              <a:gdLst>
                <a:gd name="T0" fmla="*/ 16 w 34"/>
                <a:gd name="T1" fmla="*/ 0 h 36"/>
                <a:gd name="T2" fmla="*/ 22 w 34"/>
                <a:gd name="T3" fmla="*/ 0 h 36"/>
                <a:gd name="T4" fmla="*/ 26 w 34"/>
                <a:gd name="T5" fmla="*/ 2 h 36"/>
                <a:gd name="T6" fmla="*/ 30 w 34"/>
                <a:gd name="T7" fmla="*/ 6 h 36"/>
                <a:gd name="T8" fmla="*/ 32 w 34"/>
                <a:gd name="T9" fmla="*/ 12 h 36"/>
                <a:gd name="T10" fmla="*/ 34 w 34"/>
                <a:gd name="T11" fmla="*/ 18 h 36"/>
                <a:gd name="T12" fmla="*/ 34 w 34"/>
                <a:gd name="T13" fmla="*/ 22 h 36"/>
                <a:gd name="T14" fmla="*/ 32 w 34"/>
                <a:gd name="T15" fmla="*/ 28 h 36"/>
                <a:gd name="T16" fmla="*/ 28 w 34"/>
                <a:gd name="T17" fmla="*/ 32 h 36"/>
                <a:gd name="T18" fmla="*/ 26 w 34"/>
                <a:gd name="T19" fmla="*/ 34 h 36"/>
                <a:gd name="T20" fmla="*/ 22 w 34"/>
                <a:gd name="T21" fmla="*/ 36 h 36"/>
                <a:gd name="T22" fmla="*/ 16 w 34"/>
                <a:gd name="T23" fmla="*/ 36 h 36"/>
                <a:gd name="T24" fmla="*/ 12 w 34"/>
                <a:gd name="T25" fmla="*/ 36 h 36"/>
                <a:gd name="T26" fmla="*/ 8 w 34"/>
                <a:gd name="T27" fmla="*/ 34 h 36"/>
                <a:gd name="T28" fmla="*/ 4 w 34"/>
                <a:gd name="T29" fmla="*/ 30 h 36"/>
                <a:gd name="T30" fmla="*/ 0 w 34"/>
                <a:gd name="T31" fmla="*/ 24 h 36"/>
                <a:gd name="T32" fmla="*/ 0 w 34"/>
                <a:gd name="T33" fmla="*/ 18 h 36"/>
                <a:gd name="T34" fmla="*/ 0 w 34"/>
                <a:gd name="T35" fmla="*/ 14 h 36"/>
                <a:gd name="T36" fmla="*/ 2 w 34"/>
                <a:gd name="T37" fmla="*/ 8 h 36"/>
                <a:gd name="T38" fmla="*/ 4 w 34"/>
                <a:gd name="T39" fmla="*/ 4 h 36"/>
                <a:gd name="T40" fmla="*/ 8 w 34"/>
                <a:gd name="T41" fmla="*/ 2 h 36"/>
                <a:gd name="T42" fmla="*/ 12 w 34"/>
                <a:gd name="T43" fmla="*/ 0 h 36"/>
                <a:gd name="T44" fmla="*/ 16 w 34"/>
                <a:gd name="T45" fmla="*/ 0 h 36"/>
                <a:gd name="T46" fmla="*/ 16 w 34"/>
                <a:gd name="T47" fmla="*/ 2 h 36"/>
                <a:gd name="T48" fmla="*/ 14 w 34"/>
                <a:gd name="T49" fmla="*/ 2 h 36"/>
                <a:gd name="T50" fmla="*/ 12 w 34"/>
                <a:gd name="T51" fmla="*/ 4 h 36"/>
                <a:gd name="T52" fmla="*/ 10 w 34"/>
                <a:gd name="T53" fmla="*/ 4 h 36"/>
                <a:gd name="T54" fmla="*/ 8 w 34"/>
                <a:gd name="T55" fmla="*/ 8 h 36"/>
                <a:gd name="T56" fmla="*/ 6 w 34"/>
                <a:gd name="T57" fmla="*/ 10 h 36"/>
                <a:gd name="T58" fmla="*/ 6 w 34"/>
                <a:gd name="T59" fmla="*/ 16 h 36"/>
                <a:gd name="T60" fmla="*/ 8 w 34"/>
                <a:gd name="T61" fmla="*/ 22 h 36"/>
                <a:gd name="T62" fmla="*/ 10 w 34"/>
                <a:gd name="T63" fmla="*/ 28 h 36"/>
                <a:gd name="T64" fmla="*/ 14 w 34"/>
                <a:gd name="T65" fmla="*/ 32 h 36"/>
                <a:gd name="T66" fmla="*/ 18 w 34"/>
                <a:gd name="T67" fmla="*/ 34 h 36"/>
                <a:gd name="T68" fmla="*/ 22 w 34"/>
                <a:gd name="T69" fmla="*/ 34 h 36"/>
                <a:gd name="T70" fmla="*/ 24 w 34"/>
                <a:gd name="T71" fmla="*/ 32 h 36"/>
                <a:gd name="T72" fmla="*/ 26 w 34"/>
                <a:gd name="T73" fmla="*/ 26 h 36"/>
                <a:gd name="T74" fmla="*/ 28 w 34"/>
                <a:gd name="T75" fmla="*/ 20 h 36"/>
                <a:gd name="T76" fmla="*/ 26 w 34"/>
                <a:gd name="T77" fmla="*/ 14 h 36"/>
                <a:gd name="T78" fmla="*/ 26 w 34"/>
                <a:gd name="T79" fmla="*/ 10 h 36"/>
                <a:gd name="T80" fmla="*/ 22 w 34"/>
                <a:gd name="T81" fmla="*/ 6 h 36"/>
                <a:gd name="T82" fmla="*/ 20 w 34"/>
                <a:gd name="T83" fmla="*/ 2 h 36"/>
                <a:gd name="T84" fmla="*/ 16 w 34"/>
                <a:gd name="T85" fmla="*/ 2 h 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4"/>
                <a:gd name="T130" fmla="*/ 0 h 36"/>
                <a:gd name="T131" fmla="*/ 34 w 34"/>
                <a:gd name="T132" fmla="*/ 36 h 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4" h="36">
                  <a:moveTo>
                    <a:pt x="16" y="0"/>
                  </a:moveTo>
                  <a:lnTo>
                    <a:pt x="22" y="0"/>
                  </a:lnTo>
                  <a:lnTo>
                    <a:pt x="26" y="2"/>
                  </a:lnTo>
                  <a:lnTo>
                    <a:pt x="30" y="6"/>
                  </a:lnTo>
                  <a:lnTo>
                    <a:pt x="32" y="12"/>
                  </a:lnTo>
                  <a:lnTo>
                    <a:pt x="34" y="18"/>
                  </a:lnTo>
                  <a:lnTo>
                    <a:pt x="34" y="22"/>
                  </a:lnTo>
                  <a:lnTo>
                    <a:pt x="32" y="28"/>
                  </a:lnTo>
                  <a:lnTo>
                    <a:pt x="28" y="32"/>
                  </a:lnTo>
                  <a:lnTo>
                    <a:pt x="26" y="34"/>
                  </a:lnTo>
                  <a:lnTo>
                    <a:pt x="22" y="36"/>
                  </a:lnTo>
                  <a:lnTo>
                    <a:pt x="16" y="36"/>
                  </a:lnTo>
                  <a:lnTo>
                    <a:pt x="12" y="36"/>
                  </a:lnTo>
                  <a:lnTo>
                    <a:pt x="8" y="34"/>
                  </a:lnTo>
                  <a:lnTo>
                    <a:pt x="4" y="30"/>
                  </a:lnTo>
                  <a:lnTo>
                    <a:pt x="0" y="24"/>
                  </a:lnTo>
                  <a:lnTo>
                    <a:pt x="0" y="18"/>
                  </a:lnTo>
                  <a:lnTo>
                    <a:pt x="0" y="14"/>
                  </a:lnTo>
                  <a:lnTo>
                    <a:pt x="2" y="8"/>
                  </a:lnTo>
                  <a:lnTo>
                    <a:pt x="4" y="4"/>
                  </a:lnTo>
                  <a:lnTo>
                    <a:pt x="8" y="2"/>
                  </a:lnTo>
                  <a:lnTo>
                    <a:pt x="12" y="0"/>
                  </a:lnTo>
                  <a:lnTo>
                    <a:pt x="16" y="0"/>
                  </a:lnTo>
                  <a:close/>
                  <a:moveTo>
                    <a:pt x="16" y="2"/>
                  </a:moveTo>
                  <a:lnTo>
                    <a:pt x="14" y="2"/>
                  </a:lnTo>
                  <a:lnTo>
                    <a:pt x="12" y="4"/>
                  </a:lnTo>
                  <a:lnTo>
                    <a:pt x="10" y="4"/>
                  </a:lnTo>
                  <a:lnTo>
                    <a:pt x="8" y="8"/>
                  </a:lnTo>
                  <a:lnTo>
                    <a:pt x="6" y="10"/>
                  </a:lnTo>
                  <a:lnTo>
                    <a:pt x="6" y="16"/>
                  </a:lnTo>
                  <a:lnTo>
                    <a:pt x="8" y="22"/>
                  </a:lnTo>
                  <a:lnTo>
                    <a:pt x="10" y="28"/>
                  </a:lnTo>
                  <a:lnTo>
                    <a:pt x="14" y="32"/>
                  </a:lnTo>
                  <a:lnTo>
                    <a:pt x="18" y="34"/>
                  </a:lnTo>
                  <a:lnTo>
                    <a:pt x="22" y="34"/>
                  </a:lnTo>
                  <a:lnTo>
                    <a:pt x="24" y="32"/>
                  </a:lnTo>
                  <a:lnTo>
                    <a:pt x="26" y="26"/>
                  </a:lnTo>
                  <a:lnTo>
                    <a:pt x="28" y="20"/>
                  </a:lnTo>
                  <a:lnTo>
                    <a:pt x="26" y="14"/>
                  </a:lnTo>
                  <a:lnTo>
                    <a:pt x="26" y="10"/>
                  </a:lnTo>
                  <a:lnTo>
                    <a:pt x="22" y="6"/>
                  </a:lnTo>
                  <a:lnTo>
                    <a:pt x="20" y="2"/>
                  </a:lnTo>
                  <a:lnTo>
                    <a:pt x="16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36" name="Freeform 116"/>
            <p:cNvSpPr/>
            <p:nvPr/>
          </p:nvSpPr>
          <p:spPr bwMode="auto">
            <a:xfrm>
              <a:off x="1762" y="3004"/>
              <a:ext cx="26" cy="36"/>
            </a:xfrm>
            <a:custGeom>
              <a:avLst/>
              <a:gdLst>
                <a:gd name="T0" fmla="*/ 12 w 26"/>
                <a:gd name="T1" fmla="*/ 0 h 36"/>
                <a:gd name="T2" fmla="*/ 12 w 26"/>
                <a:gd name="T3" fmla="*/ 8 h 36"/>
                <a:gd name="T4" fmla="*/ 14 w 26"/>
                <a:gd name="T5" fmla="*/ 4 h 36"/>
                <a:gd name="T6" fmla="*/ 18 w 26"/>
                <a:gd name="T7" fmla="*/ 0 h 36"/>
                <a:gd name="T8" fmla="*/ 20 w 26"/>
                <a:gd name="T9" fmla="*/ 0 h 36"/>
                <a:gd name="T10" fmla="*/ 22 w 26"/>
                <a:gd name="T11" fmla="*/ 0 h 36"/>
                <a:gd name="T12" fmla="*/ 24 w 26"/>
                <a:gd name="T13" fmla="*/ 0 h 36"/>
                <a:gd name="T14" fmla="*/ 26 w 26"/>
                <a:gd name="T15" fmla="*/ 2 h 36"/>
                <a:gd name="T16" fmla="*/ 26 w 26"/>
                <a:gd name="T17" fmla="*/ 4 h 36"/>
                <a:gd name="T18" fmla="*/ 26 w 26"/>
                <a:gd name="T19" fmla="*/ 6 h 36"/>
                <a:gd name="T20" fmla="*/ 24 w 26"/>
                <a:gd name="T21" fmla="*/ 8 h 36"/>
                <a:gd name="T22" fmla="*/ 24 w 26"/>
                <a:gd name="T23" fmla="*/ 8 h 36"/>
                <a:gd name="T24" fmla="*/ 22 w 26"/>
                <a:gd name="T25" fmla="*/ 8 h 36"/>
                <a:gd name="T26" fmla="*/ 22 w 26"/>
                <a:gd name="T27" fmla="*/ 8 h 36"/>
                <a:gd name="T28" fmla="*/ 20 w 26"/>
                <a:gd name="T29" fmla="*/ 6 h 36"/>
                <a:gd name="T30" fmla="*/ 18 w 26"/>
                <a:gd name="T31" fmla="*/ 6 h 36"/>
                <a:gd name="T32" fmla="*/ 18 w 26"/>
                <a:gd name="T33" fmla="*/ 6 h 36"/>
                <a:gd name="T34" fmla="*/ 16 w 26"/>
                <a:gd name="T35" fmla="*/ 6 h 36"/>
                <a:gd name="T36" fmla="*/ 16 w 26"/>
                <a:gd name="T37" fmla="*/ 6 h 36"/>
                <a:gd name="T38" fmla="*/ 14 w 26"/>
                <a:gd name="T39" fmla="*/ 8 h 36"/>
                <a:gd name="T40" fmla="*/ 12 w 26"/>
                <a:gd name="T41" fmla="*/ 12 h 36"/>
                <a:gd name="T42" fmla="*/ 12 w 26"/>
                <a:gd name="T43" fmla="*/ 28 h 36"/>
                <a:gd name="T44" fmla="*/ 12 w 26"/>
                <a:gd name="T45" fmla="*/ 30 h 36"/>
                <a:gd name="T46" fmla="*/ 12 w 26"/>
                <a:gd name="T47" fmla="*/ 32 h 36"/>
                <a:gd name="T48" fmla="*/ 14 w 26"/>
                <a:gd name="T49" fmla="*/ 34 h 36"/>
                <a:gd name="T50" fmla="*/ 14 w 26"/>
                <a:gd name="T51" fmla="*/ 34 h 36"/>
                <a:gd name="T52" fmla="*/ 16 w 26"/>
                <a:gd name="T53" fmla="*/ 34 h 36"/>
                <a:gd name="T54" fmla="*/ 18 w 26"/>
                <a:gd name="T55" fmla="*/ 36 h 36"/>
                <a:gd name="T56" fmla="*/ 18 w 26"/>
                <a:gd name="T57" fmla="*/ 36 h 36"/>
                <a:gd name="T58" fmla="*/ 0 w 26"/>
                <a:gd name="T59" fmla="*/ 36 h 36"/>
                <a:gd name="T60" fmla="*/ 0 w 26"/>
                <a:gd name="T61" fmla="*/ 36 h 36"/>
                <a:gd name="T62" fmla="*/ 2 w 26"/>
                <a:gd name="T63" fmla="*/ 34 h 36"/>
                <a:gd name="T64" fmla="*/ 4 w 26"/>
                <a:gd name="T65" fmla="*/ 34 h 36"/>
                <a:gd name="T66" fmla="*/ 4 w 26"/>
                <a:gd name="T67" fmla="*/ 34 h 36"/>
                <a:gd name="T68" fmla="*/ 4 w 26"/>
                <a:gd name="T69" fmla="*/ 32 h 36"/>
                <a:gd name="T70" fmla="*/ 4 w 26"/>
                <a:gd name="T71" fmla="*/ 30 h 36"/>
                <a:gd name="T72" fmla="*/ 6 w 26"/>
                <a:gd name="T73" fmla="*/ 28 h 36"/>
                <a:gd name="T74" fmla="*/ 6 w 26"/>
                <a:gd name="T75" fmla="*/ 14 h 36"/>
                <a:gd name="T76" fmla="*/ 4 w 26"/>
                <a:gd name="T77" fmla="*/ 8 h 36"/>
                <a:gd name="T78" fmla="*/ 4 w 26"/>
                <a:gd name="T79" fmla="*/ 6 h 36"/>
                <a:gd name="T80" fmla="*/ 4 w 26"/>
                <a:gd name="T81" fmla="*/ 6 h 36"/>
                <a:gd name="T82" fmla="*/ 4 w 26"/>
                <a:gd name="T83" fmla="*/ 4 h 36"/>
                <a:gd name="T84" fmla="*/ 4 w 26"/>
                <a:gd name="T85" fmla="*/ 4 h 36"/>
                <a:gd name="T86" fmla="*/ 2 w 26"/>
                <a:gd name="T87" fmla="*/ 4 h 36"/>
                <a:gd name="T88" fmla="*/ 2 w 26"/>
                <a:gd name="T89" fmla="*/ 4 h 36"/>
                <a:gd name="T90" fmla="*/ 0 w 26"/>
                <a:gd name="T91" fmla="*/ 4 h 36"/>
                <a:gd name="T92" fmla="*/ 0 w 26"/>
                <a:gd name="T93" fmla="*/ 4 h 36"/>
                <a:gd name="T94" fmla="*/ 10 w 26"/>
                <a:gd name="T95" fmla="*/ 0 h 36"/>
                <a:gd name="T96" fmla="*/ 12 w 26"/>
                <a:gd name="T97" fmla="*/ 0 h 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26"/>
                <a:gd name="T148" fmla="*/ 0 h 36"/>
                <a:gd name="T149" fmla="*/ 26 w 26"/>
                <a:gd name="T150" fmla="*/ 36 h 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26" h="36">
                  <a:moveTo>
                    <a:pt x="12" y="0"/>
                  </a:moveTo>
                  <a:lnTo>
                    <a:pt x="12" y="8"/>
                  </a:lnTo>
                  <a:lnTo>
                    <a:pt x="14" y="4"/>
                  </a:lnTo>
                  <a:lnTo>
                    <a:pt x="18" y="0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6" y="2"/>
                  </a:lnTo>
                  <a:lnTo>
                    <a:pt x="26" y="4"/>
                  </a:lnTo>
                  <a:lnTo>
                    <a:pt x="26" y="6"/>
                  </a:lnTo>
                  <a:lnTo>
                    <a:pt x="24" y="8"/>
                  </a:lnTo>
                  <a:lnTo>
                    <a:pt x="22" y="8"/>
                  </a:lnTo>
                  <a:lnTo>
                    <a:pt x="20" y="6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4" y="8"/>
                  </a:lnTo>
                  <a:lnTo>
                    <a:pt x="12" y="12"/>
                  </a:lnTo>
                  <a:lnTo>
                    <a:pt x="12" y="28"/>
                  </a:lnTo>
                  <a:lnTo>
                    <a:pt x="12" y="30"/>
                  </a:lnTo>
                  <a:lnTo>
                    <a:pt x="12" y="32"/>
                  </a:lnTo>
                  <a:lnTo>
                    <a:pt x="14" y="34"/>
                  </a:lnTo>
                  <a:lnTo>
                    <a:pt x="16" y="34"/>
                  </a:lnTo>
                  <a:lnTo>
                    <a:pt x="18" y="36"/>
                  </a:lnTo>
                  <a:lnTo>
                    <a:pt x="0" y="36"/>
                  </a:lnTo>
                  <a:lnTo>
                    <a:pt x="2" y="34"/>
                  </a:lnTo>
                  <a:lnTo>
                    <a:pt x="4" y="34"/>
                  </a:lnTo>
                  <a:lnTo>
                    <a:pt x="4" y="32"/>
                  </a:lnTo>
                  <a:lnTo>
                    <a:pt x="4" y="30"/>
                  </a:lnTo>
                  <a:lnTo>
                    <a:pt x="6" y="28"/>
                  </a:lnTo>
                  <a:lnTo>
                    <a:pt x="6" y="14"/>
                  </a:lnTo>
                  <a:lnTo>
                    <a:pt x="4" y="8"/>
                  </a:lnTo>
                  <a:lnTo>
                    <a:pt x="4" y="6"/>
                  </a:lnTo>
                  <a:lnTo>
                    <a:pt x="4" y="4"/>
                  </a:lnTo>
                  <a:lnTo>
                    <a:pt x="2" y="4"/>
                  </a:lnTo>
                  <a:lnTo>
                    <a:pt x="0" y="4"/>
                  </a:lnTo>
                  <a:lnTo>
                    <a:pt x="10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37" name="Freeform 117"/>
            <p:cNvSpPr/>
            <p:nvPr/>
          </p:nvSpPr>
          <p:spPr bwMode="auto">
            <a:xfrm>
              <a:off x="1788" y="2984"/>
              <a:ext cx="40" cy="56"/>
            </a:xfrm>
            <a:custGeom>
              <a:avLst/>
              <a:gdLst>
                <a:gd name="T0" fmla="*/ 12 w 40"/>
                <a:gd name="T1" fmla="*/ 36 h 56"/>
                <a:gd name="T2" fmla="*/ 24 w 40"/>
                <a:gd name="T3" fmla="*/ 26 h 56"/>
                <a:gd name="T4" fmla="*/ 26 w 40"/>
                <a:gd name="T5" fmla="*/ 24 h 56"/>
                <a:gd name="T6" fmla="*/ 26 w 40"/>
                <a:gd name="T7" fmla="*/ 22 h 56"/>
                <a:gd name="T8" fmla="*/ 24 w 40"/>
                <a:gd name="T9" fmla="*/ 22 h 56"/>
                <a:gd name="T10" fmla="*/ 22 w 40"/>
                <a:gd name="T11" fmla="*/ 20 h 56"/>
                <a:gd name="T12" fmla="*/ 38 w 40"/>
                <a:gd name="T13" fmla="*/ 20 h 56"/>
                <a:gd name="T14" fmla="*/ 32 w 40"/>
                <a:gd name="T15" fmla="*/ 22 h 56"/>
                <a:gd name="T16" fmla="*/ 28 w 40"/>
                <a:gd name="T17" fmla="*/ 26 h 56"/>
                <a:gd name="T18" fmla="*/ 28 w 40"/>
                <a:gd name="T19" fmla="*/ 46 h 56"/>
                <a:gd name="T20" fmla="*/ 34 w 40"/>
                <a:gd name="T21" fmla="*/ 52 h 56"/>
                <a:gd name="T22" fmla="*/ 36 w 40"/>
                <a:gd name="T23" fmla="*/ 54 h 56"/>
                <a:gd name="T24" fmla="*/ 40 w 40"/>
                <a:gd name="T25" fmla="*/ 54 h 56"/>
                <a:gd name="T26" fmla="*/ 22 w 40"/>
                <a:gd name="T27" fmla="*/ 56 h 56"/>
                <a:gd name="T28" fmla="*/ 24 w 40"/>
                <a:gd name="T29" fmla="*/ 56 h 56"/>
                <a:gd name="T30" fmla="*/ 26 w 40"/>
                <a:gd name="T31" fmla="*/ 54 h 56"/>
                <a:gd name="T32" fmla="*/ 26 w 40"/>
                <a:gd name="T33" fmla="*/ 52 h 56"/>
                <a:gd name="T34" fmla="*/ 12 w 40"/>
                <a:gd name="T35" fmla="*/ 36 h 56"/>
                <a:gd name="T36" fmla="*/ 12 w 40"/>
                <a:gd name="T37" fmla="*/ 50 h 56"/>
                <a:gd name="T38" fmla="*/ 14 w 40"/>
                <a:gd name="T39" fmla="*/ 54 h 56"/>
                <a:gd name="T40" fmla="*/ 16 w 40"/>
                <a:gd name="T41" fmla="*/ 56 h 56"/>
                <a:gd name="T42" fmla="*/ 18 w 40"/>
                <a:gd name="T43" fmla="*/ 56 h 56"/>
                <a:gd name="T44" fmla="*/ 0 w 40"/>
                <a:gd name="T45" fmla="*/ 56 h 56"/>
                <a:gd name="T46" fmla="*/ 4 w 40"/>
                <a:gd name="T47" fmla="*/ 54 h 56"/>
                <a:gd name="T48" fmla="*/ 6 w 40"/>
                <a:gd name="T49" fmla="*/ 52 h 56"/>
                <a:gd name="T50" fmla="*/ 6 w 40"/>
                <a:gd name="T51" fmla="*/ 48 h 56"/>
                <a:gd name="T52" fmla="*/ 6 w 40"/>
                <a:gd name="T53" fmla="*/ 10 h 56"/>
                <a:gd name="T54" fmla="*/ 6 w 40"/>
                <a:gd name="T55" fmla="*/ 6 h 56"/>
                <a:gd name="T56" fmla="*/ 4 w 40"/>
                <a:gd name="T57" fmla="*/ 4 h 56"/>
                <a:gd name="T58" fmla="*/ 2 w 40"/>
                <a:gd name="T59" fmla="*/ 4 h 56"/>
                <a:gd name="T60" fmla="*/ 0 w 40"/>
                <a:gd name="T61" fmla="*/ 4 h 56"/>
                <a:gd name="T62" fmla="*/ 12 w 40"/>
                <a:gd name="T63" fmla="*/ 0 h 5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40"/>
                <a:gd name="T97" fmla="*/ 0 h 56"/>
                <a:gd name="T98" fmla="*/ 40 w 40"/>
                <a:gd name="T99" fmla="*/ 56 h 5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40" h="56">
                  <a:moveTo>
                    <a:pt x="12" y="0"/>
                  </a:moveTo>
                  <a:lnTo>
                    <a:pt x="12" y="36"/>
                  </a:lnTo>
                  <a:lnTo>
                    <a:pt x="22" y="28"/>
                  </a:lnTo>
                  <a:lnTo>
                    <a:pt x="24" y="26"/>
                  </a:lnTo>
                  <a:lnTo>
                    <a:pt x="26" y="24"/>
                  </a:lnTo>
                  <a:lnTo>
                    <a:pt x="26" y="22"/>
                  </a:lnTo>
                  <a:lnTo>
                    <a:pt x="24" y="22"/>
                  </a:lnTo>
                  <a:lnTo>
                    <a:pt x="22" y="20"/>
                  </a:lnTo>
                  <a:lnTo>
                    <a:pt x="38" y="20"/>
                  </a:lnTo>
                  <a:lnTo>
                    <a:pt x="36" y="22"/>
                  </a:lnTo>
                  <a:lnTo>
                    <a:pt x="32" y="22"/>
                  </a:lnTo>
                  <a:lnTo>
                    <a:pt x="30" y="24"/>
                  </a:lnTo>
                  <a:lnTo>
                    <a:pt x="28" y="26"/>
                  </a:lnTo>
                  <a:lnTo>
                    <a:pt x="18" y="34"/>
                  </a:lnTo>
                  <a:lnTo>
                    <a:pt x="28" y="46"/>
                  </a:lnTo>
                  <a:lnTo>
                    <a:pt x="32" y="50"/>
                  </a:lnTo>
                  <a:lnTo>
                    <a:pt x="34" y="52"/>
                  </a:lnTo>
                  <a:lnTo>
                    <a:pt x="36" y="54"/>
                  </a:lnTo>
                  <a:lnTo>
                    <a:pt x="38" y="54"/>
                  </a:lnTo>
                  <a:lnTo>
                    <a:pt x="40" y="54"/>
                  </a:lnTo>
                  <a:lnTo>
                    <a:pt x="40" y="56"/>
                  </a:lnTo>
                  <a:lnTo>
                    <a:pt x="22" y="56"/>
                  </a:lnTo>
                  <a:lnTo>
                    <a:pt x="24" y="56"/>
                  </a:lnTo>
                  <a:lnTo>
                    <a:pt x="24" y="54"/>
                  </a:lnTo>
                  <a:lnTo>
                    <a:pt x="26" y="54"/>
                  </a:lnTo>
                  <a:lnTo>
                    <a:pt x="26" y="52"/>
                  </a:lnTo>
                  <a:lnTo>
                    <a:pt x="24" y="50"/>
                  </a:lnTo>
                  <a:lnTo>
                    <a:pt x="12" y="36"/>
                  </a:lnTo>
                  <a:lnTo>
                    <a:pt x="12" y="48"/>
                  </a:lnTo>
                  <a:lnTo>
                    <a:pt x="12" y="50"/>
                  </a:lnTo>
                  <a:lnTo>
                    <a:pt x="12" y="52"/>
                  </a:lnTo>
                  <a:lnTo>
                    <a:pt x="14" y="54"/>
                  </a:lnTo>
                  <a:lnTo>
                    <a:pt x="16" y="56"/>
                  </a:lnTo>
                  <a:lnTo>
                    <a:pt x="18" y="56"/>
                  </a:lnTo>
                  <a:lnTo>
                    <a:pt x="0" y="56"/>
                  </a:lnTo>
                  <a:lnTo>
                    <a:pt x="2" y="54"/>
                  </a:lnTo>
                  <a:lnTo>
                    <a:pt x="4" y="54"/>
                  </a:lnTo>
                  <a:lnTo>
                    <a:pt x="6" y="52"/>
                  </a:lnTo>
                  <a:lnTo>
                    <a:pt x="6" y="50"/>
                  </a:lnTo>
                  <a:lnTo>
                    <a:pt x="6" y="48"/>
                  </a:lnTo>
                  <a:lnTo>
                    <a:pt x="6" y="16"/>
                  </a:lnTo>
                  <a:lnTo>
                    <a:pt x="6" y="10"/>
                  </a:lnTo>
                  <a:lnTo>
                    <a:pt x="6" y="8"/>
                  </a:lnTo>
                  <a:lnTo>
                    <a:pt x="6" y="6"/>
                  </a:lnTo>
                  <a:lnTo>
                    <a:pt x="4" y="6"/>
                  </a:lnTo>
                  <a:lnTo>
                    <a:pt x="4" y="4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4"/>
                  </a:lnTo>
                  <a:lnTo>
                    <a:pt x="10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38" name="Freeform 118"/>
            <p:cNvSpPr>
              <a:spLocks noEditPoints="1"/>
            </p:cNvSpPr>
            <p:nvPr/>
          </p:nvSpPr>
          <p:spPr bwMode="auto">
            <a:xfrm>
              <a:off x="1830" y="3004"/>
              <a:ext cx="30" cy="36"/>
            </a:xfrm>
            <a:custGeom>
              <a:avLst/>
              <a:gdLst>
                <a:gd name="T0" fmla="*/ 6 w 30"/>
                <a:gd name="T1" fmla="*/ 14 h 36"/>
                <a:gd name="T2" fmla="*/ 6 w 30"/>
                <a:gd name="T3" fmla="*/ 20 h 36"/>
                <a:gd name="T4" fmla="*/ 10 w 30"/>
                <a:gd name="T5" fmla="*/ 26 h 36"/>
                <a:gd name="T6" fmla="*/ 14 w 30"/>
                <a:gd name="T7" fmla="*/ 30 h 36"/>
                <a:gd name="T8" fmla="*/ 18 w 30"/>
                <a:gd name="T9" fmla="*/ 30 h 36"/>
                <a:gd name="T10" fmla="*/ 22 w 30"/>
                <a:gd name="T11" fmla="*/ 30 h 36"/>
                <a:gd name="T12" fmla="*/ 24 w 30"/>
                <a:gd name="T13" fmla="*/ 28 h 36"/>
                <a:gd name="T14" fmla="*/ 26 w 30"/>
                <a:gd name="T15" fmla="*/ 26 h 36"/>
                <a:gd name="T16" fmla="*/ 28 w 30"/>
                <a:gd name="T17" fmla="*/ 22 h 36"/>
                <a:gd name="T18" fmla="*/ 30 w 30"/>
                <a:gd name="T19" fmla="*/ 22 h 36"/>
                <a:gd name="T20" fmla="*/ 28 w 30"/>
                <a:gd name="T21" fmla="*/ 28 h 36"/>
                <a:gd name="T22" fmla="*/ 24 w 30"/>
                <a:gd name="T23" fmla="*/ 32 h 36"/>
                <a:gd name="T24" fmla="*/ 20 w 30"/>
                <a:gd name="T25" fmla="*/ 36 h 36"/>
                <a:gd name="T26" fmla="*/ 14 w 30"/>
                <a:gd name="T27" fmla="*/ 36 h 36"/>
                <a:gd name="T28" fmla="*/ 8 w 30"/>
                <a:gd name="T29" fmla="*/ 36 h 36"/>
                <a:gd name="T30" fmla="*/ 4 w 30"/>
                <a:gd name="T31" fmla="*/ 32 h 36"/>
                <a:gd name="T32" fmla="*/ 0 w 30"/>
                <a:gd name="T33" fmla="*/ 26 h 36"/>
                <a:gd name="T34" fmla="*/ 0 w 30"/>
                <a:gd name="T35" fmla="*/ 18 h 36"/>
                <a:gd name="T36" fmla="*/ 0 w 30"/>
                <a:gd name="T37" fmla="*/ 12 h 36"/>
                <a:gd name="T38" fmla="*/ 2 w 30"/>
                <a:gd name="T39" fmla="*/ 8 h 36"/>
                <a:gd name="T40" fmla="*/ 4 w 30"/>
                <a:gd name="T41" fmla="*/ 4 h 36"/>
                <a:gd name="T42" fmla="*/ 10 w 30"/>
                <a:gd name="T43" fmla="*/ 0 h 36"/>
                <a:gd name="T44" fmla="*/ 16 w 30"/>
                <a:gd name="T45" fmla="*/ 0 h 36"/>
                <a:gd name="T46" fmla="*/ 22 w 30"/>
                <a:gd name="T47" fmla="*/ 0 h 36"/>
                <a:gd name="T48" fmla="*/ 26 w 30"/>
                <a:gd name="T49" fmla="*/ 4 h 36"/>
                <a:gd name="T50" fmla="*/ 28 w 30"/>
                <a:gd name="T51" fmla="*/ 8 h 36"/>
                <a:gd name="T52" fmla="*/ 30 w 30"/>
                <a:gd name="T53" fmla="*/ 14 h 36"/>
                <a:gd name="T54" fmla="*/ 6 w 30"/>
                <a:gd name="T55" fmla="*/ 14 h 36"/>
                <a:gd name="T56" fmla="*/ 6 w 30"/>
                <a:gd name="T57" fmla="*/ 10 h 36"/>
                <a:gd name="T58" fmla="*/ 22 w 30"/>
                <a:gd name="T59" fmla="*/ 10 h 36"/>
                <a:gd name="T60" fmla="*/ 20 w 30"/>
                <a:gd name="T61" fmla="*/ 8 h 36"/>
                <a:gd name="T62" fmla="*/ 20 w 30"/>
                <a:gd name="T63" fmla="*/ 6 h 36"/>
                <a:gd name="T64" fmla="*/ 20 w 30"/>
                <a:gd name="T65" fmla="*/ 4 h 36"/>
                <a:gd name="T66" fmla="*/ 18 w 30"/>
                <a:gd name="T67" fmla="*/ 4 h 36"/>
                <a:gd name="T68" fmla="*/ 16 w 30"/>
                <a:gd name="T69" fmla="*/ 2 h 36"/>
                <a:gd name="T70" fmla="*/ 14 w 30"/>
                <a:gd name="T71" fmla="*/ 2 h 36"/>
                <a:gd name="T72" fmla="*/ 10 w 30"/>
                <a:gd name="T73" fmla="*/ 2 h 36"/>
                <a:gd name="T74" fmla="*/ 8 w 30"/>
                <a:gd name="T75" fmla="*/ 4 h 36"/>
                <a:gd name="T76" fmla="*/ 6 w 30"/>
                <a:gd name="T77" fmla="*/ 8 h 36"/>
                <a:gd name="T78" fmla="*/ 6 w 30"/>
                <a:gd name="T79" fmla="*/ 10 h 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30"/>
                <a:gd name="T121" fmla="*/ 0 h 36"/>
                <a:gd name="T122" fmla="*/ 30 w 30"/>
                <a:gd name="T123" fmla="*/ 36 h 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30" h="36">
                  <a:moveTo>
                    <a:pt x="6" y="14"/>
                  </a:moveTo>
                  <a:lnTo>
                    <a:pt x="6" y="20"/>
                  </a:lnTo>
                  <a:lnTo>
                    <a:pt x="10" y="26"/>
                  </a:lnTo>
                  <a:lnTo>
                    <a:pt x="14" y="30"/>
                  </a:lnTo>
                  <a:lnTo>
                    <a:pt x="18" y="30"/>
                  </a:lnTo>
                  <a:lnTo>
                    <a:pt x="22" y="30"/>
                  </a:lnTo>
                  <a:lnTo>
                    <a:pt x="24" y="28"/>
                  </a:lnTo>
                  <a:lnTo>
                    <a:pt x="26" y="26"/>
                  </a:lnTo>
                  <a:lnTo>
                    <a:pt x="28" y="22"/>
                  </a:lnTo>
                  <a:lnTo>
                    <a:pt x="30" y="22"/>
                  </a:lnTo>
                  <a:lnTo>
                    <a:pt x="28" y="28"/>
                  </a:lnTo>
                  <a:lnTo>
                    <a:pt x="24" y="32"/>
                  </a:lnTo>
                  <a:lnTo>
                    <a:pt x="20" y="36"/>
                  </a:lnTo>
                  <a:lnTo>
                    <a:pt x="14" y="36"/>
                  </a:lnTo>
                  <a:lnTo>
                    <a:pt x="8" y="36"/>
                  </a:lnTo>
                  <a:lnTo>
                    <a:pt x="4" y="32"/>
                  </a:lnTo>
                  <a:lnTo>
                    <a:pt x="0" y="26"/>
                  </a:lnTo>
                  <a:lnTo>
                    <a:pt x="0" y="18"/>
                  </a:lnTo>
                  <a:lnTo>
                    <a:pt x="0" y="12"/>
                  </a:lnTo>
                  <a:lnTo>
                    <a:pt x="2" y="8"/>
                  </a:lnTo>
                  <a:lnTo>
                    <a:pt x="4" y="4"/>
                  </a:lnTo>
                  <a:lnTo>
                    <a:pt x="10" y="0"/>
                  </a:lnTo>
                  <a:lnTo>
                    <a:pt x="16" y="0"/>
                  </a:lnTo>
                  <a:lnTo>
                    <a:pt x="22" y="0"/>
                  </a:lnTo>
                  <a:lnTo>
                    <a:pt x="26" y="4"/>
                  </a:lnTo>
                  <a:lnTo>
                    <a:pt x="28" y="8"/>
                  </a:lnTo>
                  <a:lnTo>
                    <a:pt x="30" y="14"/>
                  </a:lnTo>
                  <a:lnTo>
                    <a:pt x="6" y="14"/>
                  </a:lnTo>
                  <a:close/>
                  <a:moveTo>
                    <a:pt x="6" y="10"/>
                  </a:moveTo>
                  <a:lnTo>
                    <a:pt x="22" y="10"/>
                  </a:lnTo>
                  <a:lnTo>
                    <a:pt x="20" y="8"/>
                  </a:lnTo>
                  <a:lnTo>
                    <a:pt x="20" y="6"/>
                  </a:lnTo>
                  <a:lnTo>
                    <a:pt x="20" y="4"/>
                  </a:lnTo>
                  <a:lnTo>
                    <a:pt x="18" y="4"/>
                  </a:lnTo>
                  <a:lnTo>
                    <a:pt x="16" y="2"/>
                  </a:lnTo>
                  <a:lnTo>
                    <a:pt x="14" y="2"/>
                  </a:lnTo>
                  <a:lnTo>
                    <a:pt x="10" y="2"/>
                  </a:lnTo>
                  <a:lnTo>
                    <a:pt x="8" y="4"/>
                  </a:lnTo>
                  <a:lnTo>
                    <a:pt x="6" y="8"/>
                  </a:lnTo>
                  <a:lnTo>
                    <a:pt x="6" y="1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39" name="Freeform 119"/>
            <p:cNvSpPr/>
            <p:nvPr/>
          </p:nvSpPr>
          <p:spPr bwMode="auto">
            <a:xfrm>
              <a:off x="1864" y="3004"/>
              <a:ext cx="26" cy="36"/>
            </a:xfrm>
            <a:custGeom>
              <a:avLst/>
              <a:gdLst>
                <a:gd name="T0" fmla="*/ 12 w 26"/>
                <a:gd name="T1" fmla="*/ 0 h 36"/>
                <a:gd name="T2" fmla="*/ 12 w 26"/>
                <a:gd name="T3" fmla="*/ 8 h 36"/>
                <a:gd name="T4" fmla="*/ 14 w 26"/>
                <a:gd name="T5" fmla="*/ 4 h 36"/>
                <a:gd name="T6" fmla="*/ 18 w 26"/>
                <a:gd name="T7" fmla="*/ 0 h 36"/>
                <a:gd name="T8" fmla="*/ 20 w 26"/>
                <a:gd name="T9" fmla="*/ 0 h 36"/>
                <a:gd name="T10" fmla="*/ 22 w 26"/>
                <a:gd name="T11" fmla="*/ 0 h 36"/>
                <a:gd name="T12" fmla="*/ 24 w 26"/>
                <a:gd name="T13" fmla="*/ 0 h 36"/>
                <a:gd name="T14" fmla="*/ 26 w 26"/>
                <a:gd name="T15" fmla="*/ 2 h 36"/>
                <a:gd name="T16" fmla="*/ 26 w 26"/>
                <a:gd name="T17" fmla="*/ 4 h 36"/>
                <a:gd name="T18" fmla="*/ 26 w 26"/>
                <a:gd name="T19" fmla="*/ 6 h 36"/>
                <a:gd name="T20" fmla="*/ 24 w 26"/>
                <a:gd name="T21" fmla="*/ 8 h 36"/>
                <a:gd name="T22" fmla="*/ 24 w 26"/>
                <a:gd name="T23" fmla="*/ 8 h 36"/>
                <a:gd name="T24" fmla="*/ 22 w 26"/>
                <a:gd name="T25" fmla="*/ 8 h 36"/>
                <a:gd name="T26" fmla="*/ 20 w 26"/>
                <a:gd name="T27" fmla="*/ 8 h 36"/>
                <a:gd name="T28" fmla="*/ 20 w 26"/>
                <a:gd name="T29" fmla="*/ 6 h 36"/>
                <a:gd name="T30" fmla="*/ 18 w 26"/>
                <a:gd name="T31" fmla="*/ 6 h 36"/>
                <a:gd name="T32" fmla="*/ 16 w 26"/>
                <a:gd name="T33" fmla="*/ 6 h 36"/>
                <a:gd name="T34" fmla="*/ 16 w 26"/>
                <a:gd name="T35" fmla="*/ 6 h 36"/>
                <a:gd name="T36" fmla="*/ 14 w 26"/>
                <a:gd name="T37" fmla="*/ 6 h 36"/>
                <a:gd name="T38" fmla="*/ 14 w 26"/>
                <a:gd name="T39" fmla="*/ 8 h 36"/>
                <a:gd name="T40" fmla="*/ 12 w 26"/>
                <a:gd name="T41" fmla="*/ 12 h 36"/>
                <a:gd name="T42" fmla="*/ 12 w 26"/>
                <a:gd name="T43" fmla="*/ 28 h 36"/>
                <a:gd name="T44" fmla="*/ 12 w 26"/>
                <a:gd name="T45" fmla="*/ 30 h 36"/>
                <a:gd name="T46" fmla="*/ 12 w 26"/>
                <a:gd name="T47" fmla="*/ 32 h 36"/>
                <a:gd name="T48" fmla="*/ 12 w 26"/>
                <a:gd name="T49" fmla="*/ 34 h 36"/>
                <a:gd name="T50" fmla="*/ 14 w 26"/>
                <a:gd name="T51" fmla="*/ 34 h 36"/>
                <a:gd name="T52" fmla="*/ 16 w 26"/>
                <a:gd name="T53" fmla="*/ 34 h 36"/>
                <a:gd name="T54" fmla="*/ 18 w 26"/>
                <a:gd name="T55" fmla="*/ 36 h 36"/>
                <a:gd name="T56" fmla="*/ 18 w 26"/>
                <a:gd name="T57" fmla="*/ 36 h 36"/>
                <a:gd name="T58" fmla="*/ 0 w 26"/>
                <a:gd name="T59" fmla="*/ 36 h 36"/>
                <a:gd name="T60" fmla="*/ 0 w 26"/>
                <a:gd name="T61" fmla="*/ 36 h 36"/>
                <a:gd name="T62" fmla="*/ 2 w 26"/>
                <a:gd name="T63" fmla="*/ 34 h 36"/>
                <a:gd name="T64" fmla="*/ 4 w 26"/>
                <a:gd name="T65" fmla="*/ 34 h 36"/>
                <a:gd name="T66" fmla="*/ 4 w 26"/>
                <a:gd name="T67" fmla="*/ 34 h 36"/>
                <a:gd name="T68" fmla="*/ 4 w 26"/>
                <a:gd name="T69" fmla="*/ 32 h 36"/>
                <a:gd name="T70" fmla="*/ 4 w 26"/>
                <a:gd name="T71" fmla="*/ 30 h 36"/>
                <a:gd name="T72" fmla="*/ 4 w 26"/>
                <a:gd name="T73" fmla="*/ 28 h 36"/>
                <a:gd name="T74" fmla="*/ 4 w 26"/>
                <a:gd name="T75" fmla="*/ 14 h 36"/>
                <a:gd name="T76" fmla="*/ 4 w 26"/>
                <a:gd name="T77" fmla="*/ 8 h 36"/>
                <a:gd name="T78" fmla="*/ 4 w 26"/>
                <a:gd name="T79" fmla="*/ 6 h 36"/>
                <a:gd name="T80" fmla="*/ 4 w 26"/>
                <a:gd name="T81" fmla="*/ 6 h 36"/>
                <a:gd name="T82" fmla="*/ 4 w 26"/>
                <a:gd name="T83" fmla="*/ 4 h 36"/>
                <a:gd name="T84" fmla="*/ 2 w 26"/>
                <a:gd name="T85" fmla="*/ 4 h 36"/>
                <a:gd name="T86" fmla="*/ 2 w 26"/>
                <a:gd name="T87" fmla="*/ 4 h 36"/>
                <a:gd name="T88" fmla="*/ 2 w 26"/>
                <a:gd name="T89" fmla="*/ 4 h 36"/>
                <a:gd name="T90" fmla="*/ 0 w 26"/>
                <a:gd name="T91" fmla="*/ 4 h 36"/>
                <a:gd name="T92" fmla="*/ 0 w 26"/>
                <a:gd name="T93" fmla="*/ 4 h 36"/>
                <a:gd name="T94" fmla="*/ 10 w 26"/>
                <a:gd name="T95" fmla="*/ 0 h 36"/>
                <a:gd name="T96" fmla="*/ 12 w 26"/>
                <a:gd name="T97" fmla="*/ 0 h 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26"/>
                <a:gd name="T148" fmla="*/ 0 h 36"/>
                <a:gd name="T149" fmla="*/ 26 w 26"/>
                <a:gd name="T150" fmla="*/ 36 h 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26" h="36">
                  <a:moveTo>
                    <a:pt x="12" y="0"/>
                  </a:moveTo>
                  <a:lnTo>
                    <a:pt x="12" y="8"/>
                  </a:lnTo>
                  <a:lnTo>
                    <a:pt x="14" y="4"/>
                  </a:lnTo>
                  <a:lnTo>
                    <a:pt x="18" y="0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6" y="2"/>
                  </a:lnTo>
                  <a:lnTo>
                    <a:pt x="26" y="4"/>
                  </a:lnTo>
                  <a:lnTo>
                    <a:pt x="26" y="6"/>
                  </a:lnTo>
                  <a:lnTo>
                    <a:pt x="24" y="8"/>
                  </a:lnTo>
                  <a:lnTo>
                    <a:pt x="22" y="8"/>
                  </a:lnTo>
                  <a:lnTo>
                    <a:pt x="20" y="8"/>
                  </a:lnTo>
                  <a:lnTo>
                    <a:pt x="20" y="6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4" y="6"/>
                  </a:lnTo>
                  <a:lnTo>
                    <a:pt x="14" y="8"/>
                  </a:lnTo>
                  <a:lnTo>
                    <a:pt x="12" y="12"/>
                  </a:lnTo>
                  <a:lnTo>
                    <a:pt x="12" y="28"/>
                  </a:lnTo>
                  <a:lnTo>
                    <a:pt x="12" y="30"/>
                  </a:lnTo>
                  <a:lnTo>
                    <a:pt x="12" y="32"/>
                  </a:lnTo>
                  <a:lnTo>
                    <a:pt x="12" y="34"/>
                  </a:lnTo>
                  <a:lnTo>
                    <a:pt x="14" y="34"/>
                  </a:lnTo>
                  <a:lnTo>
                    <a:pt x="16" y="34"/>
                  </a:lnTo>
                  <a:lnTo>
                    <a:pt x="18" y="36"/>
                  </a:lnTo>
                  <a:lnTo>
                    <a:pt x="0" y="36"/>
                  </a:lnTo>
                  <a:lnTo>
                    <a:pt x="2" y="34"/>
                  </a:lnTo>
                  <a:lnTo>
                    <a:pt x="4" y="34"/>
                  </a:lnTo>
                  <a:lnTo>
                    <a:pt x="4" y="32"/>
                  </a:lnTo>
                  <a:lnTo>
                    <a:pt x="4" y="30"/>
                  </a:lnTo>
                  <a:lnTo>
                    <a:pt x="4" y="28"/>
                  </a:lnTo>
                  <a:lnTo>
                    <a:pt x="4" y="14"/>
                  </a:lnTo>
                  <a:lnTo>
                    <a:pt x="4" y="8"/>
                  </a:lnTo>
                  <a:lnTo>
                    <a:pt x="4" y="6"/>
                  </a:lnTo>
                  <a:lnTo>
                    <a:pt x="4" y="4"/>
                  </a:lnTo>
                  <a:lnTo>
                    <a:pt x="2" y="4"/>
                  </a:lnTo>
                  <a:lnTo>
                    <a:pt x="0" y="4"/>
                  </a:lnTo>
                  <a:lnTo>
                    <a:pt x="10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40" name="Freeform 120"/>
            <p:cNvSpPr/>
            <p:nvPr/>
          </p:nvSpPr>
          <p:spPr bwMode="auto">
            <a:xfrm>
              <a:off x="1894" y="3004"/>
              <a:ext cx="24" cy="36"/>
            </a:xfrm>
            <a:custGeom>
              <a:avLst/>
              <a:gdLst>
                <a:gd name="T0" fmla="*/ 22 w 24"/>
                <a:gd name="T1" fmla="*/ 0 h 36"/>
                <a:gd name="T2" fmla="*/ 22 w 24"/>
                <a:gd name="T3" fmla="*/ 12 h 36"/>
                <a:gd name="T4" fmla="*/ 20 w 24"/>
                <a:gd name="T5" fmla="*/ 12 h 36"/>
                <a:gd name="T6" fmla="*/ 18 w 24"/>
                <a:gd name="T7" fmla="*/ 6 h 36"/>
                <a:gd name="T8" fmla="*/ 16 w 24"/>
                <a:gd name="T9" fmla="*/ 4 h 36"/>
                <a:gd name="T10" fmla="*/ 14 w 24"/>
                <a:gd name="T11" fmla="*/ 2 h 36"/>
                <a:gd name="T12" fmla="*/ 10 w 24"/>
                <a:gd name="T13" fmla="*/ 2 h 36"/>
                <a:gd name="T14" fmla="*/ 8 w 24"/>
                <a:gd name="T15" fmla="*/ 2 h 36"/>
                <a:gd name="T16" fmla="*/ 6 w 24"/>
                <a:gd name="T17" fmla="*/ 4 h 36"/>
                <a:gd name="T18" fmla="*/ 4 w 24"/>
                <a:gd name="T19" fmla="*/ 4 h 36"/>
                <a:gd name="T20" fmla="*/ 4 w 24"/>
                <a:gd name="T21" fmla="*/ 6 h 36"/>
                <a:gd name="T22" fmla="*/ 4 w 24"/>
                <a:gd name="T23" fmla="*/ 8 h 36"/>
                <a:gd name="T24" fmla="*/ 6 w 24"/>
                <a:gd name="T25" fmla="*/ 10 h 36"/>
                <a:gd name="T26" fmla="*/ 8 w 24"/>
                <a:gd name="T27" fmla="*/ 12 h 36"/>
                <a:gd name="T28" fmla="*/ 10 w 24"/>
                <a:gd name="T29" fmla="*/ 14 h 36"/>
                <a:gd name="T30" fmla="*/ 16 w 24"/>
                <a:gd name="T31" fmla="*/ 16 h 36"/>
                <a:gd name="T32" fmla="*/ 20 w 24"/>
                <a:gd name="T33" fmla="*/ 18 h 36"/>
                <a:gd name="T34" fmla="*/ 22 w 24"/>
                <a:gd name="T35" fmla="*/ 22 h 36"/>
                <a:gd name="T36" fmla="*/ 24 w 24"/>
                <a:gd name="T37" fmla="*/ 26 h 36"/>
                <a:gd name="T38" fmla="*/ 22 w 24"/>
                <a:gd name="T39" fmla="*/ 30 h 36"/>
                <a:gd name="T40" fmla="*/ 20 w 24"/>
                <a:gd name="T41" fmla="*/ 34 h 36"/>
                <a:gd name="T42" fmla="*/ 16 w 24"/>
                <a:gd name="T43" fmla="*/ 36 h 36"/>
                <a:gd name="T44" fmla="*/ 12 w 24"/>
                <a:gd name="T45" fmla="*/ 36 h 36"/>
                <a:gd name="T46" fmla="*/ 8 w 24"/>
                <a:gd name="T47" fmla="*/ 36 h 36"/>
                <a:gd name="T48" fmla="*/ 4 w 24"/>
                <a:gd name="T49" fmla="*/ 36 h 36"/>
                <a:gd name="T50" fmla="*/ 2 w 24"/>
                <a:gd name="T51" fmla="*/ 36 h 36"/>
                <a:gd name="T52" fmla="*/ 2 w 24"/>
                <a:gd name="T53" fmla="*/ 36 h 36"/>
                <a:gd name="T54" fmla="*/ 2 w 24"/>
                <a:gd name="T55" fmla="*/ 36 h 36"/>
                <a:gd name="T56" fmla="*/ 0 w 24"/>
                <a:gd name="T57" fmla="*/ 36 h 36"/>
                <a:gd name="T58" fmla="*/ 0 w 24"/>
                <a:gd name="T59" fmla="*/ 36 h 36"/>
                <a:gd name="T60" fmla="*/ 0 w 24"/>
                <a:gd name="T61" fmla="*/ 24 h 36"/>
                <a:gd name="T62" fmla="*/ 0 w 24"/>
                <a:gd name="T63" fmla="*/ 24 h 36"/>
                <a:gd name="T64" fmla="*/ 2 w 24"/>
                <a:gd name="T65" fmla="*/ 28 h 36"/>
                <a:gd name="T66" fmla="*/ 4 w 24"/>
                <a:gd name="T67" fmla="*/ 32 h 36"/>
                <a:gd name="T68" fmla="*/ 8 w 24"/>
                <a:gd name="T69" fmla="*/ 34 h 36"/>
                <a:gd name="T70" fmla="*/ 12 w 24"/>
                <a:gd name="T71" fmla="*/ 34 h 36"/>
                <a:gd name="T72" fmla="*/ 14 w 24"/>
                <a:gd name="T73" fmla="*/ 34 h 36"/>
                <a:gd name="T74" fmla="*/ 16 w 24"/>
                <a:gd name="T75" fmla="*/ 32 h 36"/>
                <a:gd name="T76" fmla="*/ 18 w 24"/>
                <a:gd name="T77" fmla="*/ 32 h 36"/>
                <a:gd name="T78" fmla="*/ 18 w 24"/>
                <a:gd name="T79" fmla="*/ 28 h 36"/>
                <a:gd name="T80" fmla="*/ 18 w 24"/>
                <a:gd name="T81" fmla="*/ 26 h 36"/>
                <a:gd name="T82" fmla="*/ 16 w 24"/>
                <a:gd name="T83" fmla="*/ 24 h 36"/>
                <a:gd name="T84" fmla="*/ 14 w 24"/>
                <a:gd name="T85" fmla="*/ 22 h 36"/>
                <a:gd name="T86" fmla="*/ 8 w 24"/>
                <a:gd name="T87" fmla="*/ 20 h 36"/>
                <a:gd name="T88" fmla="*/ 4 w 24"/>
                <a:gd name="T89" fmla="*/ 18 h 36"/>
                <a:gd name="T90" fmla="*/ 2 w 24"/>
                <a:gd name="T91" fmla="*/ 14 h 36"/>
                <a:gd name="T92" fmla="*/ 0 w 24"/>
                <a:gd name="T93" fmla="*/ 12 h 36"/>
                <a:gd name="T94" fmla="*/ 0 w 24"/>
                <a:gd name="T95" fmla="*/ 10 h 36"/>
                <a:gd name="T96" fmla="*/ 0 w 24"/>
                <a:gd name="T97" fmla="*/ 6 h 36"/>
                <a:gd name="T98" fmla="*/ 2 w 24"/>
                <a:gd name="T99" fmla="*/ 2 h 36"/>
                <a:gd name="T100" fmla="*/ 6 w 24"/>
                <a:gd name="T101" fmla="*/ 0 h 36"/>
                <a:gd name="T102" fmla="*/ 10 w 24"/>
                <a:gd name="T103" fmla="*/ 0 h 36"/>
                <a:gd name="T104" fmla="*/ 14 w 24"/>
                <a:gd name="T105" fmla="*/ 0 h 36"/>
                <a:gd name="T106" fmla="*/ 16 w 24"/>
                <a:gd name="T107" fmla="*/ 0 h 36"/>
                <a:gd name="T108" fmla="*/ 18 w 24"/>
                <a:gd name="T109" fmla="*/ 0 h 36"/>
                <a:gd name="T110" fmla="*/ 18 w 24"/>
                <a:gd name="T111" fmla="*/ 0 h 36"/>
                <a:gd name="T112" fmla="*/ 20 w 24"/>
                <a:gd name="T113" fmla="*/ 0 h 36"/>
                <a:gd name="T114" fmla="*/ 20 w 24"/>
                <a:gd name="T115" fmla="*/ 0 h 36"/>
                <a:gd name="T116" fmla="*/ 20 w 24"/>
                <a:gd name="T117" fmla="*/ 0 h 36"/>
                <a:gd name="T118" fmla="*/ 20 w 24"/>
                <a:gd name="T119" fmla="*/ 0 h 36"/>
                <a:gd name="T120" fmla="*/ 22 w 24"/>
                <a:gd name="T121" fmla="*/ 0 h 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4"/>
                <a:gd name="T184" fmla="*/ 0 h 36"/>
                <a:gd name="T185" fmla="*/ 24 w 24"/>
                <a:gd name="T186" fmla="*/ 36 h 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4" h="36">
                  <a:moveTo>
                    <a:pt x="22" y="0"/>
                  </a:moveTo>
                  <a:lnTo>
                    <a:pt x="22" y="12"/>
                  </a:lnTo>
                  <a:lnTo>
                    <a:pt x="20" y="12"/>
                  </a:lnTo>
                  <a:lnTo>
                    <a:pt x="18" y="6"/>
                  </a:lnTo>
                  <a:lnTo>
                    <a:pt x="16" y="4"/>
                  </a:lnTo>
                  <a:lnTo>
                    <a:pt x="14" y="2"/>
                  </a:lnTo>
                  <a:lnTo>
                    <a:pt x="10" y="2"/>
                  </a:lnTo>
                  <a:lnTo>
                    <a:pt x="8" y="2"/>
                  </a:lnTo>
                  <a:lnTo>
                    <a:pt x="6" y="4"/>
                  </a:lnTo>
                  <a:lnTo>
                    <a:pt x="4" y="4"/>
                  </a:lnTo>
                  <a:lnTo>
                    <a:pt x="4" y="6"/>
                  </a:lnTo>
                  <a:lnTo>
                    <a:pt x="4" y="8"/>
                  </a:lnTo>
                  <a:lnTo>
                    <a:pt x="6" y="10"/>
                  </a:lnTo>
                  <a:lnTo>
                    <a:pt x="8" y="12"/>
                  </a:lnTo>
                  <a:lnTo>
                    <a:pt x="10" y="14"/>
                  </a:lnTo>
                  <a:lnTo>
                    <a:pt x="16" y="16"/>
                  </a:lnTo>
                  <a:lnTo>
                    <a:pt x="20" y="18"/>
                  </a:lnTo>
                  <a:lnTo>
                    <a:pt x="22" y="22"/>
                  </a:lnTo>
                  <a:lnTo>
                    <a:pt x="24" y="26"/>
                  </a:lnTo>
                  <a:lnTo>
                    <a:pt x="22" y="30"/>
                  </a:lnTo>
                  <a:lnTo>
                    <a:pt x="20" y="34"/>
                  </a:lnTo>
                  <a:lnTo>
                    <a:pt x="16" y="36"/>
                  </a:lnTo>
                  <a:lnTo>
                    <a:pt x="12" y="36"/>
                  </a:lnTo>
                  <a:lnTo>
                    <a:pt x="8" y="36"/>
                  </a:lnTo>
                  <a:lnTo>
                    <a:pt x="4" y="36"/>
                  </a:lnTo>
                  <a:lnTo>
                    <a:pt x="2" y="36"/>
                  </a:lnTo>
                  <a:lnTo>
                    <a:pt x="0" y="36"/>
                  </a:lnTo>
                  <a:lnTo>
                    <a:pt x="0" y="24"/>
                  </a:lnTo>
                  <a:lnTo>
                    <a:pt x="2" y="28"/>
                  </a:lnTo>
                  <a:lnTo>
                    <a:pt x="4" y="32"/>
                  </a:lnTo>
                  <a:lnTo>
                    <a:pt x="8" y="34"/>
                  </a:lnTo>
                  <a:lnTo>
                    <a:pt x="12" y="34"/>
                  </a:lnTo>
                  <a:lnTo>
                    <a:pt x="14" y="34"/>
                  </a:lnTo>
                  <a:lnTo>
                    <a:pt x="16" y="32"/>
                  </a:lnTo>
                  <a:lnTo>
                    <a:pt x="18" y="32"/>
                  </a:lnTo>
                  <a:lnTo>
                    <a:pt x="18" y="28"/>
                  </a:lnTo>
                  <a:lnTo>
                    <a:pt x="18" y="26"/>
                  </a:lnTo>
                  <a:lnTo>
                    <a:pt x="16" y="24"/>
                  </a:lnTo>
                  <a:lnTo>
                    <a:pt x="14" y="22"/>
                  </a:lnTo>
                  <a:lnTo>
                    <a:pt x="8" y="20"/>
                  </a:lnTo>
                  <a:lnTo>
                    <a:pt x="4" y="18"/>
                  </a:lnTo>
                  <a:lnTo>
                    <a:pt x="2" y="14"/>
                  </a:lnTo>
                  <a:lnTo>
                    <a:pt x="0" y="12"/>
                  </a:lnTo>
                  <a:lnTo>
                    <a:pt x="0" y="10"/>
                  </a:ln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0"/>
                  </a:lnTo>
                  <a:lnTo>
                    <a:pt x="14" y="0"/>
                  </a:lnTo>
                  <a:lnTo>
                    <a:pt x="16" y="0"/>
                  </a:lnTo>
                  <a:lnTo>
                    <a:pt x="18" y="0"/>
                  </a:lnTo>
                  <a:lnTo>
                    <a:pt x="20" y="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41" name="Freeform 121"/>
            <p:cNvSpPr>
              <a:spLocks noEditPoints="1"/>
            </p:cNvSpPr>
            <p:nvPr/>
          </p:nvSpPr>
          <p:spPr bwMode="auto">
            <a:xfrm>
              <a:off x="2188" y="2984"/>
              <a:ext cx="36" cy="56"/>
            </a:xfrm>
            <a:custGeom>
              <a:avLst/>
              <a:gdLst>
                <a:gd name="T0" fmla="*/ 24 w 36"/>
                <a:gd name="T1" fmla="*/ 50 h 56"/>
                <a:gd name="T2" fmla="*/ 22 w 36"/>
                <a:gd name="T3" fmla="*/ 54 h 56"/>
                <a:gd name="T4" fmla="*/ 20 w 36"/>
                <a:gd name="T5" fmla="*/ 56 h 56"/>
                <a:gd name="T6" fmla="*/ 16 w 36"/>
                <a:gd name="T7" fmla="*/ 56 h 56"/>
                <a:gd name="T8" fmla="*/ 14 w 36"/>
                <a:gd name="T9" fmla="*/ 56 h 56"/>
                <a:gd name="T10" fmla="*/ 8 w 36"/>
                <a:gd name="T11" fmla="*/ 56 h 56"/>
                <a:gd name="T12" fmla="*/ 4 w 36"/>
                <a:gd name="T13" fmla="*/ 52 h 56"/>
                <a:gd name="T14" fmla="*/ 0 w 36"/>
                <a:gd name="T15" fmla="*/ 46 h 56"/>
                <a:gd name="T16" fmla="*/ 0 w 36"/>
                <a:gd name="T17" fmla="*/ 40 h 56"/>
                <a:gd name="T18" fmla="*/ 0 w 36"/>
                <a:gd name="T19" fmla="*/ 32 h 56"/>
                <a:gd name="T20" fmla="*/ 4 w 36"/>
                <a:gd name="T21" fmla="*/ 26 h 56"/>
                <a:gd name="T22" fmla="*/ 8 w 36"/>
                <a:gd name="T23" fmla="*/ 22 h 56"/>
                <a:gd name="T24" fmla="*/ 12 w 36"/>
                <a:gd name="T25" fmla="*/ 20 h 56"/>
                <a:gd name="T26" fmla="*/ 16 w 36"/>
                <a:gd name="T27" fmla="*/ 20 h 56"/>
                <a:gd name="T28" fmla="*/ 20 w 36"/>
                <a:gd name="T29" fmla="*/ 20 h 56"/>
                <a:gd name="T30" fmla="*/ 24 w 36"/>
                <a:gd name="T31" fmla="*/ 22 h 56"/>
                <a:gd name="T32" fmla="*/ 24 w 36"/>
                <a:gd name="T33" fmla="*/ 16 h 56"/>
                <a:gd name="T34" fmla="*/ 24 w 36"/>
                <a:gd name="T35" fmla="*/ 10 h 56"/>
                <a:gd name="T36" fmla="*/ 24 w 36"/>
                <a:gd name="T37" fmla="*/ 8 h 56"/>
                <a:gd name="T38" fmla="*/ 24 w 36"/>
                <a:gd name="T39" fmla="*/ 6 h 56"/>
                <a:gd name="T40" fmla="*/ 24 w 36"/>
                <a:gd name="T41" fmla="*/ 6 h 56"/>
                <a:gd name="T42" fmla="*/ 22 w 36"/>
                <a:gd name="T43" fmla="*/ 4 h 56"/>
                <a:gd name="T44" fmla="*/ 22 w 36"/>
                <a:gd name="T45" fmla="*/ 4 h 56"/>
                <a:gd name="T46" fmla="*/ 22 w 36"/>
                <a:gd name="T47" fmla="*/ 4 h 56"/>
                <a:gd name="T48" fmla="*/ 20 w 36"/>
                <a:gd name="T49" fmla="*/ 6 h 56"/>
                <a:gd name="T50" fmla="*/ 20 w 36"/>
                <a:gd name="T51" fmla="*/ 4 h 56"/>
                <a:gd name="T52" fmla="*/ 30 w 36"/>
                <a:gd name="T53" fmla="*/ 0 h 56"/>
                <a:gd name="T54" fmla="*/ 32 w 36"/>
                <a:gd name="T55" fmla="*/ 0 h 56"/>
                <a:gd name="T56" fmla="*/ 32 w 36"/>
                <a:gd name="T57" fmla="*/ 42 h 56"/>
                <a:gd name="T58" fmla="*/ 32 w 36"/>
                <a:gd name="T59" fmla="*/ 48 h 56"/>
                <a:gd name="T60" fmla="*/ 32 w 36"/>
                <a:gd name="T61" fmla="*/ 50 h 56"/>
                <a:gd name="T62" fmla="*/ 32 w 36"/>
                <a:gd name="T63" fmla="*/ 52 h 56"/>
                <a:gd name="T64" fmla="*/ 32 w 36"/>
                <a:gd name="T65" fmla="*/ 52 h 56"/>
                <a:gd name="T66" fmla="*/ 32 w 36"/>
                <a:gd name="T67" fmla="*/ 52 h 56"/>
                <a:gd name="T68" fmla="*/ 34 w 36"/>
                <a:gd name="T69" fmla="*/ 52 h 56"/>
                <a:gd name="T70" fmla="*/ 34 w 36"/>
                <a:gd name="T71" fmla="*/ 52 h 56"/>
                <a:gd name="T72" fmla="*/ 36 w 36"/>
                <a:gd name="T73" fmla="*/ 52 h 56"/>
                <a:gd name="T74" fmla="*/ 36 w 36"/>
                <a:gd name="T75" fmla="*/ 52 h 56"/>
                <a:gd name="T76" fmla="*/ 26 w 36"/>
                <a:gd name="T77" fmla="*/ 56 h 56"/>
                <a:gd name="T78" fmla="*/ 24 w 36"/>
                <a:gd name="T79" fmla="*/ 56 h 56"/>
                <a:gd name="T80" fmla="*/ 24 w 36"/>
                <a:gd name="T81" fmla="*/ 50 h 56"/>
                <a:gd name="T82" fmla="*/ 24 w 36"/>
                <a:gd name="T83" fmla="*/ 48 h 56"/>
                <a:gd name="T84" fmla="*/ 24 w 36"/>
                <a:gd name="T85" fmla="*/ 32 h 56"/>
                <a:gd name="T86" fmla="*/ 24 w 36"/>
                <a:gd name="T87" fmla="*/ 28 h 56"/>
                <a:gd name="T88" fmla="*/ 24 w 36"/>
                <a:gd name="T89" fmla="*/ 26 h 56"/>
                <a:gd name="T90" fmla="*/ 22 w 36"/>
                <a:gd name="T91" fmla="*/ 24 h 56"/>
                <a:gd name="T92" fmla="*/ 20 w 36"/>
                <a:gd name="T93" fmla="*/ 22 h 56"/>
                <a:gd name="T94" fmla="*/ 18 w 36"/>
                <a:gd name="T95" fmla="*/ 22 h 56"/>
                <a:gd name="T96" fmla="*/ 16 w 36"/>
                <a:gd name="T97" fmla="*/ 22 h 56"/>
                <a:gd name="T98" fmla="*/ 12 w 36"/>
                <a:gd name="T99" fmla="*/ 22 h 56"/>
                <a:gd name="T100" fmla="*/ 10 w 36"/>
                <a:gd name="T101" fmla="*/ 24 h 56"/>
                <a:gd name="T102" fmla="*/ 8 w 36"/>
                <a:gd name="T103" fmla="*/ 30 h 56"/>
                <a:gd name="T104" fmla="*/ 6 w 36"/>
                <a:gd name="T105" fmla="*/ 36 h 56"/>
                <a:gd name="T106" fmla="*/ 8 w 36"/>
                <a:gd name="T107" fmla="*/ 42 h 56"/>
                <a:gd name="T108" fmla="*/ 10 w 36"/>
                <a:gd name="T109" fmla="*/ 48 h 56"/>
                <a:gd name="T110" fmla="*/ 14 w 36"/>
                <a:gd name="T111" fmla="*/ 50 h 56"/>
                <a:gd name="T112" fmla="*/ 18 w 36"/>
                <a:gd name="T113" fmla="*/ 52 h 56"/>
                <a:gd name="T114" fmla="*/ 22 w 36"/>
                <a:gd name="T115" fmla="*/ 50 h 56"/>
                <a:gd name="T116" fmla="*/ 24 w 36"/>
                <a:gd name="T117" fmla="*/ 48 h 5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36"/>
                <a:gd name="T178" fmla="*/ 0 h 56"/>
                <a:gd name="T179" fmla="*/ 36 w 36"/>
                <a:gd name="T180" fmla="*/ 56 h 5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36" h="56">
                  <a:moveTo>
                    <a:pt x="24" y="50"/>
                  </a:moveTo>
                  <a:lnTo>
                    <a:pt x="22" y="54"/>
                  </a:lnTo>
                  <a:lnTo>
                    <a:pt x="20" y="56"/>
                  </a:lnTo>
                  <a:lnTo>
                    <a:pt x="16" y="56"/>
                  </a:lnTo>
                  <a:lnTo>
                    <a:pt x="14" y="56"/>
                  </a:lnTo>
                  <a:lnTo>
                    <a:pt x="8" y="56"/>
                  </a:lnTo>
                  <a:lnTo>
                    <a:pt x="4" y="52"/>
                  </a:lnTo>
                  <a:lnTo>
                    <a:pt x="0" y="46"/>
                  </a:lnTo>
                  <a:lnTo>
                    <a:pt x="0" y="40"/>
                  </a:lnTo>
                  <a:lnTo>
                    <a:pt x="0" y="32"/>
                  </a:lnTo>
                  <a:lnTo>
                    <a:pt x="4" y="26"/>
                  </a:lnTo>
                  <a:lnTo>
                    <a:pt x="8" y="22"/>
                  </a:lnTo>
                  <a:lnTo>
                    <a:pt x="12" y="20"/>
                  </a:lnTo>
                  <a:lnTo>
                    <a:pt x="16" y="20"/>
                  </a:lnTo>
                  <a:lnTo>
                    <a:pt x="20" y="20"/>
                  </a:lnTo>
                  <a:lnTo>
                    <a:pt x="24" y="22"/>
                  </a:lnTo>
                  <a:lnTo>
                    <a:pt x="24" y="16"/>
                  </a:lnTo>
                  <a:lnTo>
                    <a:pt x="24" y="10"/>
                  </a:lnTo>
                  <a:lnTo>
                    <a:pt x="24" y="8"/>
                  </a:lnTo>
                  <a:lnTo>
                    <a:pt x="24" y="6"/>
                  </a:lnTo>
                  <a:lnTo>
                    <a:pt x="22" y="4"/>
                  </a:lnTo>
                  <a:lnTo>
                    <a:pt x="20" y="6"/>
                  </a:lnTo>
                  <a:lnTo>
                    <a:pt x="20" y="4"/>
                  </a:lnTo>
                  <a:lnTo>
                    <a:pt x="30" y="0"/>
                  </a:lnTo>
                  <a:lnTo>
                    <a:pt x="32" y="0"/>
                  </a:lnTo>
                  <a:lnTo>
                    <a:pt x="32" y="42"/>
                  </a:lnTo>
                  <a:lnTo>
                    <a:pt x="32" y="48"/>
                  </a:lnTo>
                  <a:lnTo>
                    <a:pt x="32" y="50"/>
                  </a:lnTo>
                  <a:lnTo>
                    <a:pt x="32" y="52"/>
                  </a:lnTo>
                  <a:lnTo>
                    <a:pt x="34" y="52"/>
                  </a:lnTo>
                  <a:lnTo>
                    <a:pt x="36" y="52"/>
                  </a:lnTo>
                  <a:lnTo>
                    <a:pt x="26" y="56"/>
                  </a:lnTo>
                  <a:lnTo>
                    <a:pt x="24" y="56"/>
                  </a:lnTo>
                  <a:lnTo>
                    <a:pt x="24" y="50"/>
                  </a:lnTo>
                  <a:close/>
                  <a:moveTo>
                    <a:pt x="24" y="48"/>
                  </a:moveTo>
                  <a:lnTo>
                    <a:pt x="24" y="32"/>
                  </a:lnTo>
                  <a:lnTo>
                    <a:pt x="24" y="28"/>
                  </a:lnTo>
                  <a:lnTo>
                    <a:pt x="24" y="26"/>
                  </a:lnTo>
                  <a:lnTo>
                    <a:pt x="22" y="24"/>
                  </a:lnTo>
                  <a:lnTo>
                    <a:pt x="20" y="22"/>
                  </a:lnTo>
                  <a:lnTo>
                    <a:pt x="18" y="22"/>
                  </a:lnTo>
                  <a:lnTo>
                    <a:pt x="16" y="22"/>
                  </a:lnTo>
                  <a:lnTo>
                    <a:pt x="12" y="22"/>
                  </a:lnTo>
                  <a:lnTo>
                    <a:pt x="10" y="24"/>
                  </a:lnTo>
                  <a:lnTo>
                    <a:pt x="8" y="30"/>
                  </a:lnTo>
                  <a:lnTo>
                    <a:pt x="6" y="36"/>
                  </a:lnTo>
                  <a:lnTo>
                    <a:pt x="8" y="42"/>
                  </a:lnTo>
                  <a:lnTo>
                    <a:pt x="10" y="48"/>
                  </a:lnTo>
                  <a:lnTo>
                    <a:pt x="14" y="50"/>
                  </a:lnTo>
                  <a:lnTo>
                    <a:pt x="18" y="52"/>
                  </a:lnTo>
                  <a:lnTo>
                    <a:pt x="22" y="50"/>
                  </a:lnTo>
                  <a:lnTo>
                    <a:pt x="24" y="4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42" name="Freeform 122"/>
            <p:cNvSpPr/>
            <p:nvPr/>
          </p:nvSpPr>
          <p:spPr bwMode="auto">
            <a:xfrm>
              <a:off x="2226" y="3004"/>
              <a:ext cx="38" cy="36"/>
            </a:xfrm>
            <a:custGeom>
              <a:avLst/>
              <a:gdLst>
                <a:gd name="T0" fmla="*/ 34 w 38"/>
                <a:gd name="T1" fmla="*/ 0 h 36"/>
                <a:gd name="T2" fmla="*/ 34 w 38"/>
                <a:gd name="T3" fmla="*/ 22 h 36"/>
                <a:gd name="T4" fmla="*/ 34 w 38"/>
                <a:gd name="T5" fmla="*/ 28 h 36"/>
                <a:gd name="T6" fmla="*/ 34 w 38"/>
                <a:gd name="T7" fmla="*/ 30 h 36"/>
                <a:gd name="T8" fmla="*/ 34 w 38"/>
                <a:gd name="T9" fmla="*/ 32 h 36"/>
                <a:gd name="T10" fmla="*/ 34 w 38"/>
                <a:gd name="T11" fmla="*/ 32 h 36"/>
                <a:gd name="T12" fmla="*/ 34 w 38"/>
                <a:gd name="T13" fmla="*/ 32 h 36"/>
                <a:gd name="T14" fmla="*/ 36 w 38"/>
                <a:gd name="T15" fmla="*/ 32 h 36"/>
                <a:gd name="T16" fmla="*/ 36 w 38"/>
                <a:gd name="T17" fmla="*/ 32 h 36"/>
                <a:gd name="T18" fmla="*/ 38 w 38"/>
                <a:gd name="T19" fmla="*/ 32 h 36"/>
                <a:gd name="T20" fmla="*/ 38 w 38"/>
                <a:gd name="T21" fmla="*/ 32 h 36"/>
                <a:gd name="T22" fmla="*/ 28 w 38"/>
                <a:gd name="T23" fmla="*/ 36 h 36"/>
                <a:gd name="T24" fmla="*/ 26 w 38"/>
                <a:gd name="T25" fmla="*/ 36 h 36"/>
                <a:gd name="T26" fmla="*/ 26 w 38"/>
                <a:gd name="T27" fmla="*/ 30 h 36"/>
                <a:gd name="T28" fmla="*/ 22 w 38"/>
                <a:gd name="T29" fmla="*/ 34 h 36"/>
                <a:gd name="T30" fmla="*/ 20 w 38"/>
                <a:gd name="T31" fmla="*/ 36 h 36"/>
                <a:gd name="T32" fmla="*/ 16 w 38"/>
                <a:gd name="T33" fmla="*/ 36 h 36"/>
                <a:gd name="T34" fmla="*/ 14 w 38"/>
                <a:gd name="T35" fmla="*/ 36 h 36"/>
                <a:gd name="T36" fmla="*/ 12 w 38"/>
                <a:gd name="T37" fmla="*/ 36 h 36"/>
                <a:gd name="T38" fmla="*/ 8 w 38"/>
                <a:gd name="T39" fmla="*/ 36 h 36"/>
                <a:gd name="T40" fmla="*/ 6 w 38"/>
                <a:gd name="T41" fmla="*/ 34 h 36"/>
                <a:gd name="T42" fmla="*/ 6 w 38"/>
                <a:gd name="T43" fmla="*/ 30 h 36"/>
                <a:gd name="T44" fmla="*/ 6 w 38"/>
                <a:gd name="T45" fmla="*/ 28 h 36"/>
                <a:gd name="T46" fmla="*/ 4 w 38"/>
                <a:gd name="T47" fmla="*/ 22 h 36"/>
                <a:gd name="T48" fmla="*/ 4 w 38"/>
                <a:gd name="T49" fmla="*/ 6 h 36"/>
                <a:gd name="T50" fmla="*/ 4 w 38"/>
                <a:gd name="T51" fmla="*/ 4 h 36"/>
                <a:gd name="T52" fmla="*/ 4 w 38"/>
                <a:gd name="T53" fmla="*/ 4 h 36"/>
                <a:gd name="T54" fmla="*/ 4 w 38"/>
                <a:gd name="T55" fmla="*/ 2 h 36"/>
                <a:gd name="T56" fmla="*/ 4 w 38"/>
                <a:gd name="T57" fmla="*/ 2 h 36"/>
                <a:gd name="T58" fmla="*/ 2 w 38"/>
                <a:gd name="T59" fmla="*/ 2 h 36"/>
                <a:gd name="T60" fmla="*/ 0 w 38"/>
                <a:gd name="T61" fmla="*/ 0 h 36"/>
                <a:gd name="T62" fmla="*/ 0 w 38"/>
                <a:gd name="T63" fmla="*/ 0 h 36"/>
                <a:gd name="T64" fmla="*/ 12 w 38"/>
                <a:gd name="T65" fmla="*/ 0 h 36"/>
                <a:gd name="T66" fmla="*/ 12 w 38"/>
                <a:gd name="T67" fmla="*/ 24 h 36"/>
                <a:gd name="T68" fmla="*/ 12 w 38"/>
                <a:gd name="T69" fmla="*/ 28 h 36"/>
                <a:gd name="T70" fmla="*/ 14 w 38"/>
                <a:gd name="T71" fmla="*/ 30 h 36"/>
                <a:gd name="T72" fmla="*/ 16 w 38"/>
                <a:gd name="T73" fmla="*/ 32 h 36"/>
                <a:gd name="T74" fmla="*/ 18 w 38"/>
                <a:gd name="T75" fmla="*/ 32 h 36"/>
                <a:gd name="T76" fmla="*/ 20 w 38"/>
                <a:gd name="T77" fmla="*/ 32 h 36"/>
                <a:gd name="T78" fmla="*/ 22 w 38"/>
                <a:gd name="T79" fmla="*/ 30 h 36"/>
                <a:gd name="T80" fmla="*/ 24 w 38"/>
                <a:gd name="T81" fmla="*/ 30 h 36"/>
                <a:gd name="T82" fmla="*/ 26 w 38"/>
                <a:gd name="T83" fmla="*/ 26 h 36"/>
                <a:gd name="T84" fmla="*/ 26 w 38"/>
                <a:gd name="T85" fmla="*/ 6 h 36"/>
                <a:gd name="T86" fmla="*/ 26 w 38"/>
                <a:gd name="T87" fmla="*/ 4 h 36"/>
                <a:gd name="T88" fmla="*/ 26 w 38"/>
                <a:gd name="T89" fmla="*/ 2 h 36"/>
                <a:gd name="T90" fmla="*/ 24 w 38"/>
                <a:gd name="T91" fmla="*/ 2 h 36"/>
                <a:gd name="T92" fmla="*/ 22 w 38"/>
                <a:gd name="T93" fmla="*/ 0 h 36"/>
                <a:gd name="T94" fmla="*/ 22 w 38"/>
                <a:gd name="T95" fmla="*/ 0 h 36"/>
                <a:gd name="T96" fmla="*/ 34 w 38"/>
                <a:gd name="T97" fmla="*/ 0 h 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8"/>
                <a:gd name="T148" fmla="*/ 0 h 36"/>
                <a:gd name="T149" fmla="*/ 38 w 38"/>
                <a:gd name="T150" fmla="*/ 36 h 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8" h="36">
                  <a:moveTo>
                    <a:pt x="34" y="0"/>
                  </a:moveTo>
                  <a:lnTo>
                    <a:pt x="34" y="22"/>
                  </a:lnTo>
                  <a:lnTo>
                    <a:pt x="34" y="28"/>
                  </a:lnTo>
                  <a:lnTo>
                    <a:pt x="34" y="30"/>
                  </a:lnTo>
                  <a:lnTo>
                    <a:pt x="34" y="32"/>
                  </a:lnTo>
                  <a:lnTo>
                    <a:pt x="36" y="32"/>
                  </a:lnTo>
                  <a:lnTo>
                    <a:pt x="38" y="32"/>
                  </a:lnTo>
                  <a:lnTo>
                    <a:pt x="28" y="36"/>
                  </a:lnTo>
                  <a:lnTo>
                    <a:pt x="26" y="36"/>
                  </a:lnTo>
                  <a:lnTo>
                    <a:pt x="26" y="30"/>
                  </a:lnTo>
                  <a:lnTo>
                    <a:pt x="22" y="34"/>
                  </a:lnTo>
                  <a:lnTo>
                    <a:pt x="20" y="36"/>
                  </a:lnTo>
                  <a:lnTo>
                    <a:pt x="16" y="36"/>
                  </a:lnTo>
                  <a:lnTo>
                    <a:pt x="14" y="36"/>
                  </a:lnTo>
                  <a:lnTo>
                    <a:pt x="12" y="36"/>
                  </a:lnTo>
                  <a:lnTo>
                    <a:pt x="8" y="36"/>
                  </a:lnTo>
                  <a:lnTo>
                    <a:pt x="6" y="34"/>
                  </a:lnTo>
                  <a:lnTo>
                    <a:pt x="6" y="30"/>
                  </a:lnTo>
                  <a:lnTo>
                    <a:pt x="6" y="28"/>
                  </a:lnTo>
                  <a:lnTo>
                    <a:pt x="4" y="22"/>
                  </a:lnTo>
                  <a:lnTo>
                    <a:pt x="4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2" y="2"/>
                  </a:lnTo>
                  <a:lnTo>
                    <a:pt x="0" y="0"/>
                  </a:lnTo>
                  <a:lnTo>
                    <a:pt x="12" y="0"/>
                  </a:lnTo>
                  <a:lnTo>
                    <a:pt x="12" y="24"/>
                  </a:lnTo>
                  <a:lnTo>
                    <a:pt x="12" y="28"/>
                  </a:lnTo>
                  <a:lnTo>
                    <a:pt x="14" y="30"/>
                  </a:lnTo>
                  <a:lnTo>
                    <a:pt x="16" y="32"/>
                  </a:lnTo>
                  <a:lnTo>
                    <a:pt x="18" y="32"/>
                  </a:lnTo>
                  <a:lnTo>
                    <a:pt x="20" y="32"/>
                  </a:lnTo>
                  <a:lnTo>
                    <a:pt x="22" y="30"/>
                  </a:lnTo>
                  <a:lnTo>
                    <a:pt x="24" y="30"/>
                  </a:lnTo>
                  <a:lnTo>
                    <a:pt x="26" y="26"/>
                  </a:lnTo>
                  <a:lnTo>
                    <a:pt x="26" y="6"/>
                  </a:lnTo>
                  <a:lnTo>
                    <a:pt x="26" y="4"/>
                  </a:lnTo>
                  <a:lnTo>
                    <a:pt x="26" y="2"/>
                  </a:lnTo>
                  <a:lnTo>
                    <a:pt x="24" y="2"/>
                  </a:lnTo>
                  <a:lnTo>
                    <a:pt x="22" y="0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43" name="Freeform 123"/>
            <p:cNvSpPr/>
            <p:nvPr/>
          </p:nvSpPr>
          <p:spPr bwMode="auto">
            <a:xfrm>
              <a:off x="2266" y="3004"/>
              <a:ext cx="60" cy="36"/>
            </a:xfrm>
            <a:custGeom>
              <a:avLst/>
              <a:gdLst>
                <a:gd name="T0" fmla="*/ 14 w 60"/>
                <a:gd name="T1" fmla="*/ 4 h 36"/>
                <a:gd name="T2" fmla="*/ 18 w 60"/>
                <a:gd name="T3" fmla="*/ 2 h 36"/>
                <a:gd name="T4" fmla="*/ 22 w 60"/>
                <a:gd name="T5" fmla="*/ 0 h 36"/>
                <a:gd name="T6" fmla="*/ 28 w 60"/>
                <a:gd name="T7" fmla="*/ 0 h 36"/>
                <a:gd name="T8" fmla="*/ 32 w 60"/>
                <a:gd name="T9" fmla="*/ 4 h 36"/>
                <a:gd name="T10" fmla="*/ 36 w 60"/>
                <a:gd name="T11" fmla="*/ 4 h 36"/>
                <a:gd name="T12" fmla="*/ 42 w 60"/>
                <a:gd name="T13" fmla="*/ 0 h 36"/>
                <a:gd name="T14" fmla="*/ 48 w 60"/>
                <a:gd name="T15" fmla="*/ 0 h 36"/>
                <a:gd name="T16" fmla="*/ 52 w 60"/>
                <a:gd name="T17" fmla="*/ 2 h 36"/>
                <a:gd name="T18" fmla="*/ 54 w 60"/>
                <a:gd name="T19" fmla="*/ 8 h 36"/>
                <a:gd name="T20" fmla="*/ 54 w 60"/>
                <a:gd name="T21" fmla="*/ 28 h 36"/>
                <a:gd name="T22" fmla="*/ 56 w 60"/>
                <a:gd name="T23" fmla="*/ 32 h 36"/>
                <a:gd name="T24" fmla="*/ 56 w 60"/>
                <a:gd name="T25" fmla="*/ 34 h 36"/>
                <a:gd name="T26" fmla="*/ 60 w 60"/>
                <a:gd name="T27" fmla="*/ 36 h 36"/>
                <a:gd name="T28" fmla="*/ 44 w 60"/>
                <a:gd name="T29" fmla="*/ 36 h 36"/>
                <a:gd name="T30" fmla="*/ 44 w 60"/>
                <a:gd name="T31" fmla="*/ 36 h 36"/>
                <a:gd name="T32" fmla="*/ 46 w 60"/>
                <a:gd name="T33" fmla="*/ 34 h 36"/>
                <a:gd name="T34" fmla="*/ 48 w 60"/>
                <a:gd name="T35" fmla="*/ 32 h 36"/>
                <a:gd name="T36" fmla="*/ 48 w 60"/>
                <a:gd name="T37" fmla="*/ 28 h 36"/>
                <a:gd name="T38" fmla="*/ 48 w 60"/>
                <a:gd name="T39" fmla="*/ 10 h 36"/>
                <a:gd name="T40" fmla="*/ 46 w 60"/>
                <a:gd name="T41" fmla="*/ 4 h 36"/>
                <a:gd name="T42" fmla="*/ 40 w 60"/>
                <a:gd name="T43" fmla="*/ 4 h 36"/>
                <a:gd name="T44" fmla="*/ 36 w 60"/>
                <a:gd name="T45" fmla="*/ 6 h 36"/>
                <a:gd name="T46" fmla="*/ 34 w 60"/>
                <a:gd name="T47" fmla="*/ 10 h 36"/>
                <a:gd name="T48" fmla="*/ 34 w 60"/>
                <a:gd name="T49" fmla="*/ 28 h 36"/>
                <a:gd name="T50" fmla="*/ 34 w 60"/>
                <a:gd name="T51" fmla="*/ 32 h 36"/>
                <a:gd name="T52" fmla="*/ 34 w 60"/>
                <a:gd name="T53" fmla="*/ 34 h 36"/>
                <a:gd name="T54" fmla="*/ 38 w 60"/>
                <a:gd name="T55" fmla="*/ 36 h 36"/>
                <a:gd name="T56" fmla="*/ 22 w 60"/>
                <a:gd name="T57" fmla="*/ 36 h 36"/>
                <a:gd name="T58" fmla="*/ 24 w 60"/>
                <a:gd name="T59" fmla="*/ 34 h 36"/>
                <a:gd name="T60" fmla="*/ 26 w 60"/>
                <a:gd name="T61" fmla="*/ 34 h 36"/>
                <a:gd name="T62" fmla="*/ 26 w 60"/>
                <a:gd name="T63" fmla="*/ 30 h 36"/>
                <a:gd name="T64" fmla="*/ 26 w 60"/>
                <a:gd name="T65" fmla="*/ 12 h 36"/>
                <a:gd name="T66" fmla="*/ 26 w 60"/>
                <a:gd name="T67" fmla="*/ 6 h 36"/>
                <a:gd name="T68" fmla="*/ 20 w 60"/>
                <a:gd name="T69" fmla="*/ 4 h 36"/>
                <a:gd name="T70" fmla="*/ 16 w 60"/>
                <a:gd name="T71" fmla="*/ 6 h 36"/>
                <a:gd name="T72" fmla="*/ 12 w 60"/>
                <a:gd name="T73" fmla="*/ 10 h 36"/>
                <a:gd name="T74" fmla="*/ 12 w 60"/>
                <a:gd name="T75" fmla="*/ 30 h 36"/>
                <a:gd name="T76" fmla="*/ 12 w 60"/>
                <a:gd name="T77" fmla="*/ 34 h 36"/>
                <a:gd name="T78" fmla="*/ 14 w 60"/>
                <a:gd name="T79" fmla="*/ 36 h 36"/>
                <a:gd name="T80" fmla="*/ 16 w 60"/>
                <a:gd name="T81" fmla="*/ 36 h 36"/>
                <a:gd name="T82" fmla="*/ 0 w 60"/>
                <a:gd name="T83" fmla="*/ 36 h 36"/>
                <a:gd name="T84" fmla="*/ 2 w 60"/>
                <a:gd name="T85" fmla="*/ 34 h 36"/>
                <a:gd name="T86" fmla="*/ 4 w 60"/>
                <a:gd name="T87" fmla="*/ 32 h 36"/>
                <a:gd name="T88" fmla="*/ 4 w 60"/>
                <a:gd name="T89" fmla="*/ 28 h 36"/>
                <a:gd name="T90" fmla="*/ 4 w 60"/>
                <a:gd name="T91" fmla="*/ 10 h 36"/>
                <a:gd name="T92" fmla="*/ 4 w 60"/>
                <a:gd name="T93" fmla="*/ 4 h 36"/>
                <a:gd name="T94" fmla="*/ 4 w 60"/>
                <a:gd name="T95" fmla="*/ 4 h 36"/>
                <a:gd name="T96" fmla="*/ 2 w 60"/>
                <a:gd name="T97" fmla="*/ 4 h 36"/>
                <a:gd name="T98" fmla="*/ 0 w 60"/>
                <a:gd name="T99" fmla="*/ 4 h 36"/>
                <a:gd name="T100" fmla="*/ 12 w 60"/>
                <a:gd name="T101" fmla="*/ 0 h 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60"/>
                <a:gd name="T154" fmla="*/ 0 h 36"/>
                <a:gd name="T155" fmla="*/ 60 w 60"/>
                <a:gd name="T156" fmla="*/ 36 h 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60" h="36">
                  <a:moveTo>
                    <a:pt x="12" y="8"/>
                  </a:moveTo>
                  <a:lnTo>
                    <a:pt x="14" y="4"/>
                  </a:lnTo>
                  <a:lnTo>
                    <a:pt x="16" y="2"/>
                  </a:lnTo>
                  <a:lnTo>
                    <a:pt x="18" y="2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8" y="0"/>
                  </a:lnTo>
                  <a:lnTo>
                    <a:pt x="30" y="2"/>
                  </a:lnTo>
                  <a:lnTo>
                    <a:pt x="32" y="4"/>
                  </a:lnTo>
                  <a:lnTo>
                    <a:pt x="32" y="8"/>
                  </a:lnTo>
                  <a:lnTo>
                    <a:pt x="36" y="4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6" y="0"/>
                  </a:lnTo>
                  <a:lnTo>
                    <a:pt x="48" y="0"/>
                  </a:lnTo>
                  <a:lnTo>
                    <a:pt x="50" y="0"/>
                  </a:lnTo>
                  <a:lnTo>
                    <a:pt x="52" y="2"/>
                  </a:lnTo>
                  <a:lnTo>
                    <a:pt x="54" y="6"/>
                  </a:lnTo>
                  <a:lnTo>
                    <a:pt x="54" y="8"/>
                  </a:lnTo>
                  <a:lnTo>
                    <a:pt x="54" y="12"/>
                  </a:lnTo>
                  <a:lnTo>
                    <a:pt x="54" y="28"/>
                  </a:lnTo>
                  <a:lnTo>
                    <a:pt x="54" y="30"/>
                  </a:lnTo>
                  <a:lnTo>
                    <a:pt x="56" y="32"/>
                  </a:lnTo>
                  <a:lnTo>
                    <a:pt x="56" y="34"/>
                  </a:lnTo>
                  <a:lnTo>
                    <a:pt x="58" y="34"/>
                  </a:lnTo>
                  <a:lnTo>
                    <a:pt x="60" y="36"/>
                  </a:lnTo>
                  <a:lnTo>
                    <a:pt x="44" y="36"/>
                  </a:lnTo>
                  <a:lnTo>
                    <a:pt x="46" y="34"/>
                  </a:lnTo>
                  <a:lnTo>
                    <a:pt x="48" y="34"/>
                  </a:lnTo>
                  <a:lnTo>
                    <a:pt x="48" y="32"/>
                  </a:lnTo>
                  <a:lnTo>
                    <a:pt x="48" y="30"/>
                  </a:lnTo>
                  <a:lnTo>
                    <a:pt x="48" y="28"/>
                  </a:lnTo>
                  <a:lnTo>
                    <a:pt x="48" y="12"/>
                  </a:lnTo>
                  <a:lnTo>
                    <a:pt x="48" y="10"/>
                  </a:lnTo>
                  <a:lnTo>
                    <a:pt x="48" y="6"/>
                  </a:lnTo>
                  <a:lnTo>
                    <a:pt x="46" y="4"/>
                  </a:lnTo>
                  <a:lnTo>
                    <a:pt x="42" y="4"/>
                  </a:lnTo>
                  <a:lnTo>
                    <a:pt x="40" y="4"/>
                  </a:lnTo>
                  <a:lnTo>
                    <a:pt x="38" y="6"/>
                  </a:lnTo>
                  <a:lnTo>
                    <a:pt x="36" y="6"/>
                  </a:lnTo>
                  <a:lnTo>
                    <a:pt x="34" y="10"/>
                  </a:lnTo>
                  <a:lnTo>
                    <a:pt x="34" y="12"/>
                  </a:lnTo>
                  <a:lnTo>
                    <a:pt x="34" y="28"/>
                  </a:lnTo>
                  <a:lnTo>
                    <a:pt x="34" y="32"/>
                  </a:lnTo>
                  <a:lnTo>
                    <a:pt x="34" y="34"/>
                  </a:lnTo>
                  <a:lnTo>
                    <a:pt x="36" y="34"/>
                  </a:lnTo>
                  <a:lnTo>
                    <a:pt x="38" y="36"/>
                  </a:lnTo>
                  <a:lnTo>
                    <a:pt x="22" y="36"/>
                  </a:lnTo>
                  <a:lnTo>
                    <a:pt x="24" y="34"/>
                  </a:lnTo>
                  <a:lnTo>
                    <a:pt x="26" y="34"/>
                  </a:lnTo>
                  <a:lnTo>
                    <a:pt x="26" y="32"/>
                  </a:lnTo>
                  <a:lnTo>
                    <a:pt x="26" y="30"/>
                  </a:lnTo>
                  <a:lnTo>
                    <a:pt x="26" y="28"/>
                  </a:lnTo>
                  <a:lnTo>
                    <a:pt x="26" y="12"/>
                  </a:lnTo>
                  <a:lnTo>
                    <a:pt x="26" y="10"/>
                  </a:lnTo>
                  <a:lnTo>
                    <a:pt x="26" y="6"/>
                  </a:lnTo>
                  <a:lnTo>
                    <a:pt x="24" y="4"/>
                  </a:lnTo>
                  <a:lnTo>
                    <a:pt x="20" y="4"/>
                  </a:lnTo>
                  <a:lnTo>
                    <a:pt x="18" y="4"/>
                  </a:lnTo>
                  <a:lnTo>
                    <a:pt x="16" y="6"/>
                  </a:lnTo>
                  <a:lnTo>
                    <a:pt x="14" y="8"/>
                  </a:lnTo>
                  <a:lnTo>
                    <a:pt x="12" y="10"/>
                  </a:lnTo>
                  <a:lnTo>
                    <a:pt x="12" y="28"/>
                  </a:lnTo>
                  <a:lnTo>
                    <a:pt x="12" y="30"/>
                  </a:lnTo>
                  <a:lnTo>
                    <a:pt x="12" y="32"/>
                  </a:lnTo>
                  <a:lnTo>
                    <a:pt x="12" y="34"/>
                  </a:lnTo>
                  <a:lnTo>
                    <a:pt x="14" y="34"/>
                  </a:lnTo>
                  <a:lnTo>
                    <a:pt x="14" y="36"/>
                  </a:lnTo>
                  <a:lnTo>
                    <a:pt x="16" y="36"/>
                  </a:lnTo>
                  <a:lnTo>
                    <a:pt x="0" y="36"/>
                  </a:lnTo>
                  <a:lnTo>
                    <a:pt x="2" y="36"/>
                  </a:lnTo>
                  <a:lnTo>
                    <a:pt x="2" y="34"/>
                  </a:lnTo>
                  <a:lnTo>
                    <a:pt x="4" y="34"/>
                  </a:lnTo>
                  <a:lnTo>
                    <a:pt x="4" y="32"/>
                  </a:lnTo>
                  <a:lnTo>
                    <a:pt x="4" y="30"/>
                  </a:lnTo>
                  <a:lnTo>
                    <a:pt x="4" y="28"/>
                  </a:lnTo>
                  <a:lnTo>
                    <a:pt x="4" y="14"/>
                  </a:lnTo>
                  <a:lnTo>
                    <a:pt x="4" y="10"/>
                  </a:lnTo>
                  <a:lnTo>
                    <a:pt x="4" y="6"/>
                  </a:lnTo>
                  <a:lnTo>
                    <a:pt x="4" y="4"/>
                  </a:lnTo>
                  <a:lnTo>
                    <a:pt x="2" y="4"/>
                  </a:lnTo>
                  <a:lnTo>
                    <a:pt x="0" y="4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44" name="Freeform 124"/>
            <p:cNvSpPr>
              <a:spLocks noEditPoints="1"/>
            </p:cNvSpPr>
            <p:nvPr/>
          </p:nvSpPr>
          <p:spPr bwMode="auto">
            <a:xfrm>
              <a:off x="2326" y="3004"/>
              <a:ext cx="38" cy="54"/>
            </a:xfrm>
            <a:custGeom>
              <a:avLst/>
              <a:gdLst>
                <a:gd name="T0" fmla="*/ 12 w 38"/>
                <a:gd name="T1" fmla="*/ 0 h 54"/>
                <a:gd name="T2" fmla="*/ 14 w 38"/>
                <a:gd name="T3" fmla="*/ 8 h 54"/>
                <a:gd name="T4" fmla="*/ 20 w 38"/>
                <a:gd name="T5" fmla="*/ 2 h 54"/>
                <a:gd name="T6" fmla="*/ 26 w 38"/>
                <a:gd name="T7" fmla="*/ 0 h 54"/>
                <a:gd name="T8" fmla="*/ 34 w 38"/>
                <a:gd name="T9" fmla="*/ 4 h 54"/>
                <a:gd name="T10" fmla="*/ 38 w 38"/>
                <a:gd name="T11" fmla="*/ 16 h 54"/>
                <a:gd name="T12" fmla="*/ 36 w 38"/>
                <a:gd name="T13" fmla="*/ 28 h 54"/>
                <a:gd name="T14" fmla="*/ 28 w 38"/>
                <a:gd name="T15" fmla="*/ 36 h 54"/>
                <a:gd name="T16" fmla="*/ 20 w 38"/>
                <a:gd name="T17" fmla="*/ 36 h 54"/>
                <a:gd name="T18" fmla="*/ 16 w 38"/>
                <a:gd name="T19" fmla="*/ 36 h 54"/>
                <a:gd name="T20" fmla="*/ 14 w 38"/>
                <a:gd name="T21" fmla="*/ 46 h 54"/>
                <a:gd name="T22" fmla="*/ 14 w 38"/>
                <a:gd name="T23" fmla="*/ 50 h 54"/>
                <a:gd name="T24" fmla="*/ 16 w 38"/>
                <a:gd name="T25" fmla="*/ 52 h 54"/>
                <a:gd name="T26" fmla="*/ 18 w 38"/>
                <a:gd name="T27" fmla="*/ 52 h 54"/>
                <a:gd name="T28" fmla="*/ 0 w 38"/>
                <a:gd name="T29" fmla="*/ 54 h 54"/>
                <a:gd name="T30" fmla="*/ 2 w 38"/>
                <a:gd name="T31" fmla="*/ 52 h 54"/>
                <a:gd name="T32" fmla="*/ 6 w 38"/>
                <a:gd name="T33" fmla="*/ 52 h 54"/>
                <a:gd name="T34" fmla="*/ 6 w 38"/>
                <a:gd name="T35" fmla="*/ 50 h 54"/>
                <a:gd name="T36" fmla="*/ 8 w 38"/>
                <a:gd name="T37" fmla="*/ 46 h 54"/>
                <a:gd name="T38" fmla="*/ 8 w 38"/>
                <a:gd name="T39" fmla="*/ 8 h 54"/>
                <a:gd name="T40" fmla="*/ 6 w 38"/>
                <a:gd name="T41" fmla="*/ 4 h 54"/>
                <a:gd name="T42" fmla="*/ 6 w 38"/>
                <a:gd name="T43" fmla="*/ 4 h 54"/>
                <a:gd name="T44" fmla="*/ 4 w 38"/>
                <a:gd name="T45" fmla="*/ 4 h 54"/>
                <a:gd name="T46" fmla="*/ 2 w 38"/>
                <a:gd name="T47" fmla="*/ 4 h 54"/>
                <a:gd name="T48" fmla="*/ 14 w 38"/>
                <a:gd name="T49" fmla="*/ 24 h 54"/>
                <a:gd name="T50" fmla="*/ 14 w 38"/>
                <a:gd name="T51" fmla="*/ 28 h 54"/>
                <a:gd name="T52" fmla="*/ 18 w 38"/>
                <a:gd name="T53" fmla="*/ 32 h 54"/>
                <a:gd name="T54" fmla="*/ 22 w 38"/>
                <a:gd name="T55" fmla="*/ 34 h 54"/>
                <a:gd name="T56" fmla="*/ 30 w 38"/>
                <a:gd name="T57" fmla="*/ 32 h 54"/>
                <a:gd name="T58" fmla="*/ 32 w 38"/>
                <a:gd name="T59" fmla="*/ 20 h 54"/>
                <a:gd name="T60" fmla="*/ 28 w 38"/>
                <a:gd name="T61" fmla="*/ 8 h 54"/>
                <a:gd name="T62" fmla="*/ 22 w 38"/>
                <a:gd name="T63" fmla="*/ 6 h 54"/>
                <a:gd name="T64" fmla="*/ 18 w 38"/>
                <a:gd name="T65" fmla="*/ 6 h 54"/>
                <a:gd name="T66" fmla="*/ 14 w 38"/>
                <a:gd name="T67" fmla="*/ 10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38"/>
                <a:gd name="T103" fmla="*/ 0 h 54"/>
                <a:gd name="T104" fmla="*/ 38 w 38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38" h="54">
                  <a:moveTo>
                    <a:pt x="2" y="4"/>
                  </a:moveTo>
                  <a:lnTo>
                    <a:pt x="12" y="0"/>
                  </a:lnTo>
                  <a:lnTo>
                    <a:pt x="14" y="0"/>
                  </a:lnTo>
                  <a:lnTo>
                    <a:pt x="14" y="8"/>
                  </a:lnTo>
                  <a:lnTo>
                    <a:pt x="16" y="4"/>
                  </a:lnTo>
                  <a:lnTo>
                    <a:pt x="20" y="2"/>
                  </a:lnTo>
                  <a:lnTo>
                    <a:pt x="22" y="0"/>
                  </a:lnTo>
                  <a:lnTo>
                    <a:pt x="26" y="0"/>
                  </a:lnTo>
                  <a:lnTo>
                    <a:pt x="30" y="0"/>
                  </a:lnTo>
                  <a:lnTo>
                    <a:pt x="34" y="4"/>
                  </a:lnTo>
                  <a:lnTo>
                    <a:pt x="38" y="10"/>
                  </a:lnTo>
                  <a:lnTo>
                    <a:pt x="38" y="16"/>
                  </a:lnTo>
                  <a:lnTo>
                    <a:pt x="38" y="22"/>
                  </a:lnTo>
                  <a:lnTo>
                    <a:pt x="36" y="28"/>
                  </a:lnTo>
                  <a:lnTo>
                    <a:pt x="34" y="32"/>
                  </a:lnTo>
                  <a:lnTo>
                    <a:pt x="28" y="36"/>
                  </a:lnTo>
                  <a:lnTo>
                    <a:pt x="22" y="36"/>
                  </a:lnTo>
                  <a:lnTo>
                    <a:pt x="20" y="36"/>
                  </a:lnTo>
                  <a:lnTo>
                    <a:pt x="18" y="36"/>
                  </a:lnTo>
                  <a:lnTo>
                    <a:pt x="16" y="36"/>
                  </a:lnTo>
                  <a:lnTo>
                    <a:pt x="14" y="34"/>
                  </a:lnTo>
                  <a:lnTo>
                    <a:pt x="14" y="46"/>
                  </a:lnTo>
                  <a:lnTo>
                    <a:pt x="14" y="48"/>
                  </a:lnTo>
                  <a:lnTo>
                    <a:pt x="14" y="50"/>
                  </a:lnTo>
                  <a:lnTo>
                    <a:pt x="14" y="52"/>
                  </a:lnTo>
                  <a:lnTo>
                    <a:pt x="16" y="52"/>
                  </a:lnTo>
                  <a:lnTo>
                    <a:pt x="18" y="52"/>
                  </a:lnTo>
                  <a:lnTo>
                    <a:pt x="18" y="54"/>
                  </a:lnTo>
                  <a:lnTo>
                    <a:pt x="0" y="54"/>
                  </a:lnTo>
                  <a:lnTo>
                    <a:pt x="0" y="52"/>
                  </a:lnTo>
                  <a:lnTo>
                    <a:pt x="2" y="52"/>
                  </a:lnTo>
                  <a:lnTo>
                    <a:pt x="4" y="52"/>
                  </a:lnTo>
                  <a:lnTo>
                    <a:pt x="6" y="52"/>
                  </a:lnTo>
                  <a:lnTo>
                    <a:pt x="6" y="50"/>
                  </a:lnTo>
                  <a:lnTo>
                    <a:pt x="8" y="48"/>
                  </a:lnTo>
                  <a:lnTo>
                    <a:pt x="8" y="46"/>
                  </a:lnTo>
                  <a:lnTo>
                    <a:pt x="8" y="10"/>
                  </a:lnTo>
                  <a:lnTo>
                    <a:pt x="8" y="8"/>
                  </a:lnTo>
                  <a:lnTo>
                    <a:pt x="8" y="6"/>
                  </a:lnTo>
                  <a:lnTo>
                    <a:pt x="6" y="4"/>
                  </a:lnTo>
                  <a:lnTo>
                    <a:pt x="4" y="4"/>
                  </a:lnTo>
                  <a:lnTo>
                    <a:pt x="2" y="4"/>
                  </a:lnTo>
                  <a:close/>
                  <a:moveTo>
                    <a:pt x="14" y="10"/>
                  </a:moveTo>
                  <a:lnTo>
                    <a:pt x="14" y="24"/>
                  </a:lnTo>
                  <a:lnTo>
                    <a:pt x="14" y="26"/>
                  </a:lnTo>
                  <a:lnTo>
                    <a:pt x="14" y="28"/>
                  </a:lnTo>
                  <a:lnTo>
                    <a:pt x="16" y="30"/>
                  </a:lnTo>
                  <a:lnTo>
                    <a:pt x="18" y="32"/>
                  </a:lnTo>
                  <a:lnTo>
                    <a:pt x="20" y="34"/>
                  </a:lnTo>
                  <a:lnTo>
                    <a:pt x="22" y="34"/>
                  </a:lnTo>
                  <a:lnTo>
                    <a:pt x="26" y="34"/>
                  </a:lnTo>
                  <a:lnTo>
                    <a:pt x="30" y="32"/>
                  </a:lnTo>
                  <a:lnTo>
                    <a:pt x="32" y="26"/>
                  </a:lnTo>
                  <a:lnTo>
                    <a:pt x="32" y="20"/>
                  </a:lnTo>
                  <a:lnTo>
                    <a:pt x="32" y="14"/>
                  </a:lnTo>
                  <a:lnTo>
                    <a:pt x="28" y="8"/>
                  </a:lnTo>
                  <a:lnTo>
                    <a:pt x="26" y="6"/>
                  </a:lnTo>
                  <a:lnTo>
                    <a:pt x="22" y="6"/>
                  </a:lnTo>
                  <a:lnTo>
                    <a:pt x="20" y="6"/>
                  </a:lnTo>
                  <a:lnTo>
                    <a:pt x="18" y="6"/>
                  </a:lnTo>
                  <a:lnTo>
                    <a:pt x="16" y="8"/>
                  </a:lnTo>
                  <a:lnTo>
                    <a:pt x="14" y="1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45" name="Freeform 125"/>
            <p:cNvSpPr>
              <a:spLocks noEditPoints="1"/>
            </p:cNvSpPr>
            <p:nvPr/>
          </p:nvSpPr>
          <p:spPr bwMode="auto">
            <a:xfrm>
              <a:off x="2370" y="3004"/>
              <a:ext cx="30" cy="36"/>
            </a:xfrm>
            <a:custGeom>
              <a:avLst/>
              <a:gdLst>
                <a:gd name="T0" fmla="*/ 6 w 30"/>
                <a:gd name="T1" fmla="*/ 14 h 36"/>
                <a:gd name="T2" fmla="*/ 6 w 30"/>
                <a:gd name="T3" fmla="*/ 20 h 36"/>
                <a:gd name="T4" fmla="*/ 10 w 30"/>
                <a:gd name="T5" fmla="*/ 26 h 36"/>
                <a:gd name="T6" fmla="*/ 14 w 30"/>
                <a:gd name="T7" fmla="*/ 30 h 36"/>
                <a:gd name="T8" fmla="*/ 18 w 30"/>
                <a:gd name="T9" fmla="*/ 30 h 36"/>
                <a:gd name="T10" fmla="*/ 22 w 30"/>
                <a:gd name="T11" fmla="*/ 30 h 36"/>
                <a:gd name="T12" fmla="*/ 24 w 30"/>
                <a:gd name="T13" fmla="*/ 28 h 36"/>
                <a:gd name="T14" fmla="*/ 28 w 30"/>
                <a:gd name="T15" fmla="*/ 26 h 36"/>
                <a:gd name="T16" fmla="*/ 30 w 30"/>
                <a:gd name="T17" fmla="*/ 22 h 36"/>
                <a:gd name="T18" fmla="*/ 30 w 30"/>
                <a:gd name="T19" fmla="*/ 22 h 36"/>
                <a:gd name="T20" fmla="*/ 28 w 30"/>
                <a:gd name="T21" fmla="*/ 28 h 36"/>
                <a:gd name="T22" fmla="*/ 26 w 30"/>
                <a:gd name="T23" fmla="*/ 32 h 36"/>
                <a:gd name="T24" fmla="*/ 20 w 30"/>
                <a:gd name="T25" fmla="*/ 36 h 36"/>
                <a:gd name="T26" fmla="*/ 16 w 30"/>
                <a:gd name="T27" fmla="*/ 36 h 36"/>
                <a:gd name="T28" fmla="*/ 10 w 30"/>
                <a:gd name="T29" fmla="*/ 36 h 36"/>
                <a:gd name="T30" fmla="*/ 4 w 30"/>
                <a:gd name="T31" fmla="*/ 32 h 36"/>
                <a:gd name="T32" fmla="*/ 2 w 30"/>
                <a:gd name="T33" fmla="*/ 26 h 36"/>
                <a:gd name="T34" fmla="*/ 0 w 30"/>
                <a:gd name="T35" fmla="*/ 18 h 36"/>
                <a:gd name="T36" fmla="*/ 0 w 30"/>
                <a:gd name="T37" fmla="*/ 12 h 36"/>
                <a:gd name="T38" fmla="*/ 2 w 30"/>
                <a:gd name="T39" fmla="*/ 8 h 36"/>
                <a:gd name="T40" fmla="*/ 4 w 30"/>
                <a:gd name="T41" fmla="*/ 4 h 36"/>
                <a:gd name="T42" fmla="*/ 10 w 30"/>
                <a:gd name="T43" fmla="*/ 0 h 36"/>
                <a:gd name="T44" fmla="*/ 16 w 30"/>
                <a:gd name="T45" fmla="*/ 0 h 36"/>
                <a:gd name="T46" fmla="*/ 22 w 30"/>
                <a:gd name="T47" fmla="*/ 0 h 36"/>
                <a:gd name="T48" fmla="*/ 26 w 30"/>
                <a:gd name="T49" fmla="*/ 4 h 36"/>
                <a:gd name="T50" fmla="*/ 30 w 30"/>
                <a:gd name="T51" fmla="*/ 8 h 36"/>
                <a:gd name="T52" fmla="*/ 30 w 30"/>
                <a:gd name="T53" fmla="*/ 14 h 36"/>
                <a:gd name="T54" fmla="*/ 6 w 30"/>
                <a:gd name="T55" fmla="*/ 14 h 36"/>
                <a:gd name="T56" fmla="*/ 6 w 30"/>
                <a:gd name="T57" fmla="*/ 10 h 36"/>
                <a:gd name="T58" fmla="*/ 22 w 30"/>
                <a:gd name="T59" fmla="*/ 10 h 36"/>
                <a:gd name="T60" fmla="*/ 22 w 30"/>
                <a:gd name="T61" fmla="*/ 8 h 36"/>
                <a:gd name="T62" fmla="*/ 20 w 30"/>
                <a:gd name="T63" fmla="*/ 6 h 36"/>
                <a:gd name="T64" fmla="*/ 20 w 30"/>
                <a:gd name="T65" fmla="*/ 4 h 36"/>
                <a:gd name="T66" fmla="*/ 18 w 30"/>
                <a:gd name="T67" fmla="*/ 4 h 36"/>
                <a:gd name="T68" fmla="*/ 16 w 30"/>
                <a:gd name="T69" fmla="*/ 2 h 36"/>
                <a:gd name="T70" fmla="*/ 14 w 30"/>
                <a:gd name="T71" fmla="*/ 2 h 36"/>
                <a:gd name="T72" fmla="*/ 12 w 30"/>
                <a:gd name="T73" fmla="*/ 2 h 36"/>
                <a:gd name="T74" fmla="*/ 8 w 30"/>
                <a:gd name="T75" fmla="*/ 4 h 36"/>
                <a:gd name="T76" fmla="*/ 6 w 30"/>
                <a:gd name="T77" fmla="*/ 8 h 36"/>
                <a:gd name="T78" fmla="*/ 6 w 30"/>
                <a:gd name="T79" fmla="*/ 10 h 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30"/>
                <a:gd name="T121" fmla="*/ 0 h 36"/>
                <a:gd name="T122" fmla="*/ 30 w 30"/>
                <a:gd name="T123" fmla="*/ 36 h 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30" h="36">
                  <a:moveTo>
                    <a:pt x="6" y="14"/>
                  </a:moveTo>
                  <a:lnTo>
                    <a:pt x="6" y="20"/>
                  </a:lnTo>
                  <a:lnTo>
                    <a:pt x="10" y="26"/>
                  </a:lnTo>
                  <a:lnTo>
                    <a:pt x="14" y="30"/>
                  </a:lnTo>
                  <a:lnTo>
                    <a:pt x="18" y="30"/>
                  </a:lnTo>
                  <a:lnTo>
                    <a:pt x="22" y="30"/>
                  </a:lnTo>
                  <a:lnTo>
                    <a:pt x="24" y="28"/>
                  </a:lnTo>
                  <a:lnTo>
                    <a:pt x="28" y="26"/>
                  </a:lnTo>
                  <a:lnTo>
                    <a:pt x="30" y="22"/>
                  </a:lnTo>
                  <a:lnTo>
                    <a:pt x="28" y="28"/>
                  </a:lnTo>
                  <a:lnTo>
                    <a:pt x="26" y="32"/>
                  </a:lnTo>
                  <a:lnTo>
                    <a:pt x="20" y="36"/>
                  </a:lnTo>
                  <a:lnTo>
                    <a:pt x="16" y="36"/>
                  </a:lnTo>
                  <a:lnTo>
                    <a:pt x="10" y="36"/>
                  </a:lnTo>
                  <a:lnTo>
                    <a:pt x="4" y="32"/>
                  </a:lnTo>
                  <a:lnTo>
                    <a:pt x="2" y="26"/>
                  </a:lnTo>
                  <a:lnTo>
                    <a:pt x="0" y="18"/>
                  </a:lnTo>
                  <a:lnTo>
                    <a:pt x="0" y="12"/>
                  </a:lnTo>
                  <a:lnTo>
                    <a:pt x="2" y="8"/>
                  </a:lnTo>
                  <a:lnTo>
                    <a:pt x="4" y="4"/>
                  </a:lnTo>
                  <a:lnTo>
                    <a:pt x="10" y="0"/>
                  </a:lnTo>
                  <a:lnTo>
                    <a:pt x="16" y="0"/>
                  </a:lnTo>
                  <a:lnTo>
                    <a:pt x="22" y="0"/>
                  </a:lnTo>
                  <a:lnTo>
                    <a:pt x="26" y="4"/>
                  </a:lnTo>
                  <a:lnTo>
                    <a:pt x="30" y="8"/>
                  </a:lnTo>
                  <a:lnTo>
                    <a:pt x="30" y="14"/>
                  </a:lnTo>
                  <a:lnTo>
                    <a:pt x="6" y="14"/>
                  </a:lnTo>
                  <a:close/>
                  <a:moveTo>
                    <a:pt x="6" y="10"/>
                  </a:moveTo>
                  <a:lnTo>
                    <a:pt x="22" y="10"/>
                  </a:lnTo>
                  <a:lnTo>
                    <a:pt x="22" y="8"/>
                  </a:lnTo>
                  <a:lnTo>
                    <a:pt x="20" y="6"/>
                  </a:lnTo>
                  <a:lnTo>
                    <a:pt x="20" y="4"/>
                  </a:lnTo>
                  <a:lnTo>
                    <a:pt x="18" y="4"/>
                  </a:lnTo>
                  <a:lnTo>
                    <a:pt x="16" y="2"/>
                  </a:lnTo>
                  <a:lnTo>
                    <a:pt x="14" y="2"/>
                  </a:lnTo>
                  <a:lnTo>
                    <a:pt x="12" y="2"/>
                  </a:lnTo>
                  <a:lnTo>
                    <a:pt x="8" y="4"/>
                  </a:lnTo>
                  <a:lnTo>
                    <a:pt x="6" y="8"/>
                  </a:lnTo>
                  <a:lnTo>
                    <a:pt x="6" y="1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46" name="Freeform 126"/>
            <p:cNvSpPr>
              <a:spLocks noEditPoints="1"/>
            </p:cNvSpPr>
            <p:nvPr/>
          </p:nvSpPr>
          <p:spPr bwMode="auto">
            <a:xfrm>
              <a:off x="2406" y="2984"/>
              <a:ext cx="36" cy="56"/>
            </a:xfrm>
            <a:custGeom>
              <a:avLst/>
              <a:gdLst>
                <a:gd name="T0" fmla="*/ 24 w 36"/>
                <a:gd name="T1" fmla="*/ 50 h 56"/>
                <a:gd name="T2" fmla="*/ 22 w 36"/>
                <a:gd name="T3" fmla="*/ 54 h 56"/>
                <a:gd name="T4" fmla="*/ 20 w 36"/>
                <a:gd name="T5" fmla="*/ 56 h 56"/>
                <a:gd name="T6" fmla="*/ 18 w 36"/>
                <a:gd name="T7" fmla="*/ 56 h 56"/>
                <a:gd name="T8" fmla="*/ 14 w 36"/>
                <a:gd name="T9" fmla="*/ 56 h 56"/>
                <a:gd name="T10" fmla="*/ 8 w 36"/>
                <a:gd name="T11" fmla="*/ 56 h 56"/>
                <a:gd name="T12" fmla="*/ 4 w 36"/>
                <a:gd name="T13" fmla="*/ 52 h 56"/>
                <a:gd name="T14" fmla="*/ 0 w 36"/>
                <a:gd name="T15" fmla="*/ 46 h 56"/>
                <a:gd name="T16" fmla="*/ 0 w 36"/>
                <a:gd name="T17" fmla="*/ 40 h 56"/>
                <a:gd name="T18" fmla="*/ 0 w 36"/>
                <a:gd name="T19" fmla="*/ 32 h 56"/>
                <a:gd name="T20" fmla="*/ 4 w 36"/>
                <a:gd name="T21" fmla="*/ 26 h 56"/>
                <a:gd name="T22" fmla="*/ 8 w 36"/>
                <a:gd name="T23" fmla="*/ 22 h 56"/>
                <a:gd name="T24" fmla="*/ 12 w 36"/>
                <a:gd name="T25" fmla="*/ 20 h 56"/>
                <a:gd name="T26" fmla="*/ 18 w 36"/>
                <a:gd name="T27" fmla="*/ 20 h 56"/>
                <a:gd name="T28" fmla="*/ 22 w 36"/>
                <a:gd name="T29" fmla="*/ 20 h 56"/>
                <a:gd name="T30" fmla="*/ 24 w 36"/>
                <a:gd name="T31" fmla="*/ 22 h 56"/>
                <a:gd name="T32" fmla="*/ 24 w 36"/>
                <a:gd name="T33" fmla="*/ 16 h 56"/>
                <a:gd name="T34" fmla="*/ 24 w 36"/>
                <a:gd name="T35" fmla="*/ 10 h 56"/>
                <a:gd name="T36" fmla="*/ 24 w 36"/>
                <a:gd name="T37" fmla="*/ 8 h 56"/>
                <a:gd name="T38" fmla="*/ 24 w 36"/>
                <a:gd name="T39" fmla="*/ 6 h 56"/>
                <a:gd name="T40" fmla="*/ 24 w 36"/>
                <a:gd name="T41" fmla="*/ 6 h 56"/>
                <a:gd name="T42" fmla="*/ 24 w 36"/>
                <a:gd name="T43" fmla="*/ 4 h 56"/>
                <a:gd name="T44" fmla="*/ 22 w 36"/>
                <a:gd name="T45" fmla="*/ 4 h 56"/>
                <a:gd name="T46" fmla="*/ 22 w 36"/>
                <a:gd name="T47" fmla="*/ 4 h 56"/>
                <a:gd name="T48" fmla="*/ 20 w 36"/>
                <a:gd name="T49" fmla="*/ 6 h 56"/>
                <a:gd name="T50" fmla="*/ 20 w 36"/>
                <a:gd name="T51" fmla="*/ 4 h 56"/>
                <a:gd name="T52" fmla="*/ 30 w 36"/>
                <a:gd name="T53" fmla="*/ 0 h 56"/>
                <a:gd name="T54" fmla="*/ 32 w 36"/>
                <a:gd name="T55" fmla="*/ 0 h 56"/>
                <a:gd name="T56" fmla="*/ 32 w 36"/>
                <a:gd name="T57" fmla="*/ 42 h 56"/>
                <a:gd name="T58" fmla="*/ 32 w 36"/>
                <a:gd name="T59" fmla="*/ 48 h 56"/>
                <a:gd name="T60" fmla="*/ 32 w 36"/>
                <a:gd name="T61" fmla="*/ 50 h 56"/>
                <a:gd name="T62" fmla="*/ 32 w 36"/>
                <a:gd name="T63" fmla="*/ 52 h 56"/>
                <a:gd name="T64" fmla="*/ 32 w 36"/>
                <a:gd name="T65" fmla="*/ 52 h 56"/>
                <a:gd name="T66" fmla="*/ 34 w 36"/>
                <a:gd name="T67" fmla="*/ 52 h 56"/>
                <a:gd name="T68" fmla="*/ 34 w 36"/>
                <a:gd name="T69" fmla="*/ 52 h 56"/>
                <a:gd name="T70" fmla="*/ 34 w 36"/>
                <a:gd name="T71" fmla="*/ 52 h 56"/>
                <a:gd name="T72" fmla="*/ 36 w 36"/>
                <a:gd name="T73" fmla="*/ 52 h 56"/>
                <a:gd name="T74" fmla="*/ 36 w 36"/>
                <a:gd name="T75" fmla="*/ 52 h 56"/>
                <a:gd name="T76" fmla="*/ 26 w 36"/>
                <a:gd name="T77" fmla="*/ 56 h 56"/>
                <a:gd name="T78" fmla="*/ 24 w 36"/>
                <a:gd name="T79" fmla="*/ 56 h 56"/>
                <a:gd name="T80" fmla="*/ 24 w 36"/>
                <a:gd name="T81" fmla="*/ 50 h 56"/>
                <a:gd name="T82" fmla="*/ 24 w 36"/>
                <a:gd name="T83" fmla="*/ 48 h 56"/>
                <a:gd name="T84" fmla="*/ 24 w 36"/>
                <a:gd name="T85" fmla="*/ 32 h 56"/>
                <a:gd name="T86" fmla="*/ 24 w 36"/>
                <a:gd name="T87" fmla="*/ 28 h 56"/>
                <a:gd name="T88" fmla="*/ 24 w 36"/>
                <a:gd name="T89" fmla="*/ 26 h 56"/>
                <a:gd name="T90" fmla="*/ 22 w 36"/>
                <a:gd name="T91" fmla="*/ 24 h 56"/>
                <a:gd name="T92" fmla="*/ 20 w 36"/>
                <a:gd name="T93" fmla="*/ 22 h 56"/>
                <a:gd name="T94" fmla="*/ 18 w 36"/>
                <a:gd name="T95" fmla="*/ 22 h 56"/>
                <a:gd name="T96" fmla="*/ 16 w 36"/>
                <a:gd name="T97" fmla="*/ 22 h 56"/>
                <a:gd name="T98" fmla="*/ 14 w 36"/>
                <a:gd name="T99" fmla="*/ 22 h 56"/>
                <a:gd name="T100" fmla="*/ 10 w 36"/>
                <a:gd name="T101" fmla="*/ 24 h 56"/>
                <a:gd name="T102" fmla="*/ 8 w 36"/>
                <a:gd name="T103" fmla="*/ 30 h 56"/>
                <a:gd name="T104" fmla="*/ 6 w 36"/>
                <a:gd name="T105" fmla="*/ 36 h 56"/>
                <a:gd name="T106" fmla="*/ 8 w 36"/>
                <a:gd name="T107" fmla="*/ 42 h 56"/>
                <a:gd name="T108" fmla="*/ 10 w 36"/>
                <a:gd name="T109" fmla="*/ 48 h 56"/>
                <a:gd name="T110" fmla="*/ 14 w 36"/>
                <a:gd name="T111" fmla="*/ 50 h 56"/>
                <a:gd name="T112" fmla="*/ 18 w 36"/>
                <a:gd name="T113" fmla="*/ 52 h 56"/>
                <a:gd name="T114" fmla="*/ 22 w 36"/>
                <a:gd name="T115" fmla="*/ 50 h 56"/>
                <a:gd name="T116" fmla="*/ 24 w 36"/>
                <a:gd name="T117" fmla="*/ 48 h 5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36"/>
                <a:gd name="T178" fmla="*/ 0 h 56"/>
                <a:gd name="T179" fmla="*/ 36 w 36"/>
                <a:gd name="T180" fmla="*/ 56 h 5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36" h="56">
                  <a:moveTo>
                    <a:pt x="24" y="50"/>
                  </a:moveTo>
                  <a:lnTo>
                    <a:pt x="22" y="54"/>
                  </a:lnTo>
                  <a:lnTo>
                    <a:pt x="20" y="56"/>
                  </a:lnTo>
                  <a:lnTo>
                    <a:pt x="18" y="56"/>
                  </a:lnTo>
                  <a:lnTo>
                    <a:pt x="14" y="56"/>
                  </a:lnTo>
                  <a:lnTo>
                    <a:pt x="8" y="56"/>
                  </a:lnTo>
                  <a:lnTo>
                    <a:pt x="4" y="52"/>
                  </a:lnTo>
                  <a:lnTo>
                    <a:pt x="0" y="46"/>
                  </a:lnTo>
                  <a:lnTo>
                    <a:pt x="0" y="40"/>
                  </a:lnTo>
                  <a:lnTo>
                    <a:pt x="0" y="32"/>
                  </a:lnTo>
                  <a:lnTo>
                    <a:pt x="4" y="26"/>
                  </a:lnTo>
                  <a:lnTo>
                    <a:pt x="8" y="22"/>
                  </a:lnTo>
                  <a:lnTo>
                    <a:pt x="12" y="20"/>
                  </a:lnTo>
                  <a:lnTo>
                    <a:pt x="18" y="20"/>
                  </a:lnTo>
                  <a:lnTo>
                    <a:pt x="22" y="20"/>
                  </a:lnTo>
                  <a:lnTo>
                    <a:pt x="24" y="22"/>
                  </a:lnTo>
                  <a:lnTo>
                    <a:pt x="24" y="16"/>
                  </a:lnTo>
                  <a:lnTo>
                    <a:pt x="24" y="10"/>
                  </a:lnTo>
                  <a:lnTo>
                    <a:pt x="24" y="8"/>
                  </a:lnTo>
                  <a:lnTo>
                    <a:pt x="24" y="6"/>
                  </a:lnTo>
                  <a:lnTo>
                    <a:pt x="24" y="4"/>
                  </a:lnTo>
                  <a:lnTo>
                    <a:pt x="22" y="4"/>
                  </a:lnTo>
                  <a:lnTo>
                    <a:pt x="20" y="6"/>
                  </a:lnTo>
                  <a:lnTo>
                    <a:pt x="20" y="4"/>
                  </a:lnTo>
                  <a:lnTo>
                    <a:pt x="30" y="0"/>
                  </a:lnTo>
                  <a:lnTo>
                    <a:pt x="32" y="0"/>
                  </a:lnTo>
                  <a:lnTo>
                    <a:pt x="32" y="42"/>
                  </a:lnTo>
                  <a:lnTo>
                    <a:pt x="32" y="48"/>
                  </a:lnTo>
                  <a:lnTo>
                    <a:pt x="32" y="50"/>
                  </a:lnTo>
                  <a:lnTo>
                    <a:pt x="32" y="52"/>
                  </a:lnTo>
                  <a:lnTo>
                    <a:pt x="34" y="52"/>
                  </a:lnTo>
                  <a:lnTo>
                    <a:pt x="36" y="52"/>
                  </a:lnTo>
                  <a:lnTo>
                    <a:pt x="26" y="56"/>
                  </a:lnTo>
                  <a:lnTo>
                    <a:pt x="24" y="56"/>
                  </a:lnTo>
                  <a:lnTo>
                    <a:pt x="24" y="50"/>
                  </a:lnTo>
                  <a:close/>
                  <a:moveTo>
                    <a:pt x="24" y="48"/>
                  </a:moveTo>
                  <a:lnTo>
                    <a:pt x="24" y="32"/>
                  </a:lnTo>
                  <a:lnTo>
                    <a:pt x="24" y="28"/>
                  </a:lnTo>
                  <a:lnTo>
                    <a:pt x="24" y="26"/>
                  </a:lnTo>
                  <a:lnTo>
                    <a:pt x="22" y="24"/>
                  </a:lnTo>
                  <a:lnTo>
                    <a:pt x="20" y="22"/>
                  </a:lnTo>
                  <a:lnTo>
                    <a:pt x="18" y="22"/>
                  </a:lnTo>
                  <a:lnTo>
                    <a:pt x="16" y="22"/>
                  </a:lnTo>
                  <a:lnTo>
                    <a:pt x="14" y="22"/>
                  </a:lnTo>
                  <a:lnTo>
                    <a:pt x="10" y="24"/>
                  </a:lnTo>
                  <a:lnTo>
                    <a:pt x="8" y="30"/>
                  </a:lnTo>
                  <a:lnTo>
                    <a:pt x="6" y="36"/>
                  </a:lnTo>
                  <a:lnTo>
                    <a:pt x="8" y="42"/>
                  </a:lnTo>
                  <a:lnTo>
                    <a:pt x="10" y="48"/>
                  </a:lnTo>
                  <a:lnTo>
                    <a:pt x="14" y="50"/>
                  </a:lnTo>
                  <a:lnTo>
                    <a:pt x="18" y="52"/>
                  </a:lnTo>
                  <a:lnTo>
                    <a:pt x="22" y="50"/>
                  </a:lnTo>
                  <a:lnTo>
                    <a:pt x="24" y="4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47" name="Freeform 127"/>
            <p:cNvSpPr/>
            <p:nvPr/>
          </p:nvSpPr>
          <p:spPr bwMode="auto">
            <a:xfrm>
              <a:off x="2724" y="3004"/>
              <a:ext cx="24" cy="36"/>
            </a:xfrm>
            <a:custGeom>
              <a:avLst/>
              <a:gdLst>
                <a:gd name="T0" fmla="*/ 22 w 24"/>
                <a:gd name="T1" fmla="*/ 0 h 36"/>
                <a:gd name="T2" fmla="*/ 22 w 24"/>
                <a:gd name="T3" fmla="*/ 12 h 36"/>
                <a:gd name="T4" fmla="*/ 20 w 24"/>
                <a:gd name="T5" fmla="*/ 12 h 36"/>
                <a:gd name="T6" fmla="*/ 18 w 24"/>
                <a:gd name="T7" fmla="*/ 6 h 36"/>
                <a:gd name="T8" fmla="*/ 16 w 24"/>
                <a:gd name="T9" fmla="*/ 4 h 36"/>
                <a:gd name="T10" fmla="*/ 14 w 24"/>
                <a:gd name="T11" fmla="*/ 2 h 36"/>
                <a:gd name="T12" fmla="*/ 10 w 24"/>
                <a:gd name="T13" fmla="*/ 2 h 36"/>
                <a:gd name="T14" fmla="*/ 8 w 24"/>
                <a:gd name="T15" fmla="*/ 2 h 36"/>
                <a:gd name="T16" fmla="*/ 6 w 24"/>
                <a:gd name="T17" fmla="*/ 4 h 36"/>
                <a:gd name="T18" fmla="*/ 6 w 24"/>
                <a:gd name="T19" fmla="*/ 4 h 36"/>
                <a:gd name="T20" fmla="*/ 4 w 24"/>
                <a:gd name="T21" fmla="*/ 6 h 36"/>
                <a:gd name="T22" fmla="*/ 6 w 24"/>
                <a:gd name="T23" fmla="*/ 8 h 36"/>
                <a:gd name="T24" fmla="*/ 6 w 24"/>
                <a:gd name="T25" fmla="*/ 10 h 36"/>
                <a:gd name="T26" fmla="*/ 8 w 24"/>
                <a:gd name="T27" fmla="*/ 12 h 36"/>
                <a:gd name="T28" fmla="*/ 10 w 24"/>
                <a:gd name="T29" fmla="*/ 14 h 36"/>
                <a:gd name="T30" fmla="*/ 16 w 24"/>
                <a:gd name="T31" fmla="*/ 16 h 36"/>
                <a:gd name="T32" fmla="*/ 20 w 24"/>
                <a:gd name="T33" fmla="*/ 18 h 36"/>
                <a:gd name="T34" fmla="*/ 24 w 24"/>
                <a:gd name="T35" fmla="*/ 22 h 36"/>
                <a:gd name="T36" fmla="*/ 24 w 24"/>
                <a:gd name="T37" fmla="*/ 26 h 36"/>
                <a:gd name="T38" fmla="*/ 24 w 24"/>
                <a:gd name="T39" fmla="*/ 30 h 36"/>
                <a:gd name="T40" fmla="*/ 20 w 24"/>
                <a:gd name="T41" fmla="*/ 34 h 36"/>
                <a:gd name="T42" fmla="*/ 16 w 24"/>
                <a:gd name="T43" fmla="*/ 36 h 36"/>
                <a:gd name="T44" fmla="*/ 12 w 24"/>
                <a:gd name="T45" fmla="*/ 36 h 36"/>
                <a:gd name="T46" fmla="*/ 8 w 24"/>
                <a:gd name="T47" fmla="*/ 36 h 36"/>
                <a:gd name="T48" fmla="*/ 4 w 24"/>
                <a:gd name="T49" fmla="*/ 36 h 36"/>
                <a:gd name="T50" fmla="*/ 4 w 24"/>
                <a:gd name="T51" fmla="*/ 36 h 36"/>
                <a:gd name="T52" fmla="*/ 2 w 24"/>
                <a:gd name="T53" fmla="*/ 36 h 36"/>
                <a:gd name="T54" fmla="*/ 2 w 24"/>
                <a:gd name="T55" fmla="*/ 36 h 36"/>
                <a:gd name="T56" fmla="*/ 0 w 24"/>
                <a:gd name="T57" fmla="*/ 36 h 36"/>
                <a:gd name="T58" fmla="*/ 0 w 24"/>
                <a:gd name="T59" fmla="*/ 36 h 36"/>
                <a:gd name="T60" fmla="*/ 0 w 24"/>
                <a:gd name="T61" fmla="*/ 24 h 36"/>
                <a:gd name="T62" fmla="*/ 0 w 24"/>
                <a:gd name="T63" fmla="*/ 24 h 36"/>
                <a:gd name="T64" fmla="*/ 2 w 24"/>
                <a:gd name="T65" fmla="*/ 28 h 36"/>
                <a:gd name="T66" fmla="*/ 4 w 24"/>
                <a:gd name="T67" fmla="*/ 32 h 36"/>
                <a:gd name="T68" fmla="*/ 8 w 24"/>
                <a:gd name="T69" fmla="*/ 34 h 36"/>
                <a:gd name="T70" fmla="*/ 12 w 24"/>
                <a:gd name="T71" fmla="*/ 34 h 36"/>
                <a:gd name="T72" fmla="*/ 14 w 24"/>
                <a:gd name="T73" fmla="*/ 34 h 36"/>
                <a:gd name="T74" fmla="*/ 16 w 24"/>
                <a:gd name="T75" fmla="*/ 32 h 36"/>
                <a:gd name="T76" fmla="*/ 18 w 24"/>
                <a:gd name="T77" fmla="*/ 32 h 36"/>
                <a:gd name="T78" fmla="*/ 18 w 24"/>
                <a:gd name="T79" fmla="*/ 28 h 36"/>
                <a:gd name="T80" fmla="*/ 18 w 24"/>
                <a:gd name="T81" fmla="*/ 26 h 36"/>
                <a:gd name="T82" fmla="*/ 16 w 24"/>
                <a:gd name="T83" fmla="*/ 24 h 36"/>
                <a:gd name="T84" fmla="*/ 14 w 24"/>
                <a:gd name="T85" fmla="*/ 22 h 36"/>
                <a:gd name="T86" fmla="*/ 10 w 24"/>
                <a:gd name="T87" fmla="*/ 20 h 36"/>
                <a:gd name="T88" fmla="*/ 4 w 24"/>
                <a:gd name="T89" fmla="*/ 18 h 36"/>
                <a:gd name="T90" fmla="*/ 2 w 24"/>
                <a:gd name="T91" fmla="*/ 14 h 36"/>
                <a:gd name="T92" fmla="*/ 0 w 24"/>
                <a:gd name="T93" fmla="*/ 12 h 36"/>
                <a:gd name="T94" fmla="*/ 0 w 24"/>
                <a:gd name="T95" fmla="*/ 10 h 36"/>
                <a:gd name="T96" fmla="*/ 0 w 24"/>
                <a:gd name="T97" fmla="*/ 6 h 36"/>
                <a:gd name="T98" fmla="*/ 2 w 24"/>
                <a:gd name="T99" fmla="*/ 2 h 36"/>
                <a:gd name="T100" fmla="*/ 6 w 24"/>
                <a:gd name="T101" fmla="*/ 0 h 36"/>
                <a:gd name="T102" fmla="*/ 10 w 24"/>
                <a:gd name="T103" fmla="*/ 0 h 36"/>
                <a:gd name="T104" fmla="*/ 14 w 24"/>
                <a:gd name="T105" fmla="*/ 0 h 36"/>
                <a:gd name="T106" fmla="*/ 16 w 24"/>
                <a:gd name="T107" fmla="*/ 0 h 36"/>
                <a:gd name="T108" fmla="*/ 18 w 24"/>
                <a:gd name="T109" fmla="*/ 0 h 36"/>
                <a:gd name="T110" fmla="*/ 18 w 24"/>
                <a:gd name="T111" fmla="*/ 0 h 36"/>
                <a:gd name="T112" fmla="*/ 20 w 24"/>
                <a:gd name="T113" fmla="*/ 0 h 36"/>
                <a:gd name="T114" fmla="*/ 20 w 24"/>
                <a:gd name="T115" fmla="*/ 0 h 36"/>
                <a:gd name="T116" fmla="*/ 20 w 24"/>
                <a:gd name="T117" fmla="*/ 0 h 36"/>
                <a:gd name="T118" fmla="*/ 20 w 24"/>
                <a:gd name="T119" fmla="*/ 0 h 36"/>
                <a:gd name="T120" fmla="*/ 22 w 24"/>
                <a:gd name="T121" fmla="*/ 0 h 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4"/>
                <a:gd name="T184" fmla="*/ 0 h 36"/>
                <a:gd name="T185" fmla="*/ 24 w 24"/>
                <a:gd name="T186" fmla="*/ 36 h 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4" h="36">
                  <a:moveTo>
                    <a:pt x="22" y="0"/>
                  </a:moveTo>
                  <a:lnTo>
                    <a:pt x="22" y="12"/>
                  </a:lnTo>
                  <a:lnTo>
                    <a:pt x="20" y="12"/>
                  </a:lnTo>
                  <a:lnTo>
                    <a:pt x="18" y="6"/>
                  </a:lnTo>
                  <a:lnTo>
                    <a:pt x="16" y="4"/>
                  </a:lnTo>
                  <a:lnTo>
                    <a:pt x="14" y="2"/>
                  </a:lnTo>
                  <a:lnTo>
                    <a:pt x="10" y="2"/>
                  </a:lnTo>
                  <a:lnTo>
                    <a:pt x="8" y="2"/>
                  </a:lnTo>
                  <a:lnTo>
                    <a:pt x="6" y="4"/>
                  </a:lnTo>
                  <a:lnTo>
                    <a:pt x="4" y="6"/>
                  </a:lnTo>
                  <a:lnTo>
                    <a:pt x="6" y="8"/>
                  </a:lnTo>
                  <a:lnTo>
                    <a:pt x="6" y="10"/>
                  </a:lnTo>
                  <a:lnTo>
                    <a:pt x="8" y="12"/>
                  </a:lnTo>
                  <a:lnTo>
                    <a:pt x="10" y="14"/>
                  </a:lnTo>
                  <a:lnTo>
                    <a:pt x="16" y="16"/>
                  </a:lnTo>
                  <a:lnTo>
                    <a:pt x="20" y="18"/>
                  </a:lnTo>
                  <a:lnTo>
                    <a:pt x="24" y="22"/>
                  </a:lnTo>
                  <a:lnTo>
                    <a:pt x="24" y="26"/>
                  </a:lnTo>
                  <a:lnTo>
                    <a:pt x="24" y="30"/>
                  </a:lnTo>
                  <a:lnTo>
                    <a:pt x="20" y="34"/>
                  </a:lnTo>
                  <a:lnTo>
                    <a:pt x="16" y="36"/>
                  </a:lnTo>
                  <a:lnTo>
                    <a:pt x="12" y="36"/>
                  </a:lnTo>
                  <a:lnTo>
                    <a:pt x="8" y="36"/>
                  </a:lnTo>
                  <a:lnTo>
                    <a:pt x="4" y="36"/>
                  </a:lnTo>
                  <a:lnTo>
                    <a:pt x="2" y="36"/>
                  </a:lnTo>
                  <a:lnTo>
                    <a:pt x="0" y="36"/>
                  </a:lnTo>
                  <a:lnTo>
                    <a:pt x="0" y="24"/>
                  </a:lnTo>
                  <a:lnTo>
                    <a:pt x="2" y="28"/>
                  </a:lnTo>
                  <a:lnTo>
                    <a:pt x="4" y="32"/>
                  </a:lnTo>
                  <a:lnTo>
                    <a:pt x="8" y="34"/>
                  </a:lnTo>
                  <a:lnTo>
                    <a:pt x="12" y="34"/>
                  </a:lnTo>
                  <a:lnTo>
                    <a:pt x="14" y="34"/>
                  </a:lnTo>
                  <a:lnTo>
                    <a:pt x="16" y="32"/>
                  </a:lnTo>
                  <a:lnTo>
                    <a:pt x="18" y="32"/>
                  </a:lnTo>
                  <a:lnTo>
                    <a:pt x="18" y="28"/>
                  </a:lnTo>
                  <a:lnTo>
                    <a:pt x="18" y="26"/>
                  </a:lnTo>
                  <a:lnTo>
                    <a:pt x="16" y="24"/>
                  </a:lnTo>
                  <a:lnTo>
                    <a:pt x="14" y="22"/>
                  </a:lnTo>
                  <a:lnTo>
                    <a:pt x="10" y="20"/>
                  </a:lnTo>
                  <a:lnTo>
                    <a:pt x="4" y="18"/>
                  </a:lnTo>
                  <a:lnTo>
                    <a:pt x="2" y="14"/>
                  </a:lnTo>
                  <a:lnTo>
                    <a:pt x="0" y="12"/>
                  </a:lnTo>
                  <a:lnTo>
                    <a:pt x="0" y="10"/>
                  </a:ln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0"/>
                  </a:lnTo>
                  <a:lnTo>
                    <a:pt x="14" y="0"/>
                  </a:lnTo>
                  <a:lnTo>
                    <a:pt x="16" y="0"/>
                  </a:lnTo>
                  <a:lnTo>
                    <a:pt x="18" y="0"/>
                  </a:lnTo>
                  <a:lnTo>
                    <a:pt x="20" y="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48" name="Freeform 128"/>
            <p:cNvSpPr>
              <a:spLocks noEditPoints="1"/>
            </p:cNvSpPr>
            <p:nvPr/>
          </p:nvSpPr>
          <p:spPr bwMode="auto">
            <a:xfrm>
              <a:off x="2754" y="3004"/>
              <a:ext cx="32" cy="36"/>
            </a:xfrm>
            <a:custGeom>
              <a:avLst/>
              <a:gdLst>
                <a:gd name="T0" fmla="*/ 14 w 32"/>
                <a:gd name="T1" fmla="*/ 34 h 36"/>
                <a:gd name="T2" fmla="*/ 10 w 32"/>
                <a:gd name="T3" fmla="*/ 36 h 36"/>
                <a:gd name="T4" fmla="*/ 4 w 32"/>
                <a:gd name="T5" fmla="*/ 36 h 36"/>
                <a:gd name="T6" fmla="*/ 0 w 32"/>
                <a:gd name="T7" fmla="*/ 32 h 36"/>
                <a:gd name="T8" fmla="*/ 0 w 32"/>
                <a:gd name="T9" fmla="*/ 26 h 36"/>
                <a:gd name="T10" fmla="*/ 2 w 32"/>
                <a:gd name="T11" fmla="*/ 20 h 36"/>
                <a:gd name="T12" fmla="*/ 12 w 32"/>
                <a:gd name="T13" fmla="*/ 16 h 36"/>
                <a:gd name="T14" fmla="*/ 20 w 32"/>
                <a:gd name="T15" fmla="*/ 12 h 36"/>
                <a:gd name="T16" fmla="*/ 18 w 32"/>
                <a:gd name="T17" fmla="*/ 4 h 36"/>
                <a:gd name="T18" fmla="*/ 12 w 32"/>
                <a:gd name="T19" fmla="*/ 2 h 36"/>
                <a:gd name="T20" fmla="*/ 8 w 32"/>
                <a:gd name="T21" fmla="*/ 4 h 36"/>
                <a:gd name="T22" fmla="*/ 8 w 32"/>
                <a:gd name="T23" fmla="*/ 6 h 36"/>
                <a:gd name="T24" fmla="*/ 8 w 32"/>
                <a:gd name="T25" fmla="*/ 10 h 36"/>
                <a:gd name="T26" fmla="*/ 6 w 32"/>
                <a:gd name="T27" fmla="*/ 12 h 36"/>
                <a:gd name="T28" fmla="*/ 2 w 32"/>
                <a:gd name="T29" fmla="*/ 12 h 36"/>
                <a:gd name="T30" fmla="*/ 0 w 32"/>
                <a:gd name="T31" fmla="*/ 10 h 36"/>
                <a:gd name="T32" fmla="*/ 2 w 32"/>
                <a:gd name="T33" fmla="*/ 6 h 36"/>
                <a:gd name="T34" fmla="*/ 8 w 32"/>
                <a:gd name="T35" fmla="*/ 0 h 36"/>
                <a:gd name="T36" fmla="*/ 18 w 32"/>
                <a:gd name="T37" fmla="*/ 0 h 36"/>
                <a:gd name="T38" fmla="*/ 24 w 32"/>
                <a:gd name="T39" fmla="*/ 2 h 36"/>
                <a:gd name="T40" fmla="*/ 26 w 32"/>
                <a:gd name="T41" fmla="*/ 8 h 36"/>
                <a:gd name="T42" fmla="*/ 26 w 32"/>
                <a:gd name="T43" fmla="*/ 24 h 36"/>
                <a:gd name="T44" fmla="*/ 26 w 32"/>
                <a:gd name="T45" fmla="*/ 30 h 36"/>
                <a:gd name="T46" fmla="*/ 26 w 32"/>
                <a:gd name="T47" fmla="*/ 32 h 36"/>
                <a:gd name="T48" fmla="*/ 28 w 32"/>
                <a:gd name="T49" fmla="*/ 32 h 36"/>
                <a:gd name="T50" fmla="*/ 28 w 32"/>
                <a:gd name="T51" fmla="*/ 32 h 36"/>
                <a:gd name="T52" fmla="*/ 32 w 32"/>
                <a:gd name="T53" fmla="*/ 30 h 36"/>
                <a:gd name="T54" fmla="*/ 28 w 32"/>
                <a:gd name="T55" fmla="*/ 36 h 36"/>
                <a:gd name="T56" fmla="*/ 22 w 32"/>
                <a:gd name="T57" fmla="*/ 36 h 36"/>
                <a:gd name="T58" fmla="*/ 20 w 32"/>
                <a:gd name="T59" fmla="*/ 34 h 36"/>
                <a:gd name="T60" fmla="*/ 20 w 32"/>
                <a:gd name="T61" fmla="*/ 28 h 36"/>
                <a:gd name="T62" fmla="*/ 14 w 32"/>
                <a:gd name="T63" fmla="*/ 18 h 36"/>
                <a:gd name="T64" fmla="*/ 8 w 32"/>
                <a:gd name="T65" fmla="*/ 20 h 36"/>
                <a:gd name="T66" fmla="*/ 6 w 32"/>
                <a:gd name="T67" fmla="*/ 24 h 36"/>
                <a:gd name="T68" fmla="*/ 6 w 32"/>
                <a:gd name="T69" fmla="*/ 28 h 36"/>
                <a:gd name="T70" fmla="*/ 10 w 32"/>
                <a:gd name="T71" fmla="*/ 32 h 36"/>
                <a:gd name="T72" fmla="*/ 14 w 32"/>
                <a:gd name="T73" fmla="*/ 30 h 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32"/>
                <a:gd name="T112" fmla="*/ 0 h 36"/>
                <a:gd name="T113" fmla="*/ 32 w 32"/>
                <a:gd name="T114" fmla="*/ 36 h 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32" h="36">
                  <a:moveTo>
                    <a:pt x="20" y="30"/>
                  </a:moveTo>
                  <a:lnTo>
                    <a:pt x="14" y="34"/>
                  </a:lnTo>
                  <a:lnTo>
                    <a:pt x="12" y="36"/>
                  </a:lnTo>
                  <a:lnTo>
                    <a:pt x="10" y="36"/>
                  </a:lnTo>
                  <a:lnTo>
                    <a:pt x="8" y="36"/>
                  </a:lnTo>
                  <a:lnTo>
                    <a:pt x="4" y="36"/>
                  </a:lnTo>
                  <a:lnTo>
                    <a:pt x="2" y="34"/>
                  </a:lnTo>
                  <a:lnTo>
                    <a:pt x="0" y="32"/>
                  </a:lnTo>
                  <a:lnTo>
                    <a:pt x="0" y="28"/>
                  </a:lnTo>
                  <a:lnTo>
                    <a:pt x="0" y="26"/>
                  </a:lnTo>
                  <a:lnTo>
                    <a:pt x="0" y="24"/>
                  </a:lnTo>
                  <a:lnTo>
                    <a:pt x="2" y="20"/>
                  </a:lnTo>
                  <a:lnTo>
                    <a:pt x="6" y="18"/>
                  </a:lnTo>
                  <a:lnTo>
                    <a:pt x="12" y="16"/>
                  </a:lnTo>
                  <a:lnTo>
                    <a:pt x="20" y="12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6" y="2"/>
                  </a:lnTo>
                  <a:lnTo>
                    <a:pt x="12" y="2"/>
                  </a:lnTo>
                  <a:lnTo>
                    <a:pt x="10" y="2"/>
                  </a:lnTo>
                  <a:lnTo>
                    <a:pt x="8" y="4"/>
                  </a:lnTo>
                  <a:lnTo>
                    <a:pt x="8" y="6"/>
                  </a:lnTo>
                  <a:lnTo>
                    <a:pt x="8" y="8"/>
                  </a:lnTo>
                  <a:lnTo>
                    <a:pt x="8" y="10"/>
                  </a:lnTo>
                  <a:lnTo>
                    <a:pt x="6" y="12"/>
                  </a:lnTo>
                  <a:lnTo>
                    <a:pt x="4" y="12"/>
                  </a:lnTo>
                  <a:lnTo>
                    <a:pt x="2" y="12"/>
                  </a:lnTo>
                  <a:lnTo>
                    <a:pt x="0" y="10"/>
                  </a:lnTo>
                  <a:lnTo>
                    <a:pt x="0" y="8"/>
                  </a:lnTo>
                  <a:lnTo>
                    <a:pt x="2" y="6"/>
                  </a:lnTo>
                  <a:lnTo>
                    <a:pt x="4" y="2"/>
                  </a:lnTo>
                  <a:lnTo>
                    <a:pt x="8" y="0"/>
                  </a:lnTo>
                  <a:lnTo>
                    <a:pt x="14" y="0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4" y="2"/>
                  </a:lnTo>
                  <a:lnTo>
                    <a:pt x="24" y="4"/>
                  </a:lnTo>
                  <a:lnTo>
                    <a:pt x="26" y="8"/>
                  </a:lnTo>
                  <a:lnTo>
                    <a:pt x="26" y="12"/>
                  </a:lnTo>
                  <a:lnTo>
                    <a:pt x="26" y="24"/>
                  </a:lnTo>
                  <a:lnTo>
                    <a:pt x="26" y="28"/>
                  </a:lnTo>
                  <a:lnTo>
                    <a:pt x="26" y="30"/>
                  </a:lnTo>
                  <a:lnTo>
                    <a:pt x="26" y="32"/>
                  </a:lnTo>
                  <a:lnTo>
                    <a:pt x="28" y="32"/>
                  </a:lnTo>
                  <a:lnTo>
                    <a:pt x="30" y="30"/>
                  </a:lnTo>
                  <a:lnTo>
                    <a:pt x="32" y="30"/>
                  </a:lnTo>
                  <a:lnTo>
                    <a:pt x="32" y="32"/>
                  </a:lnTo>
                  <a:lnTo>
                    <a:pt x="28" y="36"/>
                  </a:lnTo>
                  <a:lnTo>
                    <a:pt x="24" y="36"/>
                  </a:lnTo>
                  <a:lnTo>
                    <a:pt x="22" y="36"/>
                  </a:lnTo>
                  <a:lnTo>
                    <a:pt x="20" y="36"/>
                  </a:lnTo>
                  <a:lnTo>
                    <a:pt x="20" y="34"/>
                  </a:lnTo>
                  <a:lnTo>
                    <a:pt x="20" y="30"/>
                  </a:lnTo>
                  <a:close/>
                  <a:moveTo>
                    <a:pt x="20" y="28"/>
                  </a:moveTo>
                  <a:lnTo>
                    <a:pt x="20" y="16"/>
                  </a:lnTo>
                  <a:lnTo>
                    <a:pt x="14" y="18"/>
                  </a:lnTo>
                  <a:lnTo>
                    <a:pt x="12" y="18"/>
                  </a:lnTo>
                  <a:lnTo>
                    <a:pt x="8" y="20"/>
                  </a:lnTo>
                  <a:lnTo>
                    <a:pt x="8" y="22"/>
                  </a:lnTo>
                  <a:lnTo>
                    <a:pt x="6" y="24"/>
                  </a:lnTo>
                  <a:lnTo>
                    <a:pt x="6" y="26"/>
                  </a:lnTo>
                  <a:lnTo>
                    <a:pt x="6" y="28"/>
                  </a:lnTo>
                  <a:lnTo>
                    <a:pt x="8" y="30"/>
                  </a:lnTo>
                  <a:lnTo>
                    <a:pt x="10" y="32"/>
                  </a:lnTo>
                  <a:lnTo>
                    <a:pt x="12" y="32"/>
                  </a:lnTo>
                  <a:lnTo>
                    <a:pt x="14" y="30"/>
                  </a:lnTo>
                  <a:lnTo>
                    <a:pt x="20" y="2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49" name="Freeform 129"/>
            <p:cNvSpPr/>
            <p:nvPr/>
          </p:nvSpPr>
          <p:spPr bwMode="auto">
            <a:xfrm>
              <a:off x="2788" y="3004"/>
              <a:ext cx="30" cy="36"/>
            </a:xfrm>
            <a:custGeom>
              <a:avLst/>
              <a:gdLst>
                <a:gd name="T0" fmla="*/ 30 w 30"/>
                <a:gd name="T1" fmla="*/ 22 h 36"/>
                <a:gd name="T2" fmla="*/ 28 w 30"/>
                <a:gd name="T3" fmla="*/ 28 h 36"/>
                <a:gd name="T4" fmla="*/ 26 w 30"/>
                <a:gd name="T5" fmla="*/ 34 h 36"/>
                <a:gd name="T6" fmla="*/ 20 w 30"/>
                <a:gd name="T7" fmla="*/ 36 h 36"/>
                <a:gd name="T8" fmla="*/ 16 w 30"/>
                <a:gd name="T9" fmla="*/ 36 h 36"/>
                <a:gd name="T10" fmla="*/ 10 w 30"/>
                <a:gd name="T11" fmla="*/ 36 h 36"/>
                <a:gd name="T12" fmla="*/ 6 w 30"/>
                <a:gd name="T13" fmla="*/ 32 h 36"/>
                <a:gd name="T14" fmla="*/ 2 w 30"/>
                <a:gd name="T15" fmla="*/ 28 h 36"/>
                <a:gd name="T16" fmla="*/ 2 w 30"/>
                <a:gd name="T17" fmla="*/ 24 h 36"/>
                <a:gd name="T18" fmla="*/ 0 w 30"/>
                <a:gd name="T19" fmla="*/ 18 h 36"/>
                <a:gd name="T20" fmla="*/ 2 w 30"/>
                <a:gd name="T21" fmla="*/ 12 h 36"/>
                <a:gd name="T22" fmla="*/ 4 w 30"/>
                <a:gd name="T23" fmla="*/ 8 h 36"/>
                <a:gd name="T24" fmla="*/ 6 w 30"/>
                <a:gd name="T25" fmla="*/ 4 h 36"/>
                <a:gd name="T26" fmla="*/ 12 w 30"/>
                <a:gd name="T27" fmla="*/ 0 h 36"/>
                <a:gd name="T28" fmla="*/ 18 w 30"/>
                <a:gd name="T29" fmla="*/ 0 h 36"/>
                <a:gd name="T30" fmla="*/ 22 w 30"/>
                <a:gd name="T31" fmla="*/ 0 h 36"/>
                <a:gd name="T32" fmla="*/ 26 w 30"/>
                <a:gd name="T33" fmla="*/ 2 h 36"/>
                <a:gd name="T34" fmla="*/ 28 w 30"/>
                <a:gd name="T35" fmla="*/ 4 h 36"/>
                <a:gd name="T36" fmla="*/ 30 w 30"/>
                <a:gd name="T37" fmla="*/ 8 h 36"/>
                <a:gd name="T38" fmla="*/ 28 w 30"/>
                <a:gd name="T39" fmla="*/ 10 h 36"/>
                <a:gd name="T40" fmla="*/ 28 w 30"/>
                <a:gd name="T41" fmla="*/ 10 h 36"/>
                <a:gd name="T42" fmla="*/ 28 w 30"/>
                <a:gd name="T43" fmla="*/ 10 h 36"/>
                <a:gd name="T44" fmla="*/ 26 w 30"/>
                <a:gd name="T45" fmla="*/ 10 h 36"/>
                <a:gd name="T46" fmla="*/ 24 w 30"/>
                <a:gd name="T47" fmla="*/ 10 h 36"/>
                <a:gd name="T48" fmla="*/ 22 w 30"/>
                <a:gd name="T49" fmla="*/ 10 h 36"/>
                <a:gd name="T50" fmla="*/ 22 w 30"/>
                <a:gd name="T51" fmla="*/ 8 h 36"/>
                <a:gd name="T52" fmla="*/ 22 w 30"/>
                <a:gd name="T53" fmla="*/ 6 h 36"/>
                <a:gd name="T54" fmla="*/ 22 w 30"/>
                <a:gd name="T55" fmla="*/ 4 h 36"/>
                <a:gd name="T56" fmla="*/ 20 w 30"/>
                <a:gd name="T57" fmla="*/ 2 h 36"/>
                <a:gd name="T58" fmla="*/ 18 w 30"/>
                <a:gd name="T59" fmla="*/ 2 h 36"/>
                <a:gd name="T60" fmla="*/ 16 w 30"/>
                <a:gd name="T61" fmla="*/ 2 h 36"/>
                <a:gd name="T62" fmla="*/ 14 w 30"/>
                <a:gd name="T63" fmla="*/ 2 h 36"/>
                <a:gd name="T64" fmla="*/ 10 w 30"/>
                <a:gd name="T65" fmla="*/ 4 h 36"/>
                <a:gd name="T66" fmla="*/ 8 w 30"/>
                <a:gd name="T67" fmla="*/ 8 h 36"/>
                <a:gd name="T68" fmla="*/ 8 w 30"/>
                <a:gd name="T69" fmla="*/ 14 h 36"/>
                <a:gd name="T70" fmla="*/ 8 w 30"/>
                <a:gd name="T71" fmla="*/ 20 h 36"/>
                <a:gd name="T72" fmla="*/ 10 w 30"/>
                <a:gd name="T73" fmla="*/ 26 h 36"/>
                <a:gd name="T74" fmla="*/ 14 w 30"/>
                <a:gd name="T75" fmla="*/ 28 h 36"/>
                <a:gd name="T76" fmla="*/ 20 w 30"/>
                <a:gd name="T77" fmla="*/ 30 h 36"/>
                <a:gd name="T78" fmla="*/ 22 w 30"/>
                <a:gd name="T79" fmla="*/ 30 h 36"/>
                <a:gd name="T80" fmla="*/ 26 w 30"/>
                <a:gd name="T81" fmla="*/ 28 h 36"/>
                <a:gd name="T82" fmla="*/ 28 w 30"/>
                <a:gd name="T83" fmla="*/ 26 h 36"/>
                <a:gd name="T84" fmla="*/ 30 w 30"/>
                <a:gd name="T85" fmla="*/ 20 h 36"/>
                <a:gd name="T86" fmla="*/ 30 w 30"/>
                <a:gd name="T87" fmla="*/ 22 h 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0"/>
                <a:gd name="T133" fmla="*/ 0 h 36"/>
                <a:gd name="T134" fmla="*/ 30 w 30"/>
                <a:gd name="T135" fmla="*/ 36 h 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0" h="36">
                  <a:moveTo>
                    <a:pt x="30" y="22"/>
                  </a:moveTo>
                  <a:lnTo>
                    <a:pt x="28" y="28"/>
                  </a:lnTo>
                  <a:lnTo>
                    <a:pt x="26" y="34"/>
                  </a:lnTo>
                  <a:lnTo>
                    <a:pt x="20" y="36"/>
                  </a:lnTo>
                  <a:lnTo>
                    <a:pt x="16" y="36"/>
                  </a:lnTo>
                  <a:lnTo>
                    <a:pt x="10" y="36"/>
                  </a:lnTo>
                  <a:lnTo>
                    <a:pt x="6" y="32"/>
                  </a:lnTo>
                  <a:lnTo>
                    <a:pt x="2" y="28"/>
                  </a:lnTo>
                  <a:lnTo>
                    <a:pt x="2" y="24"/>
                  </a:lnTo>
                  <a:lnTo>
                    <a:pt x="0" y="18"/>
                  </a:lnTo>
                  <a:lnTo>
                    <a:pt x="2" y="12"/>
                  </a:lnTo>
                  <a:lnTo>
                    <a:pt x="4" y="8"/>
                  </a:lnTo>
                  <a:lnTo>
                    <a:pt x="6" y="4"/>
                  </a:lnTo>
                  <a:lnTo>
                    <a:pt x="12" y="0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6" y="2"/>
                  </a:lnTo>
                  <a:lnTo>
                    <a:pt x="28" y="4"/>
                  </a:lnTo>
                  <a:lnTo>
                    <a:pt x="30" y="8"/>
                  </a:lnTo>
                  <a:lnTo>
                    <a:pt x="28" y="10"/>
                  </a:lnTo>
                  <a:lnTo>
                    <a:pt x="26" y="10"/>
                  </a:lnTo>
                  <a:lnTo>
                    <a:pt x="24" y="10"/>
                  </a:lnTo>
                  <a:lnTo>
                    <a:pt x="22" y="10"/>
                  </a:lnTo>
                  <a:lnTo>
                    <a:pt x="22" y="8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0" y="2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4" y="2"/>
                  </a:lnTo>
                  <a:lnTo>
                    <a:pt x="10" y="4"/>
                  </a:lnTo>
                  <a:lnTo>
                    <a:pt x="8" y="8"/>
                  </a:lnTo>
                  <a:lnTo>
                    <a:pt x="8" y="14"/>
                  </a:lnTo>
                  <a:lnTo>
                    <a:pt x="8" y="20"/>
                  </a:lnTo>
                  <a:lnTo>
                    <a:pt x="10" y="26"/>
                  </a:lnTo>
                  <a:lnTo>
                    <a:pt x="14" y="28"/>
                  </a:lnTo>
                  <a:lnTo>
                    <a:pt x="20" y="30"/>
                  </a:lnTo>
                  <a:lnTo>
                    <a:pt x="22" y="30"/>
                  </a:lnTo>
                  <a:lnTo>
                    <a:pt x="26" y="28"/>
                  </a:lnTo>
                  <a:lnTo>
                    <a:pt x="28" y="26"/>
                  </a:lnTo>
                  <a:lnTo>
                    <a:pt x="30" y="20"/>
                  </a:lnTo>
                  <a:lnTo>
                    <a:pt x="30" y="2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50" name="Freeform 130"/>
            <p:cNvSpPr/>
            <p:nvPr/>
          </p:nvSpPr>
          <p:spPr bwMode="auto">
            <a:xfrm>
              <a:off x="2824" y="2984"/>
              <a:ext cx="38" cy="56"/>
            </a:xfrm>
            <a:custGeom>
              <a:avLst/>
              <a:gdLst>
                <a:gd name="T0" fmla="*/ 10 w 38"/>
                <a:gd name="T1" fmla="*/ 36 h 56"/>
                <a:gd name="T2" fmla="*/ 22 w 38"/>
                <a:gd name="T3" fmla="*/ 26 h 56"/>
                <a:gd name="T4" fmla="*/ 24 w 38"/>
                <a:gd name="T5" fmla="*/ 24 h 56"/>
                <a:gd name="T6" fmla="*/ 24 w 38"/>
                <a:gd name="T7" fmla="*/ 22 h 56"/>
                <a:gd name="T8" fmla="*/ 22 w 38"/>
                <a:gd name="T9" fmla="*/ 22 h 56"/>
                <a:gd name="T10" fmla="*/ 22 w 38"/>
                <a:gd name="T11" fmla="*/ 20 h 56"/>
                <a:gd name="T12" fmla="*/ 36 w 38"/>
                <a:gd name="T13" fmla="*/ 20 h 56"/>
                <a:gd name="T14" fmla="*/ 32 w 38"/>
                <a:gd name="T15" fmla="*/ 22 h 56"/>
                <a:gd name="T16" fmla="*/ 26 w 38"/>
                <a:gd name="T17" fmla="*/ 26 h 56"/>
                <a:gd name="T18" fmla="*/ 26 w 38"/>
                <a:gd name="T19" fmla="*/ 46 h 56"/>
                <a:gd name="T20" fmla="*/ 32 w 38"/>
                <a:gd name="T21" fmla="*/ 52 h 56"/>
                <a:gd name="T22" fmla="*/ 36 w 38"/>
                <a:gd name="T23" fmla="*/ 54 h 56"/>
                <a:gd name="T24" fmla="*/ 38 w 38"/>
                <a:gd name="T25" fmla="*/ 54 h 56"/>
                <a:gd name="T26" fmla="*/ 22 w 38"/>
                <a:gd name="T27" fmla="*/ 56 h 56"/>
                <a:gd name="T28" fmla="*/ 22 w 38"/>
                <a:gd name="T29" fmla="*/ 56 h 56"/>
                <a:gd name="T30" fmla="*/ 24 w 38"/>
                <a:gd name="T31" fmla="*/ 54 h 56"/>
                <a:gd name="T32" fmla="*/ 24 w 38"/>
                <a:gd name="T33" fmla="*/ 52 h 56"/>
                <a:gd name="T34" fmla="*/ 10 w 38"/>
                <a:gd name="T35" fmla="*/ 36 h 56"/>
                <a:gd name="T36" fmla="*/ 10 w 38"/>
                <a:gd name="T37" fmla="*/ 50 h 56"/>
                <a:gd name="T38" fmla="*/ 12 w 38"/>
                <a:gd name="T39" fmla="*/ 54 h 56"/>
                <a:gd name="T40" fmla="*/ 14 w 38"/>
                <a:gd name="T41" fmla="*/ 56 h 56"/>
                <a:gd name="T42" fmla="*/ 16 w 38"/>
                <a:gd name="T43" fmla="*/ 56 h 56"/>
                <a:gd name="T44" fmla="*/ 0 w 38"/>
                <a:gd name="T45" fmla="*/ 56 h 56"/>
                <a:gd name="T46" fmla="*/ 2 w 38"/>
                <a:gd name="T47" fmla="*/ 54 h 56"/>
                <a:gd name="T48" fmla="*/ 4 w 38"/>
                <a:gd name="T49" fmla="*/ 52 h 56"/>
                <a:gd name="T50" fmla="*/ 4 w 38"/>
                <a:gd name="T51" fmla="*/ 48 h 56"/>
                <a:gd name="T52" fmla="*/ 4 w 38"/>
                <a:gd name="T53" fmla="*/ 10 h 56"/>
                <a:gd name="T54" fmla="*/ 4 w 38"/>
                <a:gd name="T55" fmla="*/ 6 h 56"/>
                <a:gd name="T56" fmla="*/ 2 w 38"/>
                <a:gd name="T57" fmla="*/ 4 h 56"/>
                <a:gd name="T58" fmla="*/ 0 w 38"/>
                <a:gd name="T59" fmla="*/ 4 h 56"/>
                <a:gd name="T60" fmla="*/ 0 w 38"/>
                <a:gd name="T61" fmla="*/ 4 h 56"/>
                <a:gd name="T62" fmla="*/ 10 w 38"/>
                <a:gd name="T63" fmla="*/ 0 h 5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38"/>
                <a:gd name="T97" fmla="*/ 0 h 56"/>
                <a:gd name="T98" fmla="*/ 38 w 38"/>
                <a:gd name="T99" fmla="*/ 56 h 5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38" h="56">
                  <a:moveTo>
                    <a:pt x="10" y="0"/>
                  </a:moveTo>
                  <a:lnTo>
                    <a:pt x="10" y="36"/>
                  </a:lnTo>
                  <a:lnTo>
                    <a:pt x="20" y="28"/>
                  </a:lnTo>
                  <a:lnTo>
                    <a:pt x="22" y="26"/>
                  </a:lnTo>
                  <a:lnTo>
                    <a:pt x="24" y="24"/>
                  </a:lnTo>
                  <a:lnTo>
                    <a:pt x="24" y="22"/>
                  </a:lnTo>
                  <a:lnTo>
                    <a:pt x="22" y="22"/>
                  </a:lnTo>
                  <a:lnTo>
                    <a:pt x="22" y="20"/>
                  </a:lnTo>
                  <a:lnTo>
                    <a:pt x="36" y="20"/>
                  </a:lnTo>
                  <a:lnTo>
                    <a:pt x="34" y="22"/>
                  </a:lnTo>
                  <a:lnTo>
                    <a:pt x="32" y="22"/>
                  </a:lnTo>
                  <a:lnTo>
                    <a:pt x="30" y="24"/>
                  </a:lnTo>
                  <a:lnTo>
                    <a:pt x="26" y="26"/>
                  </a:lnTo>
                  <a:lnTo>
                    <a:pt x="18" y="34"/>
                  </a:lnTo>
                  <a:lnTo>
                    <a:pt x="26" y="46"/>
                  </a:lnTo>
                  <a:lnTo>
                    <a:pt x="30" y="50"/>
                  </a:lnTo>
                  <a:lnTo>
                    <a:pt x="32" y="52"/>
                  </a:lnTo>
                  <a:lnTo>
                    <a:pt x="34" y="54"/>
                  </a:lnTo>
                  <a:lnTo>
                    <a:pt x="36" y="54"/>
                  </a:lnTo>
                  <a:lnTo>
                    <a:pt x="38" y="54"/>
                  </a:lnTo>
                  <a:lnTo>
                    <a:pt x="38" y="56"/>
                  </a:lnTo>
                  <a:lnTo>
                    <a:pt x="22" y="56"/>
                  </a:lnTo>
                  <a:lnTo>
                    <a:pt x="24" y="54"/>
                  </a:lnTo>
                  <a:lnTo>
                    <a:pt x="24" y="52"/>
                  </a:lnTo>
                  <a:lnTo>
                    <a:pt x="22" y="50"/>
                  </a:lnTo>
                  <a:lnTo>
                    <a:pt x="10" y="36"/>
                  </a:lnTo>
                  <a:lnTo>
                    <a:pt x="10" y="48"/>
                  </a:lnTo>
                  <a:lnTo>
                    <a:pt x="10" y="50"/>
                  </a:lnTo>
                  <a:lnTo>
                    <a:pt x="12" y="52"/>
                  </a:lnTo>
                  <a:lnTo>
                    <a:pt x="12" y="54"/>
                  </a:lnTo>
                  <a:lnTo>
                    <a:pt x="14" y="56"/>
                  </a:lnTo>
                  <a:lnTo>
                    <a:pt x="16" y="56"/>
                  </a:lnTo>
                  <a:lnTo>
                    <a:pt x="0" y="56"/>
                  </a:lnTo>
                  <a:lnTo>
                    <a:pt x="2" y="54"/>
                  </a:lnTo>
                  <a:lnTo>
                    <a:pt x="4" y="54"/>
                  </a:lnTo>
                  <a:lnTo>
                    <a:pt x="4" y="52"/>
                  </a:lnTo>
                  <a:lnTo>
                    <a:pt x="4" y="50"/>
                  </a:lnTo>
                  <a:lnTo>
                    <a:pt x="4" y="48"/>
                  </a:lnTo>
                  <a:lnTo>
                    <a:pt x="4" y="16"/>
                  </a:lnTo>
                  <a:lnTo>
                    <a:pt x="4" y="10"/>
                  </a:lnTo>
                  <a:lnTo>
                    <a:pt x="4" y="8"/>
                  </a:lnTo>
                  <a:lnTo>
                    <a:pt x="4" y="6"/>
                  </a:lnTo>
                  <a:lnTo>
                    <a:pt x="2" y="4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4"/>
                  </a:lnTo>
                  <a:lnTo>
                    <a:pt x="8" y="0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51" name="Freeform 131"/>
            <p:cNvSpPr/>
            <p:nvPr/>
          </p:nvSpPr>
          <p:spPr bwMode="auto">
            <a:xfrm>
              <a:off x="2866" y="3004"/>
              <a:ext cx="24" cy="36"/>
            </a:xfrm>
            <a:custGeom>
              <a:avLst/>
              <a:gdLst>
                <a:gd name="T0" fmla="*/ 22 w 24"/>
                <a:gd name="T1" fmla="*/ 0 h 36"/>
                <a:gd name="T2" fmla="*/ 22 w 24"/>
                <a:gd name="T3" fmla="*/ 12 h 36"/>
                <a:gd name="T4" fmla="*/ 22 w 24"/>
                <a:gd name="T5" fmla="*/ 12 h 36"/>
                <a:gd name="T6" fmla="*/ 20 w 24"/>
                <a:gd name="T7" fmla="*/ 6 h 36"/>
                <a:gd name="T8" fmla="*/ 18 w 24"/>
                <a:gd name="T9" fmla="*/ 4 h 36"/>
                <a:gd name="T10" fmla="*/ 14 w 24"/>
                <a:gd name="T11" fmla="*/ 2 h 36"/>
                <a:gd name="T12" fmla="*/ 12 w 24"/>
                <a:gd name="T13" fmla="*/ 2 h 36"/>
                <a:gd name="T14" fmla="*/ 8 w 24"/>
                <a:gd name="T15" fmla="*/ 2 h 36"/>
                <a:gd name="T16" fmla="*/ 8 w 24"/>
                <a:gd name="T17" fmla="*/ 4 h 36"/>
                <a:gd name="T18" fmla="*/ 6 w 24"/>
                <a:gd name="T19" fmla="*/ 4 h 36"/>
                <a:gd name="T20" fmla="*/ 6 w 24"/>
                <a:gd name="T21" fmla="*/ 6 h 36"/>
                <a:gd name="T22" fmla="*/ 6 w 24"/>
                <a:gd name="T23" fmla="*/ 8 h 36"/>
                <a:gd name="T24" fmla="*/ 6 w 24"/>
                <a:gd name="T25" fmla="*/ 10 h 36"/>
                <a:gd name="T26" fmla="*/ 8 w 24"/>
                <a:gd name="T27" fmla="*/ 12 h 36"/>
                <a:gd name="T28" fmla="*/ 12 w 24"/>
                <a:gd name="T29" fmla="*/ 14 h 36"/>
                <a:gd name="T30" fmla="*/ 16 w 24"/>
                <a:gd name="T31" fmla="*/ 16 h 36"/>
                <a:gd name="T32" fmla="*/ 22 w 24"/>
                <a:gd name="T33" fmla="*/ 18 h 36"/>
                <a:gd name="T34" fmla="*/ 24 w 24"/>
                <a:gd name="T35" fmla="*/ 22 h 36"/>
                <a:gd name="T36" fmla="*/ 24 w 24"/>
                <a:gd name="T37" fmla="*/ 26 h 36"/>
                <a:gd name="T38" fmla="*/ 24 w 24"/>
                <a:gd name="T39" fmla="*/ 30 h 36"/>
                <a:gd name="T40" fmla="*/ 20 w 24"/>
                <a:gd name="T41" fmla="*/ 34 h 36"/>
                <a:gd name="T42" fmla="*/ 16 w 24"/>
                <a:gd name="T43" fmla="*/ 36 h 36"/>
                <a:gd name="T44" fmla="*/ 12 w 24"/>
                <a:gd name="T45" fmla="*/ 36 h 36"/>
                <a:gd name="T46" fmla="*/ 8 w 24"/>
                <a:gd name="T47" fmla="*/ 36 h 36"/>
                <a:gd name="T48" fmla="*/ 4 w 24"/>
                <a:gd name="T49" fmla="*/ 36 h 36"/>
                <a:gd name="T50" fmla="*/ 4 w 24"/>
                <a:gd name="T51" fmla="*/ 36 h 36"/>
                <a:gd name="T52" fmla="*/ 2 w 24"/>
                <a:gd name="T53" fmla="*/ 36 h 36"/>
                <a:gd name="T54" fmla="*/ 2 w 24"/>
                <a:gd name="T55" fmla="*/ 36 h 36"/>
                <a:gd name="T56" fmla="*/ 2 w 24"/>
                <a:gd name="T57" fmla="*/ 36 h 36"/>
                <a:gd name="T58" fmla="*/ 0 w 24"/>
                <a:gd name="T59" fmla="*/ 36 h 36"/>
                <a:gd name="T60" fmla="*/ 0 w 24"/>
                <a:gd name="T61" fmla="*/ 24 h 36"/>
                <a:gd name="T62" fmla="*/ 2 w 24"/>
                <a:gd name="T63" fmla="*/ 24 h 36"/>
                <a:gd name="T64" fmla="*/ 2 w 24"/>
                <a:gd name="T65" fmla="*/ 28 h 36"/>
                <a:gd name="T66" fmla="*/ 6 w 24"/>
                <a:gd name="T67" fmla="*/ 32 h 36"/>
                <a:gd name="T68" fmla="*/ 8 w 24"/>
                <a:gd name="T69" fmla="*/ 34 h 36"/>
                <a:gd name="T70" fmla="*/ 12 w 24"/>
                <a:gd name="T71" fmla="*/ 34 h 36"/>
                <a:gd name="T72" fmla="*/ 14 w 24"/>
                <a:gd name="T73" fmla="*/ 34 h 36"/>
                <a:gd name="T74" fmla="*/ 16 w 24"/>
                <a:gd name="T75" fmla="*/ 32 h 36"/>
                <a:gd name="T76" fmla="*/ 18 w 24"/>
                <a:gd name="T77" fmla="*/ 32 h 36"/>
                <a:gd name="T78" fmla="*/ 18 w 24"/>
                <a:gd name="T79" fmla="*/ 28 h 36"/>
                <a:gd name="T80" fmla="*/ 18 w 24"/>
                <a:gd name="T81" fmla="*/ 26 h 36"/>
                <a:gd name="T82" fmla="*/ 16 w 24"/>
                <a:gd name="T83" fmla="*/ 24 h 36"/>
                <a:gd name="T84" fmla="*/ 14 w 24"/>
                <a:gd name="T85" fmla="*/ 22 h 36"/>
                <a:gd name="T86" fmla="*/ 10 w 24"/>
                <a:gd name="T87" fmla="*/ 20 h 36"/>
                <a:gd name="T88" fmla="*/ 4 w 24"/>
                <a:gd name="T89" fmla="*/ 18 h 36"/>
                <a:gd name="T90" fmla="*/ 2 w 24"/>
                <a:gd name="T91" fmla="*/ 14 h 36"/>
                <a:gd name="T92" fmla="*/ 0 w 24"/>
                <a:gd name="T93" fmla="*/ 12 h 36"/>
                <a:gd name="T94" fmla="*/ 0 w 24"/>
                <a:gd name="T95" fmla="*/ 10 h 36"/>
                <a:gd name="T96" fmla="*/ 2 w 24"/>
                <a:gd name="T97" fmla="*/ 6 h 36"/>
                <a:gd name="T98" fmla="*/ 4 w 24"/>
                <a:gd name="T99" fmla="*/ 2 h 36"/>
                <a:gd name="T100" fmla="*/ 6 w 24"/>
                <a:gd name="T101" fmla="*/ 0 h 36"/>
                <a:gd name="T102" fmla="*/ 12 w 24"/>
                <a:gd name="T103" fmla="*/ 0 h 36"/>
                <a:gd name="T104" fmla="*/ 14 w 24"/>
                <a:gd name="T105" fmla="*/ 0 h 36"/>
                <a:gd name="T106" fmla="*/ 16 w 24"/>
                <a:gd name="T107" fmla="*/ 0 h 36"/>
                <a:gd name="T108" fmla="*/ 18 w 24"/>
                <a:gd name="T109" fmla="*/ 0 h 36"/>
                <a:gd name="T110" fmla="*/ 20 w 24"/>
                <a:gd name="T111" fmla="*/ 0 h 36"/>
                <a:gd name="T112" fmla="*/ 20 w 24"/>
                <a:gd name="T113" fmla="*/ 0 h 36"/>
                <a:gd name="T114" fmla="*/ 20 w 24"/>
                <a:gd name="T115" fmla="*/ 0 h 36"/>
                <a:gd name="T116" fmla="*/ 20 w 24"/>
                <a:gd name="T117" fmla="*/ 0 h 36"/>
                <a:gd name="T118" fmla="*/ 22 w 24"/>
                <a:gd name="T119" fmla="*/ 0 h 36"/>
                <a:gd name="T120" fmla="*/ 22 w 24"/>
                <a:gd name="T121" fmla="*/ 0 h 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4"/>
                <a:gd name="T184" fmla="*/ 0 h 36"/>
                <a:gd name="T185" fmla="*/ 24 w 24"/>
                <a:gd name="T186" fmla="*/ 36 h 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4" h="36">
                  <a:moveTo>
                    <a:pt x="22" y="0"/>
                  </a:moveTo>
                  <a:lnTo>
                    <a:pt x="22" y="12"/>
                  </a:lnTo>
                  <a:lnTo>
                    <a:pt x="20" y="6"/>
                  </a:lnTo>
                  <a:lnTo>
                    <a:pt x="18" y="4"/>
                  </a:lnTo>
                  <a:lnTo>
                    <a:pt x="14" y="2"/>
                  </a:lnTo>
                  <a:lnTo>
                    <a:pt x="12" y="2"/>
                  </a:lnTo>
                  <a:lnTo>
                    <a:pt x="8" y="2"/>
                  </a:lnTo>
                  <a:lnTo>
                    <a:pt x="8" y="4"/>
                  </a:lnTo>
                  <a:lnTo>
                    <a:pt x="6" y="4"/>
                  </a:lnTo>
                  <a:lnTo>
                    <a:pt x="6" y="6"/>
                  </a:lnTo>
                  <a:lnTo>
                    <a:pt x="6" y="8"/>
                  </a:lnTo>
                  <a:lnTo>
                    <a:pt x="6" y="10"/>
                  </a:lnTo>
                  <a:lnTo>
                    <a:pt x="8" y="12"/>
                  </a:lnTo>
                  <a:lnTo>
                    <a:pt x="12" y="14"/>
                  </a:lnTo>
                  <a:lnTo>
                    <a:pt x="16" y="16"/>
                  </a:lnTo>
                  <a:lnTo>
                    <a:pt x="22" y="18"/>
                  </a:lnTo>
                  <a:lnTo>
                    <a:pt x="24" y="22"/>
                  </a:lnTo>
                  <a:lnTo>
                    <a:pt x="24" y="26"/>
                  </a:lnTo>
                  <a:lnTo>
                    <a:pt x="24" y="30"/>
                  </a:lnTo>
                  <a:lnTo>
                    <a:pt x="20" y="34"/>
                  </a:lnTo>
                  <a:lnTo>
                    <a:pt x="16" y="36"/>
                  </a:lnTo>
                  <a:lnTo>
                    <a:pt x="12" y="36"/>
                  </a:lnTo>
                  <a:lnTo>
                    <a:pt x="8" y="36"/>
                  </a:lnTo>
                  <a:lnTo>
                    <a:pt x="4" y="36"/>
                  </a:lnTo>
                  <a:lnTo>
                    <a:pt x="2" y="36"/>
                  </a:lnTo>
                  <a:lnTo>
                    <a:pt x="0" y="36"/>
                  </a:lnTo>
                  <a:lnTo>
                    <a:pt x="0" y="24"/>
                  </a:lnTo>
                  <a:lnTo>
                    <a:pt x="2" y="24"/>
                  </a:lnTo>
                  <a:lnTo>
                    <a:pt x="2" y="28"/>
                  </a:lnTo>
                  <a:lnTo>
                    <a:pt x="6" y="32"/>
                  </a:lnTo>
                  <a:lnTo>
                    <a:pt x="8" y="34"/>
                  </a:lnTo>
                  <a:lnTo>
                    <a:pt x="12" y="34"/>
                  </a:lnTo>
                  <a:lnTo>
                    <a:pt x="14" y="34"/>
                  </a:lnTo>
                  <a:lnTo>
                    <a:pt x="16" y="32"/>
                  </a:lnTo>
                  <a:lnTo>
                    <a:pt x="18" y="32"/>
                  </a:lnTo>
                  <a:lnTo>
                    <a:pt x="18" y="28"/>
                  </a:lnTo>
                  <a:lnTo>
                    <a:pt x="18" y="26"/>
                  </a:lnTo>
                  <a:lnTo>
                    <a:pt x="16" y="24"/>
                  </a:lnTo>
                  <a:lnTo>
                    <a:pt x="14" y="22"/>
                  </a:lnTo>
                  <a:lnTo>
                    <a:pt x="10" y="20"/>
                  </a:lnTo>
                  <a:lnTo>
                    <a:pt x="4" y="18"/>
                  </a:lnTo>
                  <a:lnTo>
                    <a:pt x="2" y="14"/>
                  </a:lnTo>
                  <a:lnTo>
                    <a:pt x="0" y="12"/>
                  </a:lnTo>
                  <a:lnTo>
                    <a:pt x="0" y="10"/>
                  </a:lnTo>
                  <a:lnTo>
                    <a:pt x="2" y="6"/>
                  </a:lnTo>
                  <a:lnTo>
                    <a:pt x="4" y="2"/>
                  </a:lnTo>
                  <a:lnTo>
                    <a:pt x="6" y="0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6" y="0"/>
                  </a:lnTo>
                  <a:lnTo>
                    <a:pt x="18" y="0"/>
                  </a:lnTo>
                  <a:lnTo>
                    <a:pt x="20" y="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52" name="Freeform 132"/>
            <p:cNvSpPr>
              <a:spLocks noEditPoints="1"/>
            </p:cNvSpPr>
            <p:nvPr/>
          </p:nvSpPr>
          <p:spPr bwMode="auto">
            <a:xfrm>
              <a:off x="3112" y="2984"/>
              <a:ext cx="16" cy="56"/>
            </a:xfrm>
            <a:custGeom>
              <a:avLst/>
              <a:gdLst>
                <a:gd name="T0" fmla="*/ 8 w 16"/>
                <a:gd name="T1" fmla="*/ 0 h 56"/>
                <a:gd name="T2" fmla="*/ 10 w 16"/>
                <a:gd name="T3" fmla="*/ 0 h 56"/>
                <a:gd name="T4" fmla="*/ 10 w 16"/>
                <a:gd name="T5" fmla="*/ 2 h 56"/>
                <a:gd name="T6" fmla="*/ 12 w 16"/>
                <a:gd name="T7" fmla="*/ 2 h 56"/>
                <a:gd name="T8" fmla="*/ 12 w 16"/>
                <a:gd name="T9" fmla="*/ 4 h 56"/>
                <a:gd name="T10" fmla="*/ 12 w 16"/>
                <a:gd name="T11" fmla="*/ 6 h 56"/>
                <a:gd name="T12" fmla="*/ 10 w 16"/>
                <a:gd name="T13" fmla="*/ 8 h 56"/>
                <a:gd name="T14" fmla="*/ 10 w 16"/>
                <a:gd name="T15" fmla="*/ 8 h 56"/>
                <a:gd name="T16" fmla="*/ 8 w 16"/>
                <a:gd name="T17" fmla="*/ 10 h 56"/>
                <a:gd name="T18" fmla="*/ 6 w 16"/>
                <a:gd name="T19" fmla="*/ 8 h 56"/>
                <a:gd name="T20" fmla="*/ 4 w 16"/>
                <a:gd name="T21" fmla="*/ 8 h 56"/>
                <a:gd name="T22" fmla="*/ 4 w 16"/>
                <a:gd name="T23" fmla="*/ 6 h 56"/>
                <a:gd name="T24" fmla="*/ 4 w 16"/>
                <a:gd name="T25" fmla="*/ 4 h 56"/>
                <a:gd name="T26" fmla="*/ 4 w 16"/>
                <a:gd name="T27" fmla="*/ 2 h 56"/>
                <a:gd name="T28" fmla="*/ 4 w 16"/>
                <a:gd name="T29" fmla="*/ 2 h 56"/>
                <a:gd name="T30" fmla="*/ 6 w 16"/>
                <a:gd name="T31" fmla="*/ 0 h 56"/>
                <a:gd name="T32" fmla="*/ 8 w 16"/>
                <a:gd name="T33" fmla="*/ 0 h 56"/>
                <a:gd name="T34" fmla="*/ 12 w 16"/>
                <a:gd name="T35" fmla="*/ 20 h 56"/>
                <a:gd name="T36" fmla="*/ 12 w 16"/>
                <a:gd name="T37" fmla="*/ 48 h 56"/>
                <a:gd name="T38" fmla="*/ 12 w 16"/>
                <a:gd name="T39" fmla="*/ 50 h 56"/>
                <a:gd name="T40" fmla="*/ 12 w 16"/>
                <a:gd name="T41" fmla="*/ 52 h 56"/>
                <a:gd name="T42" fmla="*/ 12 w 16"/>
                <a:gd name="T43" fmla="*/ 54 h 56"/>
                <a:gd name="T44" fmla="*/ 14 w 16"/>
                <a:gd name="T45" fmla="*/ 54 h 56"/>
                <a:gd name="T46" fmla="*/ 14 w 16"/>
                <a:gd name="T47" fmla="*/ 56 h 56"/>
                <a:gd name="T48" fmla="*/ 16 w 16"/>
                <a:gd name="T49" fmla="*/ 56 h 56"/>
                <a:gd name="T50" fmla="*/ 16 w 16"/>
                <a:gd name="T51" fmla="*/ 56 h 56"/>
                <a:gd name="T52" fmla="*/ 0 w 16"/>
                <a:gd name="T53" fmla="*/ 56 h 56"/>
                <a:gd name="T54" fmla="*/ 0 w 16"/>
                <a:gd name="T55" fmla="*/ 56 h 56"/>
                <a:gd name="T56" fmla="*/ 2 w 16"/>
                <a:gd name="T57" fmla="*/ 56 h 56"/>
                <a:gd name="T58" fmla="*/ 4 w 16"/>
                <a:gd name="T59" fmla="*/ 54 h 56"/>
                <a:gd name="T60" fmla="*/ 4 w 16"/>
                <a:gd name="T61" fmla="*/ 54 h 56"/>
                <a:gd name="T62" fmla="*/ 4 w 16"/>
                <a:gd name="T63" fmla="*/ 52 h 56"/>
                <a:gd name="T64" fmla="*/ 4 w 16"/>
                <a:gd name="T65" fmla="*/ 50 h 56"/>
                <a:gd name="T66" fmla="*/ 4 w 16"/>
                <a:gd name="T67" fmla="*/ 48 h 56"/>
                <a:gd name="T68" fmla="*/ 4 w 16"/>
                <a:gd name="T69" fmla="*/ 34 h 56"/>
                <a:gd name="T70" fmla="*/ 4 w 16"/>
                <a:gd name="T71" fmla="*/ 30 h 56"/>
                <a:gd name="T72" fmla="*/ 4 w 16"/>
                <a:gd name="T73" fmla="*/ 26 h 56"/>
                <a:gd name="T74" fmla="*/ 4 w 16"/>
                <a:gd name="T75" fmla="*/ 24 h 56"/>
                <a:gd name="T76" fmla="*/ 4 w 16"/>
                <a:gd name="T77" fmla="*/ 24 h 56"/>
                <a:gd name="T78" fmla="*/ 4 w 16"/>
                <a:gd name="T79" fmla="*/ 24 h 56"/>
                <a:gd name="T80" fmla="*/ 2 w 16"/>
                <a:gd name="T81" fmla="*/ 24 h 56"/>
                <a:gd name="T82" fmla="*/ 2 w 16"/>
                <a:gd name="T83" fmla="*/ 24 h 56"/>
                <a:gd name="T84" fmla="*/ 0 w 16"/>
                <a:gd name="T85" fmla="*/ 24 h 56"/>
                <a:gd name="T86" fmla="*/ 0 w 16"/>
                <a:gd name="T87" fmla="*/ 24 h 56"/>
                <a:gd name="T88" fmla="*/ 10 w 16"/>
                <a:gd name="T89" fmla="*/ 20 h 56"/>
                <a:gd name="T90" fmla="*/ 12 w 16"/>
                <a:gd name="T91" fmla="*/ 20 h 5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6"/>
                <a:gd name="T139" fmla="*/ 0 h 56"/>
                <a:gd name="T140" fmla="*/ 16 w 16"/>
                <a:gd name="T141" fmla="*/ 56 h 5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6" h="56">
                  <a:moveTo>
                    <a:pt x="8" y="0"/>
                  </a:moveTo>
                  <a:lnTo>
                    <a:pt x="10" y="0"/>
                  </a:lnTo>
                  <a:lnTo>
                    <a:pt x="10" y="2"/>
                  </a:lnTo>
                  <a:lnTo>
                    <a:pt x="12" y="2"/>
                  </a:lnTo>
                  <a:lnTo>
                    <a:pt x="12" y="4"/>
                  </a:lnTo>
                  <a:lnTo>
                    <a:pt x="12" y="6"/>
                  </a:lnTo>
                  <a:lnTo>
                    <a:pt x="10" y="8"/>
                  </a:lnTo>
                  <a:lnTo>
                    <a:pt x="8" y="10"/>
                  </a:lnTo>
                  <a:lnTo>
                    <a:pt x="6" y="8"/>
                  </a:lnTo>
                  <a:lnTo>
                    <a:pt x="4" y="8"/>
                  </a:lnTo>
                  <a:lnTo>
                    <a:pt x="4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6" y="0"/>
                  </a:lnTo>
                  <a:lnTo>
                    <a:pt x="8" y="0"/>
                  </a:lnTo>
                  <a:close/>
                  <a:moveTo>
                    <a:pt x="12" y="20"/>
                  </a:moveTo>
                  <a:lnTo>
                    <a:pt x="12" y="48"/>
                  </a:lnTo>
                  <a:lnTo>
                    <a:pt x="12" y="50"/>
                  </a:lnTo>
                  <a:lnTo>
                    <a:pt x="12" y="52"/>
                  </a:lnTo>
                  <a:lnTo>
                    <a:pt x="12" y="54"/>
                  </a:lnTo>
                  <a:lnTo>
                    <a:pt x="14" y="54"/>
                  </a:lnTo>
                  <a:lnTo>
                    <a:pt x="14" y="56"/>
                  </a:lnTo>
                  <a:lnTo>
                    <a:pt x="16" y="56"/>
                  </a:lnTo>
                  <a:lnTo>
                    <a:pt x="0" y="56"/>
                  </a:lnTo>
                  <a:lnTo>
                    <a:pt x="2" y="56"/>
                  </a:lnTo>
                  <a:lnTo>
                    <a:pt x="4" y="54"/>
                  </a:lnTo>
                  <a:lnTo>
                    <a:pt x="4" y="52"/>
                  </a:lnTo>
                  <a:lnTo>
                    <a:pt x="4" y="50"/>
                  </a:lnTo>
                  <a:lnTo>
                    <a:pt x="4" y="48"/>
                  </a:lnTo>
                  <a:lnTo>
                    <a:pt x="4" y="34"/>
                  </a:lnTo>
                  <a:lnTo>
                    <a:pt x="4" y="30"/>
                  </a:lnTo>
                  <a:lnTo>
                    <a:pt x="4" y="26"/>
                  </a:lnTo>
                  <a:lnTo>
                    <a:pt x="4" y="24"/>
                  </a:lnTo>
                  <a:lnTo>
                    <a:pt x="2" y="24"/>
                  </a:lnTo>
                  <a:lnTo>
                    <a:pt x="0" y="24"/>
                  </a:lnTo>
                  <a:lnTo>
                    <a:pt x="10" y="20"/>
                  </a:lnTo>
                  <a:lnTo>
                    <a:pt x="12" y="2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53" name="Freeform 133"/>
            <p:cNvSpPr/>
            <p:nvPr/>
          </p:nvSpPr>
          <p:spPr bwMode="auto">
            <a:xfrm>
              <a:off x="3132" y="3004"/>
              <a:ext cx="38" cy="36"/>
            </a:xfrm>
            <a:custGeom>
              <a:avLst/>
              <a:gdLst>
                <a:gd name="T0" fmla="*/ 12 w 38"/>
                <a:gd name="T1" fmla="*/ 8 h 36"/>
                <a:gd name="T2" fmla="*/ 16 w 38"/>
                <a:gd name="T3" fmla="*/ 2 h 36"/>
                <a:gd name="T4" fmla="*/ 20 w 38"/>
                <a:gd name="T5" fmla="*/ 0 h 36"/>
                <a:gd name="T6" fmla="*/ 24 w 38"/>
                <a:gd name="T7" fmla="*/ 0 h 36"/>
                <a:gd name="T8" fmla="*/ 26 w 38"/>
                <a:gd name="T9" fmla="*/ 0 h 36"/>
                <a:gd name="T10" fmla="*/ 28 w 38"/>
                <a:gd name="T11" fmla="*/ 0 h 36"/>
                <a:gd name="T12" fmla="*/ 30 w 38"/>
                <a:gd name="T13" fmla="*/ 2 h 36"/>
                <a:gd name="T14" fmla="*/ 32 w 38"/>
                <a:gd name="T15" fmla="*/ 6 h 36"/>
                <a:gd name="T16" fmla="*/ 32 w 38"/>
                <a:gd name="T17" fmla="*/ 8 h 36"/>
                <a:gd name="T18" fmla="*/ 34 w 38"/>
                <a:gd name="T19" fmla="*/ 12 h 36"/>
                <a:gd name="T20" fmla="*/ 34 w 38"/>
                <a:gd name="T21" fmla="*/ 28 h 36"/>
                <a:gd name="T22" fmla="*/ 34 w 38"/>
                <a:gd name="T23" fmla="*/ 30 h 36"/>
                <a:gd name="T24" fmla="*/ 34 w 38"/>
                <a:gd name="T25" fmla="*/ 32 h 36"/>
                <a:gd name="T26" fmla="*/ 34 w 38"/>
                <a:gd name="T27" fmla="*/ 34 h 36"/>
                <a:gd name="T28" fmla="*/ 34 w 38"/>
                <a:gd name="T29" fmla="*/ 34 h 36"/>
                <a:gd name="T30" fmla="*/ 36 w 38"/>
                <a:gd name="T31" fmla="*/ 36 h 36"/>
                <a:gd name="T32" fmla="*/ 38 w 38"/>
                <a:gd name="T33" fmla="*/ 36 h 36"/>
                <a:gd name="T34" fmla="*/ 38 w 38"/>
                <a:gd name="T35" fmla="*/ 36 h 36"/>
                <a:gd name="T36" fmla="*/ 22 w 38"/>
                <a:gd name="T37" fmla="*/ 36 h 36"/>
                <a:gd name="T38" fmla="*/ 22 w 38"/>
                <a:gd name="T39" fmla="*/ 36 h 36"/>
                <a:gd name="T40" fmla="*/ 22 w 38"/>
                <a:gd name="T41" fmla="*/ 36 h 36"/>
                <a:gd name="T42" fmla="*/ 24 w 38"/>
                <a:gd name="T43" fmla="*/ 34 h 36"/>
                <a:gd name="T44" fmla="*/ 26 w 38"/>
                <a:gd name="T45" fmla="*/ 34 h 36"/>
                <a:gd name="T46" fmla="*/ 26 w 38"/>
                <a:gd name="T47" fmla="*/ 34 h 36"/>
                <a:gd name="T48" fmla="*/ 26 w 38"/>
                <a:gd name="T49" fmla="*/ 32 h 36"/>
                <a:gd name="T50" fmla="*/ 26 w 38"/>
                <a:gd name="T51" fmla="*/ 30 h 36"/>
                <a:gd name="T52" fmla="*/ 26 w 38"/>
                <a:gd name="T53" fmla="*/ 28 h 36"/>
                <a:gd name="T54" fmla="*/ 26 w 38"/>
                <a:gd name="T55" fmla="*/ 14 h 36"/>
                <a:gd name="T56" fmla="*/ 26 w 38"/>
                <a:gd name="T57" fmla="*/ 10 h 36"/>
                <a:gd name="T58" fmla="*/ 26 w 38"/>
                <a:gd name="T59" fmla="*/ 6 h 36"/>
                <a:gd name="T60" fmla="*/ 24 w 38"/>
                <a:gd name="T61" fmla="*/ 4 h 36"/>
                <a:gd name="T62" fmla="*/ 20 w 38"/>
                <a:gd name="T63" fmla="*/ 4 h 36"/>
                <a:gd name="T64" fmla="*/ 16 w 38"/>
                <a:gd name="T65" fmla="*/ 6 h 36"/>
                <a:gd name="T66" fmla="*/ 12 w 38"/>
                <a:gd name="T67" fmla="*/ 10 h 36"/>
                <a:gd name="T68" fmla="*/ 12 w 38"/>
                <a:gd name="T69" fmla="*/ 28 h 36"/>
                <a:gd name="T70" fmla="*/ 12 w 38"/>
                <a:gd name="T71" fmla="*/ 30 h 36"/>
                <a:gd name="T72" fmla="*/ 12 w 38"/>
                <a:gd name="T73" fmla="*/ 32 h 36"/>
                <a:gd name="T74" fmla="*/ 12 w 38"/>
                <a:gd name="T75" fmla="*/ 34 h 36"/>
                <a:gd name="T76" fmla="*/ 14 w 38"/>
                <a:gd name="T77" fmla="*/ 34 h 36"/>
                <a:gd name="T78" fmla="*/ 14 w 38"/>
                <a:gd name="T79" fmla="*/ 36 h 36"/>
                <a:gd name="T80" fmla="*/ 16 w 38"/>
                <a:gd name="T81" fmla="*/ 36 h 36"/>
                <a:gd name="T82" fmla="*/ 16 w 38"/>
                <a:gd name="T83" fmla="*/ 36 h 36"/>
                <a:gd name="T84" fmla="*/ 0 w 38"/>
                <a:gd name="T85" fmla="*/ 36 h 36"/>
                <a:gd name="T86" fmla="*/ 0 w 38"/>
                <a:gd name="T87" fmla="*/ 36 h 36"/>
                <a:gd name="T88" fmla="*/ 0 w 38"/>
                <a:gd name="T89" fmla="*/ 36 h 36"/>
                <a:gd name="T90" fmla="*/ 2 w 38"/>
                <a:gd name="T91" fmla="*/ 34 h 36"/>
                <a:gd name="T92" fmla="*/ 4 w 38"/>
                <a:gd name="T93" fmla="*/ 34 h 36"/>
                <a:gd name="T94" fmla="*/ 4 w 38"/>
                <a:gd name="T95" fmla="*/ 32 h 36"/>
                <a:gd name="T96" fmla="*/ 4 w 38"/>
                <a:gd name="T97" fmla="*/ 28 h 36"/>
                <a:gd name="T98" fmla="*/ 4 w 38"/>
                <a:gd name="T99" fmla="*/ 14 h 36"/>
                <a:gd name="T100" fmla="*/ 4 w 38"/>
                <a:gd name="T101" fmla="*/ 8 h 36"/>
                <a:gd name="T102" fmla="*/ 4 w 38"/>
                <a:gd name="T103" fmla="*/ 6 h 36"/>
                <a:gd name="T104" fmla="*/ 4 w 38"/>
                <a:gd name="T105" fmla="*/ 6 h 36"/>
                <a:gd name="T106" fmla="*/ 4 w 38"/>
                <a:gd name="T107" fmla="*/ 4 h 36"/>
                <a:gd name="T108" fmla="*/ 4 w 38"/>
                <a:gd name="T109" fmla="*/ 4 h 36"/>
                <a:gd name="T110" fmla="*/ 2 w 38"/>
                <a:gd name="T111" fmla="*/ 4 h 36"/>
                <a:gd name="T112" fmla="*/ 2 w 38"/>
                <a:gd name="T113" fmla="*/ 4 h 36"/>
                <a:gd name="T114" fmla="*/ 0 w 38"/>
                <a:gd name="T115" fmla="*/ 4 h 36"/>
                <a:gd name="T116" fmla="*/ 0 w 38"/>
                <a:gd name="T117" fmla="*/ 4 h 36"/>
                <a:gd name="T118" fmla="*/ 10 w 38"/>
                <a:gd name="T119" fmla="*/ 0 h 36"/>
                <a:gd name="T120" fmla="*/ 12 w 38"/>
                <a:gd name="T121" fmla="*/ 0 h 36"/>
                <a:gd name="T122" fmla="*/ 12 w 38"/>
                <a:gd name="T123" fmla="*/ 8 h 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38"/>
                <a:gd name="T187" fmla="*/ 0 h 36"/>
                <a:gd name="T188" fmla="*/ 38 w 38"/>
                <a:gd name="T189" fmla="*/ 36 h 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38" h="36">
                  <a:moveTo>
                    <a:pt x="12" y="8"/>
                  </a:moveTo>
                  <a:lnTo>
                    <a:pt x="16" y="2"/>
                  </a:lnTo>
                  <a:lnTo>
                    <a:pt x="20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0" y="2"/>
                  </a:lnTo>
                  <a:lnTo>
                    <a:pt x="32" y="6"/>
                  </a:lnTo>
                  <a:lnTo>
                    <a:pt x="32" y="8"/>
                  </a:lnTo>
                  <a:lnTo>
                    <a:pt x="34" y="12"/>
                  </a:lnTo>
                  <a:lnTo>
                    <a:pt x="34" y="28"/>
                  </a:lnTo>
                  <a:lnTo>
                    <a:pt x="34" y="30"/>
                  </a:lnTo>
                  <a:lnTo>
                    <a:pt x="34" y="32"/>
                  </a:lnTo>
                  <a:lnTo>
                    <a:pt x="34" y="34"/>
                  </a:lnTo>
                  <a:lnTo>
                    <a:pt x="36" y="36"/>
                  </a:lnTo>
                  <a:lnTo>
                    <a:pt x="38" y="36"/>
                  </a:lnTo>
                  <a:lnTo>
                    <a:pt x="22" y="36"/>
                  </a:lnTo>
                  <a:lnTo>
                    <a:pt x="24" y="34"/>
                  </a:lnTo>
                  <a:lnTo>
                    <a:pt x="26" y="34"/>
                  </a:lnTo>
                  <a:lnTo>
                    <a:pt x="26" y="32"/>
                  </a:lnTo>
                  <a:lnTo>
                    <a:pt x="26" y="30"/>
                  </a:lnTo>
                  <a:lnTo>
                    <a:pt x="26" y="28"/>
                  </a:lnTo>
                  <a:lnTo>
                    <a:pt x="26" y="14"/>
                  </a:lnTo>
                  <a:lnTo>
                    <a:pt x="26" y="10"/>
                  </a:lnTo>
                  <a:lnTo>
                    <a:pt x="26" y="6"/>
                  </a:lnTo>
                  <a:lnTo>
                    <a:pt x="24" y="4"/>
                  </a:lnTo>
                  <a:lnTo>
                    <a:pt x="20" y="4"/>
                  </a:lnTo>
                  <a:lnTo>
                    <a:pt x="16" y="6"/>
                  </a:lnTo>
                  <a:lnTo>
                    <a:pt x="12" y="10"/>
                  </a:lnTo>
                  <a:lnTo>
                    <a:pt x="12" y="28"/>
                  </a:lnTo>
                  <a:lnTo>
                    <a:pt x="12" y="30"/>
                  </a:lnTo>
                  <a:lnTo>
                    <a:pt x="12" y="32"/>
                  </a:lnTo>
                  <a:lnTo>
                    <a:pt x="12" y="34"/>
                  </a:lnTo>
                  <a:lnTo>
                    <a:pt x="14" y="34"/>
                  </a:lnTo>
                  <a:lnTo>
                    <a:pt x="14" y="36"/>
                  </a:lnTo>
                  <a:lnTo>
                    <a:pt x="16" y="36"/>
                  </a:lnTo>
                  <a:lnTo>
                    <a:pt x="0" y="36"/>
                  </a:lnTo>
                  <a:lnTo>
                    <a:pt x="2" y="34"/>
                  </a:lnTo>
                  <a:lnTo>
                    <a:pt x="4" y="34"/>
                  </a:lnTo>
                  <a:lnTo>
                    <a:pt x="4" y="32"/>
                  </a:lnTo>
                  <a:lnTo>
                    <a:pt x="4" y="28"/>
                  </a:lnTo>
                  <a:lnTo>
                    <a:pt x="4" y="14"/>
                  </a:lnTo>
                  <a:lnTo>
                    <a:pt x="4" y="8"/>
                  </a:lnTo>
                  <a:lnTo>
                    <a:pt x="4" y="6"/>
                  </a:lnTo>
                  <a:lnTo>
                    <a:pt x="4" y="4"/>
                  </a:lnTo>
                  <a:lnTo>
                    <a:pt x="2" y="4"/>
                  </a:lnTo>
                  <a:lnTo>
                    <a:pt x="0" y="4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54" name="Freeform 134"/>
            <p:cNvSpPr/>
            <p:nvPr/>
          </p:nvSpPr>
          <p:spPr bwMode="auto">
            <a:xfrm>
              <a:off x="3170" y="2992"/>
              <a:ext cx="24" cy="48"/>
            </a:xfrm>
            <a:custGeom>
              <a:avLst/>
              <a:gdLst>
                <a:gd name="T0" fmla="*/ 14 w 24"/>
                <a:gd name="T1" fmla="*/ 0 h 48"/>
                <a:gd name="T2" fmla="*/ 14 w 24"/>
                <a:gd name="T3" fmla="*/ 12 h 48"/>
                <a:gd name="T4" fmla="*/ 22 w 24"/>
                <a:gd name="T5" fmla="*/ 12 h 48"/>
                <a:gd name="T6" fmla="*/ 22 w 24"/>
                <a:gd name="T7" fmla="*/ 14 h 48"/>
                <a:gd name="T8" fmla="*/ 14 w 24"/>
                <a:gd name="T9" fmla="*/ 14 h 48"/>
                <a:gd name="T10" fmla="*/ 14 w 24"/>
                <a:gd name="T11" fmla="*/ 38 h 48"/>
                <a:gd name="T12" fmla="*/ 14 w 24"/>
                <a:gd name="T13" fmla="*/ 40 h 48"/>
                <a:gd name="T14" fmla="*/ 14 w 24"/>
                <a:gd name="T15" fmla="*/ 42 h 48"/>
                <a:gd name="T16" fmla="*/ 16 w 24"/>
                <a:gd name="T17" fmla="*/ 44 h 48"/>
                <a:gd name="T18" fmla="*/ 18 w 24"/>
                <a:gd name="T19" fmla="*/ 44 h 48"/>
                <a:gd name="T20" fmla="*/ 18 w 24"/>
                <a:gd name="T21" fmla="*/ 44 h 48"/>
                <a:gd name="T22" fmla="*/ 20 w 24"/>
                <a:gd name="T23" fmla="*/ 44 h 48"/>
                <a:gd name="T24" fmla="*/ 20 w 24"/>
                <a:gd name="T25" fmla="*/ 42 h 48"/>
                <a:gd name="T26" fmla="*/ 22 w 24"/>
                <a:gd name="T27" fmla="*/ 42 h 48"/>
                <a:gd name="T28" fmla="*/ 24 w 24"/>
                <a:gd name="T29" fmla="*/ 42 h 48"/>
                <a:gd name="T30" fmla="*/ 22 w 24"/>
                <a:gd name="T31" fmla="*/ 44 h 48"/>
                <a:gd name="T32" fmla="*/ 20 w 24"/>
                <a:gd name="T33" fmla="*/ 46 h 48"/>
                <a:gd name="T34" fmla="*/ 16 w 24"/>
                <a:gd name="T35" fmla="*/ 48 h 48"/>
                <a:gd name="T36" fmla="*/ 14 w 24"/>
                <a:gd name="T37" fmla="*/ 48 h 48"/>
                <a:gd name="T38" fmla="*/ 12 w 24"/>
                <a:gd name="T39" fmla="*/ 48 h 48"/>
                <a:gd name="T40" fmla="*/ 10 w 24"/>
                <a:gd name="T41" fmla="*/ 48 h 48"/>
                <a:gd name="T42" fmla="*/ 8 w 24"/>
                <a:gd name="T43" fmla="*/ 46 h 48"/>
                <a:gd name="T44" fmla="*/ 8 w 24"/>
                <a:gd name="T45" fmla="*/ 44 h 48"/>
                <a:gd name="T46" fmla="*/ 8 w 24"/>
                <a:gd name="T47" fmla="*/ 42 h 48"/>
                <a:gd name="T48" fmla="*/ 6 w 24"/>
                <a:gd name="T49" fmla="*/ 40 h 48"/>
                <a:gd name="T50" fmla="*/ 6 w 24"/>
                <a:gd name="T51" fmla="*/ 14 h 48"/>
                <a:gd name="T52" fmla="*/ 0 w 24"/>
                <a:gd name="T53" fmla="*/ 14 h 48"/>
                <a:gd name="T54" fmla="*/ 0 w 24"/>
                <a:gd name="T55" fmla="*/ 14 h 48"/>
                <a:gd name="T56" fmla="*/ 4 w 24"/>
                <a:gd name="T57" fmla="*/ 12 h 48"/>
                <a:gd name="T58" fmla="*/ 6 w 24"/>
                <a:gd name="T59" fmla="*/ 10 h 48"/>
                <a:gd name="T60" fmla="*/ 8 w 24"/>
                <a:gd name="T61" fmla="*/ 8 h 48"/>
                <a:gd name="T62" fmla="*/ 10 w 24"/>
                <a:gd name="T63" fmla="*/ 6 h 48"/>
                <a:gd name="T64" fmla="*/ 12 w 24"/>
                <a:gd name="T65" fmla="*/ 4 h 48"/>
                <a:gd name="T66" fmla="*/ 12 w 24"/>
                <a:gd name="T67" fmla="*/ 0 h 48"/>
                <a:gd name="T68" fmla="*/ 14 w 24"/>
                <a:gd name="T69" fmla="*/ 0 h 4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4"/>
                <a:gd name="T106" fmla="*/ 0 h 48"/>
                <a:gd name="T107" fmla="*/ 24 w 24"/>
                <a:gd name="T108" fmla="*/ 48 h 4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4" h="48">
                  <a:moveTo>
                    <a:pt x="14" y="0"/>
                  </a:moveTo>
                  <a:lnTo>
                    <a:pt x="14" y="12"/>
                  </a:lnTo>
                  <a:lnTo>
                    <a:pt x="22" y="12"/>
                  </a:lnTo>
                  <a:lnTo>
                    <a:pt x="22" y="14"/>
                  </a:lnTo>
                  <a:lnTo>
                    <a:pt x="14" y="14"/>
                  </a:lnTo>
                  <a:lnTo>
                    <a:pt x="14" y="38"/>
                  </a:lnTo>
                  <a:lnTo>
                    <a:pt x="14" y="40"/>
                  </a:lnTo>
                  <a:lnTo>
                    <a:pt x="14" y="42"/>
                  </a:lnTo>
                  <a:lnTo>
                    <a:pt x="16" y="44"/>
                  </a:lnTo>
                  <a:lnTo>
                    <a:pt x="18" y="44"/>
                  </a:lnTo>
                  <a:lnTo>
                    <a:pt x="20" y="44"/>
                  </a:lnTo>
                  <a:lnTo>
                    <a:pt x="20" y="42"/>
                  </a:lnTo>
                  <a:lnTo>
                    <a:pt x="22" y="42"/>
                  </a:lnTo>
                  <a:lnTo>
                    <a:pt x="24" y="42"/>
                  </a:lnTo>
                  <a:lnTo>
                    <a:pt x="22" y="44"/>
                  </a:lnTo>
                  <a:lnTo>
                    <a:pt x="20" y="46"/>
                  </a:lnTo>
                  <a:lnTo>
                    <a:pt x="16" y="48"/>
                  </a:lnTo>
                  <a:lnTo>
                    <a:pt x="14" y="48"/>
                  </a:lnTo>
                  <a:lnTo>
                    <a:pt x="12" y="48"/>
                  </a:lnTo>
                  <a:lnTo>
                    <a:pt x="10" y="48"/>
                  </a:lnTo>
                  <a:lnTo>
                    <a:pt x="8" y="46"/>
                  </a:lnTo>
                  <a:lnTo>
                    <a:pt x="8" y="44"/>
                  </a:lnTo>
                  <a:lnTo>
                    <a:pt x="8" y="42"/>
                  </a:lnTo>
                  <a:lnTo>
                    <a:pt x="6" y="40"/>
                  </a:lnTo>
                  <a:lnTo>
                    <a:pt x="6" y="14"/>
                  </a:lnTo>
                  <a:lnTo>
                    <a:pt x="0" y="14"/>
                  </a:lnTo>
                  <a:lnTo>
                    <a:pt x="4" y="12"/>
                  </a:lnTo>
                  <a:lnTo>
                    <a:pt x="6" y="10"/>
                  </a:lnTo>
                  <a:lnTo>
                    <a:pt x="8" y="8"/>
                  </a:lnTo>
                  <a:lnTo>
                    <a:pt x="10" y="6"/>
                  </a:lnTo>
                  <a:lnTo>
                    <a:pt x="12" y="4"/>
                  </a:lnTo>
                  <a:lnTo>
                    <a:pt x="12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55" name="Freeform 135"/>
            <p:cNvSpPr>
              <a:spLocks noEditPoints="1"/>
            </p:cNvSpPr>
            <p:nvPr/>
          </p:nvSpPr>
          <p:spPr bwMode="auto">
            <a:xfrm>
              <a:off x="3196" y="3004"/>
              <a:ext cx="34" cy="36"/>
            </a:xfrm>
            <a:custGeom>
              <a:avLst/>
              <a:gdLst>
                <a:gd name="T0" fmla="*/ 18 w 34"/>
                <a:gd name="T1" fmla="*/ 0 h 36"/>
                <a:gd name="T2" fmla="*/ 22 w 34"/>
                <a:gd name="T3" fmla="*/ 0 h 36"/>
                <a:gd name="T4" fmla="*/ 26 w 34"/>
                <a:gd name="T5" fmla="*/ 2 h 36"/>
                <a:gd name="T6" fmla="*/ 30 w 34"/>
                <a:gd name="T7" fmla="*/ 6 h 36"/>
                <a:gd name="T8" fmla="*/ 34 w 34"/>
                <a:gd name="T9" fmla="*/ 12 h 36"/>
                <a:gd name="T10" fmla="*/ 34 w 34"/>
                <a:gd name="T11" fmla="*/ 18 h 36"/>
                <a:gd name="T12" fmla="*/ 34 w 34"/>
                <a:gd name="T13" fmla="*/ 22 h 36"/>
                <a:gd name="T14" fmla="*/ 32 w 34"/>
                <a:gd name="T15" fmla="*/ 28 h 36"/>
                <a:gd name="T16" fmla="*/ 30 w 34"/>
                <a:gd name="T17" fmla="*/ 32 h 36"/>
                <a:gd name="T18" fmla="*/ 26 w 34"/>
                <a:gd name="T19" fmla="*/ 34 h 36"/>
                <a:gd name="T20" fmla="*/ 22 w 34"/>
                <a:gd name="T21" fmla="*/ 36 h 36"/>
                <a:gd name="T22" fmla="*/ 16 w 34"/>
                <a:gd name="T23" fmla="*/ 36 h 36"/>
                <a:gd name="T24" fmla="*/ 12 w 34"/>
                <a:gd name="T25" fmla="*/ 36 h 36"/>
                <a:gd name="T26" fmla="*/ 8 w 34"/>
                <a:gd name="T27" fmla="*/ 34 h 36"/>
                <a:gd name="T28" fmla="*/ 4 w 34"/>
                <a:gd name="T29" fmla="*/ 30 h 36"/>
                <a:gd name="T30" fmla="*/ 0 w 34"/>
                <a:gd name="T31" fmla="*/ 24 h 36"/>
                <a:gd name="T32" fmla="*/ 0 w 34"/>
                <a:gd name="T33" fmla="*/ 18 h 36"/>
                <a:gd name="T34" fmla="*/ 0 w 34"/>
                <a:gd name="T35" fmla="*/ 14 h 36"/>
                <a:gd name="T36" fmla="*/ 2 w 34"/>
                <a:gd name="T37" fmla="*/ 8 h 36"/>
                <a:gd name="T38" fmla="*/ 6 w 34"/>
                <a:gd name="T39" fmla="*/ 4 h 36"/>
                <a:gd name="T40" fmla="*/ 8 w 34"/>
                <a:gd name="T41" fmla="*/ 2 h 36"/>
                <a:gd name="T42" fmla="*/ 12 w 34"/>
                <a:gd name="T43" fmla="*/ 0 h 36"/>
                <a:gd name="T44" fmla="*/ 18 w 34"/>
                <a:gd name="T45" fmla="*/ 0 h 36"/>
                <a:gd name="T46" fmla="*/ 16 w 34"/>
                <a:gd name="T47" fmla="*/ 2 h 36"/>
                <a:gd name="T48" fmla="*/ 14 w 34"/>
                <a:gd name="T49" fmla="*/ 2 h 36"/>
                <a:gd name="T50" fmla="*/ 12 w 34"/>
                <a:gd name="T51" fmla="*/ 4 h 36"/>
                <a:gd name="T52" fmla="*/ 10 w 34"/>
                <a:gd name="T53" fmla="*/ 4 h 36"/>
                <a:gd name="T54" fmla="*/ 8 w 34"/>
                <a:gd name="T55" fmla="*/ 8 h 36"/>
                <a:gd name="T56" fmla="*/ 6 w 34"/>
                <a:gd name="T57" fmla="*/ 10 h 36"/>
                <a:gd name="T58" fmla="*/ 6 w 34"/>
                <a:gd name="T59" fmla="*/ 16 h 36"/>
                <a:gd name="T60" fmla="*/ 8 w 34"/>
                <a:gd name="T61" fmla="*/ 22 h 36"/>
                <a:gd name="T62" fmla="*/ 10 w 34"/>
                <a:gd name="T63" fmla="*/ 28 h 36"/>
                <a:gd name="T64" fmla="*/ 14 w 34"/>
                <a:gd name="T65" fmla="*/ 32 h 36"/>
                <a:gd name="T66" fmla="*/ 18 w 34"/>
                <a:gd name="T67" fmla="*/ 34 h 36"/>
                <a:gd name="T68" fmla="*/ 22 w 34"/>
                <a:gd name="T69" fmla="*/ 34 h 36"/>
                <a:gd name="T70" fmla="*/ 24 w 34"/>
                <a:gd name="T71" fmla="*/ 32 h 36"/>
                <a:gd name="T72" fmla="*/ 26 w 34"/>
                <a:gd name="T73" fmla="*/ 26 h 36"/>
                <a:gd name="T74" fmla="*/ 28 w 34"/>
                <a:gd name="T75" fmla="*/ 20 h 36"/>
                <a:gd name="T76" fmla="*/ 28 w 34"/>
                <a:gd name="T77" fmla="*/ 14 h 36"/>
                <a:gd name="T78" fmla="*/ 26 w 34"/>
                <a:gd name="T79" fmla="*/ 10 h 36"/>
                <a:gd name="T80" fmla="*/ 24 w 34"/>
                <a:gd name="T81" fmla="*/ 6 h 36"/>
                <a:gd name="T82" fmla="*/ 20 w 34"/>
                <a:gd name="T83" fmla="*/ 2 h 36"/>
                <a:gd name="T84" fmla="*/ 16 w 34"/>
                <a:gd name="T85" fmla="*/ 2 h 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4"/>
                <a:gd name="T130" fmla="*/ 0 h 36"/>
                <a:gd name="T131" fmla="*/ 34 w 34"/>
                <a:gd name="T132" fmla="*/ 36 h 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4" h="36">
                  <a:moveTo>
                    <a:pt x="18" y="0"/>
                  </a:moveTo>
                  <a:lnTo>
                    <a:pt x="22" y="0"/>
                  </a:lnTo>
                  <a:lnTo>
                    <a:pt x="26" y="2"/>
                  </a:lnTo>
                  <a:lnTo>
                    <a:pt x="30" y="6"/>
                  </a:lnTo>
                  <a:lnTo>
                    <a:pt x="34" y="12"/>
                  </a:lnTo>
                  <a:lnTo>
                    <a:pt x="34" y="18"/>
                  </a:lnTo>
                  <a:lnTo>
                    <a:pt x="34" y="22"/>
                  </a:lnTo>
                  <a:lnTo>
                    <a:pt x="32" y="28"/>
                  </a:lnTo>
                  <a:lnTo>
                    <a:pt x="30" y="32"/>
                  </a:lnTo>
                  <a:lnTo>
                    <a:pt x="26" y="34"/>
                  </a:lnTo>
                  <a:lnTo>
                    <a:pt x="22" y="36"/>
                  </a:lnTo>
                  <a:lnTo>
                    <a:pt x="16" y="36"/>
                  </a:lnTo>
                  <a:lnTo>
                    <a:pt x="12" y="36"/>
                  </a:lnTo>
                  <a:lnTo>
                    <a:pt x="8" y="34"/>
                  </a:lnTo>
                  <a:lnTo>
                    <a:pt x="4" y="30"/>
                  </a:lnTo>
                  <a:lnTo>
                    <a:pt x="0" y="24"/>
                  </a:lnTo>
                  <a:lnTo>
                    <a:pt x="0" y="18"/>
                  </a:lnTo>
                  <a:lnTo>
                    <a:pt x="0" y="14"/>
                  </a:lnTo>
                  <a:lnTo>
                    <a:pt x="2" y="8"/>
                  </a:lnTo>
                  <a:lnTo>
                    <a:pt x="6" y="4"/>
                  </a:lnTo>
                  <a:lnTo>
                    <a:pt x="8" y="2"/>
                  </a:lnTo>
                  <a:lnTo>
                    <a:pt x="12" y="0"/>
                  </a:lnTo>
                  <a:lnTo>
                    <a:pt x="18" y="0"/>
                  </a:lnTo>
                  <a:close/>
                  <a:moveTo>
                    <a:pt x="16" y="2"/>
                  </a:moveTo>
                  <a:lnTo>
                    <a:pt x="14" y="2"/>
                  </a:lnTo>
                  <a:lnTo>
                    <a:pt x="12" y="4"/>
                  </a:lnTo>
                  <a:lnTo>
                    <a:pt x="10" y="4"/>
                  </a:lnTo>
                  <a:lnTo>
                    <a:pt x="8" y="8"/>
                  </a:lnTo>
                  <a:lnTo>
                    <a:pt x="6" y="10"/>
                  </a:lnTo>
                  <a:lnTo>
                    <a:pt x="6" y="16"/>
                  </a:lnTo>
                  <a:lnTo>
                    <a:pt x="8" y="22"/>
                  </a:lnTo>
                  <a:lnTo>
                    <a:pt x="10" y="28"/>
                  </a:lnTo>
                  <a:lnTo>
                    <a:pt x="14" y="32"/>
                  </a:lnTo>
                  <a:lnTo>
                    <a:pt x="18" y="34"/>
                  </a:lnTo>
                  <a:lnTo>
                    <a:pt x="22" y="34"/>
                  </a:lnTo>
                  <a:lnTo>
                    <a:pt x="24" y="32"/>
                  </a:lnTo>
                  <a:lnTo>
                    <a:pt x="26" y="26"/>
                  </a:lnTo>
                  <a:lnTo>
                    <a:pt x="28" y="20"/>
                  </a:lnTo>
                  <a:lnTo>
                    <a:pt x="28" y="14"/>
                  </a:lnTo>
                  <a:lnTo>
                    <a:pt x="26" y="10"/>
                  </a:lnTo>
                  <a:lnTo>
                    <a:pt x="24" y="6"/>
                  </a:lnTo>
                  <a:lnTo>
                    <a:pt x="20" y="2"/>
                  </a:lnTo>
                  <a:lnTo>
                    <a:pt x="16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56" name="Freeform 136"/>
            <p:cNvSpPr>
              <a:spLocks noEditPoints="1"/>
            </p:cNvSpPr>
            <p:nvPr/>
          </p:nvSpPr>
          <p:spPr bwMode="auto">
            <a:xfrm>
              <a:off x="3446" y="3004"/>
              <a:ext cx="34" cy="36"/>
            </a:xfrm>
            <a:custGeom>
              <a:avLst/>
              <a:gdLst>
                <a:gd name="T0" fmla="*/ 16 w 34"/>
                <a:gd name="T1" fmla="*/ 34 h 36"/>
                <a:gd name="T2" fmla="*/ 12 w 34"/>
                <a:gd name="T3" fmla="*/ 36 h 36"/>
                <a:gd name="T4" fmla="*/ 6 w 34"/>
                <a:gd name="T5" fmla="*/ 36 h 36"/>
                <a:gd name="T6" fmla="*/ 2 w 34"/>
                <a:gd name="T7" fmla="*/ 32 h 36"/>
                <a:gd name="T8" fmla="*/ 2 w 34"/>
                <a:gd name="T9" fmla="*/ 26 h 36"/>
                <a:gd name="T10" fmla="*/ 4 w 34"/>
                <a:gd name="T11" fmla="*/ 20 h 36"/>
                <a:gd name="T12" fmla="*/ 14 w 34"/>
                <a:gd name="T13" fmla="*/ 16 h 36"/>
                <a:gd name="T14" fmla="*/ 20 w 34"/>
                <a:gd name="T15" fmla="*/ 12 h 36"/>
                <a:gd name="T16" fmla="*/ 20 w 34"/>
                <a:gd name="T17" fmla="*/ 4 h 36"/>
                <a:gd name="T18" fmla="*/ 14 w 34"/>
                <a:gd name="T19" fmla="*/ 2 h 36"/>
                <a:gd name="T20" fmla="*/ 10 w 34"/>
                <a:gd name="T21" fmla="*/ 4 h 36"/>
                <a:gd name="T22" fmla="*/ 10 w 34"/>
                <a:gd name="T23" fmla="*/ 6 h 36"/>
                <a:gd name="T24" fmla="*/ 10 w 34"/>
                <a:gd name="T25" fmla="*/ 10 h 36"/>
                <a:gd name="T26" fmla="*/ 8 w 34"/>
                <a:gd name="T27" fmla="*/ 12 h 36"/>
                <a:gd name="T28" fmla="*/ 4 w 34"/>
                <a:gd name="T29" fmla="*/ 12 h 36"/>
                <a:gd name="T30" fmla="*/ 2 w 34"/>
                <a:gd name="T31" fmla="*/ 10 h 36"/>
                <a:gd name="T32" fmla="*/ 4 w 34"/>
                <a:gd name="T33" fmla="*/ 6 h 36"/>
                <a:gd name="T34" fmla="*/ 10 w 34"/>
                <a:gd name="T35" fmla="*/ 0 h 36"/>
                <a:gd name="T36" fmla="*/ 20 w 34"/>
                <a:gd name="T37" fmla="*/ 0 h 36"/>
                <a:gd name="T38" fmla="*/ 26 w 34"/>
                <a:gd name="T39" fmla="*/ 2 h 36"/>
                <a:gd name="T40" fmla="*/ 28 w 34"/>
                <a:gd name="T41" fmla="*/ 8 h 36"/>
                <a:gd name="T42" fmla="*/ 28 w 34"/>
                <a:gd name="T43" fmla="*/ 24 h 36"/>
                <a:gd name="T44" fmla="*/ 28 w 34"/>
                <a:gd name="T45" fmla="*/ 30 h 36"/>
                <a:gd name="T46" fmla="*/ 28 w 34"/>
                <a:gd name="T47" fmla="*/ 32 h 36"/>
                <a:gd name="T48" fmla="*/ 30 w 34"/>
                <a:gd name="T49" fmla="*/ 32 h 36"/>
                <a:gd name="T50" fmla="*/ 30 w 34"/>
                <a:gd name="T51" fmla="*/ 32 h 36"/>
                <a:gd name="T52" fmla="*/ 34 w 34"/>
                <a:gd name="T53" fmla="*/ 30 h 36"/>
                <a:gd name="T54" fmla="*/ 30 w 34"/>
                <a:gd name="T55" fmla="*/ 36 h 36"/>
                <a:gd name="T56" fmla="*/ 24 w 34"/>
                <a:gd name="T57" fmla="*/ 36 h 36"/>
                <a:gd name="T58" fmla="*/ 22 w 34"/>
                <a:gd name="T59" fmla="*/ 34 h 36"/>
                <a:gd name="T60" fmla="*/ 20 w 34"/>
                <a:gd name="T61" fmla="*/ 28 h 36"/>
                <a:gd name="T62" fmla="*/ 16 w 34"/>
                <a:gd name="T63" fmla="*/ 18 h 36"/>
                <a:gd name="T64" fmla="*/ 10 w 34"/>
                <a:gd name="T65" fmla="*/ 20 h 36"/>
                <a:gd name="T66" fmla="*/ 8 w 34"/>
                <a:gd name="T67" fmla="*/ 24 h 36"/>
                <a:gd name="T68" fmla="*/ 8 w 34"/>
                <a:gd name="T69" fmla="*/ 28 h 36"/>
                <a:gd name="T70" fmla="*/ 12 w 34"/>
                <a:gd name="T71" fmla="*/ 32 h 36"/>
                <a:gd name="T72" fmla="*/ 16 w 34"/>
                <a:gd name="T73" fmla="*/ 30 h 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34"/>
                <a:gd name="T112" fmla="*/ 0 h 36"/>
                <a:gd name="T113" fmla="*/ 34 w 34"/>
                <a:gd name="T114" fmla="*/ 36 h 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34" h="36">
                  <a:moveTo>
                    <a:pt x="20" y="30"/>
                  </a:moveTo>
                  <a:lnTo>
                    <a:pt x="16" y="34"/>
                  </a:lnTo>
                  <a:lnTo>
                    <a:pt x="14" y="36"/>
                  </a:lnTo>
                  <a:lnTo>
                    <a:pt x="12" y="36"/>
                  </a:lnTo>
                  <a:lnTo>
                    <a:pt x="10" y="36"/>
                  </a:lnTo>
                  <a:lnTo>
                    <a:pt x="6" y="36"/>
                  </a:lnTo>
                  <a:lnTo>
                    <a:pt x="4" y="34"/>
                  </a:lnTo>
                  <a:lnTo>
                    <a:pt x="2" y="32"/>
                  </a:lnTo>
                  <a:lnTo>
                    <a:pt x="0" y="28"/>
                  </a:lnTo>
                  <a:lnTo>
                    <a:pt x="2" y="26"/>
                  </a:lnTo>
                  <a:lnTo>
                    <a:pt x="2" y="24"/>
                  </a:lnTo>
                  <a:lnTo>
                    <a:pt x="4" y="20"/>
                  </a:lnTo>
                  <a:lnTo>
                    <a:pt x="8" y="18"/>
                  </a:lnTo>
                  <a:lnTo>
                    <a:pt x="14" y="16"/>
                  </a:lnTo>
                  <a:lnTo>
                    <a:pt x="20" y="12"/>
                  </a:lnTo>
                  <a:lnTo>
                    <a:pt x="20" y="6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4" y="2"/>
                  </a:lnTo>
                  <a:lnTo>
                    <a:pt x="12" y="2"/>
                  </a:lnTo>
                  <a:lnTo>
                    <a:pt x="10" y="4"/>
                  </a:lnTo>
                  <a:lnTo>
                    <a:pt x="10" y="6"/>
                  </a:lnTo>
                  <a:lnTo>
                    <a:pt x="10" y="8"/>
                  </a:lnTo>
                  <a:lnTo>
                    <a:pt x="10" y="10"/>
                  </a:lnTo>
                  <a:lnTo>
                    <a:pt x="8" y="12"/>
                  </a:lnTo>
                  <a:lnTo>
                    <a:pt x="6" y="12"/>
                  </a:lnTo>
                  <a:lnTo>
                    <a:pt x="4" y="12"/>
                  </a:lnTo>
                  <a:lnTo>
                    <a:pt x="2" y="10"/>
                  </a:lnTo>
                  <a:lnTo>
                    <a:pt x="2" y="8"/>
                  </a:lnTo>
                  <a:lnTo>
                    <a:pt x="4" y="6"/>
                  </a:lnTo>
                  <a:lnTo>
                    <a:pt x="6" y="2"/>
                  </a:lnTo>
                  <a:lnTo>
                    <a:pt x="10" y="0"/>
                  </a:lnTo>
                  <a:lnTo>
                    <a:pt x="16" y="0"/>
                  </a:lnTo>
                  <a:lnTo>
                    <a:pt x="20" y="0"/>
                  </a:lnTo>
                  <a:lnTo>
                    <a:pt x="24" y="0"/>
                  </a:lnTo>
                  <a:lnTo>
                    <a:pt x="26" y="2"/>
                  </a:lnTo>
                  <a:lnTo>
                    <a:pt x="26" y="4"/>
                  </a:lnTo>
                  <a:lnTo>
                    <a:pt x="28" y="8"/>
                  </a:lnTo>
                  <a:lnTo>
                    <a:pt x="28" y="12"/>
                  </a:lnTo>
                  <a:lnTo>
                    <a:pt x="28" y="24"/>
                  </a:lnTo>
                  <a:lnTo>
                    <a:pt x="28" y="28"/>
                  </a:lnTo>
                  <a:lnTo>
                    <a:pt x="28" y="30"/>
                  </a:lnTo>
                  <a:lnTo>
                    <a:pt x="28" y="32"/>
                  </a:lnTo>
                  <a:lnTo>
                    <a:pt x="30" y="32"/>
                  </a:lnTo>
                  <a:lnTo>
                    <a:pt x="32" y="30"/>
                  </a:lnTo>
                  <a:lnTo>
                    <a:pt x="34" y="30"/>
                  </a:lnTo>
                  <a:lnTo>
                    <a:pt x="34" y="32"/>
                  </a:lnTo>
                  <a:lnTo>
                    <a:pt x="30" y="36"/>
                  </a:lnTo>
                  <a:lnTo>
                    <a:pt x="26" y="36"/>
                  </a:lnTo>
                  <a:lnTo>
                    <a:pt x="24" y="36"/>
                  </a:lnTo>
                  <a:lnTo>
                    <a:pt x="22" y="36"/>
                  </a:lnTo>
                  <a:lnTo>
                    <a:pt x="22" y="34"/>
                  </a:lnTo>
                  <a:lnTo>
                    <a:pt x="20" y="30"/>
                  </a:lnTo>
                  <a:close/>
                  <a:moveTo>
                    <a:pt x="20" y="28"/>
                  </a:moveTo>
                  <a:lnTo>
                    <a:pt x="20" y="16"/>
                  </a:lnTo>
                  <a:lnTo>
                    <a:pt x="16" y="18"/>
                  </a:lnTo>
                  <a:lnTo>
                    <a:pt x="14" y="18"/>
                  </a:lnTo>
                  <a:lnTo>
                    <a:pt x="10" y="20"/>
                  </a:lnTo>
                  <a:lnTo>
                    <a:pt x="8" y="22"/>
                  </a:lnTo>
                  <a:lnTo>
                    <a:pt x="8" y="24"/>
                  </a:lnTo>
                  <a:lnTo>
                    <a:pt x="8" y="26"/>
                  </a:lnTo>
                  <a:lnTo>
                    <a:pt x="8" y="28"/>
                  </a:lnTo>
                  <a:lnTo>
                    <a:pt x="10" y="30"/>
                  </a:lnTo>
                  <a:lnTo>
                    <a:pt x="12" y="32"/>
                  </a:lnTo>
                  <a:lnTo>
                    <a:pt x="14" y="32"/>
                  </a:lnTo>
                  <a:lnTo>
                    <a:pt x="16" y="30"/>
                  </a:lnTo>
                  <a:lnTo>
                    <a:pt x="20" y="2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57" name="Freeform 137"/>
            <p:cNvSpPr>
              <a:spLocks noEditPoints="1"/>
            </p:cNvSpPr>
            <p:nvPr/>
          </p:nvSpPr>
          <p:spPr bwMode="auto">
            <a:xfrm>
              <a:off x="3992" y="2984"/>
              <a:ext cx="38" cy="56"/>
            </a:xfrm>
            <a:custGeom>
              <a:avLst/>
              <a:gdLst>
                <a:gd name="T0" fmla="*/ 12 w 38"/>
                <a:gd name="T1" fmla="*/ 26 h 56"/>
                <a:gd name="T2" fmla="*/ 16 w 38"/>
                <a:gd name="T3" fmla="*/ 22 h 56"/>
                <a:gd name="T4" fmla="*/ 20 w 38"/>
                <a:gd name="T5" fmla="*/ 20 h 56"/>
                <a:gd name="T6" fmla="*/ 24 w 38"/>
                <a:gd name="T7" fmla="*/ 20 h 56"/>
                <a:gd name="T8" fmla="*/ 28 w 38"/>
                <a:gd name="T9" fmla="*/ 20 h 56"/>
                <a:gd name="T10" fmla="*/ 34 w 38"/>
                <a:gd name="T11" fmla="*/ 24 h 56"/>
                <a:gd name="T12" fmla="*/ 36 w 38"/>
                <a:gd name="T13" fmla="*/ 30 h 56"/>
                <a:gd name="T14" fmla="*/ 38 w 38"/>
                <a:gd name="T15" fmla="*/ 36 h 56"/>
                <a:gd name="T16" fmla="*/ 36 w 38"/>
                <a:gd name="T17" fmla="*/ 42 h 56"/>
                <a:gd name="T18" fmla="*/ 34 w 38"/>
                <a:gd name="T19" fmla="*/ 48 h 56"/>
                <a:gd name="T20" fmla="*/ 30 w 38"/>
                <a:gd name="T21" fmla="*/ 52 h 56"/>
                <a:gd name="T22" fmla="*/ 24 w 38"/>
                <a:gd name="T23" fmla="*/ 56 h 56"/>
                <a:gd name="T24" fmla="*/ 18 w 38"/>
                <a:gd name="T25" fmla="*/ 56 h 56"/>
                <a:gd name="T26" fmla="*/ 16 w 38"/>
                <a:gd name="T27" fmla="*/ 56 h 56"/>
                <a:gd name="T28" fmla="*/ 12 w 38"/>
                <a:gd name="T29" fmla="*/ 56 h 56"/>
                <a:gd name="T30" fmla="*/ 8 w 38"/>
                <a:gd name="T31" fmla="*/ 54 h 56"/>
                <a:gd name="T32" fmla="*/ 6 w 38"/>
                <a:gd name="T33" fmla="*/ 52 h 56"/>
                <a:gd name="T34" fmla="*/ 6 w 38"/>
                <a:gd name="T35" fmla="*/ 16 h 56"/>
                <a:gd name="T36" fmla="*/ 6 w 38"/>
                <a:gd name="T37" fmla="*/ 10 h 56"/>
                <a:gd name="T38" fmla="*/ 6 w 38"/>
                <a:gd name="T39" fmla="*/ 8 h 56"/>
                <a:gd name="T40" fmla="*/ 4 w 38"/>
                <a:gd name="T41" fmla="*/ 6 h 56"/>
                <a:gd name="T42" fmla="*/ 4 w 38"/>
                <a:gd name="T43" fmla="*/ 6 h 56"/>
                <a:gd name="T44" fmla="*/ 4 w 38"/>
                <a:gd name="T45" fmla="*/ 4 h 56"/>
                <a:gd name="T46" fmla="*/ 4 w 38"/>
                <a:gd name="T47" fmla="*/ 4 h 56"/>
                <a:gd name="T48" fmla="*/ 2 w 38"/>
                <a:gd name="T49" fmla="*/ 4 h 56"/>
                <a:gd name="T50" fmla="*/ 0 w 38"/>
                <a:gd name="T51" fmla="*/ 6 h 56"/>
                <a:gd name="T52" fmla="*/ 0 w 38"/>
                <a:gd name="T53" fmla="*/ 4 h 56"/>
                <a:gd name="T54" fmla="*/ 10 w 38"/>
                <a:gd name="T55" fmla="*/ 0 h 56"/>
                <a:gd name="T56" fmla="*/ 12 w 38"/>
                <a:gd name="T57" fmla="*/ 0 h 56"/>
                <a:gd name="T58" fmla="*/ 12 w 38"/>
                <a:gd name="T59" fmla="*/ 26 h 56"/>
                <a:gd name="T60" fmla="*/ 12 w 38"/>
                <a:gd name="T61" fmla="*/ 30 h 56"/>
                <a:gd name="T62" fmla="*/ 12 w 38"/>
                <a:gd name="T63" fmla="*/ 50 h 56"/>
                <a:gd name="T64" fmla="*/ 14 w 38"/>
                <a:gd name="T65" fmla="*/ 52 h 56"/>
                <a:gd name="T66" fmla="*/ 16 w 38"/>
                <a:gd name="T67" fmla="*/ 54 h 56"/>
                <a:gd name="T68" fmla="*/ 18 w 38"/>
                <a:gd name="T69" fmla="*/ 54 h 56"/>
                <a:gd name="T70" fmla="*/ 20 w 38"/>
                <a:gd name="T71" fmla="*/ 54 h 56"/>
                <a:gd name="T72" fmla="*/ 24 w 38"/>
                <a:gd name="T73" fmla="*/ 54 h 56"/>
                <a:gd name="T74" fmla="*/ 28 w 38"/>
                <a:gd name="T75" fmla="*/ 50 h 56"/>
                <a:gd name="T76" fmla="*/ 30 w 38"/>
                <a:gd name="T77" fmla="*/ 46 h 56"/>
                <a:gd name="T78" fmla="*/ 30 w 38"/>
                <a:gd name="T79" fmla="*/ 40 h 56"/>
                <a:gd name="T80" fmla="*/ 30 w 38"/>
                <a:gd name="T81" fmla="*/ 34 h 56"/>
                <a:gd name="T82" fmla="*/ 28 w 38"/>
                <a:gd name="T83" fmla="*/ 28 h 56"/>
                <a:gd name="T84" fmla="*/ 24 w 38"/>
                <a:gd name="T85" fmla="*/ 26 h 56"/>
                <a:gd name="T86" fmla="*/ 20 w 38"/>
                <a:gd name="T87" fmla="*/ 26 h 56"/>
                <a:gd name="T88" fmla="*/ 18 w 38"/>
                <a:gd name="T89" fmla="*/ 26 h 56"/>
                <a:gd name="T90" fmla="*/ 16 w 38"/>
                <a:gd name="T91" fmla="*/ 26 h 56"/>
                <a:gd name="T92" fmla="*/ 14 w 38"/>
                <a:gd name="T93" fmla="*/ 28 h 56"/>
                <a:gd name="T94" fmla="*/ 12 w 38"/>
                <a:gd name="T95" fmla="*/ 30 h 5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38"/>
                <a:gd name="T145" fmla="*/ 0 h 56"/>
                <a:gd name="T146" fmla="*/ 38 w 38"/>
                <a:gd name="T147" fmla="*/ 56 h 5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38" h="56">
                  <a:moveTo>
                    <a:pt x="12" y="26"/>
                  </a:moveTo>
                  <a:lnTo>
                    <a:pt x="16" y="22"/>
                  </a:lnTo>
                  <a:lnTo>
                    <a:pt x="20" y="20"/>
                  </a:lnTo>
                  <a:lnTo>
                    <a:pt x="24" y="20"/>
                  </a:lnTo>
                  <a:lnTo>
                    <a:pt x="28" y="20"/>
                  </a:lnTo>
                  <a:lnTo>
                    <a:pt x="34" y="24"/>
                  </a:lnTo>
                  <a:lnTo>
                    <a:pt x="36" y="30"/>
                  </a:lnTo>
                  <a:lnTo>
                    <a:pt x="38" y="36"/>
                  </a:lnTo>
                  <a:lnTo>
                    <a:pt x="36" y="42"/>
                  </a:lnTo>
                  <a:lnTo>
                    <a:pt x="34" y="48"/>
                  </a:lnTo>
                  <a:lnTo>
                    <a:pt x="30" y="52"/>
                  </a:lnTo>
                  <a:lnTo>
                    <a:pt x="24" y="56"/>
                  </a:lnTo>
                  <a:lnTo>
                    <a:pt x="18" y="56"/>
                  </a:lnTo>
                  <a:lnTo>
                    <a:pt x="16" y="56"/>
                  </a:lnTo>
                  <a:lnTo>
                    <a:pt x="12" y="56"/>
                  </a:lnTo>
                  <a:lnTo>
                    <a:pt x="8" y="54"/>
                  </a:lnTo>
                  <a:lnTo>
                    <a:pt x="6" y="52"/>
                  </a:lnTo>
                  <a:lnTo>
                    <a:pt x="6" y="16"/>
                  </a:lnTo>
                  <a:lnTo>
                    <a:pt x="6" y="10"/>
                  </a:lnTo>
                  <a:lnTo>
                    <a:pt x="6" y="8"/>
                  </a:lnTo>
                  <a:lnTo>
                    <a:pt x="4" y="6"/>
                  </a:lnTo>
                  <a:lnTo>
                    <a:pt x="4" y="4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4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2" y="26"/>
                  </a:lnTo>
                  <a:close/>
                  <a:moveTo>
                    <a:pt x="12" y="30"/>
                  </a:moveTo>
                  <a:lnTo>
                    <a:pt x="12" y="50"/>
                  </a:lnTo>
                  <a:lnTo>
                    <a:pt x="14" y="52"/>
                  </a:lnTo>
                  <a:lnTo>
                    <a:pt x="16" y="54"/>
                  </a:lnTo>
                  <a:lnTo>
                    <a:pt x="18" y="54"/>
                  </a:lnTo>
                  <a:lnTo>
                    <a:pt x="20" y="54"/>
                  </a:lnTo>
                  <a:lnTo>
                    <a:pt x="24" y="54"/>
                  </a:lnTo>
                  <a:lnTo>
                    <a:pt x="28" y="50"/>
                  </a:lnTo>
                  <a:lnTo>
                    <a:pt x="30" y="46"/>
                  </a:lnTo>
                  <a:lnTo>
                    <a:pt x="30" y="40"/>
                  </a:lnTo>
                  <a:lnTo>
                    <a:pt x="30" y="34"/>
                  </a:lnTo>
                  <a:lnTo>
                    <a:pt x="28" y="28"/>
                  </a:lnTo>
                  <a:lnTo>
                    <a:pt x="24" y="26"/>
                  </a:lnTo>
                  <a:lnTo>
                    <a:pt x="20" y="26"/>
                  </a:lnTo>
                  <a:lnTo>
                    <a:pt x="18" y="26"/>
                  </a:lnTo>
                  <a:lnTo>
                    <a:pt x="16" y="26"/>
                  </a:lnTo>
                  <a:lnTo>
                    <a:pt x="14" y="28"/>
                  </a:lnTo>
                  <a:lnTo>
                    <a:pt x="12" y="3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58" name="Freeform 138"/>
            <p:cNvSpPr>
              <a:spLocks noEditPoints="1"/>
            </p:cNvSpPr>
            <p:nvPr/>
          </p:nvSpPr>
          <p:spPr bwMode="auto">
            <a:xfrm>
              <a:off x="4036" y="2984"/>
              <a:ext cx="16" cy="56"/>
            </a:xfrm>
            <a:custGeom>
              <a:avLst/>
              <a:gdLst>
                <a:gd name="T0" fmla="*/ 6 w 16"/>
                <a:gd name="T1" fmla="*/ 0 h 56"/>
                <a:gd name="T2" fmla="*/ 8 w 16"/>
                <a:gd name="T3" fmla="*/ 0 h 56"/>
                <a:gd name="T4" fmla="*/ 10 w 16"/>
                <a:gd name="T5" fmla="*/ 2 h 56"/>
                <a:gd name="T6" fmla="*/ 12 w 16"/>
                <a:gd name="T7" fmla="*/ 2 h 56"/>
                <a:gd name="T8" fmla="*/ 12 w 16"/>
                <a:gd name="T9" fmla="*/ 4 h 56"/>
                <a:gd name="T10" fmla="*/ 12 w 16"/>
                <a:gd name="T11" fmla="*/ 6 h 56"/>
                <a:gd name="T12" fmla="*/ 10 w 16"/>
                <a:gd name="T13" fmla="*/ 8 h 56"/>
                <a:gd name="T14" fmla="*/ 8 w 16"/>
                <a:gd name="T15" fmla="*/ 8 h 56"/>
                <a:gd name="T16" fmla="*/ 6 w 16"/>
                <a:gd name="T17" fmla="*/ 10 h 56"/>
                <a:gd name="T18" fmla="*/ 6 w 16"/>
                <a:gd name="T19" fmla="*/ 8 h 56"/>
                <a:gd name="T20" fmla="*/ 4 w 16"/>
                <a:gd name="T21" fmla="*/ 8 h 56"/>
                <a:gd name="T22" fmla="*/ 2 w 16"/>
                <a:gd name="T23" fmla="*/ 6 h 56"/>
                <a:gd name="T24" fmla="*/ 2 w 16"/>
                <a:gd name="T25" fmla="*/ 4 h 56"/>
                <a:gd name="T26" fmla="*/ 2 w 16"/>
                <a:gd name="T27" fmla="*/ 2 h 56"/>
                <a:gd name="T28" fmla="*/ 4 w 16"/>
                <a:gd name="T29" fmla="*/ 2 h 56"/>
                <a:gd name="T30" fmla="*/ 6 w 16"/>
                <a:gd name="T31" fmla="*/ 0 h 56"/>
                <a:gd name="T32" fmla="*/ 6 w 16"/>
                <a:gd name="T33" fmla="*/ 0 h 56"/>
                <a:gd name="T34" fmla="*/ 10 w 16"/>
                <a:gd name="T35" fmla="*/ 20 h 56"/>
                <a:gd name="T36" fmla="*/ 10 w 16"/>
                <a:gd name="T37" fmla="*/ 48 h 56"/>
                <a:gd name="T38" fmla="*/ 10 w 16"/>
                <a:gd name="T39" fmla="*/ 50 h 56"/>
                <a:gd name="T40" fmla="*/ 12 w 16"/>
                <a:gd name="T41" fmla="*/ 52 h 56"/>
                <a:gd name="T42" fmla="*/ 12 w 16"/>
                <a:gd name="T43" fmla="*/ 54 h 56"/>
                <a:gd name="T44" fmla="*/ 12 w 16"/>
                <a:gd name="T45" fmla="*/ 54 h 56"/>
                <a:gd name="T46" fmla="*/ 14 w 16"/>
                <a:gd name="T47" fmla="*/ 56 h 56"/>
                <a:gd name="T48" fmla="*/ 16 w 16"/>
                <a:gd name="T49" fmla="*/ 56 h 56"/>
                <a:gd name="T50" fmla="*/ 16 w 16"/>
                <a:gd name="T51" fmla="*/ 56 h 56"/>
                <a:gd name="T52" fmla="*/ 0 w 16"/>
                <a:gd name="T53" fmla="*/ 56 h 56"/>
                <a:gd name="T54" fmla="*/ 0 w 16"/>
                <a:gd name="T55" fmla="*/ 56 h 56"/>
                <a:gd name="T56" fmla="*/ 2 w 16"/>
                <a:gd name="T57" fmla="*/ 56 h 56"/>
                <a:gd name="T58" fmla="*/ 2 w 16"/>
                <a:gd name="T59" fmla="*/ 54 h 56"/>
                <a:gd name="T60" fmla="*/ 2 w 16"/>
                <a:gd name="T61" fmla="*/ 54 h 56"/>
                <a:gd name="T62" fmla="*/ 4 w 16"/>
                <a:gd name="T63" fmla="*/ 52 h 56"/>
                <a:gd name="T64" fmla="*/ 4 w 16"/>
                <a:gd name="T65" fmla="*/ 50 h 56"/>
                <a:gd name="T66" fmla="*/ 4 w 16"/>
                <a:gd name="T67" fmla="*/ 48 h 56"/>
                <a:gd name="T68" fmla="*/ 4 w 16"/>
                <a:gd name="T69" fmla="*/ 34 h 56"/>
                <a:gd name="T70" fmla="*/ 4 w 16"/>
                <a:gd name="T71" fmla="*/ 30 h 56"/>
                <a:gd name="T72" fmla="*/ 4 w 16"/>
                <a:gd name="T73" fmla="*/ 26 h 56"/>
                <a:gd name="T74" fmla="*/ 4 w 16"/>
                <a:gd name="T75" fmla="*/ 24 h 56"/>
                <a:gd name="T76" fmla="*/ 4 w 16"/>
                <a:gd name="T77" fmla="*/ 24 h 56"/>
                <a:gd name="T78" fmla="*/ 2 w 16"/>
                <a:gd name="T79" fmla="*/ 24 h 56"/>
                <a:gd name="T80" fmla="*/ 2 w 16"/>
                <a:gd name="T81" fmla="*/ 24 h 56"/>
                <a:gd name="T82" fmla="*/ 0 w 16"/>
                <a:gd name="T83" fmla="*/ 24 h 56"/>
                <a:gd name="T84" fmla="*/ 0 w 16"/>
                <a:gd name="T85" fmla="*/ 24 h 56"/>
                <a:gd name="T86" fmla="*/ 0 w 16"/>
                <a:gd name="T87" fmla="*/ 24 h 56"/>
                <a:gd name="T88" fmla="*/ 10 w 16"/>
                <a:gd name="T89" fmla="*/ 20 h 56"/>
                <a:gd name="T90" fmla="*/ 10 w 16"/>
                <a:gd name="T91" fmla="*/ 20 h 5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6"/>
                <a:gd name="T139" fmla="*/ 0 h 56"/>
                <a:gd name="T140" fmla="*/ 16 w 16"/>
                <a:gd name="T141" fmla="*/ 56 h 5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6" h="56">
                  <a:moveTo>
                    <a:pt x="6" y="0"/>
                  </a:moveTo>
                  <a:lnTo>
                    <a:pt x="8" y="0"/>
                  </a:lnTo>
                  <a:lnTo>
                    <a:pt x="10" y="2"/>
                  </a:lnTo>
                  <a:lnTo>
                    <a:pt x="12" y="2"/>
                  </a:lnTo>
                  <a:lnTo>
                    <a:pt x="12" y="4"/>
                  </a:lnTo>
                  <a:lnTo>
                    <a:pt x="12" y="6"/>
                  </a:lnTo>
                  <a:lnTo>
                    <a:pt x="10" y="8"/>
                  </a:lnTo>
                  <a:lnTo>
                    <a:pt x="8" y="8"/>
                  </a:lnTo>
                  <a:lnTo>
                    <a:pt x="6" y="10"/>
                  </a:lnTo>
                  <a:lnTo>
                    <a:pt x="6" y="8"/>
                  </a:lnTo>
                  <a:lnTo>
                    <a:pt x="4" y="8"/>
                  </a:lnTo>
                  <a:lnTo>
                    <a:pt x="2" y="6"/>
                  </a:lnTo>
                  <a:lnTo>
                    <a:pt x="2" y="4"/>
                  </a:lnTo>
                  <a:lnTo>
                    <a:pt x="2" y="2"/>
                  </a:lnTo>
                  <a:lnTo>
                    <a:pt x="4" y="2"/>
                  </a:lnTo>
                  <a:lnTo>
                    <a:pt x="6" y="0"/>
                  </a:lnTo>
                  <a:close/>
                  <a:moveTo>
                    <a:pt x="10" y="20"/>
                  </a:moveTo>
                  <a:lnTo>
                    <a:pt x="10" y="48"/>
                  </a:lnTo>
                  <a:lnTo>
                    <a:pt x="10" y="50"/>
                  </a:lnTo>
                  <a:lnTo>
                    <a:pt x="12" y="52"/>
                  </a:lnTo>
                  <a:lnTo>
                    <a:pt x="12" y="54"/>
                  </a:lnTo>
                  <a:lnTo>
                    <a:pt x="14" y="56"/>
                  </a:lnTo>
                  <a:lnTo>
                    <a:pt x="16" y="56"/>
                  </a:lnTo>
                  <a:lnTo>
                    <a:pt x="0" y="56"/>
                  </a:lnTo>
                  <a:lnTo>
                    <a:pt x="2" y="56"/>
                  </a:lnTo>
                  <a:lnTo>
                    <a:pt x="2" y="54"/>
                  </a:lnTo>
                  <a:lnTo>
                    <a:pt x="4" y="52"/>
                  </a:lnTo>
                  <a:lnTo>
                    <a:pt x="4" y="50"/>
                  </a:lnTo>
                  <a:lnTo>
                    <a:pt x="4" y="48"/>
                  </a:lnTo>
                  <a:lnTo>
                    <a:pt x="4" y="34"/>
                  </a:lnTo>
                  <a:lnTo>
                    <a:pt x="4" y="30"/>
                  </a:lnTo>
                  <a:lnTo>
                    <a:pt x="4" y="26"/>
                  </a:lnTo>
                  <a:lnTo>
                    <a:pt x="4" y="24"/>
                  </a:lnTo>
                  <a:lnTo>
                    <a:pt x="2" y="24"/>
                  </a:lnTo>
                  <a:lnTo>
                    <a:pt x="0" y="24"/>
                  </a:lnTo>
                  <a:lnTo>
                    <a:pt x="10" y="2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59" name="Freeform 139"/>
            <p:cNvSpPr/>
            <p:nvPr/>
          </p:nvSpPr>
          <p:spPr bwMode="auto">
            <a:xfrm>
              <a:off x="4056" y="3004"/>
              <a:ext cx="38" cy="36"/>
            </a:xfrm>
            <a:custGeom>
              <a:avLst/>
              <a:gdLst>
                <a:gd name="T0" fmla="*/ 10 w 38"/>
                <a:gd name="T1" fmla="*/ 8 h 36"/>
                <a:gd name="T2" fmla="*/ 14 w 38"/>
                <a:gd name="T3" fmla="*/ 2 h 36"/>
                <a:gd name="T4" fmla="*/ 18 w 38"/>
                <a:gd name="T5" fmla="*/ 0 h 36"/>
                <a:gd name="T6" fmla="*/ 22 w 38"/>
                <a:gd name="T7" fmla="*/ 0 h 36"/>
                <a:gd name="T8" fmla="*/ 26 w 38"/>
                <a:gd name="T9" fmla="*/ 0 h 36"/>
                <a:gd name="T10" fmla="*/ 28 w 38"/>
                <a:gd name="T11" fmla="*/ 0 h 36"/>
                <a:gd name="T12" fmla="*/ 30 w 38"/>
                <a:gd name="T13" fmla="*/ 2 h 36"/>
                <a:gd name="T14" fmla="*/ 32 w 38"/>
                <a:gd name="T15" fmla="*/ 6 h 36"/>
                <a:gd name="T16" fmla="*/ 32 w 38"/>
                <a:gd name="T17" fmla="*/ 8 h 36"/>
                <a:gd name="T18" fmla="*/ 32 w 38"/>
                <a:gd name="T19" fmla="*/ 12 h 36"/>
                <a:gd name="T20" fmla="*/ 32 w 38"/>
                <a:gd name="T21" fmla="*/ 28 h 36"/>
                <a:gd name="T22" fmla="*/ 32 w 38"/>
                <a:gd name="T23" fmla="*/ 30 h 36"/>
                <a:gd name="T24" fmla="*/ 32 w 38"/>
                <a:gd name="T25" fmla="*/ 32 h 36"/>
                <a:gd name="T26" fmla="*/ 34 w 38"/>
                <a:gd name="T27" fmla="*/ 34 h 36"/>
                <a:gd name="T28" fmla="*/ 34 w 38"/>
                <a:gd name="T29" fmla="*/ 34 h 36"/>
                <a:gd name="T30" fmla="*/ 36 w 38"/>
                <a:gd name="T31" fmla="*/ 36 h 36"/>
                <a:gd name="T32" fmla="*/ 38 w 38"/>
                <a:gd name="T33" fmla="*/ 36 h 36"/>
                <a:gd name="T34" fmla="*/ 38 w 38"/>
                <a:gd name="T35" fmla="*/ 36 h 36"/>
                <a:gd name="T36" fmla="*/ 20 w 38"/>
                <a:gd name="T37" fmla="*/ 36 h 36"/>
                <a:gd name="T38" fmla="*/ 20 w 38"/>
                <a:gd name="T39" fmla="*/ 36 h 36"/>
                <a:gd name="T40" fmla="*/ 22 w 38"/>
                <a:gd name="T41" fmla="*/ 36 h 36"/>
                <a:gd name="T42" fmla="*/ 24 w 38"/>
                <a:gd name="T43" fmla="*/ 34 h 36"/>
                <a:gd name="T44" fmla="*/ 24 w 38"/>
                <a:gd name="T45" fmla="*/ 34 h 36"/>
                <a:gd name="T46" fmla="*/ 26 w 38"/>
                <a:gd name="T47" fmla="*/ 34 h 36"/>
                <a:gd name="T48" fmla="*/ 26 w 38"/>
                <a:gd name="T49" fmla="*/ 32 h 36"/>
                <a:gd name="T50" fmla="*/ 26 w 38"/>
                <a:gd name="T51" fmla="*/ 30 h 36"/>
                <a:gd name="T52" fmla="*/ 26 w 38"/>
                <a:gd name="T53" fmla="*/ 28 h 36"/>
                <a:gd name="T54" fmla="*/ 26 w 38"/>
                <a:gd name="T55" fmla="*/ 14 h 36"/>
                <a:gd name="T56" fmla="*/ 26 w 38"/>
                <a:gd name="T57" fmla="*/ 10 h 36"/>
                <a:gd name="T58" fmla="*/ 24 w 38"/>
                <a:gd name="T59" fmla="*/ 6 h 36"/>
                <a:gd name="T60" fmla="*/ 22 w 38"/>
                <a:gd name="T61" fmla="*/ 4 h 36"/>
                <a:gd name="T62" fmla="*/ 20 w 38"/>
                <a:gd name="T63" fmla="*/ 4 h 36"/>
                <a:gd name="T64" fmla="*/ 16 w 38"/>
                <a:gd name="T65" fmla="*/ 6 h 36"/>
                <a:gd name="T66" fmla="*/ 10 w 38"/>
                <a:gd name="T67" fmla="*/ 10 h 36"/>
                <a:gd name="T68" fmla="*/ 10 w 38"/>
                <a:gd name="T69" fmla="*/ 28 h 36"/>
                <a:gd name="T70" fmla="*/ 10 w 38"/>
                <a:gd name="T71" fmla="*/ 30 h 36"/>
                <a:gd name="T72" fmla="*/ 12 w 38"/>
                <a:gd name="T73" fmla="*/ 32 h 36"/>
                <a:gd name="T74" fmla="*/ 12 w 38"/>
                <a:gd name="T75" fmla="*/ 34 h 36"/>
                <a:gd name="T76" fmla="*/ 12 w 38"/>
                <a:gd name="T77" fmla="*/ 34 h 36"/>
                <a:gd name="T78" fmla="*/ 14 w 38"/>
                <a:gd name="T79" fmla="*/ 36 h 36"/>
                <a:gd name="T80" fmla="*/ 16 w 38"/>
                <a:gd name="T81" fmla="*/ 36 h 36"/>
                <a:gd name="T82" fmla="*/ 16 w 38"/>
                <a:gd name="T83" fmla="*/ 36 h 36"/>
                <a:gd name="T84" fmla="*/ 0 w 38"/>
                <a:gd name="T85" fmla="*/ 36 h 36"/>
                <a:gd name="T86" fmla="*/ 0 w 38"/>
                <a:gd name="T87" fmla="*/ 36 h 36"/>
                <a:gd name="T88" fmla="*/ 0 w 38"/>
                <a:gd name="T89" fmla="*/ 36 h 36"/>
                <a:gd name="T90" fmla="*/ 2 w 38"/>
                <a:gd name="T91" fmla="*/ 34 h 36"/>
                <a:gd name="T92" fmla="*/ 4 w 38"/>
                <a:gd name="T93" fmla="*/ 34 h 36"/>
                <a:gd name="T94" fmla="*/ 4 w 38"/>
                <a:gd name="T95" fmla="*/ 32 h 36"/>
                <a:gd name="T96" fmla="*/ 4 w 38"/>
                <a:gd name="T97" fmla="*/ 28 h 36"/>
                <a:gd name="T98" fmla="*/ 4 w 38"/>
                <a:gd name="T99" fmla="*/ 14 h 36"/>
                <a:gd name="T100" fmla="*/ 4 w 38"/>
                <a:gd name="T101" fmla="*/ 8 h 36"/>
                <a:gd name="T102" fmla="*/ 4 w 38"/>
                <a:gd name="T103" fmla="*/ 6 h 36"/>
                <a:gd name="T104" fmla="*/ 4 w 38"/>
                <a:gd name="T105" fmla="*/ 6 h 36"/>
                <a:gd name="T106" fmla="*/ 4 w 38"/>
                <a:gd name="T107" fmla="*/ 4 h 36"/>
                <a:gd name="T108" fmla="*/ 2 w 38"/>
                <a:gd name="T109" fmla="*/ 4 h 36"/>
                <a:gd name="T110" fmla="*/ 2 w 38"/>
                <a:gd name="T111" fmla="*/ 4 h 36"/>
                <a:gd name="T112" fmla="*/ 0 w 38"/>
                <a:gd name="T113" fmla="*/ 4 h 36"/>
                <a:gd name="T114" fmla="*/ 0 w 38"/>
                <a:gd name="T115" fmla="*/ 4 h 36"/>
                <a:gd name="T116" fmla="*/ 0 w 38"/>
                <a:gd name="T117" fmla="*/ 4 h 36"/>
                <a:gd name="T118" fmla="*/ 10 w 38"/>
                <a:gd name="T119" fmla="*/ 0 h 36"/>
                <a:gd name="T120" fmla="*/ 10 w 38"/>
                <a:gd name="T121" fmla="*/ 0 h 36"/>
                <a:gd name="T122" fmla="*/ 10 w 38"/>
                <a:gd name="T123" fmla="*/ 8 h 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38"/>
                <a:gd name="T187" fmla="*/ 0 h 36"/>
                <a:gd name="T188" fmla="*/ 38 w 38"/>
                <a:gd name="T189" fmla="*/ 36 h 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38" h="36">
                  <a:moveTo>
                    <a:pt x="10" y="8"/>
                  </a:moveTo>
                  <a:lnTo>
                    <a:pt x="14" y="2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0" y="2"/>
                  </a:lnTo>
                  <a:lnTo>
                    <a:pt x="32" y="6"/>
                  </a:lnTo>
                  <a:lnTo>
                    <a:pt x="32" y="8"/>
                  </a:lnTo>
                  <a:lnTo>
                    <a:pt x="32" y="12"/>
                  </a:lnTo>
                  <a:lnTo>
                    <a:pt x="32" y="28"/>
                  </a:lnTo>
                  <a:lnTo>
                    <a:pt x="32" y="30"/>
                  </a:lnTo>
                  <a:lnTo>
                    <a:pt x="32" y="32"/>
                  </a:lnTo>
                  <a:lnTo>
                    <a:pt x="34" y="34"/>
                  </a:lnTo>
                  <a:lnTo>
                    <a:pt x="36" y="36"/>
                  </a:lnTo>
                  <a:lnTo>
                    <a:pt x="38" y="36"/>
                  </a:lnTo>
                  <a:lnTo>
                    <a:pt x="20" y="36"/>
                  </a:lnTo>
                  <a:lnTo>
                    <a:pt x="22" y="36"/>
                  </a:lnTo>
                  <a:lnTo>
                    <a:pt x="24" y="34"/>
                  </a:lnTo>
                  <a:lnTo>
                    <a:pt x="26" y="34"/>
                  </a:lnTo>
                  <a:lnTo>
                    <a:pt x="26" y="32"/>
                  </a:lnTo>
                  <a:lnTo>
                    <a:pt x="26" y="30"/>
                  </a:lnTo>
                  <a:lnTo>
                    <a:pt x="26" y="28"/>
                  </a:lnTo>
                  <a:lnTo>
                    <a:pt x="26" y="14"/>
                  </a:lnTo>
                  <a:lnTo>
                    <a:pt x="26" y="10"/>
                  </a:lnTo>
                  <a:lnTo>
                    <a:pt x="24" y="6"/>
                  </a:lnTo>
                  <a:lnTo>
                    <a:pt x="22" y="4"/>
                  </a:lnTo>
                  <a:lnTo>
                    <a:pt x="20" y="4"/>
                  </a:lnTo>
                  <a:lnTo>
                    <a:pt x="16" y="6"/>
                  </a:lnTo>
                  <a:lnTo>
                    <a:pt x="10" y="10"/>
                  </a:lnTo>
                  <a:lnTo>
                    <a:pt x="10" y="28"/>
                  </a:lnTo>
                  <a:lnTo>
                    <a:pt x="10" y="30"/>
                  </a:lnTo>
                  <a:lnTo>
                    <a:pt x="12" y="32"/>
                  </a:lnTo>
                  <a:lnTo>
                    <a:pt x="12" y="34"/>
                  </a:lnTo>
                  <a:lnTo>
                    <a:pt x="14" y="36"/>
                  </a:lnTo>
                  <a:lnTo>
                    <a:pt x="16" y="36"/>
                  </a:lnTo>
                  <a:lnTo>
                    <a:pt x="0" y="36"/>
                  </a:lnTo>
                  <a:lnTo>
                    <a:pt x="2" y="34"/>
                  </a:lnTo>
                  <a:lnTo>
                    <a:pt x="4" y="34"/>
                  </a:lnTo>
                  <a:lnTo>
                    <a:pt x="4" y="32"/>
                  </a:lnTo>
                  <a:lnTo>
                    <a:pt x="4" y="28"/>
                  </a:lnTo>
                  <a:lnTo>
                    <a:pt x="4" y="14"/>
                  </a:lnTo>
                  <a:lnTo>
                    <a:pt x="4" y="8"/>
                  </a:lnTo>
                  <a:lnTo>
                    <a:pt x="4" y="6"/>
                  </a:lnTo>
                  <a:lnTo>
                    <a:pt x="4" y="4"/>
                  </a:lnTo>
                  <a:lnTo>
                    <a:pt x="2" y="4"/>
                  </a:lnTo>
                  <a:lnTo>
                    <a:pt x="0" y="4"/>
                  </a:lnTo>
                  <a:lnTo>
                    <a:pt x="10" y="0"/>
                  </a:lnTo>
                  <a:lnTo>
                    <a:pt x="10" y="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60" name="Rectangle 140"/>
            <p:cNvSpPr>
              <a:spLocks noChangeArrowheads="1"/>
            </p:cNvSpPr>
            <p:nvPr/>
          </p:nvSpPr>
          <p:spPr bwMode="auto">
            <a:xfrm>
              <a:off x="4200" y="1980"/>
              <a:ext cx="4" cy="1132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miter lim="800000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82061" name="Rectangle 141"/>
            <p:cNvSpPr>
              <a:spLocks noChangeArrowheads="1"/>
            </p:cNvSpPr>
            <p:nvPr/>
          </p:nvSpPr>
          <p:spPr bwMode="auto">
            <a:xfrm>
              <a:off x="1552" y="3108"/>
              <a:ext cx="2650" cy="4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miter lim="800000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82062" name="Line 142"/>
            <p:cNvSpPr>
              <a:spLocks noChangeShapeType="1"/>
            </p:cNvSpPr>
            <p:nvPr/>
          </p:nvSpPr>
          <p:spPr bwMode="auto">
            <a:xfrm flipH="1">
              <a:off x="1794" y="2118"/>
              <a:ext cx="520" cy="8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63" name="Line 143"/>
            <p:cNvSpPr>
              <a:spLocks noChangeShapeType="1"/>
            </p:cNvSpPr>
            <p:nvPr/>
          </p:nvSpPr>
          <p:spPr bwMode="auto">
            <a:xfrm>
              <a:off x="2314" y="2118"/>
              <a:ext cx="494" cy="8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64" name="Line 144"/>
            <p:cNvSpPr>
              <a:spLocks noChangeShapeType="1"/>
            </p:cNvSpPr>
            <p:nvPr/>
          </p:nvSpPr>
          <p:spPr bwMode="auto">
            <a:xfrm>
              <a:off x="1792" y="2306"/>
              <a:ext cx="1" cy="9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65" name="Line 145"/>
            <p:cNvSpPr>
              <a:spLocks noChangeShapeType="1"/>
            </p:cNvSpPr>
            <p:nvPr/>
          </p:nvSpPr>
          <p:spPr bwMode="auto">
            <a:xfrm>
              <a:off x="1792" y="2498"/>
              <a:ext cx="1" cy="47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66" name="Line 146"/>
            <p:cNvSpPr>
              <a:spLocks noChangeShapeType="1"/>
            </p:cNvSpPr>
            <p:nvPr/>
          </p:nvSpPr>
          <p:spPr bwMode="auto">
            <a:xfrm flipH="1">
              <a:off x="2314" y="2308"/>
              <a:ext cx="494" cy="88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67" name="Line 147"/>
            <p:cNvSpPr>
              <a:spLocks noChangeShapeType="1"/>
            </p:cNvSpPr>
            <p:nvPr/>
          </p:nvSpPr>
          <p:spPr bwMode="auto">
            <a:xfrm>
              <a:off x="2808" y="2308"/>
              <a:ext cx="1" cy="88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68" name="Line 148"/>
            <p:cNvSpPr>
              <a:spLocks noChangeShapeType="1"/>
            </p:cNvSpPr>
            <p:nvPr/>
          </p:nvSpPr>
          <p:spPr bwMode="auto">
            <a:xfrm>
              <a:off x="2808" y="2308"/>
              <a:ext cx="654" cy="88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69" name="Line 149"/>
            <p:cNvSpPr>
              <a:spLocks noChangeShapeType="1"/>
            </p:cNvSpPr>
            <p:nvPr/>
          </p:nvSpPr>
          <p:spPr bwMode="auto">
            <a:xfrm>
              <a:off x="2312" y="2500"/>
              <a:ext cx="1" cy="47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70" name="Line 150"/>
            <p:cNvSpPr>
              <a:spLocks noChangeShapeType="1"/>
            </p:cNvSpPr>
            <p:nvPr/>
          </p:nvSpPr>
          <p:spPr bwMode="auto">
            <a:xfrm>
              <a:off x="2808" y="2498"/>
              <a:ext cx="1" cy="9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71" name="Line 151"/>
            <p:cNvSpPr>
              <a:spLocks noChangeShapeType="1"/>
            </p:cNvSpPr>
            <p:nvPr/>
          </p:nvSpPr>
          <p:spPr bwMode="auto">
            <a:xfrm>
              <a:off x="2808" y="2688"/>
              <a:ext cx="1" cy="28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72" name="Line 152"/>
            <p:cNvSpPr>
              <a:spLocks noChangeShapeType="1"/>
            </p:cNvSpPr>
            <p:nvPr/>
          </p:nvSpPr>
          <p:spPr bwMode="auto">
            <a:xfrm flipH="1">
              <a:off x="3170" y="2498"/>
              <a:ext cx="292" cy="9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73" name="Line 153"/>
            <p:cNvSpPr>
              <a:spLocks noChangeShapeType="1"/>
            </p:cNvSpPr>
            <p:nvPr/>
          </p:nvSpPr>
          <p:spPr bwMode="auto">
            <a:xfrm>
              <a:off x="3462" y="2498"/>
              <a:ext cx="290" cy="9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74" name="Line 154"/>
            <p:cNvSpPr>
              <a:spLocks noChangeShapeType="1"/>
            </p:cNvSpPr>
            <p:nvPr/>
          </p:nvSpPr>
          <p:spPr bwMode="auto">
            <a:xfrm>
              <a:off x="3168" y="2688"/>
              <a:ext cx="1" cy="28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75" name="Line 155"/>
            <p:cNvSpPr>
              <a:spLocks noChangeShapeType="1"/>
            </p:cNvSpPr>
            <p:nvPr/>
          </p:nvSpPr>
          <p:spPr bwMode="auto">
            <a:xfrm flipH="1">
              <a:off x="3462" y="2688"/>
              <a:ext cx="290" cy="9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76" name="Line 156"/>
            <p:cNvSpPr>
              <a:spLocks noChangeShapeType="1"/>
            </p:cNvSpPr>
            <p:nvPr/>
          </p:nvSpPr>
          <p:spPr bwMode="auto">
            <a:xfrm>
              <a:off x="3752" y="2688"/>
              <a:ext cx="290" cy="9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77" name="Line 157"/>
            <p:cNvSpPr>
              <a:spLocks noChangeShapeType="1"/>
            </p:cNvSpPr>
            <p:nvPr/>
          </p:nvSpPr>
          <p:spPr bwMode="auto">
            <a:xfrm>
              <a:off x="3464" y="2880"/>
              <a:ext cx="1" cy="108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78" name="Line 158"/>
            <p:cNvSpPr>
              <a:spLocks noChangeShapeType="1"/>
            </p:cNvSpPr>
            <p:nvPr/>
          </p:nvSpPr>
          <p:spPr bwMode="auto">
            <a:xfrm>
              <a:off x="4040" y="2880"/>
              <a:ext cx="1" cy="9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 smtClean="0"/>
              <a:t>How to get </a:t>
            </a:r>
            <a:r>
              <a:rPr lang="en-US" altLang="zh-CN" sz="4000" i="1" smtClean="0"/>
              <a:t>p</a:t>
            </a:r>
            <a:r>
              <a:rPr lang="en-US" altLang="zh-CN" sz="4000" smtClean="0"/>
              <a:t>(V NP NP|VP(gave)) ?</a:t>
            </a:r>
            <a:endParaRPr lang="en-US" altLang="zh-CN" sz="4000" smtClean="0"/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smtClean="0"/>
              <a:t>count the number of times rule (VP -&gt; V NP NP) is used where the head of V is </a:t>
            </a:r>
            <a:r>
              <a:rPr lang="en-US" altLang="zh-CN" sz="2800" smtClean="0">
                <a:latin typeface="Times New Roman" panose="02020603050405020304" pitchFamily="18" charset="0"/>
              </a:rPr>
              <a:t>“</a:t>
            </a:r>
            <a:r>
              <a:rPr lang="en-US" altLang="zh-CN" sz="2800" smtClean="0"/>
              <a:t>gave</a:t>
            </a:r>
            <a:r>
              <a:rPr lang="en-US" altLang="zh-CN" sz="2800" smtClean="0">
                <a:latin typeface="Times New Roman" panose="02020603050405020304" pitchFamily="18" charset="0"/>
              </a:rPr>
              <a:t>”</a:t>
            </a:r>
            <a:r>
              <a:rPr lang="en-US" altLang="zh-CN" sz="2800" smtClean="0"/>
              <a:t> and  divide it by the number of times </a:t>
            </a:r>
            <a:r>
              <a:rPr lang="en-US" altLang="zh-CN" sz="2800" smtClean="0">
                <a:latin typeface="Times New Roman" panose="02020603050405020304" pitchFamily="18" charset="0"/>
              </a:rPr>
              <a:t>“</a:t>
            </a:r>
            <a:r>
              <a:rPr lang="en-US" altLang="zh-CN" sz="2800" smtClean="0"/>
              <a:t>gave</a:t>
            </a:r>
            <a:r>
              <a:rPr lang="en-US" altLang="zh-CN" sz="2800" smtClean="0">
                <a:latin typeface="Times New Roman" panose="02020603050405020304" pitchFamily="18" charset="0"/>
              </a:rPr>
              <a:t>”</a:t>
            </a:r>
            <a:r>
              <a:rPr lang="en-US" altLang="zh-CN" sz="2800" smtClean="0"/>
              <a:t> is used as the head of VP in a treebank</a:t>
            </a:r>
            <a:endParaRPr lang="en-US" altLang="zh-CN" sz="2800" smtClean="0"/>
          </a:p>
          <a:p>
            <a:pPr lvl="1" eaLnBrk="1" hangingPunct="1">
              <a:buFontTx/>
              <a:buNone/>
            </a:pPr>
            <a:r>
              <a:rPr lang="en-US" altLang="zh-CN" sz="2400" smtClean="0"/>
              <a:t>P(VP </a:t>
            </a:r>
            <a:r>
              <a:rPr lang="en-US" altLang="zh-CN" sz="2400" smtClean="0">
                <a:sym typeface="Wingdings" panose="05000000000000000000" pitchFamily="2" charset="2"/>
              </a:rPr>
              <a:t> VB NP NP | VP(gave))</a:t>
            </a:r>
            <a:endParaRPr lang="en-US" altLang="zh-CN" sz="2400" smtClean="0">
              <a:sym typeface="Wingdings" panose="05000000000000000000" pitchFamily="2" charset="2"/>
            </a:endParaRPr>
          </a:p>
          <a:p>
            <a:pPr lvl="1" eaLnBrk="1" hangingPunct="1">
              <a:buFontTx/>
              <a:buNone/>
            </a:pPr>
            <a:r>
              <a:rPr lang="en-US" altLang="zh-CN" sz="2400" smtClean="0">
                <a:sym typeface="Wingdings" panose="05000000000000000000" pitchFamily="2" charset="2"/>
              </a:rPr>
              <a:t>	= C(VP(</a:t>
            </a:r>
            <a:r>
              <a:rPr lang="en-US" altLang="zh-CN" sz="2400" i="1" smtClean="0">
                <a:sym typeface="Wingdings" panose="05000000000000000000" pitchFamily="2" charset="2"/>
              </a:rPr>
              <a:t>gave</a:t>
            </a:r>
            <a:r>
              <a:rPr lang="en-US" altLang="zh-CN" sz="2400" smtClean="0">
                <a:sym typeface="Wingdings" panose="05000000000000000000" pitchFamily="2" charset="2"/>
              </a:rPr>
              <a:t>)  VB NP VP)/ </a:t>
            </a:r>
            <a:r>
              <a:rPr lang="el-GR" altLang="zh-CN" sz="2400" smtClean="0">
                <a:sym typeface="Wingdings" panose="05000000000000000000" pitchFamily="2" charset="2"/>
              </a:rPr>
              <a:t>Σ</a:t>
            </a:r>
            <a:r>
              <a:rPr lang="el-GR" altLang="zh-CN" sz="2400" baseline="-25000" smtClean="0">
                <a:sym typeface="Wingdings" panose="05000000000000000000" pitchFamily="2" charset="2"/>
              </a:rPr>
              <a:t>β</a:t>
            </a:r>
            <a:r>
              <a:rPr lang="en-US" altLang="zh-CN" sz="2400" smtClean="0">
                <a:sym typeface="Wingdings" panose="05000000000000000000" pitchFamily="2" charset="2"/>
              </a:rPr>
              <a:t> C(VP(</a:t>
            </a:r>
            <a:r>
              <a:rPr lang="en-US" altLang="zh-CN" sz="2400" i="1" smtClean="0">
                <a:sym typeface="Wingdings" panose="05000000000000000000" pitchFamily="2" charset="2"/>
              </a:rPr>
              <a:t>gave</a:t>
            </a:r>
            <a:r>
              <a:rPr lang="en-US" altLang="zh-CN" sz="2400" smtClean="0">
                <a:sym typeface="Wingdings" panose="05000000000000000000" pitchFamily="2" charset="2"/>
              </a:rPr>
              <a:t>)  </a:t>
            </a:r>
            <a:r>
              <a:rPr lang="el-GR" altLang="zh-CN" sz="2400" smtClean="0">
                <a:sym typeface="Wingdings" panose="05000000000000000000" pitchFamily="2" charset="2"/>
              </a:rPr>
              <a:t>β</a:t>
            </a:r>
            <a:r>
              <a:rPr lang="en-US" altLang="zh-CN" sz="2400" smtClean="0">
                <a:sym typeface="Wingdings" panose="05000000000000000000" pitchFamily="2" charset="2"/>
              </a:rPr>
              <a:t>)</a:t>
            </a:r>
            <a:endParaRPr lang="en-US" altLang="zh-CN" sz="2400" smtClean="0"/>
          </a:p>
          <a:p>
            <a:pPr eaLnBrk="1" hangingPunct="1"/>
            <a:r>
              <a:rPr lang="en-US" altLang="zh-CN" sz="2800" smtClean="0"/>
              <a:t>it captures the notion of subcategorization of </a:t>
            </a:r>
            <a:r>
              <a:rPr lang="en-US" altLang="zh-CN" sz="2800" smtClean="0">
                <a:latin typeface="Times New Roman" panose="02020603050405020304" pitchFamily="18" charset="0"/>
              </a:rPr>
              <a:t>“</a:t>
            </a:r>
            <a:r>
              <a:rPr lang="en-US" altLang="zh-CN" sz="2800" smtClean="0"/>
              <a:t>gave</a:t>
            </a:r>
            <a:r>
              <a:rPr lang="en-US" altLang="zh-CN" sz="2800" smtClean="0">
                <a:latin typeface="Times New Roman" panose="02020603050405020304" pitchFamily="18" charset="0"/>
              </a:rPr>
              <a:t>”</a:t>
            </a:r>
            <a:endParaRPr lang="en-US" altLang="zh-CN" sz="28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other lexical preferences</a:t>
            </a:r>
            <a:endParaRPr lang="en-US" altLang="zh-CN" smtClean="0"/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smtClean="0"/>
              <a:t>consider pp-attachment: determine whether a preposition modifies a preceding noun or a verb.</a:t>
            </a:r>
            <a:endParaRPr lang="en-US" altLang="zh-CN" sz="2800" smtClean="0"/>
          </a:p>
          <a:p>
            <a:pPr eaLnBrk="1" hangingPunct="1"/>
            <a:r>
              <a:rPr lang="en-US" altLang="zh-CN" sz="2800" smtClean="0"/>
              <a:t>Consider:</a:t>
            </a:r>
            <a:endParaRPr lang="en-US" altLang="zh-CN" sz="2800" smtClean="0"/>
          </a:p>
          <a:p>
            <a:pPr lvl="1" eaLnBrk="1" hangingPunct="1"/>
            <a:r>
              <a:rPr lang="en-US" altLang="zh-CN" sz="2400" smtClean="0"/>
              <a:t>Ate spaghetti with gusto</a:t>
            </a:r>
            <a:endParaRPr lang="en-US" altLang="zh-CN" sz="2400" smtClean="0"/>
          </a:p>
          <a:p>
            <a:pPr lvl="1" eaLnBrk="1" hangingPunct="1"/>
            <a:r>
              <a:rPr lang="en-US" altLang="zh-CN" sz="2400" smtClean="0"/>
              <a:t>Ate spaghetti with marinara</a:t>
            </a:r>
            <a:endParaRPr lang="en-US" altLang="zh-CN" sz="2400" smtClean="0"/>
          </a:p>
          <a:p>
            <a:pPr eaLnBrk="1" hangingPunct="1"/>
            <a:r>
              <a:rPr lang="en-US" altLang="zh-CN" sz="2800" smtClean="0"/>
              <a:t>The affinity of </a:t>
            </a:r>
            <a:r>
              <a:rPr lang="en-US" altLang="zh-CN" sz="2800" smtClean="0">
                <a:solidFill>
                  <a:srgbClr val="008000"/>
                </a:solidFill>
              </a:rPr>
              <a:t>gusto</a:t>
            </a:r>
            <a:r>
              <a:rPr lang="en-US" altLang="zh-CN" sz="2800" smtClean="0"/>
              <a:t> for </a:t>
            </a:r>
            <a:r>
              <a:rPr lang="en-US" altLang="zh-CN" sz="2800" smtClean="0">
                <a:solidFill>
                  <a:srgbClr val="008000"/>
                </a:solidFill>
              </a:rPr>
              <a:t>eat</a:t>
            </a:r>
            <a:r>
              <a:rPr lang="en-US" altLang="zh-CN" sz="2800" smtClean="0"/>
              <a:t> is much larger than its affinity for </a:t>
            </a:r>
            <a:r>
              <a:rPr lang="en-US" altLang="zh-CN" sz="2800" smtClean="0">
                <a:solidFill>
                  <a:srgbClr val="008000"/>
                </a:solidFill>
              </a:rPr>
              <a:t>spaghetti</a:t>
            </a:r>
            <a:endParaRPr lang="en-US" altLang="zh-CN" sz="2800" smtClean="0">
              <a:solidFill>
                <a:srgbClr val="008000"/>
              </a:solidFill>
            </a:endParaRPr>
          </a:p>
          <a:p>
            <a:pPr eaLnBrk="1" hangingPunct="1"/>
            <a:r>
              <a:rPr lang="en-US" altLang="zh-CN" sz="2800" smtClean="0"/>
              <a:t>On the other hand, the affinity of </a:t>
            </a:r>
            <a:r>
              <a:rPr lang="en-US" altLang="zh-CN" sz="2800" smtClean="0">
                <a:solidFill>
                  <a:srgbClr val="008000"/>
                </a:solidFill>
              </a:rPr>
              <a:t>marinara</a:t>
            </a:r>
            <a:r>
              <a:rPr lang="en-US" altLang="zh-CN" sz="2800" smtClean="0"/>
              <a:t> for </a:t>
            </a:r>
            <a:r>
              <a:rPr lang="en-US" altLang="zh-CN" sz="2800" smtClean="0">
                <a:solidFill>
                  <a:srgbClr val="008000"/>
                </a:solidFill>
              </a:rPr>
              <a:t>spaghetti</a:t>
            </a:r>
            <a:r>
              <a:rPr lang="en-US" altLang="zh-CN" sz="2800" smtClean="0"/>
              <a:t> is</a:t>
            </a:r>
            <a:r>
              <a:rPr lang="en-US" altLang="zh-CN" sz="2800" smtClean="0">
                <a:solidFill>
                  <a:srgbClr val="008000"/>
                </a:solidFill>
              </a:rPr>
              <a:t> </a:t>
            </a:r>
            <a:r>
              <a:rPr lang="en-US" altLang="zh-CN" sz="2800" smtClean="0"/>
              <a:t>much higher than its affinity for </a:t>
            </a:r>
            <a:r>
              <a:rPr lang="en-US" altLang="zh-CN" sz="2800" smtClean="0">
                <a:solidFill>
                  <a:srgbClr val="008000"/>
                </a:solidFill>
              </a:rPr>
              <a:t>ate</a:t>
            </a:r>
            <a:endParaRPr lang="en-US" altLang="zh-CN" sz="2800" smtClean="0">
              <a:solidFill>
                <a:srgbClr val="008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But not a Head Probability Relationship</a:t>
            </a:r>
            <a:endParaRPr lang="en-US" altLang="zh-CN" smtClean="0"/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16002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zh-CN" smtClean="0"/>
              <a:t>Note the relationship here is more distant and doesn</a:t>
            </a:r>
            <a:r>
              <a:rPr lang="en-US" altLang="zh-CN" smtClean="0">
                <a:latin typeface="Times New Roman" panose="02020603050405020304" pitchFamily="18" charset="0"/>
              </a:rPr>
              <a:t>’</a:t>
            </a:r>
            <a:r>
              <a:rPr lang="en-US" altLang="zh-CN" smtClean="0"/>
              <a:t>t involve a headword since </a:t>
            </a:r>
            <a:r>
              <a:rPr lang="en-US" altLang="zh-CN" i="1" smtClean="0"/>
              <a:t>gusto</a:t>
            </a:r>
            <a:r>
              <a:rPr lang="en-US" altLang="zh-CN" smtClean="0"/>
              <a:t> and </a:t>
            </a:r>
            <a:r>
              <a:rPr lang="en-US" altLang="zh-CN" i="1" smtClean="0"/>
              <a:t>marinara</a:t>
            </a:r>
            <a:r>
              <a:rPr lang="en-US" altLang="zh-CN" smtClean="0"/>
              <a:t> aren</a:t>
            </a:r>
            <a:r>
              <a:rPr lang="en-US" altLang="zh-CN" smtClean="0">
                <a:latin typeface="Times New Roman" panose="02020603050405020304" pitchFamily="18" charset="0"/>
              </a:rPr>
              <a:t>’</a:t>
            </a:r>
            <a:r>
              <a:rPr lang="en-US" altLang="zh-CN" smtClean="0"/>
              <a:t>t the heads of the PPs</a:t>
            </a:r>
            <a:endParaRPr lang="en-US" altLang="zh-CN" smtClean="0"/>
          </a:p>
        </p:txBody>
      </p:sp>
      <p:sp>
        <p:nvSpPr>
          <p:cNvPr id="87044" name="Line 4"/>
          <p:cNvSpPr>
            <a:spLocks noChangeShapeType="1"/>
          </p:cNvSpPr>
          <p:nvPr/>
        </p:nvSpPr>
        <p:spPr bwMode="auto">
          <a:xfrm flipV="1">
            <a:off x="1463675" y="4618038"/>
            <a:ext cx="557213" cy="7318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45" name="Line 5"/>
          <p:cNvSpPr>
            <a:spLocks noChangeShapeType="1"/>
          </p:cNvSpPr>
          <p:nvPr/>
        </p:nvSpPr>
        <p:spPr bwMode="auto">
          <a:xfrm flipH="1" flipV="1">
            <a:off x="3209925" y="4435475"/>
            <a:ext cx="82550" cy="1279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46" name="Line 6"/>
          <p:cNvSpPr>
            <a:spLocks noChangeShapeType="1"/>
          </p:cNvSpPr>
          <p:nvPr/>
        </p:nvSpPr>
        <p:spPr bwMode="auto">
          <a:xfrm flipV="1">
            <a:off x="2112963" y="3886200"/>
            <a:ext cx="547687" cy="639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47" name="Line 7"/>
          <p:cNvSpPr>
            <a:spLocks noChangeShapeType="1"/>
          </p:cNvSpPr>
          <p:nvPr/>
        </p:nvSpPr>
        <p:spPr bwMode="auto">
          <a:xfrm flipH="1" flipV="1">
            <a:off x="2660650" y="3886200"/>
            <a:ext cx="549275" cy="5476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48" name="Line 8"/>
          <p:cNvSpPr>
            <a:spLocks noChangeShapeType="1"/>
          </p:cNvSpPr>
          <p:nvPr/>
        </p:nvSpPr>
        <p:spPr bwMode="auto">
          <a:xfrm flipH="1" flipV="1">
            <a:off x="3209925" y="4435475"/>
            <a:ext cx="904875" cy="1279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49" name="Line 9"/>
          <p:cNvSpPr>
            <a:spLocks noChangeShapeType="1"/>
          </p:cNvSpPr>
          <p:nvPr/>
        </p:nvSpPr>
        <p:spPr bwMode="auto">
          <a:xfrm flipV="1">
            <a:off x="6311900" y="4435475"/>
            <a:ext cx="547688" cy="639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50" name="Line 10"/>
          <p:cNvSpPr>
            <a:spLocks noChangeShapeType="1"/>
          </p:cNvSpPr>
          <p:nvPr/>
        </p:nvSpPr>
        <p:spPr bwMode="auto">
          <a:xfrm flipV="1">
            <a:off x="5394325" y="3886200"/>
            <a:ext cx="915988" cy="1279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51" name="Line 11"/>
          <p:cNvSpPr>
            <a:spLocks noChangeShapeType="1"/>
          </p:cNvSpPr>
          <p:nvPr/>
        </p:nvSpPr>
        <p:spPr bwMode="auto">
          <a:xfrm flipH="1" flipV="1">
            <a:off x="6310313" y="3886200"/>
            <a:ext cx="549275" cy="5476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52" name="Line 12"/>
          <p:cNvSpPr>
            <a:spLocks noChangeShapeType="1"/>
          </p:cNvSpPr>
          <p:nvPr/>
        </p:nvSpPr>
        <p:spPr bwMode="auto">
          <a:xfrm flipH="1" flipV="1">
            <a:off x="6859588" y="4435475"/>
            <a:ext cx="549275" cy="5476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53" name="Text Box 13"/>
          <p:cNvSpPr txBox="1">
            <a:spLocks noChangeArrowheads="1"/>
          </p:cNvSpPr>
          <p:nvPr/>
        </p:nvSpPr>
        <p:spPr bwMode="auto">
          <a:xfrm>
            <a:off x="1971675" y="3429000"/>
            <a:ext cx="1358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0">
                <a:solidFill>
                  <a:srgbClr val="A50021"/>
                </a:solidFill>
                <a:latin typeface="Times New Roman" panose="02020603050405020304" pitchFamily="18" charset="0"/>
              </a:rPr>
              <a:t>Vp (ate)</a:t>
            </a:r>
            <a:endParaRPr lang="en-US" altLang="zh-CN" sz="2800" b="0">
              <a:solidFill>
                <a:srgbClr val="A5002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7054" name="Text Box 14"/>
          <p:cNvSpPr txBox="1">
            <a:spLocks noChangeArrowheads="1"/>
          </p:cNvSpPr>
          <p:nvPr/>
        </p:nvSpPr>
        <p:spPr bwMode="auto">
          <a:xfrm>
            <a:off x="5673725" y="3429000"/>
            <a:ext cx="1270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0">
                <a:solidFill>
                  <a:srgbClr val="A50021"/>
                </a:solidFill>
                <a:latin typeface="Times New Roman" panose="02020603050405020304" pitchFamily="18" charset="0"/>
              </a:rPr>
              <a:t>Vp(ate)</a:t>
            </a:r>
            <a:endParaRPr lang="en-US" altLang="zh-CN" sz="2800" b="0">
              <a:solidFill>
                <a:srgbClr val="A5002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7055" name="Text Box 15"/>
          <p:cNvSpPr txBox="1">
            <a:spLocks noChangeArrowheads="1"/>
          </p:cNvSpPr>
          <p:nvPr/>
        </p:nvSpPr>
        <p:spPr bwMode="auto">
          <a:xfrm>
            <a:off x="1466850" y="4343400"/>
            <a:ext cx="1270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0">
                <a:solidFill>
                  <a:srgbClr val="A50021"/>
                </a:solidFill>
                <a:latin typeface="Times New Roman" panose="02020603050405020304" pitchFamily="18" charset="0"/>
              </a:rPr>
              <a:t>Vp(ate)</a:t>
            </a:r>
            <a:endParaRPr lang="en-US" altLang="zh-CN" sz="2800" b="0">
              <a:solidFill>
                <a:srgbClr val="A5002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7056" name="Text Box 16"/>
          <p:cNvSpPr txBox="1">
            <a:spLocks noChangeArrowheads="1"/>
          </p:cNvSpPr>
          <p:nvPr/>
        </p:nvSpPr>
        <p:spPr bwMode="auto">
          <a:xfrm>
            <a:off x="2925763" y="4343400"/>
            <a:ext cx="1428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0" i="1">
                <a:solidFill>
                  <a:srgbClr val="A50021"/>
                </a:solidFill>
                <a:latin typeface="Times New Roman" panose="02020603050405020304" pitchFamily="18" charset="0"/>
              </a:rPr>
              <a:t>Pp(with)</a:t>
            </a:r>
            <a:endParaRPr lang="en-US" altLang="zh-CN" sz="2800" b="0" i="1">
              <a:solidFill>
                <a:srgbClr val="A5002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7057" name="Text Box 17"/>
          <p:cNvSpPr txBox="1">
            <a:spLocks noChangeArrowheads="1"/>
          </p:cNvSpPr>
          <p:nvPr/>
        </p:nvSpPr>
        <p:spPr bwMode="auto">
          <a:xfrm>
            <a:off x="6691313" y="4892675"/>
            <a:ext cx="1428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0" i="1">
                <a:solidFill>
                  <a:srgbClr val="A50021"/>
                </a:solidFill>
                <a:latin typeface="Times New Roman" panose="02020603050405020304" pitchFamily="18" charset="0"/>
              </a:rPr>
              <a:t>Pp(with)</a:t>
            </a:r>
            <a:endParaRPr lang="en-US" altLang="zh-CN" sz="2800" b="0" i="1">
              <a:solidFill>
                <a:srgbClr val="A5002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7058" name="Text Box 18"/>
          <p:cNvSpPr txBox="1">
            <a:spLocks noChangeArrowheads="1"/>
          </p:cNvSpPr>
          <p:nvPr/>
        </p:nvSpPr>
        <p:spPr bwMode="auto">
          <a:xfrm>
            <a:off x="6103938" y="4160838"/>
            <a:ext cx="15081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0" i="1">
                <a:solidFill>
                  <a:srgbClr val="A50021"/>
                </a:solidFill>
                <a:latin typeface="Times New Roman" panose="02020603050405020304" pitchFamily="18" charset="0"/>
              </a:rPr>
              <a:t>Np(spag)</a:t>
            </a:r>
            <a:endParaRPr lang="en-US" altLang="zh-CN" sz="2800" b="0" i="1">
              <a:solidFill>
                <a:srgbClr val="A5002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7059" name="Text Box 19"/>
          <p:cNvSpPr txBox="1">
            <a:spLocks noChangeArrowheads="1"/>
          </p:cNvSpPr>
          <p:nvPr/>
        </p:nvSpPr>
        <p:spPr bwMode="auto">
          <a:xfrm>
            <a:off x="6035675" y="4892675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0" i="1">
                <a:solidFill>
                  <a:srgbClr val="A50021"/>
                </a:solidFill>
                <a:latin typeface="Times New Roman" panose="02020603050405020304" pitchFamily="18" charset="0"/>
              </a:rPr>
              <a:t>np</a:t>
            </a:r>
            <a:endParaRPr lang="en-US" altLang="zh-CN" sz="2800" b="0" i="1">
              <a:solidFill>
                <a:srgbClr val="A5002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7060" name="Text Box 20"/>
          <p:cNvSpPr txBox="1">
            <a:spLocks noChangeArrowheads="1"/>
          </p:cNvSpPr>
          <p:nvPr/>
        </p:nvSpPr>
        <p:spPr bwMode="auto">
          <a:xfrm>
            <a:off x="5121275" y="5075238"/>
            <a:ext cx="3413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0" i="1">
                <a:solidFill>
                  <a:srgbClr val="A50021"/>
                </a:solidFill>
                <a:latin typeface="Times New Roman" panose="02020603050405020304" pitchFamily="18" charset="0"/>
              </a:rPr>
              <a:t>v</a:t>
            </a:r>
            <a:endParaRPr lang="en-US" altLang="zh-CN" sz="2800" b="0" i="1">
              <a:solidFill>
                <a:srgbClr val="A5002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7061" name="Text Box 21"/>
          <p:cNvSpPr txBox="1">
            <a:spLocks noChangeArrowheads="1"/>
          </p:cNvSpPr>
          <p:nvPr/>
        </p:nvSpPr>
        <p:spPr bwMode="auto">
          <a:xfrm>
            <a:off x="1279525" y="5167313"/>
            <a:ext cx="3413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0" i="1">
                <a:solidFill>
                  <a:srgbClr val="A50021"/>
                </a:solidFill>
                <a:latin typeface="Times New Roman" panose="02020603050405020304" pitchFamily="18" charset="0"/>
              </a:rPr>
              <a:t>v</a:t>
            </a:r>
            <a:endParaRPr lang="en-US" altLang="zh-CN" sz="2800" b="0" i="1">
              <a:solidFill>
                <a:srgbClr val="A5002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7062" name="Text Box 22"/>
          <p:cNvSpPr txBox="1">
            <a:spLocks noChangeArrowheads="1"/>
          </p:cNvSpPr>
          <p:nvPr/>
        </p:nvSpPr>
        <p:spPr bwMode="auto">
          <a:xfrm>
            <a:off x="4846638" y="5532438"/>
            <a:ext cx="41798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0" i="1">
                <a:solidFill>
                  <a:srgbClr val="A50021"/>
                </a:solidFill>
                <a:latin typeface="Times New Roman" panose="02020603050405020304" pitchFamily="18" charset="0"/>
              </a:rPr>
              <a:t>Ate spaghetti with marinara</a:t>
            </a:r>
            <a:endParaRPr lang="en-US" altLang="zh-CN" sz="2800" b="0" i="1">
              <a:solidFill>
                <a:srgbClr val="A5002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7063" name="Text Box 23"/>
          <p:cNvSpPr txBox="1">
            <a:spLocks noChangeArrowheads="1"/>
          </p:cNvSpPr>
          <p:nvPr/>
        </p:nvSpPr>
        <p:spPr bwMode="auto">
          <a:xfrm>
            <a:off x="952500" y="5622925"/>
            <a:ext cx="360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0" i="1">
                <a:solidFill>
                  <a:srgbClr val="A50021"/>
                </a:solidFill>
                <a:latin typeface="Times New Roman" panose="02020603050405020304" pitchFamily="18" charset="0"/>
              </a:rPr>
              <a:t>Ate spaghetti with gusto</a:t>
            </a:r>
            <a:endParaRPr lang="en-US" altLang="zh-CN" sz="2800" b="0" i="1">
              <a:solidFill>
                <a:srgbClr val="A5002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7064" name="Line 24"/>
          <p:cNvSpPr>
            <a:spLocks noChangeShapeType="1"/>
          </p:cNvSpPr>
          <p:nvPr/>
        </p:nvSpPr>
        <p:spPr bwMode="auto">
          <a:xfrm>
            <a:off x="2103438" y="4800600"/>
            <a:ext cx="182562" cy="549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65" name="Text Box 25"/>
          <p:cNvSpPr txBox="1">
            <a:spLocks noChangeArrowheads="1"/>
          </p:cNvSpPr>
          <p:nvPr/>
        </p:nvSpPr>
        <p:spPr bwMode="auto">
          <a:xfrm>
            <a:off x="2011363" y="5165725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0" i="1">
                <a:solidFill>
                  <a:srgbClr val="A50021"/>
                </a:solidFill>
                <a:latin typeface="Times New Roman" panose="02020603050405020304" pitchFamily="18" charset="0"/>
              </a:rPr>
              <a:t>np</a:t>
            </a:r>
            <a:endParaRPr lang="en-US" altLang="zh-CN" sz="2800" b="0" i="1">
              <a:solidFill>
                <a:srgbClr val="A5002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7066" name="Line 26"/>
          <p:cNvSpPr>
            <a:spLocks noChangeShapeType="1"/>
          </p:cNvSpPr>
          <p:nvPr/>
        </p:nvSpPr>
        <p:spPr bwMode="auto">
          <a:xfrm flipH="1">
            <a:off x="7132638" y="5440363"/>
            <a:ext cx="365125" cy="274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67" name="Line 27"/>
          <p:cNvSpPr>
            <a:spLocks noChangeShapeType="1"/>
          </p:cNvSpPr>
          <p:nvPr/>
        </p:nvSpPr>
        <p:spPr bwMode="auto">
          <a:xfrm>
            <a:off x="7680325" y="5440363"/>
            <a:ext cx="366713" cy="274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68" name="Freeform 28"/>
          <p:cNvSpPr/>
          <p:nvPr/>
        </p:nvSpPr>
        <p:spPr bwMode="auto">
          <a:xfrm>
            <a:off x="3292475" y="3551238"/>
            <a:ext cx="1628775" cy="2163762"/>
          </a:xfrm>
          <a:custGeom>
            <a:avLst/>
            <a:gdLst>
              <a:gd name="T0" fmla="*/ 2147483647 w 1026"/>
              <a:gd name="T1" fmla="*/ 2147483647 h 1363"/>
              <a:gd name="T2" fmla="*/ 2147483647 w 1026"/>
              <a:gd name="T3" fmla="*/ 2147483647 h 1363"/>
              <a:gd name="T4" fmla="*/ 0 w 1026"/>
              <a:gd name="T5" fmla="*/ 2147483647 h 1363"/>
              <a:gd name="T6" fmla="*/ 0 60000 65536"/>
              <a:gd name="T7" fmla="*/ 0 60000 65536"/>
              <a:gd name="T8" fmla="*/ 0 60000 65536"/>
              <a:gd name="T9" fmla="*/ 0 w 1026"/>
              <a:gd name="T10" fmla="*/ 0 h 1363"/>
              <a:gd name="T11" fmla="*/ 1026 w 1026"/>
              <a:gd name="T12" fmla="*/ 1363 h 1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26" h="1363">
                <a:moveTo>
                  <a:pt x="633" y="1363"/>
                </a:moveTo>
                <a:cubicBezTo>
                  <a:pt x="829" y="892"/>
                  <a:pt x="1026" y="422"/>
                  <a:pt x="921" y="211"/>
                </a:cubicBezTo>
                <a:cubicBezTo>
                  <a:pt x="816" y="0"/>
                  <a:pt x="408" y="48"/>
                  <a:pt x="0" y="9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69" name="Freeform 29"/>
          <p:cNvSpPr/>
          <p:nvPr/>
        </p:nvSpPr>
        <p:spPr bwMode="auto">
          <a:xfrm>
            <a:off x="7315200" y="4130675"/>
            <a:ext cx="1173163" cy="1492250"/>
          </a:xfrm>
          <a:custGeom>
            <a:avLst/>
            <a:gdLst>
              <a:gd name="T0" fmla="*/ 2147483647 w 739"/>
              <a:gd name="T1" fmla="*/ 2147483647 h 940"/>
              <a:gd name="T2" fmla="*/ 2147483647 w 739"/>
              <a:gd name="T3" fmla="*/ 2147483647 h 940"/>
              <a:gd name="T4" fmla="*/ 2147483647 w 739"/>
              <a:gd name="T5" fmla="*/ 2147483647 h 940"/>
              <a:gd name="T6" fmla="*/ 0 w 739"/>
              <a:gd name="T7" fmla="*/ 2147483647 h 940"/>
              <a:gd name="T8" fmla="*/ 0 60000 65536"/>
              <a:gd name="T9" fmla="*/ 0 60000 65536"/>
              <a:gd name="T10" fmla="*/ 0 60000 65536"/>
              <a:gd name="T11" fmla="*/ 0 60000 65536"/>
              <a:gd name="T12" fmla="*/ 0 w 739"/>
              <a:gd name="T13" fmla="*/ 0 h 940"/>
              <a:gd name="T14" fmla="*/ 739 w 739"/>
              <a:gd name="T15" fmla="*/ 940 h 9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39" h="940">
                <a:moveTo>
                  <a:pt x="576" y="940"/>
                </a:moveTo>
                <a:cubicBezTo>
                  <a:pt x="657" y="642"/>
                  <a:pt x="739" y="345"/>
                  <a:pt x="691" y="192"/>
                </a:cubicBezTo>
                <a:cubicBezTo>
                  <a:pt x="643" y="39"/>
                  <a:pt x="403" y="38"/>
                  <a:pt x="288" y="19"/>
                </a:cubicBezTo>
                <a:cubicBezTo>
                  <a:pt x="173" y="0"/>
                  <a:pt x="86" y="38"/>
                  <a:pt x="0" y="7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/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so we need a more general model:</a:t>
            </a:r>
            <a:endParaRPr lang="en-US" altLang="zh-CN" smtClean="0"/>
          </a:p>
          <a:p>
            <a:pPr eaLnBrk="1" hangingPunct="1">
              <a:buFontTx/>
              <a:buNone/>
            </a:pPr>
            <a:r>
              <a:rPr lang="en-US" altLang="zh-CN" smtClean="0"/>
              <a:t>	P(rule|context)</a:t>
            </a:r>
            <a:endParaRPr lang="en-US" altLang="zh-CN" smtClean="0"/>
          </a:p>
          <a:p>
            <a:pPr eaLnBrk="1" hangingPunct="1"/>
            <a:r>
              <a:rPr lang="en-US" altLang="zh-CN" smtClean="0"/>
              <a:t>where the context can be: head, parent’s head, grandparent’s head, ...</a:t>
            </a:r>
            <a:endParaRPr lang="en-US" altLang="zh-CN" smtClean="0"/>
          </a:p>
          <a:p>
            <a:pPr eaLnBrk="1" hangingPunct="1"/>
            <a:r>
              <a:rPr lang="en-US" altLang="zh-CN" smtClean="0"/>
              <a:t>not only heads, anything useful may be conditioned upon</a:t>
            </a:r>
            <a:endParaRPr lang="en-US" altLang="zh-CN" smtClean="0"/>
          </a:p>
          <a:p>
            <a:pPr eaLnBrk="1" hangingPunct="1"/>
            <a:r>
              <a:rPr lang="en-US" altLang="zh-CN" smtClean="0"/>
              <a:t>this is getting context-sensitive!</a:t>
            </a:r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Lexicalized Probabilities [charniak]</a:t>
            </a:r>
            <a:endParaRPr lang="en-US" altLang="zh-CN" smtClean="0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zh-CN" smtClean="0"/>
          </a:p>
          <a:p>
            <a:pPr eaLnBrk="1" hangingPunct="1">
              <a:buFontTx/>
              <a:buNone/>
            </a:pPr>
            <a:r>
              <a:rPr lang="en-US" altLang="zh-CN" smtClean="0"/>
              <a:t>p(prices | n-plural) = .013</a:t>
            </a:r>
            <a:endParaRPr lang="en-US" altLang="zh-CN" smtClean="0"/>
          </a:p>
          <a:p>
            <a:pPr eaLnBrk="1" hangingPunct="1">
              <a:buFontTx/>
              <a:buNone/>
            </a:pPr>
            <a:r>
              <a:rPr lang="en-US" altLang="zh-CN" smtClean="0"/>
              <a:t>p(prices | n-plural, NP) = .013</a:t>
            </a:r>
            <a:endParaRPr lang="en-US" altLang="zh-CN" smtClean="0"/>
          </a:p>
          <a:p>
            <a:pPr eaLnBrk="1" hangingPunct="1">
              <a:buFontTx/>
              <a:buNone/>
            </a:pPr>
            <a:r>
              <a:rPr lang="en-US" altLang="zh-CN" smtClean="0"/>
              <a:t>p(prices | n-plural, NP, S) = .025</a:t>
            </a:r>
            <a:endParaRPr lang="en-US" altLang="zh-CN" smtClean="0"/>
          </a:p>
          <a:p>
            <a:pPr eaLnBrk="1" hangingPunct="1">
              <a:buFontTx/>
              <a:buNone/>
            </a:pPr>
            <a:r>
              <a:rPr lang="en-US" altLang="zh-CN" smtClean="0"/>
              <a:t>p(prices | n-plural, NP, S, v-past) = .052</a:t>
            </a:r>
            <a:endParaRPr lang="en-US" altLang="zh-CN" smtClean="0"/>
          </a:p>
          <a:p>
            <a:pPr eaLnBrk="1" hangingPunct="1">
              <a:buFontTx/>
              <a:buNone/>
            </a:pPr>
            <a:r>
              <a:rPr lang="en-US" altLang="zh-CN" smtClean="0"/>
              <a:t>p(prices | n-plural, NP, S, v-past, fell) = .146</a:t>
            </a:r>
            <a:endParaRPr lang="en-US" altLang="zh-CN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Parsing Results [Charniak]</a:t>
            </a:r>
            <a:endParaRPr lang="en-US" altLang="zh-CN" smtClean="0"/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zh-CN" smtClean="0"/>
          </a:p>
          <a:p>
            <a:pPr eaLnBrk="1" hangingPunct="1"/>
            <a:r>
              <a:rPr lang="en-US" altLang="zh-CN" smtClean="0"/>
              <a:t>Method					     Prec/Rec</a:t>
            </a:r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en-US" altLang="zh-CN" smtClean="0"/>
              <a:t>PCFG						75%</a:t>
            </a:r>
            <a:endParaRPr lang="en-US" altLang="zh-CN" smtClean="0"/>
          </a:p>
          <a:p>
            <a:pPr eaLnBrk="1" hangingPunct="1"/>
            <a:r>
              <a:rPr lang="en-US" altLang="zh-CN" smtClean="0">
                <a:solidFill>
                  <a:srgbClr val="FF5050"/>
                </a:solidFill>
              </a:rPr>
              <a:t>PCFG with lexicalization		87.5%</a:t>
            </a:r>
            <a:endParaRPr lang="en-US" altLang="zh-CN" smtClean="0">
              <a:solidFill>
                <a:srgbClr val="FF5050"/>
              </a:solidFill>
            </a:endParaRPr>
          </a:p>
        </p:txBody>
      </p:sp>
      <p:sp>
        <p:nvSpPr>
          <p:cNvPr id="90116" name="Line 4"/>
          <p:cNvSpPr>
            <a:spLocks noChangeShapeType="1"/>
          </p:cNvSpPr>
          <p:nvPr/>
        </p:nvSpPr>
        <p:spPr bwMode="auto">
          <a:xfrm>
            <a:off x="762000" y="3048000"/>
            <a:ext cx="71628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5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smtClean="0"/>
              <a:t>Wall Street Journal (WSJ) section</a:t>
            </a:r>
            <a:endParaRPr lang="en-US" altLang="zh-CN" smtClean="0"/>
          </a:p>
          <a:p>
            <a:pPr lvl="1" eaLnBrk="1" hangingPunct="1"/>
            <a:r>
              <a:rPr lang="en-US" altLang="zh-CN" smtClean="0"/>
              <a:t>50,000 sentences, 1 million words</a:t>
            </a:r>
            <a:endParaRPr lang="en-US" altLang="zh-CN" smtClean="0"/>
          </a:p>
          <a:p>
            <a:pPr lvl="2" eaLnBrk="1" hangingPunct="1"/>
            <a:r>
              <a:rPr lang="en-US" altLang="zh-CN" smtClean="0"/>
              <a:t>POS tags and constituent trees</a:t>
            </a:r>
            <a:endParaRPr lang="en-US" altLang="zh-CN" smtClean="0"/>
          </a:p>
          <a:p>
            <a:pPr lvl="2" eaLnBrk="1" hangingPunct="1"/>
            <a:endParaRPr lang="en-US" altLang="zh-CN" smtClean="0"/>
          </a:p>
          <a:p>
            <a:pPr lvl="1" eaLnBrk="1" hangingPunct="1"/>
            <a:r>
              <a:rPr lang="en-US" altLang="zh-CN" smtClean="0"/>
              <a:t>Divided in sections</a:t>
            </a:r>
            <a:endParaRPr lang="en-US" altLang="zh-CN" smtClean="0"/>
          </a:p>
          <a:p>
            <a:pPr lvl="2" eaLnBrk="1" hangingPunct="1"/>
            <a:r>
              <a:rPr lang="en-US" altLang="zh-CN" smtClean="0"/>
              <a:t>Training: sections 2 – 21 (~40,000 sentences)</a:t>
            </a:r>
            <a:endParaRPr lang="en-US" altLang="zh-CN" smtClean="0"/>
          </a:p>
          <a:p>
            <a:pPr lvl="2" eaLnBrk="1" hangingPunct="1"/>
            <a:r>
              <a:rPr lang="en-US" altLang="zh-CN" smtClean="0"/>
              <a:t>Testing: section 23 (~2,400 sentences)</a:t>
            </a:r>
            <a:endParaRPr lang="en-US" altLang="zh-CN" smtClean="0"/>
          </a:p>
          <a:p>
            <a:pPr lvl="2" eaLnBrk="1" hangingPunct="1"/>
            <a:r>
              <a:rPr lang="en-US" altLang="zh-CN" smtClean="0"/>
              <a:t>Development: section 22</a:t>
            </a:r>
            <a:endParaRPr lang="en-US" altLang="zh-CN" smtClean="0"/>
          </a:p>
          <a:p>
            <a:pPr lvl="2" eaLnBrk="1" hangingPunct="1">
              <a:buFont typeface="Wingdings" panose="05000000000000000000" pitchFamily="2" charset="2"/>
              <a:buNone/>
            </a:pPr>
            <a:endParaRPr lang="en-US" altLang="zh-CN" smtClean="0">
              <a:latin typeface="Tahoma" panose="020B0604030504040204" pitchFamily="34" charset="0"/>
            </a:endParaRPr>
          </a:p>
        </p:txBody>
      </p:sp>
      <p:sp>
        <p:nvSpPr>
          <p:cNvPr id="91139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How to evaluate</a:t>
            </a:r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nltk</a:t>
            </a:r>
            <a:r>
              <a:rPr lang="zh-CN" altLang="en-US" dirty="0" smtClean="0"/>
              <a:t>和</a:t>
            </a:r>
            <a:r>
              <a:rPr lang="en-US" altLang="zh-CN" dirty="0" err="1" smtClean="0"/>
              <a:t>pcfg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 dirty="0" smtClean="0"/>
              <a:t>grammar = </a:t>
            </a:r>
            <a:r>
              <a:rPr lang="en-US" altLang="zh-CN" sz="2000" dirty="0" err="1" smtClean="0"/>
              <a:t>nltk.PCFG.fromstring</a:t>
            </a:r>
            <a:r>
              <a:rPr lang="en-US" altLang="zh-CN" sz="2000" dirty="0" smtClean="0"/>
              <a:t>("""</a:t>
            </a:r>
            <a:endParaRPr lang="en-US" altLang="zh-CN" sz="2000" dirty="0" smtClean="0"/>
          </a:p>
          <a:p>
            <a:pPr marL="0" indent="0">
              <a:buNone/>
            </a:pPr>
            <a:r>
              <a:rPr lang="en-US" altLang="zh-CN" sz="2000" dirty="0" smtClean="0"/>
              <a:t>    S    -&gt; NP VP              [1.0]</a:t>
            </a:r>
            <a:endParaRPr lang="en-US" altLang="zh-CN" sz="2000" dirty="0" smtClean="0"/>
          </a:p>
          <a:p>
            <a:pPr marL="0" indent="0">
              <a:buNone/>
            </a:pPr>
            <a:r>
              <a:rPr lang="en-US" altLang="zh-CN" sz="2000" dirty="0" smtClean="0"/>
              <a:t>    VP -&gt; v NP [0.7]</a:t>
            </a:r>
            <a:endParaRPr lang="en-US" altLang="zh-CN" sz="2000" dirty="0" smtClean="0"/>
          </a:p>
          <a:p>
            <a:pPr marL="0" indent="0">
              <a:buNone/>
            </a:pPr>
            <a:r>
              <a:rPr lang="en-US" altLang="zh-CN" sz="2000" dirty="0" smtClean="0"/>
              <a:t>    VP -&gt; v NP PP [0.3]</a:t>
            </a:r>
            <a:endParaRPr lang="en-US" altLang="zh-CN" sz="2000" dirty="0" smtClean="0"/>
          </a:p>
          <a:p>
            <a:pPr marL="0" indent="0">
              <a:buNone/>
            </a:pPr>
            <a:r>
              <a:rPr lang="en-US" altLang="zh-CN" sz="2000" dirty="0" smtClean="0"/>
              <a:t>    NP -&gt; </a:t>
            </a:r>
            <a:r>
              <a:rPr lang="en-US" altLang="zh-CN" sz="2000" dirty="0" err="1" smtClean="0"/>
              <a:t>det</a:t>
            </a:r>
            <a:r>
              <a:rPr lang="en-US" altLang="zh-CN" sz="2000" dirty="0" smtClean="0"/>
              <a:t> n [0.4]</a:t>
            </a:r>
            <a:endParaRPr lang="en-US" altLang="zh-CN" sz="2000" dirty="0" smtClean="0"/>
          </a:p>
          <a:p>
            <a:pPr marL="0" indent="0">
              <a:buNone/>
            </a:pPr>
            <a:r>
              <a:rPr lang="en-US" altLang="zh-CN" sz="2000" dirty="0" smtClean="0"/>
              <a:t>    NP -&gt; </a:t>
            </a:r>
            <a:r>
              <a:rPr lang="en-US" altLang="zh-CN" sz="2000" dirty="0" err="1" smtClean="0"/>
              <a:t>det</a:t>
            </a:r>
            <a:r>
              <a:rPr lang="en-US" altLang="zh-CN" sz="2000" dirty="0" smtClean="0"/>
              <a:t> n PP [0.6]</a:t>
            </a:r>
            <a:endParaRPr lang="en-US" altLang="zh-CN" sz="2000" dirty="0" smtClean="0"/>
          </a:p>
          <a:p>
            <a:pPr marL="0" indent="0">
              <a:buNone/>
            </a:pPr>
            <a:r>
              <a:rPr lang="en-US" altLang="zh-CN" sz="2000" dirty="0" smtClean="0"/>
              <a:t>    PP -&gt; p NP [1]</a:t>
            </a:r>
            <a:endParaRPr lang="en-US" altLang="zh-CN" sz="2000" dirty="0" smtClean="0"/>
          </a:p>
          <a:p>
            <a:pPr marL="0" indent="0">
              <a:buNone/>
            </a:pPr>
            <a:r>
              <a:rPr lang="en-US" altLang="zh-CN" sz="2000" dirty="0" smtClean="0"/>
              <a:t>    </a:t>
            </a:r>
            <a:r>
              <a:rPr lang="en-US" altLang="zh-CN" sz="2000" dirty="0" err="1" smtClean="0"/>
              <a:t>det</a:t>
            </a:r>
            <a:r>
              <a:rPr lang="en-US" altLang="zh-CN" sz="2000" dirty="0" smtClean="0"/>
              <a:t> -&gt; 'the' [1]</a:t>
            </a:r>
            <a:endParaRPr lang="en-US" altLang="zh-CN" sz="2000" dirty="0" smtClean="0"/>
          </a:p>
          <a:p>
            <a:pPr marL="0" indent="0">
              <a:buNone/>
            </a:pPr>
            <a:r>
              <a:rPr lang="en-US" altLang="zh-CN" sz="2000" dirty="0" smtClean="0"/>
              <a:t>    n -&gt; 'man' [0.4]</a:t>
            </a:r>
            <a:endParaRPr lang="en-US" altLang="zh-CN" sz="2000" dirty="0" smtClean="0"/>
          </a:p>
          <a:p>
            <a:pPr marL="0" indent="0">
              <a:buNone/>
            </a:pPr>
            <a:r>
              <a:rPr lang="en-US" altLang="zh-CN" sz="2000" dirty="0" smtClean="0"/>
              <a:t>    n -&gt; 'girl' [0.3]</a:t>
            </a:r>
            <a:endParaRPr lang="en-US" altLang="zh-CN" sz="2000" dirty="0" smtClean="0"/>
          </a:p>
          <a:p>
            <a:pPr marL="0" indent="0">
              <a:buNone/>
            </a:pPr>
            <a:r>
              <a:rPr lang="en-US" altLang="zh-CN" sz="2000" dirty="0" smtClean="0"/>
              <a:t>    n -&gt; 'telescope' [0.3]</a:t>
            </a:r>
            <a:endParaRPr lang="en-US" altLang="zh-CN" sz="2000" dirty="0" smtClean="0"/>
          </a:p>
          <a:p>
            <a:pPr marL="0" indent="0">
              <a:buNone/>
            </a:pPr>
            <a:r>
              <a:rPr lang="en-US" altLang="zh-CN" sz="2000" dirty="0" smtClean="0"/>
              <a:t>    v -&gt; 'saw' [1]</a:t>
            </a:r>
            <a:endParaRPr lang="en-US" altLang="zh-CN" sz="2000" dirty="0" smtClean="0"/>
          </a:p>
          <a:p>
            <a:pPr marL="0" indent="0">
              <a:buNone/>
            </a:pPr>
            <a:r>
              <a:rPr lang="en-US" altLang="zh-CN" sz="2000" dirty="0" smtClean="0"/>
              <a:t>    p -&gt; 'with' [1]</a:t>
            </a:r>
            <a:endParaRPr lang="en-US" altLang="zh-CN" sz="2000" dirty="0" smtClean="0"/>
          </a:p>
          <a:p>
            <a:pPr marL="0" indent="0">
              <a:buNone/>
            </a:pPr>
            <a:r>
              <a:rPr lang="en-US" altLang="zh-CN" sz="2000" dirty="0" smtClean="0"/>
              <a:t>""")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nltk</a:t>
            </a:r>
            <a:r>
              <a:rPr lang="zh-CN" altLang="en-US" dirty="0" smtClean="0"/>
              <a:t>和</a:t>
            </a:r>
            <a:r>
              <a:rPr lang="en-US" altLang="zh-CN" dirty="0" err="1" smtClean="0"/>
              <a:t>pcfg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 dirty="0" err="1" smtClean="0"/>
              <a:t>viterbi_parser</a:t>
            </a:r>
            <a:r>
              <a:rPr lang="en-US" altLang="zh-CN" sz="2000" dirty="0" smtClean="0"/>
              <a:t> = </a:t>
            </a:r>
            <a:r>
              <a:rPr lang="en-US" altLang="zh-CN" sz="2000" dirty="0" err="1" smtClean="0"/>
              <a:t>nltk.ViterbiParser</a:t>
            </a:r>
            <a:r>
              <a:rPr lang="en-US" altLang="zh-CN" sz="2000" dirty="0" smtClean="0"/>
              <a:t>(grammar)</a:t>
            </a:r>
            <a:endParaRPr lang="en-US" altLang="zh-CN" sz="2000" dirty="0" smtClean="0"/>
          </a:p>
          <a:p>
            <a:pPr marL="0" indent="0">
              <a:buNone/>
            </a:pPr>
            <a:r>
              <a:rPr lang="en-US" altLang="zh-CN" sz="2000" dirty="0" smtClean="0"/>
              <a:t>for tree in </a:t>
            </a:r>
            <a:r>
              <a:rPr lang="en-US" altLang="zh-CN" sz="2000" dirty="0" err="1" smtClean="0"/>
              <a:t>viterbi_parser.parse</a:t>
            </a:r>
            <a:r>
              <a:rPr lang="en-US" altLang="zh-CN" sz="2000" dirty="0" smtClean="0"/>
              <a:t>(['</a:t>
            </a:r>
            <a:r>
              <a:rPr lang="en-US" altLang="zh-CN" sz="2000" dirty="0" err="1" smtClean="0"/>
              <a:t>the','man</a:t>
            </a:r>
            <a:r>
              <a:rPr lang="en-US" altLang="zh-CN" sz="2000" dirty="0" smtClean="0"/>
              <a:t>', '</a:t>
            </a:r>
            <a:r>
              <a:rPr lang="en-US" altLang="zh-CN" sz="2000" dirty="0" err="1" smtClean="0"/>
              <a:t>saw','the','girl','with','the</a:t>
            </a:r>
            <a:r>
              <a:rPr lang="en-US" altLang="zh-CN" sz="2000" dirty="0" smtClean="0"/>
              <a:t>', 'telescope']):</a:t>
            </a:r>
            <a:endParaRPr lang="en-US" altLang="zh-CN" sz="2000" dirty="0" smtClean="0"/>
          </a:p>
          <a:p>
            <a:pPr marL="0" indent="0">
              <a:buNone/>
            </a:pPr>
            <a:r>
              <a:rPr lang="en-US" altLang="zh-CN" sz="2000" dirty="0" smtClean="0"/>
              <a:t>     print(tree)</a:t>
            </a:r>
            <a:endParaRPr lang="en-US" altLang="zh-CN" sz="2000" dirty="0" smtClean="0"/>
          </a:p>
          <a:p>
            <a:pPr marL="0" indent="0">
              <a:buNone/>
            </a:pPr>
            <a:endParaRPr lang="en-US" altLang="zh-CN" sz="2000" dirty="0" smtClean="0"/>
          </a:p>
          <a:p>
            <a:pPr marL="0" indent="0">
              <a:buNone/>
            </a:pPr>
            <a:r>
              <a:rPr lang="en-US" altLang="zh-CN" sz="2000" dirty="0" smtClean="0">
                <a:solidFill>
                  <a:srgbClr val="00B050"/>
                </a:solidFill>
              </a:rPr>
              <a:t>(S</a:t>
            </a:r>
            <a:endParaRPr lang="en-US" altLang="zh-CN" sz="2000" dirty="0" smtClean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altLang="zh-CN" sz="2000" dirty="0" smtClean="0">
                <a:solidFill>
                  <a:srgbClr val="00B050"/>
                </a:solidFill>
              </a:rPr>
              <a:t>  (NP (</a:t>
            </a:r>
            <a:r>
              <a:rPr lang="en-US" altLang="zh-CN" sz="2000" dirty="0" err="1" smtClean="0">
                <a:solidFill>
                  <a:srgbClr val="00B050"/>
                </a:solidFill>
              </a:rPr>
              <a:t>det</a:t>
            </a:r>
            <a:r>
              <a:rPr lang="en-US" altLang="zh-CN" sz="2000" dirty="0" smtClean="0">
                <a:solidFill>
                  <a:srgbClr val="00B050"/>
                </a:solidFill>
              </a:rPr>
              <a:t> the) (n man))</a:t>
            </a:r>
            <a:endParaRPr lang="en-US" altLang="zh-CN" sz="2000" dirty="0" smtClean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altLang="zh-CN" sz="2000" dirty="0" smtClean="0">
                <a:solidFill>
                  <a:srgbClr val="00B050"/>
                </a:solidFill>
              </a:rPr>
              <a:t>  (VP</a:t>
            </a:r>
            <a:endParaRPr lang="en-US" altLang="zh-CN" sz="2000" dirty="0" smtClean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altLang="zh-CN" sz="2000" dirty="0" smtClean="0">
                <a:solidFill>
                  <a:srgbClr val="00B050"/>
                </a:solidFill>
              </a:rPr>
              <a:t>    (v saw)</a:t>
            </a:r>
            <a:endParaRPr lang="en-US" altLang="zh-CN" sz="2000" dirty="0" smtClean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altLang="zh-CN" sz="2000" dirty="0" smtClean="0">
                <a:solidFill>
                  <a:srgbClr val="00B050"/>
                </a:solidFill>
              </a:rPr>
              <a:t>    (NP</a:t>
            </a:r>
            <a:endParaRPr lang="en-US" altLang="zh-CN" sz="2000" dirty="0" smtClean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altLang="zh-CN" sz="2000" dirty="0" smtClean="0">
                <a:solidFill>
                  <a:srgbClr val="00B050"/>
                </a:solidFill>
              </a:rPr>
              <a:t>      (</a:t>
            </a:r>
            <a:r>
              <a:rPr lang="en-US" altLang="zh-CN" sz="2000" dirty="0" err="1" smtClean="0">
                <a:solidFill>
                  <a:srgbClr val="00B050"/>
                </a:solidFill>
              </a:rPr>
              <a:t>det</a:t>
            </a:r>
            <a:r>
              <a:rPr lang="en-US" altLang="zh-CN" sz="2000" dirty="0" smtClean="0">
                <a:solidFill>
                  <a:srgbClr val="00B050"/>
                </a:solidFill>
              </a:rPr>
              <a:t> the)</a:t>
            </a:r>
            <a:endParaRPr lang="en-US" altLang="zh-CN" sz="2000" dirty="0" smtClean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altLang="zh-CN" sz="2000" dirty="0" smtClean="0">
                <a:solidFill>
                  <a:srgbClr val="00B050"/>
                </a:solidFill>
              </a:rPr>
              <a:t>      (n girl)</a:t>
            </a:r>
            <a:endParaRPr lang="en-US" altLang="zh-CN" sz="2000" dirty="0" smtClean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altLang="zh-CN" sz="2000" dirty="0" smtClean="0">
                <a:solidFill>
                  <a:srgbClr val="00B050"/>
                </a:solidFill>
              </a:rPr>
              <a:t>      (PP (p with) (NP (</a:t>
            </a:r>
            <a:r>
              <a:rPr lang="en-US" altLang="zh-CN" sz="2000" dirty="0" err="1" smtClean="0">
                <a:solidFill>
                  <a:srgbClr val="00B050"/>
                </a:solidFill>
              </a:rPr>
              <a:t>det</a:t>
            </a:r>
            <a:r>
              <a:rPr lang="en-US" altLang="zh-CN" sz="2000" dirty="0" smtClean="0">
                <a:solidFill>
                  <a:srgbClr val="00B050"/>
                </a:solidFill>
              </a:rPr>
              <a:t> the) (n telescope)))))) (p=0.0024192)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几个开源的</a:t>
            </a:r>
            <a:r>
              <a:rPr lang="en-US" altLang="zh-CN" dirty="0" err="1" smtClean="0"/>
              <a:t>pcfg</a:t>
            </a:r>
            <a:r>
              <a:rPr lang="en-US" altLang="zh-CN" dirty="0" smtClean="0"/>
              <a:t> parser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Charniak</a:t>
            </a:r>
            <a:r>
              <a:rPr lang="en-US" altLang="zh-CN" dirty="0" smtClean="0"/>
              <a:t> parser</a:t>
            </a:r>
            <a:endParaRPr lang="en-US" altLang="zh-CN" dirty="0" smtClean="0"/>
          </a:p>
          <a:p>
            <a:r>
              <a:rPr lang="en-US" altLang="zh-CN" dirty="0" smtClean="0"/>
              <a:t>Collins parser</a:t>
            </a:r>
            <a:endParaRPr lang="en-US" altLang="zh-CN" dirty="0" smtClean="0"/>
          </a:p>
          <a:p>
            <a:r>
              <a:rPr lang="en-US" altLang="zh-CN" dirty="0" smtClean="0"/>
              <a:t>Stanford parser</a:t>
            </a:r>
            <a:endParaRPr lang="en-US" altLang="zh-CN" dirty="0" smtClean="0"/>
          </a:p>
          <a:p>
            <a:r>
              <a:rPr lang="en-US" altLang="zh-CN" dirty="0" smtClean="0"/>
              <a:t>Berkeley parser</a:t>
            </a:r>
            <a:endParaRPr lang="zh-CN" altLang="en-US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Charniak</a:t>
            </a:r>
            <a:r>
              <a:rPr lang="en-US" altLang="zh-CN" dirty="0" smtClean="0"/>
              <a:t> parser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Charniak</a:t>
            </a:r>
            <a:r>
              <a:rPr lang="zh-CN" altLang="en-US" dirty="0" smtClean="0"/>
              <a:t>做了一辈子</a:t>
            </a:r>
            <a:r>
              <a:rPr lang="en-US" altLang="zh-CN" dirty="0" smtClean="0"/>
              <a:t>parser</a:t>
            </a:r>
            <a:r>
              <a:rPr lang="zh-CN" altLang="en-US" dirty="0" smtClean="0"/>
              <a:t>：</a:t>
            </a:r>
            <a:r>
              <a:rPr lang="en-US" altLang="zh-CN" dirty="0" smtClean="0"/>
              <a:t>https://cs.brown.edu/~ec/</a:t>
            </a:r>
            <a:endParaRPr lang="en-US" altLang="zh-CN" dirty="0" smtClean="0"/>
          </a:p>
          <a:p>
            <a:r>
              <a:rPr lang="en-US" altLang="zh-CN" dirty="0" smtClean="0"/>
              <a:t>https://github.com/BLLIP/bllip-parser</a:t>
            </a:r>
            <a:endParaRPr lang="zh-CN" altLang="en-US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Collins parser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Collins</a:t>
            </a:r>
            <a:r>
              <a:rPr lang="zh-CN" altLang="en-US" dirty="0" smtClean="0"/>
              <a:t>是个天才</a:t>
            </a:r>
            <a:endParaRPr lang="en-US" altLang="zh-CN" dirty="0" smtClean="0"/>
          </a:p>
          <a:p>
            <a:r>
              <a:rPr lang="en-US" altLang="zh-CN" dirty="0" smtClean="0"/>
              <a:t>http://www.cs.columbia.edu/~mcollins/code.html</a:t>
            </a:r>
            <a:endParaRPr lang="zh-CN" altLang="en-US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Stanford</a:t>
            </a:r>
            <a:r>
              <a:rPr lang="zh-CN" altLang="en-US" smtClean="0"/>
              <a:t>的分析器</a:t>
            </a:r>
            <a:endParaRPr lang="zh-CN" altLang="en-US" smtClean="0"/>
          </a:p>
        </p:txBody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目前很好的句法分析器之一</a:t>
            </a:r>
            <a:r>
              <a:rPr lang="en-US" altLang="zh-CN" dirty="0" smtClean="0"/>
              <a:t>:</a:t>
            </a:r>
            <a:endParaRPr lang="en-US" altLang="zh-CN" dirty="0" smtClean="0"/>
          </a:p>
          <a:p>
            <a:pPr eaLnBrk="1" hangingPunct="1"/>
            <a:r>
              <a:rPr lang="en-US" altLang="zh-CN" dirty="0" smtClean="0"/>
              <a:t>Dan Klein and Christopher D. Manning. 2003. </a:t>
            </a:r>
            <a:r>
              <a:rPr lang="en-US" altLang="zh-CN" dirty="0" smtClean="0">
                <a:hlinkClick r:id="rId1"/>
              </a:rPr>
              <a:t>Accurate </a:t>
            </a:r>
            <a:r>
              <a:rPr lang="en-US" altLang="zh-CN" dirty="0" err="1" smtClean="0">
                <a:hlinkClick r:id="rId1"/>
              </a:rPr>
              <a:t>Unlexicalized</a:t>
            </a:r>
            <a:r>
              <a:rPr lang="en-US" altLang="zh-CN" dirty="0" smtClean="0">
                <a:hlinkClick r:id="rId1"/>
              </a:rPr>
              <a:t> Parsing</a:t>
            </a:r>
            <a:r>
              <a:rPr lang="en-US" altLang="zh-CN" dirty="0" smtClean="0"/>
              <a:t>.</a:t>
            </a:r>
            <a:endParaRPr lang="en-US" altLang="zh-CN" dirty="0" smtClean="0"/>
          </a:p>
          <a:p>
            <a:pPr eaLnBrk="1" hangingPunct="1"/>
            <a:r>
              <a:rPr lang="en-US" altLang="zh-CN" dirty="0" smtClean="0"/>
              <a:t>Dan Klein and Christopher D. Manning. 2003. </a:t>
            </a:r>
            <a:r>
              <a:rPr lang="en-US" altLang="zh-CN" dirty="0" smtClean="0">
                <a:hlinkClick r:id="rId2"/>
              </a:rPr>
              <a:t>Fast Exact Inference with a Factored Model for Natural Language Parsing</a:t>
            </a:r>
            <a:r>
              <a:rPr lang="en-US" altLang="zh-CN" dirty="0" smtClean="0"/>
              <a:t>.</a:t>
            </a:r>
            <a:endParaRPr lang="en-US" altLang="zh-CN" dirty="0" smtClean="0"/>
          </a:p>
          <a:p>
            <a:pPr eaLnBrk="1" hangingPunct="1"/>
            <a:r>
              <a:rPr lang="en-US" altLang="zh-CN" dirty="0" smtClean="0"/>
              <a:t>http://nlp.stanford.edu/software/lex-parser.shtml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Berkeley</a:t>
            </a:r>
            <a:r>
              <a:rPr lang="zh-CN" altLang="en-US" smtClean="0"/>
              <a:t>的分析器</a:t>
            </a:r>
            <a:endParaRPr lang="zh-CN" altLang="en-US" smtClean="0"/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目前最好的句法分析器</a:t>
            </a:r>
            <a:endParaRPr lang="en-US" altLang="zh-CN" dirty="0" smtClean="0"/>
          </a:p>
          <a:p>
            <a:pPr eaLnBrk="1" hangingPunct="1"/>
            <a:r>
              <a:rPr lang="zh-CN" altLang="en-US" dirty="0" smtClean="0"/>
              <a:t>但在中文树库的准确率（</a:t>
            </a:r>
            <a:r>
              <a:rPr lang="en-US" altLang="zh-CN" dirty="0" smtClean="0"/>
              <a:t>F</a:t>
            </a:r>
            <a:r>
              <a:rPr lang="zh-CN" altLang="en-US" dirty="0" smtClean="0"/>
              <a:t>值）只有</a:t>
            </a:r>
            <a:r>
              <a:rPr lang="en-US" altLang="zh-CN" dirty="0" smtClean="0"/>
              <a:t>83%</a:t>
            </a:r>
            <a:r>
              <a:rPr lang="zh-CN" altLang="en-US" dirty="0" smtClean="0"/>
              <a:t>，比英文树库的结果差很多</a:t>
            </a:r>
            <a:endParaRPr lang="en-US" altLang="zh-CN" dirty="0" smtClean="0"/>
          </a:p>
          <a:p>
            <a:pPr eaLnBrk="1" hangingPunct="1"/>
            <a:r>
              <a:rPr lang="en-US" altLang="zh-CN" dirty="0" smtClean="0"/>
              <a:t>http://tomato.banatao.berkeley.edu:8080/parser/parser.html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作业</a:t>
            </a:r>
            <a:endParaRPr lang="zh-CN" altLang="en-US" smtClean="0"/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 smtClean="0"/>
              <a:t>阅读</a:t>
            </a:r>
            <a:r>
              <a:rPr lang="en-US" altLang="zh-CN" dirty="0" err="1" smtClean="0"/>
              <a:t>nltk.ViterbiParser</a:t>
            </a:r>
            <a:r>
              <a:rPr lang="zh-CN" altLang="en-US" dirty="0" smtClean="0"/>
              <a:t>的源代码</a:t>
            </a:r>
            <a:endParaRPr lang="en-US" altLang="zh-CN" dirty="0" smtClean="0"/>
          </a:p>
          <a:p>
            <a:pPr eaLnBrk="1" hangingPunct="1">
              <a:lnSpc>
                <a:spcPct val="90000"/>
              </a:lnSpc>
            </a:pPr>
            <a:r>
              <a:rPr lang="zh-CN" altLang="en-US" dirty="0" smtClean="0"/>
              <a:t>下载</a:t>
            </a:r>
            <a:r>
              <a:rPr lang="zh-CN" altLang="en-US" dirty="0" smtClean="0"/>
              <a:t>、运行并研究</a:t>
            </a:r>
            <a:r>
              <a:rPr lang="en-US" altLang="zh-CN" dirty="0" smtClean="0"/>
              <a:t>Collins, </a:t>
            </a:r>
            <a:r>
              <a:rPr lang="zh-CN" altLang="en-US" dirty="0" smtClean="0"/>
              <a:t>或</a:t>
            </a:r>
            <a:r>
              <a:rPr lang="en-US" altLang="zh-CN" dirty="0" err="1" smtClean="0"/>
              <a:t>Charniak</a:t>
            </a:r>
            <a:r>
              <a:rPr lang="en-US" altLang="zh-CN" dirty="0" smtClean="0"/>
              <a:t>,</a:t>
            </a:r>
            <a:r>
              <a:rPr lang="zh-CN" altLang="en-US" dirty="0" smtClean="0"/>
              <a:t>或</a:t>
            </a:r>
            <a:r>
              <a:rPr lang="en-US" altLang="zh-CN" dirty="0" smtClean="0"/>
              <a:t>Stanford</a:t>
            </a:r>
            <a:r>
              <a:rPr lang="zh-CN" altLang="en-US" dirty="0" smtClean="0"/>
              <a:t>，或</a:t>
            </a:r>
            <a:r>
              <a:rPr lang="en-US" altLang="zh-CN" dirty="0" smtClean="0"/>
              <a:t>Berkeley</a:t>
            </a:r>
            <a:r>
              <a:rPr lang="zh-CN" altLang="en-US" dirty="0" smtClean="0"/>
              <a:t>的分析器</a:t>
            </a:r>
            <a:r>
              <a:rPr lang="zh-CN" altLang="en-US" dirty="0" smtClean="0"/>
              <a:t>。</a:t>
            </a:r>
            <a:endParaRPr lang="zh-CN" altLang="en-US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15788</Words>
  <Application>WPS 演示</Application>
  <PresentationFormat>全屏显示(4:3)</PresentationFormat>
  <Paragraphs>1147</Paragraphs>
  <Slides>92</Slides>
  <Notes>35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17</vt:i4>
      </vt:variant>
      <vt:variant>
        <vt:lpstr>幻灯片标题</vt:lpstr>
      </vt:variant>
      <vt:variant>
        <vt:i4>92</vt:i4>
      </vt:variant>
    </vt:vector>
  </HeadingPairs>
  <TitlesOfParts>
    <vt:vector size="122" baseType="lpstr">
      <vt:lpstr>Arial</vt:lpstr>
      <vt:lpstr>宋体</vt:lpstr>
      <vt:lpstr>Wingdings</vt:lpstr>
      <vt:lpstr>Times New Roman</vt:lpstr>
      <vt:lpstr>Symbol</vt:lpstr>
      <vt:lpstr>Courier New</vt:lpstr>
      <vt:lpstr>微软雅黑</vt:lpstr>
      <vt:lpstr>Arial Unicode MS</vt:lpstr>
      <vt:lpstr>Monotype Sorts</vt:lpstr>
      <vt:lpstr>Wingdings</vt:lpstr>
      <vt:lpstr>Monotype Sorts</vt:lpstr>
      <vt:lpstr>Tahoma</vt:lpstr>
      <vt:lpstr>Default Design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Equation.3</vt:lpstr>
      <vt:lpstr>Equation.3</vt:lpstr>
      <vt:lpstr>Equation.3</vt:lpstr>
      <vt:lpstr>Paint.Picture</vt:lpstr>
      <vt:lpstr>Paint.Picture</vt:lpstr>
      <vt:lpstr>Paint.Picture</vt:lpstr>
      <vt:lpstr>Paint.Picture</vt:lpstr>
      <vt:lpstr>Paint.Picture</vt:lpstr>
      <vt:lpstr>PowerPoint 演示文稿</vt:lpstr>
      <vt:lpstr>outline</vt:lpstr>
      <vt:lpstr>参考文献</vt:lpstr>
      <vt:lpstr>什么是句法分析</vt:lpstr>
      <vt:lpstr>CFG的定义</vt:lpstr>
      <vt:lpstr>一个简单的CFG</vt:lpstr>
      <vt:lpstr>PowerPoint 演示文稿</vt:lpstr>
      <vt:lpstr>文法和歧义</vt:lpstr>
      <vt:lpstr>Processing strategies</vt:lpstr>
      <vt:lpstr>所谓自顶向下分析法也就是先构造句法树的根结点，再逐步向下扩展，直到叶结点；  所谓自底向上分析法也就是先构造句法树的叶结点，再逐步向上合并，直到根结点。</vt:lpstr>
      <vt:lpstr>处理策略</vt:lpstr>
      <vt:lpstr>CYK 算法</vt:lpstr>
      <vt:lpstr>Recognition of CNF：the CYK algorithm </vt:lpstr>
      <vt:lpstr>例子：语言{anbn}的CNF文法</vt:lpstr>
      <vt:lpstr>例子</vt:lpstr>
      <vt:lpstr>例子</vt:lpstr>
      <vt:lpstr>例子</vt:lpstr>
      <vt:lpstr>例子</vt:lpstr>
      <vt:lpstr>例子</vt:lpstr>
      <vt:lpstr>例子</vt:lpstr>
      <vt:lpstr>例子</vt:lpstr>
      <vt:lpstr>Chart Parsing</vt:lpstr>
      <vt:lpstr>chart example</vt:lpstr>
      <vt:lpstr>PowerPoint 演示文稿</vt:lpstr>
      <vt:lpstr>点规则</vt:lpstr>
      <vt:lpstr>PowerPoint 演示文稿</vt:lpstr>
      <vt:lpstr>Chart Parsing</vt:lpstr>
      <vt:lpstr>Chart Parsing</vt:lpstr>
      <vt:lpstr>Chart Parsing</vt:lpstr>
      <vt:lpstr>extending an active arc:合并规则</vt:lpstr>
      <vt:lpstr>Chart Parsing - Example</vt:lpstr>
      <vt:lpstr>Chart Parsing - Example</vt:lpstr>
      <vt:lpstr>The large can can hold the water</vt:lpstr>
      <vt:lpstr>The large can can hold the water</vt:lpstr>
      <vt:lpstr>The large can can hold the water</vt:lpstr>
      <vt:lpstr>The large can can hold the water</vt:lpstr>
      <vt:lpstr>The final Chart</vt:lpstr>
      <vt:lpstr>how is agenda organized?</vt:lpstr>
      <vt:lpstr>blind parsing</vt:lpstr>
      <vt:lpstr>PowerPoint 演示文稿</vt:lpstr>
      <vt:lpstr>PowerPoint 演示文稿</vt:lpstr>
      <vt:lpstr>Earley 分析算法</vt:lpstr>
      <vt:lpstr>implementation of earley parsing as top-down (predicative) chart parser</vt:lpstr>
      <vt:lpstr>Earley chart Parser - Example</vt:lpstr>
      <vt:lpstr>The large can can hold the water</vt:lpstr>
      <vt:lpstr>The large can can hold the water</vt:lpstr>
      <vt:lpstr>Earley算法优点</vt:lpstr>
      <vt:lpstr>用nltk做chart parsing</vt:lpstr>
      <vt:lpstr>PowerPoint 演示文稿</vt:lpstr>
      <vt:lpstr>PowerPoint 演示文稿</vt:lpstr>
      <vt:lpstr>作业</vt:lpstr>
      <vt:lpstr>Probabilistic CFG</vt:lpstr>
      <vt:lpstr>Use of PCFG</vt:lpstr>
      <vt:lpstr>P(T,S)</vt:lpstr>
      <vt:lpstr>PowerPoint 演示文稿</vt:lpstr>
      <vt:lpstr>PowerPoint 演示文稿</vt:lpstr>
      <vt:lpstr>PowerPoint 演示文稿</vt:lpstr>
      <vt:lpstr>PCFG 真的有用吗？</vt:lpstr>
      <vt:lpstr>PCFG的缺陷</vt:lpstr>
      <vt:lpstr>Structural Dependencies</vt:lpstr>
      <vt:lpstr>PowerPoint 演示文稿</vt:lpstr>
      <vt:lpstr>PowerPoint 演示文稿</vt:lpstr>
      <vt:lpstr>PowerPoint 演示文稿</vt:lpstr>
      <vt:lpstr>Getting the Probabilities</vt:lpstr>
      <vt:lpstr>PowerPoint 演示文稿</vt:lpstr>
      <vt:lpstr>PowerPoint 演示文稿</vt:lpstr>
      <vt:lpstr>PowerPoint 演示文稿</vt:lpstr>
      <vt:lpstr>Evaluating Parsing Accuracy</vt:lpstr>
      <vt:lpstr>Evaluating Constituent Accuracy</vt:lpstr>
      <vt:lpstr>Parser Evaluation Using the Penn Treebank</vt:lpstr>
      <vt:lpstr>Counting Constituents</vt:lpstr>
      <vt:lpstr>Parsing Results [Charniak]</vt:lpstr>
      <vt:lpstr>Implementing PCFG on chart parsing</vt:lpstr>
      <vt:lpstr>Using the Maxima</vt:lpstr>
      <vt:lpstr>Better PCFG: lexicalized parsing</vt:lpstr>
      <vt:lpstr>Heads</vt:lpstr>
      <vt:lpstr>a parse with heads marked</vt:lpstr>
      <vt:lpstr>How to get p(V NP NP|VP(gave)) ?</vt:lpstr>
      <vt:lpstr>other lexical preferences</vt:lpstr>
      <vt:lpstr>But not a Head Probability Relationship</vt:lpstr>
      <vt:lpstr>PowerPoint 演示文稿</vt:lpstr>
      <vt:lpstr>Lexicalized Probabilities [charniak]</vt:lpstr>
      <vt:lpstr>Parsing Results [Charniak]</vt:lpstr>
      <vt:lpstr>How to evaluate</vt:lpstr>
      <vt:lpstr>nltk和pcfg</vt:lpstr>
      <vt:lpstr>nltk和pcfg</vt:lpstr>
      <vt:lpstr>几个开源的pcfg parser</vt:lpstr>
      <vt:lpstr>Charniak parser</vt:lpstr>
      <vt:lpstr>Collins parser</vt:lpstr>
      <vt:lpstr>Stanford的分析器</vt:lpstr>
      <vt:lpstr>Berkeley的分析器</vt:lpstr>
      <vt:lpstr>作业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Mandel</dc:creator>
  <cp:lastModifiedBy>花师小哲</cp:lastModifiedBy>
  <cp:revision>342</cp:revision>
  <dcterms:created xsi:type="dcterms:W3CDTF">2005-02-15T11:04:00Z</dcterms:created>
  <dcterms:modified xsi:type="dcterms:W3CDTF">2020-04-21T23:40:18Z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2052-11.1.0.9584</vt:lpwstr>
  </property>
</Properties>
</file>