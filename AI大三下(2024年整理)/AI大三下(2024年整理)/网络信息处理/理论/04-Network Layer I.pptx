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83"/>
  </p:notesMasterIdLst>
  <p:handoutMasterIdLst>
    <p:handoutMasterId r:id="rId84"/>
  </p:handoutMasterIdLst>
  <p:sldIdLst>
    <p:sldId id="256" r:id="rId2"/>
    <p:sldId id="257" r:id="rId3"/>
    <p:sldId id="1031" r:id="rId4"/>
    <p:sldId id="259" r:id="rId5"/>
    <p:sldId id="263" r:id="rId6"/>
    <p:sldId id="264" r:id="rId7"/>
    <p:sldId id="1030" r:id="rId8"/>
    <p:sldId id="928" r:id="rId9"/>
    <p:sldId id="929" r:id="rId10"/>
    <p:sldId id="931" r:id="rId11"/>
    <p:sldId id="932" r:id="rId12"/>
    <p:sldId id="933" r:id="rId13"/>
    <p:sldId id="934" r:id="rId14"/>
    <p:sldId id="935" r:id="rId15"/>
    <p:sldId id="1032" r:id="rId16"/>
    <p:sldId id="938" r:id="rId17"/>
    <p:sldId id="939" r:id="rId18"/>
    <p:sldId id="940" r:id="rId19"/>
    <p:sldId id="941" r:id="rId20"/>
    <p:sldId id="942" r:id="rId21"/>
    <p:sldId id="951" r:id="rId22"/>
    <p:sldId id="953" r:id="rId23"/>
    <p:sldId id="954" r:id="rId24"/>
    <p:sldId id="955" r:id="rId25"/>
    <p:sldId id="956" r:id="rId26"/>
    <p:sldId id="967" r:id="rId27"/>
    <p:sldId id="1033" r:id="rId28"/>
    <p:sldId id="1037" r:id="rId29"/>
    <p:sldId id="968" r:id="rId30"/>
    <p:sldId id="970" r:id="rId31"/>
    <p:sldId id="979" r:id="rId32"/>
    <p:sldId id="980" r:id="rId33"/>
    <p:sldId id="981" r:id="rId34"/>
    <p:sldId id="982" r:id="rId35"/>
    <p:sldId id="983" r:id="rId36"/>
    <p:sldId id="1038" r:id="rId37"/>
    <p:sldId id="984" r:id="rId38"/>
    <p:sldId id="985" r:id="rId39"/>
    <p:sldId id="987" r:id="rId40"/>
    <p:sldId id="988" r:id="rId41"/>
    <p:sldId id="1034" r:id="rId42"/>
    <p:sldId id="990" r:id="rId43"/>
    <p:sldId id="991" r:id="rId44"/>
    <p:sldId id="992" r:id="rId45"/>
    <p:sldId id="993" r:id="rId46"/>
    <p:sldId id="994" r:id="rId47"/>
    <p:sldId id="995" r:id="rId48"/>
    <p:sldId id="996" r:id="rId49"/>
    <p:sldId id="997" r:id="rId50"/>
    <p:sldId id="998" r:id="rId51"/>
    <p:sldId id="999" r:id="rId52"/>
    <p:sldId id="1000" r:id="rId53"/>
    <p:sldId id="1001" r:id="rId54"/>
    <p:sldId id="1002" r:id="rId55"/>
    <p:sldId id="1003" r:id="rId56"/>
    <p:sldId id="1004" r:id="rId57"/>
    <p:sldId id="1005" r:id="rId58"/>
    <p:sldId id="1006" r:id="rId59"/>
    <p:sldId id="1007" r:id="rId60"/>
    <p:sldId id="1008" r:id="rId61"/>
    <p:sldId id="1009" r:id="rId62"/>
    <p:sldId id="1010" r:id="rId63"/>
    <p:sldId id="1035" r:id="rId64"/>
    <p:sldId id="1011" r:id="rId65"/>
    <p:sldId id="1020" r:id="rId66"/>
    <p:sldId id="1013" r:id="rId67"/>
    <p:sldId id="1014" r:id="rId68"/>
    <p:sldId id="1015" r:id="rId69"/>
    <p:sldId id="1016" r:id="rId70"/>
    <p:sldId id="1017" r:id="rId71"/>
    <p:sldId id="1018" r:id="rId72"/>
    <p:sldId id="1036" r:id="rId73"/>
    <p:sldId id="1021" r:id="rId74"/>
    <p:sldId id="1022" r:id="rId75"/>
    <p:sldId id="1023" r:id="rId76"/>
    <p:sldId id="1024" r:id="rId77"/>
    <p:sldId id="1025" r:id="rId78"/>
    <p:sldId id="1026" r:id="rId79"/>
    <p:sldId id="1027" r:id="rId80"/>
    <p:sldId id="1028" r:id="rId81"/>
    <p:sldId id="1029" r:id="rId82"/>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66FF66"/>
    <a:srgbClr val="66FF33"/>
    <a:srgbClr val="0000FF"/>
    <a:srgbClr val="FFFF66"/>
    <a:srgbClr val="6699FF"/>
    <a:srgbClr val="0000CC"/>
    <a:srgbClr val="000066"/>
    <a:srgbClr val="FF66FF"/>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51" autoAdjust="0"/>
    <p:restoredTop sz="94690" autoAdjust="0"/>
  </p:normalViewPr>
  <p:slideViewPr>
    <p:cSldViewPr>
      <p:cViewPr varScale="1">
        <p:scale>
          <a:sx n="96" d="100"/>
          <a:sy n="96" d="100"/>
        </p:scale>
        <p:origin x="1458" y="9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56" d="100"/>
          <a:sy n="56" d="100"/>
        </p:scale>
        <p:origin x="-1830" y="-96"/>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E4C64EE1-592A-45A9-9E8D-8A110C604C90}" type="slidenum">
              <a:rPr lang="zh-CN" altLang="en-US"/>
              <a:pPr/>
              <a:t>‹#›</a:t>
            </a:fld>
            <a:endParaRPr lang="en-US" altLang="zh-CN"/>
          </a:p>
        </p:txBody>
      </p:sp>
    </p:spTree>
    <p:extLst>
      <p:ext uri="{BB962C8B-B14F-4D97-AF65-F5344CB8AC3E}">
        <p14:creationId xmlns:p14="http://schemas.microsoft.com/office/powerpoint/2010/main" val="343127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8DA2099C-E03D-4BEA-80BD-EC59252D8E32}" type="slidenum">
              <a:rPr lang="zh-CN" altLang="en-US"/>
              <a:pPr/>
              <a:t>‹#›</a:t>
            </a:fld>
            <a:endParaRPr lang="en-US" altLang="zh-CN"/>
          </a:p>
        </p:txBody>
      </p:sp>
    </p:spTree>
    <p:extLst>
      <p:ext uri="{BB962C8B-B14F-4D97-AF65-F5344CB8AC3E}">
        <p14:creationId xmlns:p14="http://schemas.microsoft.com/office/powerpoint/2010/main" val="21592848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itchFamily="2" charset="-122"/>
        <a:ea typeface="宋体" pitchFamily="2" charset="-122"/>
        <a:cs typeface="+mn-cs"/>
      </a:defRPr>
    </a:lvl1pPr>
    <a:lvl2pPr marL="457200" algn="l" rtl="0" fontAlgn="base">
      <a:spcBef>
        <a:spcPct val="30000"/>
      </a:spcBef>
      <a:spcAft>
        <a:spcPct val="0"/>
      </a:spcAft>
      <a:defRPr sz="1200" kern="1200">
        <a:solidFill>
          <a:schemeClr val="tx1"/>
        </a:solidFill>
        <a:latin typeface="宋体" pitchFamily="2" charset="-122"/>
        <a:ea typeface="宋体" pitchFamily="2" charset="-122"/>
        <a:cs typeface="+mn-cs"/>
      </a:defRPr>
    </a:lvl2pPr>
    <a:lvl3pPr marL="914400" algn="l" rtl="0" fontAlgn="base">
      <a:spcBef>
        <a:spcPct val="30000"/>
      </a:spcBef>
      <a:spcAft>
        <a:spcPct val="0"/>
      </a:spcAft>
      <a:defRPr sz="1200" kern="1200">
        <a:solidFill>
          <a:schemeClr val="tx1"/>
        </a:solidFill>
        <a:latin typeface="宋体" pitchFamily="2" charset="-122"/>
        <a:ea typeface="宋体" pitchFamily="2" charset="-122"/>
        <a:cs typeface="+mn-cs"/>
      </a:defRPr>
    </a:lvl3pPr>
    <a:lvl4pPr marL="1371600" algn="l" rtl="0" fontAlgn="base">
      <a:spcBef>
        <a:spcPct val="30000"/>
      </a:spcBef>
      <a:spcAft>
        <a:spcPct val="0"/>
      </a:spcAft>
      <a:defRPr sz="1200" kern="1200">
        <a:solidFill>
          <a:schemeClr val="tx1"/>
        </a:solidFill>
        <a:latin typeface="宋体" pitchFamily="2" charset="-122"/>
        <a:ea typeface="宋体" pitchFamily="2" charset="-122"/>
        <a:cs typeface="+mn-cs"/>
      </a:defRPr>
    </a:lvl4pPr>
    <a:lvl5pPr marL="1828800" algn="l" rtl="0" fontAlgn="base">
      <a:spcBef>
        <a:spcPct val="30000"/>
      </a:spcBef>
      <a:spcAft>
        <a:spcPct val="0"/>
      </a:spcAft>
      <a:defRPr sz="12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96C443-04BC-4639-B5F7-E14A7E3E0041}" type="slidenum">
              <a:rPr lang="zh-CN" altLang="en-US"/>
              <a:pPr/>
              <a:t>1</a:t>
            </a:fld>
            <a:endParaRPr lang="en-US" altLang="zh-CN"/>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086A1-AA6B-4540-9AEA-06C3FCB8888D}" type="slidenum">
              <a:rPr lang="en-US" altLang="zh-CN"/>
              <a:pPr/>
              <a:t>4</a:t>
            </a:fld>
            <a:endParaRPr lang="en-US" altLang="zh-CN"/>
          </a:p>
        </p:txBody>
      </p:sp>
      <p:sp>
        <p:nvSpPr>
          <p:cNvPr id="935938" name="Rectangle 2"/>
          <p:cNvSpPr>
            <a:spLocks noGrp="1" noRot="1" noChangeAspect="1" noChangeArrowheads="1" noTextEdit="1"/>
          </p:cNvSpPr>
          <p:nvPr>
            <p:ph type="sldImg"/>
          </p:nvPr>
        </p:nvSpPr>
        <p:spPr>
          <a:ln/>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7CFD8B-AAA5-42B2-8F60-674FF82D1440}" type="slidenum">
              <a:rPr lang="en-US" altLang="zh-CN"/>
              <a:pPr/>
              <a:t>5</a:t>
            </a:fld>
            <a:endParaRPr lang="en-US" altLang="zh-CN"/>
          </a:p>
        </p:txBody>
      </p:sp>
      <p:sp>
        <p:nvSpPr>
          <p:cNvPr id="942082" name="Rectangle 2"/>
          <p:cNvSpPr>
            <a:spLocks noGrp="1" noRot="1" noChangeAspect="1" noChangeArrowheads="1" noTextEdit="1"/>
          </p:cNvSpPr>
          <p:nvPr>
            <p:ph type="sldImg"/>
          </p:nvPr>
        </p:nvSpPr>
        <p:spPr>
          <a:ln/>
        </p:spPr>
      </p:sp>
      <p:sp>
        <p:nvSpPr>
          <p:cNvPr id="9420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2EEAAF-9746-4A21-AFDB-8EDB16962191}" type="slidenum">
              <a:rPr lang="en-US" altLang="zh-CN"/>
              <a:pPr/>
              <a:t>6</a:t>
            </a:fld>
            <a:endParaRPr lang="en-US" altLang="zh-CN"/>
          </a:p>
        </p:txBody>
      </p:sp>
      <p:sp>
        <p:nvSpPr>
          <p:cNvPr id="944130" name="Rectangle 2"/>
          <p:cNvSpPr>
            <a:spLocks noGrp="1" noRot="1" noChangeAspect="1" noChangeArrowheads="1" noTextEdit="1"/>
          </p:cNvSpPr>
          <p:nvPr>
            <p:ph type="sldImg"/>
          </p:nvPr>
        </p:nvSpPr>
        <p:spPr>
          <a:ln/>
        </p:spPr>
      </p:sp>
      <p:sp>
        <p:nvSpPr>
          <p:cNvPr id="9441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2EEAAF-9746-4A21-AFDB-8EDB16962191}" type="slidenum">
              <a:rPr lang="en-US" altLang="zh-CN"/>
              <a:pPr/>
              <a:t>7</a:t>
            </a:fld>
            <a:endParaRPr lang="en-US" altLang="zh-CN"/>
          </a:p>
        </p:txBody>
      </p:sp>
      <p:sp>
        <p:nvSpPr>
          <p:cNvPr id="944130" name="Rectangle 2"/>
          <p:cNvSpPr>
            <a:spLocks noGrp="1" noRot="1" noChangeAspect="1" noChangeArrowheads="1" noTextEdit="1"/>
          </p:cNvSpPr>
          <p:nvPr>
            <p:ph type="sldImg"/>
          </p:nvPr>
        </p:nvSpPr>
        <p:spPr>
          <a:ln/>
        </p:spPr>
      </p:sp>
      <p:sp>
        <p:nvSpPr>
          <p:cNvPr id="9441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179098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8E087D-46D2-46FF-B1E6-D3609F2CF256}" type="slidenum">
              <a:rPr lang="en-US" altLang="zh-CN"/>
              <a:pPr/>
              <a:t>8</a:t>
            </a:fld>
            <a:endParaRPr lang="en-US" altLang="zh-CN"/>
          </a:p>
        </p:txBody>
      </p:sp>
      <p:sp>
        <p:nvSpPr>
          <p:cNvPr id="968706" name="Rectangle 2"/>
          <p:cNvSpPr>
            <a:spLocks noGrp="1" noRot="1" noChangeAspect="1" noChangeArrowheads="1" noTextEdit="1"/>
          </p:cNvSpPr>
          <p:nvPr>
            <p:ph type="sldImg"/>
          </p:nvPr>
        </p:nvSpPr>
        <p:spPr>
          <a:ln/>
        </p:spPr>
      </p:sp>
      <p:sp>
        <p:nvSpPr>
          <p:cNvPr id="9687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9F115C-B1A8-4482-AF6F-686591AE2EE0}" type="slidenum">
              <a:rPr lang="en-US" altLang="zh-CN"/>
              <a:pPr/>
              <a:t>9</a:t>
            </a:fld>
            <a:endParaRPr lang="en-US" altLang="zh-CN"/>
          </a:p>
        </p:txBody>
      </p:sp>
      <p:sp>
        <p:nvSpPr>
          <p:cNvPr id="969730" name="Rectangle 2"/>
          <p:cNvSpPr>
            <a:spLocks noGrp="1" noRot="1" noChangeAspect="1" noChangeArrowheads="1" noTextEdit="1"/>
          </p:cNvSpPr>
          <p:nvPr>
            <p:ph type="sldImg"/>
          </p:nvPr>
        </p:nvSpPr>
        <p:spPr>
          <a:ln/>
        </p:spPr>
      </p:sp>
      <p:sp>
        <p:nvSpPr>
          <p:cNvPr id="969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05A3CA-4906-47B0-B299-861D534F74E5}" type="slidenum">
              <a:rPr lang="en-US" altLang="zh-CN"/>
              <a:pPr/>
              <a:t>10</a:t>
            </a:fld>
            <a:endParaRPr lang="en-US" altLang="zh-CN"/>
          </a:p>
        </p:txBody>
      </p:sp>
      <p:sp>
        <p:nvSpPr>
          <p:cNvPr id="685058" name="Rectangle 2"/>
          <p:cNvSpPr>
            <a:spLocks noGrp="1" noRot="1" noChangeAspect="1" noChangeArrowheads="1" noTextEdit="1"/>
          </p:cNvSpPr>
          <p:nvPr>
            <p:ph type="sldImg"/>
          </p:nvPr>
        </p:nvSpPr>
        <p:spPr>
          <a:ln/>
        </p:spPr>
      </p:sp>
      <p:sp>
        <p:nvSpPr>
          <p:cNvPr id="6850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0CC06B-C195-4110-BBDD-CC41AE4B9711}" type="slidenum">
              <a:rPr lang="en-US" altLang="zh-CN"/>
              <a:pPr/>
              <a:t>11</a:t>
            </a:fld>
            <a:endParaRPr lang="en-US" altLang="zh-CN"/>
          </a:p>
        </p:txBody>
      </p:sp>
      <p:sp>
        <p:nvSpPr>
          <p:cNvPr id="686082" name="Rectangle 2"/>
          <p:cNvSpPr>
            <a:spLocks noGrp="1" noRot="1" noChangeAspect="1" noChangeArrowheads="1" noTextEdit="1"/>
          </p:cNvSpPr>
          <p:nvPr>
            <p:ph type="sldImg"/>
          </p:nvPr>
        </p:nvSpPr>
        <p:spPr>
          <a:ln/>
        </p:spPr>
      </p:sp>
      <p:sp>
        <p:nvSpPr>
          <p:cNvPr id="6860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D89B19-15FF-4323-A679-71274F8177B0}" type="slidenum">
              <a:rPr lang="en-US" altLang="zh-CN"/>
              <a:pPr/>
              <a:t>12</a:t>
            </a:fld>
            <a:endParaRPr lang="en-US" altLang="zh-CN"/>
          </a:p>
        </p:txBody>
      </p:sp>
      <p:sp>
        <p:nvSpPr>
          <p:cNvPr id="687106" name="Rectangle 2"/>
          <p:cNvSpPr>
            <a:spLocks noGrp="1" noRot="1" noChangeAspect="1" noChangeArrowheads="1" noTextEdit="1"/>
          </p:cNvSpPr>
          <p:nvPr>
            <p:ph type="sldImg"/>
          </p:nvPr>
        </p:nvSpPr>
        <p:spPr>
          <a:ln/>
        </p:spPr>
      </p:sp>
      <p:sp>
        <p:nvSpPr>
          <p:cNvPr id="6871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058780-E170-4550-9F53-2DA4DDEE8172}" type="slidenum">
              <a:rPr lang="en-US" altLang="zh-CN"/>
              <a:pPr/>
              <a:t>13</a:t>
            </a:fld>
            <a:endParaRPr lang="en-US" altLang="zh-CN"/>
          </a:p>
        </p:txBody>
      </p:sp>
      <p:sp>
        <p:nvSpPr>
          <p:cNvPr id="688130" name="Rectangle 2"/>
          <p:cNvSpPr>
            <a:spLocks noGrp="1" noRot="1" noChangeAspect="1" noChangeArrowheads="1" noTextEdit="1"/>
          </p:cNvSpPr>
          <p:nvPr>
            <p:ph type="sldImg"/>
          </p:nvPr>
        </p:nvSpPr>
        <p:spPr>
          <a:ln/>
        </p:spPr>
      </p:sp>
      <p:sp>
        <p:nvSpPr>
          <p:cNvPr id="688131"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AE6C92-B0E8-49D7-A471-86B9FA4E51A7}" type="slidenum">
              <a:rPr lang="en-US" altLang="zh-CN"/>
              <a:pPr/>
              <a:t>16</a:t>
            </a:fld>
            <a:endParaRPr lang="en-US" altLang="zh-CN"/>
          </a:p>
        </p:txBody>
      </p:sp>
      <p:sp>
        <p:nvSpPr>
          <p:cNvPr id="692226" name="Rectangle 2"/>
          <p:cNvSpPr>
            <a:spLocks noGrp="1" noRot="1" noChangeAspect="1" noChangeArrowheads="1" noTextEdit="1"/>
          </p:cNvSpPr>
          <p:nvPr>
            <p:ph type="sldImg"/>
          </p:nvPr>
        </p:nvSpPr>
        <p:spPr>
          <a:ln/>
        </p:spPr>
      </p:sp>
      <p:sp>
        <p:nvSpPr>
          <p:cNvPr id="6922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F698DF-CF15-4CB4-BE04-F93761BA98AA}" type="slidenum">
              <a:rPr lang="en-US" altLang="zh-CN"/>
              <a:pPr/>
              <a:t>17</a:t>
            </a:fld>
            <a:endParaRPr lang="en-US" altLang="zh-CN"/>
          </a:p>
        </p:txBody>
      </p:sp>
      <p:sp>
        <p:nvSpPr>
          <p:cNvPr id="693250" name="Rectangle 2"/>
          <p:cNvSpPr>
            <a:spLocks noGrp="1" noRot="1" noChangeAspect="1" noChangeArrowheads="1" noTextEdit="1"/>
          </p:cNvSpPr>
          <p:nvPr>
            <p:ph type="sldImg"/>
          </p:nvPr>
        </p:nvSpPr>
        <p:spPr>
          <a:ln/>
        </p:spPr>
      </p:sp>
      <p:sp>
        <p:nvSpPr>
          <p:cNvPr id="693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BC5511-5913-412C-9906-60FBA33977AD}" type="slidenum">
              <a:rPr lang="en-US" altLang="zh-CN"/>
              <a:pPr/>
              <a:t>18</a:t>
            </a:fld>
            <a:endParaRPr lang="en-US" altLang="zh-CN"/>
          </a:p>
        </p:txBody>
      </p:sp>
      <p:sp>
        <p:nvSpPr>
          <p:cNvPr id="694274" name="Rectangle 2"/>
          <p:cNvSpPr>
            <a:spLocks noGrp="1" noRot="1" noChangeAspect="1" noChangeArrowheads="1" noTextEdit="1"/>
          </p:cNvSpPr>
          <p:nvPr>
            <p:ph type="sldImg"/>
          </p:nvPr>
        </p:nvSpPr>
        <p:spPr>
          <a:ln/>
        </p:spPr>
      </p:sp>
      <p:sp>
        <p:nvSpPr>
          <p:cNvPr id="6942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BC5511-5913-412C-9906-60FBA33977AD}" type="slidenum">
              <a:rPr lang="en-US" altLang="zh-CN"/>
              <a:pPr/>
              <a:t>19</a:t>
            </a:fld>
            <a:endParaRPr lang="en-US" altLang="zh-CN"/>
          </a:p>
        </p:txBody>
      </p:sp>
      <p:sp>
        <p:nvSpPr>
          <p:cNvPr id="694274" name="Rectangle 2"/>
          <p:cNvSpPr>
            <a:spLocks noGrp="1" noRot="1" noChangeAspect="1" noChangeArrowheads="1" noTextEdit="1"/>
          </p:cNvSpPr>
          <p:nvPr>
            <p:ph type="sldImg"/>
          </p:nvPr>
        </p:nvSpPr>
        <p:spPr>
          <a:ln/>
        </p:spPr>
      </p:sp>
      <p:sp>
        <p:nvSpPr>
          <p:cNvPr id="6942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973F3A-26E3-4985-B3F6-73D0C740A669}" type="slidenum">
              <a:rPr lang="en-US" altLang="zh-CN"/>
              <a:pPr/>
              <a:t>20</a:t>
            </a:fld>
            <a:endParaRPr lang="en-US" altLang="zh-CN"/>
          </a:p>
        </p:txBody>
      </p:sp>
      <p:sp>
        <p:nvSpPr>
          <p:cNvPr id="695298" name="Rectangle 2"/>
          <p:cNvSpPr>
            <a:spLocks noGrp="1" noRot="1" noChangeAspect="1" noChangeArrowheads="1" noTextEdit="1"/>
          </p:cNvSpPr>
          <p:nvPr>
            <p:ph type="sldImg"/>
          </p:nvPr>
        </p:nvSpPr>
        <p:spPr>
          <a:ln/>
        </p:spPr>
      </p:sp>
      <p:sp>
        <p:nvSpPr>
          <p:cNvPr id="695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196ED6-554D-4CAA-9263-9DA50CF4B7A7}" type="slidenum">
              <a:rPr lang="en-US" altLang="zh-CN"/>
              <a:pPr/>
              <a:t>21</a:t>
            </a:fld>
            <a:endParaRPr lang="en-US" altLang="zh-CN"/>
          </a:p>
        </p:txBody>
      </p:sp>
      <p:sp>
        <p:nvSpPr>
          <p:cNvPr id="705538" name="Rectangle 2"/>
          <p:cNvSpPr>
            <a:spLocks noGrp="1" noRot="1" noChangeAspect="1" noChangeArrowheads="1" noTextEdit="1"/>
          </p:cNvSpPr>
          <p:nvPr>
            <p:ph type="sldImg"/>
          </p:nvPr>
        </p:nvSpPr>
        <p:spPr>
          <a:ln/>
        </p:spPr>
      </p:sp>
      <p:sp>
        <p:nvSpPr>
          <p:cNvPr id="7055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936ADB-363D-44D0-BDD8-8DDDF0D8D5AE}" type="slidenum">
              <a:rPr lang="en-US" altLang="zh-CN"/>
              <a:pPr/>
              <a:t>22</a:t>
            </a:fld>
            <a:endParaRPr lang="en-US" altLang="zh-CN"/>
          </a:p>
        </p:txBody>
      </p:sp>
      <p:sp>
        <p:nvSpPr>
          <p:cNvPr id="706562" name="Rectangle 2"/>
          <p:cNvSpPr>
            <a:spLocks noGrp="1" noRot="1" noChangeAspect="1" noChangeArrowheads="1" noTextEdit="1"/>
          </p:cNvSpPr>
          <p:nvPr>
            <p:ph type="sldImg"/>
          </p:nvPr>
        </p:nvSpPr>
        <p:spPr>
          <a:ln/>
        </p:spPr>
      </p:sp>
      <p:sp>
        <p:nvSpPr>
          <p:cNvPr id="7065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683EDB-8550-41BC-B065-463E70B5D5FE}" type="slidenum">
              <a:rPr lang="en-US" altLang="zh-CN"/>
              <a:pPr/>
              <a:t>24</a:t>
            </a:fld>
            <a:endParaRPr lang="en-US" altLang="zh-CN"/>
          </a:p>
        </p:txBody>
      </p:sp>
      <p:sp>
        <p:nvSpPr>
          <p:cNvPr id="707586" name="Rectangle 2"/>
          <p:cNvSpPr>
            <a:spLocks noGrp="1" noRot="1" noChangeAspect="1" noChangeArrowheads="1" noTextEdit="1"/>
          </p:cNvSpPr>
          <p:nvPr>
            <p:ph type="sldImg"/>
          </p:nvPr>
        </p:nvSpPr>
        <p:spPr>
          <a:ln/>
        </p:spPr>
      </p:sp>
      <p:sp>
        <p:nvSpPr>
          <p:cNvPr id="7075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97D5F8-D34B-48CA-960F-DB9DA5157E06}" type="slidenum">
              <a:rPr lang="en-US" altLang="zh-CN"/>
              <a:pPr/>
              <a:t>25</a:t>
            </a:fld>
            <a:endParaRPr lang="en-US" altLang="zh-CN"/>
          </a:p>
        </p:txBody>
      </p:sp>
      <p:sp>
        <p:nvSpPr>
          <p:cNvPr id="708610" name="Rectangle 2"/>
          <p:cNvSpPr>
            <a:spLocks noGrp="1" noRot="1" noChangeAspect="1" noChangeArrowheads="1" noTextEdit="1"/>
          </p:cNvSpPr>
          <p:nvPr>
            <p:ph type="sldImg"/>
          </p:nvPr>
        </p:nvSpPr>
        <p:spPr>
          <a:ln/>
        </p:spPr>
      </p:sp>
      <p:sp>
        <p:nvSpPr>
          <p:cNvPr id="7086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FD5C55-7000-42F4-B920-956DD3BA0496}" type="slidenum">
              <a:rPr lang="en-US" altLang="zh-CN"/>
              <a:pPr/>
              <a:t>26</a:t>
            </a:fld>
            <a:endParaRPr lang="en-US" altLang="zh-CN"/>
          </a:p>
        </p:txBody>
      </p:sp>
      <p:sp>
        <p:nvSpPr>
          <p:cNvPr id="718850" name="Rectangle 2"/>
          <p:cNvSpPr>
            <a:spLocks noGrp="1" noRot="1" noChangeAspect="1" noChangeArrowheads="1" noTextEdit="1"/>
          </p:cNvSpPr>
          <p:nvPr>
            <p:ph type="sldImg"/>
          </p:nvPr>
        </p:nvSpPr>
        <p:spPr>
          <a:ln/>
        </p:spPr>
      </p:sp>
      <p:sp>
        <p:nvSpPr>
          <p:cNvPr id="7188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458E5E-FC0C-4FD7-B244-271AAA9A5C8F}" type="slidenum">
              <a:rPr lang="en-US" altLang="zh-CN"/>
              <a:pPr/>
              <a:t>28</a:t>
            </a:fld>
            <a:endParaRPr lang="en-US" altLang="zh-CN"/>
          </a:p>
        </p:txBody>
      </p:sp>
      <p:sp>
        <p:nvSpPr>
          <p:cNvPr id="728066" name="Rectangle 2"/>
          <p:cNvSpPr>
            <a:spLocks noGrp="1" noRot="1" noChangeAspect="1" noChangeArrowheads="1" noTextEdit="1"/>
          </p:cNvSpPr>
          <p:nvPr>
            <p:ph type="sldImg"/>
          </p:nvPr>
        </p:nvSpPr>
        <p:spPr>
          <a:ln/>
        </p:spPr>
      </p:sp>
      <p:sp>
        <p:nvSpPr>
          <p:cNvPr id="72806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5324379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FD5C55-7000-42F4-B920-956DD3BA0496}" type="slidenum">
              <a:rPr lang="en-US" altLang="zh-CN"/>
              <a:pPr/>
              <a:t>29</a:t>
            </a:fld>
            <a:endParaRPr lang="en-US" altLang="zh-CN"/>
          </a:p>
        </p:txBody>
      </p:sp>
      <p:sp>
        <p:nvSpPr>
          <p:cNvPr id="718850" name="Rectangle 2"/>
          <p:cNvSpPr>
            <a:spLocks noGrp="1" noRot="1" noChangeAspect="1" noChangeArrowheads="1" noTextEdit="1"/>
          </p:cNvSpPr>
          <p:nvPr>
            <p:ph type="sldImg"/>
          </p:nvPr>
        </p:nvSpPr>
        <p:spPr>
          <a:ln/>
        </p:spPr>
      </p:sp>
      <p:sp>
        <p:nvSpPr>
          <p:cNvPr id="7188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9973D2-888E-4B29-B31F-601590F8F7CD}" type="slidenum">
              <a:rPr lang="en-US" altLang="zh-CN"/>
              <a:pPr/>
              <a:t>30</a:t>
            </a:fld>
            <a:endParaRPr lang="en-US" altLang="zh-CN"/>
          </a:p>
        </p:txBody>
      </p:sp>
      <p:sp>
        <p:nvSpPr>
          <p:cNvPr id="720898" name="Rectangle 2"/>
          <p:cNvSpPr>
            <a:spLocks noGrp="1" noRot="1" noChangeAspect="1" noChangeArrowheads="1" noTextEdit="1"/>
          </p:cNvSpPr>
          <p:nvPr>
            <p:ph type="sldImg"/>
          </p:nvPr>
        </p:nvSpPr>
        <p:spPr>
          <a:ln/>
        </p:spPr>
      </p:sp>
      <p:sp>
        <p:nvSpPr>
          <p:cNvPr id="7208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458E5E-FC0C-4FD7-B244-271AAA9A5C8F}" type="slidenum">
              <a:rPr lang="en-US" altLang="zh-CN"/>
              <a:pPr/>
              <a:t>31</a:t>
            </a:fld>
            <a:endParaRPr lang="en-US" altLang="zh-CN"/>
          </a:p>
        </p:txBody>
      </p:sp>
      <p:sp>
        <p:nvSpPr>
          <p:cNvPr id="728066" name="Rectangle 2"/>
          <p:cNvSpPr>
            <a:spLocks noGrp="1" noRot="1" noChangeAspect="1" noChangeArrowheads="1" noTextEdit="1"/>
          </p:cNvSpPr>
          <p:nvPr>
            <p:ph type="sldImg"/>
          </p:nvPr>
        </p:nvSpPr>
        <p:spPr>
          <a:ln/>
        </p:spPr>
      </p:sp>
      <p:sp>
        <p:nvSpPr>
          <p:cNvPr id="7280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B47D36-7CBF-4DEB-87D0-9E56B30394FC}" type="slidenum">
              <a:rPr lang="en-US" altLang="zh-CN"/>
              <a:pPr/>
              <a:t>32</a:t>
            </a:fld>
            <a:endParaRPr lang="en-US" altLang="zh-CN"/>
          </a:p>
        </p:txBody>
      </p:sp>
      <p:sp>
        <p:nvSpPr>
          <p:cNvPr id="975874" name="Rectangle 2"/>
          <p:cNvSpPr>
            <a:spLocks noGrp="1" noRot="1" noChangeAspect="1" noChangeArrowheads="1" noTextEdit="1"/>
          </p:cNvSpPr>
          <p:nvPr>
            <p:ph type="sldImg"/>
          </p:nvPr>
        </p:nvSpPr>
        <p:spPr>
          <a:ln/>
        </p:spPr>
      </p:sp>
      <p:sp>
        <p:nvSpPr>
          <p:cNvPr id="9758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B47D36-7CBF-4DEB-87D0-9E56B30394FC}" type="slidenum">
              <a:rPr lang="en-US" altLang="zh-CN"/>
              <a:pPr/>
              <a:t>33</a:t>
            </a:fld>
            <a:endParaRPr lang="en-US" altLang="zh-CN"/>
          </a:p>
        </p:txBody>
      </p:sp>
      <p:sp>
        <p:nvSpPr>
          <p:cNvPr id="975874" name="Rectangle 2"/>
          <p:cNvSpPr>
            <a:spLocks noGrp="1" noRot="1" noChangeAspect="1" noChangeArrowheads="1" noTextEdit="1"/>
          </p:cNvSpPr>
          <p:nvPr>
            <p:ph type="sldImg"/>
          </p:nvPr>
        </p:nvSpPr>
        <p:spPr>
          <a:ln/>
        </p:spPr>
      </p:sp>
      <p:sp>
        <p:nvSpPr>
          <p:cNvPr id="9758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3D8214-CD35-446E-89B0-9B03985C7EFD}" type="slidenum">
              <a:rPr lang="en-US" altLang="zh-CN"/>
              <a:pPr/>
              <a:t>35</a:t>
            </a:fld>
            <a:endParaRPr lang="en-US" altLang="zh-CN"/>
          </a:p>
        </p:txBody>
      </p:sp>
      <p:sp>
        <p:nvSpPr>
          <p:cNvPr id="729090" name="Rectangle 2"/>
          <p:cNvSpPr>
            <a:spLocks noGrp="1" noRot="1" noChangeAspect="1" noChangeArrowheads="1" noTextEdit="1"/>
          </p:cNvSpPr>
          <p:nvPr>
            <p:ph type="sldImg"/>
          </p:nvPr>
        </p:nvSpPr>
        <p:spPr>
          <a:ln/>
        </p:spPr>
      </p:sp>
      <p:sp>
        <p:nvSpPr>
          <p:cNvPr id="7290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1A2FB1-E858-427E-A5C2-3DD5B048B49C}" type="slidenum">
              <a:rPr lang="en-US" altLang="zh-CN"/>
              <a:pPr/>
              <a:t>37</a:t>
            </a:fld>
            <a:endParaRPr lang="en-US" altLang="zh-CN"/>
          </a:p>
        </p:txBody>
      </p:sp>
      <p:sp>
        <p:nvSpPr>
          <p:cNvPr id="730114" name="Rectangle 2"/>
          <p:cNvSpPr>
            <a:spLocks noGrp="1" noRot="1" noChangeAspect="1" noChangeArrowheads="1" noTextEdit="1"/>
          </p:cNvSpPr>
          <p:nvPr>
            <p:ph type="sldImg"/>
          </p:nvPr>
        </p:nvSpPr>
        <p:spPr>
          <a:ln/>
        </p:spPr>
      </p:sp>
      <p:sp>
        <p:nvSpPr>
          <p:cNvPr id="7301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2644A8-C28B-4C50-9B9F-785F9A4FB994}" type="slidenum">
              <a:rPr lang="en-US" altLang="zh-CN"/>
              <a:pPr/>
              <a:t>38</a:t>
            </a:fld>
            <a:endParaRPr lang="en-US" altLang="zh-CN"/>
          </a:p>
        </p:txBody>
      </p:sp>
      <p:sp>
        <p:nvSpPr>
          <p:cNvPr id="731138" name="Rectangle 2"/>
          <p:cNvSpPr>
            <a:spLocks noGrp="1" noRot="1" noChangeAspect="1" noChangeArrowheads="1" noTextEdit="1"/>
          </p:cNvSpPr>
          <p:nvPr>
            <p:ph type="sldImg"/>
          </p:nvPr>
        </p:nvSpPr>
        <p:spPr>
          <a:ln/>
        </p:spPr>
      </p:sp>
      <p:sp>
        <p:nvSpPr>
          <p:cNvPr id="7311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77D370-ECBE-45C8-9A49-43F4DF94BF76}" type="slidenum">
              <a:rPr lang="en-US" altLang="zh-CN"/>
              <a:pPr/>
              <a:t>39</a:t>
            </a:fld>
            <a:endParaRPr lang="en-US" altLang="zh-CN"/>
          </a:p>
        </p:txBody>
      </p:sp>
      <p:sp>
        <p:nvSpPr>
          <p:cNvPr id="977922" name="Rectangle 2"/>
          <p:cNvSpPr>
            <a:spLocks noGrp="1" noRot="1" noChangeAspect="1" noChangeArrowheads="1" noTextEdit="1"/>
          </p:cNvSpPr>
          <p:nvPr>
            <p:ph type="sldImg"/>
          </p:nvPr>
        </p:nvSpPr>
        <p:spPr>
          <a:ln/>
        </p:spPr>
      </p:sp>
      <p:sp>
        <p:nvSpPr>
          <p:cNvPr id="9779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77D370-ECBE-45C8-9A49-43F4DF94BF76}" type="slidenum">
              <a:rPr lang="en-US" altLang="zh-CN"/>
              <a:pPr/>
              <a:t>40</a:t>
            </a:fld>
            <a:endParaRPr lang="en-US" altLang="zh-CN"/>
          </a:p>
        </p:txBody>
      </p:sp>
      <p:sp>
        <p:nvSpPr>
          <p:cNvPr id="977922" name="Rectangle 2"/>
          <p:cNvSpPr>
            <a:spLocks noGrp="1" noRot="1" noChangeAspect="1" noChangeArrowheads="1" noTextEdit="1"/>
          </p:cNvSpPr>
          <p:nvPr>
            <p:ph type="sldImg"/>
          </p:nvPr>
        </p:nvSpPr>
        <p:spPr>
          <a:ln/>
        </p:spPr>
      </p:sp>
      <p:sp>
        <p:nvSpPr>
          <p:cNvPr id="9779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EA6B5A-A5E0-4945-9E1A-57D325D78178}" type="slidenum">
              <a:rPr lang="en-US" altLang="zh-CN"/>
              <a:pPr/>
              <a:t>42</a:t>
            </a:fld>
            <a:endParaRPr lang="en-US" altLang="zh-CN"/>
          </a:p>
        </p:txBody>
      </p:sp>
      <p:sp>
        <p:nvSpPr>
          <p:cNvPr id="735234" name="Rectangle 2"/>
          <p:cNvSpPr>
            <a:spLocks noGrp="1" noRot="1" noChangeAspect="1" noChangeArrowheads="1" noTextEdit="1"/>
          </p:cNvSpPr>
          <p:nvPr>
            <p:ph type="sldImg"/>
          </p:nvPr>
        </p:nvSpPr>
        <p:spPr>
          <a:ln/>
        </p:spPr>
      </p:sp>
      <p:sp>
        <p:nvSpPr>
          <p:cNvPr id="7352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43</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44</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45</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46</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47</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48</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49</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50</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51</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52</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73EBA8-8C44-41A7-AFF5-405B0AFD672E}" type="slidenum">
              <a:rPr lang="en-US" altLang="zh-CN"/>
              <a:pPr/>
              <a:t>54</a:t>
            </a:fld>
            <a:endParaRPr lang="en-US" altLang="zh-CN"/>
          </a:p>
        </p:txBody>
      </p:sp>
      <p:sp>
        <p:nvSpPr>
          <p:cNvPr id="746498" name="Rectangle 2"/>
          <p:cNvSpPr>
            <a:spLocks noGrp="1" noRot="1" noChangeAspect="1" noChangeArrowheads="1" noTextEdit="1"/>
          </p:cNvSpPr>
          <p:nvPr>
            <p:ph type="sldImg"/>
          </p:nvPr>
        </p:nvSpPr>
        <p:spPr>
          <a:ln/>
        </p:spPr>
      </p:sp>
      <p:sp>
        <p:nvSpPr>
          <p:cNvPr id="7464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56</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57</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1E4B0A-F1C6-4E8B-8159-F356B6BD0310}" type="slidenum">
              <a:rPr lang="en-US" altLang="zh-CN"/>
              <a:pPr/>
              <a:t>58</a:t>
            </a:fld>
            <a:endParaRPr lang="en-US" altLang="zh-CN"/>
          </a:p>
        </p:txBody>
      </p:sp>
      <p:sp>
        <p:nvSpPr>
          <p:cNvPr id="749570" name="Rectangle 2"/>
          <p:cNvSpPr>
            <a:spLocks noGrp="1" noRot="1" noChangeAspect="1" noChangeArrowheads="1" noTextEdit="1"/>
          </p:cNvSpPr>
          <p:nvPr>
            <p:ph type="sldImg"/>
          </p:nvPr>
        </p:nvSpPr>
        <p:spPr>
          <a:ln/>
        </p:spPr>
      </p:sp>
      <p:sp>
        <p:nvSpPr>
          <p:cNvPr id="7495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59</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0A8311-8C5A-4209-AA51-28B973F18E5D}" type="slidenum">
              <a:rPr lang="en-US" altLang="zh-CN"/>
              <a:pPr/>
              <a:t>60</a:t>
            </a:fld>
            <a:endParaRPr lang="en-US" altLang="zh-CN"/>
          </a:p>
        </p:txBody>
      </p:sp>
      <p:sp>
        <p:nvSpPr>
          <p:cNvPr id="751618" name="Rectangle 2"/>
          <p:cNvSpPr>
            <a:spLocks noGrp="1" noRot="1" noChangeAspect="1" noChangeArrowheads="1" noTextEdit="1"/>
          </p:cNvSpPr>
          <p:nvPr>
            <p:ph type="sldImg"/>
          </p:nvPr>
        </p:nvSpPr>
        <p:spPr>
          <a:ln/>
        </p:spPr>
      </p:sp>
      <p:sp>
        <p:nvSpPr>
          <p:cNvPr id="7516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B2044E-5CC5-4338-875A-0785EB15B845}" type="slidenum">
              <a:rPr lang="en-US" altLang="zh-CN"/>
              <a:pPr/>
              <a:t>61</a:t>
            </a:fld>
            <a:endParaRPr lang="en-US" altLang="zh-CN"/>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6220B0-AB1A-4B03-AA78-731B9F6ADD0C}" type="slidenum">
              <a:rPr lang="en-US" altLang="zh-CN"/>
              <a:pPr/>
              <a:t>62</a:t>
            </a:fld>
            <a:endParaRPr lang="en-US" altLang="zh-CN"/>
          </a:p>
        </p:txBody>
      </p:sp>
      <p:sp>
        <p:nvSpPr>
          <p:cNvPr id="753666" name="Rectangle 2"/>
          <p:cNvSpPr>
            <a:spLocks noGrp="1" noRot="1" noChangeAspect="1" noChangeArrowheads="1" noTextEdit="1"/>
          </p:cNvSpPr>
          <p:nvPr>
            <p:ph type="sldImg"/>
          </p:nvPr>
        </p:nvSpPr>
        <p:spPr>
          <a:ln/>
        </p:spPr>
      </p:sp>
      <p:sp>
        <p:nvSpPr>
          <p:cNvPr id="7536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5C6FC3-905D-4DD9-84C7-5604EE75BE63}" type="slidenum">
              <a:rPr lang="en-US" altLang="zh-CN"/>
              <a:pPr/>
              <a:t>64</a:t>
            </a:fld>
            <a:endParaRPr lang="en-US" altLang="zh-CN"/>
          </a:p>
        </p:txBody>
      </p:sp>
      <p:sp>
        <p:nvSpPr>
          <p:cNvPr id="754690" name="Rectangle 2"/>
          <p:cNvSpPr>
            <a:spLocks noGrp="1" noRot="1" noChangeAspect="1" noChangeArrowheads="1" noTextEdit="1"/>
          </p:cNvSpPr>
          <p:nvPr>
            <p:ph type="sldImg"/>
          </p:nvPr>
        </p:nvSpPr>
        <p:spPr>
          <a:ln/>
        </p:spPr>
      </p:sp>
      <p:sp>
        <p:nvSpPr>
          <p:cNvPr id="7546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CBF2AB-50C1-4198-BCAC-BCB46C010BA9}" type="slidenum">
              <a:rPr lang="en-US" altLang="zh-CN"/>
              <a:pPr/>
              <a:t>65</a:t>
            </a:fld>
            <a:endParaRPr lang="en-US" altLang="zh-CN"/>
          </a:p>
        </p:txBody>
      </p:sp>
      <p:sp>
        <p:nvSpPr>
          <p:cNvPr id="755714" name="Rectangle 2"/>
          <p:cNvSpPr>
            <a:spLocks noGrp="1" noRot="1" noChangeAspect="1" noChangeArrowheads="1" noTextEdit="1"/>
          </p:cNvSpPr>
          <p:nvPr>
            <p:ph type="sldImg"/>
          </p:nvPr>
        </p:nvSpPr>
        <p:spPr>
          <a:ln/>
        </p:spPr>
      </p:sp>
      <p:sp>
        <p:nvSpPr>
          <p:cNvPr id="7557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4D4B62-D429-4479-A0EF-943F3B8B52E6}" type="slidenum">
              <a:rPr lang="en-US" altLang="zh-CN"/>
              <a:pPr/>
              <a:t>66</a:t>
            </a:fld>
            <a:endParaRPr lang="en-US" altLang="zh-CN"/>
          </a:p>
        </p:txBody>
      </p:sp>
      <p:sp>
        <p:nvSpPr>
          <p:cNvPr id="979970" name="Rectangle 2"/>
          <p:cNvSpPr>
            <a:spLocks noGrp="1" noRot="1" noChangeAspect="1" noChangeArrowheads="1" noTextEdit="1"/>
          </p:cNvSpPr>
          <p:nvPr>
            <p:ph type="sldImg"/>
          </p:nvPr>
        </p:nvSpPr>
        <p:spPr>
          <a:ln/>
        </p:spPr>
      </p:sp>
      <p:sp>
        <p:nvSpPr>
          <p:cNvPr id="9799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E2E564-1880-4268-BCA5-270B7019BAB6}" type="slidenum">
              <a:rPr lang="en-US" altLang="zh-CN"/>
              <a:pPr/>
              <a:t>67</a:t>
            </a:fld>
            <a:endParaRPr lang="en-US" altLang="zh-CN"/>
          </a:p>
        </p:txBody>
      </p:sp>
      <p:sp>
        <p:nvSpPr>
          <p:cNvPr id="756738" name="Rectangle 2"/>
          <p:cNvSpPr>
            <a:spLocks noGrp="1" noRot="1" noChangeAspect="1" noChangeArrowheads="1" noTextEdit="1"/>
          </p:cNvSpPr>
          <p:nvPr>
            <p:ph type="sldImg"/>
          </p:nvPr>
        </p:nvSpPr>
        <p:spPr>
          <a:ln/>
        </p:spPr>
      </p:sp>
      <p:sp>
        <p:nvSpPr>
          <p:cNvPr id="7567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233D14-F62F-4D6A-9794-D79ADF694C57}" type="slidenum">
              <a:rPr lang="en-US" altLang="zh-CN"/>
              <a:pPr/>
              <a:t>68</a:t>
            </a:fld>
            <a:endParaRPr lang="en-US" altLang="zh-CN"/>
          </a:p>
        </p:txBody>
      </p:sp>
      <p:sp>
        <p:nvSpPr>
          <p:cNvPr id="982018" name="Rectangle 2"/>
          <p:cNvSpPr>
            <a:spLocks noGrp="1" noRot="1" noChangeAspect="1" noChangeArrowheads="1" noTextEdit="1"/>
          </p:cNvSpPr>
          <p:nvPr>
            <p:ph type="sldImg"/>
          </p:nvPr>
        </p:nvSpPr>
        <p:spPr>
          <a:ln/>
        </p:spPr>
      </p:sp>
      <p:sp>
        <p:nvSpPr>
          <p:cNvPr id="9820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A4FD96-FFEB-450B-9C34-A82CBDCB5B3C}" type="slidenum">
              <a:rPr lang="en-US" altLang="zh-CN"/>
              <a:pPr/>
              <a:t>69</a:t>
            </a:fld>
            <a:endParaRPr lang="en-US" altLang="zh-CN"/>
          </a:p>
        </p:txBody>
      </p:sp>
      <p:sp>
        <p:nvSpPr>
          <p:cNvPr id="984066" name="Rectangle 2"/>
          <p:cNvSpPr>
            <a:spLocks noGrp="1" noRot="1" noChangeAspect="1" noChangeArrowheads="1" noTextEdit="1"/>
          </p:cNvSpPr>
          <p:nvPr>
            <p:ph type="sldImg"/>
          </p:nvPr>
        </p:nvSpPr>
        <p:spPr>
          <a:ln/>
        </p:spPr>
      </p:sp>
      <p:sp>
        <p:nvSpPr>
          <p:cNvPr id="9840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A71A18-D962-4E63-AF33-27632838C1E1}" type="slidenum">
              <a:rPr lang="en-US" altLang="zh-CN"/>
              <a:pPr/>
              <a:t>70</a:t>
            </a:fld>
            <a:endParaRPr lang="en-US" altLang="zh-CN"/>
          </a:p>
        </p:txBody>
      </p:sp>
      <p:sp>
        <p:nvSpPr>
          <p:cNvPr id="758786" name="Rectangle 2"/>
          <p:cNvSpPr>
            <a:spLocks noGrp="1" noRot="1" noChangeAspect="1" noChangeArrowheads="1" noTextEdit="1"/>
          </p:cNvSpPr>
          <p:nvPr>
            <p:ph type="sldImg"/>
          </p:nvPr>
        </p:nvSpPr>
        <p:spPr>
          <a:ln/>
        </p:spPr>
      </p:sp>
      <p:sp>
        <p:nvSpPr>
          <p:cNvPr id="7587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7EF9AF-84F7-470E-86D6-7BE7742424EA}" type="slidenum">
              <a:rPr lang="en-US" altLang="zh-CN"/>
              <a:pPr/>
              <a:t>71</a:t>
            </a:fld>
            <a:endParaRPr lang="en-US" altLang="zh-CN"/>
          </a:p>
        </p:txBody>
      </p:sp>
      <p:sp>
        <p:nvSpPr>
          <p:cNvPr id="757762" name="Rectangle 2"/>
          <p:cNvSpPr>
            <a:spLocks noGrp="1" noRot="1" noChangeAspect="1" noChangeArrowheads="1" noTextEdit="1"/>
          </p:cNvSpPr>
          <p:nvPr>
            <p:ph type="sldImg"/>
          </p:nvPr>
        </p:nvSpPr>
        <p:spPr>
          <a:ln/>
        </p:spPr>
      </p:sp>
      <p:sp>
        <p:nvSpPr>
          <p:cNvPr id="7577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086A1-AA6B-4540-9AEA-06C3FCB8888D}" type="slidenum">
              <a:rPr lang="en-US" altLang="zh-CN"/>
              <a:pPr/>
              <a:t>73</a:t>
            </a:fld>
            <a:endParaRPr lang="en-US" altLang="zh-CN"/>
          </a:p>
        </p:txBody>
      </p:sp>
      <p:sp>
        <p:nvSpPr>
          <p:cNvPr id="935938" name="Rectangle 2"/>
          <p:cNvSpPr>
            <a:spLocks noGrp="1" noRot="1" noChangeAspect="1" noChangeArrowheads="1" noTextEdit="1"/>
          </p:cNvSpPr>
          <p:nvPr>
            <p:ph type="sldImg"/>
          </p:nvPr>
        </p:nvSpPr>
        <p:spPr>
          <a:ln/>
        </p:spPr>
      </p:sp>
      <p:sp>
        <p:nvSpPr>
          <p:cNvPr id="9359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9504474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BD9F58-1938-4D8C-8922-054B3FDAC032}" type="slidenum">
              <a:rPr lang="en-US" altLang="zh-CN"/>
              <a:pPr/>
              <a:t>74</a:t>
            </a:fld>
            <a:endParaRPr lang="en-US" altLang="zh-CN"/>
          </a:p>
        </p:txBody>
      </p:sp>
      <p:sp>
        <p:nvSpPr>
          <p:cNvPr id="797698" name="Rectangle 2"/>
          <p:cNvSpPr>
            <a:spLocks noGrp="1" noRot="1" noChangeAspect="1" noChangeArrowheads="1" noTextEdit="1"/>
          </p:cNvSpPr>
          <p:nvPr>
            <p:ph type="sldImg"/>
          </p:nvPr>
        </p:nvSpPr>
        <p:spPr>
          <a:ln/>
        </p:spPr>
      </p:sp>
      <p:sp>
        <p:nvSpPr>
          <p:cNvPr id="79769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3673933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9C18B0-0124-472A-B22F-ED82A54FEBB1}" type="slidenum">
              <a:rPr lang="en-US" altLang="zh-CN"/>
              <a:pPr/>
              <a:t>75</a:t>
            </a:fld>
            <a:endParaRPr lang="en-US" altLang="zh-CN"/>
          </a:p>
        </p:txBody>
      </p:sp>
      <p:sp>
        <p:nvSpPr>
          <p:cNvPr id="798722" name="Rectangle 2"/>
          <p:cNvSpPr>
            <a:spLocks noGrp="1" noRot="1" noChangeAspect="1" noChangeArrowheads="1" noTextEdit="1"/>
          </p:cNvSpPr>
          <p:nvPr>
            <p:ph type="sldImg"/>
          </p:nvPr>
        </p:nvSpPr>
        <p:spPr>
          <a:ln/>
        </p:spPr>
      </p:sp>
      <p:sp>
        <p:nvSpPr>
          <p:cNvPr id="79872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7594352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3513D1-119B-40B4-A0ED-B4585D6EA6C1}" type="slidenum">
              <a:rPr lang="en-US" altLang="zh-CN"/>
              <a:pPr/>
              <a:t>76</a:t>
            </a:fld>
            <a:endParaRPr lang="en-US" altLang="zh-CN"/>
          </a:p>
        </p:txBody>
      </p:sp>
      <p:sp>
        <p:nvSpPr>
          <p:cNvPr id="799746" name="Rectangle 2"/>
          <p:cNvSpPr>
            <a:spLocks noGrp="1" noRot="1" noChangeAspect="1" noChangeArrowheads="1" noTextEdit="1"/>
          </p:cNvSpPr>
          <p:nvPr>
            <p:ph type="sldImg"/>
          </p:nvPr>
        </p:nvSpPr>
        <p:spPr>
          <a:ln/>
        </p:spPr>
      </p:sp>
      <p:sp>
        <p:nvSpPr>
          <p:cNvPr id="79974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63295202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23A760-3085-46D8-8182-753E0891EF30}" type="slidenum">
              <a:rPr lang="en-US" altLang="zh-CN"/>
              <a:pPr/>
              <a:t>77</a:t>
            </a:fld>
            <a:endParaRPr lang="en-US" altLang="zh-CN"/>
          </a:p>
        </p:txBody>
      </p:sp>
      <p:sp>
        <p:nvSpPr>
          <p:cNvPr id="800770" name="Rectangle 2"/>
          <p:cNvSpPr>
            <a:spLocks noGrp="1" noRot="1" noChangeAspect="1" noChangeArrowheads="1" noTextEdit="1"/>
          </p:cNvSpPr>
          <p:nvPr>
            <p:ph type="sldImg"/>
          </p:nvPr>
        </p:nvSpPr>
        <p:spPr>
          <a:ln/>
        </p:spPr>
      </p:sp>
      <p:sp>
        <p:nvSpPr>
          <p:cNvPr id="80077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77206948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A16D1C-627C-4891-ABFE-A6A31D9AB457}" type="slidenum">
              <a:rPr lang="en-US" altLang="zh-CN"/>
              <a:pPr/>
              <a:t>78</a:t>
            </a:fld>
            <a:endParaRPr lang="en-US" altLang="zh-CN"/>
          </a:p>
        </p:txBody>
      </p:sp>
      <p:sp>
        <p:nvSpPr>
          <p:cNvPr id="801794" name="Rectangle 2"/>
          <p:cNvSpPr>
            <a:spLocks noGrp="1" noRot="1" noChangeAspect="1" noChangeArrowheads="1" noTextEdit="1"/>
          </p:cNvSpPr>
          <p:nvPr>
            <p:ph type="sldImg"/>
          </p:nvPr>
        </p:nvSpPr>
        <p:spPr>
          <a:ln/>
        </p:spPr>
      </p:sp>
      <p:sp>
        <p:nvSpPr>
          <p:cNvPr id="80179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53305562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1A876E-3C2C-46C3-B0C0-95D84A4C4E14}" type="slidenum">
              <a:rPr lang="en-US" altLang="zh-CN"/>
              <a:pPr/>
              <a:t>79</a:t>
            </a:fld>
            <a:endParaRPr lang="en-US" altLang="zh-CN"/>
          </a:p>
        </p:txBody>
      </p:sp>
      <p:sp>
        <p:nvSpPr>
          <p:cNvPr id="802818" name="Rectangle 2"/>
          <p:cNvSpPr>
            <a:spLocks noGrp="1" noRot="1" noChangeAspect="1" noChangeArrowheads="1" noTextEdit="1"/>
          </p:cNvSpPr>
          <p:nvPr>
            <p:ph type="sldImg"/>
          </p:nvPr>
        </p:nvSpPr>
        <p:spPr>
          <a:ln/>
        </p:spPr>
      </p:sp>
      <p:sp>
        <p:nvSpPr>
          <p:cNvPr id="80281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7969560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928BA6-A975-4AA7-B3B6-EBDE68FED28B}" type="slidenum">
              <a:rPr lang="en-US" altLang="zh-CN"/>
              <a:pPr/>
              <a:t>80</a:t>
            </a:fld>
            <a:endParaRPr lang="en-US" altLang="zh-CN"/>
          </a:p>
        </p:txBody>
      </p:sp>
      <p:sp>
        <p:nvSpPr>
          <p:cNvPr id="803842" name="Rectangle 2"/>
          <p:cNvSpPr>
            <a:spLocks noGrp="1" noRot="1" noChangeAspect="1" noChangeArrowheads="1" noTextEdit="1"/>
          </p:cNvSpPr>
          <p:nvPr>
            <p:ph type="sldImg"/>
          </p:nvPr>
        </p:nvSpPr>
        <p:spPr>
          <a:ln/>
        </p:spPr>
      </p:sp>
      <p:sp>
        <p:nvSpPr>
          <p:cNvPr id="8038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95701400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CE79B8-81F4-4B2F-A030-1E17DB324DE7}" type="slidenum">
              <a:rPr lang="en-US" altLang="zh-CN"/>
              <a:pPr/>
              <a:t>81</a:t>
            </a:fld>
            <a:endParaRPr lang="en-US" altLang="zh-CN"/>
          </a:p>
        </p:txBody>
      </p:sp>
      <p:sp>
        <p:nvSpPr>
          <p:cNvPr id="996354" name="Rectangle 2"/>
          <p:cNvSpPr>
            <a:spLocks noGrp="1" noRot="1" noChangeAspect="1" noChangeArrowheads="1" noTextEdit="1"/>
          </p:cNvSpPr>
          <p:nvPr>
            <p:ph type="sldImg"/>
          </p:nvPr>
        </p:nvSpPr>
        <p:spPr>
          <a:ln/>
        </p:spPr>
      </p:sp>
      <p:sp>
        <p:nvSpPr>
          <p:cNvPr id="99635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290057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itchFamily="2" charset="-122"/>
                <a:ea typeface="黑体" pitchFamily="2" charset="-122"/>
              </a:defRPr>
            </a:lvl1pPr>
          </a:lstStyle>
          <a:p>
            <a:pPr lvl="0"/>
            <a:r>
              <a:rPr lang="zh-CN" altLang="en-US" noProof="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itchFamily="2" charset="2"/>
              <a:buNone/>
              <a:defRPr sz="3600" b="1">
                <a:latin typeface="黑体" pitchFamily="2" charset="-122"/>
                <a:ea typeface="黑体" pitchFamily="2" charset="-122"/>
              </a:defRPr>
            </a:lvl1pPr>
          </a:lstStyle>
          <a:p>
            <a:pPr lvl="0"/>
            <a:r>
              <a:rPr lang="zh-CN" altLang="en-US" noProof="0"/>
              <a:t>单击此处编辑母版副标题样式</a:t>
            </a:r>
            <a:endParaRPr lang="en-US" altLang="zh-CN" noProof="0" dirty="0"/>
          </a:p>
        </p:txBody>
      </p:sp>
      <p:sp>
        <p:nvSpPr>
          <p:cNvPr id="16388" name="Rectangle 4"/>
          <p:cNvSpPr>
            <a:spLocks noGrp="1" noChangeArrowheads="1"/>
          </p:cNvSpPr>
          <p:nvPr>
            <p:ph type="dt" sz="half" idx="2"/>
          </p:nvPr>
        </p:nvSpPr>
        <p:spPr/>
        <p:txBody>
          <a:bodyPr/>
          <a:lstStyle>
            <a:lvl1pPr>
              <a:defRPr/>
            </a:lvl1pPr>
          </a:lstStyle>
          <a:p>
            <a:endParaRPr lang="en-US" altLang="zh-CN"/>
          </a:p>
        </p:txBody>
      </p:sp>
      <p:sp>
        <p:nvSpPr>
          <p:cNvPr id="16389" name="Rectangle 5"/>
          <p:cNvSpPr>
            <a:spLocks noGrp="1" noChangeArrowheads="1"/>
          </p:cNvSpPr>
          <p:nvPr>
            <p:ph type="ftr" sz="quarter" idx="3"/>
          </p:nvPr>
        </p:nvSpPr>
        <p:spPr/>
        <p:txBody>
          <a:bodyPr/>
          <a:lstStyle>
            <a:lvl1pPr>
              <a:defRPr/>
            </a:lvl1pPr>
          </a:lstStyle>
          <a:p>
            <a:endParaRPr lang="en-US" altLang="zh-CN"/>
          </a:p>
        </p:txBody>
      </p:sp>
      <p:sp>
        <p:nvSpPr>
          <p:cNvPr id="16390" name="Rectangle 6"/>
          <p:cNvSpPr>
            <a:spLocks noGrp="1" noChangeArrowheads="1"/>
          </p:cNvSpPr>
          <p:nvPr>
            <p:ph type="sldNum" sz="quarter" idx="4"/>
          </p:nvPr>
        </p:nvSpPr>
        <p:spPr/>
        <p:txBody>
          <a:bodyPr/>
          <a:lstStyle>
            <a:lvl1pPr>
              <a:defRPr/>
            </a:lvl1pPr>
          </a:lstStyle>
          <a:p>
            <a:fld id="{AC80574E-8B94-4515-ADE1-BF6C35829DF0}" type="slidenum">
              <a:rPr lang="zh-CN" altLang="en-US"/>
              <a:pPr/>
              <a:t>‹#›</a:t>
            </a:fld>
            <a:endParaRPr lang="en-US" altLang="zh-CN"/>
          </a:p>
        </p:txBody>
      </p:sp>
      <p:sp>
        <p:nvSpPr>
          <p:cNvPr id="16392" name="Rectangle 8" descr="Gold bar"/>
          <p:cNvSpPr>
            <a:spLocks noChangeArrowheads="1"/>
          </p:cNvSpPr>
          <p:nvPr/>
        </p:nvSpPr>
        <p:spPr bwMode="auto">
          <a:xfrm>
            <a:off x="247650" y="2889250"/>
            <a:ext cx="3109913"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descr="Orange bar"/>
          <p:cNvSpPr>
            <a:spLocks noChangeArrowheads="1"/>
          </p:cNvSpPr>
          <p:nvPr/>
        </p:nvSpPr>
        <p:spPr bwMode="auto">
          <a:xfrm>
            <a:off x="3357563" y="2889250"/>
            <a:ext cx="3108325"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0" descr="Slate bar"/>
          <p:cNvSpPr>
            <a:spLocks noChangeArrowheads="1"/>
          </p:cNvSpPr>
          <p:nvPr/>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95300" y="1196752"/>
            <a:ext cx="9066212" cy="4934173"/>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65344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F47B36-077D-42FE-9DED-0C77CB87E4B3}" type="slidenum">
              <a:rPr lang="zh-CN" altLang="en-US"/>
              <a:pPr/>
              <a:t>‹#›</a:t>
            </a:fld>
            <a:endParaRPr lang="en-US" altLang="zh-CN"/>
          </a:p>
        </p:txBody>
      </p:sp>
    </p:spTree>
    <p:extLst>
      <p:ext uri="{BB962C8B-B14F-4D97-AF65-F5344CB8AC3E}">
        <p14:creationId xmlns:p14="http://schemas.microsoft.com/office/powerpoint/2010/main" val="109813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3200" b="1">
                <a:solidFill>
                  <a:schemeClr val="tx1"/>
                </a:solidFill>
                <a:latin typeface="+mn-lt"/>
                <a:ea typeface="黑体" pitchFamily="2" charset="-122"/>
              </a:defRPr>
            </a:lvl1pPr>
            <a:lvl2pPr>
              <a:buClr>
                <a:schemeClr val="accent2"/>
              </a:buCl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buClr>
                <a:srgbClr val="333399"/>
              </a:buClr>
              <a:defRPr sz="20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5101208" y="1196752"/>
            <a:ext cx="4460304" cy="4934173"/>
          </a:xfrm>
        </p:spPr>
        <p:txBody>
          <a:bodyPr/>
          <a:lstStyle>
            <a:lvl1pPr>
              <a:defRPr sz="3200" b="1">
                <a:solidFill>
                  <a:schemeClr val="tx1"/>
                </a:solidFill>
                <a:latin typeface="+mn-lt"/>
                <a:ea typeface="黑体" pitchFamily="2" charset="-122"/>
              </a:defRPr>
            </a:lvl1pPr>
            <a:lvl2pPr>
              <a:buClr>
                <a:schemeClr val="accent2"/>
              </a:buCl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buClr>
                <a:srgbClr val="333399"/>
              </a:buClr>
              <a:defRPr sz="20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458324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495299" y="1207874"/>
            <a:ext cx="4455513"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04675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pPr/>
              <a:t>‹#›</a:t>
            </a:fld>
            <a:endParaRPr lang="en-US" altLang="zh-CN"/>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8132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pPr/>
              <a:t>‹#›</a:t>
            </a:fld>
            <a:endParaRPr lang="en-US" altLang="zh-CN"/>
          </a:p>
        </p:txBody>
      </p:sp>
    </p:spTree>
    <p:extLst>
      <p:ext uri="{BB962C8B-B14F-4D97-AF65-F5344CB8AC3E}">
        <p14:creationId xmlns:p14="http://schemas.microsoft.com/office/powerpoint/2010/main" val="607053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pPr/>
              <a:t>‹#›</a:t>
            </a:fld>
            <a:endParaRPr lang="en-US" altLang="zh-CN"/>
          </a:p>
        </p:txBody>
      </p:sp>
    </p:spTree>
    <p:extLst>
      <p:ext uri="{BB962C8B-B14F-4D97-AF65-F5344CB8AC3E}">
        <p14:creationId xmlns:p14="http://schemas.microsoft.com/office/powerpoint/2010/main" val="1982550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pPr/>
              <a:t>‹#›</a:t>
            </a:fld>
            <a:endParaRPr lang="en-US" altLang="zh-CN"/>
          </a:p>
        </p:txBody>
      </p:sp>
    </p:spTree>
    <p:extLst>
      <p:ext uri="{BB962C8B-B14F-4D97-AF65-F5344CB8AC3E}">
        <p14:creationId xmlns:p14="http://schemas.microsoft.com/office/powerpoint/2010/main" val="1885987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684642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pPr/>
              <a:t>‹#›</a:t>
            </a:fld>
            <a:endParaRPr lang="en-US" altLang="zh-CN"/>
          </a:p>
        </p:txBody>
      </p:sp>
    </p:spTree>
    <p:extLst>
      <p:ext uri="{BB962C8B-B14F-4D97-AF65-F5344CB8AC3E}">
        <p14:creationId xmlns:p14="http://schemas.microsoft.com/office/powerpoint/2010/main" val="1291822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quarter" idx="2"/>
          </p:nvPr>
        </p:nvSpPr>
        <p:spPr>
          <a:xfrm>
            <a:off x="5029200" y="1196752"/>
            <a:ext cx="4381500" cy="23765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pPr/>
              <a:t>‹#›</a:t>
            </a:fld>
            <a:endParaRPr lang="en-US" altLang="zh-CN"/>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63550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剪贴画占位符 3"/>
          <p:cNvSpPr>
            <a:spLocks noGrp="1"/>
          </p:cNvSpPr>
          <p:nvPr>
            <p:ph type="clipArt" sz="half" idx="2"/>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5089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95300" y="188640"/>
            <a:ext cx="906621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宋体" pitchFamily="2" charset="-122"/>
              </a:defRPr>
            </a:lvl1pPr>
          </a:lstStyle>
          <a:p>
            <a:endParaRPr lang="en-US" altLang="zh-CN" dirty="0"/>
          </a:p>
        </p:txBody>
      </p:sp>
      <p:sp>
        <p:nvSpPr>
          <p:cNvPr id="15365"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宋体" pitchFamily="2" charset="-122"/>
              </a:defRPr>
            </a:lvl1pPr>
          </a:lstStyle>
          <a:p>
            <a:endParaRPr lang="en-US" altLang="zh-CN"/>
          </a:p>
        </p:txBody>
      </p:sp>
      <p:sp>
        <p:nvSpPr>
          <p:cNvPr id="15366"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宋体" pitchFamily="2" charset="-122"/>
              </a:defRPr>
            </a:lvl1pPr>
          </a:lstStyle>
          <a:p>
            <a:fld id="{67B052E9-C54A-4603-AE2F-EB72B006DB6C}" type="slidenum">
              <a:rPr lang="zh-CN" altLang="en-US"/>
              <a:pPr/>
              <a:t>‹#›</a:t>
            </a:fld>
            <a:endParaRPr lang="en-US" altLang="zh-CN"/>
          </a:p>
        </p:txBody>
      </p:sp>
      <p:sp>
        <p:nvSpPr>
          <p:cNvPr id="15367" name="Rectangle 7" descr="Gold bar"/>
          <p:cNvSpPr>
            <a:spLocks noChangeArrowheads="1"/>
          </p:cNvSpPr>
          <p:nvPr/>
        </p:nvSpPr>
        <p:spPr bwMode="auto">
          <a:xfrm>
            <a:off x="0" y="0"/>
            <a:ext cx="24765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69" name="Rectangle 9" descr="Orange bar"/>
          <p:cNvSpPr>
            <a:spLocks noChangeArrowheads="1"/>
          </p:cNvSpPr>
          <p:nvPr/>
        </p:nvSpPr>
        <p:spPr bwMode="auto">
          <a:xfrm>
            <a:off x="0" y="2286000"/>
            <a:ext cx="24765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70" name="Rectangle 10" descr="Slate bar"/>
          <p:cNvSpPr>
            <a:spLocks noChangeArrowheads="1"/>
          </p:cNvSpPr>
          <p:nvPr/>
        </p:nvSpPr>
        <p:spPr bwMode="auto">
          <a:xfrm>
            <a:off x="0" y="4572000"/>
            <a:ext cx="24765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itchFamily="18"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rtl="0" eaLnBrk="1" fontAlgn="base" hangingPunct="1">
        <a:spcBef>
          <a:spcPct val="0"/>
        </a:spcBef>
        <a:spcAft>
          <a:spcPct val="0"/>
        </a:spcAft>
        <a:defRPr sz="4400" b="1">
          <a:solidFill>
            <a:srgbClr val="333399"/>
          </a:solidFill>
          <a:latin typeface="+mn-lt"/>
          <a:ea typeface="黑体" pitchFamily="2" charset="-122"/>
          <a:cs typeface="+mj-cs"/>
        </a:defRPr>
      </a:lvl1pPr>
      <a:lvl2pPr algn="l" rtl="0" eaLnBrk="1" fontAlgn="base" hangingPunct="1">
        <a:spcBef>
          <a:spcPct val="0"/>
        </a:spcBef>
        <a:spcAft>
          <a:spcPct val="0"/>
        </a:spcAft>
        <a:defRPr sz="4400">
          <a:solidFill>
            <a:schemeClr val="tx2"/>
          </a:solidFill>
          <a:latin typeface="Times New Roman" pitchFamily="18" charset="0"/>
        </a:defRPr>
      </a:lvl2pPr>
      <a:lvl3pPr algn="l" rtl="0" eaLnBrk="1" fontAlgn="base" hangingPunct="1">
        <a:spcBef>
          <a:spcPct val="0"/>
        </a:spcBef>
        <a:spcAft>
          <a:spcPct val="0"/>
        </a:spcAft>
        <a:defRPr sz="4400">
          <a:solidFill>
            <a:schemeClr val="tx2"/>
          </a:solidFill>
          <a:latin typeface="Times New Roman" pitchFamily="18" charset="0"/>
        </a:defRPr>
      </a:lvl3pPr>
      <a:lvl4pPr algn="l" rtl="0" eaLnBrk="1" fontAlgn="base" hangingPunct="1">
        <a:spcBef>
          <a:spcPct val="0"/>
        </a:spcBef>
        <a:spcAft>
          <a:spcPct val="0"/>
        </a:spcAft>
        <a:defRPr sz="4400">
          <a:solidFill>
            <a:schemeClr val="tx2"/>
          </a:solidFill>
          <a:latin typeface="Times New Roman" pitchFamily="18" charset="0"/>
        </a:defRPr>
      </a:lvl4pPr>
      <a:lvl5pPr algn="l" rtl="0" eaLnBrk="1" fontAlgn="base" hangingPunct="1">
        <a:spcBef>
          <a:spcPct val="0"/>
        </a:spcBef>
        <a:spcAft>
          <a:spcPct val="0"/>
        </a:spcAft>
        <a:defRPr sz="4400">
          <a:solidFill>
            <a:schemeClr val="tx2"/>
          </a:solidFill>
          <a:latin typeface="Times New Roman" pitchFamily="18" charset="0"/>
        </a:defRPr>
      </a:lvl5pPr>
      <a:lvl6pPr marL="457200" algn="l" rtl="0" eaLnBrk="1" fontAlgn="base" hangingPunct="1">
        <a:spcBef>
          <a:spcPct val="0"/>
        </a:spcBef>
        <a:spcAft>
          <a:spcPct val="0"/>
        </a:spcAft>
        <a:defRPr sz="4400">
          <a:solidFill>
            <a:schemeClr val="tx2"/>
          </a:solidFill>
          <a:latin typeface="Times New Roman" pitchFamily="18" charset="0"/>
        </a:defRPr>
      </a:lvl6pPr>
      <a:lvl7pPr marL="914400" algn="l" rtl="0" eaLnBrk="1" fontAlgn="base" hangingPunct="1">
        <a:spcBef>
          <a:spcPct val="0"/>
        </a:spcBef>
        <a:spcAft>
          <a:spcPct val="0"/>
        </a:spcAft>
        <a:defRPr sz="4400">
          <a:solidFill>
            <a:schemeClr val="tx2"/>
          </a:solidFill>
          <a:latin typeface="Times New Roman" pitchFamily="18" charset="0"/>
        </a:defRPr>
      </a:lvl7pPr>
      <a:lvl8pPr marL="1371600" algn="l" rtl="0" eaLnBrk="1" fontAlgn="base" hangingPunct="1">
        <a:spcBef>
          <a:spcPct val="0"/>
        </a:spcBef>
        <a:spcAft>
          <a:spcPct val="0"/>
        </a:spcAft>
        <a:defRPr sz="4400">
          <a:solidFill>
            <a:schemeClr val="tx2"/>
          </a:solidFill>
          <a:latin typeface="Times New Roman" pitchFamily="18" charset="0"/>
        </a:defRPr>
      </a:lvl8pPr>
      <a:lvl9pPr marL="1828800" algn="l"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itchFamily="2" charset="2"/>
        <a:buChar char="n"/>
        <a:defRPr sz="3200" b="1">
          <a:solidFill>
            <a:schemeClr val="tx1"/>
          </a:solidFill>
          <a:latin typeface="+mn-lt"/>
          <a:ea typeface="黑体"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itchFamily="2" charset="2"/>
        <a:buChar char="n"/>
        <a:defRPr sz="2800" b="1">
          <a:solidFill>
            <a:schemeClr val="tx1"/>
          </a:solidFill>
          <a:latin typeface="+mn-lt"/>
          <a:ea typeface="黑体"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itchFamily="2" charset="2"/>
        <a:buChar char="p"/>
        <a:defRPr sz="2400" b="1">
          <a:solidFill>
            <a:schemeClr val="tx1"/>
          </a:solidFill>
          <a:latin typeface="+mn-lt"/>
          <a:ea typeface="黑体"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itchFamily="2" charset="2"/>
        <a:buChar char="n"/>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7.xml"/><Relationship Id="rId6" Type="http://schemas.openxmlformats.org/officeDocument/2006/relationships/image" Target="../media/image1.wmf"/><Relationship Id="rId5" Type="http://schemas.openxmlformats.org/officeDocument/2006/relationships/image" Target="../media/image5.png"/><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1.w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7.xml"/><Relationship Id="rId7" Type="http://schemas.openxmlformats.org/officeDocument/2006/relationships/image" Target="../media/image1.wmf"/><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11.emf"/><Relationship Id="rId5" Type="http://schemas.openxmlformats.org/officeDocument/2006/relationships/oleObject" Target="../embeddings/oleObject1.bin"/><Relationship Id="rId4" Type="http://schemas.openxmlformats.org/officeDocument/2006/relationships/image" Target="../media/image2.wmf"/></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latin typeface="+mn-lt"/>
              </a:rPr>
              <a:t>网络层</a:t>
            </a:r>
            <a:r>
              <a:rPr lang="zh-CN" altLang="en-US">
                <a:latin typeface="+mn-lt"/>
              </a:rPr>
              <a:t>（上）</a:t>
            </a:r>
            <a:endParaRPr lang="zh-CN" altLang="en-US" dirty="0">
              <a:latin typeface="+mn-lt"/>
            </a:endParaRPr>
          </a:p>
        </p:txBody>
      </p:sp>
      <p:sp>
        <p:nvSpPr>
          <p:cNvPr id="2051" name="Rectangle 3"/>
          <p:cNvSpPr>
            <a:spLocks noGrp="1" noChangeArrowheads="1"/>
          </p:cNvSpPr>
          <p:nvPr>
            <p:ph type="subTitle" idx="1"/>
          </p:nvPr>
        </p:nvSpPr>
        <p:spPr/>
        <p:txBody>
          <a:bodyPr/>
          <a:lstStyle/>
          <a:p>
            <a:endParaRPr lang="zh-CN" altLang="en-US">
              <a:ea typeface="宋体" pitchFamily="2" charset="-122"/>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（上）</a:t>
            </a:r>
          </a:p>
        </p:txBody>
      </p:sp>
      <p:sp>
        <p:nvSpPr>
          <p:cNvPr id="3" name="内容占位符 2"/>
          <p:cNvSpPr>
            <a:spLocks noGrp="1"/>
          </p:cNvSpPr>
          <p:nvPr>
            <p:ph idx="1"/>
          </p:nvPr>
        </p:nvSpPr>
        <p:spPr/>
        <p:txBody>
          <a:bodyPr/>
          <a:lstStyle/>
          <a:p>
            <a:pPr>
              <a:lnSpc>
                <a:spcPct val="100000"/>
              </a:lnSpc>
            </a:pPr>
            <a:r>
              <a:rPr lang="zh-CN" altLang="en-US" dirty="0"/>
              <a:t>概述</a:t>
            </a:r>
            <a:endParaRPr lang="zh-CN" altLang="zh-CN" dirty="0"/>
          </a:p>
          <a:p>
            <a:r>
              <a:rPr lang="zh-CN" altLang="zh-CN" dirty="0"/>
              <a:t>分类的</a:t>
            </a:r>
            <a:r>
              <a:rPr lang="en-US" altLang="zh-CN" dirty="0"/>
              <a:t> IP </a:t>
            </a:r>
            <a:r>
              <a:rPr lang="zh-CN" altLang="zh-CN" dirty="0"/>
              <a:t>地址</a:t>
            </a:r>
          </a:p>
          <a:p>
            <a:r>
              <a:rPr lang="zh-CN" altLang="zh-CN" dirty="0"/>
              <a:t>地址解析协议</a:t>
            </a:r>
            <a:r>
              <a:rPr lang="en-US" altLang="zh-CN" dirty="0"/>
              <a:t> ARP</a:t>
            </a:r>
            <a:endParaRPr lang="zh-CN" altLang="zh-CN" dirty="0"/>
          </a:p>
          <a:p>
            <a:r>
              <a:rPr lang="en-US" altLang="zh-CN" dirty="0"/>
              <a:t>IP </a:t>
            </a:r>
            <a:r>
              <a:rPr lang="zh-CN" altLang="zh-CN" dirty="0"/>
              <a:t>数据报的格式</a:t>
            </a:r>
            <a:endParaRPr lang="en-US" altLang="zh-CN" dirty="0"/>
          </a:p>
          <a:p>
            <a:r>
              <a:rPr lang="en-US" altLang="zh-CN" dirty="0"/>
              <a:t>IP </a:t>
            </a:r>
            <a:r>
              <a:rPr lang="zh-CN" altLang="zh-CN" dirty="0"/>
              <a:t>层转发分组的流程</a:t>
            </a:r>
          </a:p>
          <a:p>
            <a:pPr>
              <a:lnSpc>
                <a:spcPct val="100000"/>
              </a:lnSpc>
            </a:pPr>
            <a:r>
              <a:rPr lang="zh-CN" altLang="zh-CN" dirty="0"/>
              <a:t>网际控制报文协议</a:t>
            </a:r>
            <a:r>
              <a:rPr lang="en-US" altLang="zh-CN" dirty="0"/>
              <a:t> ICMP</a:t>
            </a:r>
            <a:endParaRPr lang="zh-CN" altLang="zh-CN" dirty="0"/>
          </a:p>
        </p:txBody>
      </p:sp>
    </p:spTree>
    <p:extLst>
      <p:ext uri="{BB962C8B-B14F-4D97-AF65-F5344CB8AC3E}">
        <p14:creationId xmlns:p14="http://schemas.microsoft.com/office/powerpoint/2010/main" val="333860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（上）</a:t>
            </a:r>
          </a:p>
        </p:txBody>
      </p:sp>
      <p:sp>
        <p:nvSpPr>
          <p:cNvPr id="3" name="内容占位符 2"/>
          <p:cNvSpPr>
            <a:spLocks noGrp="1"/>
          </p:cNvSpPr>
          <p:nvPr>
            <p:ph idx="1"/>
          </p:nvPr>
        </p:nvSpPr>
        <p:spPr/>
        <p:txBody>
          <a:bodyPr/>
          <a:lstStyle/>
          <a:p>
            <a:pPr>
              <a:lnSpc>
                <a:spcPct val="100000"/>
              </a:lnSpc>
            </a:pPr>
            <a:r>
              <a:rPr lang="zh-CN" altLang="en-US" sz="3600" dirty="0">
                <a:solidFill>
                  <a:srgbClr val="FF0000"/>
                </a:solidFill>
              </a:rPr>
              <a:t>概述</a:t>
            </a:r>
            <a:endParaRPr lang="zh-CN" altLang="zh-CN" sz="3600" dirty="0">
              <a:solidFill>
                <a:srgbClr val="FF0000"/>
              </a:solidFill>
            </a:endParaRPr>
          </a:p>
          <a:p>
            <a:r>
              <a:rPr lang="zh-CN" altLang="zh-CN" dirty="0">
                <a:solidFill>
                  <a:schemeClr val="bg1">
                    <a:lumMod val="65000"/>
                  </a:schemeClr>
                </a:solidFill>
              </a:rPr>
              <a:t>分类的</a:t>
            </a:r>
            <a:r>
              <a:rPr lang="en-US" altLang="zh-CN" dirty="0">
                <a:solidFill>
                  <a:schemeClr val="bg1">
                    <a:lumMod val="65000"/>
                  </a:schemeClr>
                </a:solidFill>
              </a:rPr>
              <a:t> IP </a:t>
            </a:r>
            <a:r>
              <a:rPr lang="zh-CN" altLang="zh-CN" dirty="0">
                <a:solidFill>
                  <a:schemeClr val="bg1">
                    <a:lumMod val="65000"/>
                  </a:schemeClr>
                </a:solidFill>
              </a:rPr>
              <a:t>地址</a:t>
            </a:r>
          </a:p>
          <a:p>
            <a:r>
              <a:rPr lang="zh-CN" altLang="zh-CN" dirty="0">
                <a:solidFill>
                  <a:schemeClr val="bg1">
                    <a:lumMod val="65000"/>
                  </a:schemeClr>
                </a:solidFill>
              </a:rPr>
              <a:t>地址解析协议</a:t>
            </a:r>
            <a:r>
              <a:rPr lang="en-US" altLang="zh-CN" dirty="0">
                <a:solidFill>
                  <a:schemeClr val="bg1">
                    <a:lumMod val="65000"/>
                  </a:schemeClr>
                </a:solidFill>
              </a:rPr>
              <a:t> ARP</a:t>
            </a:r>
            <a:endParaRPr lang="zh-CN" altLang="zh-CN" dirty="0">
              <a:solidFill>
                <a:schemeClr val="bg1">
                  <a:lumMod val="65000"/>
                </a:schemeClr>
              </a:solidFill>
            </a:endParaRPr>
          </a:p>
          <a:p>
            <a:r>
              <a:rPr lang="en-US" altLang="zh-CN" dirty="0">
                <a:solidFill>
                  <a:schemeClr val="bg1">
                    <a:lumMod val="65000"/>
                  </a:schemeClr>
                </a:solidFill>
              </a:rPr>
              <a:t>IP </a:t>
            </a:r>
            <a:r>
              <a:rPr lang="zh-CN" altLang="zh-CN" dirty="0">
                <a:solidFill>
                  <a:schemeClr val="bg1">
                    <a:lumMod val="65000"/>
                  </a:schemeClr>
                </a:solidFill>
              </a:rPr>
              <a:t>数据报的格式</a:t>
            </a:r>
            <a:endParaRPr lang="en-US" altLang="zh-CN" dirty="0">
              <a:solidFill>
                <a:schemeClr val="bg1">
                  <a:lumMod val="65000"/>
                </a:schemeClr>
              </a:solidFill>
            </a:endParaRPr>
          </a:p>
          <a:p>
            <a:r>
              <a:rPr lang="en-US" altLang="zh-CN" dirty="0">
                <a:solidFill>
                  <a:schemeClr val="bg1">
                    <a:lumMod val="65000"/>
                  </a:schemeClr>
                </a:solidFill>
              </a:rPr>
              <a:t>IP </a:t>
            </a:r>
            <a:r>
              <a:rPr lang="zh-CN" altLang="zh-CN" dirty="0">
                <a:solidFill>
                  <a:schemeClr val="bg1">
                    <a:lumMod val="65000"/>
                  </a:schemeClr>
                </a:solidFill>
              </a:rPr>
              <a:t>层转发分组的流程</a:t>
            </a:r>
          </a:p>
          <a:p>
            <a:pPr>
              <a:lnSpc>
                <a:spcPct val="100000"/>
              </a:lnSpc>
            </a:pPr>
            <a:r>
              <a:rPr lang="zh-CN" altLang="zh-CN" dirty="0">
                <a:solidFill>
                  <a:schemeClr val="bg1">
                    <a:lumMod val="65000"/>
                  </a:schemeClr>
                </a:solidFill>
              </a:rPr>
              <a:t>网际控制报文协议</a:t>
            </a:r>
            <a:r>
              <a:rPr lang="en-US" altLang="zh-CN" dirty="0">
                <a:solidFill>
                  <a:schemeClr val="bg1">
                    <a:lumMod val="65000"/>
                  </a:schemeClr>
                </a:solidFill>
              </a:rPr>
              <a:t> ICMP</a:t>
            </a:r>
            <a:endParaRPr lang="zh-CN" altLang="zh-CN" dirty="0">
              <a:solidFill>
                <a:schemeClr val="bg1">
                  <a:lumMod val="65000"/>
                </a:schemeClr>
              </a:solidFill>
            </a:endParaRPr>
          </a:p>
        </p:txBody>
      </p:sp>
    </p:spTree>
    <p:extLst>
      <p:ext uri="{BB962C8B-B14F-4D97-AF65-F5344CB8AC3E}">
        <p14:creationId xmlns:p14="http://schemas.microsoft.com/office/powerpoint/2010/main" val="366827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zh-CN" altLang="en-US" dirty="0"/>
              <a:t>概述：两种服务之争 </a:t>
            </a:r>
          </a:p>
        </p:txBody>
      </p:sp>
      <p:sp>
        <p:nvSpPr>
          <p:cNvPr id="931843" name="Rectangle 3"/>
          <p:cNvSpPr>
            <a:spLocks noGrp="1" noChangeArrowheads="1"/>
          </p:cNvSpPr>
          <p:nvPr>
            <p:ph idx="1"/>
          </p:nvPr>
        </p:nvSpPr>
        <p:spPr/>
        <p:txBody>
          <a:bodyPr/>
          <a:lstStyle/>
          <a:p>
            <a:r>
              <a:rPr lang="zh-CN" altLang="en-US" dirty="0"/>
              <a:t>在计算机网络领域，网络层应该向运输层提供怎样的服务（“</a:t>
            </a:r>
            <a:r>
              <a:rPr lang="zh-CN" altLang="en-US" dirty="0">
                <a:solidFill>
                  <a:srgbClr val="FF0000"/>
                </a:solidFill>
              </a:rPr>
              <a:t>面向连接</a:t>
            </a:r>
            <a:r>
              <a:rPr lang="zh-CN" altLang="en-US" dirty="0"/>
              <a:t>”还是“</a:t>
            </a:r>
            <a:r>
              <a:rPr lang="zh-CN" altLang="en-US" dirty="0">
                <a:solidFill>
                  <a:srgbClr val="FF0000"/>
                </a:solidFill>
              </a:rPr>
              <a:t>无连接</a:t>
            </a:r>
            <a:r>
              <a:rPr lang="zh-CN" altLang="en-US" dirty="0"/>
              <a:t>”）曾引起了长期的争论。</a:t>
            </a:r>
          </a:p>
          <a:p>
            <a:r>
              <a:rPr lang="zh-CN" altLang="en-US" dirty="0"/>
              <a:t>争论焦点的实质就是：</a:t>
            </a:r>
            <a:r>
              <a:rPr lang="zh-CN" altLang="en-US" dirty="0">
                <a:solidFill>
                  <a:srgbClr val="0000CC"/>
                </a:solidFill>
              </a:rPr>
              <a:t>在计算机通信中，可靠交付应当由谁来负责？是</a:t>
            </a:r>
            <a:r>
              <a:rPr lang="zh-CN" altLang="en-US" dirty="0">
                <a:solidFill>
                  <a:srgbClr val="FF0000"/>
                </a:solidFill>
              </a:rPr>
              <a:t>网络</a:t>
            </a:r>
            <a:r>
              <a:rPr lang="zh-CN" altLang="en-US" dirty="0">
                <a:solidFill>
                  <a:srgbClr val="0000CC"/>
                </a:solidFill>
              </a:rPr>
              <a:t>还是</a:t>
            </a:r>
            <a:r>
              <a:rPr lang="zh-CN" altLang="en-US" dirty="0">
                <a:solidFill>
                  <a:srgbClr val="FF0000"/>
                </a:solidFill>
              </a:rPr>
              <a:t>端系统</a:t>
            </a:r>
            <a:r>
              <a:rPr lang="zh-CN" altLang="en-US" dirty="0">
                <a:solidFill>
                  <a:srgbClr val="0000CC"/>
                </a:solidFill>
              </a:rPr>
              <a:t>？ </a:t>
            </a:r>
          </a:p>
        </p:txBody>
      </p:sp>
    </p:spTree>
    <p:extLst>
      <p:ext uri="{BB962C8B-B14F-4D97-AF65-F5344CB8AC3E}">
        <p14:creationId xmlns:p14="http://schemas.microsoft.com/office/powerpoint/2010/main" val="1094025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Rectangle 2"/>
          <p:cNvSpPr>
            <a:spLocks noGrp="1" noChangeArrowheads="1"/>
          </p:cNvSpPr>
          <p:nvPr>
            <p:ph type="title"/>
          </p:nvPr>
        </p:nvSpPr>
        <p:spPr/>
        <p:txBody>
          <a:bodyPr/>
          <a:lstStyle/>
          <a:p>
            <a:r>
              <a:rPr lang="zh-CN" altLang="en-US" dirty="0"/>
              <a:t>概述：网络提供数据报服务</a:t>
            </a:r>
          </a:p>
        </p:txBody>
      </p:sp>
      <p:sp>
        <p:nvSpPr>
          <p:cNvPr id="940035" name="Rectangle 3"/>
          <p:cNvSpPr>
            <a:spLocks noGrp="1" noChangeArrowheads="1"/>
          </p:cNvSpPr>
          <p:nvPr>
            <p:ph idx="1"/>
          </p:nvPr>
        </p:nvSpPr>
        <p:spPr/>
        <p:txBody>
          <a:bodyPr/>
          <a:lstStyle/>
          <a:p>
            <a:r>
              <a:rPr lang="zh-CN" altLang="zh-CN" sz="2800" dirty="0"/>
              <a:t>互联网的先驱者提出</a:t>
            </a:r>
            <a:r>
              <a:rPr lang="zh-CN" altLang="en-US" sz="2800" dirty="0"/>
              <a:t>了</a:t>
            </a:r>
            <a:r>
              <a:rPr lang="zh-CN" altLang="zh-CN" sz="2800" dirty="0"/>
              <a:t>一种崭新的网络设计思路</a:t>
            </a:r>
            <a:r>
              <a:rPr lang="zh-CN" altLang="en-US" sz="2800" dirty="0"/>
              <a:t>。</a:t>
            </a:r>
            <a:endParaRPr lang="en-US" altLang="zh-CN" sz="2800" dirty="0"/>
          </a:p>
          <a:p>
            <a:r>
              <a:rPr lang="zh-CN" altLang="en-US" sz="2800" dirty="0"/>
              <a:t>网络层向上只提供简单灵活的、</a:t>
            </a:r>
            <a:r>
              <a:rPr lang="zh-CN" altLang="en-US" sz="2800" dirty="0">
                <a:solidFill>
                  <a:srgbClr val="FF0000"/>
                </a:solidFill>
              </a:rPr>
              <a:t>无连接的、尽最大努力交付</a:t>
            </a:r>
            <a:r>
              <a:rPr lang="zh-CN" altLang="en-US" sz="2800" dirty="0"/>
              <a:t>的</a:t>
            </a:r>
            <a:r>
              <a:rPr lang="zh-CN" altLang="en-US" sz="2800" dirty="0">
                <a:solidFill>
                  <a:srgbClr val="FF0000"/>
                </a:solidFill>
              </a:rPr>
              <a:t>数据报服务。</a:t>
            </a:r>
          </a:p>
          <a:p>
            <a:r>
              <a:rPr lang="zh-CN" altLang="en-US" sz="2800" dirty="0"/>
              <a:t>网络在发送分组时不需要先建立连接。每一个分组（即 </a:t>
            </a:r>
            <a:r>
              <a:rPr lang="en-US" altLang="zh-CN" sz="2800" dirty="0"/>
              <a:t>IP </a:t>
            </a:r>
            <a:r>
              <a:rPr lang="zh-CN" altLang="en-US" sz="2800" dirty="0"/>
              <a:t>数据报）独立发送，与其前后的分组无关（不进行编号）。</a:t>
            </a:r>
          </a:p>
          <a:p>
            <a:r>
              <a:rPr lang="zh-CN" altLang="en-US" sz="2800" dirty="0">
                <a:solidFill>
                  <a:srgbClr val="FF0000"/>
                </a:solidFill>
              </a:rPr>
              <a:t>网络层不提供服务质量的承诺。</a:t>
            </a:r>
            <a:r>
              <a:rPr lang="zh-CN" altLang="en-US" sz="2800" dirty="0"/>
              <a:t>即所传送的分组可能出错、丢失、重复和失序（不按序到达终点），当然也不保证分组传送的时限。 </a:t>
            </a:r>
          </a:p>
        </p:txBody>
      </p:sp>
    </p:spTree>
    <p:extLst>
      <p:ext uri="{BB962C8B-B14F-4D97-AF65-F5344CB8AC3E}">
        <p14:creationId xmlns:p14="http://schemas.microsoft.com/office/powerpoint/2010/main" val="3232164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Rectangle 2"/>
          <p:cNvSpPr>
            <a:spLocks noGrp="1" noChangeArrowheads="1"/>
          </p:cNvSpPr>
          <p:nvPr>
            <p:ph type="title"/>
          </p:nvPr>
        </p:nvSpPr>
        <p:spPr/>
        <p:txBody>
          <a:bodyPr/>
          <a:lstStyle/>
          <a:p>
            <a:r>
              <a:rPr lang="zh-CN" altLang="en-US" dirty="0"/>
              <a:t>概述：尽最大努力交付</a:t>
            </a:r>
          </a:p>
        </p:txBody>
      </p:sp>
      <p:sp>
        <p:nvSpPr>
          <p:cNvPr id="943107" name="Rectangle 3"/>
          <p:cNvSpPr>
            <a:spLocks noGrp="1" noChangeArrowheads="1"/>
          </p:cNvSpPr>
          <p:nvPr>
            <p:ph idx="1"/>
          </p:nvPr>
        </p:nvSpPr>
        <p:spPr/>
        <p:txBody>
          <a:bodyPr/>
          <a:lstStyle/>
          <a:p>
            <a:r>
              <a:rPr lang="zh-CN" altLang="en-US" sz="2800" dirty="0"/>
              <a:t>由于传输</a:t>
            </a:r>
            <a:r>
              <a:rPr lang="zh-CN" altLang="en-US" sz="2800" dirty="0">
                <a:solidFill>
                  <a:srgbClr val="FF0000"/>
                </a:solidFill>
              </a:rPr>
              <a:t>网络不提供端到端的可靠传输服务，</a:t>
            </a:r>
            <a:r>
              <a:rPr lang="zh-CN" altLang="en-US" sz="2800" dirty="0"/>
              <a:t>这就使网络中的路由器可以做得比较简单，而且价格低廉（与电信网的交换机相比较）。</a:t>
            </a:r>
          </a:p>
          <a:p>
            <a:r>
              <a:rPr lang="zh-CN" altLang="en-US" sz="2800" dirty="0"/>
              <a:t>如果主机（即端系统）中的进程之间的通信需要是可靠的，那么就由网络的</a:t>
            </a:r>
            <a:r>
              <a:rPr lang="zh-CN" altLang="en-US" sz="2800" dirty="0">
                <a:solidFill>
                  <a:srgbClr val="FF0000"/>
                </a:solidFill>
              </a:rPr>
              <a:t>主机中的运输层负责可靠交付（包括差错处理、流量控制等） 。</a:t>
            </a:r>
          </a:p>
          <a:p>
            <a:r>
              <a:rPr lang="zh-CN" altLang="en-US" sz="2800" dirty="0">
                <a:solidFill>
                  <a:srgbClr val="0000FF"/>
                </a:solidFill>
              </a:rPr>
              <a:t>采用这种设计思路的好处是：</a:t>
            </a:r>
            <a:r>
              <a:rPr lang="zh-CN" altLang="en-US" sz="2800" dirty="0"/>
              <a:t>网络的造价大大降低，运行方式灵活，能够适应多种应用。</a:t>
            </a:r>
          </a:p>
          <a:p>
            <a:r>
              <a:rPr lang="zh-CN" altLang="en-US" sz="2800" dirty="0"/>
              <a:t>互连网能够发展到今日的规模，充分证明了当初采用这种设计思路的正确性。 </a:t>
            </a:r>
          </a:p>
        </p:txBody>
      </p:sp>
    </p:spTree>
    <p:extLst>
      <p:ext uri="{BB962C8B-B14F-4D97-AF65-F5344CB8AC3E}">
        <p14:creationId xmlns:p14="http://schemas.microsoft.com/office/powerpoint/2010/main" val="3885754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Rectangle 2"/>
          <p:cNvSpPr>
            <a:spLocks noGrp="1" noChangeArrowheads="1"/>
          </p:cNvSpPr>
          <p:nvPr>
            <p:ph type="title"/>
          </p:nvPr>
        </p:nvSpPr>
        <p:spPr/>
        <p:txBody>
          <a:bodyPr/>
          <a:lstStyle/>
          <a:p>
            <a:r>
              <a:rPr lang="zh-CN" altLang="en-US" dirty="0"/>
              <a:t>概述：网络层的功能</a:t>
            </a:r>
          </a:p>
        </p:txBody>
      </p:sp>
      <p:sp>
        <p:nvSpPr>
          <p:cNvPr id="943107" name="Rectangle 3"/>
          <p:cNvSpPr>
            <a:spLocks noGrp="1" noChangeArrowheads="1"/>
          </p:cNvSpPr>
          <p:nvPr>
            <p:ph idx="1"/>
          </p:nvPr>
        </p:nvSpPr>
        <p:spPr/>
        <p:txBody>
          <a:bodyPr/>
          <a:lstStyle/>
          <a:p>
            <a:pPr marL="261938" indent="-261938">
              <a:spcBef>
                <a:spcPct val="5000"/>
              </a:spcBef>
              <a:defRPr/>
            </a:pPr>
            <a:r>
              <a:rPr lang="zh-CN" altLang="en-US" sz="2800" dirty="0">
                <a:solidFill>
                  <a:srgbClr val="FF0000"/>
                </a:solidFill>
              </a:rPr>
              <a:t>寻址</a:t>
            </a:r>
            <a:r>
              <a:rPr lang="zh-CN" altLang="en-US" sz="2800" dirty="0"/>
              <a:t>：识别网络中的各个通讯实体；</a:t>
            </a:r>
          </a:p>
          <a:p>
            <a:pPr marL="261938" indent="-261938">
              <a:spcBef>
                <a:spcPct val="5000"/>
              </a:spcBef>
              <a:defRPr/>
            </a:pPr>
            <a:r>
              <a:rPr lang="zh-CN" altLang="en-US" sz="2800" dirty="0">
                <a:solidFill>
                  <a:srgbClr val="FF0000"/>
                </a:solidFill>
              </a:rPr>
              <a:t>交换方式</a:t>
            </a:r>
            <a:r>
              <a:rPr lang="zh-CN" altLang="en-US" sz="2800" dirty="0"/>
              <a:t>：分组通过中间节点所采用的方式，为传输层提供什么样的服务；</a:t>
            </a:r>
          </a:p>
          <a:p>
            <a:pPr marL="261938" indent="-261938">
              <a:spcBef>
                <a:spcPct val="5000"/>
              </a:spcBef>
              <a:defRPr/>
            </a:pPr>
            <a:r>
              <a:rPr lang="zh-CN" altLang="en-US" sz="2800" dirty="0">
                <a:solidFill>
                  <a:srgbClr val="FF0000"/>
                </a:solidFill>
              </a:rPr>
              <a:t>路由选择</a:t>
            </a:r>
            <a:r>
              <a:rPr lang="zh-CN" altLang="en-US" sz="2800" dirty="0"/>
              <a:t>：自动了解网络的拓扑结构，选择适当的路由选择算法；</a:t>
            </a:r>
          </a:p>
          <a:p>
            <a:pPr marL="261938" indent="-261938">
              <a:spcBef>
                <a:spcPct val="5000"/>
              </a:spcBef>
              <a:defRPr/>
            </a:pPr>
            <a:r>
              <a:rPr lang="zh-CN" altLang="en-US" sz="2800" dirty="0">
                <a:solidFill>
                  <a:srgbClr val="FF0000"/>
                </a:solidFill>
              </a:rPr>
              <a:t>拥塞问题</a:t>
            </a:r>
            <a:r>
              <a:rPr lang="zh-CN" altLang="en-US" sz="2800" dirty="0"/>
              <a:t>：仔细选择下一个路由器，避免某些通信线路和路由器负载过重，而其他线路和路由器空闲。</a:t>
            </a:r>
          </a:p>
          <a:p>
            <a:pPr marL="261938" indent="-261938">
              <a:spcBef>
                <a:spcPct val="5000"/>
              </a:spcBef>
              <a:defRPr/>
            </a:pPr>
            <a:r>
              <a:rPr lang="zh-CN" altLang="en-US" sz="2800" dirty="0">
                <a:solidFill>
                  <a:srgbClr val="FF0000"/>
                </a:solidFill>
              </a:rPr>
              <a:t>网络互连</a:t>
            </a:r>
            <a:r>
              <a:rPr lang="zh-CN" altLang="en-US" sz="2800" dirty="0"/>
              <a:t>：隐藏所有底层网络细节的不同，实现异构网络中任意两台计算机之间的通信。</a:t>
            </a:r>
          </a:p>
        </p:txBody>
      </p:sp>
    </p:spTree>
    <p:extLst>
      <p:ext uri="{BB962C8B-B14F-4D97-AF65-F5344CB8AC3E}">
        <p14:creationId xmlns:p14="http://schemas.microsoft.com/office/powerpoint/2010/main" val="2904985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8" name="Rectangle 2"/>
          <p:cNvSpPr>
            <a:spLocks noGrp="1" noChangeArrowheads="1"/>
          </p:cNvSpPr>
          <p:nvPr>
            <p:ph type="title"/>
          </p:nvPr>
        </p:nvSpPr>
        <p:spPr/>
        <p:txBody>
          <a:bodyPr/>
          <a:lstStyle/>
          <a:p>
            <a:r>
              <a:rPr lang="zh-CN" altLang="en-US" dirty="0"/>
              <a:t>概述：网际协议 </a:t>
            </a:r>
            <a:r>
              <a:rPr lang="en-US" altLang="zh-CN" dirty="0"/>
              <a:t>IP </a:t>
            </a:r>
          </a:p>
        </p:txBody>
      </p:sp>
      <p:sp>
        <p:nvSpPr>
          <p:cNvPr id="966659" name="Rectangle 3"/>
          <p:cNvSpPr>
            <a:spLocks noGrp="1" noChangeArrowheads="1"/>
          </p:cNvSpPr>
          <p:nvPr>
            <p:ph idx="1"/>
          </p:nvPr>
        </p:nvSpPr>
        <p:spPr/>
        <p:txBody>
          <a:bodyPr/>
          <a:lstStyle/>
          <a:p>
            <a:r>
              <a:rPr lang="zh-CN" altLang="en-US" sz="2800" dirty="0"/>
              <a:t>网际协议 </a:t>
            </a:r>
            <a:r>
              <a:rPr lang="en-US" altLang="zh-CN" sz="2800" dirty="0"/>
              <a:t>IP </a:t>
            </a:r>
            <a:r>
              <a:rPr lang="zh-CN" altLang="en-US" sz="2800" dirty="0"/>
              <a:t>是 </a:t>
            </a:r>
            <a:r>
              <a:rPr lang="en-US" altLang="zh-CN" sz="2800" dirty="0"/>
              <a:t>TCP/IP </a:t>
            </a:r>
            <a:r>
              <a:rPr lang="zh-CN" altLang="en-US" sz="2800" dirty="0"/>
              <a:t>体系中两个最主要的协议之一。</a:t>
            </a:r>
            <a:endParaRPr lang="en-US" altLang="zh-CN" sz="2800" dirty="0"/>
          </a:p>
          <a:p>
            <a:r>
              <a:rPr lang="zh-CN" altLang="en-US" sz="2800" dirty="0"/>
              <a:t>与 </a:t>
            </a:r>
            <a:r>
              <a:rPr lang="en-US" altLang="zh-CN" sz="2800" dirty="0"/>
              <a:t>IP </a:t>
            </a:r>
            <a:r>
              <a:rPr lang="zh-CN" altLang="en-US" sz="2800" dirty="0"/>
              <a:t>协议配套使用的还有三个协议：</a:t>
            </a:r>
          </a:p>
          <a:p>
            <a:pPr lvl="1"/>
            <a:r>
              <a:rPr lang="zh-CN" altLang="en-US" sz="2400" dirty="0">
                <a:solidFill>
                  <a:srgbClr val="FF0000"/>
                </a:solidFill>
              </a:rPr>
              <a:t>地址解析协议 </a:t>
            </a:r>
            <a:r>
              <a:rPr lang="en-US" altLang="zh-CN" sz="2400" dirty="0">
                <a:solidFill>
                  <a:srgbClr val="FF0000"/>
                </a:solidFill>
              </a:rPr>
              <a:t>ARP</a:t>
            </a:r>
          </a:p>
          <a:p>
            <a:pPr lvl="1">
              <a:buFont typeface="Wingdings" pitchFamily="2" charset="2"/>
              <a:buNone/>
            </a:pPr>
            <a:r>
              <a:rPr lang="en-US" altLang="zh-CN" sz="2400" dirty="0"/>
              <a:t>    (Address Resolution Protocol)</a:t>
            </a:r>
          </a:p>
          <a:p>
            <a:pPr lvl="1"/>
            <a:r>
              <a:rPr lang="zh-CN" altLang="en-US" sz="2400" dirty="0">
                <a:solidFill>
                  <a:srgbClr val="FF0000"/>
                </a:solidFill>
              </a:rPr>
              <a:t>网际控制报文协议 </a:t>
            </a:r>
            <a:r>
              <a:rPr lang="en-US" altLang="zh-CN" sz="2400" dirty="0">
                <a:solidFill>
                  <a:srgbClr val="FF0000"/>
                </a:solidFill>
              </a:rPr>
              <a:t>ICMP</a:t>
            </a:r>
          </a:p>
          <a:p>
            <a:pPr lvl="1">
              <a:buFont typeface="Wingdings" pitchFamily="2" charset="2"/>
              <a:buNone/>
            </a:pPr>
            <a:r>
              <a:rPr lang="en-US" altLang="zh-CN" sz="2400" dirty="0"/>
              <a:t>   (Internet Control Message Protocol)</a:t>
            </a:r>
          </a:p>
          <a:p>
            <a:pPr lvl="1"/>
            <a:r>
              <a:rPr lang="zh-CN" altLang="en-US" sz="2400" dirty="0">
                <a:solidFill>
                  <a:srgbClr val="FF0000"/>
                </a:solidFill>
              </a:rPr>
              <a:t>网际组管理协议 </a:t>
            </a:r>
            <a:r>
              <a:rPr lang="en-US" altLang="zh-CN" sz="2400" dirty="0">
                <a:solidFill>
                  <a:srgbClr val="FF0000"/>
                </a:solidFill>
              </a:rPr>
              <a:t>IGMP</a:t>
            </a:r>
          </a:p>
          <a:p>
            <a:pPr lvl="1">
              <a:buFont typeface="Wingdings" pitchFamily="2" charset="2"/>
              <a:buNone/>
            </a:pPr>
            <a:r>
              <a:rPr lang="en-US" altLang="zh-CN" sz="2400" dirty="0"/>
              <a:t>   (Internet Group Management Protocol)</a:t>
            </a:r>
          </a:p>
        </p:txBody>
      </p:sp>
    </p:spTree>
    <p:extLst>
      <p:ext uri="{BB962C8B-B14F-4D97-AF65-F5344CB8AC3E}">
        <p14:creationId xmlns:p14="http://schemas.microsoft.com/office/powerpoint/2010/main" val="1454898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2" name="Rectangle 2"/>
          <p:cNvSpPr>
            <a:spLocks noGrp="1" noChangeArrowheads="1"/>
          </p:cNvSpPr>
          <p:nvPr>
            <p:ph type="title"/>
          </p:nvPr>
        </p:nvSpPr>
        <p:spPr/>
        <p:txBody>
          <a:bodyPr/>
          <a:lstStyle/>
          <a:p>
            <a:r>
              <a:rPr lang="zh-CN" altLang="en-US" dirty="0"/>
              <a:t>概述：网际层的 </a:t>
            </a:r>
            <a:r>
              <a:rPr lang="en-US" altLang="zh-CN" dirty="0"/>
              <a:t>IP </a:t>
            </a:r>
            <a:r>
              <a:rPr lang="zh-CN" altLang="en-US" dirty="0"/>
              <a:t>协议及配套协议</a:t>
            </a:r>
          </a:p>
        </p:txBody>
      </p:sp>
      <p:grpSp>
        <p:nvGrpSpPr>
          <p:cNvPr id="2" name="组合 1"/>
          <p:cNvGrpSpPr/>
          <p:nvPr/>
        </p:nvGrpSpPr>
        <p:grpSpPr>
          <a:xfrm>
            <a:off x="1442906" y="1412776"/>
            <a:ext cx="6475015" cy="4216400"/>
            <a:chOff x="1442906" y="1412776"/>
            <a:chExt cx="6475015" cy="4216400"/>
          </a:xfrm>
        </p:grpSpPr>
        <p:sp>
          <p:nvSpPr>
            <p:cNvPr id="967684" name="Rectangle 4"/>
            <p:cNvSpPr>
              <a:spLocks noChangeArrowheads="1"/>
            </p:cNvSpPr>
            <p:nvPr/>
          </p:nvSpPr>
          <p:spPr bwMode="auto">
            <a:xfrm>
              <a:off x="3511815" y="2806601"/>
              <a:ext cx="4406106" cy="1471612"/>
            </a:xfrm>
            <a:prstGeom prst="rect">
              <a:avLst/>
            </a:prstGeom>
            <a:solidFill>
              <a:srgbClr val="FFFF66"/>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967685" name="Rectangle 5"/>
            <p:cNvSpPr>
              <a:spLocks noChangeArrowheads="1"/>
            </p:cNvSpPr>
            <p:nvPr/>
          </p:nvSpPr>
          <p:spPr bwMode="auto">
            <a:xfrm>
              <a:off x="3511815" y="1412776"/>
              <a:ext cx="4406106" cy="340836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b="1">
                <a:solidFill>
                  <a:srgbClr val="000099"/>
                </a:solidFill>
                <a:latin typeface="+mn-lt"/>
                <a:ea typeface="黑体" pitchFamily="2" charset="-122"/>
              </a:endParaRPr>
            </a:p>
          </p:txBody>
        </p:sp>
        <p:sp>
          <p:nvSpPr>
            <p:cNvPr id="967686" name="Line 6"/>
            <p:cNvSpPr>
              <a:spLocks noChangeShapeType="1"/>
            </p:cNvSpPr>
            <p:nvPr/>
          </p:nvSpPr>
          <p:spPr bwMode="auto">
            <a:xfrm>
              <a:off x="3511815" y="2265263"/>
              <a:ext cx="440610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黑体" pitchFamily="2" charset="-122"/>
              </a:endParaRPr>
            </a:p>
          </p:txBody>
        </p:sp>
        <p:sp>
          <p:nvSpPr>
            <p:cNvPr id="967687" name="Line 7"/>
            <p:cNvSpPr>
              <a:spLocks noChangeShapeType="1"/>
            </p:cNvSpPr>
            <p:nvPr/>
          </p:nvSpPr>
          <p:spPr bwMode="auto">
            <a:xfrm>
              <a:off x="3511815" y="2806601"/>
              <a:ext cx="4406106" cy="0"/>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黑体" pitchFamily="2" charset="-122"/>
              </a:endParaRPr>
            </a:p>
          </p:txBody>
        </p:sp>
        <p:sp>
          <p:nvSpPr>
            <p:cNvPr id="967688" name="Text Box 8"/>
            <p:cNvSpPr txBox="1">
              <a:spLocks noChangeArrowheads="1"/>
            </p:cNvSpPr>
            <p:nvPr/>
          </p:nvSpPr>
          <p:spPr bwMode="auto">
            <a:xfrm>
              <a:off x="4567767" y="1427063"/>
              <a:ext cx="23391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latin typeface="+mn-lt"/>
                  <a:ea typeface="黑体" pitchFamily="2" charset="-122"/>
                </a:rPr>
                <a:t>各种应用层协议</a:t>
              </a:r>
            </a:p>
          </p:txBody>
        </p:sp>
        <p:sp>
          <p:nvSpPr>
            <p:cNvPr id="967689" name="Text Box 9"/>
            <p:cNvSpPr txBox="1">
              <a:spLocks noChangeArrowheads="1"/>
            </p:cNvSpPr>
            <p:nvPr/>
          </p:nvSpPr>
          <p:spPr bwMode="auto">
            <a:xfrm>
              <a:off x="1442906" y="4405213"/>
              <a:ext cx="190148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75000"/>
                </a:lnSpc>
              </a:pPr>
              <a:r>
                <a:rPr kumimoji="1" lang="en-US" altLang="zh-CN" sz="2400">
                  <a:latin typeface="+mn-lt"/>
                  <a:ea typeface="黑体" pitchFamily="2" charset="-122"/>
                </a:rPr>
                <a:t>  </a:t>
              </a:r>
              <a:r>
                <a:rPr kumimoji="1" lang="zh-CN" altLang="en-US" sz="2400">
                  <a:latin typeface="+mn-lt"/>
                  <a:ea typeface="黑体" pitchFamily="2" charset="-122"/>
                </a:rPr>
                <a:t>网络接口层</a:t>
              </a:r>
            </a:p>
          </p:txBody>
        </p:sp>
        <p:sp>
          <p:nvSpPr>
            <p:cNvPr id="967690" name="Text Box 10"/>
            <p:cNvSpPr txBox="1">
              <a:spLocks noChangeArrowheads="1"/>
            </p:cNvSpPr>
            <p:nvPr/>
          </p:nvSpPr>
          <p:spPr bwMode="auto">
            <a:xfrm>
              <a:off x="4007114" y="1812826"/>
              <a:ext cx="32752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mn-lt"/>
                  <a:ea typeface="黑体" pitchFamily="2" charset="-122"/>
                </a:rPr>
                <a:t>(HTTP, FTP, SMTP </a:t>
              </a:r>
              <a:r>
                <a:rPr kumimoji="1" lang="zh-CN" altLang="zh-CN" sz="2400">
                  <a:latin typeface="+mn-lt"/>
                  <a:ea typeface="黑体" pitchFamily="2" charset="-122"/>
                </a:rPr>
                <a:t>等</a:t>
              </a:r>
              <a:r>
                <a:rPr kumimoji="1" lang="en-US" altLang="zh-CN" sz="2400">
                  <a:latin typeface="+mn-lt"/>
                  <a:ea typeface="黑体" pitchFamily="2" charset="-122"/>
                </a:rPr>
                <a:t>)</a:t>
              </a:r>
            </a:p>
          </p:txBody>
        </p:sp>
        <p:sp>
          <p:nvSpPr>
            <p:cNvPr id="967691" name="Rectangle 11"/>
            <p:cNvSpPr>
              <a:spLocks noChangeArrowheads="1"/>
            </p:cNvSpPr>
            <p:nvPr/>
          </p:nvSpPr>
          <p:spPr bwMode="auto">
            <a:xfrm>
              <a:off x="3506656" y="4898926"/>
              <a:ext cx="4411265" cy="730250"/>
            </a:xfrm>
            <a:prstGeom prst="rect">
              <a:avLst/>
            </a:prstGeom>
            <a:solidFill>
              <a:srgbClr val="FFFFFF">
                <a:alpha val="49001"/>
              </a:srgbClr>
            </a:solidFill>
            <a:ln w="19050">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a typeface="黑体" pitchFamily="2" charset="-122"/>
              </a:endParaRPr>
            </a:p>
          </p:txBody>
        </p:sp>
        <p:sp>
          <p:nvSpPr>
            <p:cNvPr id="967692" name="Text Box 12"/>
            <p:cNvSpPr txBox="1">
              <a:spLocks noChangeArrowheads="1"/>
            </p:cNvSpPr>
            <p:nvPr/>
          </p:nvSpPr>
          <p:spPr bwMode="auto">
            <a:xfrm>
              <a:off x="4953000" y="5027513"/>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latin typeface="+mn-lt"/>
                  <a:ea typeface="黑体" pitchFamily="2" charset="-122"/>
                </a:rPr>
                <a:t>物理硬件</a:t>
              </a:r>
            </a:p>
          </p:txBody>
        </p:sp>
        <p:sp>
          <p:nvSpPr>
            <p:cNvPr id="967693" name="Text Box 13"/>
            <p:cNvSpPr txBox="1">
              <a:spLocks noChangeArrowheads="1"/>
            </p:cNvSpPr>
            <p:nvPr/>
          </p:nvSpPr>
          <p:spPr bwMode="auto">
            <a:xfrm>
              <a:off x="1967442" y="2292251"/>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latin typeface="+mn-lt"/>
                  <a:ea typeface="黑体" pitchFamily="2" charset="-122"/>
                </a:rPr>
                <a:t>运输层</a:t>
              </a:r>
            </a:p>
          </p:txBody>
        </p:sp>
        <p:sp>
          <p:nvSpPr>
            <p:cNvPr id="967694" name="Text Box 14"/>
            <p:cNvSpPr txBox="1">
              <a:spLocks noChangeArrowheads="1"/>
            </p:cNvSpPr>
            <p:nvPr/>
          </p:nvSpPr>
          <p:spPr bwMode="auto">
            <a:xfrm>
              <a:off x="5071666" y="2316063"/>
              <a:ext cx="15812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latin typeface="+mn-lt"/>
                  <a:ea typeface="黑体" pitchFamily="2" charset="-122"/>
                </a:rPr>
                <a:t>TCP, UDP</a:t>
              </a:r>
            </a:p>
          </p:txBody>
        </p:sp>
        <p:sp>
          <p:nvSpPr>
            <p:cNvPr id="967695" name="Text Box 15"/>
            <p:cNvSpPr txBox="1">
              <a:spLocks noChangeArrowheads="1"/>
            </p:cNvSpPr>
            <p:nvPr/>
          </p:nvSpPr>
          <p:spPr bwMode="auto">
            <a:xfrm>
              <a:off x="2019035" y="1592163"/>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latin typeface="+mn-lt"/>
                  <a:ea typeface="黑体" pitchFamily="2" charset="-122"/>
                </a:rPr>
                <a:t>应用层</a:t>
              </a:r>
            </a:p>
          </p:txBody>
        </p:sp>
        <p:sp>
          <p:nvSpPr>
            <p:cNvPr id="967696" name="Rectangle 16"/>
            <p:cNvSpPr>
              <a:spLocks noChangeArrowheads="1"/>
            </p:cNvSpPr>
            <p:nvPr/>
          </p:nvSpPr>
          <p:spPr bwMode="auto">
            <a:xfrm>
              <a:off x="3602964" y="2852638"/>
              <a:ext cx="1050792" cy="373063"/>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0099"/>
                  </a:solidFill>
                  <a:latin typeface="+mn-lt"/>
                  <a:ea typeface="黑体" pitchFamily="2" charset="-122"/>
                </a:rPr>
                <a:t>ICMP</a:t>
              </a:r>
            </a:p>
          </p:txBody>
        </p:sp>
        <p:sp>
          <p:nvSpPr>
            <p:cNvPr id="967697" name="Text Box 17"/>
            <p:cNvSpPr txBox="1">
              <a:spLocks noChangeArrowheads="1"/>
            </p:cNvSpPr>
            <p:nvPr/>
          </p:nvSpPr>
          <p:spPr bwMode="auto">
            <a:xfrm>
              <a:off x="5584164" y="3327375"/>
              <a:ext cx="5229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solidFill>
                    <a:srgbClr val="000099"/>
                  </a:solidFill>
                  <a:latin typeface="+mn-lt"/>
                  <a:ea typeface="黑体" pitchFamily="2" charset="-122"/>
                </a:rPr>
                <a:t>IP</a:t>
              </a:r>
            </a:p>
          </p:txBody>
        </p:sp>
        <p:sp>
          <p:nvSpPr>
            <p:cNvPr id="967699" name="Rectangle 19"/>
            <p:cNvSpPr>
              <a:spLocks noChangeArrowheads="1"/>
            </p:cNvSpPr>
            <p:nvPr/>
          </p:nvSpPr>
          <p:spPr bwMode="auto">
            <a:xfrm>
              <a:off x="6867129" y="3814664"/>
              <a:ext cx="957923" cy="373063"/>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0099"/>
                  </a:solidFill>
                  <a:latin typeface="+mn-lt"/>
                  <a:ea typeface="黑体" pitchFamily="2" charset="-122"/>
                </a:rPr>
                <a:t>ARP</a:t>
              </a:r>
            </a:p>
          </p:txBody>
        </p:sp>
        <p:sp>
          <p:nvSpPr>
            <p:cNvPr id="967700" name="Text Box 20"/>
            <p:cNvSpPr txBox="1">
              <a:spLocks noChangeArrowheads="1"/>
            </p:cNvSpPr>
            <p:nvPr/>
          </p:nvSpPr>
          <p:spPr bwMode="auto">
            <a:xfrm>
              <a:off x="4514454" y="4333776"/>
              <a:ext cx="23391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latin typeface="+mn-lt"/>
                  <a:ea typeface="黑体" pitchFamily="2" charset="-122"/>
                </a:rPr>
                <a:t>与各种网络接口</a:t>
              </a:r>
            </a:p>
          </p:txBody>
        </p:sp>
        <p:sp>
          <p:nvSpPr>
            <p:cNvPr id="967701" name="Line 21"/>
            <p:cNvSpPr>
              <a:spLocks noChangeShapeType="1"/>
            </p:cNvSpPr>
            <p:nvPr/>
          </p:nvSpPr>
          <p:spPr bwMode="auto">
            <a:xfrm>
              <a:off x="3511815" y="4278213"/>
              <a:ext cx="4406106" cy="0"/>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7702" name="Line 22"/>
            <p:cNvSpPr>
              <a:spLocks noChangeShapeType="1"/>
            </p:cNvSpPr>
            <p:nvPr/>
          </p:nvSpPr>
          <p:spPr bwMode="auto">
            <a:xfrm>
              <a:off x="1735270" y="2265263"/>
              <a:ext cx="16836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黑体" pitchFamily="2" charset="-122"/>
              </a:endParaRPr>
            </a:p>
          </p:txBody>
        </p:sp>
        <p:sp>
          <p:nvSpPr>
            <p:cNvPr id="967703" name="Line 23"/>
            <p:cNvSpPr>
              <a:spLocks noChangeShapeType="1"/>
            </p:cNvSpPr>
            <p:nvPr/>
          </p:nvSpPr>
          <p:spPr bwMode="auto">
            <a:xfrm>
              <a:off x="1735270" y="2806601"/>
              <a:ext cx="16836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黑体" pitchFamily="2" charset="-122"/>
              </a:endParaRPr>
            </a:p>
          </p:txBody>
        </p:sp>
        <p:sp>
          <p:nvSpPr>
            <p:cNvPr id="967704" name="Line 24"/>
            <p:cNvSpPr>
              <a:spLocks noChangeShapeType="1"/>
            </p:cNvSpPr>
            <p:nvPr/>
          </p:nvSpPr>
          <p:spPr bwMode="auto">
            <a:xfrm>
              <a:off x="1764507" y="4275039"/>
              <a:ext cx="1654440" cy="3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967705" name="Line 25"/>
            <p:cNvSpPr>
              <a:spLocks noChangeShapeType="1"/>
            </p:cNvSpPr>
            <p:nvPr/>
          </p:nvSpPr>
          <p:spPr bwMode="auto">
            <a:xfrm>
              <a:off x="2550452" y="2806601"/>
              <a:ext cx="0" cy="1471612"/>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967706" name="Text Box 26"/>
            <p:cNvSpPr txBox="1">
              <a:spLocks noChangeArrowheads="1"/>
            </p:cNvSpPr>
            <p:nvPr/>
          </p:nvSpPr>
          <p:spPr bwMode="auto">
            <a:xfrm>
              <a:off x="1705014" y="3089177"/>
              <a:ext cx="1723549" cy="83099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000099"/>
                  </a:solidFill>
                  <a:latin typeface="+mn-lt"/>
                  <a:ea typeface="黑体" pitchFamily="2" charset="-122"/>
                </a:rPr>
                <a:t>网络层</a:t>
              </a:r>
            </a:p>
            <a:p>
              <a:pPr algn="ctr"/>
              <a:r>
                <a:rPr kumimoji="1" lang="zh-CN" altLang="en-US" sz="2400" b="1">
                  <a:solidFill>
                    <a:srgbClr val="000099"/>
                  </a:solidFill>
                  <a:latin typeface="+mn-lt"/>
                  <a:ea typeface="黑体" pitchFamily="2" charset="-122"/>
                </a:rPr>
                <a:t>（网际层）</a:t>
              </a:r>
            </a:p>
          </p:txBody>
        </p:sp>
        <p:sp>
          <p:nvSpPr>
            <p:cNvPr id="967707" name="Rectangle 27"/>
            <p:cNvSpPr>
              <a:spLocks noChangeArrowheads="1"/>
            </p:cNvSpPr>
            <p:nvPr/>
          </p:nvSpPr>
          <p:spPr bwMode="auto">
            <a:xfrm>
              <a:off x="4705351" y="2852638"/>
              <a:ext cx="1049073" cy="373063"/>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0099"/>
                  </a:solidFill>
                  <a:latin typeface="+mn-lt"/>
                  <a:ea typeface="黑体" pitchFamily="2" charset="-122"/>
                </a:rPr>
                <a:t>IGMP</a:t>
              </a:r>
            </a:p>
          </p:txBody>
        </p:sp>
        <p:sp>
          <p:nvSpPr>
            <p:cNvPr id="967708" name="Line 28"/>
            <p:cNvSpPr>
              <a:spLocks noChangeShapeType="1"/>
            </p:cNvSpPr>
            <p:nvPr/>
          </p:nvSpPr>
          <p:spPr bwMode="auto">
            <a:xfrm flipV="1">
              <a:off x="1749029" y="1412776"/>
              <a:ext cx="166991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黑体" pitchFamily="2" charset="-122"/>
              </a:endParaRPr>
            </a:p>
          </p:txBody>
        </p:sp>
        <p:sp>
          <p:nvSpPr>
            <p:cNvPr id="967709" name="Line 29"/>
            <p:cNvSpPr>
              <a:spLocks noChangeShapeType="1"/>
            </p:cNvSpPr>
            <p:nvPr/>
          </p:nvSpPr>
          <p:spPr bwMode="auto">
            <a:xfrm>
              <a:off x="1719792" y="4821138"/>
              <a:ext cx="169915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a typeface="黑体" pitchFamily="2" charset="-122"/>
              </a:endParaRPr>
            </a:p>
          </p:txBody>
        </p:sp>
      </p:grpSp>
    </p:spTree>
    <p:extLst>
      <p:ext uri="{BB962C8B-B14F-4D97-AF65-F5344CB8AC3E}">
        <p14:creationId xmlns:p14="http://schemas.microsoft.com/office/powerpoint/2010/main" val="4253048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5" name="Rectangle 3"/>
          <p:cNvSpPr>
            <a:spLocks noGrp="1" noChangeArrowheads="1"/>
          </p:cNvSpPr>
          <p:nvPr>
            <p:ph type="title"/>
          </p:nvPr>
        </p:nvSpPr>
        <p:spPr/>
        <p:txBody>
          <a:bodyPr/>
          <a:lstStyle/>
          <a:p>
            <a:r>
              <a:rPr lang="zh-CN" altLang="en-US" dirty="0"/>
              <a:t>概述：网络互连设备与路由器（</a:t>
            </a:r>
            <a:r>
              <a:rPr lang="en-US" altLang="zh-CN" dirty="0"/>
              <a:t>1</a:t>
            </a:r>
            <a:r>
              <a:rPr lang="zh-CN" altLang="en-US" dirty="0"/>
              <a:t>） </a:t>
            </a:r>
          </a:p>
        </p:txBody>
      </p:sp>
      <p:sp>
        <p:nvSpPr>
          <p:cNvPr id="351234" name="Rectangle 2"/>
          <p:cNvSpPr>
            <a:spLocks noGrp="1" noChangeArrowheads="1"/>
          </p:cNvSpPr>
          <p:nvPr>
            <p:ph idx="1"/>
          </p:nvPr>
        </p:nvSpPr>
        <p:spPr/>
        <p:txBody>
          <a:bodyPr/>
          <a:lstStyle/>
          <a:p>
            <a:pPr>
              <a:lnSpc>
                <a:spcPct val="120000"/>
              </a:lnSpc>
            </a:pPr>
            <a:r>
              <a:rPr lang="zh-CN" altLang="en-US" dirty="0"/>
              <a:t>将网络互相连接起来要使用一些中间设备。 </a:t>
            </a:r>
            <a:endParaRPr lang="en-US" altLang="zh-CN" dirty="0">
              <a:solidFill>
                <a:schemeClr val="hlink"/>
              </a:solidFill>
            </a:endParaRPr>
          </a:p>
          <a:p>
            <a:pPr>
              <a:lnSpc>
                <a:spcPct val="120000"/>
              </a:lnSpc>
            </a:pPr>
            <a:r>
              <a:rPr lang="zh-CN" altLang="en-US" dirty="0"/>
              <a:t>中间设备又称为</a:t>
            </a:r>
            <a:r>
              <a:rPr lang="zh-CN" altLang="en-US" dirty="0">
                <a:solidFill>
                  <a:srgbClr val="FF0000"/>
                </a:solidFill>
              </a:rPr>
              <a:t>中间系统</a:t>
            </a:r>
            <a:r>
              <a:rPr lang="zh-CN" altLang="en-US" dirty="0"/>
              <a:t>或</a:t>
            </a:r>
            <a:r>
              <a:rPr lang="zh-CN" altLang="en-US" dirty="0">
                <a:solidFill>
                  <a:srgbClr val="FF0000"/>
                </a:solidFill>
              </a:rPr>
              <a:t>中继 </a:t>
            </a:r>
            <a:r>
              <a:rPr lang="en-US" altLang="zh-CN" dirty="0">
                <a:solidFill>
                  <a:srgbClr val="FF0000"/>
                </a:solidFill>
              </a:rPr>
              <a:t>(relay)</a:t>
            </a:r>
            <a:r>
              <a:rPr lang="zh-CN" altLang="en-US" dirty="0">
                <a:solidFill>
                  <a:srgbClr val="FF0000"/>
                </a:solidFill>
              </a:rPr>
              <a:t>系统。</a:t>
            </a:r>
            <a:endParaRPr lang="en-US" altLang="zh-CN" dirty="0">
              <a:solidFill>
                <a:srgbClr val="FF0000"/>
              </a:solidFill>
            </a:endParaRPr>
          </a:p>
          <a:p>
            <a:pPr>
              <a:lnSpc>
                <a:spcPct val="120000"/>
              </a:lnSpc>
            </a:pPr>
            <a:r>
              <a:rPr lang="zh-CN" altLang="zh-CN" dirty="0"/>
              <a:t>有以下</a:t>
            </a:r>
            <a:r>
              <a:rPr lang="zh-CN" altLang="en-US" dirty="0"/>
              <a:t>五</a:t>
            </a:r>
            <a:r>
              <a:rPr lang="zh-CN" altLang="zh-CN" dirty="0"/>
              <a:t>种不同的中间设备：</a:t>
            </a:r>
            <a:endParaRPr lang="zh-CN" altLang="en-US" dirty="0"/>
          </a:p>
          <a:p>
            <a:pPr lvl="1">
              <a:lnSpc>
                <a:spcPct val="120000"/>
              </a:lnSpc>
            </a:pPr>
            <a:r>
              <a:rPr lang="zh-CN" altLang="en-US" dirty="0">
                <a:solidFill>
                  <a:srgbClr val="0000FF"/>
                </a:solidFill>
                <a:latin typeface="Arial" charset="0"/>
                <a:ea typeface="黑体" pitchFamily="2" charset="-122"/>
              </a:rPr>
              <a:t>物理层</a:t>
            </a:r>
            <a:r>
              <a:rPr lang="zh-CN" altLang="en-US" dirty="0">
                <a:latin typeface="Arial" charset="0"/>
                <a:ea typeface="黑体" pitchFamily="2" charset="-122"/>
              </a:rPr>
              <a:t>中继系统：</a:t>
            </a:r>
            <a:r>
              <a:rPr lang="zh-CN" altLang="en-US" dirty="0">
                <a:solidFill>
                  <a:srgbClr val="FF0000"/>
                </a:solidFill>
                <a:latin typeface="Arial" charset="0"/>
                <a:ea typeface="黑体" pitchFamily="2" charset="-122"/>
              </a:rPr>
              <a:t>转发器 </a:t>
            </a:r>
            <a:r>
              <a:rPr lang="en-US" altLang="zh-CN" dirty="0">
                <a:latin typeface="Arial" charset="0"/>
                <a:ea typeface="黑体" pitchFamily="2" charset="-122"/>
              </a:rPr>
              <a:t>(repeater)</a:t>
            </a:r>
            <a:r>
              <a:rPr lang="zh-CN" altLang="en-US" dirty="0">
                <a:latin typeface="Arial" charset="0"/>
                <a:ea typeface="黑体" pitchFamily="2" charset="-122"/>
              </a:rPr>
              <a:t>。</a:t>
            </a:r>
          </a:p>
          <a:p>
            <a:pPr lvl="1">
              <a:lnSpc>
                <a:spcPct val="120000"/>
              </a:lnSpc>
            </a:pPr>
            <a:r>
              <a:rPr lang="zh-CN" altLang="en-US" dirty="0">
                <a:solidFill>
                  <a:srgbClr val="0000FF"/>
                </a:solidFill>
                <a:latin typeface="Arial" charset="0"/>
                <a:ea typeface="黑体" pitchFamily="2" charset="-122"/>
              </a:rPr>
              <a:t>数据链路层</a:t>
            </a:r>
            <a:r>
              <a:rPr lang="zh-CN" altLang="en-US" dirty="0">
                <a:latin typeface="Arial" charset="0"/>
                <a:ea typeface="黑体" pitchFamily="2" charset="-122"/>
              </a:rPr>
              <a:t>中继系统：</a:t>
            </a:r>
            <a:r>
              <a:rPr lang="zh-CN" altLang="en-US" dirty="0">
                <a:solidFill>
                  <a:srgbClr val="FF0000"/>
                </a:solidFill>
                <a:latin typeface="Arial" charset="0"/>
                <a:ea typeface="黑体" pitchFamily="2" charset="-122"/>
              </a:rPr>
              <a:t>网桥 </a:t>
            </a:r>
            <a:r>
              <a:rPr lang="zh-CN" altLang="en-US" dirty="0">
                <a:latin typeface="Arial" charset="0"/>
                <a:ea typeface="黑体" pitchFamily="2" charset="-122"/>
              </a:rPr>
              <a:t>或 </a:t>
            </a:r>
            <a:r>
              <a:rPr lang="zh-CN" altLang="en-US" dirty="0">
                <a:solidFill>
                  <a:srgbClr val="FF0000"/>
                </a:solidFill>
                <a:latin typeface="Arial" charset="0"/>
                <a:ea typeface="黑体" pitchFamily="2" charset="-122"/>
              </a:rPr>
              <a:t>桥接器 </a:t>
            </a:r>
            <a:r>
              <a:rPr lang="en-US" altLang="zh-CN" dirty="0">
                <a:latin typeface="Arial" charset="0"/>
                <a:ea typeface="黑体" pitchFamily="2" charset="-122"/>
              </a:rPr>
              <a:t>(bridge)</a:t>
            </a:r>
            <a:r>
              <a:rPr lang="zh-CN" altLang="en-US" dirty="0">
                <a:latin typeface="Arial" charset="0"/>
                <a:ea typeface="黑体" pitchFamily="2" charset="-122"/>
              </a:rPr>
              <a:t>。</a:t>
            </a:r>
          </a:p>
          <a:p>
            <a:pPr lvl="1">
              <a:lnSpc>
                <a:spcPct val="120000"/>
              </a:lnSpc>
            </a:pPr>
            <a:r>
              <a:rPr lang="zh-CN" altLang="en-US" dirty="0">
                <a:solidFill>
                  <a:srgbClr val="0000FF"/>
                </a:solidFill>
                <a:latin typeface="Arial" charset="0"/>
                <a:ea typeface="黑体" pitchFamily="2" charset="-122"/>
              </a:rPr>
              <a:t>网络层</a:t>
            </a:r>
            <a:r>
              <a:rPr lang="zh-CN" altLang="en-US" dirty="0">
                <a:latin typeface="Arial" charset="0"/>
                <a:ea typeface="黑体" pitchFamily="2" charset="-122"/>
              </a:rPr>
              <a:t>中继系统：</a:t>
            </a:r>
            <a:r>
              <a:rPr lang="zh-CN" altLang="en-US" dirty="0">
                <a:solidFill>
                  <a:srgbClr val="FF0000"/>
                </a:solidFill>
                <a:latin typeface="Arial" charset="0"/>
                <a:ea typeface="黑体" pitchFamily="2" charset="-122"/>
              </a:rPr>
              <a:t>路由器 </a:t>
            </a:r>
            <a:r>
              <a:rPr lang="en-US" altLang="zh-CN" dirty="0">
                <a:latin typeface="Arial" charset="0"/>
                <a:ea typeface="黑体" pitchFamily="2" charset="-122"/>
              </a:rPr>
              <a:t>(router)</a:t>
            </a:r>
            <a:r>
              <a:rPr lang="zh-CN" altLang="en-US" dirty="0">
                <a:latin typeface="Arial" charset="0"/>
                <a:ea typeface="黑体" pitchFamily="2" charset="-122"/>
              </a:rPr>
              <a:t>。</a:t>
            </a:r>
          </a:p>
          <a:p>
            <a:pPr lvl="1">
              <a:lnSpc>
                <a:spcPct val="120000"/>
              </a:lnSpc>
            </a:pPr>
            <a:r>
              <a:rPr lang="zh-CN" altLang="en-US" dirty="0">
                <a:latin typeface="Arial" charset="0"/>
                <a:ea typeface="黑体" pitchFamily="2" charset="-122"/>
              </a:rPr>
              <a:t>网桥和路由器的</a:t>
            </a:r>
            <a:r>
              <a:rPr lang="zh-CN" altLang="en-US" dirty="0">
                <a:solidFill>
                  <a:srgbClr val="0000FF"/>
                </a:solidFill>
                <a:latin typeface="Arial" charset="0"/>
                <a:ea typeface="黑体" pitchFamily="2" charset="-122"/>
              </a:rPr>
              <a:t>混合物</a:t>
            </a:r>
            <a:r>
              <a:rPr lang="zh-CN" altLang="en-US" dirty="0">
                <a:latin typeface="Arial" charset="0"/>
                <a:ea typeface="黑体" pitchFamily="2" charset="-122"/>
              </a:rPr>
              <a:t>：</a:t>
            </a:r>
            <a:r>
              <a:rPr lang="zh-CN" altLang="en-US" dirty="0">
                <a:solidFill>
                  <a:srgbClr val="FF0000"/>
                </a:solidFill>
                <a:latin typeface="Arial" charset="0"/>
                <a:ea typeface="黑体" pitchFamily="2" charset="-122"/>
              </a:rPr>
              <a:t>桥路器 </a:t>
            </a:r>
            <a:r>
              <a:rPr lang="en-US" altLang="zh-CN" dirty="0">
                <a:latin typeface="Arial" charset="0"/>
                <a:ea typeface="黑体" pitchFamily="2" charset="-122"/>
              </a:rPr>
              <a:t>(</a:t>
            </a:r>
            <a:r>
              <a:rPr lang="en-US" altLang="zh-CN" dirty="0" err="1">
                <a:latin typeface="Arial" charset="0"/>
                <a:ea typeface="黑体" pitchFamily="2" charset="-122"/>
              </a:rPr>
              <a:t>brouter</a:t>
            </a:r>
            <a:r>
              <a:rPr lang="en-US" altLang="zh-CN" dirty="0">
                <a:latin typeface="Arial" charset="0"/>
                <a:ea typeface="黑体" pitchFamily="2" charset="-122"/>
              </a:rPr>
              <a:t>)</a:t>
            </a:r>
            <a:r>
              <a:rPr lang="zh-CN" altLang="en-US" dirty="0">
                <a:latin typeface="Arial" charset="0"/>
                <a:ea typeface="黑体" pitchFamily="2" charset="-122"/>
              </a:rPr>
              <a:t>。</a:t>
            </a:r>
          </a:p>
          <a:p>
            <a:pPr lvl="1">
              <a:lnSpc>
                <a:spcPct val="120000"/>
              </a:lnSpc>
            </a:pPr>
            <a:r>
              <a:rPr lang="zh-CN" altLang="en-US" dirty="0">
                <a:solidFill>
                  <a:srgbClr val="0000FF"/>
                </a:solidFill>
                <a:latin typeface="Arial" charset="0"/>
                <a:ea typeface="黑体" pitchFamily="2" charset="-122"/>
              </a:rPr>
              <a:t>网络层以上</a:t>
            </a:r>
            <a:r>
              <a:rPr lang="zh-CN" altLang="en-US" dirty="0">
                <a:latin typeface="Arial" charset="0"/>
                <a:ea typeface="黑体" pitchFamily="2" charset="-122"/>
              </a:rPr>
              <a:t>的中继系统：</a:t>
            </a:r>
            <a:r>
              <a:rPr lang="zh-CN" altLang="en-US" dirty="0">
                <a:solidFill>
                  <a:srgbClr val="FF0000"/>
                </a:solidFill>
                <a:latin typeface="Arial" charset="0"/>
                <a:ea typeface="黑体" pitchFamily="2" charset="-122"/>
              </a:rPr>
              <a:t>网关 </a:t>
            </a:r>
            <a:r>
              <a:rPr lang="en-US" altLang="zh-CN" dirty="0">
                <a:latin typeface="Arial" charset="0"/>
                <a:ea typeface="黑体" pitchFamily="2" charset="-122"/>
              </a:rPr>
              <a:t>(gateway)</a:t>
            </a:r>
            <a:r>
              <a:rPr lang="zh-CN" altLang="en-US" dirty="0">
                <a:latin typeface="Arial" charset="0"/>
                <a:ea typeface="黑体" pitchFamily="2" charset="-122"/>
              </a:rPr>
              <a:t>。</a:t>
            </a:r>
            <a:r>
              <a:rPr lang="zh-CN" altLang="en-US" dirty="0"/>
              <a:t>  </a:t>
            </a:r>
          </a:p>
        </p:txBody>
      </p:sp>
    </p:spTree>
    <p:extLst>
      <p:ext uri="{BB962C8B-B14F-4D97-AF65-F5344CB8AC3E}">
        <p14:creationId xmlns:p14="http://schemas.microsoft.com/office/powerpoint/2010/main" val="3359864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9" name="Rectangle 3"/>
          <p:cNvSpPr>
            <a:spLocks noGrp="1" noChangeArrowheads="1"/>
          </p:cNvSpPr>
          <p:nvPr>
            <p:ph type="title"/>
          </p:nvPr>
        </p:nvSpPr>
        <p:spPr/>
        <p:txBody>
          <a:bodyPr/>
          <a:lstStyle/>
          <a:p>
            <a:r>
              <a:rPr lang="zh-CN" altLang="en-US" dirty="0"/>
              <a:t>概述：网络互连设备与路由器（</a:t>
            </a:r>
            <a:r>
              <a:rPr lang="en-US" altLang="zh-CN" dirty="0"/>
              <a:t>2</a:t>
            </a:r>
            <a:r>
              <a:rPr lang="zh-CN" altLang="en-US" dirty="0"/>
              <a:t>）</a:t>
            </a:r>
          </a:p>
        </p:txBody>
      </p:sp>
      <p:sp>
        <p:nvSpPr>
          <p:cNvPr id="352258" name="Rectangle 2"/>
          <p:cNvSpPr>
            <a:spLocks noGrp="1" noChangeArrowheads="1"/>
          </p:cNvSpPr>
          <p:nvPr>
            <p:ph idx="1"/>
          </p:nvPr>
        </p:nvSpPr>
        <p:spPr/>
        <p:txBody>
          <a:bodyPr/>
          <a:lstStyle/>
          <a:p>
            <a:r>
              <a:rPr lang="zh-CN" altLang="en-US" dirty="0"/>
              <a:t>当中继系统是转发器或网桥时，一般并不称之为网络互连，因为这仅仅是把一个网络扩大了，而这仍然是一个网络。 </a:t>
            </a:r>
          </a:p>
          <a:p>
            <a:r>
              <a:rPr lang="zh-CN" altLang="en-US" dirty="0"/>
              <a:t>网关由于比较复杂，目前使用得较少。</a:t>
            </a:r>
          </a:p>
          <a:p>
            <a:r>
              <a:rPr lang="zh-CN" altLang="zh-CN" dirty="0">
                <a:solidFill>
                  <a:srgbClr val="FF0000"/>
                </a:solidFill>
              </a:rPr>
              <a:t>网络互连</a:t>
            </a:r>
            <a:r>
              <a:rPr lang="zh-CN" altLang="en-US" dirty="0">
                <a:solidFill>
                  <a:srgbClr val="FF0000"/>
                </a:solidFill>
              </a:rPr>
              <a:t>都是指用路由器进行</a:t>
            </a:r>
            <a:r>
              <a:rPr lang="zh-CN" altLang="zh-CN" dirty="0">
                <a:solidFill>
                  <a:srgbClr val="FF0000"/>
                </a:solidFill>
              </a:rPr>
              <a:t>网络互连和路由选择</a:t>
            </a:r>
            <a:r>
              <a:rPr lang="zh-CN" altLang="en-US" dirty="0">
                <a:solidFill>
                  <a:srgbClr val="FF0000"/>
                </a:solidFill>
              </a:rPr>
              <a:t>。</a:t>
            </a:r>
          </a:p>
          <a:p>
            <a:r>
              <a:rPr lang="zh-CN" altLang="en-US" dirty="0"/>
              <a:t>由于历史的原因，许多有关 </a:t>
            </a:r>
            <a:r>
              <a:rPr lang="en-US" altLang="zh-CN" dirty="0"/>
              <a:t>TCP/IP</a:t>
            </a:r>
            <a:r>
              <a:rPr lang="en-US" altLang="zh-CN" b="1" dirty="0"/>
              <a:t> </a:t>
            </a:r>
            <a:r>
              <a:rPr lang="zh-CN" altLang="en-US" dirty="0"/>
              <a:t>的文献将网络层使用的路由器称为</a:t>
            </a:r>
            <a:r>
              <a:rPr lang="zh-CN" altLang="en-US" dirty="0">
                <a:solidFill>
                  <a:srgbClr val="FF0000"/>
                </a:solidFill>
              </a:rPr>
              <a:t>网关。 </a:t>
            </a:r>
            <a:r>
              <a:rPr lang="zh-CN" altLang="en-US" dirty="0"/>
              <a:t>  </a:t>
            </a:r>
          </a:p>
          <a:p>
            <a:endParaRPr lang="en-US" altLang="zh-CN" dirty="0"/>
          </a:p>
        </p:txBody>
      </p:sp>
    </p:spTree>
    <p:extLst>
      <p:ext uri="{BB962C8B-B14F-4D97-AF65-F5344CB8AC3E}">
        <p14:creationId xmlns:p14="http://schemas.microsoft.com/office/powerpoint/2010/main" val="1062665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7" name="Rectangle 3"/>
          <p:cNvSpPr>
            <a:spLocks noGrp="1" noChangeArrowheads="1"/>
          </p:cNvSpPr>
          <p:nvPr>
            <p:ph type="title"/>
          </p:nvPr>
        </p:nvSpPr>
        <p:spPr/>
        <p:txBody>
          <a:bodyPr/>
          <a:lstStyle/>
          <a:p>
            <a:r>
              <a:rPr lang="zh-CN" altLang="en-US" dirty="0"/>
              <a:t>概述：虚拟互连网络（</a:t>
            </a:r>
            <a:r>
              <a:rPr lang="en-US" altLang="zh-CN" dirty="0"/>
              <a:t>1</a:t>
            </a:r>
            <a:r>
              <a:rPr lang="zh-CN" altLang="en-US" dirty="0"/>
              <a:t>） </a:t>
            </a:r>
          </a:p>
        </p:txBody>
      </p:sp>
      <p:grpSp>
        <p:nvGrpSpPr>
          <p:cNvPr id="5" name="组合 4"/>
          <p:cNvGrpSpPr/>
          <p:nvPr/>
        </p:nvGrpSpPr>
        <p:grpSpPr>
          <a:xfrm>
            <a:off x="472116" y="1268760"/>
            <a:ext cx="9103164" cy="4566121"/>
            <a:chOff x="472116" y="1268760"/>
            <a:chExt cx="9103164" cy="4566121"/>
          </a:xfrm>
        </p:grpSpPr>
        <p:grpSp>
          <p:nvGrpSpPr>
            <p:cNvPr id="4" name="组合 3"/>
            <p:cNvGrpSpPr/>
            <p:nvPr/>
          </p:nvGrpSpPr>
          <p:grpSpPr>
            <a:xfrm>
              <a:off x="472116" y="1268760"/>
              <a:ext cx="4192852" cy="4566121"/>
              <a:chOff x="472116" y="1268760"/>
              <a:chExt cx="4192852" cy="4566121"/>
            </a:xfrm>
          </p:grpSpPr>
          <p:sp>
            <p:nvSpPr>
              <p:cNvPr id="354316" name="Oval 12"/>
              <p:cNvSpPr>
                <a:spLocks noChangeArrowheads="1"/>
              </p:cNvSpPr>
              <p:nvPr/>
            </p:nvSpPr>
            <p:spPr bwMode="auto">
              <a:xfrm>
                <a:off x="3204864" y="3000723"/>
                <a:ext cx="1460104" cy="1270000"/>
              </a:xfrm>
              <a:prstGeom prst="ellipse">
                <a:avLst/>
              </a:prstGeom>
              <a:solidFill>
                <a:srgbClr val="FFFFFF"/>
              </a:solidFill>
              <a:ln w="9525">
                <a:solidFill>
                  <a:srgbClr val="000000"/>
                </a:solidFill>
                <a:prstDash val="dash"/>
                <a:round/>
                <a:headEnd/>
                <a:tailEnd/>
              </a:ln>
            </p:spPr>
            <p:txBody>
              <a:bodyPr/>
              <a:lstStyle/>
              <a:p>
                <a:endParaRPr lang="zh-CN" altLang="en-US" b="1">
                  <a:solidFill>
                    <a:srgbClr val="000099"/>
                  </a:solidFill>
                  <a:latin typeface="+mn-lt"/>
                  <a:ea typeface="黑体" pitchFamily="2" charset="-122"/>
                </a:endParaRPr>
              </a:p>
            </p:txBody>
          </p:sp>
          <p:sp>
            <p:nvSpPr>
              <p:cNvPr id="354317" name="Oval 13"/>
              <p:cNvSpPr>
                <a:spLocks noChangeArrowheads="1"/>
              </p:cNvSpPr>
              <p:nvPr/>
            </p:nvSpPr>
            <p:spPr bwMode="auto">
              <a:xfrm>
                <a:off x="472116" y="2594323"/>
                <a:ext cx="1432586" cy="1276350"/>
              </a:xfrm>
              <a:prstGeom prst="ellipse">
                <a:avLst/>
              </a:prstGeom>
              <a:solidFill>
                <a:srgbClr val="FFFFFF"/>
              </a:solidFill>
              <a:ln w="9525">
                <a:solidFill>
                  <a:srgbClr val="000000"/>
                </a:solidFill>
                <a:prstDash val="dash"/>
                <a:round/>
                <a:headEnd/>
                <a:tailEnd/>
              </a:ln>
            </p:spPr>
            <p:txBody>
              <a:bodyPr/>
              <a:lstStyle/>
              <a:p>
                <a:endParaRPr lang="zh-CN" altLang="en-US" b="1">
                  <a:solidFill>
                    <a:srgbClr val="000099"/>
                  </a:solidFill>
                  <a:latin typeface="+mn-lt"/>
                  <a:ea typeface="黑体" pitchFamily="2" charset="-122"/>
                </a:endParaRPr>
              </a:p>
            </p:txBody>
          </p:sp>
          <p:sp>
            <p:nvSpPr>
              <p:cNvPr id="354318" name="Oval 14"/>
              <p:cNvSpPr>
                <a:spLocks noChangeArrowheads="1"/>
              </p:cNvSpPr>
              <p:nvPr/>
            </p:nvSpPr>
            <p:spPr bwMode="auto">
              <a:xfrm>
                <a:off x="2976133" y="2148236"/>
                <a:ext cx="1458383" cy="1230313"/>
              </a:xfrm>
              <a:prstGeom prst="ellipse">
                <a:avLst/>
              </a:prstGeom>
              <a:solidFill>
                <a:srgbClr val="FFFFFF"/>
              </a:solidFill>
              <a:ln w="9525">
                <a:solidFill>
                  <a:srgbClr val="000000"/>
                </a:solidFill>
                <a:prstDash val="dash"/>
                <a:round/>
                <a:headEnd/>
                <a:tailEnd/>
              </a:ln>
            </p:spPr>
            <p:txBody>
              <a:bodyPr/>
              <a:lstStyle/>
              <a:p>
                <a:endParaRPr lang="zh-CN" altLang="en-US" b="1">
                  <a:solidFill>
                    <a:srgbClr val="000099"/>
                  </a:solidFill>
                  <a:latin typeface="+mn-lt"/>
                  <a:ea typeface="黑体" pitchFamily="2" charset="-122"/>
                </a:endParaRPr>
              </a:p>
            </p:txBody>
          </p:sp>
          <p:sp>
            <p:nvSpPr>
              <p:cNvPr id="354319" name="Oval 15"/>
              <p:cNvSpPr>
                <a:spLocks noChangeArrowheads="1"/>
              </p:cNvSpPr>
              <p:nvPr/>
            </p:nvSpPr>
            <p:spPr bwMode="auto">
              <a:xfrm>
                <a:off x="2210825" y="3243610"/>
                <a:ext cx="1458383" cy="1296988"/>
              </a:xfrm>
              <a:prstGeom prst="ellipse">
                <a:avLst/>
              </a:prstGeom>
              <a:solidFill>
                <a:srgbClr val="FFFFFF"/>
              </a:solidFill>
              <a:ln w="9525">
                <a:solidFill>
                  <a:srgbClr val="000000"/>
                </a:solidFill>
                <a:prstDash val="dash"/>
                <a:round/>
                <a:headEnd/>
                <a:tailEnd/>
              </a:ln>
            </p:spPr>
            <p:txBody>
              <a:bodyPr/>
              <a:lstStyle/>
              <a:p>
                <a:endParaRPr lang="zh-CN" altLang="en-US" b="1">
                  <a:solidFill>
                    <a:srgbClr val="000099"/>
                  </a:solidFill>
                  <a:latin typeface="+mn-lt"/>
                  <a:ea typeface="黑体" pitchFamily="2" charset="-122"/>
                </a:endParaRPr>
              </a:p>
            </p:txBody>
          </p:sp>
          <p:sp>
            <p:nvSpPr>
              <p:cNvPr id="354320" name="Oval 16"/>
              <p:cNvSpPr>
                <a:spLocks noChangeArrowheads="1"/>
              </p:cNvSpPr>
              <p:nvPr/>
            </p:nvSpPr>
            <p:spPr bwMode="auto">
              <a:xfrm>
                <a:off x="957097" y="3130898"/>
                <a:ext cx="1456663" cy="1230312"/>
              </a:xfrm>
              <a:prstGeom prst="ellipse">
                <a:avLst/>
              </a:prstGeom>
              <a:solidFill>
                <a:srgbClr val="FFFFFF"/>
              </a:solidFill>
              <a:ln w="9525">
                <a:solidFill>
                  <a:srgbClr val="000000"/>
                </a:solidFill>
                <a:prstDash val="dash"/>
                <a:round/>
                <a:headEnd/>
                <a:tailEnd/>
              </a:ln>
            </p:spPr>
            <p:txBody>
              <a:bodyPr/>
              <a:lstStyle/>
              <a:p>
                <a:endParaRPr lang="zh-CN" altLang="en-US" b="1">
                  <a:solidFill>
                    <a:srgbClr val="000099"/>
                  </a:solidFill>
                  <a:latin typeface="+mn-lt"/>
                  <a:ea typeface="黑体" pitchFamily="2" charset="-122"/>
                </a:endParaRPr>
              </a:p>
            </p:txBody>
          </p:sp>
          <p:sp>
            <p:nvSpPr>
              <p:cNvPr id="354321" name="Oval 17"/>
              <p:cNvSpPr>
                <a:spLocks noChangeArrowheads="1"/>
              </p:cNvSpPr>
              <p:nvPr/>
            </p:nvSpPr>
            <p:spPr bwMode="auto">
              <a:xfrm>
                <a:off x="2081841" y="1970436"/>
                <a:ext cx="1432586" cy="1273175"/>
              </a:xfrm>
              <a:prstGeom prst="ellipse">
                <a:avLst/>
              </a:prstGeom>
              <a:solidFill>
                <a:srgbClr val="FFFFFF"/>
              </a:solidFill>
              <a:ln w="9525">
                <a:solidFill>
                  <a:srgbClr val="000000"/>
                </a:solidFill>
                <a:prstDash val="dash"/>
                <a:round/>
                <a:headEnd/>
                <a:tailEnd/>
              </a:ln>
            </p:spPr>
            <p:txBody>
              <a:bodyPr/>
              <a:lstStyle/>
              <a:p>
                <a:endParaRPr lang="zh-CN" altLang="en-US" b="1">
                  <a:solidFill>
                    <a:srgbClr val="000099"/>
                  </a:solidFill>
                  <a:latin typeface="+mn-lt"/>
                  <a:ea typeface="黑体" pitchFamily="2" charset="-122"/>
                </a:endParaRPr>
              </a:p>
            </p:txBody>
          </p:sp>
          <p:sp>
            <p:nvSpPr>
              <p:cNvPr id="354322" name="Oval 18"/>
              <p:cNvSpPr>
                <a:spLocks noChangeArrowheads="1"/>
              </p:cNvSpPr>
              <p:nvPr/>
            </p:nvSpPr>
            <p:spPr bwMode="auto">
              <a:xfrm>
                <a:off x="1161752" y="1970435"/>
                <a:ext cx="1432587" cy="1225550"/>
              </a:xfrm>
              <a:prstGeom prst="ellipse">
                <a:avLst/>
              </a:prstGeom>
              <a:solidFill>
                <a:srgbClr val="FFFFFF"/>
              </a:solidFill>
              <a:ln w="9525">
                <a:solidFill>
                  <a:srgbClr val="000000"/>
                </a:solidFill>
                <a:prstDash val="dash"/>
                <a:round/>
                <a:headEnd/>
                <a:tailEnd/>
              </a:ln>
            </p:spPr>
            <p:txBody>
              <a:bodyPr/>
              <a:lstStyle/>
              <a:p>
                <a:endParaRPr lang="zh-CN" altLang="en-US" b="1">
                  <a:solidFill>
                    <a:srgbClr val="000099"/>
                  </a:solidFill>
                  <a:latin typeface="+mn-lt"/>
                  <a:ea typeface="黑体" pitchFamily="2" charset="-122"/>
                </a:endParaRPr>
              </a:p>
            </p:txBody>
          </p:sp>
          <p:sp>
            <p:nvSpPr>
              <p:cNvPr id="354323" name="Oval 19"/>
              <p:cNvSpPr>
                <a:spLocks noChangeArrowheads="1"/>
              </p:cNvSpPr>
              <p:nvPr/>
            </p:nvSpPr>
            <p:spPr bwMode="auto">
              <a:xfrm>
                <a:off x="855629" y="2259361"/>
                <a:ext cx="3475700" cy="1768475"/>
              </a:xfrm>
              <a:prstGeom prst="ellipse">
                <a:avLst/>
              </a:prstGeom>
              <a:solidFill>
                <a:srgbClr val="FFFFFF"/>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endParaRPr lang="zh-CN" altLang="en-US" b="1">
                  <a:solidFill>
                    <a:srgbClr val="000099"/>
                  </a:solidFill>
                  <a:latin typeface="+mn-lt"/>
                  <a:ea typeface="黑体" pitchFamily="2" charset="-122"/>
                </a:endParaRPr>
              </a:p>
            </p:txBody>
          </p:sp>
          <p:sp>
            <p:nvSpPr>
              <p:cNvPr id="354324" name="Line 20"/>
              <p:cNvSpPr>
                <a:spLocks noChangeShapeType="1"/>
              </p:cNvSpPr>
              <p:nvPr/>
            </p:nvSpPr>
            <p:spPr bwMode="auto">
              <a:xfrm>
                <a:off x="2945177" y="1637060"/>
                <a:ext cx="221853" cy="7127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25" name="Line 21"/>
              <p:cNvSpPr>
                <a:spLocks noChangeShapeType="1"/>
              </p:cNvSpPr>
              <p:nvPr/>
            </p:nvSpPr>
            <p:spPr bwMode="auto">
              <a:xfrm>
                <a:off x="2929698" y="3332511"/>
                <a:ext cx="373195" cy="365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26" name="Line 22"/>
              <p:cNvSpPr>
                <a:spLocks noChangeShapeType="1"/>
              </p:cNvSpPr>
              <p:nvPr/>
            </p:nvSpPr>
            <p:spPr bwMode="auto">
              <a:xfrm flipH="1" flipV="1">
                <a:off x="3971891" y="4213573"/>
                <a:ext cx="318162" cy="5889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27" name="Line 23"/>
              <p:cNvSpPr>
                <a:spLocks noChangeShapeType="1"/>
              </p:cNvSpPr>
              <p:nvPr/>
            </p:nvSpPr>
            <p:spPr bwMode="auto">
              <a:xfrm flipH="1">
                <a:off x="3634812" y="1932335"/>
                <a:ext cx="655241" cy="5159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28" name="Line 24"/>
              <p:cNvSpPr>
                <a:spLocks noChangeShapeType="1"/>
              </p:cNvSpPr>
              <p:nvPr/>
            </p:nvSpPr>
            <p:spPr bwMode="auto">
              <a:xfrm flipH="1" flipV="1">
                <a:off x="2697527" y="3527773"/>
                <a:ext cx="553773" cy="14224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29" name="Line 25"/>
              <p:cNvSpPr>
                <a:spLocks noChangeShapeType="1"/>
              </p:cNvSpPr>
              <p:nvPr/>
            </p:nvSpPr>
            <p:spPr bwMode="auto">
              <a:xfrm flipH="1" flipV="1">
                <a:off x="1837630" y="4127849"/>
                <a:ext cx="294084" cy="6746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30" name="Line 26"/>
              <p:cNvSpPr>
                <a:spLocks noChangeShapeType="1"/>
              </p:cNvSpPr>
              <p:nvPr/>
            </p:nvSpPr>
            <p:spPr bwMode="auto">
              <a:xfrm flipV="1">
                <a:off x="1012130" y="4177060"/>
                <a:ext cx="411030" cy="7000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31" name="Line 27"/>
              <p:cNvSpPr>
                <a:spLocks noChangeShapeType="1"/>
              </p:cNvSpPr>
              <p:nvPr/>
            </p:nvSpPr>
            <p:spPr bwMode="auto">
              <a:xfrm>
                <a:off x="1170351" y="1857724"/>
                <a:ext cx="266567" cy="3571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32" name="Freeform 28"/>
              <p:cNvSpPr>
                <a:spLocks/>
              </p:cNvSpPr>
              <p:nvPr/>
            </p:nvSpPr>
            <p:spPr bwMode="auto">
              <a:xfrm>
                <a:off x="2315733" y="2130774"/>
                <a:ext cx="189177" cy="173037"/>
              </a:xfrm>
              <a:custGeom>
                <a:avLst/>
                <a:gdLst>
                  <a:gd name="T0" fmla="*/ 0 w 112"/>
                  <a:gd name="T1" fmla="*/ 6 h 113"/>
                  <a:gd name="T2" fmla="*/ 48 w 112"/>
                  <a:gd name="T3" fmla="*/ 22 h 113"/>
                  <a:gd name="T4" fmla="*/ 24 w 112"/>
                  <a:gd name="T5" fmla="*/ 6 h 113"/>
                  <a:gd name="T6" fmla="*/ 64 w 112"/>
                  <a:gd name="T7" fmla="*/ 14 h 113"/>
                  <a:gd name="T8" fmla="*/ 112 w 112"/>
                  <a:gd name="T9" fmla="*/ 78 h 113"/>
                  <a:gd name="T10" fmla="*/ 104 w 112"/>
                  <a:gd name="T11" fmla="*/ 102 h 113"/>
                  <a:gd name="T12" fmla="*/ 64 w 112"/>
                  <a:gd name="T13" fmla="*/ 70 h 113"/>
                  <a:gd name="T14" fmla="*/ 16 w 112"/>
                  <a:gd name="T15" fmla="*/ 38 h 113"/>
                  <a:gd name="T16" fmla="*/ 0 w 112"/>
                  <a:gd name="T1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 h="113">
                    <a:moveTo>
                      <a:pt x="0" y="6"/>
                    </a:moveTo>
                    <a:cubicBezTo>
                      <a:pt x="16" y="11"/>
                      <a:pt x="62" y="31"/>
                      <a:pt x="48" y="22"/>
                    </a:cubicBezTo>
                    <a:cubicBezTo>
                      <a:pt x="40" y="17"/>
                      <a:pt x="15" y="10"/>
                      <a:pt x="24" y="6"/>
                    </a:cubicBezTo>
                    <a:cubicBezTo>
                      <a:pt x="36" y="0"/>
                      <a:pt x="51" y="11"/>
                      <a:pt x="64" y="14"/>
                    </a:cubicBezTo>
                    <a:cubicBezTo>
                      <a:pt x="92" y="33"/>
                      <a:pt x="101" y="46"/>
                      <a:pt x="112" y="78"/>
                    </a:cubicBezTo>
                    <a:cubicBezTo>
                      <a:pt x="109" y="86"/>
                      <a:pt x="112" y="98"/>
                      <a:pt x="104" y="102"/>
                    </a:cubicBezTo>
                    <a:cubicBezTo>
                      <a:pt x="83" y="113"/>
                      <a:pt x="71" y="76"/>
                      <a:pt x="64" y="70"/>
                    </a:cubicBezTo>
                    <a:cubicBezTo>
                      <a:pt x="50" y="57"/>
                      <a:pt x="16" y="38"/>
                      <a:pt x="16" y="38"/>
                    </a:cubicBezTo>
                    <a:cubicBezTo>
                      <a:pt x="7" y="10"/>
                      <a:pt x="14" y="20"/>
                      <a:pt x="0" y="6"/>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33" name="Freeform 29"/>
              <p:cNvSpPr>
                <a:spLocks/>
              </p:cNvSpPr>
              <p:nvPr/>
            </p:nvSpPr>
            <p:spPr bwMode="auto">
              <a:xfrm>
                <a:off x="871108" y="3454748"/>
                <a:ext cx="208094" cy="341312"/>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Lst>
                <a:ahLst/>
                <a:cxnLst>
                  <a:cxn ang="0">
                    <a:pos x="T0" y="T1"/>
                  </a:cxn>
                  <a:cxn ang="0">
                    <a:pos x="T2" y="T3"/>
                  </a:cxn>
                  <a:cxn ang="0">
                    <a:pos x="T4" y="T5"/>
                  </a:cxn>
                  <a:cxn ang="0">
                    <a:pos x="T6" y="T7"/>
                  </a:cxn>
                  <a:cxn ang="0">
                    <a:pos x="T8" y="T9"/>
                  </a:cxn>
                  <a:cxn ang="0">
                    <a:pos x="T10" y="T11"/>
                  </a:cxn>
                  <a:cxn ang="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34" name="Line 30"/>
              <p:cNvSpPr>
                <a:spLocks noChangeShapeType="1"/>
              </p:cNvSpPr>
              <p:nvPr/>
            </p:nvSpPr>
            <p:spPr bwMode="auto">
              <a:xfrm>
                <a:off x="998373" y="3110260"/>
                <a:ext cx="319881" cy="5159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35" name="Line 31"/>
              <p:cNvSpPr>
                <a:spLocks noChangeShapeType="1"/>
              </p:cNvSpPr>
              <p:nvPr/>
            </p:nvSpPr>
            <p:spPr bwMode="auto">
              <a:xfrm flipV="1">
                <a:off x="1077483" y="2594323"/>
                <a:ext cx="318161" cy="3683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36" name="Line 32"/>
              <p:cNvSpPr>
                <a:spLocks noChangeShapeType="1"/>
              </p:cNvSpPr>
              <p:nvPr/>
            </p:nvSpPr>
            <p:spPr bwMode="auto">
              <a:xfrm>
                <a:off x="2117956" y="2594323"/>
                <a:ext cx="292365" cy="4921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37" name="Line 33"/>
              <p:cNvSpPr>
                <a:spLocks noChangeShapeType="1"/>
              </p:cNvSpPr>
              <p:nvPr/>
            </p:nvSpPr>
            <p:spPr bwMode="auto">
              <a:xfrm flipV="1">
                <a:off x="2637333" y="2570511"/>
                <a:ext cx="386954" cy="619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38" name="Line 34"/>
              <p:cNvSpPr>
                <a:spLocks noChangeShapeType="1"/>
              </p:cNvSpPr>
              <p:nvPr/>
            </p:nvSpPr>
            <p:spPr bwMode="auto">
              <a:xfrm>
                <a:off x="3756918" y="2729261"/>
                <a:ext cx="240771" cy="24606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39" name="Line 35"/>
              <p:cNvSpPr>
                <a:spLocks noChangeShapeType="1"/>
              </p:cNvSpPr>
              <p:nvPr/>
            </p:nvSpPr>
            <p:spPr bwMode="auto">
              <a:xfrm flipH="1">
                <a:off x="3904820" y="3172174"/>
                <a:ext cx="158221" cy="49053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40" name="Line 36"/>
              <p:cNvSpPr>
                <a:spLocks noChangeShapeType="1"/>
              </p:cNvSpPr>
              <p:nvPr/>
            </p:nvSpPr>
            <p:spPr bwMode="auto">
              <a:xfrm>
                <a:off x="3462833" y="3454748"/>
                <a:ext cx="227013" cy="1968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41" name="Line 37"/>
              <p:cNvSpPr>
                <a:spLocks noChangeShapeType="1"/>
              </p:cNvSpPr>
              <p:nvPr/>
            </p:nvSpPr>
            <p:spPr bwMode="auto">
              <a:xfrm>
                <a:off x="1877185" y="3845274"/>
                <a:ext cx="400712" cy="1476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42" name="Line 38"/>
              <p:cNvSpPr>
                <a:spLocks noChangeShapeType="1"/>
              </p:cNvSpPr>
              <p:nvPr/>
            </p:nvSpPr>
            <p:spPr bwMode="auto">
              <a:xfrm flipV="1">
                <a:off x="2437837" y="3662711"/>
                <a:ext cx="199496" cy="257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43" name="Line 39"/>
              <p:cNvSpPr>
                <a:spLocks noChangeShapeType="1"/>
              </p:cNvSpPr>
              <p:nvPr/>
            </p:nvSpPr>
            <p:spPr bwMode="auto">
              <a:xfrm>
                <a:off x="3397481" y="2816574"/>
                <a:ext cx="27517" cy="4540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44" name="Line 40"/>
              <p:cNvSpPr>
                <a:spLocks noChangeShapeType="1"/>
              </p:cNvSpPr>
              <p:nvPr/>
            </p:nvSpPr>
            <p:spPr bwMode="auto">
              <a:xfrm flipH="1">
                <a:off x="1677689" y="2668935"/>
                <a:ext cx="839258" cy="9937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354345" name="Group 41"/>
              <p:cNvGrpSpPr>
                <a:grpSpLocks/>
              </p:cNvGrpSpPr>
              <p:nvPr/>
            </p:nvGrpSpPr>
            <p:grpSpPr bwMode="auto">
              <a:xfrm>
                <a:off x="2929698" y="2226024"/>
                <a:ext cx="961364" cy="663575"/>
                <a:chOff x="2949" y="196"/>
                <a:chExt cx="941" cy="598"/>
              </a:xfrm>
            </p:grpSpPr>
            <p:sp>
              <p:nvSpPr>
                <p:cNvPr id="354346" name="Oval 4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47" name="Oval 4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48" name="Oval 4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49" name="Oval 45"/>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50" name="Oval 4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51" name="Oval 4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52" name="Oval 4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53" name="Oval 49"/>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54" name="Freeform 5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4355" name="Freeform 5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4356" name="Freeform 5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354357" name="Group 53"/>
              <p:cNvGrpSpPr>
                <a:grpSpLocks/>
              </p:cNvGrpSpPr>
              <p:nvPr/>
            </p:nvGrpSpPr>
            <p:grpSpPr bwMode="auto">
              <a:xfrm>
                <a:off x="3411240" y="3553173"/>
                <a:ext cx="959644" cy="660400"/>
                <a:chOff x="2949" y="196"/>
                <a:chExt cx="941" cy="598"/>
              </a:xfrm>
            </p:grpSpPr>
            <p:sp>
              <p:nvSpPr>
                <p:cNvPr id="354358" name="Oval 5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59" name="Oval 5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60" name="Oval 5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61" name="Oval 57"/>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62" name="Oval 5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63" name="Oval 5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64" name="Oval 6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65" name="Oval 61"/>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66" name="Freeform 6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4367" name="Freeform 6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4368" name="Freeform 6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354369" name="Group 65"/>
              <p:cNvGrpSpPr>
                <a:grpSpLocks/>
              </p:cNvGrpSpPr>
              <p:nvPr/>
            </p:nvGrpSpPr>
            <p:grpSpPr bwMode="auto">
              <a:xfrm>
                <a:off x="2050885" y="3037236"/>
                <a:ext cx="959644" cy="663575"/>
                <a:chOff x="2949" y="196"/>
                <a:chExt cx="941" cy="598"/>
              </a:xfrm>
            </p:grpSpPr>
            <p:sp>
              <p:nvSpPr>
                <p:cNvPr id="354370" name="Oval 6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71" name="Oval 6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72" name="Oval 6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73" name="Oval 69"/>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74" name="Oval 7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75" name="Oval 7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76" name="Oval 7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77" name="Oval 73"/>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78" name="Freeform 7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4379" name="Freeform 7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4380" name="Freeform 7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354381" name="Group 77"/>
              <p:cNvGrpSpPr>
                <a:grpSpLocks/>
              </p:cNvGrpSpPr>
              <p:nvPr/>
            </p:nvGrpSpPr>
            <p:grpSpPr bwMode="auto">
              <a:xfrm>
                <a:off x="1012131" y="3553173"/>
                <a:ext cx="957923" cy="660400"/>
                <a:chOff x="2949" y="196"/>
                <a:chExt cx="941" cy="598"/>
              </a:xfrm>
            </p:grpSpPr>
            <p:sp>
              <p:nvSpPr>
                <p:cNvPr id="354382" name="Oval 7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83" name="Oval 7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84" name="Oval 8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85" name="Oval 81"/>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86" name="Oval 8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87" name="Oval 8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88" name="Oval 8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89" name="Oval 85"/>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90" name="Freeform 8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4391" name="Freeform 8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4392" name="Freeform 8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354393" name="Group 89"/>
              <p:cNvGrpSpPr>
                <a:grpSpLocks/>
              </p:cNvGrpSpPr>
              <p:nvPr/>
            </p:nvGrpSpPr>
            <p:grpSpPr bwMode="auto">
              <a:xfrm>
                <a:off x="1249462" y="2079974"/>
                <a:ext cx="961363" cy="661987"/>
                <a:chOff x="2949" y="196"/>
                <a:chExt cx="941" cy="598"/>
              </a:xfrm>
            </p:grpSpPr>
            <p:sp>
              <p:nvSpPr>
                <p:cNvPr id="354394" name="Oval 9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95" name="Oval 9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96" name="Oval 9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97" name="Oval 93"/>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98" name="Oval 9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99" name="Oval 9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400" name="Oval 9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401" name="Oval 97"/>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402" name="Freeform 9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4403" name="Freeform 9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4404" name="Freeform 10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354405" name="Text Box 101"/>
              <p:cNvSpPr txBox="1">
                <a:spLocks noChangeArrowheads="1"/>
              </p:cNvSpPr>
              <p:nvPr/>
            </p:nvSpPr>
            <p:spPr bwMode="auto">
              <a:xfrm>
                <a:off x="3504108" y="3669061"/>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网络</a:t>
                </a:r>
              </a:p>
            </p:txBody>
          </p:sp>
          <p:sp>
            <p:nvSpPr>
              <p:cNvPr id="354406" name="Text Box 102"/>
              <p:cNvSpPr txBox="1">
                <a:spLocks noChangeArrowheads="1"/>
              </p:cNvSpPr>
              <p:nvPr/>
            </p:nvSpPr>
            <p:spPr bwMode="auto">
              <a:xfrm>
                <a:off x="2112797" y="3180111"/>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网络</a:t>
                </a:r>
              </a:p>
            </p:txBody>
          </p:sp>
          <p:sp>
            <p:nvSpPr>
              <p:cNvPr id="354407" name="Text Box 103"/>
              <p:cNvSpPr txBox="1">
                <a:spLocks noChangeArrowheads="1"/>
              </p:cNvSpPr>
              <p:nvPr/>
            </p:nvSpPr>
            <p:spPr bwMode="auto">
              <a:xfrm>
                <a:off x="1103279" y="3683348"/>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网络</a:t>
                </a:r>
              </a:p>
            </p:txBody>
          </p:sp>
          <p:sp>
            <p:nvSpPr>
              <p:cNvPr id="354408" name="Text Box 104"/>
              <p:cNvSpPr txBox="1">
                <a:spLocks noChangeArrowheads="1"/>
              </p:cNvSpPr>
              <p:nvPr/>
            </p:nvSpPr>
            <p:spPr bwMode="auto">
              <a:xfrm>
                <a:off x="3007090" y="2359374"/>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网络</a:t>
                </a:r>
              </a:p>
            </p:txBody>
          </p:sp>
          <p:sp>
            <p:nvSpPr>
              <p:cNvPr id="354409" name="Text Box 105"/>
              <p:cNvSpPr txBox="1">
                <a:spLocks noChangeArrowheads="1"/>
              </p:cNvSpPr>
              <p:nvPr/>
            </p:nvSpPr>
            <p:spPr bwMode="auto">
              <a:xfrm>
                <a:off x="1319973" y="217998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网络</a:t>
                </a:r>
              </a:p>
            </p:txBody>
          </p:sp>
          <p:sp>
            <p:nvSpPr>
              <p:cNvPr id="354410" name="Text Box 106"/>
              <p:cNvSpPr txBox="1">
                <a:spLocks noChangeArrowheads="1"/>
              </p:cNvSpPr>
              <p:nvPr/>
            </p:nvSpPr>
            <p:spPr bwMode="auto">
              <a:xfrm>
                <a:off x="1784648" y="5373216"/>
                <a:ext cx="18838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dirty="0">
                    <a:latin typeface="+mn-lt"/>
                    <a:ea typeface="黑体" pitchFamily="2" charset="-122"/>
                  </a:rPr>
                  <a:t>(a) </a:t>
                </a:r>
                <a:r>
                  <a:rPr kumimoji="1" lang="zh-CN" altLang="en-US" sz="2400" dirty="0">
                    <a:latin typeface="+mn-lt"/>
                    <a:ea typeface="黑体" pitchFamily="2" charset="-122"/>
                  </a:rPr>
                  <a:t>互连网络</a:t>
                </a:r>
              </a:p>
            </p:txBody>
          </p:sp>
          <p:pic>
            <p:nvPicPr>
              <p:cNvPr id="354412" name="Picture 10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360" y="1489423"/>
                <a:ext cx="55205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13" name="Picture 10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91656" y="2448273"/>
                <a:ext cx="546894"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54419" name="Picture 1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0529" y="4802535"/>
                <a:ext cx="55377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20" name="Picture 1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90943" y="4729510"/>
                <a:ext cx="552054"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21" name="Picture 11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360" y="4729510"/>
                <a:ext cx="55205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22" name="Picture 1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8927" y="1268760"/>
                <a:ext cx="55549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24" name="Picture 1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1002" y="4656486"/>
                <a:ext cx="553773"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25" name="Picture 1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71891" y="1564036"/>
                <a:ext cx="552054"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26" name="Picture 1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84227" y="3184873"/>
                <a:ext cx="546894"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54427" name="Picture 1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91062" y="2889599"/>
                <a:ext cx="546894"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54428" name="Picture 1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31715" y="3773836"/>
                <a:ext cx="546894"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54429" name="Picture 1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0529" y="2889599"/>
                <a:ext cx="546894"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54430" name="Text Box 126"/>
              <p:cNvSpPr txBox="1">
                <a:spLocks noChangeArrowheads="1"/>
              </p:cNvSpPr>
              <p:nvPr/>
            </p:nvSpPr>
            <p:spPr bwMode="auto">
              <a:xfrm>
                <a:off x="1588260" y="1332261"/>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路由器</a:t>
                </a:r>
              </a:p>
            </p:txBody>
          </p:sp>
          <p:sp>
            <p:nvSpPr>
              <p:cNvPr id="354431" name="Line 127"/>
              <p:cNvSpPr>
                <a:spLocks noChangeShapeType="1"/>
              </p:cNvSpPr>
              <p:nvPr/>
            </p:nvSpPr>
            <p:spPr bwMode="auto">
              <a:xfrm>
                <a:off x="2131714" y="1784699"/>
                <a:ext cx="398992" cy="663575"/>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grpSp>
          <p:nvGrpSpPr>
            <p:cNvPr id="3" name="组合 2"/>
            <p:cNvGrpSpPr/>
            <p:nvPr/>
          </p:nvGrpSpPr>
          <p:grpSpPr>
            <a:xfrm>
              <a:off x="5575044" y="1268760"/>
              <a:ext cx="4000236" cy="4566121"/>
              <a:chOff x="5575044" y="1268760"/>
              <a:chExt cx="4000236" cy="4566121"/>
            </a:xfrm>
          </p:grpSpPr>
          <p:sp>
            <p:nvSpPr>
              <p:cNvPr id="354309" name="Line 5"/>
              <p:cNvSpPr>
                <a:spLocks noChangeShapeType="1"/>
              </p:cNvSpPr>
              <p:nvPr/>
            </p:nvSpPr>
            <p:spPr bwMode="auto">
              <a:xfrm>
                <a:off x="7814213" y="1710085"/>
                <a:ext cx="80831" cy="7381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10" name="Line 6"/>
              <p:cNvSpPr>
                <a:spLocks noChangeShapeType="1"/>
              </p:cNvSpPr>
              <p:nvPr/>
            </p:nvSpPr>
            <p:spPr bwMode="auto">
              <a:xfrm flipH="1" flipV="1">
                <a:off x="6720425" y="4140549"/>
                <a:ext cx="295804" cy="6746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11" name="Line 7"/>
              <p:cNvSpPr>
                <a:spLocks noChangeShapeType="1"/>
              </p:cNvSpPr>
              <p:nvPr/>
            </p:nvSpPr>
            <p:spPr bwMode="auto">
              <a:xfrm>
                <a:off x="6054866" y="1857724"/>
                <a:ext cx="479821" cy="6635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12" name="Line 8"/>
              <p:cNvSpPr>
                <a:spLocks noChangeShapeType="1"/>
              </p:cNvSpPr>
              <p:nvPr/>
            </p:nvSpPr>
            <p:spPr bwMode="auto">
              <a:xfrm flipH="1">
                <a:off x="8536525" y="1932335"/>
                <a:ext cx="638043" cy="6619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13" name="Line 9"/>
              <p:cNvSpPr>
                <a:spLocks noChangeShapeType="1"/>
              </p:cNvSpPr>
              <p:nvPr/>
            </p:nvSpPr>
            <p:spPr bwMode="auto">
              <a:xfrm flipV="1">
                <a:off x="5894926" y="4065936"/>
                <a:ext cx="479822" cy="8112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14" name="Line 10"/>
              <p:cNvSpPr>
                <a:spLocks noChangeShapeType="1"/>
              </p:cNvSpPr>
              <p:nvPr/>
            </p:nvSpPr>
            <p:spPr bwMode="auto">
              <a:xfrm flipH="1" flipV="1">
                <a:off x="7975873" y="4140549"/>
                <a:ext cx="159941" cy="8096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315" name="Line 11"/>
              <p:cNvSpPr>
                <a:spLocks noChangeShapeType="1"/>
              </p:cNvSpPr>
              <p:nvPr/>
            </p:nvSpPr>
            <p:spPr bwMode="auto">
              <a:xfrm flipH="1" flipV="1">
                <a:off x="8775576" y="4065935"/>
                <a:ext cx="398992" cy="7366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54411" name="Text Box 107"/>
              <p:cNvSpPr txBox="1">
                <a:spLocks noChangeArrowheads="1"/>
              </p:cNvSpPr>
              <p:nvPr/>
            </p:nvSpPr>
            <p:spPr bwMode="auto">
              <a:xfrm>
                <a:off x="6532968" y="5373216"/>
                <a:ext cx="25186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dirty="0">
                    <a:latin typeface="+mn-lt"/>
                    <a:ea typeface="黑体" pitchFamily="2" charset="-122"/>
                  </a:rPr>
                  <a:t>(b) </a:t>
                </a:r>
                <a:r>
                  <a:rPr kumimoji="1" lang="zh-CN" altLang="en-US" sz="2400" dirty="0">
                    <a:latin typeface="+mn-lt"/>
                    <a:ea typeface="黑体" pitchFamily="2" charset="-122"/>
                  </a:rPr>
                  <a:t>虚拟互连网络</a:t>
                </a:r>
              </a:p>
            </p:txBody>
          </p:sp>
          <p:pic>
            <p:nvPicPr>
              <p:cNvPr id="354414" name="Picture 1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95043" y="4877148"/>
                <a:ext cx="552053"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15" name="Picture 1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797" y="1564036"/>
                <a:ext cx="555492"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16" name="Picture 1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94629" y="4729510"/>
                <a:ext cx="55377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17" name="Picture 1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75044" y="4729510"/>
                <a:ext cx="55377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18" name="Picture 1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3265" y="1489423"/>
                <a:ext cx="55549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23" name="Picture 1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797" y="4656486"/>
                <a:ext cx="555492"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432" name="Picture 1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75162" y="1268760"/>
                <a:ext cx="55377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54433" name="Group 129"/>
              <p:cNvGrpSpPr>
                <a:grpSpLocks/>
              </p:cNvGrpSpPr>
              <p:nvPr/>
            </p:nvGrpSpPr>
            <p:grpSpPr bwMode="auto">
              <a:xfrm>
                <a:off x="5597402" y="2200623"/>
                <a:ext cx="3977878" cy="2381250"/>
                <a:chOff x="3134" y="1375"/>
                <a:chExt cx="2386" cy="1553"/>
              </a:xfrm>
            </p:grpSpPr>
            <p:sp>
              <p:nvSpPr>
                <p:cNvPr id="354434" name="Oval 130"/>
                <p:cNvSpPr>
                  <a:spLocks noChangeArrowheads="1"/>
                </p:cNvSpPr>
                <p:nvPr/>
              </p:nvSpPr>
              <p:spPr bwMode="auto">
                <a:xfrm>
                  <a:off x="3959" y="1375"/>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35" name="Oval 131"/>
                <p:cNvSpPr>
                  <a:spLocks noChangeArrowheads="1"/>
                </p:cNvSpPr>
                <p:nvPr/>
              </p:nvSpPr>
              <p:spPr bwMode="auto">
                <a:xfrm>
                  <a:off x="3380" y="1548"/>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36" name="Oval 132"/>
                <p:cNvSpPr>
                  <a:spLocks noChangeArrowheads="1"/>
                </p:cNvSpPr>
                <p:nvPr/>
              </p:nvSpPr>
              <p:spPr bwMode="auto">
                <a:xfrm>
                  <a:off x="3134" y="1940"/>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37" name="Oval 133"/>
                <p:cNvSpPr>
                  <a:spLocks noChangeArrowheads="1"/>
                </p:cNvSpPr>
                <p:nvPr/>
              </p:nvSpPr>
              <p:spPr bwMode="auto">
                <a:xfrm>
                  <a:off x="3293" y="2175"/>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38" name="Oval 134"/>
                <p:cNvSpPr>
                  <a:spLocks noChangeArrowheads="1"/>
                </p:cNvSpPr>
                <p:nvPr/>
              </p:nvSpPr>
              <p:spPr bwMode="auto">
                <a:xfrm>
                  <a:off x="3872" y="2269"/>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39" name="Oval 135"/>
                <p:cNvSpPr>
                  <a:spLocks noChangeArrowheads="1"/>
                </p:cNvSpPr>
                <p:nvPr/>
              </p:nvSpPr>
              <p:spPr bwMode="auto">
                <a:xfrm>
                  <a:off x="4653" y="1564"/>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40" name="Oval 136"/>
                <p:cNvSpPr>
                  <a:spLocks noChangeArrowheads="1"/>
                </p:cNvSpPr>
                <p:nvPr/>
              </p:nvSpPr>
              <p:spPr bwMode="auto">
                <a:xfrm>
                  <a:off x="4768" y="1893"/>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41" name="Oval 137"/>
                <p:cNvSpPr>
                  <a:spLocks noChangeArrowheads="1"/>
                </p:cNvSpPr>
                <p:nvPr/>
              </p:nvSpPr>
              <p:spPr bwMode="auto">
                <a:xfrm>
                  <a:off x="4696" y="2003"/>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42" name="Oval 138"/>
                <p:cNvSpPr>
                  <a:spLocks noChangeArrowheads="1"/>
                </p:cNvSpPr>
                <p:nvPr/>
              </p:nvSpPr>
              <p:spPr bwMode="auto">
                <a:xfrm>
                  <a:off x="3568" y="1752"/>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sp>
            <p:nvSpPr>
              <p:cNvPr id="354443" name="Oval 139"/>
              <p:cNvSpPr>
                <a:spLocks noChangeArrowheads="1"/>
              </p:cNvSpPr>
              <p:nvPr/>
            </p:nvSpPr>
            <p:spPr bwMode="auto">
              <a:xfrm>
                <a:off x="6949158" y="2152999"/>
                <a:ext cx="1711192" cy="96202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44" name="Oval 140"/>
              <p:cNvSpPr>
                <a:spLocks noChangeArrowheads="1"/>
              </p:cNvSpPr>
              <p:nvPr/>
            </p:nvSpPr>
            <p:spPr bwMode="auto">
              <a:xfrm>
                <a:off x="5984355" y="2419699"/>
                <a:ext cx="1303602" cy="9604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45" name="Oval 141"/>
              <p:cNvSpPr>
                <a:spLocks noChangeArrowheads="1"/>
              </p:cNvSpPr>
              <p:nvPr/>
            </p:nvSpPr>
            <p:spPr bwMode="auto">
              <a:xfrm>
                <a:off x="5575044" y="3018185"/>
                <a:ext cx="866775" cy="769938"/>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46" name="Oval 142"/>
              <p:cNvSpPr>
                <a:spLocks noChangeArrowheads="1"/>
              </p:cNvSpPr>
              <p:nvPr/>
            </p:nvSpPr>
            <p:spPr bwMode="auto">
              <a:xfrm>
                <a:off x="5839892" y="3380136"/>
                <a:ext cx="1324240" cy="84137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47" name="Oval 143"/>
              <p:cNvSpPr>
                <a:spLocks noChangeArrowheads="1"/>
              </p:cNvSpPr>
              <p:nvPr/>
            </p:nvSpPr>
            <p:spPr bwMode="auto">
              <a:xfrm>
                <a:off x="6802975" y="3524599"/>
                <a:ext cx="2000118" cy="10112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48" name="Oval 144"/>
              <p:cNvSpPr>
                <a:spLocks noChangeArrowheads="1"/>
              </p:cNvSpPr>
              <p:nvPr/>
            </p:nvSpPr>
            <p:spPr bwMode="auto">
              <a:xfrm>
                <a:off x="8106577" y="2441924"/>
                <a:ext cx="1252008" cy="7445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49" name="Oval 145"/>
              <p:cNvSpPr>
                <a:spLocks noChangeArrowheads="1"/>
              </p:cNvSpPr>
              <p:nvPr/>
            </p:nvSpPr>
            <p:spPr bwMode="auto">
              <a:xfrm>
                <a:off x="8299194" y="2946748"/>
                <a:ext cx="1252008" cy="747712"/>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50" name="Oval 146"/>
              <p:cNvSpPr>
                <a:spLocks noChangeArrowheads="1"/>
              </p:cNvSpPr>
              <p:nvPr/>
            </p:nvSpPr>
            <p:spPr bwMode="auto">
              <a:xfrm>
                <a:off x="8177089" y="3115024"/>
                <a:ext cx="1253728" cy="12525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51" name="Oval 147"/>
              <p:cNvSpPr>
                <a:spLocks noChangeArrowheads="1"/>
              </p:cNvSpPr>
              <p:nvPr/>
            </p:nvSpPr>
            <p:spPr bwMode="auto">
              <a:xfrm>
                <a:off x="6299076" y="2729260"/>
                <a:ext cx="2577967" cy="1250950"/>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354452" name="Text Box 148"/>
              <p:cNvSpPr txBox="1">
                <a:spLocks noChangeArrowheads="1"/>
              </p:cNvSpPr>
              <p:nvPr/>
            </p:nvSpPr>
            <p:spPr bwMode="auto">
              <a:xfrm>
                <a:off x="6434474" y="2957861"/>
                <a:ext cx="22108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400" b="1" dirty="0">
                    <a:solidFill>
                      <a:srgbClr val="000099"/>
                    </a:solidFill>
                    <a:latin typeface="+mn-lt"/>
                    <a:ea typeface="黑体" pitchFamily="2" charset="-122"/>
                  </a:rPr>
                  <a:t>  </a:t>
                </a:r>
                <a:r>
                  <a:rPr kumimoji="1" lang="zh-CN" altLang="en-US" sz="2400" b="1" dirty="0">
                    <a:solidFill>
                      <a:srgbClr val="000099"/>
                    </a:solidFill>
                    <a:latin typeface="+mn-lt"/>
                    <a:ea typeface="黑体" pitchFamily="2" charset="-122"/>
                  </a:rPr>
                  <a:t>虚拟互连网络</a:t>
                </a:r>
              </a:p>
              <a:p>
                <a:pPr algn="ctr"/>
                <a:r>
                  <a:rPr kumimoji="1" lang="zh-CN" altLang="en-US" sz="2400" b="1" dirty="0">
                    <a:solidFill>
                      <a:srgbClr val="000099"/>
                    </a:solidFill>
                    <a:latin typeface="+mn-lt"/>
                    <a:ea typeface="黑体" pitchFamily="2" charset="-122"/>
                  </a:rPr>
                  <a:t>（互联网）</a:t>
                </a:r>
              </a:p>
            </p:txBody>
          </p:sp>
        </p:grpSp>
      </p:grpSp>
      <p:sp>
        <p:nvSpPr>
          <p:cNvPr id="2" name="矩形 1"/>
          <p:cNvSpPr/>
          <p:nvPr/>
        </p:nvSpPr>
        <p:spPr>
          <a:xfrm>
            <a:off x="3728863" y="5919663"/>
            <a:ext cx="2805823" cy="461665"/>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en-US" altLang="zh-CN" sz="2400" b="1" dirty="0">
                <a:latin typeface="+mn-lt"/>
                <a:ea typeface="黑体" pitchFamily="2" charset="-122"/>
              </a:rPr>
              <a:t>IP </a:t>
            </a:r>
            <a:r>
              <a:rPr kumimoji="1" lang="zh-CN" altLang="zh-CN" sz="2400" b="1" dirty="0">
                <a:latin typeface="+mn-lt"/>
                <a:ea typeface="黑体" pitchFamily="2" charset="-122"/>
              </a:rPr>
              <a:t>网的概念</a:t>
            </a:r>
            <a:endParaRPr kumimoji="1" lang="zh-CN" altLang="en-US" sz="2400" b="1" dirty="0">
              <a:latin typeface="+mn-lt"/>
              <a:ea typeface="黑体" pitchFamily="2" charset="-122"/>
            </a:endParaRPr>
          </a:p>
        </p:txBody>
      </p:sp>
    </p:spTree>
    <p:extLst>
      <p:ext uri="{BB962C8B-B14F-4D97-AF65-F5344CB8AC3E}">
        <p14:creationId xmlns:p14="http://schemas.microsoft.com/office/powerpoint/2010/main" val="1287126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p:cNvSpPr>
            <a:spLocks noGrp="1" noChangeArrowheads="1"/>
          </p:cNvSpPr>
          <p:nvPr>
            <p:ph type="title"/>
          </p:nvPr>
        </p:nvSpPr>
        <p:spPr/>
        <p:txBody>
          <a:bodyPr/>
          <a:lstStyle/>
          <a:p>
            <a:r>
              <a:rPr lang="zh-CN" altLang="en-US" dirty="0"/>
              <a:t>概述：虚拟互连网络（</a:t>
            </a:r>
            <a:r>
              <a:rPr lang="en-US" altLang="zh-CN" dirty="0"/>
              <a:t>2</a:t>
            </a:r>
            <a:r>
              <a:rPr lang="zh-CN" altLang="en-US" dirty="0"/>
              <a:t>）</a:t>
            </a:r>
          </a:p>
        </p:txBody>
      </p:sp>
      <p:sp>
        <p:nvSpPr>
          <p:cNvPr id="353295" name="Rectangle 15"/>
          <p:cNvSpPr>
            <a:spLocks noGrp="1" noChangeArrowheads="1"/>
          </p:cNvSpPr>
          <p:nvPr>
            <p:ph idx="1"/>
          </p:nvPr>
        </p:nvSpPr>
        <p:spPr/>
        <p:txBody>
          <a:bodyPr/>
          <a:lstStyle/>
          <a:p>
            <a:pPr algn="just"/>
            <a:r>
              <a:rPr lang="zh-CN" altLang="en-US" sz="2800" dirty="0">
                <a:solidFill>
                  <a:srgbClr val="FF0000"/>
                </a:solidFill>
              </a:rPr>
              <a:t>所谓虚拟互连网络也就是逻辑互连网络，</a:t>
            </a:r>
            <a:r>
              <a:rPr lang="zh-CN" altLang="en-US" sz="2800" dirty="0"/>
              <a:t>它的意思就是互连起来的各种物理网络的异构性本来是客观存在的，但是我们</a:t>
            </a:r>
            <a:r>
              <a:rPr lang="zh-CN" altLang="en-US" sz="2800" dirty="0">
                <a:solidFill>
                  <a:srgbClr val="FF0000"/>
                </a:solidFill>
              </a:rPr>
              <a:t>利用 </a:t>
            </a:r>
            <a:r>
              <a:rPr lang="en-US" altLang="zh-CN" sz="2800" dirty="0">
                <a:solidFill>
                  <a:srgbClr val="FF0000"/>
                </a:solidFill>
              </a:rPr>
              <a:t>IP </a:t>
            </a:r>
            <a:r>
              <a:rPr lang="zh-CN" altLang="en-US" sz="2800" dirty="0">
                <a:solidFill>
                  <a:srgbClr val="FF0000"/>
                </a:solidFill>
              </a:rPr>
              <a:t>协议就可以使这些性能各异的网络从用户看起来好像是一个统一的网络。</a:t>
            </a:r>
          </a:p>
          <a:p>
            <a:pPr algn="just"/>
            <a:r>
              <a:rPr lang="zh-CN" altLang="en-US" sz="2800" dirty="0"/>
              <a:t>使用 </a:t>
            </a:r>
            <a:r>
              <a:rPr lang="en-US" altLang="zh-CN" sz="2800" dirty="0"/>
              <a:t>IP </a:t>
            </a:r>
            <a:r>
              <a:rPr lang="zh-CN" altLang="en-US" sz="2800" dirty="0"/>
              <a:t>协议的虚拟互连网络可简称为 </a:t>
            </a:r>
            <a:r>
              <a:rPr lang="en-US" altLang="zh-CN" sz="2800" dirty="0">
                <a:solidFill>
                  <a:srgbClr val="FF0000"/>
                </a:solidFill>
              </a:rPr>
              <a:t>IP </a:t>
            </a:r>
            <a:r>
              <a:rPr lang="zh-CN" altLang="en-US" sz="2800" dirty="0">
                <a:solidFill>
                  <a:srgbClr val="FF0000"/>
                </a:solidFill>
              </a:rPr>
              <a:t>网。</a:t>
            </a:r>
          </a:p>
          <a:p>
            <a:pPr algn="just"/>
            <a:r>
              <a:rPr lang="zh-CN" altLang="en-US" sz="2800" dirty="0">
                <a:solidFill>
                  <a:srgbClr val="0000FF"/>
                </a:solidFill>
              </a:rPr>
              <a:t>使用虚拟互连网络的好处是：</a:t>
            </a:r>
            <a:r>
              <a:rPr lang="zh-CN" altLang="en-US" sz="2800" dirty="0"/>
              <a:t>当互联网上的主机进行通信时，就好像在一个网络上通信一样，而看不见互连的各具体的网络异构细节。</a:t>
            </a:r>
            <a:endParaRPr lang="en-US" altLang="zh-CN" sz="2800" dirty="0"/>
          </a:p>
          <a:p>
            <a:pPr algn="just"/>
            <a:r>
              <a:rPr lang="zh-CN" altLang="zh-CN" sz="2800" dirty="0">
                <a:solidFill>
                  <a:srgbClr val="FF0000"/>
                </a:solidFill>
              </a:rPr>
              <a:t>如果在这种覆盖全球的</a:t>
            </a:r>
            <a:r>
              <a:rPr lang="en-US" altLang="zh-CN" sz="2800" dirty="0">
                <a:solidFill>
                  <a:srgbClr val="FF0000"/>
                </a:solidFill>
              </a:rPr>
              <a:t> IP </a:t>
            </a:r>
            <a:r>
              <a:rPr lang="zh-CN" altLang="zh-CN" sz="2800" dirty="0">
                <a:solidFill>
                  <a:srgbClr val="FF0000"/>
                </a:solidFill>
              </a:rPr>
              <a:t>网的上层使用</a:t>
            </a:r>
            <a:r>
              <a:rPr lang="en-US" altLang="zh-CN" sz="2800" dirty="0">
                <a:solidFill>
                  <a:srgbClr val="FF0000"/>
                </a:solidFill>
              </a:rPr>
              <a:t> TCP </a:t>
            </a:r>
            <a:r>
              <a:rPr lang="zh-CN" altLang="zh-CN" sz="2800" dirty="0">
                <a:solidFill>
                  <a:srgbClr val="FF0000"/>
                </a:solidFill>
              </a:rPr>
              <a:t>协议，那么就是现在的互联网</a:t>
            </a:r>
            <a:r>
              <a:rPr lang="en-US" altLang="zh-CN" sz="2800" dirty="0">
                <a:solidFill>
                  <a:srgbClr val="FF0000"/>
                </a:solidFill>
              </a:rPr>
              <a:t> (Internet)</a:t>
            </a:r>
            <a:r>
              <a:rPr lang="zh-CN" altLang="zh-CN" sz="2800" dirty="0">
                <a:solidFill>
                  <a:srgbClr val="FF0000"/>
                </a:solidFill>
              </a:rPr>
              <a:t>。</a:t>
            </a:r>
            <a:endParaRPr lang="zh-CN" altLang="en-US" sz="2800" dirty="0">
              <a:solidFill>
                <a:srgbClr val="FF0000"/>
              </a:solidFill>
            </a:endParaRPr>
          </a:p>
        </p:txBody>
      </p:sp>
    </p:spTree>
    <p:extLst>
      <p:ext uri="{BB962C8B-B14F-4D97-AF65-F5344CB8AC3E}">
        <p14:creationId xmlns:p14="http://schemas.microsoft.com/office/powerpoint/2010/main" val="1544741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0" name="组合 289"/>
          <p:cNvGrpSpPr/>
          <p:nvPr/>
        </p:nvGrpSpPr>
        <p:grpSpPr>
          <a:xfrm>
            <a:off x="606872" y="232494"/>
            <a:ext cx="8954640" cy="6292850"/>
            <a:chOff x="174824" y="148034"/>
            <a:chExt cx="8954640" cy="6292850"/>
          </a:xfrm>
        </p:grpSpPr>
        <p:sp>
          <p:nvSpPr>
            <p:cNvPr id="4" name="Rectangle 2"/>
            <p:cNvSpPr>
              <a:spLocks noChangeArrowheads="1"/>
            </p:cNvSpPr>
            <p:nvPr/>
          </p:nvSpPr>
          <p:spPr bwMode="auto">
            <a:xfrm>
              <a:off x="833189" y="562372"/>
              <a:ext cx="639762" cy="121443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5" name="Rectangle 3"/>
            <p:cNvSpPr>
              <a:spLocks noChangeArrowheads="1"/>
            </p:cNvSpPr>
            <p:nvPr/>
          </p:nvSpPr>
          <p:spPr bwMode="auto">
            <a:xfrm>
              <a:off x="842714" y="1052909"/>
              <a:ext cx="623887" cy="2571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6" name="Text Box 4"/>
            <p:cNvSpPr txBox="1">
              <a:spLocks noChangeArrowheads="1"/>
            </p:cNvSpPr>
            <p:nvPr/>
          </p:nvSpPr>
          <p:spPr bwMode="auto">
            <a:xfrm>
              <a:off x="1012562" y="514747"/>
              <a:ext cx="29847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99"/>
                  </a:solidFill>
                  <a:effectLst/>
                  <a:uLnTx/>
                  <a:uFillTx/>
                  <a:latin typeface="+mn-lt"/>
                  <a:ea typeface="黑体" pitchFamily="2" charset="-122"/>
                </a:rPr>
                <a:t>5</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99"/>
                  </a:solidFill>
                  <a:effectLst/>
                  <a:uLnTx/>
                  <a:uFillTx/>
                  <a:latin typeface="+mn-lt"/>
                  <a:ea typeface="黑体" pitchFamily="2" charset="-122"/>
                </a:rPr>
                <a:t>4</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99"/>
                  </a:solidFill>
                  <a:effectLst/>
                  <a:uLnTx/>
                  <a:uFillTx/>
                  <a:latin typeface="+mn-lt"/>
                  <a:ea typeface="黑体" pitchFamily="2" charset="-122"/>
                </a:rPr>
                <a:t>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99"/>
                  </a:solidFill>
                  <a:effectLst/>
                  <a:uLnTx/>
                  <a:uFillTx/>
                  <a:latin typeface="+mn-lt"/>
                  <a:ea typeface="黑体" pitchFamily="2" charset="-122"/>
                </a:rPr>
                <a:t>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000099"/>
                  </a:solidFill>
                  <a:effectLst/>
                  <a:uLnTx/>
                  <a:uFillTx/>
                  <a:latin typeface="+mn-lt"/>
                  <a:ea typeface="黑体" pitchFamily="2" charset="-122"/>
                </a:rPr>
                <a:t>1</a:t>
              </a:r>
            </a:p>
          </p:txBody>
        </p:sp>
        <p:sp>
          <p:nvSpPr>
            <p:cNvPr id="7" name="Line 5"/>
            <p:cNvSpPr>
              <a:spLocks noChangeShapeType="1"/>
            </p:cNvSpPr>
            <p:nvPr/>
          </p:nvSpPr>
          <p:spPr bwMode="auto">
            <a:xfrm>
              <a:off x="833189" y="821134"/>
              <a:ext cx="63976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8" name="Line 6"/>
            <p:cNvSpPr>
              <a:spLocks noChangeShapeType="1"/>
            </p:cNvSpPr>
            <p:nvPr/>
          </p:nvSpPr>
          <p:spPr bwMode="auto">
            <a:xfrm>
              <a:off x="833189" y="1060847"/>
              <a:ext cx="63976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9" name="Line 7"/>
            <p:cNvSpPr>
              <a:spLocks noChangeShapeType="1"/>
            </p:cNvSpPr>
            <p:nvPr/>
          </p:nvSpPr>
          <p:spPr bwMode="auto">
            <a:xfrm>
              <a:off x="833189" y="1300559"/>
              <a:ext cx="63976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0" name="Line 8"/>
            <p:cNvSpPr>
              <a:spLocks noChangeShapeType="1"/>
            </p:cNvSpPr>
            <p:nvPr/>
          </p:nvSpPr>
          <p:spPr bwMode="auto">
            <a:xfrm>
              <a:off x="833189" y="1541859"/>
              <a:ext cx="63976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1" name="Freeform 9"/>
            <p:cNvSpPr>
              <a:spLocks/>
            </p:cNvSpPr>
            <p:nvPr/>
          </p:nvSpPr>
          <p:spPr bwMode="auto">
            <a:xfrm>
              <a:off x="8083301" y="2308622"/>
              <a:ext cx="312738" cy="1800225"/>
            </a:xfrm>
            <a:custGeom>
              <a:avLst/>
              <a:gdLst>
                <a:gd name="T0" fmla="*/ 197 w 197"/>
                <a:gd name="T1" fmla="*/ 0 h 1134"/>
                <a:gd name="T2" fmla="*/ 0 w 197"/>
                <a:gd name="T3" fmla="*/ 507 h 1134"/>
                <a:gd name="T4" fmla="*/ 16 w 197"/>
                <a:gd name="T5" fmla="*/ 1134 h 1134"/>
              </a:gdLst>
              <a:ahLst/>
              <a:cxnLst>
                <a:cxn ang="0">
                  <a:pos x="T0" y="T1"/>
                </a:cxn>
                <a:cxn ang="0">
                  <a:pos x="T2" y="T3"/>
                </a:cxn>
                <a:cxn ang="0">
                  <a:pos x="T4" y="T5"/>
                </a:cxn>
              </a:cxnLst>
              <a:rect l="0" t="0" r="r" b="b"/>
              <a:pathLst>
                <a:path w="197" h="1134">
                  <a:moveTo>
                    <a:pt x="197" y="0"/>
                  </a:moveTo>
                  <a:lnTo>
                    <a:pt x="0" y="507"/>
                  </a:lnTo>
                  <a:lnTo>
                    <a:pt x="16" y="1134"/>
                  </a:lnTo>
                </a:path>
              </a:pathLst>
            </a:custGeom>
            <a:noFill/>
            <a:ln w="190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nvGrpSpPr>
            <p:cNvPr id="12" name="Group 10"/>
            <p:cNvGrpSpPr>
              <a:grpSpLocks/>
            </p:cNvGrpSpPr>
            <p:nvPr/>
          </p:nvGrpSpPr>
          <p:grpSpPr bwMode="auto">
            <a:xfrm>
              <a:off x="2777876" y="5020072"/>
              <a:ext cx="639763" cy="1323975"/>
              <a:chOff x="617" y="259"/>
              <a:chExt cx="403" cy="834"/>
            </a:xfrm>
          </p:grpSpPr>
          <p:sp>
            <p:nvSpPr>
              <p:cNvPr id="13" name="Rectangle 11"/>
              <p:cNvSpPr>
                <a:spLocks noChangeArrowheads="1"/>
              </p:cNvSpPr>
              <p:nvPr/>
            </p:nvSpPr>
            <p:spPr bwMode="auto">
              <a:xfrm>
                <a:off x="623" y="598"/>
                <a:ext cx="393" cy="162"/>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4" name="Text Box 12"/>
              <p:cNvSpPr txBox="1">
                <a:spLocks noChangeArrowheads="1"/>
              </p:cNvSpPr>
              <p:nvPr/>
            </p:nvSpPr>
            <p:spPr bwMode="auto">
              <a:xfrm>
                <a:off x="730" y="259"/>
                <a:ext cx="188" cy="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5</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4</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1</a:t>
                </a:r>
              </a:p>
            </p:txBody>
          </p:sp>
          <p:sp>
            <p:nvSpPr>
              <p:cNvPr id="15" name="Rectangle 13"/>
              <p:cNvSpPr>
                <a:spLocks noChangeArrowheads="1"/>
              </p:cNvSpPr>
              <p:nvPr/>
            </p:nvSpPr>
            <p:spPr bwMode="auto">
              <a:xfrm>
                <a:off x="617" y="289"/>
                <a:ext cx="403" cy="76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6" name="Line 14"/>
              <p:cNvSpPr>
                <a:spLocks noChangeShapeType="1"/>
              </p:cNvSpPr>
              <p:nvPr/>
            </p:nvSpPr>
            <p:spPr bwMode="auto">
              <a:xfrm>
                <a:off x="617" y="452"/>
                <a:ext cx="4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7" name="Line 15"/>
              <p:cNvSpPr>
                <a:spLocks noChangeShapeType="1"/>
              </p:cNvSpPr>
              <p:nvPr/>
            </p:nvSpPr>
            <p:spPr bwMode="auto">
              <a:xfrm>
                <a:off x="617" y="603"/>
                <a:ext cx="4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8" name="Line 16"/>
              <p:cNvSpPr>
                <a:spLocks noChangeShapeType="1"/>
              </p:cNvSpPr>
              <p:nvPr/>
            </p:nvSpPr>
            <p:spPr bwMode="auto">
              <a:xfrm>
                <a:off x="617" y="754"/>
                <a:ext cx="4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9" name="Line 17"/>
              <p:cNvSpPr>
                <a:spLocks noChangeShapeType="1"/>
              </p:cNvSpPr>
              <p:nvPr/>
            </p:nvSpPr>
            <p:spPr bwMode="auto">
              <a:xfrm>
                <a:off x="617" y="906"/>
                <a:ext cx="4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sp>
          <p:nvSpPr>
            <p:cNvPr id="20" name="Line 18"/>
            <p:cNvSpPr>
              <a:spLocks noChangeShapeType="1"/>
            </p:cNvSpPr>
            <p:nvPr/>
          </p:nvSpPr>
          <p:spPr bwMode="auto">
            <a:xfrm flipV="1">
              <a:off x="3209676" y="2237184"/>
              <a:ext cx="504031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1" name="Line 19"/>
            <p:cNvSpPr>
              <a:spLocks noChangeShapeType="1"/>
            </p:cNvSpPr>
            <p:nvPr/>
          </p:nvSpPr>
          <p:spPr bwMode="auto">
            <a:xfrm flipV="1">
              <a:off x="3857376" y="4108847"/>
              <a:ext cx="865188" cy="15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2" name="Line 20"/>
            <p:cNvSpPr>
              <a:spLocks noChangeShapeType="1"/>
            </p:cNvSpPr>
            <p:nvPr/>
          </p:nvSpPr>
          <p:spPr bwMode="auto">
            <a:xfrm>
              <a:off x="977651" y="2237184"/>
              <a:ext cx="0" cy="3603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pic>
          <p:nvPicPr>
            <p:cNvPr id="23"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8101" y="3965972"/>
              <a:ext cx="52070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24" name="Group 22"/>
            <p:cNvGrpSpPr>
              <a:grpSpLocks/>
            </p:cNvGrpSpPr>
            <p:nvPr/>
          </p:nvGrpSpPr>
          <p:grpSpPr bwMode="auto">
            <a:xfrm>
              <a:off x="3714501" y="1876822"/>
              <a:ext cx="1439863" cy="863600"/>
              <a:chOff x="385" y="2795"/>
              <a:chExt cx="1769" cy="816"/>
            </a:xfrm>
          </p:grpSpPr>
          <p:sp>
            <p:nvSpPr>
              <p:cNvPr id="25" name="Oval 2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6" name="Oval 24"/>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7" name="Oval 25"/>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8" name="Oval 26"/>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9" name="Oval 27"/>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30" name="Oval 2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31" name="Oval 29"/>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32" name="Oval 30"/>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33" name="Oval 31"/>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34" name="Oval 32"/>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35" name="Oval 33"/>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36" name="Oval 34"/>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37" name="Oval 35"/>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38" name="Oval 36"/>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39" name="Oval 3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40" name="Oval 38"/>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41" name="Freeform 39"/>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sp>
          <p:nvSpPr>
            <p:cNvPr id="42" name="Text Box 40"/>
            <p:cNvSpPr txBox="1">
              <a:spLocks noChangeArrowheads="1"/>
            </p:cNvSpPr>
            <p:nvPr/>
          </p:nvSpPr>
          <p:spPr bwMode="auto">
            <a:xfrm>
              <a:off x="174824" y="1872059"/>
              <a:ext cx="70083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C00000"/>
                  </a:solidFill>
                  <a:effectLst/>
                  <a:uLnTx/>
                  <a:uFillTx/>
                  <a:latin typeface="+mn-lt"/>
                  <a:ea typeface="黑体" pitchFamily="2" charset="-122"/>
                </a:rPr>
                <a:t>主机</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C00000"/>
                  </a:solidFill>
                  <a:effectLst/>
                  <a:uLnTx/>
                  <a:uFillTx/>
                  <a:latin typeface="+mn-lt"/>
                  <a:ea typeface="黑体" pitchFamily="2" charset="-122"/>
                </a:rPr>
                <a:t>H</a:t>
              </a:r>
              <a:r>
                <a:rPr kumimoji="0" lang="en-US" altLang="zh-CN" sz="2000" b="1" i="0" u="none" strike="noStrike" kern="0" cap="none" spc="0" normalizeH="0" baseline="-25000" noProof="0" dirty="0">
                  <a:ln>
                    <a:noFill/>
                  </a:ln>
                  <a:solidFill>
                    <a:srgbClr val="C00000"/>
                  </a:solidFill>
                  <a:effectLst/>
                  <a:uLnTx/>
                  <a:uFillTx/>
                  <a:latin typeface="+mn-lt"/>
                  <a:ea typeface="黑体" pitchFamily="2" charset="-122"/>
                </a:rPr>
                <a:t>1</a:t>
              </a:r>
            </a:p>
          </p:txBody>
        </p:sp>
        <p:pic>
          <p:nvPicPr>
            <p:cNvPr id="43" name="Picture 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61089" y="2092722"/>
              <a:ext cx="52070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44" name="Group 42"/>
            <p:cNvGrpSpPr>
              <a:grpSpLocks/>
            </p:cNvGrpSpPr>
            <p:nvPr/>
          </p:nvGrpSpPr>
          <p:grpSpPr bwMode="auto">
            <a:xfrm>
              <a:off x="6233864" y="1876822"/>
              <a:ext cx="1439862" cy="863600"/>
              <a:chOff x="385" y="2795"/>
              <a:chExt cx="1769" cy="816"/>
            </a:xfrm>
          </p:grpSpPr>
          <p:sp>
            <p:nvSpPr>
              <p:cNvPr id="45" name="Oval 4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46" name="Oval 44"/>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47" name="Oval 45"/>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48" name="Oval 46"/>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49" name="Oval 47"/>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50" name="Oval 4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51" name="Oval 49"/>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52" name="Oval 50"/>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53" name="Oval 51"/>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54" name="Oval 52"/>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55" name="Oval 53"/>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56" name="Oval 54"/>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57" name="Oval 55"/>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58" name="Oval 56"/>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59" name="Oval 5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60" name="Oval 58"/>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61" name="Freeform 59"/>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grpSp>
          <p:nvGrpSpPr>
            <p:cNvPr id="62" name="Group 60"/>
            <p:cNvGrpSpPr>
              <a:grpSpLocks/>
            </p:cNvGrpSpPr>
            <p:nvPr/>
          </p:nvGrpSpPr>
          <p:grpSpPr bwMode="auto">
            <a:xfrm>
              <a:off x="4649539" y="3532584"/>
              <a:ext cx="415925" cy="504825"/>
              <a:chOff x="4416" y="2717"/>
              <a:chExt cx="404" cy="577"/>
            </a:xfrm>
          </p:grpSpPr>
          <p:sp>
            <p:nvSpPr>
              <p:cNvPr id="63" name="AutoShape 61"/>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nvGrpSpPr>
              <p:cNvPr id="64" name="Group 62"/>
              <p:cNvGrpSpPr>
                <a:grpSpLocks/>
              </p:cNvGrpSpPr>
              <p:nvPr/>
            </p:nvGrpSpPr>
            <p:grpSpPr bwMode="auto">
              <a:xfrm>
                <a:off x="4562" y="3066"/>
                <a:ext cx="13" cy="70"/>
                <a:chOff x="4562" y="3066"/>
                <a:chExt cx="13" cy="70"/>
              </a:xfrm>
            </p:grpSpPr>
            <p:sp>
              <p:nvSpPr>
                <p:cNvPr id="109" name="Rectangle 63"/>
                <p:cNvSpPr>
                  <a:spLocks noChangeArrowheads="1"/>
                </p:cNvSpPr>
                <p:nvPr/>
              </p:nvSpPr>
              <p:spPr bwMode="auto">
                <a:xfrm>
                  <a:off x="4562" y="3067"/>
                  <a:ext cx="13" cy="69"/>
                </a:xfrm>
                <a:prstGeom prst="rect">
                  <a:avLst/>
                </a:prstGeom>
                <a:solidFill>
                  <a:srgbClr val="C0C0C0"/>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10" name="Line 64"/>
                <p:cNvSpPr>
                  <a:spLocks noChangeShapeType="1"/>
                </p:cNvSpPr>
                <p:nvPr/>
              </p:nvSpPr>
              <p:spPr bwMode="auto">
                <a:xfrm>
                  <a:off x="4568" y="3066"/>
                  <a:ext cx="1" cy="6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sp>
            <p:nvSpPr>
              <p:cNvPr id="65" name="Rectangle 65"/>
              <p:cNvSpPr>
                <a:spLocks noChangeArrowheads="1"/>
              </p:cNvSpPr>
              <p:nvPr/>
            </p:nvSpPr>
            <p:spPr bwMode="auto">
              <a:xfrm>
                <a:off x="4503" y="3022"/>
                <a:ext cx="43" cy="112"/>
              </a:xfrm>
              <a:prstGeom prst="rect">
                <a:avLst/>
              </a:prstGeom>
              <a:solidFill>
                <a:srgbClr val="C0C0C0"/>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66" name="Freeform 66"/>
              <p:cNvSpPr>
                <a:spLocks/>
              </p:cNvSpPr>
              <p:nvPr/>
            </p:nvSpPr>
            <p:spPr bwMode="auto">
              <a:xfrm>
                <a:off x="4663" y="3044"/>
                <a:ext cx="28" cy="24"/>
              </a:xfrm>
              <a:custGeom>
                <a:avLst/>
                <a:gdLst>
                  <a:gd name="T0" fmla="*/ 0 w 113"/>
                  <a:gd name="T1" fmla="*/ 0 h 95"/>
                  <a:gd name="T2" fmla="*/ 0 w 113"/>
                  <a:gd name="T3" fmla="*/ 95 h 95"/>
                  <a:gd name="T4" fmla="*/ 113 w 113"/>
                  <a:gd name="T5" fmla="*/ 95 h 95"/>
                  <a:gd name="T6" fmla="*/ 113 w 113"/>
                  <a:gd name="T7" fmla="*/ 19 h 95"/>
                  <a:gd name="T8" fmla="*/ 0 w 113"/>
                  <a:gd name="T9" fmla="*/ 0 h 95"/>
                </a:gdLst>
                <a:ahLst/>
                <a:cxnLst>
                  <a:cxn ang="0">
                    <a:pos x="T0" y="T1"/>
                  </a:cxn>
                  <a:cxn ang="0">
                    <a:pos x="T2" y="T3"/>
                  </a:cxn>
                  <a:cxn ang="0">
                    <a:pos x="T4" y="T5"/>
                  </a:cxn>
                  <a:cxn ang="0">
                    <a:pos x="T6" y="T7"/>
                  </a:cxn>
                  <a:cxn ang="0">
                    <a:pos x="T8" y="T9"/>
                  </a:cxn>
                </a:cxnLst>
                <a:rect l="0" t="0" r="r" b="b"/>
                <a:pathLst>
                  <a:path w="113" h="95">
                    <a:moveTo>
                      <a:pt x="0" y="0"/>
                    </a:moveTo>
                    <a:lnTo>
                      <a:pt x="0" y="95"/>
                    </a:lnTo>
                    <a:lnTo>
                      <a:pt x="113" y="95"/>
                    </a:lnTo>
                    <a:lnTo>
                      <a:pt x="113" y="19"/>
                    </a:lnTo>
                    <a:lnTo>
                      <a:pt x="0" y="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67" name="Freeform 67"/>
              <p:cNvSpPr>
                <a:spLocks/>
              </p:cNvSpPr>
              <p:nvPr/>
            </p:nvSpPr>
            <p:spPr bwMode="auto">
              <a:xfrm>
                <a:off x="4604" y="3001"/>
                <a:ext cx="19" cy="21"/>
              </a:xfrm>
              <a:custGeom>
                <a:avLst/>
                <a:gdLst>
                  <a:gd name="T0" fmla="*/ 43 w 78"/>
                  <a:gd name="T1" fmla="*/ 0 h 86"/>
                  <a:gd name="T2" fmla="*/ 0 w 78"/>
                  <a:gd name="T3" fmla="*/ 86 h 86"/>
                  <a:gd name="T4" fmla="*/ 57 w 78"/>
                  <a:gd name="T5" fmla="*/ 79 h 86"/>
                  <a:gd name="T6" fmla="*/ 78 w 78"/>
                  <a:gd name="T7" fmla="*/ 22 h 86"/>
                  <a:gd name="T8" fmla="*/ 43 w 78"/>
                  <a:gd name="T9" fmla="*/ 0 h 86"/>
                </a:gdLst>
                <a:ahLst/>
                <a:cxnLst>
                  <a:cxn ang="0">
                    <a:pos x="T0" y="T1"/>
                  </a:cxn>
                  <a:cxn ang="0">
                    <a:pos x="T2" y="T3"/>
                  </a:cxn>
                  <a:cxn ang="0">
                    <a:pos x="T4" y="T5"/>
                  </a:cxn>
                  <a:cxn ang="0">
                    <a:pos x="T6" y="T7"/>
                  </a:cxn>
                  <a:cxn ang="0">
                    <a:pos x="T8" y="T9"/>
                  </a:cxn>
                </a:cxnLst>
                <a:rect l="0" t="0" r="r" b="b"/>
                <a:pathLst>
                  <a:path w="78" h="86">
                    <a:moveTo>
                      <a:pt x="43" y="0"/>
                    </a:moveTo>
                    <a:lnTo>
                      <a:pt x="0" y="86"/>
                    </a:lnTo>
                    <a:lnTo>
                      <a:pt x="57" y="79"/>
                    </a:lnTo>
                    <a:lnTo>
                      <a:pt x="78" y="22"/>
                    </a:lnTo>
                    <a:lnTo>
                      <a:pt x="43" y="0"/>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68" name="Freeform 68"/>
              <p:cNvSpPr>
                <a:spLocks/>
              </p:cNvSpPr>
              <p:nvPr/>
            </p:nvSpPr>
            <p:spPr bwMode="auto">
              <a:xfrm>
                <a:off x="4570" y="3144"/>
                <a:ext cx="90" cy="7"/>
              </a:xfrm>
              <a:custGeom>
                <a:avLst/>
                <a:gdLst>
                  <a:gd name="T0" fmla="*/ 0 w 360"/>
                  <a:gd name="T1" fmla="*/ 0 h 30"/>
                  <a:gd name="T2" fmla="*/ 360 w 360"/>
                  <a:gd name="T3" fmla="*/ 0 h 30"/>
                  <a:gd name="T4" fmla="*/ 360 w 360"/>
                  <a:gd name="T5" fmla="*/ 30 h 30"/>
                  <a:gd name="T6" fmla="*/ 4 w 360"/>
                  <a:gd name="T7" fmla="*/ 30 h 30"/>
                  <a:gd name="T8" fmla="*/ 0 w 360"/>
                  <a:gd name="T9" fmla="*/ 0 h 30"/>
                </a:gdLst>
                <a:ahLst/>
                <a:cxnLst>
                  <a:cxn ang="0">
                    <a:pos x="T0" y="T1"/>
                  </a:cxn>
                  <a:cxn ang="0">
                    <a:pos x="T2" y="T3"/>
                  </a:cxn>
                  <a:cxn ang="0">
                    <a:pos x="T4" y="T5"/>
                  </a:cxn>
                  <a:cxn ang="0">
                    <a:pos x="T6" y="T7"/>
                  </a:cxn>
                  <a:cxn ang="0">
                    <a:pos x="T8" y="T9"/>
                  </a:cxn>
                </a:cxnLst>
                <a:rect l="0" t="0" r="r" b="b"/>
                <a:pathLst>
                  <a:path w="360" h="30">
                    <a:moveTo>
                      <a:pt x="0" y="0"/>
                    </a:moveTo>
                    <a:lnTo>
                      <a:pt x="360" y="0"/>
                    </a:lnTo>
                    <a:lnTo>
                      <a:pt x="360" y="30"/>
                    </a:lnTo>
                    <a:lnTo>
                      <a:pt x="4" y="30"/>
                    </a:lnTo>
                    <a:lnTo>
                      <a:pt x="0" y="0"/>
                    </a:lnTo>
                    <a:close/>
                  </a:path>
                </a:pathLst>
              </a:custGeom>
              <a:solidFill>
                <a:srgbClr val="80808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69" name="Freeform 69"/>
              <p:cNvSpPr>
                <a:spLocks/>
              </p:cNvSpPr>
              <p:nvPr/>
            </p:nvSpPr>
            <p:spPr bwMode="auto">
              <a:xfrm>
                <a:off x="4502" y="2862"/>
                <a:ext cx="37" cy="46"/>
              </a:xfrm>
              <a:custGeom>
                <a:avLst/>
                <a:gdLst>
                  <a:gd name="T0" fmla="*/ 141 w 150"/>
                  <a:gd name="T1" fmla="*/ 0 h 184"/>
                  <a:gd name="T2" fmla="*/ 1 w 150"/>
                  <a:gd name="T3" fmla="*/ 131 h 184"/>
                  <a:gd name="T4" fmla="*/ 0 w 150"/>
                  <a:gd name="T5" fmla="*/ 184 h 184"/>
                  <a:gd name="T6" fmla="*/ 150 w 150"/>
                  <a:gd name="T7" fmla="*/ 60 h 184"/>
                  <a:gd name="T8" fmla="*/ 141 w 150"/>
                  <a:gd name="T9" fmla="*/ 0 h 184"/>
                </a:gdLst>
                <a:ahLst/>
                <a:cxnLst>
                  <a:cxn ang="0">
                    <a:pos x="T0" y="T1"/>
                  </a:cxn>
                  <a:cxn ang="0">
                    <a:pos x="T2" y="T3"/>
                  </a:cxn>
                  <a:cxn ang="0">
                    <a:pos x="T4" y="T5"/>
                  </a:cxn>
                  <a:cxn ang="0">
                    <a:pos x="T6" y="T7"/>
                  </a:cxn>
                  <a:cxn ang="0">
                    <a:pos x="T8" y="T9"/>
                  </a:cxn>
                </a:cxnLst>
                <a:rect l="0" t="0" r="r" b="b"/>
                <a:pathLst>
                  <a:path w="150" h="184">
                    <a:moveTo>
                      <a:pt x="141" y="0"/>
                    </a:moveTo>
                    <a:lnTo>
                      <a:pt x="1" y="131"/>
                    </a:lnTo>
                    <a:lnTo>
                      <a:pt x="0" y="184"/>
                    </a:lnTo>
                    <a:lnTo>
                      <a:pt x="150" y="60"/>
                    </a:lnTo>
                    <a:lnTo>
                      <a:pt x="141" y="0"/>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70" name="Freeform 70"/>
              <p:cNvSpPr>
                <a:spLocks/>
              </p:cNvSpPr>
              <p:nvPr/>
            </p:nvSpPr>
            <p:spPr bwMode="auto">
              <a:xfrm>
                <a:off x="4492" y="2741"/>
                <a:ext cx="57" cy="394"/>
              </a:xfrm>
              <a:custGeom>
                <a:avLst/>
                <a:gdLst>
                  <a:gd name="T0" fmla="*/ 228 w 228"/>
                  <a:gd name="T1" fmla="*/ 0 h 1575"/>
                  <a:gd name="T2" fmla="*/ 0 w 228"/>
                  <a:gd name="T3" fmla="*/ 93 h 1575"/>
                  <a:gd name="T4" fmla="*/ 0 w 228"/>
                  <a:gd name="T5" fmla="*/ 1575 h 1575"/>
                  <a:gd name="T6" fmla="*/ 42 w 228"/>
                  <a:gd name="T7" fmla="*/ 1575 h 1575"/>
                  <a:gd name="T8" fmla="*/ 42 w 228"/>
                  <a:gd name="T9" fmla="*/ 228 h 1575"/>
                  <a:gd name="T10" fmla="*/ 228 w 228"/>
                  <a:gd name="T11" fmla="*/ 150 h 1575"/>
                  <a:gd name="T12" fmla="*/ 228 w 228"/>
                  <a:gd name="T13" fmla="*/ 0 h 1575"/>
                </a:gdLst>
                <a:ahLst/>
                <a:cxnLst>
                  <a:cxn ang="0">
                    <a:pos x="T0" y="T1"/>
                  </a:cxn>
                  <a:cxn ang="0">
                    <a:pos x="T2" y="T3"/>
                  </a:cxn>
                  <a:cxn ang="0">
                    <a:pos x="T4" y="T5"/>
                  </a:cxn>
                  <a:cxn ang="0">
                    <a:pos x="T6" y="T7"/>
                  </a:cxn>
                  <a:cxn ang="0">
                    <a:pos x="T8" y="T9"/>
                  </a:cxn>
                  <a:cxn ang="0">
                    <a:pos x="T10" y="T11"/>
                  </a:cxn>
                  <a:cxn ang="0">
                    <a:pos x="T12" y="T13"/>
                  </a:cxn>
                </a:cxnLst>
                <a:rect l="0" t="0" r="r" b="b"/>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71" name="Freeform 71"/>
              <p:cNvSpPr>
                <a:spLocks/>
              </p:cNvSpPr>
              <p:nvPr/>
            </p:nvSpPr>
            <p:spPr bwMode="auto">
              <a:xfrm>
                <a:off x="4490" y="3135"/>
                <a:ext cx="327" cy="85"/>
              </a:xfrm>
              <a:custGeom>
                <a:avLst/>
                <a:gdLst>
                  <a:gd name="T0" fmla="*/ 0 w 1306"/>
                  <a:gd name="T1" fmla="*/ 344 h 344"/>
                  <a:gd name="T2" fmla="*/ 0 w 1306"/>
                  <a:gd name="T3" fmla="*/ 0 h 344"/>
                  <a:gd name="T4" fmla="*/ 284 w 1306"/>
                  <a:gd name="T5" fmla="*/ 0 h 344"/>
                  <a:gd name="T6" fmla="*/ 341 w 1306"/>
                  <a:gd name="T7" fmla="*/ 57 h 344"/>
                  <a:gd name="T8" fmla="*/ 511 w 1306"/>
                  <a:gd name="T9" fmla="*/ 57 h 344"/>
                  <a:gd name="T10" fmla="*/ 568 w 1306"/>
                  <a:gd name="T11" fmla="*/ 116 h 344"/>
                  <a:gd name="T12" fmla="*/ 1136 w 1306"/>
                  <a:gd name="T13" fmla="*/ 116 h 344"/>
                  <a:gd name="T14" fmla="*/ 1136 w 1306"/>
                  <a:gd name="T15" fmla="*/ 230 h 344"/>
                  <a:gd name="T16" fmla="*/ 1306 w 1306"/>
                  <a:gd name="T17" fmla="*/ 230 h 344"/>
                  <a:gd name="T18" fmla="*/ 1306 w 1306"/>
                  <a:gd name="T19" fmla="*/ 344 h 344"/>
                  <a:gd name="T20" fmla="*/ 0 w 1306"/>
                  <a:gd name="T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72" name="Rectangle 72"/>
              <p:cNvSpPr>
                <a:spLocks noChangeArrowheads="1"/>
              </p:cNvSpPr>
              <p:nvPr/>
            </p:nvSpPr>
            <p:spPr bwMode="auto">
              <a:xfrm>
                <a:off x="4491" y="3193"/>
                <a:ext cx="240" cy="26"/>
              </a:xfrm>
              <a:prstGeom prst="rect">
                <a:avLst/>
              </a:prstGeom>
              <a:solidFill>
                <a:srgbClr val="C0C0C0"/>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73" name="Line 73"/>
              <p:cNvSpPr>
                <a:spLocks noChangeShapeType="1"/>
              </p:cNvSpPr>
              <p:nvPr/>
            </p:nvSpPr>
            <p:spPr bwMode="auto">
              <a:xfrm>
                <a:off x="4479" y="3015"/>
                <a:ext cx="1" cy="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74" name="Freeform 74"/>
              <p:cNvSpPr>
                <a:spLocks/>
              </p:cNvSpPr>
              <p:nvPr/>
            </p:nvSpPr>
            <p:spPr bwMode="auto">
              <a:xfrm>
                <a:off x="4471" y="3065"/>
                <a:ext cx="21" cy="25"/>
              </a:xfrm>
              <a:custGeom>
                <a:avLst/>
                <a:gdLst>
                  <a:gd name="T0" fmla="*/ 0 w 85"/>
                  <a:gd name="T1" fmla="*/ 99 h 99"/>
                  <a:gd name="T2" fmla="*/ 0 w 85"/>
                  <a:gd name="T3" fmla="*/ 0 h 99"/>
                  <a:gd name="T4" fmla="*/ 85 w 85"/>
                  <a:gd name="T5" fmla="*/ 0 h 99"/>
                  <a:gd name="T6" fmla="*/ 85 w 85"/>
                  <a:gd name="T7" fmla="*/ 35 h 99"/>
                  <a:gd name="T8" fmla="*/ 28 w 85"/>
                  <a:gd name="T9" fmla="*/ 35 h 99"/>
                  <a:gd name="T10" fmla="*/ 28 w 85"/>
                  <a:gd name="T11" fmla="*/ 99 h 99"/>
                  <a:gd name="T12" fmla="*/ 0 w 85"/>
                  <a:gd name="T13" fmla="*/ 99 h 99"/>
                </a:gdLst>
                <a:ahLst/>
                <a:cxnLst>
                  <a:cxn ang="0">
                    <a:pos x="T0" y="T1"/>
                  </a:cxn>
                  <a:cxn ang="0">
                    <a:pos x="T2" y="T3"/>
                  </a:cxn>
                  <a:cxn ang="0">
                    <a:pos x="T4" y="T5"/>
                  </a:cxn>
                  <a:cxn ang="0">
                    <a:pos x="T6" y="T7"/>
                  </a:cxn>
                  <a:cxn ang="0">
                    <a:pos x="T8" y="T9"/>
                  </a:cxn>
                  <a:cxn ang="0">
                    <a:pos x="T10" y="T11"/>
                  </a:cxn>
                  <a:cxn ang="0">
                    <a:pos x="T12" y="T13"/>
                  </a:cxn>
                </a:cxnLst>
                <a:rect l="0" t="0" r="r" b="b"/>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75" name="Freeform 75"/>
              <p:cNvSpPr>
                <a:spLocks/>
              </p:cNvSpPr>
              <p:nvPr/>
            </p:nvSpPr>
            <p:spPr bwMode="auto">
              <a:xfrm>
                <a:off x="4590" y="3047"/>
                <a:ext cx="72" cy="104"/>
              </a:xfrm>
              <a:custGeom>
                <a:avLst/>
                <a:gdLst>
                  <a:gd name="T0" fmla="*/ 0 w 290"/>
                  <a:gd name="T1" fmla="*/ 0 h 415"/>
                  <a:gd name="T2" fmla="*/ 290 w 290"/>
                  <a:gd name="T3" fmla="*/ 415 h 415"/>
                  <a:gd name="T4" fmla="*/ 248 w 290"/>
                  <a:gd name="T5" fmla="*/ 406 h 415"/>
                  <a:gd name="T6" fmla="*/ 0 w 290"/>
                  <a:gd name="T7" fmla="*/ 57 h 415"/>
                  <a:gd name="T8" fmla="*/ 0 w 290"/>
                  <a:gd name="T9" fmla="*/ 0 h 415"/>
                </a:gdLst>
                <a:ahLst/>
                <a:cxnLst>
                  <a:cxn ang="0">
                    <a:pos x="T0" y="T1"/>
                  </a:cxn>
                  <a:cxn ang="0">
                    <a:pos x="T2" y="T3"/>
                  </a:cxn>
                  <a:cxn ang="0">
                    <a:pos x="T4" y="T5"/>
                  </a:cxn>
                  <a:cxn ang="0">
                    <a:pos x="T6" y="T7"/>
                  </a:cxn>
                  <a:cxn ang="0">
                    <a:pos x="T8" y="T9"/>
                  </a:cxn>
                </a:cxnLst>
                <a:rect l="0" t="0" r="r" b="b"/>
                <a:pathLst>
                  <a:path w="290" h="415">
                    <a:moveTo>
                      <a:pt x="0" y="0"/>
                    </a:moveTo>
                    <a:lnTo>
                      <a:pt x="290" y="415"/>
                    </a:lnTo>
                    <a:lnTo>
                      <a:pt x="248" y="406"/>
                    </a:lnTo>
                    <a:lnTo>
                      <a:pt x="0" y="57"/>
                    </a:lnTo>
                    <a:lnTo>
                      <a:pt x="0" y="0"/>
                    </a:lnTo>
                    <a:close/>
                  </a:path>
                </a:pathLst>
              </a:custGeom>
              <a:solidFill>
                <a:srgbClr val="9F9F9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76" name="Freeform 76"/>
              <p:cNvSpPr>
                <a:spLocks/>
              </p:cNvSpPr>
              <p:nvPr/>
            </p:nvSpPr>
            <p:spPr bwMode="auto">
              <a:xfrm>
                <a:off x="4433" y="3106"/>
                <a:ext cx="57" cy="114"/>
              </a:xfrm>
              <a:custGeom>
                <a:avLst/>
                <a:gdLst>
                  <a:gd name="T0" fmla="*/ 170 w 227"/>
                  <a:gd name="T1" fmla="*/ 0 h 458"/>
                  <a:gd name="T2" fmla="*/ 0 w 227"/>
                  <a:gd name="T3" fmla="*/ 171 h 458"/>
                  <a:gd name="T4" fmla="*/ 0 w 227"/>
                  <a:gd name="T5" fmla="*/ 458 h 458"/>
                  <a:gd name="T6" fmla="*/ 227 w 227"/>
                  <a:gd name="T7" fmla="*/ 458 h 458"/>
                  <a:gd name="T8" fmla="*/ 227 w 227"/>
                  <a:gd name="T9" fmla="*/ 114 h 458"/>
                  <a:gd name="T10" fmla="*/ 170 w 227"/>
                  <a:gd name="T11" fmla="*/ 0 h 458"/>
                </a:gdLst>
                <a:ahLst/>
                <a:cxnLst>
                  <a:cxn ang="0">
                    <a:pos x="T0" y="T1"/>
                  </a:cxn>
                  <a:cxn ang="0">
                    <a:pos x="T2" y="T3"/>
                  </a:cxn>
                  <a:cxn ang="0">
                    <a:pos x="T4" y="T5"/>
                  </a:cxn>
                  <a:cxn ang="0">
                    <a:pos x="T6" y="T7"/>
                  </a:cxn>
                  <a:cxn ang="0">
                    <a:pos x="T8" y="T9"/>
                  </a:cxn>
                  <a:cxn ang="0">
                    <a:pos x="T10" y="T11"/>
                  </a:cxn>
                </a:cxnLst>
                <a:rect l="0" t="0" r="r" b="b"/>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77" name="Rectangle 77"/>
              <p:cNvSpPr>
                <a:spLocks noChangeArrowheads="1"/>
              </p:cNvSpPr>
              <p:nvPr/>
            </p:nvSpPr>
            <p:spPr bwMode="auto">
              <a:xfrm>
                <a:off x="4420" y="3276"/>
                <a:ext cx="395" cy="14"/>
              </a:xfrm>
              <a:prstGeom prst="rect">
                <a:avLst/>
              </a:prstGeom>
              <a:solidFill>
                <a:srgbClr val="9F9F9F"/>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78" name="Rectangle 78"/>
              <p:cNvSpPr>
                <a:spLocks noChangeArrowheads="1"/>
              </p:cNvSpPr>
              <p:nvPr/>
            </p:nvSpPr>
            <p:spPr bwMode="auto">
              <a:xfrm>
                <a:off x="4420" y="3250"/>
                <a:ext cx="395" cy="24"/>
              </a:xfrm>
              <a:prstGeom prst="rect">
                <a:avLst/>
              </a:prstGeom>
              <a:solidFill>
                <a:srgbClr val="9F9F9F"/>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79" name="Rectangle 79"/>
              <p:cNvSpPr>
                <a:spLocks noChangeArrowheads="1"/>
              </p:cNvSpPr>
              <p:nvPr/>
            </p:nvSpPr>
            <p:spPr bwMode="auto">
              <a:xfrm>
                <a:off x="4420" y="3221"/>
                <a:ext cx="395" cy="27"/>
              </a:xfrm>
              <a:prstGeom prst="rect">
                <a:avLst/>
              </a:prstGeom>
              <a:solidFill>
                <a:srgbClr val="9F9F9F"/>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80" name="Rectangle 80"/>
              <p:cNvSpPr>
                <a:spLocks noChangeArrowheads="1"/>
              </p:cNvSpPr>
              <p:nvPr/>
            </p:nvSpPr>
            <p:spPr bwMode="auto">
              <a:xfrm>
                <a:off x="4763" y="3200"/>
                <a:ext cx="41" cy="12"/>
              </a:xfrm>
              <a:prstGeom prst="rect">
                <a:avLst/>
              </a:prstGeom>
              <a:solidFill>
                <a:srgbClr val="9F9F9F"/>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81" name="Oval 81"/>
              <p:cNvSpPr>
                <a:spLocks noChangeArrowheads="1"/>
              </p:cNvSpPr>
              <p:nvPr/>
            </p:nvSpPr>
            <p:spPr bwMode="auto">
              <a:xfrm>
                <a:off x="4462" y="3092"/>
                <a:ext cx="28" cy="29"/>
              </a:xfrm>
              <a:prstGeom prst="ellipse">
                <a:avLst/>
              </a:prstGeom>
              <a:solidFill>
                <a:srgbClr val="9F9F9F"/>
              </a:solidFill>
              <a:ln w="31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82" name="Rectangle 82"/>
              <p:cNvSpPr>
                <a:spLocks noChangeArrowheads="1"/>
              </p:cNvSpPr>
              <p:nvPr/>
            </p:nvSpPr>
            <p:spPr bwMode="auto">
              <a:xfrm>
                <a:off x="4562" y="3036"/>
                <a:ext cx="27" cy="26"/>
              </a:xfrm>
              <a:prstGeom prst="rect">
                <a:avLst/>
              </a:prstGeom>
              <a:solidFill>
                <a:srgbClr val="808080"/>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83" name="Freeform 83"/>
              <p:cNvSpPr>
                <a:spLocks/>
              </p:cNvSpPr>
              <p:nvPr/>
            </p:nvSpPr>
            <p:spPr bwMode="auto">
              <a:xfrm>
                <a:off x="4547" y="3021"/>
                <a:ext cx="114" cy="114"/>
              </a:xfrm>
              <a:custGeom>
                <a:avLst/>
                <a:gdLst>
                  <a:gd name="T0" fmla="*/ 57 w 454"/>
                  <a:gd name="T1" fmla="*/ 455 h 455"/>
                  <a:gd name="T2" fmla="*/ 57 w 454"/>
                  <a:gd name="T3" fmla="*/ 57 h 455"/>
                  <a:gd name="T4" fmla="*/ 454 w 454"/>
                  <a:gd name="T5" fmla="*/ 57 h 455"/>
                  <a:gd name="T6" fmla="*/ 454 w 454"/>
                  <a:gd name="T7" fmla="*/ 0 h 455"/>
                  <a:gd name="T8" fmla="*/ 0 w 454"/>
                  <a:gd name="T9" fmla="*/ 0 h 455"/>
                  <a:gd name="T10" fmla="*/ 0 w 454"/>
                  <a:gd name="T11" fmla="*/ 455 h 455"/>
                  <a:gd name="T12" fmla="*/ 57 w 454"/>
                  <a:gd name="T13" fmla="*/ 455 h 455"/>
                </a:gdLst>
                <a:ahLst/>
                <a:cxnLst>
                  <a:cxn ang="0">
                    <a:pos x="T0" y="T1"/>
                  </a:cxn>
                  <a:cxn ang="0">
                    <a:pos x="T2" y="T3"/>
                  </a:cxn>
                  <a:cxn ang="0">
                    <a:pos x="T4" y="T5"/>
                  </a:cxn>
                  <a:cxn ang="0">
                    <a:pos x="T6" y="T7"/>
                  </a:cxn>
                  <a:cxn ang="0">
                    <a:pos x="T8" y="T9"/>
                  </a:cxn>
                  <a:cxn ang="0">
                    <a:pos x="T10" y="T11"/>
                  </a:cxn>
                  <a:cxn ang="0">
                    <a:pos x="T12" y="T13"/>
                  </a:cxn>
                </a:cxnLst>
                <a:rect l="0" t="0" r="r" b="b"/>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nvGrpSpPr>
              <p:cNvPr id="84" name="Group 84"/>
              <p:cNvGrpSpPr>
                <a:grpSpLocks/>
              </p:cNvGrpSpPr>
              <p:nvPr/>
            </p:nvGrpSpPr>
            <p:grpSpPr bwMode="auto">
              <a:xfrm>
                <a:off x="4455" y="2913"/>
                <a:ext cx="126" cy="116"/>
                <a:chOff x="4455" y="2913"/>
                <a:chExt cx="126" cy="116"/>
              </a:xfrm>
            </p:grpSpPr>
            <p:sp>
              <p:nvSpPr>
                <p:cNvPr id="107" name="Oval 85"/>
                <p:cNvSpPr>
                  <a:spLocks noChangeArrowheads="1"/>
                </p:cNvSpPr>
                <p:nvPr/>
              </p:nvSpPr>
              <p:spPr bwMode="auto">
                <a:xfrm>
                  <a:off x="4465" y="2913"/>
                  <a:ext cx="116" cy="116"/>
                </a:xfrm>
                <a:prstGeom prst="ellipse">
                  <a:avLst/>
                </a:prstGeom>
                <a:solidFill>
                  <a:srgbClr val="808080"/>
                </a:solidFill>
                <a:ln w="31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08" name="Oval 86"/>
                <p:cNvSpPr>
                  <a:spLocks noChangeArrowheads="1"/>
                </p:cNvSpPr>
                <p:nvPr/>
              </p:nvSpPr>
              <p:spPr bwMode="auto">
                <a:xfrm>
                  <a:off x="4455" y="2913"/>
                  <a:ext cx="115" cy="116"/>
                </a:xfrm>
                <a:prstGeom prst="ellipse">
                  <a:avLst/>
                </a:prstGeom>
                <a:solidFill>
                  <a:srgbClr val="C0C0C0"/>
                </a:solidFill>
                <a:ln w="31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grpSp>
            <p:nvGrpSpPr>
              <p:cNvPr id="85" name="Group 87"/>
              <p:cNvGrpSpPr>
                <a:grpSpLocks/>
              </p:cNvGrpSpPr>
              <p:nvPr/>
            </p:nvGrpSpPr>
            <p:grpSpPr bwMode="auto">
              <a:xfrm>
                <a:off x="4504" y="3136"/>
                <a:ext cx="43" cy="112"/>
                <a:chOff x="4504" y="3136"/>
                <a:chExt cx="43" cy="112"/>
              </a:xfrm>
            </p:grpSpPr>
            <p:sp>
              <p:nvSpPr>
                <p:cNvPr id="98" name="Rectangle 88"/>
                <p:cNvSpPr>
                  <a:spLocks noChangeArrowheads="1"/>
                </p:cNvSpPr>
                <p:nvPr/>
              </p:nvSpPr>
              <p:spPr bwMode="auto">
                <a:xfrm>
                  <a:off x="4505" y="3136"/>
                  <a:ext cx="41" cy="112"/>
                </a:xfrm>
                <a:prstGeom prst="rect">
                  <a:avLst/>
                </a:prstGeom>
                <a:solidFill>
                  <a:srgbClr val="C0C0C0"/>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nvGrpSpPr>
                <p:cNvPr id="99" name="Group 89"/>
                <p:cNvGrpSpPr>
                  <a:grpSpLocks/>
                </p:cNvGrpSpPr>
                <p:nvPr/>
              </p:nvGrpSpPr>
              <p:grpSpPr bwMode="auto">
                <a:xfrm>
                  <a:off x="4504" y="3149"/>
                  <a:ext cx="43" cy="87"/>
                  <a:chOff x="4504" y="3149"/>
                  <a:chExt cx="43" cy="87"/>
                </a:xfrm>
              </p:grpSpPr>
              <p:sp>
                <p:nvSpPr>
                  <p:cNvPr id="100" name="Line 90"/>
                  <p:cNvSpPr>
                    <a:spLocks noChangeShapeType="1"/>
                  </p:cNvSpPr>
                  <p:nvPr/>
                </p:nvSpPr>
                <p:spPr bwMode="auto">
                  <a:xfrm>
                    <a:off x="4504" y="3163"/>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01" name="Line 91"/>
                  <p:cNvSpPr>
                    <a:spLocks noChangeShapeType="1"/>
                  </p:cNvSpPr>
                  <p:nvPr/>
                </p:nvSpPr>
                <p:spPr bwMode="auto">
                  <a:xfrm>
                    <a:off x="4504" y="3206"/>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02" name="Line 92"/>
                  <p:cNvSpPr>
                    <a:spLocks noChangeShapeType="1"/>
                  </p:cNvSpPr>
                  <p:nvPr/>
                </p:nvSpPr>
                <p:spPr bwMode="auto">
                  <a:xfrm>
                    <a:off x="4504" y="3192"/>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03" name="Line 93"/>
                  <p:cNvSpPr>
                    <a:spLocks noChangeShapeType="1"/>
                  </p:cNvSpPr>
                  <p:nvPr/>
                </p:nvSpPr>
                <p:spPr bwMode="auto">
                  <a:xfrm>
                    <a:off x="4504" y="3178"/>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04" name="Line 94"/>
                  <p:cNvSpPr>
                    <a:spLocks noChangeShapeType="1"/>
                  </p:cNvSpPr>
                  <p:nvPr/>
                </p:nvSpPr>
                <p:spPr bwMode="auto">
                  <a:xfrm>
                    <a:off x="4504" y="3149"/>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05" name="Line 95"/>
                  <p:cNvSpPr>
                    <a:spLocks noChangeShapeType="1"/>
                  </p:cNvSpPr>
                  <p:nvPr/>
                </p:nvSpPr>
                <p:spPr bwMode="auto">
                  <a:xfrm>
                    <a:off x="4504" y="3220"/>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06" name="Line 96"/>
                  <p:cNvSpPr>
                    <a:spLocks noChangeShapeType="1"/>
                  </p:cNvSpPr>
                  <p:nvPr/>
                </p:nvSpPr>
                <p:spPr bwMode="auto">
                  <a:xfrm>
                    <a:off x="4504" y="3235"/>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grpSp>
          <p:sp>
            <p:nvSpPr>
              <p:cNvPr id="86" name="Rectangle 97"/>
              <p:cNvSpPr>
                <a:spLocks noChangeArrowheads="1"/>
              </p:cNvSpPr>
              <p:nvPr/>
            </p:nvSpPr>
            <p:spPr bwMode="auto">
              <a:xfrm>
                <a:off x="4775" y="3164"/>
                <a:ext cx="12" cy="27"/>
              </a:xfrm>
              <a:prstGeom prst="rect">
                <a:avLst/>
              </a:prstGeom>
              <a:solidFill>
                <a:srgbClr val="C0C0C0"/>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87" name="Freeform 98"/>
              <p:cNvSpPr>
                <a:spLocks/>
              </p:cNvSpPr>
              <p:nvPr/>
            </p:nvSpPr>
            <p:spPr bwMode="auto">
              <a:xfrm>
                <a:off x="4696" y="2871"/>
                <a:ext cx="32" cy="55"/>
              </a:xfrm>
              <a:custGeom>
                <a:avLst/>
                <a:gdLst>
                  <a:gd name="T0" fmla="*/ 107 w 129"/>
                  <a:gd name="T1" fmla="*/ 0 h 221"/>
                  <a:gd name="T2" fmla="*/ 0 w 129"/>
                  <a:gd name="T3" fmla="*/ 185 h 221"/>
                  <a:gd name="T4" fmla="*/ 21 w 129"/>
                  <a:gd name="T5" fmla="*/ 221 h 221"/>
                  <a:gd name="T6" fmla="*/ 129 w 129"/>
                  <a:gd name="T7" fmla="*/ 7 h 221"/>
                  <a:gd name="T8" fmla="*/ 107 w 129"/>
                  <a:gd name="T9" fmla="*/ 0 h 221"/>
                </a:gdLst>
                <a:ahLst/>
                <a:cxnLst>
                  <a:cxn ang="0">
                    <a:pos x="T0" y="T1"/>
                  </a:cxn>
                  <a:cxn ang="0">
                    <a:pos x="T2" y="T3"/>
                  </a:cxn>
                  <a:cxn ang="0">
                    <a:pos x="T4" y="T5"/>
                  </a:cxn>
                  <a:cxn ang="0">
                    <a:pos x="T6" y="T7"/>
                  </a:cxn>
                  <a:cxn ang="0">
                    <a:pos x="T8" y="T9"/>
                  </a:cxn>
                </a:cxnLst>
                <a:rect l="0" t="0" r="r" b="b"/>
                <a:pathLst>
                  <a:path w="129" h="221">
                    <a:moveTo>
                      <a:pt x="107" y="0"/>
                    </a:moveTo>
                    <a:lnTo>
                      <a:pt x="0" y="185"/>
                    </a:lnTo>
                    <a:lnTo>
                      <a:pt x="21" y="221"/>
                    </a:lnTo>
                    <a:lnTo>
                      <a:pt x="129" y="7"/>
                    </a:lnTo>
                    <a:lnTo>
                      <a:pt x="107" y="0"/>
                    </a:lnTo>
                    <a:close/>
                  </a:path>
                </a:pathLst>
              </a:custGeom>
              <a:solidFill>
                <a:srgbClr val="BFBFD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88" name="Freeform 99"/>
              <p:cNvSpPr>
                <a:spLocks/>
              </p:cNvSpPr>
              <p:nvPr/>
            </p:nvSpPr>
            <p:spPr bwMode="auto">
              <a:xfrm>
                <a:off x="4657" y="2848"/>
                <a:ext cx="62" cy="16"/>
              </a:xfrm>
              <a:custGeom>
                <a:avLst/>
                <a:gdLst>
                  <a:gd name="T0" fmla="*/ 241 w 249"/>
                  <a:gd name="T1" fmla="*/ 0 h 66"/>
                  <a:gd name="T2" fmla="*/ 0 w 249"/>
                  <a:gd name="T3" fmla="*/ 36 h 66"/>
                  <a:gd name="T4" fmla="*/ 35 w 249"/>
                  <a:gd name="T5" fmla="*/ 66 h 66"/>
                  <a:gd name="T6" fmla="*/ 249 w 249"/>
                  <a:gd name="T7" fmla="*/ 22 h 66"/>
                  <a:gd name="T8" fmla="*/ 241 w 249"/>
                  <a:gd name="T9" fmla="*/ 0 h 66"/>
                </a:gdLst>
                <a:ahLst/>
                <a:cxnLst>
                  <a:cxn ang="0">
                    <a:pos x="T0" y="T1"/>
                  </a:cxn>
                  <a:cxn ang="0">
                    <a:pos x="T2" y="T3"/>
                  </a:cxn>
                  <a:cxn ang="0">
                    <a:pos x="T4" y="T5"/>
                  </a:cxn>
                  <a:cxn ang="0">
                    <a:pos x="T6" y="T7"/>
                  </a:cxn>
                  <a:cxn ang="0">
                    <a:pos x="T8" y="T9"/>
                  </a:cxn>
                </a:cxnLst>
                <a:rect l="0" t="0" r="r" b="b"/>
                <a:pathLst>
                  <a:path w="249" h="66">
                    <a:moveTo>
                      <a:pt x="241" y="0"/>
                    </a:moveTo>
                    <a:lnTo>
                      <a:pt x="0" y="36"/>
                    </a:lnTo>
                    <a:lnTo>
                      <a:pt x="35" y="66"/>
                    </a:lnTo>
                    <a:lnTo>
                      <a:pt x="249" y="22"/>
                    </a:lnTo>
                    <a:lnTo>
                      <a:pt x="241" y="0"/>
                    </a:lnTo>
                    <a:close/>
                  </a:path>
                </a:pathLst>
              </a:custGeom>
              <a:solidFill>
                <a:srgbClr val="BFBFD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89" name="Freeform 100"/>
              <p:cNvSpPr>
                <a:spLocks/>
              </p:cNvSpPr>
              <p:nvPr/>
            </p:nvSpPr>
            <p:spPr bwMode="auto">
              <a:xfrm>
                <a:off x="4516" y="2720"/>
                <a:ext cx="233" cy="367"/>
              </a:xfrm>
              <a:custGeom>
                <a:avLst/>
                <a:gdLst>
                  <a:gd name="T0" fmla="*/ 30 w 931"/>
                  <a:gd name="T1" fmla="*/ 53 h 1469"/>
                  <a:gd name="T2" fmla="*/ 16 w 931"/>
                  <a:gd name="T3" fmla="*/ 96 h 1469"/>
                  <a:gd name="T4" fmla="*/ 4 w 931"/>
                  <a:gd name="T5" fmla="*/ 150 h 1469"/>
                  <a:gd name="T6" fmla="*/ 0 w 931"/>
                  <a:gd name="T7" fmla="*/ 207 h 1469"/>
                  <a:gd name="T8" fmla="*/ 0 w 931"/>
                  <a:gd name="T9" fmla="*/ 264 h 1469"/>
                  <a:gd name="T10" fmla="*/ 12 w 931"/>
                  <a:gd name="T11" fmla="*/ 338 h 1469"/>
                  <a:gd name="T12" fmla="*/ 23 w 931"/>
                  <a:gd name="T13" fmla="*/ 431 h 1469"/>
                  <a:gd name="T14" fmla="*/ 44 w 931"/>
                  <a:gd name="T15" fmla="*/ 534 h 1469"/>
                  <a:gd name="T16" fmla="*/ 79 w 931"/>
                  <a:gd name="T17" fmla="*/ 653 h 1469"/>
                  <a:gd name="T18" fmla="*/ 133 w 931"/>
                  <a:gd name="T19" fmla="*/ 767 h 1469"/>
                  <a:gd name="T20" fmla="*/ 218 w 931"/>
                  <a:gd name="T21" fmla="*/ 902 h 1469"/>
                  <a:gd name="T22" fmla="*/ 303 w 931"/>
                  <a:gd name="T23" fmla="*/ 1031 h 1469"/>
                  <a:gd name="T24" fmla="*/ 374 w 931"/>
                  <a:gd name="T25" fmla="*/ 1116 h 1469"/>
                  <a:gd name="T26" fmla="*/ 473 w 931"/>
                  <a:gd name="T27" fmla="*/ 1219 h 1469"/>
                  <a:gd name="T28" fmla="*/ 576 w 931"/>
                  <a:gd name="T29" fmla="*/ 1305 h 1469"/>
                  <a:gd name="T30" fmla="*/ 668 w 931"/>
                  <a:gd name="T31" fmla="*/ 1373 h 1469"/>
                  <a:gd name="T32" fmla="*/ 735 w 931"/>
                  <a:gd name="T33" fmla="*/ 1415 h 1469"/>
                  <a:gd name="T34" fmla="*/ 802 w 931"/>
                  <a:gd name="T35" fmla="*/ 1447 h 1469"/>
                  <a:gd name="T36" fmla="*/ 857 w 931"/>
                  <a:gd name="T37" fmla="*/ 1469 h 1469"/>
                  <a:gd name="T38" fmla="*/ 899 w 931"/>
                  <a:gd name="T39" fmla="*/ 1469 h 1469"/>
                  <a:gd name="T40" fmla="*/ 931 w 931"/>
                  <a:gd name="T41" fmla="*/ 1451 h 1469"/>
                  <a:gd name="T42" fmla="*/ 62 w 931"/>
                  <a:gd name="T43" fmla="*/ 0 h 1469"/>
                  <a:gd name="T44" fmla="*/ 30 w 931"/>
                  <a:gd name="T45" fmla="*/ 53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90" name="Freeform 101"/>
              <p:cNvSpPr>
                <a:spLocks/>
              </p:cNvSpPr>
              <p:nvPr/>
            </p:nvSpPr>
            <p:spPr bwMode="auto">
              <a:xfrm>
                <a:off x="4529" y="2719"/>
                <a:ext cx="220" cy="364"/>
              </a:xfrm>
              <a:custGeom>
                <a:avLst/>
                <a:gdLst>
                  <a:gd name="T0" fmla="*/ 7 w 876"/>
                  <a:gd name="T1" fmla="*/ 0 h 1455"/>
                  <a:gd name="T2" fmla="*/ 0 w 876"/>
                  <a:gd name="T3" fmla="*/ 29 h 1455"/>
                  <a:gd name="T4" fmla="*/ 0 w 876"/>
                  <a:gd name="T5" fmla="*/ 93 h 1455"/>
                  <a:gd name="T6" fmla="*/ 3 w 876"/>
                  <a:gd name="T7" fmla="*/ 168 h 1455"/>
                  <a:gd name="T8" fmla="*/ 10 w 876"/>
                  <a:gd name="T9" fmla="*/ 228 h 1455"/>
                  <a:gd name="T10" fmla="*/ 21 w 876"/>
                  <a:gd name="T11" fmla="*/ 307 h 1455"/>
                  <a:gd name="T12" fmla="*/ 35 w 876"/>
                  <a:gd name="T13" fmla="*/ 399 h 1455"/>
                  <a:gd name="T14" fmla="*/ 56 w 876"/>
                  <a:gd name="T15" fmla="*/ 496 h 1455"/>
                  <a:gd name="T16" fmla="*/ 99 w 876"/>
                  <a:gd name="T17" fmla="*/ 618 h 1455"/>
                  <a:gd name="T18" fmla="*/ 163 w 876"/>
                  <a:gd name="T19" fmla="*/ 757 h 1455"/>
                  <a:gd name="T20" fmla="*/ 234 w 876"/>
                  <a:gd name="T21" fmla="*/ 871 h 1455"/>
                  <a:gd name="T22" fmla="*/ 319 w 876"/>
                  <a:gd name="T23" fmla="*/ 992 h 1455"/>
                  <a:gd name="T24" fmla="*/ 397 w 876"/>
                  <a:gd name="T25" fmla="*/ 1084 h 1455"/>
                  <a:gd name="T26" fmla="*/ 457 w 876"/>
                  <a:gd name="T27" fmla="*/ 1147 h 1455"/>
                  <a:gd name="T28" fmla="*/ 513 w 876"/>
                  <a:gd name="T29" fmla="*/ 1206 h 1455"/>
                  <a:gd name="T30" fmla="*/ 574 w 876"/>
                  <a:gd name="T31" fmla="*/ 1263 h 1455"/>
                  <a:gd name="T32" fmla="*/ 641 w 876"/>
                  <a:gd name="T33" fmla="*/ 1318 h 1455"/>
                  <a:gd name="T34" fmla="*/ 687 w 876"/>
                  <a:gd name="T35" fmla="*/ 1355 h 1455"/>
                  <a:gd name="T36" fmla="*/ 737 w 876"/>
                  <a:gd name="T37" fmla="*/ 1387 h 1455"/>
                  <a:gd name="T38" fmla="*/ 791 w 876"/>
                  <a:gd name="T39" fmla="*/ 1418 h 1455"/>
                  <a:gd name="T40" fmla="*/ 837 w 876"/>
                  <a:gd name="T41" fmla="*/ 1448 h 1455"/>
                  <a:gd name="T42" fmla="*/ 865 w 876"/>
                  <a:gd name="T43" fmla="*/ 1455 h 1455"/>
                  <a:gd name="T44" fmla="*/ 876 w 876"/>
                  <a:gd name="T45" fmla="*/ 1434 h 1455"/>
                  <a:gd name="T46" fmla="*/ 874 w 876"/>
                  <a:gd name="T47" fmla="*/ 1404 h 1455"/>
                  <a:gd name="T48" fmla="*/ 867 w 876"/>
                  <a:gd name="T49" fmla="*/ 1369 h 1455"/>
                  <a:gd name="T50" fmla="*/ 855 w 876"/>
                  <a:gd name="T51" fmla="*/ 1309 h 1455"/>
                  <a:gd name="T52" fmla="*/ 841 w 876"/>
                  <a:gd name="T53" fmla="*/ 1229 h 1455"/>
                  <a:gd name="T54" fmla="*/ 823 w 876"/>
                  <a:gd name="T55" fmla="*/ 1156 h 1455"/>
                  <a:gd name="T56" fmla="*/ 802 w 876"/>
                  <a:gd name="T57" fmla="*/ 1069 h 1455"/>
                  <a:gd name="T58" fmla="*/ 773 w 876"/>
                  <a:gd name="T59" fmla="*/ 978 h 1455"/>
                  <a:gd name="T60" fmla="*/ 741 w 876"/>
                  <a:gd name="T61" fmla="*/ 905 h 1455"/>
                  <a:gd name="T62" fmla="*/ 715 w 876"/>
                  <a:gd name="T63" fmla="*/ 842 h 1455"/>
                  <a:gd name="T64" fmla="*/ 674 w 876"/>
                  <a:gd name="T65" fmla="*/ 759 h 1455"/>
                  <a:gd name="T66" fmla="*/ 634 w 876"/>
                  <a:gd name="T67" fmla="*/ 686 h 1455"/>
                  <a:gd name="T68" fmla="*/ 586 w 876"/>
                  <a:gd name="T69" fmla="*/ 606 h 1455"/>
                  <a:gd name="T70" fmla="*/ 510 w 876"/>
                  <a:gd name="T71" fmla="*/ 506 h 1455"/>
                  <a:gd name="T72" fmla="*/ 457 w 876"/>
                  <a:gd name="T73" fmla="*/ 435 h 1455"/>
                  <a:gd name="T74" fmla="*/ 380 w 876"/>
                  <a:gd name="T75" fmla="*/ 338 h 1455"/>
                  <a:gd name="T76" fmla="*/ 308 w 876"/>
                  <a:gd name="T77" fmla="*/ 268 h 1455"/>
                  <a:gd name="T78" fmla="*/ 237 w 876"/>
                  <a:gd name="T79" fmla="*/ 195 h 1455"/>
                  <a:gd name="T80" fmla="*/ 184 w 876"/>
                  <a:gd name="T81" fmla="*/ 143 h 1455"/>
                  <a:gd name="T82" fmla="*/ 127 w 876"/>
                  <a:gd name="T83" fmla="*/ 88 h 1455"/>
                  <a:gd name="T84" fmla="*/ 85 w 876"/>
                  <a:gd name="T85" fmla="*/ 50 h 1455"/>
                  <a:gd name="T86" fmla="*/ 42 w 876"/>
                  <a:gd name="T87" fmla="*/ 15 h 1455"/>
                  <a:gd name="T88" fmla="*/ 7 w 876"/>
                  <a:gd name="T8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91" name="Freeform 102"/>
              <p:cNvSpPr>
                <a:spLocks/>
              </p:cNvSpPr>
              <p:nvPr/>
            </p:nvSpPr>
            <p:spPr bwMode="auto">
              <a:xfrm>
                <a:off x="4537" y="2812"/>
                <a:ext cx="216" cy="16"/>
              </a:xfrm>
              <a:custGeom>
                <a:avLst/>
                <a:gdLst>
                  <a:gd name="T0" fmla="*/ 0 w 862"/>
                  <a:gd name="T1" fmla="*/ 0 h 64"/>
                  <a:gd name="T2" fmla="*/ 862 w 862"/>
                  <a:gd name="T3" fmla="*/ 36 h 64"/>
                  <a:gd name="T4" fmla="*/ 855 w 862"/>
                  <a:gd name="T5" fmla="*/ 64 h 64"/>
                  <a:gd name="T6" fmla="*/ 3 w 862"/>
                  <a:gd name="T7" fmla="*/ 28 h 64"/>
                  <a:gd name="T8" fmla="*/ 0 w 862"/>
                  <a:gd name="T9" fmla="*/ 0 h 64"/>
                </a:gdLst>
                <a:ahLst/>
                <a:cxnLst>
                  <a:cxn ang="0">
                    <a:pos x="T0" y="T1"/>
                  </a:cxn>
                  <a:cxn ang="0">
                    <a:pos x="T2" y="T3"/>
                  </a:cxn>
                  <a:cxn ang="0">
                    <a:pos x="T4" y="T5"/>
                  </a:cxn>
                  <a:cxn ang="0">
                    <a:pos x="T6" y="T7"/>
                  </a:cxn>
                  <a:cxn ang="0">
                    <a:pos x="T8" y="T9"/>
                  </a:cxn>
                </a:cxnLst>
                <a:rect l="0" t="0" r="r" b="b"/>
                <a:pathLst>
                  <a:path w="862" h="64">
                    <a:moveTo>
                      <a:pt x="0" y="0"/>
                    </a:moveTo>
                    <a:lnTo>
                      <a:pt x="862" y="36"/>
                    </a:lnTo>
                    <a:lnTo>
                      <a:pt x="855" y="64"/>
                    </a:lnTo>
                    <a:lnTo>
                      <a:pt x="3" y="28"/>
                    </a:lnTo>
                    <a:lnTo>
                      <a:pt x="0" y="0"/>
                    </a:lnTo>
                    <a:close/>
                  </a:path>
                </a:pathLst>
              </a:custGeom>
              <a:solidFill>
                <a:srgbClr val="DFDFF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92" name="Freeform 103"/>
              <p:cNvSpPr>
                <a:spLocks/>
              </p:cNvSpPr>
              <p:nvPr/>
            </p:nvSpPr>
            <p:spPr bwMode="auto">
              <a:xfrm>
                <a:off x="4685" y="2860"/>
                <a:ext cx="77" cy="190"/>
              </a:xfrm>
              <a:custGeom>
                <a:avLst/>
                <a:gdLst>
                  <a:gd name="T0" fmla="*/ 271 w 306"/>
                  <a:gd name="T1" fmla="*/ 16 h 760"/>
                  <a:gd name="T2" fmla="*/ 0 w 306"/>
                  <a:gd name="T3" fmla="*/ 742 h 760"/>
                  <a:gd name="T4" fmla="*/ 25 w 306"/>
                  <a:gd name="T5" fmla="*/ 760 h 760"/>
                  <a:gd name="T6" fmla="*/ 306 w 306"/>
                  <a:gd name="T7" fmla="*/ 0 h 760"/>
                  <a:gd name="T8" fmla="*/ 271 w 306"/>
                  <a:gd name="T9" fmla="*/ 16 h 760"/>
                </a:gdLst>
                <a:ahLst/>
                <a:cxnLst>
                  <a:cxn ang="0">
                    <a:pos x="T0" y="T1"/>
                  </a:cxn>
                  <a:cxn ang="0">
                    <a:pos x="T2" y="T3"/>
                  </a:cxn>
                  <a:cxn ang="0">
                    <a:pos x="T4" y="T5"/>
                  </a:cxn>
                  <a:cxn ang="0">
                    <a:pos x="T6" y="T7"/>
                  </a:cxn>
                  <a:cxn ang="0">
                    <a:pos x="T8" y="T9"/>
                  </a:cxn>
                </a:cxnLst>
                <a:rect l="0" t="0" r="r" b="b"/>
                <a:pathLst>
                  <a:path w="306" h="760">
                    <a:moveTo>
                      <a:pt x="271" y="16"/>
                    </a:moveTo>
                    <a:lnTo>
                      <a:pt x="0" y="742"/>
                    </a:lnTo>
                    <a:lnTo>
                      <a:pt x="25" y="760"/>
                    </a:lnTo>
                    <a:lnTo>
                      <a:pt x="306" y="0"/>
                    </a:lnTo>
                    <a:lnTo>
                      <a:pt x="271" y="16"/>
                    </a:lnTo>
                    <a:close/>
                  </a:path>
                </a:pathLst>
              </a:custGeom>
              <a:solidFill>
                <a:srgbClr val="DFDFF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93" name="Freeform 104"/>
              <p:cNvSpPr>
                <a:spLocks/>
              </p:cNvSpPr>
              <p:nvPr/>
            </p:nvSpPr>
            <p:spPr bwMode="auto">
              <a:xfrm>
                <a:off x="4712" y="2823"/>
                <a:ext cx="63" cy="52"/>
              </a:xfrm>
              <a:custGeom>
                <a:avLst/>
                <a:gdLst>
                  <a:gd name="T0" fmla="*/ 189 w 252"/>
                  <a:gd name="T1" fmla="*/ 0 h 208"/>
                  <a:gd name="T2" fmla="*/ 10 w 252"/>
                  <a:gd name="T3" fmla="*/ 64 h 208"/>
                  <a:gd name="T4" fmla="*/ 3 w 252"/>
                  <a:gd name="T5" fmla="*/ 75 h 208"/>
                  <a:gd name="T6" fmla="*/ 0 w 252"/>
                  <a:gd name="T7" fmla="*/ 96 h 208"/>
                  <a:gd name="T8" fmla="*/ 2 w 252"/>
                  <a:gd name="T9" fmla="*/ 126 h 208"/>
                  <a:gd name="T10" fmla="*/ 4 w 252"/>
                  <a:gd name="T11" fmla="*/ 144 h 208"/>
                  <a:gd name="T12" fmla="*/ 15 w 252"/>
                  <a:gd name="T13" fmla="*/ 170 h 208"/>
                  <a:gd name="T14" fmla="*/ 33 w 252"/>
                  <a:gd name="T15" fmla="*/ 190 h 208"/>
                  <a:gd name="T16" fmla="*/ 58 w 252"/>
                  <a:gd name="T17" fmla="*/ 204 h 208"/>
                  <a:gd name="T18" fmla="*/ 72 w 252"/>
                  <a:gd name="T19" fmla="*/ 208 h 208"/>
                  <a:gd name="T20" fmla="*/ 86 w 252"/>
                  <a:gd name="T21" fmla="*/ 208 h 208"/>
                  <a:gd name="T22" fmla="*/ 252 w 252"/>
                  <a:gd name="T23" fmla="*/ 128 h 208"/>
                  <a:gd name="T24" fmla="*/ 221 w 252"/>
                  <a:gd name="T25" fmla="*/ 103 h 208"/>
                  <a:gd name="T26" fmla="*/ 203 w 252"/>
                  <a:gd name="T27" fmla="*/ 78 h 208"/>
                  <a:gd name="T28" fmla="*/ 189 w 252"/>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94" name="Freeform 105"/>
              <p:cNvSpPr>
                <a:spLocks/>
              </p:cNvSpPr>
              <p:nvPr/>
            </p:nvSpPr>
            <p:spPr bwMode="auto">
              <a:xfrm>
                <a:off x="4749" y="2816"/>
                <a:ext cx="35" cy="49"/>
              </a:xfrm>
              <a:custGeom>
                <a:avLst/>
                <a:gdLst>
                  <a:gd name="T0" fmla="*/ 83 w 141"/>
                  <a:gd name="T1" fmla="*/ 28 h 194"/>
                  <a:gd name="T2" fmla="*/ 76 w 141"/>
                  <a:gd name="T3" fmla="*/ 16 h 194"/>
                  <a:gd name="T4" fmla="*/ 62 w 141"/>
                  <a:gd name="T5" fmla="*/ 6 h 194"/>
                  <a:gd name="T6" fmla="*/ 37 w 141"/>
                  <a:gd name="T7" fmla="*/ 0 h 194"/>
                  <a:gd name="T8" fmla="*/ 23 w 141"/>
                  <a:gd name="T9" fmla="*/ 2 h 194"/>
                  <a:gd name="T10" fmla="*/ 13 w 141"/>
                  <a:gd name="T11" fmla="*/ 13 h 194"/>
                  <a:gd name="T12" fmla="*/ 5 w 141"/>
                  <a:gd name="T13" fmla="*/ 28 h 194"/>
                  <a:gd name="T14" fmla="*/ 0 w 141"/>
                  <a:gd name="T15" fmla="*/ 52 h 194"/>
                  <a:gd name="T16" fmla="*/ 1 w 141"/>
                  <a:gd name="T17" fmla="*/ 65 h 194"/>
                  <a:gd name="T18" fmla="*/ 4 w 141"/>
                  <a:gd name="T19" fmla="*/ 83 h 194"/>
                  <a:gd name="T20" fmla="*/ 10 w 141"/>
                  <a:gd name="T21" fmla="*/ 109 h 194"/>
                  <a:gd name="T22" fmla="*/ 20 w 141"/>
                  <a:gd name="T23" fmla="*/ 130 h 194"/>
                  <a:gd name="T24" fmla="*/ 32 w 141"/>
                  <a:gd name="T25" fmla="*/ 149 h 194"/>
                  <a:gd name="T26" fmla="*/ 45 w 141"/>
                  <a:gd name="T27" fmla="*/ 166 h 194"/>
                  <a:gd name="T28" fmla="*/ 59 w 141"/>
                  <a:gd name="T29" fmla="*/ 180 h 194"/>
                  <a:gd name="T30" fmla="*/ 77 w 141"/>
                  <a:gd name="T31" fmla="*/ 188 h 194"/>
                  <a:gd name="T32" fmla="*/ 98 w 141"/>
                  <a:gd name="T33" fmla="*/ 194 h 194"/>
                  <a:gd name="T34" fmla="*/ 116 w 141"/>
                  <a:gd name="T35" fmla="*/ 194 h 194"/>
                  <a:gd name="T36" fmla="*/ 132 w 141"/>
                  <a:gd name="T37" fmla="*/ 185 h 194"/>
                  <a:gd name="T38" fmla="*/ 140 w 141"/>
                  <a:gd name="T39" fmla="*/ 170 h 194"/>
                  <a:gd name="T40" fmla="*/ 141 w 141"/>
                  <a:gd name="T41" fmla="*/ 148 h 194"/>
                  <a:gd name="T42" fmla="*/ 136 w 141"/>
                  <a:gd name="T43" fmla="*/ 124 h 194"/>
                  <a:gd name="T44" fmla="*/ 125 w 141"/>
                  <a:gd name="T45" fmla="*/ 92 h 194"/>
                  <a:gd name="T46" fmla="*/ 101 w 141"/>
                  <a:gd name="T47" fmla="*/ 52 h 194"/>
                  <a:gd name="T48" fmla="*/ 83 w 141"/>
                  <a:gd name="T49" fmla="*/ 2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95" name="Freeform 106"/>
              <p:cNvSpPr>
                <a:spLocks/>
              </p:cNvSpPr>
              <p:nvPr/>
            </p:nvSpPr>
            <p:spPr bwMode="auto">
              <a:xfrm>
                <a:off x="4758" y="2819"/>
                <a:ext cx="43" cy="35"/>
              </a:xfrm>
              <a:custGeom>
                <a:avLst/>
                <a:gdLst>
                  <a:gd name="T0" fmla="*/ 13 w 173"/>
                  <a:gd name="T1" fmla="*/ 31 h 139"/>
                  <a:gd name="T2" fmla="*/ 122 w 173"/>
                  <a:gd name="T3" fmla="*/ 4 h 139"/>
                  <a:gd name="T4" fmla="*/ 148 w 173"/>
                  <a:gd name="T5" fmla="*/ 0 h 139"/>
                  <a:gd name="T6" fmla="*/ 165 w 173"/>
                  <a:gd name="T7" fmla="*/ 4 h 139"/>
                  <a:gd name="T8" fmla="*/ 171 w 173"/>
                  <a:gd name="T9" fmla="*/ 11 h 139"/>
                  <a:gd name="T10" fmla="*/ 173 w 173"/>
                  <a:gd name="T11" fmla="*/ 25 h 139"/>
                  <a:gd name="T12" fmla="*/ 165 w 173"/>
                  <a:gd name="T13" fmla="*/ 47 h 139"/>
                  <a:gd name="T14" fmla="*/ 65 w 173"/>
                  <a:gd name="T15" fmla="*/ 139 h 139"/>
                  <a:gd name="T16" fmla="*/ 51 w 173"/>
                  <a:gd name="T17" fmla="*/ 138 h 139"/>
                  <a:gd name="T18" fmla="*/ 34 w 173"/>
                  <a:gd name="T19" fmla="*/ 132 h 139"/>
                  <a:gd name="T20" fmla="*/ 23 w 173"/>
                  <a:gd name="T21" fmla="*/ 120 h 139"/>
                  <a:gd name="T22" fmla="*/ 8 w 173"/>
                  <a:gd name="T23" fmla="*/ 103 h 139"/>
                  <a:gd name="T24" fmla="*/ 1 w 173"/>
                  <a:gd name="T25" fmla="*/ 85 h 139"/>
                  <a:gd name="T26" fmla="*/ 0 w 173"/>
                  <a:gd name="T27" fmla="*/ 65 h 139"/>
                  <a:gd name="T28" fmla="*/ 5 w 173"/>
                  <a:gd name="T29" fmla="*/ 46 h 139"/>
                  <a:gd name="T30" fmla="*/ 13 w 173"/>
                  <a:gd name="T3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96" name="Freeform 107"/>
              <p:cNvSpPr>
                <a:spLocks/>
              </p:cNvSpPr>
              <p:nvPr/>
            </p:nvSpPr>
            <p:spPr bwMode="auto">
              <a:xfrm>
                <a:off x="4725" y="2836"/>
                <a:ext cx="19" cy="35"/>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9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97" name="Freeform 108"/>
              <p:cNvSpPr>
                <a:spLocks/>
              </p:cNvSpPr>
              <p:nvPr/>
            </p:nvSpPr>
            <p:spPr bwMode="auto">
              <a:xfrm>
                <a:off x="4737" y="2831"/>
                <a:ext cx="18" cy="35"/>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8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pic>
          <p:nvPicPr>
            <p:cNvPr id="111" name="Picture 10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02064" y="2956322"/>
              <a:ext cx="989012" cy="35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2" name="Picture 1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07089" y="3964384"/>
              <a:ext cx="520700"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 name="Picture 11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68701" y="2092722"/>
              <a:ext cx="52070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14" name="Group 112"/>
            <p:cNvGrpSpPr>
              <a:grpSpLocks/>
            </p:cNvGrpSpPr>
            <p:nvPr/>
          </p:nvGrpSpPr>
          <p:grpSpPr bwMode="auto">
            <a:xfrm flipH="1">
              <a:off x="8194426" y="3605609"/>
              <a:ext cx="415925" cy="504825"/>
              <a:chOff x="4416" y="2717"/>
              <a:chExt cx="404" cy="577"/>
            </a:xfrm>
          </p:grpSpPr>
          <p:sp>
            <p:nvSpPr>
              <p:cNvPr id="115" name="AutoShape 113"/>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nvGrpSpPr>
              <p:cNvPr id="116" name="Group 114"/>
              <p:cNvGrpSpPr>
                <a:grpSpLocks/>
              </p:cNvGrpSpPr>
              <p:nvPr/>
            </p:nvGrpSpPr>
            <p:grpSpPr bwMode="auto">
              <a:xfrm>
                <a:off x="4562" y="3066"/>
                <a:ext cx="13" cy="70"/>
                <a:chOff x="4562" y="3066"/>
                <a:chExt cx="13" cy="70"/>
              </a:xfrm>
            </p:grpSpPr>
            <p:sp>
              <p:nvSpPr>
                <p:cNvPr id="161" name="Rectangle 115"/>
                <p:cNvSpPr>
                  <a:spLocks noChangeArrowheads="1"/>
                </p:cNvSpPr>
                <p:nvPr/>
              </p:nvSpPr>
              <p:spPr bwMode="auto">
                <a:xfrm>
                  <a:off x="4562" y="3067"/>
                  <a:ext cx="13" cy="69"/>
                </a:xfrm>
                <a:prstGeom prst="rect">
                  <a:avLst/>
                </a:prstGeom>
                <a:solidFill>
                  <a:srgbClr val="C0C0C0"/>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62" name="Line 116"/>
                <p:cNvSpPr>
                  <a:spLocks noChangeShapeType="1"/>
                </p:cNvSpPr>
                <p:nvPr/>
              </p:nvSpPr>
              <p:spPr bwMode="auto">
                <a:xfrm>
                  <a:off x="4568" y="3066"/>
                  <a:ext cx="1" cy="6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sp>
            <p:nvSpPr>
              <p:cNvPr id="117" name="Rectangle 117"/>
              <p:cNvSpPr>
                <a:spLocks noChangeArrowheads="1"/>
              </p:cNvSpPr>
              <p:nvPr/>
            </p:nvSpPr>
            <p:spPr bwMode="auto">
              <a:xfrm>
                <a:off x="4503" y="3022"/>
                <a:ext cx="43" cy="112"/>
              </a:xfrm>
              <a:prstGeom prst="rect">
                <a:avLst/>
              </a:prstGeom>
              <a:solidFill>
                <a:srgbClr val="C0C0C0"/>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18" name="Freeform 118"/>
              <p:cNvSpPr>
                <a:spLocks/>
              </p:cNvSpPr>
              <p:nvPr/>
            </p:nvSpPr>
            <p:spPr bwMode="auto">
              <a:xfrm>
                <a:off x="4663" y="3044"/>
                <a:ext cx="28" cy="24"/>
              </a:xfrm>
              <a:custGeom>
                <a:avLst/>
                <a:gdLst>
                  <a:gd name="T0" fmla="*/ 0 w 113"/>
                  <a:gd name="T1" fmla="*/ 0 h 95"/>
                  <a:gd name="T2" fmla="*/ 0 w 113"/>
                  <a:gd name="T3" fmla="*/ 95 h 95"/>
                  <a:gd name="T4" fmla="*/ 113 w 113"/>
                  <a:gd name="T5" fmla="*/ 95 h 95"/>
                  <a:gd name="T6" fmla="*/ 113 w 113"/>
                  <a:gd name="T7" fmla="*/ 19 h 95"/>
                  <a:gd name="T8" fmla="*/ 0 w 113"/>
                  <a:gd name="T9" fmla="*/ 0 h 95"/>
                </a:gdLst>
                <a:ahLst/>
                <a:cxnLst>
                  <a:cxn ang="0">
                    <a:pos x="T0" y="T1"/>
                  </a:cxn>
                  <a:cxn ang="0">
                    <a:pos x="T2" y="T3"/>
                  </a:cxn>
                  <a:cxn ang="0">
                    <a:pos x="T4" y="T5"/>
                  </a:cxn>
                  <a:cxn ang="0">
                    <a:pos x="T6" y="T7"/>
                  </a:cxn>
                  <a:cxn ang="0">
                    <a:pos x="T8" y="T9"/>
                  </a:cxn>
                </a:cxnLst>
                <a:rect l="0" t="0" r="r" b="b"/>
                <a:pathLst>
                  <a:path w="113" h="95">
                    <a:moveTo>
                      <a:pt x="0" y="0"/>
                    </a:moveTo>
                    <a:lnTo>
                      <a:pt x="0" y="95"/>
                    </a:lnTo>
                    <a:lnTo>
                      <a:pt x="113" y="95"/>
                    </a:lnTo>
                    <a:lnTo>
                      <a:pt x="113" y="19"/>
                    </a:lnTo>
                    <a:lnTo>
                      <a:pt x="0" y="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19" name="Freeform 119"/>
              <p:cNvSpPr>
                <a:spLocks/>
              </p:cNvSpPr>
              <p:nvPr/>
            </p:nvSpPr>
            <p:spPr bwMode="auto">
              <a:xfrm>
                <a:off x="4604" y="3001"/>
                <a:ext cx="19" cy="21"/>
              </a:xfrm>
              <a:custGeom>
                <a:avLst/>
                <a:gdLst>
                  <a:gd name="T0" fmla="*/ 43 w 78"/>
                  <a:gd name="T1" fmla="*/ 0 h 86"/>
                  <a:gd name="T2" fmla="*/ 0 w 78"/>
                  <a:gd name="T3" fmla="*/ 86 h 86"/>
                  <a:gd name="T4" fmla="*/ 57 w 78"/>
                  <a:gd name="T5" fmla="*/ 79 h 86"/>
                  <a:gd name="T6" fmla="*/ 78 w 78"/>
                  <a:gd name="T7" fmla="*/ 22 h 86"/>
                  <a:gd name="T8" fmla="*/ 43 w 78"/>
                  <a:gd name="T9" fmla="*/ 0 h 86"/>
                </a:gdLst>
                <a:ahLst/>
                <a:cxnLst>
                  <a:cxn ang="0">
                    <a:pos x="T0" y="T1"/>
                  </a:cxn>
                  <a:cxn ang="0">
                    <a:pos x="T2" y="T3"/>
                  </a:cxn>
                  <a:cxn ang="0">
                    <a:pos x="T4" y="T5"/>
                  </a:cxn>
                  <a:cxn ang="0">
                    <a:pos x="T6" y="T7"/>
                  </a:cxn>
                  <a:cxn ang="0">
                    <a:pos x="T8" y="T9"/>
                  </a:cxn>
                </a:cxnLst>
                <a:rect l="0" t="0" r="r" b="b"/>
                <a:pathLst>
                  <a:path w="78" h="86">
                    <a:moveTo>
                      <a:pt x="43" y="0"/>
                    </a:moveTo>
                    <a:lnTo>
                      <a:pt x="0" y="86"/>
                    </a:lnTo>
                    <a:lnTo>
                      <a:pt x="57" y="79"/>
                    </a:lnTo>
                    <a:lnTo>
                      <a:pt x="78" y="22"/>
                    </a:lnTo>
                    <a:lnTo>
                      <a:pt x="43" y="0"/>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20" name="Freeform 120"/>
              <p:cNvSpPr>
                <a:spLocks/>
              </p:cNvSpPr>
              <p:nvPr/>
            </p:nvSpPr>
            <p:spPr bwMode="auto">
              <a:xfrm>
                <a:off x="4570" y="3144"/>
                <a:ext cx="90" cy="7"/>
              </a:xfrm>
              <a:custGeom>
                <a:avLst/>
                <a:gdLst>
                  <a:gd name="T0" fmla="*/ 0 w 360"/>
                  <a:gd name="T1" fmla="*/ 0 h 30"/>
                  <a:gd name="T2" fmla="*/ 360 w 360"/>
                  <a:gd name="T3" fmla="*/ 0 h 30"/>
                  <a:gd name="T4" fmla="*/ 360 w 360"/>
                  <a:gd name="T5" fmla="*/ 30 h 30"/>
                  <a:gd name="T6" fmla="*/ 4 w 360"/>
                  <a:gd name="T7" fmla="*/ 30 h 30"/>
                  <a:gd name="T8" fmla="*/ 0 w 360"/>
                  <a:gd name="T9" fmla="*/ 0 h 30"/>
                </a:gdLst>
                <a:ahLst/>
                <a:cxnLst>
                  <a:cxn ang="0">
                    <a:pos x="T0" y="T1"/>
                  </a:cxn>
                  <a:cxn ang="0">
                    <a:pos x="T2" y="T3"/>
                  </a:cxn>
                  <a:cxn ang="0">
                    <a:pos x="T4" y="T5"/>
                  </a:cxn>
                  <a:cxn ang="0">
                    <a:pos x="T6" y="T7"/>
                  </a:cxn>
                  <a:cxn ang="0">
                    <a:pos x="T8" y="T9"/>
                  </a:cxn>
                </a:cxnLst>
                <a:rect l="0" t="0" r="r" b="b"/>
                <a:pathLst>
                  <a:path w="360" h="30">
                    <a:moveTo>
                      <a:pt x="0" y="0"/>
                    </a:moveTo>
                    <a:lnTo>
                      <a:pt x="360" y="0"/>
                    </a:lnTo>
                    <a:lnTo>
                      <a:pt x="360" y="30"/>
                    </a:lnTo>
                    <a:lnTo>
                      <a:pt x="4" y="30"/>
                    </a:lnTo>
                    <a:lnTo>
                      <a:pt x="0" y="0"/>
                    </a:lnTo>
                    <a:close/>
                  </a:path>
                </a:pathLst>
              </a:custGeom>
              <a:solidFill>
                <a:srgbClr val="80808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21" name="Freeform 121"/>
              <p:cNvSpPr>
                <a:spLocks/>
              </p:cNvSpPr>
              <p:nvPr/>
            </p:nvSpPr>
            <p:spPr bwMode="auto">
              <a:xfrm>
                <a:off x="4502" y="2862"/>
                <a:ext cx="37" cy="46"/>
              </a:xfrm>
              <a:custGeom>
                <a:avLst/>
                <a:gdLst>
                  <a:gd name="T0" fmla="*/ 141 w 150"/>
                  <a:gd name="T1" fmla="*/ 0 h 184"/>
                  <a:gd name="T2" fmla="*/ 1 w 150"/>
                  <a:gd name="T3" fmla="*/ 131 h 184"/>
                  <a:gd name="T4" fmla="*/ 0 w 150"/>
                  <a:gd name="T5" fmla="*/ 184 h 184"/>
                  <a:gd name="T6" fmla="*/ 150 w 150"/>
                  <a:gd name="T7" fmla="*/ 60 h 184"/>
                  <a:gd name="T8" fmla="*/ 141 w 150"/>
                  <a:gd name="T9" fmla="*/ 0 h 184"/>
                </a:gdLst>
                <a:ahLst/>
                <a:cxnLst>
                  <a:cxn ang="0">
                    <a:pos x="T0" y="T1"/>
                  </a:cxn>
                  <a:cxn ang="0">
                    <a:pos x="T2" y="T3"/>
                  </a:cxn>
                  <a:cxn ang="0">
                    <a:pos x="T4" y="T5"/>
                  </a:cxn>
                  <a:cxn ang="0">
                    <a:pos x="T6" y="T7"/>
                  </a:cxn>
                  <a:cxn ang="0">
                    <a:pos x="T8" y="T9"/>
                  </a:cxn>
                </a:cxnLst>
                <a:rect l="0" t="0" r="r" b="b"/>
                <a:pathLst>
                  <a:path w="150" h="184">
                    <a:moveTo>
                      <a:pt x="141" y="0"/>
                    </a:moveTo>
                    <a:lnTo>
                      <a:pt x="1" y="131"/>
                    </a:lnTo>
                    <a:lnTo>
                      <a:pt x="0" y="184"/>
                    </a:lnTo>
                    <a:lnTo>
                      <a:pt x="150" y="60"/>
                    </a:lnTo>
                    <a:lnTo>
                      <a:pt x="141" y="0"/>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22" name="Freeform 122"/>
              <p:cNvSpPr>
                <a:spLocks/>
              </p:cNvSpPr>
              <p:nvPr/>
            </p:nvSpPr>
            <p:spPr bwMode="auto">
              <a:xfrm>
                <a:off x="4492" y="2741"/>
                <a:ext cx="57" cy="394"/>
              </a:xfrm>
              <a:custGeom>
                <a:avLst/>
                <a:gdLst>
                  <a:gd name="T0" fmla="*/ 228 w 228"/>
                  <a:gd name="T1" fmla="*/ 0 h 1575"/>
                  <a:gd name="T2" fmla="*/ 0 w 228"/>
                  <a:gd name="T3" fmla="*/ 93 h 1575"/>
                  <a:gd name="T4" fmla="*/ 0 w 228"/>
                  <a:gd name="T5" fmla="*/ 1575 h 1575"/>
                  <a:gd name="T6" fmla="*/ 42 w 228"/>
                  <a:gd name="T7" fmla="*/ 1575 h 1575"/>
                  <a:gd name="T8" fmla="*/ 42 w 228"/>
                  <a:gd name="T9" fmla="*/ 228 h 1575"/>
                  <a:gd name="T10" fmla="*/ 228 w 228"/>
                  <a:gd name="T11" fmla="*/ 150 h 1575"/>
                  <a:gd name="T12" fmla="*/ 228 w 228"/>
                  <a:gd name="T13" fmla="*/ 0 h 1575"/>
                </a:gdLst>
                <a:ahLst/>
                <a:cxnLst>
                  <a:cxn ang="0">
                    <a:pos x="T0" y="T1"/>
                  </a:cxn>
                  <a:cxn ang="0">
                    <a:pos x="T2" y="T3"/>
                  </a:cxn>
                  <a:cxn ang="0">
                    <a:pos x="T4" y="T5"/>
                  </a:cxn>
                  <a:cxn ang="0">
                    <a:pos x="T6" y="T7"/>
                  </a:cxn>
                  <a:cxn ang="0">
                    <a:pos x="T8" y="T9"/>
                  </a:cxn>
                  <a:cxn ang="0">
                    <a:pos x="T10" y="T11"/>
                  </a:cxn>
                  <a:cxn ang="0">
                    <a:pos x="T12" y="T13"/>
                  </a:cxn>
                </a:cxnLst>
                <a:rect l="0" t="0" r="r" b="b"/>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23" name="Freeform 123"/>
              <p:cNvSpPr>
                <a:spLocks/>
              </p:cNvSpPr>
              <p:nvPr/>
            </p:nvSpPr>
            <p:spPr bwMode="auto">
              <a:xfrm>
                <a:off x="4490" y="3135"/>
                <a:ext cx="327" cy="85"/>
              </a:xfrm>
              <a:custGeom>
                <a:avLst/>
                <a:gdLst>
                  <a:gd name="T0" fmla="*/ 0 w 1306"/>
                  <a:gd name="T1" fmla="*/ 344 h 344"/>
                  <a:gd name="T2" fmla="*/ 0 w 1306"/>
                  <a:gd name="T3" fmla="*/ 0 h 344"/>
                  <a:gd name="T4" fmla="*/ 284 w 1306"/>
                  <a:gd name="T5" fmla="*/ 0 h 344"/>
                  <a:gd name="T6" fmla="*/ 341 w 1306"/>
                  <a:gd name="T7" fmla="*/ 57 h 344"/>
                  <a:gd name="T8" fmla="*/ 511 w 1306"/>
                  <a:gd name="T9" fmla="*/ 57 h 344"/>
                  <a:gd name="T10" fmla="*/ 568 w 1306"/>
                  <a:gd name="T11" fmla="*/ 116 h 344"/>
                  <a:gd name="T12" fmla="*/ 1136 w 1306"/>
                  <a:gd name="T13" fmla="*/ 116 h 344"/>
                  <a:gd name="T14" fmla="*/ 1136 w 1306"/>
                  <a:gd name="T15" fmla="*/ 230 h 344"/>
                  <a:gd name="T16" fmla="*/ 1306 w 1306"/>
                  <a:gd name="T17" fmla="*/ 230 h 344"/>
                  <a:gd name="T18" fmla="*/ 1306 w 1306"/>
                  <a:gd name="T19" fmla="*/ 344 h 344"/>
                  <a:gd name="T20" fmla="*/ 0 w 1306"/>
                  <a:gd name="T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24" name="Rectangle 124"/>
              <p:cNvSpPr>
                <a:spLocks noChangeArrowheads="1"/>
              </p:cNvSpPr>
              <p:nvPr/>
            </p:nvSpPr>
            <p:spPr bwMode="auto">
              <a:xfrm>
                <a:off x="4491" y="3193"/>
                <a:ext cx="240" cy="26"/>
              </a:xfrm>
              <a:prstGeom prst="rect">
                <a:avLst/>
              </a:prstGeom>
              <a:solidFill>
                <a:srgbClr val="C0C0C0"/>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25" name="Line 125"/>
              <p:cNvSpPr>
                <a:spLocks noChangeShapeType="1"/>
              </p:cNvSpPr>
              <p:nvPr/>
            </p:nvSpPr>
            <p:spPr bwMode="auto">
              <a:xfrm>
                <a:off x="4479" y="3015"/>
                <a:ext cx="1" cy="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26" name="Freeform 126"/>
              <p:cNvSpPr>
                <a:spLocks/>
              </p:cNvSpPr>
              <p:nvPr/>
            </p:nvSpPr>
            <p:spPr bwMode="auto">
              <a:xfrm>
                <a:off x="4471" y="3065"/>
                <a:ext cx="21" cy="25"/>
              </a:xfrm>
              <a:custGeom>
                <a:avLst/>
                <a:gdLst>
                  <a:gd name="T0" fmla="*/ 0 w 85"/>
                  <a:gd name="T1" fmla="*/ 99 h 99"/>
                  <a:gd name="T2" fmla="*/ 0 w 85"/>
                  <a:gd name="T3" fmla="*/ 0 h 99"/>
                  <a:gd name="T4" fmla="*/ 85 w 85"/>
                  <a:gd name="T5" fmla="*/ 0 h 99"/>
                  <a:gd name="T6" fmla="*/ 85 w 85"/>
                  <a:gd name="T7" fmla="*/ 35 h 99"/>
                  <a:gd name="T8" fmla="*/ 28 w 85"/>
                  <a:gd name="T9" fmla="*/ 35 h 99"/>
                  <a:gd name="T10" fmla="*/ 28 w 85"/>
                  <a:gd name="T11" fmla="*/ 99 h 99"/>
                  <a:gd name="T12" fmla="*/ 0 w 85"/>
                  <a:gd name="T13" fmla="*/ 99 h 99"/>
                </a:gdLst>
                <a:ahLst/>
                <a:cxnLst>
                  <a:cxn ang="0">
                    <a:pos x="T0" y="T1"/>
                  </a:cxn>
                  <a:cxn ang="0">
                    <a:pos x="T2" y="T3"/>
                  </a:cxn>
                  <a:cxn ang="0">
                    <a:pos x="T4" y="T5"/>
                  </a:cxn>
                  <a:cxn ang="0">
                    <a:pos x="T6" y="T7"/>
                  </a:cxn>
                  <a:cxn ang="0">
                    <a:pos x="T8" y="T9"/>
                  </a:cxn>
                  <a:cxn ang="0">
                    <a:pos x="T10" y="T11"/>
                  </a:cxn>
                  <a:cxn ang="0">
                    <a:pos x="T12" y="T13"/>
                  </a:cxn>
                </a:cxnLst>
                <a:rect l="0" t="0" r="r" b="b"/>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27" name="Freeform 127"/>
              <p:cNvSpPr>
                <a:spLocks/>
              </p:cNvSpPr>
              <p:nvPr/>
            </p:nvSpPr>
            <p:spPr bwMode="auto">
              <a:xfrm>
                <a:off x="4590" y="3047"/>
                <a:ext cx="72" cy="104"/>
              </a:xfrm>
              <a:custGeom>
                <a:avLst/>
                <a:gdLst>
                  <a:gd name="T0" fmla="*/ 0 w 290"/>
                  <a:gd name="T1" fmla="*/ 0 h 415"/>
                  <a:gd name="T2" fmla="*/ 290 w 290"/>
                  <a:gd name="T3" fmla="*/ 415 h 415"/>
                  <a:gd name="T4" fmla="*/ 248 w 290"/>
                  <a:gd name="T5" fmla="*/ 406 h 415"/>
                  <a:gd name="T6" fmla="*/ 0 w 290"/>
                  <a:gd name="T7" fmla="*/ 57 h 415"/>
                  <a:gd name="T8" fmla="*/ 0 w 290"/>
                  <a:gd name="T9" fmla="*/ 0 h 415"/>
                </a:gdLst>
                <a:ahLst/>
                <a:cxnLst>
                  <a:cxn ang="0">
                    <a:pos x="T0" y="T1"/>
                  </a:cxn>
                  <a:cxn ang="0">
                    <a:pos x="T2" y="T3"/>
                  </a:cxn>
                  <a:cxn ang="0">
                    <a:pos x="T4" y="T5"/>
                  </a:cxn>
                  <a:cxn ang="0">
                    <a:pos x="T6" y="T7"/>
                  </a:cxn>
                  <a:cxn ang="0">
                    <a:pos x="T8" y="T9"/>
                  </a:cxn>
                </a:cxnLst>
                <a:rect l="0" t="0" r="r" b="b"/>
                <a:pathLst>
                  <a:path w="290" h="415">
                    <a:moveTo>
                      <a:pt x="0" y="0"/>
                    </a:moveTo>
                    <a:lnTo>
                      <a:pt x="290" y="415"/>
                    </a:lnTo>
                    <a:lnTo>
                      <a:pt x="248" y="406"/>
                    </a:lnTo>
                    <a:lnTo>
                      <a:pt x="0" y="57"/>
                    </a:lnTo>
                    <a:lnTo>
                      <a:pt x="0" y="0"/>
                    </a:lnTo>
                    <a:close/>
                  </a:path>
                </a:pathLst>
              </a:custGeom>
              <a:solidFill>
                <a:srgbClr val="9F9F9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28" name="Freeform 128"/>
              <p:cNvSpPr>
                <a:spLocks/>
              </p:cNvSpPr>
              <p:nvPr/>
            </p:nvSpPr>
            <p:spPr bwMode="auto">
              <a:xfrm>
                <a:off x="4433" y="3106"/>
                <a:ext cx="57" cy="114"/>
              </a:xfrm>
              <a:custGeom>
                <a:avLst/>
                <a:gdLst>
                  <a:gd name="T0" fmla="*/ 170 w 227"/>
                  <a:gd name="T1" fmla="*/ 0 h 458"/>
                  <a:gd name="T2" fmla="*/ 0 w 227"/>
                  <a:gd name="T3" fmla="*/ 171 h 458"/>
                  <a:gd name="T4" fmla="*/ 0 w 227"/>
                  <a:gd name="T5" fmla="*/ 458 h 458"/>
                  <a:gd name="T6" fmla="*/ 227 w 227"/>
                  <a:gd name="T7" fmla="*/ 458 h 458"/>
                  <a:gd name="T8" fmla="*/ 227 w 227"/>
                  <a:gd name="T9" fmla="*/ 114 h 458"/>
                  <a:gd name="T10" fmla="*/ 170 w 227"/>
                  <a:gd name="T11" fmla="*/ 0 h 458"/>
                </a:gdLst>
                <a:ahLst/>
                <a:cxnLst>
                  <a:cxn ang="0">
                    <a:pos x="T0" y="T1"/>
                  </a:cxn>
                  <a:cxn ang="0">
                    <a:pos x="T2" y="T3"/>
                  </a:cxn>
                  <a:cxn ang="0">
                    <a:pos x="T4" y="T5"/>
                  </a:cxn>
                  <a:cxn ang="0">
                    <a:pos x="T6" y="T7"/>
                  </a:cxn>
                  <a:cxn ang="0">
                    <a:pos x="T8" y="T9"/>
                  </a:cxn>
                  <a:cxn ang="0">
                    <a:pos x="T10" y="T11"/>
                  </a:cxn>
                </a:cxnLst>
                <a:rect l="0" t="0" r="r" b="b"/>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29" name="Rectangle 129"/>
              <p:cNvSpPr>
                <a:spLocks noChangeArrowheads="1"/>
              </p:cNvSpPr>
              <p:nvPr/>
            </p:nvSpPr>
            <p:spPr bwMode="auto">
              <a:xfrm>
                <a:off x="4420" y="3276"/>
                <a:ext cx="395" cy="14"/>
              </a:xfrm>
              <a:prstGeom prst="rect">
                <a:avLst/>
              </a:prstGeom>
              <a:solidFill>
                <a:srgbClr val="9F9F9F"/>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30" name="Rectangle 130"/>
              <p:cNvSpPr>
                <a:spLocks noChangeArrowheads="1"/>
              </p:cNvSpPr>
              <p:nvPr/>
            </p:nvSpPr>
            <p:spPr bwMode="auto">
              <a:xfrm>
                <a:off x="4420" y="3250"/>
                <a:ext cx="395" cy="24"/>
              </a:xfrm>
              <a:prstGeom prst="rect">
                <a:avLst/>
              </a:prstGeom>
              <a:solidFill>
                <a:srgbClr val="9F9F9F"/>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31" name="Rectangle 131"/>
              <p:cNvSpPr>
                <a:spLocks noChangeArrowheads="1"/>
              </p:cNvSpPr>
              <p:nvPr/>
            </p:nvSpPr>
            <p:spPr bwMode="auto">
              <a:xfrm>
                <a:off x="4420" y="3221"/>
                <a:ext cx="395" cy="27"/>
              </a:xfrm>
              <a:prstGeom prst="rect">
                <a:avLst/>
              </a:prstGeom>
              <a:solidFill>
                <a:srgbClr val="9F9F9F"/>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32" name="Rectangle 132"/>
              <p:cNvSpPr>
                <a:spLocks noChangeArrowheads="1"/>
              </p:cNvSpPr>
              <p:nvPr/>
            </p:nvSpPr>
            <p:spPr bwMode="auto">
              <a:xfrm>
                <a:off x="4763" y="3200"/>
                <a:ext cx="41" cy="12"/>
              </a:xfrm>
              <a:prstGeom prst="rect">
                <a:avLst/>
              </a:prstGeom>
              <a:solidFill>
                <a:srgbClr val="9F9F9F"/>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33" name="Oval 133"/>
              <p:cNvSpPr>
                <a:spLocks noChangeArrowheads="1"/>
              </p:cNvSpPr>
              <p:nvPr/>
            </p:nvSpPr>
            <p:spPr bwMode="auto">
              <a:xfrm>
                <a:off x="4462" y="3092"/>
                <a:ext cx="28" cy="29"/>
              </a:xfrm>
              <a:prstGeom prst="ellipse">
                <a:avLst/>
              </a:prstGeom>
              <a:solidFill>
                <a:srgbClr val="9F9F9F"/>
              </a:solidFill>
              <a:ln w="31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34" name="Rectangle 134"/>
              <p:cNvSpPr>
                <a:spLocks noChangeArrowheads="1"/>
              </p:cNvSpPr>
              <p:nvPr/>
            </p:nvSpPr>
            <p:spPr bwMode="auto">
              <a:xfrm>
                <a:off x="4562" y="3036"/>
                <a:ext cx="27" cy="26"/>
              </a:xfrm>
              <a:prstGeom prst="rect">
                <a:avLst/>
              </a:prstGeom>
              <a:solidFill>
                <a:srgbClr val="808080"/>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35" name="Freeform 135"/>
              <p:cNvSpPr>
                <a:spLocks/>
              </p:cNvSpPr>
              <p:nvPr/>
            </p:nvSpPr>
            <p:spPr bwMode="auto">
              <a:xfrm>
                <a:off x="4547" y="3021"/>
                <a:ext cx="114" cy="114"/>
              </a:xfrm>
              <a:custGeom>
                <a:avLst/>
                <a:gdLst>
                  <a:gd name="T0" fmla="*/ 57 w 454"/>
                  <a:gd name="T1" fmla="*/ 455 h 455"/>
                  <a:gd name="T2" fmla="*/ 57 w 454"/>
                  <a:gd name="T3" fmla="*/ 57 h 455"/>
                  <a:gd name="T4" fmla="*/ 454 w 454"/>
                  <a:gd name="T5" fmla="*/ 57 h 455"/>
                  <a:gd name="T6" fmla="*/ 454 w 454"/>
                  <a:gd name="T7" fmla="*/ 0 h 455"/>
                  <a:gd name="T8" fmla="*/ 0 w 454"/>
                  <a:gd name="T9" fmla="*/ 0 h 455"/>
                  <a:gd name="T10" fmla="*/ 0 w 454"/>
                  <a:gd name="T11" fmla="*/ 455 h 455"/>
                  <a:gd name="T12" fmla="*/ 57 w 454"/>
                  <a:gd name="T13" fmla="*/ 455 h 455"/>
                </a:gdLst>
                <a:ahLst/>
                <a:cxnLst>
                  <a:cxn ang="0">
                    <a:pos x="T0" y="T1"/>
                  </a:cxn>
                  <a:cxn ang="0">
                    <a:pos x="T2" y="T3"/>
                  </a:cxn>
                  <a:cxn ang="0">
                    <a:pos x="T4" y="T5"/>
                  </a:cxn>
                  <a:cxn ang="0">
                    <a:pos x="T6" y="T7"/>
                  </a:cxn>
                  <a:cxn ang="0">
                    <a:pos x="T8" y="T9"/>
                  </a:cxn>
                  <a:cxn ang="0">
                    <a:pos x="T10" y="T11"/>
                  </a:cxn>
                  <a:cxn ang="0">
                    <a:pos x="T12" y="T13"/>
                  </a:cxn>
                </a:cxnLst>
                <a:rect l="0" t="0" r="r" b="b"/>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nvGrpSpPr>
              <p:cNvPr id="136" name="Group 136"/>
              <p:cNvGrpSpPr>
                <a:grpSpLocks/>
              </p:cNvGrpSpPr>
              <p:nvPr/>
            </p:nvGrpSpPr>
            <p:grpSpPr bwMode="auto">
              <a:xfrm>
                <a:off x="4455" y="2913"/>
                <a:ext cx="126" cy="116"/>
                <a:chOff x="4455" y="2913"/>
                <a:chExt cx="126" cy="116"/>
              </a:xfrm>
            </p:grpSpPr>
            <p:sp>
              <p:nvSpPr>
                <p:cNvPr id="159" name="Oval 137"/>
                <p:cNvSpPr>
                  <a:spLocks noChangeArrowheads="1"/>
                </p:cNvSpPr>
                <p:nvPr/>
              </p:nvSpPr>
              <p:spPr bwMode="auto">
                <a:xfrm>
                  <a:off x="4465" y="2913"/>
                  <a:ext cx="116" cy="116"/>
                </a:xfrm>
                <a:prstGeom prst="ellipse">
                  <a:avLst/>
                </a:prstGeom>
                <a:solidFill>
                  <a:srgbClr val="808080"/>
                </a:solidFill>
                <a:ln w="31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60" name="Oval 138"/>
                <p:cNvSpPr>
                  <a:spLocks noChangeArrowheads="1"/>
                </p:cNvSpPr>
                <p:nvPr/>
              </p:nvSpPr>
              <p:spPr bwMode="auto">
                <a:xfrm>
                  <a:off x="4455" y="2913"/>
                  <a:ext cx="115" cy="116"/>
                </a:xfrm>
                <a:prstGeom prst="ellipse">
                  <a:avLst/>
                </a:prstGeom>
                <a:solidFill>
                  <a:srgbClr val="C0C0C0"/>
                </a:solidFill>
                <a:ln w="317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grpSp>
            <p:nvGrpSpPr>
              <p:cNvPr id="137" name="Group 139"/>
              <p:cNvGrpSpPr>
                <a:grpSpLocks/>
              </p:cNvGrpSpPr>
              <p:nvPr/>
            </p:nvGrpSpPr>
            <p:grpSpPr bwMode="auto">
              <a:xfrm>
                <a:off x="4504" y="3136"/>
                <a:ext cx="43" cy="112"/>
                <a:chOff x="4504" y="3136"/>
                <a:chExt cx="43" cy="112"/>
              </a:xfrm>
            </p:grpSpPr>
            <p:sp>
              <p:nvSpPr>
                <p:cNvPr id="150" name="Rectangle 140"/>
                <p:cNvSpPr>
                  <a:spLocks noChangeArrowheads="1"/>
                </p:cNvSpPr>
                <p:nvPr/>
              </p:nvSpPr>
              <p:spPr bwMode="auto">
                <a:xfrm>
                  <a:off x="4505" y="3136"/>
                  <a:ext cx="41" cy="112"/>
                </a:xfrm>
                <a:prstGeom prst="rect">
                  <a:avLst/>
                </a:prstGeom>
                <a:solidFill>
                  <a:srgbClr val="C0C0C0"/>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nvGrpSpPr>
                <p:cNvPr id="151" name="Group 141"/>
                <p:cNvGrpSpPr>
                  <a:grpSpLocks/>
                </p:cNvGrpSpPr>
                <p:nvPr/>
              </p:nvGrpSpPr>
              <p:grpSpPr bwMode="auto">
                <a:xfrm>
                  <a:off x="4504" y="3149"/>
                  <a:ext cx="43" cy="87"/>
                  <a:chOff x="4504" y="3149"/>
                  <a:chExt cx="43" cy="87"/>
                </a:xfrm>
              </p:grpSpPr>
              <p:sp>
                <p:nvSpPr>
                  <p:cNvPr id="152" name="Line 142"/>
                  <p:cNvSpPr>
                    <a:spLocks noChangeShapeType="1"/>
                  </p:cNvSpPr>
                  <p:nvPr/>
                </p:nvSpPr>
                <p:spPr bwMode="auto">
                  <a:xfrm>
                    <a:off x="4504" y="3163"/>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53" name="Line 143"/>
                  <p:cNvSpPr>
                    <a:spLocks noChangeShapeType="1"/>
                  </p:cNvSpPr>
                  <p:nvPr/>
                </p:nvSpPr>
                <p:spPr bwMode="auto">
                  <a:xfrm>
                    <a:off x="4504" y="3206"/>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54" name="Line 144"/>
                  <p:cNvSpPr>
                    <a:spLocks noChangeShapeType="1"/>
                  </p:cNvSpPr>
                  <p:nvPr/>
                </p:nvSpPr>
                <p:spPr bwMode="auto">
                  <a:xfrm>
                    <a:off x="4504" y="3192"/>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55" name="Line 145"/>
                  <p:cNvSpPr>
                    <a:spLocks noChangeShapeType="1"/>
                  </p:cNvSpPr>
                  <p:nvPr/>
                </p:nvSpPr>
                <p:spPr bwMode="auto">
                  <a:xfrm>
                    <a:off x="4504" y="3178"/>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56" name="Line 146"/>
                  <p:cNvSpPr>
                    <a:spLocks noChangeShapeType="1"/>
                  </p:cNvSpPr>
                  <p:nvPr/>
                </p:nvSpPr>
                <p:spPr bwMode="auto">
                  <a:xfrm>
                    <a:off x="4504" y="3149"/>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57" name="Line 147"/>
                  <p:cNvSpPr>
                    <a:spLocks noChangeShapeType="1"/>
                  </p:cNvSpPr>
                  <p:nvPr/>
                </p:nvSpPr>
                <p:spPr bwMode="auto">
                  <a:xfrm>
                    <a:off x="4504" y="3220"/>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58" name="Line 148"/>
                  <p:cNvSpPr>
                    <a:spLocks noChangeShapeType="1"/>
                  </p:cNvSpPr>
                  <p:nvPr/>
                </p:nvSpPr>
                <p:spPr bwMode="auto">
                  <a:xfrm>
                    <a:off x="4504" y="3235"/>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grpSp>
          <p:sp>
            <p:nvSpPr>
              <p:cNvPr id="138" name="Rectangle 149"/>
              <p:cNvSpPr>
                <a:spLocks noChangeArrowheads="1"/>
              </p:cNvSpPr>
              <p:nvPr/>
            </p:nvSpPr>
            <p:spPr bwMode="auto">
              <a:xfrm>
                <a:off x="4775" y="3164"/>
                <a:ext cx="12" cy="27"/>
              </a:xfrm>
              <a:prstGeom prst="rect">
                <a:avLst/>
              </a:prstGeom>
              <a:solidFill>
                <a:srgbClr val="C0C0C0"/>
              </a:solidFill>
              <a:ln w="317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39" name="Freeform 150"/>
              <p:cNvSpPr>
                <a:spLocks/>
              </p:cNvSpPr>
              <p:nvPr/>
            </p:nvSpPr>
            <p:spPr bwMode="auto">
              <a:xfrm>
                <a:off x="4696" y="2871"/>
                <a:ext cx="32" cy="55"/>
              </a:xfrm>
              <a:custGeom>
                <a:avLst/>
                <a:gdLst>
                  <a:gd name="T0" fmla="*/ 107 w 129"/>
                  <a:gd name="T1" fmla="*/ 0 h 221"/>
                  <a:gd name="T2" fmla="*/ 0 w 129"/>
                  <a:gd name="T3" fmla="*/ 185 h 221"/>
                  <a:gd name="T4" fmla="*/ 21 w 129"/>
                  <a:gd name="T5" fmla="*/ 221 h 221"/>
                  <a:gd name="T6" fmla="*/ 129 w 129"/>
                  <a:gd name="T7" fmla="*/ 7 h 221"/>
                  <a:gd name="T8" fmla="*/ 107 w 129"/>
                  <a:gd name="T9" fmla="*/ 0 h 221"/>
                </a:gdLst>
                <a:ahLst/>
                <a:cxnLst>
                  <a:cxn ang="0">
                    <a:pos x="T0" y="T1"/>
                  </a:cxn>
                  <a:cxn ang="0">
                    <a:pos x="T2" y="T3"/>
                  </a:cxn>
                  <a:cxn ang="0">
                    <a:pos x="T4" y="T5"/>
                  </a:cxn>
                  <a:cxn ang="0">
                    <a:pos x="T6" y="T7"/>
                  </a:cxn>
                  <a:cxn ang="0">
                    <a:pos x="T8" y="T9"/>
                  </a:cxn>
                </a:cxnLst>
                <a:rect l="0" t="0" r="r" b="b"/>
                <a:pathLst>
                  <a:path w="129" h="221">
                    <a:moveTo>
                      <a:pt x="107" y="0"/>
                    </a:moveTo>
                    <a:lnTo>
                      <a:pt x="0" y="185"/>
                    </a:lnTo>
                    <a:lnTo>
                      <a:pt x="21" y="221"/>
                    </a:lnTo>
                    <a:lnTo>
                      <a:pt x="129" y="7"/>
                    </a:lnTo>
                    <a:lnTo>
                      <a:pt x="107" y="0"/>
                    </a:lnTo>
                    <a:close/>
                  </a:path>
                </a:pathLst>
              </a:custGeom>
              <a:solidFill>
                <a:srgbClr val="BFBFD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40" name="Freeform 151"/>
              <p:cNvSpPr>
                <a:spLocks/>
              </p:cNvSpPr>
              <p:nvPr/>
            </p:nvSpPr>
            <p:spPr bwMode="auto">
              <a:xfrm>
                <a:off x="4657" y="2848"/>
                <a:ext cx="62" cy="16"/>
              </a:xfrm>
              <a:custGeom>
                <a:avLst/>
                <a:gdLst>
                  <a:gd name="T0" fmla="*/ 241 w 249"/>
                  <a:gd name="T1" fmla="*/ 0 h 66"/>
                  <a:gd name="T2" fmla="*/ 0 w 249"/>
                  <a:gd name="T3" fmla="*/ 36 h 66"/>
                  <a:gd name="T4" fmla="*/ 35 w 249"/>
                  <a:gd name="T5" fmla="*/ 66 h 66"/>
                  <a:gd name="T6" fmla="*/ 249 w 249"/>
                  <a:gd name="T7" fmla="*/ 22 h 66"/>
                  <a:gd name="T8" fmla="*/ 241 w 249"/>
                  <a:gd name="T9" fmla="*/ 0 h 66"/>
                </a:gdLst>
                <a:ahLst/>
                <a:cxnLst>
                  <a:cxn ang="0">
                    <a:pos x="T0" y="T1"/>
                  </a:cxn>
                  <a:cxn ang="0">
                    <a:pos x="T2" y="T3"/>
                  </a:cxn>
                  <a:cxn ang="0">
                    <a:pos x="T4" y="T5"/>
                  </a:cxn>
                  <a:cxn ang="0">
                    <a:pos x="T6" y="T7"/>
                  </a:cxn>
                  <a:cxn ang="0">
                    <a:pos x="T8" y="T9"/>
                  </a:cxn>
                </a:cxnLst>
                <a:rect l="0" t="0" r="r" b="b"/>
                <a:pathLst>
                  <a:path w="249" h="66">
                    <a:moveTo>
                      <a:pt x="241" y="0"/>
                    </a:moveTo>
                    <a:lnTo>
                      <a:pt x="0" y="36"/>
                    </a:lnTo>
                    <a:lnTo>
                      <a:pt x="35" y="66"/>
                    </a:lnTo>
                    <a:lnTo>
                      <a:pt x="249" y="22"/>
                    </a:lnTo>
                    <a:lnTo>
                      <a:pt x="241" y="0"/>
                    </a:lnTo>
                    <a:close/>
                  </a:path>
                </a:pathLst>
              </a:custGeom>
              <a:solidFill>
                <a:srgbClr val="BFBFD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41" name="Freeform 152"/>
              <p:cNvSpPr>
                <a:spLocks/>
              </p:cNvSpPr>
              <p:nvPr/>
            </p:nvSpPr>
            <p:spPr bwMode="auto">
              <a:xfrm>
                <a:off x="4516" y="2720"/>
                <a:ext cx="233" cy="367"/>
              </a:xfrm>
              <a:custGeom>
                <a:avLst/>
                <a:gdLst>
                  <a:gd name="T0" fmla="*/ 30 w 931"/>
                  <a:gd name="T1" fmla="*/ 53 h 1469"/>
                  <a:gd name="T2" fmla="*/ 16 w 931"/>
                  <a:gd name="T3" fmla="*/ 96 h 1469"/>
                  <a:gd name="T4" fmla="*/ 4 w 931"/>
                  <a:gd name="T5" fmla="*/ 150 h 1469"/>
                  <a:gd name="T6" fmla="*/ 0 w 931"/>
                  <a:gd name="T7" fmla="*/ 207 h 1469"/>
                  <a:gd name="T8" fmla="*/ 0 w 931"/>
                  <a:gd name="T9" fmla="*/ 264 h 1469"/>
                  <a:gd name="T10" fmla="*/ 12 w 931"/>
                  <a:gd name="T11" fmla="*/ 338 h 1469"/>
                  <a:gd name="T12" fmla="*/ 23 w 931"/>
                  <a:gd name="T13" fmla="*/ 431 h 1469"/>
                  <a:gd name="T14" fmla="*/ 44 w 931"/>
                  <a:gd name="T15" fmla="*/ 534 h 1469"/>
                  <a:gd name="T16" fmla="*/ 79 w 931"/>
                  <a:gd name="T17" fmla="*/ 653 h 1469"/>
                  <a:gd name="T18" fmla="*/ 133 w 931"/>
                  <a:gd name="T19" fmla="*/ 767 h 1469"/>
                  <a:gd name="T20" fmla="*/ 218 w 931"/>
                  <a:gd name="T21" fmla="*/ 902 h 1469"/>
                  <a:gd name="T22" fmla="*/ 303 w 931"/>
                  <a:gd name="T23" fmla="*/ 1031 h 1469"/>
                  <a:gd name="T24" fmla="*/ 374 w 931"/>
                  <a:gd name="T25" fmla="*/ 1116 h 1469"/>
                  <a:gd name="T26" fmla="*/ 473 w 931"/>
                  <a:gd name="T27" fmla="*/ 1219 h 1469"/>
                  <a:gd name="T28" fmla="*/ 576 w 931"/>
                  <a:gd name="T29" fmla="*/ 1305 h 1469"/>
                  <a:gd name="T30" fmla="*/ 668 w 931"/>
                  <a:gd name="T31" fmla="*/ 1373 h 1469"/>
                  <a:gd name="T32" fmla="*/ 735 w 931"/>
                  <a:gd name="T33" fmla="*/ 1415 h 1469"/>
                  <a:gd name="T34" fmla="*/ 802 w 931"/>
                  <a:gd name="T35" fmla="*/ 1447 h 1469"/>
                  <a:gd name="T36" fmla="*/ 857 w 931"/>
                  <a:gd name="T37" fmla="*/ 1469 h 1469"/>
                  <a:gd name="T38" fmla="*/ 899 w 931"/>
                  <a:gd name="T39" fmla="*/ 1469 h 1469"/>
                  <a:gd name="T40" fmla="*/ 931 w 931"/>
                  <a:gd name="T41" fmla="*/ 1451 h 1469"/>
                  <a:gd name="T42" fmla="*/ 62 w 931"/>
                  <a:gd name="T43" fmla="*/ 0 h 1469"/>
                  <a:gd name="T44" fmla="*/ 30 w 931"/>
                  <a:gd name="T45" fmla="*/ 53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42" name="Freeform 153"/>
              <p:cNvSpPr>
                <a:spLocks/>
              </p:cNvSpPr>
              <p:nvPr/>
            </p:nvSpPr>
            <p:spPr bwMode="auto">
              <a:xfrm>
                <a:off x="4529" y="2719"/>
                <a:ext cx="220" cy="364"/>
              </a:xfrm>
              <a:custGeom>
                <a:avLst/>
                <a:gdLst>
                  <a:gd name="T0" fmla="*/ 7 w 876"/>
                  <a:gd name="T1" fmla="*/ 0 h 1455"/>
                  <a:gd name="T2" fmla="*/ 0 w 876"/>
                  <a:gd name="T3" fmla="*/ 29 h 1455"/>
                  <a:gd name="T4" fmla="*/ 0 w 876"/>
                  <a:gd name="T5" fmla="*/ 93 h 1455"/>
                  <a:gd name="T6" fmla="*/ 3 w 876"/>
                  <a:gd name="T7" fmla="*/ 168 h 1455"/>
                  <a:gd name="T8" fmla="*/ 10 w 876"/>
                  <a:gd name="T9" fmla="*/ 228 h 1455"/>
                  <a:gd name="T10" fmla="*/ 21 w 876"/>
                  <a:gd name="T11" fmla="*/ 307 h 1455"/>
                  <a:gd name="T12" fmla="*/ 35 w 876"/>
                  <a:gd name="T13" fmla="*/ 399 h 1455"/>
                  <a:gd name="T14" fmla="*/ 56 w 876"/>
                  <a:gd name="T15" fmla="*/ 496 h 1455"/>
                  <a:gd name="T16" fmla="*/ 99 w 876"/>
                  <a:gd name="T17" fmla="*/ 618 h 1455"/>
                  <a:gd name="T18" fmla="*/ 163 w 876"/>
                  <a:gd name="T19" fmla="*/ 757 h 1455"/>
                  <a:gd name="T20" fmla="*/ 234 w 876"/>
                  <a:gd name="T21" fmla="*/ 871 h 1455"/>
                  <a:gd name="T22" fmla="*/ 319 w 876"/>
                  <a:gd name="T23" fmla="*/ 992 h 1455"/>
                  <a:gd name="T24" fmla="*/ 397 w 876"/>
                  <a:gd name="T25" fmla="*/ 1084 h 1455"/>
                  <a:gd name="T26" fmla="*/ 457 w 876"/>
                  <a:gd name="T27" fmla="*/ 1147 h 1455"/>
                  <a:gd name="T28" fmla="*/ 513 w 876"/>
                  <a:gd name="T29" fmla="*/ 1206 h 1455"/>
                  <a:gd name="T30" fmla="*/ 574 w 876"/>
                  <a:gd name="T31" fmla="*/ 1263 h 1455"/>
                  <a:gd name="T32" fmla="*/ 641 w 876"/>
                  <a:gd name="T33" fmla="*/ 1318 h 1455"/>
                  <a:gd name="T34" fmla="*/ 687 w 876"/>
                  <a:gd name="T35" fmla="*/ 1355 h 1455"/>
                  <a:gd name="T36" fmla="*/ 737 w 876"/>
                  <a:gd name="T37" fmla="*/ 1387 h 1455"/>
                  <a:gd name="T38" fmla="*/ 791 w 876"/>
                  <a:gd name="T39" fmla="*/ 1418 h 1455"/>
                  <a:gd name="T40" fmla="*/ 837 w 876"/>
                  <a:gd name="T41" fmla="*/ 1448 h 1455"/>
                  <a:gd name="T42" fmla="*/ 865 w 876"/>
                  <a:gd name="T43" fmla="*/ 1455 h 1455"/>
                  <a:gd name="T44" fmla="*/ 876 w 876"/>
                  <a:gd name="T45" fmla="*/ 1434 h 1455"/>
                  <a:gd name="T46" fmla="*/ 874 w 876"/>
                  <a:gd name="T47" fmla="*/ 1404 h 1455"/>
                  <a:gd name="T48" fmla="*/ 867 w 876"/>
                  <a:gd name="T49" fmla="*/ 1369 h 1455"/>
                  <a:gd name="T50" fmla="*/ 855 w 876"/>
                  <a:gd name="T51" fmla="*/ 1309 h 1455"/>
                  <a:gd name="T52" fmla="*/ 841 w 876"/>
                  <a:gd name="T53" fmla="*/ 1229 h 1455"/>
                  <a:gd name="T54" fmla="*/ 823 w 876"/>
                  <a:gd name="T55" fmla="*/ 1156 h 1455"/>
                  <a:gd name="T56" fmla="*/ 802 w 876"/>
                  <a:gd name="T57" fmla="*/ 1069 h 1455"/>
                  <a:gd name="T58" fmla="*/ 773 w 876"/>
                  <a:gd name="T59" fmla="*/ 978 h 1455"/>
                  <a:gd name="T60" fmla="*/ 741 w 876"/>
                  <a:gd name="T61" fmla="*/ 905 h 1455"/>
                  <a:gd name="T62" fmla="*/ 715 w 876"/>
                  <a:gd name="T63" fmla="*/ 842 h 1455"/>
                  <a:gd name="T64" fmla="*/ 674 w 876"/>
                  <a:gd name="T65" fmla="*/ 759 h 1455"/>
                  <a:gd name="T66" fmla="*/ 634 w 876"/>
                  <a:gd name="T67" fmla="*/ 686 h 1455"/>
                  <a:gd name="T68" fmla="*/ 586 w 876"/>
                  <a:gd name="T69" fmla="*/ 606 h 1455"/>
                  <a:gd name="T70" fmla="*/ 510 w 876"/>
                  <a:gd name="T71" fmla="*/ 506 h 1455"/>
                  <a:gd name="T72" fmla="*/ 457 w 876"/>
                  <a:gd name="T73" fmla="*/ 435 h 1455"/>
                  <a:gd name="T74" fmla="*/ 380 w 876"/>
                  <a:gd name="T75" fmla="*/ 338 h 1455"/>
                  <a:gd name="T76" fmla="*/ 308 w 876"/>
                  <a:gd name="T77" fmla="*/ 268 h 1455"/>
                  <a:gd name="T78" fmla="*/ 237 w 876"/>
                  <a:gd name="T79" fmla="*/ 195 h 1455"/>
                  <a:gd name="T80" fmla="*/ 184 w 876"/>
                  <a:gd name="T81" fmla="*/ 143 h 1455"/>
                  <a:gd name="T82" fmla="*/ 127 w 876"/>
                  <a:gd name="T83" fmla="*/ 88 h 1455"/>
                  <a:gd name="T84" fmla="*/ 85 w 876"/>
                  <a:gd name="T85" fmla="*/ 50 h 1455"/>
                  <a:gd name="T86" fmla="*/ 42 w 876"/>
                  <a:gd name="T87" fmla="*/ 15 h 1455"/>
                  <a:gd name="T88" fmla="*/ 7 w 876"/>
                  <a:gd name="T8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43" name="Freeform 154"/>
              <p:cNvSpPr>
                <a:spLocks/>
              </p:cNvSpPr>
              <p:nvPr/>
            </p:nvSpPr>
            <p:spPr bwMode="auto">
              <a:xfrm>
                <a:off x="4537" y="2812"/>
                <a:ext cx="216" cy="16"/>
              </a:xfrm>
              <a:custGeom>
                <a:avLst/>
                <a:gdLst>
                  <a:gd name="T0" fmla="*/ 0 w 862"/>
                  <a:gd name="T1" fmla="*/ 0 h 64"/>
                  <a:gd name="T2" fmla="*/ 862 w 862"/>
                  <a:gd name="T3" fmla="*/ 36 h 64"/>
                  <a:gd name="T4" fmla="*/ 855 w 862"/>
                  <a:gd name="T5" fmla="*/ 64 h 64"/>
                  <a:gd name="T6" fmla="*/ 3 w 862"/>
                  <a:gd name="T7" fmla="*/ 28 h 64"/>
                  <a:gd name="T8" fmla="*/ 0 w 862"/>
                  <a:gd name="T9" fmla="*/ 0 h 64"/>
                </a:gdLst>
                <a:ahLst/>
                <a:cxnLst>
                  <a:cxn ang="0">
                    <a:pos x="T0" y="T1"/>
                  </a:cxn>
                  <a:cxn ang="0">
                    <a:pos x="T2" y="T3"/>
                  </a:cxn>
                  <a:cxn ang="0">
                    <a:pos x="T4" y="T5"/>
                  </a:cxn>
                  <a:cxn ang="0">
                    <a:pos x="T6" y="T7"/>
                  </a:cxn>
                  <a:cxn ang="0">
                    <a:pos x="T8" y="T9"/>
                  </a:cxn>
                </a:cxnLst>
                <a:rect l="0" t="0" r="r" b="b"/>
                <a:pathLst>
                  <a:path w="862" h="64">
                    <a:moveTo>
                      <a:pt x="0" y="0"/>
                    </a:moveTo>
                    <a:lnTo>
                      <a:pt x="862" y="36"/>
                    </a:lnTo>
                    <a:lnTo>
                      <a:pt x="855" y="64"/>
                    </a:lnTo>
                    <a:lnTo>
                      <a:pt x="3" y="28"/>
                    </a:lnTo>
                    <a:lnTo>
                      <a:pt x="0" y="0"/>
                    </a:lnTo>
                    <a:close/>
                  </a:path>
                </a:pathLst>
              </a:custGeom>
              <a:solidFill>
                <a:srgbClr val="DFDFF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44" name="Freeform 155"/>
              <p:cNvSpPr>
                <a:spLocks/>
              </p:cNvSpPr>
              <p:nvPr/>
            </p:nvSpPr>
            <p:spPr bwMode="auto">
              <a:xfrm>
                <a:off x="4685" y="2860"/>
                <a:ext cx="77" cy="190"/>
              </a:xfrm>
              <a:custGeom>
                <a:avLst/>
                <a:gdLst>
                  <a:gd name="T0" fmla="*/ 271 w 306"/>
                  <a:gd name="T1" fmla="*/ 16 h 760"/>
                  <a:gd name="T2" fmla="*/ 0 w 306"/>
                  <a:gd name="T3" fmla="*/ 742 h 760"/>
                  <a:gd name="T4" fmla="*/ 25 w 306"/>
                  <a:gd name="T5" fmla="*/ 760 h 760"/>
                  <a:gd name="T6" fmla="*/ 306 w 306"/>
                  <a:gd name="T7" fmla="*/ 0 h 760"/>
                  <a:gd name="T8" fmla="*/ 271 w 306"/>
                  <a:gd name="T9" fmla="*/ 16 h 760"/>
                </a:gdLst>
                <a:ahLst/>
                <a:cxnLst>
                  <a:cxn ang="0">
                    <a:pos x="T0" y="T1"/>
                  </a:cxn>
                  <a:cxn ang="0">
                    <a:pos x="T2" y="T3"/>
                  </a:cxn>
                  <a:cxn ang="0">
                    <a:pos x="T4" y="T5"/>
                  </a:cxn>
                  <a:cxn ang="0">
                    <a:pos x="T6" y="T7"/>
                  </a:cxn>
                  <a:cxn ang="0">
                    <a:pos x="T8" y="T9"/>
                  </a:cxn>
                </a:cxnLst>
                <a:rect l="0" t="0" r="r" b="b"/>
                <a:pathLst>
                  <a:path w="306" h="760">
                    <a:moveTo>
                      <a:pt x="271" y="16"/>
                    </a:moveTo>
                    <a:lnTo>
                      <a:pt x="0" y="742"/>
                    </a:lnTo>
                    <a:lnTo>
                      <a:pt x="25" y="760"/>
                    </a:lnTo>
                    <a:lnTo>
                      <a:pt x="306" y="0"/>
                    </a:lnTo>
                    <a:lnTo>
                      <a:pt x="271" y="16"/>
                    </a:lnTo>
                    <a:close/>
                  </a:path>
                </a:pathLst>
              </a:custGeom>
              <a:solidFill>
                <a:srgbClr val="DFDFF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45" name="Freeform 156"/>
              <p:cNvSpPr>
                <a:spLocks/>
              </p:cNvSpPr>
              <p:nvPr/>
            </p:nvSpPr>
            <p:spPr bwMode="auto">
              <a:xfrm>
                <a:off x="4712" y="2823"/>
                <a:ext cx="63" cy="52"/>
              </a:xfrm>
              <a:custGeom>
                <a:avLst/>
                <a:gdLst>
                  <a:gd name="T0" fmla="*/ 189 w 252"/>
                  <a:gd name="T1" fmla="*/ 0 h 208"/>
                  <a:gd name="T2" fmla="*/ 10 w 252"/>
                  <a:gd name="T3" fmla="*/ 64 h 208"/>
                  <a:gd name="T4" fmla="*/ 3 w 252"/>
                  <a:gd name="T5" fmla="*/ 75 h 208"/>
                  <a:gd name="T6" fmla="*/ 0 w 252"/>
                  <a:gd name="T7" fmla="*/ 96 h 208"/>
                  <a:gd name="T8" fmla="*/ 2 w 252"/>
                  <a:gd name="T9" fmla="*/ 126 h 208"/>
                  <a:gd name="T10" fmla="*/ 4 w 252"/>
                  <a:gd name="T11" fmla="*/ 144 h 208"/>
                  <a:gd name="T12" fmla="*/ 15 w 252"/>
                  <a:gd name="T13" fmla="*/ 170 h 208"/>
                  <a:gd name="T14" fmla="*/ 33 w 252"/>
                  <a:gd name="T15" fmla="*/ 190 h 208"/>
                  <a:gd name="T16" fmla="*/ 58 w 252"/>
                  <a:gd name="T17" fmla="*/ 204 h 208"/>
                  <a:gd name="T18" fmla="*/ 72 w 252"/>
                  <a:gd name="T19" fmla="*/ 208 h 208"/>
                  <a:gd name="T20" fmla="*/ 86 w 252"/>
                  <a:gd name="T21" fmla="*/ 208 h 208"/>
                  <a:gd name="T22" fmla="*/ 252 w 252"/>
                  <a:gd name="T23" fmla="*/ 128 h 208"/>
                  <a:gd name="T24" fmla="*/ 221 w 252"/>
                  <a:gd name="T25" fmla="*/ 103 h 208"/>
                  <a:gd name="T26" fmla="*/ 203 w 252"/>
                  <a:gd name="T27" fmla="*/ 78 h 208"/>
                  <a:gd name="T28" fmla="*/ 189 w 252"/>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46" name="Freeform 157"/>
              <p:cNvSpPr>
                <a:spLocks/>
              </p:cNvSpPr>
              <p:nvPr/>
            </p:nvSpPr>
            <p:spPr bwMode="auto">
              <a:xfrm>
                <a:off x="4749" y="2816"/>
                <a:ext cx="35" cy="49"/>
              </a:xfrm>
              <a:custGeom>
                <a:avLst/>
                <a:gdLst>
                  <a:gd name="T0" fmla="*/ 83 w 141"/>
                  <a:gd name="T1" fmla="*/ 28 h 194"/>
                  <a:gd name="T2" fmla="*/ 76 w 141"/>
                  <a:gd name="T3" fmla="*/ 16 h 194"/>
                  <a:gd name="T4" fmla="*/ 62 w 141"/>
                  <a:gd name="T5" fmla="*/ 6 h 194"/>
                  <a:gd name="T6" fmla="*/ 37 w 141"/>
                  <a:gd name="T7" fmla="*/ 0 h 194"/>
                  <a:gd name="T8" fmla="*/ 23 w 141"/>
                  <a:gd name="T9" fmla="*/ 2 h 194"/>
                  <a:gd name="T10" fmla="*/ 13 w 141"/>
                  <a:gd name="T11" fmla="*/ 13 h 194"/>
                  <a:gd name="T12" fmla="*/ 5 w 141"/>
                  <a:gd name="T13" fmla="*/ 28 h 194"/>
                  <a:gd name="T14" fmla="*/ 0 w 141"/>
                  <a:gd name="T15" fmla="*/ 52 h 194"/>
                  <a:gd name="T16" fmla="*/ 1 w 141"/>
                  <a:gd name="T17" fmla="*/ 65 h 194"/>
                  <a:gd name="T18" fmla="*/ 4 w 141"/>
                  <a:gd name="T19" fmla="*/ 83 h 194"/>
                  <a:gd name="T20" fmla="*/ 10 w 141"/>
                  <a:gd name="T21" fmla="*/ 109 h 194"/>
                  <a:gd name="T22" fmla="*/ 20 w 141"/>
                  <a:gd name="T23" fmla="*/ 130 h 194"/>
                  <a:gd name="T24" fmla="*/ 32 w 141"/>
                  <a:gd name="T25" fmla="*/ 149 h 194"/>
                  <a:gd name="T26" fmla="*/ 45 w 141"/>
                  <a:gd name="T27" fmla="*/ 166 h 194"/>
                  <a:gd name="T28" fmla="*/ 59 w 141"/>
                  <a:gd name="T29" fmla="*/ 180 h 194"/>
                  <a:gd name="T30" fmla="*/ 77 w 141"/>
                  <a:gd name="T31" fmla="*/ 188 h 194"/>
                  <a:gd name="T32" fmla="*/ 98 w 141"/>
                  <a:gd name="T33" fmla="*/ 194 h 194"/>
                  <a:gd name="T34" fmla="*/ 116 w 141"/>
                  <a:gd name="T35" fmla="*/ 194 h 194"/>
                  <a:gd name="T36" fmla="*/ 132 w 141"/>
                  <a:gd name="T37" fmla="*/ 185 h 194"/>
                  <a:gd name="T38" fmla="*/ 140 w 141"/>
                  <a:gd name="T39" fmla="*/ 170 h 194"/>
                  <a:gd name="T40" fmla="*/ 141 w 141"/>
                  <a:gd name="T41" fmla="*/ 148 h 194"/>
                  <a:gd name="T42" fmla="*/ 136 w 141"/>
                  <a:gd name="T43" fmla="*/ 124 h 194"/>
                  <a:gd name="T44" fmla="*/ 125 w 141"/>
                  <a:gd name="T45" fmla="*/ 92 h 194"/>
                  <a:gd name="T46" fmla="*/ 101 w 141"/>
                  <a:gd name="T47" fmla="*/ 52 h 194"/>
                  <a:gd name="T48" fmla="*/ 83 w 141"/>
                  <a:gd name="T49" fmla="*/ 2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47" name="Freeform 158"/>
              <p:cNvSpPr>
                <a:spLocks/>
              </p:cNvSpPr>
              <p:nvPr/>
            </p:nvSpPr>
            <p:spPr bwMode="auto">
              <a:xfrm>
                <a:off x="4758" y="2819"/>
                <a:ext cx="43" cy="35"/>
              </a:xfrm>
              <a:custGeom>
                <a:avLst/>
                <a:gdLst>
                  <a:gd name="T0" fmla="*/ 13 w 173"/>
                  <a:gd name="T1" fmla="*/ 31 h 139"/>
                  <a:gd name="T2" fmla="*/ 122 w 173"/>
                  <a:gd name="T3" fmla="*/ 4 h 139"/>
                  <a:gd name="T4" fmla="*/ 148 w 173"/>
                  <a:gd name="T5" fmla="*/ 0 h 139"/>
                  <a:gd name="T6" fmla="*/ 165 w 173"/>
                  <a:gd name="T7" fmla="*/ 4 h 139"/>
                  <a:gd name="T8" fmla="*/ 171 w 173"/>
                  <a:gd name="T9" fmla="*/ 11 h 139"/>
                  <a:gd name="T10" fmla="*/ 173 w 173"/>
                  <a:gd name="T11" fmla="*/ 25 h 139"/>
                  <a:gd name="T12" fmla="*/ 165 w 173"/>
                  <a:gd name="T13" fmla="*/ 47 h 139"/>
                  <a:gd name="T14" fmla="*/ 65 w 173"/>
                  <a:gd name="T15" fmla="*/ 139 h 139"/>
                  <a:gd name="T16" fmla="*/ 51 w 173"/>
                  <a:gd name="T17" fmla="*/ 138 h 139"/>
                  <a:gd name="T18" fmla="*/ 34 w 173"/>
                  <a:gd name="T19" fmla="*/ 132 h 139"/>
                  <a:gd name="T20" fmla="*/ 23 w 173"/>
                  <a:gd name="T21" fmla="*/ 120 h 139"/>
                  <a:gd name="T22" fmla="*/ 8 w 173"/>
                  <a:gd name="T23" fmla="*/ 103 h 139"/>
                  <a:gd name="T24" fmla="*/ 1 w 173"/>
                  <a:gd name="T25" fmla="*/ 85 h 139"/>
                  <a:gd name="T26" fmla="*/ 0 w 173"/>
                  <a:gd name="T27" fmla="*/ 65 h 139"/>
                  <a:gd name="T28" fmla="*/ 5 w 173"/>
                  <a:gd name="T29" fmla="*/ 46 h 139"/>
                  <a:gd name="T30" fmla="*/ 13 w 173"/>
                  <a:gd name="T3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48" name="Freeform 159"/>
              <p:cNvSpPr>
                <a:spLocks/>
              </p:cNvSpPr>
              <p:nvPr/>
            </p:nvSpPr>
            <p:spPr bwMode="auto">
              <a:xfrm>
                <a:off x="4725" y="2836"/>
                <a:ext cx="19" cy="35"/>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9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49" name="Freeform 160"/>
              <p:cNvSpPr>
                <a:spLocks/>
              </p:cNvSpPr>
              <p:nvPr/>
            </p:nvSpPr>
            <p:spPr bwMode="auto">
              <a:xfrm>
                <a:off x="4737" y="2831"/>
                <a:ext cx="18" cy="35"/>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8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pic>
          <p:nvPicPr>
            <p:cNvPr id="163" name="Picture 161" descr="D-Link%20DI-713P%20Wireless%20Broadband%20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1739" y="3734197"/>
              <a:ext cx="749300" cy="623887"/>
            </a:xfrm>
            <a:prstGeom prst="rect">
              <a:avLst/>
            </a:prstGeom>
            <a:noFill/>
            <a:extLst>
              <a:ext uri="{909E8E84-426E-40DD-AFC4-6F175D3DCCD1}">
                <a14:hiddenFill xmlns:a14="http://schemas.microsoft.com/office/drawing/2010/main">
                  <a:solidFill>
                    <a:srgbClr val="FFFFFF"/>
                  </a:solidFill>
                </a14:hiddenFill>
              </a:ext>
            </a:extLst>
          </p:spPr>
        </p:pic>
        <p:grpSp>
          <p:nvGrpSpPr>
            <p:cNvPr id="164" name="Group 162"/>
            <p:cNvGrpSpPr>
              <a:grpSpLocks/>
            </p:cNvGrpSpPr>
            <p:nvPr/>
          </p:nvGrpSpPr>
          <p:grpSpPr bwMode="auto">
            <a:xfrm>
              <a:off x="2201614" y="3892947"/>
              <a:ext cx="671512" cy="495300"/>
              <a:chOff x="762" y="2391"/>
              <a:chExt cx="423" cy="312"/>
            </a:xfrm>
          </p:grpSpPr>
          <p:grpSp>
            <p:nvGrpSpPr>
              <p:cNvPr id="165" name="Group 163"/>
              <p:cNvGrpSpPr>
                <a:grpSpLocks/>
              </p:cNvGrpSpPr>
              <p:nvPr/>
            </p:nvGrpSpPr>
            <p:grpSpPr bwMode="auto">
              <a:xfrm>
                <a:off x="867" y="2432"/>
                <a:ext cx="318" cy="271"/>
                <a:chOff x="657" y="1570"/>
                <a:chExt cx="318" cy="311"/>
              </a:xfrm>
            </p:grpSpPr>
            <p:sp>
              <p:nvSpPr>
                <p:cNvPr id="173" name="Line 164"/>
                <p:cNvSpPr>
                  <a:spLocks noChangeShapeType="1"/>
                </p:cNvSpPr>
                <p:nvPr/>
              </p:nvSpPr>
              <p:spPr bwMode="auto">
                <a:xfrm flipH="1">
                  <a:off x="703" y="1570"/>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pic>
              <p:nvPicPr>
                <p:cNvPr id="174" name="Picture 165" descr="laptop cop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6" name="Group 166"/>
              <p:cNvGrpSpPr>
                <a:grpSpLocks/>
              </p:cNvGrpSpPr>
              <p:nvPr/>
            </p:nvGrpSpPr>
            <p:grpSpPr bwMode="auto">
              <a:xfrm>
                <a:off x="762" y="2391"/>
                <a:ext cx="306" cy="90"/>
                <a:chOff x="748" y="2251"/>
                <a:chExt cx="306" cy="90"/>
              </a:xfrm>
            </p:grpSpPr>
            <p:sp>
              <p:nvSpPr>
                <p:cNvPr id="167" name="AutoShape 167"/>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68" name="AutoShape 168"/>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69" name="AutoShape 169"/>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70" name="AutoShape 170"/>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71" name="AutoShape 171"/>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72" name="AutoShape 172"/>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grpSp>
        <p:sp>
          <p:nvSpPr>
            <p:cNvPr id="175" name="Freeform 173"/>
            <p:cNvSpPr>
              <a:spLocks/>
            </p:cNvSpPr>
            <p:nvPr/>
          </p:nvSpPr>
          <p:spPr bwMode="auto">
            <a:xfrm rot="1390605">
              <a:off x="3690689" y="3461147"/>
              <a:ext cx="203200" cy="30003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nvGrpSpPr>
            <p:cNvPr id="176" name="Group 174"/>
            <p:cNvGrpSpPr>
              <a:grpSpLocks/>
            </p:cNvGrpSpPr>
            <p:nvPr/>
          </p:nvGrpSpPr>
          <p:grpSpPr bwMode="auto">
            <a:xfrm>
              <a:off x="906214" y="2595959"/>
              <a:ext cx="503237" cy="684213"/>
              <a:chOff x="431" y="1479"/>
              <a:chExt cx="317" cy="431"/>
            </a:xfrm>
          </p:grpSpPr>
          <p:sp>
            <p:nvSpPr>
              <p:cNvPr id="177" name="Line 175"/>
              <p:cNvSpPr>
                <a:spLocks noChangeShapeType="1"/>
              </p:cNvSpPr>
              <p:nvPr/>
            </p:nvSpPr>
            <p:spPr bwMode="auto">
              <a:xfrm>
                <a:off x="612" y="1479"/>
                <a:ext cx="0" cy="22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pic>
            <p:nvPicPr>
              <p:cNvPr id="178" name="Picture 17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79" name="Picture 177"/>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751" y="1913334"/>
              <a:ext cx="503238"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0" name="Line 178"/>
            <p:cNvSpPr>
              <a:spLocks noChangeShapeType="1"/>
            </p:cNvSpPr>
            <p:nvPr/>
          </p:nvSpPr>
          <p:spPr bwMode="auto">
            <a:xfrm flipV="1">
              <a:off x="472826" y="2595959"/>
              <a:ext cx="302577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81" name="Line 179"/>
            <p:cNvSpPr>
              <a:spLocks noChangeShapeType="1"/>
            </p:cNvSpPr>
            <p:nvPr/>
          </p:nvSpPr>
          <p:spPr bwMode="auto">
            <a:xfrm>
              <a:off x="3281114" y="2237184"/>
              <a:ext cx="0" cy="3603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pic>
          <p:nvPicPr>
            <p:cNvPr id="182" name="Picture 18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9339" y="2092722"/>
              <a:ext cx="52070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83" name="Group 181"/>
            <p:cNvGrpSpPr>
              <a:grpSpLocks/>
            </p:cNvGrpSpPr>
            <p:nvPr/>
          </p:nvGrpSpPr>
          <p:grpSpPr bwMode="auto">
            <a:xfrm>
              <a:off x="1409451" y="4469209"/>
              <a:ext cx="671513" cy="495300"/>
              <a:chOff x="762" y="2391"/>
              <a:chExt cx="423" cy="312"/>
            </a:xfrm>
          </p:grpSpPr>
          <p:grpSp>
            <p:nvGrpSpPr>
              <p:cNvPr id="184" name="Group 182"/>
              <p:cNvGrpSpPr>
                <a:grpSpLocks/>
              </p:cNvGrpSpPr>
              <p:nvPr/>
            </p:nvGrpSpPr>
            <p:grpSpPr bwMode="auto">
              <a:xfrm>
                <a:off x="867" y="2432"/>
                <a:ext cx="318" cy="271"/>
                <a:chOff x="657" y="1570"/>
                <a:chExt cx="318" cy="311"/>
              </a:xfrm>
            </p:grpSpPr>
            <p:sp>
              <p:nvSpPr>
                <p:cNvPr id="192" name="Line 183"/>
                <p:cNvSpPr>
                  <a:spLocks noChangeShapeType="1"/>
                </p:cNvSpPr>
                <p:nvPr/>
              </p:nvSpPr>
              <p:spPr bwMode="auto">
                <a:xfrm flipH="1">
                  <a:off x="703" y="1570"/>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pic>
              <p:nvPicPr>
                <p:cNvPr id="193" name="Picture 184" descr="laptop cop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5" name="Group 185"/>
              <p:cNvGrpSpPr>
                <a:grpSpLocks/>
              </p:cNvGrpSpPr>
              <p:nvPr/>
            </p:nvGrpSpPr>
            <p:grpSpPr bwMode="auto">
              <a:xfrm>
                <a:off x="762" y="2391"/>
                <a:ext cx="306" cy="90"/>
                <a:chOff x="748" y="2251"/>
                <a:chExt cx="306" cy="90"/>
              </a:xfrm>
            </p:grpSpPr>
            <p:sp>
              <p:nvSpPr>
                <p:cNvPr id="186" name="AutoShape 186"/>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87" name="AutoShape 187"/>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88" name="AutoShape 188"/>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89" name="AutoShape 189"/>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90" name="AutoShape 190"/>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91" name="AutoShape 191"/>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grpSp>
        <p:grpSp>
          <p:nvGrpSpPr>
            <p:cNvPr id="194" name="Group 192"/>
            <p:cNvGrpSpPr>
              <a:grpSpLocks/>
            </p:cNvGrpSpPr>
            <p:nvPr/>
          </p:nvGrpSpPr>
          <p:grpSpPr bwMode="auto">
            <a:xfrm>
              <a:off x="2273051" y="4901009"/>
              <a:ext cx="671513" cy="495300"/>
              <a:chOff x="762" y="2391"/>
              <a:chExt cx="423" cy="312"/>
            </a:xfrm>
          </p:grpSpPr>
          <p:grpSp>
            <p:nvGrpSpPr>
              <p:cNvPr id="195" name="Group 193"/>
              <p:cNvGrpSpPr>
                <a:grpSpLocks/>
              </p:cNvGrpSpPr>
              <p:nvPr/>
            </p:nvGrpSpPr>
            <p:grpSpPr bwMode="auto">
              <a:xfrm>
                <a:off x="867" y="2432"/>
                <a:ext cx="318" cy="271"/>
                <a:chOff x="657" y="1570"/>
                <a:chExt cx="318" cy="311"/>
              </a:xfrm>
            </p:grpSpPr>
            <p:sp>
              <p:nvSpPr>
                <p:cNvPr id="203" name="Line 194"/>
                <p:cNvSpPr>
                  <a:spLocks noChangeShapeType="1"/>
                </p:cNvSpPr>
                <p:nvPr/>
              </p:nvSpPr>
              <p:spPr bwMode="auto">
                <a:xfrm flipH="1">
                  <a:off x="703" y="1570"/>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pic>
              <p:nvPicPr>
                <p:cNvPr id="204" name="Picture 195" descr="laptop cop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6" name="Group 196"/>
              <p:cNvGrpSpPr>
                <a:grpSpLocks/>
              </p:cNvGrpSpPr>
              <p:nvPr/>
            </p:nvGrpSpPr>
            <p:grpSpPr bwMode="auto">
              <a:xfrm>
                <a:off x="762" y="2391"/>
                <a:ext cx="306" cy="90"/>
                <a:chOff x="748" y="2251"/>
                <a:chExt cx="306" cy="90"/>
              </a:xfrm>
            </p:grpSpPr>
            <p:sp>
              <p:nvSpPr>
                <p:cNvPr id="197" name="AutoShape 197"/>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98" name="AutoShape 198"/>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199" name="AutoShape 199"/>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00" name="AutoShape 200"/>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01" name="AutoShape 201"/>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02" name="AutoShape 202"/>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grpSp>
        <p:sp>
          <p:nvSpPr>
            <p:cNvPr id="205" name="Line 203"/>
            <p:cNvSpPr>
              <a:spLocks noChangeShapeType="1"/>
            </p:cNvSpPr>
            <p:nvPr/>
          </p:nvSpPr>
          <p:spPr bwMode="auto">
            <a:xfrm>
              <a:off x="6738689" y="3172222"/>
              <a:ext cx="1511300" cy="649287"/>
            </a:xfrm>
            <a:prstGeom prst="line">
              <a:avLst/>
            </a:prstGeom>
            <a:noFill/>
            <a:ln w="38100">
              <a:solidFill>
                <a:srgbClr val="3333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06" name="Line 204"/>
            <p:cNvSpPr>
              <a:spLocks noChangeShapeType="1"/>
            </p:cNvSpPr>
            <p:nvPr/>
          </p:nvSpPr>
          <p:spPr bwMode="auto">
            <a:xfrm flipH="1">
              <a:off x="5081339" y="3245247"/>
              <a:ext cx="719137" cy="431800"/>
            </a:xfrm>
            <a:prstGeom prst="line">
              <a:avLst/>
            </a:prstGeom>
            <a:noFill/>
            <a:ln w="38100">
              <a:solidFill>
                <a:srgbClr val="3333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07" name="Freeform 205"/>
            <p:cNvSpPr>
              <a:spLocks/>
            </p:cNvSpPr>
            <p:nvPr/>
          </p:nvSpPr>
          <p:spPr bwMode="auto">
            <a:xfrm rot="1901313">
              <a:off x="2898526" y="3821509"/>
              <a:ext cx="203200" cy="300038"/>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08" name="Freeform 206"/>
            <p:cNvSpPr>
              <a:spLocks/>
            </p:cNvSpPr>
            <p:nvPr/>
          </p:nvSpPr>
          <p:spPr bwMode="auto">
            <a:xfrm rot="18818791" flipH="1">
              <a:off x="2897733" y="3582590"/>
              <a:ext cx="203200" cy="30003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09" name="Freeform 207"/>
            <p:cNvSpPr>
              <a:spLocks/>
            </p:cNvSpPr>
            <p:nvPr/>
          </p:nvSpPr>
          <p:spPr bwMode="auto">
            <a:xfrm rot="3575381">
              <a:off x="3739108" y="3641328"/>
              <a:ext cx="203200" cy="30003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10" name="Text Box 208"/>
            <p:cNvSpPr txBox="1">
              <a:spLocks noChangeArrowheads="1"/>
            </p:cNvSpPr>
            <p:nvPr/>
          </p:nvSpPr>
          <p:spPr bwMode="auto">
            <a:xfrm>
              <a:off x="1798959" y="5076473"/>
              <a:ext cx="84189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C00000"/>
                  </a:solidFill>
                  <a:effectLst/>
                  <a:uLnTx/>
                  <a:uFillTx/>
                  <a:latin typeface="+mn-lt"/>
                  <a:ea typeface="黑体" pitchFamily="2" charset="-122"/>
                </a:rPr>
                <a:t> </a:t>
              </a:r>
              <a:r>
                <a:rPr kumimoji="0" lang="zh-CN" altLang="en-US" sz="2000" b="1" i="0" u="none" strike="noStrike" kern="0" cap="none" spc="0" normalizeH="0" baseline="0" noProof="0" dirty="0">
                  <a:ln>
                    <a:noFill/>
                  </a:ln>
                  <a:solidFill>
                    <a:srgbClr val="C00000"/>
                  </a:solidFill>
                  <a:effectLst/>
                  <a:uLnTx/>
                  <a:uFillTx/>
                  <a:latin typeface="+mn-lt"/>
                  <a:ea typeface="黑体" pitchFamily="2" charset="-122"/>
                </a:rPr>
                <a:t>主机 </a:t>
              </a:r>
              <a:endParaRPr kumimoji="0" lang="en-US" altLang="zh-CN" sz="2000" b="1" i="0" u="none" strike="noStrike" kern="0" cap="none" spc="0" normalizeH="0" baseline="0" noProof="0" dirty="0">
                <a:ln>
                  <a:noFill/>
                </a:ln>
                <a:solidFill>
                  <a:srgbClr val="C00000"/>
                </a:solidFill>
                <a:effectLst/>
                <a:uLnTx/>
                <a:uFillTx/>
                <a:latin typeface="+mn-lt"/>
                <a:ea typeface="黑体" pitchFamily="2"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C00000"/>
                  </a:solidFill>
                  <a:effectLst/>
                  <a:uLnTx/>
                  <a:uFillTx/>
                  <a:latin typeface="+mn-lt"/>
                  <a:ea typeface="黑体" pitchFamily="2" charset="-122"/>
                </a:rPr>
                <a:t>H</a:t>
              </a:r>
              <a:r>
                <a:rPr kumimoji="0" lang="en-US" altLang="zh-CN" sz="2000" b="1" i="0" u="none" strike="noStrike" kern="0" cap="none" spc="0" normalizeH="0" baseline="-25000" noProof="0" dirty="0">
                  <a:ln>
                    <a:noFill/>
                  </a:ln>
                  <a:solidFill>
                    <a:srgbClr val="C00000"/>
                  </a:solidFill>
                  <a:effectLst/>
                  <a:uLnTx/>
                  <a:uFillTx/>
                  <a:latin typeface="+mn-lt"/>
                  <a:ea typeface="黑体" pitchFamily="2" charset="-122"/>
                </a:rPr>
                <a:t>2</a:t>
              </a:r>
            </a:p>
          </p:txBody>
        </p:sp>
        <p:grpSp>
          <p:nvGrpSpPr>
            <p:cNvPr id="211" name="Group 209"/>
            <p:cNvGrpSpPr>
              <a:grpSpLocks/>
            </p:cNvGrpSpPr>
            <p:nvPr/>
          </p:nvGrpSpPr>
          <p:grpSpPr bwMode="auto">
            <a:xfrm>
              <a:off x="1698376" y="2597547"/>
              <a:ext cx="503238" cy="684212"/>
              <a:chOff x="431" y="1479"/>
              <a:chExt cx="317" cy="431"/>
            </a:xfrm>
          </p:grpSpPr>
          <p:sp>
            <p:nvSpPr>
              <p:cNvPr id="212" name="Line 210"/>
              <p:cNvSpPr>
                <a:spLocks noChangeShapeType="1"/>
              </p:cNvSpPr>
              <p:nvPr/>
            </p:nvSpPr>
            <p:spPr bwMode="auto">
              <a:xfrm>
                <a:off x="612" y="1479"/>
                <a:ext cx="0" cy="22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pic>
            <p:nvPicPr>
              <p:cNvPr id="213" name="Picture 21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14" name="Group 212"/>
            <p:cNvGrpSpPr>
              <a:grpSpLocks/>
            </p:cNvGrpSpPr>
            <p:nvPr/>
          </p:nvGrpSpPr>
          <p:grpSpPr bwMode="auto">
            <a:xfrm>
              <a:off x="2706439" y="2599134"/>
              <a:ext cx="503237" cy="684213"/>
              <a:chOff x="431" y="1479"/>
              <a:chExt cx="317" cy="431"/>
            </a:xfrm>
          </p:grpSpPr>
          <p:sp>
            <p:nvSpPr>
              <p:cNvPr id="215" name="Line 213"/>
              <p:cNvSpPr>
                <a:spLocks noChangeShapeType="1"/>
              </p:cNvSpPr>
              <p:nvPr/>
            </p:nvSpPr>
            <p:spPr bwMode="auto">
              <a:xfrm>
                <a:off x="612" y="1479"/>
                <a:ext cx="0" cy="22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pic>
            <p:nvPicPr>
              <p:cNvPr id="216" name="Picture 214"/>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17" name="Text Box 215"/>
            <p:cNvSpPr txBox="1">
              <a:spLocks noChangeArrowheads="1"/>
            </p:cNvSpPr>
            <p:nvPr/>
          </p:nvSpPr>
          <p:spPr bwMode="auto">
            <a:xfrm>
              <a:off x="2763589" y="1870472"/>
              <a:ext cx="4619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 R</a:t>
              </a:r>
              <a:r>
                <a:rPr kumimoji="0" lang="en-US" altLang="zh-CN" sz="1600" b="1" i="0" u="none" strike="noStrike" kern="0" cap="none" spc="0" normalizeH="0" baseline="-25000" noProof="0">
                  <a:ln>
                    <a:noFill/>
                  </a:ln>
                  <a:solidFill>
                    <a:srgbClr val="000099"/>
                  </a:solidFill>
                  <a:effectLst/>
                  <a:uLnTx/>
                  <a:uFillTx/>
                  <a:latin typeface="+mn-lt"/>
                  <a:ea typeface="黑体" pitchFamily="2" charset="-122"/>
                </a:rPr>
                <a:t>1</a:t>
              </a:r>
            </a:p>
          </p:txBody>
        </p:sp>
        <p:sp>
          <p:nvSpPr>
            <p:cNvPr id="218" name="Text Box 216"/>
            <p:cNvSpPr txBox="1">
              <a:spLocks noChangeArrowheads="1"/>
            </p:cNvSpPr>
            <p:nvPr/>
          </p:nvSpPr>
          <p:spPr bwMode="auto">
            <a:xfrm>
              <a:off x="8019801" y="4197747"/>
              <a:ext cx="4619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 R</a:t>
              </a:r>
              <a:r>
                <a:rPr kumimoji="0" lang="en-US" altLang="zh-CN" sz="1600" b="1" i="0" u="none" strike="noStrike" kern="0" cap="none" spc="0" normalizeH="0" baseline="-25000" noProof="0">
                  <a:ln>
                    <a:noFill/>
                  </a:ln>
                  <a:solidFill>
                    <a:srgbClr val="000099"/>
                  </a:solidFill>
                  <a:effectLst/>
                  <a:uLnTx/>
                  <a:uFillTx/>
                  <a:latin typeface="+mn-lt"/>
                  <a:ea typeface="黑体" pitchFamily="2" charset="-122"/>
                </a:rPr>
                <a:t>4</a:t>
              </a:r>
            </a:p>
          </p:txBody>
        </p:sp>
        <p:sp>
          <p:nvSpPr>
            <p:cNvPr id="219" name="Text Box 217"/>
            <p:cNvSpPr txBox="1">
              <a:spLocks noChangeArrowheads="1"/>
            </p:cNvSpPr>
            <p:nvPr/>
          </p:nvSpPr>
          <p:spPr bwMode="auto">
            <a:xfrm>
              <a:off x="4289176" y="3694509"/>
              <a:ext cx="4619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 R</a:t>
              </a:r>
              <a:r>
                <a:rPr kumimoji="0" lang="en-US" altLang="zh-CN" sz="1600" b="1" i="0" u="none" strike="noStrike" kern="0" cap="none" spc="0" normalizeH="0" baseline="-25000" noProof="0">
                  <a:ln>
                    <a:noFill/>
                  </a:ln>
                  <a:solidFill>
                    <a:srgbClr val="000099"/>
                  </a:solidFill>
                  <a:effectLst/>
                  <a:uLnTx/>
                  <a:uFillTx/>
                  <a:latin typeface="+mn-lt"/>
                  <a:ea typeface="黑体" pitchFamily="2" charset="-122"/>
                </a:rPr>
                <a:t>5</a:t>
              </a:r>
            </a:p>
          </p:txBody>
        </p:sp>
        <p:sp>
          <p:nvSpPr>
            <p:cNvPr id="220" name="Text Box 218"/>
            <p:cNvSpPr txBox="1">
              <a:spLocks noChangeArrowheads="1"/>
            </p:cNvSpPr>
            <p:nvPr/>
          </p:nvSpPr>
          <p:spPr bwMode="auto">
            <a:xfrm>
              <a:off x="5211514" y="1870472"/>
              <a:ext cx="4619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 R</a:t>
              </a:r>
              <a:r>
                <a:rPr kumimoji="0" lang="en-US" altLang="zh-CN" sz="1600" b="1" i="0" u="none" strike="noStrike" kern="0" cap="none" spc="0" normalizeH="0" baseline="-25000" noProof="0">
                  <a:ln>
                    <a:noFill/>
                  </a:ln>
                  <a:solidFill>
                    <a:srgbClr val="000099"/>
                  </a:solidFill>
                  <a:effectLst/>
                  <a:uLnTx/>
                  <a:uFillTx/>
                  <a:latin typeface="+mn-lt"/>
                  <a:ea typeface="黑体" pitchFamily="2" charset="-122"/>
                </a:rPr>
                <a:t>2</a:t>
              </a:r>
            </a:p>
          </p:txBody>
        </p:sp>
        <p:sp>
          <p:nvSpPr>
            <p:cNvPr id="221" name="Text Box 219"/>
            <p:cNvSpPr txBox="1">
              <a:spLocks noChangeArrowheads="1"/>
            </p:cNvSpPr>
            <p:nvPr/>
          </p:nvSpPr>
          <p:spPr bwMode="auto">
            <a:xfrm>
              <a:off x="7803901" y="1894284"/>
              <a:ext cx="4619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 R</a:t>
              </a:r>
              <a:r>
                <a:rPr kumimoji="0" lang="en-US" altLang="zh-CN" sz="1600" b="1" i="0" u="none" strike="noStrike" kern="0" cap="none" spc="0" normalizeH="0" baseline="-25000" noProof="0">
                  <a:ln>
                    <a:noFill/>
                  </a:ln>
                  <a:solidFill>
                    <a:srgbClr val="000099"/>
                  </a:solidFill>
                  <a:effectLst/>
                  <a:uLnTx/>
                  <a:uFillTx/>
                  <a:latin typeface="+mn-lt"/>
                  <a:ea typeface="黑体" pitchFamily="2" charset="-122"/>
                </a:rPr>
                <a:t>3</a:t>
              </a:r>
            </a:p>
          </p:txBody>
        </p:sp>
        <p:sp>
          <p:nvSpPr>
            <p:cNvPr id="222" name="Text Box 220"/>
            <p:cNvSpPr txBox="1">
              <a:spLocks noChangeArrowheads="1"/>
            </p:cNvSpPr>
            <p:nvPr/>
          </p:nvSpPr>
          <p:spPr bwMode="auto">
            <a:xfrm>
              <a:off x="3138239" y="646509"/>
              <a:ext cx="4619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 R</a:t>
              </a:r>
              <a:r>
                <a:rPr kumimoji="0" lang="en-US" altLang="zh-CN" sz="1600" b="1" i="0" u="none" strike="noStrike" kern="0" cap="none" spc="0" normalizeH="0" baseline="-25000" noProof="0">
                  <a:ln>
                    <a:noFill/>
                  </a:ln>
                  <a:solidFill>
                    <a:srgbClr val="000099"/>
                  </a:solidFill>
                  <a:effectLst/>
                  <a:uLnTx/>
                  <a:uFillTx/>
                  <a:latin typeface="+mn-lt"/>
                  <a:ea typeface="黑体" pitchFamily="2" charset="-122"/>
                </a:rPr>
                <a:t>1</a:t>
              </a:r>
            </a:p>
          </p:txBody>
        </p:sp>
        <p:sp>
          <p:nvSpPr>
            <p:cNvPr id="223" name="Text Box 221"/>
            <p:cNvSpPr txBox="1">
              <a:spLocks noChangeArrowheads="1"/>
            </p:cNvSpPr>
            <p:nvPr/>
          </p:nvSpPr>
          <p:spPr bwMode="auto">
            <a:xfrm>
              <a:off x="5643314" y="670322"/>
              <a:ext cx="4619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 R</a:t>
              </a:r>
              <a:r>
                <a:rPr kumimoji="0" lang="en-US" altLang="zh-CN" sz="1600" b="1" i="0" u="none" strike="noStrike" kern="0" cap="none" spc="0" normalizeH="0" baseline="-25000" noProof="0">
                  <a:ln>
                    <a:noFill/>
                  </a:ln>
                  <a:solidFill>
                    <a:srgbClr val="000099"/>
                  </a:solidFill>
                  <a:effectLst/>
                  <a:uLnTx/>
                  <a:uFillTx/>
                  <a:latin typeface="+mn-lt"/>
                  <a:ea typeface="黑体" pitchFamily="2" charset="-122"/>
                </a:rPr>
                <a:t>2</a:t>
              </a:r>
            </a:p>
          </p:txBody>
        </p:sp>
        <p:sp>
          <p:nvSpPr>
            <p:cNvPr id="224" name="Text Box 222"/>
            <p:cNvSpPr txBox="1">
              <a:spLocks noChangeArrowheads="1"/>
            </p:cNvSpPr>
            <p:nvPr/>
          </p:nvSpPr>
          <p:spPr bwMode="auto">
            <a:xfrm>
              <a:off x="8092826" y="670322"/>
              <a:ext cx="4619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 R</a:t>
              </a:r>
              <a:r>
                <a:rPr kumimoji="0" lang="en-US" altLang="zh-CN" sz="1600" b="1" i="0" u="none" strike="noStrike" kern="0" cap="none" spc="0" normalizeH="0" baseline="-25000" noProof="0">
                  <a:ln>
                    <a:noFill/>
                  </a:ln>
                  <a:solidFill>
                    <a:srgbClr val="000099"/>
                  </a:solidFill>
                  <a:effectLst/>
                  <a:uLnTx/>
                  <a:uFillTx/>
                  <a:latin typeface="+mn-lt"/>
                  <a:ea typeface="黑体" pitchFamily="2" charset="-122"/>
                </a:rPr>
                <a:t>3</a:t>
              </a:r>
            </a:p>
          </p:txBody>
        </p:sp>
        <p:sp>
          <p:nvSpPr>
            <p:cNvPr id="225" name="Text Box 223"/>
            <p:cNvSpPr txBox="1">
              <a:spLocks noChangeArrowheads="1"/>
            </p:cNvSpPr>
            <p:nvPr/>
          </p:nvSpPr>
          <p:spPr bwMode="auto">
            <a:xfrm>
              <a:off x="969714" y="213122"/>
              <a:ext cx="4074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H</a:t>
              </a:r>
              <a:r>
                <a:rPr kumimoji="0" lang="en-US" altLang="zh-CN" sz="1600" b="1" i="0" u="none" strike="noStrike" kern="0" cap="none" spc="0" normalizeH="0" baseline="-25000" noProof="0">
                  <a:ln>
                    <a:noFill/>
                  </a:ln>
                  <a:solidFill>
                    <a:srgbClr val="000099"/>
                  </a:solidFill>
                  <a:effectLst/>
                  <a:uLnTx/>
                  <a:uFillTx/>
                  <a:latin typeface="+mn-lt"/>
                  <a:ea typeface="黑体" pitchFamily="2" charset="-122"/>
                </a:rPr>
                <a:t>1</a:t>
              </a:r>
            </a:p>
          </p:txBody>
        </p:sp>
        <p:sp>
          <p:nvSpPr>
            <p:cNvPr id="226" name="Text Box 224"/>
            <p:cNvSpPr txBox="1">
              <a:spLocks noChangeArrowheads="1"/>
            </p:cNvSpPr>
            <p:nvPr/>
          </p:nvSpPr>
          <p:spPr bwMode="auto">
            <a:xfrm>
              <a:off x="4649539" y="4197747"/>
              <a:ext cx="4619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 R</a:t>
              </a:r>
              <a:r>
                <a:rPr kumimoji="0" lang="en-US" altLang="zh-CN" sz="1600" b="1" i="0" u="none" strike="noStrike" kern="0" cap="none" spc="0" normalizeH="0" baseline="-25000" noProof="0">
                  <a:ln>
                    <a:noFill/>
                  </a:ln>
                  <a:solidFill>
                    <a:srgbClr val="000099"/>
                  </a:solidFill>
                  <a:effectLst/>
                  <a:uLnTx/>
                  <a:uFillTx/>
                  <a:latin typeface="+mn-lt"/>
                  <a:ea typeface="黑体" pitchFamily="2" charset="-122"/>
                </a:rPr>
                <a:t>5</a:t>
              </a:r>
            </a:p>
          </p:txBody>
        </p:sp>
        <p:sp>
          <p:nvSpPr>
            <p:cNvPr id="227" name="Text Box 225"/>
            <p:cNvSpPr txBox="1">
              <a:spLocks noChangeArrowheads="1"/>
            </p:cNvSpPr>
            <p:nvPr/>
          </p:nvSpPr>
          <p:spPr bwMode="auto">
            <a:xfrm>
              <a:off x="3354139" y="4894659"/>
              <a:ext cx="46519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 H</a:t>
              </a:r>
              <a:r>
                <a:rPr kumimoji="0" lang="en-US" altLang="zh-CN" sz="1600" b="1" i="0" u="none" strike="noStrike" kern="0" cap="none" spc="0" normalizeH="0" baseline="-25000" noProof="0">
                  <a:ln>
                    <a:noFill/>
                  </a:ln>
                  <a:solidFill>
                    <a:srgbClr val="000099"/>
                  </a:solidFill>
                  <a:effectLst/>
                  <a:uLnTx/>
                  <a:uFillTx/>
                  <a:latin typeface="+mn-lt"/>
                  <a:ea typeface="黑体" pitchFamily="2" charset="-122"/>
                </a:rPr>
                <a:t>2</a:t>
              </a:r>
            </a:p>
          </p:txBody>
        </p:sp>
        <p:grpSp>
          <p:nvGrpSpPr>
            <p:cNvPr id="228" name="Group 226"/>
            <p:cNvGrpSpPr>
              <a:grpSpLocks/>
            </p:cNvGrpSpPr>
            <p:nvPr/>
          </p:nvGrpSpPr>
          <p:grpSpPr bwMode="auto">
            <a:xfrm>
              <a:off x="7241926" y="2668984"/>
              <a:ext cx="1439863" cy="863600"/>
              <a:chOff x="385" y="2795"/>
              <a:chExt cx="1769" cy="816"/>
            </a:xfrm>
          </p:grpSpPr>
          <p:sp>
            <p:nvSpPr>
              <p:cNvPr id="229" name="Oval 227"/>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30" name="Oval 228"/>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31" name="Oval 229"/>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32" name="Oval 230"/>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33" name="Oval 231"/>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34" name="Oval 232"/>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35" name="Oval 233"/>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36" name="Oval 234"/>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37" name="Oval 235"/>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38" name="Oval 236"/>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39" name="Oval 237"/>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40" name="Oval 238"/>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41" name="Oval 239"/>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42" name="Oval 240"/>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43" name="Oval 241"/>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44" name="Oval 242"/>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45" name="Freeform 243"/>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grpSp>
        <p:sp>
          <p:nvSpPr>
            <p:cNvPr id="246" name="Text Box 244"/>
            <p:cNvSpPr txBox="1">
              <a:spLocks noChangeArrowheads="1"/>
            </p:cNvSpPr>
            <p:nvPr/>
          </p:nvSpPr>
          <p:spPr bwMode="auto">
            <a:xfrm>
              <a:off x="7673726" y="3670697"/>
              <a:ext cx="4619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 R</a:t>
              </a:r>
              <a:r>
                <a:rPr kumimoji="0" lang="en-US" altLang="zh-CN" sz="1600" b="1" i="0" u="none" strike="noStrike" kern="0" cap="none" spc="0" normalizeH="0" baseline="-25000" noProof="0">
                  <a:ln>
                    <a:noFill/>
                  </a:ln>
                  <a:solidFill>
                    <a:srgbClr val="000099"/>
                  </a:solidFill>
                  <a:effectLst/>
                  <a:uLnTx/>
                  <a:uFillTx/>
                  <a:latin typeface="+mn-lt"/>
                  <a:ea typeface="黑体" pitchFamily="2" charset="-122"/>
                </a:rPr>
                <a:t>4</a:t>
              </a:r>
            </a:p>
          </p:txBody>
        </p:sp>
        <p:sp>
          <p:nvSpPr>
            <p:cNvPr id="247" name="AutoShape 245"/>
            <p:cNvSpPr>
              <a:spLocks noChangeArrowheads="1"/>
            </p:cNvSpPr>
            <p:nvPr/>
          </p:nvSpPr>
          <p:spPr bwMode="auto">
            <a:xfrm>
              <a:off x="3931989" y="2237184"/>
              <a:ext cx="1366837" cy="381000"/>
            </a:xfrm>
            <a:prstGeom prst="rightArrow">
              <a:avLst>
                <a:gd name="adj1" fmla="val 59778"/>
                <a:gd name="adj2" fmla="val 96979"/>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solidFill>
                    <a:srgbClr val="000099"/>
                  </a:solidFill>
                  <a:effectLst/>
                  <a:uLnTx/>
                  <a:uFillTx/>
                  <a:latin typeface="+mn-lt"/>
                  <a:ea typeface="黑体" pitchFamily="2" charset="-122"/>
                </a:rPr>
                <a:t>间接交付</a:t>
              </a:r>
            </a:p>
          </p:txBody>
        </p:sp>
        <p:sp>
          <p:nvSpPr>
            <p:cNvPr id="248" name="AutoShape 246"/>
            <p:cNvSpPr>
              <a:spLocks noChangeArrowheads="1"/>
            </p:cNvSpPr>
            <p:nvPr/>
          </p:nvSpPr>
          <p:spPr bwMode="auto">
            <a:xfrm>
              <a:off x="6233864" y="2281634"/>
              <a:ext cx="1584325" cy="387350"/>
            </a:xfrm>
            <a:prstGeom prst="rightArrow">
              <a:avLst>
                <a:gd name="adj1" fmla="val 59778"/>
                <a:gd name="adj2" fmla="val 110567"/>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solidFill>
                    <a:srgbClr val="000099"/>
                  </a:solidFill>
                  <a:effectLst/>
                  <a:uLnTx/>
                  <a:uFillTx/>
                  <a:latin typeface="+mn-lt"/>
                  <a:ea typeface="黑体" pitchFamily="2" charset="-122"/>
                </a:rPr>
                <a:t>间接交付</a:t>
              </a:r>
            </a:p>
          </p:txBody>
        </p:sp>
        <p:sp>
          <p:nvSpPr>
            <p:cNvPr id="249" name="AutoShape 247"/>
            <p:cNvSpPr>
              <a:spLocks noChangeArrowheads="1"/>
            </p:cNvSpPr>
            <p:nvPr/>
          </p:nvSpPr>
          <p:spPr bwMode="auto">
            <a:xfrm>
              <a:off x="1480889" y="2019697"/>
              <a:ext cx="1227137" cy="360362"/>
            </a:xfrm>
            <a:prstGeom prst="rightArrow">
              <a:avLst>
                <a:gd name="adj1" fmla="val 59778"/>
                <a:gd name="adj2" fmla="val 92053"/>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solidFill>
                    <a:srgbClr val="000099"/>
                  </a:solidFill>
                  <a:effectLst/>
                  <a:uLnTx/>
                  <a:uFillTx/>
                  <a:latin typeface="+mn-lt"/>
                  <a:ea typeface="黑体" pitchFamily="2" charset="-122"/>
                </a:rPr>
                <a:t>间接交付</a:t>
              </a:r>
            </a:p>
          </p:txBody>
        </p:sp>
        <p:sp>
          <p:nvSpPr>
            <p:cNvPr id="250" name="AutoShape 248"/>
            <p:cNvSpPr>
              <a:spLocks noChangeArrowheads="1"/>
            </p:cNvSpPr>
            <p:nvPr/>
          </p:nvSpPr>
          <p:spPr bwMode="auto">
            <a:xfrm rot="6744589" flipV="1">
              <a:off x="7817395" y="2812653"/>
              <a:ext cx="1368425" cy="360363"/>
            </a:xfrm>
            <a:prstGeom prst="rightArrow">
              <a:avLst>
                <a:gd name="adj1" fmla="val 59778"/>
                <a:gd name="adj2" fmla="val 102652"/>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solidFill>
                    <a:srgbClr val="000099"/>
                  </a:solidFill>
                  <a:effectLst/>
                  <a:uLnTx/>
                  <a:uFillTx/>
                  <a:latin typeface="+mn-lt"/>
                  <a:ea typeface="黑体" pitchFamily="2" charset="-122"/>
                </a:rPr>
                <a:t>间接交付</a:t>
              </a:r>
            </a:p>
          </p:txBody>
        </p:sp>
        <p:sp>
          <p:nvSpPr>
            <p:cNvPr id="251" name="AutoShape 249"/>
            <p:cNvSpPr>
              <a:spLocks noChangeArrowheads="1"/>
            </p:cNvSpPr>
            <p:nvPr/>
          </p:nvSpPr>
          <p:spPr bwMode="auto">
            <a:xfrm flipH="1">
              <a:off x="5514726" y="3892947"/>
              <a:ext cx="2016125" cy="358775"/>
            </a:xfrm>
            <a:prstGeom prst="rightArrow">
              <a:avLst>
                <a:gd name="adj1" fmla="val 59778"/>
                <a:gd name="adj2" fmla="val 151908"/>
              </a:avLst>
            </a:prstGeom>
            <a:solidFill>
              <a:srgbClr val="FF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solidFill>
                    <a:srgbClr val="000099"/>
                  </a:solidFill>
                  <a:effectLst/>
                  <a:uLnTx/>
                  <a:uFillTx/>
                  <a:latin typeface="+mn-lt"/>
                  <a:ea typeface="黑体" pitchFamily="2" charset="-122"/>
                </a:rPr>
                <a:t>间接交付</a:t>
              </a:r>
            </a:p>
          </p:txBody>
        </p:sp>
        <p:sp>
          <p:nvSpPr>
            <p:cNvPr id="252" name="AutoShape 250"/>
            <p:cNvSpPr>
              <a:spLocks noChangeArrowheads="1"/>
            </p:cNvSpPr>
            <p:nvPr/>
          </p:nvSpPr>
          <p:spPr bwMode="auto">
            <a:xfrm rot="20314671" flipH="1">
              <a:off x="2922339" y="4396184"/>
              <a:ext cx="1511300" cy="358775"/>
            </a:xfrm>
            <a:prstGeom prst="rightArrow">
              <a:avLst>
                <a:gd name="adj1" fmla="val 59778"/>
                <a:gd name="adj2" fmla="val 113871"/>
              </a:avLst>
            </a:prstGeom>
            <a:solidFill>
              <a:srgbClr val="FFCCCC"/>
            </a:solidFill>
            <a:ln w="38100" cmpd="dbl">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solidFill>
                    <a:srgbClr val="000099"/>
                  </a:solidFill>
                  <a:effectLst/>
                  <a:uLnTx/>
                  <a:uFillTx/>
                  <a:latin typeface="+mn-lt"/>
                  <a:ea typeface="黑体" pitchFamily="2" charset="-122"/>
                </a:rPr>
                <a:t>直接交付</a:t>
              </a:r>
            </a:p>
          </p:txBody>
        </p:sp>
        <p:grpSp>
          <p:nvGrpSpPr>
            <p:cNvPr id="253" name="Group 251"/>
            <p:cNvGrpSpPr>
              <a:grpSpLocks/>
            </p:cNvGrpSpPr>
            <p:nvPr/>
          </p:nvGrpSpPr>
          <p:grpSpPr bwMode="auto">
            <a:xfrm>
              <a:off x="2954089" y="989410"/>
              <a:ext cx="760412" cy="830263"/>
              <a:chOff x="1721" y="558"/>
              <a:chExt cx="479" cy="523"/>
            </a:xfrm>
          </p:grpSpPr>
          <p:sp>
            <p:nvSpPr>
              <p:cNvPr id="254" name="Rectangle 252"/>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55" name="Rectangle 253"/>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56" name="Line 254"/>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57" name="Line 255"/>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58" name="Line 256"/>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59" name="Text Box 257"/>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2     2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1     1</a:t>
                </a:r>
              </a:p>
            </p:txBody>
          </p:sp>
        </p:grpSp>
        <p:grpSp>
          <p:nvGrpSpPr>
            <p:cNvPr id="260" name="Group 258"/>
            <p:cNvGrpSpPr>
              <a:grpSpLocks/>
            </p:cNvGrpSpPr>
            <p:nvPr/>
          </p:nvGrpSpPr>
          <p:grpSpPr bwMode="auto">
            <a:xfrm>
              <a:off x="5473451" y="989410"/>
              <a:ext cx="760413" cy="830263"/>
              <a:chOff x="1721" y="558"/>
              <a:chExt cx="479" cy="523"/>
            </a:xfrm>
          </p:grpSpPr>
          <p:sp>
            <p:nvSpPr>
              <p:cNvPr id="261" name="Rectangle 259"/>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62" name="Rectangle 260"/>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63" name="Line 261"/>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64" name="Line 262"/>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65" name="Line 263"/>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66" name="Text Box 264"/>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2     2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1     1</a:t>
                </a:r>
              </a:p>
            </p:txBody>
          </p:sp>
        </p:grpSp>
        <p:grpSp>
          <p:nvGrpSpPr>
            <p:cNvPr id="267" name="Group 265"/>
            <p:cNvGrpSpPr>
              <a:grpSpLocks/>
            </p:cNvGrpSpPr>
            <p:nvPr/>
          </p:nvGrpSpPr>
          <p:grpSpPr bwMode="auto">
            <a:xfrm>
              <a:off x="8034089" y="989410"/>
              <a:ext cx="760412" cy="830263"/>
              <a:chOff x="1721" y="558"/>
              <a:chExt cx="479" cy="523"/>
            </a:xfrm>
          </p:grpSpPr>
          <p:sp>
            <p:nvSpPr>
              <p:cNvPr id="268" name="Rectangle 266"/>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69" name="Rectangle 267"/>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70" name="Line 268"/>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71" name="Line 269"/>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72" name="Line 270"/>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73" name="Text Box 271"/>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2     2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1     1</a:t>
                </a:r>
              </a:p>
            </p:txBody>
          </p:sp>
        </p:grpSp>
        <p:grpSp>
          <p:nvGrpSpPr>
            <p:cNvPr id="274" name="Group 272"/>
            <p:cNvGrpSpPr>
              <a:grpSpLocks/>
            </p:cNvGrpSpPr>
            <p:nvPr/>
          </p:nvGrpSpPr>
          <p:grpSpPr bwMode="auto">
            <a:xfrm>
              <a:off x="4465389" y="4500960"/>
              <a:ext cx="760412" cy="830263"/>
              <a:chOff x="1721" y="558"/>
              <a:chExt cx="479" cy="523"/>
            </a:xfrm>
          </p:grpSpPr>
          <p:sp>
            <p:nvSpPr>
              <p:cNvPr id="275" name="Rectangle 273"/>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76" name="Rectangle 274"/>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77" name="Line 275"/>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78" name="Line 276"/>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79" name="Line 277"/>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80" name="Text Box 278"/>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2     2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1     1</a:t>
                </a:r>
              </a:p>
            </p:txBody>
          </p:sp>
        </p:grpSp>
        <p:grpSp>
          <p:nvGrpSpPr>
            <p:cNvPr id="281" name="Group 279"/>
            <p:cNvGrpSpPr>
              <a:grpSpLocks/>
            </p:cNvGrpSpPr>
            <p:nvPr/>
          </p:nvGrpSpPr>
          <p:grpSpPr bwMode="auto">
            <a:xfrm>
              <a:off x="7849939" y="4500960"/>
              <a:ext cx="760412" cy="830263"/>
              <a:chOff x="1721" y="558"/>
              <a:chExt cx="479" cy="523"/>
            </a:xfrm>
          </p:grpSpPr>
          <p:sp>
            <p:nvSpPr>
              <p:cNvPr id="282" name="Rectangle 280"/>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83" name="Rectangle 281"/>
              <p:cNvSpPr>
                <a:spLocks noChangeArrowheads="1"/>
              </p:cNvSpPr>
              <p:nvPr/>
            </p:nvSpPr>
            <p:spPr bwMode="auto">
              <a:xfrm>
                <a:off x="1721" y="585"/>
                <a:ext cx="479" cy="46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84" name="Line 282"/>
              <p:cNvSpPr>
                <a:spLocks noChangeShapeType="1"/>
              </p:cNvSpPr>
              <p:nvPr/>
            </p:nvSpPr>
            <p:spPr bwMode="auto">
              <a:xfrm>
                <a:off x="1721" y="754"/>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85" name="Line 283"/>
              <p:cNvSpPr>
                <a:spLocks noChangeShapeType="1"/>
              </p:cNvSpPr>
              <p:nvPr/>
            </p:nvSpPr>
            <p:spPr bwMode="auto">
              <a:xfrm>
                <a:off x="1721" y="906"/>
                <a:ext cx="47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86" name="Line 284"/>
              <p:cNvSpPr>
                <a:spLocks noChangeShapeType="1"/>
              </p:cNvSpPr>
              <p:nvPr/>
            </p:nvSpPr>
            <p:spPr bwMode="auto">
              <a:xfrm>
                <a:off x="1961" y="748"/>
                <a:ext cx="1" cy="30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87" name="Text Box 285"/>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2     2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99"/>
                    </a:solidFill>
                    <a:effectLst/>
                    <a:uLnTx/>
                    <a:uFillTx/>
                    <a:latin typeface="+mn-lt"/>
                    <a:ea typeface="黑体" pitchFamily="2" charset="-122"/>
                  </a:rPr>
                  <a:t>1     1</a:t>
                </a:r>
              </a:p>
            </p:txBody>
          </p:sp>
        </p:grpSp>
        <p:sp>
          <p:nvSpPr>
            <p:cNvPr id="288" name="Freeform 286"/>
            <p:cNvSpPr>
              <a:spLocks/>
            </p:cNvSpPr>
            <p:nvPr/>
          </p:nvSpPr>
          <p:spPr bwMode="auto">
            <a:xfrm>
              <a:off x="1338014" y="652859"/>
              <a:ext cx="7791450" cy="5788025"/>
            </a:xfrm>
            <a:custGeom>
              <a:avLst/>
              <a:gdLst>
                <a:gd name="T0" fmla="*/ 4 w 4908"/>
                <a:gd name="T1" fmla="*/ 0 h 3646"/>
                <a:gd name="T2" fmla="*/ 4 w 4908"/>
                <a:gd name="T3" fmla="*/ 453 h 3646"/>
                <a:gd name="T4" fmla="*/ 13 w 4908"/>
                <a:gd name="T5" fmla="*/ 736 h 3646"/>
                <a:gd name="T6" fmla="*/ 69 w 4908"/>
                <a:gd name="T7" fmla="*/ 794 h 3646"/>
                <a:gd name="T8" fmla="*/ 279 w 4908"/>
                <a:gd name="T9" fmla="*/ 812 h 3646"/>
                <a:gd name="T10" fmla="*/ 579 w 4908"/>
                <a:gd name="T11" fmla="*/ 815 h 3646"/>
                <a:gd name="T12" fmla="*/ 924 w 4908"/>
                <a:gd name="T13" fmla="*/ 809 h 3646"/>
                <a:gd name="T14" fmla="*/ 1083 w 4908"/>
                <a:gd name="T15" fmla="*/ 737 h 3646"/>
                <a:gd name="T16" fmla="*/ 1098 w 4908"/>
                <a:gd name="T17" fmla="*/ 398 h 3646"/>
                <a:gd name="T18" fmla="*/ 1175 w 4908"/>
                <a:gd name="T19" fmla="*/ 269 h 3646"/>
                <a:gd name="T20" fmla="*/ 1406 w 4908"/>
                <a:gd name="T21" fmla="*/ 290 h 3646"/>
                <a:gd name="T22" fmla="*/ 1442 w 4908"/>
                <a:gd name="T23" fmla="*/ 551 h 3646"/>
                <a:gd name="T24" fmla="*/ 1466 w 4908"/>
                <a:gd name="T25" fmla="*/ 773 h 3646"/>
                <a:gd name="T26" fmla="*/ 1676 w 4908"/>
                <a:gd name="T27" fmla="*/ 809 h 3646"/>
                <a:gd name="T28" fmla="*/ 1859 w 4908"/>
                <a:gd name="T29" fmla="*/ 803 h 3646"/>
                <a:gd name="T30" fmla="*/ 2349 w 4908"/>
                <a:gd name="T31" fmla="*/ 803 h 3646"/>
                <a:gd name="T32" fmla="*/ 2514 w 4908"/>
                <a:gd name="T33" fmla="*/ 779 h 3646"/>
                <a:gd name="T34" fmla="*/ 2636 w 4908"/>
                <a:gd name="T35" fmla="*/ 680 h 3646"/>
                <a:gd name="T36" fmla="*/ 2660 w 4908"/>
                <a:gd name="T37" fmla="*/ 392 h 3646"/>
                <a:gd name="T38" fmla="*/ 2726 w 4908"/>
                <a:gd name="T39" fmla="*/ 275 h 3646"/>
                <a:gd name="T40" fmla="*/ 2975 w 4908"/>
                <a:gd name="T41" fmla="*/ 287 h 3646"/>
                <a:gd name="T42" fmla="*/ 3026 w 4908"/>
                <a:gd name="T43" fmla="*/ 464 h 3646"/>
                <a:gd name="T44" fmla="*/ 3053 w 4908"/>
                <a:gd name="T45" fmla="*/ 695 h 3646"/>
                <a:gd name="T46" fmla="*/ 3185 w 4908"/>
                <a:gd name="T47" fmla="*/ 806 h 3646"/>
                <a:gd name="T48" fmla="*/ 3479 w 4908"/>
                <a:gd name="T49" fmla="*/ 815 h 3646"/>
                <a:gd name="T50" fmla="*/ 3875 w 4908"/>
                <a:gd name="T51" fmla="*/ 818 h 3646"/>
                <a:gd name="T52" fmla="*/ 4208 w 4908"/>
                <a:gd name="T53" fmla="*/ 791 h 3646"/>
                <a:gd name="T54" fmla="*/ 4265 w 4908"/>
                <a:gd name="T55" fmla="*/ 629 h 3646"/>
                <a:gd name="T56" fmla="*/ 4274 w 4908"/>
                <a:gd name="T57" fmla="*/ 410 h 3646"/>
                <a:gd name="T58" fmla="*/ 4358 w 4908"/>
                <a:gd name="T59" fmla="*/ 272 h 3646"/>
                <a:gd name="T60" fmla="*/ 4598 w 4908"/>
                <a:gd name="T61" fmla="*/ 299 h 3646"/>
                <a:gd name="T62" fmla="*/ 4652 w 4908"/>
                <a:gd name="T63" fmla="*/ 608 h 3646"/>
                <a:gd name="T64" fmla="*/ 4681 w 4908"/>
                <a:gd name="T65" fmla="*/ 814 h 3646"/>
                <a:gd name="T66" fmla="*/ 4873 w 4908"/>
                <a:gd name="T67" fmla="*/ 1094 h 3646"/>
                <a:gd name="T68" fmla="*/ 4889 w 4908"/>
                <a:gd name="T69" fmla="*/ 1798 h 3646"/>
                <a:gd name="T70" fmla="*/ 4873 w 4908"/>
                <a:gd name="T71" fmla="*/ 2478 h 3646"/>
                <a:gd name="T72" fmla="*/ 4829 w 4908"/>
                <a:gd name="T73" fmla="*/ 2962 h 3646"/>
                <a:gd name="T74" fmla="*/ 4661 w 4908"/>
                <a:gd name="T75" fmla="*/ 3026 h 3646"/>
                <a:gd name="T76" fmla="*/ 4545 w 4908"/>
                <a:gd name="T77" fmla="*/ 2982 h 3646"/>
                <a:gd name="T78" fmla="*/ 4521 w 4908"/>
                <a:gd name="T79" fmla="*/ 2838 h 3646"/>
                <a:gd name="T80" fmla="*/ 4517 w 4908"/>
                <a:gd name="T81" fmla="*/ 2626 h 3646"/>
                <a:gd name="T82" fmla="*/ 4469 w 4908"/>
                <a:gd name="T83" fmla="*/ 2494 h 3646"/>
                <a:gd name="T84" fmla="*/ 4209 w 4908"/>
                <a:gd name="T85" fmla="*/ 2494 h 3646"/>
                <a:gd name="T86" fmla="*/ 4141 w 4908"/>
                <a:gd name="T87" fmla="*/ 2650 h 3646"/>
                <a:gd name="T88" fmla="*/ 4125 w 4908"/>
                <a:gd name="T89" fmla="*/ 2978 h 3646"/>
                <a:gd name="T90" fmla="*/ 3881 w 4908"/>
                <a:gd name="T91" fmla="*/ 3053 h 3646"/>
                <a:gd name="T92" fmla="*/ 3213 w 4908"/>
                <a:gd name="T93" fmla="*/ 3046 h 3646"/>
                <a:gd name="T94" fmla="*/ 2893 w 4908"/>
                <a:gd name="T95" fmla="*/ 3042 h 3646"/>
                <a:gd name="T96" fmla="*/ 2617 w 4908"/>
                <a:gd name="T97" fmla="*/ 3026 h 3646"/>
                <a:gd name="T98" fmla="*/ 2417 w 4908"/>
                <a:gd name="T99" fmla="*/ 2950 h 3646"/>
                <a:gd name="T100" fmla="*/ 2393 w 4908"/>
                <a:gd name="T101" fmla="*/ 2666 h 3646"/>
                <a:gd name="T102" fmla="*/ 2309 w 4908"/>
                <a:gd name="T103" fmla="*/ 2490 h 3646"/>
                <a:gd name="T104" fmla="*/ 2085 w 4908"/>
                <a:gd name="T105" fmla="*/ 2514 h 3646"/>
                <a:gd name="T106" fmla="*/ 2017 w 4908"/>
                <a:gd name="T107" fmla="*/ 2862 h 3646"/>
                <a:gd name="T108" fmla="*/ 2001 w 4908"/>
                <a:gd name="T109" fmla="*/ 3226 h 3646"/>
                <a:gd name="T110" fmla="*/ 1961 w 4908"/>
                <a:gd name="T111" fmla="*/ 3522 h 3646"/>
                <a:gd name="T112" fmla="*/ 1837 w 4908"/>
                <a:gd name="T113" fmla="*/ 3626 h 3646"/>
                <a:gd name="T114" fmla="*/ 1637 w 4908"/>
                <a:gd name="T115" fmla="*/ 3642 h 3646"/>
                <a:gd name="T116" fmla="*/ 1415 w 4908"/>
                <a:gd name="T117" fmla="*/ 3632 h 3646"/>
                <a:gd name="T118" fmla="*/ 1247 w 4908"/>
                <a:gd name="T119" fmla="*/ 3563 h 3646"/>
                <a:gd name="T120" fmla="*/ 1229 w 4908"/>
                <a:gd name="T121" fmla="*/ 3191 h 3646"/>
                <a:gd name="T122" fmla="*/ 1229 w 4908"/>
                <a:gd name="T123" fmla="*/ 2826 h 3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08" h="3646">
                  <a:moveTo>
                    <a:pt x="4" y="0"/>
                  </a:moveTo>
                  <a:cubicBezTo>
                    <a:pt x="0" y="162"/>
                    <a:pt x="3" y="330"/>
                    <a:pt x="4" y="453"/>
                  </a:cubicBezTo>
                  <a:cubicBezTo>
                    <a:pt x="5" y="576"/>
                    <a:pt x="2" y="679"/>
                    <a:pt x="13" y="736"/>
                  </a:cubicBezTo>
                  <a:cubicBezTo>
                    <a:pt x="24" y="793"/>
                    <a:pt x="25" y="781"/>
                    <a:pt x="69" y="794"/>
                  </a:cubicBezTo>
                  <a:cubicBezTo>
                    <a:pt x="113" y="807"/>
                    <a:pt x="194" y="808"/>
                    <a:pt x="279" y="812"/>
                  </a:cubicBezTo>
                  <a:cubicBezTo>
                    <a:pt x="364" y="816"/>
                    <a:pt x="472" y="815"/>
                    <a:pt x="579" y="815"/>
                  </a:cubicBezTo>
                  <a:cubicBezTo>
                    <a:pt x="686" y="815"/>
                    <a:pt x="840" y="822"/>
                    <a:pt x="924" y="809"/>
                  </a:cubicBezTo>
                  <a:cubicBezTo>
                    <a:pt x="1008" y="796"/>
                    <a:pt x="1054" y="806"/>
                    <a:pt x="1083" y="737"/>
                  </a:cubicBezTo>
                  <a:cubicBezTo>
                    <a:pt x="1112" y="668"/>
                    <a:pt x="1083" y="476"/>
                    <a:pt x="1098" y="398"/>
                  </a:cubicBezTo>
                  <a:cubicBezTo>
                    <a:pt x="1113" y="320"/>
                    <a:pt x="1124" y="287"/>
                    <a:pt x="1175" y="269"/>
                  </a:cubicBezTo>
                  <a:cubicBezTo>
                    <a:pt x="1226" y="251"/>
                    <a:pt x="1361" y="243"/>
                    <a:pt x="1406" y="290"/>
                  </a:cubicBezTo>
                  <a:cubicBezTo>
                    <a:pt x="1451" y="337"/>
                    <a:pt x="1432" y="471"/>
                    <a:pt x="1442" y="551"/>
                  </a:cubicBezTo>
                  <a:cubicBezTo>
                    <a:pt x="1452" y="631"/>
                    <a:pt x="1427" y="730"/>
                    <a:pt x="1466" y="773"/>
                  </a:cubicBezTo>
                  <a:cubicBezTo>
                    <a:pt x="1505" y="816"/>
                    <a:pt x="1611" y="804"/>
                    <a:pt x="1676" y="809"/>
                  </a:cubicBezTo>
                  <a:cubicBezTo>
                    <a:pt x="1741" y="814"/>
                    <a:pt x="1747" y="804"/>
                    <a:pt x="1859" y="803"/>
                  </a:cubicBezTo>
                  <a:cubicBezTo>
                    <a:pt x="1971" y="802"/>
                    <a:pt x="2240" y="807"/>
                    <a:pt x="2349" y="803"/>
                  </a:cubicBezTo>
                  <a:cubicBezTo>
                    <a:pt x="2458" y="799"/>
                    <a:pt x="2466" y="800"/>
                    <a:pt x="2514" y="779"/>
                  </a:cubicBezTo>
                  <a:cubicBezTo>
                    <a:pt x="2562" y="758"/>
                    <a:pt x="2612" y="744"/>
                    <a:pt x="2636" y="680"/>
                  </a:cubicBezTo>
                  <a:cubicBezTo>
                    <a:pt x="2660" y="616"/>
                    <a:pt x="2645" y="459"/>
                    <a:pt x="2660" y="392"/>
                  </a:cubicBezTo>
                  <a:cubicBezTo>
                    <a:pt x="2675" y="325"/>
                    <a:pt x="2674" y="292"/>
                    <a:pt x="2726" y="275"/>
                  </a:cubicBezTo>
                  <a:cubicBezTo>
                    <a:pt x="2778" y="258"/>
                    <a:pt x="2925" y="256"/>
                    <a:pt x="2975" y="287"/>
                  </a:cubicBezTo>
                  <a:cubicBezTo>
                    <a:pt x="3025" y="318"/>
                    <a:pt x="3013" y="396"/>
                    <a:pt x="3026" y="464"/>
                  </a:cubicBezTo>
                  <a:cubicBezTo>
                    <a:pt x="3039" y="532"/>
                    <a:pt x="3027" y="638"/>
                    <a:pt x="3053" y="695"/>
                  </a:cubicBezTo>
                  <a:cubicBezTo>
                    <a:pt x="3079" y="752"/>
                    <a:pt x="3114" y="786"/>
                    <a:pt x="3185" y="806"/>
                  </a:cubicBezTo>
                  <a:cubicBezTo>
                    <a:pt x="3256" y="826"/>
                    <a:pt x="3364" y="813"/>
                    <a:pt x="3479" y="815"/>
                  </a:cubicBezTo>
                  <a:cubicBezTo>
                    <a:pt x="3594" y="817"/>
                    <a:pt x="3754" y="822"/>
                    <a:pt x="3875" y="818"/>
                  </a:cubicBezTo>
                  <a:cubicBezTo>
                    <a:pt x="3996" y="814"/>
                    <a:pt x="4143" y="822"/>
                    <a:pt x="4208" y="791"/>
                  </a:cubicBezTo>
                  <a:cubicBezTo>
                    <a:pt x="4273" y="760"/>
                    <a:pt x="4254" y="692"/>
                    <a:pt x="4265" y="629"/>
                  </a:cubicBezTo>
                  <a:cubicBezTo>
                    <a:pt x="4276" y="566"/>
                    <a:pt x="4259" y="469"/>
                    <a:pt x="4274" y="410"/>
                  </a:cubicBezTo>
                  <a:cubicBezTo>
                    <a:pt x="4289" y="351"/>
                    <a:pt x="4304" y="290"/>
                    <a:pt x="4358" y="272"/>
                  </a:cubicBezTo>
                  <a:cubicBezTo>
                    <a:pt x="4412" y="254"/>
                    <a:pt x="4549" y="243"/>
                    <a:pt x="4598" y="299"/>
                  </a:cubicBezTo>
                  <a:cubicBezTo>
                    <a:pt x="4647" y="355"/>
                    <a:pt x="4638" y="522"/>
                    <a:pt x="4652" y="608"/>
                  </a:cubicBezTo>
                  <a:cubicBezTo>
                    <a:pt x="4666" y="694"/>
                    <a:pt x="4644" y="733"/>
                    <a:pt x="4681" y="814"/>
                  </a:cubicBezTo>
                  <a:cubicBezTo>
                    <a:pt x="4718" y="895"/>
                    <a:pt x="4838" y="930"/>
                    <a:pt x="4873" y="1094"/>
                  </a:cubicBezTo>
                  <a:cubicBezTo>
                    <a:pt x="4908" y="1258"/>
                    <a:pt x="4889" y="1567"/>
                    <a:pt x="4889" y="1798"/>
                  </a:cubicBezTo>
                  <a:cubicBezTo>
                    <a:pt x="4889" y="2029"/>
                    <a:pt x="4883" y="2284"/>
                    <a:pt x="4873" y="2478"/>
                  </a:cubicBezTo>
                  <a:cubicBezTo>
                    <a:pt x="4863" y="2672"/>
                    <a:pt x="4864" y="2871"/>
                    <a:pt x="4829" y="2962"/>
                  </a:cubicBezTo>
                  <a:cubicBezTo>
                    <a:pt x="4794" y="3053"/>
                    <a:pt x="4708" y="3023"/>
                    <a:pt x="4661" y="3026"/>
                  </a:cubicBezTo>
                  <a:cubicBezTo>
                    <a:pt x="4614" y="3029"/>
                    <a:pt x="4568" y="3013"/>
                    <a:pt x="4545" y="2982"/>
                  </a:cubicBezTo>
                  <a:cubicBezTo>
                    <a:pt x="4522" y="2951"/>
                    <a:pt x="4526" y="2897"/>
                    <a:pt x="4521" y="2838"/>
                  </a:cubicBezTo>
                  <a:cubicBezTo>
                    <a:pt x="4516" y="2779"/>
                    <a:pt x="4526" y="2683"/>
                    <a:pt x="4517" y="2626"/>
                  </a:cubicBezTo>
                  <a:cubicBezTo>
                    <a:pt x="4508" y="2569"/>
                    <a:pt x="4520" y="2516"/>
                    <a:pt x="4469" y="2494"/>
                  </a:cubicBezTo>
                  <a:cubicBezTo>
                    <a:pt x="4418" y="2472"/>
                    <a:pt x="4264" y="2468"/>
                    <a:pt x="4209" y="2494"/>
                  </a:cubicBezTo>
                  <a:cubicBezTo>
                    <a:pt x="4154" y="2520"/>
                    <a:pt x="4155" y="2569"/>
                    <a:pt x="4141" y="2650"/>
                  </a:cubicBezTo>
                  <a:cubicBezTo>
                    <a:pt x="4127" y="2731"/>
                    <a:pt x="4168" y="2911"/>
                    <a:pt x="4125" y="2978"/>
                  </a:cubicBezTo>
                  <a:cubicBezTo>
                    <a:pt x="4082" y="3045"/>
                    <a:pt x="4033" y="3042"/>
                    <a:pt x="3881" y="3053"/>
                  </a:cubicBezTo>
                  <a:cubicBezTo>
                    <a:pt x="3729" y="3064"/>
                    <a:pt x="3378" y="3048"/>
                    <a:pt x="3213" y="3046"/>
                  </a:cubicBezTo>
                  <a:cubicBezTo>
                    <a:pt x="3048" y="3044"/>
                    <a:pt x="2992" y="3045"/>
                    <a:pt x="2893" y="3042"/>
                  </a:cubicBezTo>
                  <a:cubicBezTo>
                    <a:pt x="2794" y="3039"/>
                    <a:pt x="2696" y="3041"/>
                    <a:pt x="2617" y="3026"/>
                  </a:cubicBezTo>
                  <a:cubicBezTo>
                    <a:pt x="2538" y="3011"/>
                    <a:pt x="2454" y="3010"/>
                    <a:pt x="2417" y="2950"/>
                  </a:cubicBezTo>
                  <a:cubicBezTo>
                    <a:pt x="2380" y="2890"/>
                    <a:pt x="2411" y="2743"/>
                    <a:pt x="2393" y="2666"/>
                  </a:cubicBezTo>
                  <a:cubicBezTo>
                    <a:pt x="2375" y="2589"/>
                    <a:pt x="2360" y="2515"/>
                    <a:pt x="2309" y="2490"/>
                  </a:cubicBezTo>
                  <a:cubicBezTo>
                    <a:pt x="2258" y="2465"/>
                    <a:pt x="2134" y="2452"/>
                    <a:pt x="2085" y="2514"/>
                  </a:cubicBezTo>
                  <a:cubicBezTo>
                    <a:pt x="2036" y="2576"/>
                    <a:pt x="2031" y="2743"/>
                    <a:pt x="2017" y="2862"/>
                  </a:cubicBezTo>
                  <a:cubicBezTo>
                    <a:pt x="2003" y="2981"/>
                    <a:pt x="2010" y="3116"/>
                    <a:pt x="2001" y="3226"/>
                  </a:cubicBezTo>
                  <a:cubicBezTo>
                    <a:pt x="1992" y="3336"/>
                    <a:pt x="1988" y="3455"/>
                    <a:pt x="1961" y="3522"/>
                  </a:cubicBezTo>
                  <a:cubicBezTo>
                    <a:pt x="1934" y="3589"/>
                    <a:pt x="1891" y="3606"/>
                    <a:pt x="1837" y="3626"/>
                  </a:cubicBezTo>
                  <a:cubicBezTo>
                    <a:pt x="1783" y="3646"/>
                    <a:pt x="1707" y="3641"/>
                    <a:pt x="1637" y="3642"/>
                  </a:cubicBezTo>
                  <a:cubicBezTo>
                    <a:pt x="1567" y="3643"/>
                    <a:pt x="1480" y="3645"/>
                    <a:pt x="1415" y="3632"/>
                  </a:cubicBezTo>
                  <a:cubicBezTo>
                    <a:pt x="1350" y="3619"/>
                    <a:pt x="1278" y="3636"/>
                    <a:pt x="1247" y="3563"/>
                  </a:cubicBezTo>
                  <a:cubicBezTo>
                    <a:pt x="1216" y="3490"/>
                    <a:pt x="1232" y="3314"/>
                    <a:pt x="1229" y="3191"/>
                  </a:cubicBezTo>
                  <a:cubicBezTo>
                    <a:pt x="1226" y="3068"/>
                    <a:pt x="1229" y="2902"/>
                    <a:pt x="1229" y="2826"/>
                  </a:cubicBezTo>
                </a:path>
              </a:pathLst>
            </a:custGeom>
            <a:noFill/>
            <a:ln w="57150" cmpd="sng">
              <a:solidFill>
                <a:srgbClr val="FF0000"/>
              </a:solidFill>
              <a:round/>
              <a:headEnd type="non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99"/>
                </a:solidFill>
                <a:effectLst/>
                <a:uLnTx/>
                <a:uFillTx/>
                <a:latin typeface="+mn-lt"/>
                <a:ea typeface="黑体" pitchFamily="2" charset="-122"/>
              </a:endParaRPr>
            </a:p>
          </p:txBody>
        </p:sp>
        <p:sp>
          <p:nvSpPr>
            <p:cNvPr id="289" name="Text Box 287"/>
            <p:cNvSpPr txBox="1">
              <a:spLocks noChangeArrowheads="1"/>
            </p:cNvSpPr>
            <p:nvPr/>
          </p:nvSpPr>
          <p:spPr bwMode="auto">
            <a:xfrm>
              <a:off x="2648744" y="148034"/>
              <a:ext cx="3890809" cy="523220"/>
            </a:xfrm>
            <a:prstGeom prst="rect">
              <a:avLst/>
            </a:prstGeom>
            <a:solidFill>
              <a:srgbClr val="CCECFF"/>
            </a:solidFill>
            <a:ln w="9525">
              <a:solidFill>
                <a:srgbClr val="3333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000099"/>
                  </a:solidFill>
                  <a:effectLst/>
                  <a:uLnTx/>
                  <a:uFillTx/>
                  <a:latin typeface="+mn-lt"/>
                  <a:ea typeface="黑体" pitchFamily="2" charset="-122"/>
                </a:rPr>
                <a:t>分组在互联网中的传送 </a:t>
              </a:r>
            </a:p>
          </p:txBody>
        </p:sp>
      </p:grpSp>
      <p:sp>
        <p:nvSpPr>
          <p:cNvPr id="292" name="矩形 291"/>
          <p:cNvSpPr/>
          <p:nvPr/>
        </p:nvSpPr>
        <p:spPr>
          <a:xfrm>
            <a:off x="327993" y="3640956"/>
            <a:ext cx="1277511" cy="2308324"/>
          </a:xfrm>
          <a:prstGeom prst="rect">
            <a:avLst/>
          </a:prstGeom>
          <a:solidFill>
            <a:srgbClr val="99FF66"/>
          </a:solidFill>
          <a:ln>
            <a:solidFill>
              <a:srgbClr val="000099"/>
            </a:solidFill>
          </a:ln>
        </p:spPr>
        <p:txBody>
          <a:bodyPr wrap="square">
            <a:spAutoFit/>
          </a:bodyPr>
          <a:lstStyle/>
          <a:p>
            <a:r>
              <a:rPr lang="zh-CN" altLang="zh-CN" sz="2400" b="1" dirty="0">
                <a:solidFill>
                  <a:srgbClr val="000099"/>
                </a:solidFill>
                <a:latin typeface="+mn-lt"/>
                <a:ea typeface="黑体" pitchFamily="2" charset="-122"/>
              </a:rPr>
              <a:t>互联网可以由多种异构网络互连组成。</a:t>
            </a:r>
            <a:endParaRPr lang="zh-CN" altLang="en-US" sz="2400" b="1" dirty="0">
              <a:solidFill>
                <a:srgbClr val="000099"/>
              </a:solidFill>
              <a:latin typeface="+mn-lt"/>
              <a:ea typeface="黑体" pitchFamily="2" charset="-122"/>
            </a:endParaRPr>
          </a:p>
        </p:txBody>
      </p:sp>
    </p:spTree>
    <p:extLst>
      <p:ext uri="{BB962C8B-B14F-4D97-AF65-F5344CB8AC3E}">
        <p14:creationId xmlns:p14="http://schemas.microsoft.com/office/powerpoint/2010/main" val="3421301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（上）</a:t>
            </a:r>
          </a:p>
        </p:txBody>
      </p:sp>
      <p:sp>
        <p:nvSpPr>
          <p:cNvPr id="3" name="内容占位符 2"/>
          <p:cNvSpPr>
            <a:spLocks noGrp="1"/>
          </p:cNvSpPr>
          <p:nvPr>
            <p:ph idx="1"/>
          </p:nvPr>
        </p:nvSpPr>
        <p:spPr/>
        <p:txBody>
          <a:bodyPr/>
          <a:lstStyle/>
          <a:p>
            <a:pPr>
              <a:lnSpc>
                <a:spcPct val="100000"/>
              </a:lnSpc>
            </a:pPr>
            <a:r>
              <a:rPr lang="zh-CN" altLang="en-US" dirty="0">
                <a:solidFill>
                  <a:schemeClr val="bg1">
                    <a:lumMod val="65000"/>
                  </a:schemeClr>
                </a:solidFill>
              </a:rPr>
              <a:t>概述</a:t>
            </a:r>
            <a:endParaRPr lang="zh-CN" altLang="zh-CN" dirty="0">
              <a:solidFill>
                <a:schemeClr val="bg1">
                  <a:lumMod val="65000"/>
                </a:schemeClr>
              </a:solidFill>
            </a:endParaRPr>
          </a:p>
          <a:p>
            <a:r>
              <a:rPr lang="zh-CN" altLang="zh-CN" sz="3600" dirty="0">
                <a:solidFill>
                  <a:srgbClr val="FF0000"/>
                </a:solidFill>
              </a:rPr>
              <a:t>分类的</a:t>
            </a:r>
            <a:r>
              <a:rPr lang="en-US" altLang="zh-CN" sz="3600" dirty="0">
                <a:solidFill>
                  <a:srgbClr val="FF0000"/>
                </a:solidFill>
              </a:rPr>
              <a:t> IP </a:t>
            </a:r>
            <a:r>
              <a:rPr lang="zh-CN" altLang="zh-CN" sz="3600" dirty="0">
                <a:solidFill>
                  <a:srgbClr val="FF0000"/>
                </a:solidFill>
              </a:rPr>
              <a:t>地址</a:t>
            </a:r>
          </a:p>
          <a:p>
            <a:r>
              <a:rPr lang="zh-CN" altLang="zh-CN" dirty="0">
                <a:solidFill>
                  <a:schemeClr val="bg1">
                    <a:lumMod val="65000"/>
                  </a:schemeClr>
                </a:solidFill>
              </a:rPr>
              <a:t>地址解析协议</a:t>
            </a:r>
            <a:r>
              <a:rPr lang="en-US" altLang="zh-CN" dirty="0">
                <a:solidFill>
                  <a:schemeClr val="bg1">
                    <a:lumMod val="65000"/>
                  </a:schemeClr>
                </a:solidFill>
              </a:rPr>
              <a:t> ARP</a:t>
            </a:r>
            <a:endParaRPr lang="zh-CN" altLang="zh-CN" dirty="0">
              <a:solidFill>
                <a:schemeClr val="bg1">
                  <a:lumMod val="65000"/>
                </a:schemeClr>
              </a:solidFill>
            </a:endParaRPr>
          </a:p>
          <a:p>
            <a:r>
              <a:rPr lang="en-US" altLang="zh-CN" dirty="0">
                <a:solidFill>
                  <a:schemeClr val="bg1">
                    <a:lumMod val="65000"/>
                  </a:schemeClr>
                </a:solidFill>
              </a:rPr>
              <a:t>IP </a:t>
            </a:r>
            <a:r>
              <a:rPr lang="zh-CN" altLang="zh-CN" dirty="0">
                <a:solidFill>
                  <a:schemeClr val="bg1">
                    <a:lumMod val="65000"/>
                  </a:schemeClr>
                </a:solidFill>
              </a:rPr>
              <a:t>数据报的格式</a:t>
            </a:r>
            <a:endParaRPr lang="en-US" altLang="zh-CN" dirty="0">
              <a:solidFill>
                <a:schemeClr val="bg1">
                  <a:lumMod val="65000"/>
                </a:schemeClr>
              </a:solidFill>
            </a:endParaRPr>
          </a:p>
          <a:p>
            <a:r>
              <a:rPr lang="en-US" altLang="zh-CN" dirty="0">
                <a:solidFill>
                  <a:schemeClr val="bg1">
                    <a:lumMod val="65000"/>
                  </a:schemeClr>
                </a:solidFill>
              </a:rPr>
              <a:t>IP </a:t>
            </a:r>
            <a:r>
              <a:rPr lang="zh-CN" altLang="zh-CN" dirty="0">
                <a:solidFill>
                  <a:schemeClr val="bg1">
                    <a:lumMod val="65000"/>
                  </a:schemeClr>
                </a:solidFill>
              </a:rPr>
              <a:t>层转发分组的流程</a:t>
            </a:r>
          </a:p>
          <a:p>
            <a:pPr>
              <a:lnSpc>
                <a:spcPct val="100000"/>
              </a:lnSpc>
            </a:pPr>
            <a:r>
              <a:rPr lang="zh-CN" altLang="zh-CN" dirty="0">
                <a:solidFill>
                  <a:schemeClr val="bg1">
                    <a:lumMod val="65000"/>
                  </a:schemeClr>
                </a:solidFill>
              </a:rPr>
              <a:t>网际控制报文协议</a:t>
            </a:r>
            <a:r>
              <a:rPr lang="en-US" altLang="zh-CN" dirty="0">
                <a:solidFill>
                  <a:schemeClr val="bg1">
                    <a:lumMod val="65000"/>
                  </a:schemeClr>
                </a:solidFill>
              </a:rPr>
              <a:t> ICMP</a:t>
            </a:r>
            <a:endParaRPr lang="zh-CN" altLang="zh-CN" dirty="0">
              <a:solidFill>
                <a:schemeClr val="bg1">
                  <a:lumMod val="65000"/>
                </a:schemeClr>
              </a:solidFill>
            </a:endParaRPr>
          </a:p>
        </p:txBody>
      </p:sp>
    </p:spTree>
    <p:extLst>
      <p:ext uri="{BB962C8B-B14F-4D97-AF65-F5344CB8AC3E}">
        <p14:creationId xmlns:p14="http://schemas.microsoft.com/office/powerpoint/2010/main" val="228014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altLang="zh-CN" dirty="0"/>
              <a:t>IP </a:t>
            </a:r>
            <a:r>
              <a:rPr lang="zh-CN" altLang="en-US" dirty="0"/>
              <a:t>地址及其表示方法 </a:t>
            </a:r>
          </a:p>
        </p:txBody>
      </p:sp>
      <p:sp>
        <p:nvSpPr>
          <p:cNvPr id="141315" name="Rectangle 3"/>
          <p:cNvSpPr>
            <a:spLocks noGrp="1" noChangeArrowheads="1"/>
          </p:cNvSpPr>
          <p:nvPr>
            <p:ph idx="1"/>
          </p:nvPr>
        </p:nvSpPr>
        <p:spPr/>
        <p:txBody>
          <a:bodyPr/>
          <a:lstStyle/>
          <a:p>
            <a:r>
              <a:rPr lang="zh-CN" altLang="en-US" dirty="0"/>
              <a:t>我们把整个因特网看成为一个单一的、抽象的网络。</a:t>
            </a:r>
            <a:endParaRPr lang="en-US" altLang="zh-CN" dirty="0"/>
          </a:p>
          <a:p>
            <a:r>
              <a:rPr lang="en-US" altLang="zh-CN" dirty="0"/>
              <a:t>IP </a:t>
            </a:r>
            <a:r>
              <a:rPr lang="zh-CN" altLang="en-US" dirty="0"/>
              <a:t>地址就是给每个连接在互联网上的主机（或路由器）分配一个在全世界范围是</a:t>
            </a:r>
            <a:r>
              <a:rPr lang="zh-CN" altLang="en-US" dirty="0">
                <a:solidFill>
                  <a:srgbClr val="FF0000"/>
                </a:solidFill>
              </a:rPr>
              <a:t>唯一的 </a:t>
            </a:r>
            <a:r>
              <a:rPr lang="en-US" altLang="zh-CN" dirty="0">
                <a:solidFill>
                  <a:srgbClr val="FF0000"/>
                </a:solidFill>
              </a:rPr>
              <a:t>32 </a:t>
            </a:r>
            <a:r>
              <a:rPr lang="zh-CN" altLang="en-US" dirty="0">
                <a:solidFill>
                  <a:srgbClr val="FF0000"/>
                </a:solidFill>
              </a:rPr>
              <a:t>位的标识符。</a:t>
            </a:r>
          </a:p>
          <a:p>
            <a:r>
              <a:rPr lang="en-US" altLang="zh-CN" dirty="0"/>
              <a:t>IP </a:t>
            </a:r>
            <a:r>
              <a:rPr lang="zh-CN" altLang="en-US" dirty="0"/>
              <a:t>地址现在由</a:t>
            </a:r>
            <a:r>
              <a:rPr lang="zh-CN" altLang="zh-CN" dirty="0">
                <a:solidFill>
                  <a:srgbClr val="FF0000"/>
                </a:solidFill>
              </a:rPr>
              <a:t>互联网名字和数字分配机构</a:t>
            </a:r>
            <a:r>
              <a:rPr lang="en-US" altLang="zh-CN" dirty="0"/>
              <a:t>ICANN (Internet Corporation for Assigned Names and Numbers)</a:t>
            </a:r>
            <a:r>
              <a:rPr lang="zh-CN" altLang="en-US" dirty="0"/>
              <a:t>进行分配。 </a:t>
            </a:r>
          </a:p>
        </p:txBody>
      </p:sp>
    </p:spTree>
    <p:extLst>
      <p:ext uri="{BB962C8B-B14F-4D97-AF65-F5344CB8AC3E}">
        <p14:creationId xmlns:p14="http://schemas.microsoft.com/office/powerpoint/2010/main" val="2977454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algn="ctr"/>
            <a:r>
              <a:rPr lang="en-US" altLang="zh-CN" dirty="0"/>
              <a:t>IP </a:t>
            </a:r>
            <a:r>
              <a:rPr lang="zh-CN" altLang="en-US" dirty="0"/>
              <a:t>地址的编址方法 </a:t>
            </a:r>
          </a:p>
        </p:txBody>
      </p:sp>
      <p:sp>
        <p:nvSpPr>
          <p:cNvPr id="143363" name="Rectangle 3"/>
          <p:cNvSpPr>
            <a:spLocks noGrp="1" noChangeArrowheads="1"/>
          </p:cNvSpPr>
          <p:nvPr>
            <p:ph idx="1"/>
          </p:nvPr>
        </p:nvSpPr>
        <p:spPr/>
        <p:txBody>
          <a:bodyPr/>
          <a:lstStyle/>
          <a:p>
            <a:r>
              <a:rPr lang="zh-CN" altLang="en-US" dirty="0">
                <a:solidFill>
                  <a:srgbClr val="FF0000"/>
                </a:solidFill>
              </a:rPr>
              <a:t>分类的 </a:t>
            </a:r>
            <a:r>
              <a:rPr lang="en-US" altLang="zh-CN" dirty="0">
                <a:solidFill>
                  <a:srgbClr val="FF0000"/>
                </a:solidFill>
              </a:rPr>
              <a:t>IP </a:t>
            </a:r>
            <a:r>
              <a:rPr lang="zh-CN" altLang="en-US" dirty="0">
                <a:solidFill>
                  <a:srgbClr val="FF0000"/>
                </a:solidFill>
              </a:rPr>
              <a:t>地址。</a:t>
            </a:r>
            <a:r>
              <a:rPr lang="zh-CN" altLang="en-US" dirty="0"/>
              <a:t>这是</a:t>
            </a:r>
            <a:r>
              <a:rPr lang="zh-CN" altLang="en-US" dirty="0">
                <a:solidFill>
                  <a:srgbClr val="0000FF"/>
                </a:solidFill>
              </a:rPr>
              <a:t>最基本的编址方法，</a:t>
            </a:r>
            <a:r>
              <a:rPr lang="zh-CN" altLang="en-US" dirty="0"/>
              <a:t>在 </a:t>
            </a:r>
            <a:r>
              <a:rPr lang="en-US" altLang="zh-CN" dirty="0"/>
              <a:t>1981 </a:t>
            </a:r>
            <a:r>
              <a:rPr lang="zh-CN" altLang="en-US" dirty="0"/>
              <a:t>年就通过了相应的标准协议。</a:t>
            </a:r>
          </a:p>
          <a:p>
            <a:r>
              <a:rPr lang="zh-CN" altLang="en-US" dirty="0">
                <a:solidFill>
                  <a:srgbClr val="FF0000"/>
                </a:solidFill>
              </a:rPr>
              <a:t>子网的划分。</a:t>
            </a:r>
            <a:r>
              <a:rPr lang="zh-CN" altLang="en-US" dirty="0"/>
              <a:t>这是对最基本的编址方法的</a:t>
            </a:r>
            <a:r>
              <a:rPr lang="zh-CN" altLang="en-US" dirty="0">
                <a:solidFill>
                  <a:srgbClr val="0000FF"/>
                </a:solidFill>
              </a:rPr>
              <a:t>改进，</a:t>
            </a:r>
            <a:r>
              <a:rPr lang="zh-CN" altLang="en-US" dirty="0"/>
              <a:t>其标准 </a:t>
            </a:r>
            <a:r>
              <a:rPr lang="en-US" altLang="zh-CN" dirty="0"/>
              <a:t>[RFC 950] </a:t>
            </a:r>
            <a:r>
              <a:rPr lang="zh-CN" altLang="en-US" dirty="0"/>
              <a:t>在 </a:t>
            </a:r>
            <a:r>
              <a:rPr lang="en-US" altLang="zh-CN" dirty="0"/>
              <a:t>1985 </a:t>
            </a:r>
            <a:r>
              <a:rPr lang="zh-CN" altLang="en-US" dirty="0"/>
              <a:t>年通过。</a:t>
            </a:r>
          </a:p>
          <a:p>
            <a:r>
              <a:rPr lang="zh-CN" altLang="en-US" dirty="0">
                <a:solidFill>
                  <a:srgbClr val="FF0000"/>
                </a:solidFill>
              </a:rPr>
              <a:t>构成超网。</a:t>
            </a:r>
            <a:r>
              <a:rPr lang="zh-CN" altLang="en-US" dirty="0"/>
              <a:t>这是比较新的</a:t>
            </a:r>
            <a:r>
              <a:rPr lang="zh-CN" altLang="en-US" dirty="0">
                <a:solidFill>
                  <a:srgbClr val="0000FF"/>
                </a:solidFill>
              </a:rPr>
              <a:t>无分类编址方法。 </a:t>
            </a:r>
            <a:r>
              <a:rPr lang="en-US" altLang="zh-CN" dirty="0"/>
              <a:t>1993 </a:t>
            </a:r>
            <a:r>
              <a:rPr lang="zh-CN" altLang="en-US" dirty="0"/>
              <a:t>年提出后很快就得到推广应用。</a:t>
            </a:r>
          </a:p>
        </p:txBody>
      </p:sp>
    </p:spTree>
    <p:extLst>
      <p:ext uri="{BB962C8B-B14F-4D97-AF65-F5344CB8AC3E}">
        <p14:creationId xmlns:p14="http://schemas.microsoft.com/office/powerpoint/2010/main" val="4208380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marL="838200" indent="-838200" algn="ctr"/>
            <a:r>
              <a:rPr lang="zh-CN" altLang="en-US"/>
              <a:t>分类 </a:t>
            </a:r>
            <a:r>
              <a:rPr lang="en-US" altLang="zh-CN"/>
              <a:t>IP </a:t>
            </a:r>
            <a:r>
              <a:rPr lang="zh-CN" altLang="en-US"/>
              <a:t>地址 </a:t>
            </a:r>
          </a:p>
        </p:txBody>
      </p:sp>
      <p:sp>
        <p:nvSpPr>
          <p:cNvPr id="144387" name="Rectangle 3"/>
          <p:cNvSpPr>
            <a:spLocks noGrp="1" noChangeArrowheads="1"/>
          </p:cNvSpPr>
          <p:nvPr>
            <p:ph idx="1"/>
          </p:nvPr>
        </p:nvSpPr>
        <p:spPr/>
        <p:txBody>
          <a:bodyPr/>
          <a:lstStyle/>
          <a:p>
            <a:r>
              <a:rPr lang="zh-CN" altLang="zh-CN" dirty="0"/>
              <a:t>将</a:t>
            </a:r>
            <a:r>
              <a:rPr lang="en-US" altLang="zh-CN" dirty="0"/>
              <a:t>IP</a:t>
            </a:r>
            <a:r>
              <a:rPr lang="zh-CN" altLang="zh-CN" dirty="0"/>
              <a:t>地址划分为若干个固定类</a:t>
            </a:r>
            <a:r>
              <a:rPr lang="zh-CN" altLang="en-US" dirty="0"/>
              <a:t>。</a:t>
            </a:r>
            <a:endParaRPr lang="en-US" altLang="zh-CN" dirty="0"/>
          </a:p>
          <a:p>
            <a:r>
              <a:rPr lang="zh-CN" altLang="en-US" dirty="0"/>
              <a:t>每一类地址都由两个固定长度的字段组成，其中一个字段是</a:t>
            </a:r>
            <a:r>
              <a:rPr lang="zh-CN" altLang="en-US" dirty="0">
                <a:solidFill>
                  <a:srgbClr val="FF0000"/>
                </a:solidFill>
              </a:rPr>
              <a:t>网络号 </a:t>
            </a:r>
            <a:r>
              <a:rPr lang="en-US" altLang="zh-CN" dirty="0">
                <a:solidFill>
                  <a:srgbClr val="FF0000"/>
                </a:solidFill>
              </a:rPr>
              <a:t>net-id</a:t>
            </a:r>
            <a:r>
              <a:rPr lang="zh-CN" altLang="en-US" dirty="0">
                <a:solidFill>
                  <a:srgbClr val="FF0000"/>
                </a:solidFill>
              </a:rPr>
              <a:t>，</a:t>
            </a:r>
            <a:r>
              <a:rPr lang="zh-CN" altLang="en-US" dirty="0"/>
              <a:t>它标志主机（或路由器）所连接到的网络，而另一个字段则是</a:t>
            </a:r>
            <a:r>
              <a:rPr lang="zh-CN" altLang="en-US" dirty="0">
                <a:solidFill>
                  <a:srgbClr val="FF0000"/>
                </a:solidFill>
              </a:rPr>
              <a:t>主机号 </a:t>
            </a:r>
            <a:r>
              <a:rPr lang="en-US" altLang="zh-CN" dirty="0">
                <a:solidFill>
                  <a:srgbClr val="FF0000"/>
                </a:solidFill>
              </a:rPr>
              <a:t>host-id</a:t>
            </a:r>
            <a:r>
              <a:rPr lang="zh-CN" altLang="en-US" dirty="0">
                <a:solidFill>
                  <a:srgbClr val="FF0000"/>
                </a:solidFill>
              </a:rPr>
              <a:t>，</a:t>
            </a:r>
            <a:r>
              <a:rPr lang="zh-CN" altLang="en-US" dirty="0"/>
              <a:t>它标志该主机（或路由器）。</a:t>
            </a:r>
            <a:endParaRPr lang="en-US" altLang="zh-CN" dirty="0"/>
          </a:p>
          <a:p>
            <a:r>
              <a:rPr lang="zh-CN" altLang="zh-CN" dirty="0"/>
              <a:t>主机号在它前面的网络号所指明的网络范围内必须是唯一的。</a:t>
            </a:r>
            <a:endParaRPr lang="en-US" altLang="zh-CN" dirty="0"/>
          </a:p>
          <a:p>
            <a:r>
              <a:rPr lang="zh-CN" altLang="zh-CN" dirty="0"/>
              <a:t>由此可见，</a:t>
            </a:r>
            <a:r>
              <a:rPr lang="zh-CN" altLang="zh-CN" dirty="0">
                <a:solidFill>
                  <a:srgbClr val="FF0000"/>
                </a:solidFill>
              </a:rPr>
              <a:t>一个</a:t>
            </a:r>
            <a:r>
              <a:rPr lang="en-US" altLang="zh-CN" dirty="0">
                <a:solidFill>
                  <a:srgbClr val="FF0000"/>
                </a:solidFill>
              </a:rPr>
              <a:t> IP </a:t>
            </a:r>
            <a:r>
              <a:rPr lang="zh-CN" altLang="zh-CN" dirty="0">
                <a:solidFill>
                  <a:srgbClr val="FF0000"/>
                </a:solidFill>
              </a:rPr>
              <a:t>地址在整个互联网范围内是唯一的。</a:t>
            </a:r>
            <a:endParaRPr lang="zh-CN" altLang="en-US" dirty="0">
              <a:solidFill>
                <a:srgbClr val="FF0000"/>
              </a:solidFill>
            </a:endParaRPr>
          </a:p>
        </p:txBody>
      </p:sp>
    </p:spTree>
    <p:extLst>
      <p:ext uri="{BB962C8B-B14F-4D97-AF65-F5344CB8AC3E}">
        <p14:creationId xmlns:p14="http://schemas.microsoft.com/office/powerpoint/2010/main" val="73328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marL="838200" indent="-838200" algn="ctr"/>
            <a:r>
              <a:rPr lang="zh-CN" altLang="en-US"/>
              <a:t>分类 </a:t>
            </a:r>
            <a:r>
              <a:rPr lang="en-US" altLang="zh-CN"/>
              <a:t>IP </a:t>
            </a:r>
            <a:r>
              <a:rPr lang="zh-CN" altLang="en-US"/>
              <a:t>地址 </a:t>
            </a:r>
          </a:p>
        </p:txBody>
      </p:sp>
      <p:sp>
        <p:nvSpPr>
          <p:cNvPr id="144387" name="Rectangle 3"/>
          <p:cNvSpPr>
            <a:spLocks noGrp="1" noChangeArrowheads="1"/>
          </p:cNvSpPr>
          <p:nvPr>
            <p:ph idx="1"/>
          </p:nvPr>
        </p:nvSpPr>
        <p:spPr/>
        <p:txBody>
          <a:bodyPr/>
          <a:lstStyle/>
          <a:p>
            <a:pPr algn="just"/>
            <a:r>
              <a:rPr lang="zh-CN" altLang="en-US" dirty="0"/>
              <a:t>这种两级的 </a:t>
            </a:r>
            <a:r>
              <a:rPr lang="en-US" altLang="zh-CN" dirty="0"/>
              <a:t>IP </a:t>
            </a:r>
            <a:r>
              <a:rPr lang="zh-CN" altLang="en-US" dirty="0"/>
              <a:t>地址结构如下：</a:t>
            </a:r>
            <a:endParaRPr lang="en-US" altLang="zh-CN" dirty="0"/>
          </a:p>
          <a:p>
            <a:pPr algn="just"/>
            <a:endParaRPr lang="en-US" altLang="zh-CN" dirty="0"/>
          </a:p>
          <a:p>
            <a:pPr algn="just"/>
            <a:endParaRPr lang="en-US" altLang="zh-CN" dirty="0"/>
          </a:p>
          <a:p>
            <a:pPr algn="just"/>
            <a:endParaRPr lang="en-US" altLang="zh-CN" dirty="0"/>
          </a:p>
          <a:p>
            <a:pPr algn="just"/>
            <a:r>
              <a:rPr lang="zh-CN" altLang="en-US" dirty="0"/>
              <a:t>这种两级的 </a:t>
            </a:r>
            <a:r>
              <a:rPr lang="en-US" altLang="zh-CN" dirty="0"/>
              <a:t>IP </a:t>
            </a:r>
            <a:r>
              <a:rPr lang="zh-CN" altLang="en-US" dirty="0"/>
              <a:t>地址可以记为：</a:t>
            </a:r>
          </a:p>
        </p:txBody>
      </p:sp>
      <p:sp>
        <p:nvSpPr>
          <p:cNvPr id="20" name="Rectangle 2"/>
          <p:cNvSpPr>
            <a:spLocks noChangeArrowheads="1"/>
          </p:cNvSpPr>
          <p:nvPr/>
        </p:nvSpPr>
        <p:spPr bwMode="auto">
          <a:xfrm>
            <a:off x="845778" y="4437603"/>
            <a:ext cx="8355694" cy="685801"/>
          </a:xfrm>
          <a:prstGeom prst="rect">
            <a:avLst/>
          </a:prstGeom>
          <a:solidFill>
            <a:srgbClr val="66FF66"/>
          </a:solidFill>
          <a:ln w="19050">
            <a:solidFill>
              <a:srgbClr val="000000"/>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1" fontAlgn="auto" latinLnBrk="0" hangingPunct="1">
              <a:lnSpc>
                <a:spcPct val="100000"/>
              </a:lnSpc>
              <a:spcBef>
                <a:spcPct val="50000"/>
              </a:spcBef>
              <a:spcAft>
                <a:spcPts val="0"/>
              </a:spcAft>
              <a:buClr>
                <a:srgbClr val="3333CC"/>
              </a:buClr>
              <a:buSzPct val="60000"/>
              <a:buFont typeface="Wingdings" pitchFamily="2" charset="2"/>
              <a:buNone/>
              <a:tabLst/>
              <a:defRPr/>
            </a:pPr>
            <a:r>
              <a:rPr kumimoji="0" lang="en-US" altLang="zh-CN" sz="2800" b="1" i="0" u="none" strike="noStrike" kern="0" cap="none" spc="0" normalizeH="0" baseline="0" noProof="0" dirty="0">
                <a:ln>
                  <a:noFill/>
                </a:ln>
                <a:solidFill>
                  <a:srgbClr val="0000CC"/>
                </a:solidFill>
                <a:effectLst/>
                <a:uLnTx/>
                <a:uFillTx/>
                <a:latin typeface="+mn-lt"/>
                <a:ea typeface="黑体" pitchFamily="2" charset="-122"/>
              </a:rPr>
              <a:t>IP </a:t>
            </a:r>
            <a:r>
              <a:rPr kumimoji="0" lang="zh-CN" altLang="en-US" sz="2800" b="1" i="0" u="none" strike="noStrike" kern="0" cap="none" spc="0" normalizeH="0" baseline="0" noProof="0" dirty="0">
                <a:ln>
                  <a:noFill/>
                </a:ln>
                <a:solidFill>
                  <a:srgbClr val="0000CC"/>
                </a:solidFill>
                <a:effectLst/>
                <a:uLnTx/>
                <a:uFillTx/>
                <a:latin typeface="+mn-lt"/>
                <a:ea typeface="黑体" pitchFamily="2" charset="-122"/>
              </a:rPr>
              <a:t>地址 </a:t>
            </a:r>
            <a:r>
              <a:rPr kumimoji="0" lang="en-US" altLang="zh-CN" sz="2800" b="1" i="0" u="none" strike="noStrike" kern="0" cap="none" spc="0" normalizeH="0" baseline="0" noProof="0" dirty="0">
                <a:ln>
                  <a:noFill/>
                </a:ln>
                <a:solidFill>
                  <a:srgbClr val="0000CC"/>
                </a:solidFill>
                <a:effectLst/>
                <a:uLnTx/>
                <a:uFillTx/>
                <a:latin typeface="+mn-lt"/>
                <a:ea typeface="黑体" pitchFamily="2" charset="-122"/>
              </a:rPr>
              <a:t>::= { &lt;</a:t>
            </a:r>
            <a:r>
              <a:rPr kumimoji="0" lang="zh-CN" altLang="en-US" sz="2800" b="1" i="0" u="none" strike="noStrike" kern="0" cap="none" spc="0" normalizeH="0" baseline="0" noProof="0" dirty="0">
                <a:ln>
                  <a:noFill/>
                </a:ln>
                <a:solidFill>
                  <a:srgbClr val="0000CC"/>
                </a:solidFill>
                <a:effectLst/>
                <a:uLnTx/>
                <a:uFillTx/>
                <a:latin typeface="+mn-lt"/>
                <a:ea typeface="黑体" pitchFamily="2" charset="-122"/>
              </a:rPr>
              <a:t>网络号</a:t>
            </a:r>
            <a:r>
              <a:rPr kumimoji="0" lang="en-US" altLang="zh-CN" sz="2800" b="1" i="0" u="none" strike="noStrike" kern="0" cap="none" spc="0" normalizeH="0" baseline="0" noProof="0" dirty="0">
                <a:ln>
                  <a:noFill/>
                </a:ln>
                <a:solidFill>
                  <a:srgbClr val="0000CC"/>
                </a:solidFill>
                <a:effectLst/>
                <a:uLnTx/>
                <a:uFillTx/>
                <a:latin typeface="+mn-lt"/>
                <a:ea typeface="黑体" pitchFamily="2" charset="-122"/>
              </a:rPr>
              <a:t>&gt;, &lt;</a:t>
            </a:r>
            <a:r>
              <a:rPr kumimoji="0" lang="zh-CN" altLang="en-US" sz="2800" b="1" i="0" u="none" strike="noStrike" kern="0" cap="none" spc="0" normalizeH="0" baseline="0" noProof="0" dirty="0">
                <a:ln>
                  <a:noFill/>
                </a:ln>
                <a:solidFill>
                  <a:srgbClr val="0000CC"/>
                </a:solidFill>
                <a:effectLst/>
                <a:uLnTx/>
                <a:uFillTx/>
                <a:latin typeface="+mn-lt"/>
                <a:ea typeface="黑体" pitchFamily="2" charset="-122"/>
              </a:rPr>
              <a:t>主机号</a:t>
            </a:r>
            <a:r>
              <a:rPr kumimoji="0" lang="en-US" altLang="zh-CN" sz="2800" b="1" i="0" u="none" strike="noStrike" kern="0" cap="none" spc="0" normalizeH="0" baseline="0" noProof="0" dirty="0">
                <a:ln>
                  <a:noFill/>
                </a:ln>
                <a:solidFill>
                  <a:srgbClr val="0000CC"/>
                </a:solidFill>
                <a:effectLst/>
                <a:uLnTx/>
                <a:uFillTx/>
                <a:latin typeface="+mn-lt"/>
                <a:ea typeface="黑体" pitchFamily="2" charset="-122"/>
              </a:rPr>
              <a:t>&gt;}        (4-1)</a:t>
            </a:r>
          </a:p>
        </p:txBody>
      </p:sp>
      <p:sp>
        <p:nvSpPr>
          <p:cNvPr id="21" name="Text Box 5"/>
          <p:cNvSpPr txBox="1">
            <a:spLocks noChangeArrowheads="1"/>
          </p:cNvSpPr>
          <p:nvPr/>
        </p:nvSpPr>
        <p:spPr bwMode="auto">
          <a:xfrm>
            <a:off x="3234816" y="5301208"/>
            <a:ext cx="33586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000CC"/>
                </a:solidFill>
                <a:effectLst/>
                <a:uLnTx/>
                <a:uFillTx/>
                <a:latin typeface="+mn-lt"/>
                <a:ea typeface="黑体" pitchFamily="2" charset="-122"/>
              </a:rPr>
              <a:t>::=  </a:t>
            </a:r>
            <a:r>
              <a:rPr kumimoji="0" lang="zh-CN" altLang="en-US" sz="2800" b="1" i="0" u="none" strike="noStrike" kern="0" cap="none" spc="0" normalizeH="0" baseline="0" noProof="0" dirty="0">
                <a:ln>
                  <a:noFill/>
                </a:ln>
                <a:solidFill>
                  <a:srgbClr val="0000CC"/>
                </a:solidFill>
                <a:effectLst/>
                <a:uLnTx/>
                <a:uFillTx/>
                <a:latin typeface="+mn-lt"/>
                <a:ea typeface="黑体" pitchFamily="2" charset="-122"/>
              </a:rPr>
              <a:t>代表“</a:t>
            </a:r>
            <a:r>
              <a:rPr kumimoji="0" lang="zh-CN" altLang="en-US" sz="2800" b="1" i="0" u="none" strike="noStrike" kern="0" cap="none" spc="0" normalizeH="0" baseline="0" noProof="0" dirty="0">
                <a:ln>
                  <a:noFill/>
                </a:ln>
                <a:solidFill>
                  <a:srgbClr val="FF0000"/>
                </a:solidFill>
                <a:effectLst/>
                <a:uLnTx/>
                <a:uFillTx/>
                <a:latin typeface="+mn-lt"/>
                <a:ea typeface="黑体" pitchFamily="2" charset="-122"/>
              </a:rPr>
              <a:t>定义为</a:t>
            </a:r>
            <a:r>
              <a:rPr kumimoji="0" lang="zh-CN" altLang="en-US" sz="2800" b="1" i="0" u="none" strike="noStrike" kern="0" cap="none" spc="0" normalizeH="0" baseline="0" noProof="0" dirty="0">
                <a:ln>
                  <a:noFill/>
                </a:ln>
                <a:solidFill>
                  <a:srgbClr val="0000CC"/>
                </a:solidFill>
                <a:effectLst/>
                <a:uLnTx/>
                <a:uFillTx/>
                <a:latin typeface="+mn-lt"/>
                <a:ea typeface="黑体" pitchFamily="2" charset="-122"/>
              </a:rPr>
              <a:t>”</a:t>
            </a:r>
          </a:p>
        </p:txBody>
      </p:sp>
      <p:grpSp>
        <p:nvGrpSpPr>
          <p:cNvPr id="22" name="Group 14"/>
          <p:cNvGrpSpPr>
            <a:grpSpLocks/>
          </p:cNvGrpSpPr>
          <p:nvPr/>
        </p:nvGrpSpPr>
        <p:grpSpPr bwMode="auto">
          <a:xfrm>
            <a:off x="2177345" y="1988840"/>
            <a:ext cx="5223928" cy="1152128"/>
            <a:chOff x="1107" y="2388"/>
            <a:chExt cx="3405" cy="845"/>
          </a:xfrm>
        </p:grpSpPr>
        <p:sp>
          <p:nvSpPr>
            <p:cNvPr id="23" name="Line 10"/>
            <p:cNvSpPr>
              <a:spLocks noChangeShapeType="1"/>
            </p:cNvSpPr>
            <p:nvPr/>
          </p:nvSpPr>
          <p:spPr bwMode="auto">
            <a:xfrm>
              <a:off x="1109" y="2736"/>
              <a:ext cx="0" cy="48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endParaRPr>
            </a:p>
          </p:txBody>
        </p:sp>
        <p:sp>
          <p:nvSpPr>
            <p:cNvPr id="24" name="Line 11"/>
            <p:cNvSpPr>
              <a:spLocks noChangeShapeType="1"/>
            </p:cNvSpPr>
            <p:nvPr/>
          </p:nvSpPr>
          <p:spPr bwMode="auto">
            <a:xfrm>
              <a:off x="4512" y="2753"/>
              <a:ext cx="0" cy="48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endParaRPr>
            </a:p>
          </p:txBody>
        </p:sp>
        <p:sp>
          <p:nvSpPr>
            <p:cNvPr id="25" name="Line 12"/>
            <p:cNvSpPr>
              <a:spLocks noChangeShapeType="1"/>
            </p:cNvSpPr>
            <p:nvPr/>
          </p:nvSpPr>
          <p:spPr bwMode="auto">
            <a:xfrm>
              <a:off x="1126" y="3006"/>
              <a:ext cx="3369"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endParaRPr>
            </a:p>
          </p:txBody>
        </p:sp>
        <p:sp>
          <p:nvSpPr>
            <p:cNvPr id="26" name="Text Box 13"/>
            <p:cNvSpPr txBox="1">
              <a:spLocks noChangeArrowheads="1"/>
            </p:cNvSpPr>
            <p:nvPr/>
          </p:nvSpPr>
          <p:spPr bwMode="auto">
            <a:xfrm>
              <a:off x="2473" y="2864"/>
              <a:ext cx="521" cy="293"/>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ysClr val="windowText" lastClr="000000"/>
                  </a:solidFill>
                  <a:effectLst/>
                  <a:uLnTx/>
                  <a:uFillTx/>
                  <a:latin typeface="+mn-lt"/>
                </a:rPr>
                <a:t>32 </a:t>
              </a:r>
              <a:r>
                <a:rPr kumimoji="0" lang="zh-CN" altLang="en-US" sz="2000" b="1" i="0" u="none" strike="noStrike" kern="0" cap="none" spc="0" normalizeH="0" baseline="0" noProof="0" dirty="0">
                  <a:ln>
                    <a:noFill/>
                  </a:ln>
                  <a:solidFill>
                    <a:sysClr val="windowText" lastClr="000000"/>
                  </a:solidFill>
                  <a:effectLst/>
                  <a:uLnTx/>
                  <a:uFillTx/>
                  <a:latin typeface="+mn-lt"/>
                </a:rPr>
                <a:t>位</a:t>
              </a:r>
            </a:p>
          </p:txBody>
        </p:sp>
        <p:grpSp>
          <p:nvGrpSpPr>
            <p:cNvPr id="27" name="Group 7"/>
            <p:cNvGrpSpPr>
              <a:grpSpLocks/>
            </p:cNvGrpSpPr>
            <p:nvPr/>
          </p:nvGrpSpPr>
          <p:grpSpPr bwMode="auto">
            <a:xfrm>
              <a:off x="1107" y="2388"/>
              <a:ext cx="3404" cy="396"/>
              <a:chOff x="1205" y="3011"/>
              <a:chExt cx="3072" cy="437"/>
            </a:xfrm>
          </p:grpSpPr>
          <p:sp>
            <p:nvSpPr>
              <p:cNvPr id="28" name="Rectangle 8"/>
              <p:cNvSpPr>
                <a:spLocks noChangeArrowheads="1"/>
              </p:cNvSpPr>
              <p:nvPr/>
            </p:nvSpPr>
            <p:spPr bwMode="auto">
              <a:xfrm>
                <a:off x="1205" y="3011"/>
                <a:ext cx="1536" cy="436"/>
              </a:xfrm>
              <a:prstGeom prst="rect">
                <a:avLst/>
              </a:prstGeom>
              <a:solidFill>
                <a:srgbClr val="FF66FF"/>
              </a:solidFill>
              <a:ln w="19050" algn="ctr">
                <a:solidFill>
                  <a:schemeClr val="tx1"/>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ysClr val="windowText" lastClr="000000"/>
                    </a:solidFill>
                    <a:effectLst/>
                    <a:uLnTx/>
                    <a:uFillTx/>
                    <a:latin typeface="+mn-lt"/>
                    <a:ea typeface="黑体" pitchFamily="2" charset="-122"/>
                  </a:rPr>
                  <a:t>网络号</a:t>
                </a:r>
                <a:endParaRPr kumimoji="0" lang="en-US" altLang="zh-CN" sz="2800" b="1" i="0" u="none" strike="noStrike" kern="0" cap="none" spc="0" normalizeH="0" baseline="0" noProof="0" dirty="0">
                  <a:ln>
                    <a:noFill/>
                  </a:ln>
                  <a:solidFill>
                    <a:sysClr val="windowText" lastClr="000000"/>
                  </a:solidFill>
                  <a:effectLst/>
                  <a:uLnTx/>
                  <a:uFillTx/>
                  <a:latin typeface="+mn-lt"/>
                  <a:ea typeface="黑体" pitchFamily="2" charset="-122"/>
                </a:endParaRPr>
              </a:p>
            </p:txBody>
          </p:sp>
          <p:sp>
            <p:nvSpPr>
              <p:cNvPr id="29" name="Rectangle 9"/>
              <p:cNvSpPr>
                <a:spLocks noChangeArrowheads="1"/>
              </p:cNvSpPr>
              <p:nvPr/>
            </p:nvSpPr>
            <p:spPr bwMode="auto">
              <a:xfrm>
                <a:off x="2741" y="3012"/>
                <a:ext cx="1536" cy="436"/>
              </a:xfrm>
              <a:prstGeom prst="rect">
                <a:avLst/>
              </a:prstGeom>
              <a:solidFill>
                <a:srgbClr val="FFFF66"/>
              </a:solidFill>
              <a:ln w="19050" algn="ctr">
                <a:solidFill>
                  <a:schemeClr val="tx1"/>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ysClr val="windowText" lastClr="000000"/>
                    </a:solidFill>
                    <a:effectLst/>
                    <a:uLnTx/>
                    <a:uFillTx/>
                    <a:latin typeface="+mn-lt"/>
                    <a:ea typeface="黑体" pitchFamily="2" charset="-122"/>
                  </a:rPr>
                  <a:t>主机号</a:t>
                </a:r>
                <a:endParaRPr kumimoji="0" lang="en-US" altLang="zh-CN" sz="2800" b="1" i="0" u="none" strike="noStrike" kern="0" cap="none" spc="0" normalizeH="0" baseline="0" noProof="0" dirty="0">
                  <a:ln>
                    <a:noFill/>
                  </a:ln>
                  <a:solidFill>
                    <a:sysClr val="windowText" lastClr="000000"/>
                  </a:solidFill>
                  <a:effectLst/>
                  <a:uLnTx/>
                  <a:uFillTx/>
                  <a:latin typeface="+mn-lt"/>
                  <a:ea typeface="黑体" pitchFamily="2" charset="-122"/>
                </a:endParaRPr>
              </a:p>
            </p:txBody>
          </p:sp>
        </p:grpSp>
      </p:grpSp>
    </p:spTree>
    <p:extLst>
      <p:ext uri="{BB962C8B-B14F-4D97-AF65-F5344CB8AC3E}">
        <p14:creationId xmlns:p14="http://schemas.microsoft.com/office/powerpoint/2010/main" val="4046075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37" name="Rectangle 13"/>
          <p:cNvSpPr>
            <a:spLocks noGrp="1" noChangeArrowheads="1"/>
          </p:cNvSpPr>
          <p:nvPr>
            <p:ph type="title" idx="4294967295"/>
          </p:nvPr>
        </p:nvSpPr>
        <p:spPr>
          <a:xfrm>
            <a:off x="272481" y="44450"/>
            <a:ext cx="9164016" cy="768350"/>
          </a:xfrm>
        </p:spPr>
        <p:txBody>
          <a:bodyPr/>
          <a:lstStyle/>
          <a:p>
            <a:pPr algn="ctr"/>
            <a:r>
              <a:rPr lang="zh-CN" altLang="zh-CN" sz="3600" dirty="0"/>
              <a:t>各</a:t>
            </a:r>
            <a:r>
              <a:rPr lang="zh-CN" altLang="en-US" sz="3600" dirty="0"/>
              <a:t>类 </a:t>
            </a:r>
            <a:r>
              <a:rPr lang="en-US" altLang="zh-CN" sz="3600" dirty="0"/>
              <a:t>IP </a:t>
            </a:r>
            <a:r>
              <a:rPr lang="zh-CN" altLang="zh-CN" sz="3600" dirty="0"/>
              <a:t>地址的网络号字段和主机号字段</a:t>
            </a:r>
            <a:endParaRPr lang="zh-CN" altLang="en-US" sz="3600" dirty="0"/>
          </a:p>
        </p:txBody>
      </p:sp>
      <p:grpSp>
        <p:nvGrpSpPr>
          <p:cNvPr id="2" name="组合 1"/>
          <p:cNvGrpSpPr/>
          <p:nvPr/>
        </p:nvGrpSpPr>
        <p:grpSpPr>
          <a:xfrm>
            <a:off x="416496" y="927100"/>
            <a:ext cx="8965275" cy="5089129"/>
            <a:chOff x="416496" y="927100"/>
            <a:chExt cx="8965275" cy="5089129"/>
          </a:xfrm>
        </p:grpSpPr>
        <p:sp>
          <p:nvSpPr>
            <p:cNvPr id="436226"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36227" name="Rectangle 3"/>
            <p:cNvSpPr>
              <a:spLocks noChangeArrowheads="1"/>
            </p:cNvSpPr>
            <p:nvPr/>
          </p:nvSpPr>
          <p:spPr bwMode="auto">
            <a:xfrm>
              <a:off x="4144958" y="3791992"/>
              <a:ext cx="880050" cy="64376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b="1" dirty="0">
                  <a:solidFill>
                    <a:srgbClr val="000099"/>
                  </a:solidFill>
                  <a:latin typeface="+mn-lt"/>
                  <a:ea typeface="黑体" pitchFamily="2" charset="-122"/>
                </a:rPr>
                <a:t>net-id</a:t>
              </a:r>
            </a:p>
            <a:p>
              <a:pPr defTabSz="762000" eaLnBrk="0" hangingPunct="0">
                <a:lnSpc>
                  <a:spcPct val="90000"/>
                </a:lnSpc>
              </a:pPr>
              <a:r>
                <a:rPr kumimoji="1" lang="en-US" altLang="zh-CN" sz="2000" b="1" dirty="0">
                  <a:solidFill>
                    <a:srgbClr val="000099"/>
                  </a:solidFill>
                  <a:latin typeface="+mn-lt"/>
                  <a:ea typeface="黑体" pitchFamily="2" charset="-122"/>
                </a:rPr>
                <a:t>24 </a:t>
              </a:r>
              <a:r>
                <a:rPr kumimoji="1" lang="zh-CN" altLang="en-US" sz="2000" b="1" dirty="0">
                  <a:solidFill>
                    <a:srgbClr val="000099"/>
                  </a:solidFill>
                  <a:latin typeface="+mn-lt"/>
                  <a:ea typeface="黑体" pitchFamily="2" charset="-122"/>
                </a:rPr>
                <a:t>位</a:t>
              </a:r>
            </a:p>
          </p:txBody>
        </p:sp>
        <p:sp>
          <p:nvSpPr>
            <p:cNvPr id="436228"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436229"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36230" name="Rectangle 6"/>
            <p:cNvSpPr>
              <a:spLocks noChangeArrowheads="1"/>
            </p:cNvSpPr>
            <p:nvPr/>
          </p:nvSpPr>
          <p:spPr bwMode="auto">
            <a:xfrm>
              <a:off x="5932080" y="1370014"/>
              <a:ext cx="1037144" cy="64376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host-id</a:t>
              </a:r>
            </a:p>
            <a:p>
              <a:pPr algn="ctr" defTabSz="762000" eaLnBrk="0" hangingPunct="0">
                <a:lnSpc>
                  <a:spcPct val="90000"/>
                </a:lnSpc>
              </a:pPr>
              <a:r>
                <a:rPr kumimoji="1" lang="en-US" altLang="zh-CN" sz="2000" b="1" dirty="0">
                  <a:solidFill>
                    <a:srgbClr val="000099"/>
                  </a:solidFill>
                  <a:latin typeface="+mn-lt"/>
                  <a:ea typeface="黑体" pitchFamily="2" charset="-122"/>
                </a:rPr>
                <a:t>24 </a:t>
              </a:r>
              <a:r>
                <a:rPr kumimoji="1" lang="zh-CN" altLang="en-US" sz="2000" b="1" dirty="0">
                  <a:solidFill>
                    <a:srgbClr val="000099"/>
                  </a:solidFill>
                  <a:latin typeface="+mn-lt"/>
                  <a:ea typeface="黑体" pitchFamily="2" charset="-122"/>
                </a:rPr>
                <a:t>位</a:t>
              </a:r>
            </a:p>
          </p:txBody>
        </p:sp>
        <p:sp>
          <p:nvSpPr>
            <p:cNvPr id="436231"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36232" name="Rectangle 8"/>
            <p:cNvSpPr>
              <a:spLocks noChangeArrowheads="1"/>
            </p:cNvSpPr>
            <p:nvPr/>
          </p:nvSpPr>
          <p:spPr bwMode="auto">
            <a:xfrm>
              <a:off x="3208854" y="2574181"/>
              <a:ext cx="880050" cy="64376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b="1" dirty="0">
                  <a:solidFill>
                    <a:srgbClr val="000099"/>
                  </a:solidFill>
                  <a:latin typeface="+mn-lt"/>
                  <a:ea typeface="黑体" pitchFamily="2" charset="-122"/>
                </a:rPr>
                <a:t>net-id</a:t>
              </a:r>
            </a:p>
            <a:p>
              <a:pPr defTabSz="762000" eaLnBrk="0" hangingPunct="0">
                <a:lnSpc>
                  <a:spcPct val="90000"/>
                </a:lnSpc>
              </a:pPr>
              <a:r>
                <a:rPr kumimoji="1" lang="en-US" altLang="zh-CN" sz="2000" b="1" dirty="0">
                  <a:solidFill>
                    <a:srgbClr val="000099"/>
                  </a:solidFill>
                  <a:latin typeface="+mn-lt"/>
                  <a:ea typeface="黑体" pitchFamily="2" charset="-122"/>
                </a:rPr>
                <a:t>16 </a:t>
              </a:r>
              <a:r>
                <a:rPr kumimoji="1" lang="zh-CN" altLang="en-US" sz="2000" b="1" dirty="0">
                  <a:solidFill>
                    <a:srgbClr val="000099"/>
                  </a:solidFill>
                  <a:latin typeface="+mn-lt"/>
                  <a:ea typeface="黑体" pitchFamily="2" charset="-122"/>
                </a:rPr>
                <a:t>位</a:t>
              </a:r>
            </a:p>
          </p:txBody>
        </p:sp>
        <p:sp>
          <p:nvSpPr>
            <p:cNvPr id="436233"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36234" name="Rectangle 10"/>
            <p:cNvSpPr>
              <a:spLocks noChangeArrowheads="1"/>
            </p:cNvSpPr>
            <p:nvPr/>
          </p:nvSpPr>
          <p:spPr bwMode="auto">
            <a:xfrm>
              <a:off x="2134811" y="1370014"/>
              <a:ext cx="880050" cy="64376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a:solidFill>
                    <a:srgbClr val="000099"/>
                  </a:solidFill>
                  <a:latin typeface="+mn-lt"/>
                  <a:ea typeface="黑体" pitchFamily="2" charset="-122"/>
                </a:rPr>
                <a:t>net-id</a:t>
              </a:r>
            </a:p>
            <a:p>
              <a:pPr algn="ctr" defTabSz="762000" eaLnBrk="0" hangingPunct="0">
                <a:lnSpc>
                  <a:spcPct val="90000"/>
                </a:lnSpc>
              </a:pPr>
              <a:r>
                <a:rPr kumimoji="1" lang="en-US" altLang="zh-CN" sz="2000" b="1">
                  <a:solidFill>
                    <a:srgbClr val="000099"/>
                  </a:solidFill>
                  <a:latin typeface="+mn-lt"/>
                  <a:ea typeface="黑体" pitchFamily="2" charset="-122"/>
                </a:rPr>
                <a:t>8 </a:t>
              </a:r>
              <a:r>
                <a:rPr kumimoji="1" lang="zh-CN" altLang="en-US" sz="2000" b="1">
                  <a:solidFill>
                    <a:srgbClr val="000099"/>
                  </a:solidFill>
                  <a:latin typeface="+mn-lt"/>
                  <a:ea typeface="黑体" pitchFamily="2" charset="-122"/>
                </a:rPr>
                <a:t>位</a:t>
              </a:r>
            </a:p>
          </p:txBody>
        </p:sp>
        <p:sp>
          <p:nvSpPr>
            <p:cNvPr id="436235"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436236"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436238" name="Rectangle 14"/>
            <p:cNvSpPr>
              <a:spLocks noChangeArrowheads="1"/>
            </p:cNvSpPr>
            <p:nvPr/>
          </p:nvSpPr>
          <p:spPr bwMode="auto">
            <a:xfrm>
              <a:off x="1742456" y="3369716"/>
              <a:ext cx="5742384" cy="423862"/>
            </a:xfrm>
            <a:prstGeom prst="rect">
              <a:avLst/>
            </a:prstGeom>
            <a:solidFill>
              <a:srgbClr val="FF66FF"/>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436239" name="Rectangle 15"/>
            <p:cNvSpPr>
              <a:spLocks noChangeArrowheads="1"/>
            </p:cNvSpPr>
            <p:nvPr/>
          </p:nvSpPr>
          <p:spPr bwMode="auto">
            <a:xfrm>
              <a:off x="1740736" y="2166194"/>
              <a:ext cx="3804179" cy="409575"/>
            </a:xfrm>
            <a:prstGeom prst="rect">
              <a:avLst/>
            </a:prstGeom>
            <a:solidFill>
              <a:srgbClr val="FF66FF"/>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436240" name="Rectangle 16"/>
            <p:cNvSpPr>
              <a:spLocks noChangeArrowheads="1"/>
            </p:cNvSpPr>
            <p:nvPr/>
          </p:nvSpPr>
          <p:spPr bwMode="auto">
            <a:xfrm>
              <a:off x="1720099" y="957263"/>
              <a:ext cx="1874573" cy="406400"/>
            </a:xfrm>
            <a:prstGeom prst="rect">
              <a:avLst/>
            </a:prstGeom>
            <a:solidFill>
              <a:srgbClr val="FF66FF"/>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436241" name="Rectangle 17"/>
            <p:cNvSpPr>
              <a:spLocks noChangeArrowheads="1"/>
            </p:cNvSpPr>
            <p:nvPr/>
          </p:nvSpPr>
          <p:spPr bwMode="auto">
            <a:xfrm>
              <a:off x="1635829" y="92710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itchFamily="2" charset="-122"/>
                </a:rPr>
                <a:t>0</a:t>
              </a:r>
            </a:p>
          </p:txBody>
        </p:sp>
        <p:sp>
          <p:nvSpPr>
            <p:cNvPr id="436242" name="Rectangle 18"/>
            <p:cNvSpPr>
              <a:spLocks noChangeArrowheads="1"/>
            </p:cNvSpPr>
            <p:nvPr/>
          </p:nvSpPr>
          <p:spPr bwMode="auto">
            <a:xfrm>
              <a:off x="416496" y="955675"/>
              <a:ext cx="12166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FF"/>
                  </a:solidFill>
                  <a:latin typeface="+mn-lt"/>
                  <a:ea typeface="黑体" pitchFamily="2" charset="-122"/>
                </a:rPr>
                <a:t>A </a:t>
              </a:r>
              <a:r>
                <a:rPr kumimoji="1" lang="zh-CN" altLang="en-US" sz="2000" b="1" dirty="0">
                  <a:solidFill>
                    <a:srgbClr val="0000FF"/>
                  </a:solidFill>
                  <a:latin typeface="+mn-lt"/>
                  <a:ea typeface="黑体" pitchFamily="2" charset="-122"/>
                </a:rPr>
                <a:t>类地址</a:t>
              </a:r>
            </a:p>
          </p:txBody>
        </p:sp>
        <p:sp>
          <p:nvSpPr>
            <p:cNvPr id="436243"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FF"/>
                </a:solidFill>
                <a:latin typeface="+mn-lt"/>
                <a:ea typeface="黑体" pitchFamily="2" charset="-122"/>
              </a:endParaRPr>
            </a:p>
          </p:txBody>
        </p:sp>
        <p:sp>
          <p:nvSpPr>
            <p:cNvPr id="436244" name="Line 20"/>
            <p:cNvSpPr>
              <a:spLocks noChangeShapeType="1"/>
            </p:cNvSpPr>
            <p:nvPr/>
          </p:nvSpPr>
          <p:spPr bwMode="auto">
            <a:xfrm>
              <a:off x="3601550" y="933450"/>
              <a:ext cx="0" cy="4508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36245" name="Line 21"/>
            <p:cNvSpPr>
              <a:spLocks noChangeShapeType="1"/>
            </p:cNvSpPr>
            <p:nvPr/>
          </p:nvSpPr>
          <p:spPr bwMode="auto">
            <a:xfrm>
              <a:off x="1690862" y="1416050"/>
              <a:ext cx="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FF"/>
                </a:solidFill>
                <a:latin typeface="+mn-lt"/>
                <a:ea typeface="黑体" pitchFamily="2" charset="-122"/>
              </a:endParaRPr>
            </a:p>
          </p:txBody>
        </p:sp>
        <p:sp>
          <p:nvSpPr>
            <p:cNvPr id="436246" name="Line 22"/>
            <p:cNvSpPr>
              <a:spLocks noChangeShapeType="1"/>
            </p:cNvSpPr>
            <p:nvPr/>
          </p:nvSpPr>
          <p:spPr bwMode="auto">
            <a:xfrm>
              <a:off x="3601550" y="1416050"/>
              <a:ext cx="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36247" name="Line 23"/>
            <p:cNvSpPr>
              <a:spLocks noChangeShapeType="1"/>
            </p:cNvSpPr>
            <p:nvPr/>
          </p:nvSpPr>
          <p:spPr bwMode="auto">
            <a:xfrm>
              <a:off x="9354254" y="1416050"/>
              <a:ext cx="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36248"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36249" name="Rectangle 25"/>
            <p:cNvSpPr>
              <a:spLocks noChangeArrowheads="1"/>
            </p:cNvSpPr>
            <p:nvPr/>
          </p:nvSpPr>
          <p:spPr bwMode="auto">
            <a:xfrm>
              <a:off x="7012200" y="2636149"/>
              <a:ext cx="1037144" cy="643766"/>
            </a:xfrm>
            <a:prstGeom prst="rect">
              <a:avLst/>
            </a:prstGeom>
            <a:solidFill>
              <a:schemeClr val="bg1"/>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lnSpc>
                  <a:spcPct val="90000"/>
                </a:lnSpc>
              </a:pPr>
              <a:r>
                <a:rPr kumimoji="1" lang="en-US" altLang="zh-CN" sz="2000" b="1" dirty="0">
                  <a:solidFill>
                    <a:srgbClr val="000099"/>
                  </a:solidFill>
                  <a:latin typeface="+mn-lt"/>
                  <a:ea typeface="黑体" pitchFamily="2" charset="-122"/>
                </a:rPr>
                <a:t>host-id</a:t>
              </a:r>
            </a:p>
            <a:p>
              <a:pPr algn="ctr" defTabSz="762000">
                <a:lnSpc>
                  <a:spcPct val="90000"/>
                </a:lnSpc>
              </a:pPr>
              <a:r>
                <a:rPr kumimoji="1" lang="en-US" altLang="zh-CN" sz="2000" b="1" dirty="0">
                  <a:solidFill>
                    <a:srgbClr val="000099"/>
                  </a:solidFill>
                  <a:latin typeface="+mn-lt"/>
                  <a:ea typeface="黑体" pitchFamily="2" charset="-122"/>
                </a:rPr>
                <a:t>16 </a:t>
              </a:r>
              <a:r>
                <a:rPr kumimoji="1" lang="zh-CN" altLang="en-US" sz="2000" b="1" dirty="0">
                  <a:solidFill>
                    <a:srgbClr val="000099"/>
                  </a:solidFill>
                  <a:latin typeface="+mn-lt"/>
                  <a:ea typeface="黑体" pitchFamily="2" charset="-122"/>
                </a:rPr>
                <a:t>位</a:t>
              </a:r>
            </a:p>
          </p:txBody>
        </p:sp>
        <p:sp>
          <p:nvSpPr>
            <p:cNvPr id="436250" name="Line 26"/>
            <p:cNvSpPr>
              <a:spLocks noChangeShapeType="1"/>
            </p:cNvSpPr>
            <p:nvPr/>
          </p:nvSpPr>
          <p:spPr bwMode="auto">
            <a:xfrm>
              <a:off x="1732137" y="2626568"/>
              <a:ext cx="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FF"/>
                </a:solidFill>
                <a:latin typeface="+mn-lt"/>
                <a:ea typeface="黑体" pitchFamily="2" charset="-122"/>
              </a:endParaRPr>
            </a:p>
          </p:txBody>
        </p:sp>
        <p:sp>
          <p:nvSpPr>
            <p:cNvPr id="436251" name="Line 27"/>
            <p:cNvSpPr>
              <a:spLocks noChangeShapeType="1"/>
            </p:cNvSpPr>
            <p:nvPr/>
          </p:nvSpPr>
          <p:spPr bwMode="auto">
            <a:xfrm>
              <a:off x="5553514" y="2626568"/>
              <a:ext cx="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36252" name="Line 28"/>
            <p:cNvSpPr>
              <a:spLocks noChangeShapeType="1"/>
            </p:cNvSpPr>
            <p:nvPr/>
          </p:nvSpPr>
          <p:spPr bwMode="auto">
            <a:xfrm>
              <a:off x="9340495" y="2626568"/>
              <a:ext cx="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36253" name="Rectangle 29"/>
            <p:cNvSpPr>
              <a:spLocks noChangeArrowheads="1"/>
            </p:cNvSpPr>
            <p:nvPr/>
          </p:nvSpPr>
          <p:spPr bwMode="auto">
            <a:xfrm>
              <a:off x="437134" y="2151905"/>
              <a:ext cx="121347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FF"/>
                  </a:solidFill>
                  <a:latin typeface="+mn-lt"/>
                  <a:ea typeface="黑体" pitchFamily="2" charset="-122"/>
                </a:rPr>
                <a:t>B </a:t>
              </a:r>
              <a:r>
                <a:rPr kumimoji="1" lang="zh-CN" altLang="en-US" sz="2000" b="1">
                  <a:solidFill>
                    <a:srgbClr val="0000FF"/>
                  </a:solidFill>
                  <a:latin typeface="+mn-lt"/>
                  <a:ea typeface="黑体" pitchFamily="2" charset="-122"/>
                </a:rPr>
                <a:t>类地址</a:t>
              </a:r>
            </a:p>
          </p:txBody>
        </p:sp>
        <p:sp>
          <p:nvSpPr>
            <p:cNvPr id="436254" name="Line 30"/>
            <p:cNvSpPr>
              <a:spLocks noChangeShapeType="1"/>
            </p:cNvSpPr>
            <p:nvPr/>
          </p:nvSpPr>
          <p:spPr bwMode="auto">
            <a:xfrm>
              <a:off x="5553514" y="2150319"/>
              <a:ext cx="0" cy="4333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36255" name="Rectangle 31"/>
            <p:cNvSpPr>
              <a:spLocks noChangeArrowheads="1"/>
            </p:cNvSpPr>
            <p:nvPr/>
          </p:nvSpPr>
          <p:spPr bwMode="auto">
            <a:xfrm>
              <a:off x="437134" y="3364953"/>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FF"/>
                  </a:solidFill>
                  <a:latin typeface="+mn-lt"/>
                  <a:ea typeface="黑体" pitchFamily="2" charset="-122"/>
                </a:rPr>
                <a:t>C </a:t>
              </a:r>
              <a:r>
                <a:rPr kumimoji="1" lang="zh-CN" altLang="en-US" sz="2000" b="1">
                  <a:solidFill>
                    <a:srgbClr val="0000FF"/>
                  </a:solidFill>
                  <a:latin typeface="+mn-lt"/>
                  <a:ea typeface="黑体" pitchFamily="2" charset="-122"/>
                </a:rPr>
                <a:t>类地址</a:t>
              </a:r>
            </a:p>
          </p:txBody>
        </p:sp>
        <p:sp>
          <p:nvSpPr>
            <p:cNvPr id="436256" name="Rectangle 32"/>
            <p:cNvSpPr>
              <a:spLocks noChangeArrowheads="1"/>
            </p:cNvSpPr>
            <p:nvPr/>
          </p:nvSpPr>
          <p:spPr bwMode="auto">
            <a:xfrm>
              <a:off x="2086414" y="3384003"/>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0</a:t>
              </a:r>
            </a:p>
          </p:txBody>
        </p:sp>
        <p:sp>
          <p:nvSpPr>
            <p:cNvPr id="436257" name="Rectangle 33"/>
            <p:cNvSpPr>
              <a:spLocks noChangeArrowheads="1"/>
            </p:cNvSpPr>
            <p:nvPr/>
          </p:nvSpPr>
          <p:spPr bwMode="auto">
            <a:xfrm>
              <a:off x="1666786" y="3376066"/>
              <a:ext cx="526256"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2000" b="1">
                  <a:solidFill>
                    <a:srgbClr val="000099"/>
                  </a:solidFill>
                  <a:latin typeface="+mn-lt"/>
                  <a:ea typeface="黑体" pitchFamily="2" charset="-122"/>
                </a:rPr>
                <a:t>1</a:t>
              </a:r>
            </a:p>
          </p:txBody>
        </p:sp>
        <p:sp>
          <p:nvSpPr>
            <p:cNvPr id="436258" name="Rectangle 34"/>
            <p:cNvSpPr>
              <a:spLocks noChangeArrowheads="1"/>
            </p:cNvSpPr>
            <p:nvPr/>
          </p:nvSpPr>
          <p:spPr bwMode="auto">
            <a:xfrm>
              <a:off x="1878319" y="3384003"/>
              <a:ext cx="52281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2000" b="1">
                  <a:solidFill>
                    <a:srgbClr val="000099"/>
                  </a:solidFill>
                  <a:latin typeface="+mn-lt"/>
                  <a:ea typeface="黑体" pitchFamily="2" charset="-122"/>
                </a:rPr>
                <a:t>1</a:t>
              </a:r>
            </a:p>
          </p:txBody>
        </p:sp>
        <p:sp>
          <p:nvSpPr>
            <p:cNvPr id="436259"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36260" name="Line 36"/>
            <p:cNvSpPr>
              <a:spLocks noChangeShapeType="1"/>
            </p:cNvSpPr>
            <p:nvPr/>
          </p:nvSpPr>
          <p:spPr bwMode="auto">
            <a:xfrm>
              <a:off x="7505477" y="3349079"/>
              <a:ext cx="0" cy="4413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36261"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436262" name="Group 38"/>
            <p:cNvGrpSpPr>
              <a:grpSpLocks/>
            </p:cNvGrpSpPr>
            <p:nvPr/>
          </p:nvGrpSpPr>
          <p:grpSpPr bwMode="auto">
            <a:xfrm>
              <a:off x="7940583" y="3820568"/>
              <a:ext cx="1073762" cy="643240"/>
              <a:chOff x="2832" y="3024"/>
              <a:chExt cx="430" cy="381"/>
            </a:xfrm>
          </p:grpSpPr>
          <p:sp>
            <p:nvSpPr>
              <p:cNvPr id="436263" name="Rectangle 39"/>
              <p:cNvSpPr>
                <a:spLocks noChangeArrowheads="1"/>
              </p:cNvSpPr>
              <p:nvPr/>
            </p:nvSpPr>
            <p:spPr bwMode="auto">
              <a:xfrm>
                <a:off x="2832" y="3072"/>
                <a:ext cx="426" cy="1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36264" name="Rectangle 40"/>
              <p:cNvSpPr>
                <a:spLocks noChangeArrowheads="1"/>
              </p:cNvSpPr>
              <p:nvPr/>
            </p:nvSpPr>
            <p:spPr bwMode="auto">
              <a:xfrm>
                <a:off x="2847" y="3024"/>
                <a:ext cx="415" cy="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host-id</a:t>
                </a:r>
              </a:p>
              <a:p>
                <a:pPr algn="ctr" defTabSz="762000" eaLnBrk="0" hangingPunct="0">
                  <a:lnSpc>
                    <a:spcPct val="90000"/>
                  </a:lnSpc>
                </a:pPr>
                <a:r>
                  <a:rPr kumimoji="1" lang="en-US" altLang="zh-CN" sz="2000" b="1" dirty="0">
                    <a:solidFill>
                      <a:srgbClr val="000099"/>
                    </a:solidFill>
                    <a:latin typeface="+mn-lt"/>
                    <a:ea typeface="黑体" pitchFamily="2" charset="-122"/>
                  </a:rPr>
                  <a:t>8 </a:t>
                </a:r>
                <a:r>
                  <a:rPr kumimoji="1" lang="zh-CN" altLang="en-US" sz="2000" b="1" dirty="0">
                    <a:solidFill>
                      <a:srgbClr val="000099"/>
                    </a:solidFill>
                    <a:latin typeface="+mn-lt"/>
                    <a:ea typeface="黑体" pitchFamily="2" charset="-122"/>
                  </a:rPr>
                  <a:t>位</a:t>
                </a:r>
              </a:p>
            </p:txBody>
          </p:sp>
        </p:grpSp>
        <p:sp>
          <p:nvSpPr>
            <p:cNvPr id="436265" name="Line 41"/>
            <p:cNvSpPr>
              <a:spLocks noChangeShapeType="1"/>
            </p:cNvSpPr>
            <p:nvPr/>
          </p:nvSpPr>
          <p:spPr bwMode="auto">
            <a:xfrm>
              <a:off x="1732137" y="3857078"/>
              <a:ext cx="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FF"/>
                </a:solidFill>
                <a:latin typeface="+mn-lt"/>
                <a:ea typeface="黑体" pitchFamily="2" charset="-122"/>
              </a:endParaRPr>
            </a:p>
          </p:txBody>
        </p:sp>
        <p:sp>
          <p:nvSpPr>
            <p:cNvPr id="436266" name="Line 42"/>
            <p:cNvSpPr>
              <a:spLocks noChangeShapeType="1"/>
            </p:cNvSpPr>
            <p:nvPr/>
          </p:nvSpPr>
          <p:spPr bwMode="auto">
            <a:xfrm>
              <a:off x="7510637" y="3860253"/>
              <a:ext cx="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36267" name="Line 43"/>
            <p:cNvSpPr>
              <a:spLocks noChangeShapeType="1"/>
            </p:cNvSpPr>
            <p:nvPr/>
          </p:nvSpPr>
          <p:spPr bwMode="auto">
            <a:xfrm>
              <a:off x="9340495" y="3841203"/>
              <a:ext cx="0" cy="323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36268"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436269" name="Rectangle 45"/>
            <p:cNvSpPr>
              <a:spLocks noChangeArrowheads="1"/>
            </p:cNvSpPr>
            <p:nvPr/>
          </p:nvSpPr>
          <p:spPr bwMode="auto">
            <a:xfrm>
              <a:off x="416496" y="4593828"/>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FF"/>
                  </a:solidFill>
                  <a:latin typeface="+mn-lt"/>
                  <a:ea typeface="黑体" pitchFamily="2" charset="-122"/>
                </a:rPr>
                <a:t>D </a:t>
              </a:r>
              <a:r>
                <a:rPr kumimoji="1" lang="zh-CN" altLang="en-US" sz="2000" b="1">
                  <a:solidFill>
                    <a:srgbClr val="0000FF"/>
                  </a:solidFill>
                  <a:latin typeface="+mn-lt"/>
                  <a:ea typeface="黑体" pitchFamily="2" charset="-122"/>
                </a:rPr>
                <a:t>类地址</a:t>
              </a:r>
            </a:p>
          </p:txBody>
        </p:sp>
        <p:sp>
          <p:nvSpPr>
            <p:cNvPr id="436270"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36271" name="Rectangle 47"/>
            <p:cNvSpPr>
              <a:spLocks noChangeArrowheads="1"/>
            </p:cNvSpPr>
            <p:nvPr/>
          </p:nvSpPr>
          <p:spPr bwMode="auto">
            <a:xfrm>
              <a:off x="1656466" y="4581128"/>
              <a:ext cx="8592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1</a:t>
              </a:r>
              <a:r>
                <a:rPr kumimoji="1" lang="en-US" altLang="zh-CN" sz="1000" b="1">
                  <a:solidFill>
                    <a:srgbClr val="000099"/>
                  </a:solidFill>
                  <a:latin typeface="+mn-lt"/>
                  <a:ea typeface="黑体" pitchFamily="2" charset="-122"/>
                </a:rPr>
                <a:t> </a:t>
              </a:r>
              <a:r>
                <a:rPr kumimoji="1" lang="en-US" altLang="zh-CN" sz="2000" b="1">
                  <a:solidFill>
                    <a:srgbClr val="000099"/>
                  </a:solidFill>
                  <a:latin typeface="+mn-lt"/>
                  <a:ea typeface="黑体" pitchFamily="2" charset="-122"/>
                </a:rPr>
                <a:t>1</a:t>
              </a:r>
              <a:r>
                <a:rPr kumimoji="1" lang="en-US" altLang="zh-CN" sz="1000" b="1">
                  <a:solidFill>
                    <a:srgbClr val="000099"/>
                  </a:solidFill>
                  <a:latin typeface="+mn-lt"/>
                  <a:ea typeface="黑体" pitchFamily="2" charset="-122"/>
                </a:rPr>
                <a:t> </a:t>
              </a:r>
              <a:r>
                <a:rPr kumimoji="1" lang="en-US" altLang="zh-CN" sz="2000" b="1">
                  <a:solidFill>
                    <a:srgbClr val="000099"/>
                  </a:solidFill>
                  <a:latin typeface="+mn-lt"/>
                  <a:ea typeface="黑体" pitchFamily="2" charset="-122"/>
                </a:rPr>
                <a:t>1</a:t>
              </a:r>
              <a:r>
                <a:rPr kumimoji="1" lang="en-US" altLang="zh-CN" sz="1000" b="1">
                  <a:solidFill>
                    <a:srgbClr val="000099"/>
                  </a:solidFill>
                  <a:latin typeface="+mn-lt"/>
                  <a:ea typeface="黑体" pitchFamily="2" charset="-122"/>
                </a:rPr>
                <a:t> </a:t>
              </a:r>
              <a:r>
                <a:rPr kumimoji="1" lang="en-US" altLang="zh-CN" sz="2000" b="1">
                  <a:solidFill>
                    <a:srgbClr val="000099"/>
                  </a:solidFill>
                  <a:latin typeface="+mn-lt"/>
                  <a:ea typeface="黑体" pitchFamily="2" charset="-122"/>
                </a:rPr>
                <a:t>0</a:t>
              </a:r>
            </a:p>
          </p:txBody>
        </p:sp>
        <p:sp>
          <p:nvSpPr>
            <p:cNvPr id="436272" name="Rectangle 48"/>
            <p:cNvSpPr>
              <a:spLocks noChangeArrowheads="1"/>
            </p:cNvSpPr>
            <p:nvPr/>
          </p:nvSpPr>
          <p:spPr bwMode="auto">
            <a:xfrm>
              <a:off x="4724575" y="4611292"/>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多 播 地 址</a:t>
              </a:r>
            </a:p>
          </p:txBody>
        </p:sp>
        <p:sp>
          <p:nvSpPr>
            <p:cNvPr id="436273"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436274" name="Rectangle 50"/>
            <p:cNvSpPr>
              <a:spLocks noChangeArrowheads="1"/>
            </p:cNvSpPr>
            <p:nvPr/>
          </p:nvSpPr>
          <p:spPr bwMode="auto">
            <a:xfrm>
              <a:off x="456052" y="5559029"/>
              <a:ext cx="12166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FF"/>
                  </a:solidFill>
                  <a:latin typeface="+mn-lt"/>
                  <a:ea typeface="黑体" pitchFamily="2" charset="-122"/>
                </a:rPr>
                <a:t>E </a:t>
              </a:r>
              <a:r>
                <a:rPr kumimoji="1" lang="zh-CN" altLang="en-US" sz="2000" b="1">
                  <a:solidFill>
                    <a:srgbClr val="0000FF"/>
                  </a:solidFill>
                  <a:latin typeface="+mn-lt"/>
                  <a:ea typeface="黑体" pitchFamily="2" charset="-122"/>
                </a:rPr>
                <a:t>类地址</a:t>
              </a:r>
            </a:p>
          </p:txBody>
        </p:sp>
        <p:sp>
          <p:nvSpPr>
            <p:cNvPr id="436275" name="Rectangle 51"/>
            <p:cNvSpPr>
              <a:spLocks noChangeArrowheads="1"/>
            </p:cNvSpPr>
            <p:nvPr/>
          </p:nvSpPr>
          <p:spPr bwMode="auto">
            <a:xfrm>
              <a:off x="4134686" y="5570141"/>
              <a:ext cx="24125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 为 今 后 使 用</a:t>
              </a:r>
            </a:p>
          </p:txBody>
        </p:sp>
        <p:sp>
          <p:nvSpPr>
            <p:cNvPr id="436276"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36277" name="Rectangle 53"/>
            <p:cNvSpPr>
              <a:spLocks noChangeArrowheads="1"/>
            </p:cNvSpPr>
            <p:nvPr/>
          </p:nvSpPr>
          <p:spPr bwMode="auto">
            <a:xfrm>
              <a:off x="1656466" y="5555853"/>
              <a:ext cx="8592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1</a:t>
              </a:r>
              <a:r>
                <a:rPr kumimoji="1" lang="en-US" altLang="zh-CN" sz="1000" b="1">
                  <a:solidFill>
                    <a:srgbClr val="000099"/>
                  </a:solidFill>
                  <a:latin typeface="+mn-lt"/>
                  <a:ea typeface="黑体" pitchFamily="2" charset="-122"/>
                </a:rPr>
                <a:t> </a:t>
              </a:r>
              <a:r>
                <a:rPr kumimoji="1" lang="en-US" altLang="zh-CN" sz="2000" b="1">
                  <a:solidFill>
                    <a:srgbClr val="000099"/>
                  </a:solidFill>
                  <a:latin typeface="+mn-lt"/>
                  <a:ea typeface="黑体" pitchFamily="2" charset="-122"/>
                </a:rPr>
                <a:t>1</a:t>
              </a:r>
              <a:r>
                <a:rPr kumimoji="1" lang="en-US" altLang="zh-CN" sz="1000" b="1">
                  <a:solidFill>
                    <a:srgbClr val="000099"/>
                  </a:solidFill>
                  <a:latin typeface="+mn-lt"/>
                  <a:ea typeface="黑体" pitchFamily="2" charset="-122"/>
                </a:rPr>
                <a:t> </a:t>
              </a:r>
              <a:r>
                <a:rPr kumimoji="1" lang="en-US" altLang="zh-CN" sz="2000" b="1">
                  <a:solidFill>
                    <a:srgbClr val="000099"/>
                  </a:solidFill>
                  <a:latin typeface="+mn-lt"/>
                  <a:ea typeface="黑体" pitchFamily="2" charset="-122"/>
                </a:rPr>
                <a:t>1</a:t>
              </a:r>
              <a:r>
                <a:rPr kumimoji="1" lang="en-US" altLang="zh-CN" sz="1000" b="1">
                  <a:solidFill>
                    <a:srgbClr val="000099"/>
                  </a:solidFill>
                  <a:latin typeface="+mn-lt"/>
                  <a:ea typeface="黑体" pitchFamily="2" charset="-122"/>
                </a:rPr>
                <a:t> </a:t>
              </a:r>
              <a:r>
                <a:rPr kumimoji="1" lang="en-US" altLang="zh-CN" sz="2000" b="1">
                  <a:solidFill>
                    <a:srgbClr val="000099"/>
                  </a:solidFill>
                  <a:latin typeface="+mn-lt"/>
                  <a:ea typeface="黑体" pitchFamily="2" charset="-122"/>
                </a:rPr>
                <a:t>1</a:t>
              </a:r>
            </a:p>
          </p:txBody>
        </p:sp>
        <p:sp>
          <p:nvSpPr>
            <p:cNvPr id="436278" name="Rectangle 54"/>
            <p:cNvSpPr>
              <a:spLocks noChangeArrowheads="1"/>
            </p:cNvSpPr>
            <p:nvPr/>
          </p:nvSpPr>
          <p:spPr bwMode="auto">
            <a:xfrm>
              <a:off x="1861122" y="213603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0</a:t>
              </a:r>
            </a:p>
          </p:txBody>
        </p:sp>
        <p:sp>
          <p:nvSpPr>
            <p:cNvPr id="436279" name="Rectangle 55"/>
            <p:cNvSpPr>
              <a:spLocks noChangeArrowheads="1"/>
            </p:cNvSpPr>
            <p:nvPr/>
          </p:nvSpPr>
          <p:spPr bwMode="auto">
            <a:xfrm>
              <a:off x="1653027" y="2136030"/>
              <a:ext cx="524536"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2000" b="1">
                  <a:solidFill>
                    <a:srgbClr val="000099"/>
                  </a:solidFill>
                  <a:latin typeface="+mn-lt"/>
                  <a:ea typeface="黑体" pitchFamily="2" charset="-122"/>
                </a:rPr>
                <a:t>1</a:t>
              </a:r>
            </a:p>
          </p:txBody>
        </p:sp>
        <p:sp>
          <p:nvSpPr>
            <p:cNvPr id="436280"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spTree>
    <p:extLst>
      <p:ext uri="{BB962C8B-B14F-4D97-AF65-F5344CB8AC3E}">
        <p14:creationId xmlns:p14="http://schemas.microsoft.com/office/powerpoint/2010/main" val="4205366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algn="ctr"/>
            <a:r>
              <a:rPr lang="zh-CN" altLang="en-US"/>
              <a:t>点分十进制记法 </a:t>
            </a:r>
          </a:p>
        </p:txBody>
      </p:sp>
      <p:grpSp>
        <p:nvGrpSpPr>
          <p:cNvPr id="31" name="Group 3"/>
          <p:cNvGrpSpPr>
            <a:grpSpLocks/>
          </p:cNvGrpSpPr>
          <p:nvPr/>
        </p:nvGrpSpPr>
        <p:grpSpPr bwMode="auto">
          <a:xfrm>
            <a:off x="413768" y="1371601"/>
            <a:ext cx="8770938" cy="830263"/>
            <a:chOff x="122" y="1142"/>
            <a:chExt cx="5525" cy="523"/>
          </a:xfrm>
        </p:grpSpPr>
        <p:sp>
          <p:nvSpPr>
            <p:cNvPr id="32" name="Rectangle 4"/>
            <p:cNvSpPr>
              <a:spLocks noChangeArrowheads="1"/>
            </p:cNvSpPr>
            <p:nvPr/>
          </p:nvSpPr>
          <p:spPr bwMode="auto">
            <a:xfrm>
              <a:off x="2134" y="1217"/>
              <a:ext cx="3513" cy="410"/>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rPr>
                <a:t>10000000000010110000001100011111 </a:t>
              </a:r>
            </a:p>
          </p:txBody>
        </p:sp>
        <p:sp>
          <p:nvSpPr>
            <p:cNvPr id="33" name="Text Box 5"/>
            <p:cNvSpPr txBox="1">
              <a:spLocks noChangeArrowheads="1"/>
            </p:cNvSpPr>
            <p:nvPr/>
          </p:nvSpPr>
          <p:spPr bwMode="auto">
            <a:xfrm>
              <a:off x="122" y="1142"/>
              <a:ext cx="1965"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机器中存放的 </a:t>
              </a:r>
              <a:r>
                <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rPr>
                <a:t>IP </a:t>
              </a: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地址</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是 </a:t>
              </a:r>
              <a:r>
                <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rPr>
                <a:t>32 </a:t>
              </a: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位二进制代码</a:t>
              </a:r>
            </a:p>
          </p:txBody>
        </p:sp>
      </p:grpSp>
      <p:grpSp>
        <p:nvGrpSpPr>
          <p:cNvPr id="34" name="Group 6"/>
          <p:cNvGrpSpPr>
            <a:grpSpLocks/>
          </p:cNvGrpSpPr>
          <p:nvPr/>
        </p:nvGrpSpPr>
        <p:grpSpPr bwMode="auto">
          <a:xfrm>
            <a:off x="472505" y="2759077"/>
            <a:ext cx="9056690" cy="593726"/>
            <a:chOff x="128" y="1738"/>
            <a:chExt cx="5705" cy="374"/>
          </a:xfrm>
        </p:grpSpPr>
        <p:sp>
          <p:nvSpPr>
            <p:cNvPr id="35" name="Text Box 7"/>
            <p:cNvSpPr txBox="1">
              <a:spLocks noChangeArrowheads="1"/>
            </p:cNvSpPr>
            <p:nvPr/>
          </p:nvSpPr>
          <p:spPr bwMode="auto">
            <a:xfrm>
              <a:off x="2056" y="1738"/>
              <a:ext cx="377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latin typeface="+mn-lt"/>
                  <a:ea typeface="黑体" pitchFamily="2" charset="-122"/>
                </a:rPr>
                <a:t>10000000 00001011 00000011  00011111 </a:t>
              </a:r>
            </a:p>
          </p:txBody>
        </p:sp>
        <p:sp>
          <p:nvSpPr>
            <p:cNvPr id="36" name="Text Box 8"/>
            <p:cNvSpPr txBox="1">
              <a:spLocks noChangeArrowheads="1"/>
            </p:cNvSpPr>
            <p:nvPr/>
          </p:nvSpPr>
          <p:spPr bwMode="auto">
            <a:xfrm>
              <a:off x="128" y="1744"/>
              <a:ext cx="1701"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3200" b="1" dirty="0">
                  <a:solidFill>
                    <a:srgbClr val="0000FF"/>
                  </a:solidFill>
                  <a:latin typeface="+mn-lt"/>
                  <a:ea typeface="黑体" pitchFamily="2" charset="-122"/>
                </a:rPr>
                <a:t>每 </a:t>
              </a:r>
              <a:r>
                <a:rPr lang="en-US" altLang="zh-CN" sz="3200" b="1" dirty="0">
                  <a:solidFill>
                    <a:srgbClr val="0000FF"/>
                  </a:solidFill>
                  <a:latin typeface="+mn-lt"/>
                  <a:ea typeface="黑体" pitchFamily="2" charset="-122"/>
                </a:rPr>
                <a:t>8 </a:t>
              </a:r>
              <a:r>
                <a:rPr lang="zh-CN" altLang="en-US" sz="3200" b="1" dirty="0">
                  <a:solidFill>
                    <a:srgbClr val="0000FF"/>
                  </a:solidFill>
                  <a:latin typeface="+mn-lt"/>
                  <a:ea typeface="黑体" pitchFamily="2" charset="-122"/>
                </a:rPr>
                <a:t>位为一组</a:t>
              </a:r>
            </a:p>
          </p:txBody>
        </p:sp>
      </p:grpSp>
      <p:sp>
        <p:nvSpPr>
          <p:cNvPr id="37" name="Text Box 9"/>
          <p:cNvSpPr txBox="1">
            <a:spLocks noChangeArrowheads="1"/>
          </p:cNvSpPr>
          <p:nvPr/>
        </p:nvSpPr>
        <p:spPr bwMode="auto">
          <a:xfrm>
            <a:off x="389954" y="4889500"/>
            <a:ext cx="296908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latin typeface="+mn-lt"/>
                <a:ea typeface="黑体" pitchFamily="2" charset="-122"/>
              </a:rPr>
              <a:t>采用点分十进制记法</a:t>
            </a:r>
          </a:p>
          <a:p>
            <a:r>
              <a:rPr lang="zh-CN" altLang="en-US" sz="2400" b="1" dirty="0">
                <a:latin typeface="+mn-lt"/>
                <a:ea typeface="黑体" pitchFamily="2" charset="-122"/>
              </a:rPr>
              <a:t>则进一步提高可读性</a:t>
            </a:r>
          </a:p>
        </p:txBody>
      </p:sp>
      <p:sp>
        <p:nvSpPr>
          <p:cNvPr id="38" name="Text Box 10"/>
          <p:cNvSpPr txBox="1">
            <a:spLocks noChangeArrowheads="1"/>
          </p:cNvSpPr>
          <p:nvPr/>
        </p:nvSpPr>
        <p:spPr bwMode="auto">
          <a:xfrm>
            <a:off x="5146104" y="5029200"/>
            <a:ext cx="2749471" cy="646331"/>
          </a:xfrm>
          <a:prstGeom prst="rect">
            <a:avLst/>
          </a:prstGeom>
          <a:solidFill>
            <a:srgbClr val="FF66CC"/>
          </a:solidFill>
          <a:ln w="19050">
            <a:solidFill>
              <a:srgbClr val="000000"/>
            </a:solidFill>
            <a:miter lim="800000"/>
            <a:headEnd/>
            <a:tailEnd/>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a:ln>
                  <a:noFill/>
                </a:ln>
                <a:solidFill>
                  <a:sysClr val="windowText" lastClr="000000"/>
                </a:solidFill>
                <a:effectLst/>
                <a:uLnTx/>
                <a:uFillTx/>
                <a:latin typeface="+mn-lt"/>
                <a:ea typeface="黑体" pitchFamily="2" charset="-122"/>
              </a:rPr>
              <a:t>128.11.3.31 </a:t>
            </a:r>
          </a:p>
        </p:txBody>
      </p:sp>
      <p:sp>
        <p:nvSpPr>
          <p:cNvPr id="39" name="AutoShape 11"/>
          <p:cNvSpPr>
            <a:spLocks/>
          </p:cNvSpPr>
          <p:nvPr/>
        </p:nvSpPr>
        <p:spPr bwMode="auto">
          <a:xfrm rot="-5400000">
            <a:off x="4164235" y="2683670"/>
            <a:ext cx="244475" cy="1198562"/>
          </a:xfrm>
          <a:prstGeom prst="leftBrace">
            <a:avLst>
              <a:gd name="adj1" fmla="val 40855"/>
              <a:gd name="adj2" fmla="val 50000"/>
            </a:avLst>
          </a:prstGeom>
          <a:noFill/>
          <a:ln w="28575">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40" name="AutoShape 12"/>
          <p:cNvSpPr>
            <a:spLocks/>
          </p:cNvSpPr>
          <p:nvPr/>
        </p:nvSpPr>
        <p:spPr bwMode="auto">
          <a:xfrm rot="-5400000">
            <a:off x="5593779" y="2668588"/>
            <a:ext cx="274637" cy="1258888"/>
          </a:xfrm>
          <a:prstGeom prst="leftBrace">
            <a:avLst>
              <a:gd name="adj1" fmla="val 38199"/>
              <a:gd name="adj2" fmla="val 50000"/>
            </a:avLst>
          </a:prstGeom>
          <a:noFill/>
          <a:ln w="28575">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41" name="AutoShape 13"/>
          <p:cNvSpPr>
            <a:spLocks/>
          </p:cNvSpPr>
          <p:nvPr/>
        </p:nvSpPr>
        <p:spPr bwMode="auto">
          <a:xfrm rot="-5400000">
            <a:off x="7039991" y="2700338"/>
            <a:ext cx="244475" cy="1250950"/>
          </a:xfrm>
          <a:prstGeom prst="leftBrace">
            <a:avLst>
              <a:gd name="adj1" fmla="val 42641"/>
              <a:gd name="adj2" fmla="val 50000"/>
            </a:avLst>
          </a:prstGeom>
          <a:noFill/>
          <a:ln w="28575">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42" name="AutoShape 14"/>
          <p:cNvSpPr>
            <a:spLocks/>
          </p:cNvSpPr>
          <p:nvPr/>
        </p:nvSpPr>
        <p:spPr bwMode="auto">
          <a:xfrm rot="-5400000">
            <a:off x="8510811" y="2661444"/>
            <a:ext cx="228600" cy="1341437"/>
          </a:xfrm>
          <a:prstGeom prst="leftBrace">
            <a:avLst>
              <a:gd name="adj1" fmla="val 48900"/>
              <a:gd name="adj2" fmla="val 50000"/>
            </a:avLst>
          </a:prstGeom>
          <a:noFill/>
          <a:ln w="28575">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43" name="Text Box 15"/>
          <p:cNvSpPr txBox="1">
            <a:spLocks noChangeArrowheads="1"/>
          </p:cNvSpPr>
          <p:nvPr/>
        </p:nvSpPr>
        <p:spPr bwMode="auto">
          <a:xfrm>
            <a:off x="3800872" y="3636963"/>
            <a:ext cx="55453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dirty="0">
                <a:latin typeface="+mn-lt"/>
                <a:ea typeface="黑体" pitchFamily="2" charset="-122"/>
              </a:rPr>
              <a:t>128 </a:t>
            </a:r>
            <a:r>
              <a:rPr lang="en-US" altLang="zh-CN" b="1" dirty="0">
                <a:latin typeface="+mn-lt"/>
                <a:ea typeface="黑体" pitchFamily="2" charset="-122"/>
              </a:rPr>
              <a:t>      </a:t>
            </a:r>
            <a:r>
              <a:rPr lang="en-US" altLang="zh-CN" sz="3600" b="1" dirty="0">
                <a:latin typeface="+mn-lt"/>
                <a:ea typeface="黑体" pitchFamily="2" charset="-122"/>
              </a:rPr>
              <a:t>  11         3         31 </a:t>
            </a:r>
          </a:p>
        </p:txBody>
      </p:sp>
      <p:grpSp>
        <p:nvGrpSpPr>
          <p:cNvPr id="44" name="Group 16"/>
          <p:cNvGrpSpPr>
            <a:grpSpLocks/>
          </p:cNvGrpSpPr>
          <p:nvPr/>
        </p:nvGrpSpPr>
        <p:grpSpPr bwMode="auto">
          <a:xfrm>
            <a:off x="4382517" y="4154488"/>
            <a:ext cx="4141787" cy="876300"/>
            <a:chOff x="2665" y="2895"/>
            <a:chExt cx="2609" cy="552"/>
          </a:xfrm>
        </p:grpSpPr>
        <p:sp>
          <p:nvSpPr>
            <p:cNvPr id="45" name="Line 17"/>
            <p:cNvSpPr>
              <a:spLocks noChangeShapeType="1"/>
            </p:cNvSpPr>
            <p:nvPr/>
          </p:nvSpPr>
          <p:spPr bwMode="auto">
            <a:xfrm>
              <a:off x="2665" y="2922"/>
              <a:ext cx="756" cy="508"/>
            </a:xfrm>
            <a:prstGeom prst="line">
              <a:avLst/>
            </a:prstGeom>
            <a:noFill/>
            <a:ln w="2857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46" name="Line 18"/>
            <p:cNvSpPr>
              <a:spLocks noChangeShapeType="1"/>
            </p:cNvSpPr>
            <p:nvPr/>
          </p:nvSpPr>
          <p:spPr bwMode="auto">
            <a:xfrm flipH="1">
              <a:off x="4393" y="2904"/>
              <a:ext cx="881" cy="543"/>
            </a:xfrm>
            <a:prstGeom prst="line">
              <a:avLst/>
            </a:prstGeom>
            <a:noFill/>
            <a:ln w="2857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47" name="Line 19"/>
            <p:cNvSpPr>
              <a:spLocks noChangeShapeType="1"/>
            </p:cNvSpPr>
            <p:nvPr/>
          </p:nvSpPr>
          <p:spPr bwMode="auto">
            <a:xfrm>
              <a:off x="3496" y="2895"/>
              <a:ext cx="276" cy="543"/>
            </a:xfrm>
            <a:prstGeom prst="line">
              <a:avLst/>
            </a:prstGeom>
            <a:noFill/>
            <a:ln w="2857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48" name="Line 20"/>
            <p:cNvSpPr>
              <a:spLocks noChangeShapeType="1"/>
            </p:cNvSpPr>
            <p:nvPr/>
          </p:nvSpPr>
          <p:spPr bwMode="auto">
            <a:xfrm flipH="1">
              <a:off x="4080" y="2900"/>
              <a:ext cx="319" cy="541"/>
            </a:xfrm>
            <a:prstGeom prst="line">
              <a:avLst/>
            </a:prstGeom>
            <a:noFill/>
            <a:ln w="2857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mn-lt"/>
                <a:ea typeface="黑体" pitchFamily="2" charset="-122"/>
              </a:endParaRPr>
            </a:p>
          </p:txBody>
        </p:sp>
      </p:grpSp>
      <p:sp>
        <p:nvSpPr>
          <p:cNvPr id="49" name="Text Box 21"/>
          <p:cNvSpPr txBox="1">
            <a:spLocks noChangeArrowheads="1"/>
          </p:cNvSpPr>
          <p:nvPr/>
        </p:nvSpPr>
        <p:spPr bwMode="auto">
          <a:xfrm>
            <a:off x="341151" y="3629025"/>
            <a:ext cx="30011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latin typeface="+mn-lt"/>
                <a:ea typeface="黑体" pitchFamily="2" charset="-122"/>
              </a:rPr>
              <a:t>将每 </a:t>
            </a:r>
            <a:r>
              <a:rPr lang="en-US" altLang="zh-CN" sz="2400" b="1" dirty="0">
                <a:latin typeface="+mn-lt"/>
                <a:ea typeface="黑体" pitchFamily="2" charset="-122"/>
              </a:rPr>
              <a:t>8 </a:t>
            </a:r>
            <a:r>
              <a:rPr lang="zh-CN" altLang="en-US" sz="2400" b="1" dirty="0">
                <a:latin typeface="+mn-lt"/>
                <a:ea typeface="黑体" pitchFamily="2" charset="-122"/>
              </a:rPr>
              <a:t>位的二进制数</a:t>
            </a:r>
          </a:p>
          <a:p>
            <a:pPr algn="ctr"/>
            <a:r>
              <a:rPr lang="zh-CN" altLang="en-US" sz="2400" b="1" dirty="0">
                <a:latin typeface="+mn-lt"/>
                <a:ea typeface="黑体" pitchFamily="2" charset="-122"/>
              </a:rPr>
              <a:t>转换为十进制数</a:t>
            </a:r>
          </a:p>
        </p:txBody>
      </p:sp>
      <p:sp>
        <p:nvSpPr>
          <p:cNvPr id="50" name="Line 22"/>
          <p:cNvSpPr>
            <a:spLocks noChangeShapeType="1"/>
          </p:cNvSpPr>
          <p:nvPr/>
        </p:nvSpPr>
        <p:spPr bwMode="auto">
          <a:xfrm>
            <a:off x="3440832" y="5303838"/>
            <a:ext cx="1568450" cy="0"/>
          </a:xfrm>
          <a:prstGeom prst="line">
            <a:avLst/>
          </a:prstGeom>
          <a:noFill/>
          <a:ln w="762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mn-lt"/>
              <a:ea typeface="黑体" pitchFamily="2" charset="-122"/>
            </a:endParaRPr>
          </a:p>
        </p:txBody>
      </p:sp>
    </p:spTree>
    <p:extLst>
      <p:ext uri="{BB962C8B-B14F-4D97-AF65-F5344CB8AC3E}">
        <p14:creationId xmlns:p14="http://schemas.microsoft.com/office/powerpoint/2010/main" val="35495475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r>
              <a:rPr lang="zh-CN" altLang="en-US" dirty="0"/>
              <a:t>常用的三种类别的 </a:t>
            </a:r>
            <a:r>
              <a:rPr lang="en-US" altLang="zh-CN" dirty="0"/>
              <a:t>IP </a:t>
            </a:r>
            <a:r>
              <a:rPr lang="zh-CN" altLang="en-US" dirty="0"/>
              <a:t>地址 </a:t>
            </a:r>
          </a:p>
        </p:txBody>
      </p:sp>
      <p:graphicFrame>
        <p:nvGraphicFramePr>
          <p:cNvPr id="2" name="表格 1"/>
          <p:cNvGraphicFramePr>
            <a:graphicFrameLocks noGrp="1"/>
          </p:cNvGraphicFramePr>
          <p:nvPr>
            <p:extLst>
              <p:ext uri="{D42A27DB-BD31-4B8C-83A1-F6EECF244321}">
                <p14:modId xmlns:p14="http://schemas.microsoft.com/office/powerpoint/2010/main" val="3821424478"/>
              </p:ext>
            </p:extLst>
          </p:nvPr>
        </p:nvGraphicFramePr>
        <p:xfrm>
          <a:off x="416496" y="1988840"/>
          <a:ext cx="9361040" cy="2952328"/>
        </p:xfrm>
        <a:graphic>
          <a:graphicData uri="http://schemas.openxmlformats.org/drawingml/2006/table">
            <a:tbl>
              <a:tblPr>
                <a:tableStyleId>{5C22544A-7EE6-4342-B048-85BDC9FD1C3A}</a:tableStyleId>
              </a:tblPr>
              <a:tblGrid>
                <a:gridCol w="800980">
                  <a:extLst>
                    <a:ext uri="{9D8B030D-6E8A-4147-A177-3AD203B41FA5}">
                      <a16:colId xmlns:a16="http://schemas.microsoft.com/office/drawing/2014/main" val="20000"/>
                    </a:ext>
                  </a:extLst>
                </a:gridCol>
                <a:gridCol w="2943436">
                  <a:extLst>
                    <a:ext uri="{9D8B030D-6E8A-4147-A177-3AD203B41FA5}">
                      <a16:colId xmlns:a16="http://schemas.microsoft.com/office/drawing/2014/main" val="20001"/>
                    </a:ext>
                  </a:extLst>
                </a:gridCol>
                <a:gridCol w="1656184">
                  <a:extLst>
                    <a:ext uri="{9D8B030D-6E8A-4147-A177-3AD203B41FA5}">
                      <a16:colId xmlns:a16="http://schemas.microsoft.com/office/drawing/2014/main" val="20002"/>
                    </a:ext>
                  </a:extLst>
                </a:gridCol>
                <a:gridCol w="1944216">
                  <a:extLst>
                    <a:ext uri="{9D8B030D-6E8A-4147-A177-3AD203B41FA5}">
                      <a16:colId xmlns:a16="http://schemas.microsoft.com/office/drawing/2014/main" val="20003"/>
                    </a:ext>
                  </a:extLst>
                </a:gridCol>
                <a:gridCol w="2016224">
                  <a:extLst>
                    <a:ext uri="{9D8B030D-6E8A-4147-A177-3AD203B41FA5}">
                      <a16:colId xmlns:a16="http://schemas.microsoft.com/office/drawing/2014/main" val="20004"/>
                    </a:ext>
                  </a:extLst>
                </a:gridCol>
              </a:tblGrid>
              <a:tr h="1224136">
                <a:tc>
                  <a:txBody>
                    <a:bodyPr/>
                    <a:lstStyle/>
                    <a:p>
                      <a:pPr algn="ctr">
                        <a:lnSpc>
                          <a:spcPct val="100000"/>
                        </a:lnSpc>
                        <a:spcAft>
                          <a:spcPts val="0"/>
                        </a:spcAft>
                      </a:pPr>
                      <a:r>
                        <a:rPr lang="zh-CN" sz="2400" b="1" dirty="0">
                          <a:effectLst/>
                          <a:latin typeface="+mn-lt"/>
                          <a:ea typeface="黑体" pitchFamily="2" charset="-122"/>
                        </a:rPr>
                        <a:t>网络</a:t>
                      </a:r>
                    </a:p>
                    <a:p>
                      <a:pPr algn="ctr">
                        <a:lnSpc>
                          <a:spcPct val="100000"/>
                        </a:lnSpc>
                        <a:spcAft>
                          <a:spcPts val="0"/>
                        </a:spcAft>
                      </a:pPr>
                      <a:r>
                        <a:rPr lang="zh-CN" sz="2400" b="1" dirty="0">
                          <a:effectLst/>
                          <a:latin typeface="+mn-lt"/>
                          <a:ea typeface="黑体" pitchFamily="2" charset="-122"/>
                        </a:rPr>
                        <a:t>类别</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400" b="1" dirty="0">
                          <a:effectLst/>
                          <a:latin typeface="+mn-lt"/>
                          <a:ea typeface="黑体" pitchFamily="2" charset="-122"/>
                        </a:rPr>
                        <a:t>最大可指派</a:t>
                      </a:r>
                      <a:endParaRPr lang="en-US" altLang="zh-CN" sz="2400" b="1" dirty="0">
                        <a:effectLst/>
                        <a:latin typeface="+mn-lt"/>
                        <a:ea typeface="黑体" pitchFamily="2" charset="-122"/>
                      </a:endParaRPr>
                    </a:p>
                    <a:p>
                      <a:pPr algn="ctr">
                        <a:lnSpc>
                          <a:spcPct val="100000"/>
                        </a:lnSpc>
                        <a:spcAft>
                          <a:spcPts val="0"/>
                        </a:spcAft>
                      </a:pPr>
                      <a:r>
                        <a:rPr lang="zh-CN" sz="2400" b="1" dirty="0">
                          <a:effectLst/>
                          <a:latin typeface="+mn-lt"/>
                          <a:ea typeface="黑体" pitchFamily="2" charset="-122"/>
                        </a:rPr>
                        <a:t>的网络数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400" b="1" dirty="0">
                          <a:effectLst/>
                          <a:latin typeface="+mn-lt"/>
                          <a:ea typeface="黑体" pitchFamily="2" charset="-122"/>
                        </a:rPr>
                        <a:t>第一个可指派的</a:t>
                      </a:r>
                      <a:endParaRPr lang="en-US" altLang="zh-CN" sz="2400" b="1" dirty="0">
                        <a:effectLst/>
                        <a:latin typeface="+mn-lt"/>
                        <a:ea typeface="黑体" pitchFamily="2" charset="-122"/>
                      </a:endParaRPr>
                    </a:p>
                    <a:p>
                      <a:pPr algn="ctr">
                        <a:lnSpc>
                          <a:spcPct val="100000"/>
                        </a:lnSpc>
                        <a:spcAft>
                          <a:spcPts val="0"/>
                        </a:spcAft>
                      </a:pPr>
                      <a:r>
                        <a:rPr lang="zh-CN" sz="2400" b="1" dirty="0">
                          <a:effectLst/>
                          <a:latin typeface="+mn-lt"/>
                          <a:ea typeface="黑体" pitchFamily="2" charset="-122"/>
                        </a:rPr>
                        <a:t>网络号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400" b="1" dirty="0">
                          <a:effectLst/>
                          <a:latin typeface="+mn-lt"/>
                          <a:ea typeface="黑体" pitchFamily="2" charset="-122"/>
                        </a:rPr>
                        <a:t>最后一个可指派的</a:t>
                      </a:r>
                      <a:endParaRPr lang="en-US" altLang="zh-CN" sz="2400" b="1" dirty="0">
                        <a:effectLst/>
                        <a:latin typeface="+mn-lt"/>
                        <a:ea typeface="黑体" pitchFamily="2" charset="-122"/>
                      </a:endParaRPr>
                    </a:p>
                    <a:p>
                      <a:pPr algn="ctr">
                        <a:lnSpc>
                          <a:spcPct val="100000"/>
                        </a:lnSpc>
                        <a:spcAft>
                          <a:spcPts val="0"/>
                        </a:spcAft>
                      </a:pPr>
                      <a:r>
                        <a:rPr lang="zh-CN" sz="2400" b="1" dirty="0">
                          <a:effectLst/>
                          <a:latin typeface="+mn-lt"/>
                          <a:ea typeface="黑体" pitchFamily="2" charset="-122"/>
                        </a:rPr>
                        <a:t>网络号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400" b="1" dirty="0">
                          <a:effectLst/>
                          <a:latin typeface="+mn-lt"/>
                          <a:ea typeface="黑体" pitchFamily="2" charset="-122"/>
                        </a:rPr>
                        <a:t>每个网络中</a:t>
                      </a:r>
                      <a:endParaRPr lang="en-US" altLang="zh-CN" sz="2400" b="1" dirty="0">
                        <a:effectLst/>
                        <a:latin typeface="+mn-lt"/>
                        <a:ea typeface="黑体" pitchFamily="2" charset="-122"/>
                      </a:endParaRPr>
                    </a:p>
                    <a:p>
                      <a:pPr algn="ctr">
                        <a:lnSpc>
                          <a:spcPct val="100000"/>
                        </a:lnSpc>
                        <a:spcAft>
                          <a:spcPts val="0"/>
                        </a:spcAft>
                      </a:pPr>
                      <a:r>
                        <a:rPr lang="zh-CN" sz="2400" b="1" dirty="0">
                          <a:effectLst/>
                          <a:latin typeface="+mn-lt"/>
                          <a:ea typeface="黑体" pitchFamily="2" charset="-122"/>
                        </a:rPr>
                        <a:t>最大主机数</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576064">
                <a:tc>
                  <a:txBody>
                    <a:bodyPr/>
                    <a:lstStyle/>
                    <a:p>
                      <a:pPr algn="ctr">
                        <a:lnSpc>
                          <a:spcPct val="100000"/>
                        </a:lnSpc>
                        <a:spcAft>
                          <a:spcPts val="0"/>
                        </a:spcAft>
                      </a:pPr>
                      <a:r>
                        <a:rPr lang="en-US" sz="2400" b="1" dirty="0">
                          <a:solidFill>
                            <a:srgbClr val="0000CC"/>
                          </a:solidFill>
                          <a:effectLst/>
                          <a:latin typeface="+mn-lt"/>
                          <a:ea typeface="黑体" pitchFamily="2" charset="-122"/>
                        </a:rPr>
                        <a:t>A</a:t>
                      </a:r>
                      <a:endParaRPr lang="zh-CN" sz="2400" b="1" dirty="0">
                        <a:solidFill>
                          <a:srgbClr val="0000CC"/>
                        </a:solidFill>
                        <a:effectLst/>
                        <a:latin typeface="+mn-lt"/>
                        <a:ea typeface="黑体"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itchFamily="2" charset="-122"/>
                        </a:rPr>
                        <a:t>126 (2</a:t>
                      </a:r>
                      <a:r>
                        <a:rPr lang="en-US" sz="2400" b="1" baseline="30000" dirty="0">
                          <a:solidFill>
                            <a:srgbClr val="0000CC"/>
                          </a:solidFill>
                          <a:effectLst/>
                          <a:latin typeface="+mn-lt"/>
                          <a:ea typeface="黑体" pitchFamily="2" charset="-122"/>
                        </a:rPr>
                        <a:t>7</a:t>
                      </a:r>
                      <a:r>
                        <a:rPr lang="en-US" sz="2400" b="1" dirty="0">
                          <a:solidFill>
                            <a:srgbClr val="0000CC"/>
                          </a:solidFill>
                          <a:effectLst/>
                          <a:latin typeface="+mn-lt"/>
                          <a:ea typeface="黑体" pitchFamily="2" charset="-122"/>
                        </a:rPr>
                        <a:t> – 2)</a:t>
                      </a:r>
                      <a:endParaRPr lang="zh-CN" sz="2400" b="1" dirty="0">
                        <a:solidFill>
                          <a:srgbClr val="0000CC"/>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a:solidFill>
                            <a:srgbClr val="0000CC"/>
                          </a:solidFill>
                          <a:effectLst/>
                          <a:latin typeface="+mn-lt"/>
                          <a:ea typeface="黑体" pitchFamily="2" charset="-122"/>
                        </a:rPr>
                        <a:t>1</a:t>
                      </a:r>
                      <a:endParaRPr lang="zh-CN" sz="2400" b="1">
                        <a:solidFill>
                          <a:srgbClr val="0000CC"/>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a:solidFill>
                            <a:srgbClr val="0000CC"/>
                          </a:solidFill>
                          <a:effectLst/>
                          <a:latin typeface="+mn-lt"/>
                          <a:ea typeface="黑体" pitchFamily="2" charset="-122"/>
                        </a:rPr>
                        <a:t>126</a:t>
                      </a:r>
                      <a:endParaRPr lang="zh-CN" sz="2400" b="1">
                        <a:solidFill>
                          <a:srgbClr val="0000CC"/>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itchFamily="2" charset="-122"/>
                        </a:rPr>
                        <a:t>16777214</a:t>
                      </a:r>
                      <a:endParaRPr lang="zh-CN" sz="2400" b="1" dirty="0">
                        <a:solidFill>
                          <a:srgbClr val="0000CC"/>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76064">
                <a:tc>
                  <a:txBody>
                    <a:bodyPr/>
                    <a:lstStyle/>
                    <a:p>
                      <a:pPr algn="ctr">
                        <a:lnSpc>
                          <a:spcPct val="100000"/>
                        </a:lnSpc>
                        <a:spcAft>
                          <a:spcPts val="0"/>
                        </a:spcAft>
                      </a:pPr>
                      <a:r>
                        <a:rPr lang="en-US" sz="2400" b="1">
                          <a:solidFill>
                            <a:srgbClr val="0000CC"/>
                          </a:solidFill>
                          <a:effectLst/>
                          <a:latin typeface="+mn-lt"/>
                          <a:ea typeface="黑体" pitchFamily="2" charset="-122"/>
                        </a:rPr>
                        <a:t>B</a:t>
                      </a:r>
                      <a:endParaRPr lang="zh-CN" sz="2400" b="1">
                        <a:solidFill>
                          <a:srgbClr val="0000CC"/>
                        </a:solidFill>
                        <a:effectLst/>
                        <a:latin typeface="+mn-lt"/>
                        <a:ea typeface="黑体"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itchFamily="2" charset="-122"/>
                        </a:rPr>
                        <a:t>16383 (2</a:t>
                      </a:r>
                      <a:r>
                        <a:rPr lang="en-US" sz="2400" b="1" baseline="30000" dirty="0">
                          <a:solidFill>
                            <a:srgbClr val="0000CC"/>
                          </a:solidFill>
                          <a:effectLst/>
                          <a:latin typeface="+mn-lt"/>
                          <a:ea typeface="黑体" pitchFamily="2" charset="-122"/>
                        </a:rPr>
                        <a:t>14</a:t>
                      </a:r>
                      <a:r>
                        <a:rPr lang="en-US" sz="2400" b="1" dirty="0">
                          <a:solidFill>
                            <a:srgbClr val="0000CC"/>
                          </a:solidFill>
                          <a:effectLst/>
                          <a:latin typeface="+mn-lt"/>
                          <a:ea typeface="黑体" pitchFamily="2" charset="-122"/>
                        </a:rPr>
                        <a:t> – 1)</a:t>
                      </a:r>
                      <a:endParaRPr lang="zh-CN" sz="2400" b="1" dirty="0">
                        <a:solidFill>
                          <a:srgbClr val="0000CC"/>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itchFamily="2" charset="-122"/>
                        </a:rPr>
                        <a:t>128.1</a:t>
                      </a:r>
                      <a:endParaRPr lang="zh-CN" sz="2400" b="1" dirty="0">
                        <a:solidFill>
                          <a:srgbClr val="0000CC"/>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a:solidFill>
                            <a:srgbClr val="0000CC"/>
                          </a:solidFill>
                          <a:effectLst/>
                          <a:latin typeface="+mn-lt"/>
                          <a:ea typeface="黑体" pitchFamily="2" charset="-122"/>
                        </a:rPr>
                        <a:t>191.255</a:t>
                      </a:r>
                      <a:endParaRPr lang="zh-CN" sz="2400" b="1">
                        <a:solidFill>
                          <a:srgbClr val="0000CC"/>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itchFamily="2" charset="-122"/>
                        </a:rPr>
                        <a:t>65534</a:t>
                      </a:r>
                      <a:endParaRPr lang="zh-CN" sz="2400" b="1" dirty="0">
                        <a:solidFill>
                          <a:srgbClr val="0000CC"/>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76064">
                <a:tc>
                  <a:txBody>
                    <a:bodyPr/>
                    <a:lstStyle/>
                    <a:p>
                      <a:pPr algn="ctr">
                        <a:lnSpc>
                          <a:spcPct val="100000"/>
                        </a:lnSpc>
                        <a:spcAft>
                          <a:spcPts val="0"/>
                        </a:spcAft>
                      </a:pPr>
                      <a:r>
                        <a:rPr lang="en-US" sz="2400" b="1">
                          <a:solidFill>
                            <a:srgbClr val="0000CC"/>
                          </a:solidFill>
                          <a:effectLst/>
                          <a:latin typeface="+mn-lt"/>
                          <a:ea typeface="黑体" pitchFamily="2" charset="-122"/>
                        </a:rPr>
                        <a:t>C</a:t>
                      </a:r>
                      <a:endParaRPr lang="zh-CN" sz="2400" b="1">
                        <a:solidFill>
                          <a:srgbClr val="0000CC"/>
                        </a:solidFill>
                        <a:effectLst/>
                        <a:latin typeface="+mn-lt"/>
                        <a:ea typeface="黑体"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itchFamily="2" charset="-122"/>
                        </a:rPr>
                        <a:t>2097151 (2</a:t>
                      </a:r>
                      <a:r>
                        <a:rPr lang="en-US" sz="2400" b="1" baseline="30000" dirty="0">
                          <a:solidFill>
                            <a:srgbClr val="0000CC"/>
                          </a:solidFill>
                          <a:effectLst/>
                          <a:latin typeface="+mn-lt"/>
                          <a:ea typeface="黑体" pitchFamily="2" charset="-122"/>
                        </a:rPr>
                        <a:t>21</a:t>
                      </a:r>
                      <a:r>
                        <a:rPr lang="en-US" sz="2400" b="1" dirty="0">
                          <a:solidFill>
                            <a:srgbClr val="0000CC"/>
                          </a:solidFill>
                          <a:effectLst/>
                          <a:latin typeface="+mn-lt"/>
                          <a:ea typeface="黑体" pitchFamily="2" charset="-122"/>
                        </a:rPr>
                        <a:t> – 1)</a:t>
                      </a:r>
                      <a:endParaRPr lang="zh-CN" sz="2400" b="1" dirty="0">
                        <a:solidFill>
                          <a:srgbClr val="0000CC"/>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itchFamily="2" charset="-122"/>
                        </a:rPr>
                        <a:t>192.0.1</a:t>
                      </a:r>
                      <a:endParaRPr lang="zh-CN" sz="2400" b="1" dirty="0">
                        <a:solidFill>
                          <a:srgbClr val="0000CC"/>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itchFamily="2" charset="-122"/>
                        </a:rPr>
                        <a:t>223.255.255</a:t>
                      </a:r>
                      <a:endParaRPr lang="zh-CN" sz="2400" b="1" dirty="0">
                        <a:solidFill>
                          <a:srgbClr val="0000CC"/>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itchFamily="2" charset="-122"/>
                        </a:rPr>
                        <a:t>254</a:t>
                      </a:r>
                      <a:endParaRPr lang="zh-CN" sz="2400" b="1" dirty="0">
                        <a:solidFill>
                          <a:srgbClr val="0000CC"/>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3" name="矩形 2"/>
          <p:cNvSpPr/>
          <p:nvPr/>
        </p:nvSpPr>
        <p:spPr>
          <a:xfrm>
            <a:off x="3152800" y="1412776"/>
            <a:ext cx="3873755" cy="523220"/>
          </a:xfrm>
          <a:prstGeom prst="rect">
            <a:avLst/>
          </a:prstGeom>
        </p:spPr>
        <p:txBody>
          <a:bodyPr wrap="square">
            <a:spAutoFit/>
          </a:bodyPr>
          <a:lstStyle/>
          <a:p>
            <a:pPr algn="ctr"/>
            <a:r>
              <a:rPr lang="en-US" altLang="zh-CN" sz="2800" b="1" dirty="0">
                <a:ea typeface="黑体" pitchFamily="2" charset="-122"/>
              </a:rPr>
              <a:t>IP </a:t>
            </a:r>
            <a:r>
              <a:rPr lang="zh-CN" altLang="en-US" sz="2800" b="1" dirty="0">
                <a:ea typeface="黑体" pitchFamily="2" charset="-122"/>
              </a:rPr>
              <a:t>地址的指派范围 </a:t>
            </a:r>
          </a:p>
        </p:txBody>
      </p:sp>
    </p:spTree>
    <p:extLst>
      <p:ext uri="{BB962C8B-B14F-4D97-AF65-F5344CB8AC3E}">
        <p14:creationId xmlns:p14="http://schemas.microsoft.com/office/powerpoint/2010/main" val="3441059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5970" name="Rectangle 2"/>
          <p:cNvSpPr>
            <a:spLocks noGrp="1" noChangeArrowheads="1"/>
          </p:cNvSpPr>
          <p:nvPr>
            <p:ph type="title"/>
          </p:nvPr>
        </p:nvSpPr>
        <p:spPr>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algn="ctr"/>
            <a:r>
              <a:rPr lang="zh-CN" altLang="en-US" dirty="0"/>
              <a:t>一般不使用的特殊的 </a:t>
            </a:r>
            <a:r>
              <a:rPr lang="en-US" altLang="zh-CN" dirty="0"/>
              <a:t>IP </a:t>
            </a:r>
            <a:r>
              <a:rPr lang="zh-CN" altLang="en-US" dirty="0"/>
              <a:t>地址</a:t>
            </a:r>
          </a:p>
        </p:txBody>
      </p:sp>
      <p:graphicFrame>
        <p:nvGraphicFramePr>
          <p:cNvPr id="3" name="内容占位符 2"/>
          <p:cNvGraphicFramePr>
            <a:graphicFrameLocks noGrp="1"/>
          </p:cNvGraphicFramePr>
          <p:nvPr>
            <p:ph idx="1"/>
            <p:extLst>
              <p:ext uri="{D42A27DB-BD31-4B8C-83A1-F6EECF244321}">
                <p14:modId xmlns:p14="http://schemas.microsoft.com/office/powerpoint/2010/main" val="630288188"/>
              </p:ext>
            </p:extLst>
          </p:nvPr>
        </p:nvGraphicFramePr>
        <p:xfrm>
          <a:off x="488504" y="1412776"/>
          <a:ext cx="9145016" cy="4389120"/>
        </p:xfrm>
        <a:graphic>
          <a:graphicData uri="http://schemas.openxmlformats.org/drawingml/2006/table">
            <a:tbl>
              <a:tblPr>
                <a:tableStyleId>{5C22544A-7EE6-4342-B048-85BDC9FD1C3A}</a:tableStyleId>
              </a:tblPr>
              <a:tblGrid>
                <a:gridCol w="1080120">
                  <a:extLst>
                    <a:ext uri="{9D8B030D-6E8A-4147-A177-3AD203B41FA5}">
                      <a16:colId xmlns:a16="http://schemas.microsoft.com/office/drawing/2014/main" val="20000"/>
                    </a:ext>
                  </a:extLst>
                </a:gridCol>
                <a:gridCol w="1728192">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gridCol w="1440160">
                  <a:extLst>
                    <a:ext uri="{9D8B030D-6E8A-4147-A177-3AD203B41FA5}">
                      <a16:colId xmlns:a16="http://schemas.microsoft.com/office/drawing/2014/main" val="20003"/>
                    </a:ext>
                  </a:extLst>
                </a:gridCol>
                <a:gridCol w="3600400">
                  <a:extLst>
                    <a:ext uri="{9D8B030D-6E8A-4147-A177-3AD203B41FA5}">
                      <a16:colId xmlns:a16="http://schemas.microsoft.com/office/drawing/2014/main" val="20004"/>
                    </a:ext>
                  </a:extLst>
                </a:gridCol>
              </a:tblGrid>
              <a:tr h="0">
                <a:tc>
                  <a:txBody>
                    <a:bodyPr/>
                    <a:lstStyle/>
                    <a:p>
                      <a:pPr marL="0" algn="ctr" defTabSz="914400" rtl="0" eaLnBrk="1" latinLnBrk="0" hangingPunct="1">
                        <a:lnSpc>
                          <a:spcPct val="100000"/>
                        </a:lnSpc>
                        <a:spcAft>
                          <a:spcPts val="0"/>
                        </a:spcAft>
                      </a:pPr>
                      <a:r>
                        <a:rPr lang="zh-CN" sz="2400" b="1" kern="1200" dirty="0">
                          <a:solidFill>
                            <a:schemeClr val="tx1"/>
                          </a:solidFill>
                          <a:effectLst/>
                          <a:latin typeface="+mn-lt"/>
                          <a:ea typeface="黑体" pitchFamily="2" charset="-122"/>
                          <a:cs typeface="+mn-cs"/>
                        </a:rPr>
                        <a:t>网络号</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00000"/>
                        </a:lnSpc>
                        <a:spcAft>
                          <a:spcPts val="0"/>
                        </a:spcAft>
                      </a:pPr>
                      <a:r>
                        <a:rPr lang="zh-CN" sz="2400" b="1" kern="1200">
                          <a:solidFill>
                            <a:schemeClr val="tx1"/>
                          </a:solidFill>
                          <a:effectLst/>
                          <a:latin typeface="+mn-lt"/>
                          <a:ea typeface="黑体" pitchFamily="2" charset="-122"/>
                          <a:cs typeface="+mn-cs"/>
                        </a:rPr>
                        <a:t>主机号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00000"/>
                        </a:lnSpc>
                        <a:spcAft>
                          <a:spcPts val="0"/>
                        </a:spcAft>
                      </a:pPr>
                      <a:r>
                        <a:rPr lang="zh-CN" sz="2400" b="1" kern="1200" dirty="0">
                          <a:solidFill>
                            <a:schemeClr val="tx1"/>
                          </a:solidFill>
                          <a:effectLst/>
                          <a:latin typeface="+mn-lt"/>
                          <a:ea typeface="黑体" pitchFamily="2" charset="-122"/>
                          <a:cs typeface="+mn-cs"/>
                        </a:rPr>
                        <a:t>源地址</a:t>
                      </a:r>
                      <a:endParaRPr lang="en-US" altLang="zh-CN" sz="2400" b="1" kern="1200" dirty="0">
                        <a:solidFill>
                          <a:schemeClr val="tx1"/>
                        </a:solidFill>
                        <a:effectLst/>
                        <a:latin typeface="+mn-lt"/>
                        <a:ea typeface="黑体" pitchFamily="2" charset="-122"/>
                        <a:cs typeface="+mn-cs"/>
                      </a:endParaRPr>
                    </a:p>
                    <a:p>
                      <a:pPr marL="0" algn="ctr" defTabSz="914400" rtl="0" eaLnBrk="1" latinLnBrk="0" hangingPunct="1">
                        <a:lnSpc>
                          <a:spcPct val="100000"/>
                        </a:lnSpc>
                        <a:spcAft>
                          <a:spcPts val="0"/>
                        </a:spcAft>
                      </a:pPr>
                      <a:r>
                        <a:rPr lang="zh-CN" sz="2400" b="1" kern="1200" dirty="0">
                          <a:solidFill>
                            <a:schemeClr val="tx1"/>
                          </a:solidFill>
                          <a:effectLst/>
                          <a:latin typeface="+mn-lt"/>
                          <a:ea typeface="黑体" pitchFamily="2" charset="-122"/>
                          <a:cs typeface="+mn-cs"/>
                        </a:rPr>
                        <a:t>使用</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00000"/>
                        </a:lnSpc>
                        <a:spcAft>
                          <a:spcPts val="0"/>
                        </a:spcAft>
                      </a:pPr>
                      <a:r>
                        <a:rPr lang="zh-CN" sz="2400" b="1" kern="1200" dirty="0">
                          <a:solidFill>
                            <a:schemeClr val="tx1"/>
                          </a:solidFill>
                          <a:effectLst/>
                          <a:latin typeface="+mn-lt"/>
                          <a:ea typeface="黑体" pitchFamily="2" charset="-122"/>
                          <a:cs typeface="+mn-cs"/>
                        </a:rPr>
                        <a:t>目的地址</a:t>
                      </a:r>
                      <a:endParaRPr lang="en-US" altLang="zh-CN" sz="2400" b="1" kern="1200" dirty="0">
                        <a:solidFill>
                          <a:schemeClr val="tx1"/>
                        </a:solidFill>
                        <a:effectLst/>
                        <a:latin typeface="+mn-lt"/>
                        <a:ea typeface="黑体" pitchFamily="2" charset="-122"/>
                        <a:cs typeface="+mn-cs"/>
                      </a:endParaRPr>
                    </a:p>
                    <a:p>
                      <a:pPr marL="0" algn="ctr" defTabSz="914400" rtl="0" eaLnBrk="1" latinLnBrk="0" hangingPunct="1">
                        <a:lnSpc>
                          <a:spcPct val="100000"/>
                        </a:lnSpc>
                        <a:spcAft>
                          <a:spcPts val="0"/>
                        </a:spcAft>
                      </a:pPr>
                      <a:r>
                        <a:rPr lang="zh-CN" sz="2400" b="1" kern="1200" dirty="0">
                          <a:solidFill>
                            <a:schemeClr val="tx1"/>
                          </a:solidFill>
                          <a:effectLst/>
                          <a:latin typeface="+mn-lt"/>
                          <a:ea typeface="黑体" pitchFamily="2" charset="-122"/>
                          <a:cs typeface="+mn-cs"/>
                        </a:rPr>
                        <a:t>使用</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00000"/>
                        </a:lnSpc>
                        <a:spcAft>
                          <a:spcPts val="0"/>
                        </a:spcAft>
                        <a:tabLst>
                          <a:tab pos="2637155" algn="ctr"/>
                          <a:tab pos="5274310" algn="r"/>
                          <a:tab pos="266700" algn="l"/>
                        </a:tabLst>
                      </a:pPr>
                      <a:r>
                        <a:rPr lang="zh-CN" sz="2400" b="1" kern="1200" dirty="0">
                          <a:solidFill>
                            <a:schemeClr val="tx1"/>
                          </a:solidFill>
                          <a:effectLst/>
                          <a:latin typeface="+mn-lt"/>
                          <a:ea typeface="黑体" pitchFamily="2" charset="-122"/>
                          <a:cs typeface="+mn-cs"/>
                        </a:rPr>
                        <a:t>代表的意思</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0">
                <a:tc>
                  <a:txBody>
                    <a:bodyPr/>
                    <a:lstStyle/>
                    <a:p>
                      <a:pPr marL="0" algn="ctr" defTabSz="914400" rtl="0" eaLnBrk="1" latinLnBrk="0" hangingPunct="1">
                        <a:lnSpc>
                          <a:spcPct val="100000"/>
                        </a:lnSpc>
                        <a:spcAft>
                          <a:spcPts val="0"/>
                        </a:spcAft>
                      </a:pPr>
                      <a:r>
                        <a:rPr lang="en-US" sz="2400" b="1" kern="1200" dirty="0">
                          <a:solidFill>
                            <a:srgbClr val="0000CC"/>
                          </a:solidFill>
                          <a:effectLst/>
                          <a:latin typeface="+mn-lt"/>
                          <a:ea typeface="黑体" pitchFamily="2" charset="-122"/>
                          <a:cs typeface="+mn-cs"/>
                        </a:rPr>
                        <a:t>0</a:t>
                      </a:r>
                      <a:endParaRPr lang="zh-CN" sz="2400" b="1" kern="1200" dirty="0">
                        <a:solidFill>
                          <a:srgbClr val="0000CC"/>
                        </a:solidFill>
                        <a:effectLst/>
                        <a:latin typeface="+mn-lt"/>
                        <a:ea typeface="黑体" pitchFamily="2" charset="-122"/>
                        <a:cs typeface="+mn-cs"/>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en-US" sz="2400" b="1" kern="1200" dirty="0">
                          <a:solidFill>
                            <a:srgbClr val="0000CC"/>
                          </a:solidFill>
                          <a:effectLst/>
                          <a:latin typeface="+mn-lt"/>
                          <a:ea typeface="黑体" pitchFamily="2" charset="-122"/>
                          <a:cs typeface="+mn-cs"/>
                        </a:rPr>
                        <a:t>0</a:t>
                      </a:r>
                      <a:endParaRPr lang="zh-CN" sz="2400" b="1" kern="1200" dirty="0">
                        <a:solidFill>
                          <a:srgbClr val="0000CC"/>
                        </a:solidFill>
                        <a:effectLst/>
                        <a:latin typeface="+mn-lt"/>
                        <a:ea typeface="黑体"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可以</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itchFamily="2" charset="-122"/>
                          <a:cs typeface="+mn-cs"/>
                        </a:rPr>
                        <a:t>不可</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在本网络上的本主机（</a:t>
                      </a:r>
                      <a:r>
                        <a:rPr lang="zh-CN" altLang="en-US" sz="2400" b="1" kern="1200" dirty="0">
                          <a:solidFill>
                            <a:srgbClr val="0000CC"/>
                          </a:solidFill>
                          <a:effectLst/>
                          <a:latin typeface="+mn-lt"/>
                          <a:ea typeface="黑体" pitchFamily="2" charset="-122"/>
                          <a:cs typeface="+mn-cs"/>
                        </a:rPr>
                        <a:t>如：</a:t>
                      </a:r>
                      <a:r>
                        <a:rPr lang="en-US" altLang="zh-CN" sz="2400" b="1" kern="1200" dirty="0">
                          <a:solidFill>
                            <a:srgbClr val="0000CC"/>
                          </a:solidFill>
                          <a:effectLst/>
                          <a:latin typeface="+mn-lt"/>
                          <a:ea typeface="黑体" pitchFamily="2" charset="-122"/>
                          <a:cs typeface="+mn-cs"/>
                        </a:rPr>
                        <a:t> </a:t>
                      </a:r>
                      <a:r>
                        <a:rPr lang="en-US" sz="2400" b="1" kern="1200" dirty="0">
                          <a:solidFill>
                            <a:srgbClr val="0000CC"/>
                          </a:solidFill>
                          <a:effectLst/>
                          <a:latin typeface="+mn-lt"/>
                          <a:ea typeface="黑体" pitchFamily="2" charset="-122"/>
                          <a:cs typeface="+mn-cs"/>
                        </a:rPr>
                        <a:t>DHCP </a:t>
                      </a:r>
                      <a:r>
                        <a:rPr lang="zh-CN" sz="2400" b="1" kern="1200" dirty="0">
                          <a:solidFill>
                            <a:srgbClr val="0000CC"/>
                          </a:solidFill>
                          <a:effectLst/>
                          <a:latin typeface="+mn-lt"/>
                          <a:ea typeface="黑体" pitchFamily="2" charset="-122"/>
                          <a:cs typeface="+mn-cs"/>
                        </a:rPr>
                        <a:t>协议）</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marL="0" algn="ctr" defTabSz="914400" rtl="0" eaLnBrk="1" latinLnBrk="0" hangingPunct="1">
                        <a:lnSpc>
                          <a:spcPct val="100000"/>
                        </a:lnSpc>
                        <a:spcAft>
                          <a:spcPts val="0"/>
                        </a:spcAft>
                      </a:pPr>
                      <a:r>
                        <a:rPr lang="en-US" sz="2400" b="1" kern="1200">
                          <a:solidFill>
                            <a:srgbClr val="0000CC"/>
                          </a:solidFill>
                          <a:effectLst/>
                          <a:latin typeface="+mn-lt"/>
                          <a:ea typeface="黑体" pitchFamily="2" charset="-122"/>
                          <a:cs typeface="+mn-cs"/>
                        </a:rPr>
                        <a:t>0</a:t>
                      </a:r>
                      <a:endParaRPr lang="zh-CN" sz="2400" b="1" kern="1200">
                        <a:solidFill>
                          <a:srgbClr val="0000CC"/>
                        </a:solidFill>
                        <a:effectLst/>
                        <a:latin typeface="+mn-lt"/>
                        <a:ea typeface="黑体" pitchFamily="2" charset="-122"/>
                        <a:cs typeface="+mn-cs"/>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en-US" sz="2400" b="1" kern="1200">
                          <a:solidFill>
                            <a:srgbClr val="0000CC"/>
                          </a:solidFill>
                          <a:effectLst/>
                          <a:latin typeface="+mn-lt"/>
                          <a:ea typeface="黑体" pitchFamily="2" charset="-122"/>
                          <a:cs typeface="+mn-cs"/>
                        </a:rPr>
                        <a:t>host-id</a:t>
                      </a:r>
                      <a:endParaRPr lang="zh-CN" sz="2400" b="1" kern="1200">
                        <a:solidFill>
                          <a:srgbClr val="0000CC"/>
                        </a:solidFill>
                        <a:effectLst/>
                        <a:latin typeface="+mn-lt"/>
                        <a:ea typeface="黑体"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可以</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不可</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在本网络上的某台主机</a:t>
                      </a:r>
                      <a:r>
                        <a:rPr lang="en-US" altLang="zh-CN" sz="2400" b="1" kern="1200" dirty="0">
                          <a:solidFill>
                            <a:srgbClr val="0000CC"/>
                          </a:solidFill>
                          <a:effectLst/>
                          <a:latin typeface="+mn-lt"/>
                          <a:ea typeface="黑体" pitchFamily="2" charset="-122"/>
                          <a:cs typeface="+mn-cs"/>
                        </a:rPr>
                        <a:t> </a:t>
                      </a:r>
                      <a:r>
                        <a:rPr lang="en-US" sz="2400" b="1" kern="1200" dirty="0">
                          <a:solidFill>
                            <a:srgbClr val="0000CC"/>
                          </a:solidFill>
                          <a:effectLst/>
                          <a:latin typeface="+mn-lt"/>
                          <a:ea typeface="黑体" pitchFamily="2" charset="-122"/>
                          <a:cs typeface="+mn-cs"/>
                        </a:rPr>
                        <a:t>host-id</a:t>
                      </a:r>
                      <a:endParaRPr lang="zh-CN" sz="2400" b="1" kern="1200" dirty="0">
                        <a:solidFill>
                          <a:srgbClr val="0000CC"/>
                        </a:solidFill>
                        <a:effectLst/>
                        <a:latin typeface="+mn-lt"/>
                        <a:ea typeface="黑体"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全</a:t>
                      </a:r>
                      <a:r>
                        <a:rPr lang="en-US" altLang="zh-CN" sz="2400" b="1" kern="1200" dirty="0">
                          <a:solidFill>
                            <a:srgbClr val="0000CC"/>
                          </a:solidFill>
                          <a:effectLst/>
                          <a:latin typeface="+mn-lt"/>
                          <a:ea typeface="黑体" pitchFamily="2" charset="-122"/>
                          <a:cs typeface="+mn-cs"/>
                        </a:rPr>
                        <a:t> </a:t>
                      </a:r>
                      <a:r>
                        <a:rPr lang="en-US" sz="2400" b="1" kern="1200" dirty="0">
                          <a:solidFill>
                            <a:srgbClr val="0000CC"/>
                          </a:solidFill>
                          <a:effectLst/>
                          <a:latin typeface="+mn-lt"/>
                          <a:ea typeface="黑体" pitchFamily="2" charset="-122"/>
                          <a:cs typeface="+mn-cs"/>
                        </a:rPr>
                        <a:t>1</a:t>
                      </a:r>
                      <a:endParaRPr lang="zh-CN" sz="2400" b="1" kern="1200" dirty="0">
                        <a:solidFill>
                          <a:srgbClr val="0000CC"/>
                        </a:solidFill>
                        <a:effectLst/>
                        <a:latin typeface="+mn-lt"/>
                        <a:ea typeface="黑体" pitchFamily="2" charset="-122"/>
                        <a:cs typeface="+mn-cs"/>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全</a:t>
                      </a:r>
                      <a:r>
                        <a:rPr lang="en-US" altLang="zh-CN" sz="2400" b="1" kern="1200" dirty="0">
                          <a:solidFill>
                            <a:srgbClr val="0000CC"/>
                          </a:solidFill>
                          <a:effectLst/>
                          <a:latin typeface="+mn-lt"/>
                          <a:ea typeface="黑体" pitchFamily="2" charset="-122"/>
                          <a:cs typeface="+mn-cs"/>
                        </a:rPr>
                        <a:t> </a:t>
                      </a:r>
                      <a:r>
                        <a:rPr lang="en-US" sz="2400" b="1" kern="1200" dirty="0">
                          <a:solidFill>
                            <a:srgbClr val="0000CC"/>
                          </a:solidFill>
                          <a:effectLst/>
                          <a:latin typeface="+mn-lt"/>
                          <a:ea typeface="黑体" pitchFamily="2" charset="-122"/>
                          <a:cs typeface="+mn-cs"/>
                        </a:rPr>
                        <a:t>1</a:t>
                      </a:r>
                      <a:endParaRPr lang="zh-CN" sz="2400" b="1" kern="1200" dirty="0">
                        <a:solidFill>
                          <a:srgbClr val="0000CC"/>
                        </a:solidFill>
                        <a:effectLst/>
                        <a:latin typeface="+mn-lt"/>
                        <a:ea typeface="黑体"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itchFamily="2" charset="-122"/>
                          <a:cs typeface="+mn-cs"/>
                        </a:rPr>
                        <a:t>不可</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可以</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只在本网络上进行广播（各路由器均不转发）</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marL="0" algn="ctr" defTabSz="914400" rtl="0" eaLnBrk="1" latinLnBrk="0" hangingPunct="1">
                        <a:lnSpc>
                          <a:spcPct val="100000"/>
                        </a:lnSpc>
                        <a:spcAft>
                          <a:spcPts val="0"/>
                        </a:spcAft>
                      </a:pPr>
                      <a:r>
                        <a:rPr lang="en-US" sz="2400" b="1" kern="1200">
                          <a:solidFill>
                            <a:srgbClr val="0000CC"/>
                          </a:solidFill>
                          <a:effectLst/>
                          <a:latin typeface="+mn-lt"/>
                          <a:ea typeface="黑体" pitchFamily="2" charset="-122"/>
                          <a:cs typeface="+mn-cs"/>
                        </a:rPr>
                        <a:t>net-id</a:t>
                      </a:r>
                      <a:endParaRPr lang="zh-CN" sz="2400" b="1" kern="1200">
                        <a:solidFill>
                          <a:srgbClr val="0000CC"/>
                        </a:solidFill>
                        <a:effectLst/>
                        <a:latin typeface="+mn-lt"/>
                        <a:ea typeface="黑体" pitchFamily="2" charset="-122"/>
                        <a:cs typeface="+mn-cs"/>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全</a:t>
                      </a:r>
                      <a:r>
                        <a:rPr lang="en-US" altLang="zh-CN" sz="2400" b="1" kern="1200" dirty="0">
                          <a:solidFill>
                            <a:srgbClr val="0000CC"/>
                          </a:solidFill>
                          <a:effectLst/>
                          <a:latin typeface="+mn-lt"/>
                          <a:ea typeface="黑体" pitchFamily="2" charset="-122"/>
                          <a:cs typeface="+mn-cs"/>
                        </a:rPr>
                        <a:t> </a:t>
                      </a:r>
                      <a:r>
                        <a:rPr lang="en-US" sz="2400" b="1" kern="1200" dirty="0">
                          <a:solidFill>
                            <a:srgbClr val="0000CC"/>
                          </a:solidFill>
                          <a:effectLst/>
                          <a:latin typeface="+mn-lt"/>
                          <a:ea typeface="黑体" pitchFamily="2" charset="-122"/>
                          <a:cs typeface="+mn-cs"/>
                        </a:rPr>
                        <a:t>1</a:t>
                      </a:r>
                      <a:endParaRPr lang="zh-CN" sz="2400" b="1" kern="1200" dirty="0">
                        <a:solidFill>
                          <a:srgbClr val="0000CC"/>
                        </a:solidFill>
                        <a:effectLst/>
                        <a:latin typeface="+mn-lt"/>
                        <a:ea typeface="黑体"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itchFamily="2" charset="-122"/>
                          <a:cs typeface="+mn-cs"/>
                        </a:rPr>
                        <a:t>不可</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itchFamily="2" charset="-122"/>
                          <a:cs typeface="+mn-cs"/>
                        </a:rPr>
                        <a:t>可以</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对</a:t>
                      </a:r>
                      <a:r>
                        <a:rPr lang="en-US" altLang="zh-CN" sz="2400" b="1" kern="1200" dirty="0">
                          <a:solidFill>
                            <a:srgbClr val="0000CC"/>
                          </a:solidFill>
                          <a:effectLst/>
                          <a:latin typeface="+mn-lt"/>
                          <a:ea typeface="黑体" pitchFamily="2" charset="-122"/>
                          <a:cs typeface="+mn-cs"/>
                        </a:rPr>
                        <a:t> </a:t>
                      </a:r>
                      <a:r>
                        <a:rPr lang="en-US" sz="2400" b="1" kern="1200" dirty="0">
                          <a:solidFill>
                            <a:srgbClr val="0000CC"/>
                          </a:solidFill>
                          <a:effectLst/>
                          <a:latin typeface="+mn-lt"/>
                          <a:ea typeface="黑体" pitchFamily="2" charset="-122"/>
                          <a:cs typeface="+mn-cs"/>
                        </a:rPr>
                        <a:t>net-id </a:t>
                      </a:r>
                      <a:r>
                        <a:rPr lang="zh-CN" sz="2400" b="1" kern="1200" dirty="0">
                          <a:solidFill>
                            <a:srgbClr val="0000CC"/>
                          </a:solidFill>
                          <a:effectLst/>
                          <a:latin typeface="+mn-lt"/>
                          <a:ea typeface="黑体" pitchFamily="2" charset="-122"/>
                          <a:cs typeface="+mn-cs"/>
                        </a:rPr>
                        <a:t>上的所有主机进行广播</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marL="0" algn="ctr" defTabSz="914400" rtl="0" eaLnBrk="1" latinLnBrk="0" hangingPunct="1">
                        <a:lnSpc>
                          <a:spcPct val="100000"/>
                        </a:lnSpc>
                        <a:spcAft>
                          <a:spcPts val="0"/>
                        </a:spcAft>
                      </a:pPr>
                      <a:r>
                        <a:rPr lang="en-US" sz="2400" b="1" kern="1200">
                          <a:solidFill>
                            <a:srgbClr val="0000CC"/>
                          </a:solidFill>
                          <a:effectLst/>
                          <a:latin typeface="+mn-lt"/>
                          <a:ea typeface="黑体" pitchFamily="2" charset="-122"/>
                          <a:cs typeface="+mn-cs"/>
                        </a:rPr>
                        <a:t>127</a:t>
                      </a:r>
                      <a:endParaRPr lang="zh-CN" sz="2400" b="1" kern="1200">
                        <a:solidFill>
                          <a:srgbClr val="0000CC"/>
                        </a:solidFill>
                        <a:effectLst/>
                        <a:latin typeface="+mn-lt"/>
                        <a:ea typeface="黑体" pitchFamily="2" charset="-122"/>
                        <a:cs typeface="+mn-cs"/>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非全</a:t>
                      </a:r>
                      <a:r>
                        <a:rPr lang="en-US" altLang="zh-CN" sz="2400" b="1" kern="1200" dirty="0">
                          <a:solidFill>
                            <a:srgbClr val="0000CC"/>
                          </a:solidFill>
                          <a:effectLst/>
                          <a:latin typeface="+mn-lt"/>
                          <a:ea typeface="黑体" pitchFamily="2" charset="-122"/>
                          <a:cs typeface="+mn-cs"/>
                        </a:rPr>
                        <a:t> </a:t>
                      </a:r>
                      <a:r>
                        <a:rPr lang="en-US" sz="2400" b="1" kern="1200" dirty="0">
                          <a:solidFill>
                            <a:srgbClr val="0000CC"/>
                          </a:solidFill>
                          <a:effectLst/>
                          <a:latin typeface="+mn-lt"/>
                          <a:ea typeface="黑体" pitchFamily="2" charset="-122"/>
                          <a:cs typeface="+mn-cs"/>
                        </a:rPr>
                        <a:t>0 </a:t>
                      </a:r>
                      <a:r>
                        <a:rPr lang="zh-CN" sz="2400" b="1" kern="1200" dirty="0">
                          <a:solidFill>
                            <a:srgbClr val="0000CC"/>
                          </a:solidFill>
                          <a:effectLst/>
                          <a:latin typeface="+mn-lt"/>
                          <a:ea typeface="黑体" pitchFamily="2" charset="-122"/>
                          <a:cs typeface="+mn-cs"/>
                        </a:rPr>
                        <a:t>或全</a:t>
                      </a:r>
                      <a:r>
                        <a:rPr lang="en-US" altLang="zh-CN" sz="2400" b="1" kern="1200" dirty="0">
                          <a:solidFill>
                            <a:srgbClr val="0000CC"/>
                          </a:solidFill>
                          <a:effectLst/>
                          <a:latin typeface="+mn-lt"/>
                          <a:ea typeface="黑体" pitchFamily="2" charset="-122"/>
                          <a:cs typeface="+mn-cs"/>
                        </a:rPr>
                        <a:t> </a:t>
                      </a:r>
                      <a:r>
                        <a:rPr lang="en-US" sz="2400" b="1" kern="1200" dirty="0">
                          <a:solidFill>
                            <a:srgbClr val="0000CC"/>
                          </a:solidFill>
                          <a:effectLst/>
                          <a:latin typeface="+mn-lt"/>
                          <a:ea typeface="黑体" pitchFamily="2" charset="-122"/>
                          <a:cs typeface="+mn-cs"/>
                        </a:rPr>
                        <a:t>1 </a:t>
                      </a:r>
                      <a:r>
                        <a:rPr lang="zh-CN" sz="2400" b="1" kern="1200" dirty="0">
                          <a:solidFill>
                            <a:srgbClr val="0000CC"/>
                          </a:solidFill>
                          <a:effectLst/>
                          <a:latin typeface="+mn-lt"/>
                          <a:ea typeface="黑体" pitchFamily="2" charset="-122"/>
                          <a:cs typeface="+mn-cs"/>
                        </a:rPr>
                        <a:t>的任何数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itchFamily="2" charset="-122"/>
                          <a:cs typeface="+mn-cs"/>
                        </a:rPr>
                        <a:t>可以</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可以</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itchFamily="2" charset="-122"/>
                          <a:cs typeface="+mn-cs"/>
                        </a:rPr>
                        <a:t>用作本地软件环回测试之用</a:t>
                      </a:r>
                      <a:r>
                        <a:rPr lang="zh-CN" altLang="en-US" sz="2400" b="1" kern="1200" dirty="0">
                          <a:solidFill>
                            <a:srgbClr val="0000CC"/>
                          </a:solidFill>
                          <a:effectLst/>
                          <a:latin typeface="+mn-lt"/>
                          <a:ea typeface="黑体" pitchFamily="2" charset="-122"/>
                          <a:cs typeface="+mn-cs"/>
                        </a:rPr>
                        <a:t>（典型例子：</a:t>
                      </a:r>
                      <a:r>
                        <a:rPr lang="en-US" altLang="zh-CN" sz="2400" b="1" kern="1200" dirty="0">
                          <a:solidFill>
                            <a:srgbClr val="0000CC"/>
                          </a:solidFill>
                          <a:effectLst/>
                          <a:latin typeface="+mn-lt"/>
                          <a:ea typeface="黑体" pitchFamily="2" charset="-122"/>
                          <a:cs typeface="+mn-cs"/>
                        </a:rPr>
                        <a:t>127.0.0.1</a:t>
                      </a:r>
                      <a:r>
                        <a:rPr lang="zh-CN" altLang="en-US" sz="2400" b="1" kern="1200" dirty="0">
                          <a:solidFill>
                            <a:srgbClr val="0000CC"/>
                          </a:solidFill>
                          <a:effectLst/>
                          <a:latin typeface="+mn-lt"/>
                          <a:ea typeface="黑体" pitchFamily="2" charset="-122"/>
                          <a:cs typeface="+mn-cs"/>
                        </a:rPr>
                        <a:t>）</a:t>
                      </a:r>
                      <a:endParaRPr lang="zh-CN" sz="2400" b="1" kern="1200" dirty="0">
                        <a:solidFill>
                          <a:srgbClr val="0000CC"/>
                        </a:solidFill>
                        <a:effectLst/>
                        <a:latin typeface="+mn-lt"/>
                        <a:ea typeface="黑体"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34644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p:txBody>
          <a:bodyPr/>
          <a:lstStyle/>
          <a:p>
            <a:pPr algn="ctr"/>
            <a:r>
              <a:rPr lang="zh-CN" altLang="en-US" dirty="0"/>
              <a:t>采用分级</a:t>
            </a:r>
            <a:r>
              <a:rPr lang="en-US" altLang="zh-CN" dirty="0"/>
              <a:t>IP</a:t>
            </a:r>
            <a:r>
              <a:rPr lang="zh-CN" altLang="en-US" dirty="0"/>
              <a:t>地址的好处 </a:t>
            </a:r>
          </a:p>
        </p:txBody>
      </p:sp>
      <p:sp>
        <p:nvSpPr>
          <p:cNvPr id="444419" name="Rectangle 3"/>
          <p:cNvSpPr>
            <a:spLocks noGrp="1" noChangeArrowheads="1"/>
          </p:cNvSpPr>
          <p:nvPr>
            <p:ph idx="1"/>
          </p:nvPr>
        </p:nvSpPr>
        <p:spPr/>
        <p:txBody>
          <a:bodyPr/>
          <a:lstStyle/>
          <a:p>
            <a:r>
              <a:rPr lang="zh-CN" altLang="en-US" dirty="0">
                <a:solidFill>
                  <a:srgbClr val="0000FF"/>
                </a:solidFill>
              </a:rPr>
              <a:t>第一，</a:t>
            </a:r>
            <a:r>
              <a:rPr lang="en-US" altLang="zh-CN" dirty="0"/>
              <a:t>IP </a:t>
            </a:r>
            <a:r>
              <a:rPr lang="zh-CN" altLang="en-US" dirty="0"/>
              <a:t>地址管理机构在分配 </a:t>
            </a:r>
            <a:r>
              <a:rPr lang="en-US" altLang="zh-CN" dirty="0"/>
              <a:t>IP </a:t>
            </a:r>
            <a:r>
              <a:rPr lang="zh-CN" altLang="en-US" dirty="0"/>
              <a:t>地址时只分配网络号，而剩下的主机号则由得到该网络号的单位自行分配。这样就方便了 </a:t>
            </a:r>
            <a:r>
              <a:rPr lang="en-US" altLang="zh-CN" dirty="0"/>
              <a:t>IP </a:t>
            </a:r>
            <a:r>
              <a:rPr lang="zh-CN" altLang="en-US" dirty="0"/>
              <a:t>地址的管理</a:t>
            </a:r>
            <a:endParaRPr lang="en-US" altLang="zh-CN" dirty="0"/>
          </a:p>
          <a:p>
            <a:r>
              <a:rPr lang="zh-CN" altLang="en-US" dirty="0">
                <a:solidFill>
                  <a:srgbClr val="0000FF"/>
                </a:solidFill>
              </a:rPr>
              <a:t>第二，</a:t>
            </a:r>
            <a:r>
              <a:rPr lang="zh-CN" altLang="en-US" dirty="0"/>
              <a:t>路由器仅根据目的主机所连接的网络号来转发分组（而不考虑目的主机号），这样就可以使路由表中的项目数大幅度减少，从而减小了路由表所占的存储空间。 </a:t>
            </a:r>
          </a:p>
        </p:txBody>
      </p:sp>
    </p:spTree>
    <p:extLst>
      <p:ext uri="{BB962C8B-B14F-4D97-AF65-F5344CB8AC3E}">
        <p14:creationId xmlns:p14="http://schemas.microsoft.com/office/powerpoint/2010/main" val="2042016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pPr algn="ctr"/>
            <a:r>
              <a:rPr lang="zh-CN" altLang="en-US" dirty="0"/>
              <a:t>多归属主机与路由器</a:t>
            </a:r>
            <a:r>
              <a:rPr lang="en-US" altLang="zh-CN" dirty="0"/>
              <a:t>IP</a:t>
            </a:r>
            <a:endParaRPr lang="zh-CN" altLang="en-US" dirty="0"/>
          </a:p>
        </p:txBody>
      </p:sp>
      <p:sp>
        <p:nvSpPr>
          <p:cNvPr id="209923" name="Rectangle 3"/>
          <p:cNvSpPr>
            <a:spLocks noGrp="1" noChangeArrowheads="1"/>
          </p:cNvSpPr>
          <p:nvPr>
            <p:ph idx="1"/>
          </p:nvPr>
        </p:nvSpPr>
        <p:spPr/>
        <p:txBody>
          <a:bodyPr/>
          <a:lstStyle/>
          <a:p>
            <a:r>
              <a:rPr lang="zh-CN" altLang="en-US" dirty="0"/>
              <a:t>当一个主机同时连接到两个网络上时，该主机就必须同时具有两个相应的 </a:t>
            </a:r>
            <a:r>
              <a:rPr lang="en-US" altLang="zh-CN" dirty="0"/>
              <a:t>IP </a:t>
            </a:r>
            <a:r>
              <a:rPr lang="zh-CN" altLang="en-US" dirty="0"/>
              <a:t>地址，其网络号 </a:t>
            </a:r>
            <a:r>
              <a:rPr lang="en-US" altLang="zh-CN" dirty="0"/>
              <a:t>net-id </a:t>
            </a:r>
            <a:r>
              <a:rPr lang="zh-CN" altLang="en-US" dirty="0"/>
              <a:t>必须是不同的。这种主机称为</a:t>
            </a:r>
            <a:r>
              <a:rPr lang="zh-CN" altLang="en-US" dirty="0">
                <a:solidFill>
                  <a:srgbClr val="FF0000"/>
                </a:solidFill>
              </a:rPr>
              <a:t>多归属主机 </a:t>
            </a:r>
            <a:r>
              <a:rPr lang="en-US" altLang="zh-CN" dirty="0"/>
              <a:t>(</a:t>
            </a:r>
            <a:r>
              <a:rPr lang="en-US" altLang="zh-CN" dirty="0" err="1"/>
              <a:t>multihomed</a:t>
            </a:r>
            <a:r>
              <a:rPr lang="en-US" altLang="zh-CN" dirty="0"/>
              <a:t> host)</a:t>
            </a:r>
            <a:r>
              <a:rPr lang="zh-CN" altLang="en-US" dirty="0"/>
              <a:t>。</a:t>
            </a:r>
          </a:p>
          <a:p>
            <a:r>
              <a:rPr lang="zh-CN" altLang="en-US" dirty="0"/>
              <a:t>由于一个路由器至少应当连接到两个网络（这样它才能将 </a:t>
            </a:r>
            <a:r>
              <a:rPr lang="en-US" altLang="zh-CN" dirty="0"/>
              <a:t>IP </a:t>
            </a:r>
            <a:r>
              <a:rPr lang="zh-CN" altLang="en-US" dirty="0"/>
              <a:t>数据报从一个网络转发到另一个网络），因此</a:t>
            </a:r>
            <a:r>
              <a:rPr lang="zh-CN" altLang="en-US" dirty="0">
                <a:solidFill>
                  <a:srgbClr val="0000CC"/>
                </a:solidFill>
              </a:rPr>
              <a:t>一个路由器至少应当有两个不同的 </a:t>
            </a:r>
            <a:r>
              <a:rPr lang="en-US" altLang="zh-CN" dirty="0">
                <a:solidFill>
                  <a:srgbClr val="0000CC"/>
                </a:solidFill>
              </a:rPr>
              <a:t>IP </a:t>
            </a:r>
            <a:r>
              <a:rPr lang="zh-CN" altLang="en-US" dirty="0">
                <a:solidFill>
                  <a:srgbClr val="0000CC"/>
                </a:solidFill>
              </a:rPr>
              <a:t>地址。 </a:t>
            </a:r>
          </a:p>
        </p:txBody>
      </p:sp>
    </p:spTree>
    <p:extLst>
      <p:ext uri="{BB962C8B-B14F-4D97-AF65-F5344CB8AC3E}">
        <p14:creationId xmlns:p14="http://schemas.microsoft.com/office/powerpoint/2010/main" val="1288461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r>
              <a:rPr lang="en-US" altLang="zh-CN" dirty="0"/>
              <a:t>4.2.3  IP </a:t>
            </a:r>
            <a:r>
              <a:rPr lang="zh-CN" altLang="zh-CN" dirty="0"/>
              <a:t>地址与硬件地址</a:t>
            </a:r>
            <a:endParaRPr lang="zh-CN" altLang="en-US" dirty="0"/>
          </a:p>
        </p:txBody>
      </p:sp>
      <p:sp>
        <p:nvSpPr>
          <p:cNvPr id="2" name="内容占位符 1"/>
          <p:cNvSpPr>
            <a:spLocks noGrp="1"/>
          </p:cNvSpPr>
          <p:nvPr>
            <p:ph idx="1"/>
          </p:nvPr>
        </p:nvSpPr>
        <p:spPr/>
        <p:txBody>
          <a:bodyPr/>
          <a:lstStyle/>
          <a:p>
            <a:r>
              <a:rPr lang="en-US" altLang="zh-CN" dirty="0"/>
              <a:t>IP </a:t>
            </a:r>
            <a:r>
              <a:rPr lang="zh-CN" altLang="zh-CN" dirty="0"/>
              <a:t>地址与硬件地址</a:t>
            </a:r>
            <a:r>
              <a:rPr lang="zh-CN" altLang="en-US" dirty="0"/>
              <a:t>是不同的地址。</a:t>
            </a:r>
            <a:endParaRPr lang="en-US" altLang="zh-CN" dirty="0"/>
          </a:p>
          <a:p>
            <a:r>
              <a:rPr lang="zh-CN" altLang="zh-CN" dirty="0"/>
              <a:t>从层次的角度看，</a:t>
            </a:r>
            <a:endParaRPr lang="en-US" altLang="zh-CN" dirty="0"/>
          </a:p>
          <a:p>
            <a:pPr lvl="1"/>
            <a:r>
              <a:rPr lang="zh-CN" altLang="en-US" dirty="0">
                <a:solidFill>
                  <a:srgbClr val="FF0000"/>
                </a:solidFill>
              </a:rPr>
              <a:t>硬件地址（或</a:t>
            </a:r>
            <a:r>
              <a:rPr lang="zh-CN" altLang="zh-CN" dirty="0">
                <a:solidFill>
                  <a:srgbClr val="FF0000"/>
                </a:solidFill>
              </a:rPr>
              <a:t>物理地址</a:t>
            </a:r>
            <a:r>
              <a:rPr lang="zh-CN" altLang="en-US" dirty="0">
                <a:solidFill>
                  <a:srgbClr val="FF0000"/>
                </a:solidFill>
              </a:rPr>
              <a:t>）</a:t>
            </a:r>
            <a:r>
              <a:rPr lang="zh-CN" altLang="zh-CN" dirty="0"/>
              <a:t>是数据链路层和物理层使用的地址</a:t>
            </a:r>
            <a:r>
              <a:rPr lang="zh-CN" altLang="en-US" dirty="0"/>
              <a:t>。</a:t>
            </a:r>
            <a:endParaRPr lang="en-US" altLang="zh-CN" dirty="0"/>
          </a:p>
          <a:p>
            <a:pPr lvl="1"/>
            <a:r>
              <a:rPr lang="en-US" altLang="zh-CN" dirty="0">
                <a:solidFill>
                  <a:srgbClr val="FF0000"/>
                </a:solidFill>
              </a:rPr>
              <a:t>IP </a:t>
            </a:r>
            <a:r>
              <a:rPr lang="zh-CN" altLang="zh-CN" dirty="0">
                <a:solidFill>
                  <a:srgbClr val="FF0000"/>
                </a:solidFill>
              </a:rPr>
              <a:t>地址</a:t>
            </a:r>
            <a:r>
              <a:rPr lang="zh-CN" altLang="zh-CN" dirty="0"/>
              <a:t>是网络层和以上各层使用的地址，是一种</a:t>
            </a:r>
            <a:r>
              <a:rPr lang="zh-CN" altLang="zh-CN" dirty="0">
                <a:solidFill>
                  <a:srgbClr val="0000FF"/>
                </a:solidFill>
              </a:rPr>
              <a:t>逻辑地址</a:t>
            </a:r>
            <a:r>
              <a:rPr lang="zh-CN" altLang="zh-CN" dirty="0"/>
              <a:t>（称</a:t>
            </a:r>
            <a:r>
              <a:rPr lang="en-US" altLang="zh-CN" dirty="0"/>
              <a:t> IP </a:t>
            </a:r>
            <a:r>
              <a:rPr lang="zh-CN" altLang="zh-CN" dirty="0"/>
              <a:t>地址是逻辑地址是因为</a:t>
            </a:r>
            <a:r>
              <a:rPr lang="en-US" altLang="zh-CN" dirty="0"/>
              <a:t> IP </a:t>
            </a:r>
            <a:r>
              <a:rPr lang="zh-CN" altLang="zh-CN" dirty="0"/>
              <a:t>地址是用软件实现的）。</a:t>
            </a:r>
          </a:p>
          <a:p>
            <a:endParaRPr lang="zh-CN" altLang="en-US" dirty="0"/>
          </a:p>
        </p:txBody>
      </p:sp>
    </p:spTree>
    <p:extLst>
      <p:ext uri="{BB962C8B-B14F-4D97-AF65-F5344CB8AC3E}">
        <p14:creationId xmlns:p14="http://schemas.microsoft.com/office/powerpoint/2010/main" val="3060114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（上）</a:t>
            </a:r>
          </a:p>
        </p:txBody>
      </p:sp>
      <p:sp>
        <p:nvSpPr>
          <p:cNvPr id="3" name="内容占位符 2"/>
          <p:cNvSpPr>
            <a:spLocks noGrp="1"/>
          </p:cNvSpPr>
          <p:nvPr>
            <p:ph idx="1"/>
          </p:nvPr>
        </p:nvSpPr>
        <p:spPr/>
        <p:txBody>
          <a:bodyPr/>
          <a:lstStyle/>
          <a:p>
            <a:pPr>
              <a:lnSpc>
                <a:spcPct val="100000"/>
              </a:lnSpc>
            </a:pPr>
            <a:r>
              <a:rPr lang="zh-CN" altLang="en-US" dirty="0">
                <a:solidFill>
                  <a:schemeClr val="bg1">
                    <a:lumMod val="65000"/>
                  </a:schemeClr>
                </a:solidFill>
              </a:rPr>
              <a:t>概述</a:t>
            </a:r>
            <a:endParaRPr lang="zh-CN" altLang="zh-CN" dirty="0">
              <a:solidFill>
                <a:schemeClr val="bg1">
                  <a:lumMod val="65000"/>
                </a:schemeClr>
              </a:solidFill>
            </a:endParaRPr>
          </a:p>
          <a:p>
            <a:r>
              <a:rPr lang="zh-CN" altLang="zh-CN" dirty="0">
                <a:solidFill>
                  <a:schemeClr val="bg1">
                    <a:lumMod val="65000"/>
                  </a:schemeClr>
                </a:solidFill>
              </a:rPr>
              <a:t>分类的</a:t>
            </a:r>
            <a:r>
              <a:rPr lang="en-US" altLang="zh-CN" dirty="0">
                <a:solidFill>
                  <a:schemeClr val="bg1">
                    <a:lumMod val="65000"/>
                  </a:schemeClr>
                </a:solidFill>
              </a:rPr>
              <a:t> IP </a:t>
            </a:r>
            <a:r>
              <a:rPr lang="zh-CN" altLang="zh-CN" dirty="0">
                <a:solidFill>
                  <a:schemeClr val="bg1">
                    <a:lumMod val="65000"/>
                  </a:schemeClr>
                </a:solidFill>
              </a:rPr>
              <a:t>地址</a:t>
            </a:r>
          </a:p>
          <a:p>
            <a:r>
              <a:rPr lang="zh-CN" altLang="zh-CN" sz="3600" dirty="0">
                <a:solidFill>
                  <a:srgbClr val="FF0000"/>
                </a:solidFill>
              </a:rPr>
              <a:t>地址解析协议</a:t>
            </a:r>
            <a:r>
              <a:rPr lang="en-US" altLang="zh-CN" sz="3600" dirty="0">
                <a:solidFill>
                  <a:srgbClr val="FF0000"/>
                </a:solidFill>
              </a:rPr>
              <a:t> ARP</a:t>
            </a:r>
            <a:endParaRPr lang="zh-CN" altLang="zh-CN" sz="3600" dirty="0">
              <a:solidFill>
                <a:srgbClr val="FF0000"/>
              </a:solidFill>
            </a:endParaRPr>
          </a:p>
          <a:p>
            <a:r>
              <a:rPr lang="en-US" altLang="zh-CN" dirty="0">
                <a:solidFill>
                  <a:schemeClr val="bg1">
                    <a:lumMod val="65000"/>
                  </a:schemeClr>
                </a:solidFill>
              </a:rPr>
              <a:t>IP </a:t>
            </a:r>
            <a:r>
              <a:rPr lang="zh-CN" altLang="zh-CN" dirty="0">
                <a:solidFill>
                  <a:schemeClr val="bg1">
                    <a:lumMod val="65000"/>
                  </a:schemeClr>
                </a:solidFill>
              </a:rPr>
              <a:t>数据报的格式</a:t>
            </a:r>
            <a:endParaRPr lang="en-US" altLang="zh-CN" dirty="0">
              <a:solidFill>
                <a:schemeClr val="bg1">
                  <a:lumMod val="65000"/>
                </a:schemeClr>
              </a:solidFill>
            </a:endParaRPr>
          </a:p>
          <a:p>
            <a:r>
              <a:rPr lang="en-US" altLang="zh-CN" dirty="0">
                <a:solidFill>
                  <a:schemeClr val="bg1">
                    <a:lumMod val="65000"/>
                  </a:schemeClr>
                </a:solidFill>
              </a:rPr>
              <a:t>IP </a:t>
            </a:r>
            <a:r>
              <a:rPr lang="zh-CN" altLang="zh-CN" dirty="0">
                <a:solidFill>
                  <a:schemeClr val="bg1">
                    <a:lumMod val="65000"/>
                  </a:schemeClr>
                </a:solidFill>
              </a:rPr>
              <a:t>层转发分组的流程</a:t>
            </a:r>
          </a:p>
          <a:p>
            <a:pPr>
              <a:lnSpc>
                <a:spcPct val="100000"/>
              </a:lnSpc>
            </a:pPr>
            <a:r>
              <a:rPr lang="zh-CN" altLang="zh-CN" dirty="0">
                <a:solidFill>
                  <a:schemeClr val="bg1">
                    <a:lumMod val="65000"/>
                  </a:schemeClr>
                </a:solidFill>
              </a:rPr>
              <a:t>网际控制报文协议</a:t>
            </a:r>
            <a:r>
              <a:rPr lang="en-US" altLang="zh-CN" dirty="0">
                <a:solidFill>
                  <a:schemeClr val="bg1">
                    <a:lumMod val="65000"/>
                  </a:schemeClr>
                </a:solidFill>
              </a:rPr>
              <a:t> ICMP</a:t>
            </a:r>
            <a:endParaRPr lang="zh-CN" altLang="zh-CN" dirty="0">
              <a:solidFill>
                <a:schemeClr val="bg1">
                  <a:lumMod val="65000"/>
                </a:schemeClr>
              </a:solidFill>
            </a:endParaRPr>
          </a:p>
        </p:txBody>
      </p:sp>
    </p:spTree>
    <p:extLst>
      <p:ext uri="{BB962C8B-B14F-4D97-AF65-F5344CB8AC3E}">
        <p14:creationId xmlns:p14="http://schemas.microsoft.com/office/powerpoint/2010/main" val="233514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r>
              <a:rPr lang="zh-CN" altLang="zh-CN" dirty="0"/>
              <a:t>地址解析协议</a:t>
            </a:r>
            <a:r>
              <a:rPr lang="en-US" altLang="zh-CN" dirty="0"/>
              <a:t> ARP</a:t>
            </a:r>
            <a:r>
              <a:rPr lang="zh-CN" altLang="en-US" dirty="0"/>
              <a:t>：两个地址</a:t>
            </a:r>
            <a:endParaRPr lang="en-US" altLang="zh-CN" dirty="0"/>
          </a:p>
        </p:txBody>
      </p:sp>
      <p:sp>
        <p:nvSpPr>
          <p:cNvPr id="2" name="内容占位符 1"/>
          <p:cNvSpPr>
            <a:spLocks noGrp="1"/>
          </p:cNvSpPr>
          <p:nvPr>
            <p:ph idx="1"/>
          </p:nvPr>
        </p:nvSpPr>
        <p:spPr/>
        <p:txBody>
          <a:bodyPr/>
          <a:lstStyle/>
          <a:p>
            <a:pPr>
              <a:spcBef>
                <a:spcPct val="10000"/>
              </a:spcBef>
            </a:pPr>
            <a:r>
              <a:rPr lang="zh-CN" altLang="en-US" sz="2800" dirty="0">
                <a:latin typeface="Tahoma" pitchFamily="34" charset="0"/>
              </a:rPr>
              <a:t>通信时使用了两个地址：</a:t>
            </a:r>
            <a:endParaRPr lang="en-US" altLang="zh-CN" sz="2800" dirty="0">
              <a:latin typeface="Tahoma" pitchFamily="34" charset="0"/>
            </a:endParaRPr>
          </a:p>
          <a:p>
            <a:pPr lvl="1">
              <a:spcBef>
                <a:spcPct val="10000"/>
              </a:spcBef>
            </a:pPr>
            <a:r>
              <a:rPr lang="en-US" altLang="zh-CN" sz="2400" dirty="0">
                <a:solidFill>
                  <a:srgbClr val="FF0000"/>
                </a:solidFill>
                <a:latin typeface="Tahoma" pitchFamily="34" charset="0"/>
              </a:rPr>
              <a:t>IP </a:t>
            </a:r>
            <a:r>
              <a:rPr lang="zh-CN" altLang="en-US" sz="2400" dirty="0">
                <a:solidFill>
                  <a:srgbClr val="FF0000"/>
                </a:solidFill>
                <a:latin typeface="Tahoma" pitchFamily="34" charset="0"/>
              </a:rPr>
              <a:t>地址</a:t>
            </a:r>
            <a:r>
              <a:rPr lang="zh-CN" altLang="en-US" sz="2400" dirty="0">
                <a:latin typeface="Tahoma" pitchFamily="34" charset="0"/>
              </a:rPr>
              <a:t>（网络层地址）</a:t>
            </a:r>
            <a:endParaRPr lang="en-US" altLang="zh-CN" sz="2400" dirty="0">
              <a:latin typeface="Tahoma" pitchFamily="34" charset="0"/>
            </a:endParaRPr>
          </a:p>
          <a:p>
            <a:pPr lvl="1">
              <a:spcBef>
                <a:spcPct val="10000"/>
              </a:spcBef>
            </a:pPr>
            <a:r>
              <a:rPr lang="en-US" altLang="zh-CN" sz="2400" dirty="0">
                <a:solidFill>
                  <a:srgbClr val="FF0000"/>
                </a:solidFill>
                <a:latin typeface="Tahoma" pitchFamily="34" charset="0"/>
              </a:rPr>
              <a:t>MAC </a:t>
            </a:r>
            <a:r>
              <a:rPr lang="zh-CN" altLang="en-US" sz="2400" dirty="0">
                <a:solidFill>
                  <a:srgbClr val="FF0000"/>
                </a:solidFill>
                <a:latin typeface="Tahoma" pitchFamily="34" charset="0"/>
              </a:rPr>
              <a:t>地址</a:t>
            </a:r>
            <a:r>
              <a:rPr lang="zh-CN" altLang="en-US" sz="2400" dirty="0">
                <a:latin typeface="Tahoma" pitchFamily="34" charset="0"/>
              </a:rPr>
              <a:t>（数据链路层地址）</a:t>
            </a:r>
            <a:endParaRPr lang="en-US" altLang="zh-CN" sz="2400" dirty="0">
              <a:solidFill>
                <a:srgbClr val="FF0000"/>
              </a:solidFill>
            </a:endParaRPr>
          </a:p>
        </p:txBody>
      </p:sp>
      <p:grpSp>
        <p:nvGrpSpPr>
          <p:cNvPr id="58" name="组合 57"/>
          <p:cNvGrpSpPr/>
          <p:nvPr/>
        </p:nvGrpSpPr>
        <p:grpSpPr>
          <a:xfrm>
            <a:off x="1217719" y="2420888"/>
            <a:ext cx="7551705" cy="3960440"/>
            <a:chOff x="1301914" y="2348880"/>
            <a:chExt cx="7551705" cy="3960440"/>
          </a:xfrm>
        </p:grpSpPr>
        <p:sp>
          <p:nvSpPr>
            <p:cNvPr id="53" name="矩形 52"/>
            <p:cNvSpPr/>
            <p:nvPr/>
          </p:nvSpPr>
          <p:spPr>
            <a:xfrm>
              <a:off x="2981245" y="5847655"/>
              <a:ext cx="4131995" cy="461665"/>
            </a:xfrm>
            <a:prstGeom prst="rect">
              <a:avLst/>
            </a:prstGeom>
          </p:spPr>
          <p:txBody>
            <a:bodyPr wrap="square">
              <a:spAutoFit/>
            </a:bodyPr>
            <a:lstStyle/>
            <a:p>
              <a:pPr algn="ctr"/>
              <a:r>
                <a:rPr lang="zh-CN" altLang="en-US" sz="2400" b="1" dirty="0">
                  <a:latin typeface="+mn-lt"/>
                  <a:ea typeface="黑体" pitchFamily="2" charset="-122"/>
                </a:rPr>
                <a:t>每个接口都有两个地址</a:t>
              </a:r>
            </a:p>
          </p:txBody>
        </p:sp>
        <p:pic>
          <p:nvPicPr>
            <p:cNvPr id="11314" name="Picture 5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9510" y="4252719"/>
              <a:ext cx="853704" cy="760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315" name="Picture 5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19034" y="2799780"/>
              <a:ext cx="720081" cy="917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316" name="Picture 5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31699" y="4252719"/>
              <a:ext cx="1024445" cy="760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5427146" y="2875581"/>
              <a:ext cx="1822935" cy="400110"/>
            </a:xfrm>
            <a:prstGeom prst="rect">
              <a:avLst/>
            </a:prstGeom>
          </p:spPr>
          <p:txBody>
            <a:bodyPr wrap="none">
              <a:spAutoFit/>
            </a:bodyPr>
            <a:lstStyle/>
            <a:p>
              <a:r>
                <a:rPr lang="en-US" altLang="zh-CN" sz="2000" b="1" dirty="0">
                  <a:solidFill>
                    <a:srgbClr val="FF0000"/>
                  </a:solidFill>
                </a:rPr>
                <a:t>220.168.10.10</a:t>
              </a:r>
              <a:endParaRPr lang="zh-CN" altLang="en-US" sz="2000" b="1" dirty="0">
                <a:solidFill>
                  <a:srgbClr val="FF0000"/>
                </a:solidFill>
              </a:endParaRPr>
            </a:p>
          </p:txBody>
        </p:sp>
        <p:sp>
          <p:nvSpPr>
            <p:cNvPr id="4" name="矩形 3"/>
            <p:cNvSpPr/>
            <p:nvPr/>
          </p:nvSpPr>
          <p:spPr>
            <a:xfrm>
              <a:off x="5427146" y="3244914"/>
              <a:ext cx="2494594" cy="400110"/>
            </a:xfrm>
            <a:prstGeom prst="rect">
              <a:avLst/>
            </a:prstGeom>
          </p:spPr>
          <p:txBody>
            <a:bodyPr wrap="none">
              <a:spAutoFit/>
            </a:bodyPr>
            <a:lstStyle/>
            <a:p>
              <a:r>
                <a:rPr lang="en-US" altLang="zh-CN" sz="2000" b="1" dirty="0">
                  <a:solidFill>
                    <a:srgbClr val="0000FF"/>
                  </a:solidFill>
                </a:rPr>
                <a:t>00-15-C5-C6-CC-07</a:t>
              </a:r>
              <a:endParaRPr lang="zh-CN" altLang="en-US" sz="2000" b="1" dirty="0">
                <a:solidFill>
                  <a:srgbClr val="0000FF"/>
                </a:solidFill>
              </a:endParaRPr>
            </a:p>
          </p:txBody>
        </p:sp>
        <p:sp>
          <p:nvSpPr>
            <p:cNvPr id="50" name="矩形 49"/>
            <p:cNvSpPr/>
            <p:nvPr/>
          </p:nvSpPr>
          <p:spPr>
            <a:xfrm>
              <a:off x="6435258" y="3923764"/>
              <a:ext cx="1659429" cy="369332"/>
            </a:xfrm>
            <a:prstGeom prst="rect">
              <a:avLst/>
            </a:prstGeom>
          </p:spPr>
          <p:txBody>
            <a:bodyPr wrap="none">
              <a:spAutoFit/>
            </a:bodyPr>
            <a:lstStyle/>
            <a:p>
              <a:pPr algn="ctr"/>
              <a:r>
                <a:rPr lang="en-US" altLang="zh-CN" b="1" dirty="0"/>
                <a:t>220.168.10.20</a:t>
              </a:r>
              <a:endParaRPr lang="zh-CN" altLang="en-US" b="1" dirty="0"/>
            </a:p>
          </p:txBody>
        </p:sp>
        <p:sp>
          <p:nvSpPr>
            <p:cNvPr id="52" name="矩形 51"/>
            <p:cNvSpPr/>
            <p:nvPr/>
          </p:nvSpPr>
          <p:spPr>
            <a:xfrm>
              <a:off x="6166462" y="5003884"/>
              <a:ext cx="2223686" cy="369332"/>
            </a:xfrm>
            <a:prstGeom prst="rect">
              <a:avLst/>
            </a:prstGeom>
          </p:spPr>
          <p:txBody>
            <a:bodyPr wrap="none">
              <a:spAutoFit/>
            </a:bodyPr>
            <a:lstStyle/>
            <a:p>
              <a:pPr algn="ctr"/>
              <a:r>
                <a:rPr lang="en-US" altLang="zh-CN" b="1" dirty="0"/>
                <a:t>00-15-C5-C8-C4-95</a:t>
              </a:r>
              <a:endParaRPr lang="zh-CN" altLang="en-US" b="1" dirty="0"/>
            </a:p>
          </p:txBody>
        </p:sp>
        <p:sp>
          <p:nvSpPr>
            <p:cNvPr id="54" name="矩形 53"/>
            <p:cNvSpPr/>
            <p:nvPr/>
          </p:nvSpPr>
          <p:spPr>
            <a:xfrm>
              <a:off x="1705673" y="3923764"/>
              <a:ext cx="1659429" cy="369332"/>
            </a:xfrm>
            <a:prstGeom prst="rect">
              <a:avLst/>
            </a:prstGeom>
          </p:spPr>
          <p:txBody>
            <a:bodyPr wrap="none">
              <a:spAutoFit/>
            </a:bodyPr>
            <a:lstStyle/>
            <a:p>
              <a:pPr algn="ctr"/>
              <a:r>
                <a:rPr lang="en-US" altLang="zh-CN" b="1" dirty="0"/>
                <a:t>220.168.10.16</a:t>
              </a:r>
              <a:endParaRPr lang="zh-CN" altLang="en-US" b="1" dirty="0"/>
            </a:p>
          </p:txBody>
        </p:sp>
        <p:sp>
          <p:nvSpPr>
            <p:cNvPr id="55" name="矩形 54"/>
            <p:cNvSpPr/>
            <p:nvPr/>
          </p:nvSpPr>
          <p:spPr>
            <a:xfrm>
              <a:off x="1301914" y="5003884"/>
              <a:ext cx="2210926" cy="369332"/>
            </a:xfrm>
            <a:prstGeom prst="rect">
              <a:avLst/>
            </a:prstGeom>
          </p:spPr>
          <p:txBody>
            <a:bodyPr wrap="none">
              <a:spAutoFit/>
            </a:bodyPr>
            <a:lstStyle/>
            <a:p>
              <a:pPr algn="ctr"/>
              <a:r>
                <a:rPr lang="en-US" altLang="zh-CN" b="1" dirty="0"/>
                <a:t>00-15-C5-C6-C8-11</a:t>
              </a:r>
              <a:endParaRPr lang="zh-CN" altLang="en-US" b="1" dirty="0"/>
            </a:p>
          </p:txBody>
        </p:sp>
        <p:sp>
          <p:nvSpPr>
            <p:cNvPr id="5" name="矩形标注 4"/>
            <p:cNvSpPr/>
            <p:nvPr/>
          </p:nvSpPr>
          <p:spPr bwMode="auto">
            <a:xfrm>
              <a:off x="6249144" y="2348880"/>
              <a:ext cx="1081319" cy="378892"/>
            </a:xfrm>
            <a:prstGeom prst="wedgeRectCallout">
              <a:avLst>
                <a:gd name="adj1" fmla="val -47726"/>
                <a:gd name="adj2" fmla="val 100032"/>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charset="0"/>
                </a:rPr>
                <a:t>IP </a:t>
              </a:r>
              <a:r>
                <a:rPr kumimoji="0" lang="zh-CN" altLang="en-US" sz="1800" b="1" i="0" u="none" strike="noStrike" cap="none" normalizeH="0" baseline="0" dirty="0">
                  <a:ln>
                    <a:noFill/>
                  </a:ln>
                  <a:solidFill>
                    <a:schemeClr val="tx1"/>
                  </a:solidFill>
                  <a:effectLst/>
                  <a:latin typeface="Arial" charset="0"/>
                </a:rPr>
                <a:t>地址</a:t>
              </a:r>
            </a:p>
          </p:txBody>
        </p:sp>
        <p:sp>
          <p:nvSpPr>
            <p:cNvPr id="56" name="矩形标注 55"/>
            <p:cNvSpPr/>
            <p:nvPr/>
          </p:nvSpPr>
          <p:spPr bwMode="auto">
            <a:xfrm>
              <a:off x="7545288" y="2618060"/>
              <a:ext cx="1308331" cy="378892"/>
            </a:xfrm>
            <a:prstGeom prst="wedgeRectCallout">
              <a:avLst>
                <a:gd name="adj1" fmla="val -64020"/>
                <a:gd name="adj2" fmla="val 132276"/>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b="1" dirty="0"/>
                <a:t>MAC</a:t>
              </a:r>
              <a:r>
                <a:rPr kumimoji="0" lang="en-US" altLang="zh-CN" sz="1800" b="1" i="0" u="none" strike="noStrike" cap="none" normalizeH="0" baseline="0" dirty="0">
                  <a:ln>
                    <a:noFill/>
                  </a:ln>
                  <a:solidFill>
                    <a:schemeClr val="tx1"/>
                  </a:solidFill>
                  <a:effectLst/>
                  <a:latin typeface="Arial" charset="0"/>
                </a:rPr>
                <a:t> </a:t>
              </a:r>
              <a:r>
                <a:rPr kumimoji="0" lang="zh-CN" altLang="en-US" sz="1800" b="1" i="0" u="none" strike="noStrike" cap="none" normalizeH="0" baseline="0" dirty="0">
                  <a:ln>
                    <a:noFill/>
                  </a:ln>
                  <a:solidFill>
                    <a:schemeClr val="tx1"/>
                  </a:solidFill>
                  <a:effectLst/>
                  <a:latin typeface="Arial" charset="0"/>
                </a:rPr>
                <a:t>地址</a:t>
              </a:r>
            </a:p>
          </p:txBody>
        </p:sp>
        <p:cxnSp>
          <p:nvCxnSpPr>
            <p:cNvPr id="9" name="直接箭头连接符 8"/>
            <p:cNvCxnSpPr/>
            <p:nvPr/>
          </p:nvCxnSpPr>
          <p:spPr bwMode="auto">
            <a:xfrm flipH="1">
              <a:off x="5090594" y="3068960"/>
              <a:ext cx="381534" cy="0"/>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接箭头连接符 56"/>
            <p:cNvCxnSpPr/>
            <p:nvPr/>
          </p:nvCxnSpPr>
          <p:spPr bwMode="auto">
            <a:xfrm flipH="1">
              <a:off x="5090594" y="3460358"/>
              <a:ext cx="381534" cy="0"/>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椭圆 11"/>
            <p:cNvSpPr/>
            <p:nvPr/>
          </p:nvSpPr>
          <p:spPr bwMode="auto">
            <a:xfrm>
              <a:off x="4088904" y="4092887"/>
              <a:ext cx="1800200" cy="1080120"/>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charset="0"/>
                </a:rPr>
                <a:t>LAN</a:t>
              </a:r>
              <a:endParaRPr kumimoji="0" lang="zh-CN" altLang="en-US" sz="2400" b="1" i="0" u="none" strike="noStrike" cap="none" normalizeH="0" baseline="0" dirty="0">
                <a:ln>
                  <a:noFill/>
                </a:ln>
                <a:solidFill>
                  <a:schemeClr val="tx1"/>
                </a:solidFill>
                <a:effectLst/>
                <a:latin typeface="Arial" charset="0"/>
              </a:endParaRPr>
            </a:p>
          </p:txBody>
        </p:sp>
        <p:cxnSp>
          <p:nvCxnSpPr>
            <p:cNvPr id="14" name="直接连接符 13"/>
            <p:cNvCxnSpPr>
              <a:stCxn id="11316" idx="3"/>
              <a:endCxn id="12" idx="2"/>
            </p:cNvCxnSpPr>
            <p:nvPr/>
          </p:nvCxnSpPr>
          <p:spPr bwMode="auto">
            <a:xfrm flipV="1">
              <a:off x="3156144" y="4632947"/>
              <a:ext cx="932760" cy="1"/>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p:cNvCxnSpPr>
              <a:stCxn id="11314" idx="1"/>
              <a:endCxn id="12" idx="6"/>
            </p:cNvCxnSpPr>
            <p:nvPr/>
          </p:nvCxnSpPr>
          <p:spPr bwMode="auto">
            <a:xfrm flipH="1" flipV="1">
              <a:off x="5889104" y="4632947"/>
              <a:ext cx="690406" cy="1"/>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p:cNvCxnSpPr>
              <a:endCxn id="12" idx="0"/>
            </p:cNvCxnSpPr>
            <p:nvPr/>
          </p:nvCxnSpPr>
          <p:spPr bwMode="auto">
            <a:xfrm>
              <a:off x="4989004" y="3717032"/>
              <a:ext cx="0" cy="375855"/>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272554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r>
              <a:rPr lang="en-US" altLang="zh-CN" dirty="0"/>
              <a:t>IP </a:t>
            </a:r>
            <a:r>
              <a:rPr lang="zh-CN" altLang="zh-CN" dirty="0"/>
              <a:t>地址与硬件地址</a:t>
            </a:r>
            <a:endParaRPr lang="zh-CN" altLang="en-US" dirty="0"/>
          </a:p>
        </p:txBody>
      </p:sp>
      <p:sp>
        <p:nvSpPr>
          <p:cNvPr id="218117" name="Line 5"/>
          <p:cNvSpPr>
            <a:spLocks noChangeShapeType="1"/>
          </p:cNvSpPr>
          <p:nvPr/>
        </p:nvSpPr>
        <p:spPr bwMode="auto">
          <a:xfrm>
            <a:off x="1848777" y="4315867"/>
            <a:ext cx="5647796"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18" name="Line 6"/>
          <p:cNvSpPr>
            <a:spLocks noChangeShapeType="1"/>
          </p:cNvSpPr>
          <p:nvPr/>
        </p:nvSpPr>
        <p:spPr bwMode="auto">
          <a:xfrm>
            <a:off x="2603765" y="3341142"/>
            <a:ext cx="4137819"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19" name="Line 7"/>
          <p:cNvSpPr>
            <a:spLocks noChangeShapeType="1"/>
          </p:cNvSpPr>
          <p:nvPr/>
        </p:nvSpPr>
        <p:spPr bwMode="auto">
          <a:xfrm>
            <a:off x="3332957" y="2258467"/>
            <a:ext cx="3429265"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20" name="Rectangle 8"/>
          <p:cNvSpPr>
            <a:spLocks noChangeArrowheads="1"/>
          </p:cNvSpPr>
          <p:nvPr/>
        </p:nvSpPr>
        <p:spPr bwMode="auto">
          <a:xfrm>
            <a:off x="4498975" y="2133055"/>
            <a:ext cx="1128183" cy="1809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21" name="Text Box 9"/>
          <p:cNvSpPr txBox="1">
            <a:spLocks noChangeArrowheads="1"/>
          </p:cNvSpPr>
          <p:nvPr/>
        </p:nvSpPr>
        <p:spPr bwMode="auto">
          <a:xfrm>
            <a:off x="4394069" y="2028279"/>
            <a:ext cx="1498359"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CC"/>
                </a:solidFill>
                <a:latin typeface="+mn-lt"/>
                <a:ea typeface="黑体" pitchFamily="2" charset="-122"/>
              </a:rPr>
              <a:t>TCP </a:t>
            </a:r>
            <a:r>
              <a:rPr kumimoji="1" lang="zh-CN" altLang="en-US" sz="2400" b="1">
                <a:solidFill>
                  <a:srgbClr val="0000CC"/>
                </a:solidFill>
                <a:latin typeface="+mn-lt"/>
                <a:ea typeface="黑体" pitchFamily="2" charset="-122"/>
              </a:rPr>
              <a:t>报文</a:t>
            </a:r>
          </a:p>
        </p:txBody>
      </p:sp>
      <p:sp>
        <p:nvSpPr>
          <p:cNvPr id="218122" name="Rectangle 10"/>
          <p:cNvSpPr>
            <a:spLocks noChangeArrowheads="1"/>
          </p:cNvSpPr>
          <p:nvPr/>
        </p:nvSpPr>
        <p:spPr bwMode="auto">
          <a:xfrm>
            <a:off x="4156737" y="3237954"/>
            <a:ext cx="1047353" cy="1730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23" name="Text Box 11"/>
          <p:cNvSpPr txBox="1">
            <a:spLocks noChangeArrowheads="1"/>
          </p:cNvSpPr>
          <p:nvPr/>
        </p:nvSpPr>
        <p:spPr bwMode="auto">
          <a:xfrm>
            <a:off x="4022594" y="3106193"/>
            <a:ext cx="1482329"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CC"/>
                </a:solidFill>
                <a:latin typeface="+mn-lt"/>
                <a:ea typeface="黑体" pitchFamily="2" charset="-122"/>
              </a:rPr>
              <a:t>IP </a:t>
            </a:r>
            <a:r>
              <a:rPr kumimoji="1" lang="zh-CN" altLang="en-US" sz="2400" b="1">
                <a:solidFill>
                  <a:srgbClr val="0000CC"/>
                </a:solidFill>
                <a:latin typeface="+mn-lt"/>
                <a:ea typeface="黑体" pitchFamily="2" charset="-122"/>
              </a:rPr>
              <a:t>数据报</a:t>
            </a:r>
          </a:p>
        </p:txBody>
      </p:sp>
      <p:sp>
        <p:nvSpPr>
          <p:cNvPr id="218124" name="Rectangle 12"/>
          <p:cNvSpPr>
            <a:spLocks noChangeArrowheads="1"/>
          </p:cNvSpPr>
          <p:nvPr/>
        </p:nvSpPr>
        <p:spPr bwMode="auto">
          <a:xfrm>
            <a:off x="4220369" y="4225380"/>
            <a:ext cx="889133" cy="1825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25" name="Text Box 13"/>
          <p:cNvSpPr txBox="1">
            <a:spLocks noChangeArrowheads="1"/>
          </p:cNvSpPr>
          <p:nvPr/>
        </p:nvSpPr>
        <p:spPr bwMode="auto">
          <a:xfrm>
            <a:off x="4115462" y="4079329"/>
            <a:ext cx="1281120"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CC"/>
                </a:solidFill>
                <a:latin typeface="+mn-lt"/>
                <a:ea typeface="黑体" pitchFamily="2" charset="-122"/>
              </a:rPr>
              <a:t>MAC </a:t>
            </a:r>
            <a:r>
              <a:rPr kumimoji="1" lang="zh-CN" altLang="en-US" sz="2400" b="1">
                <a:solidFill>
                  <a:srgbClr val="0000CC"/>
                </a:solidFill>
                <a:latin typeface="+mn-lt"/>
                <a:ea typeface="黑体" pitchFamily="2" charset="-122"/>
              </a:rPr>
              <a:t>帧</a:t>
            </a:r>
          </a:p>
        </p:txBody>
      </p:sp>
      <p:sp>
        <p:nvSpPr>
          <p:cNvPr id="218130" name="Line 18"/>
          <p:cNvSpPr>
            <a:spLocks noChangeShapeType="1"/>
          </p:cNvSpPr>
          <p:nvPr/>
        </p:nvSpPr>
        <p:spPr bwMode="auto">
          <a:xfrm>
            <a:off x="2603765" y="3177629"/>
            <a:ext cx="0" cy="4064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31" name="Line 19"/>
          <p:cNvSpPr>
            <a:spLocks noChangeShapeType="1"/>
          </p:cNvSpPr>
          <p:nvPr/>
        </p:nvSpPr>
        <p:spPr bwMode="auto">
          <a:xfrm>
            <a:off x="6741583" y="3177629"/>
            <a:ext cx="0" cy="4064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32" name="Line 20"/>
          <p:cNvSpPr>
            <a:spLocks noChangeShapeType="1"/>
          </p:cNvSpPr>
          <p:nvPr/>
        </p:nvSpPr>
        <p:spPr bwMode="auto">
          <a:xfrm>
            <a:off x="3346715" y="2052092"/>
            <a:ext cx="13758" cy="5588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33" name="Line 21"/>
          <p:cNvSpPr>
            <a:spLocks noChangeShapeType="1"/>
          </p:cNvSpPr>
          <p:nvPr/>
        </p:nvSpPr>
        <p:spPr bwMode="auto">
          <a:xfrm>
            <a:off x="6741583" y="2052092"/>
            <a:ext cx="0" cy="5588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34" name="Line 22"/>
          <p:cNvSpPr>
            <a:spLocks noChangeShapeType="1"/>
          </p:cNvSpPr>
          <p:nvPr/>
        </p:nvSpPr>
        <p:spPr bwMode="auto">
          <a:xfrm flipV="1">
            <a:off x="7138856" y="3358604"/>
            <a:ext cx="2495417"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35" name="Rectangle 23"/>
          <p:cNvSpPr>
            <a:spLocks noChangeArrowheads="1"/>
          </p:cNvSpPr>
          <p:nvPr/>
        </p:nvSpPr>
        <p:spPr bwMode="auto">
          <a:xfrm>
            <a:off x="3346715" y="1556792"/>
            <a:ext cx="3394869" cy="487362"/>
          </a:xfrm>
          <a:prstGeom prst="rect">
            <a:avLst/>
          </a:prstGeom>
          <a:solidFill>
            <a:srgbClr val="66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36" name="Line 24"/>
          <p:cNvSpPr>
            <a:spLocks noChangeShapeType="1"/>
          </p:cNvSpPr>
          <p:nvPr/>
        </p:nvSpPr>
        <p:spPr bwMode="auto">
          <a:xfrm flipH="1">
            <a:off x="4089665" y="1556792"/>
            <a:ext cx="0" cy="4873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37" name="Text Box 25"/>
          <p:cNvSpPr txBox="1">
            <a:spLocks noChangeArrowheads="1"/>
          </p:cNvSpPr>
          <p:nvPr/>
        </p:nvSpPr>
        <p:spPr bwMode="auto">
          <a:xfrm>
            <a:off x="4636558" y="1558380"/>
            <a:ext cx="17315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CC"/>
                </a:solidFill>
                <a:latin typeface="+mn-lt"/>
                <a:ea typeface="黑体" pitchFamily="2" charset="-122"/>
              </a:rPr>
              <a:t>应用层数据</a:t>
            </a:r>
          </a:p>
        </p:txBody>
      </p:sp>
      <p:sp>
        <p:nvSpPr>
          <p:cNvPr id="218138" name="Text Box 26"/>
          <p:cNvSpPr txBox="1">
            <a:spLocks noChangeArrowheads="1"/>
          </p:cNvSpPr>
          <p:nvPr/>
        </p:nvSpPr>
        <p:spPr bwMode="auto">
          <a:xfrm>
            <a:off x="3319198" y="1559968"/>
            <a:ext cx="80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CC"/>
                </a:solidFill>
                <a:latin typeface="+mn-lt"/>
                <a:ea typeface="黑体" pitchFamily="2" charset="-122"/>
              </a:rPr>
              <a:t>首部</a:t>
            </a:r>
          </a:p>
        </p:txBody>
      </p:sp>
      <p:sp>
        <p:nvSpPr>
          <p:cNvPr id="218139" name="Rectangle 27"/>
          <p:cNvSpPr>
            <a:spLocks noChangeArrowheads="1"/>
          </p:cNvSpPr>
          <p:nvPr/>
        </p:nvSpPr>
        <p:spPr bwMode="auto">
          <a:xfrm>
            <a:off x="2603765" y="2610892"/>
            <a:ext cx="4137819" cy="487362"/>
          </a:xfrm>
          <a:prstGeom prst="rect">
            <a:avLst/>
          </a:prstGeom>
          <a:solidFill>
            <a:srgbClr val="FFFF66"/>
          </a:solidFill>
          <a:ln w="28575">
            <a:solidFill>
              <a:schemeClr val="tx1"/>
            </a:solidFill>
            <a:miter lim="800000"/>
            <a:headEnd/>
            <a:tailEnd/>
          </a:ln>
          <a:effectLst/>
        </p:spPr>
        <p:txBody>
          <a:bodyPr wrap="none" anchor="ctr"/>
          <a:lstStyle/>
          <a:p>
            <a:endParaRPr lang="zh-CN" altLang="en-US" sz="2000" b="1">
              <a:solidFill>
                <a:srgbClr val="0000CC"/>
              </a:solidFill>
              <a:latin typeface="+mn-lt"/>
              <a:ea typeface="黑体" pitchFamily="2" charset="-122"/>
            </a:endParaRPr>
          </a:p>
        </p:txBody>
      </p:sp>
      <p:sp>
        <p:nvSpPr>
          <p:cNvPr id="218140" name="Line 28"/>
          <p:cNvSpPr>
            <a:spLocks noChangeShapeType="1"/>
          </p:cNvSpPr>
          <p:nvPr/>
        </p:nvSpPr>
        <p:spPr bwMode="auto">
          <a:xfrm>
            <a:off x="3346715" y="2610892"/>
            <a:ext cx="0" cy="4873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41" name="Text Box 29"/>
          <p:cNvSpPr txBox="1">
            <a:spLocks noChangeArrowheads="1"/>
          </p:cNvSpPr>
          <p:nvPr/>
        </p:nvSpPr>
        <p:spPr bwMode="auto">
          <a:xfrm>
            <a:off x="2577968" y="2602955"/>
            <a:ext cx="80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CC"/>
                </a:solidFill>
                <a:latin typeface="+mn-lt"/>
                <a:ea typeface="黑体" pitchFamily="2" charset="-122"/>
              </a:rPr>
              <a:t>首部</a:t>
            </a:r>
          </a:p>
        </p:txBody>
      </p:sp>
      <p:sp>
        <p:nvSpPr>
          <p:cNvPr id="218142" name="Rectangle 30"/>
          <p:cNvSpPr>
            <a:spLocks noChangeArrowheads="1"/>
          </p:cNvSpPr>
          <p:nvPr/>
        </p:nvSpPr>
        <p:spPr bwMode="auto">
          <a:xfrm>
            <a:off x="1872854" y="3614192"/>
            <a:ext cx="741230" cy="457200"/>
          </a:xfrm>
          <a:prstGeom prst="rect">
            <a:avLst/>
          </a:prstGeom>
          <a:solidFill>
            <a:srgbClr val="66FFFF"/>
          </a:solidFill>
          <a:ln>
            <a:noFill/>
          </a:ln>
          <a:effectLst/>
        </p:spPr>
        <p:txBody>
          <a:bodyPr wrap="none" anchor="ctr"/>
          <a:lstStyle/>
          <a:p>
            <a:endParaRPr lang="zh-CN" altLang="en-US" sz="2000" b="1">
              <a:solidFill>
                <a:srgbClr val="0000CC"/>
              </a:solidFill>
              <a:latin typeface="+mn-lt"/>
              <a:ea typeface="黑体" pitchFamily="2" charset="-122"/>
            </a:endParaRPr>
          </a:p>
        </p:txBody>
      </p:sp>
      <p:sp>
        <p:nvSpPr>
          <p:cNvPr id="218143" name="Rectangle 31"/>
          <p:cNvSpPr>
            <a:spLocks noChangeArrowheads="1"/>
          </p:cNvSpPr>
          <p:nvPr/>
        </p:nvSpPr>
        <p:spPr bwMode="auto">
          <a:xfrm>
            <a:off x="1862536" y="3584030"/>
            <a:ext cx="5621998" cy="487363"/>
          </a:xfrm>
          <a:prstGeom prst="rect">
            <a:avLst/>
          </a:prstGeom>
          <a:solidFill>
            <a:srgbClr val="66FFFF"/>
          </a:solidFill>
          <a:ln w="28575">
            <a:solidFill>
              <a:schemeClr val="tx1"/>
            </a:solidFill>
            <a:miter lim="800000"/>
            <a:headEnd/>
            <a:tailEnd/>
          </a:ln>
          <a:effectLst/>
        </p:spPr>
        <p:txBody>
          <a:bodyPr wrap="none" anchor="ctr"/>
          <a:lstStyle/>
          <a:p>
            <a:endParaRPr lang="zh-CN" altLang="en-US" sz="2000" b="1">
              <a:solidFill>
                <a:srgbClr val="0000CC"/>
              </a:solidFill>
              <a:latin typeface="+mn-lt"/>
              <a:ea typeface="黑体" pitchFamily="2" charset="-122"/>
            </a:endParaRPr>
          </a:p>
        </p:txBody>
      </p:sp>
      <p:sp>
        <p:nvSpPr>
          <p:cNvPr id="218144" name="Line 32"/>
          <p:cNvSpPr>
            <a:spLocks noChangeShapeType="1"/>
          </p:cNvSpPr>
          <p:nvPr/>
        </p:nvSpPr>
        <p:spPr bwMode="auto">
          <a:xfrm>
            <a:off x="2603765" y="3584030"/>
            <a:ext cx="0" cy="4873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45" name="Line 33"/>
          <p:cNvSpPr>
            <a:spLocks noChangeShapeType="1"/>
          </p:cNvSpPr>
          <p:nvPr/>
        </p:nvSpPr>
        <p:spPr bwMode="auto">
          <a:xfrm>
            <a:off x="6741583" y="3584030"/>
            <a:ext cx="0" cy="4873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218146" name="Text Box 34"/>
          <p:cNvSpPr txBox="1">
            <a:spLocks noChangeArrowheads="1"/>
          </p:cNvSpPr>
          <p:nvPr/>
        </p:nvSpPr>
        <p:spPr bwMode="auto">
          <a:xfrm>
            <a:off x="6681414" y="3573016"/>
            <a:ext cx="80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mn-lt"/>
                <a:ea typeface="黑体" pitchFamily="2" charset="-122"/>
              </a:rPr>
              <a:t>尾部</a:t>
            </a:r>
          </a:p>
        </p:txBody>
      </p:sp>
      <p:sp>
        <p:nvSpPr>
          <p:cNvPr id="218147" name="Text Box 35"/>
          <p:cNvSpPr txBox="1">
            <a:spLocks noChangeArrowheads="1"/>
          </p:cNvSpPr>
          <p:nvPr/>
        </p:nvSpPr>
        <p:spPr bwMode="auto">
          <a:xfrm>
            <a:off x="1850496" y="3579267"/>
            <a:ext cx="80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mn-lt"/>
                <a:ea typeface="黑体" pitchFamily="2" charset="-122"/>
              </a:rPr>
              <a:t>首部</a:t>
            </a:r>
          </a:p>
        </p:txBody>
      </p:sp>
      <p:grpSp>
        <p:nvGrpSpPr>
          <p:cNvPr id="218161" name="Group 49"/>
          <p:cNvGrpSpPr>
            <a:grpSpLocks/>
          </p:cNvGrpSpPr>
          <p:nvPr/>
        </p:nvGrpSpPr>
        <p:grpSpPr bwMode="auto">
          <a:xfrm>
            <a:off x="313002" y="2890294"/>
            <a:ext cx="9335029" cy="1820863"/>
            <a:chOff x="182" y="2409"/>
            <a:chExt cx="5428" cy="1147"/>
          </a:xfrm>
        </p:grpSpPr>
        <p:grpSp>
          <p:nvGrpSpPr>
            <p:cNvPr id="218157" name="Group 45"/>
            <p:cNvGrpSpPr>
              <a:grpSpLocks/>
            </p:cNvGrpSpPr>
            <p:nvPr/>
          </p:nvGrpSpPr>
          <p:grpSpPr bwMode="auto">
            <a:xfrm>
              <a:off x="4423" y="2709"/>
              <a:ext cx="1187" cy="847"/>
              <a:chOff x="4423" y="2709"/>
              <a:chExt cx="1187" cy="847"/>
            </a:xfrm>
          </p:grpSpPr>
          <p:sp>
            <p:nvSpPr>
              <p:cNvPr id="218127" name="AutoShape 15"/>
              <p:cNvSpPr>
                <a:spLocks noChangeArrowheads="1"/>
              </p:cNvSpPr>
              <p:nvPr/>
            </p:nvSpPr>
            <p:spPr bwMode="auto">
              <a:xfrm flipV="1">
                <a:off x="4831" y="2709"/>
                <a:ext cx="186" cy="358"/>
              </a:xfrm>
              <a:prstGeom prst="upArrow">
                <a:avLst>
                  <a:gd name="adj1" fmla="val 50000"/>
                  <a:gd name="adj2" fmla="val 81801"/>
                </a:avLst>
              </a:prstGeom>
              <a:solidFill>
                <a:srgbClr val="33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2000" b="1">
                  <a:solidFill>
                    <a:srgbClr val="0000CC"/>
                  </a:solidFill>
                  <a:latin typeface="+mn-lt"/>
                  <a:ea typeface="黑体" pitchFamily="2" charset="-122"/>
                </a:endParaRPr>
              </a:p>
            </p:txBody>
          </p:sp>
          <p:sp>
            <p:nvSpPr>
              <p:cNvPr id="218129" name="Text Box 17"/>
              <p:cNvSpPr txBox="1">
                <a:spLocks noChangeArrowheads="1"/>
              </p:cNvSpPr>
              <p:nvPr/>
            </p:nvSpPr>
            <p:spPr bwMode="auto">
              <a:xfrm>
                <a:off x="4423" y="3033"/>
                <a:ext cx="1187"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mn-lt"/>
                    <a:ea typeface="黑体" pitchFamily="2" charset="-122"/>
                  </a:rPr>
                  <a:t>链路层及以下</a:t>
                </a:r>
              </a:p>
              <a:p>
                <a:r>
                  <a:rPr kumimoji="1" lang="zh-CN" altLang="en-US" sz="2400" b="1" dirty="0">
                    <a:solidFill>
                      <a:srgbClr val="0000CC"/>
                    </a:solidFill>
                    <a:latin typeface="+mn-lt"/>
                    <a:ea typeface="黑体" pitchFamily="2" charset="-122"/>
                  </a:rPr>
                  <a:t>使用硬件地址</a:t>
                </a:r>
              </a:p>
            </p:txBody>
          </p:sp>
        </p:grpSp>
        <p:grpSp>
          <p:nvGrpSpPr>
            <p:cNvPr id="218159" name="Group 47"/>
            <p:cNvGrpSpPr>
              <a:grpSpLocks/>
            </p:cNvGrpSpPr>
            <p:nvPr/>
          </p:nvGrpSpPr>
          <p:grpSpPr bwMode="auto">
            <a:xfrm>
              <a:off x="182" y="2409"/>
              <a:ext cx="835" cy="291"/>
              <a:chOff x="182" y="2409"/>
              <a:chExt cx="835" cy="291"/>
            </a:xfrm>
          </p:grpSpPr>
          <p:sp>
            <p:nvSpPr>
              <p:cNvPr id="218149" name="AutoShape 37"/>
              <p:cNvSpPr>
                <a:spLocks noChangeArrowheads="1"/>
              </p:cNvSpPr>
              <p:nvPr/>
            </p:nvSpPr>
            <p:spPr bwMode="auto">
              <a:xfrm>
                <a:off x="182" y="2427"/>
                <a:ext cx="802" cy="273"/>
              </a:xfrm>
              <a:prstGeom prst="wedgeRoundRectCallout">
                <a:avLst>
                  <a:gd name="adj1" fmla="val 72116"/>
                  <a:gd name="adj2" fmla="val 129167"/>
                  <a:gd name="adj3" fmla="val 16667"/>
                </a:avLst>
              </a:prstGeom>
              <a:solidFill>
                <a:srgbClr val="66FFFF"/>
              </a:solidFill>
              <a:ln w="9525">
                <a:solidFill>
                  <a:schemeClr val="tx1"/>
                </a:solidFill>
                <a:miter lim="800000"/>
                <a:headEnd/>
                <a:tailEnd/>
              </a:ln>
              <a:effectLst>
                <a:outerShdw dist="35921" dir="2700000" algn="ctr" rotWithShape="0">
                  <a:schemeClr val="bg2"/>
                </a:outerShdw>
              </a:effectLst>
            </p:spPr>
            <p:txBody>
              <a:bodyPr/>
              <a:lstStyle/>
              <a:p>
                <a:pPr algn="ctr"/>
                <a:endParaRPr kumimoji="1" lang="zh-CN" altLang="zh-CN" sz="2400" b="1">
                  <a:solidFill>
                    <a:srgbClr val="0000CC"/>
                  </a:solidFill>
                  <a:latin typeface="+mn-lt"/>
                  <a:ea typeface="黑体" pitchFamily="2" charset="-122"/>
                </a:endParaRPr>
              </a:p>
            </p:txBody>
          </p:sp>
          <p:sp>
            <p:nvSpPr>
              <p:cNvPr id="218150" name="Text Box 38"/>
              <p:cNvSpPr txBox="1">
                <a:spLocks noChangeArrowheads="1"/>
              </p:cNvSpPr>
              <p:nvPr/>
            </p:nvSpPr>
            <p:spPr bwMode="auto">
              <a:xfrm>
                <a:off x="190" y="2409"/>
                <a:ext cx="82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mn-lt"/>
                    <a:ea typeface="黑体" pitchFamily="2" charset="-122"/>
                  </a:rPr>
                  <a:t>硬件地址</a:t>
                </a:r>
              </a:p>
            </p:txBody>
          </p:sp>
        </p:grpSp>
      </p:grpSp>
      <p:grpSp>
        <p:nvGrpSpPr>
          <p:cNvPr id="218160" name="Group 48"/>
          <p:cNvGrpSpPr>
            <a:grpSpLocks/>
          </p:cNvGrpSpPr>
          <p:nvPr/>
        </p:nvGrpSpPr>
        <p:grpSpPr bwMode="auto">
          <a:xfrm>
            <a:off x="1583929" y="1953668"/>
            <a:ext cx="8074421" cy="1412875"/>
            <a:chOff x="921" y="1819"/>
            <a:chExt cx="4695" cy="890"/>
          </a:xfrm>
        </p:grpSpPr>
        <p:grpSp>
          <p:nvGrpSpPr>
            <p:cNvPr id="218156" name="Group 44"/>
            <p:cNvGrpSpPr>
              <a:grpSpLocks/>
            </p:cNvGrpSpPr>
            <p:nvPr/>
          </p:nvGrpSpPr>
          <p:grpSpPr bwMode="auto">
            <a:xfrm>
              <a:off x="4429" y="1854"/>
              <a:ext cx="1187" cy="855"/>
              <a:chOff x="4429" y="1854"/>
              <a:chExt cx="1187" cy="855"/>
            </a:xfrm>
          </p:grpSpPr>
          <p:sp>
            <p:nvSpPr>
              <p:cNvPr id="218126" name="AutoShape 14"/>
              <p:cNvSpPr>
                <a:spLocks noChangeArrowheads="1"/>
              </p:cNvSpPr>
              <p:nvPr/>
            </p:nvSpPr>
            <p:spPr bwMode="auto">
              <a:xfrm>
                <a:off x="4831" y="2352"/>
                <a:ext cx="186" cy="357"/>
              </a:xfrm>
              <a:prstGeom prst="upArrow">
                <a:avLst>
                  <a:gd name="adj1" fmla="val 50000"/>
                  <a:gd name="adj2" fmla="val 69479"/>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2000" b="1">
                  <a:solidFill>
                    <a:srgbClr val="0000CC"/>
                  </a:solidFill>
                  <a:latin typeface="+mn-lt"/>
                  <a:ea typeface="黑体" pitchFamily="2" charset="-122"/>
                </a:endParaRPr>
              </a:p>
            </p:txBody>
          </p:sp>
          <p:sp>
            <p:nvSpPr>
              <p:cNvPr id="218128" name="Text Box 16"/>
              <p:cNvSpPr txBox="1">
                <a:spLocks noChangeArrowheads="1"/>
              </p:cNvSpPr>
              <p:nvPr/>
            </p:nvSpPr>
            <p:spPr bwMode="auto">
              <a:xfrm>
                <a:off x="4429" y="1854"/>
                <a:ext cx="1187"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mn-lt"/>
                    <a:ea typeface="黑体" pitchFamily="2" charset="-122"/>
                  </a:rPr>
                  <a:t>网络层及以上</a:t>
                </a:r>
              </a:p>
              <a:p>
                <a:r>
                  <a:rPr kumimoji="1" lang="zh-CN" altLang="en-US" sz="2400" b="1" dirty="0">
                    <a:solidFill>
                      <a:srgbClr val="0000CC"/>
                    </a:solidFill>
                    <a:latin typeface="+mn-lt"/>
                    <a:ea typeface="黑体" pitchFamily="2" charset="-122"/>
                  </a:rPr>
                  <a:t> 使用 </a:t>
                </a:r>
                <a:r>
                  <a:rPr kumimoji="1" lang="en-US" altLang="zh-CN" sz="2400" b="1" dirty="0">
                    <a:solidFill>
                      <a:srgbClr val="0000CC"/>
                    </a:solidFill>
                    <a:latin typeface="+mn-lt"/>
                    <a:ea typeface="黑体" pitchFamily="2" charset="-122"/>
                  </a:rPr>
                  <a:t>IP </a:t>
                </a:r>
                <a:r>
                  <a:rPr kumimoji="1" lang="zh-CN" altLang="en-US" sz="2400" b="1" dirty="0">
                    <a:solidFill>
                      <a:srgbClr val="0000CC"/>
                    </a:solidFill>
                    <a:latin typeface="+mn-lt"/>
                    <a:ea typeface="黑体" pitchFamily="2" charset="-122"/>
                  </a:rPr>
                  <a:t>地址</a:t>
                </a:r>
              </a:p>
            </p:txBody>
          </p:sp>
        </p:grpSp>
        <p:grpSp>
          <p:nvGrpSpPr>
            <p:cNvPr id="218158" name="Group 46"/>
            <p:cNvGrpSpPr>
              <a:grpSpLocks/>
            </p:cNvGrpSpPr>
            <p:nvPr/>
          </p:nvGrpSpPr>
          <p:grpSpPr bwMode="auto">
            <a:xfrm>
              <a:off x="921" y="1819"/>
              <a:ext cx="688" cy="291"/>
              <a:chOff x="921" y="1819"/>
              <a:chExt cx="688" cy="291"/>
            </a:xfrm>
          </p:grpSpPr>
          <p:sp>
            <p:nvSpPr>
              <p:cNvPr id="218152" name="AutoShape 40"/>
              <p:cNvSpPr>
                <a:spLocks noChangeArrowheads="1"/>
              </p:cNvSpPr>
              <p:nvPr/>
            </p:nvSpPr>
            <p:spPr bwMode="auto">
              <a:xfrm>
                <a:off x="921" y="1826"/>
                <a:ext cx="654" cy="254"/>
              </a:xfrm>
              <a:prstGeom prst="wedgeRoundRectCallout">
                <a:avLst>
                  <a:gd name="adj1" fmla="val 72171"/>
                  <a:gd name="adj2" fmla="val 129134"/>
                  <a:gd name="adj3" fmla="val 16667"/>
                </a:avLst>
              </a:prstGeom>
              <a:solidFill>
                <a:srgbClr val="FF99FF"/>
              </a:solidFill>
              <a:ln w="9525">
                <a:solidFill>
                  <a:schemeClr val="tx1"/>
                </a:solidFill>
                <a:miter lim="800000"/>
                <a:headEnd/>
                <a:tailEnd/>
              </a:ln>
              <a:effectLst>
                <a:outerShdw dist="35921" dir="2700000" algn="ctr" rotWithShape="0">
                  <a:schemeClr val="bg2"/>
                </a:outerShdw>
              </a:effectLst>
            </p:spPr>
            <p:txBody>
              <a:bodyPr/>
              <a:lstStyle/>
              <a:p>
                <a:pPr algn="ctr"/>
                <a:endParaRPr kumimoji="1" lang="zh-CN" altLang="zh-CN" sz="2400" b="1">
                  <a:solidFill>
                    <a:srgbClr val="0000CC"/>
                  </a:solidFill>
                  <a:latin typeface="+mn-lt"/>
                  <a:ea typeface="黑体" pitchFamily="2" charset="-122"/>
                </a:endParaRPr>
              </a:p>
            </p:txBody>
          </p:sp>
          <p:sp>
            <p:nvSpPr>
              <p:cNvPr id="218153" name="Text Box 41"/>
              <p:cNvSpPr txBox="1">
                <a:spLocks noChangeArrowheads="1"/>
              </p:cNvSpPr>
              <p:nvPr/>
            </p:nvSpPr>
            <p:spPr bwMode="auto">
              <a:xfrm>
                <a:off x="927" y="1819"/>
                <a:ext cx="68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0000CC"/>
                    </a:solidFill>
                    <a:latin typeface="+mn-lt"/>
                    <a:ea typeface="黑体" pitchFamily="2" charset="-122"/>
                  </a:rPr>
                  <a:t>IP </a:t>
                </a:r>
                <a:r>
                  <a:rPr kumimoji="1" lang="zh-CN" altLang="en-US" sz="2400" b="1" dirty="0">
                    <a:solidFill>
                      <a:srgbClr val="0000CC"/>
                    </a:solidFill>
                    <a:latin typeface="+mn-lt"/>
                    <a:ea typeface="黑体" pitchFamily="2" charset="-122"/>
                  </a:rPr>
                  <a:t>地址</a:t>
                </a:r>
              </a:p>
            </p:txBody>
          </p:sp>
        </p:grpSp>
      </p:grpSp>
      <p:sp>
        <p:nvSpPr>
          <p:cNvPr id="218155" name="Rectangle 43"/>
          <p:cNvSpPr>
            <a:spLocks noChangeArrowheads="1"/>
          </p:cNvSpPr>
          <p:nvPr/>
        </p:nvSpPr>
        <p:spPr bwMode="auto">
          <a:xfrm>
            <a:off x="2626122" y="3614193"/>
            <a:ext cx="4091384" cy="433387"/>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4" name="矩形 3"/>
          <p:cNvSpPr/>
          <p:nvPr/>
        </p:nvSpPr>
        <p:spPr>
          <a:xfrm>
            <a:off x="2432720" y="5703639"/>
            <a:ext cx="5472608" cy="461665"/>
          </a:xfrm>
          <a:prstGeom prst="rect">
            <a:avLst/>
          </a:prstGeom>
        </p:spPr>
        <p:txBody>
          <a:bodyPr wrap="square">
            <a:spAutoFit/>
          </a:bodyPr>
          <a:lstStyle/>
          <a:p>
            <a:pPr algn="ctr"/>
            <a:r>
              <a:rPr lang="en-US" altLang="zh-CN" sz="2400" b="1" dirty="0">
                <a:latin typeface="+mn-lt"/>
                <a:ea typeface="黑体" pitchFamily="2" charset="-122"/>
              </a:rPr>
              <a:t>IP </a:t>
            </a:r>
            <a:r>
              <a:rPr lang="zh-CN" altLang="zh-CN" sz="2400" b="1" dirty="0">
                <a:latin typeface="+mn-lt"/>
                <a:ea typeface="黑体" pitchFamily="2" charset="-122"/>
              </a:rPr>
              <a:t>地址与硬件地址的区别</a:t>
            </a:r>
            <a:endParaRPr lang="zh-CN" altLang="en-US" sz="2400" b="1" dirty="0">
              <a:latin typeface="+mn-lt"/>
              <a:ea typeface="黑体" pitchFamily="2" charset="-122"/>
            </a:endParaRPr>
          </a:p>
        </p:txBody>
      </p:sp>
      <p:sp>
        <p:nvSpPr>
          <p:cNvPr id="5" name="矩形 4"/>
          <p:cNvSpPr/>
          <p:nvPr/>
        </p:nvSpPr>
        <p:spPr>
          <a:xfrm>
            <a:off x="344488" y="4437112"/>
            <a:ext cx="3376422" cy="1200329"/>
          </a:xfrm>
          <a:prstGeom prst="rect">
            <a:avLst/>
          </a:prstGeom>
          <a:solidFill>
            <a:srgbClr val="000099"/>
          </a:solidFill>
        </p:spPr>
        <p:txBody>
          <a:bodyPr wrap="square">
            <a:spAutoFit/>
          </a:bodyPr>
          <a:lstStyle/>
          <a:p>
            <a:r>
              <a:rPr lang="en-US" altLang="zh-CN" sz="2400" b="1" dirty="0">
                <a:solidFill>
                  <a:schemeClr val="bg1"/>
                </a:solidFill>
                <a:latin typeface="+mn-lt"/>
                <a:ea typeface="黑体" pitchFamily="2" charset="-122"/>
              </a:rPr>
              <a:t>IP </a:t>
            </a:r>
            <a:r>
              <a:rPr lang="zh-CN" altLang="zh-CN" sz="2400" b="1" dirty="0">
                <a:solidFill>
                  <a:schemeClr val="bg1"/>
                </a:solidFill>
                <a:latin typeface="+mn-lt"/>
                <a:ea typeface="黑体" pitchFamily="2" charset="-122"/>
              </a:rPr>
              <a:t>地址放在</a:t>
            </a:r>
            <a:r>
              <a:rPr lang="en-US" altLang="zh-CN" sz="2400" b="1" dirty="0">
                <a:solidFill>
                  <a:schemeClr val="bg1"/>
                </a:solidFill>
                <a:latin typeface="+mn-lt"/>
                <a:ea typeface="黑体" pitchFamily="2" charset="-122"/>
              </a:rPr>
              <a:t> IP </a:t>
            </a:r>
            <a:r>
              <a:rPr lang="zh-CN" altLang="zh-CN" sz="2400" b="1" dirty="0">
                <a:solidFill>
                  <a:schemeClr val="bg1"/>
                </a:solidFill>
                <a:latin typeface="+mn-lt"/>
                <a:ea typeface="黑体" pitchFamily="2" charset="-122"/>
              </a:rPr>
              <a:t>数据报的首部，而硬件地址则放在</a:t>
            </a:r>
            <a:r>
              <a:rPr lang="en-US" altLang="zh-CN" sz="2400" b="1" dirty="0">
                <a:solidFill>
                  <a:schemeClr val="bg1"/>
                </a:solidFill>
                <a:latin typeface="+mn-lt"/>
                <a:ea typeface="黑体" pitchFamily="2" charset="-122"/>
              </a:rPr>
              <a:t> MAC </a:t>
            </a:r>
            <a:r>
              <a:rPr lang="zh-CN" altLang="zh-CN" sz="2400" b="1" dirty="0">
                <a:solidFill>
                  <a:schemeClr val="bg1"/>
                </a:solidFill>
                <a:latin typeface="+mn-lt"/>
                <a:ea typeface="黑体" pitchFamily="2" charset="-122"/>
              </a:rPr>
              <a:t>帧的首部</a:t>
            </a:r>
            <a:r>
              <a:rPr lang="zh-CN" altLang="en-US" sz="2400" b="1" dirty="0">
                <a:solidFill>
                  <a:schemeClr val="bg1"/>
                </a:solidFill>
                <a:latin typeface="+mn-lt"/>
                <a:ea typeface="黑体" pitchFamily="2" charset="-122"/>
              </a:rPr>
              <a:t>。</a:t>
            </a:r>
          </a:p>
        </p:txBody>
      </p:sp>
    </p:spTree>
    <p:extLst>
      <p:ext uri="{BB962C8B-B14F-4D97-AF65-F5344CB8AC3E}">
        <p14:creationId xmlns:p14="http://schemas.microsoft.com/office/powerpoint/2010/main" val="9002289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9556" y="2035176"/>
            <a:ext cx="9881923" cy="4352369"/>
            <a:chOff x="39556" y="2035176"/>
            <a:chExt cx="9881923" cy="4352369"/>
          </a:xfrm>
        </p:grpSpPr>
        <p:sp>
          <p:nvSpPr>
            <p:cNvPr id="220237" name="Freeform 77"/>
            <p:cNvSpPr>
              <a:spLocks/>
            </p:cNvSpPr>
            <p:nvPr/>
          </p:nvSpPr>
          <p:spPr bwMode="auto">
            <a:xfrm>
              <a:off x="2559050" y="5160963"/>
              <a:ext cx="428229" cy="279400"/>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38" name="Freeform 78"/>
            <p:cNvSpPr>
              <a:spLocks/>
            </p:cNvSpPr>
            <p:nvPr/>
          </p:nvSpPr>
          <p:spPr bwMode="auto">
            <a:xfrm>
              <a:off x="5364031" y="5159375"/>
              <a:ext cx="428228" cy="279400"/>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39" name="Line 79"/>
            <p:cNvSpPr>
              <a:spLocks noChangeShapeType="1"/>
            </p:cNvSpPr>
            <p:nvPr/>
          </p:nvSpPr>
          <p:spPr bwMode="auto">
            <a:xfrm rot="-5400000">
              <a:off x="8812081" y="5171943"/>
              <a:ext cx="533400" cy="344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40" name="Line 80"/>
            <p:cNvSpPr>
              <a:spLocks noChangeShapeType="1"/>
            </p:cNvSpPr>
            <p:nvPr/>
          </p:nvSpPr>
          <p:spPr bwMode="auto">
            <a:xfrm rot="-5400000">
              <a:off x="230320" y="5171943"/>
              <a:ext cx="533400" cy="344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41" name="AutoShape 81"/>
            <p:cNvSpPr>
              <a:spLocks noChangeArrowheads="1"/>
            </p:cNvSpPr>
            <p:nvPr/>
          </p:nvSpPr>
          <p:spPr bwMode="auto">
            <a:xfrm>
              <a:off x="247650" y="3306763"/>
              <a:ext cx="742950" cy="1905000"/>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42" name="AutoShape 82"/>
            <p:cNvSpPr>
              <a:spLocks noChangeArrowheads="1"/>
            </p:cNvSpPr>
            <p:nvPr/>
          </p:nvSpPr>
          <p:spPr bwMode="auto">
            <a:xfrm>
              <a:off x="2889250" y="3382963"/>
              <a:ext cx="742950" cy="1905000"/>
            </a:xfrm>
            <a:prstGeom prst="cube">
              <a:avLst>
                <a:gd name="adj" fmla="val 25000"/>
              </a:avLst>
            </a:prstGeom>
            <a:solidFill>
              <a:srgbClr val="66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43" name="AutoShape 83"/>
            <p:cNvSpPr>
              <a:spLocks noChangeArrowheads="1"/>
            </p:cNvSpPr>
            <p:nvPr/>
          </p:nvSpPr>
          <p:spPr bwMode="auto">
            <a:xfrm>
              <a:off x="8832850" y="3306763"/>
              <a:ext cx="742950" cy="1905000"/>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44" name="AutoShape 84"/>
            <p:cNvSpPr>
              <a:spLocks noChangeArrowheads="1"/>
            </p:cNvSpPr>
            <p:nvPr/>
          </p:nvSpPr>
          <p:spPr bwMode="auto">
            <a:xfrm>
              <a:off x="5776781" y="3611563"/>
              <a:ext cx="742950" cy="1676400"/>
            </a:xfrm>
            <a:prstGeom prst="cube">
              <a:avLst>
                <a:gd name="adj" fmla="val 25000"/>
              </a:avLst>
            </a:prstGeom>
            <a:solidFill>
              <a:srgbClr val="66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220245" name="Group 85"/>
            <p:cNvGrpSpPr>
              <a:grpSpLocks/>
            </p:cNvGrpSpPr>
            <p:nvPr/>
          </p:nvGrpSpPr>
          <p:grpSpPr bwMode="auto">
            <a:xfrm>
              <a:off x="39556" y="2420938"/>
              <a:ext cx="9881923" cy="2438400"/>
              <a:chOff x="96" y="1056"/>
              <a:chExt cx="5472" cy="1536"/>
            </a:xfrm>
            <a:solidFill>
              <a:srgbClr val="FFFF66"/>
            </a:solidFill>
          </p:grpSpPr>
          <p:sp>
            <p:nvSpPr>
              <p:cNvPr id="220246" name="Oval 86"/>
              <p:cNvSpPr>
                <a:spLocks noChangeArrowheads="1"/>
              </p:cNvSpPr>
              <p:nvPr/>
            </p:nvSpPr>
            <p:spPr bwMode="auto">
              <a:xfrm>
                <a:off x="3662" y="1674"/>
                <a:ext cx="1906" cy="756"/>
              </a:xfrm>
              <a:prstGeom prst="ellipse">
                <a:avLst/>
              </a:prstGeom>
              <a:grpFill/>
              <a:ln w="31750">
                <a:solidFill>
                  <a:srgbClr val="000000"/>
                </a:solidFill>
                <a:round/>
                <a:headEnd/>
                <a:tailEnd/>
              </a:ln>
            </p:spPr>
            <p:txBody>
              <a:bodyPr/>
              <a:lstStyle/>
              <a:p>
                <a:endParaRPr lang="zh-CN" altLang="en-US" b="1">
                  <a:solidFill>
                    <a:srgbClr val="0000CC"/>
                  </a:solidFill>
                  <a:latin typeface="+mn-lt"/>
                  <a:ea typeface="黑体" pitchFamily="2" charset="-122"/>
                </a:endParaRPr>
              </a:p>
            </p:txBody>
          </p:sp>
          <p:sp>
            <p:nvSpPr>
              <p:cNvPr id="220247" name="Oval 87"/>
              <p:cNvSpPr>
                <a:spLocks noChangeArrowheads="1"/>
              </p:cNvSpPr>
              <p:nvPr/>
            </p:nvSpPr>
            <p:spPr bwMode="auto">
              <a:xfrm>
                <a:off x="96" y="1430"/>
                <a:ext cx="1870" cy="760"/>
              </a:xfrm>
              <a:prstGeom prst="ellipse">
                <a:avLst/>
              </a:prstGeom>
              <a:grpFill/>
              <a:ln w="31750">
                <a:solidFill>
                  <a:srgbClr val="000000"/>
                </a:solidFill>
                <a:round/>
                <a:headEnd/>
                <a:tailEnd/>
              </a:ln>
            </p:spPr>
            <p:txBody>
              <a:bodyPr/>
              <a:lstStyle/>
              <a:p>
                <a:endParaRPr lang="zh-CN" altLang="en-US" b="1">
                  <a:solidFill>
                    <a:srgbClr val="0000CC"/>
                  </a:solidFill>
                  <a:latin typeface="+mn-lt"/>
                  <a:ea typeface="黑体" pitchFamily="2" charset="-122"/>
                </a:endParaRPr>
              </a:p>
            </p:txBody>
          </p:sp>
          <p:sp>
            <p:nvSpPr>
              <p:cNvPr id="220248" name="Oval 88"/>
              <p:cNvSpPr>
                <a:spLocks noChangeArrowheads="1"/>
              </p:cNvSpPr>
              <p:nvPr/>
            </p:nvSpPr>
            <p:spPr bwMode="auto">
              <a:xfrm>
                <a:off x="3365" y="1163"/>
                <a:ext cx="1903" cy="731"/>
              </a:xfrm>
              <a:prstGeom prst="ellipse">
                <a:avLst/>
              </a:prstGeom>
              <a:grpFill/>
              <a:ln w="31750">
                <a:solidFill>
                  <a:srgbClr val="000000"/>
                </a:solidFill>
                <a:round/>
                <a:headEnd/>
                <a:tailEnd/>
              </a:ln>
            </p:spPr>
            <p:txBody>
              <a:bodyPr/>
              <a:lstStyle/>
              <a:p>
                <a:endParaRPr lang="zh-CN" altLang="en-US" b="1">
                  <a:solidFill>
                    <a:srgbClr val="0000CC"/>
                  </a:solidFill>
                  <a:latin typeface="+mn-lt"/>
                  <a:ea typeface="黑体" pitchFamily="2" charset="-122"/>
                </a:endParaRPr>
              </a:p>
            </p:txBody>
          </p:sp>
          <p:sp>
            <p:nvSpPr>
              <p:cNvPr id="220249" name="Oval 89"/>
              <p:cNvSpPr>
                <a:spLocks noChangeArrowheads="1"/>
              </p:cNvSpPr>
              <p:nvPr/>
            </p:nvSpPr>
            <p:spPr bwMode="auto">
              <a:xfrm>
                <a:off x="2365" y="1821"/>
                <a:ext cx="1900" cy="771"/>
              </a:xfrm>
              <a:prstGeom prst="ellipse">
                <a:avLst/>
              </a:prstGeom>
              <a:grpFill/>
              <a:ln w="31750">
                <a:solidFill>
                  <a:srgbClr val="000000"/>
                </a:solidFill>
                <a:round/>
                <a:headEnd/>
                <a:tailEnd/>
              </a:ln>
            </p:spPr>
            <p:txBody>
              <a:bodyPr/>
              <a:lstStyle/>
              <a:p>
                <a:endParaRPr lang="zh-CN" altLang="en-US" b="1">
                  <a:solidFill>
                    <a:srgbClr val="0000CC"/>
                  </a:solidFill>
                  <a:latin typeface="+mn-lt"/>
                  <a:ea typeface="黑体" pitchFamily="2" charset="-122"/>
                </a:endParaRPr>
              </a:p>
            </p:txBody>
          </p:sp>
          <p:sp>
            <p:nvSpPr>
              <p:cNvPr id="220250" name="Oval 90"/>
              <p:cNvSpPr>
                <a:spLocks noChangeArrowheads="1"/>
              </p:cNvSpPr>
              <p:nvPr/>
            </p:nvSpPr>
            <p:spPr bwMode="auto">
              <a:xfrm>
                <a:off x="729" y="1752"/>
                <a:ext cx="1900" cy="731"/>
              </a:xfrm>
              <a:prstGeom prst="ellipse">
                <a:avLst/>
              </a:prstGeom>
              <a:grpFill/>
              <a:ln w="31750">
                <a:solidFill>
                  <a:srgbClr val="000000"/>
                </a:solidFill>
                <a:round/>
                <a:headEnd/>
                <a:tailEnd/>
              </a:ln>
            </p:spPr>
            <p:txBody>
              <a:bodyPr/>
              <a:lstStyle/>
              <a:p>
                <a:endParaRPr lang="zh-CN" altLang="en-US" b="1">
                  <a:solidFill>
                    <a:srgbClr val="0000CC"/>
                  </a:solidFill>
                  <a:latin typeface="+mn-lt"/>
                  <a:ea typeface="黑体" pitchFamily="2" charset="-122"/>
                </a:endParaRPr>
              </a:p>
            </p:txBody>
          </p:sp>
          <p:sp>
            <p:nvSpPr>
              <p:cNvPr id="220251" name="Oval 91"/>
              <p:cNvSpPr>
                <a:spLocks noChangeArrowheads="1"/>
              </p:cNvSpPr>
              <p:nvPr/>
            </p:nvSpPr>
            <p:spPr bwMode="auto">
              <a:xfrm>
                <a:off x="2197" y="1056"/>
                <a:ext cx="1870" cy="758"/>
              </a:xfrm>
              <a:prstGeom prst="ellipse">
                <a:avLst/>
              </a:prstGeom>
              <a:grpFill/>
              <a:ln w="31750">
                <a:solidFill>
                  <a:srgbClr val="000000"/>
                </a:solidFill>
                <a:round/>
                <a:headEnd/>
                <a:tailEnd/>
              </a:ln>
            </p:spPr>
            <p:txBody>
              <a:bodyPr/>
              <a:lstStyle/>
              <a:p>
                <a:endParaRPr lang="zh-CN" altLang="en-US" b="1">
                  <a:solidFill>
                    <a:srgbClr val="0000CC"/>
                  </a:solidFill>
                  <a:latin typeface="+mn-lt"/>
                  <a:ea typeface="黑体" pitchFamily="2" charset="-122"/>
                </a:endParaRPr>
              </a:p>
            </p:txBody>
          </p:sp>
          <p:sp>
            <p:nvSpPr>
              <p:cNvPr id="220252" name="Oval 92"/>
              <p:cNvSpPr>
                <a:spLocks noChangeArrowheads="1"/>
              </p:cNvSpPr>
              <p:nvPr/>
            </p:nvSpPr>
            <p:spPr bwMode="auto">
              <a:xfrm>
                <a:off x="996" y="1056"/>
                <a:ext cx="1867" cy="731"/>
              </a:xfrm>
              <a:prstGeom prst="ellipse">
                <a:avLst/>
              </a:prstGeom>
              <a:grpFill/>
              <a:ln w="31750">
                <a:solidFill>
                  <a:srgbClr val="000000"/>
                </a:solidFill>
                <a:round/>
                <a:headEnd/>
                <a:tailEnd/>
              </a:ln>
            </p:spPr>
            <p:txBody>
              <a:bodyPr/>
              <a:lstStyle/>
              <a:p>
                <a:endParaRPr lang="zh-CN" altLang="en-US" b="1">
                  <a:solidFill>
                    <a:srgbClr val="0000CC"/>
                  </a:solidFill>
                  <a:latin typeface="+mn-lt"/>
                  <a:ea typeface="黑体" pitchFamily="2" charset="-122"/>
                </a:endParaRPr>
              </a:p>
            </p:txBody>
          </p:sp>
          <p:sp>
            <p:nvSpPr>
              <p:cNvPr id="220253" name="Oval 93"/>
              <p:cNvSpPr>
                <a:spLocks noChangeArrowheads="1"/>
              </p:cNvSpPr>
              <p:nvPr/>
            </p:nvSpPr>
            <p:spPr bwMode="auto">
              <a:xfrm>
                <a:off x="597" y="1226"/>
                <a:ext cx="4536" cy="106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sp>
          <p:nvSpPr>
            <p:cNvPr id="220254" name="Line 94"/>
            <p:cNvSpPr>
              <a:spLocks noChangeShapeType="1"/>
            </p:cNvSpPr>
            <p:nvPr/>
          </p:nvSpPr>
          <p:spPr bwMode="auto">
            <a:xfrm>
              <a:off x="165100" y="5440363"/>
              <a:ext cx="2806700"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220255" name="Group 95"/>
            <p:cNvGrpSpPr>
              <a:grpSpLocks/>
            </p:cNvGrpSpPr>
            <p:nvPr/>
          </p:nvGrpSpPr>
          <p:grpSpPr bwMode="auto">
            <a:xfrm>
              <a:off x="247650" y="2420938"/>
              <a:ext cx="742950" cy="1447800"/>
              <a:chOff x="672" y="528"/>
              <a:chExt cx="432" cy="912"/>
            </a:xfrm>
          </p:grpSpPr>
          <p:sp>
            <p:nvSpPr>
              <p:cNvPr id="220256" name="AutoShape 96"/>
              <p:cNvSpPr>
                <a:spLocks noChangeArrowheads="1"/>
              </p:cNvSpPr>
              <p:nvPr/>
            </p:nvSpPr>
            <p:spPr bwMode="auto">
              <a:xfrm>
                <a:off x="672" y="1008"/>
                <a:ext cx="432" cy="432"/>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57" name="AutoShape 97"/>
              <p:cNvSpPr>
                <a:spLocks noChangeArrowheads="1"/>
              </p:cNvSpPr>
              <p:nvPr/>
            </p:nvSpPr>
            <p:spPr bwMode="auto">
              <a:xfrm>
                <a:off x="672" y="720"/>
                <a:ext cx="432" cy="432"/>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58" name="AutoShape 98"/>
              <p:cNvSpPr>
                <a:spLocks noChangeArrowheads="1"/>
              </p:cNvSpPr>
              <p:nvPr/>
            </p:nvSpPr>
            <p:spPr bwMode="auto">
              <a:xfrm>
                <a:off x="672" y="528"/>
                <a:ext cx="432" cy="432"/>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220259" name="Text Box 99"/>
            <p:cNvSpPr txBox="1">
              <a:spLocks noChangeArrowheads="1"/>
            </p:cNvSpPr>
            <p:nvPr/>
          </p:nvSpPr>
          <p:spPr bwMode="auto">
            <a:xfrm>
              <a:off x="287206" y="3430588"/>
              <a:ext cx="495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IP</a:t>
              </a:r>
              <a:r>
                <a:rPr kumimoji="1" lang="en-US" altLang="zh-CN" sz="1800" b="1" baseline="-25000">
                  <a:solidFill>
                    <a:srgbClr val="0000CC"/>
                  </a:solidFill>
                  <a:latin typeface="+mn-lt"/>
                  <a:ea typeface="黑体" pitchFamily="2" charset="-122"/>
                </a:rPr>
                <a:t>1</a:t>
              </a:r>
              <a:endParaRPr kumimoji="1" lang="en-US" altLang="zh-CN" sz="1800" b="1">
                <a:solidFill>
                  <a:srgbClr val="0000CC"/>
                </a:solidFill>
                <a:latin typeface="+mn-lt"/>
                <a:ea typeface="黑体" pitchFamily="2" charset="-122"/>
              </a:endParaRPr>
            </a:p>
          </p:txBody>
        </p:sp>
        <p:sp>
          <p:nvSpPr>
            <p:cNvPr id="220260" name="Text Box 100"/>
            <p:cNvSpPr txBox="1">
              <a:spLocks noChangeArrowheads="1"/>
            </p:cNvSpPr>
            <p:nvPr/>
          </p:nvSpPr>
          <p:spPr bwMode="auto">
            <a:xfrm>
              <a:off x="233892" y="4849813"/>
              <a:ext cx="60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1</a:t>
              </a:r>
              <a:endParaRPr kumimoji="1" lang="en-US" altLang="zh-CN" sz="1800" b="1">
                <a:solidFill>
                  <a:srgbClr val="0000CC"/>
                </a:solidFill>
                <a:latin typeface="+mn-lt"/>
                <a:ea typeface="黑体" pitchFamily="2" charset="-122"/>
              </a:endParaRPr>
            </a:p>
          </p:txBody>
        </p:sp>
        <p:sp>
          <p:nvSpPr>
            <p:cNvPr id="220261" name="Text Box 101"/>
            <p:cNvSpPr txBox="1">
              <a:spLocks noChangeArrowheads="1"/>
            </p:cNvSpPr>
            <p:nvPr/>
          </p:nvSpPr>
          <p:spPr bwMode="auto">
            <a:xfrm>
              <a:off x="5226448" y="4811713"/>
              <a:ext cx="60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5</a:t>
              </a:r>
              <a:endParaRPr kumimoji="1" lang="en-US" altLang="zh-CN" sz="1800" b="1">
                <a:solidFill>
                  <a:srgbClr val="0000CC"/>
                </a:solidFill>
                <a:latin typeface="+mn-lt"/>
                <a:ea typeface="黑体" pitchFamily="2" charset="-122"/>
              </a:endParaRPr>
            </a:p>
          </p:txBody>
        </p:sp>
        <p:sp>
          <p:nvSpPr>
            <p:cNvPr id="220262" name="Text Box 102"/>
            <p:cNvSpPr txBox="1">
              <a:spLocks noChangeArrowheads="1"/>
            </p:cNvSpPr>
            <p:nvPr/>
          </p:nvSpPr>
          <p:spPr bwMode="auto">
            <a:xfrm>
              <a:off x="3604683" y="4805363"/>
              <a:ext cx="60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4</a:t>
              </a:r>
              <a:endParaRPr kumimoji="1" lang="en-US" altLang="zh-CN" sz="1800" b="1">
                <a:solidFill>
                  <a:srgbClr val="0000CC"/>
                </a:solidFill>
                <a:latin typeface="+mn-lt"/>
                <a:ea typeface="黑体" pitchFamily="2" charset="-122"/>
              </a:endParaRPr>
            </a:p>
          </p:txBody>
        </p:sp>
        <p:sp>
          <p:nvSpPr>
            <p:cNvPr id="220263" name="Text Box 103"/>
            <p:cNvSpPr txBox="1">
              <a:spLocks noChangeArrowheads="1"/>
            </p:cNvSpPr>
            <p:nvPr/>
          </p:nvSpPr>
          <p:spPr bwMode="auto">
            <a:xfrm>
              <a:off x="2311400" y="4805363"/>
              <a:ext cx="60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3</a:t>
              </a:r>
              <a:endParaRPr kumimoji="1" lang="en-US" altLang="zh-CN" sz="1800" b="1">
                <a:solidFill>
                  <a:srgbClr val="0000CC"/>
                </a:solidFill>
                <a:latin typeface="+mn-lt"/>
                <a:ea typeface="黑体" pitchFamily="2" charset="-122"/>
              </a:endParaRPr>
            </a:p>
          </p:txBody>
        </p:sp>
        <p:sp>
          <p:nvSpPr>
            <p:cNvPr id="220264" name="Line 104"/>
            <p:cNvSpPr>
              <a:spLocks noChangeShapeType="1"/>
            </p:cNvSpPr>
            <p:nvPr/>
          </p:nvSpPr>
          <p:spPr bwMode="auto">
            <a:xfrm>
              <a:off x="908050" y="3611563"/>
              <a:ext cx="2063750"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65" name="Line 105"/>
            <p:cNvSpPr>
              <a:spLocks noChangeShapeType="1"/>
            </p:cNvSpPr>
            <p:nvPr/>
          </p:nvSpPr>
          <p:spPr bwMode="auto">
            <a:xfrm>
              <a:off x="6438900" y="5440363"/>
              <a:ext cx="3219450"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66" name="Text Box 106"/>
            <p:cNvSpPr txBox="1">
              <a:spLocks noChangeArrowheads="1"/>
            </p:cNvSpPr>
            <p:nvPr/>
          </p:nvSpPr>
          <p:spPr bwMode="auto">
            <a:xfrm>
              <a:off x="6507692" y="4799013"/>
              <a:ext cx="60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6</a:t>
              </a:r>
              <a:endParaRPr kumimoji="1" lang="en-US" altLang="zh-CN" sz="1800" b="1">
                <a:solidFill>
                  <a:srgbClr val="0000CC"/>
                </a:solidFill>
                <a:latin typeface="+mn-lt"/>
                <a:ea typeface="黑体" pitchFamily="2" charset="-122"/>
              </a:endParaRPr>
            </a:p>
          </p:txBody>
        </p:sp>
        <p:sp>
          <p:nvSpPr>
            <p:cNvPr id="220267" name="Text Box 107"/>
            <p:cNvSpPr txBox="1">
              <a:spLocks noChangeArrowheads="1"/>
            </p:cNvSpPr>
            <p:nvPr/>
          </p:nvSpPr>
          <p:spPr bwMode="auto">
            <a:xfrm>
              <a:off x="8805333" y="4814888"/>
              <a:ext cx="60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2</a:t>
              </a:r>
              <a:endParaRPr kumimoji="1" lang="en-US" altLang="zh-CN" sz="1800" b="1">
                <a:solidFill>
                  <a:srgbClr val="0000CC"/>
                </a:solidFill>
                <a:latin typeface="+mn-lt"/>
                <a:ea typeface="黑体" pitchFamily="2" charset="-122"/>
              </a:endParaRPr>
            </a:p>
          </p:txBody>
        </p:sp>
        <p:sp>
          <p:nvSpPr>
            <p:cNvPr id="220268" name="Text Box 108"/>
            <p:cNvSpPr txBox="1">
              <a:spLocks noChangeArrowheads="1"/>
            </p:cNvSpPr>
            <p:nvPr/>
          </p:nvSpPr>
          <p:spPr bwMode="auto">
            <a:xfrm>
              <a:off x="6507692" y="3709988"/>
              <a:ext cx="495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IP</a:t>
              </a:r>
              <a:r>
                <a:rPr kumimoji="1" lang="en-US" altLang="zh-CN" sz="1800" b="1" baseline="-25000">
                  <a:solidFill>
                    <a:srgbClr val="0000CC"/>
                  </a:solidFill>
                  <a:latin typeface="+mn-lt"/>
                  <a:ea typeface="黑体" pitchFamily="2" charset="-122"/>
                </a:rPr>
                <a:t>6</a:t>
              </a:r>
              <a:endParaRPr kumimoji="1" lang="en-US" altLang="zh-CN" sz="1800" b="1">
                <a:solidFill>
                  <a:srgbClr val="0000CC"/>
                </a:solidFill>
                <a:latin typeface="+mn-lt"/>
                <a:ea typeface="黑体" pitchFamily="2" charset="-122"/>
              </a:endParaRPr>
            </a:p>
          </p:txBody>
        </p:sp>
        <p:sp>
          <p:nvSpPr>
            <p:cNvPr id="220269" name="Text Box 109"/>
            <p:cNvSpPr txBox="1">
              <a:spLocks noChangeArrowheads="1"/>
            </p:cNvSpPr>
            <p:nvPr/>
          </p:nvSpPr>
          <p:spPr bwMode="auto">
            <a:xfrm>
              <a:off x="116946" y="2060576"/>
              <a:ext cx="96212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CC"/>
                  </a:solidFill>
                  <a:latin typeface="+mn-lt"/>
                  <a:ea typeface="黑体" pitchFamily="2" charset="-122"/>
                </a:rPr>
                <a:t>主机 </a:t>
              </a:r>
              <a:r>
                <a:rPr kumimoji="1" lang="en-US" altLang="zh-CN" sz="1800" b="1">
                  <a:solidFill>
                    <a:srgbClr val="0000CC"/>
                  </a:solidFill>
                  <a:latin typeface="+mn-lt"/>
                  <a:ea typeface="黑体" pitchFamily="2" charset="-122"/>
                </a:rPr>
                <a:t>H</a:t>
              </a:r>
              <a:r>
                <a:rPr kumimoji="1" lang="en-US" altLang="zh-CN" sz="1800" b="1" baseline="-25000">
                  <a:solidFill>
                    <a:srgbClr val="0000CC"/>
                  </a:solidFill>
                  <a:latin typeface="+mn-lt"/>
                  <a:ea typeface="黑体" pitchFamily="2" charset="-122"/>
                </a:rPr>
                <a:t>1</a:t>
              </a:r>
              <a:endParaRPr kumimoji="1" lang="en-US" altLang="zh-CN" sz="1800" b="1">
                <a:solidFill>
                  <a:srgbClr val="0000CC"/>
                </a:solidFill>
                <a:latin typeface="+mn-lt"/>
                <a:ea typeface="黑体" pitchFamily="2" charset="-122"/>
              </a:endParaRPr>
            </a:p>
          </p:txBody>
        </p:sp>
        <p:sp>
          <p:nvSpPr>
            <p:cNvPr id="220270" name="Text Box 110"/>
            <p:cNvSpPr txBox="1">
              <a:spLocks noChangeArrowheads="1"/>
            </p:cNvSpPr>
            <p:nvPr/>
          </p:nvSpPr>
          <p:spPr bwMode="auto">
            <a:xfrm>
              <a:off x="8702146" y="2035176"/>
              <a:ext cx="96212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CC"/>
                  </a:solidFill>
                  <a:latin typeface="+mn-lt"/>
                  <a:ea typeface="黑体" pitchFamily="2" charset="-122"/>
                </a:rPr>
                <a:t>主机 </a:t>
              </a:r>
              <a:r>
                <a:rPr kumimoji="1" lang="en-US" altLang="zh-CN" sz="1800" b="1">
                  <a:solidFill>
                    <a:srgbClr val="0000CC"/>
                  </a:solidFill>
                  <a:latin typeface="+mn-lt"/>
                  <a:ea typeface="黑体" pitchFamily="2" charset="-122"/>
                </a:rPr>
                <a:t>H</a:t>
              </a:r>
              <a:r>
                <a:rPr kumimoji="1" lang="en-US" altLang="zh-CN" sz="1800" b="1" baseline="-25000">
                  <a:solidFill>
                    <a:srgbClr val="0000CC"/>
                  </a:solidFill>
                  <a:latin typeface="+mn-lt"/>
                  <a:ea typeface="黑体" pitchFamily="2" charset="-122"/>
                </a:rPr>
                <a:t>2</a:t>
              </a:r>
              <a:endParaRPr kumimoji="1" lang="en-US" altLang="zh-CN" sz="1800" b="1">
                <a:solidFill>
                  <a:srgbClr val="0000CC"/>
                </a:solidFill>
                <a:latin typeface="+mn-lt"/>
                <a:ea typeface="黑体" pitchFamily="2" charset="-122"/>
              </a:endParaRPr>
            </a:p>
          </p:txBody>
        </p:sp>
        <p:sp>
          <p:nvSpPr>
            <p:cNvPr id="220271" name="AutoShape 111"/>
            <p:cNvSpPr>
              <a:spLocks noChangeArrowheads="1"/>
            </p:cNvSpPr>
            <p:nvPr/>
          </p:nvSpPr>
          <p:spPr bwMode="auto">
            <a:xfrm>
              <a:off x="2889250" y="3259138"/>
              <a:ext cx="742950" cy="609600"/>
            </a:xfrm>
            <a:prstGeom prst="cube">
              <a:avLst>
                <a:gd name="adj" fmla="val 25000"/>
              </a:avLst>
            </a:prstGeom>
            <a:solidFill>
              <a:srgbClr val="66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72" name="Text Box 112"/>
            <p:cNvSpPr txBox="1">
              <a:spLocks noChangeArrowheads="1"/>
            </p:cNvSpPr>
            <p:nvPr/>
          </p:nvSpPr>
          <p:spPr bwMode="auto">
            <a:xfrm>
              <a:off x="2834217" y="2887663"/>
              <a:ext cx="11929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CC"/>
                  </a:solidFill>
                  <a:latin typeface="+mn-lt"/>
                  <a:ea typeface="黑体" pitchFamily="2" charset="-122"/>
                </a:rPr>
                <a:t>路由器 </a:t>
              </a:r>
              <a:r>
                <a:rPr kumimoji="1" lang="en-US" altLang="zh-CN" sz="1800" b="1">
                  <a:solidFill>
                    <a:srgbClr val="0000CC"/>
                  </a:solidFill>
                  <a:latin typeface="+mn-lt"/>
                  <a:ea typeface="黑体" pitchFamily="2" charset="-122"/>
                </a:rPr>
                <a:t>R</a:t>
              </a:r>
              <a:r>
                <a:rPr kumimoji="1" lang="en-US" altLang="zh-CN" sz="1800" b="1" baseline="-25000">
                  <a:solidFill>
                    <a:srgbClr val="0000CC"/>
                  </a:solidFill>
                  <a:latin typeface="+mn-lt"/>
                  <a:ea typeface="黑体" pitchFamily="2" charset="-122"/>
                </a:rPr>
                <a:t>1</a:t>
              </a:r>
              <a:endParaRPr kumimoji="1" lang="en-US" altLang="zh-CN" sz="1800" b="1">
                <a:solidFill>
                  <a:srgbClr val="0000CC"/>
                </a:solidFill>
                <a:latin typeface="+mn-lt"/>
                <a:ea typeface="黑体" pitchFamily="2" charset="-122"/>
              </a:endParaRPr>
            </a:p>
          </p:txBody>
        </p:sp>
        <p:sp>
          <p:nvSpPr>
            <p:cNvPr id="220273" name="Text Box 113"/>
            <p:cNvSpPr txBox="1">
              <a:spLocks noChangeArrowheads="1"/>
            </p:cNvSpPr>
            <p:nvPr/>
          </p:nvSpPr>
          <p:spPr bwMode="auto">
            <a:xfrm>
              <a:off x="4485217" y="4186239"/>
              <a:ext cx="2410468" cy="461665"/>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CC"/>
                  </a:solidFill>
                  <a:latin typeface="+mn-lt"/>
                  <a:ea typeface="黑体" pitchFamily="2" charset="-122"/>
                </a:rPr>
                <a:t>IP </a:t>
              </a:r>
              <a:r>
                <a:rPr kumimoji="1" lang="zh-CN" altLang="en-US" sz="2400" b="1">
                  <a:solidFill>
                    <a:srgbClr val="0000CC"/>
                  </a:solidFill>
                  <a:latin typeface="+mn-lt"/>
                  <a:ea typeface="黑体" pitchFamily="2" charset="-122"/>
                </a:rPr>
                <a:t>层上的互联网</a:t>
              </a:r>
            </a:p>
          </p:txBody>
        </p:sp>
        <p:sp>
          <p:nvSpPr>
            <p:cNvPr id="220274" name="Text Box 114"/>
            <p:cNvSpPr txBox="1">
              <a:spLocks noChangeArrowheads="1"/>
            </p:cNvSpPr>
            <p:nvPr/>
          </p:nvSpPr>
          <p:spPr bwMode="auto">
            <a:xfrm>
              <a:off x="1073150" y="5948363"/>
              <a:ext cx="10070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MAC </a:t>
              </a:r>
              <a:r>
                <a:rPr kumimoji="1" lang="zh-CN" altLang="en-US" sz="1800" b="1">
                  <a:solidFill>
                    <a:srgbClr val="0000CC"/>
                  </a:solidFill>
                  <a:latin typeface="+mn-lt"/>
                  <a:ea typeface="黑体" pitchFamily="2" charset="-122"/>
                </a:rPr>
                <a:t>帧</a:t>
              </a:r>
            </a:p>
          </p:txBody>
        </p:sp>
        <p:grpSp>
          <p:nvGrpSpPr>
            <p:cNvPr id="220275" name="Group 115"/>
            <p:cNvGrpSpPr>
              <a:grpSpLocks/>
            </p:cNvGrpSpPr>
            <p:nvPr/>
          </p:nvGrpSpPr>
          <p:grpSpPr bwMode="auto">
            <a:xfrm>
              <a:off x="8832850" y="2420938"/>
              <a:ext cx="742950" cy="1447800"/>
              <a:chOff x="672" y="528"/>
              <a:chExt cx="432" cy="912"/>
            </a:xfrm>
          </p:grpSpPr>
          <p:sp>
            <p:nvSpPr>
              <p:cNvPr id="220276" name="AutoShape 116"/>
              <p:cNvSpPr>
                <a:spLocks noChangeArrowheads="1"/>
              </p:cNvSpPr>
              <p:nvPr/>
            </p:nvSpPr>
            <p:spPr bwMode="auto">
              <a:xfrm>
                <a:off x="672" y="1008"/>
                <a:ext cx="432" cy="432"/>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77" name="AutoShape 117"/>
              <p:cNvSpPr>
                <a:spLocks noChangeArrowheads="1"/>
              </p:cNvSpPr>
              <p:nvPr/>
            </p:nvSpPr>
            <p:spPr bwMode="auto">
              <a:xfrm>
                <a:off x="672" y="720"/>
                <a:ext cx="432" cy="432"/>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78" name="AutoShape 118"/>
              <p:cNvSpPr>
                <a:spLocks noChangeArrowheads="1"/>
              </p:cNvSpPr>
              <p:nvPr/>
            </p:nvSpPr>
            <p:spPr bwMode="auto">
              <a:xfrm>
                <a:off x="672" y="528"/>
                <a:ext cx="432" cy="432"/>
              </a:xfrm>
              <a:prstGeom prst="cube">
                <a:avLst>
                  <a:gd name="adj" fmla="val 25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220279" name="Text Box 119"/>
            <p:cNvSpPr txBox="1">
              <a:spLocks noChangeArrowheads="1"/>
            </p:cNvSpPr>
            <p:nvPr/>
          </p:nvSpPr>
          <p:spPr bwMode="auto">
            <a:xfrm>
              <a:off x="8886165" y="3435351"/>
              <a:ext cx="495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IP</a:t>
              </a:r>
              <a:r>
                <a:rPr kumimoji="1" lang="en-US" altLang="zh-CN" sz="1800" b="1" baseline="-25000">
                  <a:solidFill>
                    <a:srgbClr val="0000CC"/>
                  </a:solidFill>
                  <a:latin typeface="+mn-lt"/>
                  <a:ea typeface="黑体" pitchFamily="2" charset="-122"/>
                </a:rPr>
                <a:t>2</a:t>
              </a:r>
              <a:endParaRPr kumimoji="1" lang="en-US" altLang="zh-CN" sz="1800" b="1">
                <a:solidFill>
                  <a:srgbClr val="0000CC"/>
                </a:solidFill>
                <a:latin typeface="+mn-lt"/>
                <a:ea typeface="黑体" pitchFamily="2" charset="-122"/>
              </a:endParaRPr>
            </a:p>
          </p:txBody>
        </p:sp>
        <p:sp>
          <p:nvSpPr>
            <p:cNvPr id="220280" name="Text Box 120"/>
            <p:cNvSpPr txBox="1">
              <a:spLocks noChangeArrowheads="1"/>
            </p:cNvSpPr>
            <p:nvPr/>
          </p:nvSpPr>
          <p:spPr bwMode="auto">
            <a:xfrm>
              <a:off x="3597804" y="3697288"/>
              <a:ext cx="495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IP</a:t>
              </a:r>
              <a:r>
                <a:rPr kumimoji="1" lang="en-US" altLang="zh-CN" sz="1800" b="1" baseline="-25000">
                  <a:solidFill>
                    <a:srgbClr val="0000CC"/>
                  </a:solidFill>
                  <a:latin typeface="+mn-lt"/>
                  <a:ea typeface="黑体" pitchFamily="2" charset="-122"/>
                </a:rPr>
                <a:t>4</a:t>
              </a:r>
              <a:endParaRPr kumimoji="1" lang="en-US" altLang="zh-CN" sz="1800" b="1">
                <a:solidFill>
                  <a:srgbClr val="0000CC"/>
                </a:solidFill>
                <a:latin typeface="+mn-lt"/>
                <a:ea typeface="黑体" pitchFamily="2" charset="-122"/>
              </a:endParaRPr>
            </a:p>
          </p:txBody>
        </p:sp>
        <p:sp>
          <p:nvSpPr>
            <p:cNvPr id="220281" name="Text Box 121"/>
            <p:cNvSpPr txBox="1">
              <a:spLocks noChangeArrowheads="1"/>
            </p:cNvSpPr>
            <p:nvPr/>
          </p:nvSpPr>
          <p:spPr bwMode="auto">
            <a:xfrm>
              <a:off x="2476500" y="3697288"/>
              <a:ext cx="495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IP</a:t>
              </a:r>
              <a:r>
                <a:rPr kumimoji="1" lang="en-US" altLang="zh-CN" sz="1800" b="1" baseline="-25000">
                  <a:solidFill>
                    <a:srgbClr val="0000CC"/>
                  </a:solidFill>
                  <a:latin typeface="+mn-lt"/>
                  <a:ea typeface="黑体" pitchFamily="2" charset="-122"/>
                </a:rPr>
                <a:t>3</a:t>
              </a:r>
              <a:endParaRPr kumimoji="1" lang="en-US" altLang="zh-CN" sz="1800" b="1">
                <a:solidFill>
                  <a:srgbClr val="0000CC"/>
                </a:solidFill>
                <a:latin typeface="+mn-lt"/>
                <a:ea typeface="黑体" pitchFamily="2" charset="-122"/>
              </a:endParaRPr>
            </a:p>
          </p:txBody>
        </p:sp>
        <p:sp>
          <p:nvSpPr>
            <p:cNvPr id="220282" name="Line 122"/>
            <p:cNvSpPr>
              <a:spLocks noChangeShapeType="1"/>
            </p:cNvSpPr>
            <p:nvPr/>
          </p:nvSpPr>
          <p:spPr bwMode="auto">
            <a:xfrm>
              <a:off x="3549650" y="3611563"/>
              <a:ext cx="2228850"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83" name="AutoShape 123"/>
            <p:cNvSpPr>
              <a:spLocks noChangeArrowheads="1"/>
            </p:cNvSpPr>
            <p:nvPr/>
          </p:nvSpPr>
          <p:spPr bwMode="auto">
            <a:xfrm>
              <a:off x="5776781" y="3230563"/>
              <a:ext cx="742950" cy="609600"/>
            </a:xfrm>
            <a:prstGeom prst="cube">
              <a:avLst>
                <a:gd name="adj" fmla="val 25000"/>
              </a:avLst>
            </a:prstGeom>
            <a:solidFill>
              <a:srgbClr val="66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84" name="Line 124"/>
            <p:cNvSpPr>
              <a:spLocks noChangeShapeType="1"/>
            </p:cNvSpPr>
            <p:nvPr/>
          </p:nvSpPr>
          <p:spPr bwMode="auto">
            <a:xfrm>
              <a:off x="6438900" y="3611563"/>
              <a:ext cx="2393950"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85" name="Text Box 125"/>
            <p:cNvSpPr txBox="1">
              <a:spLocks noChangeArrowheads="1"/>
            </p:cNvSpPr>
            <p:nvPr/>
          </p:nvSpPr>
          <p:spPr bwMode="auto">
            <a:xfrm>
              <a:off x="5365750" y="3697288"/>
              <a:ext cx="495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IP</a:t>
              </a:r>
              <a:r>
                <a:rPr kumimoji="1" lang="en-US" altLang="zh-CN" sz="1800" b="1" baseline="-25000">
                  <a:solidFill>
                    <a:srgbClr val="0000CC"/>
                  </a:solidFill>
                  <a:latin typeface="+mn-lt"/>
                  <a:ea typeface="黑体" pitchFamily="2" charset="-122"/>
                </a:rPr>
                <a:t>5</a:t>
              </a:r>
              <a:endParaRPr kumimoji="1" lang="en-US" altLang="zh-CN" sz="1800" b="1">
                <a:solidFill>
                  <a:srgbClr val="0000CC"/>
                </a:solidFill>
                <a:latin typeface="+mn-lt"/>
                <a:ea typeface="黑体" pitchFamily="2" charset="-122"/>
              </a:endParaRPr>
            </a:p>
          </p:txBody>
        </p:sp>
        <p:sp>
          <p:nvSpPr>
            <p:cNvPr id="220286" name="Line 126"/>
            <p:cNvSpPr>
              <a:spLocks noChangeShapeType="1"/>
            </p:cNvSpPr>
            <p:nvPr/>
          </p:nvSpPr>
          <p:spPr bwMode="auto">
            <a:xfrm>
              <a:off x="3632200" y="5440363"/>
              <a:ext cx="2063750"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87" name="Freeform 127"/>
            <p:cNvSpPr>
              <a:spLocks/>
            </p:cNvSpPr>
            <p:nvPr/>
          </p:nvSpPr>
          <p:spPr bwMode="auto">
            <a:xfrm flipH="1">
              <a:off x="6414823" y="5156201"/>
              <a:ext cx="369756" cy="284163"/>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88" name="Freeform 128"/>
            <p:cNvSpPr>
              <a:spLocks/>
            </p:cNvSpPr>
            <p:nvPr/>
          </p:nvSpPr>
          <p:spPr bwMode="auto">
            <a:xfrm flipH="1">
              <a:off x="3503216" y="5162550"/>
              <a:ext cx="459184" cy="279400"/>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0289" name="Text Box 129"/>
            <p:cNvSpPr txBox="1">
              <a:spLocks noChangeArrowheads="1"/>
            </p:cNvSpPr>
            <p:nvPr/>
          </p:nvSpPr>
          <p:spPr bwMode="auto">
            <a:xfrm>
              <a:off x="5652956" y="2862263"/>
              <a:ext cx="11929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CC"/>
                  </a:solidFill>
                  <a:latin typeface="+mn-lt"/>
                  <a:ea typeface="黑体" pitchFamily="2" charset="-122"/>
                </a:rPr>
                <a:t>路由器 </a:t>
              </a:r>
              <a:r>
                <a:rPr kumimoji="1" lang="en-US" altLang="zh-CN" sz="1800" b="1">
                  <a:solidFill>
                    <a:srgbClr val="0000CC"/>
                  </a:solidFill>
                  <a:latin typeface="+mn-lt"/>
                  <a:ea typeface="黑体" pitchFamily="2" charset="-122"/>
                </a:rPr>
                <a:t>R</a:t>
              </a:r>
              <a:r>
                <a:rPr kumimoji="1" lang="en-US" altLang="zh-CN" sz="1800" b="1" baseline="-25000">
                  <a:solidFill>
                    <a:srgbClr val="0000CC"/>
                  </a:solidFill>
                  <a:latin typeface="+mn-lt"/>
                  <a:ea typeface="黑体" pitchFamily="2" charset="-122"/>
                </a:rPr>
                <a:t>2</a:t>
              </a:r>
              <a:endParaRPr kumimoji="1" lang="en-US" altLang="zh-CN" sz="1800" b="1">
                <a:solidFill>
                  <a:srgbClr val="0000CC"/>
                </a:solidFill>
                <a:latin typeface="+mn-lt"/>
                <a:ea typeface="黑体" pitchFamily="2" charset="-122"/>
              </a:endParaRPr>
            </a:p>
          </p:txBody>
        </p:sp>
        <p:grpSp>
          <p:nvGrpSpPr>
            <p:cNvPr id="220290" name="Group 130"/>
            <p:cNvGrpSpPr>
              <a:grpSpLocks/>
            </p:cNvGrpSpPr>
            <p:nvPr/>
          </p:nvGrpSpPr>
          <p:grpSpPr bwMode="auto">
            <a:xfrm>
              <a:off x="1238250" y="3154363"/>
              <a:ext cx="1568450" cy="381000"/>
              <a:chOff x="1632" y="2688"/>
              <a:chExt cx="912" cy="240"/>
            </a:xfrm>
          </p:grpSpPr>
          <p:sp>
            <p:nvSpPr>
              <p:cNvPr id="220291" name="Rectangle 131"/>
              <p:cNvSpPr>
                <a:spLocks noChangeArrowheads="1"/>
              </p:cNvSpPr>
              <p:nvPr/>
            </p:nvSpPr>
            <p:spPr bwMode="auto">
              <a:xfrm>
                <a:off x="1632" y="2688"/>
                <a:ext cx="720" cy="240"/>
              </a:xfrm>
              <a:prstGeom prst="rect">
                <a:avLst/>
              </a:prstGeom>
              <a:solidFill>
                <a:srgbClr val="FF99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dirty="0">
                    <a:solidFill>
                      <a:srgbClr val="0000CC"/>
                    </a:solidFill>
                    <a:latin typeface="+mn-lt"/>
                    <a:ea typeface="黑体" pitchFamily="2" charset="-122"/>
                  </a:rPr>
                  <a:t>  IP</a:t>
                </a:r>
                <a:r>
                  <a:rPr kumimoji="1" lang="en-US" altLang="zh-CN" sz="1800" b="1" baseline="-25000" dirty="0">
                    <a:solidFill>
                      <a:srgbClr val="0000CC"/>
                    </a:solidFill>
                    <a:latin typeface="+mn-lt"/>
                    <a:ea typeface="黑体" pitchFamily="2" charset="-122"/>
                  </a:rPr>
                  <a:t>1</a:t>
                </a:r>
                <a:r>
                  <a:rPr kumimoji="1" lang="en-US" altLang="zh-CN" sz="1800" b="1" dirty="0">
                    <a:solidFill>
                      <a:srgbClr val="0000CC"/>
                    </a:solidFill>
                    <a:latin typeface="+mn-lt"/>
                    <a:ea typeface="黑体" pitchFamily="2" charset="-122"/>
                  </a:rPr>
                  <a:t> → IP</a:t>
                </a:r>
                <a:r>
                  <a:rPr kumimoji="1" lang="en-US" altLang="zh-CN" sz="1800" b="1" baseline="-25000" dirty="0">
                    <a:solidFill>
                      <a:srgbClr val="0000CC"/>
                    </a:solidFill>
                    <a:latin typeface="+mn-lt"/>
                    <a:ea typeface="黑体" pitchFamily="2" charset="-122"/>
                  </a:rPr>
                  <a:t>2</a:t>
                </a:r>
              </a:p>
            </p:txBody>
          </p:sp>
          <p:sp>
            <p:nvSpPr>
              <p:cNvPr id="220292" name="AutoShape 132"/>
              <p:cNvSpPr>
                <a:spLocks noChangeArrowheads="1"/>
              </p:cNvSpPr>
              <p:nvPr/>
            </p:nvSpPr>
            <p:spPr bwMode="auto">
              <a:xfrm>
                <a:off x="2352" y="2736"/>
                <a:ext cx="192" cy="144"/>
              </a:xfrm>
              <a:prstGeom prst="rightArrow">
                <a:avLst>
                  <a:gd name="adj1" fmla="val 50000"/>
                  <a:gd name="adj2" fmla="val 54167"/>
                </a:avLst>
              </a:prstGeom>
              <a:solidFill>
                <a:srgbClr val="FF99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220293" name="Group 133"/>
            <p:cNvGrpSpPr>
              <a:grpSpLocks/>
            </p:cNvGrpSpPr>
            <p:nvPr/>
          </p:nvGrpSpPr>
          <p:grpSpPr bwMode="auto">
            <a:xfrm>
              <a:off x="4044950" y="3154363"/>
              <a:ext cx="1568450" cy="381000"/>
              <a:chOff x="1632" y="2688"/>
              <a:chExt cx="912" cy="240"/>
            </a:xfrm>
          </p:grpSpPr>
          <p:sp>
            <p:nvSpPr>
              <p:cNvPr id="220294" name="Rectangle 134"/>
              <p:cNvSpPr>
                <a:spLocks noChangeArrowheads="1"/>
              </p:cNvSpPr>
              <p:nvPr/>
            </p:nvSpPr>
            <p:spPr bwMode="auto">
              <a:xfrm>
                <a:off x="1632" y="2688"/>
                <a:ext cx="720" cy="240"/>
              </a:xfrm>
              <a:prstGeom prst="rect">
                <a:avLst/>
              </a:prstGeom>
              <a:solidFill>
                <a:srgbClr val="FF99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CC"/>
                    </a:solidFill>
                    <a:latin typeface="+mn-lt"/>
                    <a:ea typeface="黑体" pitchFamily="2" charset="-122"/>
                  </a:rPr>
                  <a:t>IP</a:t>
                </a:r>
                <a:r>
                  <a:rPr kumimoji="1" lang="en-US" altLang="zh-CN" sz="1800" b="1" baseline="-25000">
                    <a:solidFill>
                      <a:srgbClr val="0000CC"/>
                    </a:solidFill>
                    <a:latin typeface="+mn-lt"/>
                    <a:ea typeface="黑体" pitchFamily="2" charset="-122"/>
                  </a:rPr>
                  <a:t>1</a:t>
                </a:r>
                <a:r>
                  <a:rPr kumimoji="1" lang="en-US" altLang="zh-CN" sz="1800" b="1">
                    <a:solidFill>
                      <a:srgbClr val="0000CC"/>
                    </a:solidFill>
                    <a:latin typeface="+mn-lt"/>
                    <a:ea typeface="黑体" pitchFamily="2" charset="-122"/>
                  </a:rPr>
                  <a:t> → IP</a:t>
                </a:r>
                <a:r>
                  <a:rPr kumimoji="1" lang="en-US" altLang="zh-CN" sz="1800" b="1" baseline="-25000">
                    <a:solidFill>
                      <a:srgbClr val="0000CC"/>
                    </a:solidFill>
                    <a:latin typeface="+mn-lt"/>
                    <a:ea typeface="黑体" pitchFamily="2" charset="-122"/>
                  </a:rPr>
                  <a:t>2</a:t>
                </a:r>
              </a:p>
            </p:txBody>
          </p:sp>
          <p:sp>
            <p:nvSpPr>
              <p:cNvPr id="220295" name="AutoShape 135"/>
              <p:cNvSpPr>
                <a:spLocks noChangeArrowheads="1"/>
              </p:cNvSpPr>
              <p:nvPr/>
            </p:nvSpPr>
            <p:spPr bwMode="auto">
              <a:xfrm>
                <a:off x="2352" y="2736"/>
                <a:ext cx="192" cy="144"/>
              </a:xfrm>
              <a:prstGeom prst="rightArrow">
                <a:avLst>
                  <a:gd name="adj1" fmla="val 50000"/>
                  <a:gd name="adj2" fmla="val 54167"/>
                </a:avLst>
              </a:prstGeom>
              <a:solidFill>
                <a:srgbClr val="FF99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220296" name="Group 136"/>
            <p:cNvGrpSpPr>
              <a:grpSpLocks/>
            </p:cNvGrpSpPr>
            <p:nvPr/>
          </p:nvGrpSpPr>
          <p:grpSpPr bwMode="auto">
            <a:xfrm>
              <a:off x="7016750" y="3154363"/>
              <a:ext cx="1568450" cy="381000"/>
              <a:chOff x="1632" y="2688"/>
              <a:chExt cx="912" cy="240"/>
            </a:xfrm>
          </p:grpSpPr>
          <p:sp>
            <p:nvSpPr>
              <p:cNvPr id="220297" name="Rectangle 137"/>
              <p:cNvSpPr>
                <a:spLocks noChangeArrowheads="1"/>
              </p:cNvSpPr>
              <p:nvPr/>
            </p:nvSpPr>
            <p:spPr bwMode="auto">
              <a:xfrm>
                <a:off x="1632" y="2688"/>
                <a:ext cx="720" cy="240"/>
              </a:xfrm>
              <a:prstGeom prst="rect">
                <a:avLst/>
              </a:prstGeom>
              <a:solidFill>
                <a:srgbClr val="FF99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CC"/>
                    </a:solidFill>
                    <a:latin typeface="+mn-lt"/>
                    <a:ea typeface="黑体" pitchFamily="2" charset="-122"/>
                  </a:rPr>
                  <a:t>IP</a:t>
                </a:r>
                <a:r>
                  <a:rPr kumimoji="1" lang="en-US" altLang="zh-CN" sz="1800" b="1" baseline="-25000">
                    <a:solidFill>
                      <a:srgbClr val="0000CC"/>
                    </a:solidFill>
                    <a:latin typeface="+mn-lt"/>
                    <a:ea typeface="黑体" pitchFamily="2" charset="-122"/>
                  </a:rPr>
                  <a:t>1</a:t>
                </a:r>
                <a:r>
                  <a:rPr kumimoji="1" lang="en-US" altLang="zh-CN" sz="1800" b="1">
                    <a:solidFill>
                      <a:srgbClr val="0000CC"/>
                    </a:solidFill>
                    <a:latin typeface="+mn-lt"/>
                    <a:ea typeface="黑体" pitchFamily="2" charset="-122"/>
                  </a:rPr>
                  <a:t> → IP</a:t>
                </a:r>
                <a:r>
                  <a:rPr kumimoji="1" lang="en-US" altLang="zh-CN" sz="1800" b="1" baseline="-25000">
                    <a:solidFill>
                      <a:srgbClr val="0000CC"/>
                    </a:solidFill>
                    <a:latin typeface="+mn-lt"/>
                    <a:ea typeface="黑体" pitchFamily="2" charset="-122"/>
                  </a:rPr>
                  <a:t>2</a:t>
                </a:r>
              </a:p>
            </p:txBody>
          </p:sp>
          <p:sp>
            <p:nvSpPr>
              <p:cNvPr id="220298" name="AutoShape 138"/>
              <p:cNvSpPr>
                <a:spLocks noChangeArrowheads="1"/>
              </p:cNvSpPr>
              <p:nvPr/>
            </p:nvSpPr>
            <p:spPr bwMode="auto">
              <a:xfrm>
                <a:off x="2352" y="2736"/>
                <a:ext cx="192" cy="144"/>
              </a:xfrm>
              <a:prstGeom prst="rightArrow">
                <a:avLst>
                  <a:gd name="adj1" fmla="val 50000"/>
                  <a:gd name="adj2" fmla="val 54167"/>
                </a:avLst>
              </a:prstGeom>
              <a:solidFill>
                <a:srgbClr val="FF99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220299" name="Group 139"/>
            <p:cNvGrpSpPr>
              <a:grpSpLocks/>
            </p:cNvGrpSpPr>
            <p:nvPr/>
          </p:nvGrpSpPr>
          <p:grpSpPr bwMode="auto">
            <a:xfrm>
              <a:off x="660400" y="5592763"/>
              <a:ext cx="2146300" cy="381000"/>
              <a:chOff x="480" y="3120"/>
              <a:chExt cx="1248" cy="240"/>
            </a:xfrm>
          </p:grpSpPr>
          <p:sp>
            <p:nvSpPr>
              <p:cNvPr id="220300" name="Rectangle 140"/>
              <p:cNvSpPr>
                <a:spLocks noChangeArrowheads="1"/>
              </p:cNvSpPr>
              <p:nvPr/>
            </p:nvSpPr>
            <p:spPr bwMode="auto">
              <a:xfrm>
                <a:off x="480" y="3120"/>
                <a:ext cx="1056" cy="240"/>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800" b="1">
                    <a:solidFill>
                      <a:srgbClr val="0000CC"/>
                    </a:solidFill>
                    <a:latin typeface="+mn-lt"/>
                    <a:ea typeface="黑体" pitchFamily="2" charset="-122"/>
                  </a:rPr>
                  <a:t>从 </a:t>
                </a:r>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1</a:t>
                </a:r>
                <a:r>
                  <a:rPr kumimoji="1" lang="en-US" altLang="zh-CN" sz="1800" b="1">
                    <a:solidFill>
                      <a:srgbClr val="0000CC"/>
                    </a:solidFill>
                    <a:latin typeface="+mn-lt"/>
                    <a:ea typeface="黑体" pitchFamily="2" charset="-122"/>
                  </a:rPr>
                  <a:t> </a:t>
                </a:r>
                <a:r>
                  <a:rPr kumimoji="1" lang="zh-CN" altLang="en-US" sz="1800" b="1">
                    <a:solidFill>
                      <a:srgbClr val="0000CC"/>
                    </a:solidFill>
                    <a:latin typeface="+mn-lt"/>
                    <a:ea typeface="黑体" pitchFamily="2" charset="-122"/>
                  </a:rPr>
                  <a:t>到 </a:t>
                </a:r>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3</a:t>
                </a:r>
              </a:p>
            </p:txBody>
          </p:sp>
          <p:sp>
            <p:nvSpPr>
              <p:cNvPr id="220301" name="AutoShape 141"/>
              <p:cNvSpPr>
                <a:spLocks noChangeArrowheads="1"/>
              </p:cNvSpPr>
              <p:nvPr/>
            </p:nvSpPr>
            <p:spPr bwMode="auto">
              <a:xfrm>
                <a:off x="1536" y="3168"/>
                <a:ext cx="192" cy="144"/>
              </a:xfrm>
              <a:prstGeom prst="rightArrow">
                <a:avLst>
                  <a:gd name="adj1" fmla="val 50000"/>
                  <a:gd name="adj2" fmla="val 54167"/>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220302" name="Group 142"/>
            <p:cNvGrpSpPr>
              <a:grpSpLocks/>
            </p:cNvGrpSpPr>
            <p:nvPr/>
          </p:nvGrpSpPr>
          <p:grpSpPr bwMode="auto">
            <a:xfrm>
              <a:off x="3797300" y="5592763"/>
              <a:ext cx="2146300" cy="381000"/>
              <a:chOff x="480" y="3120"/>
              <a:chExt cx="1248" cy="240"/>
            </a:xfrm>
          </p:grpSpPr>
          <p:sp>
            <p:nvSpPr>
              <p:cNvPr id="220303" name="Rectangle 143"/>
              <p:cNvSpPr>
                <a:spLocks noChangeArrowheads="1"/>
              </p:cNvSpPr>
              <p:nvPr/>
            </p:nvSpPr>
            <p:spPr bwMode="auto">
              <a:xfrm>
                <a:off x="480" y="3120"/>
                <a:ext cx="1056" cy="240"/>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800" b="1">
                    <a:solidFill>
                      <a:srgbClr val="0000CC"/>
                    </a:solidFill>
                    <a:latin typeface="+mn-lt"/>
                    <a:ea typeface="黑体" pitchFamily="2" charset="-122"/>
                  </a:rPr>
                  <a:t>从 </a:t>
                </a:r>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4</a:t>
                </a:r>
                <a:r>
                  <a:rPr kumimoji="1" lang="en-US" altLang="zh-CN" sz="1800" b="1">
                    <a:solidFill>
                      <a:srgbClr val="0000CC"/>
                    </a:solidFill>
                    <a:latin typeface="+mn-lt"/>
                    <a:ea typeface="黑体" pitchFamily="2" charset="-122"/>
                  </a:rPr>
                  <a:t> </a:t>
                </a:r>
                <a:r>
                  <a:rPr kumimoji="1" lang="zh-CN" altLang="en-US" sz="1800" b="1">
                    <a:solidFill>
                      <a:srgbClr val="0000CC"/>
                    </a:solidFill>
                    <a:latin typeface="+mn-lt"/>
                    <a:ea typeface="黑体" pitchFamily="2" charset="-122"/>
                  </a:rPr>
                  <a:t>到 </a:t>
                </a:r>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5</a:t>
                </a:r>
              </a:p>
            </p:txBody>
          </p:sp>
          <p:sp>
            <p:nvSpPr>
              <p:cNvPr id="220304" name="AutoShape 144"/>
              <p:cNvSpPr>
                <a:spLocks noChangeArrowheads="1"/>
              </p:cNvSpPr>
              <p:nvPr/>
            </p:nvSpPr>
            <p:spPr bwMode="auto">
              <a:xfrm>
                <a:off x="1536" y="3168"/>
                <a:ext cx="192" cy="144"/>
              </a:xfrm>
              <a:prstGeom prst="rightArrow">
                <a:avLst>
                  <a:gd name="adj1" fmla="val 50000"/>
                  <a:gd name="adj2" fmla="val 54167"/>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220305" name="Group 145"/>
            <p:cNvGrpSpPr>
              <a:grpSpLocks/>
            </p:cNvGrpSpPr>
            <p:nvPr/>
          </p:nvGrpSpPr>
          <p:grpSpPr bwMode="auto">
            <a:xfrm>
              <a:off x="6934200" y="5592763"/>
              <a:ext cx="2146300" cy="381000"/>
              <a:chOff x="480" y="3120"/>
              <a:chExt cx="1248" cy="240"/>
            </a:xfrm>
          </p:grpSpPr>
          <p:sp>
            <p:nvSpPr>
              <p:cNvPr id="220306" name="Rectangle 146"/>
              <p:cNvSpPr>
                <a:spLocks noChangeArrowheads="1"/>
              </p:cNvSpPr>
              <p:nvPr/>
            </p:nvSpPr>
            <p:spPr bwMode="auto">
              <a:xfrm>
                <a:off x="480" y="3120"/>
                <a:ext cx="1056" cy="240"/>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800" b="1">
                    <a:solidFill>
                      <a:srgbClr val="0000CC"/>
                    </a:solidFill>
                    <a:latin typeface="+mn-lt"/>
                    <a:ea typeface="黑体" pitchFamily="2" charset="-122"/>
                  </a:rPr>
                  <a:t>从 </a:t>
                </a:r>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6</a:t>
                </a:r>
                <a:r>
                  <a:rPr kumimoji="1" lang="en-US" altLang="zh-CN" sz="1800" b="1">
                    <a:solidFill>
                      <a:srgbClr val="0000CC"/>
                    </a:solidFill>
                    <a:latin typeface="+mn-lt"/>
                    <a:ea typeface="黑体" pitchFamily="2" charset="-122"/>
                  </a:rPr>
                  <a:t> </a:t>
                </a:r>
                <a:r>
                  <a:rPr kumimoji="1" lang="zh-CN" altLang="en-US" sz="1800" b="1">
                    <a:solidFill>
                      <a:srgbClr val="0000CC"/>
                    </a:solidFill>
                    <a:latin typeface="+mn-lt"/>
                    <a:ea typeface="黑体" pitchFamily="2" charset="-122"/>
                  </a:rPr>
                  <a:t>到 </a:t>
                </a:r>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2</a:t>
                </a:r>
              </a:p>
            </p:txBody>
          </p:sp>
          <p:sp>
            <p:nvSpPr>
              <p:cNvPr id="220307" name="AutoShape 147"/>
              <p:cNvSpPr>
                <a:spLocks noChangeArrowheads="1"/>
              </p:cNvSpPr>
              <p:nvPr/>
            </p:nvSpPr>
            <p:spPr bwMode="auto">
              <a:xfrm>
                <a:off x="1536" y="3168"/>
                <a:ext cx="192" cy="144"/>
              </a:xfrm>
              <a:prstGeom prst="rightArrow">
                <a:avLst>
                  <a:gd name="adj1" fmla="val 50000"/>
                  <a:gd name="adj2" fmla="val 54167"/>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220308" name="Text Box 148"/>
            <p:cNvSpPr txBox="1">
              <a:spLocks noChangeArrowheads="1"/>
            </p:cNvSpPr>
            <p:nvPr/>
          </p:nvSpPr>
          <p:spPr bwMode="auto">
            <a:xfrm>
              <a:off x="7429500" y="6018213"/>
              <a:ext cx="10070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MAC </a:t>
              </a:r>
              <a:r>
                <a:rPr kumimoji="1" lang="zh-CN" altLang="en-US" sz="1800" b="1">
                  <a:solidFill>
                    <a:srgbClr val="0000CC"/>
                  </a:solidFill>
                  <a:latin typeface="+mn-lt"/>
                  <a:ea typeface="黑体" pitchFamily="2" charset="-122"/>
                </a:rPr>
                <a:t>帧</a:t>
              </a:r>
            </a:p>
          </p:txBody>
        </p:sp>
        <p:sp>
          <p:nvSpPr>
            <p:cNvPr id="220309" name="Text Box 149"/>
            <p:cNvSpPr txBox="1">
              <a:spLocks noChangeArrowheads="1"/>
            </p:cNvSpPr>
            <p:nvPr/>
          </p:nvSpPr>
          <p:spPr bwMode="auto">
            <a:xfrm>
              <a:off x="4308079" y="6018213"/>
              <a:ext cx="10070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MAC </a:t>
              </a:r>
              <a:r>
                <a:rPr kumimoji="1" lang="zh-CN" altLang="en-US" sz="1800" b="1">
                  <a:solidFill>
                    <a:srgbClr val="0000CC"/>
                  </a:solidFill>
                  <a:latin typeface="+mn-lt"/>
                  <a:ea typeface="黑体" pitchFamily="2" charset="-122"/>
                </a:rPr>
                <a:t>帧</a:t>
              </a:r>
            </a:p>
          </p:txBody>
        </p:sp>
        <p:sp>
          <p:nvSpPr>
            <p:cNvPr id="220310" name="AutoShape 150"/>
            <p:cNvSpPr>
              <a:spLocks noChangeArrowheads="1"/>
            </p:cNvSpPr>
            <p:nvPr/>
          </p:nvSpPr>
          <p:spPr bwMode="auto">
            <a:xfrm flipV="1">
              <a:off x="2228850" y="2292351"/>
              <a:ext cx="1320800" cy="377825"/>
            </a:xfrm>
            <a:prstGeom prst="wedgeRoundRectCallout">
              <a:avLst>
                <a:gd name="adj1" fmla="val -75782"/>
                <a:gd name="adj2" fmla="val -203782"/>
                <a:gd name="adj3" fmla="val 16667"/>
              </a:avLst>
            </a:prstGeom>
            <a:solidFill>
              <a:srgbClr val="66FF33"/>
            </a:solidFill>
            <a:ln w="9525">
              <a:solidFill>
                <a:schemeClr val="tx1"/>
              </a:solidFill>
              <a:miter lim="800000"/>
              <a:headEnd/>
              <a:tailEnd/>
            </a:ln>
            <a:effectLst/>
          </p:spPr>
          <p:txBody>
            <a:bodyPr rot="10800000" wrap="none" anchor="ctr"/>
            <a:lstStyle/>
            <a:p>
              <a:pPr algn="ctr"/>
              <a:endParaRPr kumimoji="1" lang="zh-CN" altLang="zh-CN" sz="1800" b="1">
                <a:solidFill>
                  <a:srgbClr val="0000CC"/>
                </a:solidFill>
                <a:latin typeface="+mn-lt"/>
                <a:ea typeface="黑体" pitchFamily="2" charset="-122"/>
              </a:endParaRPr>
            </a:p>
          </p:txBody>
        </p:sp>
        <p:sp>
          <p:nvSpPr>
            <p:cNvPr id="220311" name="Text Box 151"/>
            <p:cNvSpPr txBox="1">
              <a:spLocks noChangeArrowheads="1"/>
            </p:cNvSpPr>
            <p:nvPr/>
          </p:nvSpPr>
          <p:spPr bwMode="auto">
            <a:xfrm>
              <a:off x="2270125" y="2316163"/>
              <a:ext cx="11599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IP </a:t>
              </a:r>
              <a:r>
                <a:rPr kumimoji="1" lang="zh-CN" altLang="en-US" sz="1800" b="1">
                  <a:solidFill>
                    <a:srgbClr val="0000CC"/>
                  </a:solidFill>
                  <a:latin typeface="+mn-lt"/>
                  <a:ea typeface="黑体" pitchFamily="2" charset="-122"/>
                </a:rPr>
                <a:t>数据报</a:t>
              </a:r>
            </a:p>
          </p:txBody>
        </p:sp>
      </p:grpSp>
      <p:sp>
        <p:nvSpPr>
          <p:cNvPr id="220318" name="Text Box 158"/>
          <p:cNvSpPr txBox="1">
            <a:spLocks noChangeArrowheads="1"/>
          </p:cNvSpPr>
          <p:nvPr/>
        </p:nvSpPr>
        <p:spPr bwMode="auto">
          <a:xfrm>
            <a:off x="2864768" y="44451"/>
            <a:ext cx="5234125" cy="523220"/>
          </a:xfrm>
          <a:prstGeom prst="rect">
            <a:avLst/>
          </a:prstGeom>
          <a:solidFill>
            <a:srgbClr val="FFFF00"/>
          </a:solidFill>
          <a:ln w="9525">
            <a:solidFill>
              <a:srgbClr val="333399"/>
            </a:solidFill>
            <a:miter lim="800000"/>
            <a:headEnd/>
            <a:tailEnd/>
          </a:ln>
          <a:effectLst/>
        </p:spPr>
        <p:txBody>
          <a:bodyPr wrap="none">
            <a:spAutoFit/>
          </a:bodyPr>
          <a:lstStyle/>
          <a:p>
            <a:r>
              <a:rPr lang="zh-CN" altLang="en-US" sz="2800" b="1">
                <a:solidFill>
                  <a:srgbClr val="000099"/>
                </a:solidFill>
                <a:latin typeface="+mn-lt"/>
                <a:ea typeface="黑体" pitchFamily="2" charset="-122"/>
              </a:rPr>
              <a:t>从协议栈的层次上看数据的流动</a:t>
            </a:r>
          </a:p>
        </p:txBody>
      </p:sp>
      <p:sp>
        <p:nvSpPr>
          <p:cNvPr id="220319" name="Line 159"/>
          <p:cNvSpPr>
            <a:spLocks noChangeShapeType="1"/>
          </p:cNvSpPr>
          <p:nvPr/>
        </p:nvSpPr>
        <p:spPr bwMode="auto">
          <a:xfrm>
            <a:off x="507339" y="2708276"/>
            <a:ext cx="0" cy="2665413"/>
          </a:xfrm>
          <a:prstGeom prst="line">
            <a:avLst/>
          </a:prstGeom>
          <a:noFill/>
          <a:ln w="762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20321" name="Line 161"/>
          <p:cNvSpPr>
            <a:spLocks noChangeShapeType="1"/>
          </p:cNvSpPr>
          <p:nvPr/>
        </p:nvSpPr>
        <p:spPr bwMode="auto">
          <a:xfrm>
            <a:off x="507339" y="5445125"/>
            <a:ext cx="2027634" cy="0"/>
          </a:xfrm>
          <a:prstGeom prst="line">
            <a:avLst/>
          </a:prstGeom>
          <a:noFill/>
          <a:ln w="762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20323" name="Line 163"/>
          <p:cNvSpPr>
            <a:spLocks noChangeShapeType="1"/>
          </p:cNvSpPr>
          <p:nvPr/>
        </p:nvSpPr>
        <p:spPr bwMode="auto">
          <a:xfrm flipV="1">
            <a:off x="3080147" y="3500439"/>
            <a:ext cx="0" cy="1800225"/>
          </a:xfrm>
          <a:prstGeom prst="line">
            <a:avLst/>
          </a:prstGeom>
          <a:noFill/>
          <a:ln w="762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20324" name="Line 164"/>
          <p:cNvSpPr>
            <a:spLocks noChangeShapeType="1"/>
          </p:cNvSpPr>
          <p:nvPr/>
        </p:nvSpPr>
        <p:spPr bwMode="auto">
          <a:xfrm>
            <a:off x="3314039" y="3500439"/>
            <a:ext cx="0" cy="1800225"/>
          </a:xfrm>
          <a:prstGeom prst="line">
            <a:avLst/>
          </a:prstGeom>
          <a:noFill/>
          <a:ln w="762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20325" name="Line 165"/>
          <p:cNvSpPr>
            <a:spLocks noChangeShapeType="1"/>
          </p:cNvSpPr>
          <p:nvPr/>
        </p:nvSpPr>
        <p:spPr bwMode="auto">
          <a:xfrm>
            <a:off x="3706152" y="5445125"/>
            <a:ext cx="2027634" cy="0"/>
          </a:xfrm>
          <a:prstGeom prst="line">
            <a:avLst/>
          </a:prstGeom>
          <a:noFill/>
          <a:ln w="762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20328" name="Line 168"/>
          <p:cNvSpPr>
            <a:spLocks noChangeShapeType="1"/>
          </p:cNvSpPr>
          <p:nvPr/>
        </p:nvSpPr>
        <p:spPr bwMode="auto">
          <a:xfrm flipV="1">
            <a:off x="5967677" y="3500439"/>
            <a:ext cx="0" cy="1800225"/>
          </a:xfrm>
          <a:prstGeom prst="line">
            <a:avLst/>
          </a:prstGeom>
          <a:noFill/>
          <a:ln w="762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20329" name="Line 169"/>
          <p:cNvSpPr>
            <a:spLocks noChangeShapeType="1"/>
          </p:cNvSpPr>
          <p:nvPr/>
        </p:nvSpPr>
        <p:spPr bwMode="auto">
          <a:xfrm>
            <a:off x="6201569" y="3500439"/>
            <a:ext cx="0" cy="1800225"/>
          </a:xfrm>
          <a:prstGeom prst="line">
            <a:avLst/>
          </a:prstGeom>
          <a:noFill/>
          <a:ln w="762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20330" name="Line 170"/>
          <p:cNvSpPr>
            <a:spLocks noChangeShapeType="1"/>
          </p:cNvSpPr>
          <p:nvPr/>
        </p:nvSpPr>
        <p:spPr bwMode="auto">
          <a:xfrm>
            <a:off x="6903244" y="5445125"/>
            <a:ext cx="2027635" cy="0"/>
          </a:xfrm>
          <a:prstGeom prst="line">
            <a:avLst/>
          </a:prstGeom>
          <a:noFill/>
          <a:ln w="762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20331" name="Line 171"/>
          <p:cNvSpPr>
            <a:spLocks noChangeShapeType="1"/>
          </p:cNvSpPr>
          <p:nvPr/>
        </p:nvSpPr>
        <p:spPr bwMode="auto">
          <a:xfrm flipV="1">
            <a:off x="9087379" y="2779713"/>
            <a:ext cx="0" cy="2665412"/>
          </a:xfrm>
          <a:prstGeom prst="line">
            <a:avLst/>
          </a:prstGeom>
          <a:noFill/>
          <a:ln w="762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2" name="组合 1"/>
          <p:cNvGrpSpPr/>
          <p:nvPr/>
        </p:nvGrpSpPr>
        <p:grpSpPr>
          <a:xfrm>
            <a:off x="104908" y="116632"/>
            <a:ext cx="9663509" cy="1658194"/>
            <a:chOff x="104908" y="116632"/>
            <a:chExt cx="9663509" cy="1658194"/>
          </a:xfrm>
        </p:grpSpPr>
        <p:sp>
          <p:nvSpPr>
            <p:cNvPr id="117" name="Freeform 2"/>
            <p:cNvSpPr>
              <a:spLocks/>
            </p:cNvSpPr>
            <p:nvPr/>
          </p:nvSpPr>
          <p:spPr bwMode="auto">
            <a:xfrm>
              <a:off x="2801542" y="1239838"/>
              <a:ext cx="270007" cy="533400"/>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18" name="Freeform 3"/>
            <p:cNvSpPr>
              <a:spLocks/>
            </p:cNvSpPr>
            <p:nvPr/>
          </p:nvSpPr>
          <p:spPr bwMode="auto">
            <a:xfrm>
              <a:off x="5775061" y="1239838"/>
              <a:ext cx="184018" cy="531812"/>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19" name="Line 4"/>
            <p:cNvSpPr>
              <a:spLocks noChangeShapeType="1"/>
            </p:cNvSpPr>
            <p:nvPr/>
          </p:nvSpPr>
          <p:spPr bwMode="auto">
            <a:xfrm rot="-5400000">
              <a:off x="9075209" y="1504818"/>
              <a:ext cx="533400" cy="344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20" name="Line 5"/>
            <p:cNvSpPr>
              <a:spLocks noChangeShapeType="1"/>
            </p:cNvSpPr>
            <p:nvPr/>
          </p:nvSpPr>
          <p:spPr bwMode="auto">
            <a:xfrm rot="-5400000">
              <a:off x="242359" y="1504818"/>
              <a:ext cx="533400" cy="344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21" name="Line 6"/>
            <p:cNvSpPr>
              <a:spLocks noChangeShapeType="1"/>
            </p:cNvSpPr>
            <p:nvPr/>
          </p:nvSpPr>
          <p:spPr bwMode="auto">
            <a:xfrm>
              <a:off x="252811" y="1773238"/>
              <a:ext cx="2803260"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22" name="Text Box 7"/>
            <p:cNvSpPr txBox="1">
              <a:spLocks noChangeArrowheads="1"/>
            </p:cNvSpPr>
            <p:nvPr/>
          </p:nvSpPr>
          <p:spPr bwMode="auto">
            <a:xfrm>
              <a:off x="529696" y="1258888"/>
              <a:ext cx="60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1</a:t>
              </a:r>
              <a:endParaRPr kumimoji="1" lang="en-US" altLang="zh-CN" sz="1800" b="1">
                <a:solidFill>
                  <a:srgbClr val="0000CC"/>
                </a:solidFill>
                <a:latin typeface="+mn-lt"/>
                <a:ea typeface="黑体" pitchFamily="2" charset="-122"/>
              </a:endParaRPr>
            </a:p>
          </p:txBody>
        </p:sp>
        <p:sp>
          <p:nvSpPr>
            <p:cNvPr id="123" name="Text Box 8"/>
            <p:cNvSpPr txBox="1">
              <a:spLocks noChangeArrowheads="1"/>
            </p:cNvSpPr>
            <p:nvPr/>
          </p:nvSpPr>
          <p:spPr bwMode="auto">
            <a:xfrm>
              <a:off x="5180012" y="1258888"/>
              <a:ext cx="60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5</a:t>
              </a:r>
              <a:endParaRPr kumimoji="1" lang="en-US" altLang="zh-CN" sz="1800" b="1">
                <a:solidFill>
                  <a:srgbClr val="0000CC"/>
                </a:solidFill>
                <a:latin typeface="+mn-lt"/>
                <a:ea typeface="黑体" pitchFamily="2" charset="-122"/>
              </a:endParaRPr>
            </a:p>
          </p:txBody>
        </p:sp>
        <p:sp>
          <p:nvSpPr>
            <p:cNvPr id="124" name="Text Box 9"/>
            <p:cNvSpPr txBox="1">
              <a:spLocks noChangeArrowheads="1"/>
            </p:cNvSpPr>
            <p:nvPr/>
          </p:nvSpPr>
          <p:spPr bwMode="auto">
            <a:xfrm>
              <a:off x="3807619" y="1258888"/>
              <a:ext cx="60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4</a:t>
              </a:r>
              <a:endParaRPr kumimoji="1" lang="en-US" altLang="zh-CN" sz="1800" b="1">
                <a:solidFill>
                  <a:srgbClr val="0000CC"/>
                </a:solidFill>
                <a:latin typeface="+mn-lt"/>
                <a:ea typeface="黑体" pitchFamily="2" charset="-122"/>
              </a:endParaRPr>
            </a:p>
          </p:txBody>
        </p:sp>
        <p:sp>
          <p:nvSpPr>
            <p:cNvPr id="125" name="Text Box 10"/>
            <p:cNvSpPr txBox="1">
              <a:spLocks noChangeArrowheads="1"/>
            </p:cNvSpPr>
            <p:nvPr/>
          </p:nvSpPr>
          <p:spPr bwMode="auto">
            <a:xfrm>
              <a:off x="2206494" y="1258888"/>
              <a:ext cx="60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3</a:t>
              </a:r>
              <a:endParaRPr kumimoji="1" lang="en-US" altLang="zh-CN" sz="1800" b="1">
                <a:solidFill>
                  <a:srgbClr val="0000CC"/>
                </a:solidFill>
                <a:latin typeface="+mn-lt"/>
                <a:ea typeface="黑体" pitchFamily="2" charset="-122"/>
              </a:endParaRPr>
            </a:p>
          </p:txBody>
        </p:sp>
        <p:sp>
          <p:nvSpPr>
            <p:cNvPr id="126" name="Line 11"/>
            <p:cNvSpPr>
              <a:spLocks noChangeShapeType="1"/>
            </p:cNvSpPr>
            <p:nvPr/>
          </p:nvSpPr>
          <p:spPr bwMode="auto">
            <a:xfrm>
              <a:off x="6540368" y="1773238"/>
              <a:ext cx="3143779"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27" name="Text Box 12"/>
            <p:cNvSpPr txBox="1">
              <a:spLocks noChangeArrowheads="1"/>
            </p:cNvSpPr>
            <p:nvPr/>
          </p:nvSpPr>
          <p:spPr bwMode="auto">
            <a:xfrm>
              <a:off x="6781139" y="1258888"/>
              <a:ext cx="60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6</a:t>
              </a:r>
              <a:endParaRPr kumimoji="1" lang="en-US" altLang="zh-CN" sz="1800" b="1">
                <a:solidFill>
                  <a:srgbClr val="0000CC"/>
                </a:solidFill>
                <a:latin typeface="+mn-lt"/>
                <a:ea typeface="黑体" pitchFamily="2" charset="-122"/>
              </a:endParaRPr>
            </a:p>
          </p:txBody>
        </p:sp>
        <p:sp>
          <p:nvSpPr>
            <p:cNvPr id="128" name="Text Box 13"/>
            <p:cNvSpPr txBox="1">
              <a:spLocks noChangeArrowheads="1"/>
            </p:cNvSpPr>
            <p:nvPr/>
          </p:nvSpPr>
          <p:spPr bwMode="auto">
            <a:xfrm>
              <a:off x="174453" y="116632"/>
              <a:ext cx="96212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solidFill>
                    <a:srgbClr val="0000CC"/>
                  </a:solidFill>
                  <a:latin typeface="+mn-lt"/>
                  <a:ea typeface="黑体" pitchFamily="2" charset="-122"/>
                </a:rPr>
                <a:t>主机 </a:t>
              </a:r>
              <a:r>
                <a:rPr kumimoji="1" lang="en-US" altLang="zh-CN" sz="1800" b="1" dirty="0">
                  <a:solidFill>
                    <a:srgbClr val="0000CC"/>
                  </a:solidFill>
                  <a:latin typeface="+mn-lt"/>
                  <a:ea typeface="黑体" pitchFamily="2" charset="-122"/>
                </a:rPr>
                <a:t>H</a:t>
              </a:r>
              <a:r>
                <a:rPr kumimoji="1" lang="en-US" altLang="zh-CN" sz="1800" b="1" baseline="-25000" dirty="0">
                  <a:solidFill>
                    <a:srgbClr val="0000CC"/>
                  </a:solidFill>
                  <a:latin typeface="+mn-lt"/>
                  <a:ea typeface="黑体" pitchFamily="2" charset="-122"/>
                </a:rPr>
                <a:t>1</a:t>
              </a:r>
              <a:endParaRPr kumimoji="1" lang="en-US" altLang="zh-CN" sz="1800" b="1" dirty="0">
                <a:solidFill>
                  <a:srgbClr val="0000CC"/>
                </a:solidFill>
                <a:latin typeface="+mn-lt"/>
                <a:ea typeface="黑体" pitchFamily="2" charset="-122"/>
              </a:endParaRPr>
            </a:p>
          </p:txBody>
        </p:sp>
        <p:sp>
          <p:nvSpPr>
            <p:cNvPr id="129" name="Text Box 14"/>
            <p:cNvSpPr txBox="1">
              <a:spLocks noChangeArrowheads="1"/>
            </p:cNvSpPr>
            <p:nvPr/>
          </p:nvSpPr>
          <p:spPr bwMode="auto">
            <a:xfrm>
              <a:off x="8481392" y="116632"/>
              <a:ext cx="96212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solidFill>
                    <a:srgbClr val="0000CC"/>
                  </a:solidFill>
                  <a:latin typeface="+mn-lt"/>
                  <a:ea typeface="黑体" pitchFamily="2" charset="-122"/>
                </a:rPr>
                <a:t>主机 </a:t>
              </a:r>
              <a:r>
                <a:rPr kumimoji="1" lang="en-US" altLang="zh-CN" sz="1800" b="1" dirty="0">
                  <a:solidFill>
                    <a:srgbClr val="0000CC"/>
                  </a:solidFill>
                  <a:latin typeface="+mn-lt"/>
                  <a:ea typeface="黑体" pitchFamily="2" charset="-122"/>
                </a:rPr>
                <a:t>H</a:t>
              </a:r>
              <a:r>
                <a:rPr kumimoji="1" lang="en-US" altLang="zh-CN" sz="1800" b="1" baseline="-25000" dirty="0">
                  <a:solidFill>
                    <a:srgbClr val="0000CC"/>
                  </a:solidFill>
                  <a:latin typeface="+mn-lt"/>
                  <a:ea typeface="黑体" pitchFamily="2" charset="-122"/>
                </a:rPr>
                <a:t>2</a:t>
              </a:r>
              <a:endParaRPr kumimoji="1" lang="en-US" altLang="zh-CN" sz="1800" b="1" dirty="0">
                <a:solidFill>
                  <a:srgbClr val="0000CC"/>
                </a:solidFill>
                <a:latin typeface="+mn-lt"/>
                <a:ea typeface="黑体" pitchFamily="2" charset="-122"/>
              </a:endParaRPr>
            </a:p>
          </p:txBody>
        </p:sp>
        <p:sp>
          <p:nvSpPr>
            <p:cNvPr id="130" name="Line 15"/>
            <p:cNvSpPr>
              <a:spLocks noChangeShapeType="1"/>
            </p:cNvSpPr>
            <p:nvPr/>
          </p:nvSpPr>
          <p:spPr bwMode="auto">
            <a:xfrm>
              <a:off x="3566848" y="1773238"/>
              <a:ext cx="2462742"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31" name="Freeform 16"/>
            <p:cNvSpPr>
              <a:spLocks/>
            </p:cNvSpPr>
            <p:nvPr/>
          </p:nvSpPr>
          <p:spPr bwMode="auto">
            <a:xfrm flipH="1">
              <a:off x="6540368" y="1239838"/>
              <a:ext cx="254529" cy="533400"/>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32" name="Freeform 17"/>
            <p:cNvSpPr>
              <a:spLocks/>
            </p:cNvSpPr>
            <p:nvPr/>
          </p:nvSpPr>
          <p:spPr bwMode="auto">
            <a:xfrm flipH="1">
              <a:off x="3635639" y="1239839"/>
              <a:ext cx="185738" cy="534987"/>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33" name="Text Box 18"/>
            <p:cNvSpPr txBox="1">
              <a:spLocks noChangeArrowheads="1"/>
            </p:cNvSpPr>
            <p:nvPr/>
          </p:nvSpPr>
          <p:spPr bwMode="auto">
            <a:xfrm>
              <a:off x="2768865" y="679451"/>
              <a:ext cx="11929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CC"/>
                  </a:solidFill>
                  <a:latin typeface="+mn-lt"/>
                  <a:ea typeface="黑体" pitchFamily="2" charset="-122"/>
                </a:rPr>
                <a:t>路由器 </a:t>
              </a:r>
              <a:r>
                <a:rPr kumimoji="1" lang="en-US" altLang="zh-CN" sz="1800" b="1">
                  <a:solidFill>
                    <a:srgbClr val="0000CC"/>
                  </a:solidFill>
                  <a:latin typeface="+mn-lt"/>
                  <a:ea typeface="黑体" pitchFamily="2" charset="-122"/>
                </a:rPr>
                <a:t>R</a:t>
              </a:r>
              <a:r>
                <a:rPr kumimoji="1" lang="en-US" altLang="zh-CN" sz="1800" b="1" baseline="-25000">
                  <a:solidFill>
                    <a:srgbClr val="0000CC"/>
                  </a:solidFill>
                  <a:latin typeface="+mn-lt"/>
                  <a:ea typeface="黑体" pitchFamily="2" charset="-122"/>
                </a:rPr>
                <a:t>1</a:t>
              </a:r>
            </a:p>
          </p:txBody>
        </p:sp>
        <p:pic>
          <p:nvPicPr>
            <p:cNvPr id="134"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908" y="496888"/>
              <a:ext cx="926967"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5" name="Picture 2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59331" y="985839"/>
              <a:ext cx="835819"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6" name="Picture 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43169" y="477838"/>
              <a:ext cx="925248"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01290" y="963614"/>
              <a:ext cx="834098"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38" name="AutoShape 23"/>
            <p:cNvSpPr>
              <a:spLocks noChangeArrowheads="1"/>
            </p:cNvSpPr>
            <p:nvPr/>
          </p:nvSpPr>
          <p:spPr bwMode="auto">
            <a:xfrm flipV="1">
              <a:off x="1084633" y="548679"/>
              <a:ext cx="1716909" cy="348258"/>
            </a:xfrm>
            <a:prstGeom prst="wedgeRoundRectCallout">
              <a:avLst>
                <a:gd name="adj1" fmla="val -53217"/>
                <a:gd name="adj2" fmla="val -195611"/>
                <a:gd name="adj3" fmla="val 16667"/>
              </a:avLst>
            </a:prstGeom>
            <a:solidFill>
              <a:srgbClr val="66FFFF"/>
            </a:solidFill>
            <a:ln w="9525">
              <a:solidFill>
                <a:schemeClr val="tx1"/>
              </a:solidFill>
              <a:miter lim="800000"/>
              <a:headEnd/>
              <a:tailEnd/>
            </a:ln>
            <a:effectLst/>
          </p:spPr>
          <p:txBody>
            <a:bodyPr rot="10800000" wrap="none" anchor="ctr"/>
            <a:lstStyle/>
            <a:p>
              <a:pPr algn="ctr"/>
              <a:r>
                <a:rPr kumimoji="1" lang="en-US" altLang="zh-CN" b="1" dirty="0">
                  <a:solidFill>
                    <a:srgbClr val="0000CC"/>
                  </a:solidFill>
                  <a:ea typeface="黑体" pitchFamily="2" charset="-122"/>
                </a:rPr>
                <a:t>HA </a:t>
              </a:r>
              <a:r>
                <a:rPr kumimoji="1" lang="zh-CN" altLang="en-US" b="1" dirty="0">
                  <a:solidFill>
                    <a:srgbClr val="0000CC"/>
                  </a:solidFill>
                  <a:ea typeface="黑体" pitchFamily="2" charset="-122"/>
                </a:rPr>
                <a:t>为硬件地址</a:t>
              </a:r>
            </a:p>
          </p:txBody>
        </p:sp>
        <p:sp>
          <p:nvSpPr>
            <p:cNvPr id="139" name="Text Box 25"/>
            <p:cNvSpPr txBox="1">
              <a:spLocks noChangeArrowheads="1"/>
            </p:cNvSpPr>
            <p:nvPr/>
          </p:nvSpPr>
          <p:spPr bwMode="auto">
            <a:xfrm>
              <a:off x="5673594" y="685801"/>
              <a:ext cx="11929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solidFill>
                    <a:srgbClr val="0000CC"/>
                  </a:solidFill>
                  <a:latin typeface="+mn-lt"/>
                  <a:ea typeface="黑体" pitchFamily="2" charset="-122"/>
                </a:rPr>
                <a:t>路由器 </a:t>
              </a:r>
              <a:r>
                <a:rPr kumimoji="1" lang="en-US" altLang="zh-CN" sz="1800" b="1" dirty="0">
                  <a:solidFill>
                    <a:srgbClr val="0000CC"/>
                  </a:solidFill>
                  <a:latin typeface="+mn-lt"/>
                  <a:ea typeface="黑体" pitchFamily="2" charset="-122"/>
                </a:rPr>
                <a:t>R</a:t>
              </a:r>
              <a:r>
                <a:rPr kumimoji="1" lang="en-US" altLang="zh-CN" sz="1800" b="1" baseline="-25000" dirty="0">
                  <a:solidFill>
                    <a:srgbClr val="0000CC"/>
                  </a:solidFill>
                  <a:latin typeface="+mn-lt"/>
                  <a:ea typeface="黑体" pitchFamily="2" charset="-122"/>
                </a:rPr>
                <a:t>2</a:t>
              </a:r>
            </a:p>
          </p:txBody>
        </p:sp>
        <p:sp>
          <p:nvSpPr>
            <p:cNvPr id="140" name="Text Box 26"/>
            <p:cNvSpPr txBox="1">
              <a:spLocks noChangeArrowheads="1"/>
            </p:cNvSpPr>
            <p:nvPr/>
          </p:nvSpPr>
          <p:spPr bwMode="auto">
            <a:xfrm>
              <a:off x="8726223" y="1258888"/>
              <a:ext cx="60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HA</a:t>
              </a:r>
              <a:r>
                <a:rPr kumimoji="1" lang="en-US" altLang="zh-CN" sz="1800" b="1" baseline="-25000">
                  <a:solidFill>
                    <a:srgbClr val="0000CC"/>
                  </a:solidFill>
                  <a:latin typeface="+mn-lt"/>
                  <a:ea typeface="黑体" pitchFamily="2" charset="-122"/>
                </a:rPr>
                <a:t>2</a:t>
              </a:r>
              <a:endParaRPr kumimoji="1" lang="en-US" altLang="zh-CN" sz="1800" b="1">
                <a:solidFill>
                  <a:srgbClr val="0000CC"/>
                </a:solidFill>
                <a:latin typeface="+mn-lt"/>
                <a:ea typeface="黑体" pitchFamily="2" charset="-122"/>
              </a:endParaRPr>
            </a:p>
          </p:txBody>
        </p:sp>
        <p:sp>
          <p:nvSpPr>
            <p:cNvPr id="141" name="Text Box 27"/>
            <p:cNvSpPr txBox="1">
              <a:spLocks noChangeArrowheads="1"/>
            </p:cNvSpPr>
            <p:nvPr/>
          </p:nvSpPr>
          <p:spPr bwMode="auto">
            <a:xfrm>
              <a:off x="304404" y="560388"/>
              <a:ext cx="495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IP</a:t>
              </a:r>
              <a:r>
                <a:rPr kumimoji="1" lang="en-US" altLang="zh-CN" sz="1800" b="1" baseline="-25000">
                  <a:solidFill>
                    <a:srgbClr val="0000CC"/>
                  </a:solidFill>
                  <a:latin typeface="+mn-lt"/>
                  <a:ea typeface="黑体" pitchFamily="2" charset="-122"/>
                </a:rPr>
                <a:t>1</a:t>
              </a:r>
              <a:endParaRPr kumimoji="1" lang="en-US" altLang="zh-CN" sz="1800" b="1">
                <a:solidFill>
                  <a:srgbClr val="0000CC"/>
                </a:solidFill>
                <a:latin typeface="+mn-lt"/>
                <a:ea typeface="黑体" pitchFamily="2" charset="-122"/>
              </a:endParaRPr>
            </a:p>
          </p:txBody>
        </p:sp>
        <p:sp>
          <p:nvSpPr>
            <p:cNvPr id="142" name="Text Box 28"/>
            <p:cNvSpPr txBox="1">
              <a:spLocks noChangeArrowheads="1"/>
            </p:cNvSpPr>
            <p:nvPr/>
          </p:nvSpPr>
          <p:spPr bwMode="auto">
            <a:xfrm>
              <a:off x="9061583" y="544513"/>
              <a:ext cx="495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CC"/>
                  </a:solidFill>
                  <a:latin typeface="+mn-lt"/>
                  <a:ea typeface="黑体" pitchFamily="2" charset="-122"/>
                </a:rPr>
                <a:t>IP</a:t>
              </a:r>
              <a:r>
                <a:rPr kumimoji="1" lang="en-US" altLang="zh-CN" sz="1800" b="1" baseline="-25000">
                  <a:solidFill>
                    <a:srgbClr val="0000CC"/>
                  </a:solidFill>
                  <a:latin typeface="+mn-lt"/>
                  <a:ea typeface="黑体" pitchFamily="2" charset="-122"/>
                </a:rPr>
                <a:t>2</a:t>
              </a:r>
              <a:endParaRPr kumimoji="1" lang="en-US" altLang="zh-CN" sz="1800" b="1">
                <a:solidFill>
                  <a:srgbClr val="0000CC"/>
                </a:solidFill>
                <a:latin typeface="+mn-lt"/>
                <a:ea typeface="黑体" pitchFamily="2" charset="-122"/>
              </a:endParaRPr>
            </a:p>
          </p:txBody>
        </p:sp>
        <p:sp>
          <p:nvSpPr>
            <p:cNvPr id="143" name="Text Box 29"/>
            <p:cNvSpPr txBox="1">
              <a:spLocks noChangeArrowheads="1"/>
            </p:cNvSpPr>
            <p:nvPr/>
          </p:nvSpPr>
          <p:spPr bwMode="auto">
            <a:xfrm>
              <a:off x="1320800" y="1377951"/>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CC"/>
                  </a:solidFill>
                  <a:latin typeface="+mn-lt"/>
                  <a:ea typeface="黑体" pitchFamily="2" charset="-122"/>
                </a:rPr>
                <a:t>局域网</a:t>
              </a:r>
              <a:endParaRPr kumimoji="1" lang="zh-CN" altLang="en-US" sz="1800" b="1" baseline="-25000">
                <a:solidFill>
                  <a:srgbClr val="0000CC"/>
                </a:solidFill>
                <a:latin typeface="+mn-lt"/>
                <a:ea typeface="黑体" pitchFamily="2" charset="-122"/>
              </a:endParaRPr>
            </a:p>
          </p:txBody>
        </p:sp>
        <p:sp>
          <p:nvSpPr>
            <p:cNvPr id="144" name="Text Box 30"/>
            <p:cNvSpPr txBox="1">
              <a:spLocks noChangeArrowheads="1"/>
            </p:cNvSpPr>
            <p:nvPr/>
          </p:nvSpPr>
          <p:spPr bwMode="auto">
            <a:xfrm>
              <a:off x="4380310" y="1377951"/>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CC"/>
                  </a:solidFill>
                  <a:latin typeface="+mn-lt"/>
                  <a:ea typeface="黑体" pitchFamily="2" charset="-122"/>
                </a:rPr>
                <a:t>局域网</a:t>
              </a:r>
              <a:endParaRPr kumimoji="1" lang="zh-CN" altLang="en-US" sz="1800" b="1" baseline="-25000">
                <a:solidFill>
                  <a:srgbClr val="0000CC"/>
                </a:solidFill>
                <a:latin typeface="+mn-lt"/>
                <a:ea typeface="黑体" pitchFamily="2" charset="-122"/>
              </a:endParaRPr>
            </a:p>
          </p:txBody>
        </p:sp>
        <p:sp>
          <p:nvSpPr>
            <p:cNvPr id="145" name="Text Box 31"/>
            <p:cNvSpPr txBox="1">
              <a:spLocks noChangeArrowheads="1"/>
            </p:cNvSpPr>
            <p:nvPr/>
          </p:nvSpPr>
          <p:spPr bwMode="auto">
            <a:xfrm>
              <a:off x="7644474" y="1377951"/>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CC"/>
                  </a:solidFill>
                  <a:latin typeface="+mn-lt"/>
                  <a:ea typeface="黑体" pitchFamily="2" charset="-122"/>
                </a:rPr>
                <a:t>局域网</a:t>
              </a:r>
              <a:endParaRPr kumimoji="1" lang="zh-CN" altLang="en-US" sz="1800" b="1" baseline="-25000">
                <a:solidFill>
                  <a:srgbClr val="0000CC"/>
                </a:solidFill>
                <a:latin typeface="+mn-lt"/>
                <a:ea typeface="黑体" pitchFamily="2" charset="-122"/>
              </a:endParaRPr>
            </a:p>
          </p:txBody>
        </p:sp>
      </p:grpSp>
      <p:sp>
        <p:nvSpPr>
          <p:cNvPr id="146" name="Arc 109"/>
          <p:cNvSpPr>
            <a:spLocks/>
          </p:cNvSpPr>
          <p:nvPr/>
        </p:nvSpPr>
        <p:spPr bwMode="auto">
          <a:xfrm rot="2655715" flipV="1">
            <a:off x="1007799" y="293689"/>
            <a:ext cx="1716352" cy="1728787"/>
          </a:xfrm>
          <a:custGeom>
            <a:avLst/>
            <a:gdLst>
              <a:gd name="G0" fmla="+- 6204 0 0"/>
              <a:gd name="G1" fmla="+- 21600 0 0"/>
              <a:gd name="G2" fmla="+- 21600 0 0"/>
              <a:gd name="T0" fmla="*/ 0 w 27804"/>
              <a:gd name="T1" fmla="*/ 910 h 26910"/>
              <a:gd name="T2" fmla="*/ 27141 w 27804"/>
              <a:gd name="T3" fmla="*/ 26910 h 26910"/>
              <a:gd name="T4" fmla="*/ 6204 w 27804"/>
              <a:gd name="T5" fmla="*/ 21600 h 26910"/>
            </a:gdLst>
            <a:ahLst/>
            <a:cxnLst>
              <a:cxn ang="0">
                <a:pos x="T0" y="T1"/>
              </a:cxn>
              <a:cxn ang="0">
                <a:pos x="T2" y="T3"/>
              </a:cxn>
              <a:cxn ang="0">
                <a:pos x="T4" y="T5"/>
              </a:cxn>
            </a:cxnLst>
            <a:rect l="0" t="0" r="r" b="b"/>
            <a:pathLst>
              <a:path w="27804" h="26910" fill="none" extrusionOk="0">
                <a:moveTo>
                  <a:pt x="0" y="910"/>
                </a:moveTo>
                <a:cubicBezTo>
                  <a:pt x="2012" y="306"/>
                  <a:pt x="4102" y="-1"/>
                  <a:pt x="6204" y="0"/>
                </a:cubicBezTo>
                <a:cubicBezTo>
                  <a:pt x="18133" y="0"/>
                  <a:pt x="27804" y="9670"/>
                  <a:pt x="27804" y="21600"/>
                </a:cubicBezTo>
                <a:cubicBezTo>
                  <a:pt x="27804" y="23390"/>
                  <a:pt x="27581" y="25174"/>
                  <a:pt x="27141" y="26910"/>
                </a:cubicBezTo>
              </a:path>
              <a:path w="27804" h="26910" stroke="0" extrusionOk="0">
                <a:moveTo>
                  <a:pt x="0" y="910"/>
                </a:moveTo>
                <a:cubicBezTo>
                  <a:pt x="2012" y="306"/>
                  <a:pt x="4102" y="-1"/>
                  <a:pt x="6204" y="0"/>
                </a:cubicBezTo>
                <a:cubicBezTo>
                  <a:pt x="18133" y="0"/>
                  <a:pt x="27804" y="9670"/>
                  <a:pt x="27804" y="21600"/>
                </a:cubicBezTo>
                <a:cubicBezTo>
                  <a:pt x="27804" y="23390"/>
                  <a:pt x="27581" y="25174"/>
                  <a:pt x="27141" y="26910"/>
                </a:cubicBezTo>
                <a:lnTo>
                  <a:pt x="6204" y="21600"/>
                </a:lnTo>
                <a:close/>
              </a:path>
            </a:pathLst>
          </a:custGeom>
          <a:noFill/>
          <a:ln w="76200">
            <a:solidFill>
              <a:srgbClr val="C000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47" name="Arc 110"/>
          <p:cNvSpPr>
            <a:spLocks/>
          </p:cNvSpPr>
          <p:nvPr/>
        </p:nvSpPr>
        <p:spPr bwMode="auto">
          <a:xfrm rot="2655715" flipV="1">
            <a:off x="4017434" y="260350"/>
            <a:ext cx="1716352" cy="1728788"/>
          </a:xfrm>
          <a:custGeom>
            <a:avLst/>
            <a:gdLst>
              <a:gd name="G0" fmla="+- 6204 0 0"/>
              <a:gd name="G1" fmla="+- 21600 0 0"/>
              <a:gd name="G2" fmla="+- 21600 0 0"/>
              <a:gd name="T0" fmla="*/ 0 w 27804"/>
              <a:gd name="T1" fmla="*/ 910 h 26910"/>
              <a:gd name="T2" fmla="*/ 27141 w 27804"/>
              <a:gd name="T3" fmla="*/ 26910 h 26910"/>
              <a:gd name="T4" fmla="*/ 6204 w 27804"/>
              <a:gd name="T5" fmla="*/ 21600 h 26910"/>
            </a:gdLst>
            <a:ahLst/>
            <a:cxnLst>
              <a:cxn ang="0">
                <a:pos x="T0" y="T1"/>
              </a:cxn>
              <a:cxn ang="0">
                <a:pos x="T2" y="T3"/>
              </a:cxn>
              <a:cxn ang="0">
                <a:pos x="T4" y="T5"/>
              </a:cxn>
            </a:cxnLst>
            <a:rect l="0" t="0" r="r" b="b"/>
            <a:pathLst>
              <a:path w="27804" h="26910" fill="none" extrusionOk="0">
                <a:moveTo>
                  <a:pt x="0" y="910"/>
                </a:moveTo>
                <a:cubicBezTo>
                  <a:pt x="2012" y="306"/>
                  <a:pt x="4102" y="-1"/>
                  <a:pt x="6204" y="0"/>
                </a:cubicBezTo>
                <a:cubicBezTo>
                  <a:pt x="18133" y="0"/>
                  <a:pt x="27804" y="9670"/>
                  <a:pt x="27804" y="21600"/>
                </a:cubicBezTo>
                <a:cubicBezTo>
                  <a:pt x="27804" y="23390"/>
                  <a:pt x="27581" y="25174"/>
                  <a:pt x="27141" y="26910"/>
                </a:cubicBezTo>
              </a:path>
              <a:path w="27804" h="26910" stroke="0" extrusionOk="0">
                <a:moveTo>
                  <a:pt x="0" y="910"/>
                </a:moveTo>
                <a:cubicBezTo>
                  <a:pt x="2012" y="306"/>
                  <a:pt x="4102" y="-1"/>
                  <a:pt x="6204" y="0"/>
                </a:cubicBezTo>
                <a:cubicBezTo>
                  <a:pt x="18133" y="0"/>
                  <a:pt x="27804" y="9670"/>
                  <a:pt x="27804" y="21600"/>
                </a:cubicBezTo>
                <a:cubicBezTo>
                  <a:pt x="27804" y="23390"/>
                  <a:pt x="27581" y="25174"/>
                  <a:pt x="27141" y="26910"/>
                </a:cubicBezTo>
                <a:lnTo>
                  <a:pt x="6204" y="21600"/>
                </a:lnTo>
                <a:close/>
              </a:path>
            </a:pathLst>
          </a:custGeom>
          <a:noFill/>
          <a:ln w="76200">
            <a:solidFill>
              <a:srgbClr val="C000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48" name="Arc 111"/>
          <p:cNvSpPr>
            <a:spLocks/>
          </p:cNvSpPr>
          <p:nvPr/>
        </p:nvSpPr>
        <p:spPr bwMode="auto">
          <a:xfrm rot="2655715" flipV="1">
            <a:off x="7027069" y="227014"/>
            <a:ext cx="1716352" cy="1728787"/>
          </a:xfrm>
          <a:custGeom>
            <a:avLst/>
            <a:gdLst>
              <a:gd name="G0" fmla="+- 6204 0 0"/>
              <a:gd name="G1" fmla="+- 21600 0 0"/>
              <a:gd name="G2" fmla="+- 21600 0 0"/>
              <a:gd name="T0" fmla="*/ 0 w 27804"/>
              <a:gd name="T1" fmla="*/ 910 h 26910"/>
              <a:gd name="T2" fmla="*/ 27141 w 27804"/>
              <a:gd name="T3" fmla="*/ 26910 h 26910"/>
              <a:gd name="T4" fmla="*/ 6204 w 27804"/>
              <a:gd name="T5" fmla="*/ 21600 h 26910"/>
            </a:gdLst>
            <a:ahLst/>
            <a:cxnLst>
              <a:cxn ang="0">
                <a:pos x="T0" y="T1"/>
              </a:cxn>
              <a:cxn ang="0">
                <a:pos x="T2" y="T3"/>
              </a:cxn>
              <a:cxn ang="0">
                <a:pos x="T4" y="T5"/>
              </a:cxn>
            </a:cxnLst>
            <a:rect l="0" t="0" r="r" b="b"/>
            <a:pathLst>
              <a:path w="27804" h="26910" fill="none" extrusionOk="0">
                <a:moveTo>
                  <a:pt x="0" y="910"/>
                </a:moveTo>
                <a:cubicBezTo>
                  <a:pt x="2012" y="306"/>
                  <a:pt x="4102" y="-1"/>
                  <a:pt x="6204" y="0"/>
                </a:cubicBezTo>
                <a:cubicBezTo>
                  <a:pt x="18133" y="0"/>
                  <a:pt x="27804" y="9670"/>
                  <a:pt x="27804" y="21600"/>
                </a:cubicBezTo>
                <a:cubicBezTo>
                  <a:pt x="27804" y="23390"/>
                  <a:pt x="27581" y="25174"/>
                  <a:pt x="27141" y="26910"/>
                </a:cubicBezTo>
              </a:path>
              <a:path w="27804" h="26910" stroke="0" extrusionOk="0">
                <a:moveTo>
                  <a:pt x="0" y="910"/>
                </a:moveTo>
                <a:cubicBezTo>
                  <a:pt x="2012" y="306"/>
                  <a:pt x="4102" y="-1"/>
                  <a:pt x="6204" y="0"/>
                </a:cubicBezTo>
                <a:cubicBezTo>
                  <a:pt x="18133" y="0"/>
                  <a:pt x="27804" y="9670"/>
                  <a:pt x="27804" y="21600"/>
                </a:cubicBezTo>
                <a:cubicBezTo>
                  <a:pt x="27804" y="23390"/>
                  <a:pt x="27581" y="25174"/>
                  <a:pt x="27141" y="26910"/>
                </a:cubicBezTo>
                <a:lnTo>
                  <a:pt x="6204" y="21600"/>
                </a:lnTo>
                <a:close/>
              </a:path>
            </a:pathLst>
          </a:custGeom>
          <a:noFill/>
          <a:ln w="76200">
            <a:solidFill>
              <a:srgbClr val="C000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Tree>
    <p:extLst>
      <p:ext uri="{BB962C8B-B14F-4D97-AF65-F5344CB8AC3E}">
        <p14:creationId xmlns:p14="http://schemas.microsoft.com/office/powerpoint/2010/main" val="179479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pPr algn="ctr"/>
            <a:r>
              <a:rPr lang="zh-CN" altLang="zh-CN" dirty="0"/>
              <a:t>地址解析协议</a:t>
            </a:r>
            <a:r>
              <a:rPr lang="en-US" altLang="zh-CN" dirty="0"/>
              <a:t> ARP </a:t>
            </a:r>
            <a:r>
              <a:rPr lang="zh-CN" altLang="en-US" dirty="0"/>
              <a:t>的作用</a:t>
            </a:r>
            <a:endParaRPr lang="en-US" altLang="zh-CN" dirty="0"/>
          </a:p>
        </p:txBody>
      </p:sp>
      <p:sp>
        <p:nvSpPr>
          <p:cNvPr id="2" name="内容占位符 1"/>
          <p:cNvSpPr>
            <a:spLocks noGrp="1"/>
          </p:cNvSpPr>
          <p:nvPr>
            <p:ph idx="1"/>
          </p:nvPr>
        </p:nvSpPr>
        <p:spPr/>
        <p:txBody>
          <a:bodyPr/>
          <a:lstStyle/>
          <a:p>
            <a:r>
              <a:rPr lang="zh-CN" altLang="zh-CN" dirty="0">
                <a:solidFill>
                  <a:srgbClr val="FF0000"/>
                </a:solidFill>
              </a:rPr>
              <a:t>已经知道了一个机器（主机或路由器）的</a:t>
            </a:r>
            <a:r>
              <a:rPr lang="en-US" altLang="zh-CN" dirty="0">
                <a:solidFill>
                  <a:srgbClr val="FF0000"/>
                </a:solidFill>
              </a:rPr>
              <a:t>IP</a:t>
            </a:r>
            <a:r>
              <a:rPr lang="zh-CN" altLang="zh-CN" dirty="0">
                <a:solidFill>
                  <a:srgbClr val="FF0000"/>
                </a:solidFill>
              </a:rPr>
              <a:t>地址，</a:t>
            </a:r>
            <a:r>
              <a:rPr lang="zh-CN" altLang="en-US" dirty="0">
                <a:solidFill>
                  <a:srgbClr val="FF0000"/>
                </a:solidFill>
              </a:rPr>
              <a:t>如何</a:t>
            </a:r>
            <a:r>
              <a:rPr lang="zh-CN" altLang="zh-CN" dirty="0">
                <a:solidFill>
                  <a:srgbClr val="FF0000"/>
                </a:solidFill>
              </a:rPr>
              <a:t>找出其相应的硬件地址</a:t>
            </a:r>
            <a:r>
              <a:rPr lang="zh-CN" altLang="en-US" dirty="0">
                <a:solidFill>
                  <a:srgbClr val="FF0000"/>
                </a:solidFill>
              </a:rPr>
              <a:t>？</a:t>
            </a:r>
            <a:endParaRPr lang="en-US" altLang="zh-CN" dirty="0">
              <a:solidFill>
                <a:srgbClr val="FF0000"/>
              </a:solidFill>
            </a:endParaRPr>
          </a:p>
          <a:p>
            <a:r>
              <a:rPr lang="zh-CN" altLang="zh-CN" dirty="0"/>
              <a:t>地址解析协议</a:t>
            </a:r>
            <a:r>
              <a:rPr lang="en-US" altLang="zh-CN" dirty="0"/>
              <a:t> ARP </a:t>
            </a:r>
            <a:r>
              <a:rPr lang="zh-CN" altLang="zh-CN" dirty="0"/>
              <a:t>就是用来解决这样的问题的。</a:t>
            </a:r>
            <a:endParaRPr lang="zh-CN" altLang="en-US" dirty="0"/>
          </a:p>
        </p:txBody>
      </p:sp>
      <p:grpSp>
        <p:nvGrpSpPr>
          <p:cNvPr id="3" name="组合 2"/>
          <p:cNvGrpSpPr/>
          <p:nvPr/>
        </p:nvGrpSpPr>
        <p:grpSpPr>
          <a:xfrm>
            <a:off x="632520" y="3100898"/>
            <a:ext cx="6801437" cy="2704366"/>
            <a:chOff x="887867" y="3068960"/>
            <a:chExt cx="6801437" cy="2704366"/>
          </a:xfrm>
        </p:grpSpPr>
        <p:sp>
          <p:nvSpPr>
            <p:cNvPr id="377872" name="Line 16"/>
            <p:cNvSpPr>
              <a:spLocks noChangeShapeType="1"/>
            </p:cNvSpPr>
            <p:nvPr/>
          </p:nvSpPr>
          <p:spPr bwMode="auto">
            <a:xfrm>
              <a:off x="1442906" y="3068960"/>
              <a:ext cx="0" cy="2088233"/>
            </a:xfrm>
            <a:prstGeom prst="line">
              <a:avLst/>
            </a:prstGeom>
            <a:noFill/>
            <a:ln w="19050">
              <a:solidFill>
                <a:srgbClr val="0000CC"/>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77873" name="Text Box 17"/>
            <p:cNvSpPr txBox="1">
              <a:spLocks noChangeArrowheads="1"/>
            </p:cNvSpPr>
            <p:nvPr/>
          </p:nvSpPr>
          <p:spPr bwMode="auto">
            <a:xfrm>
              <a:off x="887867" y="3872235"/>
              <a:ext cx="1112805"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99"/>
                  </a:solidFill>
                  <a:latin typeface="+mn-lt"/>
                  <a:ea typeface="黑体" pitchFamily="2" charset="-122"/>
                </a:rPr>
                <a:t>网络层</a:t>
              </a:r>
            </a:p>
          </p:txBody>
        </p:sp>
        <p:sp>
          <p:nvSpPr>
            <p:cNvPr id="377874" name="Rectangle 18"/>
            <p:cNvSpPr>
              <a:spLocks noChangeArrowheads="1"/>
            </p:cNvSpPr>
            <p:nvPr/>
          </p:nvSpPr>
          <p:spPr bwMode="auto">
            <a:xfrm>
              <a:off x="2067190" y="3068961"/>
              <a:ext cx="5622114" cy="1980219"/>
            </a:xfrm>
            <a:prstGeom prst="rect">
              <a:avLst/>
            </a:prstGeom>
            <a:solidFill>
              <a:srgbClr val="FFFF66"/>
            </a:solidFill>
            <a:ln w="9525">
              <a:solidFill>
                <a:schemeClr val="tx1"/>
              </a:solidFill>
              <a:miter lim="800000"/>
              <a:headEnd/>
              <a:tailEnd/>
            </a:ln>
            <a:effectLst/>
          </p:spPr>
          <p:txBody>
            <a:bodyPr wrap="none" anchor="ctr"/>
            <a:lstStyle/>
            <a:p>
              <a:pPr algn="ctr"/>
              <a:r>
                <a:rPr lang="en-US" altLang="zh-CN" b="1">
                  <a:solidFill>
                    <a:srgbClr val="000099"/>
                  </a:solidFill>
                  <a:latin typeface="+mn-lt"/>
                  <a:ea typeface="黑体" pitchFamily="2" charset="-122"/>
                </a:rPr>
                <a:t>ARP</a:t>
              </a:r>
            </a:p>
            <a:p>
              <a:pPr algn="ctr"/>
              <a:endParaRPr lang="en-US" altLang="zh-CN" b="1">
                <a:solidFill>
                  <a:srgbClr val="000099"/>
                </a:solidFill>
                <a:latin typeface="+mn-lt"/>
                <a:ea typeface="黑体" pitchFamily="2" charset="-122"/>
              </a:endParaRPr>
            </a:p>
          </p:txBody>
        </p:sp>
        <p:sp>
          <p:nvSpPr>
            <p:cNvPr id="377875" name="Text Box 19"/>
            <p:cNvSpPr txBox="1">
              <a:spLocks noChangeArrowheads="1"/>
            </p:cNvSpPr>
            <p:nvPr/>
          </p:nvSpPr>
          <p:spPr bwMode="auto">
            <a:xfrm>
              <a:off x="6351166" y="3645024"/>
              <a:ext cx="1008802" cy="400110"/>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sz="2000" b="1">
                  <a:solidFill>
                    <a:srgbClr val="0000CC"/>
                  </a:solidFill>
                  <a:latin typeface="+mn-lt"/>
                  <a:ea typeface="黑体" pitchFamily="2" charset="-122"/>
                </a:defRPr>
              </a:lvl1pPr>
            </a:lstStyle>
            <a:p>
              <a:r>
                <a:rPr lang="en-US" altLang="zh-CN" dirty="0">
                  <a:solidFill>
                    <a:srgbClr val="000099"/>
                  </a:solidFill>
                </a:rPr>
                <a:t>IP </a:t>
              </a:r>
              <a:r>
                <a:rPr lang="zh-CN" altLang="en-US" dirty="0">
                  <a:solidFill>
                    <a:srgbClr val="000099"/>
                  </a:solidFill>
                </a:rPr>
                <a:t>地址</a:t>
              </a:r>
            </a:p>
          </p:txBody>
        </p:sp>
        <p:sp>
          <p:nvSpPr>
            <p:cNvPr id="377876" name="Text Box 20"/>
            <p:cNvSpPr txBox="1">
              <a:spLocks noChangeArrowheads="1"/>
            </p:cNvSpPr>
            <p:nvPr/>
          </p:nvSpPr>
          <p:spPr bwMode="auto">
            <a:xfrm>
              <a:off x="6321152" y="5373216"/>
              <a:ext cx="1217000" cy="40011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rgbClr val="000099"/>
                  </a:solidFill>
                  <a:latin typeface="+mn-lt"/>
                  <a:ea typeface="黑体" pitchFamily="2" charset="-122"/>
                </a:rPr>
                <a:t>硬件地址</a:t>
              </a:r>
            </a:p>
          </p:txBody>
        </p:sp>
        <p:sp>
          <p:nvSpPr>
            <p:cNvPr id="377878" name="Rectangle 22"/>
            <p:cNvSpPr>
              <a:spLocks noChangeArrowheads="1"/>
            </p:cNvSpPr>
            <p:nvPr/>
          </p:nvSpPr>
          <p:spPr bwMode="auto">
            <a:xfrm>
              <a:off x="3296816" y="3651385"/>
              <a:ext cx="2651919" cy="785728"/>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en-US" altLang="zh-CN" sz="2400" b="1" dirty="0">
                  <a:solidFill>
                    <a:srgbClr val="000099"/>
                  </a:solidFill>
                  <a:latin typeface="+mn-lt"/>
                  <a:ea typeface="黑体" pitchFamily="2" charset="-122"/>
                </a:rPr>
                <a:t>IP</a:t>
              </a:r>
            </a:p>
          </p:txBody>
        </p:sp>
        <p:sp>
          <p:nvSpPr>
            <p:cNvPr id="377880" name="Rectangle 24"/>
            <p:cNvSpPr>
              <a:spLocks noChangeArrowheads="1"/>
            </p:cNvSpPr>
            <p:nvPr/>
          </p:nvSpPr>
          <p:spPr bwMode="auto">
            <a:xfrm>
              <a:off x="3160977" y="3141985"/>
              <a:ext cx="779066" cy="309563"/>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en-US" altLang="zh-CN" sz="1800" b="1">
                  <a:solidFill>
                    <a:srgbClr val="000099"/>
                  </a:solidFill>
                  <a:latin typeface="+mn-lt"/>
                  <a:ea typeface="黑体" pitchFamily="2" charset="-122"/>
                </a:rPr>
                <a:t>IGMP</a:t>
              </a:r>
            </a:p>
          </p:txBody>
        </p:sp>
        <p:sp>
          <p:nvSpPr>
            <p:cNvPr id="377881" name="Freeform 25"/>
            <p:cNvSpPr>
              <a:spLocks/>
            </p:cNvSpPr>
            <p:nvPr/>
          </p:nvSpPr>
          <p:spPr bwMode="auto">
            <a:xfrm>
              <a:off x="5950453" y="4077072"/>
              <a:ext cx="1012958" cy="360041"/>
            </a:xfrm>
            <a:custGeom>
              <a:avLst/>
              <a:gdLst>
                <a:gd name="T0" fmla="*/ 0 w 500"/>
                <a:gd name="T1" fmla="*/ 0 h 203"/>
                <a:gd name="T2" fmla="*/ 497 w 500"/>
                <a:gd name="T3" fmla="*/ 0 h 203"/>
                <a:gd name="T4" fmla="*/ 500 w 500"/>
                <a:gd name="T5" fmla="*/ 203 h 203"/>
              </a:gdLst>
              <a:ahLst/>
              <a:cxnLst>
                <a:cxn ang="0">
                  <a:pos x="T0" y="T1"/>
                </a:cxn>
                <a:cxn ang="0">
                  <a:pos x="T2" y="T3"/>
                </a:cxn>
                <a:cxn ang="0">
                  <a:pos x="T4" y="T5"/>
                </a:cxn>
              </a:cxnLst>
              <a:rect l="0" t="0" r="r" b="b"/>
              <a:pathLst>
                <a:path w="500" h="203">
                  <a:moveTo>
                    <a:pt x="0" y="0"/>
                  </a:moveTo>
                  <a:lnTo>
                    <a:pt x="497" y="0"/>
                  </a:lnTo>
                  <a:lnTo>
                    <a:pt x="500" y="203"/>
                  </a:lnTo>
                </a:path>
              </a:pathLst>
            </a:custGeom>
            <a:noFill/>
            <a:ln w="57150" cmpd="sng">
              <a:solidFill>
                <a:srgbClr val="0000FF"/>
              </a:solidFill>
              <a:round/>
              <a:headEnd type="none" w="med" len="med"/>
              <a:tailEnd type="triangle" w="med" len="med"/>
            </a:ln>
            <a:effectLst/>
          </p:spPr>
          <p:txBody>
            <a:bodyPr/>
            <a:lstStyle/>
            <a:p>
              <a:endParaRPr lang="zh-CN" altLang="en-US" b="1">
                <a:solidFill>
                  <a:srgbClr val="000099"/>
                </a:solidFill>
                <a:latin typeface="+mn-lt"/>
                <a:ea typeface="黑体" pitchFamily="2" charset="-122"/>
              </a:endParaRPr>
            </a:p>
          </p:txBody>
        </p:sp>
        <p:sp>
          <p:nvSpPr>
            <p:cNvPr id="377882" name="Line 26"/>
            <p:cNvSpPr>
              <a:spLocks noChangeShapeType="1"/>
            </p:cNvSpPr>
            <p:nvPr/>
          </p:nvSpPr>
          <p:spPr bwMode="auto">
            <a:xfrm>
              <a:off x="6969224" y="4725144"/>
              <a:ext cx="0" cy="648072"/>
            </a:xfrm>
            <a:prstGeom prst="line">
              <a:avLst/>
            </a:prstGeom>
            <a:noFill/>
            <a:ln w="571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77885" name="Rectangle 29"/>
            <p:cNvSpPr>
              <a:spLocks noChangeArrowheads="1"/>
            </p:cNvSpPr>
            <p:nvPr/>
          </p:nvSpPr>
          <p:spPr bwMode="auto">
            <a:xfrm>
              <a:off x="2301081" y="3141985"/>
              <a:ext cx="779066" cy="309563"/>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en-US" altLang="zh-CN" sz="1800" b="1">
                  <a:solidFill>
                    <a:srgbClr val="000099"/>
                  </a:solidFill>
                  <a:latin typeface="+mn-lt"/>
                  <a:ea typeface="黑体" pitchFamily="2" charset="-122"/>
                </a:rPr>
                <a:t>ICMP</a:t>
              </a:r>
            </a:p>
          </p:txBody>
        </p:sp>
        <p:sp>
          <p:nvSpPr>
            <p:cNvPr id="377886" name="Rectangle 30"/>
            <p:cNvSpPr>
              <a:spLocks noChangeArrowheads="1"/>
            </p:cNvSpPr>
            <p:nvPr/>
          </p:nvSpPr>
          <p:spPr bwMode="auto">
            <a:xfrm>
              <a:off x="6506120" y="4437112"/>
              <a:ext cx="895152" cy="432048"/>
            </a:xfrm>
            <a:prstGeom prst="rect">
              <a:avLst/>
            </a:prstGeom>
            <a:solidFill>
              <a:srgbClr val="FFC000"/>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en-US" altLang="zh-CN" sz="2000" b="1" dirty="0">
                  <a:solidFill>
                    <a:srgbClr val="000099"/>
                  </a:solidFill>
                  <a:latin typeface="+mn-lt"/>
                  <a:ea typeface="黑体" pitchFamily="2" charset="-122"/>
                </a:rPr>
                <a:t>ARP</a:t>
              </a:r>
            </a:p>
          </p:txBody>
        </p:sp>
      </p:grpSp>
      <p:sp>
        <p:nvSpPr>
          <p:cNvPr id="4" name="矩形 3"/>
          <p:cNvSpPr/>
          <p:nvPr/>
        </p:nvSpPr>
        <p:spPr>
          <a:xfrm>
            <a:off x="2333173" y="5805264"/>
            <a:ext cx="4131995" cy="461665"/>
          </a:xfrm>
          <a:prstGeom prst="rect">
            <a:avLst/>
          </a:prstGeom>
        </p:spPr>
        <p:txBody>
          <a:bodyPr wrap="square">
            <a:spAutoFit/>
          </a:bodyPr>
          <a:lstStyle/>
          <a:p>
            <a:pPr algn="ctr"/>
            <a:r>
              <a:rPr lang="en-US" altLang="zh-CN" sz="2400" b="1" dirty="0">
                <a:latin typeface="+mn-lt"/>
                <a:ea typeface="黑体" pitchFamily="2" charset="-122"/>
              </a:rPr>
              <a:t>ARP </a:t>
            </a:r>
            <a:r>
              <a:rPr lang="zh-CN" altLang="zh-CN" sz="2400" b="1" dirty="0">
                <a:latin typeface="+mn-lt"/>
                <a:ea typeface="黑体" pitchFamily="2" charset="-122"/>
              </a:rPr>
              <a:t>协议的作用</a:t>
            </a:r>
            <a:endParaRPr lang="zh-CN" altLang="en-US" sz="2400" b="1" dirty="0">
              <a:latin typeface="+mn-lt"/>
              <a:ea typeface="黑体" pitchFamily="2" charset="-122"/>
            </a:endParaRPr>
          </a:p>
        </p:txBody>
      </p:sp>
      <p:sp>
        <p:nvSpPr>
          <p:cNvPr id="5" name="矩形 4"/>
          <p:cNvSpPr/>
          <p:nvPr/>
        </p:nvSpPr>
        <p:spPr>
          <a:xfrm>
            <a:off x="7617296" y="3068960"/>
            <a:ext cx="2144688" cy="2529923"/>
          </a:xfrm>
          <a:prstGeom prst="rect">
            <a:avLst/>
          </a:prstGeom>
          <a:solidFill>
            <a:srgbClr val="66FF66"/>
          </a:solidFill>
        </p:spPr>
        <p:txBody>
          <a:bodyPr wrap="square">
            <a:spAutoFit/>
          </a:bodyPr>
          <a:lstStyle/>
          <a:p>
            <a:pPr>
              <a:lnSpc>
                <a:spcPct val="110000"/>
              </a:lnSpc>
            </a:pPr>
            <a:r>
              <a:rPr lang="en-US" altLang="zh-CN" sz="2400" b="1" dirty="0">
                <a:solidFill>
                  <a:srgbClr val="C00000"/>
                </a:solidFill>
                <a:latin typeface="+mn-lt"/>
                <a:ea typeface="黑体" pitchFamily="2" charset="-122"/>
              </a:rPr>
              <a:t>ARP </a:t>
            </a:r>
            <a:r>
              <a:rPr lang="zh-CN" altLang="en-US" sz="2400" b="1" dirty="0">
                <a:solidFill>
                  <a:srgbClr val="C00000"/>
                </a:solidFill>
                <a:latin typeface="+mn-lt"/>
                <a:ea typeface="黑体" pitchFamily="2" charset="-122"/>
              </a:rPr>
              <a:t>作用：</a:t>
            </a:r>
            <a:endParaRPr lang="en-US" altLang="zh-CN" sz="2400" b="1" dirty="0">
              <a:solidFill>
                <a:srgbClr val="C00000"/>
              </a:solidFill>
              <a:latin typeface="+mn-lt"/>
              <a:ea typeface="黑体" pitchFamily="2" charset="-122"/>
            </a:endParaRPr>
          </a:p>
          <a:p>
            <a:pPr>
              <a:lnSpc>
                <a:spcPct val="110000"/>
              </a:lnSpc>
            </a:pPr>
            <a:r>
              <a:rPr lang="zh-CN" altLang="zh-CN" sz="2400" b="1" dirty="0">
                <a:solidFill>
                  <a:srgbClr val="000099"/>
                </a:solidFill>
                <a:latin typeface="+mn-lt"/>
                <a:ea typeface="黑体" pitchFamily="2" charset="-122"/>
              </a:rPr>
              <a:t>从网络层使用的</a:t>
            </a:r>
            <a:r>
              <a:rPr lang="en-US" altLang="zh-CN" sz="2400" b="1" dirty="0">
                <a:solidFill>
                  <a:srgbClr val="000099"/>
                </a:solidFill>
                <a:latin typeface="+mn-lt"/>
                <a:ea typeface="黑体" pitchFamily="2" charset="-122"/>
              </a:rPr>
              <a:t> IP </a:t>
            </a:r>
            <a:r>
              <a:rPr lang="zh-CN" altLang="zh-CN" sz="2400" b="1" dirty="0">
                <a:solidFill>
                  <a:srgbClr val="000099"/>
                </a:solidFill>
                <a:latin typeface="+mn-lt"/>
                <a:ea typeface="黑体" pitchFamily="2" charset="-122"/>
              </a:rPr>
              <a:t>地址，解析出在数据链路层使用的硬件地址</a:t>
            </a:r>
            <a:r>
              <a:rPr lang="zh-CN" altLang="en-US" sz="2400" b="1" dirty="0">
                <a:solidFill>
                  <a:srgbClr val="000099"/>
                </a:solidFill>
                <a:latin typeface="+mn-lt"/>
                <a:ea typeface="黑体" pitchFamily="2" charset="-122"/>
              </a:rPr>
              <a:t>。</a:t>
            </a:r>
          </a:p>
        </p:txBody>
      </p:sp>
    </p:spTree>
    <p:extLst>
      <p:ext uri="{BB962C8B-B14F-4D97-AF65-F5344CB8AC3E}">
        <p14:creationId xmlns:p14="http://schemas.microsoft.com/office/powerpoint/2010/main" val="1241747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Rectangle 2"/>
          <p:cNvSpPr>
            <a:spLocks noGrp="1" noChangeArrowheads="1"/>
          </p:cNvSpPr>
          <p:nvPr>
            <p:ph type="title"/>
          </p:nvPr>
        </p:nvSpPr>
        <p:spPr/>
        <p:txBody>
          <a:bodyPr/>
          <a:lstStyle/>
          <a:p>
            <a:pPr algn="ctr"/>
            <a:r>
              <a:rPr lang="zh-CN" altLang="en-US" dirty="0"/>
              <a:t>地址解析协议 </a:t>
            </a:r>
            <a:r>
              <a:rPr lang="en-US" altLang="zh-CN" dirty="0"/>
              <a:t>ARP </a:t>
            </a:r>
            <a:r>
              <a:rPr lang="zh-CN" altLang="en-US" dirty="0"/>
              <a:t>要点</a:t>
            </a:r>
            <a:endParaRPr lang="en-US" altLang="zh-CN" dirty="0"/>
          </a:p>
        </p:txBody>
      </p:sp>
      <p:sp>
        <p:nvSpPr>
          <p:cNvPr id="974851" name="Rectangle 3"/>
          <p:cNvSpPr>
            <a:spLocks noGrp="1" noChangeArrowheads="1"/>
          </p:cNvSpPr>
          <p:nvPr>
            <p:ph idx="1"/>
          </p:nvPr>
        </p:nvSpPr>
        <p:spPr/>
        <p:txBody>
          <a:bodyPr/>
          <a:lstStyle/>
          <a:p>
            <a:r>
              <a:rPr lang="zh-CN" altLang="en-US" dirty="0"/>
              <a:t>不管网络层使用的是什么协议，在实际网络的链路上传送数据帧时，最终还是必须使用硬件地址。 </a:t>
            </a:r>
          </a:p>
          <a:p>
            <a:r>
              <a:rPr lang="zh-CN" altLang="en-US" dirty="0"/>
              <a:t>每一个主机都设有一个 </a:t>
            </a:r>
            <a:r>
              <a:rPr lang="en-US" altLang="zh-CN" dirty="0">
                <a:solidFill>
                  <a:srgbClr val="FF0000"/>
                </a:solidFill>
              </a:rPr>
              <a:t>ARP </a:t>
            </a:r>
            <a:r>
              <a:rPr lang="zh-CN" altLang="en-US" dirty="0">
                <a:solidFill>
                  <a:srgbClr val="FF0000"/>
                </a:solidFill>
              </a:rPr>
              <a:t>高速缓存 </a:t>
            </a:r>
            <a:r>
              <a:rPr lang="en-US" altLang="zh-CN" dirty="0"/>
              <a:t>(ARP cache)</a:t>
            </a:r>
            <a:r>
              <a:rPr lang="zh-CN" altLang="en-US" dirty="0"/>
              <a:t>，里面有所在的局域网上的各主机和路由器的 </a:t>
            </a:r>
            <a:r>
              <a:rPr lang="en-US" altLang="zh-CN" dirty="0"/>
              <a:t>IP </a:t>
            </a:r>
            <a:r>
              <a:rPr lang="zh-CN" altLang="en-US" dirty="0"/>
              <a:t>地址到硬件地址的映射表。</a:t>
            </a:r>
          </a:p>
        </p:txBody>
      </p:sp>
      <p:grpSp>
        <p:nvGrpSpPr>
          <p:cNvPr id="2" name="组合 1"/>
          <p:cNvGrpSpPr/>
          <p:nvPr/>
        </p:nvGrpSpPr>
        <p:grpSpPr>
          <a:xfrm>
            <a:off x="1336749" y="4581128"/>
            <a:ext cx="7432675" cy="1185462"/>
            <a:chOff x="1192732" y="4009802"/>
            <a:chExt cx="7432675" cy="1185462"/>
          </a:xfrm>
        </p:grpSpPr>
        <p:sp>
          <p:nvSpPr>
            <p:cNvPr id="6" name="Rectangle 4"/>
            <p:cNvSpPr>
              <a:spLocks noChangeArrowheads="1"/>
            </p:cNvSpPr>
            <p:nvPr/>
          </p:nvSpPr>
          <p:spPr bwMode="auto">
            <a:xfrm>
              <a:off x="1192732" y="4009802"/>
              <a:ext cx="7432675" cy="584775"/>
            </a:xfrm>
            <a:prstGeom prst="rect">
              <a:avLst/>
            </a:prstGeom>
            <a:solidFill>
              <a:srgbClr val="FFFF00"/>
            </a:solidFill>
            <a:ln w="12700">
              <a:solidFill>
                <a:schemeClr val="tx1"/>
              </a:solidFill>
            </a:ln>
            <a:effectLst/>
          </p:spPr>
          <p:txBody>
            <a:bodyPr wrap="square">
              <a:spAutoFit/>
            </a:bodyPr>
            <a:lstStyle/>
            <a:p>
              <a:pPr algn="ctr"/>
              <a:r>
                <a:rPr kumimoji="0" lang="en-US" altLang="zh-CN" sz="3200" b="1" dirty="0">
                  <a:solidFill>
                    <a:srgbClr val="0000CC"/>
                  </a:solidFill>
                </a:rPr>
                <a:t>&lt; IP address</a:t>
              </a:r>
              <a:r>
                <a:rPr kumimoji="0" lang="zh-CN" altLang="en-US" sz="3200" b="1" dirty="0">
                  <a:solidFill>
                    <a:srgbClr val="0000CC"/>
                  </a:solidFill>
                </a:rPr>
                <a:t>；</a:t>
              </a:r>
              <a:r>
                <a:rPr kumimoji="0" lang="en-US" altLang="zh-CN" sz="3200" b="1" dirty="0">
                  <a:solidFill>
                    <a:srgbClr val="0000CC"/>
                  </a:solidFill>
                </a:rPr>
                <a:t>MAC address</a:t>
              </a:r>
              <a:r>
                <a:rPr kumimoji="0" lang="zh-CN" altLang="en-US" sz="3200" b="1" dirty="0">
                  <a:solidFill>
                    <a:srgbClr val="0000CC"/>
                  </a:solidFill>
                </a:rPr>
                <a:t>；</a:t>
              </a:r>
              <a:r>
                <a:rPr kumimoji="0" lang="en-US" altLang="zh-CN" sz="3200" b="1" dirty="0">
                  <a:solidFill>
                    <a:srgbClr val="0000CC"/>
                  </a:solidFill>
                </a:rPr>
                <a:t>TTL &gt;</a:t>
              </a:r>
            </a:p>
          </p:txBody>
        </p:sp>
        <p:sp>
          <p:nvSpPr>
            <p:cNvPr id="7" name="Rectangle 5"/>
            <p:cNvSpPr>
              <a:spLocks noChangeArrowheads="1"/>
            </p:cNvSpPr>
            <p:nvPr/>
          </p:nvSpPr>
          <p:spPr bwMode="auto">
            <a:xfrm>
              <a:off x="1421333" y="4585866"/>
              <a:ext cx="7204074"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20000"/>
                </a:spcBef>
              </a:pPr>
              <a:r>
                <a:rPr kumimoji="0" lang="en-US" altLang="zh-CN" sz="2800" b="1" dirty="0">
                  <a:ea typeface="黑体" pitchFamily="2" charset="-122"/>
                </a:rPr>
                <a:t>TTL (Time To Live)</a:t>
              </a:r>
              <a:r>
                <a:rPr kumimoji="0" lang="zh-CN" altLang="en-US" sz="2800" b="1" dirty="0">
                  <a:ea typeface="黑体" pitchFamily="2" charset="-122"/>
                </a:rPr>
                <a:t>：地址映射有效时间 。</a:t>
              </a:r>
            </a:p>
          </p:txBody>
        </p:sp>
      </p:grpSp>
    </p:spTree>
    <p:extLst>
      <p:ext uri="{BB962C8B-B14F-4D97-AF65-F5344CB8AC3E}">
        <p14:creationId xmlns:p14="http://schemas.microsoft.com/office/powerpoint/2010/main" val="2322398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Rectangle 2"/>
          <p:cNvSpPr>
            <a:spLocks noGrp="1" noChangeArrowheads="1"/>
          </p:cNvSpPr>
          <p:nvPr>
            <p:ph type="title"/>
          </p:nvPr>
        </p:nvSpPr>
        <p:spPr/>
        <p:txBody>
          <a:bodyPr/>
          <a:lstStyle/>
          <a:p>
            <a:pPr algn="ctr"/>
            <a:r>
              <a:rPr lang="zh-CN" altLang="en-US" dirty="0"/>
              <a:t>地址解析协议 </a:t>
            </a:r>
            <a:r>
              <a:rPr lang="en-US" altLang="zh-CN" dirty="0"/>
              <a:t>ARP </a:t>
            </a:r>
            <a:r>
              <a:rPr lang="zh-CN" altLang="en-US" dirty="0"/>
              <a:t>要点</a:t>
            </a:r>
            <a:endParaRPr lang="en-US" altLang="zh-CN" dirty="0"/>
          </a:p>
        </p:txBody>
      </p:sp>
      <p:sp>
        <p:nvSpPr>
          <p:cNvPr id="974851" name="Rectangle 3"/>
          <p:cNvSpPr>
            <a:spLocks noGrp="1" noChangeArrowheads="1"/>
          </p:cNvSpPr>
          <p:nvPr>
            <p:ph idx="1"/>
          </p:nvPr>
        </p:nvSpPr>
        <p:spPr/>
        <p:txBody>
          <a:bodyPr/>
          <a:lstStyle/>
          <a:p>
            <a:r>
              <a:rPr lang="zh-CN" altLang="en-US" dirty="0"/>
              <a:t>当主机 </a:t>
            </a:r>
            <a:r>
              <a:rPr lang="en-US" altLang="zh-CN" dirty="0"/>
              <a:t>A </a:t>
            </a:r>
            <a:r>
              <a:rPr lang="zh-CN" altLang="en-US" dirty="0"/>
              <a:t>欲向本局域网上的某个主机 </a:t>
            </a:r>
            <a:r>
              <a:rPr lang="en-US" altLang="zh-CN" dirty="0"/>
              <a:t>B </a:t>
            </a:r>
            <a:r>
              <a:rPr lang="zh-CN" altLang="en-US" dirty="0"/>
              <a:t>发送 </a:t>
            </a:r>
            <a:r>
              <a:rPr lang="en-US" altLang="zh-CN" dirty="0"/>
              <a:t>IP </a:t>
            </a:r>
            <a:r>
              <a:rPr lang="zh-CN" altLang="en-US" dirty="0"/>
              <a:t>数据报时，就先在其 </a:t>
            </a:r>
            <a:r>
              <a:rPr lang="en-US" altLang="zh-CN" dirty="0"/>
              <a:t>ARP </a:t>
            </a:r>
            <a:r>
              <a:rPr lang="zh-CN" altLang="en-US" dirty="0"/>
              <a:t>高速缓存中查看有无主机 </a:t>
            </a:r>
            <a:r>
              <a:rPr lang="en-US" altLang="zh-CN" dirty="0"/>
              <a:t>B </a:t>
            </a:r>
            <a:r>
              <a:rPr lang="zh-CN" altLang="en-US" dirty="0"/>
              <a:t>的 </a:t>
            </a:r>
            <a:r>
              <a:rPr lang="en-US" altLang="zh-CN" dirty="0"/>
              <a:t>IP </a:t>
            </a:r>
            <a:r>
              <a:rPr lang="zh-CN" altLang="en-US" dirty="0"/>
              <a:t>地址。</a:t>
            </a:r>
            <a:endParaRPr lang="en-US" altLang="zh-CN" dirty="0"/>
          </a:p>
          <a:p>
            <a:pPr lvl="1"/>
            <a:r>
              <a:rPr lang="zh-CN" altLang="en-US" dirty="0">
                <a:solidFill>
                  <a:srgbClr val="FF0000"/>
                </a:solidFill>
              </a:rPr>
              <a:t>如有，</a:t>
            </a:r>
            <a:r>
              <a:rPr lang="zh-CN" altLang="en-US" dirty="0"/>
              <a:t>就可查出其对应的硬件地址，再将此硬件地址写入 </a:t>
            </a:r>
            <a:r>
              <a:rPr lang="en-US" altLang="zh-CN" dirty="0"/>
              <a:t>MAC </a:t>
            </a:r>
            <a:r>
              <a:rPr lang="zh-CN" altLang="en-US" dirty="0"/>
              <a:t>帧，然后通过局域网将该 </a:t>
            </a:r>
            <a:r>
              <a:rPr lang="en-US" altLang="zh-CN" dirty="0"/>
              <a:t>MAC </a:t>
            </a:r>
            <a:r>
              <a:rPr lang="zh-CN" altLang="en-US" dirty="0"/>
              <a:t>帧发往此硬件地址。</a:t>
            </a:r>
            <a:endParaRPr lang="en-US" altLang="zh-CN" dirty="0"/>
          </a:p>
          <a:p>
            <a:pPr lvl="1"/>
            <a:r>
              <a:rPr lang="zh-CN" altLang="en-US" dirty="0">
                <a:solidFill>
                  <a:srgbClr val="FF0000"/>
                </a:solidFill>
              </a:rPr>
              <a:t>如没有，</a:t>
            </a:r>
            <a:r>
              <a:rPr lang="en-US" altLang="zh-CN" dirty="0">
                <a:solidFill>
                  <a:srgbClr val="FF0000"/>
                </a:solidFill>
              </a:rPr>
              <a:t> </a:t>
            </a:r>
            <a:r>
              <a:rPr lang="en-US" altLang="zh-CN" dirty="0"/>
              <a:t>ARP </a:t>
            </a:r>
            <a:r>
              <a:rPr lang="zh-CN" altLang="zh-CN" dirty="0"/>
              <a:t>进程在本局域网上</a:t>
            </a:r>
            <a:r>
              <a:rPr lang="zh-CN" altLang="zh-CN" dirty="0">
                <a:solidFill>
                  <a:srgbClr val="0000FF"/>
                </a:solidFill>
              </a:rPr>
              <a:t>广播发送</a:t>
            </a:r>
            <a:r>
              <a:rPr lang="zh-CN" altLang="zh-CN" dirty="0"/>
              <a:t>一个</a:t>
            </a:r>
            <a:r>
              <a:rPr lang="en-US" altLang="zh-CN" dirty="0"/>
              <a:t> </a:t>
            </a:r>
            <a:r>
              <a:rPr lang="en-US" altLang="zh-CN" dirty="0">
                <a:solidFill>
                  <a:srgbClr val="0000FF"/>
                </a:solidFill>
              </a:rPr>
              <a:t>ARP </a:t>
            </a:r>
            <a:r>
              <a:rPr lang="zh-CN" altLang="zh-CN" dirty="0">
                <a:solidFill>
                  <a:srgbClr val="0000FF"/>
                </a:solidFill>
              </a:rPr>
              <a:t>请求分组</a:t>
            </a:r>
            <a:r>
              <a:rPr lang="zh-CN" altLang="en-US" dirty="0">
                <a:solidFill>
                  <a:srgbClr val="0000FF"/>
                </a:solidFill>
              </a:rPr>
              <a:t>。</a:t>
            </a:r>
            <a:r>
              <a:rPr lang="zh-CN" altLang="zh-CN" dirty="0"/>
              <a:t>收到</a:t>
            </a:r>
            <a:r>
              <a:rPr lang="en-US" altLang="zh-CN" dirty="0"/>
              <a:t> </a:t>
            </a:r>
            <a:r>
              <a:rPr lang="en-US" altLang="zh-CN" dirty="0">
                <a:solidFill>
                  <a:srgbClr val="0000FF"/>
                </a:solidFill>
              </a:rPr>
              <a:t>ARP </a:t>
            </a:r>
            <a:r>
              <a:rPr lang="zh-CN" altLang="zh-CN" dirty="0">
                <a:solidFill>
                  <a:srgbClr val="0000FF"/>
                </a:solidFill>
              </a:rPr>
              <a:t>响应分组</a:t>
            </a:r>
            <a:r>
              <a:rPr lang="zh-CN" altLang="zh-CN" dirty="0"/>
              <a:t>后，</a:t>
            </a:r>
            <a:r>
              <a:rPr lang="zh-CN" altLang="en-US" dirty="0"/>
              <a:t>将得到的 </a:t>
            </a:r>
            <a:r>
              <a:rPr lang="en-US" altLang="zh-CN" dirty="0"/>
              <a:t>IP </a:t>
            </a:r>
            <a:r>
              <a:rPr lang="zh-CN" altLang="zh-CN" dirty="0"/>
              <a:t>地址到硬件地址的映射</a:t>
            </a:r>
            <a:r>
              <a:rPr lang="zh-CN" altLang="en-US" dirty="0"/>
              <a:t>写入 </a:t>
            </a:r>
            <a:r>
              <a:rPr lang="en-US" altLang="zh-CN" dirty="0"/>
              <a:t>ARP </a:t>
            </a:r>
            <a:r>
              <a:rPr lang="zh-CN" altLang="zh-CN" dirty="0"/>
              <a:t>高速缓存</a:t>
            </a:r>
            <a:r>
              <a:rPr lang="zh-CN" altLang="en-US" dirty="0"/>
              <a:t>。</a:t>
            </a:r>
          </a:p>
        </p:txBody>
      </p:sp>
    </p:spTree>
    <p:extLst>
      <p:ext uri="{BB962C8B-B14F-4D97-AF65-F5344CB8AC3E}">
        <p14:creationId xmlns:p14="http://schemas.microsoft.com/office/powerpoint/2010/main" val="23258056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1954" name="Rectangle 2"/>
          <p:cNvSpPr>
            <a:spLocks noGrp="1" noChangeArrowheads="1"/>
          </p:cNvSpPr>
          <p:nvPr>
            <p:ph type="title"/>
          </p:nvPr>
        </p:nvSpPr>
        <p:spPr/>
        <p:txBody>
          <a:bodyPr/>
          <a:lstStyle/>
          <a:p>
            <a:pPr algn="ctr"/>
            <a:r>
              <a:rPr lang="zh-CN" altLang="en-US" dirty="0"/>
              <a:t>地址解析协议 </a:t>
            </a:r>
            <a:r>
              <a:rPr lang="en-US" altLang="zh-CN" dirty="0"/>
              <a:t>ARP </a:t>
            </a:r>
            <a:r>
              <a:rPr lang="zh-CN" altLang="en-US" dirty="0"/>
              <a:t>要点</a:t>
            </a:r>
          </a:p>
        </p:txBody>
      </p:sp>
      <p:sp>
        <p:nvSpPr>
          <p:cNvPr id="1661955" name="Rectangle 3"/>
          <p:cNvSpPr>
            <a:spLocks noGrp="1" noChangeArrowheads="1"/>
          </p:cNvSpPr>
          <p:nvPr>
            <p:ph idx="1"/>
          </p:nvPr>
        </p:nvSpPr>
        <p:spPr/>
        <p:txBody>
          <a:bodyPr/>
          <a:lstStyle/>
          <a:p>
            <a:pPr>
              <a:spcBef>
                <a:spcPts val="1200"/>
              </a:spcBef>
            </a:pPr>
            <a:r>
              <a:rPr lang="en-US" altLang="zh-CN" dirty="0">
                <a:solidFill>
                  <a:srgbClr val="FF0000"/>
                </a:solidFill>
              </a:rPr>
              <a:t>ARP</a:t>
            </a:r>
            <a:r>
              <a:rPr lang="zh-CN" altLang="en-US" dirty="0">
                <a:solidFill>
                  <a:srgbClr val="FF0000"/>
                </a:solidFill>
              </a:rPr>
              <a:t>请求分组：</a:t>
            </a:r>
            <a:r>
              <a:rPr lang="zh-CN" altLang="en-US" dirty="0"/>
              <a:t>包含发送方硬件地址 </a:t>
            </a:r>
            <a:r>
              <a:rPr lang="en-US" altLang="zh-CN" dirty="0"/>
              <a:t>/ </a:t>
            </a:r>
            <a:r>
              <a:rPr lang="zh-CN" altLang="en-US" dirty="0"/>
              <a:t>发送方 </a:t>
            </a:r>
            <a:r>
              <a:rPr lang="en-US" altLang="zh-CN" dirty="0"/>
              <a:t>IP </a:t>
            </a:r>
            <a:r>
              <a:rPr lang="zh-CN" altLang="en-US" dirty="0"/>
              <a:t>地址 </a:t>
            </a:r>
            <a:r>
              <a:rPr lang="en-US" altLang="zh-CN" dirty="0"/>
              <a:t>/ </a:t>
            </a:r>
            <a:r>
              <a:rPr lang="zh-CN" altLang="en-US" dirty="0">
                <a:solidFill>
                  <a:srgbClr val="0000FF"/>
                </a:solidFill>
              </a:rPr>
              <a:t>目标方硬件地址</a:t>
            </a:r>
            <a:r>
              <a:rPr lang="en-US" altLang="zh-CN" dirty="0">
                <a:solidFill>
                  <a:srgbClr val="0000FF"/>
                </a:solidFill>
              </a:rPr>
              <a:t>(</a:t>
            </a:r>
            <a:r>
              <a:rPr lang="zh-CN" altLang="en-US" dirty="0">
                <a:solidFill>
                  <a:srgbClr val="0000FF"/>
                </a:solidFill>
              </a:rPr>
              <a:t>未知时填 </a:t>
            </a:r>
            <a:r>
              <a:rPr lang="en-US" altLang="zh-CN" dirty="0">
                <a:solidFill>
                  <a:srgbClr val="0000FF"/>
                </a:solidFill>
              </a:rPr>
              <a:t>0) </a:t>
            </a:r>
            <a:r>
              <a:rPr lang="en-US" altLang="zh-CN" dirty="0"/>
              <a:t>/ </a:t>
            </a:r>
            <a:r>
              <a:rPr lang="zh-CN" altLang="en-US" dirty="0"/>
              <a:t>目标方 </a:t>
            </a:r>
            <a:r>
              <a:rPr lang="en-US" altLang="zh-CN" dirty="0"/>
              <a:t>IP </a:t>
            </a:r>
            <a:r>
              <a:rPr lang="zh-CN" altLang="en-US" dirty="0"/>
              <a:t>地址。</a:t>
            </a:r>
          </a:p>
          <a:p>
            <a:pPr>
              <a:spcBef>
                <a:spcPts val="1200"/>
              </a:spcBef>
            </a:pPr>
            <a:r>
              <a:rPr lang="zh-CN" altLang="en-US" dirty="0">
                <a:solidFill>
                  <a:srgbClr val="FF0000"/>
                </a:solidFill>
              </a:rPr>
              <a:t>本地广播 </a:t>
            </a:r>
            <a:r>
              <a:rPr lang="en-US" altLang="zh-CN" dirty="0">
                <a:solidFill>
                  <a:srgbClr val="FF0000"/>
                </a:solidFill>
              </a:rPr>
              <a:t>ARP </a:t>
            </a:r>
            <a:r>
              <a:rPr lang="zh-CN" altLang="en-US" dirty="0">
                <a:solidFill>
                  <a:srgbClr val="FF0000"/>
                </a:solidFill>
              </a:rPr>
              <a:t>请求</a:t>
            </a:r>
            <a:r>
              <a:rPr lang="zh-CN" altLang="en-US" dirty="0"/>
              <a:t>（路由器不转发</a:t>
            </a:r>
            <a:r>
              <a:rPr lang="en-US" altLang="zh-CN" dirty="0"/>
              <a:t>ARP</a:t>
            </a:r>
            <a:r>
              <a:rPr lang="zh-CN" altLang="en-US" dirty="0"/>
              <a:t>请求）。</a:t>
            </a:r>
          </a:p>
          <a:p>
            <a:pPr>
              <a:spcBef>
                <a:spcPts val="1200"/>
              </a:spcBef>
            </a:pPr>
            <a:r>
              <a:rPr lang="en-US" altLang="zh-CN" dirty="0">
                <a:solidFill>
                  <a:srgbClr val="FF0000"/>
                </a:solidFill>
              </a:rPr>
              <a:t>ARP </a:t>
            </a:r>
            <a:r>
              <a:rPr lang="zh-CN" altLang="en-US" dirty="0">
                <a:solidFill>
                  <a:srgbClr val="FF0000"/>
                </a:solidFill>
              </a:rPr>
              <a:t>响应分组：</a:t>
            </a:r>
            <a:r>
              <a:rPr lang="zh-CN" altLang="en-US" dirty="0"/>
              <a:t>包含发送方硬件地址 </a:t>
            </a:r>
            <a:r>
              <a:rPr lang="en-US" altLang="zh-CN" dirty="0"/>
              <a:t>/ </a:t>
            </a:r>
            <a:r>
              <a:rPr lang="zh-CN" altLang="en-US" dirty="0"/>
              <a:t>发送方 </a:t>
            </a:r>
            <a:r>
              <a:rPr lang="en-US" altLang="zh-CN" dirty="0"/>
              <a:t>IP</a:t>
            </a:r>
            <a:r>
              <a:rPr lang="zh-CN" altLang="en-US" dirty="0"/>
              <a:t>地址 </a:t>
            </a:r>
            <a:r>
              <a:rPr lang="en-US" altLang="zh-CN" dirty="0"/>
              <a:t>/ </a:t>
            </a:r>
            <a:r>
              <a:rPr lang="zh-CN" altLang="en-US" dirty="0"/>
              <a:t>目标方硬件地址 </a:t>
            </a:r>
            <a:r>
              <a:rPr lang="en-US" altLang="zh-CN" dirty="0"/>
              <a:t>/ </a:t>
            </a:r>
            <a:r>
              <a:rPr lang="zh-CN" altLang="en-US" dirty="0"/>
              <a:t>目标方 </a:t>
            </a:r>
            <a:r>
              <a:rPr lang="en-US" altLang="zh-CN" dirty="0"/>
              <a:t>IP </a:t>
            </a:r>
            <a:r>
              <a:rPr lang="zh-CN" altLang="en-US" dirty="0"/>
              <a:t>地址。</a:t>
            </a:r>
            <a:endParaRPr lang="zh-CN" altLang="en-US" dirty="0">
              <a:solidFill>
                <a:srgbClr val="0000FF"/>
              </a:solidFill>
            </a:endParaRPr>
          </a:p>
          <a:p>
            <a:pPr>
              <a:spcBef>
                <a:spcPts val="1200"/>
              </a:spcBef>
            </a:pPr>
            <a:r>
              <a:rPr lang="en-US" altLang="zh-CN" dirty="0">
                <a:solidFill>
                  <a:srgbClr val="FF0000"/>
                </a:solidFill>
              </a:rPr>
              <a:t>ARP </a:t>
            </a:r>
            <a:r>
              <a:rPr lang="zh-CN" altLang="en-US" dirty="0">
                <a:solidFill>
                  <a:srgbClr val="FF0000"/>
                </a:solidFill>
              </a:rPr>
              <a:t>分组封装在物理网络的帧中传输。</a:t>
            </a:r>
            <a:endParaRPr lang="zh-CN" altLang="en-US" sz="3200" dirty="0">
              <a:solidFill>
                <a:srgbClr val="FF0000"/>
              </a:solidFill>
            </a:endParaRPr>
          </a:p>
        </p:txBody>
      </p:sp>
    </p:spTree>
    <p:extLst>
      <p:ext uri="{BB962C8B-B14F-4D97-AF65-F5344CB8AC3E}">
        <p14:creationId xmlns:p14="http://schemas.microsoft.com/office/powerpoint/2010/main" val="8742598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241" name="Rectangle 105"/>
          <p:cNvSpPr>
            <a:spLocks noChangeArrowheads="1"/>
          </p:cNvSpPr>
          <p:nvPr/>
        </p:nvSpPr>
        <p:spPr bwMode="auto">
          <a:xfrm>
            <a:off x="-15552" y="0"/>
            <a:ext cx="9921552" cy="350043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219230" name="Group 94"/>
          <p:cNvGrpSpPr>
            <a:grpSpLocks/>
          </p:cNvGrpSpPr>
          <p:nvPr/>
        </p:nvGrpSpPr>
        <p:grpSpPr bwMode="auto">
          <a:xfrm>
            <a:off x="3996723" y="4794251"/>
            <a:ext cx="1723231" cy="409575"/>
            <a:chOff x="249" y="663"/>
            <a:chExt cx="1002" cy="258"/>
          </a:xfrm>
          <a:solidFill>
            <a:srgbClr val="FF99FF"/>
          </a:solidFill>
        </p:grpSpPr>
        <p:sp>
          <p:nvSpPr>
            <p:cNvPr id="219231" name="AutoShape 95"/>
            <p:cNvSpPr>
              <a:spLocks noChangeArrowheads="1"/>
            </p:cNvSpPr>
            <p:nvPr/>
          </p:nvSpPr>
          <p:spPr bwMode="auto">
            <a:xfrm flipH="1">
              <a:off x="249" y="709"/>
              <a:ext cx="138" cy="139"/>
            </a:xfrm>
            <a:prstGeom prst="rightArrow">
              <a:avLst>
                <a:gd name="adj1" fmla="val 50000"/>
                <a:gd name="adj2"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19232" name="Text Box 96"/>
            <p:cNvSpPr txBox="1">
              <a:spLocks noChangeArrowheads="1"/>
            </p:cNvSpPr>
            <p:nvPr/>
          </p:nvSpPr>
          <p:spPr bwMode="auto">
            <a:xfrm flipH="1">
              <a:off x="386" y="663"/>
              <a:ext cx="865" cy="258"/>
            </a:xfrm>
            <a:prstGeom prst="rect">
              <a:avLst/>
            </a:prstGeom>
            <a:grpFill/>
            <a:ln w="12700">
              <a:solidFill>
                <a:schemeClr val="tx1"/>
              </a:solidFill>
              <a:miter lim="800000"/>
              <a:headEnd/>
              <a:tailEnd/>
            </a:ln>
            <a:effectLst>
              <a:outerShdw dist="35921" dir="2700000" algn="ctr" rotWithShape="0">
                <a:schemeClr val="bg2"/>
              </a:outerShdw>
            </a:effectLst>
          </p:spPr>
          <p:txBody>
            <a:bodyPr>
              <a:spAutoFit/>
            </a:bodyPr>
            <a:lstStyle/>
            <a:p>
              <a:r>
                <a:rPr kumimoji="1" lang="en-US" altLang="zh-CN" sz="2000" b="1">
                  <a:solidFill>
                    <a:srgbClr val="0000CC"/>
                  </a:solidFill>
                  <a:latin typeface="+mn-lt"/>
                  <a:ea typeface="黑体" pitchFamily="2" charset="-122"/>
                </a:rPr>
                <a:t>ARP </a:t>
              </a:r>
              <a:r>
                <a:rPr kumimoji="1" lang="zh-CN" altLang="en-US" sz="2000" b="1">
                  <a:solidFill>
                    <a:srgbClr val="0000CC"/>
                  </a:solidFill>
                  <a:latin typeface="+mn-lt"/>
                  <a:ea typeface="黑体" pitchFamily="2" charset="-122"/>
                </a:rPr>
                <a:t>响应</a:t>
              </a:r>
            </a:p>
          </p:txBody>
        </p:sp>
      </p:grpSp>
      <p:sp>
        <p:nvSpPr>
          <p:cNvPr id="219143" name="Line 7"/>
          <p:cNvSpPr>
            <a:spLocks noChangeShapeType="1"/>
          </p:cNvSpPr>
          <p:nvPr/>
        </p:nvSpPr>
        <p:spPr bwMode="auto">
          <a:xfrm rot="5400000">
            <a:off x="2079921" y="2311401"/>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144" name="Line 8"/>
          <p:cNvSpPr>
            <a:spLocks noChangeShapeType="1"/>
          </p:cNvSpPr>
          <p:nvPr/>
        </p:nvSpPr>
        <p:spPr bwMode="auto">
          <a:xfrm rot="5400000">
            <a:off x="4263263" y="2302669"/>
            <a:ext cx="588962"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145" name="Line 9"/>
          <p:cNvSpPr>
            <a:spLocks noChangeShapeType="1"/>
          </p:cNvSpPr>
          <p:nvPr/>
        </p:nvSpPr>
        <p:spPr bwMode="auto">
          <a:xfrm rot="5400000">
            <a:off x="6140350" y="2311401"/>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146" name="Line 10"/>
          <p:cNvSpPr>
            <a:spLocks noChangeShapeType="1"/>
          </p:cNvSpPr>
          <p:nvPr/>
        </p:nvSpPr>
        <p:spPr bwMode="auto">
          <a:xfrm rot="5400000">
            <a:off x="8353721" y="2311401"/>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147" name="Line 11"/>
          <p:cNvSpPr>
            <a:spLocks noChangeShapeType="1"/>
          </p:cNvSpPr>
          <p:nvPr/>
        </p:nvSpPr>
        <p:spPr bwMode="auto">
          <a:xfrm rot="5400000">
            <a:off x="662813" y="2311401"/>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219148"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333" y="2459038"/>
            <a:ext cx="54517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9149"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96336" y="2459038"/>
            <a:ext cx="543454"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9150"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8871" y="2459038"/>
            <a:ext cx="54517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9151"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7721" y="2459038"/>
            <a:ext cx="54517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9152" name="Line 16"/>
          <p:cNvSpPr>
            <a:spLocks noChangeShapeType="1"/>
          </p:cNvSpPr>
          <p:nvPr/>
        </p:nvSpPr>
        <p:spPr bwMode="auto">
          <a:xfrm>
            <a:off x="131001" y="2017714"/>
            <a:ext cx="9298914" cy="20637"/>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153" name="Text Box 17"/>
          <p:cNvSpPr txBox="1">
            <a:spLocks noChangeArrowheads="1"/>
          </p:cNvSpPr>
          <p:nvPr/>
        </p:nvSpPr>
        <p:spPr bwMode="auto">
          <a:xfrm>
            <a:off x="2588583" y="2528889"/>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a:t>
            </a:r>
          </a:p>
        </p:txBody>
      </p:sp>
      <p:sp>
        <p:nvSpPr>
          <p:cNvPr id="219154" name="Text Box 18"/>
          <p:cNvSpPr txBox="1">
            <a:spLocks noChangeArrowheads="1"/>
          </p:cNvSpPr>
          <p:nvPr/>
        </p:nvSpPr>
        <p:spPr bwMode="auto">
          <a:xfrm>
            <a:off x="4743482" y="2405064"/>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Y</a:t>
            </a:r>
          </a:p>
        </p:txBody>
      </p:sp>
      <p:sp>
        <p:nvSpPr>
          <p:cNvPr id="219155" name="Text Box 19"/>
          <p:cNvSpPr txBox="1">
            <a:spLocks noChangeArrowheads="1"/>
          </p:cNvSpPr>
          <p:nvPr/>
        </p:nvSpPr>
        <p:spPr bwMode="auto">
          <a:xfrm>
            <a:off x="1150837" y="2405064"/>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X</a:t>
            </a:r>
          </a:p>
        </p:txBody>
      </p:sp>
      <p:sp>
        <p:nvSpPr>
          <p:cNvPr id="219156" name="Text Box 20"/>
          <p:cNvSpPr txBox="1">
            <a:spLocks noChangeArrowheads="1"/>
          </p:cNvSpPr>
          <p:nvPr/>
        </p:nvSpPr>
        <p:spPr bwMode="auto">
          <a:xfrm>
            <a:off x="6628374" y="2528889"/>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B</a:t>
            </a:r>
          </a:p>
        </p:txBody>
      </p:sp>
      <p:sp>
        <p:nvSpPr>
          <p:cNvPr id="219157" name="Text Box 21"/>
          <p:cNvSpPr txBox="1">
            <a:spLocks noChangeArrowheads="1"/>
          </p:cNvSpPr>
          <p:nvPr/>
        </p:nvSpPr>
        <p:spPr bwMode="auto">
          <a:xfrm>
            <a:off x="8848624" y="2405064"/>
            <a:ext cx="3417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Z</a:t>
            </a:r>
          </a:p>
        </p:txBody>
      </p:sp>
      <p:sp>
        <p:nvSpPr>
          <p:cNvPr id="219181" name="Text Box 45"/>
          <p:cNvSpPr txBox="1">
            <a:spLocks noChangeArrowheads="1"/>
          </p:cNvSpPr>
          <p:nvPr/>
        </p:nvSpPr>
        <p:spPr bwMode="auto">
          <a:xfrm>
            <a:off x="961035" y="3789364"/>
            <a:ext cx="2494209" cy="757130"/>
          </a:xfrm>
          <a:prstGeom prst="rect">
            <a:avLst/>
          </a:prstGeom>
          <a:solidFill>
            <a:srgbClr val="66FFFF"/>
          </a:solidFill>
          <a:ln w="9525">
            <a:solidFill>
              <a:schemeClr val="tx2"/>
            </a:solidFill>
            <a:miter lim="800000"/>
            <a:headEnd/>
            <a:tailEnd/>
          </a:ln>
          <a:effectLst/>
        </p:spPr>
        <p:txBody>
          <a:bodyPr wrap="none">
            <a:spAutoFit/>
          </a:bodyPr>
          <a:lstStyle/>
          <a:p>
            <a:pPr algn="ctr">
              <a:lnSpc>
                <a:spcPct val="90000"/>
              </a:lnSpc>
            </a:pPr>
            <a:r>
              <a:rPr kumimoji="1" lang="zh-CN" altLang="en-US" sz="2400" b="1" dirty="0">
                <a:solidFill>
                  <a:srgbClr val="0000CC"/>
                </a:solidFill>
                <a:latin typeface="+mn-lt"/>
                <a:ea typeface="黑体" pitchFamily="2" charset="-122"/>
              </a:rPr>
              <a:t>主机 </a:t>
            </a:r>
            <a:r>
              <a:rPr kumimoji="1" lang="en-US" altLang="zh-CN" sz="2400" b="1" dirty="0">
                <a:solidFill>
                  <a:srgbClr val="0000CC"/>
                </a:solidFill>
                <a:latin typeface="+mn-lt"/>
                <a:ea typeface="黑体" pitchFamily="2" charset="-122"/>
              </a:rPr>
              <a:t>B </a:t>
            </a:r>
            <a:r>
              <a:rPr kumimoji="1" lang="zh-CN" altLang="en-US" sz="2400" b="1" dirty="0">
                <a:solidFill>
                  <a:srgbClr val="0000CC"/>
                </a:solidFill>
                <a:latin typeface="+mn-lt"/>
                <a:ea typeface="黑体" pitchFamily="2" charset="-122"/>
              </a:rPr>
              <a:t>向 </a:t>
            </a:r>
            <a:r>
              <a:rPr kumimoji="1" lang="en-US" altLang="zh-CN" sz="2400" b="1" dirty="0">
                <a:solidFill>
                  <a:srgbClr val="0000CC"/>
                </a:solidFill>
                <a:latin typeface="+mn-lt"/>
                <a:ea typeface="黑体" pitchFamily="2" charset="-122"/>
              </a:rPr>
              <a:t>A </a:t>
            </a:r>
            <a:r>
              <a:rPr kumimoji="1" lang="zh-CN" altLang="en-US" sz="2400" b="1" dirty="0">
                <a:solidFill>
                  <a:srgbClr val="C00000"/>
                </a:solidFill>
                <a:latin typeface="+mn-lt"/>
                <a:ea typeface="黑体" pitchFamily="2" charset="-122"/>
              </a:rPr>
              <a:t>发送</a:t>
            </a:r>
          </a:p>
          <a:p>
            <a:pPr algn="ctr">
              <a:lnSpc>
                <a:spcPct val="90000"/>
              </a:lnSpc>
            </a:pPr>
            <a:r>
              <a:rPr kumimoji="1" lang="en-US" altLang="zh-CN" sz="2400" b="1" dirty="0">
                <a:solidFill>
                  <a:srgbClr val="C00000"/>
                </a:solidFill>
                <a:latin typeface="+mn-lt"/>
                <a:ea typeface="黑体" pitchFamily="2" charset="-122"/>
              </a:rPr>
              <a:t>ARP </a:t>
            </a:r>
            <a:r>
              <a:rPr kumimoji="1" lang="zh-CN" altLang="en-US" sz="2400" b="1" dirty="0">
                <a:solidFill>
                  <a:srgbClr val="C00000"/>
                </a:solidFill>
                <a:latin typeface="+mn-lt"/>
                <a:ea typeface="黑体" pitchFamily="2" charset="-122"/>
              </a:rPr>
              <a:t>响应分组 </a:t>
            </a:r>
          </a:p>
        </p:txBody>
      </p:sp>
      <p:sp>
        <p:nvSpPr>
          <p:cNvPr id="219182" name="Text Box 46"/>
          <p:cNvSpPr txBox="1">
            <a:spLocks noChangeArrowheads="1"/>
          </p:cNvSpPr>
          <p:nvPr/>
        </p:nvSpPr>
        <p:spPr bwMode="auto">
          <a:xfrm>
            <a:off x="468228" y="219076"/>
            <a:ext cx="2410853" cy="757130"/>
          </a:xfrm>
          <a:prstGeom prst="rect">
            <a:avLst/>
          </a:prstGeom>
          <a:solidFill>
            <a:srgbClr val="66FFFF"/>
          </a:solidFill>
          <a:ln w="9525">
            <a:solidFill>
              <a:schemeClr val="tx2"/>
            </a:solidFill>
            <a:miter lim="800000"/>
            <a:headEnd/>
            <a:tailEnd/>
          </a:ln>
          <a:effectLst/>
        </p:spPr>
        <p:txBody>
          <a:bodyPr wrap="none">
            <a:spAutoFit/>
          </a:bodyPr>
          <a:lstStyle/>
          <a:p>
            <a:pPr algn="ctr">
              <a:lnSpc>
                <a:spcPct val="90000"/>
              </a:lnSpc>
            </a:pPr>
            <a:r>
              <a:rPr kumimoji="1" lang="zh-CN" altLang="en-US" sz="2400" b="1" dirty="0">
                <a:solidFill>
                  <a:srgbClr val="0000CC"/>
                </a:solidFill>
                <a:latin typeface="+mn-lt"/>
                <a:ea typeface="黑体" pitchFamily="2" charset="-122"/>
              </a:rPr>
              <a:t>主机 </a:t>
            </a:r>
            <a:r>
              <a:rPr kumimoji="1" lang="en-US" altLang="zh-CN" sz="2400" b="1" dirty="0">
                <a:solidFill>
                  <a:srgbClr val="0000CC"/>
                </a:solidFill>
                <a:latin typeface="+mn-lt"/>
                <a:ea typeface="黑体" pitchFamily="2" charset="-122"/>
              </a:rPr>
              <a:t>A </a:t>
            </a:r>
            <a:r>
              <a:rPr kumimoji="1" lang="zh-CN" altLang="en-US" sz="2400" b="1" dirty="0">
                <a:solidFill>
                  <a:srgbClr val="C00000"/>
                </a:solidFill>
                <a:latin typeface="+mn-lt"/>
                <a:ea typeface="黑体" pitchFamily="2" charset="-122"/>
              </a:rPr>
              <a:t>广播发送</a:t>
            </a:r>
          </a:p>
          <a:p>
            <a:pPr algn="ctr">
              <a:lnSpc>
                <a:spcPct val="90000"/>
              </a:lnSpc>
            </a:pPr>
            <a:r>
              <a:rPr kumimoji="1" lang="en-US" altLang="zh-CN" sz="2400" b="1" dirty="0">
                <a:solidFill>
                  <a:srgbClr val="C00000"/>
                </a:solidFill>
                <a:latin typeface="+mn-lt"/>
                <a:ea typeface="黑体" pitchFamily="2" charset="-122"/>
              </a:rPr>
              <a:t>ARP </a:t>
            </a:r>
            <a:r>
              <a:rPr kumimoji="1" lang="zh-CN" altLang="en-US" sz="2400" b="1" dirty="0">
                <a:solidFill>
                  <a:srgbClr val="C00000"/>
                </a:solidFill>
                <a:latin typeface="+mn-lt"/>
                <a:ea typeface="黑体" pitchFamily="2" charset="-122"/>
              </a:rPr>
              <a:t>请求分组 </a:t>
            </a:r>
          </a:p>
        </p:txBody>
      </p:sp>
      <p:sp>
        <p:nvSpPr>
          <p:cNvPr id="219184" name="Text Box 48"/>
          <p:cNvSpPr txBox="1">
            <a:spLocks noChangeArrowheads="1"/>
          </p:cNvSpPr>
          <p:nvPr/>
        </p:nvSpPr>
        <p:spPr bwMode="auto">
          <a:xfrm>
            <a:off x="2882667" y="1473201"/>
            <a:ext cx="1310167" cy="400110"/>
          </a:xfrm>
          <a:prstGeom prst="rect">
            <a:avLst/>
          </a:prstGeom>
          <a:solidFill>
            <a:srgbClr val="FF99FF"/>
          </a:solidFill>
          <a:ln w="12700">
            <a:solidFill>
              <a:schemeClr val="tx1"/>
            </a:solidFill>
            <a:miter lim="800000"/>
            <a:headEnd/>
            <a:tailEnd/>
          </a:ln>
          <a:effectLst>
            <a:outerShdw dist="35921" dir="2700000" algn="ctr" rotWithShape="0">
              <a:schemeClr val="bg2"/>
            </a:outerShdw>
          </a:effectLst>
        </p:spPr>
        <p:txBody>
          <a:bodyPr wrap="none">
            <a:spAutoFit/>
          </a:bodyPr>
          <a:lstStyle/>
          <a:p>
            <a:r>
              <a:rPr kumimoji="1" lang="en-US" altLang="zh-CN" sz="2000" b="1">
                <a:solidFill>
                  <a:srgbClr val="0000CC"/>
                </a:solidFill>
                <a:latin typeface="+mn-lt"/>
                <a:ea typeface="黑体" pitchFamily="2" charset="-122"/>
              </a:rPr>
              <a:t>ARP </a:t>
            </a:r>
            <a:r>
              <a:rPr kumimoji="1" lang="zh-CN" altLang="en-US" sz="2000" b="1">
                <a:solidFill>
                  <a:srgbClr val="0000CC"/>
                </a:solidFill>
                <a:latin typeface="+mn-lt"/>
                <a:ea typeface="黑体" pitchFamily="2" charset="-122"/>
              </a:rPr>
              <a:t>请求</a:t>
            </a:r>
          </a:p>
        </p:txBody>
      </p:sp>
      <p:sp>
        <p:nvSpPr>
          <p:cNvPr id="219185" name="AutoShape 49"/>
          <p:cNvSpPr>
            <a:spLocks noChangeArrowheads="1"/>
          </p:cNvSpPr>
          <p:nvPr/>
        </p:nvSpPr>
        <p:spPr bwMode="auto">
          <a:xfrm>
            <a:off x="4301496" y="1570039"/>
            <a:ext cx="235611" cy="204787"/>
          </a:xfrm>
          <a:prstGeom prst="rightArrow">
            <a:avLst>
              <a:gd name="adj1" fmla="val 50000"/>
              <a:gd name="adj2" fmla="val 26550"/>
            </a:avLst>
          </a:prstGeom>
          <a:solidFill>
            <a:srgbClr val="FF99FF"/>
          </a:solidFill>
          <a:ln w="9525">
            <a:solidFill>
              <a:schemeClr val="tx1"/>
            </a:solidFill>
            <a:miter lim="800000"/>
            <a:headEnd/>
            <a:tailEnd/>
          </a:ln>
          <a:effectLst/>
        </p:spPr>
        <p:txBody>
          <a:bodyPr wrap="none" anchor="ctr"/>
          <a:lstStyle/>
          <a:p>
            <a:endParaRPr lang="zh-CN" altLang="en-US" b="1">
              <a:solidFill>
                <a:srgbClr val="0000CC"/>
              </a:solidFill>
              <a:latin typeface="+mn-lt"/>
              <a:ea typeface="黑体" pitchFamily="2" charset="-122"/>
            </a:endParaRPr>
          </a:p>
        </p:txBody>
      </p:sp>
      <p:sp>
        <p:nvSpPr>
          <p:cNvPr id="219186" name="Text Box 50"/>
          <p:cNvSpPr txBox="1">
            <a:spLocks noChangeArrowheads="1"/>
          </p:cNvSpPr>
          <p:nvPr/>
        </p:nvSpPr>
        <p:spPr bwMode="auto">
          <a:xfrm>
            <a:off x="4967055" y="1473201"/>
            <a:ext cx="1310167" cy="400110"/>
          </a:xfrm>
          <a:prstGeom prst="rect">
            <a:avLst/>
          </a:prstGeom>
          <a:solidFill>
            <a:srgbClr val="FF99FF"/>
          </a:solidFill>
          <a:ln w="12700">
            <a:solidFill>
              <a:schemeClr val="tx1"/>
            </a:solidFill>
            <a:miter lim="800000"/>
            <a:headEnd/>
            <a:tailEnd/>
          </a:ln>
          <a:effectLst>
            <a:outerShdw dist="35921" dir="2700000" algn="ctr" rotWithShape="0">
              <a:schemeClr val="bg2"/>
            </a:outerShdw>
          </a:effectLst>
        </p:spPr>
        <p:txBody>
          <a:bodyPr wrap="none">
            <a:spAutoFit/>
          </a:bodyPr>
          <a:lstStyle/>
          <a:p>
            <a:r>
              <a:rPr kumimoji="1" lang="en-US" altLang="zh-CN" sz="2000" b="1">
                <a:solidFill>
                  <a:srgbClr val="0000CC"/>
                </a:solidFill>
                <a:latin typeface="+mn-lt"/>
                <a:ea typeface="黑体" pitchFamily="2" charset="-122"/>
              </a:rPr>
              <a:t>ARP </a:t>
            </a:r>
            <a:r>
              <a:rPr kumimoji="1" lang="zh-CN" altLang="en-US" sz="2000" b="1">
                <a:solidFill>
                  <a:srgbClr val="0000CC"/>
                </a:solidFill>
                <a:latin typeface="+mn-lt"/>
                <a:ea typeface="黑体" pitchFamily="2" charset="-122"/>
              </a:rPr>
              <a:t>请求</a:t>
            </a:r>
          </a:p>
        </p:txBody>
      </p:sp>
      <p:sp>
        <p:nvSpPr>
          <p:cNvPr id="219187" name="AutoShape 51"/>
          <p:cNvSpPr>
            <a:spLocks noChangeArrowheads="1"/>
          </p:cNvSpPr>
          <p:nvPr/>
        </p:nvSpPr>
        <p:spPr bwMode="auto">
          <a:xfrm>
            <a:off x="6353206" y="1595438"/>
            <a:ext cx="235612" cy="220662"/>
          </a:xfrm>
          <a:prstGeom prst="rightArrow">
            <a:avLst>
              <a:gd name="adj1" fmla="val 50000"/>
              <a:gd name="adj2" fmla="val 25000"/>
            </a:avLst>
          </a:prstGeom>
          <a:solidFill>
            <a:srgbClr val="FF99FF"/>
          </a:solidFill>
          <a:ln w="9525">
            <a:solidFill>
              <a:schemeClr val="tx1"/>
            </a:solidFill>
            <a:miter lim="800000"/>
            <a:headEnd/>
            <a:tailEnd/>
          </a:ln>
          <a:effectLst/>
        </p:spPr>
        <p:txBody>
          <a:bodyPr wrap="none" anchor="ctr"/>
          <a:lstStyle/>
          <a:p>
            <a:endParaRPr lang="zh-CN" altLang="en-US" b="1">
              <a:solidFill>
                <a:srgbClr val="0000CC"/>
              </a:solidFill>
              <a:latin typeface="+mn-lt"/>
              <a:ea typeface="黑体" pitchFamily="2" charset="-122"/>
            </a:endParaRPr>
          </a:p>
        </p:txBody>
      </p:sp>
      <p:sp>
        <p:nvSpPr>
          <p:cNvPr id="219188" name="Text Box 52"/>
          <p:cNvSpPr txBox="1">
            <a:spLocks noChangeArrowheads="1"/>
          </p:cNvSpPr>
          <p:nvPr/>
        </p:nvSpPr>
        <p:spPr bwMode="auto">
          <a:xfrm>
            <a:off x="7010167" y="1473201"/>
            <a:ext cx="1310167" cy="400110"/>
          </a:xfrm>
          <a:prstGeom prst="rect">
            <a:avLst/>
          </a:prstGeom>
          <a:solidFill>
            <a:srgbClr val="FF99FF"/>
          </a:solidFill>
          <a:ln w="12700">
            <a:solidFill>
              <a:schemeClr val="tx1"/>
            </a:solidFill>
            <a:miter lim="800000"/>
            <a:headEnd/>
            <a:tailEnd/>
          </a:ln>
          <a:effectLst/>
        </p:spPr>
        <p:txBody>
          <a:bodyPr wrap="none">
            <a:spAutoFit/>
          </a:bodyPr>
          <a:lstStyle/>
          <a:p>
            <a:r>
              <a:rPr kumimoji="1" lang="en-US" altLang="zh-CN" sz="2000" b="1" dirty="0">
                <a:solidFill>
                  <a:srgbClr val="0000CC"/>
                </a:solidFill>
                <a:latin typeface="+mn-lt"/>
                <a:ea typeface="黑体" pitchFamily="2" charset="-122"/>
              </a:rPr>
              <a:t>ARP </a:t>
            </a:r>
            <a:r>
              <a:rPr kumimoji="1" lang="zh-CN" altLang="en-US" sz="2000" b="1" dirty="0">
                <a:solidFill>
                  <a:srgbClr val="0000CC"/>
                </a:solidFill>
                <a:latin typeface="+mn-lt"/>
                <a:ea typeface="黑体" pitchFamily="2" charset="-122"/>
              </a:rPr>
              <a:t>请求</a:t>
            </a:r>
          </a:p>
        </p:txBody>
      </p:sp>
      <p:sp>
        <p:nvSpPr>
          <p:cNvPr id="219189" name="AutoShape 53"/>
          <p:cNvSpPr>
            <a:spLocks noChangeArrowheads="1"/>
          </p:cNvSpPr>
          <p:nvPr/>
        </p:nvSpPr>
        <p:spPr bwMode="auto">
          <a:xfrm>
            <a:off x="8418677" y="1558926"/>
            <a:ext cx="235611" cy="220663"/>
          </a:xfrm>
          <a:prstGeom prst="rightArrow">
            <a:avLst>
              <a:gd name="adj1" fmla="val 50000"/>
              <a:gd name="adj2" fmla="val 25000"/>
            </a:avLst>
          </a:prstGeom>
          <a:solidFill>
            <a:srgbClr val="FF99FF"/>
          </a:solidFill>
          <a:ln w="9525">
            <a:solidFill>
              <a:schemeClr val="tx1"/>
            </a:solidFill>
            <a:miter lim="800000"/>
            <a:headEnd/>
            <a:tailEnd/>
          </a:ln>
          <a:effectLst/>
        </p:spPr>
        <p:txBody>
          <a:bodyPr wrap="none" anchor="ctr"/>
          <a:lstStyle/>
          <a:p>
            <a:endParaRPr lang="zh-CN" altLang="en-US" b="1">
              <a:solidFill>
                <a:srgbClr val="0000CC"/>
              </a:solidFill>
              <a:latin typeface="+mn-lt"/>
              <a:ea typeface="黑体" pitchFamily="2" charset="-122"/>
            </a:endParaRPr>
          </a:p>
        </p:txBody>
      </p:sp>
      <p:grpSp>
        <p:nvGrpSpPr>
          <p:cNvPr id="219229" name="Group 93"/>
          <p:cNvGrpSpPr>
            <a:grpSpLocks/>
          </p:cNvGrpSpPr>
          <p:nvPr/>
        </p:nvGrpSpPr>
        <p:grpSpPr bwMode="auto">
          <a:xfrm>
            <a:off x="559229" y="1485901"/>
            <a:ext cx="1723231" cy="409575"/>
            <a:chOff x="249" y="663"/>
            <a:chExt cx="1002" cy="258"/>
          </a:xfrm>
          <a:solidFill>
            <a:srgbClr val="FF99FF"/>
          </a:solidFill>
        </p:grpSpPr>
        <p:sp>
          <p:nvSpPr>
            <p:cNvPr id="219141" name="AutoShape 5"/>
            <p:cNvSpPr>
              <a:spLocks noChangeArrowheads="1"/>
            </p:cNvSpPr>
            <p:nvPr/>
          </p:nvSpPr>
          <p:spPr bwMode="auto">
            <a:xfrm flipH="1">
              <a:off x="249" y="709"/>
              <a:ext cx="138" cy="139"/>
            </a:xfrm>
            <a:prstGeom prst="rightArrow">
              <a:avLst>
                <a:gd name="adj1" fmla="val 50000"/>
                <a:gd name="adj2"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19190" name="Text Box 54"/>
            <p:cNvSpPr txBox="1">
              <a:spLocks noChangeArrowheads="1"/>
            </p:cNvSpPr>
            <p:nvPr/>
          </p:nvSpPr>
          <p:spPr bwMode="auto">
            <a:xfrm flipH="1">
              <a:off x="386" y="663"/>
              <a:ext cx="865" cy="258"/>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000" b="1">
                  <a:solidFill>
                    <a:srgbClr val="0000CC"/>
                  </a:solidFill>
                  <a:latin typeface="+mn-lt"/>
                  <a:ea typeface="黑体" pitchFamily="2" charset="-122"/>
                </a:rPr>
                <a:t>ARP </a:t>
              </a:r>
              <a:r>
                <a:rPr kumimoji="1" lang="zh-CN" altLang="en-US" sz="2000" b="1">
                  <a:solidFill>
                    <a:srgbClr val="0000CC"/>
                  </a:solidFill>
                  <a:latin typeface="+mn-lt"/>
                  <a:ea typeface="黑体" pitchFamily="2" charset="-122"/>
                </a:rPr>
                <a:t>请求</a:t>
              </a:r>
            </a:p>
          </p:txBody>
        </p:sp>
      </p:grpSp>
      <p:sp>
        <p:nvSpPr>
          <p:cNvPr id="219191" name="Text Box 55"/>
          <p:cNvSpPr txBox="1">
            <a:spLocks noChangeArrowheads="1"/>
          </p:cNvSpPr>
          <p:nvPr/>
        </p:nvSpPr>
        <p:spPr bwMode="auto">
          <a:xfrm>
            <a:off x="2413165" y="2241551"/>
            <a:ext cx="12522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209.0.0.5</a:t>
            </a:r>
          </a:p>
        </p:txBody>
      </p:sp>
      <p:sp>
        <p:nvSpPr>
          <p:cNvPr id="219192" name="Text Box 56"/>
          <p:cNvSpPr txBox="1">
            <a:spLocks noChangeArrowheads="1"/>
          </p:cNvSpPr>
          <p:nvPr/>
        </p:nvSpPr>
        <p:spPr bwMode="auto">
          <a:xfrm>
            <a:off x="6391042" y="2135189"/>
            <a:ext cx="12522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209.0.0.6</a:t>
            </a:r>
          </a:p>
        </p:txBody>
      </p:sp>
      <p:sp>
        <p:nvSpPr>
          <p:cNvPr id="219193" name="Text Box 57"/>
          <p:cNvSpPr txBox="1">
            <a:spLocks noChangeArrowheads="1"/>
          </p:cNvSpPr>
          <p:nvPr/>
        </p:nvSpPr>
        <p:spPr bwMode="auto">
          <a:xfrm>
            <a:off x="1183512" y="2960689"/>
            <a:ext cx="24368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00-00-C0-15-AD-18</a:t>
            </a:r>
          </a:p>
        </p:txBody>
      </p:sp>
      <p:sp>
        <p:nvSpPr>
          <p:cNvPr id="219194" name="Text Box 58"/>
          <p:cNvSpPr txBox="1">
            <a:spLocks noChangeArrowheads="1"/>
          </p:cNvSpPr>
          <p:nvPr/>
        </p:nvSpPr>
        <p:spPr bwMode="auto">
          <a:xfrm>
            <a:off x="5093950" y="6237289"/>
            <a:ext cx="24657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08-00-2B-00-EE-0A</a:t>
            </a:r>
          </a:p>
        </p:txBody>
      </p:sp>
      <p:sp>
        <p:nvSpPr>
          <p:cNvPr id="219195" name="AutoShape 59"/>
          <p:cNvSpPr>
            <a:spLocks noChangeArrowheads="1"/>
          </p:cNvSpPr>
          <p:nvPr/>
        </p:nvSpPr>
        <p:spPr bwMode="auto">
          <a:xfrm>
            <a:off x="3434722" y="592139"/>
            <a:ext cx="6104890" cy="661987"/>
          </a:xfrm>
          <a:prstGeom prst="wedgeRoundRectCallout">
            <a:avLst>
              <a:gd name="adj1" fmla="val -51181"/>
              <a:gd name="adj2" fmla="val 85972"/>
              <a:gd name="adj3" fmla="val 16667"/>
            </a:avLst>
          </a:prstGeom>
          <a:solidFill>
            <a:srgbClr val="FF99FF"/>
          </a:solidFill>
          <a:ln w="9525">
            <a:solidFill>
              <a:schemeClr val="tx1"/>
            </a:solidFill>
            <a:miter lim="800000"/>
            <a:headEnd/>
            <a:tailEnd/>
          </a:ln>
          <a:effectLst/>
        </p:spPr>
        <p:txBody>
          <a:bodyPr/>
          <a:lstStyle/>
          <a:p>
            <a:pPr algn="ctr"/>
            <a:endParaRPr kumimoji="1" lang="zh-CN" altLang="zh-CN" sz="2000" b="1">
              <a:solidFill>
                <a:srgbClr val="0000CC"/>
              </a:solidFill>
              <a:latin typeface="+mn-lt"/>
              <a:ea typeface="黑体" pitchFamily="2" charset="-122"/>
            </a:endParaRPr>
          </a:p>
        </p:txBody>
      </p:sp>
      <p:sp>
        <p:nvSpPr>
          <p:cNvPr id="219196" name="Text Box 60"/>
          <p:cNvSpPr txBox="1">
            <a:spLocks noChangeArrowheads="1"/>
          </p:cNvSpPr>
          <p:nvPr/>
        </p:nvSpPr>
        <p:spPr bwMode="auto">
          <a:xfrm>
            <a:off x="3512111" y="558801"/>
            <a:ext cx="588494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我是 </a:t>
            </a:r>
            <a:r>
              <a:rPr kumimoji="1" lang="en-US" altLang="zh-CN" sz="2000" b="1">
                <a:solidFill>
                  <a:srgbClr val="0000CC"/>
                </a:solidFill>
                <a:latin typeface="+mn-lt"/>
                <a:ea typeface="黑体" pitchFamily="2" charset="-122"/>
              </a:rPr>
              <a:t>209.0.0.5</a:t>
            </a:r>
            <a:r>
              <a:rPr kumimoji="1" lang="zh-CN" altLang="en-US" sz="2000" b="1">
                <a:solidFill>
                  <a:srgbClr val="0000CC"/>
                </a:solidFill>
                <a:latin typeface="+mn-lt"/>
                <a:ea typeface="黑体" pitchFamily="2" charset="-122"/>
              </a:rPr>
              <a:t>，硬件地址是 </a:t>
            </a:r>
            <a:r>
              <a:rPr kumimoji="1" lang="en-US" altLang="zh-CN" sz="2000" b="1">
                <a:solidFill>
                  <a:srgbClr val="0000CC"/>
                </a:solidFill>
                <a:latin typeface="+mn-lt"/>
                <a:ea typeface="黑体" pitchFamily="2" charset="-122"/>
              </a:rPr>
              <a:t>00-00-C0-15-AD-18</a:t>
            </a:r>
          </a:p>
          <a:p>
            <a:r>
              <a:rPr kumimoji="1" lang="zh-CN" altLang="en-US" sz="2000" b="1">
                <a:solidFill>
                  <a:srgbClr val="0000CC"/>
                </a:solidFill>
                <a:latin typeface="+mn-lt"/>
                <a:ea typeface="黑体" pitchFamily="2" charset="-122"/>
              </a:rPr>
              <a:t>我想知道主机 </a:t>
            </a:r>
            <a:r>
              <a:rPr kumimoji="1" lang="en-US" altLang="zh-CN" sz="2000" b="1">
                <a:solidFill>
                  <a:srgbClr val="0000CC"/>
                </a:solidFill>
                <a:latin typeface="+mn-lt"/>
                <a:ea typeface="黑体" pitchFamily="2" charset="-122"/>
              </a:rPr>
              <a:t>209.0.0.6 </a:t>
            </a:r>
            <a:r>
              <a:rPr kumimoji="1" lang="zh-CN" altLang="en-US" sz="2000" b="1">
                <a:solidFill>
                  <a:srgbClr val="0000CC"/>
                </a:solidFill>
                <a:latin typeface="+mn-lt"/>
                <a:ea typeface="黑体" pitchFamily="2" charset="-122"/>
              </a:rPr>
              <a:t>的硬件地址</a:t>
            </a:r>
          </a:p>
        </p:txBody>
      </p:sp>
      <p:sp>
        <p:nvSpPr>
          <p:cNvPr id="219197" name="AutoShape 61"/>
          <p:cNvSpPr>
            <a:spLocks noChangeArrowheads="1"/>
          </p:cNvSpPr>
          <p:nvPr/>
        </p:nvSpPr>
        <p:spPr bwMode="auto">
          <a:xfrm>
            <a:off x="5248731" y="3933826"/>
            <a:ext cx="4216929" cy="727075"/>
          </a:xfrm>
          <a:prstGeom prst="wedgeRoundRectCallout">
            <a:avLst>
              <a:gd name="adj1" fmla="val -44574"/>
              <a:gd name="adj2" fmla="val 81657"/>
              <a:gd name="adj3" fmla="val 16667"/>
            </a:avLst>
          </a:prstGeom>
          <a:solidFill>
            <a:srgbClr val="FF99FF"/>
          </a:solidFill>
          <a:ln w="9525">
            <a:solidFill>
              <a:schemeClr val="tx1"/>
            </a:solidFill>
            <a:miter lim="800000"/>
            <a:headEnd/>
            <a:tailEnd/>
          </a:ln>
          <a:effectLst/>
        </p:spPr>
        <p:txBody>
          <a:bodyPr/>
          <a:lstStyle/>
          <a:p>
            <a:pPr algn="ctr"/>
            <a:endParaRPr kumimoji="1" lang="zh-CN" altLang="zh-CN" sz="2000" b="1">
              <a:solidFill>
                <a:srgbClr val="0000CC"/>
              </a:solidFill>
              <a:latin typeface="+mn-lt"/>
              <a:ea typeface="黑体" pitchFamily="2" charset="-122"/>
            </a:endParaRPr>
          </a:p>
        </p:txBody>
      </p:sp>
      <p:sp>
        <p:nvSpPr>
          <p:cNvPr id="219198" name="Text Box 62"/>
          <p:cNvSpPr txBox="1">
            <a:spLocks noChangeArrowheads="1"/>
          </p:cNvSpPr>
          <p:nvPr/>
        </p:nvSpPr>
        <p:spPr bwMode="auto">
          <a:xfrm>
            <a:off x="5317523" y="3933826"/>
            <a:ext cx="42220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000" b="1">
                <a:solidFill>
                  <a:srgbClr val="0000CC"/>
                </a:solidFill>
                <a:latin typeface="+mn-lt"/>
                <a:ea typeface="黑体" pitchFamily="2" charset="-122"/>
              </a:rPr>
              <a:t>我是 </a:t>
            </a:r>
            <a:r>
              <a:rPr kumimoji="1" lang="en-US" altLang="zh-CN" sz="2000" b="1">
                <a:solidFill>
                  <a:srgbClr val="0000CC"/>
                </a:solidFill>
                <a:latin typeface="+mn-lt"/>
                <a:ea typeface="黑体" pitchFamily="2" charset="-122"/>
              </a:rPr>
              <a:t>209.0.0.6</a:t>
            </a:r>
          </a:p>
          <a:p>
            <a:r>
              <a:rPr kumimoji="1" lang="zh-CN" altLang="en-US" sz="2000" b="1">
                <a:solidFill>
                  <a:srgbClr val="0000CC"/>
                </a:solidFill>
                <a:latin typeface="+mn-lt"/>
                <a:ea typeface="黑体" pitchFamily="2" charset="-122"/>
              </a:rPr>
              <a:t>硬件地址是 </a:t>
            </a:r>
            <a:r>
              <a:rPr kumimoji="1" lang="en-US" altLang="zh-CN" sz="2000" b="1">
                <a:solidFill>
                  <a:srgbClr val="0000CC"/>
                </a:solidFill>
                <a:latin typeface="+mn-lt"/>
                <a:ea typeface="黑体" pitchFamily="2" charset="-122"/>
              </a:rPr>
              <a:t>08-00-2B-00-EE-0A</a:t>
            </a:r>
          </a:p>
        </p:txBody>
      </p:sp>
      <p:pic>
        <p:nvPicPr>
          <p:cNvPr id="219199"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3602" y="2459038"/>
            <a:ext cx="54517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9210" name="Line 74"/>
          <p:cNvSpPr>
            <a:spLocks noChangeShapeType="1"/>
          </p:cNvSpPr>
          <p:nvPr/>
        </p:nvSpPr>
        <p:spPr bwMode="auto">
          <a:xfrm rot="5400000">
            <a:off x="1955727" y="5621338"/>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211" name="Line 75"/>
          <p:cNvSpPr>
            <a:spLocks noChangeShapeType="1"/>
          </p:cNvSpPr>
          <p:nvPr/>
        </p:nvSpPr>
        <p:spPr bwMode="auto">
          <a:xfrm rot="5400000">
            <a:off x="4139068" y="5612607"/>
            <a:ext cx="588963"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212" name="Line 76"/>
          <p:cNvSpPr>
            <a:spLocks noChangeShapeType="1"/>
          </p:cNvSpPr>
          <p:nvPr/>
        </p:nvSpPr>
        <p:spPr bwMode="auto">
          <a:xfrm rot="5400000">
            <a:off x="6016154" y="5621338"/>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213" name="Line 77"/>
          <p:cNvSpPr>
            <a:spLocks noChangeShapeType="1"/>
          </p:cNvSpPr>
          <p:nvPr/>
        </p:nvSpPr>
        <p:spPr bwMode="auto">
          <a:xfrm rot="5400000">
            <a:off x="8229527" y="5621338"/>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214" name="Line 78"/>
          <p:cNvSpPr>
            <a:spLocks noChangeShapeType="1"/>
          </p:cNvSpPr>
          <p:nvPr/>
        </p:nvSpPr>
        <p:spPr bwMode="auto">
          <a:xfrm rot="5400000">
            <a:off x="538618" y="5621338"/>
            <a:ext cx="5873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219215" name="Picture 7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7140" y="5768975"/>
            <a:ext cx="545173"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9216" name="Picture 8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2141" y="5768975"/>
            <a:ext cx="543454"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9217" name="Picture 8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4675" y="5768975"/>
            <a:ext cx="54517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9218" name="Picture 8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63525" y="5768975"/>
            <a:ext cx="54517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9219" name="Line 83"/>
          <p:cNvSpPr>
            <a:spLocks noChangeShapeType="1"/>
          </p:cNvSpPr>
          <p:nvPr/>
        </p:nvSpPr>
        <p:spPr bwMode="auto">
          <a:xfrm>
            <a:off x="6806" y="5327650"/>
            <a:ext cx="9298913" cy="20638"/>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220" name="Text Box 84"/>
          <p:cNvSpPr txBox="1">
            <a:spLocks noChangeArrowheads="1"/>
          </p:cNvSpPr>
          <p:nvPr/>
        </p:nvSpPr>
        <p:spPr bwMode="auto">
          <a:xfrm>
            <a:off x="2464388" y="5838826"/>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a:t>
            </a:r>
          </a:p>
        </p:txBody>
      </p:sp>
      <p:sp>
        <p:nvSpPr>
          <p:cNvPr id="219221" name="Text Box 85"/>
          <p:cNvSpPr txBox="1">
            <a:spLocks noChangeArrowheads="1"/>
          </p:cNvSpPr>
          <p:nvPr/>
        </p:nvSpPr>
        <p:spPr bwMode="auto">
          <a:xfrm>
            <a:off x="4619287" y="571500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Y</a:t>
            </a:r>
          </a:p>
        </p:txBody>
      </p:sp>
      <p:sp>
        <p:nvSpPr>
          <p:cNvPr id="219222" name="Text Box 86"/>
          <p:cNvSpPr txBox="1">
            <a:spLocks noChangeArrowheads="1"/>
          </p:cNvSpPr>
          <p:nvPr/>
        </p:nvSpPr>
        <p:spPr bwMode="auto">
          <a:xfrm>
            <a:off x="1026642" y="5715001"/>
            <a:ext cx="356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X</a:t>
            </a:r>
          </a:p>
        </p:txBody>
      </p:sp>
      <p:sp>
        <p:nvSpPr>
          <p:cNvPr id="219223" name="Text Box 87"/>
          <p:cNvSpPr txBox="1">
            <a:spLocks noChangeArrowheads="1"/>
          </p:cNvSpPr>
          <p:nvPr/>
        </p:nvSpPr>
        <p:spPr bwMode="auto">
          <a:xfrm>
            <a:off x="6504179" y="5838826"/>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B</a:t>
            </a:r>
          </a:p>
        </p:txBody>
      </p:sp>
      <p:sp>
        <p:nvSpPr>
          <p:cNvPr id="219224" name="Text Box 88"/>
          <p:cNvSpPr txBox="1">
            <a:spLocks noChangeArrowheads="1"/>
          </p:cNvSpPr>
          <p:nvPr/>
        </p:nvSpPr>
        <p:spPr bwMode="auto">
          <a:xfrm>
            <a:off x="8724430" y="5715001"/>
            <a:ext cx="3417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Z</a:t>
            </a:r>
          </a:p>
        </p:txBody>
      </p:sp>
      <p:sp>
        <p:nvSpPr>
          <p:cNvPr id="219225" name="Text Box 89"/>
          <p:cNvSpPr txBox="1">
            <a:spLocks noChangeArrowheads="1"/>
          </p:cNvSpPr>
          <p:nvPr/>
        </p:nvSpPr>
        <p:spPr bwMode="auto">
          <a:xfrm>
            <a:off x="2288969" y="5551489"/>
            <a:ext cx="12522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209.0.0.5</a:t>
            </a:r>
          </a:p>
        </p:txBody>
      </p:sp>
      <p:sp>
        <p:nvSpPr>
          <p:cNvPr id="219226" name="Text Box 90"/>
          <p:cNvSpPr txBox="1">
            <a:spLocks noChangeArrowheads="1"/>
          </p:cNvSpPr>
          <p:nvPr/>
        </p:nvSpPr>
        <p:spPr bwMode="auto">
          <a:xfrm>
            <a:off x="6266848" y="5445126"/>
            <a:ext cx="12522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209.0.0.6</a:t>
            </a:r>
          </a:p>
        </p:txBody>
      </p:sp>
      <p:sp>
        <p:nvSpPr>
          <p:cNvPr id="219227" name="Text Box 91"/>
          <p:cNvSpPr txBox="1">
            <a:spLocks noChangeArrowheads="1"/>
          </p:cNvSpPr>
          <p:nvPr/>
        </p:nvSpPr>
        <p:spPr bwMode="auto">
          <a:xfrm>
            <a:off x="1265694" y="6270626"/>
            <a:ext cx="24368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00-00-C0-15-AD-18</a:t>
            </a:r>
          </a:p>
        </p:txBody>
      </p:sp>
      <p:pic>
        <p:nvPicPr>
          <p:cNvPr id="219228" name="Picture 9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9406" y="5768975"/>
            <a:ext cx="54517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9233" name="Freeform 97"/>
          <p:cNvSpPr>
            <a:spLocks/>
          </p:cNvSpPr>
          <p:nvPr/>
        </p:nvSpPr>
        <p:spPr bwMode="auto">
          <a:xfrm>
            <a:off x="2354691" y="2095500"/>
            <a:ext cx="2105025" cy="687388"/>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76200" cmpd="sng">
            <a:solidFill>
              <a:srgbClr val="C0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234" name="Freeform 98"/>
          <p:cNvSpPr>
            <a:spLocks/>
          </p:cNvSpPr>
          <p:nvPr/>
        </p:nvSpPr>
        <p:spPr bwMode="auto">
          <a:xfrm>
            <a:off x="2352971" y="2095500"/>
            <a:ext cx="3979598" cy="687388"/>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76200" cmpd="sng">
            <a:solidFill>
              <a:srgbClr val="C0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237" name="Freeform 101"/>
          <p:cNvSpPr>
            <a:spLocks/>
          </p:cNvSpPr>
          <p:nvPr/>
        </p:nvSpPr>
        <p:spPr bwMode="auto">
          <a:xfrm>
            <a:off x="2352971" y="2095500"/>
            <a:ext cx="6320235" cy="687388"/>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76200" cmpd="sng">
            <a:solidFill>
              <a:srgbClr val="C0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238" name="Freeform 102"/>
          <p:cNvSpPr>
            <a:spLocks/>
          </p:cNvSpPr>
          <p:nvPr/>
        </p:nvSpPr>
        <p:spPr bwMode="auto">
          <a:xfrm flipH="1">
            <a:off x="872231" y="2095500"/>
            <a:ext cx="1480740" cy="687388"/>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76200" cmpd="sng">
            <a:solidFill>
              <a:srgbClr val="C0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219239" name="Freeform 103"/>
          <p:cNvSpPr>
            <a:spLocks/>
          </p:cNvSpPr>
          <p:nvPr/>
        </p:nvSpPr>
        <p:spPr bwMode="auto">
          <a:xfrm flipH="1">
            <a:off x="2206419" y="5407025"/>
            <a:ext cx="3979598" cy="687388"/>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76200" cmpd="sng">
            <a:solidFill>
              <a:srgbClr val="C0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Tree>
    <p:extLst>
      <p:ext uri="{BB962C8B-B14F-4D97-AF65-F5344CB8AC3E}">
        <p14:creationId xmlns:p14="http://schemas.microsoft.com/office/powerpoint/2010/main" val="5272502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矩形 1"/>
          <p:cNvSpPr/>
          <p:nvPr/>
        </p:nvSpPr>
        <p:spPr bwMode="auto">
          <a:xfrm>
            <a:off x="416496" y="997124"/>
            <a:ext cx="9289032" cy="343644"/>
          </a:xfrm>
          <a:prstGeom prst="rect">
            <a:avLst/>
          </a:prstGeom>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3250" name="Rectangle 3"/>
          <p:cNvSpPr>
            <a:spLocks noGrp="1" noChangeArrowheads="1"/>
          </p:cNvSpPr>
          <p:nvPr>
            <p:ph type="body" idx="1"/>
          </p:nvPr>
        </p:nvSpPr>
        <p:spPr>
          <a:xfrm>
            <a:off x="1066800" y="188640"/>
            <a:ext cx="7989888" cy="6480449"/>
          </a:xfrm>
        </p:spPr>
        <p:txBody>
          <a:bodyPr>
            <a:normAutofit lnSpcReduction="10000"/>
          </a:bodyPr>
          <a:lstStyle/>
          <a:p>
            <a:pPr>
              <a:spcBef>
                <a:spcPct val="0"/>
              </a:spcBef>
              <a:buNone/>
            </a:pPr>
            <a:r>
              <a:rPr lang="en-US" altLang="zh-CN" sz="4400" dirty="0">
                <a:solidFill>
                  <a:srgbClr val="333399"/>
                </a:solidFill>
                <a:cs typeface="+mj-cs"/>
              </a:rPr>
              <a:t>ARP</a:t>
            </a:r>
            <a:r>
              <a:rPr lang="zh-CN" altLang="en-US" sz="4400" dirty="0">
                <a:solidFill>
                  <a:srgbClr val="333399"/>
                </a:solidFill>
                <a:cs typeface="+mj-cs"/>
              </a:rPr>
              <a:t>分组格式</a:t>
            </a:r>
            <a:endParaRPr lang="zh-CN" altLang="en-US" sz="2000" dirty="0"/>
          </a:p>
          <a:p>
            <a:pPr eaLnBrk="1" hangingPunct="1">
              <a:spcBef>
                <a:spcPct val="0"/>
              </a:spcBef>
              <a:buFontTx/>
              <a:buNone/>
            </a:pPr>
            <a:endParaRPr lang="zh-CN" altLang="en-US" sz="2000" dirty="0"/>
          </a:p>
          <a:p>
            <a:pPr eaLnBrk="1" hangingPunct="1">
              <a:spcBef>
                <a:spcPct val="0"/>
              </a:spcBef>
              <a:buFontTx/>
              <a:buNone/>
            </a:pPr>
            <a:endParaRPr lang="zh-CN" altLang="en-US" sz="2000" dirty="0"/>
          </a:p>
          <a:p>
            <a:pPr eaLnBrk="1" hangingPunct="1">
              <a:spcBef>
                <a:spcPct val="5000"/>
              </a:spcBef>
              <a:buFontTx/>
              <a:buNone/>
            </a:pPr>
            <a:endParaRPr lang="zh-CN" altLang="en-US" sz="2000" dirty="0"/>
          </a:p>
          <a:p>
            <a:pPr eaLnBrk="1" hangingPunct="1">
              <a:spcBef>
                <a:spcPct val="5000"/>
              </a:spcBef>
              <a:buFontTx/>
              <a:buNone/>
            </a:pPr>
            <a:endParaRPr lang="en-US" altLang="zh-CN" sz="2000" dirty="0"/>
          </a:p>
          <a:p>
            <a:pPr eaLnBrk="1" hangingPunct="1">
              <a:spcBef>
                <a:spcPct val="5000"/>
              </a:spcBef>
              <a:buFontTx/>
              <a:buNone/>
            </a:pPr>
            <a:endParaRPr lang="zh-CN" altLang="en-US" sz="2000" dirty="0"/>
          </a:p>
          <a:p>
            <a:pPr eaLnBrk="1" hangingPunct="1">
              <a:spcBef>
                <a:spcPct val="5000"/>
              </a:spcBef>
              <a:buFontTx/>
              <a:buNone/>
            </a:pPr>
            <a:endParaRPr lang="zh-CN" altLang="en-US" sz="2000" dirty="0"/>
          </a:p>
          <a:p>
            <a:pPr eaLnBrk="1" hangingPunct="1">
              <a:spcBef>
                <a:spcPct val="5000"/>
              </a:spcBef>
              <a:buFontTx/>
              <a:buNone/>
            </a:pPr>
            <a:endParaRPr lang="zh-CN" altLang="en-US" sz="2000" dirty="0"/>
          </a:p>
          <a:p>
            <a:pPr eaLnBrk="1" hangingPunct="1">
              <a:spcBef>
                <a:spcPct val="5000"/>
              </a:spcBef>
              <a:buFontTx/>
              <a:buNone/>
            </a:pPr>
            <a:r>
              <a:rPr lang="zh-CN" altLang="en-US" sz="2000" dirty="0"/>
              <a:t>硬件类型</a:t>
            </a:r>
            <a:r>
              <a:rPr lang="en-US" altLang="zh-CN" sz="2000" dirty="0"/>
              <a:t>(16 bit): </a:t>
            </a:r>
            <a:r>
              <a:rPr lang="zh-CN" altLang="en-US" sz="2000" dirty="0"/>
              <a:t>定义运行</a:t>
            </a:r>
            <a:r>
              <a:rPr lang="en-US" altLang="zh-CN" sz="2000" dirty="0"/>
              <a:t>ARP</a:t>
            </a:r>
            <a:r>
              <a:rPr lang="zh-CN" altLang="en-US" sz="2000" dirty="0"/>
              <a:t>的物理网络类型，如以太网为数值</a:t>
            </a:r>
            <a:r>
              <a:rPr lang="en-US" altLang="zh-CN" sz="2000" dirty="0"/>
              <a:t>1;</a:t>
            </a:r>
          </a:p>
          <a:p>
            <a:pPr eaLnBrk="1" hangingPunct="1">
              <a:spcBef>
                <a:spcPct val="5000"/>
              </a:spcBef>
              <a:buFontTx/>
              <a:buNone/>
            </a:pPr>
            <a:r>
              <a:rPr lang="zh-CN" altLang="en-US" sz="2000" dirty="0"/>
              <a:t>协议类型</a:t>
            </a:r>
            <a:r>
              <a:rPr lang="en-US" altLang="zh-CN" sz="2000" dirty="0"/>
              <a:t>(16 bit): </a:t>
            </a:r>
            <a:r>
              <a:rPr lang="zh-CN" altLang="en-US" sz="2000" dirty="0"/>
              <a:t>定义发送方提供的高层协议类型，</a:t>
            </a:r>
            <a:r>
              <a:rPr lang="en-US" altLang="zh-CN" sz="2000" dirty="0"/>
              <a:t>ARP</a:t>
            </a:r>
            <a:r>
              <a:rPr lang="zh-CN" altLang="en-US" sz="2000" dirty="0"/>
              <a:t>可以用于任何高层协议，如</a:t>
            </a:r>
            <a:r>
              <a:rPr lang="en-US" altLang="zh-CN" sz="2000" dirty="0"/>
              <a:t>IPv4</a:t>
            </a:r>
            <a:r>
              <a:rPr lang="zh-CN" altLang="en-US" sz="2000" dirty="0"/>
              <a:t>．值为</a:t>
            </a:r>
            <a:r>
              <a:rPr lang="en-US" altLang="zh-CN" sz="2000" dirty="0"/>
              <a:t>0800</a:t>
            </a:r>
            <a:r>
              <a:rPr lang="zh-CN" altLang="en-US" sz="2000" dirty="0"/>
              <a:t>。</a:t>
            </a:r>
          </a:p>
          <a:p>
            <a:pPr eaLnBrk="1" hangingPunct="1">
              <a:spcBef>
                <a:spcPct val="5000"/>
              </a:spcBef>
              <a:buFontTx/>
              <a:buNone/>
            </a:pPr>
            <a:r>
              <a:rPr lang="zh-CN" altLang="en-US" sz="2000" dirty="0"/>
              <a:t>硬件地址长度</a:t>
            </a:r>
            <a:r>
              <a:rPr lang="en-US" altLang="zh-CN" sz="2000" dirty="0"/>
              <a:t>(8 bit): </a:t>
            </a:r>
            <a:r>
              <a:rPr lang="zh-CN" altLang="en-US" sz="2000" dirty="0"/>
              <a:t>以字节为单位的逻辑长度，如以太网为</a:t>
            </a:r>
            <a:r>
              <a:rPr lang="en-US" altLang="zh-CN" sz="2000"/>
              <a:t>6</a:t>
            </a:r>
            <a:r>
              <a:rPr lang="zh-CN" altLang="en-US" sz="2000"/>
              <a:t>；</a:t>
            </a:r>
            <a:endParaRPr lang="zh-CN" altLang="en-US" sz="2000" dirty="0"/>
          </a:p>
          <a:p>
            <a:pPr eaLnBrk="1" hangingPunct="1">
              <a:spcBef>
                <a:spcPct val="5000"/>
              </a:spcBef>
              <a:buFontTx/>
              <a:buNone/>
            </a:pPr>
            <a:r>
              <a:rPr lang="zh-CN" altLang="en-US" sz="2000" dirty="0"/>
              <a:t>协议地址长度</a:t>
            </a:r>
            <a:r>
              <a:rPr lang="en-US" altLang="zh-CN" sz="2000" dirty="0"/>
              <a:t>(8 bit): </a:t>
            </a:r>
            <a:r>
              <a:rPr lang="zh-CN" altLang="en-US" sz="2000" dirty="0"/>
              <a:t>以字节为单位的逻辑长度，如</a:t>
            </a:r>
            <a:r>
              <a:rPr lang="en-US" altLang="zh-CN" sz="2000" dirty="0"/>
              <a:t>IPv4</a:t>
            </a:r>
            <a:r>
              <a:rPr lang="zh-CN" altLang="en-US" sz="2000" dirty="0"/>
              <a:t>协议长度为</a:t>
            </a:r>
            <a:r>
              <a:rPr lang="en-US" altLang="zh-CN" sz="2000" dirty="0"/>
              <a:t>4</a:t>
            </a:r>
            <a:r>
              <a:rPr lang="zh-CN" altLang="en-US" sz="2000" dirty="0"/>
              <a:t>；</a:t>
            </a:r>
          </a:p>
          <a:p>
            <a:pPr eaLnBrk="1" hangingPunct="1">
              <a:spcBef>
                <a:spcPct val="5000"/>
              </a:spcBef>
              <a:buFontTx/>
              <a:buNone/>
            </a:pPr>
            <a:r>
              <a:rPr lang="zh-CN" altLang="en-US" sz="2000" dirty="0"/>
              <a:t>操作</a:t>
            </a:r>
            <a:r>
              <a:rPr lang="en-US" altLang="zh-CN" sz="2000" dirty="0"/>
              <a:t>(16 bit): </a:t>
            </a:r>
            <a:r>
              <a:rPr lang="zh-CN" altLang="en-US" sz="2000" dirty="0"/>
              <a:t>定义分组的类型。若是</a:t>
            </a:r>
            <a:r>
              <a:rPr lang="en-US" altLang="zh-CN" sz="2000" dirty="0"/>
              <a:t>ARP</a:t>
            </a:r>
            <a:r>
              <a:rPr lang="zh-CN" altLang="en-US" sz="2000" dirty="0"/>
              <a:t>请求为</a:t>
            </a:r>
            <a:r>
              <a:rPr lang="en-US" altLang="zh-CN" sz="2000" dirty="0"/>
              <a:t>l</a:t>
            </a:r>
            <a:r>
              <a:rPr lang="zh-CN" altLang="en-US" sz="2000" dirty="0"/>
              <a:t>；</a:t>
            </a:r>
            <a:r>
              <a:rPr lang="en-US" altLang="zh-CN" sz="2000" dirty="0"/>
              <a:t>ARP</a:t>
            </a:r>
            <a:r>
              <a:rPr lang="zh-CN" altLang="en-US" sz="2000" dirty="0"/>
              <a:t>应答为</a:t>
            </a:r>
            <a:r>
              <a:rPr lang="en-US" altLang="zh-CN" sz="2000" dirty="0"/>
              <a:t>2</a:t>
            </a:r>
            <a:r>
              <a:rPr lang="zh-CN" altLang="en-US" sz="2000" dirty="0"/>
              <a:t>，</a:t>
            </a:r>
            <a:r>
              <a:rPr lang="en-US" altLang="zh-CN" sz="2000" dirty="0"/>
              <a:t>RARP</a:t>
            </a:r>
            <a:r>
              <a:rPr lang="zh-CN" altLang="en-US" sz="2000" dirty="0"/>
              <a:t>请求为</a:t>
            </a:r>
            <a:r>
              <a:rPr lang="en-US" altLang="zh-CN" sz="2000" dirty="0"/>
              <a:t>3</a:t>
            </a:r>
            <a:r>
              <a:rPr lang="zh-CN" altLang="en-US" sz="2000" dirty="0"/>
              <a:t>，</a:t>
            </a:r>
            <a:r>
              <a:rPr lang="en-US" altLang="zh-CN" sz="2000" dirty="0"/>
              <a:t>RARP</a:t>
            </a:r>
            <a:r>
              <a:rPr lang="zh-CN" altLang="en-US" sz="2000" dirty="0"/>
              <a:t>应答为</a:t>
            </a:r>
            <a:r>
              <a:rPr lang="en-US" altLang="zh-CN" sz="2000" dirty="0"/>
              <a:t>4</a:t>
            </a:r>
            <a:r>
              <a:rPr lang="zh-CN" altLang="en-US" sz="2000" dirty="0"/>
              <a:t>。</a:t>
            </a:r>
          </a:p>
          <a:p>
            <a:pPr eaLnBrk="1" hangingPunct="1">
              <a:spcBef>
                <a:spcPct val="5000"/>
              </a:spcBef>
              <a:buFontTx/>
              <a:buNone/>
            </a:pPr>
            <a:r>
              <a:rPr lang="zh-CN" altLang="en-US" sz="2000" dirty="0"/>
              <a:t>发送站硬件地址：可变长字段，放置发送站的物理地址（</a:t>
            </a:r>
            <a:r>
              <a:rPr lang="en-US" altLang="zh-CN" sz="2000" dirty="0"/>
              <a:t>MAC</a:t>
            </a:r>
            <a:r>
              <a:rPr lang="zh-CN" altLang="en-US" sz="2000" dirty="0"/>
              <a:t>）；</a:t>
            </a:r>
          </a:p>
          <a:p>
            <a:pPr eaLnBrk="1" hangingPunct="1">
              <a:spcBef>
                <a:spcPct val="5000"/>
              </a:spcBef>
              <a:buFontTx/>
              <a:buNone/>
            </a:pPr>
            <a:r>
              <a:rPr lang="zh-CN" altLang="en-US" sz="2000" dirty="0"/>
              <a:t>发送站协议地址：可变长宇段，放置发送站的逻辑地址（</a:t>
            </a:r>
            <a:r>
              <a:rPr lang="en-US" altLang="zh-CN" sz="2000" dirty="0"/>
              <a:t>IP</a:t>
            </a:r>
            <a:r>
              <a:rPr lang="zh-CN" altLang="en-US" sz="2000" dirty="0"/>
              <a:t>）；</a:t>
            </a:r>
          </a:p>
          <a:p>
            <a:pPr eaLnBrk="1" hangingPunct="1">
              <a:spcBef>
                <a:spcPct val="5000"/>
              </a:spcBef>
              <a:buFontTx/>
              <a:buNone/>
            </a:pPr>
            <a:r>
              <a:rPr lang="zh-CN" altLang="en-US" sz="2000" dirty="0"/>
              <a:t>接收站硬件地址：可变长字段，放置发送站的物理地址（</a:t>
            </a:r>
            <a:r>
              <a:rPr lang="en-US" altLang="zh-CN" sz="2000" dirty="0"/>
              <a:t>MAC</a:t>
            </a:r>
            <a:r>
              <a:rPr lang="zh-CN" altLang="en-US" sz="2000" dirty="0"/>
              <a:t>）；</a:t>
            </a:r>
          </a:p>
          <a:p>
            <a:pPr eaLnBrk="1" hangingPunct="1">
              <a:spcBef>
                <a:spcPct val="5000"/>
              </a:spcBef>
              <a:buFontTx/>
              <a:buNone/>
            </a:pPr>
            <a:r>
              <a:rPr lang="zh-CN" altLang="en-US" sz="2000" dirty="0"/>
              <a:t>接收站协议地址：可变长宇段，放置发送站的逻辑地址（</a:t>
            </a:r>
            <a:r>
              <a:rPr lang="en-US" altLang="zh-CN" sz="2000" dirty="0"/>
              <a:t>IP</a:t>
            </a:r>
            <a:r>
              <a:rPr lang="zh-CN" altLang="en-US" sz="2000" dirty="0"/>
              <a:t>）；</a:t>
            </a:r>
          </a:p>
        </p:txBody>
      </p:sp>
      <p:pic>
        <p:nvPicPr>
          <p:cNvPr id="5325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2929" y="1025699"/>
            <a:ext cx="5616575" cy="202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4591" y="44624"/>
            <a:ext cx="3744913"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04060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algn="ctr"/>
            <a:r>
              <a:rPr lang="en-US" altLang="zh-CN"/>
              <a:t>ARP </a:t>
            </a:r>
            <a:r>
              <a:rPr lang="zh-CN" altLang="en-US"/>
              <a:t>高速缓存的作用</a:t>
            </a:r>
          </a:p>
        </p:txBody>
      </p:sp>
      <p:sp>
        <p:nvSpPr>
          <p:cNvPr id="221187" name="Rectangle 3"/>
          <p:cNvSpPr>
            <a:spLocks noGrp="1" noChangeArrowheads="1"/>
          </p:cNvSpPr>
          <p:nvPr>
            <p:ph idx="1"/>
          </p:nvPr>
        </p:nvSpPr>
        <p:spPr/>
        <p:txBody>
          <a:bodyPr/>
          <a:lstStyle/>
          <a:p>
            <a:pPr marL="342900" lvl="1" indent="-342900">
              <a:buClr>
                <a:srgbClr val="333399"/>
              </a:buClr>
              <a:buSzPct val="75000"/>
            </a:pPr>
            <a:r>
              <a:rPr lang="zh-CN" altLang="en-US" sz="3200" dirty="0">
                <a:solidFill>
                  <a:srgbClr val="FF0000"/>
                </a:solidFill>
              </a:rPr>
              <a:t>存放最近获得的 </a:t>
            </a:r>
            <a:r>
              <a:rPr lang="en-US" altLang="zh-CN" sz="3200" dirty="0">
                <a:solidFill>
                  <a:srgbClr val="FF0000"/>
                </a:solidFill>
              </a:rPr>
              <a:t>IP </a:t>
            </a:r>
            <a:r>
              <a:rPr lang="zh-CN" altLang="en-US" sz="3200" dirty="0">
                <a:solidFill>
                  <a:srgbClr val="FF0000"/>
                </a:solidFill>
              </a:rPr>
              <a:t>地址到 </a:t>
            </a:r>
            <a:r>
              <a:rPr lang="en-US" altLang="zh-CN" sz="3200" dirty="0">
                <a:solidFill>
                  <a:srgbClr val="FF0000"/>
                </a:solidFill>
              </a:rPr>
              <a:t>MAC </a:t>
            </a:r>
            <a:r>
              <a:rPr lang="zh-CN" altLang="en-US" sz="3200" dirty="0">
                <a:solidFill>
                  <a:srgbClr val="FF0000"/>
                </a:solidFill>
              </a:rPr>
              <a:t>地址的绑定，以减少 </a:t>
            </a:r>
            <a:r>
              <a:rPr lang="en-US" altLang="zh-CN" sz="3200" dirty="0">
                <a:solidFill>
                  <a:srgbClr val="FF0000"/>
                </a:solidFill>
              </a:rPr>
              <a:t>ARP </a:t>
            </a:r>
            <a:r>
              <a:rPr lang="zh-CN" altLang="en-US" sz="3200" dirty="0">
                <a:solidFill>
                  <a:srgbClr val="FF0000"/>
                </a:solidFill>
              </a:rPr>
              <a:t>广播的数量。</a:t>
            </a:r>
          </a:p>
          <a:p>
            <a:r>
              <a:rPr lang="zh-CN" altLang="en-US" dirty="0"/>
              <a:t>为了减少网络上的通信量，主机 </a:t>
            </a:r>
            <a:r>
              <a:rPr lang="en-US" altLang="zh-CN" dirty="0"/>
              <a:t>A </a:t>
            </a:r>
            <a:r>
              <a:rPr lang="zh-CN" altLang="en-US" dirty="0"/>
              <a:t>在发送其 </a:t>
            </a:r>
            <a:r>
              <a:rPr lang="en-US" altLang="zh-CN" dirty="0"/>
              <a:t>ARP </a:t>
            </a:r>
            <a:r>
              <a:rPr lang="zh-CN" altLang="en-US" dirty="0"/>
              <a:t>请求分组时，就将自己的 </a:t>
            </a:r>
            <a:r>
              <a:rPr lang="en-US" altLang="zh-CN" dirty="0"/>
              <a:t>IP </a:t>
            </a:r>
            <a:r>
              <a:rPr lang="zh-CN" altLang="en-US" dirty="0"/>
              <a:t>地址到硬件地址的映射写入 </a:t>
            </a:r>
            <a:r>
              <a:rPr lang="en-US" altLang="zh-CN" dirty="0"/>
              <a:t>ARP </a:t>
            </a:r>
            <a:r>
              <a:rPr lang="zh-CN" altLang="en-US" dirty="0"/>
              <a:t>请求分组。</a:t>
            </a:r>
          </a:p>
          <a:p>
            <a:r>
              <a:rPr lang="zh-CN" altLang="en-US" dirty="0"/>
              <a:t>当主机 </a:t>
            </a:r>
            <a:r>
              <a:rPr lang="en-US" altLang="zh-CN" dirty="0"/>
              <a:t>B </a:t>
            </a:r>
            <a:r>
              <a:rPr lang="zh-CN" altLang="en-US" dirty="0"/>
              <a:t>收到 </a:t>
            </a:r>
            <a:r>
              <a:rPr lang="en-US" altLang="zh-CN" dirty="0"/>
              <a:t>A </a:t>
            </a:r>
            <a:r>
              <a:rPr lang="zh-CN" altLang="en-US" dirty="0"/>
              <a:t>的 </a:t>
            </a:r>
            <a:r>
              <a:rPr lang="en-US" altLang="zh-CN" dirty="0"/>
              <a:t>ARP </a:t>
            </a:r>
            <a:r>
              <a:rPr lang="zh-CN" altLang="en-US" dirty="0"/>
              <a:t>请求分组时，就将主机 </a:t>
            </a:r>
            <a:r>
              <a:rPr lang="en-US" altLang="zh-CN" dirty="0"/>
              <a:t>A </a:t>
            </a:r>
            <a:r>
              <a:rPr lang="zh-CN" altLang="en-US" dirty="0"/>
              <a:t>的这一地址映射写入主机 </a:t>
            </a:r>
            <a:r>
              <a:rPr lang="en-US" altLang="zh-CN" dirty="0"/>
              <a:t>B </a:t>
            </a:r>
            <a:r>
              <a:rPr lang="zh-CN" altLang="en-US" dirty="0"/>
              <a:t>自己的 </a:t>
            </a:r>
            <a:r>
              <a:rPr lang="en-US" altLang="zh-CN" dirty="0"/>
              <a:t>ARP </a:t>
            </a:r>
            <a:r>
              <a:rPr lang="zh-CN" altLang="en-US" dirty="0"/>
              <a:t>高速缓存中。这对主机 </a:t>
            </a:r>
            <a:r>
              <a:rPr lang="en-US" altLang="zh-CN" dirty="0"/>
              <a:t>B </a:t>
            </a:r>
            <a:r>
              <a:rPr lang="zh-CN" altLang="en-US" dirty="0"/>
              <a:t>以后向 </a:t>
            </a:r>
            <a:r>
              <a:rPr lang="en-US" altLang="zh-CN" dirty="0"/>
              <a:t>A </a:t>
            </a:r>
            <a:r>
              <a:rPr lang="zh-CN" altLang="en-US" dirty="0"/>
              <a:t>发送数据报时就更方便了。 </a:t>
            </a:r>
          </a:p>
        </p:txBody>
      </p:sp>
    </p:spTree>
    <p:extLst>
      <p:ext uri="{BB962C8B-B14F-4D97-AF65-F5344CB8AC3E}">
        <p14:creationId xmlns:p14="http://schemas.microsoft.com/office/powerpoint/2010/main" val="2829779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p:txBody>
          <a:bodyPr/>
          <a:lstStyle/>
          <a:p>
            <a:pPr algn="ctr"/>
            <a:r>
              <a:rPr lang="zh-CN" altLang="en-US"/>
              <a:t>应当注意的问题</a:t>
            </a:r>
            <a:endParaRPr lang="zh-CN" altLang="en-US" sz="3600"/>
          </a:p>
        </p:txBody>
      </p:sp>
      <p:sp>
        <p:nvSpPr>
          <p:cNvPr id="224259" name="Rectangle 3"/>
          <p:cNvSpPr>
            <a:spLocks noGrp="1" noChangeArrowheads="1"/>
          </p:cNvSpPr>
          <p:nvPr>
            <p:ph idx="1"/>
          </p:nvPr>
        </p:nvSpPr>
        <p:spPr/>
        <p:txBody>
          <a:bodyPr/>
          <a:lstStyle/>
          <a:p>
            <a:r>
              <a:rPr lang="en-US" altLang="zh-CN" dirty="0">
                <a:solidFill>
                  <a:srgbClr val="0000FF"/>
                </a:solidFill>
              </a:rPr>
              <a:t>ARP </a:t>
            </a:r>
            <a:r>
              <a:rPr lang="zh-CN" altLang="en-US" dirty="0">
                <a:solidFill>
                  <a:srgbClr val="0000FF"/>
                </a:solidFill>
              </a:rPr>
              <a:t>是解决</a:t>
            </a:r>
            <a:r>
              <a:rPr lang="zh-CN" altLang="en-US" dirty="0">
                <a:solidFill>
                  <a:srgbClr val="FF0000"/>
                </a:solidFill>
              </a:rPr>
              <a:t>同一个局域网</a:t>
            </a:r>
            <a:r>
              <a:rPr lang="zh-CN" altLang="en-US" dirty="0">
                <a:solidFill>
                  <a:srgbClr val="0000FF"/>
                </a:solidFill>
              </a:rPr>
              <a:t>上的主机或路由器的 </a:t>
            </a:r>
            <a:r>
              <a:rPr lang="en-US" altLang="zh-CN" dirty="0">
                <a:solidFill>
                  <a:srgbClr val="0000FF"/>
                </a:solidFill>
              </a:rPr>
              <a:t>IP </a:t>
            </a:r>
            <a:r>
              <a:rPr lang="zh-CN" altLang="en-US" dirty="0">
                <a:solidFill>
                  <a:srgbClr val="0000FF"/>
                </a:solidFill>
              </a:rPr>
              <a:t>地址和硬件地址的映射问题。</a:t>
            </a:r>
          </a:p>
          <a:p>
            <a:r>
              <a:rPr lang="zh-CN" altLang="en-US" dirty="0"/>
              <a:t>如果所要找的主机和源主机不在同一个局域网上，那么</a:t>
            </a:r>
            <a:r>
              <a:rPr lang="zh-CN" altLang="en-US" dirty="0">
                <a:solidFill>
                  <a:srgbClr val="FF0000"/>
                </a:solidFill>
              </a:rPr>
              <a:t>就要通过 </a:t>
            </a:r>
            <a:r>
              <a:rPr lang="en-US" altLang="zh-CN" dirty="0">
                <a:solidFill>
                  <a:srgbClr val="FF0000"/>
                </a:solidFill>
              </a:rPr>
              <a:t>ARP </a:t>
            </a:r>
            <a:r>
              <a:rPr lang="zh-CN" altLang="en-US" dirty="0">
                <a:solidFill>
                  <a:srgbClr val="FF0000"/>
                </a:solidFill>
              </a:rPr>
              <a:t>找到一个位于本局域网上的某个路由器的硬件地址，</a:t>
            </a:r>
            <a:r>
              <a:rPr lang="zh-CN" altLang="en-US" dirty="0"/>
              <a:t>然后把分组发送给这个路由器，让这个路由器把分组转发给下一个网络。剩下的工作就由下一个网络来做。</a:t>
            </a:r>
          </a:p>
        </p:txBody>
      </p:sp>
    </p:spTree>
    <p:extLst>
      <p:ext uri="{BB962C8B-B14F-4D97-AF65-F5344CB8AC3E}">
        <p14:creationId xmlns:p14="http://schemas.microsoft.com/office/powerpoint/2010/main" val="27795365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Rectangle 2"/>
          <p:cNvSpPr>
            <a:spLocks noGrp="1" noChangeArrowheads="1"/>
          </p:cNvSpPr>
          <p:nvPr>
            <p:ph type="title"/>
          </p:nvPr>
        </p:nvSpPr>
        <p:spPr/>
        <p:txBody>
          <a:bodyPr/>
          <a:lstStyle/>
          <a:p>
            <a:pPr algn="ctr"/>
            <a:r>
              <a:rPr lang="zh-CN" altLang="en-US" sz="4000"/>
              <a:t>使用 </a:t>
            </a:r>
            <a:r>
              <a:rPr lang="en-US" altLang="zh-CN" sz="4000"/>
              <a:t>ARP </a:t>
            </a:r>
            <a:r>
              <a:rPr lang="zh-CN" altLang="en-US" sz="4000"/>
              <a:t>的四种典型情况 </a:t>
            </a:r>
          </a:p>
        </p:txBody>
      </p:sp>
      <p:grpSp>
        <p:nvGrpSpPr>
          <p:cNvPr id="3" name="组合 2"/>
          <p:cNvGrpSpPr/>
          <p:nvPr/>
        </p:nvGrpSpPr>
        <p:grpSpPr>
          <a:xfrm>
            <a:off x="704528" y="1700808"/>
            <a:ext cx="8640960" cy="2037147"/>
            <a:chOff x="1356026" y="1812432"/>
            <a:chExt cx="6915630" cy="1472875"/>
          </a:xfrm>
        </p:grpSpPr>
        <p:grpSp>
          <p:nvGrpSpPr>
            <p:cNvPr id="6" name="Group 244"/>
            <p:cNvGrpSpPr>
              <a:grpSpLocks/>
            </p:cNvGrpSpPr>
            <p:nvPr/>
          </p:nvGrpSpPr>
          <p:grpSpPr bwMode="auto">
            <a:xfrm>
              <a:off x="1812118" y="2193107"/>
              <a:ext cx="1231900" cy="863600"/>
              <a:chOff x="912" y="768"/>
              <a:chExt cx="2400" cy="1584"/>
            </a:xfrm>
          </p:grpSpPr>
          <p:sp>
            <p:nvSpPr>
              <p:cNvPr id="7" name="Oval 245"/>
              <p:cNvSpPr>
                <a:spLocks noChangeArrowheads="1"/>
              </p:cNvSpPr>
              <p:nvPr/>
            </p:nvSpPr>
            <p:spPr bwMode="auto">
              <a:xfrm>
                <a:off x="1751" y="799"/>
                <a:ext cx="1026" cy="62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8" name="Oval 246"/>
              <p:cNvSpPr>
                <a:spLocks noChangeArrowheads="1"/>
              </p:cNvSpPr>
              <p:nvPr/>
            </p:nvSpPr>
            <p:spPr bwMode="auto">
              <a:xfrm>
                <a:off x="1172" y="972"/>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9" name="Oval 247"/>
              <p:cNvSpPr>
                <a:spLocks noChangeArrowheads="1"/>
              </p:cNvSpPr>
              <p:nvPr/>
            </p:nvSpPr>
            <p:spPr bwMode="auto">
              <a:xfrm>
                <a:off x="926" y="1364"/>
                <a:ext cx="521" cy="502"/>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10" name="Oval 248"/>
              <p:cNvSpPr>
                <a:spLocks noChangeArrowheads="1"/>
              </p:cNvSpPr>
              <p:nvPr/>
            </p:nvSpPr>
            <p:spPr bwMode="auto">
              <a:xfrm>
                <a:off x="1085" y="1599"/>
                <a:ext cx="796"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11" name="Oval 249"/>
              <p:cNvSpPr>
                <a:spLocks noChangeArrowheads="1"/>
              </p:cNvSpPr>
              <p:nvPr/>
            </p:nvSpPr>
            <p:spPr bwMode="auto">
              <a:xfrm>
                <a:off x="1664" y="1693"/>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12" name="Oval 250"/>
              <p:cNvSpPr>
                <a:spLocks noChangeArrowheads="1"/>
              </p:cNvSpPr>
              <p:nvPr/>
            </p:nvSpPr>
            <p:spPr bwMode="auto">
              <a:xfrm>
                <a:off x="2445" y="988"/>
                <a:ext cx="751"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13" name="Oval 251"/>
              <p:cNvSpPr>
                <a:spLocks noChangeArrowheads="1"/>
              </p:cNvSpPr>
              <p:nvPr/>
            </p:nvSpPr>
            <p:spPr bwMode="auto">
              <a:xfrm>
                <a:off x="2560" y="1317"/>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14" name="Oval 252"/>
              <p:cNvSpPr>
                <a:spLocks noChangeArrowheads="1"/>
              </p:cNvSpPr>
              <p:nvPr/>
            </p:nvSpPr>
            <p:spPr bwMode="auto">
              <a:xfrm>
                <a:off x="2488" y="1427"/>
                <a:ext cx="752" cy="815"/>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15" name="Oval 253"/>
              <p:cNvSpPr>
                <a:spLocks noChangeArrowheads="1"/>
              </p:cNvSpPr>
              <p:nvPr/>
            </p:nvSpPr>
            <p:spPr bwMode="auto">
              <a:xfrm>
                <a:off x="1360" y="1176"/>
                <a:ext cx="1547" cy="815"/>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grpSp>
            <p:nvGrpSpPr>
              <p:cNvPr id="16" name="Group 254"/>
              <p:cNvGrpSpPr>
                <a:grpSpLocks/>
              </p:cNvGrpSpPr>
              <p:nvPr/>
            </p:nvGrpSpPr>
            <p:grpSpPr bwMode="auto">
              <a:xfrm>
                <a:off x="912" y="768"/>
                <a:ext cx="2386" cy="1553"/>
                <a:chOff x="912" y="768"/>
                <a:chExt cx="2386" cy="1553"/>
              </a:xfrm>
            </p:grpSpPr>
            <p:sp>
              <p:nvSpPr>
                <p:cNvPr id="17" name="Oval 255"/>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18" name="Oval 256"/>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19" name="Oval 257"/>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20" name="Oval 258"/>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21" name="Oval 259"/>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22" name="Oval 260"/>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23" name="Oval 261"/>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24" name="Oval 262"/>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25" name="Oval 263"/>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grpSp>
        </p:grpSp>
        <p:sp>
          <p:nvSpPr>
            <p:cNvPr id="26" name="Line 95"/>
            <p:cNvSpPr>
              <a:spLocks noChangeShapeType="1"/>
            </p:cNvSpPr>
            <p:nvPr/>
          </p:nvSpPr>
          <p:spPr bwMode="auto">
            <a:xfrm flipV="1">
              <a:off x="3044018" y="2588394"/>
              <a:ext cx="4810125" cy="111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grpSp>
          <p:nvGrpSpPr>
            <p:cNvPr id="27" name="Group 284"/>
            <p:cNvGrpSpPr>
              <a:grpSpLocks/>
            </p:cNvGrpSpPr>
            <p:nvPr/>
          </p:nvGrpSpPr>
          <p:grpSpPr bwMode="auto">
            <a:xfrm>
              <a:off x="6917518" y="2218507"/>
              <a:ext cx="1231900" cy="863600"/>
              <a:chOff x="912" y="768"/>
              <a:chExt cx="2400" cy="1584"/>
            </a:xfrm>
          </p:grpSpPr>
          <p:sp>
            <p:nvSpPr>
              <p:cNvPr id="28" name="Oval 285"/>
              <p:cNvSpPr>
                <a:spLocks noChangeArrowheads="1"/>
              </p:cNvSpPr>
              <p:nvPr/>
            </p:nvSpPr>
            <p:spPr bwMode="auto">
              <a:xfrm>
                <a:off x="1751" y="799"/>
                <a:ext cx="1026" cy="62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29" name="Oval 286"/>
              <p:cNvSpPr>
                <a:spLocks noChangeArrowheads="1"/>
              </p:cNvSpPr>
              <p:nvPr/>
            </p:nvSpPr>
            <p:spPr bwMode="auto">
              <a:xfrm>
                <a:off x="1172" y="972"/>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30" name="Oval 287"/>
              <p:cNvSpPr>
                <a:spLocks noChangeArrowheads="1"/>
              </p:cNvSpPr>
              <p:nvPr/>
            </p:nvSpPr>
            <p:spPr bwMode="auto">
              <a:xfrm>
                <a:off x="926" y="1364"/>
                <a:ext cx="521" cy="502"/>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31" name="Oval 288"/>
              <p:cNvSpPr>
                <a:spLocks noChangeArrowheads="1"/>
              </p:cNvSpPr>
              <p:nvPr/>
            </p:nvSpPr>
            <p:spPr bwMode="auto">
              <a:xfrm>
                <a:off x="1085" y="1599"/>
                <a:ext cx="796"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32" name="Oval 289"/>
              <p:cNvSpPr>
                <a:spLocks noChangeArrowheads="1"/>
              </p:cNvSpPr>
              <p:nvPr/>
            </p:nvSpPr>
            <p:spPr bwMode="auto">
              <a:xfrm>
                <a:off x="1664" y="1693"/>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33" name="Oval 290"/>
              <p:cNvSpPr>
                <a:spLocks noChangeArrowheads="1"/>
              </p:cNvSpPr>
              <p:nvPr/>
            </p:nvSpPr>
            <p:spPr bwMode="auto">
              <a:xfrm>
                <a:off x="2445" y="988"/>
                <a:ext cx="751"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34" name="Oval 291"/>
              <p:cNvSpPr>
                <a:spLocks noChangeArrowheads="1"/>
              </p:cNvSpPr>
              <p:nvPr/>
            </p:nvSpPr>
            <p:spPr bwMode="auto">
              <a:xfrm>
                <a:off x="2560" y="1317"/>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35" name="Oval 292"/>
              <p:cNvSpPr>
                <a:spLocks noChangeArrowheads="1"/>
              </p:cNvSpPr>
              <p:nvPr/>
            </p:nvSpPr>
            <p:spPr bwMode="auto">
              <a:xfrm>
                <a:off x="2488" y="1427"/>
                <a:ext cx="752" cy="815"/>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36" name="Oval 293"/>
              <p:cNvSpPr>
                <a:spLocks noChangeArrowheads="1"/>
              </p:cNvSpPr>
              <p:nvPr/>
            </p:nvSpPr>
            <p:spPr bwMode="auto">
              <a:xfrm>
                <a:off x="1360" y="1176"/>
                <a:ext cx="1547" cy="815"/>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grpSp>
            <p:nvGrpSpPr>
              <p:cNvPr id="37" name="Group 294"/>
              <p:cNvGrpSpPr>
                <a:grpSpLocks/>
              </p:cNvGrpSpPr>
              <p:nvPr/>
            </p:nvGrpSpPr>
            <p:grpSpPr bwMode="auto">
              <a:xfrm>
                <a:off x="912" y="768"/>
                <a:ext cx="2386" cy="1553"/>
                <a:chOff x="912" y="768"/>
                <a:chExt cx="2386" cy="1553"/>
              </a:xfrm>
            </p:grpSpPr>
            <p:sp>
              <p:nvSpPr>
                <p:cNvPr id="38" name="Oval 295"/>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39" name="Oval 296"/>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40" name="Oval 297"/>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41" name="Oval 298"/>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42" name="Oval 299"/>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43" name="Oval 300"/>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44" name="Oval 301"/>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45" name="Oval 302"/>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46" name="Oval 303"/>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grpSp>
        </p:grpSp>
        <p:grpSp>
          <p:nvGrpSpPr>
            <p:cNvPr id="47" name="Group 264"/>
            <p:cNvGrpSpPr>
              <a:grpSpLocks/>
            </p:cNvGrpSpPr>
            <p:nvPr/>
          </p:nvGrpSpPr>
          <p:grpSpPr bwMode="auto">
            <a:xfrm>
              <a:off x="4402918" y="2193107"/>
              <a:ext cx="1231900" cy="863600"/>
              <a:chOff x="912" y="768"/>
              <a:chExt cx="2400" cy="1584"/>
            </a:xfrm>
          </p:grpSpPr>
          <p:sp>
            <p:nvSpPr>
              <p:cNvPr id="48" name="Oval 265"/>
              <p:cNvSpPr>
                <a:spLocks noChangeArrowheads="1"/>
              </p:cNvSpPr>
              <p:nvPr/>
            </p:nvSpPr>
            <p:spPr bwMode="auto">
              <a:xfrm>
                <a:off x="1751" y="799"/>
                <a:ext cx="1026" cy="62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49" name="Oval 266"/>
              <p:cNvSpPr>
                <a:spLocks noChangeArrowheads="1"/>
              </p:cNvSpPr>
              <p:nvPr/>
            </p:nvSpPr>
            <p:spPr bwMode="auto">
              <a:xfrm>
                <a:off x="1172" y="972"/>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50" name="Oval 267"/>
              <p:cNvSpPr>
                <a:spLocks noChangeArrowheads="1"/>
              </p:cNvSpPr>
              <p:nvPr/>
            </p:nvSpPr>
            <p:spPr bwMode="auto">
              <a:xfrm>
                <a:off x="926" y="1364"/>
                <a:ext cx="521" cy="502"/>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51" name="Oval 268"/>
              <p:cNvSpPr>
                <a:spLocks noChangeArrowheads="1"/>
              </p:cNvSpPr>
              <p:nvPr/>
            </p:nvSpPr>
            <p:spPr bwMode="auto">
              <a:xfrm>
                <a:off x="1085" y="1599"/>
                <a:ext cx="796"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52" name="Oval 269"/>
              <p:cNvSpPr>
                <a:spLocks noChangeArrowheads="1"/>
              </p:cNvSpPr>
              <p:nvPr/>
            </p:nvSpPr>
            <p:spPr bwMode="auto">
              <a:xfrm>
                <a:off x="1664" y="1693"/>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53" name="Oval 270"/>
              <p:cNvSpPr>
                <a:spLocks noChangeArrowheads="1"/>
              </p:cNvSpPr>
              <p:nvPr/>
            </p:nvSpPr>
            <p:spPr bwMode="auto">
              <a:xfrm>
                <a:off x="2445" y="988"/>
                <a:ext cx="751"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54" name="Oval 271"/>
              <p:cNvSpPr>
                <a:spLocks noChangeArrowheads="1"/>
              </p:cNvSpPr>
              <p:nvPr/>
            </p:nvSpPr>
            <p:spPr bwMode="auto">
              <a:xfrm>
                <a:off x="2560" y="1317"/>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55" name="Oval 272"/>
              <p:cNvSpPr>
                <a:spLocks noChangeArrowheads="1"/>
              </p:cNvSpPr>
              <p:nvPr/>
            </p:nvSpPr>
            <p:spPr bwMode="auto">
              <a:xfrm>
                <a:off x="2488" y="1427"/>
                <a:ext cx="752" cy="815"/>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56" name="Oval 273"/>
              <p:cNvSpPr>
                <a:spLocks noChangeArrowheads="1"/>
              </p:cNvSpPr>
              <p:nvPr/>
            </p:nvSpPr>
            <p:spPr bwMode="auto">
              <a:xfrm>
                <a:off x="1360" y="1176"/>
                <a:ext cx="1547" cy="815"/>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grpSp>
            <p:nvGrpSpPr>
              <p:cNvPr id="57" name="Group 274"/>
              <p:cNvGrpSpPr>
                <a:grpSpLocks/>
              </p:cNvGrpSpPr>
              <p:nvPr/>
            </p:nvGrpSpPr>
            <p:grpSpPr bwMode="auto">
              <a:xfrm>
                <a:off x="912" y="768"/>
                <a:ext cx="2386" cy="1553"/>
                <a:chOff x="912" y="768"/>
                <a:chExt cx="2386" cy="1553"/>
              </a:xfrm>
            </p:grpSpPr>
            <p:sp>
              <p:nvSpPr>
                <p:cNvPr id="58" name="Oval 275"/>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59" name="Oval 276"/>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60" name="Oval 277"/>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61" name="Oval 278"/>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62" name="Oval 279"/>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63" name="Oval 280"/>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64" name="Oval 281"/>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65" name="Oval 282"/>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sp>
              <p:nvSpPr>
                <p:cNvPr id="66" name="Oval 283"/>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800" b="1">
                    <a:solidFill>
                      <a:srgbClr val="000099"/>
                    </a:solidFill>
                    <a:latin typeface="+mn-lt"/>
                    <a:ea typeface="黑体" pitchFamily="2" charset="-122"/>
                  </a:endParaRPr>
                </a:p>
              </p:txBody>
            </p:sp>
          </p:grpSp>
        </p:grpSp>
        <p:sp>
          <p:nvSpPr>
            <p:cNvPr id="67" name="Text Box 96"/>
            <p:cNvSpPr txBox="1">
              <a:spLocks noChangeArrowheads="1"/>
            </p:cNvSpPr>
            <p:nvPr/>
          </p:nvSpPr>
          <p:spPr bwMode="auto">
            <a:xfrm>
              <a:off x="2118699" y="2512334"/>
              <a:ext cx="600669" cy="33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99"/>
                  </a:solidFill>
                  <a:latin typeface="+mn-lt"/>
                  <a:ea typeface="黑体" pitchFamily="2" charset="-122"/>
                </a:rPr>
                <a:t>网 </a:t>
              </a:r>
              <a:r>
                <a:rPr lang="en-US" altLang="zh-CN" sz="2400" b="1" dirty="0">
                  <a:solidFill>
                    <a:srgbClr val="000099"/>
                  </a:solidFill>
                  <a:latin typeface="+mn-lt"/>
                  <a:ea typeface="黑体" pitchFamily="2" charset="-122"/>
                </a:rPr>
                <a:t>1</a:t>
              </a:r>
            </a:p>
          </p:txBody>
        </p:sp>
        <p:sp>
          <p:nvSpPr>
            <p:cNvPr id="68" name="Text Box 98"/>
            <p:cNvSpPr txBox="1">
              <a:spLocks noChangeArrowheads="1"/>
            </p:cNvSpPr>
            <p:nvPr/>
          </p:nvSpPr>
          <p:spPr bwMode="auto">
            <a:xfrm>
              <a:off x="7285638" y="2489243"/>
              <a:ext cx="600669" cy="33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99"/>
                  </a:solidFill>
                  <a:latin typeface="+mn-lt"/>
                  <a:ea typeface="黑体" pitchFamily="2" charset="-122"/>
                </a:rPr>
                <a:t>网 </a:t>
              </a:r>
              <a:r>
                <a:rPr lang="en-US" altLang="zh-CN" sz="2400" b="1" dirty="0">
                  <a:solidFill>
                    <a:srgbClr val="000099"/>
                  </a:solidFill>
                  <a:latin typeface="+mn-lt"/>
                  <a:ea typeface="黑体" pitchFamily="2" charset="-122"/>
                </a:rPr>
                <a:t>3</a:t>
              </a:r>
            </a:p>
          </p:txBody>
        </p:sp>
        <p:sp>
          <p:nvSpPr>
            <p:cNvPr id="69" name="Text Box 99"/>
            <p:cNvSpPr txBox="1">
              <a:spLocks noChangeArrowheads="1"/>
            </p:cNvSpPr>
            <p:nvPr/>
          </p:nvSpPr>
          <p:spPr bwMode="auto">
            <a:xfrm>
              <a:off x="4764687" y="2489243"/>
              <a:ext cx="600669" cy="33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99"/>
                  </a:solidFill>
                  <a:latin typeface="+mn-lt"/>
                  <a:ea typeface="黑体" pitchFamily="2" charset="-122"/>
                </a:rPr>
                <a:t>网 </a:t>
              </a:r>
              <a:r>
                <a:rPr lang="en-US" altLang="zh-CN" sz="2400" b="1" dirty="0">
                  <a:solidFill>
                    <a:srgbClr val="000099"/>
                  </a:solidFill>
                  <a:latin typeface="+mn-lt"/>
                  <a:ea typeface="黑体" pitchFamily="2" charset="-122"/>
                </a:rPr>
                <a:t>2</a:t>
              </a:r>
            </a:p>
          </p:txBody>
        </p:sp>
        <p:pic>
          <p:nvPicPr>
            <p:cNvPr id="70" name="Picture 2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5018" y="2428057"/>
              <a:ext cx="695325"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1" name="Text Box 235"/>
            <p:cNvSpPr txBox="1">
              <a:spLocks noChangeArrowheads="1"/>
            </p:cNvSpPr>
            <p:nvPr/>
          </p:nvSpPr>
          <p:spPr bwMode="auto">
            <a:xfrm>
              <a:off x="6176156" y="2080394"/>
              <a:ext cx="417210" cy="33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C00000"/>
                  </a:solidFill>
                  <a:latin typeface="+mn-lt"/>
                  <a:ea typeface="黑体" pitchFamily="2" charset="-122"/>
                </a:rPr>
                <a:t>R</a:t>
              </a:r>
              <a:r>
                <a:rPr lang="en-US" altLang="zh-CN" sz="2400" b="1" baseline="-25000">
                  <a:solidFill>
                    <a:srgbClr val="C00000"/>
                  </a:solidFill>
                  <a:latin typeface="+mn-lt"/>
                  <a:ea typeface="黑体" pitchFamily="2" charset="-122"/>
                </a:rPr>
                <a:t>2</a:t>
              </a:r>
              <a:endParaRPr lang="en-US" altLang="zh-CN" sz="2400" b="1">
                <a:solidFill>
                  <a:srgbClr val="C00000"/>
                </a:solidFill>
                <a:latin typeface="+mn-lt"/>
                <a:ea typeface="黑体" pitchFamily="2" charset="-122"/>
              </a:endParaRPr>
            </a:p>
          </p:txBody>
        </p:sp>
        <p:sp>
          <p:nvSpPr>
            <p:cNvPr id="72" name="Text Box 237"/>
            <p:cNvSpPr txBox="1">
              <a:spLocks noChangeArrowheads="1"/>
            </p:cNvSpPr>
            <p:nvPr/>
          </p:nvSpPr>
          <p:spPr bwMode="auto">
            <a:xfrm>
              <a:off x="3526618" y="2089919"/>
              <a:ext cx="417210" cy="33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C00000"/>
                  </a:solidFill>
                  <a:latin typeface="+mn-lt"/>
                  <a:ea typeface="黑体" pitchFamily="2" charset="-122"/>
                </a:rPr>
                <a:t>R</a:t>
              </a:r>
              <a:r>
                <a:rPr lang="en-US" altLang="zh-CN" sz="2400" b="1" baseline="-25000" dirty="0">
                  <a:solidFill>
                    <a:srgbClr val="C00000"/>
                  </a:solidFill>
                  <a:latin typeface="+mn-lt"/>
                  <a:ea typeface="黑体" pitchFamily="2" charset="-122"/>
                </a:rPr>
                <a:t>1</a:t>
              </a:r>
              <a:endParaRPr lang="en-US" altLang="zh-CN" sz="2400" b="1" dirty="0">
                <a:solidFill>
                  <a:srgbClr val="C00000"/>
                </a:solidFill>
                <a:latin typeface="+mn-lt"/>
                <a:ea typeface="黑体" pitchFamily="2" charset="-122"/>
              </a:endParaRPr>
            </a:p>
          </p:txBody>
        </p:sp>
        <p:sp>
          <p:nvSpPr>
            <p:cNvPr id="73" name="Text Box 325"/>
            <p:cNvSpPr txBox="1">
              <a:spLocks noChangeArrowheads="1"/>
            </p:cNvSpPr>
            <p:nvPr/>
          </p:nvSpPr>
          <p:spPr bwMode="auto">
            <a:xfrm>
              <a:off x="1356026" y="1886719"/>
              <a:ext cx="417210" cy="33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H</a:t>
              </a:r>
              <a:r>
                <a:rPr lang="en-US" altLang="zh-CN" sz="2400" b="1" baseline="-25000">
                  <a:solidFill>
                    <a:srgbClr val="000099"/>
                  </a:solidFill>
                  <a:latin typeface="+mn-lt"/>
                  <a:ea typeface="黑体" pitchFamily="2" charset="-122"/>
                </a:rPr>
                <a:t>1</a:t>
              </a:r>
            </a:p>
          </p:txBody>
        </p:sp>
        <p:pic>
          <p:nvPicPr>
            <p:cNvPr id="74" name="Picture 32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72956" y="2405832"/>
              <a:ext cx="695325"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5" name="Oval 333"/>
            <p:cNvSpPr>
              <a:spLocks noChangeArrowheads="1"/>
            </p:cNvSpPr>
            <p:nvPr/>
          </p:nvSpPr>
          <p:spPr bwMode="auto">
            <a:xfrm>
              <a:off x="4225118" y="2559819"/>
              <a:ext cx="71438" cy="714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sp>
          <p:nvSpPr>
            <p:cNvPr id="76" name="Oval 335"/>
            <p:cNvSpPr>
              <a:spLocks noChangeArrowheads="1"/>
            </p:cNvSpPr>
            <p:nvPr/>
          </p:nvSpPr>
          <p:spPr bwMode="auto">
            <a:xfrm>
              <a:off x="3156731" y="2567757"/>
              <a:ext cx="71437" cy="7143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sp>
          <p:nvSpPr>
            <p:cNvPr id="77" name="Oval 337"/>
            <p:cNvSpPr>
              <a:spLocks noChangeArrowheads="1"/>
            </p:cNvSpPr>
            <p:nvPr/>
          </p:nvSpPr>
          <p:spPr bwMode="auto">
            <a:xfrm>
              <a:off x="6817506" y="2570932"/>
              <a:ext cx="71437" cy="7143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sp>
          <p:nvSpPr>
            <p:cNvPr id="78" name="Oval 338"/>
            <p:cNvSpPr>
              <a:spLocks noChangeArrowheads="1"/>
            </p:cNvSpPr>
            <p:nvPr/>
          </p:nvSpPr>
          <p:spPr bwMode="auto">
            <a:xfrm>
              <a:off x="5823731" y="2567757"/>
              <a:ext cx="71437" cy="7143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pic>
          <p:nvPicPr>
            <p:cNvPr id="79" name="Picture 3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91468" y="2026419"/>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3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56581" y="2872557"/>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 name="Picture 34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98256" y="1935932"/>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 name="Picture 35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62081" y="2007369"/>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 name="Text Box 351"/>
            <p:cNvSpPr txBox="1">
              <a:spLocks noChangeArrowheads="1"/>
            </p:cNvSpPr>
            <p:nvPr/>
          </p:nvSpPr>
          <p:spPr bwMode="auto">
            <a:xfrm>
              <a:off x="1643363" y="2799532"/>
              <a:ext cx="417210" cy="33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99"/>
                  </a:solidFill>
                  <a:latin typeface="+mn-lt"/>
                  <a:ea typeface="黑体" pitchFamily="2" charset="-122"/>
                </a:rPr>
                <a:t>H</a:t>
              </a:r>
              <a:r>
                <a:rPr lang="en-US" altLang="zh-CN" sz="2400" b="1" baseline="-25000" dirty="0">
                  <a:solidFill>
                    <a:srgbClr val="000099"/>
                  </a:solidFill>
                  <a:latin typeface="+mn-lt"/>
                  <a:ea typeface="黑体" pitchFamily="2" charset="-122"/>
                </a:rPr>
                <a:t>2</a:t>
              </a:r>
            </a:p>
          </p:txBody>
        </p:sp>
        <p:sp>
          <p:nvSpPr>
            <p:cNvPr id="84" name="Text Box 352"/>
            <p:cNvSpPr txBox="1">
              <a:spLocks noChangeArrowheads="1"/>
            </p:cNvSpPr>
            <p:nvPr/>
          </p:nvSpPr>
          <p:spPr bwMode="auto">
            <a:xfrm>
              <a:off x="4871471" y="1812432"/>
              <a:ext cx="417210" cy="33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99"/>
                  </a:solidFill>
                  <a:latin typeface="+mn-lt"/>
                  <a:ea typeface="黑体" pitchFamily="2" charset="-122"/>
                </a:rPr>
                <a:t>H</a:t>
              </a:r>
              <a:r>
                <a:rPr lang="en-US" altLang="zh-CN" sz="2400" b="1" baseline="-25000" dirty="0">
                  <a:solidFill>
                    <a:srgbClr val="000099"/>
                  </a:solidFill>
                  <a:latin typeface="+mn-lt"/>
                  <a:ea typeface="黑体" pitchFamily="2" charset="-122"/>
                </a:rPr>
                <a:t>3</a:t>
              </a:r>
            </a:p>
          </p:txBody>
        </p:sp>
        <p:sp>
          <p:nvSpPr>
            <p:cNvPr id="85" name="Text Box 353"/>
            <p:cNvSpPr txBox="1">
              <a:spLocks noChangeArrowheads="1"/>
            </p:cNvSpPr>
            <p:nvPr/>
          </p:nvSpPr>
          <p:spPr bwMode="auto">
            <a:xfrm>
              <a:off x="7522463" y="1916557"/>
              <a:ext cx="417210" cy="33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99"/>
                  </a:solidFill>
                  <a:latin typeface="+mn-lt"/>
                  <a:ea typeface="黑体" pitchFamily="2" charset="-122"/>
                </a:rPr>
                <a:t>H</a:t>
              </a:r>
              <a:r>
                <a:rPr lang="en-US" altLang="zh-CN" sz="2400" b="1" baseline="-25000" dirty="0">
                  <a:solidFill>
                    <a:srgbClr val="000099"/>
                  </a:solidFill>
                  <a:latin typeface="+mn-lt"/>
                  <a:ea typeface="黑体" pitchFamily="2" charset="-122"/>
                </a:rPr>
                <a:t>4</a:t>
              </a:r>
            </a:p>
          </p:txBody>
        </p:sp>
      </p:grpSp>
    </p:spTree>
    <p:extLst>
      <p:ext uri="{BB962C8B-B14F-4D97-AF65-F5344CB8AC3E}">
        <p14:creationId xmlns:p14="http://schemas.microsoft.com/office/powerpoint/2010/main" val="1043208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Rectangle 2"/>
          <p:cNvSpPr>
            <a:spLocks noGrp="1" noChangeArrowheads="1"/>
          </p:cNvSpPr>
          <p:nvPr>
            <p:ph type="title"/>
          </p:nvPr>
        </p:nvSpPr>
        <p:spPr/>
        <p:txBody>
          <a:bodyPr/>
          <a:lstStyle/>
          <a:p>
            <a:pPr algn="ctr"/>
            <a:r>
              <a:rPr lang="zh-CN" altLang="en-US" sz="4000" dirty="0"/>
              <a:t>使用 </a:t>
            </a:r>
            <a:r>
              <a:rPr lang="en-US" altLang="zh-CN" sz="4000" dirty="0"/>
              <a:t>ARP </a:t>
            </a:r>
            <a:r>
              <a:rPr lang="zh-CN" altLang="en-US" sz="4000" dirty="0"/>
              <a:t>的四种典型情况 </a:t>
            </a:r>
          </a:p>
        </p:txBody>
      </p:sp>
      <p:sp>
        <p:nvSpPr>
          <p:cNvPr id="976899" name="Rectangle 3"/>
          <p:cNvSpPr>
            <a:spLocks noGrp="1" noChangeArrowheads="1"/>
          </p:cNvSpPr>
          <p:nvPr>
            <p:ph idx="1"/>
          </p:nvPr>
        </p:nvSpPr>
        <p:spPr/>
        <p:txBody>
          <a:bodyPr/>
          <a:lstStyle/>
          <a:p>
            <a:r>
              <a:rPr lang="zh-CN" altLang="en-US" sz="2600" dirty="0"/>
              <a:t>发送方是主机，要把 </a:t>
            </a:r>
            <a:r>
              <a:rPr lang="en-US" altLang="zh-CN" sz="2600" dirty="0"/>
              <a:t>IP </a:t>
            </a:r>
            <a:r>
              <a:rPr lang="zh-CN" altLang="en-US" sz="2600" dirty="0"/>
              <a:t>数据报发送到本网络上的另一个主机。这时用 </a:t>
            </a:r>
            <a:r>
              <a:rPr lang="en-US" altLang="zh-CN" sz="2600" dirty="0"/>
              <a:t>ARP </a:t>
            </a:r>
            <a:r>
              <a:rPr lang="zh-CN" altLang="en-US" sz="2600" dirty="0"/>
              <a:t>找到目的主机的硬件地址。 </a:t>
            </a:r>
          </a:p>
          <a:p>
            <a:r>
              <a:rPr lang="zh-CN" altLang="en-US" sz="2600" dirty="0"/>
              <a:t>发送方是主机，要把 </a:t>
            </a:r>
            <a:r>
              <a:rPr lang="en-US" altLang="zh-CN" sz="2600" dirty="0"/>
              <a:t>IP </a:t>
            </a:r>
            <a:r>
              <a:rPr lang="zh-CN" altLang="en-US" sz="2600" dirty="0"/>
              <a:t>数据报发送到另一个网络上的一个主机。这时用 </a:t>
            </a:r>
            <a:r>
              <a:rPr lang="en-US" altLang="zh-CN" sz="2600" dirty="0"/>
              <a:t>ARP </a:t>
            </a:r>
            <a:r>
              <a:rPr lang="zh-CN" altLang="en-US" sz="2600" dirty="0"/>
              <a:t>找到本网络上的一个路由器的硬件地址。剩下的工作由这个路由器来完成。 </a:t>
            </a:r>
          </a:p>
          <a:p>
            <a:r>
              <a:rPr lang="zh-CN" altLang="en-US" sz="2600" dirty="0"/>
              <a:t>发送方是路由器，要把 </a:t>
            </a:r>
            <a:r>
              <a:rPr lang="en-US" altLang="zh-CN" sz="2600" dirty="0"/>
              <a:t>IP </a:t>
            </a:r>
            <a:r>
              <a:rPr lang="zh-CN" altLang="en-US" sz="2600" dirty="0"/>
              <a:t>数据报转发到本网络上的一个主机。这时用 </a:t>
            </a:r>
            <a:r>
              <a:rPr lang="en-US" altLang="zh-CN" sz="2600" dirty="0"/>
              <a:t>ARP </a:t>
            </a:r>
            <a:r>
              <a:rPr lang="zh-CN" altLang="en-US" sz="2600" dirty="0"/>
              <a:t>找到目的主机的硬件地址。 </a:t>
            </a:r>
          </a:p>
          <a:p>
            <a:r>
              <a:rPr lang="zh-CN" altLang="en-US" sz="2600" dirty="0"/>
              <a:t>发送方是路由器，要把 </a:t>
            </a:r>
            <a:r>
              <a:rPr lang="en-US" altLang="zh-CN" sz="2600" dirty="0"/>
              <a:t>IP </a:t>
            </a:r>
            <a:r>
              <a:rPr lang="zh-CN" altLang="en-US" sz="2600" dirty="0"/>
              <a:t>数据报转发到另一个网络上的一个主机。这时用 </a:t>
            </a:r>
            <a:r>
              <a:rPr lang="en-US" altLang="zh-CN" sz="2600" dirty="0"/>
              <a:t>ARP </a:t>
            </a:r>
            <a:r>
              <a:rPr lang="zh-CN" altLang="en-US" sz="2600" dirty="0"/>
              <a:t>找到本网络上另一个路由器的硬件地址。剩下的工作由这个路由器来完成。 </a:t>
            </a:r>
          </a:p>
        </p:txBody>
      </p:sp>
    </p:spTree>
    <p:extLst>
      <p:ext uri="{BB962C8B-B14F-4D97-AF65-F5344CB8AC3E}">
        <p14:creationId xmlns:p14="http://schemas.microsoft.com/office/powerpoint/2010/main" val="16883306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（上）</a:t>
            </a:r>
          </a:p>
        </p:txBody>
      </p:sp>
      <p:sp>
        <p:nvSpPr>
          <p:cNvPr id="3" name="内容占位符 2"/>
          <p:cNvSpPr>
            <a:spLocks noGrp="1"/>
          </p:cNvSpPr>
          <p:nvPr>
            <p:ph idx="1"/>
          </p:nvPr>
        </p:nvSpPr>
        <p:spPr/>
        <p:txBody>
          <a:bodyPr/>
          <a:lstStyle/>
          <a:p>
            <a:pPr>
              <a:lnSpc>
                <a:spcPct val="100000"/>
              </a:lnSpc>
            </a:pPr>
            <a:r>
              <a:rPr lang="zh-CN" altLang="en-US" dirty="0">
                <a:solidFill>
                  <a:schemeClr val="bg1">
                    <a:lumMod val="65000"/>
                  </a:schemeClr>
                </a:solidFill>
              </a:rPr>
              <a:t>概述</a:t>
            </a:r>
            <a:endParaRPr lang="zh-CN" altLang="zh-CN" dirty="0">
              <a:solidFill>
                <a:schemeClr val="bg1">
                  <a:lumMod val="65000"/>
                </a:schemeClr>
              </a:solidFill>
            </a:endParaRPr>
          </a:p>
          <a:p>
            <a:r>
              <a:rPr lang="zh-CN" altLang="zh-CN" dirty="0">
                <a:solidFill>
                  <a:schemeClr val="bg1">
                    <a:lumMod val="65000"/>
                  </a:schemeClr>
                </a:solidFill>
              </a:rPr>
              <a:t>分类的</a:t>
            </a:r>
            <a:r>
              <a:rPr lang="en-US" altLang="zh-CN" dirty="0">
                <a:solidFill>
                  <a:schemeClr val="bg1">
                    <a:lumMod val="65000"/>
                  </a:schemeClr>
                </a:solidFill>
              </a:rPr>
              <a:t> IP </a:t>
            </a:r>
            <a:r>
              <a:rPr lang="zh-CN" altLang="zh-CN" dirty="0">
                <a:solidFill>
                  <a:schemeClr val="bg1">
                    <a:lumMod val="65000"/>
                  </a:schemeClr>
                </a:solidFill>
              </a:rPr>
              <a:t>地址</a:t>
            </a:r>
          </a:p>
          <a:p>
            <a:r>
              <a:rPr lang="zh-CN" altLang="zh-CN" dirty="0">
                <a:solidFill>
                  <a:schemeClr val="bg1">
                    <a:lumMod val="65000"/>
                  </a:schemeClr>
                </a:solidFill>
              </a:rPr>
              <a:t>地址解析协议</a:t>
            </a:r>
            <a:r>
              <a:rPr lang="en-US" altLang="zh-CN" dirty="0">
                <a:solidFill>
                  <a:schemeClr val="bg1">
                    <a:lumMod val="65000"/>
                  </a:schemeClr>
                </a:solidFill>
              </a:rPr>
              <a:t> ARP</a:t>
            </a:r>
            <a:endParaRPr lang="zh-CN" altLang="zh-CN" dirty="0">
              <a:solidFill>
                <a:schemeClr val="bg1">
                  <a:lumMod val="65000"/>
                </a:schemeClr>
              </a:solidFill>
            </a:endParaRPr>
          </a:p>
          <a:p>
            <a:r>
              <a:rPr lang="en-US" altLang="zh-CN" sz="3600" dirty="0">
                <a:solidFill>
                  <a:srgbClr val="FF0000"/>
                </a:solidFill>
              </a:rPr>
              <a:t>IP </a:t>
            </a:r>
            <a:r>
              <a:rPr lang="zh-CN" altLang="zh-CN" sz="3600" dirty="0">
                <a:solidFill>
                  <a:srgbClr val="FF0000"/>
                </a:solidFill>
              </a:rPr>
              <a:t>数据报的格式</a:t>
            </a:r>
            <a:endParaRPr lang="en-US" altLang="zh-CN" sz="3600" dirty="0">
              <a:solidFill>
                <a:srgbClr val="FF0000"/>
              </a:solidFill>
            </a:endParaRPr>
          </a:p>
          <a:p>
            <a:r>
              <a:rPr lang="en-US" altLang="zh-CN" dirty="0">
                <a:solidFill>
                  <a:schemeClr val="bg1">
                    <a:lumMod val="65000"/>
                  </a:schemeClr>
                </a:solidFill>
              </a:rPr>
              <a:t>IP </a:t>
            </a:r>
            <a:r>
              <a:rPr lang="zh-CN" altLang="zh-CN" dirty="0">
                <a:solidFill>
                  <a:schemeClr val="bg1">
                    <a:lumMod val="65000"/>
                  </a:schemeClr>
                </a:solidFill>
              </a:rPr>
              <a:t>层转发分组的流程</a:t>
            </a:r>
          </a:p>
          <a:p>
            <a:pPr>
              <a:lnSpc>
                <a:spcPct val="100000"/>
              </a:lnSpc>
            </a:pPr>
            <a:r>
              <a:rPr lang="zh-CN" altLang="zh-CN" dirty="0">
                <a:solidFill>
                  <a:schemeClr val="bg1">
                    <a:lumMod val="65000"/>
                  </a:schemeClr>
                </a:solidFill>
              </a:rPr>
              <a:t>网际控制报文协议</a:t>
            </a:r>
            <a:r>
              <a:rPr lang="en-US" altLang="zh-CN" dirty="0">
                <a:solidFill>
                  <a:schemeClr val="bg1">
                    <a:lumMod val="65000"/>
                  </a:schemeClr>
                </a:solidFill>
              </a:rPr>
              <a:t> ICMP</a:t>
            </a:r>
            <a:endParaRPr lang="zh-CN" altLang="zh-CN" dirty="0">
              <a:solidFill>
                <a:schemeClr val="bg1">
                  <a:lumMod val="65000"/>
                </a:schemeClr>
              </a:solidFill>
            </a:endParaRPr>
          </a:p>
        </p:txBody>
      </p:sp>
    </p:spTree>
    <p:extLst>
      <p:ext uri="{BB962C8B-B14F-4D97-AF65-F5344CB8AC3E}">
        <p14:creationId xmlns:p14="http://schemas.microsoft.com/office/powerpoint/2010/main" val="41263269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r>
              <a:rPr lang="en-US" altLang="zh-CN" dirty="0"/>
              <a:t>4.2.5  IP </a:t>
            </a:r>
            <a:r>
              <a:rPr lang="zh-CN" altLang="en-US" dirty="0"/>
              <a:t>数据报的格式 </a:t>
            </a:r>
          </a:p>
        </p:txBody>
      </p:sp>
      <p:sp>
        <p:nvSpPr>
          <p:cNvPr id="238596" name="Rectangle 4"/>
          <p:cNvSpPr>
            <a:spLocks noGrp="1" noChangeArrowheads="1"/>
          </p:cNvSpPr>
          <p:nvPr>
            <p:ph idx="1"/>
          </p:nvPr>
        </p:nvSpPr>
        <p:spPr/>
        <p:txBody>
          <a:bodyPr/>
          <a:lstStyle/>
          <a:p>
            <a:r>
              <a:rPr lang="zh-CN" altLang="en-US" dirty="0"/>
              <a:t>一个 </a:t>
            </a:r>
            <a:r>
              <a:rPr lang="en-US" altLang="zh-CN" dirty="0"/>
              <a:t>IP </a:t>
            </a:r>
            <a:r>
              <a:rPr lang="zh-CN" altLang="en-US" dirty="0"/>
              <a:t>数据报由</a:t>
            </a:r>
            <a:r>
              <a:rPr lang="zh-CN" altLang="en-US" dirty="0">
                <a:solidFill>
                  <a:srgbClr val="FF0000"/>
                </a:solidFill>
              </a:rPr>
              <a:t>首部</a:t>
            </a:r>
            <a:r>
              <a:rPr lang="zh-CN" altLang="en-US" dirty="0"/>
              <a:t>和</a:t>
            </a:r>
            <a:r>
              <a:rPr lang="zh-CN" altLang="en-US" dirty="0">
                <a:solidFill>
                  <a:srgbClr val="FF0000"/>
                </a:solidFill>
              </a:rPr>
              <a:t>数据</a:t>
            </a:r>
            <a:r>
              <a:rPr lang="zh-CN" altLang="en-US" dirty="0"/>
              <a:t>两部分组成。</a:t>
            </a:r>
          </a:p>
          <a:p>
            <a:r>
              <a:rPr lang="zh-CN" altLang="en-US" dirty="0">
                <a:solidFill>
                  <a:srgbClr val="0000FF"/>
                </a:solidFill>
              </a:rPr>
              <a:t>首部的前一部分是固定长度，共 </a:t>
            </a:r>
            <a:r>
              <a:rPr lang="en-US" altLang="zh-CN" dirty="0">
                <a:solidFill>
                  <a:srgbClr val="0000FF"/>
                </a:solidFill>
              </a:rPr>
              <a:t>20 </a:t>
            </a:r>
            <a:r>
              <a:rPr lang="zh-CN" altLang="en-US" dirty="0">
                <a:solidFill>
                  <a:srgbClr val="0000FF"/>
                </a:solidFill>
              </a:rPr>
              <a:t>字节，是所有 </a:t>
            </a:r>
            <a:r>
              <a:rPr lang="en-US" altLang="zh-CN" dirty="0">
                <a:solidFill>
                  <a:srgbClr val="0000FF"/>
                </a:solidFill>
              </a:rPr>
              <a:t>IP </a:t>
            </a:r>
            <a:r>
              <a:rPr lang="zh-CN" altLang="en-US" dirty="0">
                <a:solidFill>
                  <a:srgbClr val="0000FF"/>
                </a:solidFill>
              </a:rPr>
              <a:t>数据报必须具有的。</a:t>
            </a:r>
          </a:p>
          <a:p>
            <a:r>
              <a:rPr lang="zh-CN" altLang="en-US" dirty="0"/>
              <a:t>在首部的固定部分的后面是一些可选字段，其长度是可变的。 </a:t>
            </a:r>
          </a:p>
        </p:txBody>
      </p:sp>
    </p:spTree>
    <p:extLst>
      <p:ext uri="{BB962C8B-B14F-4D97-AF65-F5344CB8AC3E}">
        <p14:creationId xmlns:p14="http://schemas.microsoft.com/office/powerpoint/2010/main" val="35789898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1998364"/>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654126"/>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0" name="Line 6"/>
          <p:cNvSpPr>
            <a:spLocks noChangeShapeType="1"/>
          </p:cNvSpPr>
          <p:nvPr/>
        </p:nvSpPr>
        <p:spPr bwMode="auto">
          <a:xfrm>
            <a:off x="2490259" y="5911551"/>
            <a:ext cx="587136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12" name="Rectangle 8"/>
          <p:cNvSpPr>
            <a:spLocks noChangeArrowheads="1"/>
          </p:cNvSpPr>
          <p:nvPr/>
        </p:nvSpPr>
        <p:spPr bwMode="auto">
          <a:xfrm>
            <a:off x="3351875" y="1596727"/>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94" name="Rectangle 90"/>
          <p:cNvSpPr>
            <a:spLocks noChangeArrowheads="1"/>
          </p:cNvSpPr>
          <p:nvPr/>
        </p:nvSpPr>
        <p:spPr bwMode="auto">
          <a:xfrm>
            <a:off x="2457583" y="5220989"/>
            <a:ext cx="1559851" cy="449262"/>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587201"/>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241501"/>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038051"/>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480964"/>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25464"/>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363614"/>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08114"/>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595139"/>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595139"/>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490489"/>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595139"/>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03351"/>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047576"/>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07789"/>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07789"/>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07789"/>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07789"/>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07789"/>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07789"/>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07789"/>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22126"/>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098376"/>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03189"/>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03189"/>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098376"/>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22126"/>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22126"/>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098376"/>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31926"/>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03189"/>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2961976"/>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03301"/>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31926"/>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193501"/>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03076"/>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3973214"/>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3982740"/>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374851"/>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sp>
        <p:nvSpPr>
          <p:cNvPr id="379984" name="Rectangle 80"/>
          <p:cNvSpPr>
            <a:spLocks noChangeArrowheads="1"/>
          </p:cNvSpPr>
          <p:nvPr/>
        </p:nvSpPr>
        <p:spPr bwMode="auto">
          <a:xfrm>
            <a:off x="4017433" y="5220989"/>
            <a:ext cx="4314958" cy="449262"/>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86" name="Rectangle 82"/>
          <p:cNvSpPr>
            <a:spLocks noChangeArrowheads="1"/>
          </p:cNvSpPr>
          <p:nvPr/>
        </p:nvSpPr>
        <p:spPr bwMode="auto">
          <a:xfrm>
            <a:off x="4634839" y="5238451"/>
            <a:ext cx="3353594"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sp>
        <p:nvSpPr>
          <p:cNvPr id="379987" name="Rectangle 83"/>
          <p:cNvSpPr>
            <a:spLocks noChangeArrowheads="1"/>
          </p:cNvSpPr>
          <p:nvPr/>
        </p:nvSpPr>
        <p:spPr bwMode="auto">
          <a:xfrm>
            <a:off x="2691475" y="5238451"/>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a:t>
            </a:r>
          </a:p>
        </p:txBody>
      </p:sp>
      <p:sp>
        <p:nvSpPr>
          <p:cNvPr id="379989" name="Rectangle 85"/>
          <p:cNvSpPr>
            <a:spLocks noChangeArrowheads="1"/>
          </p:cNvSpPr>
          <p:nvPr/>
        </p:nvSpPr>
        <p:spPr bwMode="auto">
          <a:xfrm>
            <a:off x="4636558" y="5706764"/>
            <a:ext cx="1264963" cy="39754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数据报</a:t>
            </a:r>
          </a:p>
        </p:txBody>
      </p:sp>
      <p:grpSp>
        <p:nvGrpSpPr>
          <p:cNvPr id="379998" name="Group 94"/>
          <p:cNvGrpSpPr>
            <a:grpSpLocks/>
          </p:cNvGrpSpPr>
          <p:nvPr/>
        </p:nvGrpSpPr>
        <p:grpSpPr bwMode="auto">
          <a:xfrm>
            <a:off x="265981" y="1566565"/>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grpSp>
        <p:nvGrpSpPr>
          <p:cNvPr id="379997" name="Group 93"/>
          <p:cNvGrpSpPr>
            <a:grpSpLocks/>
          </p:cNvGrpSpPr>
          <p:nvPr/>
        </p:nvGrpSpPr>
        <p:grpSpPr bwMode="auto">
          <a:xfrm>
            <a:off x="1209015" y="1566564"/>
            <a:ext cx="8554244" cy="4102100"/>
            <a:chOff x="703" y="845"/>
            <a:chExt cx="4974" cy="2584"/>
          </a:xfrm>
        </p:grpSpPr>
        <p:sp>
          <p:nvSpPr>
            <p:cNvPr id="379995" name="Rectangle 91"/>
            <p:cNvSpPr>
              <a:spLocks noChangeArrowheads="1"/>
            </p:cNvSpPr>
            <p:nvPr/>
          </p:nvSpPr>
          <p:spPr bwMode="auto">
            <a:xfrm>
              <a:off x="703" y="845"/>
              <a:ext cx="4974" cy="1678"/>
            </a:xfrm>
            <a:prstGeom prst="rect">
              <a:avLst/>
            </a:prstGeom>
            <a:noFill/>
            <a:ln w="571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96" name="Rectangle 92"/>
            <p:cNvSpPr>
              <a:spLocks noChangeArrowheads="1"/>
            </p:cNvSpPr>
            <p:nvPr/>
          </p:nvSpPr>
          <p:spPr bwMode="auto">
            <a:xfrm>
              <a:off x="1426" y="3145"/>
              <a:ext cx="915" cy="284"/>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80001" name="AutoShape 97"/>
          <p:cNvSpPr>
            <a:spLocks/>
          </p:cNvSpPr>
          <p:nvPr/>
        </p:nvSpPr>
        <p:spPr bwMode="auto">
          <a:xfrm>
            <a:off x="998834" y="1638001"/>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380004" name="Group 100"/>
          <p:cNvGrpSpPr>
            <a:grpSpLocks/>
          </p:cNvGrpSpPr>
          <p:nvPr/>
        </p:nvGrpSpPr>
        <p:grpSpPr bwMode="auto">
          <a:xfrm>
            <a:off x="1783426" y="5741690"/>
            <a:ext cx="1209014" cy="855662"/>
            <a:chOff x="1037" y="3475"/>
            <a:chExt cx="703" cy="539"/>
          </a:xfrm>
        </p:grpSpPr>
        <p:sp>
          <p:nvSpPr>
            <p:cNvPr id="380002" name="Line 98"/>
            <p:cNvSpPr>
              <a:spLocks noChangeShapeType="1"/>
            </p:cNvSpPr>
            <p:nvPr/>
          </p:nvSpPr>
          <p:spPr bwMode="auto">
            <a:xfrm flipV="1">
              <a:off x="1428" y="3475"/>
              <a:ext cx="0" cy="317"/>
            </a:xfrm>
            <a:prstGeom prst="line">
              <a:avLst/>
            </a:prstGeom>
            <a:noFill/>
            <a:ln w="5715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80003" name="Rectangle 99"/>
            <p:cNvSpPr>
              <a:spLocks noChangeArrowheads="1"/>
            </p:cNvSpPr>
            <p:nvPr/>
          </p:nvSpPr>
          <p:spPr bwMode="auto">
            <a:xfrm>
              <a:off x="1037" y="3764"/>
              <a:ext cx="7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发送在前</a:t>
              </a:r>
            </a:p>
          </p:txBody>
        </p:sp>
      </p:grpSp>
      <p:sp>
        <p:nvSpPr>
          <p:cNvPr id="2" name="矩形 1"/>
          <p:cNvSpPr/>
          <p:nvPr/>
        </p:nvSpPr>
        <p:spPr>
          <a:xfrm>
            <a:off x="1890803" y="251937"/>
            <a:ext cx="6446573" cy="584775"/>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none">
            <a:spAutoFit/>
          </a:bodyPr>
          <a:lstStyle/>
          <a:p>
            <a:r>
              <a:rPr lang="en-US" altLang="zh-CN" sz="3200" b="1" dirty="0">
                <a:solidFill>
                  <a:srgbClr val="0000CC"/>
                </a:solidFill>
                <a:latin typeface="Arial" pitchFamily="34" charset="0"/>
                <a:ea typeface="黑体" pitchFamily="2" charset="-122"/>
              </a:rPr>
              <a:t>IP </a:t>
            </a:r>
            <a:r>
              <a:rPr lang="zh-CN" altLang="en-US" sz="3200" b="1" dirty="0">
                <a:solidFill>
                  <a:srgbClr val="0000CC"/>
                </a:solidFill>
                <a:latin typeface="Arial" pitchFamily="34" charset="0"/>
                <a:ea typeface="黑体" pitchFamily="2" charset="-122"/>
              </a:rPr>
              <a:t>数据报由首部和数据两部分组成</a:t>
            </a:r>
          </a:p>
        </p:txBody>
      </p:sp>
    </p:spTree>
    <p:extLst>
      <p:ext uri="{BB962C8B-B14F-4D97-AF65-F5344CB8AC3E}">
        <p14:creationId xmlns:p14="http://schemas.microsoft.com/office/powerpoint/2010/main" val="221396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1998364"/>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654126"/>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0" name="Line 6"/>
          <p:cNvSpPr>
            <a:spLocks noChangeShapeType="1"/>
          </p:cNvSpPr>
          <p:nvPr/>
        </p:nvSpPr>
        <p:spPr bwMode="auto">
          <a:xfrm>
            <a:off x="2490259" y="5911551"/>
            <a:ext cx="587136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12" name="Rectangle 8"/>
          <p:cNvSpPr>
            <a:spLocks noChangeArrowheads="1"/>
          </p:cNvSpPr>
          <p:nvPr/>
        </p:nvSpPr>
        <p:spPr bwMode="auto">
          <a:xfrm>
            <a:off x="3351875" y="1596727"/>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94" name="Rectangle 90"/>
          <p:cNvSpPr>
            <a:spLocks noChangeArrowheads="1"/>
          </p:cNvSpPr>
          <p:nvPr/>
        </p:nvSpPr>
        <p:spPr bwMode="auto">
          <a:xfrm>
            <a:off x="2457583" y="5220989"/>
            <a:ext cx="1559851" cy="449262"/>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587201"/>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241501"/>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038051"/>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480964"/>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25464"/>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363614"/>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08114"/>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595139"/>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595139"/>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490489"/>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595139"/>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03351"/>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047576"/>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07789"/>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07789"/>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07789"/>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07789"/>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07789"/>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07789"/>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07789"/>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22126"/>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098376"/>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03189"/>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03189"/>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098376"/>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22126"/>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22126"/>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098376"/>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31926"/>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03189"/>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2961976"/>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03301"/>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31926"/>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193501"/>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03076"/>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3973214"/>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3982740"/>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374851"/>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sp>
        <p:nvSpPr>
          <p:cNvPr id="379984" name="Rectangle 80"/>
          <p:cNvSpPr>
            <a:spLocks noChangeArrowheads="1"/>
          </p:cNvSpPr>
          <p:nvPr/>
        </p:nvSpPr>
        <p:spPr bwMode="auto">
          <a:xfrm>
            <a:off x="4017433" y="5220989"/>
            <a:ext cx="4314958" cy="449262"/>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86" name="Rectangle 82"/>
          <p:cNvSpPr>
            <a:spLocks noChangeArrowheads="1"/>
          </p:cNvSpPr>
          <p:nvPr/>
        </p:nvSpPr>
        <p:spPr bwMode="auto">
          <a:xfrm>
            <a:off x="4634839" y="5238451"/>
            <a:ext cx="3353594"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sp>
        <p:nvSpPr>
          <p:cNvPr id="379987" name="Rectangle 83"/>
          <p:cNvSpPr>
            <a:spLocks noChangeArrowheads="1"/>
          </p:cNvSpPr>
          <p:nvPr/>
        </p:nvSpPr>
        <p:spPr bwMode="auto">
          <a:xfrm>
            <a:off x="2691475" y="5238451"/>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a:t>
            </a:r>
          </a:p>
        </p:txBody>
      </p:sp>
      <p:sp>
        <p:nvSpPr>
          <p:cNvPr id="379989" name="Rectangle 85"/>
          <p:cNvSpPr>
            <a:spLocks noChangeArrowheads="1"/>
          </p:cNvSpPr>
          <p:nvPr/>
        </p:nvSpPr>
        <p:spPr bwMode="auto">
          <a:xfrm>
            <a:off x="4636558" y="5706764"/>
            <a:ext cx="1264963" cy="39754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数据报</a:t>
            </a:r>
          </a:p>
        </p:txBody>
      </p:sp>
      <p:grpSp>
        <p:nvGrpSpPr>
          <p:cNvPr id="379998" name="Group 94"/>
          <p:cNvGrpSpPr>
            <a:grpSpLocks/>
          </p:cNvGrpSpPr>
          <p:nvPr/>
        </p:nvGrpSpPr>
        <p:grpSpPr bwMode="auto">
          <a:xfrm>
            <a:off x="265981" y="1566565"/>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grpSp>
        <p:nvGrpSpPr>
          <p:cNvPr id="379997" name="Group 93"/>
          <p:cNvGrpSpPr>
            <a:grpSpLocks/>
          </p:cNvGrpSpPr>
          <p:nvPr/>
        </p:nvGrpSpPr>
        <p:grpSpPr bwMode="auto">
          <a:xfrm>
            <a:off x="1209015" y="1566564"/>
            <a:ext cx="8554244" cy="4102100"/>
            <a:chOff x="703" y="845"/>
            <a:chExt cx="4974" cy="2584"/>
          </a:xfrm>
        </p:grpSpPr>
        <p:sp>
          <p:nvSpPr>
            <p:cNvPr id="379995" name="Rectangle 91"/>
            <p:cNvSpPr>
              <a:spLocks noChangeArrowheads="1"/>
            </p:cNvSpPr>
            <p:nvPr/>
          </p:nvSpPr>
          <p:spPr bwMode="auto">
            <a:xfrm>
              <a:off x="703" y="845"/>
              <a:ext cx="4974" cy="1427"/>
            </a:xfrm>
            <a:prstGeom prst="rect">
              <a:avLst/>
            </a:prstGeom>
            <a:noFill/>
            <a:ln w="571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96" name="Rectangle 92"/>
            <p:cNvSpPr>
              <a:spLocks noChangeArrowheads="1"/>
            </p:cNvSpPr>
            <p:nvPr/>
          </p:nvSpPr>
          <p:spPr bwMode="auto">
            <a:xfrm>
              <a:off x="1426" y="3145"/>
              <a:ext cx="915" cy="284"/>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80001" name="AutoShape 97"/>
          <p:cNvSpPr>
            <a:spLocks/>
          </p:cNvSpPr>
          <p:nvPr/>
        </p:nvSpPr>
        <p:spPr bwMode="auto">
          <a:xfrm>
            <a:off x="998834" y="1638001"/>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380004" name="Group 100"/>
          <p:cNvGrpSpPr>
            <a:grpSpLocks/>
          </p:cNvGrpSpPr>
          <p:nvPr/>
        </p:nvGrpSpPr>
        <p:grpSpPr bwMode="auto">
          <a:xfrm>
            <a:off x="1783426" y="5741690"/>
            <a:ext cx="1209014" cy="855662"/>
            <a:chOff x="1037" y="3475"/>
            <a:chExt cx="703" cy="539"/>
          </a:xfrm>
        </p:grpSpPr>
        <p:sp>
          <p:nvSpPr>
            <p:cNvPr id="380002" name="Line 98"/>
            <p:cNvSpPr>
              <a:spLocks noChangeShapeType="1"/>
            </p:cNvSpPr>
            <p:nvPr/>
          </p:nvSpPr>
          <p:spPr bwMode="auto">
            <a:xfrm flipV="1">
              <a:off x="1428" y="3475"/>
              <a:ext cx="0" cy="317"/>
            </a:xfrm>
            <a:prstGeom prst="line">
              <a:avLst/>
            </a:prstGeom>
            <a:noFill/>
            <a:ln w="5715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80003" name="Rectangle 99"/>
            <p:cNvSpPr>
              <a:spLocks noChangeArrowheads="1"/>
            </p:cNvSpPr>
            <p:nvPr/>
          </p:nvSpPr>
          <p:spPr bwMode="auto">
            <a:xfrm>
              <a:off x="1037" y="3764"/>
              <a:ext cx="7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发送在前</a:t>
              </a:r>
            </a:p>
          </p:txBody>
        </p:sp>
      </p:grpSp>
      <p:sp>
        <p:nvSpPr>
          <p:cNvPr id="2" name="矩形 1"/>
          <p:cNvSpPr/>
          <p:nvPr/>
        </p:nvSpPr>
        <p:spPr>
          <a:xfrm>
            <a:off x="1715841" y="232192"/>
            <a:ext cx="6902414" cy="954107"/>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square">
            <a:spAutoFit/>
          </a:bodyPr>
          <a:lstStyle/>
          <a:p>
            <a:r>
              <a:rPr lang="zh-CN" altLang="en-US" sz="2800" b="1" dirty="0">
                <a:solidFill>
                  <a:srgbClr val="0000CC"/>
                </a:solidFill>
                <a:latin typeface="Arial" pitchFamily="34" charset="0"/>
                <a:ea typeface="黑体" pitchFamily="2" charset="-122"/>
              </a:rPr>
              <a:t>首部的前一部分是固定长度，共 </a:t>
            </a:r>
            <a:r>
              <a:rPr lang="en-US" altLang="zh-CN" sz="2800" b="1" dirty="0">
                <a:solidFill>
                  <a:srgbClr val="0000CC"/>
                </a:solidFill>
                <a:latin typeface="Arial" pitchFamily="34" charset="0"/>
                <a:ea typeface="黑体" pitchFamily="2" charset="-122"/>
              </a:rPr>
              <a:t>20 </a:t>
            </a:r>
            <a:r>
              <a:rPr lang="zh-CN" altLang="en-US" sz="2800" b="1" dirty="0">
                <a:solidFill>
                  <a:srgbClr val="0000CC"/>
                </a:solidFill>
                <a:latin typeface="Arial" pitchFamily="34" charset="0"/>
                <a:ea typeface="黑体" pitchFamily="2" charset="-122"/>
              </a:rPr>
              <a:t>字节，是所有 </a:t>
            </a:r>
            <a:r>
              <a:rPr lang="en-US" altLang="zh-CN" sz="2800" b="1" dirty="0">
                <a:solidFill>
                  <a:srgbClr val="0000CC"/>
                </a:solidFill>
                <a:latin typeface="Arial" pitchFamily="34" charset="0"/>
                <a:ea typeface="黑体" pitchFamily="2" charset="-122"/>
              </a:rPr>
              <a:t>IP </a:t>
            </a:r>
            <a:r>
              <a:rPr lang="zh-CN" altLang="en-US" sz="2800" b="1" dirty="0">
                <a:solidFill>
                  <a:srgbClr val="0000CC"/>
                </a:solidFill>
                <a:latin typeface="Arial" pitchFamily="34" charset="0"/>
                <a:ea typeface="黑体" pitchFamily="2" charset="-122"/>
              </a:rPr>
              <a:t>数据报必须具有的。</a:t>
            </a:r>
          </a:p>
        </p:txBody>
      </p:sp>
    </p:spTree>
    <p:extLst>
      <p:ext uri="{BB962C8B-B14F-4D97-AF65-F5344CB8AC3E}">
        <p14:creationId xmlns:p14="http://schemas.microsoft.com/office/powerpoint/2010/main" val="16896856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2001615"/>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657377"/>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0" name="Line 6"/>
          <p:cNvSpPr>
            <a:spLocks noChangeShapeType="1"/>
          </p:cNvSpPr>
          <p:nvPr/>
        </p:nvSpPr>
        <p:spPr bwMode="auto">
          <a:xfrm>
            <a:off x="2490259" y="5914802"/>
            <a:ext cx="587136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12" name="Rectangle 8"/>
          <p:cNvSpPr>
            <a:spLocks noChangeArrowheads="1"/>
          </p:cNvSpPr>
          <p:nvPr/>
        </p:nvSpPr>
        <p:spPr bwMode="auto">
          <a:xfrm>
            <a:off x="3351875" y="1599978"/>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94" name="Rectangle 90"/>
          <p:cNvSpPr>
            <a:spLocks noChangeArrowheads="1"/>
          </p:cNvSpPr>
          <p:nvPr/>
        </p:nvSpPr>
        <p:spPr bwMode="auto">
          <a:xfrm>
            <a:off x="2457583" y="5224240"/>
            <a:ext cx="1559851" cy="449262"/>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590452"/>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244752"/>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041302"/>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48421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2871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36686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1136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598390"/>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598390"/>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493740"/>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598390"/>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06602"/>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050827"/>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1104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1104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1104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1104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1104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1104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1104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25377"/>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101627"/>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06440"/>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06440"/>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101627"/>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25377"/>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2537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10162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35177"/>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06440"/>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296522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06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35177"/>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19675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06327"/>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3976465"/>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3985991"/>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378102"/>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sp>
        <p:nvSpPr>
          <p:cNvPr id="379984" name="Rectangle 80"/>
          <p:cNvSpPr>
            <a:spLocks noChangeArrowheads="1"/>
          </p:cNvSpPr>
          <p:nvPr/>
        </p:nvSpPr>
        <p:spPr bwMode="auto">
          <a:xfrm>
            <a:off x="4017433" y="5224240"/>
            <a:ext cx="4314958" cy="449262"/>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86" name="Rectangle 82"/>
          <p:cNvSpPr>
            <a:spLocks noChangeArrowheads="1"/>
          </p:cNvSpPr>
          <p:nvPr/>
        </p:nvSpPr>
        <p:spPr bwMode="auto">
          <a:xfrm>
            <a:off x="4634839" y="5241702"/>
            <a:ext cx="3353594"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sp>
        <p:nvSpPr>
          <p:cNvPr id="379987" name="Rectangle 83"/>
          <p:cNvSpPr>
            <a:spLocks noChangeArrowheads="1"/>
          </p:cNvSpPr>
          <p:nvPr/>
        </p:nvSpPr>
        <p:spPr bwMode="auto">
          <a:xfrm>
            <a:off x="2691475" y="5241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a:t>
            </a:r>
          </a:p>
        </p:txBody>
      </p:sp>
      <p:sp>
        <p:nvSpPr>
          <p:cNvPr id="379989" name="Rectangle 85"/>
          <p:cNvSpPr>
            <a:spLocks noChangeArrowheads="1"/>
          </p:cNvSpPr>
          <p:nvPr/>
        </p:nvSpPr>
        <p:spPr bwMode="auto">
          <a:xfrm>
            <a:off x="4636558" y="5710015"/>
            <a:ext cx="1264963" cy="39754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数据报</a:t>
            </a:r>
          </a:p>
        </p:txBody>
      </p:sp>
      <p:grpSp>
        <p:nvGrpSpPr>
          <p:cNvPr id="379998" name="Group 94"/>
          <p:cNvGrpSpPr>
            <a:grpSpLocks/>
          </p:cNvGrpSpPr>
          <p:nvPr/>
        </p:nvGrpSpPr>
        <p:grpSpPr bwMode="auto">
          <a:xfrm>
            <a:off x="265981" y="1569816"/>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grpSp>
        <p:nvGrpSpPr>
          <p:cNvPr id="379997" name="Group 93"/>
          <p:cNvGrpSpPr>
            <a:grpSpLocks/>
          </p:cNvGrpSpPr>
          <p:nvPr/>
        </p:nvGrpSpPr>
        <p:grpSpPr bwMode="auto">
          <a:xfrm>
            <a:off x="1209015" y="3811365"/>
            <a:ext cx="8554244" cy="1860550"/>
            <a:chOff x="703" y="2257"/>
            <a:chExt cx="4974" cy="1172"/>
          </a:xfrm>
        </p:grpSpPr>
        <p:sp>
          <p:nvSpPr>
            <p:cNvPr id="379995" name="Rectangle 91"/>
            <p:cNvSpPr>
              <a:spLocks noChangeArrowheads="1"/>
            </p:cNvSpPr>
            <p:nvPr/>
          </p:nvSpPr>
          <p:spPr bwMode="auto">
            <a:xfrm>
              <a:off x="703" y="2257"/>
              <a:ext cx="4974" cy="265"/>
            </a:xfrm>
            <a:prstGeom prst="rect">
              <a:avLst/>
            </a:prstGeom>
            <a:noFill/>
            <a:ln w="571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96" name="Rectangle 92"/>
            <p:cNvSpPr>
              <a:spLocks noChangeArrowheads="1"/>
            </p:cNvSpPr>
            <p:nvPr/>
          </p:nvSpPr>
          <p:spPr bwMode="auto">
            <a:xfrm>
              <a:off x="1426" y="3145"/>
              <a:ext cx="915" cy="284"/>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80001" name="AutoShape 97"/>
          <p:cNvSpPr>
            <a:spLocks/>
          </p:cNvSpPr>
          <p:nvPr/>
        </p:nvSpPr>
        <p:spPr bwMode="auto">
          <a:xfrm>
            <a:off x="998834" y="1641252"/>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380004" name="Group 100"/>
          <p:cNvGrpSpPr>
            <a:grpSpLocks/>
          </p:cNvGrpSpPr>
          <p:nvPr/>
        </p:nvGrpSpPr>
        <p:grpSpPr bwMode="auto">
          <a:xfrm>
            <a:off x="1783426" y="5744941"/>
            <a:ext cx="1209014" cy="855662"/>
            <a:chOff x="1037" y="3475"/>
            <a:chExt cx="703" cy="539"/>
          </a:xfrm>
        </p:grpSpPr>
        <p:sp>
          <p:nvSpPr>
            <p:cNvPr id="380002" name="Line 98"/>
            <p:cNvSpPr>
              <a:spLocks noChangeShapeType="1"/>
            </p:cNvSpPr>
            <p:nvPr/>
          </p:nvSpPr>
          <p:spPr bwMode="auto">
            <a:xfrm flipV="1">
              <a:off x="1428" y="3475"/>
              <a:ext cx="0" cy="317"/>
            </a:xfrm>
            <a:prstGeom prst="line">
              <a:avLst/>
            </a:prstGeom>
            <a:noFill/>
            <a:ln w="5715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80003" name="Rectangle 99"/>
            <p:cNvSpPr>
              <a:spLocks noChangeArrowheads="1"/>
            </p:cNvSpPr>
            <p:nvPr/>
          </p:nvSpPr>
          <p:spPr bwMode="auto">
            <a:xfrm>
              <a:off x="1037" y="3764"/>
              <a:ext cx="7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发送在前</a:t>
              </a:r>
            </a:p>
          </p:txBody>
        </p:sp>
      </p:grpSp>
      <p:sp>
        <p:nvSpPr>
          <p:cNvPr id="2" name="矩形 1"/>
          <p:cNvSpPr/>
          <p:nvPr/>
        </p:nvSpPr>
        <p:spPr>
          <a:xfrm>
            <a:off x="2275285" y="251937"/>
            <a:ext cx="5852451" cy="584775"/>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square">
            <a:spAutoFit/>
          </a:bodyPr>
          <a:lstStyle/>
          <a:p>
            <a:r>
              <a:rPr lang="zh-CN" altLang="en-US" sz="3200" b="1" dirty="0">
                <a:solidFill>
                  <a:srgbClr val="0000CC"/>
                </a:solidFill>
                <a:latin typeface="Arial" pitchFamily="34" charset="0"/>
                <a:ea typeface="黑体" pitchFamily="2" charset="-122"/>
              </a:rPr>
              <a:t>可选字段，其长度是可变的</a:t>
            </a:r>
          </a:p>
        </p:txBody>
      </p:sp>
    </p:spTree>
    <p:extLst>
      <p:ext uri="{BB962C8B-B14F-4D97-AF65-F5344CB8AC3E}">
        <p14:creationId xmlns:p14="http://schemas.microsoft.com/office/powerpoint/2010/main" val="10463121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2022373"/>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67813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2" name="Rectangle 8"/>
          <p:cNvSpPr>
            <a:spLocks noChangeArrowheads="1"/>
          </p:cNvSpPr>
          <p:nvPr/>
        </p:nvSpPr>
        <p:spPr bwMode="auto">
          <a:xfrm>
            <a:off x="3351875" y="1620736"/>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611210"/>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265510"/>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062060"/>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504973"/>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49473"/>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387623"/>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32123"/>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619148"/>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619148"/>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514498"/>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619148"/>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27360"/>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071585"/>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31798"/>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31798"/>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31798"/>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31798"/>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31798"/>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31798"/>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31798"/>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46135"/>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122385"/>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27198"/>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27198"/>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122385"/>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46135"/>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46135"/>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122385"/>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55935"/>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27198"/>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2985985"/>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27310"/>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55935"/>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217510"/>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27085"/>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3997223"/>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4006749"/>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398860"/>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grpSp>
        <p:nvGrpSpPr>
          <p:cNvPr id="379998" name="Group 94"/>
          <p:cNvGrpSpPr>
            <a:grpSpLocks/>
          </p:cNvGrpSpPr>
          <p:nvPr/>
        </p:nvGrpSpPr>
        <p:grpSpPr bwMode="auto">
          <a:xfrm>
            <a:off x="265981" y="1590574"/>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sp>
        <p:nvSpPr>
          <p:cNvPr id="380001" name="AutoShape 97"/>
          <p:cNvSpPr>
            <a:spLocks/>
          </p:cNvSpPr>
          <p:nvPr/>
        </p:nvSpPr>
        <p:spPr bwMode="auto">
          <a:xfrm>
            <a:off x="998834" y="1662010"/>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67" name="Group 90"/>
          <p:cNvGrpSpPr>
            <a:grpSpLocks/>
          </p:cNvGrpSpPr>
          <p:nvPr/>
        </p:nvGrpSpPr>
        <p:grpSpPr bwMode="auto">
          <a:xfrm>
            <a:off x="1209015" y="1590574"/>
            <a:ext cx="5620278" cy="4430714"/>
            <a:chOff x="703" y="845"/>
            <a:chExt cx="3268" cy="2791"/>
          </a:xfrm>
        </p:grpSpPr>
        <p:sp>
          <p:nvSpPr>
            <p:cNvPr id="68" name="Text Box 85"/>
            <p:cNvSpPr txBox="1">
              <a:spLocks noChangeArrowheads="1"/>
            </p:cNvSpPr>
            <p:nvPr/>
          </p:nvSpPr>
          <p:spPr bwMode="auto">
            <a:xfrm>
              <a:off x="884" y="3113"/>
              <a:ext cx="3087"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CC"/>
                  </a:solidFill>
                  <a:latin typeface="+mn-lt"/>
                  <a:ea typeface="黑体" pitchFamily="2" charset="-122"/>
                </a:rPr>
                <a:t>版本</a:t>
              </a:r>
              <a:r>
                <a:rPr lang="en-US" altLang="zh-CN" sz="2400" b="1" dirty="0">
                  <a:solidFill>
                    <a:srgbClr val="0000CC"/>
                  </a:solidFill>
                  <a:latin typeface="+mn-lt"/>
                  <a:ea typeface="黑体" pitchFamily="2" charset="-122"/>
                </a:rPr>
                <a:t>——</a:t>
              </a:r>
              <a:r>
                <a:rPr lang="zh-CN" altLang="en-US" sz="2400" b="1" dirty="0">
                  <a:solidFill>
                    <a:srgbClr val="0000CC"/>
                  </a:solidFill>
                  <a:latin typeface="+mn-lt"/>
                  <a:ea typeface="黑体" pitchFamily="2" charset="-122"/>
                </a:rPr>
                <a:t>占 </a:t>
              </a:r>
              <a:r>
                <a:rPr lang="en-US" altLang="zh-CN" sz="2400" b="1" dirty="0">
                  <a:solidFill>
                    <a:srgbClr val="0000CC"/>
                  </a:solidFill>
                  <a:latin typeface="+mn-lt"/>
                  <a:ea typeface="黑体" pitchFamily="2" charset="-122"/>
                </a:rPr>
                <a:t>4 </a:t>
              </a:r>
              <a:r>
                <a:rPr lang="zh-CN" altLang="en-US" sz="2400" b="1" dirty="0">
                  <a:solidFill>
                    <a:srgbClr val="0000CC"/>
                  </a:solidFill>
                  <a:latin typeface="+mn-lt"/>
                  <a:ea typeface="黑体" pitchFamily="2" charset="-122"/>
                </a:rPr>
                <a:t>位，指 </a:t>
              </a:r>
              <a:r>
                <a:rPr lang="en-US" altLang="zh-CN" sz="2400" b="1" dirty="0">
                  <a:solidFill>
                    <a:srgbClr val="0000CC"/>
                  </a:solidFill>
                  <a:latin typeface="+mn-lt"/>
                  <a:ea typeface="黑体" pitchFamily="2" charset="-122"/>
                </a:rPr>
                <a:t>IP </a:t>
              </a:r>
              <a:r>
                <a:rPr lang="zh-CN" altLang="en-US" sz="2400" b="1" dirty="0">
                  <a:solidFill>
                    <a:srgbClr val="0000CC"/>
                  </a:solidFill>
                  <a:latin typeface="+mn-lt"/>
                  <a:ea typeface="黑体" pitchFamily="2" charset="-122"/>
                </a:rPr>
                <a:t>协议的版本。</a:t>
              </a:r>
            </a:p>
            <a:p>
              <a:r>
                <a:rPr lang="zh-CN" altLang="en-US" sz="2400" b="1" dirty="0">
                  <a:solidFill>
                    <a:srgbClr val="0000CC"/>
                  </a:solidFill>
                  <a:latin typeface="+mn-lt"/>
                  <a:ea typeface="黑体" pitchFamily="2" charset="-122"/>
                </a:rPr>
                <a:t>目前的 </a:t>
              </a:r>
              <a:r>
                <a:rPr lang="en-US" altLang="zh-CN" sz="2400" b="1" dirty="0">
                  <a:solidFill>
                    <a:srgbClr val="0000CC"/>
                  </a:solidFill>
                  <a:latin typeface="+mn-lt"/>
                  <a:ea typeface="黑体" pitchFamily="2" charset="-122"/>
                </a:rPr>
                <a:t>IP </a:t>
              </a:r>
              <a:r>
                <a:rPr lang="zh-CN" altLang="en-US" sz="2400" b="1" dirty="0">
                  <a:solidFill>
                    <a:srgbClr val="0000CC"/>
                  </a:solidFill>
                  <a:latin typeface="+mn-lt"/>
                  <a:ea typeface="黑体" pitchFamily="2" charset="-122"/>
                </a:rPr>
                <a:t>协议版本号为 </a:t>
              </a:r>
              <a:r>
                <a:rPr lang="en-US" altLang="zh-CN" sz="2400" b="1" dirty="0">
                  <a:solidFill>
                    <a:srgbClr val="0000CC"/>
                  </a:solidFill>
                  <a:latin typeface="+mn-lt"/>
                  <a:ea typeface="黑体" pitchFamily="2" charset="-122"/>
                </a:rPr>
                <a:t>4 (</a:t>
              </a:r>
              <a:r>
                <a:rPr lang="zh-CN" altLang="en-US" sz="2400" b="1" dirty="0">
                  <a:solidFill>
                    <a:srgbClr val="0000CC"/>
                  </a:solidFill>
                  <a:latin typeface="+mn-lt"/>
                  <a:ea typeface="黑体" pitchFamily="2" charset="-122"/>
                </a:rPr>
                <a:t>即 </a:t>
              </a:r>
              <a:r>
                <a:rPr lang="en-US" altLang="zh-CN" sz="2400" b="1" dirty="0">
                  <a:solidFill>
                    <a:srgbClr val="0000CC"/>
                  </a:solidFill>
                  <a:latin typeface="+mn-lt"/>
                  <a:ea typeface="黑体" pitchFamily="2" charset="-122"/>
                </a:rPr>
                <a:t>IPv4)</a:t>
              </a:r>
              <a:r>
                <a:rPr lang="zh-CN" altLang="en-US" sz="2400" b="1" dirty="0">
                  <a:solidFill>
                    <a:srgbClr val="0000CC"/>
                  </a:solidFill>
                  <a:latin typeface="+mn-lt"/>
                  <a:ea typeface="黑体" pitchFamily="2" charset="-122"/>
                </a:rPr>
                <a:t>。</a:t>
              </a:r>
              <a:endParaRPr lang="en-US" altLang="zh-CN" sz="2400" b="1" dirty="0">
                <a:solidFill>
                  <a:srgbClr val="0000CC"/>
                </a:solidFill>
                <a:latin typeface="+mn-lt"/>
                <a:ea typeface="黑体" pitchFamily="2" charset="-122"/>
              </a:endParaRPr>
            </a:p>
          </p:txBody>
        </p:sp>
        <p:sp>
          <p:nvSpPr>
            <p:cNvPr id="69" name="Rectangle 89"/>
            <p:cNvSpPr>
              <a:spLocks noChangeArrowheads="1"/>
            </p:cNvSpPr>
            <p:nvPr/>
          </p:nvSpPr>
          <p:spPr bwMode="auto">
            <a:xfrm>
              <a:off x="703" y="845"/>
              <a:ext cx="635" cy="317"/>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 name="标题 5"/>
          <p:cNvSpPr>
            <a:spLocks noGrp="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r>
              <a:rPr lang="en-US" altLang="zh-CN" sz="3600" dirty="0"/>
              <a:t>1.  IP </a:t>
            </a:r>
            <a:r>
              <a:rPr lang="zh-CN" altLang="en-US" sz="3600" dirty="0"/>
              <a:t>数据报首部的固定部分中的各字段 </a:t>
            </a:r>
          </a:p>
        </p:txBody>
      </p:sp>
    </p:spTree>
    <p:extLst>
      <p:ext uri="{BB962C8B-B14F-4D97-AF65-F5344CB8AC3E}">
        <p14:creationId xmlns:p14="http://schemas.microsoft.com/office/powerpoint/2010/main" val="13225641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2060721"/>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716483"/>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2" name="Rectangle 8"/>
          <p:cNvSpPr>
            <a:spLocks noChangeArrowheads="1"/>
          </p:cNvSpPr>
          <p:nvPr/>
        </p:nvSpPr>
        <p:spPr bwMode="auto">
          <a:xfrm>
            <a:off x="3351875" y="1659084"/>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649558"/>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303858"/>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100408"/>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543321"/>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87821"/>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425971"/>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70471"/>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657496"/>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657496"/>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552846"/>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657496"/>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65708"/>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109933"/>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70146"/>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70146"/>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70146"/>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70146"/>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70146"/>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70146"/>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70146"/>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84483"/>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160733"/>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65546"/>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65546"/>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160733"/>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84483"/>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84483"/>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160733"/>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94283"/>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65546"/>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3024333"/>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65658"/>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94283"/>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255858"/>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65433"/>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4035571"/>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4045097"/>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437208"/>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grpSp>
        <p:nvGrpSpPr>
          <p:cNvPr id="379998" name="Group 94"/>
          <p:cNvGrpSpPr>
            <a:grpSpLocks/>
          </p:cNvGrpSpPr>
          <p:nvPr/>
        </p:nvGrpSpPr>
        <p:grpSpPr bwMode="auto">
          <a:xfrm>
            <a:off x="265981" y="1628922"/>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sp>
        <p:nvSpPr>
          <p:cNvPr id="380001" name="AutoShape 97"/>
          <p:cNvSpPr>
            <a:spLocks/>
          </p:cNvSpPr>
          <p:nvPr/>
        </p:nvSpPr>
        <p:spPr bwMode="auto">
          <a:xfrm>
            <a:off x="998834" y="1700358"/>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57" name="Group 79"/>
          <p:cNvGrpSpPr>
            <a:grpSpLocks/>
          </p:cNvGrpSpPr>
          <p:nvPr/>
        </p:nvGrpSpPr>
        <p:grpSpPr bwMode="auto">
          <a:xfrm>
            <a:off x="1664758" y="1628922"/>
            <a:ext cx="5792263" cy="4824414"/>
            <a:chOff x="968" y="845"/>
            <a:chExt cx="3368" cy="3039"/>
          </a:xfrm>
        </p:grpSpPr>
        <p:sp>
          <p:nvSpPr>
            <p:cNvPr id="58" name="Text Box 74"/>
            <p:cNvSpPr txBox="1">
              <a:spLocks noChangeArrowheads="1"/>
            </p:cNvSpPr>
            <p:nvPr/>
          </p:nvSpPr>
          <p:spPr bwMode="auto">
            <a:xfrm>
              <a:off x="968" y="3128"/>
              <a:ext cx="3368"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CC"/>
                  </a:solidFill>
                  <a:latin typeface="+mn-lt"/>
                  <a:ea typeface="黑体" pitchFamily="2" charset="-122"/>
                </a:rPr>
                <a:t>首部长度</a:t>
              </a:r>
              <a:r>
                <a:rPr lang="en-US" altLang="zh-CN" sz="2400" b="1" dirty="0">
                  <a:solidFill>
                    <a:srgbClr val="0000CC"/>
                  </a:solidFill>
                  <a:latin typeface="+mn-lt"/>
                  <a:ea typeface="黑体" pitchFamily="2" charset="-122"/>
                </a:rPr>
                <a:t>——</a:t>
              </a:r>
              <a:r>
                <a:rPr lang="zh-CN" altLang="en-US" sz="2400" b="1" dirty="0">
                  <a:solidFill>
                    <a:srgbClr val="0000CC"/>
                  </a:solidFill>
                  <a:latin typeface="+mn-lt"/>
                  <a:ea typeface="黑体" pitchFamily="2" charset="-122"/>
                </a:rPr>
                <a:t>占 </a:t>
              </a:r>
              <a:r>
                <a:rPr lang="en-US" altLang="zh-CN" sz="2400" b="1" dirty="0">
                  <a:solidFill>
                    <a:srgbClr val="0000CC"/>
                  </a:solidFill>
                  <a:latin typeface="+mn-lt"/>
                  <a:ea typeface="黑体" pitchFamily="2" charset="-122"/>
                </a:rPr>
                <a:t>4 </a:t>
              </a:r>
              <a:r>
                <a:rPr lang="zh-CN" altLang="en-US" sz="2400" b="1" dirty="0">
                  <a:solidFill>
                    <a:srgbClr val="0000CC"/>
                  </a:solidFill>
                  <a:latin typeface="+mn-lt"/>
                  <a:ea typeface="黑体" pitchFamily="2" charset="-122"/>
                </a:rPr>
                <a:t>位，可表示的最大数值</a:t>
              </a:r>
            </a:p>
            <a:p>
              <a:pPr algn="ctr"/>
              <a:r>
                <a:rPr lang="zh-CN" altLang="en-US" sz="2400" b="1" dirty="0">
                  <a:solidFill>
                    <a:srgbClr val="0000CC"/>
                  </a:solidFill>
                  <a:latin typeface="+mn-lt"/>
                  <a:ea typeface="黑体" pitchFamily="2" charset="-122"/>
                </a:rPr>
                <a:t>是 </a:t>
              </a:r>
              <a:r>
                <a:rPr lang="en-US" altLang="zh-CN" sz="2400" b="1" dirty="0">
                  <a:solidFill>
                    <a:srgbClr val="0000CC"/>
                  </a:solidFill>
                  <a:latin typeface="+mn-lt"/>
                  <a:ea typeface="黑体" pitchFamily="2" charset="-122"/>
                </a:rPr>
                <a:t>15 </a:t>
              </a:r>
              <a:r>
                <a:rPr lang="zh-CN" altLang="en-US" sz="2400" b="1" dirty="0">
                  <a:solidFill>
                    <a:srgbClr val="0000CC"/>
                  </a:solidFill>
                  <a:latin typeface="+mn-lt"/>
                  <a:ea typeface="黑体" pitchFamily="2" charset="-122"/>
                </a:rPr>
                <a:t>个单位</a:t>
              </a:r>
              <a:r>
                <a:rPr lang="en-US" altLang="zh-CN" sz="2400" b="1" dirty="0">
                  <a:solidFill>
                    <a:srgbClr val="0000CC"/>
                  </a:solidFill>
                  <a:latin typeface="+mn-lt"/>
                  <a:ea typeface="黑体" pitchFamily="2" charset="-122"/>
                </a:rPr>
                <a:t>(</a:t>
              </a:r>
              <a:r>
                <a:rPr lang="zh-CN" altLang="en-US" sz="2400" b="1" dirty="0">
                  <a:solidFill>
                    <a:srgbClr val="0000CC"/>
                  </a:solidFill>
                  <a:latin typeface="+mn-lt"/>
                  <a:ea typeface="黑体" pitchFamily="2" charset="-122"/>
                </a:rPr>
                <a:t>一个单位为 </a:t>
              </a:r>
              <a:r>
                <a:rPr lang="en-US" altLang="zh-CN" sz="2400" b="1" dirty="0">
                  <a:solidFill>
                    <a:srgbClr val="0000CC"/>
                  </a:solidFill>
                  <a:latin typeface="+mn-lt"/>
                  <a:ea typeface="黑体" pitchFamily="2" charset="-122"/>
                </a:rPr>
                <a:t>4 </a:t>
              </a:r>
              <a:r>
                <a:rPr lang="zh-CN" altLang="en-US" sz="2400" b="1" dirty="0">
                  <a:solidFill>
                    <a:srgbClr val="0000CC"/>
                  </a:solidFill>
                  <a:latin typeface="+mn-lt"/>
                  <a:ea typeface="黑体" pitchFamily="2" charset="-122"/>
                </a:rPr>
                <a:t>字节</a:t>
              </a:r>
              <a:r>
                <a:rPr lang="en-US" altLang="zh-CN" sz="2400" b="1" dirty="0">
                  <a:solidFill>
                    <a:srgbClr val="0000CC"/>
                  </a:solidFill>
                  <a:latin typeface="+mn-lt"/>
                  <a:ea typeface="黑体" pitchFamily="2" charset="-122"/>
                </a:rPr>
                <a:t>)</a:t>
              </a:r>
              <a:r>
                <a:rPr lang="zh-CN" altLang="en-US" sz="2400" b="1" dirty="0">
                  <a:solidFill>
                    <a:srgbClr val="0000CC"/>
                  </a:solidFill>
                  <a:latin typeface="+mn-lt"/>
                  <a:ea typeface="黑体" pitchFamily="2" charset="-122"/>
                </a:rPr>
                <a:t>，</a:t>
              </a:r>
              <a:endParaRPr lang="en-US" altLang="zh-CN" sz="2400" b="1" dirty="0">
                <a:solidFill>
                  <a:srgbClr val="0000CC"/>
                </a:solidFill>
                <a:latin typeface="+mn-lt"/>
                <a:ea typeface="黑体" pitchFamily="2" charset="-122"/>
              </a:endParaRPr>
            </a:p>
            <a:p>
              <a:pPr algn="ctr"/>
              <a:r>
                <a:rPr lang="zh-CN" altLang="en-US" sz="2400" b="1" dirty="0">
                  <a:solidFill>
                    <a:srgbClr val="0000CC"/>
                  </a:solidFill>
                  <a:latin typeface="+mn-lt"/>
                  <a:ea typeface="黑体" pitchFamily="2" charset="-122"/>
                </a:rPr>
                <a:t>因此 </a:t>
              </a:r>
              <a:r>
                <a:rPr lang="en-US" altLang="zh-CN" sz="2400" b="1" dirty="0">
                  <a:solidFill>
                    <a:srgbClr val="0000CC"/>
                  </a:solidFill>
                  <a:latin typeface="+mn-lt"/>
                  <a:ea typeface="黑体" pitchFamily="2" charset="-122"/>
                </a:rPr>
                <a:t>IP </a:t>
              </a:r>
              <a:r>
                <a:rPr lang="zh-CN" altLang="en-US" sz="2400" b="1" dirty="0">
                  <a:solidFill>
                    <a:srgbClr val="0000CC"/>
                  </a:solidFill>
                  <a:latin typeface="+mn-lt"/>
                  <a:ea typeface="黑体" pitchFamily="2" charset="-122"/>
                </a:rPr>
                <a:t>的首部长度的最大值是 </a:t>
              </a:r>
              <a:r>
                <a:rPr lang="en-US" altLang="zh-CN" sz="2400" b="1" dirty="0">
                  <a:solidFill>
                    <a:srgbClr val="0000CC"/>
                  </a:solidFill>
                  <a:latin typeface="+mn-lt"/>
                  <a:ea typeface="黑体" pitchFamily="2" charset="-122"/>
                </a:rPr>
                <a:t>60 </a:t>
              </a:r>
              <a:r>
                <a:rPr lang="zh-CN" altLang="en-US" sz="2400" b="1" dirty="0">
                  <a:solidFill>
                    <a:srgbClr val="0000CC"/>
                  </a:solidFill>
                  <a:latin typeface="+mn-lt"/>
                  <a:ea typeface="黑体" pitchFamily="2" charset="-122"/>
                </a:rPr>
                <a:t>字节。</a:t>
              </a:r>
            </a:p>
          </p:txBody>
        </p:sp>
        <p:sp>
          <p:nvSpPr>
            <p:cNvPr id="59" name="Rectangle 78"/>
            <p:cNvSpPr>
              <a:spLocks noChangeArrowheads="1"/>
            </p:cNvSpPr>
            <p:nvPr/>
          </p:nvSpPr>
          <p:spPr bwMode="auto">
            <a:xfrm>
              <a:off x="1303" y="845"/>
              <a:ext cx="658" cy="317"/>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标题 2"/>
          <p:cNvSpPr>
            <a:spLocks noGrp="1"/>
          </p:cNvSpPr>
          <p:nvPr>
            <p:ph type="title"/>
          </p:nvPr>
        </p:nvSpPr>
        <p:spPr/>
        <p:txBody>
          <a:bodyPr/>
          <a:lstStyle/>
          <a:p>
            <a:r>
              <a:rPr lang="en-US" altLang="zh-CN" sz="3600" dirty="0"/>
              <a:t>1.  IP </a:t>
            </a:r>
            <a:r>
              <a:rPr lang="zh-CN" altLang="en-US" sz="3600" dirty="0"/>
              <a:t>数据报首部的固定部分中的各字段 </a:t>
            </a:r>
          </a:p>
        </p:txBody>
      </p:sp>
    </p:spTree>
    <p:extLst>
      <p:ext uri="{BB962C8B-B14F-4D97-AF65-F5344CB8AC3E}">
        <p14:creationId xmlns:p14="http://schemas.microsoft.com/office/powerpoint/2010/main" val="32090481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2035448"/>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691210"/>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2" name="Rectangle 8"/>
          <p:cNvSpPr>
            <a:spLocks noChangeArrowheads="1"/>
          </p:cNvSpPr>
          <p:nvPr/>
        </p:nvSpPr>
        <p:spPr bwMode="auto">
          <a:xfrm>
            <a:off x="3351875" y="1633811"/>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624285"/>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278585"/>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07513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518048"/>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62548"/>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400698"/>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45198"/>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632223"/>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632223"/>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527573"/>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632223"/>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40435"/>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084660"/>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44873"/>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44873"/>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44873"/>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44873"/>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44873"/>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44873"/>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44873"/>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59210"/>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135460"/>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40273"/>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40273"/>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135460"/>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59210"/>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59210"/>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135460"/>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69010"/>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40273"/>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2999060"/>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40385"/>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69010"/>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230585"/>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40160"/>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4010298"/>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4019824"/>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411935"/>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grpSp>
        <p:nvGrpSpPr>
          <p:cNvPr id="379998" name="Group 94"/>
          <p:cNvGrpSpPr>
            <a:grpSpLocks/>
          </p:cNvGrpSpPr>
          <p:nvPr/>
        </p:nvGrpSpPr>
        <p:grpSpPr bwMode="auto">
          <a:xfrm>
            <a:off x="265981" y="1603649"/>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sp>
        <p:nvSpPr>
          <p:cNvPr id="380001" name="AutoShape 97"/>
          <p:cNvSpPr>
            <a:spLocks/>
          </p:cNvSpPr>
          <p:nvPr/>
        </p:nvSpPr>
        <p:spPr bwMode="auto">
          <a:xfrm>
            <a:off x="998834" y="1675085"/>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60" name="Group 80"/>
          <p:cNvGrpSpPr>
            <a:grpSpLocks/>
          </p:cNvGrpSpPr>
          <p:nvPr/>
        </p:nvGrpSpPr>
        <p:grpSpPr bwMode="auto">
          <a:xfrm>
            <a:off x="1716354" y="1603648"/>
            <a:ext cx="7064905" cy="5065712"/>
            <a:chOff x="998" y="845"/>
            <a:chExt cx="4108" cy="3191"/>
          </a:xfrm>
        </p:grpSpPr>
        <p:sp>
          <p:nvSpPr>
            <p:cNvPr id="61" name="Text Box 74"/>
            <p:cNvSpPr txBox="1">
              <a:spLocks noChangeArrowheads="1"/>
            </p:cNvSpPr>
            <p:nvPr/>
          </p:nvSpPr>
          <p:spPr bwMode="auto">
            <a:xfrm>
              <a:off x="998" y="3008"/>
              <a:ext cx="4108" cy="1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000" b="1" dirty="0">
                  <a:solidFill>
                    <a:srgbClr val="0000CC"/>
                  </a:solidFill>
                  <a:latin typeface="+mn-lt"/>
                  <a:ea typeface="黑体" pitchFamily="2" charset="-122"/>
                </a:rPr>
                <a:t>区分服务</a:t>
              </a:r>
              <a:r>
                <a:rPr lang="en-US" altLang="zh-CN" sz="2000" b="1" dirty="0">
                  <a:solidFill>
                    <a:srgbClr val="0000CC"/>
                  </a:solidFill>
                  <a:latin typeface="+mn-lt"/>
                  <a:ea typeface="黑体" pitchFamily="2" charset="-122"/>
                </a:rPr>
                <a:t>——</a:t>
              </a:r>
              <a:r>
                <a:rPr lang="zh-CN" altLang="en-US" sz="2000" b="1" dirty="0">
                  <a:solidFill>
                    <a:srgbClr val="0000CC"/>
                  </a:solidFill>
                  <a:latin typeface="+mn-lt"/>
                  <a:ea typeface="黑体" pitchFamily="2" charset="-122"/>
                </a:rPr>
                <a:t>占 </a:t>
              </a:r>
              <a:r>
                <a:rPr lang="en-US" altLang="zh-CN" sz="2000" b="1" dirty="0">
                  <a:solidFill>
                    <a:srgbClr val="0000CC"/>
                  </a:solidFill>
                  <a:latin typeface="+mn-lt"/>
                  <a:ea typeface="黑体" pitchFamily="2" charset="-122"/>
                </a:rPr>
                <a:t>8 </a:t>
              </a:r>
              <a:r>
                <a:rPr lang="zh-CN" altLang="en-US" sz="2000" b="1" dirty="0">
                  <a:solidFill>
                    <a:srgbClr val="0000CC"/>
                  </a:solidFill>
                  <a:latin typeface="+mn-lt"/>
                  <a:ea typeface="黑体" pitchFamily="2" charset="-122"/>
                </a:rPr>
                <a:t>位，用来获得更好的服务。</a:t>
              </a:r>
            </a:p>
            <a:p>
              <a:pPr algn="ctr"/>
              <a:r>
                <a:rPr lang="zh-CN" altLang="en-US" sz="2000" b="1" dirty="0">
                  <a:solidFill>
                    <a:srgbClr val="0000CC"/>
                  </a:solidFill>
                  <a:latin typeface="+mn-lt"/>
                  <a:ea typeface="黑体" pitchFamily="2" charset="-122"/>
                </a:rPr>
                <a:t>在旧标准中叫做服务类型，但实际上一直未被使用过。</a:t>
              </a:r>
            </a:p>
            <a:p>
              <a:pPr algn="ctr"/>
              <a:r>
                <a:rPr lang="en-US" altLang="zh-CN" sz="2000" b="1" dirty="0">
                  <a:solidFill>
                    <a:srgbClr val="0000CC"/>
                  </a:solidFill>
                  <a:latin typeface="+mn-lt"/>
                  <a:ea typeface="黑体" pitchFamily="2" charset="-122"/>
                </a:rPr>
                <a:t>1998 </a:t>
              </a:r>
              <a:r>
                <a:rPr lang="zh-CN" altLang="en-US" sz="2000" b="1" dirty="0">
                  <a:solidFill>
                    <a:srgbClr val="0000CC"/>
                  </a:solidFill>
                  <a:latin typeface="+mn-lt"/>
                  <a:ea typeface="黑体" pitchFamily="2" charset="-122"/>
                </a:rPr>
                <a:t>年这个字段改名为区分服务。</a:t>
              </a:r>
            </a:p>
            <a:p>
              <a:pPr algn="ctr"/>
              <a:r>
                <a:rPr lang="zh-CN" altLang="en-US" sz="2000" b="1" dirty="0">
                  <a:solidFill>
                    <a:srgbClr val="0000CC"/>
                  </a:solidFill>
                  <a:latin typeface="+mn-lt"/>
                  <a:ea typeface="黑体" pitchFamily="2" charset="-122"/>
                </a:rPr>
                <a:t>只有在使用区分服务（</a:t>
              </a:r>
              <a:r>
                <a:rPr lang="en-US" altLang="zh-CN" sz="2000" b="1" dirty="0" err="1">
                  <a:solidFill>
                    <a:srgbClr val="0000CC"/>
                  </a:solidFill>
                  <a:latin typeface="+mn-lt"/>
                  <a:ea typeface="黑体" pitchFamily="2" charset="-122"/>
                </a:rPr>
                <a:t>DiffServ</a:t>
              </a:r>
              <a:r>
                <a:rPr lang="zh-CN" altLang="en-US" sz="2000" b="1" dirty="0">
                  <a:solidFill>
                    <a:srgbClr val="0000CC"/>
                  </a:solidFill>
                  <a:latin typeface="+mn-lt"/>
                  <a:ea typeface="黑体" pitchFamily="2" charset="-122"/>
                </a:rPr>
                <a:t>）时，这个字段才起作用。</a:t>
              </a:r>
            </a:p>
            <a:p>
              <a:pPr algn="ctr"/>
              <a:r>
                <a:rPr lang="zh-CN" altLang="en-US" sz="2000" b="1" dirty="0">
                  <a:solidFill>
                    <a:srgbClr val="0000CC"/>
                  </a:solidFill>
                  <a:latin typeface="+mn-lt"/>
                  <a:ea typeface="黑体" pitchFamily="2" charset="-122"/>
                </a:rPr>
                <a:t>在一般的情况下都不使用这个字段 </a:t>
              </a:r>
            </a:p>
          </p:txBody>
        </p:sp>
        <p:sp>
          <p:nvSpPr>
            <p:cNvPr id="62" name="Rectangle 76"/>
            <p:cNvSpPr>
              <a:spLocks noChangeArrowheads="1"/>
            </p:cNvSpPr>
            <p:nvPr/>
          </p:nvSpPr>
          <p:spPr bwMode="auto">
            <a:xfrm>
              <a:off x="1950" y="845"/>
              <a:ext cx="1248" cy="317"/>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标题 2"/>
          <p:cNvSpPr>
            <a:spLocks noGrp="1"/>
          </p:cNvSpPr>
          <p:nvPr>
            <p:ph type="title"/>
          </p:nvPr>
        </p:nvSpPr>
        <p:spPr/>
        <p:txBody>
          <a:bodyPr/>
          <a:lstStyle/>
          <a:p>
            <a:r>
              <a:rPr lang="en-US" altLang="zh-CN" sz="3600" dirty="0"/>
              <a:t>1.  IP </a:t>
            </a:r>
            <a:r>
              <a:rPr lang="zh-CN" altLang="en-US" sz="3600" dirty="0"/>
              <a:t>数据报首部的固定部分中的各字段 </a:t>
            </a:r>
          </a:p>
        </p:txBody>
      </p:sp>
    </p:spTree>
    <p:extLst>
      <p:ext uri="{BB962C8B-B14F-4D97-AF65-F5344CB8AC3E}">
        <p14:creationId xmlns:p14="http://schemas.microsoft.com/office/powerpoint/2010/main" val="14589893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2012526"/>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668288"/>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2" name="Rectangle 8"/>
          <p:cNvSpPr>
            <a:spLocks noChangeArrowheads="1"/>
          </p:cNvSpPr>
          <p:nvPr/>
        </p:nvSpPr>
        <p:spPr bwMode="auto">
          <a:xfrm>
            <a:off x="3351875" y="1610889"/>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601363"/>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255663"/>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052213"/>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495126"/>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39626"/>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377776"/>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22276"/>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609301"/>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609301"/>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504651"/>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609301"/>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17513"/>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061738"/>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21951"/>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21951"/>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21951"/>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21951"/>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21951"/>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21951"/>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21951"/>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36288"/>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112538"/>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17351"/>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17351"/>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112538"/>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36288"/>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36288"/>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112538"/>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46088"/>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17351"/>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2976138"/>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17463"/>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46088"/>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207663"/>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17238"/>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3987376"/>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3996902"/>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389013"/>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grpSp>
        <p:nvGrpSpPr>
          <p:cNvPr id="379998" name="Group 94"/>
          <p:cNvGrpSpPr>
            <a:grpSpLocks/>
          </p:cNvGrpSpPr>
          <p:nvPr/>
        </p:nvGrpSpPr>
        <p:grpSpPr bwMode="auto">
          <a:xfrm>
            <a:off x="265981" y="1580727"/>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sp>
        <p:nvSpPr>
          <p:cNvPr id="380001" name="AutoShape 97"/>
          <p:cNvSpPr>
            <a:spLocks/>
          </p:cNvSpPr>
          <p:nvPr/>
        </p:nvSpPr>
        <p:spPr bwMode="auto">
          <a:xfrm>
            <a:off x="998834" y="1652163"/>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57" name="Group 80"/>
          <p:cNvGrpSpPr>
            <a:grpSpLocks/>
          </p:cNvGrpSpPr>
          <p:nvPr/>
        </p:nvGrpSpPr>
        <p:grpSpPr bwMode="auto">
          <a:xfrm>
            <a:off x="2017315" y="1580727"/>
            <a:ext cx="7771742" cy="4800601"/>
            <a:chOff x="1173" y="845"/>
            <a:chExt cx="4519" cy="3024"/>
          </a:xfrm>
        </p:grpSpPr>
        <p:sp>
          <p:nvSpPr>
            <p:cNvPr id="58" name="Text Box 74"/>
            <p:cNvSpPr txBox="1">
              <a:spLocks noChangeArrowheads="1"/>
            </p:cNvSpPr>
            <p:nvPr/>
          </p:nvSpPr>
          <p:spPr bwMode="auto">
            <a:xfrm>
              <a:off x="1173" y="3113"/>
              <a:ext cx="4303"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a:defRPr sz="2000" b="1">
                  <a:solidFill>
                    <a:srgbClr val="0000CC"/>
                  </a:solidFill>
                  <a:latin typeface="+mn-lt"/>
                  <a:ea typeface="黑体" pitchFamily="2" charset="-122"/>
                </a:defRPr>
              </a:lvl1pPr>
            </a:lstStyle>
            <a:p>
              <a:r>
                <a:rPr lang="zh-CN" altLang="en-US" sz="2400" dirty="0"/>
                <a:t>总长度</a:t>
              </a:r>
              <a:r>
                <a:rPr lang="en-US" altLang="zh-CN" sz="2400" dirty="0"/>
                <a:t>——</a:t>
              </a:r>
              <a:r>
                <a:rPr lang="zh-CN" altLang="en-US" sz="2400" dirty="0"/>
                <a:t>占 </a:t>
              </a:r>
              <a:r>
                <a:rPr lang="en-US" altLang="zh-CN" sz="2400" dirty="0"/>
                <a:t>16 </a:t>
              </a:r>
              <a:r>
                <a:rPr lang="zh-CN" altLang="en-US" sz="2400" dirty="0"/>
                <a:t>位，指首部和数据之和的长度，</a:t>
              </a:r>
            </a:p>
            <a:p>
              <a:r>
                <a:rPr lang="zh-CN" altLang="en-US" sz="2400" dirty="0"/>
                <a:t>单位为字节，因此数据报的最大长度为 </a:t>
              </a:r>
              <a:r>
                <a:rPr lang="en-US" altLang="zh-CN" sz="2400" dirty="0"/>
                <a:t>65535 </a:t>
              </a:r>
              <a:r>
                <a:rPr lang="zh-CN" altLang="en-US" sz="2400" dirty="0"/>
                <a:t>字节。</a:t>
              </a:r>
            </a:p>
            <a:p>
              <a:r>
                <a:rPr lang="zh-CN" altLang="en-US" sz="2400" dirty="0">
                  <a:solidFill>
                    <a:srgbClr val="C00000"/>
                  </a:solidFill>
                </a:rPr>
                <a:t>总长度必须不超过最大传送单元 </a:t>
              </a:r>
              <a:r>
                <a:rPr lang="en-US" altLang="zh-CN" sz="2400" dirty="0">
                  <a:solidFill>
                    <a:srgbClr val="C00000"/>
                  </a:solidFill>
                </a:rPr>
                <a:t>MTU</a:t>
              </a:r>
              <a:r>
                <a:rPr lang="zh-CN" altLang="en-US" sz="2400" dirty="0">
                  <a:solidFill>
                    <a:srgbClr val="C00000"/>
                  </a:solidFill>
                </a:rPr>
                <a:t>。 </a:t>
              </a:r>
            </a:p>
          </p:txBody>
        </p:sp>
        <p:sp>
          <p:nvSpPr>
            <p:cNvPr id="59" name="Rectangle 79"/>
            <p:cNvSpPr>
              <a:spLocks noChangeArrowheads="1"/>
            </p:cNvSpPr>
            <p:nvPr/>
          </p:nvSpPr>
          <p:spPr bwMode="auto">
            <a:xfrm>
              <a:off x="3208" y="845"/>
              <a:ext cx="2484" cy="307"/>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标题 2"/>
          <p:cNvSpPr>
            <a:spLocks noGrp="1"/>
          </p:cNvSpPr>
          <p:nvPr>
            <p:ph type="title"/>
          </p:nvPr>
        </p:nvSpPr>
        <p:spPr/>
        <p:txBody>
          <a:bodyPr/>
          <a:lstStyle/>
          <a:p>
            <a:r>
              <a:rPr lang="en-US" altLang="zh-CN" sz="3600" dirty="0"/>
              <a:t>1.  IP </a:t>
            </a:r>
            <a:r>
              <a:rPr lang="zh-CN" altLang="en-US" sz="3600" dirty="0"/>
              <a:t>数据报首部的固定部分中的各字段 </a:t>
            </a:r>
          </a:p>
        </p:txBody>
      </p:sp>
    </p:spTree>
    <p:extLst>
      <p:ext uri="{BB962C8B-B14F-4D97-AF65-F5344CB8AC3E}">
        <p14:creationId xmlns:p14="http://schemas.microsoft.com/office/powerpoint/2010/main" val="9387632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2022375"/>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678137"/>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2" name="Rectangle 8"/>
          <p:cNvSpPr>
            <a:spLocks noChangeArrowheads="1"/>
          </p:cNvSpPr>
          <p:nvPr/>
        </p:nvSpPr>
        <p:spPr bwMode="auto">
          <a:xfrm>
            <a:off x="3351875" y="1620738"/>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611212"/>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265512"/>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062062"/>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50497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4947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38762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3212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619150"/>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619150"/>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514500"/>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619150"/>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27362"/>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071587"/>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3180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3180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3180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3180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3180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3180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3180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46137"/>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122387"/>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27200"/>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27200"/>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122387"/>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46137"/>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4613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12238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55937"/>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27200"/>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298598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2731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55937"/>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21751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27087"/>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3997225"/>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4006751"/>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398862"/>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grpSp>
        <p:nvGrpSpPr>
          <p:cNvPr id="379998" name="Group 94"/>
          <p:cNvGrpSpPr>
            <a:grpSpLocks/>
          </p:cNvGrpSpPr>
          <p:nvPr/>
        </p:nvGrpSpPr>
        <p:grpSpPr bwMode="auto">
          <a:xfrm>
            <a:off x="265981" y="1590576"/>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sp>
        <p:nvSpPr>
          <p:cNvPr id="380001" name="AutoShape 97"/>
          <p:cNvSpPr>
            <a:spLocks/>
          </p:cNvSpPr>
          <p:nvPr/>
        </p:nvSpPr>
        <p:spPr bwMode="auto">
          <a:xfrm>
            <a:off x="998834" y="1662012"/>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60" name="Group 77"/>
          <p:cNvGrpSpPr>
            <a:grpSpLocks/>
          </p:cNvGrpSpPr>
          <p:nvPr/>
        </p:nvGrpSpPr>
        <p:grpSpPr bwMode="auto">
          <a:xfrm>
            <a:off x="1209015" y="2038250"/>
            <a:ext cx="6662474" cy="3983038"/>
            <a:chOff x="703" y="1127"/>
            <a:chExt cx="3874" cy="2509"/>
          </a:xfrm>
        </p:grpSpPr>
        <p:sp>
          <p:nvSpPr>
            <p:cNvPr id="61" name="Text Box 74"/>
            <p:cNvSpPr txBox="1">
              <a:spLocks noChangeArrowheads="1"/>
            </p:cNvSpPr>
            <p:nvPr/>
          </p:nvSpPr>
          <p:spPr bwMode="auto">
            <a:xfrm>
              <a:off x="738" y="3113"/>
              <a:ext cx="3839"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a:defRPr sz="2400" b="1">
                  <a:solidFill>
                    <a:srgbClr val="0000CC"/>
                  </a:solidFill>
                  <a:latin typeface="+mn-lt"/>
                  <a:ea typeface="黑体" pitchFamily="2" charset="-122"/>
                </a:defRPr>
              </a:lvl1pPr>
            </a:lstStyle>
            <a:p>
              <a:r>
                <a:rPr lang="zh-CN" altLang="en-US" dirty="0"/>
                <a:t>标识</a:t>
              </a:r>
              <a:r>
                <a:rPr lang="en-US" altLang="zh-CN" dirty="0"/>
                <a:t>(identification) ——</a:t>
              </a:r>
              <a:r>
                <a:rPr lang="zh-CN" altLang="en-US" dirty="0"/>
                <a:t>占 </a:t>
              </a:r>
              <a:r>
                <a:rPr lang="en-US" altLang="zh-CN" dirty="0"/>
                <a:t>16 </a:t>
              </a:r>
              <a:r>
                <a:rPr lang="zh-CN" altLang="en-US" dirty="0"/>
                <a:t>位，</a:t>
              </a:r>
            </a:p>
            <a:p>
              <a:r>
                <a:rPr lang="zh-CN" altLang="en-US" dirty="0"/>
                <a:t>它是一个计数器，用来产生 </a:t>
              </a:r>
              <a:r>
                <a:rPr lang="en-US" altLang="zh-CN" dirty="0">
                  <a:solidFill>
                    <a:srgbClr val="C00000"/>
                  </a:solidFill>
                </a:rPr>
                <a:t>IP </a:t>
              </a:r>
              <a:r>
                <a:rPr lang="zh-CN" altLang="en-US" dirty="0">
                  <a:solidFill>
                    <a:srgbClr val="C00000"/>
                  </a:solidFill>
                </a:rPr>
                <a:t>数据报的标识。</a:t>
              </a:r>
              <a:r>
                <a:rPr lang="zh-CN" altLang="en-US" dirty="0"/>
                <a:t> </a:t>
              </a:r>
            </a:p>
          </p:txBody>
        </p:sp>
        <p:sp>
          <p:nvSpPr>
            <p:cNvPr id="62" name="Rectangle 76"/>
            <p:cNvSpPr>
              <a:spLocks noChangeArrowheads="1"/>
            </p:cNvSpPr>
            <p:nvPr/>
          </p:nvSpPr>
          <p:spPr bwMode="auto">
            <a:xfrm>
              <a:off x="703" y="1127"/>
              <a:ext cx="2484" cy="307"/>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标题 2"/>
          <p:cNvSpPr>
            <a:spLocks noGrp="1"/>
          </p:cNvSpPr>
          <p:nvPr>
            <p:ph type="title"/>
          </p:nvPr>
        </p:nvSpPr>
        <p:spPr/>
        <p:txBody>
          <a:bodyPr/>
          <a:lstStyle/>
          <a:p>
            <a:r>
              <a:rPr lang="en-US" altLang="zh-CN" sz="3600" dirty="0"/>
              <a:t>1.  IP </a:t>
            </a:r>
            <a:r>
              <a:rPr lang="zh-CN" altLang="en-US" sz="3600" dirty="0"/>
              <a:t>数据报首部的固定部分中的各字段 </a:t>
            </a:r>
          </a:p>
        </p:txBody>
      </p:sp>
    </p:spTree>
    <p:extLst>
      <p:ext uri="{BB962C8B-B14F-4D97-AF65-F5344CB8AC3E}">
        <p14:creationId xmlns:p14="http://schemas.microsoft.com/office/powerpoint/2010/main" val="28421306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2022046"/>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677808"/>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2" name="Rectangle 8"/>
          <p:cNvSpPr>
            <a:spLocks noChangeArrowheads="1"/>
          </p:cNvSpPr>
          <p:nvPr/>
        </p:nvSpPr>
        <p:spPr bwMode="auto">
          <a:xfrm>
            <a:off x="3351875" y="1620409"/>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610883"/>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265183"/>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061733"/>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504646"/>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49146"/>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387296"/>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31796"/>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618821"/>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618821"/>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514171"/>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618821"/>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27033"/>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071258"/>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31471"/>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31471"/>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31471"/>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31471"/>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31471"/>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31471"/>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31471"/>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45808"/>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122058"/>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26871"/>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26871"/>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122058"/>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45808"/>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45808"/>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122058"/>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55608"/>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26871"/>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2985658"/>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26983"/>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55608"/>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217183"/>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26758"/>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3996896"/>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4006422"/>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398533"/>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grpSp>
        <p:nvGrpSpPr>
          <p:cNvPr id="379998" name="Group 94"/>
          <p:cNvGrpSpPr>
            <a:grpSpLocks/>
          </p:cNvGrpSpPr>
          <p:nvPr/>
        </p:nvGrpSpPr>
        <p:grpSpPr bwMode="auto">
          <a:xfrm>
            <a:off x="265981" y="1590247"/>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sp>
        <p:nvSpPr>
          <p:cNvPr id="380001" name="AutoShape 97"/>
          <p:cNvSpPr>
            <a:spLocks/>
          </p:cNvSpPr>
          <p:nvPr/>
        </p:nvSpPr>
        <p:spPr bwMode="auto">
          <a:xfrm>
            <a:off x="998834" y="1661683"/>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57" name="组合 56"/>
          <p:cNvGrpSpPr/>
          <p:nvPr/>
        </p:nvGrpSpPr>
        <p:grpSpPr>
          <a:xfrm>
            <a:off x="1706970" y="2056971"/>
            <a:ext cx="7077579" cy="4669407"/>
            <a:chOff x="1706970" y="1808163"/>
            <a:chExt cx="7077579" cy="4669407"/>
          </a:xfrm>
        </p:grpSpPr>
        <p:sp>
          <p:nvSpPr>
            <p:cNvPr id="58" name="Text Box 73"/>
            <p:cNvSpPr txBox="1">
              <a:spLocks noChangeArrowheads="1"/>
            </p:cNvSpPr>
            <p:nvPr/>
          </p:nvSpPr>
          <p:spPr bwMode="auto">
            <a:xfrm>
              <a:off x="1706970" y="4784799"/>
              <a:ext cx="7077579"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a:defRPr sz="2400" b="1">
                  <a:solidFill>
                    <a:srgbClr val="0000CC"/>
                  </a:solidFill>
                  <a:latin typeface="+mn-lt"/>
                  <a:ea typeface="黑体" pitchFamily="2" charset="-122"/>
                </a:defRPr>
              </a:lvl1pPr>
            </a:lstStyle>
            <a:p>
              <a:r>
                <a:rPr lang="zh-CN" altLang="en-US" sz="2000" dirty="0"/>
                <a:t>标志</a:t>
              </a:r>
              <a:r>
                <a:rPr lang="en-US" altLang="zh-CN" sz="2000" dirty="0"/>
                <a:t>(flag) ——</a:t>
              </a:r>
              <a:r>
                <a:rPr lang="zh-CN" altLang="en-US" sz="2000" dirty="0"/>
                <a:t>占 </a:t>
              </a:r>
              <a:r>
                <a:rPr lang="en-US" altLang="zh-CN" sz="2000" dirty="0"/>
                <a:t>3 </a:t>
              </a:r>
              <a:r>
                <a:rPr lang="zh-CN" altLang="en-US" sz="2000" dirty="0"/>
                <a:t>位，目前只有前两位有意义。</a:t>
              </a:r>
            </a:p>
            <a:p>
              <a:r>
                <a:rPr lang="zh-CN" altLang="en-US" sz="2000" dirty="0">
                  <a:solidFill>
                    <a:srgbClr val="C00000"/>
                  </a:solidFill>
                </a:rPr>
                <a:t>标志字段的最低位是 </a:t>
              </a:r>
              <a:r>
                <a:rPr lang="en-US" altLang="zh-CN" sz="2000" dirty="0">
                  <a:solidFill>
                    <a:srgbClr val="C00000"/>
                  </a:solidFill>
                </a:rPr>
                <a:t>MF (More Fragment)</a:t>
              </a:r>
              <a:r>
                <a:rPr lang="zh-CN" altLang="en-US" sz="2000" dirty="0">
                  <a:solidFill>
                    <a:srgbClr val="C00000"/>
                  </a:solidFill>
                </a:rPr>
                <a:t>。</a:t>
              </a:r>
            </a:p>
            <a:p>
              <a:r>
                <a:rPr lang="en-US" altLang="zh-CN" sz="2000" dirty="0"/>
                <a:t>MF </a:t>
              </a:r>
              <a:r>
                <a:rPr lang="en-US" altLang="zh-CN" sz="2000" dirty="0">
                  <a:sym typeface="Symbol" pitchFamily="18" charset="2"/>
                </a:rPr>
                <a:t></a:t>
              </a:r>
              <a:r>
                <a:rPr lang="en-US" altLang="zh-CN" sz="2000" dirty="0"/>
                <a:t> 1 </a:t>
              </a:r>
              <a:r>
                <a:rPr lang="zh-CN" altLang="en-US" sz="2000" dirty="0"/>
                <a:t>表示后面“还有分片”。</a:t>
              </a:r>
              <a:r>
                <a:rPr lang="en-US" altLang="zh-CN" sz="2000" dirty="0"/>
                <a:t>MF </a:t>
              </a:r>
              <a:r>
                <a:rPr lang="en-US" altLang="zh-CN" sz="2000" dirty="0">
                  <a:sym typeface="Symbol" pitchFamily="18" charset="2"/>
                </a:rPr>
                <a:t></a:t>
              </a:r>
              <a:r>
                <a:rPr lang="en-US" altLang="zh-CN" sz="2000" dirty="0"/>
                <a:t> 0 </a:t>
              </a:r>
              <a:r>
                <a:rPr lang="zh-CN" altLang="en-US" sz="2000" dirty="0"/>
                <a:t>表示最后一个分片。</a:t>
              </a:r>
            </a:p>
            <a:p>
              <a:r>
                <a:rPr lang="zh-CN" altLang="en-US" sz="2000" dirty="0">
                  <a:solidFill>
                    <a:srgbClr val="C00000"/>
                  </a:solidFill>
                </a:rPr>
                <a:t>标志字段中间的一位是 </a:t>
              </a:r>
              <a:r>
                <a:rPr lang="en-US" altLang="zh-CN" sz="2000" dirty="0">
                  <a:solidFill>
                    <a:srgbClr val="C00000"/>
                  </a:solidFill>
                </a:rPr>
                <a:t>DF (Don't Fragment) </a:t>
              </a:r>
              <a:r>
                <a:rPr lang="zh-CN" altLang="en-US" sz="2000" dirty="0">
                  <a:solidFill>
                    <a:srgbClr val="C00000"/>
                  </a:solidFill>
                </a:rPr>
                <a:t>。</a:t>
              </a:r>
            </a:p>
            <a:p>
              <a:r>
                <a:rPr lang="zh-CN" altLang="en-US" sz="2000" dirty="0"/>
                <a:t>只有当 </a:t>
              </a:r>
              <a:r>
                <a:rPr lang="en-US" altLang="zh-CN" sz="2000" dirty="0"/>
                <a:t>DF </a:t>
              </a:r>
              <a:r>
                <a:rPr lang="en-US" altLang="zh-CN" sz="2000" dirty="0">
                  <a:sym typeface="Symbol" pitchFamily="18" charset="2"/>
                </a:rPr>
                <a:t></a:t>
              </a:r>
              <a:r>
                <a:rPr lang="en-US" altLang="zh-CN" sz="2000" dirty="0"/>
                <a:t> 0 </a:t>
              </a:r>
              <a:r>
                <a:rPr lang="zh-CN" altLang="en-US" sz="2000" dirty="0"/>
                <a:t>时才允许分片。 </a:t>
              </a:r>
            </a:p>
          </p:txBody>
        </p:sp>
        <p:sp>
          <p:nvSpPr>
            <p:cNvPr id="59" name="Rectangle 74"/>
            <p:cNvSpPr>
              <a:spLocks noChangeArrowheads="1"/>
            </p:cNvSpPr>
            <p:nvPr/>
          </p:nvSpPr>
          <p:spPr bwMode="auto">
            <a:xfrm>
              <a:off x="5499894" y="1808163"/>
              <a:ext cx="856456" cy="487362"/>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标题 2"/>
          <p:cNvSpPr>
            <a:spLocks noGrp="1"/>
          </p:cNvSpPr>
          <p:nvPr>
            <p:ph type="title"/>
          </p:nvPr>
        </p:nvSpPr>
        <p:spPr/>
        <p:txBody>
          <a:bodyPr/>
          <a:lstStyle/>
          <a:p>
            <a:r>
              <a:rPr lang="en-US" altLang="zh-CN" sz="3600" dirty="0"/>
              <a:t>1.  IP </a:t>
            </a:r>
            <a:r>
              <a:rPr lang="zh-CN" altLang="en-US" sz="3600" dirty="0"/>
              <a:t>数据报首部的固定部分中的各字段 </a:t>
            </a:r>
          </a:p>
        </p:txBody>
      </p:sp>
    </p:spTree>
    <p:extLst>
      <p:ext uri="{BB962C8B-B14F-4D97-AF65-F5344CB8AC3E}">
        <p14:creationId xmlns:p14="http://schemas.microsoft.com/office/powerpoint/2010/main" val="40017607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2013545"/>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669307"/>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2" name="Rectangle 8"/>
          <p:cNvSpPr>
            <a:spLocks noChangeArrowheads="1"/>
          </p:cNvSpPr>
          <p:nvPr/>
        </p:nvSpPr>
        <p:spPr bwMode="auto">
          <a:xfrm>
            <a:off x="3351875" y="1611908"/>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602382"/>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256682"/>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053232"/>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49614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4064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37879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2329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610320"/>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610320"/>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505670"/>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610320"/>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18532"/>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062757"/>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2297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2297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2297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2297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2297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2297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2297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37307"/>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113557"/>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18370"/>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18370"/>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113557"/>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37307"/>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3730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11355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47107"/>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18370"/>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297715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1848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47107"/>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20868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18257"/>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3988395"/>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3997921"/>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390032"/>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grpSp>
        <p:nvGrpSpPr>
          <p:cNvPr id="379998" name="Group 94"/>
          <p:cNvGrpSpPr>
            <a:grpSpLocks/>
          </p:cNvGrpSpPr>
          <p:nvPr/>
        </p:nvGrpSpPr>
        <p:grpSpPr bwMode="auto">
          <a:xfrm>
            <a:off x="265981" y="1581746"/>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sp>
        <p:nvSpPr>
          <p:cNvPr id="380001" name="AutoShape 97"/>
          <p:cNvSpPr>
            <a:spLocks/>
          </p:cNvSpPr>
          <p:nvPr/>
        </p:nvSpPr>
        <p:spPr bwMode="auto">
          <a:xfrm>
            <a:off x="998834" y="1653182"/>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60" name="Group 78"/>
          <p:cNvGrpSpPr>
            <a:grpSpLocks/>
          </p:cNvGrpSpPr>
          <p:nvPr/>
        </p:nvGrpSpPr>
        <p:grpSpPr bwMode="auto">
          <a:xfrm>
            <a:off x="2660514" y="2013545"/>
            <a:ext cx="7068350" cy="4295775"/>
            <a:chOff x="1547" y="1117"/>
            <a:chExt cx="4110" cy="2706"/>
          </a:xfrm>
        </p:grpSpPr>
        <p:sp>
          <p:nvSpPr>
            <p:cNvPr id="61" name="Text Box 74"/>
            <p:cNvSpPr txBox="1">
              <a:spLocks noChangeArrowheads="1"/>
            </p:cNvSpPr>
            <p:nvPr/>
          </p:nvSpPr>
          <p:spPr bwMode="auto">
            <a:xfrm>
              <a:off x="1547" y="3067"/>
              <a:ext cx="4002"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a:defRPr sz="2400" b="1">
                  <a:solidFill>
                    <a:srgbClr val="0000CC"/>
                  </a:solidFill>
                  <a:latin typeface="+mn-lt"/>
                  <a:ea typeface="黑体" pitchFamily="2" charset="-122"/>
                </a:defRPr>
              </a:lvl1pPr>
            </a:lstStyle>
            <a:p>
              <a:r>
                <a:rPr lang="zh-CN" altLang="en-US" dirty="0"/>
                <a:t>片偏移</a:t>
              </a:r>
              <a:r>
                <a:rPr lang="en-US" altLang="zh-CN" dirty="0"/>
                <a:t>——</a:t>
              </a:r>
              <a:r>
                <a:rPr lang="zh-CN" altLang="en-US" dirty="0"/>
                <a:t>占</a:t>
              </a:r>
              <a:r>
                <a:rPr lang="en-US" altLang="zh-CN" dirty="0"/>
                <a:t>13 </a:t>
              </a:r>
              <a:r>
                <a:rPr lang="zh-CN" altLang="en-US" dirty="0"/>
                <a:t>位，指出：较长的分组在分片后</a:t>
              </a:r>
            </a:p>
            <a:p>
              <a:r>
                <a:rPr lang="zh-CN" altLang="en-US" dirty="0"/>
                <a:t>某片在原分组中的相对位置。</a:t>
              </a:r>
            </a:p>
            <a:p>
              <a:r>
                <a:rPr lang="zh-CN" altLang="en-US" dirty="0">
                  <a:solidFill>
                    <a:srgbClr val="C00000"/>
                  </a:solidFill>
                </a:rPr>
                <a:t>片偏移以 </a:t>
              </a:r>
              <a:r>
                <a:rPr lang="en-US" altLang="zh-CN" dirty="0">
                  <a:solidFill>
                    <a:srgbClr val="C00000"/>
                  </a:solidFill>
                </a:rPr>
                <a:t>8 </a:t>
              </a:r>
              <a:r>
                <a:rPr lang="zh-CN" altLang="en-US" dirty="0">
                  <a:solidFill>
                    <a:srgbClr val="C00000"/>
                  </a:solidFill>
                </a:rPr>
                <a:t>个字节为偏移单位。</a:t>
              </a:r>
            </a:p>
          </p:txBody>
        </p:sp>
        <p:sp>
          <p:nvSpPr>
            <p:cNvPr id="62" name="Rectangle 75"/>
            <p:cNvSpPr>
              <a:spLocks noChangeArrowheads="1"/>
            </p:cNvSpPr>
            <p:nvPr/>
          </p:nvSpPr>
          <p:spPr bwMode="auto">
            <a:xfrm>
              <a:off x="3696" y="1117"/>
              <a:ext cx="1961" cy="307"/>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标题 2"/>
          <p:cNvSpPr>
            <a:spLocks noGrp="1"/>
          </p:cNvSpPr>
          <p:nvPr>
            <p:ph type="title"/>
          </p:nvPr>
        </p:nvSpPr>
        <p:spPr/>
        <p:txBody>
          <a:bodyPr/>
          <a:lstStyle/>
          <a:p>
            <a:r>
              <a:rPr lang="en-US" altLang="zh-CN" sz="3600" dirty="0"/>
              <a:t>1.  IP </a:t>
            </a:r>
            <a:r>
              <a:rPr lang="zh-CN" altLang="en-US" sz="3600" dirty="0"/>
              <a:t>数据报首部的固定部分中的各字段 </a:t>
            </a:r>
          </a:p>
        </p:txBody>
      </p:sp>
    </p:spTree>
    <p:extLst>
      <p:ext uri="{BB962C8B-B14F-4D97-AF65-F5344CB8AC3E}">
        <p14:creationId xmlns:p14="http://schemas.microsoft.com/office/powerpoint/2010/main" val="27132179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【例</a:t>
            </a:r>
            <a:r>
              <a:rPr lang="en-US" altLang="zh-CN" dirty="0"/>
              <a:t>4-1</a:t>
            </a:r>
            <a:r>
              <a:rPr lang="zh-CN" altLang="zh-CN" dirty="0"/>
              <a:t>】</a:t>
            </a:r>
            <a:r>
              <a:rPr lang="en-US" altLang="zh-CN" dirty="0"/>
              <a:t> IP </a:t>
            </a:r>
            <a:r>
              <a:rPr lang="zh-CN" altLang="en-US" dirty="0"/>
              <a:t>数据报分片</a:t>
            </a:r>
          </a:p>
        </p:txBody>
      </p:sp>
      <p:sp>
        <p:nvSpPr>
          <p:cNvPr id="3" name="内容占位符 2"/>
          <p:cNvSpPr>
            <a:spLocks noGrp="1"/>
          </p:cNvSpPr>
          <p:nvPr>
            <p:ph idx="1"/>
          </p:nvPr>
        </p:nvSpPr>
        <p:spPr/>
        <p:txBody>
          <a:bodyPr/>
          <a:lstStyle/>
          <a:p>
            <a:pPr>
              <a:lnSpc>
                <a:spcPct val="100000"/>
              </a:lnSpc>
            </a:pPr>
            <a:r>
              <a:rPr lang="zh-CN" altLang="zh-CN" dirty="0"/>
              <a:t>一数据报的总长度为</a:t>
            </a:r>
            <a:r>
              <a:rPr lang="en-US" altLang="zh-CN" dirty="0"/>
              <a:t> 3820 </a:t>
            </a:r>
            <a:r>
              <a:rPr lang="zh-CN" altLang="zh-CN" dirty="0"/>
              <a:t>字节，其数据部分</a:t>
            </a:r>
            <a:r>
              <a:rPr lang="zh-CN" altLang="en-US" dirty="0"/>
              <a:t>的</a:t>
            </a:r>
            <a:r>
              <a:rPr lang="zh-CN" altLang="zh-CN" dirty="0"/>
              <a:t>长度为</a:t>
            </a:r>
            <a:r>
              <a:rPr lang="en-US" altLang="zh-CN" dirty="0"/>
              <a:t> 3800 </a:t>
            </a:r>
            <a:r>
              <a:rPr lang="zh-CN" altLang="zh-CN" dirty="0"/>
              <a:t>字节（使用固定首部），需要分片为长度不超过</a:t>
            </a:r>
            <a:r>
              <a:rPr lang="en-US" altLang="zh-CN" dirty="0"/>
              <a:t> 1420 </a:t>
            </a:r>
            <a:r>
              <a:rPr lang="zh-CN" altLang="zh-CN" dirty="0"/>
              <a:t>字节的数据报片。</a:t>
            </a:r>
            <a:endParaRPr lang="en-US" altLang="zh-CN" dirty="0"/>
          </a:p>
          <a:p>
            <a:pPr>
              <a:lnSpc>
                <a:spcPct val="100000"/>
              </a:lnSpc>
            </a:pPr>
            <a:r>
              <a:rPr lang="zh-CN" altLang="zh-CN" dirty="0"/>
              <a:t>因固定首部长度为</a:t>
            </a:r>
            <a:r>
              <a:rPr lang="en-US" altLang="zh-CN" dirty="0"/>
              <a:t> 20 </a:t>
            </a:r>
            <a:r>
              <a:rPr lang="zh-CN" altLang="zh-CN" dirty="0"/>
              <a:t>字节，因此每个数据报片的数据部分长度不能超过</a:t>
            </a:r>
            <a:r>
              <a:rPr lang="en-US" altLang="zh-CN" dirty="0"/>
              <a:t> 1400 </a:t>
            </a:r>
            <a:r>
              <a:rPr lang="zh-CN" altLang="zh-CN" dirty="0"/>
              <a:t>字节。</a:t>
            </a:r>
            <a:endParaRPr lang="en-US" altLang="zh-CN" dirty="0"/>
          </a:p>
          <a:p>
            <a:pPr>
              <a:lnSpc>
                <a:spcPct val="100000"/>
              </a:lnSpc>
            </a:pPr>
            <a:r>
              <a:rPr lang="zh-CN" altLang="zh-CN" dirty="0"/>
              <a:t>于是分为</a:t>
            </a:r>
            <a:r>
              <a:rPr lang="en-US" altLang="zh-CN" dirty="0"/>
              <a:t> 3 </a:t>
            </a:r>
            <a:r>
              <a:rPr lang="zh-CN" altLang="zh-CN" dirty="0"/>
              <a:t>个数据报片，其数据部分的长度分别为</a:t>
            </a:r>
            <a:r>
              <a:rPr lang="en-US" altLang="zh-CN" dirty="0"/>
              <a:t> 1400</a:t>
            </a:r>
            <a:r>
              <a:rPr lang="zh-CN" altLang="en-US" dirty="0"/>
              <a:t>、</a:t>
            </a:r>
            <a:r>
              <a:rPr lang="en-US" altLang="zh-CN" dirty="0"/>
              <a:t>1400 </a:t>
            </a:r>
            <a:r>
              <a:rPr lang="zh-CN" altLang="zh-CN" dirty="0"/>
              <a:t>和</a:t>
            </a:r>
            <a:r>
              <a:rPr lang="en-US" altLang="zh-CN" dirty="0"/>
              <a:t> 1000 </a:t>
            </a:r>
            <a:r>
              <a:rPr lang="zh-CN" altLang="zh-CN" dirty="0"/>
              <a:t>字节。</a:t>
            </a:r>
            <a:endParaRPr lang="en-US" altLang="zh-CN" dirty="0"/>
          </a:p>
          <a:p>
            <a:pPr>
              <a:lnSpc>
                <a:spcPct val="100000"/>
              </a:lnSpc>
            </a:pPr>
            <a:r>
              <a:rPr lang="zh-CN" altLang="zh-CN" dirty="0">
                <a:solidFill>
                  <a:srgbClr val="0000FF"/>
                </a:solidFill>
              </a:rPr>
              <a:t>原始数据报首部被复制为各数据报片的首部，但</a:t>
            </a:r>
            <a:r>
              <a:rPr lang="zh-CN" altLang="zh-CN" dirty="0">
                <a:solidFill>
                  <a:srgbClr val="FF0000"/>
                </a:solidFill>
              </a:rPr>
              <a:t>必须修改有关字段的值。</a:t>
            </a:r>
            <a:endParaRPr lang="zh-CN" altLang="en-US" dirty="0">
              <a:solidFill>
                <a:srgbClr val="FF0000"/>
              </a:solidFill>
            </a:endParaRPr>
          </a:p>
        </p:txBody>
      </p:sp>
    </p:spTree>
    <p:extLst>
      <p:ext uri="{BB962C8B-B14F-4D97-AF65-F5344CB8AC3E}">
        <p14:creationId xmlns:p14="http://schemas.microsoft.com/office/powerpoint/2010/main" val="4381256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44488" y="2380134"/>
            <a:ext cx="4755225" cy="3526755"/>
            <a:chOff x="344488" y="2380134"/>
            <a:chExt cx="4755225" cy="3526755"/>
          </a:xfrm>
        </p:grpSpPr>
        <p:sp>
          <p:nvSpPr>
            <p:cNvPr id="474117" name="Text Box 5"/>
            <p:cNvSpPr txBox="1">
              <a:spLocks noChangeArrowheads="1"/>
            </p:cNvSpPr>
            <p:nvPr/>
          </p:nvSpPr>
          <p:spPr bwMode="auto">
            <a:xfrm>
              <a:off x="704528" y="5445224"/>
              <a:ext cx="21018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mn-lt"/>
                  <a:ea typeface="黑体" pitchFamily="2" charset="-122"/>
                </a:rPr>
                <a:t>偏移 </a:t>
              </a:r>
              <a:r>
                <a:rPr kumimoji="1" lang="en-US" altLang="zh-CN" sz="2400" b="1" dirty="0">
                  <a:solidFill>
                    <a:srgbClr val="0000CC"/>
                  </a:solidFill>
                  <a:latin typeface="+mn-lt"/>
                  <a:ea typeface="黑体" pitchFamily="2" charset="-122"/>
                </a:rPr>
                <a:t>= 0/8 = 0</a:t>
              </a:r>
            </a:p>
          </p:txBody>
        </p:sp>
        <p:sp>
          <p:nvSpPr>
            <p:cNvPr id="474123" name="Rectangle 11"/>
            <p:cNvSpPr>
              <a:spLocks noChangeArrowheads="1"/>
            </p:cNvSpPr>
            <p:nvPr/>
          </p:nvSpPr>
          <p:spPr bwMode="auto">
            <a:xfrm>
              <a:off x="1295534" y="3869208"/>
              <a:ext cx="1900369" cy="46355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74124" name="Line 12"/>
            <p:cNvSpPr>
              <a:spLocks noChangeShapeType="1"/>
            </p:cNvSpPr>
            <p:nvPr/>
          </p:nvSpPr>
          <p:spPr bwMode="auto">
            <a:xfrm>
              <a:off x="1484710" y="386920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25" name="Line 13"/>
            <p:cNvSpPr>
              <a:spLocks noChangeShapeType="1"/>
            </p:cNvSpPr>
            <p:nvPr/>
          </p:nvSpPr>
          <p:spPr bwMode="auto">
            <a:xfrm>
              <a:off x="1675606" y="386920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26" name="Line 14"/>
            <p:cNvSpPr>
              <a:spLocks noChangeShapeType="1"/>
            </p:cNvSpPr>
            <p:nvPr/>
          </p:nvSpPr>
          <p:spPr bwMode="auto">
            <a:xfrm>
              <a:off x="1866504" y="386920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27" name="Line 15"/>
            <p:cNvSpPr>
              <a:spLocks noChangeShapeType="1"/>
            </p:cNvSpPr>
            <p:nvPr/>
          </p:nvSpPr>
          <p:spPr bwMode="auto">
            <a:xfrm>
              <a:off x="3005006" y="386920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33" name="Line 21"/>
            <p:cNvSpPr>
              <a:spLocks noChangeShapeType="1"/>
            </p:cNvSpPr>
            <p:nvPr/>
          </p:nvSpPr>
          <p:spPr bwMode="auto">
            <a:xfrm flipV="1">
              <a:off x="3101314" y="4332759"/>
              <a:ext cx="0" cy="36988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42" name="Text Box 30"/>
            <p:cNvSpPr txBox="1">
              <a:spLocks noChangeArrowheads="1"/>
            </p:cNvSpPr>
            <p:nvPr/>
          </p:nvSpPr>
          <p:spPr bwMode="auto">
            <a:xfrm>
              <a:off x="2681685" y="4586759"/>
              <a:ext cx="7553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1399</a:t>
              </a:r>
            </a:p>
          </p:txBody>
        </p:sp>
        <p:sp>
          <p:nvSpPr>
            <p:cNvPr id="474145" name="Text Box 33"/>
            <p:cNvSpPr txBox="1">
              <a:spLocks noChangeArrowheads="1"/>
            </p:cNvSpPr>
            <p:nvPr/>
          </p:nvSpPr>
          <p:spPr bwMode="auto">
            <a:xfrm>
              <a:off x="990013" y="5072534"/>
              <a:ext cx="16786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C00000"/>
                  </a:solidFill>
                  <a:latin typeface="+mn-lt"/>
                  <a:ea typeface="黑体" pitchFamily="2" charset="-122"/>
                </a:rPr>
                <a:t>数据报片 </a:t>
              </a:r>
              <a:r>
                <a:rPr kumimoji="1" lang="en-US" altLang="zh-CN" sz="2400" b="1" dirty="0">
                  <a:solidFill>
                    <a:srgbClr val="C00000"/>
                  </a:solidFill>
                  <a:latin typeface="+mn-lt"/>
                  <a:ea typeface="黑体" pitchFamily="2" charset="-122"/>
                </a:rPr>
                <a:t>1</a:t>
              </a:r>
            </a:p>
          </p:txBody>
        </p:sp>
        <p:sp>
          <p:nvSpPr>
            <p:cNvPr id="474148" name="Rectangle 36"/>
            <p:cNvSpPr>
              <a:spLocks noChangeArrowheads="1"/>
            </p:cNvSpPr>
            <p:nvPr/>
          </p:nvSpPr>
          <p:spPr bwMode="auto">
            <a:xfrm>
              <a:off x="344488" y="3869208"/>
              <a:ext cx="951045" cy="46355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74151" name="Line 39"/>
            <p:cNvSpPr>
              <a:spLocks noChangeShapeType="1"/>
            </p:cNvSpPr>
            <p:nvPr/>
          </p:nvSpPr>
          <p:spPr bwMode="auto">
            <a:xfrm flipV="1">
              <a:off x="1295534" y="2380134"/>
              <a:ext cx="1900369" cy="1489075"/>
            </a:xfrm>
            <a:prstGeom prst="line">
              <a:avLst/>
            </a:prstGeom>
            <a:noFill/>
            <a:ln w="19050">
              <a:solidFill>
                <a:srgbClr val="0000CC"/>
              </a:solidFill>
              <a:prstDash val="dash"/>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52" name="Line 40"/>
            <p:cNvSpPr>
              <a:spLocks noChangeShapeType="1"/>
            </p:cNvSpPr>
            <p:nvPr/>
          </p:nvSpPr>
          <p:spPr bwMode="auto">
            <a:xfrm flipV="1">
              <a:off x="3195903" y="2380134"/>
              <a:ext cx="1903810" cy="1489075"/>
            </a:xfrm>
            <a:prstGeom prst="line">
              <a:avLst/>
            </a:prstGeom>
            <a:noFill/>
            <a:ln w="19050">
              <a:solidFill>
                <a:srgbClr val="0000CC"/>
              </a:solidFill>
              <a:prstDash val="dash"/>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71" name="Text Box 59"/>
            <p:cNvSpPr txBox="1">
              <a:spLocks noChangeArrowheads="1"/>
            </p:cNvSpPr>
            <p:nvPr/>
          </p:nvSpPr>
          <p:spPr bwMode="auto">
            <a:xfrm>
              <a:off x="344488" y="3869209"/>
              <a:ext cx="9140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首部 </a:t>
              </a:r>
              <a:r>
                <a:rPr kumimoji="1" lang="en-US" altLang="zh-CN" sz="2000" b="1">
                  <a:solidFill>
                    <a:srgbClr val="0000CC"/>
                  </a:solidFill>
                  <a:latin typeface="+mn-lt"/>
                  <a:ea typeface="黑体" pitchFamily="2" charset="-122"/>
                </a:rPr>
                <a:t>1</a:t>
              </a:r>
            </a:p>
          </p:txBody>
        </p:sp>
        <p:sp>
          <p:nvSpPr>
            <p:cNvPr id="474174" name="Line 62"/>
            <p:cNvSpPr>
              <a:spLocks noChangeShapeType="1"/>
            </p:cNvSpPr>
            <p:nvPr/>
          </p:nvSpPr>
          <p:spPr bwMode="auto">
            <a:xfrm flipV="1">
              <a:off x="1384962" y="4332759"/>
              <a:ext cx="0" cy="36988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75" name="Text Box 63"/>
            <p:cNvSpPr txBox="1">
              <a:spLocks noChangeArrowheads="1"/>
            </p:cNvSpPr>
            <p:nvPr/>
          </p:nvSpPr>
          <p:spPr bwMode="auto">
            <a:xfrm>
              <a:off x="564621" y="4626446"/>
              <a:ext cx="9140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字节 </a:t>
              </a:r>
              <a:r>
                <a:rPr kumimoji="1" lang="en-US" altLang="zh-CN" sz="2000" b="1">
                  <a:solidFill>
                    <a:srgbClr val="0000CC"/>
                  </a:solidFill>
                  <a:latin typeface="+mn-lt"/>
                  <a:ea typeface="黑体" pitchFamily="2" charset="-122"/>
                </a:rPr>
                <a:t>0</a:t>
              </a:r>
            </a:p>
          </p:txBody>
        </p:sp>
      </p:grpSp>
      <p:grpSp>
        <p:nvGrpSpPr>
          <p:cNvPr id="5" name="组合 4"/>
          <p:cNvGrpSpPr/>
          <p:nvPr/>
        </p:nvGrpSpPr>
        <p:grpSpPr>
          <a:xfrm>
            <a:off x="3641329" y="2380134"/>
            <a:ext cx="3360473" cy="3526755"/>
            <a:chOff x="3641329" y="2380134"/>
            <a:chExt cx="3360473" cy="3526755"/>
          </a:xfrm>
        </p:grpSpPr>
        <p:sp>
          <p:nvSpPr>
            <p:cNvPr id="474129" name="Text Box 17"/>
            <p:cNvSpPr txBox="1">
              <a:spLocks noChangeArrowheads="1"/>
            </p:cNvSpPr>
            <p:nvPr/>
          </p:nvSpPr>
          <p:spPr bwMode="auto">
            <a:xfrm>
              <a:off x="3653972" y="5445224"/>
              <a:ext cx="29594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CC"/>
                  </a:solidFill>
                  <a:latin typeface="+mn-lt"/>
                  <a:ea typeface="黑体" pitchFamily="2" charset="-122"/>
                </a:rPr>
                <a:t>偏移 </a:t>
              </a:r>
              <a:r>
                <a:rPr kumimoji="1" lang="en-US" altLang="zh-CN" sz="2400" b="1">
                  <a:solidFill>
                    <a:srgbClr val="0000CC"/>
                  </a:solidFill>
                  <a:latin typeface="+mn-lt"/>
                  <a:ea typeface="黑体" pitchFamily="2" charset="-122"/>
                </a:rPr>
                <a:t>= 1400/8 = 175</a:t>
              </a:r>
            </a:p>
          </p:txBody>
        </p:sp>
        <p:sp>
          <p:nvSpPr>
            <p:cNvPr id="474134" name="Line 22"/>
            <p:cNvSpPr>
              <a:spLocks noChangeShapeType="1"/>
            </p:cNvSpPr>
            <p:nvPr/>
          </p:nvSpPr>
          <p:spPr bwMode="auto">
            <a:xfrm flipV="1">
              <a:off x="4717918" y="4332759"/>
              <a:ext cx="0" cy="36988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35" name="Line 23"/>
            <p:cNvSpPr>
              <a:spLocks noChangeShapeType="1"/>
            </p:cNvSpPr>
            <p:nvPr/>
          </p:nvSpPr>
          <p:spPr bwMode="auto">
            <a:xfrm flipV="1">
              <a:off x="6430831" y="4332759"/>
              <a:ext cx="0" cy="36988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38" name="Text Box 26"/>
            <p:cNvSpPr txBox="1">
              <a:spLocks noChangeArrowheads="1"/>
            </p:cNvSpPr>
            <p:nvPr/>
          </p:nvSpPr>
          <p:spPr bwMode="auto">
            <a:xfrm>
              <a:off x="4298289" y="4608984"/>
              <a:ext cx="7553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1400</a:t>
              </a:r>
            </a:p>
          </p:txBody>
        </p:sp>
        <p:sp>
          <p:nvSpPr>
            <p:cNvPr id="474141" name="Text Box 29"/>
            <p:cNvSpPr txBox="1">
              <a:spLocks noChangeArrowheads="1"/>
            </p:cNvSpPr>
            <p:nvPr/>
          </p:nvSpPr>
          <p:spPr bwMode="auto">
            <a:xfrm>
              <a:off x="6007763" y="4586759"/>
              <a:ext cx="7553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2799</a:t>
              </a:r>
            </a:p>
          </p:txBody>
        </p:sp>
        <p:sp>
          <p:nvSpPr>
            <p:cNvPr id="474153" name="Rectangle 41"/>
            <p:cNvSpPr>
              <a:spLocks noChangeArrowheads="1"/>
            </p:cNvSpPr>
            <p:nvPr/>
          </p:nvSpPr>
          <p:spPr bwMode="auto">
            <a:xfrm>
              <a:off x="4625050" y="3869208"/>
              <a:ext cx="1900369" cy="46355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74154" name="Line 42"/>
            <p:cNvSpPr>
              <a:spLocks noChangeShapeType="1"/>
            </p:cNvSpPr>
            <p:nvPr/>
          </p:nvSpPr>
          <p:spPr bwMode="auto">
            <a:xfrm>
              <a:off x="4814227" y="386920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55" name="Line 43"/>
            <p:cNvSpPr>
              <a:spLocks noChangeShapeType="1"/>
            </p:cNvSpPr>
            <p:nvPr/>
          </p:nvSpPr>
          <p:spPr bwMode="auto">
            <a:xfrm>
              <a:off x="5003404" y="386920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56" name="Line 44"/>
            <p:cNvSpPr>
              <a:spLocks noChangeShapeType="1"/>
            </p:cNvSpPr>
            <p:nvPr/>
          </p:nvSpPr>
          <p:spPr bwMode="auto">
            <a:xfrm>
              <a:off x="5194300" y="386920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57" name="Line 45"/>
            <p:cNvSpPr>
              <a:spLocks noChangeShapeType="1"/>
            </p:cNvSpPr>
            <p:nvPr/>
          </p:nvSpPr>
          <p:spPr bwMode="auto">
            <a:xfrm>
              <a:off x="6334522" y="386920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58" name="Rectangle 46"/>
            <p:cNvSpPr>
              <a:spLocks noChangeArrowheads="1"/>
            </p:cNvSpPr>
            <p:nvPr/>
          </p:nvSpPr>
          <p:spPr bwMode="auto">
            <a:xfrm>
              <a:off x="3674004" y="3869208"/>
              <a:ext cx="951045" cy="46355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74159" name="Line 47"/>
            <p:cNvSpPr>
              <a:spLocks noChangeShapeType="1"/>
            </p:cNvSpPr>
            <p:nvPr/>
          </p:nvSpPr>
          <p:spPr bwMode="auto">
            <a:xfrm flipV="1">
              <a:off x="4625049" y="2380134"/>
              <a:ext cx="474663" cy="1489075"/>
            </a:xfrm>
            <a:prstGeom prst="line">
              <a:avLst/>
            </a:prstGeom>
            <a:noFill/>
            <a:ln w="19050">
              <a:solidFill>
                <a:srgbClr val="0000CC"/>
              </a:solidFill>
              <a:prstDash val="dash"/>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60" name="Line 48"/>
            <p:cNvSpPr>
              <a:spLocks noChangeShapeType="1"/>
            </p:cNvSpPr>
            <p:nvPr/>
          </p:nvSpPr>
          <p:spPr bwMode="auto">
            <a:xfrm flipV="1">
              <a:off x="6525419" y="2380134"/>
              <a:ext cx="476383" cy="1489075"/>
            </a:xfrm>
            <a:prstGeom prst="line">
              <a:avLst/>
            </a:prstGeom>
            <a:noFill/>
            <a:ln w="19050">
              <a:solidFill>
                <a:srgbClr val="0000CC"/>
              </a:solidFill>
              <a:prstDash val="dash"/>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72" name="Text Box 60"/>
            <p:cNvSpPr txBox="1">
              <a:spLocks noChangeArrowheads="1"/>
            </p:cNvSpPr>
            <p:nvPr/>
          </p:nvSpPr>
          <p:spPr bwMode="auto">
            <a:xfrm>
              <a:off x="3641329" y="3869209"/>
              <a:ext cx="9140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首部 </a:t>
              </a:r>
              <a:r>
                <a:rPr kumimoji="1" lang="en-US" altLang="zh-CN" sz="2000" b="1">
                  <a:solidFill>
                    <a:srgbClr val="0000CC"/>
                  </a:solidFill>
                  <a:latin typeface="+mn-lt"/>
                  <a:ea typeface="黑体" pitchFamily="2" charset="-122"/>
                </a:rPr>
                <a:t>2</a:t>
              </a:r>
            </a:p>
          </p:txBody>
        </p:sp>
        <p:sp>
          <p:nvSpPr>
            <p:cNvPr id="474176" name="Text Box 64"/>
            <p:cNvSpPr txBox="1">
              <a:spLocks noChangeArrowheads="1"/>
            </p:cNvSpPr>
            <p:nvPr/>
          </p:nvSpPr>
          <p:spPr bwMode="auto">
            <a:xfrm>
              <a:off x="4254178" y="5067770"/>
              <a:ext cx="16786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C00000"/>
                  </a:solidFill>
                  <a:latin typeface="+mn-lt"/>
                  <a:ea typeface="黑体" pitchFamily="2" charset="-122"/>
                </a:rPr>
                <a:t>数据报片 </a:t>
              </a:r>
              <a:r>
                <a:rPr kumimoji="1" lang="en-US" altLang="zh-CN" sz="2400" b="1">
                  <a:solidFill>
                    <a:srgbClr val="C00000"/>
                  </a:solidFill>
                  <a:latin typeface="+mn-lt"/>
                  <a:ea typeface="黑体" pitchFamily="2" charset="-122"/>
                </a:rPr>
                <a:t>2</a:t>
              </a:r>
            </a:p>
          </p:txBody>
        </p:sp>
      </p:grpSp>
      <p:grpSp>
        <p:nvGrpSpPr>
          <p:cNvPr id="6" name="组合 5"/>
          <p:cNvGrpSpPr/>
          <p:nvPr/>
        </p:nvGrpSpPr>
        <p:grpSpPr>
          <a:xfrm>
            <a:off x="6897216" y="2380134"/>
            <a:ext cx="2959465" cy="3526755"/>
            <a:chOff x="6897216" y="2380134"/>
            <a:chExt cx="2959465" cy="3526755"/>
          </a:xfrm>
        </p:grpSpPr>
        <p:sp>
          <p:nvSpPr>
            <p:cNvPr id="474130" name="Text Box 18"/>
            <p:cNvSpPr txBox="1">
              <a:spLocks noChangeArrowheads="1"/>
            </p:cNvSpPr>
            <p:nvPr/>
          </p:nvSpPr>
          <p:spPr bwMode="auto">
            <a:xfrm>
              <a:off x="6897216" y="5445224"/>
              <a:ext cx="29594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mn-lt"/>
                  <a:ea typeface="黑体" pitchFamily="2" charset="-122"/>
                </a:rPr>
                <a:t>偏移 </a:t>
              </a:r>
              <a:r>
                <a:rPr kumimoji="1" lang="en-US" altLang="zh-CN" sz="2400" b="1" dirty="0">
                  <a:solidFill>
                    <a:srgbClr val="0000CC"/>
                  </a:solidFill>
                  <a:latin typeface="+mn-lt"/>
                  <a:ea typeface="黑体" pitchFamily="2" charset="-122"/>
                </a:rPr>
                <a:t>= 2800/8 = 350</a:t>
              </a:r>
            </a:p>
          </p:txBody>
        </p:sp>
        <p:sp>
          <p:nvSpPr>
            <p:cNvPr id="474136" name="Line 24"/>
            <p:cNvSpPr>
              <a:spLocks noChangeShapeType="1"/>
            </p:cNvSpPr>
            <p:nvPr/>
          </p:nvSpPr>
          <p:spPr bwMode="auto">
            <a:xfrm flipV="1">
              <a:off x="8126545" y="4332759"/>
              <a:ext cx="0" cy="36988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37" name="Line 25"/>
            <p:cNvSpPr>
              <a:spLocks noChangeShapeType="1"/>
            </p:cNvSpPr>
            <p:nvPr/>
          </p:nvSpPr>
          <p:spPr bwMode="auto">
            <a:xfrm flipV="1">
              <a:off x="9380273" y="4332759"/>
              <a:ext cx="0" cy="36988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39" name="Text Box 27"/>
            <p:cNvSpPr txBox="1">
              <a:spLocks noChangeArrowheads="1"/>
            </p:cNvSpPr>
            <p:nvPr/>
          </p:nvSpPr>
          <p:spPr bwMode="auto">
            <a:xfrm>
              <a:off x="7722394" y="4608984"/>
              <a:ext cx="7553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2800</a:t>
              </a:r>
            </a:p>
          </p:txBody>
        </p:sp>
        <p:sp>
          <p:nvSpPr>
            <p:cNvPr id="474140" name="Text Box 28"/>
            <p:cNvSpPr txBox="1">
              <a:spLocks noChangeArrowheads="1"/>
            </p:cNvSpPr>
            <p:nvPr/>
          </p:nvSpPr>
          <p:spPr bwMode="auto">
            <a:xfrm>
              <a:off x="8960644" y="4586759"/>
              <a:ext cx="7553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3799</a:t>
              </a:r>
            </a:p>
          </p:txBody>
        </p:sp>
        <p:sp>
          <p:nvSpPr>
            <p:cNvPr id="474161" name="Rectangle 49"/>
            <p:cNvSpPr>
              <a:spLocks noChangeArrowheads="1"/>
            </p:cNvSpPr>
            <p:nvPr/>
          </p:nvSpPr>
          <p:spPr bwMode="auto">
            <a:xfrm>
              <a:off x="8047436" y="3869208"/>
              <a:ext cx="1427427" cy="46355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74162" name="Line 50"/>
            <p:cNvSpPr>
              <a:spLocks noChangeShapeType="1"/>
            </p:cNvSpPr>
            <p:nvPr/>
          </p:nvSpPr>
          <p:spPr bwMode="auto">
            <a:xfrm>
              <a:off x="8238331" y="386920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63" name="Line 51"/>
            <p:cNvSpPr>
              <a:spLocks noChangeShapeType="1"/>
            </p:cNvSpPr>
            <p:nvPr/>
          </p:nvSpPr>
          <p:spPr bwMode="auto">
            <a:xfrm>
              <a:off x="8429229" y="386920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64" name="Line 52"/>
            <p:cNvSpPr>
              <a:spLocks noChangeShapeType="1"/>
            </p:cNvSpPr>
            <p:nvPr/>
          </p:nvSpPr>
          <p:spPr bwMode="auto">
            <a:xfrm>
              <a:off x="8620125" y="386920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65" name="Line 53"/>
            <p:cNvSpPr>
              <a:spLocks noChangeShapeType="1"/>
            </p:cNvSpPr>
            <p:nvPr/>
          </p:nvSpPr>
          <p:spPr bwMode="auto">
            <a:xfrm>
              <a:off x="9285685" y="3869208"/>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66" name="Rectangle 54"/>
            <p:cNvSpPr>
              <a:spLocks noChangeArrowheads="1"/>
            </p:cNvSpPr>
            <p:nvPr/>
          </p:nvSpPr>
          <p:spPr bwMode="auto">
            <a:xfrm>
              <a:off x="7098110" y="3869208"/>
              <a:ext cx="949325" cy="46355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74167" name="Line 55"/>
            <p:cNvSpPr>
              <a:spLocks noChangeShapeType="1"/>
            </p:cNvSpPr>
            <p:nvPr/>
          </p:nvSpPr>
          <p:spPr bwMode="auto">
            <a:xfrm flipH="1" flipV="1">
              <a:off x="8429229" y="2380134"/>
              <a:ext cx="1045633" cy="1489075"/>
            </a:xfrm>
            <a:prstGeom prst="line">
              <a:avLst/>
            </a:prstGeom>
            <a:noFill/>
            <a:ln w="19050">
              <a:solidFill>
                <a:srgbClr val="0000CC"/>
              </a:solidFill>
              <a:prstDash val="dash"/>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68" name="Line 56"/>
            <p:cNvSpPr>
              <a:spLocks noChangeShapeType="1"/>
            </p:cNvSpPr>
            <p:nvPr/>
          </p:nvSpPr>
          <p:spPr bwMode="auto">
            <a:xfrm flipH="1" flipV="1">
              <a:off x="7001802" y="2380134"/>
              <a:ext cx="1045633" cy="1489075"/>
            </a:xfrm>
            <a:prstGeom prst="line">
              <a:avLst/>
            </a:prstGeom>
            <a:noFill/>
            <a:ln w="19050">
              <a:solidFill>
                <a:srgbClr val="0000CC"/>
              </a:solidFill>
              <a:prstDash val="dash"/>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73" name="Text Box 61"/>
            <p:cNvSpPr txBox="1">
              <a:spLocks noChangeArrowheads="1"/>
            </p:cNvSpPr>
            <p:nvPr/>
          </p:nvSpPr>
          <p:spPr bwMode="auto">
            <a:xfrm>
              <a:off x="7065433" y="3869209"/>
              <a:ext cx="9140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首部 </a:t>
              </a:r>
              <a:r>
                <a:rPr kumimoji="1" lang="en-US" altLang="zh-CN" sz="2000" b="1">
                  <a:solidFill>
                    <a:srgbClr val="0000CC"/>
                  </a:solidFill>
                  <a:latin typeface="+mn-lt"/>
                  <a:ea typeface="黑体" pitchFamily="2" charset="-122"/>
                </a:rPr>
                <a:t>3</a:t>
              </a:r>
            </a:p>
          </p:txBody>
        </p:sp>
        <p:sp>
          <p:nvSpPr>
            <p:cNvPr id="474177" name="Text Box 65"/>
            <p:cNvSpPr txBox="1">
              <a:spLocks noChangeArrowheads="1"/>
            </p:cNvSpPr>
            <p:nvPr/>
          </p:nvSpPr>
          <p:spPr bwMode="auto">
            <a:xfrm>
              <a:off x="7450799" y="5067770"/>
              <a:ext cx="16786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C00000"/>
                  </a:solidFill>
                  <a:latin typeface="+mn-lt"/>
                  <a:ea typeface="黑体" pitchFamily="2" charset="-122"/>
                </a:rPr>
                <a:t>数据报片 </a:t>
              </a:r>
              <a:r>
                <a:rPr kumimoji="1" lang="en-US" altLang="zh-CN" sz="2400" b="1" dirty="0">
                  <a:solidFill>
                    <a:srgbClr val="C00000"/>
                  </a:solidFill>
                  <a:latin typeface="+mn-lt"/>
                  <a:ea typeface="黑体" pitchFamily="2" charset="-122"/>
                </a:rPr>
                <a:t>3</a:t>
              </a:r>
            </a:p>
          </p:txBody>
        </p:sp>
      </p:grpSp>
      <p:grpSp>
        <p:nvGrpSpPr>
          <p:cNvPr id="3" name="组合 2"/>
          <p:cNvGrpSpPr/>
          <p:nvPr/>
        </p:nvGrpSpPr>
        <p:grpSpPr>
          <a:xfrm>
            <a:off x="855338" y="1484784"/>
            <a:ext cx="8946531" cy="1589147"/>
            <a:chOff x="855338" y="1484784"/>
            <a:chExt cx="8946531" cy="1589147"/>
          </a:xfrm>
        </p:grpSpPr>
        <p:sp>
          <p:nvSpPr>
            <p:cNvPr id="474116" name="Rectangle 4"/>
            <p:cNvSpPr>
              <a:spLocks noChangeArrowheads="1"/>
            </p:cNvSpPr>
            <p:nvPr/>
          </p:nvSpPr>
          <p:spPr bwMode="auto">
            <a:xfrm>
              <a:off x="3195902" y="1916583"/>
              <a:ext cx="5233327" cy="46355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74118" name="Rectangle 6"/>
            <p:cNvSpPr>
              <a:spLocks noChangeArrowheads="1"/>
            </p:cNvSpPr>
            <p:nvPr/>
          </p:nvSpPr>
          <p:spPr bwMode="auto">
            <a:xfrm>
              <a:off x="2244858" y="1916583"/>
              <a:ext cx="6184371" cy="46355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28398" dir="1593903"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74119" name="Line 7"/>
            <p:cNvSpPr>
              <a:spLocks noChangeShapeType="1"/>
            </p:cNvSpPr>
            <p:nvPr/>
          </p:nvSpPr>
          <p:spPr bwMode="auto">
            <a:xfrm>
              <a:off x="3386800" y="191658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20" name="Line 8"/>
            <p:cNvSpPr>
              <a:spLocks noChangeShapeType="1"/>
            </p:cNvSpPr>
            <p:nvPr/>
          </p:nvSpPr>
          <p:spPr bwMode="auto">
            <a:xfrm>
              <a:off x="3577696" y="191658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21" name="Line 9"/>
            <p:cNvSpPr>
              <a:spLocks noChangeShapeType="1"/>
            </p:cNvSpPr>
            <p:nvPr/>
          </p:nvSpPr>
          <p:spPr bwMode="auto">
            <a:xfrm>
              <a:off x="3768593" y="191658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22" name="Line 10"/>
            <p:cNvSpPr>
              <a:spLocks noChangeShapeType="1"/>
            </p:cNvSpPr>
            <p:nvPr/>
          </p:nvSpPr>
          <p:spPr bwMode="auto">
            <a:xfrm>
              <a:off x="8238331" y="191658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28" name="Text Box 16"/>
            <p:cNvSpPr txBox="1">
              <a:spLocks noChangeArrowheads="1"/>
            </p:cNvSpPr>
            <p:nvPr/>
          </p:nvSpPr>
          <p:spPr bwMode="auto">
            <a:xfrm>
              <a:off x="8455025" y="1810221"/>
              <a:ext cx="134684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偏移 </a:t>
              </a:r>
              <a:r>
                <a:rPr kumimoji="1" lang="en-US" altLang="zh-CN" sz="2000" b="1">
                  <a:solidFill>
                    <a:srgbClr val="0000CC"/>
                  </a:solidFill>
                  <a:latin typeface="+mn-lt"/>
                  <a:ea typeface="黑体" pitchFamily="2" charset="-122"/>
                </a:rPr>
                <a:t>= 0/8</a:t>
              </a:r>
            </a:p>
            <a:p>
              <a:pPr>
                <a:lnSpc>
                  <a:spcPct val="90000"/>
                </a:lnSpc>
              </a:pPr>
              <a:r>
                <a:rPr kumimoji="1" lang="en-US" altLang="zh-CN" sz="2000" b="1">
                  <a:solidFill>
                    <a:srgbClr val="0000CC"/>
                  </a:solidFill>
                  <a:latin typeface="+mn-lt"/>
                  <a:ea typeface="黑体" pitchFamily="2" charset="-122"/>
                </a:rPr>
                <a:t>= 0</a:t>
              </a:r>
            </a:p>
          </p:txBody>
        </p:sp>
        <p:sp>
          <p:nvSpPr>
            <p:cNvPr id="474131" name="Line 19"/>
            <p:cNvSpPr>
              <a:spLocks noChangeShapeType="1"/>
            </p:cNvSpPr>
            <p:nvPr/>
          </p:nvSpPr>
          <p:spPr bwMode="auto">
            <a:xfrm flipV="1">
              <a:off x="8317442" y="2380134"/>
              <a:ext cx="0" cy="36988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32" name="Line 20"/>
            <p:cNvSpPr>
              <a:spLocks noChangeShapeType="1"/>
            </p:cNvSpPr>
            <p:nvPr/>
          </p:nvSpPr>
          <p:spPr bwMode="auto">
            <a:xfrm flipV="1">
              <a:off x="3287052" y="2380134"/>
              <a:ext cx="0" cy="36988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43" name="Text Box 31"/>
            <p:cNvSpPr txBox="1">
              <a:spLocks noChangeArrowheads="1"/>
            </p:cNvSpPr>
            <p:nvPr/>
          </p:nvSpPr>
          <p:spPr bwMode="auto">
            <a:xfrm>
              <a:off x="7913291" y="2634134"/>
              <a:ext cx="755335"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3799</a:t>
              </a:r>
            </a:p>
          </p:txBody>
        </p:sp>
        <p:sp>
          <p:nvSpPr>
            <p:cNvPr id="474144" name="Text Box 32"/>
            <p:cNvSpPr txBox="1">
              <a:spLocks noChangeArrowheads="1"/>
            </p:cNvSpPr>
            <p:nvPr/>
          </p:nvSpPr>
          <p:spPr bwMode="auto">
            <a:xfrm>
              <a:off x="855338" y="1737196"/>
              <a:ext cx="121058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C00000"/>
                  </a:solidFill>
                  <a:latin typeface="+mn-lt"/>
                  <a:ea typeface="黑体" pitchFamily="2" charset="-122"/>
                </a:rPr>
                <a:t>需分片的</a:t>
              </a:r>
            </a:p>
            <a:p>
              <a:pPr algn="ctr"/>
              <a:r>
                <a:rPr kumimoji="1" lang="zh-CN" altLang="en-US" sz="2000" b="1" dirty="0">
                  <a:solidFill>
                    <a:srgbClr val="C00000"/>
                  </a:solidFill>
                  <a:latin typeface="+mn-lt"/>
                  <a:ea typeface="黑体" pitchFamily="2" charset="-122"/>
                </a:rPr>
                <a:t>数据报</a:t>
              </a:r>
            </a:p>
          </p:txBody>
        </p:sp>
        <p:sp>
          <p:nvSpPr>
            <p:cNvPr id="474188" name="Rectangle 76"/>
            <p:cNvSpPr>
              <a:spLocks noChangeArrowheads="1"/>
            </p:cNvSpPr>
            <p:nvPr/>
          </p:nvSpPr>
          <p:spPr bwMode="auto">
            <a:xfrm>
              <a:off x="2267215" y="1934045"/>
              <a:ext cx="925248" cy="414835"/>
            </a:xfrm>
            <a:prstGeom prst="rect">
              <a:avLst/>
            </a:prstGeom>
            <a:solidFill>
              <a:srgbClr val="FF99FF"/>
            </a:solidFill>
            <a:ln>
              <a:noFill/>
            </a:ln>
            <a:effectLst/>
          </p:spPr>
          <p:txBody>
            <a:bodyPr wrap="none" anchor="ctr"/>
            <a:lstStyle/>
            <a:p>
              <a:endParaRPr lang="zh-CN" altLang="en-US" b="1">
                <a:solidFill>
                  <a:srgbClr val="0000CC"/>
                </a:solidFill>
                <a:latin typeface="+mn-lt"/>
                <a:ea typeface="黑体" pitchFamily="2" charset="-122"/>
              </a:endParaRPr>
            </a:p>
          </p:txBody>
        </p:sp>
        <p:sp>
          <p:nvSpPr>
            <p:cNvPr id="474146" name="Text Box 34"/>
            <p:cNvSpPr txBox="1">
              <a:spLocks noChangeArrowheads="1"/>
            </p:cNvSpPr>
            <p:nvPr/>
          </p:nvSpPr>
          <p:spPr bwMode="auto">
            <a:xfrm>
              <a:off x="2344606" y="1948770"/>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CC"/>
                  </a:solidFill>
                  <a:latin typeface="+mn-lt"/>
                  <a:ea typeface="黑体" pitchFamily="2" charset="-122"/>
                </a:rPr>
                <a:t>首部</a:t>
              </a:r>
            </a:p>
          </p:txBody>
        </p:sp>
        <p:sp>
          <p:nvSpPr>
            <p:cNvPr id="474147" name="Line 35"/>
            <p:cNvSpPr>
              <a:spLocks noChangeShapeType="1"/>
            </p:cNvSpPr>
            <p:nvPr/>
          </p:nvSpPr>
          <p:spPr bwMode="auto">
            <a:xfrm>
              <a:off x="3195902" y="191658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49" name="Line 37"/>
            <p:cNvSpPr>
              <a:spLocks noChangeShapeType="1"/>
            </p:cNvSpPr>
            <p:nvPr/>
          </p:nvSpPr>
          <p:spPr bwMode="auto">
            <a:xfrm>
              <a:off x="5099712" y="191658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50" name="Line 38"/>
            <p:cNvSpPr>
              <a:spLocks noChangeShapeType="1"/>
            </p:cNvSpPr>
            <p:nvPr/>
          </p:nvSpPr>
          <p:spPr bwMode="auto">
            <a:xfrm>
              <a:off x="7001802" y="191658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69" name="Line 57"/>
            <p:cNvSpPr>
              <a:spLocks noChangeShapeType="1"/>
            </p:cNvSpPr>
            <p:nvPr/>
          </p:nvSpPr>
          <p:spPr bwMode="auto">
            <a:xfrm>
              <a:off x="3178705" y="1691158"/>
              <a:ext cx="523160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70" name="Text Box 58"/>
            <p:cNvSpPr txBox="1">
              <a:spLocks noChangeArrowheads="1"/>
            </p:cNvSpPr>
            <p:nvPr/>
          </p:nvSpPr>
          <p:spPr bwMode="auto">
            <a:xfrm>
              <a:off x="4150387" y="1484784"/>
              <a:ext cx="2770310"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数据部分共 </a:t>
              </a:r>
              <a:r>
                <a:rPr kumimoji="1" lang="en-US" altLang="zh-CN" sz="2000" b="1">
                  <a:solidFill>
                    <a:srgbClr val="0000CC"/>
                  </a:solidFill>
                  <a:latin typeface="+mn-lt"/>
                  <a:ea typeface="黑体" pitchFamily="2" charset="-122"/>
                </a:rPr>
                <a:t>3800 </a:t>
              </a:r>
              <a:r>
                <a:rPr kumimoji="1" lang="zh-CN" altLang="en-US" sz="2000" b="1">
                  <a:solidFill>
                    <a:srgbClr val="0000CC"/>
                  </a:solidFill>
                  <a:latin typeface="+mn-lt"/>
                  <a:ea typeface="黑体" pitchFamily="2" charset="-122"/>
                </a:rPr>
                <a:t>字节</a:t>
              </a:r>
            </a:p>
          </p:txBody>
        </p:sp>
        <p:sp>
          <p:nvSpPr>
            <p:cNvPr id="474178" name="Line 66"/>
            <p:cNvSpPr>
              <a:spLocks noChangeShapeType="1"/>
            </p:cNvSpPr>
            <p:nvPr/>
          </p:nvSpPr>
          <p:spPr bwMode="auto">
            <a:xfrm flipV="1">
              <a:off x="5177102" y="2380134"/>
              <a:ext cx="0" cy="36988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79" name="Text Box 67"/>
            <p:cNvSpPr txBox="1">
              <a:spLocks noChangeArrowheads="1"/>
            </p:cNvSpPr>
            <p:nvPr/>
          </p:nvSpPr>
          <p:spPr bwMode="auto">
            <a:xfrm>
              <a:off x="4757474" y="2653184"/>
              <a:ext cx="755335"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1400</a:t>
              </a:r>
            </a:p>
          </p:txBody>
        </p:sp>
        <p:sp>
          <p:nvSpPr>
            <p:cNvPr id="474180" name="Line 68"/>
            <p:cNvSpPr>
              <a:spLocks noChangeShapeType="1"/>
            </p:cNvSpPr>
            <p:nvPr/>
          </p:nvSpPr>
          <p:spPr bwMode="auto">
            <a:xfrm flipV="1">
              <a:off x="7080912" y="2380134"/>
              <a:ext cx="0" cy="36988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81" name="Text Box 69"/>
            <p:cNvSpPr txBox="1">
              <a:spLocks noChangeArrowheads="1"/>
            </p:cNvSpPr>
            <p:nvPr/>
          </p:nvSpPr>
          <p:spPr bwMode="auto">
            <a:xfrm>
              <a:off x="6676761" y="2653184"/>
              <a:ext cx="755335"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2800</a:t>
              </a:r>
            </a:p>
          </p:txBody>
        </p:sp>
        <p:sp>
          <p:nvSpPr>
            <p:cNvPr id="474182" name="Line 70"/>
            <p:cNvSpPr>
              <a:spLocks noChangeShapeType="1"/>
            </p:cNvSpPr>
            <p:nvPr/>
          </p:nvSpPr>
          <p:spPr bwMode="auto">
            <a:xfrm>
              <a:off x="7190979" y="191658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83" name="Line 71"/>
            <p:cNvSpPr>
              <a:spLocks noChangeShapeType="1"/>
            </p:cNvSpPr>
            <p:nvPr/>
          </p:nvSpPr>
          <p:spPr bwMode="auto">
            <a:xfrm>
              <a:off x="5290608" y="1916583"/>
              <a:ext cx="0" cy="463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74184" name="Text Box 72"/>
            <p:cNvSpPr txBox="1">
              <a:spLocks noChangeArrowheads="1"/>
            </p:cNvSpPr>
            <p:nvPr/>
          </p:nvSpPr>
          <p:spPr bwMode="auto">
            <a:xfrm>
              <a:off x="2468431" y="2673821"/>
              <a:ext cx="914033"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字节 </a:t>
              </a:r>
              <a:r>
                <a:rPr kumimoji="1" lang="en-US" altLang="zh-CN" sz="2000" b="1">
                  <a:solidFill>
                    <a:srgbClr val="0000CC"/>
                  </a:solidFill>
                  <a:latin typeface="+mn-lt"/>
                  <a:ea typeface="黑体" pitchFamily="2" charset="-122"/>
                </a:rPr>
                <a:t>0</a:t>
              </a:r>
            </a:p>
          </p:txBody>
        </p:sp>
      </p:grpSp>
      <p:sp>
        <p:nvSpPr>
          <p:cNvPr id="474186" name="Rectangle 74"/>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en-US" altLang="zh-CN" dirty="0"/>
              <a:t>【</a:t>
            </a:r>
            <a:r>
              <a:rPr lang="zh-CN" altLang="en-US" dirty="0"/>
              <a:t>例</a:t>
            </a:r>
            <a:r>
              <a:rPr lang="en-US" altLang="zh-CN" dirty="0"/>
              <a:t>4-1】 IP </a:t>
            </a:r>
            <a:r>
              <a:rPr lang="zh-CN" altLang="en-US" dirty="0"/>
              <a:t>数据报分片</a:t>
            </a:r>
          </a:p>
        </p:txBody>
      </p:sp>
    </p:spTree>
    <p:extLst>
      <p:ext uri="{BB962C8B-B14F-4D97-AF65-F5344CB8AC3E}">
        <p14:creationId xmlns:p14="http://schemas.microsoft.com/office/powerpoint/2010/main" val="1618342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【例</a:t>
            </a:r>
            <a:r>
              <a:rPr lang="en-US" altLang="zh-CN" dirty="0"/>
              <a:t>4-1</a:t>
            </a:r>
            <a:r>
              <a:rPr lang="zh-CN" altLang="zh-CN" dirty="0"/>
              <a:t>】</a:t>
            </a:r>
            <a:r>
              <a:rPr lang="en-US" altLang="zh-CN" dirty="0"/>
              <a:t> IP </a:t>
            </a:r>
            <a:r>
              <a:rPr lang="zh-CN" altLang="en-US" dirty="0"/>
              <a:t>数据报分片</a:t>
            </a:r>
          </a:p>
        </p:txBody>
      </p:sp>
      <p:graphicFrame>
        <p:nvGraphicFramePr>
          <p:cNvPr id="3" name="表格 2"/>
          <p:cNvGraphicFramePr>
            <a:graphicFrameLocks noGrp="1"/>
          </p:cNvGraphicFramePr>
          <p:nvPr/>
        </p:nvGraphicFramePr>
        <p:xfrm>
          <a:off x="488504" y="1988840"/>
          <a:ext cx="9217022" cy="3168350"/>
        </p:xfrm>
        <a:graphic>
          <a:graphicData uri="http://schemas.openxmlformats.org/drawingml/2006/table">
            <a:tbl>
              <a:tblPr>
                <a:tableStyleId>{5C22544A-7EE6-4342-B048-85BDC9FD1C3A}</a:tableStyleId>
              </a:tblPr>
              <a:tblGrid>
                <a:gridCol w="1944072">
                  <a:extLst>
                    <a:ext uri="{9D8B030D-6E8A-4147-A177-3AD203B41FA5}">
                      <a16:colId xmlns:a16="http://schemas.microsoft.com/office/drawing/2014/main" val="20000"/>
                    </a:ext>
                  </a:extLst>
                </a:gridCol>
                <a:gridCol w="1454590">
                  <a:extLst>
                    <a:ext uri="{9D8B030D-6E8A-4147-A177-3AD203B41FA5}">
                      <a16:colId xmlns:a16="http://schemas.microsoft.com/office/drawing/2014/main" val="20001"/>
                    </a:ext>
                  </a:extLst>
                </a:gridCol>
                <a:gridCol w="1454590">
                  <a:extLst>
                    <a:ext uri="{9D8B030D-6E8A-4147-A177-3AD203B41FA5}">
                      <a16:colId xmlns:a16="http://schemas.microsoft.com/office/drawing/2014/main" val="20002"/>
                    </a:ext>
                  </a:extLst>
                </a:gridCol>
                <a:gridCol w="1454590">
                  <a:extLst>
                    <a:ext uri="{9D8B030D-6E8A-4147-A177-3AD203B41FA5}">
                      <a16:colId xmlns:a16="http://schemas.microsoft.com/office/drawing/2014/main" val="20003"/>
                    </a:ext>
                  </a:extLst>
                </a:gridCol>
                <a:gridCol w="1454590">
                  <a:extLst>
                    <a:ext uri="{9D8B030D-6E8A-4147-A177-3AD203B41FA5}">
                      <a16:colId xmlns:a16="http://schemas.microsoft.com/office/drawing/2014/main" val="20004"/>
                    </a:ext>
                  </a:extLst>
                </a:gridCol>
                <a:gridCol w="1454590">
                  <a:extLst>
                    <a:ext uri="{9D8B030D-6E8A-4147-A177-3AD203B41FA5}">
                      <a16:colId xmlns:a16="http://schemas.microsoft.com/office/drawing/2014/main" val="20005"/>
                    </a:ext>
                  </a:extLst>
                </a:gridCol>
              </a:tblGrid>
              <a:tr h="633670">
                <a:tc>
                  <a:txBody>
                    <a:bodyPr/>
                    <a:lstStyle/>
                    <a:p>
                      <a:pPr algn="just">
                        <a:lnSpc>
                          <a:spcPct val="100000"/>
                        </a:lnSpc>
                        <a:spcAft>
                          <a:spcPts val="0"/>
                        </a:spcAft>
                      </a:pPr>
                      <a:r>
                        <a:rPr lang="en-US" sz="2800" b="1" dirty="0">
                          <a:solidFill>
                            <a:schemeClr val="tx1"/>
                          </a:solidFill>
                          <a:effectLst/>
                          <a:latin typeface="+mn-lt"/>
                          <a:ea typeface="黑体" pitchFamily="2" charset="-122"/>
                        </a:rPr>
                        <a:t> </a:t>
                      </a:r>
                      <a:endParaRPr lang="zh-CN" sz="2800" b="1" dirty="0">
                        <a:solidFill>
                          <a:schemeClr val="tx1"/>
                        </a:solidFill>
                        <a:effectLst/>
                        <a:latin typeface="+mn-lt"/>
                        <a:ea typeface="黑体"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800" b="1" dirty="0">
                          <a:solidFill>
                            <a:schemeClr val="tx1"/>
                          </a:solidFill>
                          <a:effectLst/>
                          <a:latin typeface="+mn-lt"/>
                          <a:ea typeface="黑体" pitchFamily="2" charset="-122"/>
                        </a:rPr>
                        <a:t>总长度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800" b="1" dirty="0">
                          <a:solidFill>
                            <a:schemeClr val="tx1"/>
                          </a:solidFill>
                          <a:effectLst/>
                          <a:latin typeface="+mn-lt"/>
                          <a:ea typeface="黑体" pitchFamily="2" charset="-122"/>
                        </a:rPr>
                        <a:t>标识</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en-US" sz="2800" b="1" dirty="0">
                          <a:solidFill>
                            <a:schemeClr val="tx1"/>
                          </a:solidFill>
                          <a:effectLst/>
                          <a:latin typeface="+mn-lt"/>
                          <a:ea typeface="黑体" pitchFamily="2" charset="-122"/>
                        </a:rPr>
                        <a:t>MF</a:t>
                      </a:r>
                      <a:endParaRPr lang="zh-CN" sz="2800" b="1" dirty="0">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en-US" sz="2800" b="1" dirty="0">
                          <a:solidFill>
                            <a:schemeClr val="tx1"/>
                          </a:solidFill>
                          <a:effectLst/>
                          <a:latin typeface="+mn-lt"/>
                          <a:ea typeface="黑体" pitchFamily="2" charset="-122"/>
                        </a:rPr>
                        <a:t>DF</a:t>
                      </a:r>
                      <a:endParaRPr lang="zh-CN" sz="2800" b="1" dirty="0">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800" b="1" dirty="0">
                          <a:solidFill>
                            <a:schemeClr val="tx1"/>
                          </a:solidFill>
                          <a:effectLst/>
                          <a:latin typeface="+mn-lt"/>
                          <a:ea typeface="黑体" pitchFamily="2" charset="-122"/>
                        </a:rPr>
                        <a:t>片偏移</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633670">
                <a:tc>
                  <a:txBody>
                    <a:bodyPr/>
                    <a:lstStyle/>
                    <a:p>
                      <a:pPr algn="just">
                        <a:lnSpc>
                          <a:spcPct val="100000"/>
                        </a:lnSpc>
                        <a:spcAft>
                          <a:spcPts val="0"/>
                        </a:spcAft>
                      </a:pPr>
                      <a:r>
                        <a:rPr lang="zh-CN" sz="2800" b="1" dirty="0">
                          <a:solidFill>
                            <a:srgbClr val="C00000"/>
                          </a:solidFill>
                          <a:effectLst/>
                          <a:latin typeface="+mn-lt"/>
                          <a:ea typeface="黑体" pitchFamily="2" charset="-122"/>
                        </a:rPr>
                        <a:t>原始数据报</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2637155" algn="ctr"/>
                          <a:tab pos="5274310" algn="r"/>
                          <a:tab pos="266700" algn="l"/>
                        </a:tabLst>
                      </a:pPr>
                      <a:r>
                        <a:rPr lang="en-US" sz="2800" b="1">
                          <a:solidFill>
                            <a:schemeClr val="tx1"/>
                          </a:solidFill>
                          <a:effectLst/>
                          <a:latin typeface="+mn-lt"/>
                          <a:ea typeface="黑体" pitchFamily="2" charset="-122"/>
                        </a:rPr>
                        <a:t>3820</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12345</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0</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0</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0</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33670">
                <a:tc>
                  <a:txBody>
                    <a:bodyPr/>
                    <a:lstStyle/>
                    <a:p>
                      <a:pPr algn="just">
                        <a:lnSpc>
                          <a:spcPct val="100000"/>
                        </a:lnSpc>
                        <a:spcAft>
                          <a:spcPts val="0"/>
                        </a:spcAft>
                      </a:pPr>
                      <a:r>
                        <a:rPr lang="zh-CN" sz="2800" b="1">
                          <a:solidFill>
                            <a:srgbClr val="C00000"/>
                          </a:solidFill>
                          <a:effectLst/>
                          <a:latin typeface="+mn-lt"/>
                          <a:ea typeface="黑体" pitchFamily="2" charset="-122"/>
                        </a:rPr>
                        <a:t>数据报片</a:t>
                      </a:r>
                      <a:r>
                        <a:rPr lang="en-US" sz="2800" b="1">
                          <a:solidFill>
                            <a:srgbClr val="C00000"/>
                          </a:solidFill>
                          <a:effectLst/>
                          <a:latin typeface="+mn-lt"/>
                          <a:ea typeface="黑体" pitchFamily="2" charset="-122"/>
                        </a:rPr>
                        <a:t>1</a:t>
                      </a:r>
                      <a:endParaRPr lang="zh-CN" sz="2800" b="1">
                        <a:solidFill>
                          <a:srgbClr val="C00000"/>
                        </a:solidFill>
                        <a:effectLst/>
                        <a:latin typeface="+mn-lt"/>
                        <a:ea typeface="黑体"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1420</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12345</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dirty="0">
                          <a:solidFill>
                            <a:schemeClr val="tx1"/>
                          </a:solidFill>
                          <a:effectLst/>
                          <a:latin typeface="+mn-lt"/>
                          <a:ea typeface="黑体" pitchFamily="2" charset="-122"/>
                        </a:rPr>
                        <a:t>1</a:t>
                      </a:r>
                      <a:endParaRPr lang="zh-CN" sz="2800" b="1" dirty="0">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0</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0</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33670">
                <a:tc>
                  <a:txBody>
                    <a:bodyPr/>
                    <a:lstStyle/>
                    <a:p>
                      <a:pPr algn="just">
                        <a:lnSpc>
                          <a:spcPct val="100000"/>
                        </a:lnSpc>
                        <a:spcAft>
                          <a:spcPts val="0"/>
                        </a:spcAft>
                      </a:pPr>
                      <a:r>
                        <a:rPr lang="zh-CN" sz="2800" b="1" dirty="0">
                          <a:solidFill>
                            <a:srgbClr val="C00000"/>
                          </a:solidFill>
                          <a:effectLst/>
                          <a:latin typeface="+mn-lt"/>
                          <a:ea typeface="黑体" pitchFamily="2" charset="-122"/>
                        </a:rPr>
                        <a:t>数据报片</a:t>
                      </a:r>
                      <a:r>
                        <a:rPr lang="en-US" sz="2800" b="1" dirty="0">
                          <a:solidFill>
                            <a:srgbClr val="C00000"/>
                          </a:solidFill>
                          <a:effectLst/>
                          <a:latin typeface="+mn-lt"/>
                          <a:ea typeface="黑体" pitchFamily="2" charset="-122"/>
                        </a:rPr>
                        <a:t>2</a:t>
                      </a:r>
                      <a:endParaRPr lang="zh-CN" sz="2800" b="1" dirty="0">
                        <a:solidFill>
                          <a:srgbClr val="C00000"/>
                        </a:solidFill>
                        <a:effectLst/>
                        <a:latin typeface="+mn-lt"/>
                        <a:ea typeface="黑体"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1420</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12345</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1</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0</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175</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33670">
                <a:tc>
                  <a:txBody>
                    <a:bodyPr/>
                    <a:lstStyle/>
                    <a:p>
                      <a:pPr algn="just">
                        <a:lnSpc>
                          <a:spcPct val="100000"/>
                        </a:lnSpc>
                        <a:spcAft>
                          <a:spcPts val="0"/>
                        </a:spcAft>
                      </a:pPr>
                      <a:r>
                        <a:rPr lang="zh-CN" sz="2800" b="1" dirty="0">
                          <a:solidFill>
                            <a:srgbClr val="C00000"/>
                          </a:solidFill>
                          <a:effectLst/>
                          <a:latin typeface="+mn-lt"/>
                          <a:ea typeface="黑体" pitchFamily="2" charset="-122"/>
                        </a:rPr>
                        <a:t>数据报片</a:t>
                      </a:r>
                      <a:r>
                        <a:rPr lang="en-US" sz="2800" b="1" dirty="0">
                          <a:solidFill>
                            <a:srgbClr val="C00000"/>
                          </a:solidFill>
                          <a:effectLst/>
                          <a:latin typeface="+mn-lt"/>
                          <a:ea typeface="黑体" pitchFamily="2" charset="-122"/>
                        </a:rPr>
                        <a:t>3</a:t>
                      </a:r>
                      <a:endParaRPr lang="zh-CN" sz="2800" b="1" dirty="0">
                        <a:solidFill>
                          <a:srgbClr val="C00000"/>
                        </a:solidFill>
                        <a:effectLst/>
                        <a:latin typeface="+mn-lt"/>
                        <a:ea typeface="黑体"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kern="1200" dirty="0">
                          <a:solidFill>
                            <a:schemeClr val="tx1"/>
                          </a:solidFill>
                          <a:effectLst/>
                          <a:latin typeface="+mn-lt"/>
                          <a:ea typeface="黑体" pitchFamily="2" charset="-122"/>
                          <a:cs typeface="+mn-cs"/>
                        </a:rPr>
                        <a:t>1020</a:t>
                      </a:r>
                      <a:endParaRPr lang="zh-CN" sz="2800" b="1" kern="1200" dirty="0">
                        <a:solidFill>
                          <a:schemeClr val="tx1"/>
                        </a:solidFill>
                        <a:effectLst/>
                        <a:latin typeface="+mn-lt"/>
                        <a:ea typeface="黑体"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dirty="0">
                          <a:solidFill>
                            <a:schemeClr val="tx1"/>
                          </a:solidFill>
                          <a:effectLst/>
                          <a:latin typeface="+mn-lt"/>
                          <a:ea typeface="黑体" pitchFamily="2" charset="-122"/>
                        </a:rPr>
                        <a:t>12345</a:t>
                      </a:r>
                      <a:endParaRPr lang="zh-CN" sz="2800" b="1" dirty="0">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0</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a:solidFill>
                            <a:schemeClr val="tx1"/>
                          </a:solidFill>
                          <a:effectLst/>
                          <a:latin typeface="+mn-lt"/>
                          <a:ea typeface="黑体" pitchFamily="2" charset="-122"/>
                        </a:rPr>
                        <a:t>0</a:t>
                      </a:r>
                      <a:endParaRPr lang="zh-CN" sz="28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800" b="1" dirty="0">
                          <a:solidFill>
                            <a:schemeClr val="tx1"/>
                          </a:solidFill>
                          <a:effectLst/>
                          <a:latin typeface="+mn-lt"/>
                          <a:ea typeface="黑体" pitchFamily="2" charset="-122"/>
                        </a:rPr>
                        <a:t>350</a:t>
                      </a:r>
                      <a:endParaRPr lang="zh-CN" sz="2800" b="1" dirty="0">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4" name="Rectangle 1"/>
          <p:cNvSpPr>
            <a:spLocks noChangeArrowheads="1"/>
          </p:cNvSpPr>
          <p:nvPr/>
        </p:nvSpPr>
        <p:spPr bwMode="auto">
          <a:xfrm>
            <a:off x="1354065" y="1455167"/>
            <a:ext cx="7560840" cy="46166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ctr"/>
            <a:r>
              <a:rPr lang="en-US" altLang="zh-CN" sz="2400" b="1" dirty="0">
                <a:latin typeface="+mn-lt"/>
                <a:ea typeface="黑体" pitchFamily="2" charset="-122"/>
              </a:rPr>
              <a:t>IP </a:t>
            </a:r>
            <a:r>
              <a:rPr lang="zh-CN" altLang="en-US" sz="2400" b="1" dirty="0">
                <a:latin typeface="+mn-lt"/>
                <a:ea typeface="黑体" pitchFamily="2" charset="-122"/>
              </a:rPr>
              <a:t>数据报首部中与分片有关的字段中的数值</a:t>
            </a:r>
          </a:p>
        </p:txBody>
      </p:sp>
    </p:spTree>
    <p:extLst>
      <p:ext uri="{BB962C8B-B14F-4D97-AF65-F5344CB8AC3E}">
        <p14:creationId xmlns:p14="http://schemas.microsoft.com/office/powerpoint/2010/main" val="20966734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2001615"/>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657377"/>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2" name="Rectangle 8"/>
          <p:cNvSpPr>
            <a:spLocks noChangeArrowheads="1"/>
          </p:cNvSpPr>
          <p:nvPr/>
        </p:nvSpPr>
        <p:spPr bwMode="auto">
          <a:xfrm>
            <a:off x="3351875" y="1599978"/>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590452"/>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244752"/>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041302"/>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48421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2871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36686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1136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598390"/>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598390"/>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493740"/>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598390"/>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06602"/>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050827"/>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1104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1104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1104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1104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1104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1104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1104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25377"/>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101627"/>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06440"/>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06440"/>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101627"/>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25377"/>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2537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10162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35177"/>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06440"/>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296522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06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35177"/>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19675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06327"/>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3976465"/>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3985991"/>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378102"/>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grpSp>
        <p:nvGrpSpPr>
          <p:cNvPr id="379998" name="Group 94"/>
          <p:cNvGrpSpPr>
            <a:grpSpLocks/>
          </p:cNvGrpSpPr>
          <p:nvPr/>
        </p:nvGrpSpPr>
        <p:grpSpPr bwMode="auto">
          <a:xfrm>
            <a:off x="265981" y="1569816"/>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sp>
        <p:nvSpPr>
          <p:cNvPr id="380001" name="AutoShape 97"/>
          <p:cNvSpPr>
            <a:spLocks/>
          </p:cNvSpPr>
          <p:nvPr/>
        </p:nvSpPr>
        <p:spPr bwMode="auto">
          <a:xfrm>
            <a:off x="998834" y="1641252"/>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57" name="组合 56"/>
          <p:cNvGrpSpPr/>
          <p:nvPr/>
        </p:nvGrpSpPr>
        <p:grpSpPr>
          <a:xfrm>
            <a:off x="1144243" y="2466753"/>
            <a:ext cx="6932988" cy="3494880"/>
            <a:chOff x="1144243" y="2238376"/>
            <a:chExt cx="6932988" cy="3494880"/>
          </a:xfrm>
        </p:grpSpPr>
        <p:sp>
          <p:nvSpPr>
            <p:cNvPr id="58" name="Text Box 74"/>
            <p:cNvSpPr txBox="1">
              <a:spLocks noChangeArrowheads="1"/>
            </p:cNvSpPr>
            <p:nvPr/>
          </p:nvSpPr>
          <p:spPr bwMode="auto">
            <a:xfrm>
              <a:off x="1144243" y="4902259"/>
              <a:ext cx="693298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ctr">
                <a:defRPr sz="2400" b="1">
                  <a:solidFill>
                    <a:srgbClr val="0000CC"/>
                  </a:solidFill>
                  <a:latin typeface="+mn-lt"/>
                  <a:ea typeface="黑体" pitchFamily="2" charset="-122"/>
                </a:defRPr>
              </a:lvl1pPr>
            </a:lstStyle>
            <a:p>
              <a:r>
                <a:rPr lang="zh-CN" altLang="en-US" dirty="0"/>
                <a:t>生存时间</a:t>
              </a:r>
              <a:r>
                <a:rPr lang="en-US" altLang="zh-CN" dirty="0"/>
                <a:t>——</a:t>
              </a:r>
              <a:r>
                <a:rPr lang="zh-CN" altLang="en-US" dirty="0"/>
                <a:t>占</a:t>
              </a:r>
              <a:r>
                <a:rPr lang="en-US" altLang="zh-CN" dirty="0"/>
                <a:t>8 </a:t>
              </a:r>
              <a:r>
                <a:rPr lang="zh-CN" altLang="en-US" dirty="0"/>
                <a:t>位，记为 </a:t>
              </a:r>
              <a:r>
                <a:rPr lang="en-US" altLang="zh-CN" dirty="0"/>
                <a:t>TTL (Time To Live)</a:t>
              </a:r>
              <a:r>
                <a:rPr lang="zh-CN" altLang="en-US" dirty="0"/>
                <a:t>，</a:t>
              </a:r>
              <a:endParaRPr lang="en-US" altLang="zh-CN" dirty="0"/>
            </a:p>
            <a:p>
              <a:r>
                <a:rPr lang="zh-CN" altLang="en-US" dirty="0"/>
                <a:t>指示数据报在网络中可通过的路由器数的最大值。</a:t>
              </a:r>
            </a:p>
          </p:txBody>
        </p:sp>
        <p:sp>
          <p:nvSpPr>
            <p:cNvPr id="59" name="Rectangle 75"/>
            <p:cNvSpPr>
              <a:spLocks noChangeArrowheads="1"/>
            </p:cNvSpPr>
            <p:nvPr/>
          </p:nvSpPr>
          <p:spPr bwMode="auto">
            <a:xfrm>
              <a:off x="1209014" y="2238376"/>
              <a:ext cx="2117063" cy="481013"/>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 name="标题 4"/>
          <p:cNvSpPr>
            <a:spLocks noGrp="1"/>
          </p:cNvSpPr>
          <p:nvPr>
            <p:ph type="title"/>
          </p:nvPr>
        </p:nvSpPr>
        <p:spPr/>
        <p:txBody>
          <a:bodyPr/>
          <a:lstStyle/>
          <a:p>
            <a:r>
              <a:rPr lang="en-US" altLang="zh-CN" sz="3600" dirty="0"/>
              <a:t>1.  IP </a:t>
            </a:r>
            <a:r>
              <a:rPr lang="zh-CN" altLang="en-US" sz="3600" dirty="0"/>
              <a:t>数据报首部的固定部分中的各字段 </a:t>
            </a:r>
          </a:p>
        </p:txBody>
      </p:sp>
    </p:spTree>
    <p:extLst>
      <p:ext uri="{BB962C8B-B14F-4D97-AF65-F5344CB8AC3E}">
        <p14:creationId xmlns:p14="http://schemas.microsoft.com/office/powerpoint/2010/main" val="4204638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2013545"/>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669307"/>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2" name="Rectangle 8"/>
          <p:cNvSpPr>
            <a:spLocks noChangeArrowheads="1"/>
          </p:cNvSpPr>
          <p:nvPr/>
        </p:nvSpPr>
        <p:spPr bwMode="auto">
          <a:xfrm>
            <a:off x="3351875" y="1611908"/>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602382"/>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256682"/>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053232"/>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49614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4064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37879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2329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610320"/>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610320"/>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505670"/>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610320"/>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18532"/>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062757"/>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2297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2297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2297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2297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2297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2297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2297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37307"/>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113557"/>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18370"/>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18370"/>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113557"/>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37307"/>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3730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11355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47107"/>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18370"/>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297715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1848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47107"/>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20868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18257"/>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3988395"/>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3997921"/>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390032"/>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grpSp>
        <p:nvGrpSpPr>
          <p:cNvPr id="379998" name="Group 94"/>
          <p:cNvGrpSpPr>
            <a:grpSpLocks/>
          </p:cNvGrpSpPr>
          <p:nvPr/>
        </p:nvGrpSpPr>
        <p:grpSpPr bwMode="auto">
          <a:xfrm>
            <a:off x="265981" y="1581746"/>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sp>
        <p:nvSpPr>
          <p:cNvPr id="380001" name="AutoShape 97"/>
          <p:cNvSpPr>
            <a:spLocks/>
          </p:cNvSpPr>
          <p:nvPr/>
        </p:nvSpPr>
        <p:spPr bwMode="auto">
          <a:xfrm>
            <a:off x="998834" y="1653182"/>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60" name="Group 77"/>
          <p:cNvGrpSpPr>
            <a:grpSpLocks/>
          </p:cNvGrpSpPr>
          <p:nvPr/>
        </p:nvGrpSpPr>
        <p:grpSpPr bwMode="auto">
          <a:xfrm>
            <a:off x="1332839" y="2478682"/>
            <a:ext cx="8267039" cy="3830638"/>
            <a:chOff x="775" y="1410"/>
            <a:chExt cx="4807" cy="2413"/>
          </a:xfrm>
        </p:grpSpPr>
        <p:sp>
          <p:nvSpPr>
            <p:cNvPr id="61" name="Text Box 74"/>
            <p:cNvSpPr txBox="1">
              <a:spLocks noChangeArrowheads="1"/>
            </p:cNvSpPr>
            <p:nvPr/>
          </p:nvSpPr>
          <p:spPr bwMode="auto">
            <a:xfrm>
              <a:off x="775" y="3067"/>
              <a:ext cx="4807"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ctr">
                <a:defRPr sz="2400" b="1">
                  <a:solidFill>
                    <a:srgbClr val="0000CC"/>
                  </a:solidFill>
                  <a:latin typeface="+mn-lt"/>
                  <a:ea typeface="黑体" pitchFamily="2" charset="-122"/>
                </a:defRPr>
              </a:lvl1pPr>
            </a:lstStyle>
            <a:p>
              <a:r>
                <a:rPr lang="zh-CN" altLang="en-US" dirty="0"/>
                <a:t>协议</a:t>
              </a:r>
              <a:r>
                <a:rPr lang="en-US" altLang="zh-CN" dirty="0"/>
                <a:t>——</a:t>
              </a:r>
              <a:r>
                <a:rPr lang="zh-CN" altLang="en-US" dirty="0"/>
                <a:t>占</a:t>
              </a:r>
              <a:r>
                <a:rPr lang="en-US" altLang="zh-CN" dirty="0"/>
                <a:t>8 </a:t>
              </a:r>
              <a:r>
                <a:rPr lang="zh-CN" altLang="en-US" dirty="0"/>
                <a:t>位，指出此数据报携带的数据使用何种协议，</a:t>
              </a:r>
              <a:endParaRPr lang="en-US" altLang="zh-CN" dirty="0"/>
            </a:p>
            <a:p>
              <a:r>
                <a:rPr lang="zh-CN" altLang="en-US" dirty="0"/>
                <a:t>以便目的主机的 </a:t>
              </a:r>
              <a:r>
                <a:rPr lang="en-US" altLang="zh-CN" dirty="0"/>
                <a:t>IP </a:t>
              </a:r>
              <a:r>
                <a:rPr lang="zh-CN" altLang="en-US" dirty="0"/>
                <a:t>层将数据部分</a:t>
              </a:r>
              <a:endParaRPr lang="en-US" altLang="zh-CN" dirty="0"/>
            </a:p>
            <a:p>
              <a:r>
                <a:rPr lang="zh-CN" altLang="en-US" dirty="0"/>
                <a:t>上交给那个处理过程</a:t>
              </a:r>
            </a:p>
          </p:txBody>
        </p:sp>
        <p:sp>
          <p:nvSpPr>
            <p:cNvPr id="62" name="Rectangle 75"/>
            <p:cNvSpPr>
              <a:spLocks noChangeArrowheads="1"/>
            </p:cNvSpPr>
            <p:nvPr/>
          </p:nvSpPr>
          <p:spPr bwMode="auto">
            <a:xfrm>
              <a:off x="1971" y="1410"/>
              <a:ext cx="1227" cy="307"/>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标题 2"/>
          <p:cNvSpPr>
            <a:spLocks noGrp="1"/>
          </p:cNvSpPr>
          <p:nvPr>
            <p:ph type="title"/>
          </p:nvPr>
        </p:nvSpPr>
        <p:spPr/>
        <p:txBody>
          <a:bodyPr/>
          <a:lstStyle/>
          <a:p>
            <a:r>
              <a:rPr lang="en-US" altLang="zh-CN" sz="3600" dirty="0"/>
              <a:t>1.  IP </a:t>
            </a:r>
            <a:r>
              <a:rPr lang="zh-CN" altLang="en-US" sz="3600" dirty="0"/>
              <a:t>数据报首部的固定部分中的各字段 </a:t>
            </a:r>
          </a:p>
        </p:txBody>
      </p:sp>
    </p:spTree>
    <p:extLst>
      <p:ext uri="{BB962C8B-B14F-4D97-AF65-F5344CB8AC3E}">
        <p14:creationId xmlns:p14="http://schemas.microsoft.com/office/powerpoint/2010/main" val="4907100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2" name="Rectangle 4"/>
          <p:cNvSpPr>
            <a:spLocks noChangeArrowheads="1"/>
          </p:cNvSpPr>
          <p:nvPr/>
        </p:nvSpPr>
        <p:spPr bwMode="auto">
          <a:xfrm>
            <a:off x="342982" y="2133600"/>
            <a:ext cx="9362546" cy="62865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p>
            <a:pPr algn="ctr"/>
            <a:endParaRPr kumimoji="1" lang="zh-CN" altLang="zh-CN" sz="3200" b="1">
              <a:solidFill>
                <a:srgbClr val="000099"/>
              </a:solidFill>
              <a:latin typeface="+mn-lt"/>
              <a:ea typeface="黑体" pitchFamily="2" charset="-122"/>
            </a:endParaRPr>
          </a:p>
        </p:txBody>
      </p:sp>
      <p:sp>
        <p:nvSpPr>
          <p:cNvPr id="478213" name="Rectangle 5"/>
          <p:cNvSpPr>
            <a:spLocks noChangeArrowheads="1"/>
          </p:cNvSpPr>
          <p:nvPr/>
        </p:nvSpPr>
        <p:spPr bwMode="auto">
          <a:xfrm>
            <a:off x="342982" y="2762251"/>
            <a:ext cx="9362546" cy="1743075"/>
          </a:xfrm>
          <a:prstGeom prst="rect">
            <a:avLst/>
          </a:prstGeom>
          <a:solidFill>
            <a:srgbClr val="CCECFF"/>
          </a:solidFill>
          <a:ln w="2857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478219" name="Rectangle 11"/>
          <p:cNvSpPr>
            <a:spLocks noChangeArrowheads="1"/>
          </p:cNvSpPr>
          <p:nvPr/>
        </p:nvSpPr>
        <p:spPr bwMode="auto">
          <a:xfrm>
            <a:off x="1920032" y="3390901"/>
            <a:ext cx="6208448" cy="487363"/>
          </a:xfrm>
          <a:prstGeom prst="rect">
            <a:avLst/>
          </a:prstGeom>
          <a:solidFill>
            <a:srgbClr val="FF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8214" name="Rectangle 6"/>
          <p:cNvSpPr>
            <a:spLocks noChangeArrowheads="1"/>
          </p:cNvSpPr>
          <p:nvPr/>
        </p:nvSpPr>
        <p:spPr bwMode="auto">
          <a:xfrm>
            <a:off x="1959586" y="3425825"/>
            <a:ext cx="1350037" cy="44608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8215" name="Text Box 7"/>
          <p:cNvSpPr txBox="1">
            <a:spLocks noChangeArrowheads="1"/>
          </p:cNvSpPr>
          <p:nvPr/>
        </p:nvSpPr>
        <p:spPr bwMode="auto">
          <a:xfrm>
            <a:off x="560512" y="2215555"/>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99"/>
                </a:solidFill>
                <a:latin typeface="+mn-lt"/>
                <a:ea typeface="黑体" pitchFamily="2" charset="-122"/>
              </a:rPr>
              <a:t>运输层</a:t>
            </a:r>
          </a:p>
        </p:txBody>
      </p:sp>
      <p:sp>
        <p:nvSpPr>
          <p:cNvPr id="478216" name="Text Box 8"/>
          <p:cNvSpPr txBox="1">
            <a:spLocks noChangeArrowheads="1"/>
          </p:cNvSpPr>
          <p:nvPr/>
        </p:nvSpPr>
        <p:spPr bwMode="auto">
          <a:xfrm>
            <a:off x="560512" y="3255367"/>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latin typeface="+mn-lt"/>
                <a:ea typeface="黑体" pitchFamily="2" charset="-122"/>
              </a:rPr>
              <a:t>网络层</a:t>
            </a:r>
          </a:p>
        </p:txBody>
      </p:sp>
      <p:sp>
        <p:nvSpPr>
          <p:cNvPr id="478217" name="Line 9"/>
          <p:cNvSpPr>
            <a:spLocks noChangeShapeType="1"/>
          </p:cNvSpPr>
          <p:nvPr/>
        </p:nvSpPr>
        <p:spPr bwMode="auto">
          <a:xfrm>
            <a:off x="3309623" y="3390901"/>
            <a:ext cx="0" cy="487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78218" name="Text Box 10"/>
          <p:cNvSpPr txBox="1">
            <a:spLocks noChangeArrowheads="1"/>
          </p:cNvSpPr>
          <p:nvPr/>
        </p:nvSpPr>
        <p:spPr bwMode="auto">
          <a:xfrm>
            <a:off x="2195198" y="3382964"/>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首部</a:t>
            </a:r>
          </a:p>
        </p:txBody>
      </p:sp>
      <p:sp>
        <p:nvSpPr>
          <p:cNvPr id="478221" name="Rectangle 13"/>
          <p:cNvSpPr>
            <a:spLocks noChangeArrowheads="1"/>
          </p:cNvSpPr>
          <p:nvPr/>
        </p:nvSpPr>
        <p:spPr bwMode="auto">
          <a:xfrm>
            <a:off x="4608066" y="2273300"/>
            <a:ext cx="1110985" cy="34925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8222" name="Text Box 14"/>
          <p:cNvSpPr txBox="1">
            <a:spLocks noChangeArrowheads="1"/>
          </p:cNvSpPr>
          <p:nvPr/>
        </p:nvSpPr>
        <p:spPr bwMode="auto">
          <a:xfrm>
            <a:off x="4778326" y="2239963"/>
            <a:ext cx="6992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TCP</a:t>
            </a:r>
          </a:p>
        </p:txBody>
      </p:sp>
      <p:sp>
        <p:nvSpPr>
          <p:cNvPr id="478223" name="Rectangle 15"/>
          <p:cNvSpPr>
            <a:spLocks noChangeArrowheads="1"/>
          </p:cNvSpPr>
          <p:nvPr/>
        </p:nvSpPr>
        <p:spPr bwMode="auto">
          <a:xfrm>
            <a:off x="5997657" y="2273300"/>
            <a:ext cx="1112706" cy="34925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8224" name="Text Box 16"/>
          <p:cNvSpPr txBox="1">
            <a:spLocks noChangeArrowheads="1"/>
          </p:cNvSpPr>
          <p:nvPr/>
        </p:nvSpPr>
        <p:spPr bwMode="auto">
          <a:xfrm>
            <a:off x="6143840" y="2273301"/>
            <a:ext cx="728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UDP</a:t>
            </a:r>
          </a:p>
        </p:txBody>
      </p:sp>
      <p:sp>
        <p:nvSpPr>
          <p:cNvPr id="478225" name="Rectangle 17"/>
          <p:cNvSpPr>
            <a:spLocks noChangeArrowheads="1"/>
          </p:cNvSpPr>
          <p:nvPr/>
        </p:nvSpPr>
        <p:spPr bwMode="auto">
          <a:xfrm>
            <a:off x="2289787" y="2892425"/>
            <a:ext cx="1112706" cy="34925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8226" name="Text Box 18"/>
          <p:cNvSpPr txBox="1">
            <a:spLocks noChangeArrowheads="1"/>
          </p:cNvSpPr>
          <p:nvPr/>
        </p:nvSpPr>
        <p:spPr bwMode="auto">
          <a:xfrm>
            <a:off x="2382655" y="2857501"/>
            <a:ext cx="8258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ICMP</a:t>
            </a:r>
          </a:p>
        </p:txBody>
      </p:sp>
      <p:sp>
        <p:nvSpPr>
          <p:cNvPr id="478227" name="Rectangle 19"/>
          <p:cNvSpPr>
            <a:spLocks noChangeArrowheads="1"/>
          </p:cNvSpPr>
          <p:nvPr/>
        </p:nvSpPr>
        <p:spPr bwMode="auto">
          <a:xfrm>
            <a:off x="3588230" y="2892425"/>
            <a:ext cx="1110985" cy="34925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8228" name="Text Box 20"/>
          <p:cNvSpPr txBox="1">
            <a:spLocks noChangeArrowheads="1"/>
          </p:cNvSpPr>
          <p:nvPr/>
        </p:nvSpPr>
        <p:spPr bwMode="auto">
          <a:xfrm>
            <a:off x="3682817" y="2857501"/>
            <a:ext cx="8386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IGMP</a:t>
            </a:r>
          </a:p>
        </p:txBody>
      </p:sp>
      <p:sp>
        <p:nvSpPr>
          <p:cNvPr id="478229" name="Rectangle 21"/>
          <p:cNvSpPr>
            <a:spLocks noChangeArrowheads="1"/>
          </p:cNvSpPr>
          <p:nvPr/>
        </p:nvSpPr>
        <p:spPr bwMode="auto">
          <a:xfrm>
            <a:off x="7442283" y="2892425"/>
            <a:ext cx="1110985" cy="34925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8230" name="Text Box 22"/>
          <p:cNvSpPr txBox="1">
            <a:spLocks noChangeArrowheads="1"/>
          </p:cNvSpPr>
          <p:nvPr/>
        </p:nvSpPr>
        <p:spPr bwMode="auto">
          <a:xfrm>
            <a:off x="7536871" y="2857501"/>
            <a:ext cx="8835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OSPF</a:t>
            </a:r>
          </a:p>
        </p:txBody>
      </p:sp>
      <p:sp>
        <p:nvSpPr>
          <p:cNvPr id="478233" name="Line 25"/>
          <p:cNvSpPr>
            <a:spLocks noChangeShapeType="1"/>
          </p:cNvSpPr>
          <p:nvPr/>
        </p:nvSpPr>
        <p:spPr bwMode="auto">
          <a:xfrm flipV="1">
            <a:off x="6090526" y="2622551"/>
            <a:ext cx="464344" cy="976313"/>
          </a:xfrm>
          <a:prstGeom prst="line">
            <a:avLst/>
          </a:prstGeom>
          <a:noFill/>
          <a:ln w="76200">
            <a:solidFill>
              <a:srgbClr val="C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78235" name="Line 27"/>
          <p:cNvSpPr>
            <a:spLocks noChangeShapeType="1"/>
          </p:cNvSpPr>
          <p:nvPr/>
        </p:nvSpPr>
        <p:spPr bwMode="auto">
          <a:xfrm flipH="1" flipV="1">
            <a:off x="5161839" y="2622550"/>
            <a:ext cx="940727" cy="996950"/>
          </a:xfrm>
          <a:prstGeom prst="line">
            <a:avLst/>
          </a:prstGeom>
          <a:noFill/>
          <a:ln w="76200">
            <a:solidFill>
              <a:srgbClr val="C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78236" name="Line 28"/>
          <p:cNvSpPr>
            <a:spLocks noChangeShapeType="1"/>
          </p:cNvSpPr>
          <p:nvPr/>
        </p:nvSpPr>
        <p:spPr bwMode="auto">
          <a:xfrm flipH="1" flipV="1">
            <a:off x="4723293" y="3175000"/>
            <a:ext cx="1411948" cy="463550"/>
          </a:xfrm>
          <a:prstGeom prst="line">
            <a:avLst/>
          </a:prstGeom>
          <a:noFill/>
          <a:ln w="76200">
            <a:solidFill>
              <a:srgbClr val="C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78237" name="Line 29"/>
          <p:cNvSpPr>
            <a:spLocks noChangeShapeType="1"/>
          </p:cNvSpPr>
          <p:nvPr/>
        </p:nvSpPr>
        <p:spPr bwMode="auto">
          <a:xfrm flipH="1" flipV="1">
            <a:off x="3117007" y="3255963"/>
            <a:ext cx="3014794" cy="373062"/>
          </a:xfrm>
          <a:prstGeom prst="line">
            <a:avLst/>
          </a:prstGeom>
          <a:noFill/>
          <a:ln w="76200">
            <a:solidFill>
              <a:srgbClr val="C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78238" name="Line 30"/>
          <p:cNvSpPr>
            <a:spLocks noChangeShapeType="1"/>
          </p:cNvSpPr>
          <p:nvPr/>
        </p:nvSpPr>
        <p:spPr bwMode="auto">
          <a:xfrm flipV="1">
            <a:off x="6118042" y="3173414"/>
            <a:ext cx="1295004" cy="447675"/>
          </a:xfrm>
          <a:prstGeom prst="line">
            <a:avLst/>
          </a:prstGeom>
          <a:noFill/>
          <a:ln w="76200">
            <a:solidFill>
              <a:srgbClr val="C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78239" name="Text Box 31"/>
          <p:cNvSpPr txBox="1">
            <a:spLocks noChangeArrowheads="1"/>
          </p:cNvSpPr>
          <p:nvPr/>
        </p:nvSpPr>
        <p:spPr bwMode="auto">
          <a:xfrm>
            <a:off x="3464405" y="3463926"/>
            <a:ext cx="14285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数 据 部 分</a:t>
            </a:r>
          </a:p>
        </p:txBody>
      </p:sp>
      <p:sp>
        <p:nvSpPr>
          <p:cNvPr id="478240" name="Line 32"/>
          <p:cNvSpPr>
            <a:spLocks noChangeShapeType="1"/>
          </p:cNvSpPr>
          <p:nvPr/>
        </p:nvSpPr>
        <p:spPr bwMode="auto">
          <a:xfrm>
            <a:off x="1920032" y="4156075"/>
            <a:ext cx="6208448"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78241" name="Text Box 33"/>
          <p:cNvSpPr txBox="1">
            <a:spLocks noChangeArrowheads="1"/>
          </p:cNvSpPr>
          <p:nvPr/>
        </p:nvSpPr>
        <p:spPr bwMode="auto">
          <a:xfrm>
            <a:off x="4327740" y="3927476"/>
            <a:ext cx="1266885" cy="40011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IP </a:t>
            </a:r>
            <a:r>
              <a:rPr kumimoji="1" lang="zh-CN" altLang="en-US" sz="2000" b="1">
                <a:solidFill>
                  <a:srgbClr val="000099"/>
                </a:solidFill>
                <a:latin typeface="+mn-lt"/>
                <a:ea typeface="黑体" pitchFamily="2" charset="-122"/>
              </a:rPr>
              <a:t>数据报</a:t>
            </a:r>
          </a:p>
        </p:txBody>
      </p:sp>
      <p:grpSp>
        <p:nvGrpSpPr>
          <p:cNvPr id="478246" name="Group 38"/>
          <p:cNvGrpSpPr>
            <a:grpSpLocks/>
          </p:cNvGrpSpPr>
          <p:nvPr/>
        </p:nvGrpSpPr>
        <p:grpSpPr bwMode="auto">
          <a:xfrm>
            <a:off x="2877955" y="3644902"/>
            <a:ext cx="4954721" cy="2016126"/>
            <a:chOff x="1632" y="2296"/>
            <a:chExt cx="2881" cy="1270"/>
          </a:xfrm>
        </p:grpSpPr>
        <p:sp>
          <p:nvSpPr>
            <p:cNvPr id="478242" name="Rectangle 34"/>
            <p:cNvSpPr>
              <a:spLocks noChangeArrowheads="1"/>
            </p:cNvSpPr>
            <p:nvPr/>
          </p:nvSpPr>
          <p:spPr bwMode="auto">
            <a:xfrm>
              <a:off x="1632" y="2296"/>
              <a:ext cx="227" cy="106"/>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78243" name="AutoShape 35"/>
            <p:cNvSpPr>
              <a:spLocks noChangeArrowheads="1"/>
            </p:cNvSpPr>
            <p:nvPr/>
          </p:nvSpPr>
          <p:spPr bwMode="auto">
            <a:xfrm>
              <a:off x="2344" y="3033"/>
              <a:ext cx="2169" cy="506"/>
            </a:xfrm>
            <a:prstGeom prst="wedgeRoundRectCallout">
              <a:avLst>
                <a:gd name="adj1" fmla="val -78317"/>
                <a:gd name="adj2" fmla="val -177774"/>
                <a:gd name="adj3" fmla="val 16667"/>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kumimoji="1" lang="zh-CN" altLang="zh-CN" sz="3200" b="1">
                <a:solidFill>
                  <a:srgbClr val="000099"/>
                </a:solidFill>
                <a:latin typeface="+mn-lt"/>
                <a:ea typeface="黑体" pitchFamily="2" charset="-122"/>
              </a:endParaRPr>
            </a:p>
          </p:txBody>
        </p:sp>
        <p:sp>
          <p:nvSpPr>
            <p:cNvPr id="478244" name="Text Box 36"/>
            <p:cNvSpPr txBox="1">
              <a:spLocks noChangeArrowheads="1"/>
            </p:cNvSpPr>
            <p:nvPr/>
          </p:nvSpPr>
          <p:spPr bwMode="auto">
            <a:xfrm>
              <a:off x="2426" y="3043"/>
              <a:ext cx="200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400" b="1" dirty="0">
                  <a:solidFill>
                    <a:srgbClr val="C00000"/>
                  </a:solidFill>
                  <a:latin typeface="+mn-lt"/>
                  <a:ea typeface="黑体" pitchFamily="2" charset="-122"/>
                </a:rPr>
                <a:t>协议</a:t>
              </a:r>
              <a:r>
                <a:rPr kumimoji="1" lang="zh-CN" altLang="en-US" sz="2400" b="1" dirty="0">
                  <a:solidFill>
                    <a:srgbClr val="000099"/>
                  </a:solidFill>
                  <a:latin typeface="+mn-lt"/>
                  <a:ea typeface="黑体" pitchFamily="2" charset="-122"/>
                </a:rPr>
                <a:t>字段指出应将数据</a:t>
              </a:r>
            </a:p>
            <a:p>
              <a:pPr algn="ctr"/>
              <a:r>
                <a:rPr kumimoji="1" lang="zh-CN" altLang="en-US" sz="2400" b="1" dirty="0">
                  <a:solidFill>
                    <a:srgbClr val="000099"/>
                  </a:solidFill>
                  <a:latin typeface="+mn-lt"/>
                  <a:ea typeface="黑体" pitchFamily="2" charset="-122"/>
                </a:rPr>
                <a:t>部分交给哪一个进程</a:t>
              </a:r>
            </a:p>
          </p:txBody>
        </p:sp>
      </p:grpSp>
      <p:sp>
        <p:nvSpPr>
          <p:cNvPr id="32" name="矩形 31"/>
          <p:cNvSpPr/>
          <p:nvPr/>
        </p:nvSpPr>
        <p:spPr>
          <a:xfrm>
            <a:off x="1127678" y="476672"/>
            <a:ext cx="7497730" cy="1077218"/>
          </a:xfrm>
          <a:prstGeom prst="rect">
            <a:avLst/>
          </a:prstGeom>
          <a:solidFill>
            <a:srgbClr val="66FF66"/>
          </a:solidFill>
          <a:ln w="9525">
            <a:solidFill>
              <a:schemeClr val="folHlink"/>
            </a:solidFill>
            <a:miter lim="800000"/>
            <a:headEnd/>
            <a:tailEnd/>
          </a:ln>
          <a:effectLst>
            <a:outerShdw dist="35921" dir="2700000" algn="ctr" rotWithShape="0">
              <a:schemeClr val="bg2"/>
            </a:outerShdw>
          </a:effectLst>
        </p:spPr>
        <p:txBody>
          <a:bodyPr wrap="square">
            <a:spAutoFit/>
          </a:bodyPr>
          <a:lstStyle/>
          <a:p>
            <a:pPr algn="ctr"/>
            <a:r>
              <a:rPr lang="en-US" altLang="zh-CN" sz="3200" b="1" dirty="0">
                <a:solidFill>
                  <a:srgbClr val="000066"/>
                </a:solidFill>
                <a:latin typeface="Arial" pitchFamily="34" charset="0"/>
                <a:ea typeface="黑体" pitchFamily="2" charset="-122"/>
              </a:rPr>
              <a:t>IP </a:t>
            </a:r>
            <a:r>
              <a:rPr lang="zh-CN" altLang="en-US" sz="3200" b="1" dirty="0">
                <a:solidFill>
                  <a:srgbClr val="000066"/>
                </a:solidFill>
                <a:latin typeface="Arial" pitchFamily="34" charset="0"/>
                <a:ea typeface="黑体" pitchFamily="2" charset="-122"/>
              </a:rPr>
              <a:t>协议支持多种协议，</a:t>
            </a:r>
            <a:endParaRPr lang="en-US" altLang="zh-CN" sz="3200" b="1" dirty="0">
              <a:solidFill>
                <a:srgbClr val="000066"/>
              </a:solidFill>
              <a:latin typeface="Arial" pitchFamily="34" charset="0"/>
              <a:ea typeface="黑体" pitchFamily="2" charset="-122"/>
            </a:endParaRPr>
          </a:p>
          <a:p>
            <a:pPr algn="ctr"/>
            <a:r>
              <a:rPr lang="en-US" altLang="zh-CN" sz="3200" b="1" dirty="0">
                <a:solidFill>
                  <a:srgbClr val="000066"/>
                </a:solidFill>
                <a:latin typeface="Arial" pitchFamily="34" charset="0"/>
                <a:ea typeface="黑体" pitchFamily="2" charset="-122"/>
              </a:rPr>
              <a:t>IP </a:t>
            </a:r>
            <a:r>
              <a:rPr lang="zh-CN" altLang="en-US" sz="3200" b="1" dirty="0">
                <a:solidFill>
                  <a:srgbClr val="000066"/>
                </a:solidFill>
                <a:latin typeface="Arial" pitchFamily="34" charset="0"/>
                <a:ea typeface="黑体" pitchFamily="2" charset="-122"/>
              </a:rPr>
              <a:t>数据报可以封装多种协议 </a:t>
            </a:r>
            <a:r>
              <a:rPr lang="en-US" altLang="zh-CN" sz="3200" b="1" dirty="0">
                <a:solidFill>
                  <a:srgbClr val="000066"/>
                </a:solidFill>
                <a:latin typeface="Arial" pitchFamily="34" charset="0"/>
                <a:ea typeface="黑体" pitchFamily="2" charset="-122"/>
              </a:rPr>
              <a:t>PDU</a:t>
            </a:r>
            <a:r>
              <a:rPr lang="zh-CN" altLang="en-US" sz="3200" b="1" dirty="0">
                <a:solidFill>
                  <a:srgbClr val="000066"/>
                </a:solidFill>
                <a:latin typeface="Arial" pitchFamily="34" charset="0"/>
                <a:ea typeface="黑体" pitchFamily="2" charset="-122"/>
              </a:rPr>
              <a:t>。</a:t>
            </a:r>
          </a:p>
        </p:txBody>
      </p:sp>
    </p:spTree>
    <p:extLst>
      <p:ext uri="{BB962C8B-B14F-4D97-AF65-F5344CB8AC3E}">
        <p14:creationId xmlns:p14="http://schemas.microsoft.com/office/powerpoint/2010/main" val="27632723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2013545"/>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669307"/>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2" name="Rectangle 8"/>
          <p:cNvSpPr>
            <a:spLocks noChangeArrowheads="1"/>
          </p:cNvSpPr>
          <p:nvPr/>
        </p:nvSpPr>
        <p:spPr bwMode="auto">
          <a:xfrm>
            <a:off x="3351875" y="1611908"/>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602382"/>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256682"/>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053232"/>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49614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4064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37879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23295"/>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610320"/>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610320"/>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505670"/>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610320"/>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18532"/>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062757"/>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2297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2297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22970"/>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2297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2297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2297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22970"/>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37307"/>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113557"/>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18370"/>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18370"/>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113557"/>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37307"/>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3730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11355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47107"/>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18370"/>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2977157"/>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1848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47107"/>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20868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18257"/>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3988395"/>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3997921"/>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390032"/>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grpSp>
        <p:nvGrpSpPr>
          <p:cNvPr id="379998" name="Group 94"/>
          <p:cNvGrpSpPr>
            <a:grpSpLocks/>
          </p:cNvGrpSpPr>
          <p:nvPr/>
        </p:nvGrpSpPr>
        <p:grpSpPr bwMode="auto">
          <a:xfrm>
            <a:off x="265981" y="1581746"/>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sp>
        <p:nvSpPr>
          <p:cNvPr id="380001" name="AutoShape 97"/>
          <p:cNvSpPr>
            <a:spLocks/>
          </p:cNvSpPr>
          <p:nvPr/>
        </p:nvSpPr>
        <p:spPr bwMode="auto">
          <a:xfrm>
            <a:off x="998834" y="1653182"/>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57" name="Group 77"/>
          <p:cNvGrpSpPr>
            <a:grpSpLocks/>
          </p:cNvGrpSpPr>
          <p:nvPr/>
        </p:nvGrpSpPr>
        <p:grpSpPr bwMode="auto">
          <a:xfrm>
            <a:off x="2466180" y="2478682"/>
            <a:ext cx="7264404" cy="3830638"/>
            <a:chOff x="1434" y="1410"/>
            <a:chExt cx="4224" cy="2413"/>
          </a:xfrm>
        </p:grpSpPr>
        <p:sp>
          <p:nvSpPr>
            <p:cNvPr id="58" name="Text Box 74"/>
            <p:cNvSpPr txBox="1">
              <a:spLocks noChangeArrowheads="1"/>
            </p:cNvSpPr>
            <p:nvPr/>
          </p:nvSpPr>
          <p:spPr bwMode="auto">
            <a:xfrm>
              <a:off x="1434" y="3067"/>
              <a:ext cx="4042"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ctr">
                <a:defRPr sz="2400" b="1">
                  <a:solidFill>
                    <a:srgbClr val="0000CC"/>
                  </a:solidFill>
                  <a:latin typeface="+mn-lt"/>
                  <a:ea typeface="黑体" pitchFamily="2" charset="-122"/>
                </a:defRPr>
              </a:lvl1pPr>
            </a:lstStyle>
            <a:p>
              <a:r>
                <a:rPr lang="zh-CN" altLang="en-US" dirty="0"/>
                <a:t>首部检验和</a:t>
              </a:r>
              <a:r>
                <a:rPr lang="en-US" altLang="zh-CN" dirty="0"/>
                <a:t>——</a:t>
              </a:r>
              <a:r>
                <a:rPr lang="zh-CN" altLang="en-US" dirty="0"/>
                <a:t>占</a:t>
              </a:r>
              <a:r>
                <a:rPr lang="en-US" altLang="zh-CN" dirty="0"/>
                <a:t>16 </a:t>
              </a:r>
              <a:r>
                <a:rPr lang="zh-CN" altLang="en-US" dirty="0"/>
                <a:t>位，</a:t>
              </a:r>
              <a:r>
                <a:rPr lang="zh-CN" altLang="en-US" dirty="0">
                  <a:solidFill>
                    <a:srgbClr val="C00000"/>
                  </a:solidFill>
                </a:rPr>
                <a:t>只检验数据报的首部，</a:t>
              </a:r>
            </a:p>
            <a:p>
              <a:pPr algn="l"/>
              <a:r>
                <a:rPr lang="zh-CN" altLang="en-US" dirty="0"/>
                <a:t>不检验数据部分。这里不采用 </a:t>
              </a:r>
              <a:r>
                <a:rPr lang="en-US" altLang="zh-CN" dirty="0"/>
                <a:t>CRC </a:t>
              </a:r>
              <a:r>
                <a:rPr lang="zh-CN" altLang="en-US" dirty="0"/>
                <a:t>检验码而采用简单的计算方法。 </a:t>
              </a:r>
            </a:p>
          </p:txBody>
        </p:sp>
        <p:sp>
          <p:nvSpPr>
            <p:cNvPr id="59" name="Rectangle 75"/>
            <p:cNvSpPr>
              <a:spLocks noChangeArrowheads="1"/>
            </p:cNvSpPr>
            <p:nvPr/>
          </p:nvSpPr>
          <p:spPr bwMode="auto">
            <a:xfrm>
              <a:off x="3195" y="1410"/>
              <a:ext cx="2463" cy="307"/>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标题 2"/>
          <p:cNvSpPr>
            <a:spLocks noGrp="1"/>
          </p:cNvSpPr>
          <p:nvPr>
            <p:ph type="title"/>
          </p:nvPr>
        </p:nvSpPr>
        <p:spPr/>
        <p:txBody>
          <a:bodyPr/>
          <a:lstStyle/>
          <a:p>
            <a:r>
              <a:rPr lang="en-US" altLang="zh-CN" sz="3600" dirty="0"/>
              <a:t>1.  IP </a:t>
            </a:r>
            <a:r>
              <a:rPr lang="zh-CN" altLang="en-US" sz="3600" dirty="0"/>
              <a:t>数据报首部的固定部分中的各字段 </a:t>
            </a:r>
          </a:p>
        </p:txBody>
      </p:sp>
    </p:spTree>
    <p:extLst>
      <p:ext uri="{BB962C8B-B14F-4D97-AF65-F5344CB8AC3E}">
        <p14:creationId xmlns:p14="http://schemas.microsoft.com/office/powerpoint/2010/main" val="18879960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46" name="Rectangle 66"/>
          <p:cNvSpPr>
            <a:spLocks noChangeArrowheads="1"/>
          </p:cNvSpPr>
          <p:nvPr/>
        </p:nvSpPr>
        <p:spPr bwMode="auto">
          <a:xfrm>
            <a:off x="4083083" y="5263283"/>
            <a:ext cx="1902090" cy="871537"/>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1284" name="Text Box 4"/>
          <p:cNvSpPr txBox="1">
            <a:spLocks noChangeArrowheads="1"/>
          </p:cNvSpPr>
          <p:nvPr/>
        </p:nvSpPr>
        <p:spPr bwMode="auto">
          <a:xfrm>
            <a:off x="722610" y="764307"/>
            <a:ext cx="2495417" cy="406400"/>
          </a:xfrm>
          <a:prstGeom prst="rect">
            <a:avLst/>
          </a:prstGeom>
          <a:solidFill>
            <a:srgbClr val="99FF33"/>
          </a:solidFill>
          <a:ln w="9525">
            <a:solidFill>
              <a:schemeClr val="folHlink"/>
            </a:solidFill>
            <a:miter lim="800000"/>
            <a:headEnd/>
            <a:tailEnd/>
          </a:ln>
          <a:effectLst>
            <a:outerShdw dist="35921" dir="2700000" algn="ctr" rotWithShape="0">
              <a:schemeClr val="bg2"/>
            </a:outerShdw>
          </a:effectLst>
        </p:spPr>
        <p:txBody>
          <a:bodyPr>
            <a:spAutoFit/>
          </a:bodyPr>
          <a:lstStyle/>
          <a:p>
            <a:pPr algn="ctr"/>
            <a:r>
              <a:rPr kumimoji="1" lang="zh-CN" altLang="en-US" sz="2000" b="1">
                <a:solidFill>
                  <a:srgbClr val="0000CC"/>
                </a:solidFill>
                <a:latin typeface="+mn-lt"/>
                <a:ea typeface="黑体" pitchFamily="2" charset="-122"/>
              </a:rPr>
              <a:t>发送端</a:t>
            </a:r>
          </a:p>
        </p:txBody>
      </p:sp>
      <p:sp>
        <p:nvSpPr>
          <p:cNvPr id="481285" name="Text Box 5"/>
          <p:cNvSpPr txBox="1">
            <a:spLocks noChangeArrowheads="1"/>
          </p:cNvSpPr>
          <p:nvPr/>
        </p:nvSpPr>
        <p:spPr bwMode="auto">
          <a:xfrm>
            <a:off x="6728123" y="764307"/>
            <a:ext cx="2418027" cy="406400"/>
          </a:xfrm>
          <a:prstGeom prst="rect">
            <a:avLst/>
          </a:prstGeom>
          <a:solidFill>
            <a:srgbClr val="CCCCFF"/>
          </a:solidFill>
          <a:ln w="9525">
            <a:solidFill>
              <a:schemeClr val="folHlink"/>
            </a:solidFill>
            <a:miter lim="800000"/>
            <a:headEnd/>
            <a:tailEnd/>
          </a:ln>
          <a:effectLst>
            <a:outerShdw dist="35921" dir="2700000" algn="ctr" rotWithShape="0">
              <a:schemeClr val="bg2"/>
            </a:outerShdw>
          </a:effectLst>
        </p:spPr>
        <p:txBody>
          <a:bodyPr>
            <a:spAutoFit/>
          </a:bodyPr>
          <a:lstStyle/>
          <a:p>
            <a:pPr algn="ctr"/>
            <a:r>
              <a:rPr kumimoji="1" lang="zh-CN" altLang="en-US" sz="2000" b="1">
                <a:solidFill>
                  <a:srgbClr val="0000CC"/>
                </a:solidFill>
                <a:latin typeface="+mn-lt"/>
                <a:ea typeface="黑体" pitchFamily="2" charset="-122"/>
              </a:rPr>
              <a:t>接收端</a:t>
            </a:r>
          </a:p>
        </p:txBody>
      </p:sp>
      <p:sp>
        <p:nvSpPr>
          <p:cNvPr id="481286" name="Rectangle 6"/>
          <p:cNvSpPr>
            <a:spLocks noChangeArrowheads="1"/>
          </p:cNvSpPr>
          <p:nvPr/>
        </p:nvSpPr>
        <p:spPr bwMode="auto">
          <a:xfrm>
            <a:off x="1749326" y="1388195"/>
            <a:ext cx="1463543" cy="296863"/>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CC"/>
                </a:solidFill>
                <a:latin typeface="+mn-lt"/>
                <a:ea typeface="黑体" pitchFamily="2" charset="-122"/>
              </a:rPr>
              <a:t>16 </a:t>
            </a:r>
            <a:r>
              <a:rPr kumimoji="1" lang="zh-CN" altLang="en-US" sz="2000" b="1">
                <a:solidFill>
                  <a:srgbClr val="0000CC"/>
                </a:solidFill>
                <a:latin typeface="+mn-lt"/>
                <a:ea typeface="黑体" pitchFamily="2" charset="-122"/>
              </a:rPr>
              <a:t>位</a:t>
            </a:r>
          </a:p>
        </p:txBody>
      </p:sp>
      <p:sp>
        <p:nvSpPr>
          <p:cNvPr id="481287" name="Text Box 7"/>
          <p:cNvSpPr txBox="1">
            <a:spLocks noChangeArrowheads="1"/>
          </p:cNvSpPr>
          <p:nvPr/>
        </p:nvSpPr>
        <p:spPr bwMode="auto">
          <a:xfrm>
            <a:off x="1002936" y="1327870"/>
            <a:ext cx="6559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字 </a:t>
            </a:r>
            <a:r>
              <a:rPr kumimoji="1" lang="en-US" altLang="zh-CN" sz="2000" b="1">
                <a:solidFill>
                  <a:srgbClr val="0000CC"/>
                </a:solidFill>
                <a:latin typeface="+mn-lt"/>
                <a:ea typeface="黑体" pitchFamily="2" charset="-122"/>
              </a:rPr>
              <a:t>1</a:t>
            </a:r>
          </a:p>
        </p:txBody>
      </p:sp>
      <p:sp>
        <p:nvSpPr>
          <p:cNvPr id="481288" name="Rectangle 8"/>
          <p:cNvSpPr>
            <a:spLocks noChangeArrowheads="1"/>
          </p:cNvSpPr>
          <p:nvPr/>
        </p:nvSpPr>
        <p:spPr bwMode="auto">
          <a:xfrm>
            <a:off x="1749326" y="1805708"/>
            <a:ext cx="1463543" cy="2952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CC"/>
                </a:solidFill>
                <a:latin typeface="+mn-lt"/>
                <a:ea typeface="黑体" pitchFamily="2" charset="-122"/>
              </a:rPr>
              <a:t>16 </a:t>
            </a:r>
            <a:r>
              <a:rPr kumimoji="1" lang="zh-CN" altLang="en-US" sz="2000" b="1">
                <a:solidFill>
                  <a:srgbClr val="0000CC"/>
                </a:solidFill>
                <a:latin typeface="+mn-lt"/>
                <a:ea typeface="黑体" pitchFamily="2" charset="-122"/>
              </a:rPr>
              <a:t>位</a:t>
            </a:r>
          </a:p>
        </p:txBody>
      </p:sp>
      <p:sp>
        <p:nvSpPr>
          <p:cNvPr id="481289" name="Text Box 9"/>
          <p:cNvSpPr txBox="1">
            <a:spLocks noChangeArrowheads="1"/>
          </p:cNvSpPr>
          <p:nvPr/>
        </p:nvSpPr>
        <p:spPr bwMode="auto">
          <a:xfrm>
            <a:off x="1002936" y="1743795"/>
            <a:ext cx="6559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字 </a:t>
            </a:r>
            <a:r>
              <a:rPr kumimoji="1" lang="en-US" altLang="zh-CN" sz="2000" b="1">
                <a:solidFill>
                  <a:srgbClr val="0000CC"/>
                </a:solidFill>
                <a:latin typeface="+mn-lt"/>
                <a:ea typeface="黑体" pitchFamily="2" charset="-122"/>
              </a:rPr>
              <a:t>2</a:t>
            </a:r>
          </a:p>
        </p:txBody>
      </p:sp>
      <p:grpSp>
        <p:nvGrpSpPr>
          <p:cNvPr id="481347" name="Group 67"/>
          <p:cNvGrpSpPr>
            <a:grpSpLocks/>
          </p:cNvGrpSpPr>
          <p:nvPr/>
        </p:nvGrpSpPr>
        <p:grpSpPr bwMode="auto">
          <a:xfrm>
            <a:off x="722610" y="2339105"/>
            <a:ext cx="2490258" cy="400049"/>
            <a:chOff x="295" y="1111"/>
            <a:chExt cx="1448" cy="252"/>
          </a:xfrm>
        </p:grpSpPr>
        <p:sp>
          <p:nvSpPr>
            <p:cNvPr id="481290" name="Rectangle 10"/>
            <p:cNvSpPr>
              <a:spLocks noChangeArrowheads="1"/>
            </p:cNvSpPr>
            <p:nvPr/>
          </p:nvSpPr>
          <p:spPr bwMode="auto">
            <a:xfrm>
              <a:off x="892" y="1158"/>
              <a:ext cx="851" cy="18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b="1">
                  <a:solidFill>
                    <a:srgbClr val="0000CC"/>
                  </a:solidFill>
                  <a:latin typeface="+mn-lt"/>
                  <a:ea typeface="黑体" pitchFamily="2" charset="-122"/>
                </a:rPr>
                <a:t>置为全 </a:t>
              </a:r>
              <a:r>
                <a:rPr kumimoji="1" lang="en-US" altLang="zh-CN" sz="2000" b="1">
                  <a:solidFill>
                    <a:srgbClr val="0000CC"/>
                  </a:solidFill>
                  <a:latin typeface="+mn-lt"/>
                  <a:ea typeface="黑体" pitchFamily="2" charset="-122"/>
                </a:rPr>
                <a:t>0</a:t>
              </a:r>
            </a:p>
          </p:txBody>
        </p:sp>
        <p:sp>
          <p:nvSpPr>
            <p:cNvPr id="481291" name="Text Box 11"/>
            <p:cNvSpPr txBox="1">
              <a:spLocks noChangeArrowheads="1"/>
            </p:cNvSpPr>
            <p:nvPr/>
          </p:nvSpPr>
          <p:spPr bwMode="auto">
            <a:xfrm>
              <a:off x="295" y="1111"/>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检验和</a:t>
              </a:r>
            </a:p>
          </p:txBody>
        </p:sp>
      </p:grpSp>
      <p:sp>
        <p:nvSpPr>
          <p:cNvPr id="481292" name="Rectangle 12"/>
          <p:cNvSpPr>
            <a:spLocks noChangeArrowheads="1"/>
          </p:cNvSpPr>
          <p:nvPr/>
        </p:nvSpPr>
        <p:spPr bwMode="auto">
          <a:xfrm>
            <a:off x="1749326" y="3021732"/>
            <a:ext cx="1463543" cy="296862"/>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CC"/>
                </a:solidFill>
                <a:latin typeface="+mn-lt"/>
                <a:ea typeface="黑体" pitchFamily="2" charset="-122"/>
              </a:rPr>
              <a:t>16 </a:t>
            </a:r>
            <a:r>
              <a:rPr kumimoji="1" lang="zh-CN" altLang="en-US" sz="2000" b="1">
                <a:solidFill>
                  <a:srgbClr val="0000CC"/>
                </a:solidFill>
                <a:latin typeface="+mn-lt"/>
                <a:ea typeface="黑体" pitchFamily="2" charset="-122"/>
              </a:rPr>
              <a:t>位</a:t>
            </a:r>
          </a:p>
        </p:txBody>
      </p:sp>
      <p:sp>
        <p:nvSpPr>
          <p:cNvPr id="481293" name="Text Box 13"/>
          <p:cNvSpPr txBox="1">
            <a:spLocks noChangeArrowheads="1"/>
          </p:cNvSpPr>
          <p:nvPr/>
        </p:nvSpPr>
        <p:spPr bwMode="auto">
          <a:xfrm>
            <a:off x="1002936" y="2961408"/>
            <a:ext cx="6703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字 </a:t>
            </a:r>
            <a:r>
              <a:rPr kumimoji="1" lang="en-US" altLang="zh-CN" sz="2000" b="1">
                <a:solidFill>
                  <a:srgbClr val="0000CC"/>
                </a:solidFill>
                <a:latin typeface="+mn-lt"/>
                <a:ea typeface="黑体" pitchFamily="2" charset="-122"/>
              </a:rPr>
              <a:t>n</a:t>
            </a:r>
          </a:p>
        </p:txBody>
      </p:sp>
      <p:grpSp>
        <p:nvGrpSpPr>
          <p:cNvPr id="481348" name="Group 68"/>
          <p:cNvGrpSpPr>
            <a:grpSpLocks/>
          </p:cNvGrpSpPr>
          <p:nvPr/>
        </p:nvGrpSpPr>
        <p:grpSpPr bwMode="auto">
          <a:xfrm>
            <a:off x="500756" y="3551956"/>
            <a:ext cx="2712112" cy="708024"/>
            <a:chOff x="166" y="1875"/>
            <a:chExt cx="1577" cy="446"/>
          </a:xfrm>
        </p:grpSpPr>
        <p:sp>
          <p:nvSpPr>
            <p:cNvPr id="481294" name="Rectangle 14"/>
            <p:cNvSpPr>
              <a:spLocks noChangeArrowheads="1"/>
            </p:cNvSpPr>
            <p:nvPr/>
          </p:nvSpPr>
          <p:spPr bwMode="auto">
            <a:xfrm>
              <a:off x="892" y="2000"/>
              <a:ext cx="851" cy="188"/>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CC"/>
                  </a:solidFill>
                  <a:latin typeface="+mn-lt"/>
                  <a:ea typeface="黑体" pitchFamily="2" charset="-122"/>
                </a:rPr>
                <a:t>16 </a:t>
              </a:r>
              <a:r>
                <a:rPr kumimoji="1" lang="zh-CN" altLang="en-US" sz="2000" b="1">
                  <a:solidFill>
                    <a:srgbClr val="0000CC"/>
                  </a:solidFill>
                  <a:latin typeface="+mn-lt"/>
                  <a:ea typeface="黑体" pitchFamily="2" charset="-122"/>
                </a:rPr>
                <a:t>位</a:t>
              </a:r>
            </a:p>
          </p:txBody>
        </p:sp>
        <p:sp>
          <p:nvSpPr>
            <p:cNvPr id="481295" name="Text Box 15"/>
            <p:cNvSpPr txBox="1">
              <a:spLocks noChangeArrowheads="1"/>
            </p:cNvSpPr>
            <p:nvPr/>
          </p:nvSpPr>
          <p:spPr bwMode="auto">
            <a:xfrm>
              <a:off x="166" y="1875"/>
              <a:ext cx="704"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反码算术</a:t>
              </a:r>
            </a:p>
            <a:p>
              <a:r>
                <a:rPr kumimoji="1" lang="zh-CN" altLang="en-US" sz="2000" b="1">
                  <a:solidFill>
                    <a:srgbClr val="0000CC"/>
                  </a:solidFill>
                  <a:latin typeface="+mn-lt"/>
                  <a:ea typeface="黑体" pitchFamily="2" charset="-122"/>
                </a:rPr>
                <a:t>运算求和</a:t>
              </a:r>
            </a:p>
          </p:txBody>
        </p:sp>
      </p:grpSp>
      <p:sp>
        <p:nvSpPr>
          <p:cNvPr id="481299" name="Text Box 19"/>
          <p:cNvSpPr txBox="1">
            <a:spLocks noChangeArrowheads="1"/>
          </p:cNvSpPr>
          <p:nvPr/>
        </p:nvSpPr>
        <p:spPr bwMode="auto">
          <a:xfrm>
            <a:off x="2132839" y="202002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t>
            </a:r>
          </a:p>
        </p:txBody>
      </p:sp>
      <p:sp>
        <p:nvSpPr>
          <p:cNvPr id="481300" name="Text Box 20"/>
          <p:cNvSpPr txBox="1">
            <a:spLocks noChangeArrowheads="1"/>
          </p:cNvSpPr>
          <p:nvPr/>
        </p:nvSpPr>
        <p:spPr bwMode="auto">
          <a:xfrm>
            <a:off x="2115641" y="261057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t>
            </a:r>
          </a:p>
        </p:txBody>
      </p:sp>
      <p:sp>
        <p:nvSpPr>
          <p:cNvPr id="481301" name="Line 21"/>
          <p:cNvSpPr>
            <a:spLocks noChangeShapeType="1"/>
          </p:cNvSpPr>
          <p:nvPr/>
        </p:nvSpPr>
        <p:spPr bwMode="auto">
          <a:xfrm>
            <a:off x="818918" y="3455119"/>
            <a:ext cx="292880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481349" name="Group 69"/>
          <p:cNvGrpSpPr>
            <a:grpSpLocks/>
          </p:cNvGrpSpPr>
          <p:nvPr/>
        </p:nvGrpSpPr>
        <p:grpSpPr bwMode="auto">
          <a:xfrm>
            <a:off x="1530913" y="4152032"/>
            <a:ext cx="1081748" cy="501650"/>
            <a:chOff x="765" y="2253"/>
            <a:chExt cx="629" cy="316"/>
          </a:xfrm>
        </p:grpSpPr>
        <p:sp>
          <p:nvSpPr>
            <p:cNvPr id="481298" name="AutoShape 18"/>
            <p:cNvSpPr>
              <a:spLocks noChangeArrowheads="1"/>
            </p:cNvSpPr>
            <p:nvPr/>
          </p:nvSpPr>
          <p:spPr bwMode="auto">
            <a:xfrm>
              <a:off x="1293" y="2253"/>
              <a:ext cx="101" cy="316"/>
            </a:xfrm>
            <a:prstGeom prst="downArrow">
              <a:avLst>
                <a:gd name="adj1" fmla="val 50000"/>
                <a:gd name="adj2" fmla="val 7821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1302" name="Text Box 22"/>
            <p:cNvSpPr txBox="1">
              <a:spLocks noChangeArrowheads="1"/>
            </p:cNvSpPr>
            <p:nvPr/>
          </p:nvSpPr>
          <p:spPr bwMode="auto">
            <a:xfrm>
              <a:off x="765" y="2264"/>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取反码</a:t>
              </a:r>
            </a:p>
          </p:txBody>
        </p:sp>
      </p:grpSp>
      <p:sp>
        <p:nvSpPr>
          <p:cNvPr id="481303" name="AutoShape 23"/>
          <p:cNvSpPr>
            <a:spLocks/>
          </p:cNvSpPr>
          <p:nvPr/>
        </p:nvSpPr>
        <p:spPr bwMode="auto">
          <a:xfrm>
            <a:off x="645219" y="1402483"/>
            <a:ext cx="173700" cy="1931987"/>
          </a:xfrm>
          <a:prstGeom prst="leftBrace">
            <a:avLst>
              <a:gd name="adj1" fmla="val 100412"/>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1304" name="Text Box 24"/>
          <p:cNvSpPr txBox="1">
            <a:spLocks noChangeArrowheads="1"/>
          </p:cNvSpPr>
          <p:nvPr/>
        </p:nvSpPr>
        <p:spPr bwMode="auto">
          <a:xfrm>
            <a:off x="215271" y="1597745"/>
            <a:ext cx="44114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数</a:t>
            </a:r>
          </a:p>
          <a:p>
            <a:r>
              <a:rPr kumimoji="1" lang="zh-CN" altLang="en-US" sz="2000" b="1">
                <a:solidFill>
                  <a:srgbClr val="0000CC"/>
                </a:solidFill>
                <a:latin typeface="+mn-lt"/>
                <a:ea typeface="黑体" pitchFamily="2" charset="-122"/>
              </a:rPr>
              <a:t>据</a:t>
            </a:r>
          </a:p>
          <a:p>
            <a:r>
              <a:rPr kumimoji="1" lang="zh-CN" altLang="en-US" sz="2000" b="1">
                <a:solidFill>
                  <a:srgbClr val="0000CC"/>
                </a:solidFill>
                <a:latin typeface="+mn-lt"/>
                <a:ea typeface="黑体" pitchFamily="2" charset="-122"/>
              </a:rPr>
              <a:t>报</a:t>
            </a:r>
          </a:p>
          <a:p>
            <a:r>
              <a:rPr kumimoji="1" lang="zh-CN" altLang="en-US" sz="2000" b="1">
                <a:solidFill>
                  <a:srgbClr val="0000CC"/>
                </a:solidFill>
                <a:latin typeface="+mn-lt"/>
                <a:ea typeface="黑体" pitchFamily="2" charset="-122"/>
              </a:rPr>
              <a:t>首</a:t>
            </a:r>
          </a:p>
          <a:p>
            <a:r>
              <a:rPr kumimoji="1" lang="zh-CN" altLang="en-US" sz="2000" b="1">
                <a:solidFill>
                  <a:srgbClr val="0000CC"/>
                </a:solidFill>
                <a:latin typeface="+mn-lt"/>
                <a:ea typeface="黑体" pitchFamily="2" charset="-122"/>
              </a:rPr>
              <a:t>部</a:t>
            </a:r>
          </a:p>
        </p:txBody>
      </p:sp>
      <p:sp>
        <p:nvSpPr>
          <p:cNvPr id="481305" name="Rectangle 25"/>
          <p:cNvSpPr>
            <a:spLocks noChangeArrowheads="1"/>
          </p:cNvSpPr>
          <p:nvPr/>
        </p:nvSpPr>
        <p:spPr bwMode="auto">
          <a:xfrm>
            <a:off x="4091682" y="4509219"/>
            <a:ext cx="1893491" cy="74295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1306" name="Rectangle 26"/>
          <p:cNvSpPr>
            <a:spLocks noChangeArrowheads="1"/>
          </p:cNvSpPr>
          <p:nvPr/>
        </p:nvSpPr>
        <p:spPr bwMode="auto">
          <a:xfrm>
            <a:off x="5049606" y="4815608"/>
            <a:ext cx="926967" cy="134937"/>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1307" name="Text Box 27"/>
          <p:cNvSpPr txBox="1">
            <a:spLocks noChangeArrowheads="1"/>
          </p:cNvSpPr>
          <p:nvPr/>
        </p:nvSpPr>
        <p:spPr bwMode="auto">
          <a:xfrm>
            <a:off x="4449399" y="4123458"/>
            <a:ext cx="12668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数据报</a:t>
            </a:r>
          </a:p>
        </p:txBody>
      </p:sp>
      <p:sp>
        <p:nvSpPr>
          <p:cNvPr id="481308" name="Line 28"/>
          <p:cNvSpPr>
            <a:spLocks noChangeShapeType="1"/>
          </p:cNvSpPr>
          <p:nvPr/>
        </p:nvSpPr>
        <p:spPr bwMode="auto">
          <a:xfrm>
            <a:off x="4091682" y="4656857"/>
            <a:ext cx="18934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81309" name="Line 29"/>
          <p:cNvSpPr>
            <a:spLocks noChangeShapeType="1"/>
          </p:cNvSpPr>
          <p:nvPr/>
        </p:nvSpPr>
        <p:spPr bwMode="auto">
          <a:xfrm>
            <a:off x="4091682" y="4807669"/>
            <a:ext cx="18934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81310" name="Line 30"/>
          <p:cNvSpPr>
            <a:spLocks noChangeShapeType="1"/>
          </p:cNvSpPr>
          <p:nvPr/>
        </p:nvSpPr>
        <p:spPr bwMode="auto">
          <a:xfrm>
            <a:off x="4091682" y="4955307"/>
            <a:ext cx="18934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81311" name="Line 31"/>
          <p:cNvSpPr>
            <a:spLocks noChangeShapeType="1"/>
          </p:cNvSpPr>
          <p:nvPr/>
        </p:nvSpPr>
        <p:spPr bwMode="auto">
          <a:xfrm>
            <a:off x="4091682" y="5102944"/>
            <a:ext cx="18934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81312" name="Line 32"/>
          <p:cNvSpPr>
            <a:spLocks noChangeShapeType="1"/>
          </p:cNvSpPr>
          <p:nvPr/>
        </p:nvSpPr>
        <p:spPr bwMode="auto">
          <a:xfrm>
            <a:off x="4091682" y="5252169"/>
            <a:ext cx="18934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81313" name="Line 33"/>
          <p:cNvSpPr>
            <a:spLocks noChangeShapeType="1"/>
          </p:cNvSpPr>
          <p:nvPr/>
        </p:nvSpPr>
        <p:spPr bwMode="auto">
          <a:xfrm>
            <a:off x="5039287" y="4509219"/>
            <a:ext cx="0" cy="4460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81314" name="Line 34"/>
          <p:cNvSpPr>
            <a:spLocks noChangeShapeType="1"/>
          </p:cNvSpPr>
          <p:nvPr/>
        </p:nvSpPr>
        <p:spPr bwMode="auto">
          <a:xfrm>
            <a:off x="4607619" y="4807669"/>
            <a:ext cx="0" cy="1476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81315" name="Line 35"/>
          <p:cNvSpPr>
            <a:spLocks noChangeShapeType="1"/>
          </p:cNvSpPr>
          <p:nvPr/>
        </p:nvSpPr>
        <p:spPr bwMode="auto">
          <a:xfrm>
            <a:off x="4607619" y="4509219"/>
            <a:ext cx="0" cy="1476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81316" name="Line 36"/>
          <p:cNvSpPr>
            <a:spLocks noChangeShapeType="1"/>
          </p:cNvSpPr>
          <p:nvPr/>
        </p:nvSpPr>
        <p:spPr bwMode="auto">
          <a:xfrm>
            <a:off x="4351371" y="4509219"/>
            <a:ext cx="0" cy="1476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81317" name="Line 37"/>
          <p:cNvSpPr>
            <a:spLocks noChangeShapeType="1"/>
          </p:cNvSpPr>
          <p:nvPr/>
        </p:nvSpPr>
        <p:spPr bwMode="auto">
          <a:xfrm>
            <a:off x="5183750" y="4656857"/>
            <a:ext cx="0" cy="150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81318" name="Line 38"/>
          <p:cNvSpPr>
            <a:spLocks noChangeShapeType="1"/>
          </p:cNvSpPr>
          <p:nvPr/>
        </p:nvSpPr>
        <p:spPr bwMode="auto">
          <a:xfrm>
            <a:off x="5469235" y="5102945"/>
            <a:ext cx="0" cy="149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481351" name="Group 71"/>
          <p:cNvGrpSpPr>
            <a:grpSpLocks/>
          </p:cNvGrpSpPr>
          <p:nvPr/>
        </p:nvGrpSpPr>
        <p:grpSpPr bwMode="auto">
          <a:xfrm>
            <a:off x="765605" y="4661624"/>
            <a:ext cx="2447264" cy="400051"/>
            <a:chOff x="320" y="2574"/>
            <a:chExt cx="1423" cy="252"/>
          </a:xfrm>
        </p:grpSpPr>
        <p:sp>
          <p:nvSpPr>
            <p:cNvPr id="481296" name="Rectangle 16"/>
            <p:cNvSpPr>
              <a:spLocks noChangeArrowheads="1"/>
            </p:cNvSpPr>
            <p:nvPr/>
          </p:nvSpPr>
          <p:spPr bwMode="auto">
            <a:xfrm>
              <a:off x="892" y="2619"/>
              <a:ext cx="851" cy="18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CC"/>
                  </a:solidFill>
                  <a:latin typeface="+mn-lt"/>
                  <a:ea typeface="黑体" pitchFamily="2" charset="-122"/>
                </a:rPr>
                <a:t>16 </a:t>
              </a:r>
              <a:r>
                <a:rPr kumimoji="1" lang="zh-CN" altLang="en-US" sz="2000" b="1">
                  <a:solidFill>
                    <a:srgbClr val="0000CC"/>
                  </a:solidFill>
                  <a:latin typeface="+mn-lt"/>
                  <a:ea typeface="黑体" pitchFamily="2" charset="-122"/>
                </a:rPr>
                <a:t>位</a:t>
              </a:r>
            </a:p>
          </p:txBody>
        </p:sp>
        <p:sp>
          <p:nvSpPr>
            <p:cNvPr id="481297" name="Text Box 17"/>
            <p:cNvSpPr txBox="1">
              <a:spLocks noChangeArrowheads="1"/>
            </p:cNvSpPr>
            <p:nvPr/>
          </p:nvSpPr>
          <p:spPr bwMode="auto">
            <a:xfrm>
              <a:off x="320" y="2574"/>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检验和</a:t>
              </a:r>
            </a:p>
          </p:txBody>
        </p:sp>
      </p:grpSp>
      <p:sp>
        <p:nvSpPr>
          <p:cNvPr id="481319" name="Line 39"/>
          <p:cNvSpPr>
            <a:spLocks noChangeShapeType="1"/>
          </p:cNvSpPr>
          <p:nvPr/>
        </p:nvSpPr>
        <p:spPr bwMode="auto">
          <a:xfrm>
            <a:off x="3231786" y="4893394"/>
            <a:ext cx="232343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81320" name="Rectangle 40"/>
          <p:cNvSpPr>
            <a:spLocks noChangeArrowheads="1"/>
          </p:cNvSpPr>
          <p:nvPr/>
        </p:nvSpPr>
        <p:spPr bwMode="auto">
          <a:xfrm>
            <a:off x="7667129" y="1388195"/>
            <a:ext cx="1463542" cy="296863"/>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CC"/>
                </a:solidFill>
                <a:latin typeface="+mn-lt"/>
                <a:ea typeface="黑体" pitchFamily="2" charset="-122"/>
              </a:rPr>
              <a:t>16 </a:t>
            </a:r>
            <a:r>
              <a:rPr kumimoji="1" lang="zh-CN" altLang="en-US" sz="2000" b="1">
                <a:solidFill>
                  <a:srgbClr val="0000CC"/>
                </a:solidFill>
                <a:latin typeface="+mn-lt"/>
                <a:ea typeface="黑体" pitchFamily="2" charset="-122"/>
              </a:rPr>
              <a:t>位</a:t>
            </a:r>
          </a:p>
        </p:txBody>
      </p:sp>
      <p:sp>
        <p:nvSpPr>
          <p:cNvPr id="481321" name="Text Box 41"/>
          <p:cNvSpPr txBox="1">
            <a:spLocks noChangeArrowheads="1"/>
          </p:cNvSpPr>
          <p:nvPr/>
        </p:nvSpPr>
        <p:spPr bwMode="auto">
          <a:xfrm>
            <a:off x="6919019" y="1327870"/>
            <a:ext cx="6559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字 </a:t>
            </a:r>
            <a:r>
              <a:rPr kumimoji="1" lang="en-US" altLang="zh-CN" sz="2000" b="1">
                <a:solidFill>
                  <a:srgbClr val="0000CC"/>
                </a:solidFill>
                <a:latin typeface="+mn-lt"/>
                <a:ea typeface="黑体" pitchFamily="2" charset="-122"/>
              </a:rPr>
              <a:t>1</a:t>
            </a:r>
          </a:p>
        </p:txBody>
      </p:sp>
      <p:sp>
        <p:nvSpPr>
          <p:cNvPr id="481322" name="Rectangle 42"/>
          <p:cNvSpPr>
            <a:spLocks noChangeArrowheads="1"/>
          </p:cNvSpPr>
          <p:nvPr/>
        </p:nvSpPr>
        <p:spPr bwMode="auto">
          <a:xfrm>
            <a:off x="7667129" y="1805708"/>
            <a:ext cx="1463542" cy="2952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CC"/>
                </a:solidFill>
                <a:latin typeface="+mn-lt"/>
                <a:ea typeface="黑体" pitchFamily="2" charset="-122"/>
              </a:rPr>
              <a:t>16 </a:t>
            </a:r>
            <a:r>
              <a:rPr kumimoji="1" lang="zh-CN" altLang="en-US" sz="2000" b="1">
                <a:solidFill>
                  <a:srgbClr val="0000CC"/>
                </a:solidFill>
                <a:latin typeface="+mn-lt"/>
                <a:ea typeface="黑体" pitchFamily="2" charset="-122"/>
              </a:rPr>
              <a:t>位</a:t>
            </a:r>
          </a:p>
        </p:txBody>
      </p:sp>
      <p:sp>
        <p:nvSpPr>
          <p:cNvPr id="481323" name="Text Box 43"/>
          <p:cNvSpPr txBox="1">
            <a:spLocks noChangeArrowheads="1"/>
          </p:cNvSpPr>
          <p:nvPr/>
        </p:nvSpPr>
        <p:spPr bwMode="auto">
          <a:xfrm>
            <a:off x="6919019" y="1743795"/>
            <a:ext cx="6559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字 </a:t>
            </a:r>
            <a:r>
              <a:rPr kumimoji="1" lang="en-US" altLang="zh-CN" sz="2000" b="1">
                <a:solidFill>
                  <a:srgbClr val="0000CC"/>
                </a:solidFill>
                <a:latin typeface="+mn-lt"/>
                <a:ea typeface="黑体" pitchFamily="2" charset="-122"/>
              </a:rPr>
              <a:t>2</a:t>
            </a:r>
          </a:p>
        </p:txBody>
      </p:sp>
      <p:grpSp>
        <p:nvGrpSpPr>
          <p:cNvPr id="481353" name="Group 73"/>
          <p:cNvGrpSpPr>
            <a:grpSpLocks/>
          </p:cNvGrpSpPr>
          <p:nvPr/>
        </p:nvGrpSpPr>
        <p:grpSpPr bwMode="auto">
          <a:xfrm>
            <a:off x="6671370" y="2324822"/>
            <a:ext cx="2459302" cy="400051"/>
            <a:chOff x="3754" y="1102"/>
            <a:chExt cx="1430" cy="252"/>
          </a:xfrm>
        </p:grpSpPr>
        <p:sp>
          <p:nvSpPr>
            <p:cNvPr id="481324" name="Rectangle 44"/>
            <p:cNvSpPr>
              <a:spLocks noChangeArrowheads="1"/>
            </p:cNvSpPr>
            <p:nvPr/>
          </p:nvSpPr>
          <p:spPr bwMode="auto">
            <a:xfrm>
              <a:off x="4333" y="1158"/>
              <a:ext cx="851" cy="18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CC"/>
                  </a:solidFill>
                  <a:latin typeface="+mn-lt"/>
                  <a:ea typeface="黑体" pitchFamily="2" charset="-122"/>
                </a:rPr>
                <a:t>16 </a:t>
              </a:r>
              <a:r>
                <a:rPr kumimoji="1" lang="zh-CN" altLang="en-US" sz="2000" b="1">
                  <a:solidFill>
                    <a:srgbClr val="0000CC"/>
                  </a:solidFill>
                  <a:latin typeface="+mn-lt"/>
                  <a:ea typeface="黑体" pitchFamily="2" charset="-122"/>
                </a:rPr>
                <a:t>位</a:t>
              </a:r>
            </a:p>
          </p:txBody>
        </p:sp>
        <p:sp>
          <p:nvSpPr>
            <p:cNvPr id="481325" name="Text Box 45"/>
            <p:cNvSpPr txBox="1">
              <a:spLocks noChangeArrowheads="1"/>
            </p:cNvSpPr>
            <p:nvPr/>
          </p:nvSpPr>
          <p:spPr bwMode="auto">
            <a:xfrm>
              <a:off x="3754" y="1102"/>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检验和</a:t>
              </a:r>
            </a:p>
          </p:txBody>
        </p:sp>
      </p:grpSp>
      <p:sp>
        <p:nvSpPr>
          <p:cNvPr id="481326" name="Rectangle 46"/>
          <p:cNvSpPr>
            <a:spLocks noChangeArrowheads="1"/>
          </p:cNvSpPr>
          <p:nvPr/>
        </p:nvSpPr>
        <p:spPr bwMode="auto">
          <a:xfrm>
            <a:off x="7667129" y="3021732"/>
            <a:ext cx="1463542" cy="296862"/>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CC"/>
                </a:solidFill>
                <a:latin typeface="+mn-lt"/>
                <a:ea typeface="黑体" pitchFamily="2" charset="-122"/>
              </a:rPr>
              <a:t>16 </a:t>
            </a:r>
            <a:r>
              <a:rPr kumimoji="1" lang="zh-CN" altLang="en-US" sz="2000" b="1">
                <a:solidFill>
                  <a:srgbClr val="0000CC"/>
                </a:solidFill>
                <a:latin typeface="+mn-lt"/>
                <a:ea typeface="黑体" pitchFamily="2" charset="-122"/>
              </a:rPr>
              <a:t>位</a:t>
            </a:r>
          </a:p>
        </p:txBody>
      </p:sp>
      <p:sp>
        <p:nvSpPr>
          <p:cNvPr id="481327" name="Text Box 47"/>
          <p:cNvSpPr txBox="1">
            <a:spLocks noChangeArrowheads="1"/>
          </p:cNvSpPr>
          <p:nvPr/>
        </p:nvSpPr>
        <p:spPr bwMode="auto">
          <a:xfrm>
            <a:off x="6919019" y="2961408"/>
            <a:ext cx="6703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字 </a:t>
            </a:r>
            <a:r>
              <a:rPr kumimoji="1" lang="en-US" altLang="zh-CN" sz="2000" b="1">
                <a:solidFill>
                  <a:srgbClr val="0000CC"/>
                </a:solidFill>
                <a:latin typeface="+mn-lt"/>
                <a:ea typeface="黑体" pitchFamily="2" charset="-122"/>
              </a:rPr>
              <a:t>n</a:t>
            </a:r>
          </a:p>
        </p:txBody>
      </p:sp>
      <p:grpSp>
        <p:nvGrpSpPr>
          <p:cNvPr id="481354" name="Group 74"/>
          <p:cNvGrpSpPr>
            <a:grpSpLocks/>
          </p:cNvGrpSpPr>
          <p:nvPr/>
        </p:nvGrpSpPr>
        <p:grpSpPr bwMode="auto">
          <a:xfrm>
            <a:off x="6416840" y="3551956"/>
            <a:ext cx="2713831" cy="708024"/>
            <a:chOff x="3606" y="1875"/>
            <a:chExt cx="1578" cy="446"/>
          </a:xfrm>
        </p:grpSpPr>
        <p:sp>
          <p:nvSpPr>
            <p:cNvPr id="481328" name="Rectangle 48"/>
            <p:cNvSpPr>
              <a:spLocks noChangeArrowheads="1"/>
            </p:cNvSpPr>
            <p:nvPr/>
          </p:nvSpPr>
          <p:spPr bwMode="auto">
            <a:xfrm>
              <a:off x="4333" y="2000"/>
              <a:ext cx="851" cy="188"/>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CC"/>
                  </a:solidFill>
                  <a:latin typeface="+mn-lt"/>
                  <a:ea typeface="黑体" pitchFamily="2" charset="-122"/>
                </a:rPr>
                <a:t>16 </a:t>
              </a:r>
              <a:r>
                <a:rPr kumimoji="1" lang="zh-CN" altLang="en-US" sz="2000" b="1">
                  <a:solidFill>
                    <a:srgbClr val="0000CC"/>
                  </a:solidFill>
                  <a:latin typeface="+mn-lt"/>
                  <a:ea typeface="黑体" pitchFamily="2" charset="-122"/>
                </a:rPr>
                <a:t>位</a:t>
              </a:r>
            </a:p>
          </p:txBody>
        </p:sp>
        <p:sp>
          <p:nvSpPr>
            <p:cNvPr id="481329" name="Text Box 49"/>
            <p:cNvSpPr txBox="1">
              <a:spLocks noChangeArrowheads="1"/>
            </p:cNvSpPr>
            <p:nvPr/>
          </p:nvSpPr>
          <p:spPr bwMode="auto">
            <a:xfrm>
              <a:off x="3606" y="1875"/>
              <a:ext cx="704"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反码算术</a:t>
              </a:r>
            </a:p>
            <a:p>
              <a:r>
                <a:rPr kumimoji="1" lang="zh-CN" altLang="en-US" sz="2000" b="1">
                  <a:solidFill>
                    <a:srgbClr val="0000CC"/>
                  </a:solidFill>
                  <a:latin typeface="+mn-lt"/>
                  <a:ea typeface="黑体" pitchFamily="2" charset="-122"/>
                </a:rPr>
                <a:t>运算求和</a:t>
              </a:r>
            </a:p>
          </p:txBody>
        </p:sp>
      </p:grpSp>
      <p:grpSp>
        <p:nvGrpSpPr>
          <p:cNvPr id="481356" name="Group 76"/>
          <p:cNvGrpSpPr>
            <a:grpSpLocks/>
          </p:cNvGrpSpPr>
          <p:nvPr/>
        </p:nvGrpSpPr>
        <p:grpSpPr bwMode="auto">
          <a:xfrm>
            <a:off x="6958575" y="4661624"/>
            <a:ext cx="2172096" cy="400051"/>
            <a:chOff x="3921" y="2574"/>
            <a:chExt cx="1263" cy="252"/>
          </a:xfrm>
        </p:grpSpPr>
        <p:sp>
          <p:nvSpPr>
            <p:cNvPr id="481330" name="Rectangle 50"/>
            <p:cNvSpPr>
              <a:spLocks noChangeArrowheads="1"/>
            </p:cNvSpPr>
            <p:nvPr/>
          </p:nvSpPr>
          <p:spPr bwMode="auto">
            <a:xfrm>
              <a:off x="4333" y="2619"/>
              <a:ext cx="851" cy="18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CC"/>
                  </a:solidFill>
                  <a:latin typeface="+mn-lt"/>
                  <a:ea typeface="黑体" pitchFamily="2" charset="-122"/>
                </a:rPr>
                <a:t>16 </a:t>
              </a:r>
              <a:r>
                <a:rPr kumimoji="1" lang="zh-CN" altLang="en-US" sz="2000" b="1">
                  <a:solidFill>
                    <a:srgbClr val="0000CC"/>
                  </a:solidFill>
                  <a:latin typeface="+mn-lt"/>
                  <a:ea typeface="黑体" pitchFamily="2" charset="-122"/>
                </a:rPr>
                <a:t>位</a:t>
              </a:r>
            </a:p>
          </p:txBody>
        </p:sp>
        <p:sp>
          <p:nvSpPr>
            <p:cNvPr id="481331" name="Text Box 51"/>
            <p:cNvSpPr txBox="1">
              <a:spLocks noChangeArrowheads="1"/>
            </p:cNvSpPr>
            <p:nvPr/>
          </p:nvSpPr>
          <p:spPr bwMode="auto">
            <a:xfrm>
              <a:off x="3921" y="2574"/>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结果</a:t>
              </a:r>
            </a:p>
          </p:txBody>
        </p:sp>
      </p:grpSp>
      <p:sp>
        <p:nvSpPr>
          <p:cNvPr id="481333" name="Text Box 53"/>
          <p:cNvSpPr txBox="1">
            <a:spLocks noChangeArrowheads="1"/>
          </p:cNvSpPr>
          <p:nvPr/>
        </p:nvSpPr>
        <p:spPr bwMode="auto">
          <a:xfrm>
            <a:off x="8050642" y="202002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t>
            </a:r>
          </a:p>
        </p:txBody>
      </p:sp>
      <p:sp>
        <p:nvSpPr>
          <p:cNvPr id="481334" name="Text Box 54"/>
          <p:cNvSpPr txBox="1">
            <a:spLocks noChangeArrowheads="1"/>
          </p:cNvSpPr>
          <p:nvPr/>
        </p:nvSpPr>
        <p:spPr bwMode="auto">
          <a:xfrm>
            <a:off x="8033444" y="261057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t>
            </a:r>
          </a:p>
        </p:txBody>
      </p:sp>
      <p:sp>
        <p:nvSpPr>
          <p:cNvPr id="481335" name="Line 55"/>
          <p:cNvSpPr>
            <a:spLocks noChangeShapeType="1"/>
          </p:cNvSpPr>
          <p:nvPr/>
        </p:nvSpPr>
        <p:spPr bwMode="auto">
          <a:xfrm>
            <a:off x="6863986" y="3455119"/>
            <a:ext cx="279982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481355" name="Group 75"/>
          <p:cNvGrpSpPr>
            <a:grpSpLocks/>
          </p:cNvGrpSpPr>
          <p:nvPr/>
        </p:nvGrpSpPr>
        <p:grpSpPr bwMode="auto">
          <a:xfrm>
            <a:off x="7352407" y="4152032"/>
            <a:ext cx="1174618" cy="501650"/>
            <a:chOff x="4150" y="2253"/>
            <a:chExt cx="683" cy="316"/>
          </a:xfrm>
        </p:grpSpPr>
        <p:sp>
          <p:nvSpPr>
            <p:cNvPr id="481332" name="AutoShape 52"/>
            <p:cNvSpPr>
              <a:spLocks noChangeArrowheads="1"/>
            </p:cNvSpPr>
            <p:nvPr/>
          </p:nvSpPr>
          <p:spPr bwMode="auto">
            <a:xfrm>
              <a:off x="4733" y="2253"/>
              <a:ext cx="100" cy="316"/>
            </a:xfrm>
            <a:prstGeom prst="downArrow">
              <a:avLst>
                <a:gd name="adj1" fmla="val 50000"/>
                <a:gd name="adj2" fmla="val 79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1336" name="Text Box 56"/>
            <p:cNvSpPr txBox="1">
              <a:spLocks noChangeArrowheads="1"/>
            </p:cNvSpPr>
            <p:nvPr/>
          </p:nvSpPr>
          <p:spPr bwMode="auto">
            <a:xfrm>
              <a:off x="4150" y="2264"/>
              <a:ext cx="55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取反码</a:t>
              </a:r>
            </a:p>
          </p:txBody>
        </p:sp>
      </p:grpSp>
      <p:sp>
        <p:nvSpPr>
          <p:cNvPr id="481337" name="AutoShape 57"/>
          <p:cNvSpPr>
            <a:spLocks/>
          </p:cNvSpPr>
          <p:nvPr/>
        </p:nvSpPr>
        <p:spPr bwMode="auto">
          <a:xfrm>
            <a:off x="6649012" y="1402483"/>
            <a:ext cx="171979" cy="1931987"/>
          </a:xfrm>
          <a:prstGeom prst="leftBrace">
            <a:avLst>
              <a:gd name="adj1" fmla="val 101417"/>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b="1">
              <a:solidFill>
                <a:srgbClr val="0000CC"/>
              </a:solidFill>
              <a:latin typeface="+mn-lt"/>
              <a:ea typeface="黑体" pitchFamily="2" charset="-122"/>
            </a:endParaRPr>
          </a:p>
        </p:txBody>
      </p:sp>
      <p:sp>
        <p:nvSpPr>
          <p:cNvPr id="481338" name="Text Box 58"/>
          <p:cNvSpPr txBox="1">
            <a:spLocks noChangeArrowheads="1"/>
          </p:cNvSpPr>
          <p:nvPr/>
        </p:nvSpPr>
        <p:spPr bwMode="auto">
          <a:xfrm>
            <a:off x="4435640" y="5477595"/>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数据部分</a:t>
            </a:r>
          </a:p>
        </p:txBody>
      </p:sp>
      <p:sp>
        <p:nvSpPr>
          <p:cNvPr id="481339" name="AutoShape 59"/>
          <p:cNvSpPr>
            <a:spLocks/>
          </p:cNvSpPr>
          <p:nvPr/>
        </p:nvSpPr>
        <p:spPr bwMode="auto">
          <a:xfrm>
            <a:off x="5985173" y="4523507"/>
            <a:ext cx="173698" cy="742950"/>
          </a:xfrm>
          <a:prstGeom prst="rightBrace">
            <a:avLst>
              <a:gd name="adj1" fmla="val 38614"/>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1340" name="Freeform 60"/>
          <p:cNvSpPr>
            <a:spLocks/>
          </p:cNvSpPr>
          <p:nvPr/>
        </p:nvSpPr>
        <p:spPr bwMode="auto">
          <a:xfrm>
            <a:off x="6158872" y="2367682"/>
            <a:ext cx="491860" cy="2525712"/>
          </a:xfrm>
          <a:custGeom>
            <a:avLst/>
            <a:gdLst>
              <a:gd name="T0" fmla="*/ 0 w 464"/>
              <a:gd name="T1" fmla="*/ 1624 h 1624"/>
              <a:gd name="T2" fmla="*/ 56 w 464"/>
              <a:gd name="T3" fmla="*/ 1624 h 1624"/>
              <a:gd name="T4" fmla="*/ 56 w 464"/>
              <a:gd name="T5" fmla="*/ 0 h 1624"/>
              <a:gd name="T6" fmla="*/ 464 w 464"/>
              <a:gd name="T7" fmla="*/ 0 h 1624"/>
            </a:gdLst>
            <a:ahLst/>
            <a:cxnLst>
              <a:cxn ang="0">
                <a:pos x="T0" y="T1"/>
              </a:cxn>
              <a:cxn ang="0">
                <a:pos x="T2" y="T3"/>
              </a:cxn>
              <a:cxn ang="0">
                <a:pos x="T4" y="T5"/>
              </a:cxn>
              <a:cxn ang="0">
                <a:pos x="T6" y="T7"/>
              </a:cxn>
            </a:cxnLst>
            <a:rect l="0" t="0" r="r" b="b"/>
            <a:pathLst>
              <a:path w="464" h="1624">
                <a:moveTo>
                  <a:pt x="0" y="1624"/>
                </a:moveTo>
                <a:lnTo>
                  <a:pt x="56" y="1624"/>
                </a:lnTo>
                <a:lnTo>
                  <a:pt x="56" y="0"/>
                </a:lnTo>
                <a:lnTo>
                  <a:pt x="464" y="0"/>
                </a:lnTo>
              </a:path>
            </a:pathLst>
          </a:custGeom>
          <a:noFill/>
          <a:ln w="28575" cmpd="sng">
            <a:solidFill>
              <a:schemeClr val="tx1"/>
            </a:solidFill>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481357" name="Group 77"/>
          <p:cNvGrpSpPr>
            <a:grpSpLocks/>
          </p:cNvGrpSpPr>
          <p:nvPr/>
        </p:nvGrpSpPr>
        <p:grpSpPr bwMode="auto">
          <a:xfrm>
            <a:off x="7166669" y="5136282"/>
            <a:ext cx="2682875" cy="1389062"/>
            <a:chOff x="4042" y="2873"/>
            <a:chExt cx="1560" cy="875"/>
          </a:xfrm>
        </p:grpSpPr>
        <p:sp>
          <p:nvSpPr>
            <p:cNvPr id="481341" name="AutoShape 61"/>
            <p:cNvSpPr>
              <a:spLocks noChangeArrowheads="1"/>
            </p:cNvSpPr>
            <p:nvPr/>
          </p:nvSpPr>
          <p:spPr bwMode="auto">
            <a:xfrm>
              <a:off x="4742" y="2873"/>
              <a:ext cx="101" cy="316"/>
            </a:xfrm>
            <a:prstGeom prst="downArrow">
              <a:avLst>
                <a:gd name="adj1" fmla="val 50000"/>
                <a:gd name="adj2" fmla="val 7821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1342" name="Rectangle 62"/>
            <p:cNvSpPr>
              <a:spLocks noChangeArrowheads="1"/>
            </p:cNvSpPr>
            <p:nvPr/>
          </p:nvSpPr>
          <p:spPr bwMode="auto">
            <a:xfrm>
              <a:off x="4042" y="3235"/>
              <a:ext cx="1560" cy="513"/>
            </a:xfrm>
            <a:prstGeom prst="rect">
              <a:avLst/>
            </a:prstGeom>
            <a:solidFill>
              <a:srgbClr val="CCECFF"/>
            </a:solidFill>
            <a:ln w="12700">
              <a:solidFill>
                <a:srgbClr val="333399"/>
              </a:solidFill>
              <a:miter lim="800000"/>
              <a:headEnd/>
              <a:tailEnd/>
            </a:ln>
            <a:effectLst>
              <a:outerShdw dist="35921" dir="2700000" algn="ctr" rotWithShape="0">
                <a:schemeClr val="bg2"/>
              </a:outerShdw>
            </a:effectLst>
          </p:spPr>
          <p:txBody>
            <a:bodyPr wrap="none" anchor="ctr"/>
            <a:lstStyle/>
            <a:p>
              <a:r>
                <a:rPr kumimoji="1" lang="zh-CN" altLang="en-US" sz="2000" b="1">
                  <a:solidFill>
                    <a:srgbClr val="0000CC"/>
                  </a:solidFill>
                  <a:latin typeface="+mn-lt"/>
                  <a:ea typeface="黑体" pitchFamily="2" charset="-122"/>
                </a:rPr>
                <a:t>若结果为 </a:t>
              </a:r>
              <a:r>
                <a:rPr kumimoji="1" lang="en-US" altLang="zh-CN" sz="2000" b="1">
                  <a:solidFill>
                    <a:srgbClr val="0000CC"/>
                  </a:solidFill>
                  <a:latin typeface="+mn-lt"/>
                  <a:ea typeface="黑体" pitchFamily="2" charset="-122"/>
                </a:rPr>
                <a:t>0, </a:t>
              </a:r>
              <a:r>
                <a:rPr kumimoji="1" lang="zh-CN" altLang="en-US" sz="2000" b="1">
                  <a:solidFill>
                    <a:srgbClr val="0000CC"/>
                  </a:solidFill>
                  <a:latin typeface="+mn-lt"/>
                  <a:ea typeface="黑体" pitchFamily="2" charset="-122"/>
                </a:rPr>
                <a:t>则保留；</a:t>
              </a:r>
            </a:p>
            <a:p>
              <a:r>
                <a:rPr kumimoji="1" lang="zh-CN" altLang="en-US" sz="2000" b="1">
                  <a:solidFill>
                    <a:srgbClr val="0000CC"/>
                  </a:solidFill>
                  <a:latin typeface="+mn-lt"/>
                  <a:ea typeface="黑体" pitchFamily="2" charset="-122"/>
                </a:rPr>
                <a:t>否则，丢弃该数据报</a:t>
              </a:r>
            </a:p>
          </p:txBody>
        </p:sp>
      </p:grpSp>
      <p:grpSp>
        <p:nvGrpSpPr>
          <p:cNvPr id="481352" name="Group 72"/>
          <p:cNvGrpSpPr>
            <a:grpSpLocks/>
          </p:cNvGrpSpPr>
          <p:nvPr/>
        </p:nvGrpSpPr>
        <p:grpSpPr bwMode="auto">
          <a:xfrm>
            <a:off x="1202433" y="5463308"/>
            <a:ext cx="3124861" cy="708025"/>
            <a:chOff x="574" y="3079"/>
            <a:chExt cx="1817" cy="446"/>
          </a:xfrm>
        </p:grpSpPr>
        <p:sp>
          <p:nvSpPr>
            <p:cNvPr id="481343" name="Text Box 63"/>
            <p:cNvSpPr txBox="1">
              <a:spLocks noChangeArrowheads="1"/>
            </p:cNvSpPr>
            <p:nvPr/>
          </p:nvSpPr>
          <p:spPr bwMode="auto">
            <a:xfrm>
              <a:off x="574" y="3079"/>
              <a:ext cx="1450"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a:solidFill>
                    <a:srgbClr val="0000CC"/>
                  </a:solidFill>
                  <a:latin typeface="+mn-lt"/>
                  <a:ea typeface="黑体" pitchFamily="2" charset="-122"/>
                </a:rPr>
                <a:t>数据部分</a:t>
              </a:r>
            </a:p>
            <a:p>
              <a:pPr algn="ctr"/>
              <a:r>
                <a:rPr kumimoji="1" lang="zh-CN" altLang="en-US" sz="2000" b="1">
                  <a:solidFill>
                    <a:srgbClr val="0000CC"/>
                  </a:solidFill>
                  <a:latin typeface="+mn-lt"/>
                  <a:ea typeface="黑体" pitchFamily="2" charset="-122"/>
                </a:rPr>
                <a:t>不参与检验和的计算</a:t>
              </a:r>
            </a:p>
          </p:txBody>
        </p:sp>
        <p:sp>
          <p:nvSpPr>
            <p:cNvPr id="481344" name="Line 64"/>
            <p:cNvSpPr>
              <a:spLocks noChangeShapeType="1"/>
            </p:cNvSpPr>
            <p:nvPr/>
          </p:nvSpPr>
          <p:spPr bwMode="auto">
            <a:xfrm>
              <a:off x="2020" y="3266"/>
              <a:ext cx="371"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74" name="矩形 73"/>
          <p:cNvSpPr/>
          <p:nvPr/>
        </p:nvSpPr>
        <p:spPr>
          <a:xfrm>
            <a:off x="317174" y="97468"/>
            <a:ext cx="8380242" cy="461665"/>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square">
            <a:spAutoFit/>
          </a:bodyPr>
          <a:lstStyle/>
          <a:p>
            <a:pPr algn="ctr"/>
            <a:r>
              <a:rPr lang="en-US" altLang="zh-CN" sz="2400" b="1" dirty="0">
                <a:solidFill>
                  <a:srgbClr val="0000CC"/>
                </a:solidFill>
                <a:latin typeface="Arial" pitchFamily="34" charset="0"/>
                <a:ea typeface="黑体" pitchFamily="2" charset="-122"/>
              </a:rPr>
              <a:t>IP </a:t>
            </a:r>
            <a:r>
              <a:rPr lang="zh-CN" altLang="en-US" sz="2400" b="1" dirty="0">
                <a:solidFill>
                  <a:srgbClr val="0000CC"/>
                </a:solidFill>
                <a:latin typeface="Arial" pitchFamily="34" charset="0"/>
                <a:ea typeface="黑体" pitchFamily="2" charset="-122"/>
              </a:rPr>
              <a:t>数据报</a:t>
            </a:r>
            <a:r>
              <a:rPr lang="zh-CN" altLang="zh-CN" sz="2400" b="1" dirty="0">
                <a:solidFill>
                  <a:srgbClr val="0000CC"/>
                </a:solidFill>
                <a:latin typeface="Arial" pitchFamily="34" charset="0"/>
                <a:ea typeface="黑体" pitchFamily="2" charset="-122"/>
              </a:rPr>
              <a:t>首部检验和的计算</a:t>
            </a:r>
            <a:r>
              <a:rPr lang="zh-CN" altLang="en-US" sz="2400" b="1" dirty="0">
                <a:solidFill>
                  <a:srgbClr val="0000CC"/>
                </a:solidFill>
                <a:latin typeface="Arial" pitchFamily="34" charset="0"/>
                <a:ea typeface="黑体" pitchFamily="2" charset="-122"/>
              </a:rPr>
              <a:t>采用 </a:t>
            </a:r>
            <a:r>
              <a:rPr lang="en-US" altLang="zh-CN" sz="2400" b="1" dirty="0">
                <a:solidFill>
                  <a:srgbClr val="0000CC"/>
                </a:solidFill>
                <a:latin typeface="Arial" pitchFamily="34" charset="0"/>
                <a:ea typeface="黑体" pitchFamily="2" charset="-122"/>
              </a:rPr>
              <a:t>16 </a:t>
            </a:r>
            <a:r>
              <a:rPr lang="zh-CN" altLang="en-US" sz="2400" b="1" dirty="0">
                <a:solidFill>
                  <a:srgbClr val="0000CC"/>
                </a:solidFill>
                <a:latin typeface="Arial" pitchFamily="34" charset="0"/>
                <a:ea typeface="黑体" pitchFamily="2" charset="-122"/>
              </a:rPr>
              <a:t>位</a:t>
            </a:r>
            <a:r>
              <a:rPr lang="zh-CN" altLang="zh-CN" sz="2400" b="1" dirty="0">
                <a:solidFill>
                  <a:srgbClr val="C00000"/>
                </a:solidFill>
                <a:latin typeface="Arial" pitchFamily="34" charset="0"/>
                <a:ea typeface="黑体" pitchFamily="2" charset="-122"/>
              </a:rPr>
              <a:t>二进制反码求和</a:t>
            </a:r>
            <a:r>
              <a:rPr lang="zh-CN" altLang="en-US" sz="2400" b="1" dirty="0">
                <a:solidFill>
                  <a:srgbClr val="C00000"/>
                </a:solidFill>
                <a:latin typeface="Arial" pitchFamily="34" charset="0"/>
                <a:ea typeface="黑体" pitchFamily="2" charset="-122"/>
              </a:rPr>
              <a:t>算法</a:t>
            </a:r>
          </a:p>
        </p:txBody>
      </p:sp>
    </p:spTree>
    <p:extLst>
      <p:ext uri="{BB962C8B-B14F-4D97-AF65-F5344CB8AC3E}">
        <p14:creationId xmlns:p14="http://schemas.microsoft.com/office/powerpoint/2010/main" val="26860412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49" name="Rectangle 45"/>
          <p:cNvSpPr>
            <a:spLocks noChangeArrowheads="1"/>
          </p:cNvSpPr>
          <p:nvPr/>
        </p:nvSpPr>
        <p:spPr bwMode="auto">
          <a:xfrm>
            <a:off x="632520" y="2060796"/>
            <a:ext cx="439224"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2000" b="1">
                <a:solidFill>
                  <a:srgbClr val="0000CC"/>
                </a:solidFill>
                <a:latin typeface="+mn-lt"/>
                <a:ea typeface="黑体" pitchFamily="2" charset="-122"/>
              </a:rPr>
              <a:t>固</a:t>
            </a:r>
          </a:p>
          <a:p>
            <a:pPr defTabSz="762000" eaLnBrk="0" hangingPunct="0">
              <a:lnSpc>
                <a:spcPct val="90000"/>
              </a:lnSpc>
            </a:pPr>
            <a:r>
              <a:rPr kumimoji="1" lang="zh-CN" altLang="en-US" sz="2000" b="1">
                <a:solidFill>
                  <a:srgbClr val="0000CC"/>
                </a:solidFill>
                <a:latin typeface="+mn-lt"/>
                <a:ea typeface="黑体" pitchFamily="2" charset="-122"/>
              </a:rPr>
              <a:t>定</a:t>
            </a:r>
          </a:p>
          <a:p>
            <a:pPr defTabSz="762000" eaLnBrk="0" hangingPunct="0">
              <a:lnSpc>
                <a:spcPct val="90000"/>
              </a:lnSpc>
            </a:pPr>
            <a:r>
              <a:rPr kumimoji="1" lang="zh-CN" altLang="en-US" sz="2000" b="1">
                <a:solidFill>
                  <a:srgbClr val="0000CC"/>
                </a:solidFill>
                <a:latin typeface="+mn-lt"/>
                <a:ea typeface="黑体" pitchFamily="2" charset="-122"/>
              </a:rPr>
              <a:t>部</a:t>
            </a:r>
          </a:p>
          <a:p>
            <a:pPr defTabSz="762000" eaLnBrk="0" hangingPunct="0">
              <a:lnSpc>
                <a:spcPct val="90000"/>
              </a:lnSpc>
            </a:pPr>
            <a:r>
              <a:rPr kumimoji="1" lang="zh-CN" altLang="en-US" sz="2000" b="1">
                <a:solidFill>
                  <a:srgbClr val="0000CC"/>
                </a:solidFill>
                <a:latin typeface="+mn-lt"/>
                <a:ea typeface="黑体" pitchFamily="2" charset="-122"/>
              </a:rPr>
              <a:t>分</a:t>
            </a:r>
          </a:p>
        </p:txBody>
      </p:sp>
      <p:sp>
        <p:nvSpPr>
          <p:cNvPr id="379958" name="Rectangle 54"/>
          <p:cNvSpPr>
            <a:spLocks noChangeArrowheads="1"/>
          </p:cNvSpPr>
          <p:nvPr/>
        </p:nvSpPr>
        <p:spPr bwMode="auto">
          <a:xfrm>
            <a:off x="507339" y="3716558"/>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可变</a:t>
            </a:r>
          </a:p>
          <a:p>
            <a:pPr defTabSz="762000" eaLnBrk="0" hangingPunct="0"/>
            <a:r>
              <a:rPr kumimoji="1" lang="zh-CN" altLang="en-US" sz="2000" b="1">
                <a:solidFill>
                  <a:srgbClr val="0000CC"/>
                </a:solidFill>
                <a:latin typeface="+mn-lt"/>
                <a:ea typeface="黑体" pitchFamily="2" charset="-122"/>
              </a:rPr>
              <a:t>部分</a:t>
            </a:r>
          </a:p>
        </p:txBody>
      </p:sp>
      <p:sp>
        <p:nvSpPr>
          <p:cNvPr id="379912" name="Rectangle 8"/>
          <p:cNvSpPr>
            <a:spLocks noChangeArrowheads="1"/>
          </p:cNvSpPr>
          <p:nvPr/>
        </p:nvSpPr>
        <p:spPr bwMode="auto">
          <a:xfrm>
            <a:off x="3351875" y="1659159"/>
            <a:ext cx="2130821" cy="4349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4" name="Rectangle 10"/>
          <p:cNvSpPr>
            <a:spLocks noChangeArrowheads="1"/>
          </p:cNvSpPr>
          <p:nvPr/>
        </p:nvSpPr>
        <p:spPr bwMode="auto">
          <a:xfrm>
            <a:off x="1231371" y="1649633"/>
            <a:ext cx="8519848" cy="2643188"/>
          </a:xfrm>
          <a:prstGeom prst="rect">
            <a:avLst/>
          </a:prstGeom>
          <a:solidFill>
            <a:srgbClr val="CCE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5" name="Rectangle 11"/>
          <p:cNvSpPr>
            <a:spLocks noChangeArrowheads="1"/>
          </p:cNvSpPr>
          <p:nvPr/>
        </p:nvSpPr>
        <p:spPr bwMode="auto">
          <a:xfrm>
            <a:off x="1246850" y="4303933"/>
            <a:ext cx="8485452" cy="68103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6" name="Line 12"/>
          <p:cNvSpPr>
            <a:spLocks noChangeShapeType="1"/>
          </p:cNvSpPr>
          <p:nvPr/>
        </p:nvSpPr>
        <p:spPr bwMode="auto">
          <a:xfrm>
            <a:off x="1226212" y="2100483"/>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7" name="Line 13"/>
          <p:cNvSpPr>
            <a:spLocks noChangeShapeType="1"/>
          </p:cNvSpPr>
          <p:nvPr/>
        </p:nvSpPr>
        <p:spPr bwMode="auto">
          <a:xfrm>
            <a:off x="1226212" y="2543396"/>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8" name="Line 14"/>
          <p:cNvSpPr>
            <a:spLocks noChangeShapeType="1"/>
          </p:cNvSpPr>
          <p:nvPr/>
        </p:nvSpPr>
        <p:spPr bwMode="auto">
          <a:xfrm>
            <a:off x="1226212" y="2987896"/>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19" name="Line 15"/>
          <p:cNvSpPr>
            <a:spLocks noChangeShapeType="1"/>
          </p:cNvSpPr>
          <p:nvPr/>
        </p:nvSpPr>
        <p:spPr bwMode="auto">
          <a:xfrm>
            <a:off x="1226212" y="3426046"/>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0" name="Line 16"/>
          <p:cNvSpPr>
            <a:spLocks noChangeShapeType="1"/>
          </p:cNvSpPr>
          <p:nvPr/>
        </p:nvSpPr>
        <p:spPr bwMode="auto">
          <a:xfrm>
            <a:off x="1226212" y="3870546"/>
            <a:ext cx="853532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1" name="Line 17"/>
          <p:cNvSpPr>
            <a:spLocks noChangeShapeType="1"/>
          </p:cNvSpPr>
          <p:nvPr/>
        </p:nvSpPr>
        <p:spPr bwMode="auto">
          <a:xfrm>
            <a:off x="2275285" y="1657571"/>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2" name="Line 18"/>
          <p:cNvSpPr>
            <a:spLocks noChangeShapeType="1"/>
          </p:cNvSpPr>
          <p:nvPr/>
        </p:nvSpPr>
        <p:spPr bwMode="auto">
          <a:xfrm>
            <a:off x="3341556" y="1657571"/>
            <a:ext cx="0" cy="442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3" name="Line 19"/>
          <p:cNvSpPr>
            <a:spLocks noChangeShapeType="1"/>
          </p:cNvSpPr>
          <p:nvPr/>
        </p:nvSpPr>
        <p:spPr bwMode="auto">
          <a:xfrm>
            <a:off x="3341556" y="2552921"/>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4" name="Line 20"/>
          <p:cNvSpPr>
            <a:spLocks noChangeShapeType="1"/>
          </p:cNvSpPr>
          <p:nvPr/>
        </p:nvSpPr>
        <p:spPr bwMode="auto">
          <a:xfrm>
            <a:off x="5479256" y="1657571"/>
            <a:ext cx="0" cy="1327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5" name="Line 21"/>
          <p:cNvSpPr>
            <a:spLocks noChangeShapeType="1"/>
          </p:cNvSpPr>
          <p:nvPr/>
        </p:nvSpPr>
        <p:spPr bwMode="auto">
          <a:xfrm flipV="1">
            <a:off x="7615238" y="3865783"/>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6" name="Line 22"/>
          <p:cNvSpPr>
            <a:spLocks noChangeShapeType="1"/>
          </p:cNvSpPr>
          <p:nvPr/>
        </p:nvSpPr>
        <p:spPr bwMode="auto">
          <a:xfrm>
            <a:off x="6347752" y="2110008"/>
            <a:ext cx="0" cy="4333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27" name="Rectangle 23"/>
          <p:cNvSpPr>
            <a:spLocks noChangeArrowheads="1"/>
          </p:cNvSpPr>
          <p:nvPr/>
        </p:nvSpPr>
        <p:spPr bwMode="auto">
          <a:xfrm>
            <a:off x="1169459" y="1270221"/>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379928" name="Rectangle 24"/>
          <p:cNvSpPr>
            <a:spLocks noChangeArrowheads="1"/>
          </p:cNvSpPr>
          <p:nvPr/>
        </p:nvSpPr>
        <p:spPr bwMode="auto">
          <a:xfrm>
            <a:off x="2182416" y="1270221"/>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379929" name="Rectangle 25"/>
          <p:cNvSpPr>
            <a:spLocks noChangeArrowheads="1"/>
          </p:cNvSpPr>
          <p:nvPr/>
        </p:nvSpPr>
        <p:spPr bwMode="auto">
          <a:xfrm>
            <a:off x="3260726" y="1270221"/>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379930" name="Rectangle 26"/>
          <p:cNvSpPr>
            <a:spLocks noChangeArrowheads="1"/>
          </p:cNvSpPr>
          <p:nvPr/>
        </p:nvSpPr>
        <p:spPr bwMode="auto">
          <a:xfrm>
            <a:off x="5374350" y="1270221"/>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379931" name="Rectangle 27"/>
          <p:cNvSpPr>
            <a:spLocks noChangeArrowheads="1"/>
          </p:cNvSpPr>
          <p:nvPr/>
        </p:nvSpPr>
        <p:spPr bwMode="auto">
          <a:xfrm>
            <a:off x="6237685" y="1270221"/>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19</a:t>
            </a:r>
          </a:p>
        </p:txBody>
      </p:sp>
      <p:sp>
        <p:nvSpPr>
          <p:cNvPr id="379932" name="Rectangle 28"/>
          <p:cNvSpPr>
            <a:spLocks noChangeArrowheads="1"/>
          </p:cNvSpPr>
          <p:nvPr/>
        </p:nvSpPr>
        <p:spPr bwMode="auto">
          <a:xfrm>
            <a:off x="7510331" y="1270221"/>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9933" name="Rectangle 29"/>
          <p:cNvSpPr>
            <a:spLocks noChangeArrowheads="1"/>
          </p:cNvSpPr>
          <p:nvPr/>
        </p:nvSpPr>
        <p:spPr bwMode="auto">
          <a:xfrm>
            <a:off x="9365986" y="1270221"/>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379934" name="Rectangle 30"/>
          <p:cNvSpPr>
            <a:spLocks noChangeArrowheads="1"/>
          </p:cNvSpPr>
          <p:nvPr/>
        </p:nvSpPr>
        <p:spPr bwMode="auto">
          <a:xfrm>
            <a:off x="1331120" y="1684558"/>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379935" name="Rectangle 31"/>
          <p:cNvSpPr>
            <a:spLocks noChangeArrowheads="1"/>
          </p:cNvSpPr>
          <p:nvPr/>
        </p:nvSpPr>
        <p:spPr bwMode="auto">
          <a:xfrm>
            <a:off x="5542889" y="2160808"/>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标志</a:t>
            </a:r>
          </a:p>
        </p:txBody>
      </p:sp>
      <p:sp>
        <p:nvSpPr>
          <p:cNvPr id="379936" name="Rectangle 32"/>
          <p:cNvSpPr>
            <a:spLocks noChangeArrowheads="1"/>
          </p:cNvSpPr>
          <p:nvPr/>
        </p:nvSpPr>
        <p:spPr bwMode="auto">
          <a:xfrm>
            <a:off x="1544374" y="2565621"/>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生 存 时 间</a:t>
            </a:r>
          </a:p>
        </p:txBody>
      </p:sp>
      <p:sp>
        <p:nvSpPr>
          <p:cNvPr id="379937" name="Rectangle 33"/>
          <p:cNvSpPr>
            <a:spLocks noChangeArrowheads="1"/>
          </p:cNvSpPr>
          <p:nvPr/>
        </p:nvSpPr>
        <p:spPr bwMode="auto">
          <a:xfrm>
            <a:off x="3852334" y="2565621"/>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协    议</a:t>
            </a:r>
          </a:p>
        </p:txBody>
      </p:sp>
      <p:sp>
        <p:nvSpPr>
          <p:cNvPr id="379938" name="Rectangle 34"/>
          <p:cNvSpPr>
            <a:spLocks noChangeArrowheads="1"/>
          </p:cNvSpPr>
          <p:nvPr/>
        </p:nvSpPr>
        <p:spPr bwMode="auto">
          <a:xfrm>
            <a:off x="2784344" y="2160808"/>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识</a:t>
            </a:r>
          </a:p>
        </p:txBody>
      </p:sp>
      <p:sp>
        <p:nvSpPr>
          <p:cNvPr id="379939" name="Rectangle 35"/>
          <p:cNvSpPr>
            <a:spLocks noChangeArrowheads="1"/>
          </p:cNvSpPr>
          <p:nvPr/>
        </p:nvSpPr>
        <p:spPr bwMode="auto">
          <a:xfrm>
            <a:off x="3663157" y="1684558"/>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分 服 务</a:t>
            </a:r>
          </a:p>
        </p:txBody>
      </p:sp>
      <p:sp>
        <p:nvSpPr>
          <p:cNvPr id="379940" name="Rectangle 36"/>
          <p:cNvSpPr>
            <a:spLocks noChangeArrowheads="1"/>
          </p:cNvSpPr>
          <p:nvPr/>
        </p:nvSpPr>
        <p:spPr bwMode="auto">
          <a:xfrm>
            <a:off x="7049427" y="1684558"/>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总   长   度</a:t>
            </a:r>
          </a:p>
        </p:txBody>
      </p:sp>
      <p:sp>
        <p:nvSpPr>
          <p:cNvPr id="379941" name="Rectangle 37"/>
          <p:cNvSpPr>
            <a:spLocks noChangeArrowheads="1"/>
          </p:cNvSpPr>
          <p:nvPr/>
        </p:nvSpPr>
        <p:spPr bwMode="auto">
          <a:xfrm>
            <a:off x="7343511" y="2160808"/>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片   偏   移</a:t>
            </a:r>
          </a:p>
        </p:txBody>
      </p:sp>
      <p:sp>
        <p:nvSpPr>
          <p:cNvPr id="379942" name="Rectangle 38"/>
          <p:cNvSpPr>
            <a:spLocks noChangeArrowheads="1"/>
          </p:cNvSpPr>
          <p:nvPr/>
        </p:nvSpPr>
        <p:spPr bwMode="auto">
          <a:xfrm>
            <a:off x="8127736" y="3894358"/>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填    充</a:t>
            </a:r>
          </a:p>
        </p:txBody>
      </p:sp>
      <p:sp>
        <p:nvSpPr>
          <p:cNvPr id="379943" name="Rectangle 39"/>
          <p:cNvSpPr>
            <a:spLocks noChangeArrowheads="1"/>
          </p:cNvSpPr>
          <p:nvPr/>
        </p:nvSpPr>
        <p:spPr bwMode="auto">
          <a:xfrm>
            <a:off x="6419983" y="2565621"/>
            <a:ext cx="231954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   部   检   验   和</a:t>
            </a:r>
          </a:p>
        </p:txBody>
      </p:sp>
      <p:sp>
        <p:nvSpPr>
          <p:cNvPr id="379944" name="Rectangle 40"/>
          <p:cNvSpPr>
            <a:spLocks noChangeArrowheads="1"/>
          </p:cNvSpPr>
          <p:nvPr/>
        </p:nvSpPr>
        <p:spPr bwMode="auto">
          <a:xfrm>
            <a:off x="4784461" y="3024408"/>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源   地   址</a:t>
            </a:r>
          </a:p>
        </p:txBody>
      </p:sp>
      <p:sp>
        <p:nvSpPr>
          <p:cNvPr id="379945" name="Rectangle 41"/>
          <p:cNvSpPr>
            <a:spLocks noChangeArrowheads="1"/>
          </p:cNvSpPr>
          <p:nvPr/>
        </p:nvSpPr>
        <p:spPr bwMode="auto">
          <a:xfrm>
            <a:off x="4507575" y="3465733"/>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目   的   地   址</a:t>
            </a:r>
          </a:p>
        </p:txBody>
      </p:sp>
      <p:sp>
        <p:nvSpPr>
          <p:cNvPr id="379946" name="Rectangle 42"/>
          <p:cNvSpPr>
            <a:spLocks noChangeArrowheads="1"/>
          </p:cNvSpPr>
          <p:nvPr/>
        </p:nvSpPr>
        <p:spPr bwMode="auto">
          <a:xfrm>
            <a:off x="2414588" y="3894358"/>
            <a:ext cx="417422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C00000"/>
                </a:solidFill>
                <a:latin typeface="+mn-lt"/>
                <a:ea typeface="黑体" pitchFamily="2" charset="-122"/>
              </a:rPr>
              <a:t>可   选   字   段  （长   度   可   变）</a:t>
            </a:r>
          </a:p>
        </p:txBody>
      </p:sp>
      <p:sp>
        <p:nvSpPr>
          <p:cNvPr id="379947" name="Rectangle 43"/>
          <p:cNvSpPr>
            <a:spLocks noChangeArrowheads="1"/>
          </p:cNvSpPr>
          <p:nvPr/>
        </p:nvSpPr>
        <p:spPr bwMode="auto">
          <a:xfrm>
            <a:off x="658681" y="1255933"/>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379948" name="Rectangle 44"/>
          <p:cNvSpPr>
            <a:spLocks noChangeArrowheads="1"/>
          </p:cNvSpPr>
          <p:nvPr/>
        </p:nvSpPr>
        <p:spPr bwMode="auto">
          <a:xfrm>
            <a:off x="2170378" y="1665508"/>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首部长度</a:t>
            </a:r>
          </a:p>
        </p:txBody>
      </p:sp>
      <p:grpSp>
        <p:nvGrpSpPr>
          <p:cNvPr id="379950" name="Group 46"/>
          <p:cNvGrpSpPr>
            <a:grpSpLocks/>
          </p:cNvGrpSpPr>
          <p:nvPr/>
        </p:nvGrpSpPr>
        <p:grpSpPr bwMode="auto">
          <a:xfrm>
            <a:off x="1159140" y="4035646"/>
            <a:ext cx="142743" cy="69850"/>
            <a:chOff x="833" y="3024"/>
            <a:chExt cx="78" cy="51"/>
          </a:xfrm>
        </p:grpSpPr>
        <p:sp>
          <p:nvSpPr>
            <p:cNvPr id="379951" name="Rectangle 47"/>
            <p:cNvSpPr>
              <a:spLocks noChangeArrowheads="1"/>
            </p:cNvSpPr>
            <p:nvPr/>
          </p:nvSpPr>
          <p:spPr bwMode="auto">
            <a:xfrm>
              <a:off x="833" y="3024"/>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2" name="Line 48"/>
            <p:cNvSpPr>
              <a:spLocks noChangeShapeType="1"/>
            </p:cNvSpPr>
            <p:nvPr/>
          </p:nvSpPr>
          <p:spPr bwMode="auto">
            <a:xfrm>
              <a:off x="839" y="3030"/>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3" name="Line 49"/>
            <p:cNvSpPr>
              <a:spLocks noChangeShapeType="1"/>
            </p:cNvSpPr>
            <p:nvPr/>
          </p:nvSpPr>
          <p:spPr bwMode="auto">
            <a:xfrm>
              <a:off x="839" y="3075"/>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379954" name="Group 50"/>
          <p:cNvGrpSpPr>
            <a:grpSpLocks/>
          </p:cNvGrpSpPr>
          <p:nvPr/>
        </p:nvGrpSpPr>
        <p:grpSpPr bwMode="auto">
          <a:xfrm>
            <a:off x="9682428" y="4045172"/>
            <a:ext cx="142743" cy="66675"/>
            <a:chOff x="5432" y="3030"/>
            <a:chExt cx="78" cy="51"/>
          </a:xfrm>
        </p:grpSpPr>
        <p:sp>
          <p:nvSpPr>
            <p:cNvPr id="379955" name="Rectangle 51"/>
            <p:cNvSpPr>
              <a:spLocks noChangeArrowheads="1"/>
            </p:cNvSpPr>
            <p:nvPr/>
          </p:nvSpPr>
          <p:spPr bwMode="auto">
            <a:xfrm>
              <a:off x="5432" y="3030"/>
              <a:ext cx="78" cy="5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6" name="Line 52"/>
            <p:cNvSpPr>
              <a:spLocks noChangeShapeType="1"/>
            </p:cNvSpPr>
            <p:nvPr/>
          </p:nvSpPr>
          <p:spPr bwMode="auto">
            <a:xfrm>
              <a:off x="5438" y="3036"/>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9957" name="Line 53"/>
            <p:cNvSpPr>
              <a:spLocks noChangeShapeType="1"/>
            </p:cNvSpPr>
            <p:nvPr/>
          </p:nvSpPr>
          <p:spPr bwMode="auto">
            <a:xfrm>
              <a:off x="5438" y="3081"/>
              <a:ext cx="6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379979" name="Rectangle 75"/>
          <p:cNvSpPr>
            <a:spLocks noChangeArrowheads="1"/>
          </p:cNvSpPr>
          <p:nvPr/>
        </p:nvSpPr>
        <p:spPr bwMode="auto">
          <a:xfrm>
            <a:off x="4129220" y="4437283"/>
            <a:ext cx="3150658"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CC"/>
                </a:solidFill>
                <a:latin typeface="+mn-lt"/>
                <a:ea typeface="黑体" pitchFamily="2" charset="-122"/>
              </a:rPr>
              <a:t>数       据       部       分</a:t>
            </a:r>
          </a:p>
        </p:txBody>
      </p:sp>
      <p:grpSp>
        <p:nvGrpSpPr>
          <p:cNvPr id="379998" name="Group 94"/>
          <p:cNvGrpSpPr>
            <a:grpSpLocks/>
          </p:cNvGrpSpPr>
          <p:nvPr/>
        </p:nvGrpSpPr>
        <p:grpSpPr bwMode="auto">
          <a:xfrm>
            <a:off x="265981" y="1628997"/>
            <a:ext cx="438547" cy="2663825"/>
            <a:chOff x="111" y="845"/>
            <a:chExt cx="255" cy="1678"/>
          </a:xfrm>
        </p:grpSpPr>
        <p:sp>
          <p:nvSpPr>
            <p:cNvPr id="379993" name="Line 89"/>
            <p:cNvSpPr>
              <a:spLocks noChangeShapeType="1"/>
            </p:cNvSpPr>
            <p:nvPr/>
          </p:nvSpPr>
          <p:spPr bwMode="auto">
            <a:xfrm>
              <a:off x="249" y="845"/>
              <a:ext cx="0" cy="1678"/>
            </a:xfrm>
            <a:prstGeom prst="line">
              <a:avLst/>
            </a:prstGeom>
            <a:noFill/>
            <a:ln w="2857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79982" name="Rectangle 78"/>
            <p:cNvSpPr>
              <a:spLocks noChangeArrowheads="1"/>
            </p:cNvSpPr>
            <p:nvPr/>
          </p:nvSpPr>
          <p:spPr bwMode="auto">
            <a:xfrm>
              <a:off x="111" y="1389"/>
              <a:ext cx="255" cy="44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首</a:t>
              </a:r>
            </a:p>
            <a:p>
              <a:pPr defTabSz="762000" eaLnBrk="0" hangingPunct="0"/>
              <a:r>
                <a:rPr kumimoji="1" lang="zh-CN" altLang="en-US" sz="2000" b="1">
                  <a:solidFill>
                    <a:srgbClr val="0000CC"/>
                  </a:solidFill>
                  <a:latin typeface="+mn-lt"/>
                  <a:ea typeface="黑体" pitchFamily="2" charset="-122"/>
                </a:rPr>
                <a:t>部</a:t>
              </a:r>
            </a:p>
          </p:txBody>
        </p:sp>
      </p:grpSp>
      <p:sp>
        <p:nvSpPr>
          <p:cNvPr id="380001" name="AutoShape 97"/>
          <p:cNvSpPr>
            <a:spLocks/>
          </p:cNvSpPr>
          <p:nvPr/>
        </p:nvSpPr>
        <p:spPr bwMode="auto">
          <a:xfrm>
            <a:off x="998834" y="1700433"/>
            <a:ext cx="180579" cy="2160588"/>
          </a:xfrm>
          <a:prstGeom prst="leftBrace">
            <a:avLst>
              <a:gd name="adj1" fmla="val 10801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60" name="Group 77"/>
          <p:cNvGrpSpPr>
            <a:grpSpLocks/>
          </p:cNvGrpSpPr>
          <p:nvPr/>
        </p:nvGrpSpPr>
        <p:grpSpPr bwMode="auto">
          <a:xfrm>
            <a:off x="1209014" y="2995835"/>
            <a:ext cx="8521567" cy="2665413"/>
            <a:chOff x="703" y="1706"/>
            <a:chExt cx="4955" cy="1679"/>
          </a:xfrm>
        </p:grpSpPr>
        <p:sp>
          <p:nvSpPr>
            <p:cNvPr id="61" name="Text Box 74"/>
            <p:cNvSpPr txBox="1">
              <a:spLocks noChangeArrowheads="1"/>
            </p:cNvSpPr>
            <p:nvPr/>
          </p:nvSpPr>
          <p:spPr bwMode="auto">
            <a:xfrm>
              <a:off x="1175" y="3094"/>
              <a:ext cx="264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ctr">
                <a:defRPr sz="2400" b="1">
                  <a:solidFill>
                    <a:srgbClr val="0000CC"/>
                  </a:solidFill>
                  <a:latin typeface="+mn-lt"/>
                  <a:ea typeface="黑体" pitchFamily="2" charset="-122"/>
                </a:defRPr>
              </a:lvl1pPr>
            </a:lstStyle>
            <a:p>
              <a:r>
                <a:rPr lang="zh-CN" altLang="en-US" dirty="0"/>
                <a:t>源地址和目的地址都各占 </a:t>
              </a:r>
              <a:r>
                <a:rPr lang="en-US" altLang="zh-CN" dirty="0"/>
                <a:t>4 </a:t>
              </a:r>
              <a:r>
                <a:rPr lang="zh-CN" altLang="en-US" dirty="0"/>
                <a:t>字节</a:t>
              </a:r>
            </a:p>
          </p:txBody>
        </p:sp>
        <p:sp>
          <p:nvSpPr>
            <p:cNvPr id="62" name="Rectangle 75"/>
            <p:cNvSpPr>
              <a:spLocks noChangeArrowheads="1"/>
            </p:cNvSpPr>
            <p:nvPr/>
          </p:nvSpPr>
          <p:spPr bwMode="auto">
            <a:xfrm>
              <a:off x="703" y="1706"/>
              <a:ext cx="4955" cy="545"/>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标题 2"/>
          <p:cNvSpPr>
            <a:spLocks noGrp="1"/>
          </p:cNvSpPr>
          <p:nvPr>
            <p:ph type="title"/>
          </p:nvPr>
        </p:nvSpPr>
        <p:spPr/>
        <p:txBody>
          <a:bodyPr/>
          <a:lstStyle/>
          <a:p>
            <a:r>
              <a:rPr lang="en-US" altLang="zh-CN" sz="3600" dirty="0"/>
              <a:t>1.  IP </a:t>
            </a:r>
            <a:r>
              <a:rPr lang="zh-CN" altLang="en-US" sz="3600" dirty="0"/>
              <a:t>数据报首部的固定部分中的各字段 </a:t>
            </a:r>
          </a:p>
        </p:txBody>
      </p:sp>
    </p:spTree>
    <p:extLst>
      <p:ext uri="{BB962C8B-B14F-4D97-AF65-F5344CB8AC3E}">
        <p14:creationId xmlns:p14="http://schemas.microsoft.com/office/powerpoint/2010/main" val="32045906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092" name="Rectangle 212"/>
          <p:cNvSpPr>
            <a:spLocks noGrp="1" noChangeArrowheads="1"/>
          </p:cNvSpPr>
          <p:nvPr>
            <p:ph type="title"/>
          </p:nvPr>
        </p:nvSpPr>
        <p:spPr/>
        <p:txBody>
          <a:bodyPr/>
          <a:lstStyle/>
          <a:p>
            <a:r>
              <a:rPr lang="en-US" altLang="zh-CN" dirty="0"/>
              <a:t>2.  IP </a:t>
            </a:r>
            <a:r>
              <a:rPr lang="zh-CN" altLang="en-US" dirty="0"/>
              <a:t>数据报首部的可变部分 </a:t>
            </a:r>
          </a:p>
        </p:txBody>
      </p:sp>
      <p:sp>
        <p:nvSpPr>
          <p:cNvPr id="251093" name="Rectangle 213"/>
          <p:cNvSpPr>
            <a:spLocks noGrp="1" noChangeArrowheads="1"/>
          </p:cNvSpPr>
          <p:nvPr>
            <p:ph idx="1"/>
          </p:nvPr>
        </p:nvSpPr>
        <p:spPr/>
        <p:txBody>
          <a:bodyPr/>
          <a:lstStyle/>
          <a:p>
            <a:pPr algn="just">
              <a:lnSpc>
                <a:spcPct val="100000"/>
              </a:lnSpc>
            </a:pPr>
            <a:r>
              <a:rPr lang="en-US" altLang="zh-CN" dirty="0"/>
              <a:t>IP </a:t>
            </a:r>
            <a:r>
              <a:rPr lang="zh-CN" altLang="en-US" dirty="0"/>
              <a:t>首部的可变部分就是一个选项字段，用来支持排错、测量以及安全等措施，内容很丰富。</a:t>
            </a:r>
          </a:p>
          <a:p>
            <a:pPr algn="just">
              <a:lnSpc>
                <a:spcPct val="100000"/>
              </a:lnSpc>
            </a:pPr>
            <a:r>
              <a:rPr lang="zh-CN" altLang="en-US" dirty="0"/>
              <a:t>选项字段的长度可变，</a:t>
            </a:r>
            <a:r>
              <a:rPr lang="zh-CN" altLang="en-US" dirty="0">
                <a:solidFill>
                  <a:srgbClr val="FF0000"/>
                </a:solidFill>
              </a:rPr>
              <a:t>从 </a:t>
            </a:r>
            <a:r>
              <a:rPr lang="en-US" altLang="zh-CN" dirty="0">
                <a:solidFill>
                  <a:srgbClr val="FF0000"/>
                </a:solidFill>
              </a:rPr>
              <a:t>1 </a:t>
            </a:r>
            <a:r>
              <a:rPr lang="zh-CN" altLang="en-US" dirty="0">
                <a:solidFill>
                  <a:srgbClr val="FF0000"/>
                </a:solidFill>
              </a:rPr>
              <a:t>个字节到 </a:t>
            </a:r>
            <a:r>
              <a:rPr lang="en-US" altLang="zh-CN" dirty="0">
                <a:solidFill>
                  <a:srgbClr val="FF0000"/>
                </a:solidFill>
              </a:rPr>
              <a:t>40 </a:t>
            </a:r>
            <a:r>
              <a:rPr lang="zh-CN" altLang="en-US" dirty="0">
                <a:solidFill>
                  <a:srgbClr val="FF0000"/>
                </a:solidFill>
              </a:rPr>
              <a:t>个字节不等，</a:t>
            </a:r>
            <a:r>
              <a:rPr lang="zh-CN" altLang="en-US" dirty="0"/>
              <a:t>取决于所选择的项目。</a:t>
            </a:r>
          </a:p>
          <a:p>
            <a:pPr algn="just">
              <a:lnSpc>
                <a:spcPct val="100000"/>
              </a:lnSpc>
            </a:pPr>
            <a:r>
              <a:rPr lang="zh-CN" altLang="en-US" dirty="0"/>
              <a:t>增加首部的可变部分是为了增加 </a:t>
            </a:r>
            <a:r>
              <a:rPr lang="en-US" altLang="zh-CN" dirty="0"/>
              <a:t>IP </a:t>
            </a:r>
            <a:r>
              <a:rPr lang="zh-CN" altLang="en-US" dirty="0"/>
              <a:t>数据报的功能，但这同时也使得 </a:t>
            </a:r>
            <a:r>
              <a:rPr lang="en-US" altLang="zh-CN" dirty="0"/>
              <a:t>IP </a:t>
            </a:r>
            <a:r>
              <a:rPr lang="zh-CN" altLang="en-US" dirty="0"/>
              <a:t>数据报的首部长度成为可变的。这就增加了每一个路由器处理数据报的开销。</a:t>
            </a:r>
          </a:p>
          <a:p>
            <a:pPr algn="just">
              <a:lnSpc>
                <a:spcPct val="100000"/>
              </a:lnSpc>
            </a:pPr>
            <a:r>
              <a:rPr lang="zh-CN" altLang="en-US" dirty="0">
                <a:solidFill>
                  <a:srgbClr val="0000FF"/>
                </a:solidFill>
              </a:rPr>
              <a:t>实际上这些选项很少被使用。</a:t>
            </a:r>
          </a:p>
        </p:txBody>
      </p:sp>
    </p:spTree>
    <p:extLst>
      <p:ext uri="{BB962C8B-B14F-4D97-AF65-F5344CB8AC3E}">
        <p14:creationId xmlns:p14="http://schemas.microsoft.com/office/powerpoint/2010/main" val="33085882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（上）</a:t>
            </a:r>
          </a:p>
        </p:txBody>
      </p:sp>
      <p:sp>
        <p:nvSpPr>
          <p:cNvPr id="3" name="内容占位符 2"/>
          <p:cNvSpPr>
            <a:spLocks noGrp="1"/>
          </p:cNvSpPr>
          <p:nvPr>
            <p:ph idx="1"/>
          </p:nvPr>
        </p:nvSpPr>
        <p:spPr/>
        <p:txBody>
          <a:bodyPr/>
          <a:lstStyle/>
          <a:p>
            <a:pPr>
              <a:lnSpc>
                <a:spcPct val="100000"/>
              </a:lnSpc>
            </a:pPr>
            <a:r>
              <a:rPr lang="zh-CN" altLang="en-US" dirty="0">
                <a:solidFill>
                  <a:schemeClr val="bg1">
                    <a:lumMod val="65000"/>
                  </a:schemeClr>
                </a:solidFill>
              </a:rPr>
              <a:t>概述</a:t>
            </a:r>
            <a:endParaRPr lang="zh-CN" altLang="zh-CN" dirty="0">
              <a:solidFill>
                <a:schemeClr val="bg1">
                  <a:lumMod val="65000"/>
                </a:schemeClr>
              </a:solidFill>
            </a:endParaRPr>
          </a:p>
          <a:p>
            <a:r>
              <a:rPr lang="zh-CN" altLang="zh-CN" dirty="0">
                <a:solidFill>
                  <a:schemeClr val="bg1">
                    <a:lumMod val="65000"/>
                  </a:schemeClr>
                </a:solidFill>
              </a:rPr>
              <a:t>分类的</a:t>
            </a:r>
            <a:r>
              <a:rPr lang="en-US" altLang="zh-CN" dirty="0">
                <a:solidFill>
                  <a:schemeClr val="bg1">
                    <a:lumMod val="65000"/>
                  </a:schemeClr>
                </a:solidFill>
              </a:rPr>
              <a:t> IP </a:t>
            </a:r>
            <a:r>
              <a:rPr lang="zh-CN" altLang="zh-CN" dirty="0">
                <a:solidFill>
                  <a:schemeClr val="bg1">
                    <a:lumMod val="65000"/>
                  </a:schemeClr>
                </a:solidFill>
              </a:rPr>
              <a:t>地址</a:t>
            </a:r>
          </a:p>
          <a:p>
            <a:r>
              <a:rPr lang="zh-CN" altLang="zh-CN" dirty="0">
                <a:solidFill>
                  <a:schemeClr val="bg1">
                    <a:lumMod val="65000"/>
                  </a:schemeClr>
                </a:solidFill>
              </a:rPr>
              <a:t>地址解析协议</a:t>
            </a:r>
            <a:r>
              <a:rPr lang="en-US" altLang="zh-CN" dirty="0">
                <a:solidFill>
                  <a:schemeClr val="bg1">
                    <a:lumMod val="65000"/>
                  </a:schemeClr>
                </a:solidFill>
              </a:rPr>
              <a:t> ARP</a:t>
            </a:r>
            <a:endParaRPr lang="zh-CN" altLang="zh-CN" dirty="0">
              <a:solidFill>
                <a:schemeClr val="bg1">
                  <a:lumMod val="65000"/>
                </a:schemeClr>
              </a:solidFill>
            </a:endParaRPr>
          </a:p>
          <a:p>
            <a:r>
              <a:rPr lang="en-US" altLang="zh-CN" dirty="0">
                <a:solidFill>
                  <a:schemeClr val="bg1">
                    <a:lumMod val="65000"/>
                  </a:schemeClr>
                </a:solidFill>
              </a:rPr>
              <a:t>IP </a:t>
            </a:r>
            <a:r>
              <a:rPr lang="zh-CN" altLang="zh-CN" dirty="0">
                <a:solidFill>
                  <a:schemeClr val="bg1">
                    <a:lumMod val="65000"/>
                  </a:schemeClr>
                </a:solidFill>
              </a:rPr>
              <a:t>数据报的格式</a:t>
            </a:r>
            <a:endParaRPr lang="en-US" altLang="zh-CN" dirty="0">
              <a:solidFill>
                <a:schemeClr val="bg1">
                  <a:lumMod val="65000"/>
                </a:schemeClr>
              </a:solidFill>
            </a:endParaRPr>
          </a:p>
          <a:p>
            <a:r>
              <a:rPr lang="en-US" altLang="zh-CN" sz="3600" dirty="0">
                <a:solidFill>
                  <a:srgbClr val="FF0000"/>
                </a:solidFill>
              </a:rPr>
              <a:t>IP </a:t>
            </a:r>
            <a:r>
              <a:rPr lang="zh-CN" altLang="zh-CN" sz="3600" dirty="0">
                <a:solidFill>
                  <a:srgbClr val="FF0000"/>
                </a:solidFill>
              </a:rPr>
              <a:t>层转发分组的流程</a:t>
            </a:r>
          </a:p>
          <a:p>
            <a:pPr>
              <a:lnSpc>
                <a:spcPct val="100000"/>
              </a:lnSpc>
            </a:pPr>
            <a:r>
              <a:rPr lang="zh-CN" altLang="zh-CN" dirty="0">
                <a:solidFill>
                  <a:schemeClr val="bg1">
                    <a:lumMod val="65000"/>
                  </a:schemeClr>
                </a:solidFill>
              </a:rPr>
              <a:t>网际控制报文协议</a:t>
            </a:r>
            <a:r>
              <a:rPr lang="en-US" altLang="zh-CN" dirty="0">
                <a:solidFill>
                  <a:schemeClr val="bg1">
                    <a:lumMod val="65000"/>
                  </a:schemeClr>
                </a:solidFill>
              </a:rPr>
              <a:t> ICMP</a:t>
            </a:r>
            <a:endParaRPr lang="zh-CN" altLang="zh-CN" dirty="0">
              <a:solidFill>
                <a:schemeClr val="bg1">
                  <a:lumMod val="65000"/>
                </a:schemeClr>
              </a:solidFill>
            </a:endParaRPr>
          </a:p>
        </p:txBody>
      </p:sp>
    </p:spTree>
    <p:extLst>
      <p:ext uri="{BB962C8B-B14F-4D97-AF65-F5344CB8AC3E}">
        <p14:creationId xmlns:p14="http://schemas.microsoft.com/office/powerpoint/2010/main" val="1426083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89" name="Rectangle 45"/>
          <p:cNvSpPr>
            <a:spLocks noGrp="1" noChangeArrowheads="1"/>
          </p:cNvSpPr>
          <p:nvPr>
            <p:ph type="title"/>
          </p:nvPr>
        </p:nvSpPr>
        <p:spPr/>
        <p:txBody>
          <a:bodyPr/>
          <a:lstStyle/>
          <a:p>
            <a:r>
              <a:rPr lang="en-US" altLang="zh-CN" dirty="0"/>
              <a:t>IP </a:t>
            </a:r>
            <a:r>
              <a:rPr lang="zh-CN" altLang="en-US" dirty="0"/>
              <a:t>层转发分组的流程 </a:t>
            </a:r>
          </a:p>
        </p:txBody>
      </p:sp>
      <p:sp>
        <p:nvSpPr>
          <p:cNvPr id="390193" name="Rectangle 49"/>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100000"/>
              </a:lnSpc>
            </a:pPr>
            <a:r>
              <a:rPr lang="zh-CN" altLang="en-US" dirty="0"/>
              <a:t>假设：有四个 </a:t>
            </a:r>
            <a:r>
              <a:rPr lang="en-US" altLang="zh-CN" dirty="0"/>
              <a:t>A </a:t>
            </a:r>
            <a:r>
              <a:rPr lang="zh-CN" altLang="en-US" dirty="0"/>
              <a:t>类网络通过三个路由器连接在一起。每一个网络上都可能有成千上万个主机。</a:t>
            </a:r>
          </a:p>
          <a:p>
            <a:pPr>
              <a:lnSpc>
                <a:spcPct val="100000"/>
              </a:lnSpc>
            </a:pPr>
            <a:r>
              <a:rPr lang="zh-CN" altLang="en-US" dirty="0"/>
              <a:t>可以想像，</a:t>
            </a:r>
            <a:r>
              <a:rPr lang="zh-CN" altLang="en-US" dirty="0">
                <a:solidFill>
                  <a:srgbClr val="FF0000"/>
                </a:solidFill>
              </a:rPr>
              <a:t>若按目的主机号来制作路由表，</a:t>
            </a:r>
            <a:r>
              <a:rPr lang="zh-CN" altLang="zh-CN" dirty="0"/>
              <a:t>每一个路由表就有</a:t>
            </a:r>
            <a:r>
              <a:rPr lang="en-US" altLang="zh-CN" dirty="0"/>
              <a:t> 4 </a:t>
            </a:r>
            <a:r>
              <a:rPr lang="zh-CN" altLang="zh-CN" dirty="0"/>
              <a:t>万个项目，即</a:t>
            </a:r>
            <a:r>
              <a:rPr lang="en-US" altLang="zh-CN" dirty="0"/>
              <a:t> 4 </a:t>
            </a:r>
            <a:r>
              <a:rPr lang="zh-CN" altLang="zh-CN" dirty="0"/>
              <a:t>万行</a:t>
            </a:r>
            <a:r>
              <a:rPr lang="zh-CN" altLang="en-US" dirty="0"/>
              <a:t>（</a:t>
            </a:r>
            <a:r>
              <a:rPr lang="zh-CN" altLang="zh-CN" dirty="0"/>
              <a:t>每一行对应于一台主机</a:t>
            </a:r>
            <a:r>
              <a:rPr lang="zh-CN" altLang="en-US" dirty="0"/>
              <a:t>），则所得出的路由表就会过于庞大。</a:t>
            </a:r>
          </a:p>
          <a:p>
            <a:pPr>
              <a:lnSpc>
                <a:spcPct val="100000"/>
              </a:lnSpc>
            </a:pPr>
            <a:r>
              <a:rPr lang="zh-CN" altLang="en-US" dirty="0"/>
              <a:t>但</a:t>
            </a:r>
            <a:r>
              <a:rPr lang="zh-CN" altLang="en-US" dirty="0">
                <a:solidFill>
                  <a:srgbClr val="FF0000"/>
                </a:solidFill>
              </a:rPr>
              <a:t>若按主机所在的网络地址来制作路由表，</a:t>
            </a:r>
            <a:r>
              <a:rPr lang="zh-CN" altLang="en-US" dirty="0"/>
              <a:t>那么每一个路由器中的路由表就只包含 </a:t>
            </a:r>
            <a:r>
              <a:rPr lang="en-US" altLang="zh-CN" dirty="0"/>
              <a:t>4 </a:t>
            </a:r>
            <a:r>
              <a:rPr lang="zh-CN" altLang="en-US" dirty="0"/>
              <a:t>个项目（</a:t>
            </a:r>
            <a:r>
              <a:rPr lang="zh-CN" altLang="zh-CN" dirty="0"/>
              <a:t>每一行对应于一个网络</a:t>
            </a:r>
            <a:r>
              <a:rPr lang="zh-CN" altLang="en-US" dirty="0"/>
              <a:t>），这样就可使路由表大大简化。 </a:t>
            </a:r>
          </a:p>
        </p:txBody>
      </p:sp>
    </p:spTree>
    <p:extLst>
      <p:ext uri="{BB962C8B-B14F-4D97-AF65-F5344CB8AC3E}">
        <p14:creationId xmlns:p14="http://schemas.microsoft.com/office/powerpoint/2010/main" val="37125134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459" name="Text Box 155"/>
          <p:cNvSpPr txBox="1">
            <a:spLocks noChangeArrowheads="1"/>
          </p:cNvSpPr>
          <p:nvPr/>
        </p:nvSpPr>
        <p:spPr bwMode="auto">
          <a:xfrm>
            <a:off x="1516532" y="197055"/>
            <a:ext cx="6676828" cy="1040285"/>
          </a:xfrm>
          <a:prstGeom prst="rect">
            <a:avLst/>
          </a:prstGeom>
          <a:solidFill>
            <a:srgbClr val="FFCC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10000"/>
              </a:lnSpc>
            </a:pPr>
            <a:r>
              <a:rPr lang="zh-CN" altLang="en-US" sz="2800" b="1" dirty="0">
                <a:solidFill>
                  <a:srgbClr val="0000CC"/>
                </a:solidFill>
                <a:latin typeface="+mn-lt"/>
                <a:ea typeface="黑体" pitchFamily="2" charset="-122"/>
              </a:rPr>
              <a:t>在路由表中，对每一条路由，最主要的是</a:t>
            </a:r>
          </a:p>
          <a:p>
            <a:pPr algn="ctr">
              <a:lnSpc>
                <a:spcPct val="110000"/>
              </a:lnSpc>
            </a:pPr>
            <a:r>
              <a:rPr lang="zh-CN" altLang="en-US" sz="2800" b="1" dirty="0">
                <a:solidFill>
                  <a:srgbClr val="C00000"/>
                </a:solidFill>
                <a:latin typeface="+mn-lt"/>
                <a:ea typeface="黑体" pitchFamily="2" charset="-122"/>
              </a:rPr>
              <a:t>（目的网络地址，下一跳地址） </a:t>
            </a:r>
          </a:p>
        </p:txBody>
      </p:sp>
      <p:grpSp>
        <p:nvGrpSpPr>
          <p:cNvPr id="2" name="组合 1"/>
          <p:cNvGrpSpPr/>
          <p:nvPr/>
        </p:nvGrpSpPr>
        <p:grpSpPr>
          <a:xfrm>
            <a:off x="84344" y="1477964"/>
            <a:ext cx="9837208" cy="4257202"/>
            <a:chOff x="84344" y="1477964"/>
            <a:chExt cx="9837208" cy="4257202"/>
          </a:xfrm>
        </p:grpSpPr>
        <p:sp>
          <p:nvSpPr>
            <p:cNvPr id="482308" name="Freeform 4"/>
            <p:cNvSpPr>
              <a:spLocks/>
            </p:cNvSpPr>
            <p:nvPr/>
          </p:nvSpPr>
          <p:spPr bwMode="auto">
            <a:xfrm>
              <a:off x="2349310" y="2401889"/>
              <a:ext cx="5458619" cy="1027111"/>
            </a:xfrm>
            <a:custGeom>
              <a:avLst/>
              <a:gdLst>
                <a:gd name="T0" fmla="*/ 0 w 3024"/>
                <a:gd name="T1" fmla="*/ 636 h 636"/>
                <a:gd name="T2" fmla="*/ 1520 w 3024"/>
                <a:gd name="T3" fmla="*/ 0 h 636"/>
                <a:gd name="T4" fmla="*/ 3024 w 3024"/>
                <a:gd name="T5" fmla="*/ 636 h 636"/>
                <a:gd name="T6" fmla="*/ 0 w 3024"/>
                <a:gd name="T7" fmla="*/ 636 h 636"/>
              </a:gdLst>
              <a:ahLst/>
              <a:cxnLst>
                <a:cxn ang="0">
                  <a:pos x="T0" y="T1"/>
                </a:cxn>
                <a:cxn ang="0">
                  <a:pos x="T2" y="T3"/>
                </a:cxn>
                <a:cxn ang="0">
                  <a:pos x="T4" y="T5"/>
                </a:cxn>
                <a:cxn ang="0">
                  <a:pos x="T6" y="T7"/>
                </a:cxn>
              </a:cxnLst>
              <a:rect l="0" t="0" r="r" b="b"/>
              <a:pathLst>
                <a:path w="3024" h="636">
                  <a:moveTo>
                    <a:pt x="0" y="636"/>
                  </a:moveTo>
                  <a:lnTo>
                    <a:pt x="1520" y="0"/>
                  </a:lnTo>
                  <a:lnTo>
                    <a:pt x="3024" y="636"/>
                  </a:lnTo>
                  <a:lnTo>
                    <a:pt x="0" y="636"/>
                  </a:lnTo>
                  <a:close/>
                </a:path>
              </a:pathLst>
            </a:custGeom>
            <a:gradFill rotWithShape="1">
              <a:gsLst>
                <a:gs pos="0">
                  <a:srgbClr val="FFFF99">
                    <a:gamma/>
                    <a:shade val="81961"/>
                    <a:invGamma/>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3" name="Group 5"/>
            <p:cNvGrpSpPr>
              <a:grpSpLocks/>
            </p:cNvGrpSpPr>
            <p:nvPr/>
          </p:nvGrpSpPr>
          <p:grpSpPr bwMode="auto">
            <a:xfrm>
              <a:off x="84344" y="1855788"/>
              <a:ext cx="1379273" cy="914400"/>
              <a:chOff x="912" y="768"/>
              <a:chExt cx="2400" cy="1584"/>
            </a:xfrm>
          </p:grpSpPr>
          <p:sp>
            <p:nvSpPr>
              <p:cNvPr id="482310" name="Oval 6"/>
              <p:cNvSpPr>
                <a:spLocks noChangeArrowheads="1"/>
              </p:cNvSpPr>
              <p:nvPr/>
            </p:nvSpPr>
            <p:spPr bwMode="auto">
              <a:xfrm>
                <a:off x="1751" y="799"/>
                <a:ext cx="1026" cy="628"/>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11" name="Oval 7"/>
              <p:cNvSpPr>
                <a:spLocks noChangeArrowheads="1"/>
              </p:cNvSpPr>
              <p:nvPr/>
            </p:nvSpPr>
            <p:spPr bwMode="auto">
              <a:xfrm>
                <a:off x="1172" y="972"/>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12" name="Oval 8"/>
              <p:cNvSpPr>
                <a:spLocks noChangeArrowheads="1"/>
              </p:cNvSpPr>
              <p:nvPr/>
            </p:nvSpPr>
            <p:spPr bwMode="auto">
              <a:xfrm>
                <a:off x="926" y="1364"/>
                <a:ext cx="521" cy="502"/>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13" name="Oval 9"/>
              <p:cNvSpPr>
                <a:spLocks noChangeArrowheads="1"/>
              </p:cNvSpPr>
              <p:nvPr/>
            </p:nvSpPr>
            <p:spPr bwMode="auto">
              <a:xfrm>
                <a:off x="1085" y="1599"/>
                <a:ext cx="796"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14" name="Oval 10"/>
              <p:cNvSpPr>
                <a:spLocks noChangeArrowheads="1"/>
              </p:cNvSpPr>
              <p:nvPr/>
            </p:nvSpPr>
            <p:spPr bwMode="auto">
              <a:xfrm>
                <a:off x="1664" y="1693"/>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15" name="Oval 11"/>
              <p:cNvSpPr>
                <a:spLocks noChangeArrowheads="1"/>
              </p:cNvSpPr>
              <p:nvPr/>
            </p:nvSpPr>
            <p:spPr bwMode="auto">
              <a:xfrm>
                <a:off x="2445" y="988"/>
                <a:ext cx="751"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16" name="Oval 12"/>
              <p:cNvSpPr>
                <a:spLocks noChangeArrowheads="1"/>
              </p:cNvSpPr>
              <p:nvPr/>
            </p:nvSpPr>
            <p:spPr bwMode="auto">
              <a:xfrm>
                <a:off x="2560" y="1317"/>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17" name="Oval 13"/>
              <p:cNvSpPr>
                <a:spLocks noChangeArrowheads="1"/>
              </p:cNvSpPr>
              <p:nvPr/>
            </p:nvSpPr>
            <p:spPr bwMode="auto">
              <a:xfrm>
                <a:off x="2488" y="1427"/>
                <a:ext cx="752"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18" name="Oval 14"/>
              <p:cNvSpPr>
                <a:spLocks noChangeArrowheads="1"/>
              </p:cNvSpPr>
              <p:nvPr/>
            </p:nvSpPr>
            <p:spPr bwMode="auto">
              <a:xfrm>
                <a:off x="1360" y="1176"/>
                <a:ext cx="1547"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nvGrpSpPr>
              <p:cNvPr id="4" name="Group 15"/>
              <p:cNvGrpSpPr>
                <a:grpSpLocks/>
              </p:cNvGrpSpPr>
              <p:nvPr/>
            </p:nvGrpSpPr>
            <p:grpSpPr bwMode="auto">
              <a:xfrm>
                <a:off x="912" y="768"/>
                <a:ext cx="2386" cy="1553"/>
                <a:chOff x="912" y="768"/>
                <a:chExt cx="2386" cy="1553"/>
              </a:xfrm>
            </p:grpSpPr>
            <p:sp>
              <p:nvSpPr>
                <p:cNvPr id="482320" name="Oval 16"/>
                <p:cNvSpPr>
                  <a:spLocks noChangeArrowheads="1"/>
                </p:cNvSpPr>
                <p:nvPr/>
              </p:nvSpPr>
              <p:spPr bwMode="auto">
                <a:xfrm>
                  <a:off x="1736" y="768"/>
                  <a:ext cx="1027"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21" name="Oval 17"/>
                <p:cNvSpPr>
                  <a:spLocks noChangeArrowheads="1"/>
                </p:cNvSpPr>
                <p:nvPr/>
              </p:nvSpPr>
              <p:spPr bwMode="auto">
                <a:xfrm>
                  <a:off x="1158" y="941"/>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22" name="Oval 18"/>
                <p:cNvSpPr>
                  <a:spLocks noChangeArrowheads="1"/>
                </p:cNvSpPr>
                <p:nvPr/>
              </p:nvSpPr>
              <p:spPr bwMode="auto">
                <a:xfrm>
                  <a:off x="912" y="1333"/>
                  <a:ext cx="520" cy="501"/>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23" name="Oval 19"/>
                <p:cNvSpPr>
                  <a:spLocks noChangeArrowheads="1"/>
                </p:cNvSpPr>
                <p:nvPr/>
              </p:nvSpPr>
              <p:spPr bwMode="auto">
                <a:xfrm>
                  <a:off x="1071" y="1568"/>
                  <a:ext cx="795"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24" name="Oval 20"/>
                <p:cNvSpPr>
                  <a:spLocks noChangeArrowheads="1"/>
                </p:cNvSpPr>
                <p:nvPr/>
              </p:nvSpPr>
              <p:spPr bwMode="auto">
                <a:xfrm>
                  <a:off x="1649" y="1662"/>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25" name="Oval 21"/>
                <p:cNvSpPr>
                  <a:spLocks noChangeArrowheads="1"/>
                </p:cNvSpPr>
                <p:nvPr/>
              </p:nvSpPr>
              <p:spPr bwMode="auto">
                <a:xfrm>
                  <a:off x="2430" y="95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26" name="Oval 22"/>
                <p:cNvSpPr>
                  <a:spLocks noChangeArrowheads="1"/>
                </p:cNvSpPr>
                <p:nvPr/>
              </p:nvSpPr>
              <p:spPr bwMode="auto">
                <a:xfrm>
                  <a:off x="2546" y="128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27" name="Oval 23"/>
                <p:cNvSpPr>
                  <a:spLocks noChangeArrowheads="1"/>
                </p:cNvSpPr>
                <p:nvPr/>
              </p:nvSpPr>
              <p:spPr bwMode="auto">
                <a:xfrm>
                  <a:off x="2473" y="1395"/>
                  <a:ext cx="752"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28" name="Oval 24"/>
                <p:cNvSpPr>
                  <a:spLocks noChangeArrowheads="1"/>
                </p:cNvSpPr>
                <p:nvPr/>
              </p:nvSpPr>
              <p:spPr bwMode="auto">
                <a:xfrm>
                  <a:off x="1346" y="1144"/>
                  <a:ext cx="1547"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grpSp>
        <p:sp>
          <p:nvSpPr>
            <p:cNvPr id="482329" name="Line 25"/>
            <p:cNvSpPr>
              <a:spLocks noChangeShapeType="1"/>
            </p:cNvSpPr>
            <p:nvPr/>
          </p:nvSpPr>
          <p:spPr bwMode="auto">
            <a:xfrm>
              <a:off x="1463616" y="2286000"/>
              <a:ext cx="7321154"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5" name="Group 26"/>
            <p:cNvGrpSpPr>
              <a:grpSpLocks/>
            </p:cNvGrpSpPr>
            <p:nvPr/>
          </p:nvGrpSpPr>
          <p:grpSpPr bwMode="auto">
            <a:xfrm>
              <a:off x="8542279" y="1855788"/>
              <a:ext cx="1379273" cy="914400"/>
              <a:chOff x="912" y="768"/>
              <a:chExt cx="2400" cy="1584"/>
            </a:xfrm>
          </p:grpSpPr>
          <p:sp>
            <p:nvSpPr>
              <p:cNvPr id="482331" name="Oval 27"/>
              <p:cNvSpPr>
                <a:spLocks noChangeArrowheads="1"/>
              </p:cNvSpPr>
              <p:nvPr/>
            </p:nvSpPr>
            <p:spPr bwMode="auto">
              <a:xfrm>
                <a:off x="1751" y="799"/>
                <a:ext cx="1026" cy="628"/>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32" name="Oval 28"/>
              <p:cNvSpPr>
                <a:spLocks noChangeArrowheads="1"/>
              </p:cNvSpPr>
              <p:nvPr/>
            </p:nvSpPr>
            <p:spPr bwMode="auto">
              <a:xfrm>
                <a:off x="1172" y="972"/>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33" name="Oval 29"/>
              <p:cNvSpPr>
                <a:spLocks noChangeArrowheads="1"/>
              </p:cNvSpPr>
              <p:nvPr/>
            </p:nvSpPr>
            <p:spPr bwMode="auto">
              <a:xfrm>
                <a:off x="926" y="1364"/>
                <a:ext cx="521" cy="502"/>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34" name="Oval 30"/>
              <p:cNvSpPr>
                <a:spLocks noChangeArrowheads="1"/>
              </p:cNvSpPr>
              <p:nvPr/>
            </p:nvSpPr>
            <p:spPr bwMode="auto">
              <a:xfrm>
                <a:off x="1085" y="1599"/>
                <a:ext cx="796"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35" name="Oval 31"/>
              <p:cNvSpPr>
                <a:spLocks noChangeArrowheads="1"/>
              </p:cNvSpPr>
              <p:nvPr/>
            </p:nvSpPr>
            <p:spPr bwMode="auto">
              <a:xfrm>
                <a:off x="1664" y="1693"/>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36" name="Oval 32"/>
              <p:cNvSpPr>
                <a:spLocks noChangeArrowheads="1"/>
              </p:cNvSpPr>
              <p:nvPr/>
            </p:nvSpPr>
            <p:spPr bwMode="auto">
              <a:xfrm>
                <a:off x="2445" y="988"/>
                <a:ext cx="751"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37" name="Oval 33"/>
              <p:cNvSpPr>
                <a:spLocks noChangeArrowheads="1"/>
              </p:cNvSpPr>
              <p:nvPr/>
            </p:nvSpPr>
            <p:spPr bwMode="auto">
              <a:xfrm>
                <a:off x="2560" y="1317"/>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38" name="Oval 34"/>
              <p:cNvSpPr>
                <a:spLocks noChangeArrowheads="1"/>
              </p:cNvSpPr>
              <p:nvPr/>
            </p:nvSpPr>
            <p:spPr bwMode="auto">
              <a:xfrm>
                <a:off x="2488" y="1427"/>
                <a:ext cx="752"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39" name="Oval 35"/>
              <p:cNvSpPr>
                <a:spLocks noChangeArrowheads="1"/>
              </p:cNvSpPr>
              <p:nvPr/>
            </p:nvSpPr>
            <p:spPr bwMode="auto">
              <a:xfrm>
                <a:off x="1360" y="1176"/>
                <a:ext cx="1547"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nvGrpSpPr>
              <p:cNvPr id="6" name="Group 36"/>
              <p:cNvGrpSpPr>
                <a:grpSpLocks/>
              </p:cNvGrpSpPr>
              <p:nvPr/>
            </p:nvGrpSpPr>
            <p:grpSpPr bwMode="auto">
              <a:xfrm>
                <a:off x="912" y="768"/>
                <a:ext cx="2386" cy="1553"/>
                <a:chOff x="912" y="768"/>
                <a:chExt cx="2386" cy="1553"/>
              </a:xfrm>
            </p:grpSpPr>
            <p:sp>
              <p:nvSpPr>
                <p:cNvPr id="482341" name="Oval 37"/>
                <p:cNvSpPr>
                  <a:spLocks noChangeArrowheads="1"/>
                </p:cNvSpPr>
                <p:nvPr/>
              </p:nvSpPr>
              <p:spPr bwMode="auto">
                <a:xfrm>
                  <a:off x="1736" y="768"/>
                  <a:ext cx="1027"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42" name="Oval 38"/>
                <p:cNvSpPr>
                  <a:spLocks noChangeArrowheads="1"/>
                </p:cNvSpPr>
                <p:nvPr/>
              </p:nvSpPr>
              <p:spPr bwMode="auto">
                <a:xfrm>
                  <a:off x="1158" y="941"/>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43" name="Oval 39"/>
                <p:cNvSpPr>
                  <a:spLocks noChangeArrowheads="1"/>
                </p:cNvSpPr>
                <p:nvPr/>
              </p:nvSpPr>
              <p:spPr bwMode="auto">
                <a:xfrm>
                  <a:off x="912" y="1333"/>
                  <a:ext cx="520" cy="501"/>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44" name="Oval 40"/>
                <p:cNvSpPr>
                  <a:spLocks noChangeArrowheads="1"/>
                </p:cNvSpPr>
                <p:nvPr/>
              </p:nvSpPr>
              <p:spPr bwMode="auto">
                <a:xfrm>
                  <a:off x="1071" y="1568"/>
                  <a:ext cx="795"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45" name="Oval 41"/>
                <p:cNvSpPr>
                  <a:spLocks noChangeArrowheads="1"/>
                </p:cNvSpPr>
                <p:nvPr/>
              </p:nvSpPr>
              <p:spPr bwMode="auto">
                <a:xfrm>
                  <a:off x="1649" y="1662"/>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46" name="Oval 42"/>
                <p:cNvSpPr>
                  <a:spLocks noChangeArrowheads="1"/>
                </p:cNvSpPr>
                <p:nvPr/>
              </p:nvSpPr>
              <p:spPr bwMode="auto">
                <a:xfrm>
                  <a:off x="2430" y="95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47" name="Oval 43"/>
                <p:cNvSpPr>
                  <a:spLocks noChangeArrowheads="1"/>
                </p:cNvSpPr>
                <p:nvPr/>
              </p:nvSpPr>
              <p:spPr bwMode="auto">
                <a:xfrm>
                  <a:off x="2546" y="128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48" name="Oval 44"/>
                <p:cNvSpPr>
                  <a:spLocks noChangeArrowheads="1"/>
                </p:cNvSpPr>
                <p:nvPr/>
              </p:nvSpPr>
              <p:spPr bwMode="auto">
                <a:xfrm>
                  <a:off x="2473" y="1395"/>
                  <a:ext cx="752"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49" name="Oval 45"/>
                <p:cNvSpPr>
                  <a:spLocks noChangeArrowheads="1"/>
                </p:cNvSpPr>
                <p:nvPr/>
              </p:nvSpPr>
              <p:spPr bwMode="auto">
                <a:xfrm>
                  <a:off x="1346" y="1144"/>
                  <a:ext cx="1547"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grpSp>
        <p:grpSp>
          <p:nvGrpSpPr>
            <p:cNvPr id="7" name="Group 46"/>
            <p:cNvGrpSpPr>
              <a:grpSpLocks/>
            </p:cNvGrpSpPr>
            <p:nvPr/>
          </p:nvGrpSpPr>
          <p:grpSpPr bwMode="auto">
            <a:xfrm>
              <a:off x="5818129" y="1890714"/>
              <a:ext cx="1379273" cy="915987"/>
              <a:chOff x="912" y="768"/>
              <a:chExt cx="2400" cy="1584"/>
            </a:xfrm>
          </p:grpSpPr>
          <p:sp>
            <p:nvSpPr>
              <p:cNvPr id="482351" name="Oval 47"/>
              <p:cNvSpPr>
                <a:spLocks noChangeArrowheads="1"/>
              </p:cNvSpPr>
              <p:nvPr/>
            </p:nvSpPr>
            <p:spPr bwMode="auto">
              <a:xfrm>
                <a:off x="1751" y="799"/>
                <a:ext cx="1026" cy="628"/>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52" name="Oval 48"/>
              <p:cNvSpPr>
                <a:spLocks noChangeArrowheads="1"/>
              </p:cNvSpPr>
              <p:nvPr/>
            </p:nvSpPr>
            <p:spPr bwMode="auto">
              <a:xfrm>
                <a:off x="1172" y="972"/>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53" name="Oval 49"/>
              <p:cNvSpPr>
                <a:spLocks noChangeArrowheads="1"/>
              </p:cNvSpPr>
              <p:nvPr/>
            </p:nvSpPr>
            <p:spPr bwMode="auto">
              <a:xfrm>
                <a:off x="926" y="1364"/>
                <a:ext cx="521" cy="502"/>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54" name="Oval 50"/>
              <p:cNvSpPr>
                <a:spLocks noChangeArrowheads="1"/>
              </p:cNvSpPr>
              <p:nvPr/>
            </p:nvSpPr>
            <p:spPr bwMode="auto">
              <a:xfrm>
                <a:off x="1085" y="1599"/>
                <a:ext cx="796"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55" name="Oval 51"/>
              <p:cNvSpPr>
                <a:spLocks noChangeArrowheads="1"/>
              </p:cNvSpPr>
              <p:nvPr/>
            </p:nvSpPr>
            <p:spPr bwMode="auto">
              <a:xfrm>
                <a:off x="1664" y="1693"/>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56" name="Oval 52"/>
              <p:cNvSpPr>
                <a:spLocks noChangeArrowheads="1"/>
              </p:cNvSpPr>
              <p:nvPr/>
            </p:nvSpPr>
            <p:spPr bwMode="auto">
              <a:xfrm>
                <a:off x="2445" y="988"/>
                <a:ext cx="751"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57" name="Oval 53"/>
              <p:cNvSpPr>
                <a:spLocks noChangeArrowheads="1"/>
              </p:cNvSpPr>
              <p:nvPr/>
            </p:nvSpPr>
            <p:spPr bwMode="auto">
              <a:xfrm>
                <a:off x="2560" y="1317"/>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58" name="Oval 54"/>
              <p:cNvSpPr>
                <a:spLocks noChangeArrowheads="1"/>
              </p:cNvSpPr>
              <p:nvPr/>
            </p:nvSpPr>
            <p:spPr bwMode="auto">
              <a:xfrm>
                <a:off x="2488" y="1427"/>
                <a:ext cx="752"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59" name="Oval 55"/>
              <p:cNvSpPr>
                <a:spLocks noChangeArrowheads="1"/>
              </p:cNvSpPr>
              <p:nvPr/>
            </p:nvSpPr>
            <p:spPr bwMode="auto">
              <a:xfrm>
                <a:off x="1360" y="1176"/>
                <a:ext cx="1547"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nvGrpSpPr>
              <p:cNvPr id="8" name="Group 56"/>
              <p:cNvGrpSpPr>
                <a:grpSpLocks/>
              </p:cNvGrpSpPr>
              <p:nvPr/>
            </p:nvGrpSpPr>
            <p:grpSpPr bwMode="auto">
              <a:xfrm>
                <a:off x="912" y="768"/>
                <a:ext cx="2386" cy="1553"/>
                <a:chOff x="912" y="768"/>
                <a:chExt cx="2386" cy="1553"/>
              </a:xfrm>
            </p:grpSpPr>
            <p:sp>
              <p:nvSpPr>
                <p:cNvPr id="482361" name="Oval 57"/>
                <p:cNvSpPr>
                  <a:spLocks noChangeArrowheads="1"/>
                </p:cNvSpPr>
                <p:nvPr/>
              </p:nvSpPr>
              <p:spPr bwMode="auto">
                <a:xfrm>
                  <a:off x="1736" y="768"/>
                  <a:ext cx="1027"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62" name="Oval 58"/>
                <p:cNvSpPr>
                  <a:spLocks noChangeArrowheads="1"/>
                </p:cNvSpPr>
                <p:nvPr/>
              </p:nvSpPr>
              <p:spPr bwMode="auto">
                <a:xfrm>
                  <a:off x="1158" y="941"/>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63" name="Oval 59"/>
                <p:cNvSpPr>
                  <a:spLocks noChangeArrowheads="1"/>
                </p:cNvSpPr>
                <p:nvPr/>
              </p:nvSpPr>
              <p:spPr bwMode="auto">
                <a:xfrm>
                  <a:off x="912" y="1333"/>
                  <a:ext cx="520" cy="501"/>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64" name="Oval 60"/>
                <p:cNvSpPr>
                  <a:spLocks noChangeArrowheads="1"/>
                </p:cNvSpPr>
                <p:nvPr/>
              </p:nvSpPr>
              <p:spPr bwMode="auto">
                <a:xfrm>
                  <a:off x="1071" y="1568"/>
                  <a:ext cx="795"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65" name="Oval 61"/>
                <p:cNvSpPr>
                  <a:spLocks noChangeArrowheads="1"/>
                </p:cNvSpPr>
                <p:nvPr/>
              </p:nvSpPr>
              <p:spPr bwMode="auto">
                <a:xfrm>
                  <a:off x="1649" y="1662"/>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66" name="Oval 62"/>
                <p:cNvSpPr>
                  <a:spLocks noChangeArrowheads="1"/>
                </p:cNvSpPr>
                <p:nvPr/>
              </p:nvSpPr>
              <p:spPr bwMode="auto">
                <a:xfrm>
                  <a:off x="2430" y="95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67" name="Oval 63"/>
                <p:cNvSpPr>
                  <a:spLocks noChangeArrowheads="1"/>
                </p:cNvSpPr>
                <p:nvPr/>
              </p:nvSpPr>
              <p:spPr bwMode="auto">
                <a:xfrm>
                  <a:off x="2546" y="128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68" name="Oval 64"/>
                <p:cNvSpPr>
                  <a:spLocks noChangeArrowheads="1"/>
                </p:cNvSpPr>
                <p:nvPr/>
              </p:nvSpPr>
              <p:spPr bwMode="auto">
                <a:xfrm>
                  <a:off x="2473" y="1395"/>
                  <a:ext cx="752"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69" name="Oval 65"/>
                <p:cNvSpPr>
                  <a:spLocks noChangeArrowheads="1"/>
                </p:cNvSpPr>
                <p:nvPr/>
              </p:nvSpPr>
              <p:spPr bwMode="auto">
                <a:xfrm>
                  <a:off x="1346" y="1144"/>
                  <a:ext cx="1547"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grpSp>
        <p:grpSp>
          <p:nvGrpSpPr>
            <p:cNvPr id="9" name="Group 66"/>
            <p:cNvGrpSpPr>
              <a:grpSpLocks/>
            </p:cNvGrpSpPr>
            <p:nvPr/>
          </p:nvGrpSpPr>
          <p:grpSpPr bwMode="auto">
            <a:xfrm>
              <a:off x="2983912" y="1855788"/>
              <a:ext cx="1379273" cy="914400"/>
              <a:chOff x="912" y="768"/>
              <a:chExt cx="2400" cy="1584"/>
            </a:xfrm>
          </p:grpSpPr>
          <p:sp>
            <p:nvSpPr>
              <p:cNvPr id="482371" name="Oval 67"/>
              <p:cNvSpPr>
                <a:spLocks noChangeArrowheads="1"/>
              </p:cNvSpPr>
              <p:nvPr/>
            </p:nvSpPr>
            <p:spPr bwMode="auto">
              <a:xfrm>
                <a:off x="1751" y="799"/>
                <a:ext cx="1026" cy="628"/>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72" name="Oval 68"/>
              <p:cNvSpPr>
                <a:spLocks noChangeArrowheads="1"/>
              </p:cNvSpPr>
              <p:nvPr/>
            </p:nvSpPr>
            <p:spPr bwMode="auto">
              <a:xfrm>
                <a:off x="1172" y="972"/>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73" name="Oval 69"/>
              <p:cNvSpPr>
                <a:spLocks noChangeArrowheads="1"/>
              </p:cNvSpPr>
              <p:nvPr/>
            </p:nvSpPr>
            <p:spPr bwMode="auto">
              <a:xfrm>
                <a:off x="926" y="1364"/>
                <a:ext cx="521" cy="502"/>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74" name="Oval 70"/>
              <p:cNvSpPr>
                <a:spLocks noChangeArrowheads="1"/>
              </p:cNvSpPr>
              <p:nvPr/>
            </p:nvSpPr>
            <p:spPr bwMode="auto">
              <a:xfrm>
                <a:off x="1085" y="1599"/>
                <a:ext cx="796"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75" name="Oval 71"/>
              <p:cNvSpPr>
                <a:spLocks noChangeArrowheads="1"/>
              </p:cNvSpPr>
              <p:nvPr/>
            </p:nvSpPr>
            <p:spPr bwMode="auto">
              <a:xfrm>
                <a:off x="1664" y="1693"/>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76" name="Oval 72"/>
              <p:cNvSpPr>
                <a:spLocks noChangeArrowheads="1"/>
              </p:cNvSpPr>
              <p:nvPr/>
            </p:nvSpPr>
            <p:spPr bwMode="auto">
              <a:xfrm>
                <a:off x="2445" y="988"/>
                <a:ext cx="751"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77" name="Oval 73"/>
              <p:cNvSpPr>
                <a:spLocks noChangeArrowheads="1"/>
              </p:cNvSpPr>
              <p:nvPr/>
            </p:nvSpPr>
            <p:spPr bwMode="auto">
              <a:xfrm>
                <a:off x="2560" y="1317"/>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78" name="Oval 74"/>
              <p:cNvSpPr>
                <a:spLocks noChangeArrowheads="1"/>
              </p:cNvSpPr>
              <p:nvPr/>
            </p:nvSpPr>
            <p:spPr bwMode="auto">
              <a:xfrm>
                <a:off x="2488" y="1427"/>
                <a:ext cx="752"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79" name="Oval 75"/>
              <p:cNvSpPr>
                <a:spLocks noChangeArrowheads="1"/>
              </p:cNvSpPr>
              <p:nvPr/>
            </p:nvSpPr>
            <p:spPr bwMode="auto">
              <a:xfrm>
                <a:off x="1360" y="1176"/>
                <a:ext cx="1547" cy="815"/>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nvGrpSpPr>
              <p:cNvPr id="10" name="Group 76"/>
              <p:cNvGrpSpPr>
                <a:grpSpLocks/>
              </p:cNvGrpSpPr>
              <p:nvPr/>
            </p:nvGrpSpPr>
            <p:grpSpPr bwMode="auto">
              <a:xfrm>
                <a:off x="912" y="768"/>
                <a:ext cx="2386" cy="1553"/>
                <a:chOff x="912" y="768"/>
                <a:chExt cx="2386" cy="1553"/>
              </a:xfrm>
            </p:grpSpPr>
            <p:sp>
              <p:nvSpPr>
                <p:cNvPr id="482381" name="Oval 77"/>
                <p:cNvSpPr>
                  <a:spLocks noChangeArrowheads="1"/>
                </p:cNvSpPr>
                <p:nvPr/>
              </p:nvSpPr>
              <p:spPr bwMode="auto">
                <a:xfrm>
                  <a:off x="1736" y="768"/>
                  <a:ext cx="1027"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82" name="Oval 78"/>
                <p:cNvSpPr>
                  <a:spLocks noChangeArrowheads="1"/>
                </p:cNvSpPr>
                <p:nvPr/>
              </p:nvSpPr>
              <p:spPr bwMode="auto">
                <a:xfrm>
                  <a:off x="1158" y="941"/>
                  <a:ext cx="781" cy="627"/>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83" name="Oval 79"/>
                <p:cNvSpPr>
                  <a:spLocks noChangeArrowheads="1"/>
                </p:cNvSpPr>
                <p:nvPr/>
              </p:nvSpPr>
              <p:spPr bwMode="auto">
                <a:xfrm>
                  <a:off x="912" y="1333"/>
                  <a:ext cx="520" cy="501"/>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84" name="Oval 80"/>
                <p:cNvSpPr>
                  <a:spLocks noChangeArrowheads="1"/>
                </p:cNvSpPr>
                <p:nvPr/>
              </p:nvSpPr>
              <p:spPr bwMode="auto">
                <a:xfrm>
                  <a:off x="1071" y="1568"/>
                  <a:ext cx="795" cy="54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85" name="Oval 81"/>
                <p:cNvSpPr>
                  <a:spLocks noChangeArrowheads="1"/>
                </p:cNvSpPr>
                <p:nvPr/>
              </p:nvSpPr>
              <p:spPr bwMode="auto">
                <a:xfrm>
                  <a:off x="1649" y="1662"/>
                  <a:ext cx="1200" cy="659"/>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86" name="Oval 82"/>
                <p:cNvSpPr>
                  <a:spLocks noChangeArrowheads="1"/>
                </p:cNvSpPr>
                <p:nvPr/>
              </p:nvSpPr>
              <p:spPr bwMode="auto">
                <a:xfrm>
                  <a:off x="2430" y="95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87" name="Oval 83"/>
                <p:cNvSpPr>
                  <a:spLocks noChangeArrowheads="1"/>
                </p:cNvSpPr>
                <p:nvPr/>
              </p:nvSpPr>
              <p:spPr bwMode="auto">
                <a:xfrm>
                  <a:off x="2546" y="1286"/>
                  <a:ext cx="752" cy="48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88" name="Oval 84"/>
                <p:cNvSpPr>
                  <a:spLocks noChangeArrowheads="1"/>
                </p:cNvSpPr>
                <p:nvPr/>
              </p:nvSpPr>
              <p:spPr bwMode="auto">
                <a:xfrm>
                  <a:off x="2473" y="1395"/>
                  <a:ext cx="752"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2389" name="Oval 85"/>
                <p:cNvSpPr>
                  <a:spLocks noChangeArrowheads="1"/>
                </p:cNvSpPr>
                <p:nvPr/>
              </p:nvSpPr>
              <p:spPr bwMode="auto">
                <a:xfrm>
                  <a:off x="1346" y="1144"/>
                  <a:ext cx="1547" cy="816"/>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grpSp>
        <p:sp>
          <p:nvSpPr>
            <p:cNvPr id="482390" name="Text Box 86"/>
            <p:cNvSpPr txBox="1">
              <a:spLocks noChangeArrowheads="1"/>
            </p:cNvSpPr>
            <p:nvPr/>
          </p:nvSpPr>
          <p:spPr bwMode="auto">
            <a:xfrm>
              <a:off x="216768" y="1908176"/>
              <a:ext cx="110959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   </a:t>
              </a:r>
              <a:r>
                <a:rPr kumimoji="1" lang="zh-CN" altLang="en-US" sz="2000" b="1" dirty="0">
                  <a:solidFill>
                    <a:srgbClr val="0000CC"/>
                  </a:solidFill>
                  <a:latin typeface="+mn-lt"/>
                  <a:ea typeface="黑体" pitchFamily="2" charset="-122"/>
                </a:rPr>
                <a:t>网</a:t>
              </a:r>
              <a:r>
                <a:rPr kumimoji="1" lang="zh-CN" altLang="en-US" sz="1200" b="1" dirty="0">
                  <a:solidFill>
                    <a:srgbClr val="0000CC"/>
                  </a:solidFill>
                  <a:latin typeface="+mn-lt"/>
                  <a:ea typeface="黑体" pitchFamily="2" charset="-122"/>
                </a:rPr>
                <a:t> </a:t>
              </a:r>
              <a:r>
                <a:rPr kumimoji="1" lang="en-US" altLang="zh-CN" sz="2000" b="1" dirty="0">
                  <a:solidFill>
                    <a:srgbClr val="0000CC"/>
                  </a:solidFill>
                  <a:latin typeface="+mn-lt"/>
                  <a:ea typeface="黑体" pitchFamily="2" charset="-122"/>
                </a:rPr>
                <a:t>1</a:t>
              </a:r>
            </a:p>
            <a:p>
              <a:r>
                <a:rPr kumimoji="1" lang="en-US" altLang="zh-CN" sz="2000" b="1" dirty="0">
                  <a:solidFill>
                    <a:srgbClr val="0000CC"/>
                  </a:solidFill>
                  <a:latin typeface="+mn-lt"/>
                  <a:ea typeface="黑体" pitchFamily="2" charset="-122"/>
                </a:rPr>
                <a:t>15.0.0.0</a:t>
              </a:r>
            </a:p>
          </p:txBody>
        </p:sp>
        <p:sp>
          <p:nvSpPr>
            <p:cNvPr id="482391" name="Text Box 87"/>
            <p:cNvSpPr txBox="1">
              <a:spLocks noChangeArrowheads="1"/>
            </p:cNvSpPr>
            <p:nvPr/>
          </p:nvSpPr>
          <p:spPr bwMode="auto">
            <a:xfrm>
              <a:off x="8784770" y="1908176"/>
              <a:ext cx="110959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   </a:t>
              </a:r>
              <a:r>
                <a:rPr kumimoji="1" lang="zh-CN" altLang="en-US" sz="2000" b="1">
                  <a:solidFill>
                    <a:srgbClr val="0000CC"/>
                  </a:solidFill>
                  <a:latin typeface="+mn-lt"/>
                  <a:ea typeface="黑体" pitchFamily="2" charset="-122"/>
                </a:rPr>
                <a:t>网</a:t>
              </a:r>
              <a:r>
                <a:rPr kumimoji="1" lang="zh-CN" altLang="en-US" sz="10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4</a:t>
              </a:r>
            </a:p>
            <a:p>
              <a:r>
                <a:rPr kumimoji="1" lang="en-US" altLang="zh-CN" sz="2000" b="1">
                  <a:solidFill>
                    <a:srgbClr val="0000CC"/>
                  </a:solidFill>
                  <a:latin typeface="+mn-lt"/>
                  <a:ea typeface="黑体" pitchFamily="2" charset="-122"/>
                </a:rPr>
                <a:t>40.0.0.0</a:t>
              </a:r>
            </a:p>
          </p:txBody>
        </p:sp>
        <p:sp>
          <p:nvSpPr>
            <p:cNvPr id="482392" name="Text Box 88"/>
            <p:cNvSpPr txBox="1">
              <a:spLocks noChangeArrowheads="1"/>
            </p:cNvSpPr>
            <p:nvPr/>
          </p:nvSpPr>
          <p:spPr bwMode="auto">
            <a:xfrm>
              <a:off x="5969470" y="1908176"/>
              <a:ext cx="110959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   </a:t>
              </a:r>
              <a:r>
                <a:rPr kumimoji="1" lang="zh-CN" altLang="en-US" sz="2000" b="1">
                  <a:solidFill>
                    <a:srgbClr val="0000CC"/>
                  </a:solidFill>
                  <a:latin typeface="+mn-lt"/>
                  <a:ea typeface="黑体" pitchFamily="2" charset="-122"/>
                </a:rPr>
                <a:t>网</a:t>
              </a:r>
              <a:r>
                <a:rPr kumimoji="1" lang="zh-CN" altLang="en-US" sz="12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3</a:t>
              </a:r>
            </a:p>
            <a:p>
              <a:r>
                <a:rPr kumimoji="1" lang="en-US" altLang="zh-CN" sz="2000" b="1">
                  <a:solidFill>
                    <a:srgbClr val="0000CC"/>
                  </a:solidFill>
                  <a:latin typeface="+mn-lt"/>
                  <a:ea typeface="黑体" pitchFamily="2" charset="-122"/>
                </a:rPr>
                <a:t>30.0.0.0</a:t>
              </a:r>
            </a:p>
          </p:txBody>
        </p:sp>
        <p:sp>
          <p:nvSpPr>
            <p:cNvPr id="482393" name="Text Box 89"/>
            <p:cNvSpPr txBox="1">
              <a:spLocks noChangeArrowheads="1"/>
            </p:cNvSpPr>
            <p:nvPr/>
          </p:nvSpPr>
          <p:spPr bwMode="auto">
            <a:xfrm>
              <a:off x="3135254" y="1908176"/>
              <a:ext cx="110959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   </a:t>
              </a:r>
              <a:r>
                <a:rPr kumimoji="1" lang="zh-CN" altLang="en-US" sz="2000" b="1">
                  <a:solidFill>
                    <a:srgbClr val="0000CC"/>
                  </a:solidFill>
                  <a:latin typeface="+mn-lt"/>
                  <a:ea typeface="黑体" pitchFamily="2" charset="-122"/>
                </a:rPr>
                <a:t>网</a:t>
              </a:r>
              <a:r>
                <a:rPr kumimoji="1" lang="zh-CN" altLang="en-US" sz="10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2</a:t>
              </a:r>
            </a:p>
            <a:p>
              <a:r>
                <a:rPr kumimoji="1" lang="en-US" altLang="zh-CN" sz="2000" b="1">
                  <a:solidFill>
                    <a:srgbClr val="0000CC"/>
                  </a:solidFill>
                  <a:latin typeface="+mn-lt"/>
                  <a:ea typeface="黑体" pitchFamily="2" charset="-122"/>
                </a:rPr>
                <a:t>20.0.0.0</a:t>
              </a:r>
            </a:p>
          </p:txBody>
        </p:sp>
        <p:sp>
          <p:nvSpPr>
            <p:cNvPr id="482394" name="Text Box 90"/>
            <p:cNvSpPr txBox="1">
              <a:spLocks noChangeArrowheads="1"/>
            </p:cNvSpPr>
            <p:nvPr/>
          </p:nvSpPr>
          <p:spPr bwMode="auto">
            <a:xfrm>
              <a:off x="902964" y="1477964"/>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15.0.0.4</a:t>
              </a:r>
            </a:p>
          </p:txBody>
        </p:sp>
        <p:sp>
          <p:nvSpPr>
            <p:cNvPr id="482395" name="Text Box 91"/>
            <p:cNvSpPr txBox="1">
              <a:spLocks noChangeArrowheads="1"/>
            </p:cNvSpPr>
            <p:nvPr/>
          </p:nvSpPr>
          <p:spPr bwMode="auto">
            <a:xfrm>
              <a:off x="7897358" y="1477964"/>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40.0.0.4</a:t>
              </a:r>
            </a:p>
          </p:txBody>
        </p:sp>
        <p:sp>
          <p:nvSpPr>
            <p:cNvPr id="482396" name="Text Box 92"/>
            <p:cNvSpPr txBox="1">
              <a:spLocks noChangeArrowheads="1"/>
            </p:cNvSpPr>
            <p:nvPr/>
          </p:nvSpPr>
          <p:spPr bwMode="auto">
            <a:xfrm>
              <a:off x="5238560" y="1477964"/>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30.0.0.2</a:t>
              </a:r>
            </a:p>
          </p:txBody>
        </p:sp>
        <p:sp>
          <p:nvSpPr>
            <p:cNvPr id="482397" name="Text Box 93"/>
            <p:cNvSpPr txBox="1">
              <a:spLocks noChangeArrowheads="1"/>
            </p:cNvSpPr>
            <p:nvPr/>
          </p:nvSpPr>
          <p:spPr bwMode="auto">
            <a:xfrm>
              <a:off x="3883364" y="1477964"/>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20.0.0.9</a:t>
              </a:r>
            </a:p>
          </p:txBody>
        </p:sp>
        <p:sp>
          <p:nvSpPr>
            <p:cNvPr id="482398" name="Text Box 94"/>
            <p:cNvSpPr txBox="1">
              <a:spLocks noChangeArrowheads="1"/>
            </p:cNvSpPr>
            <p:nvPr/>
          </p:nvSpPr>
          <p:spPr bwMode="auto">
            <a:xfrm>
              <a:off x="2228924" y="1477964"/>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20.0.0.7</a:t>
              </a:r>
            </a:p>
          </p:txBody>
        </p:sp>
        <p:sp>
          <p:nvSpPr>
            <p:cNvPr id="482399" name="Line 95"/>
            <p:cNvSpPr>
              <a:spLocks noChangeShapeType="1"/>
            </p:cNvSpPr>
            <p:nvPr/>
          </p:nvSpPr>
          <p:spPr bwMode="auto">
            <a:xfrm>
              <a:off x="1633876" y="1881188"/>
              <a:ext cx="0" cy="404812"/>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2400" name="Line 96"/>
            <p:cNvSpPr>
              <a:spLocks noChangeShapeType="1"/>
            </p:cNvSpPr>
            <p:nvPr/>
          </p:nvSpPr>
          <p:spPr bwMode="auto">
            <a:xfrm>
              <a:off x="2827411" y="1881188"/>
              <a:ext cx="0" cy="404812"/>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2401" name="Line 97"/>
            <p:cNvSpPr>
              <a:spLocks noChangeShapeType="1"/>
            </p:cNvSpPr>
            <p:nvPr/>
          </p:nvSpPr>
          <p:spPr bwMode="auto">
            <a:xfrm>
              <a:off x="7262753" y="1881188"/>
              <a:ext cx="0" cy="404812"/>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2402" name="Line 98"/>
            <p:cNvSpPr>
              <a:spLocks noChangeShapeType="1"/>
            </p:cNvSpPr>
            <p:nvPr/>
          </p:nvSpPr>
          <p:spPr bwMode="auto">
            <a:xfrm>
              <a:off x="4619434" y="1881188"/>
              <a:ext cx="0" cy="404812"/>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2403" name="Line 99"/>
            <p:cNvSpPr>
              <a:spLocks noChangeShapeType="1"/>
            </p:cNvSpPr>
            <p:nvPr/>
          </p:nvSpPr>
          <p:spPr bwMode="auto">
            <a:xfrm>
              <a:off x="8458009" y="1860550"/>
              <a:ext cx="0" cy="403225"/>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2404" name="Line 100"/>
            <p:cNvSpPr>
              <a:spLocks noChangeShapeType="1"/>
            </p:cNvSpPr>
            <p:nvPr/>
          </p:nvSpPr>
          <p:spPr bwMode="auto">
            <a:xfrm>
              <a:off x="5728699" y="1881188"/>
              <a:ext cx="0" cy="404812"/>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2405" name="Rectangle 101"/>
            <p:cNvSpPr>
              <a:spLocks noChangeArrowheads="1"/>
            </p:cNvSpPr>
            <p:nvPr/>
          </p:nvSpPr>
          <p:spPr bwMode="auto">
            <a:xfrm>
              <a:off x="2349310" y="3429000"/>
              <a:ext cx="5458619" cy="1778000"/>
            </a:xfrm>
            <a:prstGeom prst="rect">
              <a:avLst/>
            </a:prstGeom>
            <a:solidFill>
              <a:srgbClr val="FFFF99"/>
            </a:solidFill>
            <a:ln w="28575">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482406" name="Line 102"/>
            <p:cNvSpPr>
              <a:spLocks noChangeShapeType="1"/>
            </p:cNvSpPr>
            <p:nvPr/>
          </p:nvSpPr>
          <p:spPr bwMode="auto">
            <a:xfrm>
              <a:off x="2349310" y="3914775"/>
              <a:ext cx="5458619" cy="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2407" name="Text Box 103"/>
            <p:cNvSpPr txBox="1">
              <a:spLocks noChangeArrowheads="1"/>
            </p:cNvSpPr>
            <p:nvPr/>
          </p:nvSpPr>
          <p:spPr bwMode="auto">
            <a:xfrm>
              <a:off x="2361347" y="345281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目的主机所在的网络</a:t>
              </a:r>
            </a:p>
          </p:txBody>
        </p:sp>
        <p:sp>
          <p:nvSpPr>
            <p:cNvPr id="482408" name="Text Box 104"/>
            <p:cNvSpPr txBox="1">
              <a:spLocks noChangeArrowheads="1"/>
            </p:cNvSpPr>
            <p:nvPr/>
          </p:nvSpPr>
          <p:spPr bwMode="auto">
            <a:xfrm>
              <a:off x="5646149" y="3448050"/>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下一跳地址</a:t>
              </a:r>
            </a:p>
          </p:txBody>
        </p:sp>
        <p:sp>
          <p:nvSpPr>
            <p:cNvPr id="482409" name="Line 105"/>
            <p:cNvSpPr>
              <a:spLocks noChangeShapeType="1"/>
            </p:cNvSpPr>
            <p:nvPr/>
          </p:nvSpPr>
          <p:spPr bwMode="auto">
            <a:xfrm>
              <a:off x="5078618" y="3429000"/>
              <a:ext cx="0" cy="17780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2410" name="Line 106"/>
            <p:cNvSpPr>
              <a:spLocks noChangeShapeType="1"/>
            </p:cNvSpPr>
            <p:nvPr/>
          </p:nvSpPr>
          <p:spPr bwMode="auto">
            <a:xfrm>
              <a:off x="2349310" y="4237037"/>
              <a:ext cx="5458619" cy="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2411" name="Line 107"/>
            <p:cNvSpPr>
              <a:spLocks noChangeShapeType="1"/>
            </p:cNvSpPr>
            <p:nvPr/>
          </p:nvSpPr>
          <p:spPr bwMode="auto">
            <a:xfrm>
              <a:off x="2349310" y="4560887"/>
              <a:ext cx="5458619" cy="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2412" name="Line 108"/>
            <p:cNvSpPr>
              <a:spLocks noChangeShapeType="1"/>
            </p:cNvSpPr>
            <p:nvPr/>
          </p:nvSpPr>
          <p:spPr bwMode="auto">
            <a:xfrm>
              <a:off x="2349310" y="4884737"/>
              <a:ext cx="5458619" cy="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82413" name="Text Box 109"/>
            <p:cNvSpPr txBox="1">
              <a:spLocks noChangeArrowheads="1"/>
            </p:cNvSpPr>
            <p:nvPr/>
          </p:nvSpPr>
          <p:spPr bwMode="auto">
            <a:xfrm>
              <a:off x="3087099" y="3863976"/>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20.0.0.0</a:t>
              </a:r>
            </a:p>
          </p:txBody>
        </p:sp>
        <p:sp>
          <p:nvSpPr>
            <p:cNvPr id="482414" name="Text Box 110"/>
            <p:cNvSpPr txBox="1">
              <a:spLocks noChangeArrowheads="1"/>
            </p:cNvSpPr>
            <p:nvPr/>
          </p:nvSpPr>
          <p:spPr bwMode="auto">
            <a:xfrm>
              <a:off x="3087099" y="4178300"/>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30.0.0.0</a:t>
              </a:r>
            </a:p>
          </p:txBody>
        </p:sp>
        <p:sp>
          <p:nvSpPr>
            <p:cNvPr id="482415" name="Text Box 111"/>
            <p:cNvSpPr txBox="1">
              <a:spLocks noChangeArrowheads="1"/>
            </p:cNvSpPr>
            <p:nvPr/>
          </p:nvSpPr>
          <p:spPr bwMode="auto">
            <a:xfrm>
              <a:off x="3087099" y="4524376"/>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15.0.0.0</a:t>
              </a:r>
            </a:p>
          </p:txBody>
        </p:sp>
        <p:sp>
          <p:nvSpPr>
            <p:cNvPr id="482416" name="Text Box 112"/>
            <p:cNvSpPr txBox="1">
              <a:spLocks noChangeArrowheads="1"/>
            </p:cNvSpPr>
            <p:nvPr/>
          </p:nvSpPr>
          <p:spPr bwMode="auto">
            <a:xfrm>
              <a:off x="3087099" y="4822825"/>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40.0.0.0</a:t>
              </a:r>
            </a:p>
          </p:txBody>
        </p:sp>
        <p:sp>
          <p:nvSpPr>
            <p:cNvPr id="482417" name="Text Box 113"/>
            <p:cNvSpPr txBox="1">
              <a:spLocks noChangeArrowheads="1"/>
            </p:cNvSpPr>
            <p:nvPr/>
          </p:nvSpPr>
          <p:spPr bwMode="auto">
            <a:xfrm>
              <a:off x="5747618" y="4511676"/>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20.0.0.7</a:t>
              </a:r>
            </a:p>
          </p:txBody>
        </p:sp>
        <p:sp>
          <p:nvSpPr>
            <p:cNvPr id="482418" name="Text Box 114"/>
            <p:cNvSpPr txBox="1">
              <a:spLocks noChangeArrowheads="1"/>
            </p:cNvSpPr>
            <p:nvPr/>
          </p:nvSpPr>
          <p:spPr bwMode="auto">
            <a:xfrm>
              <a:off x="5747618" y="4835526"/>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30.0.0.1</a:t>
              </a:r>
            </a:p>
          </p:txBody>
        </p:sp>
        <p:sp>
          <p:nvSpPr>
            <p:cNvPr id="482419" name="Text Box 115"/>
            <p:cNvSpPr txBox="1">
              <a:spLocks noChangeArrowheads="1"/>
            </p:cNvSpPr>
            <p:nvPr/>
          </p:nvSpPr>
          <p:spPr bwMode="auto">
            <a:xfrm>
              <a:off x="5271235" y="4205287"/>
              <a:ext cx="22509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直接交付，接口 </a:t>
              </a:r>
              <a:r>
                <a:rPr kumimoji="1" lang="en-US" altLang="zh-CN" sz="2000" b="1">
                  <a:solidFill>
                    <a:srgbClr val="0000CC"/>
                  </a:solidFill>
                  <a:latin typeface="+mn-lt"/>
                  <a:ea typeface="黑体" pitchFamily="2" charset="-122"/>
                </a:rPr>
                <a:t>1</a:t>
              </a:r>
            </a:p>
          </p:txBody>
        </p:sp>
        <p:sp>
          <p:nvSpPr>
            <p:cNvPr id="482420" name="Text Box 116"/>
            <p:cNvSpPr txBox="1">
              <a:spLocks noChangeArrowheads="1"/>
            </p:cNvSpPr>
            <p:nvPr/>
          </p:nvSpPr>
          <p:spPr bwMode="auto">
            <a:xfrm>
              <a:off x="5271235" y="3860801"/>
              <a:ext cx="22509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直接交付，接口 </a:t>
              </a:r>
              <a:r>
                <a:rPr kumimoji="1" lang="en-US" altLang="zh-CN" sz="2000" b="1">
                  <a:solidFill>
                    <a:srgbClr val="0000CC"/>
                  </a:solidFill>
                  <a:latin typeface="+mn-lt"/>
                  <a:ea typeface="黑体" pitchFamily="2" charset="-122"/>
                </a:rPr>
                <a:t>0</a:t>
              </a:r>
            </a:p>
          </p:txBody>
        </p:sp>
        <p:sp>
          <p:nvSpPr>
            <p:cNvPr id="482421" name="Text Box 117"/>
            <p:cNvSpPr txBox="1">
              <a:spLocks noChangeArrowheads="1"/>
            </p:cNvSpPr>
            <p:nvPr/>
          </p:nvSpPr>
          <p:spPr bwMode="auto">
            <a:xfrm>
              <a:off x="3542845" y="2924944"/>
              <a:ext cx="29209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mn-lt"/>
                  <a:ea typeface="黑体" pitchFamily="2" charset="-122"/>
                </a:rPr>
                <a:t>路由器 </a:t>
              </a:r>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2</a:t>
              </a:r>
              <a:r>
                <a:rPr kumimoji="1" lang="en-US" altLang="zh-CN" sz="2400" b="1" dirty="0">
                  <a:solidFill>
                    <a:srgbClr val="0000CC"/>
                  </a:solidFill>
                  <a:latin typeface="+mn-lt"/>
                  <a:ea typeface="黑体" pitchFamily="2" charset="-122"/>
                </a:rPr>
                <a:t> </a:t>
              </a:r>
              <a:r>
                <a:rPr kumimoji="1" lang="zh-CN" altLang="en-US" sz="2400" b="1" dirty="0">
                  <a:solidFill>
                    <a:srgbClr val="0000CC"/>
                  </a:solidFill>
                  <a:latin typeface="+mn-lt"/>
                  <a:ea typeface="黑体" pitchFamily="2" charset="-122"/>
                </a:rPr>
                <a:t>的路由表</a:t>
              </a:r>
            </a:p>
          </p:txBody>
        </p:sp>
        <p:sp>
          <p:nvSpPr>
            <p:cNvPr id="482422" name="Text Box 118"/>
            <p:cNvSpPr txBox="1">
              <a:spLocks noChangeArrowheads="1"/>
            </p:cNvSpPr>
            <p:nvPr/>
          </p:nvSpPr>
          <p:spPr bwMode="auto">
            <a:xfrm>
              <a:off x="6617833" y="1477964"/>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30.0.0.1</a:t>
              </a:r>
            </a:p>
          </p:txBody>
        </p:sp>
        <p:sp>
          <p:nvSpPr>
            <p:cNvPr id="482426" name="Rectangle 122"/>
            <p:cNvSpPr>
              <a:spLocks noChangeArrowheads="1"/>
            </p:cNvSpPr>
            <p:nvPr/>
          </p:nvSpPr>
          <p:spPr bwMode="auto">
            <a:xfrm>
              <a:off x="7887039" y="5458941"/>
              <a:ext cx="999198" cy="2762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pic>
          <p:nvPicPr>
            <p:cNvPr id="482443" name="Picture 1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90124" y="2103438"/>
              <a:ext cx="777346"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82444" name="Text Box 140"/>
            <p:cNvSpPr txBox="1">
              <a:spLocks noChangeArrowheads="1"/>
            </p:cNvSpPr>
            <p:nvPr/>
          </p:nvSpPr>
          <p:spPr bwMode="auto">
            <a:xfrm>
              <a:off x="4946195" y="1697039"/>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endParaRPr kumimoji="1" lang="en-US" altLang="zh-CN" sz="2000" b="1">
                <a:solidFill>
                  <a:srgbClr val="0000CC"/>
                </a:solidFill>
                <a:latin typeface="+mn-lt"/>
                <a:ea typeface="黑体" pitchFamily="2" charset="-122"/>
              </a:endParaRPr>
            </a:p>
          </p:txBody>
        </p:sp>
        <p:sp>
          <p:nvSpPr>
            <p:cNvPr id="482445" name="Text Box 141"/>
            <p:cNvSpPr txBox="1">
              <a:spLocks noChangeArrowheads="1"/>
            </p:cNvSpPr>
            <p:nvPr/>
          </p:nvSpPr>
          <p:spPr bwMode="auto">
            <a:xfrm>
              <a:off x="7703021" y="1697039"/>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3</a:t>
              </a:r>
              <a:endParaRPr kumimoji="1" lang="en-US" altLang="zh-CN" sz="2000" b="1">
                <a:solidFill>
                  <a:srgbClr val="0000CC"/>
                </a:solidFill>
                <a:latin typeface="+mn-lt"/>
                <a:ea typeface="黑体" pitchFamily="2" charset="-122"/>
              </a:endParaRPr>
            </a:p>
          </p:txBody>
        </p:sp>
        <p:sp>
          <p:nvSpPr>
            <p:cNvPr id="482446" name="Text Box 142"/>
            <p:cNvSpPr txBox="1">
              <a:spLocks noChangeArrowheads="1"/>
            </p:cNvSpPr>
            <p:nvPr/>
          </p:nvSpPr>
          <p:spPr bwMode="auto">
            <a:xfrm>
              <a:off x="2003631" y="1697039"/>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endParaRPr kumimoji="1" lang="en-US" altLang="zh-CN" sz="2000" b="1">
                <a:solidFill>
                  <a:srgbClr val="0000CC"/>
                </a:solidFill>
                <a:latin typeface="+mn-lt"/>
                <a:ea typeface="黑体" pitchFamily="2" charset="-122"/>
              </a:endParaRPr>
            </a:p>
          </p:txBody>
        </p:sp>
        <p:sp>
          <p:nvSpPr>
            <p:cNvPr id="482450" name="Text Box 146"/>
            <p:cNvSpPr txBox="1">
              <a:spLocks noChangeArrowheads="1"/>
            </p:cNvSpPr>
            <p:nvPr/>
          </p:nvSpPr>
          <p:spPr bwMode="auto">
            <a:xfrm>
              <a:off x="4407899" y="2232026"/>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0</a:t>
              </a:r>
            </a:p>
          </p:txBody>
        </p:sp>
        <p:sp>
          <p:nvSpPr>
            <p:cNvPr id="482451" name="Text Box 147"/>
            <p:cNvSpPr txBox="1">
              <a:spLocks noChangeArrowheads="1"/>
            </p:cNvSpPr>
            <p:nvPr/>
          </p:nvSpPr>
          <p:spPr bwMode="auto">
            <a:xfrm>
              <a:off x="5503408" y="223837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a:t>
              </a:r>
            </a:p>
          </p:txBody>
        </p:sp>
        <p:pic>
          <p:nvPicPr>
            <p:cNvPr id="482452" name="Picture 1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1539" y="2081213"/>
              <a:ext cx="779066"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82453" name="Picture 14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94926" y="2087563"/>
              <a:ext cx="777346"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spTree>
    <p:extLst>
      <p:ext uri="{BB962C8B-B14F-4D97-AF65-F5344CB8AC3E}">
        <p14:creationId xmlns:p14="http://schemas.microsoft.com/office/powerpoint/2010/main" val="27482698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Rectangle 2"/>
          <p:cNvSpPr>
            <a:spLocks noGrp="1" noChangeArrowheads="1"/>
          </p:cNvSpPr>
          <p:nvPr>
            <p:ph type="title"/>
          </p:nvPr>
        </p:nvSpPr>
        <p:spPr/>
        <p:txBody>
          <a:bodyPr/>
          <a:lstStyle/>
          <a:p>
            <a:pPr algn="ctr"/>
            <a:r>
              <a:rPr lang="zh-CN" altLang="en-US"/>
              <a:t>查找路由表</a:t>
            </a:r>
          </a:p>
        </p:txBody>
      </p:sp>
      <p:sp>
        <p:nvSpPr>
          <p:cNvPr id="978947" name="Rectangle 3"/>
          <p:cNvSpPr>
            <a:spLocks noGrp="1" noChangeArrowheads="1"/>
          </p:cNvSpPr>
          <p:nvPr>
            <p:ph idx="1"/>
          </p:nvPr>
        </p:nvSpPr>
        <p:spPr/>
        <p:txBody>
          <a:bodyPr/>
          <a:lstStyle/>
          <a:p>
            <a:pPr>
              <a:buFont typeface="Wingdings" pitchFamily="2" charset="2"/>
              <a:buNone/>
            </a:pPr>
            <a:r>
              <a:rPr lang="en-US" altLang="zh-CN" dirty="0"/>
              <a:t>	</a:t>
            </a:r>
            <a:r>
              <a:rPr lang="zh-CN" altLang="en-US" dirty="0">
                <a:solidFill>
                  <a:srgbClr val="FF0000"/>
                </a:solidFill>
              </a:rPr>
              <a:t>根据目的网络地址</a:t>
            </a:r>
            <a:r>
              <a:rPr lang="zh-CN" altLang="en-US" dirty="0"/>
              <a:t>就能确定下一跳路由器，这样做的结果是：</a:t>
            </a:r>
          </a:p>
          <a:p>
            <a:r>
              <a:rPr lang="en-US" altLang="zh-CN" dirty="0"/>
              <a:t>IP </a:t>
            </a:r>
            <a:r>
              <a:rPr lang="zh-CN" altLang="en-US" dirty="0"/>
              <a:t>数据报最终一定可以找到目的主机所在目的网络上的路由器（可能要通过多次的</a:t>
            </a:r>
            <a:r>
              <a:rPr lang="zh-CN" altLang="en-US" dirty="0">
                <a:solidFill>
                  <a:srgbClr val="FF0000"/>
                </a:solidFill>
              </a:rPr>
              <a:t>间接交付</a:t>
            </a:r>
            <a:r>
              <a:rPr lang="zh-CN" altLang="en-US" dirty="0"/>
              <a:t>）。</a:t>
            </a:r>
          </a:p>
          <a:p>
            <a:r>
              <a:rPr lang="zh-CN" altLang="en-US" dirty="0"/>
              <a:t>只有到达最后一个路由器时，才试图向目的主机进行</a:t>
            </a:r>
            <a:r>
              <a:rPr lang="zh-CN" altLang="en-US" dirty="0">
                <a:solidFill>
                  <a:srgbClr val="FF0000"/>
                </a:solidFill>
              </a:rPr>
              <a:t>直接交付。 </a:t>
            </a:r>
          </a:p>
        </p:txBody>
      </p:sp>
    </p:spTree>
    <p:extLst>
      <p:ext uri="{BB962C8B-B14F-4D97-AF65-F5344CB8AC3E}">
        <p14:creationId xmlns:p14="http://schemas.microsoft.com/office/powerpoint/2010/main" val="871539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305" name="Rectangle 41"/>
          <p:cNvSpPr>
            <a:spLocks noGrp="1" noChangeArrowheads="1"/>
          </p:cNvSpPr>
          <p:nvPr>
            <p:ph type="title"/>
          </p:nvPr>
        </p:nvSpPr>
        <p:spPr/>
        <p:txBody>
          <a:bodyPr/>
          <a:lstStyle/>
          <a:p>
            <a:pPr algn="ctr"/>
            <a:r>
              <a:rPr lang="zh-CN" altLang="en-US" dirty="0"/>
              <a:t>特定主机路由 </a:t>
            </a:r>
          </a:p>
        </p:txBody>
      </p:sp>
      <p:sp>
        <p:nvSpPr>
          <p:cNvPr id="395306" name="Rectangle 42"/>
          <p:cNvSpPr>
            <a:spLocks noGrp="1" noChangeArrowheads="1"/>
          </p:cNvSpPr>
          <p:nvPr>
            <p:ph idx="1"/>
          </p:nvPr>
        </p:nvSpPr>
        <p:spPr/>
        <p:txBody>
          <a:bodyPr/>
          <a:lstStyle/>
          <a:p>
            <a:r>
              <a:rPr lang="zh-CN" altLang="zh-CN" dirty="0"/>
              <a:t>虽然互联网所有的分组转发都是</a:t>
            </a:r>
            <a:r>
              <a:rPr lang="zh-CN" altLang="zh-CN" dirty="0">
                <a:solidFill>
                  <a:srgbClr val="FF0000"/>
                </a:solidFill>
              </a:rPr>
              <a:t>基于目的主机所在的网络，</a:t>
            </a:r>
            <a:r>
              <a:rPr lang="zh-CN" altLang="zh-CN" dirty="0"/>
              <a:t>但在大多数情况下都允许有这样的特例，即</a:t>
            </a:r>
            <a:r>
              <a:rPr lang="zh-CN" altLang="en-US" dirty="0"/>
              <a:t>为</a:t>
            </a:r>
            <a:r>
              <a:rPr lang="zh-CN" altLang="zh-CN" dirty="0"/>
              <a:t>特定的目的主机指明一个路由</a:t>
            </a:r>
            <a:r>
              <a:rPr lang="zh-CN" altLang="en-US" dirty="0"/>
              <a:t>。</a:t>
            </a:r>
            <a:endParaRPr lang="en-US" altLang="zh-CN" dirty="0"/>
          </a:p>
          <a:p>
            <a:r>
              <a:rPr lang="zh-CN" altLang="en-US" dirty="0"/>
              <a:t>采用</a:t>
            </a:r>
            <a:r>
              <a:rPr lang="zh-CN" altLang="en-US" dirty="0">
                <a:solidFill>
                  <a:srgbClr val="FF0000"/>
                </a:solidFill>
              </a:rPr>
              <a:t>特定主机路由</a:t>
            </a:r>
            <a:r>
              <a:rPr lang="zh-CN" altLang="en-US" dirty="0"/>
              <a:t>可使网络管理人员能更方便地控制网络和测试网络，同时也可在需要考虑某种安全问题时采用这种特定主机路由。 </a:t>
            </a:r>
          </a:p>
        </p:txBody>
      </p:sp>
      <p:sp>
        <p:nvSpPr>
          <p:cNvPr id="395266"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5267" name="Rectangle 3"/>
          <p:cNvSpPr>
            <a:spLocks noChangeArrowheads="1"/>
          </p:cNvSpPr>
          <p:nvPr/>
        </p:nvSpPr>
        <p:spPr bwMode="auto">
          <a:xfrm>
            <a:off x="0" y="3053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5268"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5269" name="Rectangle 5"/>
          <p:cNvSpPr>
            <a:spLocks noChangeArrowheads="1"/>
          </p:cNvSpPr>
          <p:nvPr/>
        </p:nvSpPr>
        <p:spPr bwMode="auto">
          <a:xfrm>
            <a:off x="0" y="30585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5271" name="Rectangle 7"/>
          <p:cNvSpPr>
            <a:spLocks noChangeArrowheads="1"/>
          </p:cNvSpPr>
          <p:nvPr/>
        </p:nvSpPr>
        <p:spPr bwMode="auto">
          <a:xfrm>
            <a:off x="0" y="30776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5272" name="Rectangle 8"/>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7679606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530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Rectangle 2"/>
          <p:cNvSpPr>
            <a:spLocks noGrp="1" noChangeArrowheads="1"/>
          </p:cNvSpPr>
          <p:nvPr>
            <p:ph type="title"/>
          </p:nvPr>
        </p:nvSpPr>
        <p:spPr/>
        <p:txBody>
          <a:bodyPr/>
          <a:lstStyle/>
          <a:p>
            <a:pPr algn="ctr"/>
            <a:r>
              <a:rPr lang="zh-CN" altLang="en-US" dirty="0"/>
              <a:t>默认路由 </a:t>
            </a:r>
            <a:r>
              <a:rPr lang="en-US" altLang="zh-CN" dirty="0"/>
              <a:t>(default route)</a:t>
            </a:r>
          </a:p>
        </p:txBody>
      </p:sp>
      <p:sp>
        <p:nvSpPr>
          <p:cNvPr id="980995" name="Rectangle 3"/>
          <p:cNvSpPr>
            <a:spLocks noGrp="1" noChangeArrowheads="1"/>
          </p:cNvSpPr>
          <p:nvPr>
            <p:ph idx="1"/>
          </p:nvPr>
        </p:nvSpPr>
        <p:spPr/>
        <p:txBody>
          <a:bodyPr/>
          <a:lstStyle/>
          <a:p>
            <a:pPr>
              <a:lnSpc>
                <a:spcPct val="100000"/>
              </a:lnSpc>
            </a:pPr>
            <a:r>
              <a:rPr lang="zh-CN" altLang="en-US" dirty="0"/>
              <a:t>路由器还可采用</a:t>
            </a:r>
            <a:r>
              <a:rPr lang="zh-CN" altLang="en-US" dirty="0">
                <a:solidFill>
                  <a:srgbClr val="FF0000"/>
                </a:solidFill>
              </a:rPr>
              <a:t>默认路由</a:t>
            </a:r>
            <a:r>
              <a:rPr lang="zh-CN" altLang="en-US" dirty="0"/>
              <a:t>以</a:t>
            </a:r>
            <a:r>
              <a:rPr lang="zh-CN" altLang="en-US" dirty="0">
                <a:solidFill>
                  <a:srgbClr val="FF0000"/>
                </a:solidFill>
              </a:rPr>
              <a:t>减少路由表所占用的空间和搜索路由表所用的时间。</a:t>
            </a:r>
          </a:p>
          <a:p>
            <a:pPr>
              <a:lnSpc>
                <a:spcPct val="100000"/>
              </a:lnSpc>
            </a:pPr>
            <a:r>
              <a:rPr lang="zh-CN" altLang="en-US" dirty="0"/>
              <a:t>这种转发方式在一个网络只有很少的对外连接时是很有用的。</a:t>
            </a:r>
          </a:p>
          <a:p>
            <a:pPr>
              <a:lnSpc>
                <a:spcPct val="100000"/>
              </a:lnSpc>
            </a:pPr>
            <a:r>
              <a:rPr lang="zh-CN" altLang="en-US" dirty="0"/>
              <a:t>默认路由在主机发送 </a:t>
            </a:r>
            <a:r>
              <a:rPr lang="en-US" altLang="zh-CN" dirty="0"/>
              <a:t>IP </a:t>
            </a:r>
            <a:r>
              <a:rPr lang="zh-CN" altLang="en-US" dirty="0"/>
              <a:t>数据报时往往更能显示出它的好处。</a:t>
            </a:r>
          </a:p>
          <a:p>
            <a:pPr>
              <a:lnSpc>
                <a:spcPct val="100000"/>
              </a:lnSpc>
            </a:pPr>
            <a:r>
              <a:rPr lang="zh-CN" altLang="en-US" dirty="0"/>
              <a:t>如果一个主机连接在一个小网络上，而这个网络只用一个路由器和互联网连接，那么在这种情况下使用默认路由是非常合适的。 </a:t>
            </a:r>
          </a:p>
        </p:txBody>
      </p:sp>
    </p:spTree>
    <p:extLst>
      <p:ext uri="{BB962C8B-B14F-4D97-AF65-F5344CB8AC3E}">
        <p14:creationId xmlns:p14="http://schemas.microsoft.com/office/powerpoint/2010/main" val="32820805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4" name="Line 4"/>
          <p:cNvSpPr>
            <a:spLocks noChangeShapeType="1"/>
          </p:cNvSpPr>
          <p:nvPr/>
        </p:nvSpPr>
        <p:spPr bwMode="auto">
          <a:xfrm flipV="1">
            <a:off x="5558367" y="3008857"/>
            <a:ext cx="748110" cy="3730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983045" name="Line 5"/>
          <p:cNvSpPr>
            <a:spLocks noChangeShapeType="1"/>
          </p:cNvSpPr>
          <p:nvPr/>
        </p:nvSpPr>
        <p:spPr bwMode="auto">
          <a:xfrm flipV="1">
            <a:off x="5025231" y="3473994"/>
            <a:ext cx="428229" cy="373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983046" name="Line 6"/>
          <p:cNvSpPr>
            <a:spLocks noChangeShapeType="1"/>
          </p:cNvSpPr>
          <p:nvPr/>
        </p:nvSpPr>
        <p:spPr bwMode="auto">
          <a:xfrm flipV="1">
            <a:off x="5365750" y="4085183"/>
            <a:ext cx="1226212" cy="22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983047" name="Line 7"/>
          <p:cNvSpPr>
            <a:spLocks noChangeShapeType="1"/>
          </p:cNvSpPr>
          <p:nvPr/>
        </p:nvSpPr>
        <p:spPr bwMode="auto">
          <a:xfrm flipH="1">
            <a:off x="3958960" y="4218532"/>
            <a:ext cx="639763" cy="6524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983048" name="Line 8"/>
          <p:cNvSpPr>
            <a:spLocks noChangeShapeType="1"/>
          </p:cNvSpPr>
          <p:nvPr/>
        </p:nvSpPr>
        <p:spPr bwMode="auto">
          <a:xfrm>
            <a:off x="5025232" y="4310607"/>
            <a:ext cx="319881" cy="6524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983049" name="Line 9"/>
          <p:cNvSpPr>
            <a:spLocks noChangeShapeType="1"/>
          </p:cNvSpPr>
          <p:nvPr/>
        </p:nvSpPr>
        <p:spPr bwMode="auto">
          <a:xfrm flipV="1">
            <a:off x="3530733" y="4126458"/>
            <a:ext cx="854736" cy="920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983069" name="Picture 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73341" y="3994694"/>
            <a:ext cx="557213"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83071" name="Text Box 31"/>
          <p:cNvSpPr txBox="1">
            <a:spLocks noChangeArrowheads="1"/>
          </p:cNvSpPr>
          <p:nvPr/>
        </p:nvSpPr>
        <p:spPr bwMode="auto">
          <a:xfrm>
            <a:off x="5836973" y="3620045"/>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0000CC"/>
                </a:solidFill>
                <a:latin typeface="+mn-lt"/>
                <a:ea typeface="黑体" pitchFamily="2" charset="-122"/>
              </a:rPr>
              <a:t>R</a:t>
            </a:r>
            <a:r>
              <a:rPr lang="en-US" altLang="zh-CN" sz="2000" b="1" baseline="-25000">
                <a:solidFill>
                  <a:srgbClr val="0000CC"/>
                </a:solidFill>
                <a:latin typeface="+mn-lt"/>
                <a:ea typeface="黑体" pitchFamily="2" charset="-122"/>
              </a:rPr>
              <a:t>1</a:t>
            </a:r>
          </a:p>
        </p:txBody>
      </p:sp>
      <p:graphicFrame>
        <p:nvGraphicFramePr>
          <p:cNvPr id="983072" name="Object 32"/>
          <p:cNvGraphicFramePr>
            <a:graphicFrameLocks noChangeAspect="1"/>
          </p:cNvGraphicFramePr>
          <p:nvPr>
            <p:extLst>
              <p:ext uri="{D42A27DB-BD31-4B8C-83A1-F6EECF244321}">
                <p14:modId xmlns:p14="http://schemas.microsoft.com/office/powerpoint/2010/main" val="2542142939"/>
              </p:ext>
            </p:extLst>
          </p:nvPr>
        </p:nvGraphicFramePr>
        <p:xfrm>
          <a:off x="6519863" y="3335338"/>
          <a:ext cx="3306762" cy="1963737"/>
        </p:xfrm>
        <a:graphic>
          <a:graphicData uri="http://schemas.openxmlformats.org/presentationml/2006/ole">
            <mc:AlternateContent xmlns:mc="http://schemas.openxmlformats.org/markup-compatibility/2006">
              <mc:Choice xmlns:v="urn:schemas-microsoft-com:vml" Requires="v">
                <p:oleObj spid="_x0000_s10273" name="Visio" r:id="rId5" imgW="1689885" imgH="964337" progId="">
                  <p:embed/>
                </p:oleObj>
              </mc:Choice>
              <mc:Fallback>
                <p:oleObj name="Visio" r:id="rId5" imgW="1689885" imgH="964337" progId="">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9863" y="3335338"/>
                        <a:ext cx="3306762" cy="1963737"/>
                      </a:xfrm>
                      <a:prstGeom prst="rect">
                        <a:avLst/>
                      </a:prstGeom>
                      <a:noFill/>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3073" name="Text Box 33"/>
          <p:cNvSpPr txBox="1">
            <a:spLocks noChangeArrowheads="1"/>
          </p:cNvSpPr>
          <p:nvPr/>
        </p:nvSpPr>
        <p:spPr bwMode="auto">
          <a:xfrm>
            <a:off x="7587721" y="3980407"/>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CC"/>
                </a:solidFill>
                <a:latin typeface="+mn-lt"/>
                <a:ea typeface="黑体" pitchFamily="2" charset="-122"/>
              </a:rPr>
              <a:t>互联网</a:t>
            </a:r>
            <a:endParaRPr lang="zh-CN" altLang="en-US" sz="2400" b="1" baseline="-25000" dirty="0">
              <a:solidFill>
                <a:srgbClr val="0000CC"/>
              </a:solidFill>
              <a:latin typeface="+mn-lt"/>
              <a:ea typeface="黑体" pitchFamily="2" charset="-122"/>
            </a:endParaRPr>
          </a:p>
        </p:txBody>
      </p:sp>
      <p:pic>
        <p:nvPicPr>
          <p:cNvPr id="983074" name="Picture 3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33579" y="4775744"/>
            <a:ext cx="488421"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83080" name="Text Box 40"/>
          <p:cNvSpPr txBox="1">
            <a:spLocks noChangeArrowheads="1"/>
          </p:cNvSpPr>
          <p:nvPr/>
        </p:nvSpPr>
        <p:spPr bwMode="auto">
          <a:xfrm>
            <a:off x="987202" y="2915194"/>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CC"/>
                </a:solidFill>
                <a:latin typeface="+mn-lt"/>
                <a:ea typeface="黑体" pitchFamily="2" charset="-122"/>
              </a:rPr>
              <a:t>路由表</a:t>
            </a:r>
            <a:endParaRPr lang="zh-CN" altLang="en-US" sz="2400" b="1" baseline="-25000">
              <a:solidFill>
                <a:srgbClr val="0000CC"/>
              </a:solidFill>
              <a:latin typeface="+mn-lt"/>
              <a:ea typeface="黑体" pitchFamily="2" charset="-122"/>
            </a:endParaRPr>
          </a:p>
        </p:txBody>
      </p:sp>
      <p:sp>
        <p:nvSpPr>
          <p:cNvPr id="983081" name="Freeform 41"/>
          <p:cNvSpPr>
            <a:spLocks/>
          </p:cNvSpPr>
          <p:nvPr/>
        </p:nvSpPr>
        <p:spPr bwMode="auto">
          <a:xfrm>
            <a:off x="2720752" y="3426369"/>
            <a:ext cx="689596" cy="1462088"/>
          </a:xfrm>
          <a:custGeom>
            <a:avLst/>
            <a:gdLst>
              <a:gd name="T0" fmla="*/ 4 w 368"/>
              <a:gd name="T1" fmla="*/ 0 h 524"/>
              <a:gd name="T2" fmla="*/ 368 w 368"/>
              <a:gd name="T3" fmla="*/ 256 h 524"/>
              <a:gd name="T4" fmla="*/ 367 w 368"/>
              <a:gd name="T5" fmla="*/ 277 h 524"/>
              <a:gd name="T6" fmla="*/ 0 w 368"/>
              <a:gd name="T7" fmla="*/ 524 h 524"/>
              <a:gd name="T8" fmla="*/ 4 w 368"/>
              <a:gd name="T9" fmla="*/ 0 h 524"/>
            </a:gdLst>
            <a:ahLst/>
            <a:cxnLst>
              <a:cxn ang="0">
                <a:pos x="T0" y="T1"/>
              </a:cxn>
              <a:cxn ang="0">
                <a:pos x="T2" y="T3"/>
              </a:cxn>
              <a:cxn ang="0">
                <a:pos x="T4" y="T5"/>
              </a:cxn>
              <a:cxn ang="0">
                <a:pos x="T6" y="T7"/>
              </a:cxn>
              <a:cxn ang="0">
                <a:pos x="T8" y="T9"/>
              </a:cxn>
            </a:cxnLst>
            <a:rect l="0" t="0" r="r" b="b"/>
            <a:pathLst>
              <a:path w="368" h="524">
                <a:moveTo>
                  <a:pt x="4" y="0"/>
                </a:moveTo>
                <a:lnTo>
                  <a:pt x="368" y="256"/>
                </a:lnTo>
                <a:lnTo>
                  <a:pt x="367" y="277"/>
                </a:lnTo>
                <a:lnTo>
                  <a:pt x="0" y="524"/>
                </a:lnTo>
                <a:lnTo>
                  <a:pt x="4" y="0"/>
                </a:lnTo>
                <a:close/>
              </a:path>
            </a:pathLst>
          </a:custGeom>
          <a:gradFill>
            <a:gsLst>
              <a:gs pos="0">
                <a:srgbClr val="FFFF66"/>
              </a:gs>
              <a:gs pos="100000">
                <a:schemeClr val="bg1">
                  <a:lumMod val="65000"/>
                </a:schemeClr>
              </a:gs>
            </a:gsLst>
            <a:lin ang="0" scaled="0"/>
          </a:gradFill>
          <a:ln>
            <a:noFill/>
          </a:ln>
          <a:effectLst/>
        </p:spPr>
        <p:txBody>
          <a:bodyPr/>
          <a:lstStyle/>
          <a:p>
            <a:endParaRPr lang="zh-CN" altLang="en-US" b="1">
              <a:solidFill>
                <a:srgbClr val="0000CC"/>
              </a:solidFill>
              <a:latin typeface="+mn-lt"/>
              <a:ea typeface="黑体" pitchFamily="2" charset="-122"/>
            </a:endParaRPr>
          </a:p>
        </p:txBody>
      </p:sp>
      <p:pic>
        <p:nvPicPr>
          <p:cNvPr id="983082" name="Picture 4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319198" y="3847057"/>
            <a:ext cx="488421"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3083" name="Picture 4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45706" y="4683669"/>
            <a:ext cx="488421"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83084" name="Group 44"/>
          <p:cNvGrpSpPr>
            <a:grpSpLocks/>
          </p:cNvGrpSpPr>
          <p:nvPr/>
        </p:nvGrpSpPr>
        <p:grpSpPr bwMode="auto">
          <a:xfrm>
            <a:off x="5773341" y="2637383"/>
            <a:ext cx="1183217" cy="701675"/>
            <a:chOff x="1776" y="2768"/>
            <a:chExt cx="1824" cy="736"/>
          </a:xfrm>
          <a:solidFill>
            <a:schemeClr val="bg1">
              <a:lumMod val="75000"/>
            </a:schemeClr>
          </a:solidFill>
        </p:grpSpPr>
        <p:grpSp>
          <p:nvGrpSpPr>
            <p:cNvPr id="983085" name="Group 45"/>
            <p:cNvGrpSpPr>
              <a:grpSpLocks/>
            </p:cNvGrpSpPr>
            <p:nvPr/>
          </p:nvGrpSpPr>
          <p:grpSpPr bwMode="auto">
            <a:xfrm>
              <a:off x="1787" y="2783"/>
              <a:ext cx="1813" cy="721"/>
              <a:chOff x="1787" y="2783"/>
              <a:chExt cx="1813" cy="721"/>
            </a:xfrm>
            <a:grpFill/>
          </p:grpSpPr>
          <p:sp>
            <p:nvSpPr>
              <p:cNvPr id="983086"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087"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088"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089"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090"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091"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092"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093"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094"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sp>
          <p:nvSpPr>
            <p:cNvPr id="983095"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096"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097"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098"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099"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100"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101"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102"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983103"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sp>
        <p:nvSpPr>
          <p:cNvPr id="983104" name="Text Box 64"/>
          <p:cNvSpPr txBox="1">
            <a:spLocks noChangeArrowheads="1"/>
          </p:cNvSpPr>
          <p:nvPr/>
        </p:nvSpPr>
        <p:spPr bwMode="auto">
          <a:xfrm>
            <a:off x="6081184" y="2727870"/>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0000CC"/>
                </a:solidFill>
                <a:latin typeface="+mn-lt"/>
                <a:ea typeface="黑体" pitchFamily="2" charset="-122"/>
              </a:rPr>
              <a:t>N</a:t>
            </a:r>
            <a:r>
              <a:rPr lang="en-US" altLang="zh-CN" sz="2000" b="1" baseline="-25000">
                <a:solidFill>
                  <a:srgbClr val="0000CC"/>
                </a:solidFill>
                <a:latin typeface="+mn-lt"/>
                <a:ea typeface="黑体" pitchFamily="2" charset="-122"/>
              </a:rPr>
              <a:t>2</a:t>
            </a:r>
          </a:p>
        </p:txBody>
      </p:sp>
      <p:pic>
        <p:nvPicPr>
          <p:cNvPr id="983105" name="Picture 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38485" y="3289845"/>
            <a:ext cx="558933"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83106" name="Text Box 66"/>
          <p:cNvSpPr txBox="1">
            <a:spLocks noChangeArrowheads="1"/>
          </p:cNvSpPr>
          <p:nvPr/>
        </p:nvSpPr>
        <p:spPr bwMode="auto">
          <a:xfrm>
            <a:off x="4982237" y="287550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0000CC"/>
                </a:solidFill>
                <a:latin typeface="+mn-lt"/>
                <a:ea typeface="黑体" pitchFamily="2" charset="-122"/>
              </a:rPr>
              <a:t>R</a:t>
            </a:r>
            <a:r>
              <a:rPr lang="en-US" altLang="zh-CN" sz="2000" b="1" baseline="-25000">
                <a:solidFill>
                  <a:srgbClr val="0000CC"/>
                </a:solidFill>
                <a:latin typeface="+mn-lt"/>
                <a:ea typeface="黑体" pitchFamily="2" charset="-122"/>
              </a:rPr>
              <a:t>2</a:t>
            </a:r>
          </a:p>
        </p:txBody>
      </p:sp>
      <p:sp>
        <p:nvSpPr>
          <p:cNvPr id="983109" name="Text Box 69"/>
          <p:cNvSpPr txBox="1">
            <a:spLocks noChangeArrowheads="1"/>
          </p:cNvSpPr>
          <p:nvPr/>
        </p:nvSpPr>
        <p:spPr bwMode="auto">
          <a:xfrm>
            <a:off x="776536" y="1211268"/>
            <a:ext cx="4774282" cy="1569660"/>
          </a:xfrm>
          <a:prstGeom prst="rect">
            <a:avLst/>
          </a:prstGeom>
          <a:solidFill>
            <a:srgbClr val="66FF66"/>
          </a:solidFill>
          <a:ln>
            <a:solidFill>
              <a:srgbClr val="000099"/>
            </a:solidFill>
          </a:ln>
          <a:effectLst/>
        </p:spPr>
        <p:txBody>
          <a:bodyPr wrap="square">
            <a:spAutoFit/>
          </a:bodyPr>
          <a:lstStyle/>
          <a:p>
            <a:pPr algn="ctr"/>
            <a:r>
              <a:rPr lang="zh-CN" altLang="en-US" sz="2400" b="1" dirty="0">
                <a:solidFill>
                  <a:srgbClr val="000066"/>
                </a:solidFill>
                <a:latin typeface="+mn-lt"/>
                <a:ea typeface="黑体" pitchFamily="2" charset="-122"/>
              </a:rPr>
              <a:t>只要目的网络不是 </a:t>
            </a:r>
            <a:r>
              <a:rPr lang="en-US" altLang="zh-CN" sz="2400" b="1" dirty="0">
                <a:solidFill>
                  <a:srgbClr val="000066"/>
                </a:solidFill>
                <a:latin typeface="+mn-lt"/>
                <a:ea typeface="黑体" pitchFamily="2" charset="-122"/>
              </a:rPr>
              <a:t>N</a:t>
            </a:r>
            <a:r>
              <a:rPr lang="en-US" altLang="zh-CN" sz="2400" b="1" baseline="-25000" dirty="0">
                <a:solidFill>
                  <a:srgbClr val="000066"/>
                </a:solidFill>
                <a:latin typeface="+mn-lt"/>
                <a:ea typeface="黑体" pitchFamily="2" charset="-122"/>
              </a:rPr>
              <a:t>1 </a:t>
            </a:r>
            <a:r>
              <a:rPr lang="zh-CN" altLang="en-US" sz="2400" b="1" dirty="0">
                <a:solidFill>
                  <a:srgbClr val="000066"/>
                </a:solidFill>
                <a:latin typeface="+mn-lt"/>
                <a:ea typeface="黑体" pitchFamily="2" charset="-122"/>
              </a:rPr>
              <a:t>和 </a:t>
            </a:r>
            <a:r>
              <a:rPr lang="en-US" altLang="zh-CN" sz="2400" b="1" dirty="0">
                <a:solidFill>
                  <a:srgbClr val="000066"/>
                </a:solidFill>
                <a:latin typeface="+mn-lt"/>
                <a:ea typeface="黑体" pitchFamily="2" charset="-122"/>
              </a:rPr>
              <a:t>N</a:t>
            </a:r>
            <a:r>
              <a:rPr lang="en-US" altLang="zh-CN" sz="2400" b="1" baseline="-25000" dirty="0">
                <a:solidFill>
                  <a:srgbClr val="000066"/>
                </a:solidFill>
                <a:latin typeface="+mn-lt"/>
                <a:ea typeface="黑体" pitchFamily="2" charset="-122"/>
              </a:rPr>
              <a:t>2</a:t>
            </a:r>
            <a:r>
              <a:rPr lang="zh-CN" altLang="en-US" sz="2400" b="1" dirty="0">
                <a:solidFill>
                  <a:srgbClr val="000066"/>
                </a:solidFill>
                <a:latin typeface="+mn-lt"/>
                <a:ea typeface="黑体" pitchFamily="2" charset="-122"/>
              </a:rPr>
              <a:t>，</a:t>
            </a:r>
            <a:endParaRPr lang="en-US" altLang="zh-CN" sz="2400" b="1" dirty="0">
              <a:solidFill>
                <a:srgbClr val="000066"/>
              </a:solidFill>
              <a:latin typeface="+mn-lt"/>
              <a:ea typeface="黑体" pitchFamily="2" charset="-122"/>
            </a:endParaRPr>
          </a:p>
          <a:p>
            <a:pPr algn="ctr"/>
            <a:r>
              <a:rPr lang="zh-CN" altLang="en-US" sz="2400" b="1" dirty="0">
                <a:solidFill>
                  <a:srgbClr val="000066"/>
                </a:solidFill>
                <a:latin typeface="+mn-lt"/>
                <a:ea typeface="黑体" pitchFamily="2" charset="-122"/>
              </a:rPr>
              <a:t>就一律选择默认路由，</a:t>
            </a:r>
          </a:p>
          <a:p>
            <a:pPr algn="ctr"/>
            <a:r>
              <a:rPr lang="zh-CN" altLang="en-US" sz="2400" b="1" dirty="0">
                <a:solidFill>
                  <a:srgbClr val="000066"/>
                </a:solidFill>
                <a:latin typeface="+mn-lt"/>
                <a:ea typeface="黑体" pitchFamily="2" charset="-122"/>
              </a:rPr>
              <a:t>把数据报先间接交付路由器 </a:t>
            </a:r>
            <a:r>
              <a:rPr lang="en-US" altLang="zh-CN" sz="2400" b="1" dirty="0">
                <a:solidFill>
                  <a:srgbClr val="000066"/>
                </a:solidFill>
                <a:latin typeface="+mn-lt"/>
                <a:ea typeface="黑体" pitchFamily="2" charset="-122"/>
              </a:rPr>
              <a:t>R</a:t>
            </a:r>
            <a:r>
              <a:rPr lang="en-US" altLang="zh-CN" sz="2400" b="1" baseline="-25000" dirty="0">
                <a:solidFill>
                  <a:srgbClr val="000066"/>
                </a:solidFill>
                <a:latin typeface="+mn-lt"/>
                <a:ea typeface="黑体" pitchFamily="2" charset="-122"/>
              </a:rPr>
              <a:t>1</a:t>
            </a:r>
            <a:r>
              <a:rPr lang="zh-CN" altLang="en-US" sz="2400" b="1" dirty="0">
                <a:solidFill>
                  <a:srgbClr val="000066"/>
                </a:solidFill>
                <a:latin typeface="+mn-lt"/>
                <a:ea typeface="黑体" pitchFamily="2" charset="-122"/>
              </a:rPr>
              <a:t>，</a:t>
            </a:r>
          </a:p>
          <a:p>
            <a:pPr algn="ctr"/>
            <a:r>
              <a:rPr lang="zh-CN" altLang="en-US" sz="2400" b="1" dirty="0">
                <a:solidFill>
                  <a:srgbClr val="000066"/>
                </a:solidFill>
                <a:latin typeface="+mn-lt"/>
                <a:ea typeface="黑体" pitchFamily="2" charset="-122"/>
              </a:rPr>
              <a:t>让 </a:t>
            </a:r>
            <a:r>
              <a:rPr lang="en-US" altLang="zh-CN" sz="2400" b="1" dirty="0">
                <a:solidFill>
                  <a:srgbClr val="000066"/>
                </a:solidFill>
                <a:latin typeface="+mn-lt"/>
                <a:ea typeface="黑体" pitchFamily="2" charset="-122"/>
              </a:rPr>
              <a:t>R</a:t>
            </a:r>
            <a:r>
              <a:rPr lang="en-US" altLang="zh-CN" sz="2400" b="1" baseline="-25000" dirty="0">
                <a:solidFill>
                  <a:srgbClr val="000066"/>
                </a:solidFill>
                <a:latin typeface="+mn-lt"/>
                <a:ea typeface="黑体" pitchFamily="2" charset="-122"/>
              </a:rPr>
              <a:t>1 </a:t>
            </a:r>
            <a:r>
              <a:rPr lang="zh-CN" altLang="en-US" sz="2400" b="1" dirty="0">
                <a:solidFill>
                  <a:srgbClr val="000066"/>
                </a:solidFill>
                <a:latin typeface="+mn-lt"/>
                <a:ea typeface="黑体" pitchFamily="2" charset="-122"/>
              </a:rPr>
              <a:t>再转发给下一个路由器。 </a:t>
            </a:r>
          </a:p>
        </p:txBody>
      </p:sp>
      <p:sp>
        <p:nvSpPr>
          <p:cNvPr id="2" name="标题 1"/>
          <p:cNvSpPr>
            <a:spLocks noGrp="1"/>
          </p:cNvSpPr>
          <p:nvPr>
            <p:ph type="title"/>
          </p:nvPr>
        </p:nvSpPr>
        <p:spPr/>
        <p:txBody>
          <a:bodyPr/>
          <a:lstStyle/>
          <a:p>
            <a:pPr algn="ctr"/>
            <a:r>
              <a:rPr lang="zh-CN" altLang="en-US" dirty="0"/>
              <a:t>默认路由举例</a:t>
            </a:r>
          </a:p>
        </p:txBody>
      </p:sp>
      <p:grpSp>
        <p:nvGrpSpPr>
          <p:cNvPr id="68" name="Group 44"/>
          <p:cNvGrpSpPr>
            <a:grpSpLocks/>
          </p:cNvGrpSpPr>
          <p:nvPr/>
        </p:nvGrpSpPr>
        <p:grpSpPr bwMode="auto">
          <a:xfrm>
            <a:off x="4089597" y="3572419"/>
            <a:ext cx="1439467" cy="917947"/>
            <a:chOff x="1776" y="2768"/>
            <a:chExt cx="1824" cy="736"/>
          </a:xfrm>
          <a:solidFill>
            <a:schemeClr val="bg1">
              <a:lumMod val="75000"/>
            </a:schemeClr>
          </a:solidFill>
        </p:grpSpPr>
        <p:grpSp>
          <p:nvGrpSpPr>
            <p:cNvPr id="69" name="Group 45"/>
            <p:cNvGrpSpPr>
              <a:grpSpLocks/>
            </p:cNvGrpSpPr>
            <p:nvPr/>
          </p:nvGrpSpPr>
          <p:grpSpPr bwMode="auto">
            <a:xfrm>
              <a:off x="1787" y="2783"/>
              <a:ext cx="1813" cy="721"/>
              <a:chOff x="1787" y="2783"/>
              <a:chExt cx="1813" cy="721"/>
            </a:xfrm>
            <a:grpFill/>
          </p:grpSpPr>
          <p:sp>
            <p:nvSpPr>
              <p:cNvPr id="79"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80"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81"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82"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83"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84"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85"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86"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87"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sp>
          <p:nvSpPr>
            <p:cNvPr id="70"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71"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72"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73"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74"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75"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76"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77"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78"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sp>
        <p:nvSpPr>
          <p:cNvPr id="983070" name="Text Box 30"/>
          <p:cNvSpPr txBox="1">
            <a:spLocks noChangeArrowheads="1"/>
          </p:cNvSpPr>
          <p:nvPr/>
        </p:nvSpPr>
        <p:spPr bwMode="auto">
          <a:xfrm>
            <a:off x="4598723" y="3813719"/>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0000CC"/>
                </a:solidFill>
                <a:latin typeface="+mn-lt"/>
                <a:ea typeface="黑体" pitchFamily="2" charset="-122"/>
              </a:rPr>
              <a:t>N</a:t>
            </a:r>
            <a:r>
              <a:rPr lang="en-US" altLang="zh-CN" sz="2000" b="1" baseline="-25000">
                <a:solidFill>
                  <a:srgbClr val="0000CC"/>
                </a:solidFill>
                <a:latin typeface="+mn-lt"/>
                <a:ea typeface="黑体" pitchFamily="2" charset="-122"/>
              </a:rPr>
              <a:t>1</a:t>
            </a:r>
          </a:p>
        </p:txBody>
      </p:sp>
      <p:sp>
        <p:nvSpPr>
          <p:cNvPr id="3" name="矩形 2"/>
          <p:cNvSpPr/>
          <p:nvPr/>
        </p:nvSpPr>
        <p:spPr>
          <a:xfrm>
            <a:off x="2144688" y="5517232"/>
            <a:ext cx="6494399" cy="461665"/>
          </a:xfrm>
          <a:prstGeom prst="rect">
            <a:avLst/>
          </a:prstGeom>
        </p:spPr>
        <p:txBody>
          <a:bodyPr wrap="square">
            <a:spAutoFit/>
          </a:bodyPr>
          <a:lstStyle/>
          <a:p>
            <a:pPr algn="ctr"/>
            <a:r>
              <a:rPr lang="zh-CN" altLang="zh-CN" sz="2400" b="1" dirty="0">
                <a:latin typeface="+mn-lt"/>
                <a:ea typeface="黑体" pitchFamily="2" charset="-122"/>
              </a:rPr>
              <a:t>路由器</a:t>
            </a:r>
            <a:r>
              <a:rPr lang="en-US" altLang="zh-CN" sz="2400" b="1" dirty="0">
                <a:latin typeface="+mn-lt"/>
                <a:ea typeface="黑体" pitchFamily="2" charset="-122"/>
              </a:rPr>
              <a:t> R</a:t>
            </a:r>
            <a:r>
              <a:rPr lang="en-US" altLang="zh-CN" sz="2400" b="1" baseline="-25000" dirty="0">
                <a:latin typeface="+mn-lt"/>
                <a:ea typeface="黑体" pitchFamily="2" charset="-122"/>
              </a:rPr>
              <a:t>1 </a:t>
            </a:r>
            <a:r>
              <a:rPr lang="zh-CN" altLang="zh-CN" sz="2400" b="1" dirty="0">
                <a:latin typeface="+mn-lt"/>
                <a:ea typeface="黑体" pitchFamily="2" charset="-122"/>
              </a:rPr>
              <a:t>充当网络</a:t>
            </a:r>
            <a:r>
              <a:rPr lang="en-US" altLang="zh-CN" sz="2400" b="1" dirty="0">
                <a:latin typeface="+mn-lt"/>
                <a:ea typeface="黑体" pitchFamily="2" charset="-122"/>
              </a:rPr>
              <a:t> N</a:t>
            </a:r>
            <a:r>
              <a:rPr lang="en-US" altLang="zh-CN" sz="2400" b="1" baseline="-25000" dirty="0">
                <a:latin typeface="+mn-lt"/>
                <a:ea typeface="黑体" pitchFamily="2" charset="-122"/>
              </a:rPr>
              <a:t>1 </a:t>
            </a:r>
            <a:r>
              <a:rPr lang="zh-CN" altLang="zh-CN" sz="2400" b="1" dirty="0">
                <a:latin typeface="+mn-lt"/>
                <a:ea typeface="黑体" pitchFamily="2" charset="-122"/>
              </a:rPr>
              <a:t>的默认路由器</a:t>
            </a:r>
            <a:endParaRPr lang="zh-CN" altLang="en-US" sz="2400" b="1" dirty="0">
              <a:latin typeface="+mn-lt"/>
              <a:ea typeface="黑体" pitchFamily="2" charset="-122"/>
            </a:endParaRPr>
          </a:p>
        </p:txBody>
      </p:sp>
      <p:sp>
        <p:nvSpPr>
          <p:cNvPr id="983076" name="Rectangle 36"/>
          <p:cNvSpPr>
            <a:spLocks noChangeArrowheads="1"/>
          </p:cNvSpPr>
          <p:nvPr/>
        </p:nvSpPr>
        <p:spPr bwMode="auto">
          <a:xfrm>
            <a:off x="374956" y="3431132"/>
            <a:ext cx="2345796" cy="1436687"/>
          </a:xfrm>
          <a:prstGeom prst="rect">
            <a:avLst/>
          </a:prstGeom>
          <a:solidFill>
            <a:srgbClr val="FFFF66"/>
          </a:solidFill>
          <a:ln w="1905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983075" name="Text Box 35"/>
          <p:cNvSpPr txBox="1">
            <a:spLocks noChangeArrowheads="1"/>
          </p:cNvSpPr>
          <p:nvPr/>
        </p:nvSpPr>
        <p:spPr bwMode="auto">
          <a:xfrm>
            <a:off x="374957" y="3358108"/>
            <a:ext cx="218040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en-US" sz="2000" b="1">
                <a:solidFill>
                  <a:srgbClr val="000099"/>
                </a:solidFill>
                <a:latin typeface="+mn-lt"/>
                <a:ea typeface="黑体" pitchFamily="2" charset="-122"/>
              </a:rPr>
              <a:t>目的网络  下一跳</a:t>
            </a:r>
          </a:p>
          <a:p>
            <a:pPr>
              <a:lnSpc>
                <a:spcPct val="120000"/>
              </a:lnSpc>
            </a:pPr>
            <a:r>
              <a:rPr lang="zh-CN" altLang="en-US" sz="2000" b="1">
                <a:solidFill>
                  <a:srgbClr val="000099"/>
                </a:solidFill>
                <a:latin typeface="+mn-lt"/>
                <a:ea typeface="黑体" pitchFamily="2" charset="-122"/>
              </a:rPr>
              <a:t>      </a:t>
            </a:r>
            <a:r>
              <a:rPr lang="en-US" altLang="zh-CN" sz="2000" b="1">
                <a:solidFill>
                  <a:srgbClr val="000099"/>
                </a:solidFill>
                <a:latin typeface="+mn-lt"/>
                <a:ea typeface="黑体" pitchFamily="2" charset="-122"/>
              </a:rPr>
              <a:t>N</a:t>
            </a:r>
            <a:r>
              <a:rPr lang="en-US" altLang="zh-CN" sz="2000" b="1" baseline="-25000">
                <a:solidFill>
                  <a:srgbClr val="000099"/>
                </a:solidFill>
                <a:latin typeface="+mn-lt"/>
                <a:ea typeface="黑体" pitchFamily="2" charset="-122"/>
              </a:rPr>
              <a:t>1</a:t>
            </a:r>
            <a:r>
              <a:rPr lang="en-US" altLang="zh-CN" sz="2000" b="1">
                <a:solidFill>
                  <a:srgbClr val="000099"/>
                </a:solidFill>
                <a:latin typeface="+mn-lt"/>
                <a:ea typeface="黑体" pitchFamily="2" charset="-122"/>
              </a:rPr>
              <a:t>          </a:t>
            </a:r>
            <a:r>
              <a:rPr lang="zh-CN" altLang="en-US" sz="2000" b="1">
                <a:solidFill>
                  <a:srgbClr val="000099"/>
                </a:solidFill>
                <a:latin typeface="+mn-lt"/>
                <a:ea typeface="黑体" pitchFamily="2" charset="-122"/>
              </a:rPr>
              <a:t>直接 </a:t>
            </a:r>
          </a:p>
          <a:p>
            <a:pPr>
              <a:lnSpc>
                <a:spcPct val="120000"/>
              </a:lnSpc>
            </a:pPr>
            <a:r>
              <a:rPr lang="zh-CN" altLang="en-US" sz="2000" b="1">
                <a:solidFill>
                  <a:srgbClr val="000099"/>
                </a:solidFill>
                <a:latin typeface="+mn-lt"/>
                <a:ea typeface="黑体" pitchFamily="2" charset="-122"/>
              </a:rPr>
              <a:t>      </a:t>
            </a:r>
            <a:r>
              <a:rPr lang="en-US" altLang="zh-CN" sz="2000" b="1">
                <a:solidFill>
                  <a:srgbClr val="000099"/>
                </a:solidFill>
                <a:latin typeface="+mn-lt"/>
                <a:ea typeface="黑体" pitchFamily="2" charset="-122"/>
              </a:rPr>
              <a:t>N</a:t>
            </a:r>
            <a:r>
              <a:rPr lang="en-US" altLang="zh-CN" sz="2000" b="1" baseline="-25000">
                <a:solidFill>
                  <a:srgbClr val="000099"/>
                </a:solidFill>
                <a:latin typeface="+mn-lt"/>
                <a:ea typeface="黑体" pitchFamily="2" charset="-122"/>
              </a:rPr>
              <a:t>2</a:t>
            </a:r>
            <a:r>
              <a:rPr lang="en-US" altLang="zh-CN" sz="2000" b="1">
                <a:solidFill>
                  <a:srgbClr val="000099"/>
                </a:solidFill>
                <a:latin typeface="+mn-lt"/>
                <a:ea typeface="黑体" pitchFamily="2" charset="-122"/>
              </a:rPr>
              <a:t>     </a:t>
            </a:r>
            <a:r>
              <a:rPr lang="en-US" altLang="zh-CN" sz="1000" b="1">
                <a:solidFill>
                  <a:srgbClr val="000099"/>
                </a:solidFill>
                <a:latin typeface="+mn-lt"/>
                <a:ea typeface="黑体" pitchFamily="2" charset="-122"/>
              </a:rPr>
              <a:t>   </a:t>
            </a:r>
            <a:r>
              <a:rPr lang="en-US" altLang="zh-CN" sz="2000" b="1">
                <a:solidFill>
                  <a:srgbClr val="000099"/>
                </a:solidFill>
                <a:latin typeface="+mn-lt"/>
                <a:ea typeface="黑体" pitchFamily="2" charset="-122"/>
              </a:rPr>
              <a:t>      R</a:t>
            </a:r>
            <a:r>
              <a:rPr lang="en-US" altLang="zh-CN" sz="2000" b="1" baseline="-25000">
                <a:solidFill>
                  <a:srgbClr val="000099"/>
                </a:solidFill>
                <a:latin typeface="+mn-lt"/>
                <a:ea typeface="黑体" pitchFamily="2" charset="-122"/>
              </a:rPr>
              <a:t>2</a:t>
            </a:r>
          </a:p>
          <a:p>
            <a:pPr>
              <a:lnSpc>
                <a:spcPct val="120000"/>
              </a:lnSpc>
            </a:pPr>
            <a:r>
              <a:rPr lang="en-US" altLang="zh-CN" sz="2000" b="1">
                <a:solidFill>
                  <a:srgbClr val="000099"/>
                </a:solidFill>
                <a:latin typeface="+mn-lt"/>
                <a:ea typeface="黑体" pitchFamily="2" charset="-122"/>
              </a:rPr>
              <a:t>    </a:t>
            </a:r>
            <a:r>
              <a:rPr lang="zh-CN" altLang="en-US" sz="2000" b="1">
                <a:solidFill>
                  <a:srgbClr val="000099"/>
                </a:solidFill>
                <a:latin typeface="+mn-lt"/>
                <a:ea typeface="黑体" pitchFamily="2" charset="-122"/>
              </a:rPr>
              <a:t>默认           </a:t>
            </a:r>
            <a:r>
              <a:rPr lang="en-US" altLang="zh-CN" sz="2000" b="1">
                <a:solidFill>
                  <a:srgbClr val="000099"/>
                </a:solidFill>
                <a:latin typeface="+mn-lt"/>
                <a:ea typeface="黑体" pitchFamily="2" charset="-122"/>
              </a:rPr>
              <a:t>R</a:t>
            </a:r>
            <a:r>
              <a:rPr lang="en-US" altLang="zh-CN" sz="2000" b="1" baseline="-25000">
                <a:solidFill>
                  <a:srgbClr val="000099"/>
                </a:solidFill>
                <a:latin typeface="+mn-lt"/>
                <a:ea typeface="黑体" pitchFamily="2" charset="-122"/>
              </a:rPr>
              <a:t>1</a:t>
            </a:r>
          </a:p>
        </p:txBody>
      </p:sp>
      <p:sp>
        <p:nvSpPr>
          <p:cNvPr id="983077" name="Line 37"/>
          <p:cNvSpPr>
            <a:spLocks noChangeShapeType="1"/>
          </p:cNvSpPr>
          <p:nvPr/>
        </p:nvSpPr>
        <p:spPr bwMode="auto">
          <a:xfrm>
            <a:off x="374956" y="3796257"/>
            <a:ext cx="2345796" cy="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983078" name="Line 38"/>
          <p:cNvSpPr>
            <a:spLocks noChangeShapeType="1"/>
          </p:cNvSpPr>
          <p:nvPr/>
        </p:nvSpPr>
        <p:spPr bwMode="auto">
          <a:xfrm>
            <a:off x="374956" y="4161382"/>
            <a:ext cx="23457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983079" name="Line 39"/>
          <p:cNvSpPr>
            <a:spLocks noChangeShapeType="1"/>
          </p:cNvSpPr>
          <p:nvPr/>
        </p:nvSpPr>
        <p:spPr bwMode="auto">
          <a:xfrm>
            <a:off x="1654481" y="3431132"/>
            <a:ext cx="5159" cy="14176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983107" name="Line 67"/>
          <p:cNvSpPr>
            <a:spLocks noChangeShapeType="1"/>
          </p:cNvSpPr>
          <p:nvPr/>
        </p:nvSpPr>
        <p:spPr bwMode="auto">
          <a:xfrm>
            <a:off x="374956" y="4497932"/>
            <a:ext cx="23457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Tree>
    <p:extLst>
      <p:ext uri="{BB962C8B-B14F-4D97-AF65-F5344CB8AC3E}">
        <p14:creationId xmlns:p14="http://schemas.microsoft.com/office/powerpoint/2010/main" val="4598901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8" name="Rectangle 6"/>
          <p:cNvSpPr>
            <a:spLocks noGrp="1" noChangeArrowheads="1"/>
          </p:cNvSpPr>
          <p:nvPr>
            <p:ph type="title"/>
          </p:nvPr>
        </p:nvSpPr>
        <p:spPr/>
        <p:txBody>
          <a:bodyPr/>
          <a:lstStyle/>
          <a:p>
            <a:pPr algn="ctr"/>
            <a:r>
              <a:rPr lang="zh-CN" altLang="en-US" dirty="0"/>
              <a:t>关于下一跳的地址 </a:t>
            </a:r>
          </a:p>
        </p:txBody>
      </p:sp>
      <p:sp>
        <p:nvSpPr>
          <p:cNvPr id="397319" name="Rectangle 7"/>
          <p:cNvSpPr>
            <a:spLocks noGrp="1" noChangeArrowheads="1"/>
          </p:cNvSpPr>
          <p:nvPr>
            <p:ph idx="1"/>
          </p:nvPr>
        </p:nvSpPr>
        <p:spPr/>
        <p:txBody>
          <a:bodyPr/>
          <a:lstStyle/>
          <a:p>
            <a:pPr algn="just"/>
            <a:r>
              <a:rPr lang="en-US" altLang="zh-CN" dirty="0"/>
              <a:t>IP</a:t>
            </a:r>
            <a:r>
              <a:rPr lang="en-US" altLang="zh-CN" sz="2000" dirty="0"/>
              <a:t> </a:t>
            </a:r>
            <a:r>
              <a:rPr lang="zh-CN" altLang="en-US" dirty="0"/>
              <a:t>数据报的首部中</a:t>
            </a:r>
            <a:r>
              <a:rPr lang="zh-CN" altLang="en-US" dirty="0">
                <a:solidFill>
                  <a:srgbClr val="FF0000"/>
                </a:solidFill>
              </a:rPr>
              <a:t>没有</a:t>
            </a:r>
            <a:r>
              <a:rPr lang="zh-CN" altLang="en-US" dirty="0"/>
              <a:t>地方可以用来指明“下一跳路由器的 </a:t>
            </a:r>
            <a:r>
              <a:rPr lang="en-US" altLang="zh-CN" dirty="0"/>
              <a:t>IP </a:t>
            </a:r>
            <a:r>
              <a:rPr lang="zh-CN" altLang="en-US" dirty="0"/>
              <a:t>地址”。</a:t>
            </a:r>
          </a:p>
          <a:p>
            <a:pPr algn="just"/>
            <a:r>
              <a:rPr lang="zh-CN" altLang="en-US" dirty="0"/>
              <a:t>当路由器收到待转发的数据报，不是将下一跳路由器的</a:t>
            </a:r>
            <a:r>
              <a:rPr lang="zh-CN" altLang="en-US" sz="1800" dirty="0"/>
              <a:t> </a:t>
            </a:r>
            <a:r>
              <a:rPr lang="en-US" altLang="zh-CN" dirty="0"/>
              <a:t>IP</a:t>
            </a:r>
            <a:r>
              <a:rPr lang="en-US" altLang="zh-CN" sz="2000" dirty="0"/>
              <a:t> </a:t>
            </a:r>
            <a:r>
              <a:rPr lang="zh-CN" altLang="en-US" dirty="0"/>
              <a:t>地址填入 </a:t>
            </a:r>
            <a:r>
              <a:rPr lang="en-US" altLang="zh-CN" dirty="0"/>
              <a:t>IP </a:t>
            </a:r>
            <a:r>
              <a:rPr lang="zh-CN" altLang="en-US" dirty="0"/>
              <a:t>数据报，而是</a:t>
            </a:r>
            <a:r>
              <a:rPr lang="zh-CN" altLang="en-US" dirty="0">
                <a:solidFill>
                  <a:srgbClr val="FF0000"/>
                </a:solidFill>
              </a:rPr>
              <a:t>送交下层</a:t>
            </a:r>
            <a:r>
              <a:rPr lang="zh-CN" altLang="en-US" dirty="0"/>
              <a:t>的网络接口软件。</a:t>
            </a:r>
          </a:p>
          <a:p>
            <a:pPr algn="just"/>
            <a:r>
              <a:rPr lang="zh-CN" altLang="en-US" dirty="0"/>
              <a:t>网络接口软件</a:t>
            </a:r>
            <a:r>
              <a:rPr lang="zh-CN" altLang="en-US" dirty="0">
                <a:solidFill>
                  <a:srgbClr val="FF0000"/>
                </a:solidFill>
              </a:rPr>
              <a:t>使用</a:t>
            </a:r>
            <a:r>
              <a:rPr lang="zh-CN" altLang="en-US" sz="1800" dirty="0">
                <a:solidFill>
                  <a:srgbClr val="FF0000"/>
                </a:solidFill>
              </a:rPr>
              <a:t> </a:t>
            </a:r>
            <a:r>
              <a:rPr lang="en-US" altLang="zh-CN" dirty="0">
                <a:solidFill>
                  <a:srgbClr val="FF0000"/>
                </a:solidFill>
              </a:rPr>
              <a:t>ARP</a:t>
            </a:r>
            <a:r>
              <a:rPr lang="en-US" altLang="zh-CN" sz="1800" dirty="0">
                <a:solidFill>
                  <a:srgbClr val="FF0000"/>
                </a:solidFill>
              </a:rPr>
              <a:t> </a:t>
            </a:r>
            <a:r>
              <a:rPr lang="zh-CN" altLang="en-US" dirty="0"/>
              <a:t>负责将下一跳路由器的 </a:t>
            </a:r>
            <a:r>
              <a:rPr lang="en-US" altLang="zh-CN" dirty="0"/>
              <a:t>IP</a:t>
            </a:r>
            <a:r>
              <a:rPr lang="en-US" altLang="zh-CN" sz="2000" dirty="0"/>
              <a:t> </a:t>
            </a:r>
            <a:r>
              <a:rPr lang="zh-CN" altLang="en-US" dirty="0"/>
              <a:t>地址转换成硬件地址，并将此硬件地址放在链路层的</a:t>
            </a:r>
            <a:r>
              <a:rPr lang="zh-CN" altLang="en-US" sz="2000" dirty="0"/>
              <a:t> </a:t>
            </a:r>
            <a:r>
              <a:rPr lang="en-US" altLang="zh-CN" dirty="0"/>
              <a:t>MAC</a:t>
            </a:r>
            <a:r>
              <a:rPr lang="en-US" altLang="zh-CN" sz="1800" dirty="0"/>
              <a:t> </a:t>
            </a:r>
            <a:r>
              <a:rPr lang="zh-CN" altLang="en-US" dirty="0"/>
              <a:t>帧的首部，然后根据这个硬件地址找到下一跳路由器。  </a:t>
            </a:r>
          </a:p>
        </p:txBody>
      </p:sp>
      <p:sp>
        <p:nvSpPr>
          <p:cNvPr id="397314"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7315" name="Rectangle 3"/>
          <p:cNvSpPr>
            <a:spLocks noChangeArrowheads="1"/>
          </p:cNvSpPr>
          <p:nvPr/>
        </p:nvSpPr>
        <p:spPr bwMode="auto">
          <a:xfrm>
            <a:off x="0" y="3053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7316"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7317" name="Rectangle 5"/>
          <p:cNvSpPr>
            <a:spLocks noChangeArrowheads="1"/>
          </p:cNvSpPr>
          <p:nvPr/>
        </p:nvSpPr>
        <p:spPr bwMode="auto">
          <a:xfrm>
            <a:off x="0" y="30585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7320" name="Rectangle 8"/>
          <p:cNvSpPr>
            <a:spLocks noChangeArrowheads="1"/>
          </p:cNvSpPr>
          <p:nvPr/>
        </p:nvSpPr>
        <p:spPr bwMode="auto">
          <a:xfrm>
            <a:off x="0" y="30776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7321" name="Rectangle 9"/>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23939737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73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73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6291" name="Rectangle 3"/>
          <p:cNvSpPr>
            <a:spLocks noChangeArrowheads="1"/>
          </p:cNvSpPr>
          <p:nvPr/>
        </p:nvSpPr>
        <p:spPr bwMode="auto">
          <a:xfrm>
            <a:off x="0" y="3053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6292"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6293" name="Rectangle 5"/>
          <p:cNvSpPr>
            <a:spLocks noChangeArrowheads="1"/>
          </p:cNvSpPr>
          <p:nvPr/>
        </p:nvSpPr>
        <p:spPr bwMode="auto">
          <a:xfrm>
            <a:off x="0" y="30585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6294" name="Rectangle 6"/>
          <p:cNvSpPr>
            <a:spLocks noGrp="1" noChangeArrowheads="1"/>
          </p:cNvSpPr>
          <p:nvPr>
            <p:ph type="title"/>
          </p:nvPr>
        </p:nvSpPr>
        <p:spPr/>
        <p:txBody>
          <a:bodyPr/>
          <a:lstStyle/>
          <a:p>
            <a:pPr algn="ctr"/>
            <a:r>
              <a:rPr lang="zh-CN" altLang="en-US" dirty="0"/>
              <a:t>路由器分组转发算法 </a:t>
            </a:r>
          </a:p>
        </p:txBody>
      </p:sp>
      <p:sp>
        <p:nvSpPr>
          <p:cNvPr id="396295" name="Rectangle 7"/>
          <p:cNvSpPr>
            <a:spLocks noGrp="1" noChangeArrowheads="1"/>
          </p:cNvSpPr>
          <p:nvPr>
            <p:ph idx="1"/>
          </p:nvPr>
        </p:nvSpPr>
        <p:spPr>
          <a:ln>
            <a:solidFill>
              <a:schemeClr val="tx2"/>
            </a:solidFill>
            <a:miter lim="800000"/>
            <a:headEnd/>
            <a:tailEnd/>
          </a:ln>
        </p:spPr>
        <p:txBody>
          <a:bodyPr/>
          <a:lstStyle/>
          <a:p>
            <a:pPr marL="539750" indent="-539750" algn="just">
              <a:spcBef>
                <a:spcPct val="0"/>
              </a:spcBef>
              <a:spcAft>
                <a:spcPct val="20000"/>
              </a:spcAft>
              <a:buFont typeface="Wingdings" pitchFamily="2" charset="2"/>
              <a:buNone/>
              <a:tabLst>
                <a:tab pos="1528763" algn="l"/>
              </a:tabLst>
            </a:pPr>
            <a:r>
              <a:rPr lang="en-US" altLang="zh-CN" sz="2400" dirty="0"/>
              <a:t>(1) </a:t>
            </a:r>
            <a:r>
              <a:rPr lang="zh-CN" altLang="en-US" sz="2400" dirty="0"/>
              <a:t>从数据报的首部提取</a:t>
            </a:r>
            <a:r>
              <a:rPr lang="zh-CN" altLang="en-US" sz="2400" dirty="0">
                <a:solidFill>
                  <a:srgbClr val="FF0000"/>
                </a:solidFill>
              </a:rPr>
              <a:t>目的主机的</a:t>
            </a:r>
            <a:r>
              <a:rPr lang="zh-CN" altLang="en-US" sz="1600" dirty="0">
                <a:solidFill>
                  <a:srgbClr val="FF0000"/>
                </a:solidFill>
              </a:rPr>
              <a:t> </a:t>
            </a:r>
            <a:r>
              <a:rPr lang="en-US" altLang="zh-CN" sz="2400" dirty="0">
                <a:solidFill>
                  <a:srgbClr val="FF0000"/>
                </a:solidFill>
              </a:rPr>
              <a:t>IP</a:t>
            </a:r>
            <a:r>
              <a:rPr lang="en-US" altLang="zh-CN" sz="1600" dirty="0">
                <a:solidFill>
                  <a:srgbClr val="FF0000"/>
                </a:solidFill>
              </a:rPr>
              <a:t> </a:t>
            </a:r>
            <a:r>
              <a:rPr lang="zh-CN" altLang="en-US" sz="2400" dirty="0">
                <a:solidFill>
                  <a:srgbClr val="FF0000"/>
                </a:solidFill>
              </a:rPr>
              <a:t>地址</a:t>
            </a:r>
            <a:r>
              <a:rPr lang="zh-CN" altLang="en-US" sz="1400" dirty="0">
                <a:solidFill>
                  <a:srgbClr val="FF0000"/>
                </a:solidFill>
              </a:rPr>
              <a:t> </a:t>
            </a:r>
            <a:r>
              <a:rPr lang="en-US" altLang="zh-CN" sz="2400" dirty="0">
                <a:solidFill>
                  <a:srgbClr val="FF0000"/>
                </a:solidFill>
              </a:rPr>
              <a:t>D, </a:t>
            </a:r>
            <a:r>
              <a:rPr lang="zh-CN" altLang="en-US" sz="2400" dirty="0"/>
              <a:t>得出</a:t>
            </a:r>
            <a:r>
              <a:rPr lang="zh-CN" altLang="en-US" sz="2400" dirty="0">
                <a:solidFill>
                  <a:srgbClr val="FF0000"/>
                </a:solidFill>
              </a:rPr>
              <a:t>目的网络地址为</a:t>
            </a:r>
            <a:r>
              <a:rPr lang="zh-CN" altLang="en-US" sz="1400" dirty="0">
                <a:solidFill>
                  <a:srgbClr val="FF0000"/>
                </a:solidFill>
              </a:rPr>
              <a:t> </a:t>
            </a:r>
            <a:r>
              <a:rPr lang="en-US" altLang="zh-CN" sz="2400" dirty="0">
                <a:solidFill>
                  <a:srgbClr val="FF0000"/>
                </a:solidFill>
              </a:rPr>
              <a:t>N</a:t>
            </a:r>
            <a:r>
              <a:rPr lang="zh-CN" altLang="en-US" sz="2400" dirty="0">
                <a:solidFill>
                  <a:srgbClr val="FF0000"/>
                </a:solidFill>
              </a:rPr>
              <a:t>。</a:t>
            </a:r>
          </a:p>
          <a:p>
            <a:pPr marL="539750" indent="-539750" algn="just">
              <a:spcBef>
                <a:spcPct val="0"/>
              </a:spcBef>
              <a:spcAft>
                <a:spcPct val="20000"/>
              </a:spcAft>
              <a:buFont typeface="Wingdings" pitchFamily="2" charset="2"/>
              <a:buNone/>
              <a:tabLst>
                <a:tab pos="1528763" algn="l"/>
              </a:tabLst>
            </a:pPr>
            <a:r>
              <a:rPr lang="en-US" altLang="zh-CN" sz="2400" dirty="0"/>
              <a:t>(2) </a:t>
            </a:r>
            <a:r>
              <a:rPr lang="zh-CN" altLang="en-US" sz="2400" dirty="0"/>
              <a:t>若网络</a:t>
            </a:r>
            <a:r>
              <a:rPr lang="zh-CN" altLang="en-US" sz="1200" dirty="0"/>
              <a:t> </a:t>
            </a:r>
            <a:r>
              <a:rPr lang="en-US" altLang="zh-CN" sz="2400" i="1" dirty="0"/>
              <a:t>N </a:t>
            </a:r>
            <a:r>
              <a:rPr lang="zh-CN" altLang="en-US" sz="2400" dirty="0"/>
              <a:t>与此路由器直接相连，则把数据报</a:t>
            </a:r>
            <a:r>
              <a:rPr lang="zh-CN" altLang="en-US" sz="2400" dirty="0">
                <a:solidFill>
                  <a:srgbClr val="FF0000"/>
                </a:solidFill>
              </a:rPr>
              <a:t>直接交付</a:t>
            </a:r>
            <a:r>
              <a:rPr lang="zh-CN" altLang="en-US" sz="2400" dirty="0"/>
              <a:t>目的主机</a:t>
            </a:r>
            <a:r>
              <a:rPr lang="zh-CN" altLang="en-US" sz="1200" dirty="0"/>
              <a:t> </a:t>
            </a:r>
            <a:r>
              <a:rPr lang="en-US" altLang="zh-CN" sz="2400" i="1" dirty="0"/>
              <a:t>D</a:t>
            </a:r>
            <a:r>
              <a:rPr lang="zh-CN" altLang="en-US" sz="2400" dirty="0"/>
              <a:t>；否则是</a:t>
            </a:r>
            <a:r>
              <a:rPr lang="zh-CN" altLang="en-US" sz="2400" dirty="0">
                <a:solidFill>
                  <a:srgbClr val="FF0000"/>
                </a:solidFill>
              </a:rPr>
              <a:t>间接交付，</a:t>
            </a:r>
            <a:r>
              <a:rPr lang="zh-CN" altLang="en-US" sz="2400" dirty="0"/>
              <a:t>执行 </a:t>
            </a:r>
            <a:r>
              <a:rPr lang="en-US" altLang="zh-CN" sz="2400" dirty="0"/>
              <a:t>(3)</a:t>
            </a:r>
            <a:r>
              <a:rPr lang="zh-CN" altLang="en-US" sz="2400" dirty="0"/>
              <a:t>。</a:t>
            </a:r>
          </a:p>
          <a:p>
            <a:pPr marL="539750" indent="-539750" algn="just">
              <a:spcBef>
                <a:spcPct val="0"/>
              </a:spcBef>
              <a:spcAft>
                <a:spcPct val="20000"/>
              </a:spcAft>
              <a:buFont typeface="Wingdings" pitchFamily="2" charset="2"/>
              <a:buNone/>
              <a:tabLst>
                <a:tab pos="1528763" algn="l"/>
              </a:tabLst>
            </a:pPr>
            <a:r>
              <a:rPr lang="en-US" altLang="zh-CN" sz="2400" dirty="0"/>
              <a:t>(3) </a:t>
            </a:r>
            <a:r>
              <a:rPr lang="zh-CN" altLang="en-US" sz="2400" dirty="0"/>
              <a:t>若路由表中有目的地址为 </a:t>
            </a:r>
            <a:r>
              <a:rPr lang="en-US" altLang="zh-CN" sz="2400" i="1" dirty="0"/>
              <a:t>D </a:t>
            </a:r>
            <a:r>
              <a:rPr lang="zh-CN" altLang="en-US" sz="2400" dirty="0"/>
              <a:t>的</a:t>
            </a:r>
            <a:r>
              <a:rPr lang="zh-CN" altLang="en-US" sz="2400" dirty="0">
                <a:solidFill>
                  <a:srgbClr val="FF0000"/>
                </a:solidFill>
              </a:rPr>
              <a:t>特定主机路由，</a:t>
            </a:r>
            <a:r>
              <a:rPr lang="zh-CN" altLang="en-US" sz="2400" dirty="0"/>
              <a:t>则把数据报传送给路由表中所指明的下一跳路由器；否则，执行 </a:t>
            </a:r>
            <a:r>
              <a:rPr lang="en-US" altLang="zh-CN" sz="2400" dirty="0"/>
              <a:t>(4)</a:t>
            </a:r>
            <a:r>
              <a:rPr lang="zh-CN" altLang="en-US" sz="2400" dirty="0"/>
              <a:t>。</a:t>
            </a:r>
          </a:p>
          <a:p>
            <a:pPr marL="539750" indent="-539750" algn="just">
              <a:spcBef>
                <a:spcPct val="0"/>
              </a:spcBef>
              <a:spcAft>
                <a:spcPct val="20000"/>
              </a:spcAft>
              <a:buFont typeface="Wingdings" pitchFamily="2" charset="2"/>
              <a:buNone/>
              <a:tabLst>
                <a:tab pos="1528763" algn="l"/>
              </a:tabLst>
            </a:pPr>
            <a:r>
              <a:rPr lang="en-US" altLang="zh-CN" sz="2400" dirty="0"/>
              <a:t>(4) </a:t>
            </a:r>
            <a:r>
              <a:rPr lang="zh-CN" altLang="en-US" sz="2400" dirty="0"/>
              <a:t>若路由表中有</a:t>
            </a:r>
            <a:r>
              <a:rPr lang="zh-CN" altLang="en-US" sz="2400" dirty="0">
                <a:solidFill>
                  <a:srgbClr val="FF0000"/>
                </a:solidFill>
              </a:rPr>
              <a:t>到达网络 </a:t>
            </a:r>
            <a:r>
              <a:rPr lang="en-US" altLang="zh-CN" sz="2400" i="1" dirty="0">
                <a:solidFill>
                  <a:srgbClr val="FF0000"/>
                </a:solidFill>
              </a:rPr>
              <a:t>N </a:t>
            </a:r>
            <a:r>
              <a:rPr lang="zh-CN" altLang="en-US" sz="2400" dirty="0">
                <a:solidFill>
                  <a:srgbClr val="FF0000"/>
                </a:solidFill>
              </a:rPr>
              <a:t>的路由，</a:t>
            </a:r>
            <a:r>
              <a:rPr lang="zh-CN" altLang="en-US" sz="2400" dirty="0"/>
              <a:t>则把数据报传送给路由表指明的下一跳路由器；否则，执行 </a:t>
            </a:r>
            <a:r>
              <a:rPr lang="en-US" altLang="zh-CN" sz="2400" dirty="0"/>
              <a:t>(5)</a:t>
            </a:r>
            <a:r>
              <a:rPr lang="zh-CN" altLang="en-US" sz="2400" dirty="0"/>
              <a:t>。</a:t>
            </a:r>
          </a:p>
          <a:p>
            <a:pPr marL="539750" indent="-539750" algn="just">
              <a:spcBef>
                <a:spcPct val="0"/>
              </a:spcBef>
              <a:spcAft>
                <a:spcPct val="20000"/>
              </a:spcAft>
              <a:buFont typeface="Wingdings" pitchFamily="2" charset="2"/>
              <a:buNone/>
              <a:tabLst>
                <a:tab pos="1528763" algn="l"/>
              </a:tabLst>
            </a:pPr>
            <a:r>
              <a:rPr lang="en-US" altLang="zh-CN" sz="2400" dirty="0"/>
              <a:t>(5) </a:t>
            </a:r>
            <a:r>
              <a:rPr lang="zh-CN" altLang="en-US" sz="2400" dirty="0"/>
              <a:t>若路由表中有一个</a:t>
            </a:r>
            <a:r>
              <a:rPr lang="zh-CN" altLang="en-US" sz="2400" dirty="0">
                <a:solidFill>
                  <a:srgbClr val="FF0000"/>
                </a:solidFill>
              </a:rPr>
              <a:t>默认路由，</a:t>
            </a:r>
            <a:r>
              <a:rPr lang="zh-CN" altLang="en-US" sz="2400" dirty="0"/>
              <a:t>则把数据报传送给路由表中所指明的默认路由器；否则，执行 </a:t>
            </a:r>
            <a:r>
              <a:rPr lang="en-US" altLang="zh-CN" sz="2400" dirty="0"/>
              <a:t>(6)</a:t>
            </a:r>
            <a:r>
              <a:rPr lang="zh-CN" altLang="en-US" sz="2400" dirty="0"/>
              <a:t>。</a:t>
            </a:r>
          </a:p>
          <a:p>
            <a:pPr marL="539750" indent="-539750" algn="just">
              <a:spcBef>
                <a:spcPct val="0"/>
              </a:spcBef>
              <a:spcAft>
                <a:spcPct val="20000"/>
              </a:spcAft>
              <a:buFont typeface="Wingdings" pitchFamily="2" charset="2"/>
              <a:buNone/>
              <a:tabLst>
                <a:tab pos="1528763" algn="l"/>
              </a:tabLst>
            </a:pPr>
            <a:r>
              <a:rPr lang="en-US" altLang="zh-CN" sz="2400" dirty="0"/>
              <a:t>(6)  </a:t>
            </a:r>
            <a:r>
              <a:rPr lang="zh-CN" altLang="en-US" sz="2400" dirty="0"/>
              <a:t>报告转发分组出错。 </a:t>
            </a:r>
          </a:p>
        </p:txBody>
      </p:sp>
      <p:sp>
        <p:nvSpPr>
          <p:cNvPr id="396296" name="Rectangle 8"/>
          <p:cNvSpPr>
            <a:spLocks noChangeArrowheads="1"/>
          </p:cNvSpPr>
          <p:nvPr/>
        </p:nvSpPr>
        <p:spPr bwMode="auto">
          <a:xfrm>
            <a:off x="0" y="30776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96297" name="Rectangle 9"/>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11301366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（上）</a:t>
            </a:r>
          </a:p>
        </p:txBody>
      </p:sp>
      <p:sp>
        <p:nvSpPr>
          <p:cNvPr id="3" name="内容占位符 2"/>
          <p:cNvSpPr>
            <a:spLocks noGrp="1"/>
          </p:cNvSpPr>
          <p:nvPr>
            <p:ph idx="1"/>
          </p:nvPr>
        </p:nvSpPr>
        <p:spPr/>
        <p:txBody>
          <a:bodyPr/>
          <a:lstStyle/>
          <a:p>
            <a:pPr>
              <a:lnSpc>
                <a:spcPct val="100000"/>
              </a:lnSpc>
            </a:pPr>
            <a:r>
              <a:rPr lang="zh-CN" altLang="en-US" dirty="0">
                <a:solidFill>
                  <a:schemeClr val="bg1">
                    <a:lumMod val="65000"/>
                  </a:schemeClr>
                </a:solidFill>
              </a:rPr>
              <a:t>概述</a:t>
            </a:r>
            <a:endParaRPr lang="zh-CN" altLang="zh-CN" dirty="0">
              <a:solidFill>
                <a:schemeClr val="bg1">
                  <a:lumMod val="65000"/>
                </a:schemeClr>
              </a:solidFill>
            </a:endParaRPr>
          </a:p>
          <a:p>
            <a:r>
              <a:rPr lang="zh-CN" altLang="zh-CN" dirty="0">
                <a:solidFill>
                  <a:schemeClr val="bg1">
                    <a:lumMod val="65000"/>
                  </a:schemeClr>
                </a:solidFill>
              </a:rPr>
              <a:t>分类的</a:t>
            </a:r>
            <a:r>
              <a:rPr lang="en-US" altLang="zh-CN" dirty="0">
                <a:solidFill>
                  <a:schemeClr val="bg1">
                    <a:lumMod val="65000"/>
                  </a:schemeClr>
                </a:solidFill>
              </a:rPr>
              <a:t> IP </a:t>
            </a:r>
            <a:r>
              <a:rPr lang="zh-CN" altLang="zh-CN" dirty="0">
                <a:solidFill>
                  <a:schemeClr val="bg1">
                    <a:lumMod val="65000"/>
                  </a:schemeClr>
                </a:solidFill>
              </a:rPr>
              <a:t>地址</a:t>
            </a:r>
          </a:p>
          <a:p>
            <a:r>
              <a:rPr lang="zh-CN" altLang="zh-CN" dirty="0">
                <a:solidFill>
                  <a:schemeClr val="bg1">
                    <a:lumMod val="65000"/>
                  </a:schemeClr>
                </a:solidFill>
              </a:rPr>
              <a:t>地址解析协议</a:t>
            </a:r>
            <a:r>
              <a:rPr lang="en-US" altLang="zh-CN" dirty="0">
                <a:solidFill>
                  <a:schemeClr val="bg1">
                    <a:lumMod val="65000"/>
                  </a:schemeClr>
                </a:solidFill>
              </a:rPr>
              <a:t> ARP</a:t>
            </a:r>
            <a:endParaRPr lang="zh-CN" altLang="zh-CN" dirty="0">
              <a:solidFill>
                <a:schemeClr val="bg1">
                  <a:lumMod val="65000"/>
                </a:schemeClr>
              </a:solidFill>
            </a:endParaRPr>
          </a:p>
          <a:p>
            <a:r>
              <a:rPr lang="en-US" altLang="zh-CN" dirty="0">
                <a:solidFill>
                  <a:schemeClr val="bg1">
                    <a:lumMod val="65000"/>
                  </a:schemeClr>
                </a:solidFill>
              </a:rPr>
              <a:t>IP </a:t>
            </a:r>
            <a:r>
              <a:rPr lang="zh-CN" altLang="zh-CN" dirty="0">
                <a:solidFill>
                  <a:schemeClr val="bg1">
                    <a:lumMod val="65000"/>
                  </a:schemeClr>
                </a:solidFill>
              </a:rPr>
              <a:t>数据报的格式</a:t>
            </a:r>
            <a:endParaRPr lang="en-US" altLang="zh-CN" dirty="0">
              <a:solidFill>
                <a:schemeClr val="bg1">
                  <a:lumMod val="65000"/>
                </a:schemeClr>
              </a:solidFill>
            </a:endParaRPr>
          </a:p>
          <a:p>
            <a:r>
              <a:rPr lang="en-US" altLang="zh-CN" dirty="0">
                <a:solidFill>
                  <a:schemeClr val="bg1">
                    <a:lumMod val="65000"/>
                  </a:schemeClr>
                </a:solidFill>
              </a:rPr>
              <a:t>IP </a:t>
            </a:r>
            <a:r>
              <a:rPr lang="zh-CN" altLang="zh-CN" dirty="0">
                <a:solidFill>
                  <a:schemeClr val="bg1">
                    <a:lumMod val="65000"/>
                  </a:schemeClr>
                </a:solidFill>
              </a:rPr>
              <a:t>层转发分组的流程</a:t>
            </a:r>
          </a:p>
          <a:p>
            <a:pPr>
              <a:lnSpc>
                <a:spcPct val="100000"/>
              </a:lnSpc>
            </a:pPr>
            <a:r>
              <a:rPr lang="zh-CN" altLang="zh-CN" sz="3600" dirty="0">
                <a:solidFill>
                  <a:srgbClr val="FF0000"/>
                </a:solidFill>
              </a:rPr>
              <a:t>网际控制报文协议</a:t>
            </a:r>
            <a:r>
              <a:rPr lang="en-US" altLang="zh-CN" sz="3600" dirty="0">
                <a:solidFill>
                  <a:srgbClr val="FF0000"/>
                </a:solidFill>
              </a:rPr>
              <a:t> ICMP</a:t>
            </a:r>
            <a:endParaRPr lang="zh-CN" altLang="zh-CN" sz="3600" dirty="0">
              <a:solidFill>
                <a:srgbClr val="FF0000"/>
              </a:solidFill>
            </a:endParaRPr>
          </a:p>
        </p:txBody>
      </p:sp>
    </p:spTree>
    <p:extLst>
      <p:ext uri="{BB962C8B-B14F-4D97-AF65-F5344CB8AC3E}">
        <p14:creationId xmlns:p14="http://schemas.microsoft.com/office/powerpoint/2010/main" val="20889139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zh-CN" altLang="zh-CN" dirty="0"/>
              <a:t>网际控制报文协议</a:t>
            </a:r>
            <a:r>
              <a:rPr lang="en-US" altLang="zh-CN" dirty="0"/>
              <a:t> ICMP</a:t>
            </a:r>
            <a:endParaRPr lang="zh-CN" altLang="en-US" dirty="0"/>
          </a:p>
        </p:txBody>
      </p:sp>
      <p:sp>
        <p:nvSpPr>
          <p:cNvPr id="931843" name="Rectangle 3"/>
          <p:cNvSpPr>
            <a:spLocks noGrp="1" noChangeArrowheads="1"/>
          </p:cNvSpPr>
          <p:nvPr>
            <p:ph idx="1"/>
          </p:nvPr>
        </p:nvSpPr>
        <p:spPr/>
        <p:txBody>
          <a:bodyPr/>
          <a:lstStyle/>
          <a:p>
            <a:r>
              <a:rPr lang="zh-CN" altLang="zh-CN" sz="2800" dirty="0"/>
              <a:t>为了更有效地转发</a:t>
            </a:r>
            <a:r>
              <a:rPr lang="en-US" altLang="zh-CN" sz="2800" dirty="0"/>
              <a:t> IP </a:t>
            </a:r>
            <a:r>
              <a:rPr lang="zh-CN" altLang="zh-CN" sz="2800" dirty="0"/>
              <a:t>数据报和提高交付成功的机会，在网际层使用了网际控制报文协议</a:t>
            </a:r>
            <a:r>
              <a:rPr lang="en-US" altLang="zh-CN" sz="2800" dirty="0"/>
              <a:t> ICMP (Internet Control Message Protocol)</a:t>
            </a:r>
            <a:r>
              <a:rPr lang="zh-CN" altLang="zh-CN" sz="2800" dirty="0"/>
              <a:t>。</a:t>
            </a:r>
            <a:endParaRPr lang="en-US" altLang="zh-CN" sz="2800" dirty="0"/>
          </a:p>
          <a:p>
            <a:r>
              <a:rPr lang="en-US" altLang="zh-CN" sz="2800" dirty="0"/>
              <a:t>ICMP </a:t>
            </a:r>
            <a:r>
              <a:rPr lang="zh-CN" altLang="zh-CN" sz="2800" dirty="0"/>
              <a:t>是互联网的标准协议。</a:t>
            </a:r>
            <a:endParaRPr lang="en-US" altLang="zh-CN" sz="2800" dirty="0"/>
          </a:p>
          <a:p>
            <a:r>
              <a:rPr lang="en-US" altLang="zh-CN" sz="2800" dirty="0"/>
              <a:t>ICMP </a:t>
            </a:r>
            <a:r>
              <a:rPr lang="zh-CN" altLang="zh-CN" sz="2800" dirty="0"/>
              <a:t>允许主机或路由器报告差错情况和提供有关异常情况的报告。</a:t>
            </a:r>
            <a:endParaRPr lang="en-US" altLang="zh-CN" sz="2800" dirty="0"/>
          </a:p>
          <a:p>
            <a:r>
              <a:rPr lang="zh-CN" altLang="zh-CN" sz="2800" dirty="0"/>
              <a:t>但</a:t>
            </a:r>
            <a:r>
              <a:rPr lang="en-US" altLang="zh-CN" sz="2800" dirty="0"/>
              <a:t> ICMP </a:t>
            </a:r>
            <a:r>
              <a:rPr lang="zh-CN" altLang="zh-CN" sz="2800" dirty="0"/>
              <a:t>不是高层协议（看起来好像是高层协议，因为</a:t>
            </a:r>
            <a:r>
              <a:rPr lang="en-US" altLang="zh-CN" sz="2800" dirty="0"/>
              <a:t> ICMP </a:t>
            </a:r>
            <a:r>
              <a:rPr lang="zh-CN" altLang="zh-CN" sz="2800" dirty="0"/>
              <a:t>报文是装在</a:t>
            </a:r>
            <a:r>
              <a:rPr lang="en-US" altLang="zh-CN" sz="2800" dirty="0"/>
              <a:t> IP </a:t>
            </a:r>
            <a:r>
              <a:rPr lang="zh-CN" altLang="zh-CN" sz="2800" dirty="0"/>
              <a:t>数据报中，作为其中的数据部分），而是</a:t>
            </a:r>
            <a:r>
              <a:rPr lang="en-US" altLang="zh-CN" sz="2800" dirty="0"/>
              <a:t> IP </a:t>
            </a:r>
            <a:r>
              <a:rPr lang="zh-CN" altLang="zh-CN" sz="2800" dirty="0"/>
              <a:t>层的协议。</a:t>
            </a:r>
            <a:endParaRPr lang="zh-CN" altLang="en-US" sz="2800" dirty="0">
              <a:solidFill>
                <a:srgbClr val="0000CC"/>
              </a:solidFill>
            </a:endParaRPr>
          </a:p>
        </p:txBody>
      </p:sp>
    </p:spTree>
    <p:extLst>
      <p:ext uri="{BB962C8B-B14F-4D97-AF65-F5344CB8AC3E}">
        <p14:creationId xmlns:p14="http://schemas.microsoft.com/office/powerpoint/2010/main" val="38988990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7" name="Rectangle 3"/>
          <p:cNvSpPr>
            <a:spLocks noGrp="1" noChangeArrowheads="1"/>
          </p:cNvSpPr>
          <p:nvPr>
            <p:ph type="title"/>
          </p:nvPr>
        </p:nvSpPr>
        <p:spPr/>
        <p:txBody>
          <a:bodyPr/>
          <a:lstStyle/>
          <a:p>
            <a:pPr algn="ctr"/>
            <a:r>
              <a:rPr lang="en-US" altLang="zh-CN" dirty="0"/>
              <a:t>ICMP </a:t>
            </a:r>
            <a:r>
              <a:rPr lang="zh-CN" altLang="en-US" dirty="0"/>
              <a:t>报文的格式 </a:t>
            </a:r>
          </a:p>
        </p:txBody>
      </p:sp>
      <p:sp>
        <p:nvSpPr>
          <p:cNvPr id="538655" name="AutoShape 31"/>
          <p:cNvSpPr>
            <a:spLocks noChangeArrowheads="1"/>
          </p:cNvSpPr>
          <p:nvPr/>
        </p:nvSpPr>
        <p:spPr bwMode="auto">
          <a:xfrm rot="5400000">
            <a:off x="2246455" y="4542640"/>
            <a:ext cx="288925" cy="507338"/>
          </a:xfrm>
          <a:prstGeom prst="downArrow">
            <a:avLst>
              <a:gd name="adj1" fmla="val 47222"/>
              <a:gd name="adj2" fmla="val 83745"/>
            </a:avLst>
          </a:prstGeom>
          <a:solidFill>
            <a:srgbClr val="C00000"/>
          </a:solidFill>
          <a:ln w="9525">
            <a:solidFill>
              <a:schemeClr val="tx1"/>
            </a:solidFill>
            <a:miter lim="800000"/>
            <a:headEnd/>
            <a:tailEnd/>
          </a:ln>
          <a:effectLst/>
        </p:spPr>
        <p:txBody>
          <a:bodyPr vert="eaVert" wrap="none" anchor="ctr"/>
          <a:lstStyle/>
          <a:p>
            <a:endParaRPr lang="zh-CN" altLang="en-US" b="1">
              <a:solidFill>
                <a:srgbClr val="0000CC"/>
              </a:solidFill>
              <a:latin typeface="+mn-lt"/>
              <a:ea typeface="黑体" pitchFamily="2" charset="-122"/>
            </a:endParaRPr>
          </a:p>
        </p:txBody>
      </p:sp>
      <p:sp>
        <p:nvSpPr>
          <p:cNvPr id="538626" name="Rectangle 2"/>
          <p:cNvSpPr>
            <a:spLocks noChangeArrowheads="1"/>
          </p:cNvSpPr>
          <p:nvPr/>
        </p:nvSpPr>
        <p:spPr bwMode="auto">
          <a:xfrm>
            <a:off x="2615350" y="4618509"/>
            <a:ext cx="4602163" cy="39052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38628" name="Rectangle 4"/>
          <p:cNvSpPr>
            <a:spLocks noChangeArrowheads="1"/>
          </p:cNvSpPr>
          <p:nvPr/>
        </p:nvSpPr>
        <p:spPr bwMode="auto">
          <a:xfrm>
            <a:off x="3870799" y="4642321"/>
            <a:ext cx="3326077" cy="36671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38629" name="Freeform 5"/>
          <p:cNvSpPr>
            <a:spLocks/>
          </p:cNvSpPr>
          <p:nvPr/>
        </p:nvSpPr>
        <p:spPr bwMode="auto">
          <a:xfrm>
            <a:off x="2641147" y="3397721"/>
            <a:ext cx="6081183" cy="468312"/>
          </a:xfrm>
          <a:custGeom>
            <a:avLst/>
            <a:gdLst>
              <a:gd name="T0" fmla="*/ 0 w 2790"/>
              <a:gd name="T1" fmla="*/ 6 h 279"/>
              <a:gd name="T2" fmla="*/ 561 w 2790"/>
              <a:gd name="T3" fmla="*/ 279 h 279"/>
              <a:gd name="T4" fmla="*/ 2100 w 2790"/>
              <a:gd name="T5" fmla="*/ 276 h 279"/>
              <a:gd name="T6" fmla="*/ 2790 w 2790"/>
              <a:gd name="T7" fmla="*/ 0 h 279"/>
              <a:gd name="T8" fmla="*/ 0 w 2790"/>
              <a:gd name="T9" fmla="*/ 6 h 279"/>
            </a:gdLst>
            <a:ahLst/>
            <a:cxnLst>
              <a:cxn ang="0">
                <a:pos x="T0" y="T1"/>
              </a:cxn>
              <a:cxn ang="0">
                <a:pos x="T2" y="T3"/>
              </a:cxn>
              <a:cxn ang="0">
                <a:pos x="T4" y="T5"/>
              </a:cxn>
              <a:cxn ang="0">
                <a:pos x="T6" y="T7"/>
              </a:cxn>
              <a:cxn ang="0">
                <a:pos x="T8" y="T9"/>
              </a:cxn>
            </a:cxnLst>
            <a:rect l="0" t="0" r="r" b="b"/>
            <a:pathLst>
              <a:path w="2790" h="279">
                <a:moveTo>
                  <a:pt x="0" y="6"/>
                </a:moveTo>
                <a:lnTo>
                  <a:pt x="561" y="279"/>
                </a:lnTo>
                <a:lnTo>
                  <a:pt x="2100" y="276"/>
                </a:lnTo>
                <a:lnTo>
                  <a:pt x="2790" y="0"/>
                </a:lnTo>
                <a:lnTo>
                  <a:pt x="0" y="6"/>
                </a:lnTo>
                <a:close/>
              </a:path>
            </a:pathLst>
          </a:custGeom>
          <a:gradFill flip="none" rotWithShape="1">
            <a:gsLst>
              <a:gs pos="0">
                <a:schemeClr val="bg1">
                  <a:lumMod val="65000"/>
                </a:schemeClr>
              </a:gs>
              <a:gs pos="100000">
                <a:srgbClr val="FFFF00"/>
              </a:gs>
            </a:gsLst>
            <a:lin ang="16200000" scaled="1"/>
            <a:tileRect/>
          </a:gradFill>
          <a:ln>
            <a:noFill/>
          </a:ln>
          <a:effectLst/>
        </p:spPr>
        <p:txBody>
          <a:bodyPr/>
          <a:lstStyle/>
          <a:p>
            <a:endParaRPr lang="zh-CN" altLang="en-US" b="1">
              <a:solidFill>
                <a:srgbClr val="0000CC"/>
              </a:solidFill>
              <a:latin typeface="+mn-lt"/>
              <a:ea typeface="黑体" pitchFamily="2" charset="-122"/>
            </a:endParaRPr>
          </a:p>
        </p:txBody>
      </p:sp>
      <p:sp>
        <p:nvSpPr>
          <p:cNvPr id="538630" name="Line 6"/>
          <p:cNvSpPr>
            <a:spLocks noChangeShapeType="1"/>
          </p:cNvSpPr>
          <p:nvPr/>
        </p:nvSpPr>
        <p:spPr bwMode="auto">
          <a:xfrm>
            <a:off x="2615350" y="5242396"/>
            <a:ext cx="4602163"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38631" name="Text Box 7"/>
          <p:cNvSpPr txBox="1">
            <a:spLocks noChangeArrowheads="1"/>
          </p:cNvSpPr>
          <p:nvPr/>
        </p:nvSpPr>
        <p:spPr bwMode="auto">
          <a:xfrm>
            <a:off x="2721977" y="4615334"/>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首  部</a:t>
            </a:r>
          </a:p>
        </p:txBody>
      </p:sp>
      <p:sp>
        <p:nvSpPr>
          <p:cNvPr id="538632" name="Rectangle 8"/>
          <p:cNvSpPr>
            <a:spLocks noChangeArrowheads="1"/>
          </p:cNvSpPr>
          <p:nvPr/>
        </p:nvSpPr>
        <p:spPr bwMode="auto">
          <a:xfrm>
            <a:off x="3870798" y="3842221"/>
            <a:ext cx="3346715" cy="392112"/>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2000" b="1">
                <a:solidFill>
                  <a:srgbClr val="0000CC"/>
                </a:solidFill>
                <a:latin typeface="+mn-lt"/>
                <a:ea typeface="黑体" pitchFamily="2" charset="-122"/>
              </a:rPr>
              <a:t>ICMP </a:t>
            </a:r>
            <a:r>
              <a:rPr kumimoji="1" lang="zh-CN" altLang="en-US" sz="2000" b="1">
                <a:solidFill>
                  <a:srgbClr val="0000CC"/>
                </a:solidFill>
                <a:latin typeface="+mn-lt"/>
                <a:ea typeface="黑体" pitchFamily="2" charset="-122"/>
              </a:rPr>
              <a:t>报文</a:t>
            </a:r>
          </a:p>
        </p:txBody>
      </p:sp>
      <p:sp>
        <p:nvSpPr>
          <p:cNvPr id="538633" name="Text Box 9"/>
          <p:cNvSpPr txBox="1">
            <a:spLocks noChangeArrowheads="1"/>
          </p:cNvSpPr>
          <p:nvPr/>
        </p:nvSpPr>
        <p:spPr bwMode="auto">
          <a:xfrm>
            <a:off x="2519042" y="1484784"/>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0</a:t>
            </a:r>
          </a:p>
        </p:txBody>
      </p:sp>
      <p:sp>
        <p:nvSpPr>
          <p:cNvPr id="538634" name="Line 10"/>
          <p:cNvSpPr>
            <a:spLocks noChangeShapeType="1"/>
          </p:cNvSpPr>
          <p:nvPr/>
        </p:nvSpPr>
        <p:spPr bwMode="auto">
          <a:xfrm>
            <a:off x="3870798" y="4618509"/>
            <a:ext cx="0" cy="390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38635" name="Text Box 11"/>
          <p:cNvSpPr txBox="1">
            <a:spLocks noChangeArrowheads="1"/>
          </p:cNvSpPr>
          <p:nvPr/>
        </p:nvSpPr>
        <p:spPr bwMode="auto">
          <a:xfrm>
            <a:off x="4553556" y="4615334"/>
            <a:ext cx="16401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数  据  部  分</a:t>
            </a:r>
          </a:p>
        </p:txBody>
      </p:sp>
      <p:sp>
        <p:nvSpPr>
          <p:cNvPr id="538636" name="AutoShape 12"/>
          <p:cNvSpPr>
            <a:spLocks noChangeArrowheads="1"/>
          </p:cNvSpPr>
          <p:nvPr/>
        </p:nvSpPr>
        <p:spPr bwMode="auto">
          <a:xfrm>
            <a:off x="5334341" y="4234334"/>
            <a:ext cx="313002" cy="468313"/>
          </a:xfrm>
          <a:prstGeom prst="downArrow">
            <a:avLst>
              <a:gd name="adj1" fmla="val 47222"/>
              <a:gd name="adj2" fmla="val 8374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CC"/>
              </a:solidFill>
              <a:latin typeface="+mn-lt"/>
              <a:ea typeface="黑体" pitchFamily="2" charset="-122"/>
            </a:endParaRPr>
          </a:p>
        </p:txBody>
      </p:sp>
      <p:sp>
        <p:nvSpPr>
          <p:cNvPr id="538637" name="Rectangle 13"/>
          <p:cNvSpPr>
            <a:spLocks noChangeArrowheads="1"/>
          </p:cNvSpPr>
          <p:nvPr/>
        </p:nvSpPr>
        <p:spPr bwMode="auto">
          <a:xfrm>
            <a:off x="2615350" y="1864197"/>
            <a:ext cx="6067425" cy="1563687"/>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38638" name="Line 14"/>
          <p:cNvSpPr>
            <a:spLocks noChangeShapeType="1"/>
          </p:cNvSpPr>
          <p:nvPr/>
        </p:nvSpPr>
        <p:spPr bwMode="auto">
          <a:xfrm rot="5400000" flipV="1">
            <a:off x="5649063" y="-809155"/>
            <a:ext cx="0" cy="6067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38639" name="Line 15"/>
          <p:cNvSpPr>
            <a:spLocks noChangeShapeType="1"/>
          </p:cNvSpPr>
          <p:nvPr/>
        </p:nvSpPr>
        <p:spPr bwMode="auto">
          <a:xfrm flipV="1">
            <a:off x="4130486" y="1834034"/>
            <a:ext cx="0" cy="390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38640" name="Line 16"/>
          <p:cNvSpPr>
            <a:spLocks noChangeShapeType="1"/>
          </p:cNvSpPr>
          <p:nvPr/>
        </p:nvSpPr>
        <p:spPr bwMode="auto">
          <a:xfrm flipV="1">
            <a:off x="5647342" y="1834034"/>
            <a:ext cx="0" cy="390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38641" name="Line 17"/>
          <p:cNvSpPr>
            <a:spLocks noChangeShapeType="1"/>
          </p:cNvSpPr>
          <p:nvPr/>
        </p:nvSpPr>
        <p:spPr bwMode="auto">
          <a:xfrm flipV="1">
            <a:off x="5647342" y="1834034"/>
            <a:ext cx="0" cy="390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38642" name="Text Box 18"/>
          <p:cNvSpPr txBox="1">
            <a:spLocks noChangeArrowheads="1"/>
          </p:cNvSpPr>
          <p:nvPr/>
        </p:nvSpPr>
        <p:spPr bwMode="auto">
          <a:xfrm>
            <a:off x="6589788" y="180704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检验和</a:t>
            </a:r>
          </a:p>
        </p:txBody>
      </p:sp>
      <p:sp>
        <p:nvSpPr>
          <p:cNvPr id="538643" name="Text Box 19"/>
          <p:cNvSpPr txBox="1">
            <a:spLocks noChangeArrowheads="1"/>
          </p:cNvSpPr>
          <p:nvPr/>
        </p:nvSpPr>
        <p:spPr bwMode="auto">
          <a:xfrm>
            <a:off x="2928352" y="1807047"/>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类型</a:t>
            </a:r>
          </a:p>
        </p:txBody>
      </p:sp>
      <p:sp>
        <p:nvSpPr>
          <p:cNvPr id="538644" name="Text Box 20"/>
          <p:cNvSpPr txBox="1">
            <a:spLocks noChangeArrowheads="1"/>
          </p:cNvSpPr>
          <p:nvPr/>
        </p:nvSpPr>
        <p:spPr bwMode="auto">
          <a:xfrm>
            <a:off x="4531198" y="1807047"/>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代码</a:t>
            </a:r>
          </a:p>
        </p:txBody>
      </p:sp>
      <p:sp>
        <p:nvSpPr>
          <p:cNvPr id="538645" name="Text Box 21"/>
          <p:cNvSpPr txBox="1">
            <a:spLocks noChangeArrowheads="1"/>
          </p:cNvSpPr>
          <p:nvPr/>
        </p:nvSpPr>
        <p:spPr bwMode="auto">
          <a:xfrm>
            <a:off x="2868160" y="2203922"/>
            <a:ext cx="49664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（这 </a:t>
            </a:r>
            <a:r>
              <a:rPr kumimoji="1" lang="en-US" altLang="zh-CN" sz="2000" b="1">
                <a:solidFill>
                  <a:srgbClr val="0000CC"/>
                </a:solidFill>
                <a:latin typeface="+mn-lt"/>
                <a:ea typeface="黑体" pitchFamily="2" charset="-122"/>
              </a:rPr>
              <a:t>4 </a:t>
            </a:r>
            <a:r>
              <a:rPr kumimoji="1" lang="zh-CN" altLang="en-US" sz="2000" b="1">
                <a:solidFill>
                  <a:srgbClr val="0000CC"/>
                </a:solidFill>
                <a:latin typeface="+mn-lt"/>
                <a:ea typeface="黑体" pitchFamily="2" charset="-122"/>
              </a:rPr>
              <a:t>个字节取决于 </a:t>
            </a:r>
            <a:r>
              <a:rPr kumimoji="1" lang="en-US" altLang="zh-CN" sz="2000" b="1">
                <a:solidFill>
                  <a:srgbClr val="0000CC"/>
                </a:solidFill>
                <a:latin typeface="+mn-lt"/>
                <a:ea typeface="黑体" pitchFamily="2" charset="-122"/>
              </a:rPr>
              <a:t>ICMP </a:t>
            </a:r>
            <a:r>
              <a:rPr kumimoji="1" lang="zh-CN" altLang="en-US" sz="2000" b="1">
                <a:solidFill>
                  <a:srgbClr val="0000CC"/>
                </a:solidFill>
                <a:latin typeface="+mn-lt"/>
                <a:ea typeface="黑体" pitchFamily="2" charset="-122"/>
              </a:rPr>
              <a:t>报文的类型）</a:t>
            </a:r>
          </a:p>
        </p:txBody>
      </p:sp>
      <p:sp>
        <p:nvSpPr>
          <p:cNvPr id="538646" name="Text Box 22"/>
          <p:cNvSpPr txBox="1">
            <a:spLocks noChangeArrowheads="1"/>
          </p:cNvSpPr>
          <p:nvPr/>
        </p:nvSpPr>
        <p:spPr bwMode="auto">
          <a:xfrm>
            <a:off x="4015261" y="1484784"/>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8</a:t>
            </a:r>
          </a:p>
        </p:txBody>
      </p:sp>
      <p:sp>
        <p:nvSpPr>
          <p:cNvPr id="538647" name="Text Box 23"/>
          <p:cNvSpPr txBox="1">
            <a:spLocks noChangeArrowheads="1"/>
          </p:cNvSpPr>
          <p:nvPr/>
        </p:nvSpPr>
        <p:spPr bwMode="auto">
          <a:xfrm>
            <a:off x="5454726" y="1484784"/>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16</a:t>
            </a:r>
          </a:p>
        </p:txBody>
      </p:sp>
      <p:sp>
        <p:nvSpPr>
          <p:cNvPr id="538648" name="Rectangle 24"/>
          <p:cNvSpPr>
            <a:spLocks noChangeArrowheads="1"/>
          </p:cNvSpPr>
          <p:nvPr/>
        </p:nvSpPr>
        <p:spPr bwMode="auto">
          <a:xfrm>
            <a:off x="4164882" y="5086821"/>
            <a:ext cx="1379273" cy="2857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38649" name="Text Box 25"/>
          <p:cNvSpPr txBox="1">
            <a:spLocks noChangeArrowheads="1"/>
          </p:cNvSpPr>
          <p:nvPr/>
        </p:nvSpPr>
        <p:spPr bwMode="auto">
          <a:xfrm>
            <a:off x="8325059" y="1484784"/>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31</a:t>
            </a:r>
          </a:p>
        </p:txBody>
      </p:sp>
      <p:sp>
        <p:nvSpPr>
          <p:cNvPr id="538650" name="Text Box 26"/>
          <p:cNvSpPr txBox="1">
            <a:spLocks noChangeArrowheads="1"/>
          </p:cNvSpPr>
          <p:nvPr/>
        </p:nvSpPr>
        <p:spPr bwMode="auto">
          <a:xfrm>
            <a:off x="4128767" y="5048722"/>
            <a:ext cx="12668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IP </a:t>
            </a:r>
            <a:r>
              <a:rPr kumimoji="1" lang="zh-CN" altLang="en-US" sz="2000" b="1" dirty="0">
                <a:solidFill>
                  <a:srgbClr val="0000CC"/>
                </a:solidFill>
                <a:latin typeface="+mn-lt"/>
                <a:ea typeface="黑体" pitchFamily="2" charset="-122"/>
              </a:rPr>
              <a:t>数据报</a:t>
            </a:r>
          </a:p>
        </p:txBody>
      </p:sp>
      <p:sp>
        <p:nvSpPr>
          <p:cNvPr id="538651" name="Line 27"/>
          <p:cNvSpPr>
            <a:spLocks noChangeShapeType="1"/>
          </p:cNvSpPr>
          <p:nvPr/>
        </p:nvSpPr>
        <p:spPr bwMode="auto">
          <a:xfrm rot="-5400000">
            <a:off x="5649063" y="-417041"/>
            <a:ext cx="0" cy="6067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38652" name="Text Box 28"/>
          <p:cNvSpPr txBox="1">
            <a:spLocks noChangeArrowheads="1"/>
          </p:cNvSpPr>
          <p:nvPr/>
        </p:nvSpPr>
        <p:spPr bwMode="auto">
          <a:xfrm>
            <a:off x="629314" y="1627658"/>
            <a:ext cx="1500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2000" b="1">
                <a:solidFill>
                  <a:srgbClr val="0000CC"/>
                </a:solidFill>
                <a:latin typeface="+mn-lt"/>
                <a:ea typeface="黑体" pitchFamily="2" charset="-122"/>
              </a:rPr>
              <a:t>前 </a:t>
            </a:r>
            <a:r>
              <a:rPr kumimoji="1" lang="en-US" altLang="zh-CN" sz="2000" b="1">
                <a:solidFill>
                  <a:srgbClr val="0000CC"/>
                </a:solidFill>
                <a:latin typeface="+mn-lt"/>
                <a:ea typeface="黑体" pitchFamily="2" charset="-122"/>
              </a:rPr>
              <a:t>4 </a:t>
            </a:r>
            <a:r>
              <a:rPr kumimoji="1" lang="zh-CN" altLang="en-US" sz="2000" b="1">
                <a:solidFill>
                  <a:srgbClr val="0000CC"/>
                </a:solidFill>
                <a:latin typeface="+mn-lt"/>
                <a:ea typeface="黑体" pitchFamily="2" charset="-122"/>
              </a:rPr>
              <a:t>个字节</a:t>
            </a:r>
          </a:p>
          <a:p>
            <a:pPr algn="ctr">
              <a:lnSpc>
                <a:spcPct val="90000"/>
              </a:lnSpc>
            </a:pPr>
            <a:r>
              <a:rPr kumimoji="1" lang="zh-CN" altLang="en-US" sz="2000" b="1">
                <a:solidFill>
                  <a:srgbClr val="0000CC"/>
                </a:solidFill>
                <a:latin typeface="+mn-lt"/>
                <a:ea typeface="黑体" pitchFamily="2" charset="-122"/>
              </a:rPr>
              <a:t>都是一样的</a:t>
            </a:r>
          </a:p>
        </p:txBody>
      </p:sp>
      <p:sp>
        <p:nvSpPr>
          <p:cNvPr id="538653" name="Text Box 29"/>
          <p:cNvSpPr txBox="1">
            <a:spLocks noChangeArrowheads="1"/>
          </p:cNvSpPr>
          <p:nvPr/>
        </p:nvSpPr>
        <p:spPr bwMode="auto">
          <a:xfrm>
            <a:off x="3249953" y="2815109"/>
            <a:ext cx="44825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ICMP </a:t>
            </a:r>
            <a:r>
              <a:rPr kumimoji="1" lang="zh-CN" altLang="en-US" sz="2000" b="1">
                <a:solidFill>
                  <a:srgbClr val="0000CC"/>
                </a:solidFill>
                <a:latin typeface="+mn-lt"/>
                <a:ea typeface="黑体" pitchFamily="2" charset="-122"/>
              </a:rPr>
              <a:t>的数据部分（长度取决于类型）</a:t>
            </a:r>
          </a:p>
        </p:txBody>
      </p:sp>
      <p:sp>
        <p:nvSpPr>
          <p:cNvPr id="538654" name="Line 30"/>
          <p:cNvSpPr>
            <a:spLocks noChangeShapeType="1"/>
          </p:cNvSpPr>
          <p:nvPr/>
        </p:nvSpPr>
        <p:spPr bwMode="auto">
          <a:xfrm>
            <a:off x="2090813" y="1989608"/>
            <a:ext cx="524537"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Tree>
    <p:extLst>
      <p:ext uri="{BB962C8B-B14F-4D97-AF65-F5344CB8AC3E}">
        <p14:creationId xmlns:p14="http://schemas.microsoft.com/office/powerpoint/2010/main" val="28655123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p:cNvSpPr>
            <a:spLocks noGrp="1" noChangeArrowheads="1"/>
          </p:cNvSpPr>
          <p:nvPr>
            <p:ph type="title"/>
          </p:nvPr>
        </p:nvSpPr>
        <p:spPr/>
        <p:txBody>
          <a:bodyPr/>
          <a:lstStyle/>
          <a:p>
            <a:r>
              <a:rPr lang="en-US" altLang="zh-CN" dirty="0"/>
              <a:t>ICMP</a:t>
            </a:r>
            <a:r>
              <a:rPr lang="zh-CN" altLang="en-US" dirty="0"/>
              <a:t>：报文的种类</a:t>
            </a:r>
          </a:p>
        </p:txBody>
      </p:sp>
      <p:sp>
        <p:nvSpPr>
          <p:cNvPr id="539651" name="Rectangle 3"/>
          <p:cNvSpPr>
            <a:spLocks noGrp="1" noChangeArrowheads="1"/>
          </p:cNvSpPr>
          <p:nvPr>
            <p:ph idx="1"/>
          </p:nvPr>
        </p:nvSpPr>
        <p:spPr/>
        <p:txBody>
          <a:bodyPr/>
          <a:lstStyle/>
          <a:p>
            <a:pPr algn="just"/>
            <a:r>
              <a:rPr lang="en-US" altLang="zh-CN" dirty="0"/>
              <a:t>ICMP </a:t>
            </a:r>
            <a:r>
              <a:rPr lang="zh-CN" altLang="en-US" dirty="0"/>
              <a:t>报文的种类有两种，即 </a:t>
            </a:r>
            <a:r>
              <a:rPr lang="en-US" altLang="zh-CN" dirty="0"/>
              <a:t>ICMP </a:t>
            </a:r>
            <a:r>
              <a:rPr lang="zh-CN" altLang="en-US" dirty="0">
                <a:solidFill>
                  <a:srgbClr val="FF0000"/>
                </a:solidFill>
              </a:rPr>
              <a:t>差错报告报文</a:t>
            </a:r>
            <a:r>
              <a:rPr lang="zh-CN" altLang="en-US" dirty="0"/>
              <a:t>和 </a:t>
            </a:r>
            <a:r>
              <a:rPr lang="en-US" altLang="zh-CN" dirty="0"/>
              <a:t>ICMP </a:t>
            </a:r>
            <a:r>
              <a:rPr lang="zh-CN" altLang="en-US" dirty="0">
                <a:solidFill>
                  <a:srgbClr val="FF0000"/>
                </a:solidFill>
              </a:rPr>
              <a:t>询问报文。</a:t>
            </a:r>
            <a:r>
              <a:rPr lang="zh-CN" altLang="en-US" dirty="0"/>
              <a:t> </a:t>
            </a:r>
          </a:p>
          <a:p>
            <a:pPr algn="just"/>
            <a:r>
              <a:rPr lang="en-US" altLang="zh-CN" dirty="0"/>
              <a:t>ICMP </a:t>
            </a:r>
            <a:r>
              <a:rPr lang="zh-CN" altLang="en-US" dirty="0"/>
              <a:t>报文的前 </a:t>
            </a:r>
            <a:r>
              <a:rPr lang="en-US" altLang="zh-CN" dirty="0"/>
              <a:t>4 </a:t>
            </a:r>
            <a:r>
              <a:rPr lang="zh-CN" altLang="en-US" dirty="0"/>
              <a:t>个字节是统一的格式，共有三个字段：即</a:t>
            </a:r>
            <a:r>
              <a:rPr lang="zh-CN" altLang="en-US" dirty="0">
                <a:solidFill>
                  <a:srgbClr val="FF0000"/>
                </a:solidFill>
              </a:rPr>
              <a:t>类型、代码</a:t>
            </a:r>
            <a:r>
              <a:rPr lang="zh-CN" altLang="en-US" dirty="0"/>
              <a:t>和</a:t>
            </a:r>
            <a:r>
              <a:rPr lang="zh-CN" altLang="en-US" dirty="0">
                <a:solidFill>
                  <a:srgbClr val="FF0000"/>
                </a:solidFill>
              </a:rPr>
              <a:t>检验和。</a:t>
            </a:r>
            <a:r>
              <a:rPr lang="zh-CN" altLang="en-US" dirty="0"/>
              <a:t>接着的 </a:t>
            </a:r>
            <a:r>
              <a:rPr lang="en-US" altLang="zh-CN" dirty="0"/>
              <a:t>4 </a:t>
            </a:r>
            <a:r>
              <a:rPr lang="zh-CN" altLang="en-US" dirty="0"/>
              <a:t>个字节的内容与 </a:t>
            </a:r>
            <a:r>
              <a:rPr lang="en-US" altLang="zh-CN" dirty="0"/>
              <a:t>ICMP </a:t>
            </a:r>
            <a:r>
              <a:rPr lang="zh-CN" altLang="en-US" dirty="0"/>
              <a:t>的类型有关。 </a:t>
            </a:r>
          </a:p>
        </p:txBody>
      </p:sp>
    </p:spTree>
    <p:extLst>
      <p:ext uri="{BB962C8B-B14F-4D97-AF65-F5344CB8AC3E}">
        <p14:creationId xmlns:p14="http://schemas.microsoft.com/office/powerpoint/2010/main" val="37793305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Rectangle 2"/>
          <p:cNvSpPr>
            <a:spLocks noGrp="1" noChangeArrowheads="1"/>
          </p:cNvSpPr>
          <p:nvPr>
            <p:ph type="title"/>
          </p:nvPr>
        </p:nvSpPr>
        <p:spPr/>
        <p:txBody>
          <a:bodyPr/>
          <a:lstStyle/>
          <a:p>
            <a:pPr algn="ctr"/>
            <a:r>
              <a:rPr lang="en-US" altLang="zh-CN" dirty="0"/>
              <a:t>ICMP </a:t>
            </a:r>
            <a:r>
              <a:rPr lang="zh-CN" altLang="en-US" dirty="0"/>
              <a:t>差错报告报文共有 </a:t>
            </a:r>
            <a:r>
              <a:rPr lang="en-US" altLang="zh-CN" dirty="0"/>
              <a:t>4 </a:t>
            </a:r>
            <a:r>
              <a:rPr lang="zh-CN" altLang="en-US" dirty="0"/>
              <a:t>种 </a:t>
            </a:r>
          </a:p>
        </p:txBody>
      </p:sp>
      <p:sp>
        <p:nvSpPr>
          <p:cNvPr id="540675" name="Rectangle 3"/>
          <p:cNvSpPr>
            <a:spLocks noGrp="1" noChangeArrowheads="1"/>
          </p:cNvSpPr>
          <p:nvPr>
            <p:ph idx="1"/>
          </p:nvPr>
        </p:nvSpPr>
        <p:spPr/>
        <p:txBody>
          <a:bodyPr/>
          <a:lstStyle/>
          <a:p>
            <a:pPr algn="just"/>
            <a:r>
              <a:rPr lang="zh-CN" altLang="en-US" dirty="0"/>
              <a:t>终点不可达</a:t>
            </a:r>
            <a:r>
              <a:rPr lang="en-US" altLang="zh-CN" dirty="0"/>
              <a:t>(3)</a:t>
            </a:r>
            <a:endParaRPr lang="zh-CN" altLang="en-US" dirty="0"/>
          </a:p>
          <a:p>
            <a:pPr algn="just"/>
            <a:r>
              <a:rPr lang="zh-CN" altLang="en-US" dirty="0"/>
              <a:t>改变路由（重定向）</a:t>
            </a:r>
            <a:r>
              <a:rPr lang="en-US" altLang="zh-CN" dirty="0"/>
              <a:t>(5) </a:t>
            </a:r>
          </a:p>
          <a:p>
            <a:pPr algn="just"/>
            <a:r>
              <a:rPr lang="zh-CN" altLang="en-US" dirty="0"/>
              <a:t>超时 </a:t>
            </a:r>
            <a:r>
              <a:rPr lang="en-US" altLang="zh-CN" dirty="0"/>
              <a:t>(11)</a:t>
            </a:r>
            <a:endParaRPr lang="zh-CN" altLang="en-US" dirty="0"/>
          </a:p>
          <a:p>
            <a:pPr algn="just"/>
            <a:r>
              <a:rPr lang="zh-CN" altLang="en-US" dirty="0"/>
              <a:t>参数问题</a:t>
            </a:r>
            <a:r>
              <a:rPr lang="en-US" altLang="zh-CN" dirty="0"/>
              <a:t>(12)</a:t>
            </a:r>
            <a:endParaRPr lang="zh-CN" altLang="en-US" dirty="0"/>
          </a:p>
        </p:txBody>
      </p:sp>
    </p:spTree>
    <p:extLst>
      <p:ext uri="{BB962C8B-B14F-4D97-AF65-F5344CB8AC3E}">
        <p14:creationId xmlns:p14="http://schemas.microsoft.com/office/powerpoint/2010/main" val="10618503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9" name="Rectangle 3"/>
          <p:cNvSpPr>
            <a:spLocks noGrp="1" noChangeArrowheads="1"/>
          </p:cNvSpPr>
          <p:nvPr>
            <p:ph type="title"/>
          </p:nvPr>
        </p:nvSpPr>
        <p:spPr>
          <a:xfrm>
            <a:off x="495300" y="188640"/>
            <a:ext cx="8634164" cy="792088"/>
          </a:xfrm>
        </p:spPr>
        <p:txBody>
          <a:bodyPr/>
          <a:lstStyle/>
          <a:p>
            <a:pPr algn="ctr"/>
            <a:r>
              <a:rPr lang="en-US" altLang="zh-CN" sz="3600" dirty="0"/>
              <a:t>ICMP </a:t>
            </a:r>
            <a:r>
              <a:rPr lang="zh-CN" altLang="en-US" sz="3600" dirty="0"/>
              <a:t>差错报告报文的数据字段的内容 </a:t>
            </a:r>
          </a:p>
        </p:txBody>
      </p:sp>
      <p:sp>
        <p:nvSpPr>
          <p:cNvPr id="541698" name="Rectangle 2"/>
          <p:cNvSpPr>
            <a:spLocks noChangeArrowheads="1"/>
          </p:cNvSpPr>
          <p:nvPr/>
        </p:nvSpPr>
        <p:spPr bwMode="auto">
          <a:xfrm>
            <a:off x="662260" y="4195216"/>
            <a:ext cx="4531651" cy="596900"/>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00" name="Rectangle 4"/>
          <p:cNvSpPr>
            <a:spLocks noChangeArrowheads="1"/>
          </p:cNvSpPr>
          <p:nvPr/>
        </p:nvSpPr>
        <p:spPr bwMode="auto">
          <a:xfrm>
            <a:off x="209954" y="261037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solidFill>
                <a:srgbClr val="0000CC"/>
              </a:solidFill>
              <a:latin typeface="+mn-lt"/>
              <a:ea typeface="黑体" pitchFamily="2" charset="-122"/>
            </a:endParaRPr>
          </a:p>
        </p:txBody>
      </p:sp>
      <p:sp>
        <p:nvSpPr>
          <p:cNvPr id="541701" name="Rectangle 5"/>
          <p:cNvSpPr>
            <a:spLocks noChangeArrowheads="1"/>
          </p:cNvSpPr>
          <p:nvPr/>
        </p:nvSpPr>
        <p:spPr bwMode="auto">
          <a:xfrm>
            <a:off x="1412089" y="4195216"/>
            <a:ext cx="3781821" cy="59690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02" name="Line 6"/>
          <p:cNvSpPr>
            <a:spLocks noChangeShapeType="1"/>
          </p:cNvSpPr>
          <p:nvPr/>
        </p:nvSpPr>
        <p:spPr bwMode="auto">
          <a:xfrm>
            <a:off x="662260" y="5001667"/>
            <a:ext cx="4531651" cy="20637"/>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03" name="Text Box 7"/>
          <p:cNvSpPr txBox="1">
            <a:spLocks noChangeArrowheads="1"/>
          </p:cNvSpPr>
          <p:nvPr/>
        </p:nvSpPr>
        <p:spPr bwMode="auto">
          <a:xfrm>
            <a:off x="691800" y="4323803"/>
            <a:ext cx="69762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kumimoji="1" lang="zh-CN" altLang="en-US" sz="2000" b="1">
                <a:solidFill>
                  <a:srgbClr val="0000CC"/>
                </a:solidFill>
                <a:latin typeface="+mn-lt"/>
                <a:ea typeface="黑体" pitchFamily="2" charset="-122"/>
              </a:rPr>
              <a:t>首部</a:t>
            </a:r>
          </a:p>
        </p:txBody>
      </p:sp>
      <p:sp>
        <p:nvSpPr>
          <p:cNvPr id="541704" name="Line 8"/>
          <p:cNvSpPr>
            <a:spLocks noChangeShapeType="1"/>
          </p:cNvSpPr>
          <p:nvPr/>
        </p:nvSpPr>
        <p:spPr bwMode="auto">
          <a:xfrm>
            <a:off x="1412089" y="4195216"/>
            <a:ext cx="0" cy="596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05" name="Rectangle 9"/>
          <p:cNvSpPr>
            <a:spLocks noChangeArrowheads="1"/>
          </p:cNvSpPr>
          <p:nvPr/>
        </p:nvSpPr>
        <p:spPr bwMode="auto">
          <a:xfrm>
            <a:off x="2342496" y="4850853"/>
            <a:ext cx="1214173" cy="311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06" name="Text Box 10"/>
          <p:cNvSpPr txBox="1">
            <a:spLocks noChangeArrowheads="1"/>
          </p:cNvSpPr>
          <p:nvPr/>
        </p:nvSpPr>
        <p:spPr bwMode="auto">
          <a:xfrm>
            <a:off x="2285743" y="4773067"/>
            <a:ext cx="12668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数据报</a:t>
            </a:r>
          </a:p>
        </p:txBody>
      </p:sp>
      <p:sp>
        <p:nvSpPr>
          <p:cNvPr id="541707" name="Rectangle 11"/>
          <p:cNvSpPr>
            <a:spLocks noChangeArrowheads="1"/>
          </p:cNvSpPr>
          <p:nvPr/>
        </p:nvSpPr>
        <p:spPr bwMode="auto">
          <a:xfrm>
            <a:off x="1412089" y="3174454"/>
            <a:ext cx="3781821" cy="607000"/>
          </a:xfrm>
          <a:prstGeom prst="rect">
            <a:avLst/>
          </a:prstGeom>
          <a:solidFill>
            <a:srgbClr val="DDDDDD"/>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08" name="Rectangle 12"/>
          <p:cNvSpPr>
            <a:spLocks noChangeArrowheads="1"/>
          </p:cNvSpPr>
          <p:nvPr/>
        </p:nvSpPr>
        <p:spPr bwMode="auto">
          <a:xfrm>
            <a:off x="1412089" y="3174454"/>
            <a:ext cx="3781821" cy="595313"/>
          </a:xfrm>
          <a:prstGeom prst="rect">
            <a:avLst/>
          </a:prstGeom>
          <a:solidFill>
            <a:srgbClr val="CCECFF"/>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09" name="Text Box 13"/>
          <p:cNvSpPr txBox="1">
            <a:spLocks noChangeArrowheads="1"/>
          </p:cNvSpPr>
          <p:nvPr/>
        </p:nvSpPr>
        <p:spPr bwMode="auto">
          <a:xfrm>
            <a:off x="1495018" y="3196679"/>
            <a:ext cx="12426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kumimoji="1" lang="en-US" altLang="zh-CN" sz="2000" b="1">
                <a:solidFill>
                  <a:srgbClr val="0000CC"/>
                </a:solidFill>
                <a:latin typeface="+mn-lt"/>
                <a:ea typeface="黑体" pitchFamily="2" charset="-122"/>
              </a:rPr>
              <a:t>ICMP </a:t>
            </a:r>
            <a:r>
              <a:rPr kumimoji="1" lang="zh-CN" altLang="en-US" sz="2000" b="1">
                <a:solidFill>
                  <a:srgbClr val="0000CC"/>
                </a:solidFill>
                <a:latin typeface="+mn-lt"/>
                <a:ea typeface="黑体" pitchFamily="2" charset="-122"/>
              </a:rPr>
              <a:t>的</a:t>
            </a:r>
          </a:p>
          <a:p>
            <a:pPr algn="ctr">
              <a:lnSpc>
                <a:spcPct val="80000"/>
              </a:lnSpc>
            </a:pPr>
            <a:r>
              <a:rPr kumimoji="1" lang="zh-CN" altLang="en-US" sz="2000" b="1">
                <a:solidFill>
                  <a:srgbClr val="0000CC"/>
                </a:solidFill>
                <a:latin typeface="+mn-lt"/>
                <a:ea typeface="黑体" pitchFamily="2" charset="-122"/>
              </a:rPr>
              <a:t>前 </a:t>
            </a:r>
            <a:r>
              <a:rPr kumimoji="1" lang="en-US" altLang="zh-CN" sz="2000" b="1">
                <a:solidFill>
                  <a:srgbClr val="0000CC"/>
                </a:solidFill>
                <a:latin typeface="+mn-lt"/>
                <a:ea typeface="黑体" pitchFamily="2" charset="-122"/>
              </a:rPr>
              <a:t>8 </a:t>
            </a:r>
            <a:r>
              <a:rPr kumimoji="1" lang="zh-CN" altLang="en-US" sz="2000" b="1">
                <a:solidFill>
                  <a:srgbClr val="0000CC"/>
                </a:solidFill>
                <a:latin typeface="+mn-lt"/>
                <a:ea typeface="黑体" pitchFamily="2" charset="-122"/>
              </a:rPr>
              <a:t>字节</a:t>
            </a:r>
          </a:p>
        </p:txBody>
      </p:sp>
      <p:sp>
        <p:nvSpPr>
          <p:cNvPr id="541710" name="Line 14"/>
          <p:cNvSpPr>
            <a:spLocks noChangeShapeType="1"/>
          </p:cNvSpPr>
          <p:nvPr/>
        </p:nvSpPr>
        <p:spPr bwMode="auto">
          <a:xfrm>
            <a:off x="2794801" y="3174454"/>
            <a:ext cx="0" cy="5953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11" name="Text Box 15"/>
          <p:cNvSpPr txBox="1">
            <a:spLocks noChangeArrowheads="1"/>
          </p:cNvSpPr>
          <p:nvPr/>
        </p:nvSpPr>
        <p:spPr bwMode="auto">
          <a:xfrm>
            <a:off x="5297520" y="4293642"/>
            <a:ext cx="40479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C00000"/>
                </a:solidFill>
                <a:latin typeface="+mn-lt"/>
                <a:ea typeface="黑体" pitchFamily="2" charset="-122"/>
              </a:rPr>
              <a:t>装入 </a:t>
            </a:r>
            <a:r>
              <a:rPr kumimoji="1" lang="en-US" altLang="zh-CN" sz="2400" b="1">
                <a:solidFill>
                  <a:srgbClr val="C00000"/>
                </a:solidFill>
                <a:latin typeface="+mn-lt"/>
                <a:ea typeface="黑体" pitchFamily="2" charset="-122"/>
              </a:rPr>
              <a:t>ICMP </a:t>
            </a:r>
            <a:r>
              <a:rPr kumimoji="1" lang="zh-CN" altLang="en-US" sz="2400" b="1">
                <a:solidFill>
                  <a:srgbClr val="C00000"/>
                </a:solidFill>
                <a:latin typeface="+mn-lt"/>
                <a:ea typeface="黑体" pitchFamily="2" charset="-122"/>
              </a:rPr>
              <a:t>报文的 </a:t>
            </a:r>
            <a:r>
              <a:rPr kumimoji="1" lang="en-US" altLang="zh-CN" sz="2400" b="1">
                <a:solidFill>
                  <a:srgbClr val="C00000"/>
                </a:solidFill>
                <a:latin typeface="+mn-lt"/>
                <a:ea typeface="黑体" pitchFamily="2" charset="-122"/>
              </a:rPr>
              <a:t>IP </a:t>
            </a:r>
            <a:r>
              <a:rPr kumimoji="1" lang="zh-CN" altLang="en-US" sz="2400" b="1">
                <a:solidFill>
                  <a:srgbClr val="C00000"/>
                </a:solidFill>
                <a:latin typeface="+mn-lt"/>
                <a:ea typeface="黑体" pitchFamily="2" charset="-122"/>
              </a:rPr>
              <a:t>数据报</a:t>
            </a:r>
          </a:p>
        </p:txBody>
      </p:sp>
      <p:sp>
        <p:nvSpPr>
          <p:cNvPr id="541712" name="Rectangle 16"/>
          <p:cNvSpPr>
            <a:spLocks noChangeArrowheads="1"/>
          </p:cNvSpPr>
          <p:nvPr/>
        </p:nvSpPr>
        <p:spPr bwMode="auto">
          <a:xfrm>
            <a:off x="2794802" y="2152103"/>
            <a:ext cx="6550686" cy="596900"/>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13" name="Text Box 17"/>
          <p:cNvSpPr txBox="1">
            <a:spLocks noChangeArrowheads="1"/>
          </p:cNvSpPr>
          <p:nvPr/>
        </p:nvSpPr>
        <p:spPr bwMode="auto">
          <a:xfrm>
            <a:off x="2973961" y="2164804"/>
            <a:ext cx="12668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数据报</a:t>
            </a:r>
          </a:p>
          <a:p>
            <a:pPr algn="ctr">
              <a:lnSpc>
                <a:spcPct val="80000"/>
              </a:lnSpc>
            </a:pPr>
            <a:r>
              <a:rPr kumimoji="1" lang="zh-CN" altLang="en-US" sz="2000" b="1">
                <a:solidFill>
                  <a:srgbClr val="0000CC"/>
                </a:solidFill>
                <a:latin typeface="+mn-lt"/>
                <a:ea typeface="黑体" pitchFamily="2" charset="-122"/>
              </a:rPr>
              <a:t>首部</a:t>
            </a:r>
          </a:p>
        </p:txBody>
      </p:sp>
      <p:sp>
        <p:nvSpPr>
          <p:cNvPr id="541714" name="Line 18"/>
          <p:cNvSpPr>
            <a:spLocks noChangeShapeType="1"/>
          </p:cNvSpPr>
          <p:nvPr/>
        </p:nvSpPr>
        <p:spPr bwMode="auto">
          <a:xfrm>
            <a:off x="4547269" y="2152103"/>
            <a:ext cx="0" cy="596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15" name="Text Box 19"/>
          <p:cNvSpPr txBox="1">
            <a:spLocks noChangeArrowheads="1"/>
          </p:cNvSpPr>
          <p:nvPr/>
        </p:nvSpPr>
        <p:spPr bwMode="auto">
          <a:xfrm>
            <a:off x="5393828" y="3285579"/>
            <a:ext cx="28897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ICMP </a:t>
            </a:r>
            <a:r>
              <a:rPr kumimoji="1" lang="zh-CN" altLang="en-US" sz="2400" b="1" dirty="0">
                <a:solidFill>
                  <a:srgbClr val="C00000"/>
                </a:solidFill>
                <a:latin typeface="+mn-lt"/>
                <a:ea typeface="黑体" pitchFamily="2" charset="-122"/>
              </a:rPr>
              <a:t>差错报告报文</a:t>
            </a:r>
          </a:p>
        </p:txBody>
      </p:sp>
      <p:sp>
        <p:nvSpPr>
          <p:cNvPr id="541716" name="Text Box 20"/>
          <p:cNvSpPr txBox="1">
            <a:spLocks noChangeArrowheads="1"/>
          </p:cNvSpPr>
          <p:nvPr/>
        </p:nvSpPr>
        <p:spPr bwMode="auto">
          <a:xfrm>
            <a:off x="4540694" y="2156867"/>
            <a:ext cx="6976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kumimoji="1" lang="en-US" altLang="zh-CN" sz="2000" b="1">
                <a:solidFill>
                  <a:srgbClr val="0000CC"/>
                </a:solidFill>
                <a:latin typeface="+mn-lt"/>
                <a:ea typeface="黑体" pitchFamily="2" charset="-122"/>
              </a:rPr>
              <a:t>8</a:t>
            </a:r>
          </a:p>
          <a:p>
            <a:pPr algn="ctr">
              <a:lnSpc>
                <a:spcPct val="80000"/>
              </a:lnSpc>
            </a:pPr>
            <a:r>
              <a:rPr kumimoji="1" lang="zh-CN" altLang="en-US" sz="2000" b="1">
                <a:solidFill>
                  <a:srgbClr val="0000CC"/>
                </a:solidFill>
                <a:latin typeface="+mn-lt"/>
                <a:ea typeface="黑体" pitchFamily="2" charset="-122"/>
              </a:rPr>
              <a:t>字节</a:t>
            </a:r>
          </a:p>
        </p:txBody>
      </p:sp>
      <p:sp>
        <p:nvSpPr>
          <p:cNvPr id="541717" name="Line 21"/>
          <p:cNvSpPr>
            <a:spLocks noChangeShapeType="1"/>
          </p:cNvSpPr>
          <p:nvPr/>
        </p:nvSpPr>
        <p:spPr bwMode="auto">
          <a:xfrm>
            <a:off x="5193910" y="2152103"/>
            <a:ext cx="0" cy="5969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18" name="Text Box 22"/>
          <p:cNvSpPr txBox="1">
            <a:spLocks noChangeArrowheads="1"/>
          </p:cNvSpPr>
          <p:nvPr/>
        </p:nvSpPr>
        <p:spPr bwMode="auto">
          <a:xfrm>
            <a:off x="560792" y="2204492"/>
            <a:ext cx="21116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收到的 </a:t>
            </a:r>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数据报</a:t>
            </a:r>
          </a:p>
        </p:txBody>
      </p:sp>
      <p:sp>
        <p:nvSpPr>
          <p:cNvPr id="541719" name="Line 23"/>
          <p:cNvSpPr>
            <a:spLocks noChangeShapeType="1"/>
          </p:cNvSpPr>
          <p:nvPr/>
        </p:nvSpPr>
        <p:spPr bwMode="auto">
          <a:xfrm>
            <a:off x="5193910" y="2749003"/>
            <a:ext cx="0" cy="4254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41720" name="Line 24"/>
          <p:cNvSpPr>
            <a:spLocks noChangeShapeType="1"/>
          </p:cNvSpPr>
          <p:nvPr/>
        </p:nvSpPr>
        <p:spPr bwMode="auto">
          <a:xfrm>
            <a:off x="4547269" y="3174454"/>
            <a:ext cx="0" cy="59531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21" name="Text Box 25"/>
          <p:cNvSpPr txBox="1">
            <a:spLocks noChangeArrowheads="1"/>
          </p:cNvSpPr>
          <p:nvPr/>
        </p:nvSpPr>
        <p:spPr bwMode="auto">
          <a:xfrm>
            <a:off x="2973961" y="3196679"/>
            <a:ext cx="12668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数据报</a:t>
            </a:r>
          </a:p>
          <a:p>
            <a:pPr algn="ctr">
              <a:lnSpc>
                <a:spcPct val="80000"/>
              </a:lnSpc>
            </a:pPr>
            <a:r>
              <a:rPr kumimoji="1" lang="zh-CN" altLang="en-US" sz="2000" b="1">
                <a:solidFill>
                  <a:srgbClr val="0000CC"/>
                </a:solidFill>
                <a:latin typeface="+mn-lt"/>
                <a:ea typeface="黑体" pitchFamily="2" charset="-122"/>
              </a:rPr>
              <a:t>首部</a:t>
            </a:r>
          </a:p>
        </p:txBody>
      </p:sp>
      <p:sp>
        <p:nvSpPr>
          <p:cNvPr id="541722" name="Text Box 26"/>
          <p:cNvSpPr txBox="1">
            <a:spLocks noChangeArrowheads="1"/>
          </p:cNvSpPr>
          <p:nvPr/>
        </p:nvSpPr>
        <p:spPr bwMode="auto">
          <a:xfrm>
            <a:off x="4549293" y="3196679"/>
            <a:ext cx="6976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kumimoji="1" lang="en-US" altLang="zh-CN" sz="2000" b="1">
                <a:solidFill>
                  <a:srgbClr val="0000CC"/>
                </a:solidFill>
                <a:latin typeface="+mn-lt"/>
                <a:ea typeface="黑体" pitchFamily="2" charset="-122"/>
              </a:rPr>
              <a:t>8</a:t>
            </a:r>
          </a:p>
          <a:p>
            <a:pPr algn="ctr">
              <a:lnSpc>
                <a:spcPct val="80000"/>
              </a:lnSpc>
            </a:pPr>
            <a:r>
              <a:rPr kumimoji="1" lang="zh-CN" altLang="en-US" sz="2000" b="1">
                <a:solidFill>
                  <a:srgbClr val="0000CC"/>
                </a:solidFill>
                <a:latin typeface="+mn-lt"/>
                <a:ea typeface="黑体" pitchFamily="2" charset="-122"/>
              </a:rPr>
              <a:t>字节</a:t>
            </a:r>
          </a:p>
        </p:txBody>
      </p:sp>
      <p:sp>
        <p:nvSpPr>
          <p:cNvPr id="541723" name="AutoShape 27"/>
          <p:cNvSpPr>
            <a:spLocks noChangeArrowheads="1"/>
          </p:cNvSpPr>
          <p:nvPr/>
        </p:nvSpPr>
        <p:spPr bwMode="auto">
          <a:xfrm>
            <a:off x="3441444" y="2720428"/>
            <a:ext cx="276886" cy="509588"/>
          </a:xfrm>
          <a:prstGeom prst="downArrow">
            <a:avLst>
              <a:gd name="adj1" fmla="val 47222"/>
              <a:gd name="adj2" fmla="val 10301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CC"/>
              </a:solidFill>
              <a:latin typeface="+mn-lt"/>
              <a:ea typeface="黑体" pitchFamily="2" charset="-122"/>
            </a:endParaRPr>
          </a:p>
        </p:txBody>
      </p:sp>
      <p:sp>
        <p:nvSpPr>
          <p:cNvPr id="541724" name="AutoShape 28"/>
          <p:cNvSpPr>
            <a:spLocks noChangeArrowheads="1"/>
          </p:cNvSpPr>
          <p:nvPr/>
        </p:nvSpPr>
        <p:spPr bwMode="auto">
          <a:xfrm>
            <a:off x="4763962" y="2720428"/>
            <a:ext cx="275167" cy="509588"/>
          </a:xfrm>
          <a:prstGeom prst="downArrow">
            <a:avLst>
              <a:gd name="adj1" fmla="val 47222"/>
              <a:gd name="adj2" fmla="val 10365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CC"/>
              </a:solidFill>
              <a:latin typeface="+mn-lt"/>
              <a:ea typeface="黑体" pitchFamily="2" charset="-122"/>
            </a:endParaRPr>
          </a:p>
        </p:txBody>
      </p:sp>
      <p:sp>
        <p:nvSpPr>
          <p:cNvPr id="541725" name="Text Box 29"/>
          <p:cNvSpPr txBox="1">
            <a:spLocks noChangeArrowheads="1"/>
          </p:cNvSpPr>
          <p:nvPr/>
        </p:nvSpPr>
        <p:spPr bwMode="auto">
          <a:xfrm>
            <a:off x="2109165" y="4323803"/>
            <a:ext cx="243066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kumimoji="1" lang="en-US" altLang="zh-CN" sz="2000" b="1">
                <a:solidFill>
                  <a:srgbClr val="0000CC"/>
                </a:solidFill>
                <a:latin typeface="+mn-lt"/>
                <a:ea typeface="黑体" pitchFamily="2" charset="-122"/>
              </a:rPr>
              <a:t>ICMP </a:t>
            </a:r>
            <a:r>
              <a:rPr kumimoji="1" lang="zh-CN" altLang="en-US" sz="2000" b="1">
                <a:solidFill>
                  <a:srgbClr val="0000CC"/>
                </a:solidFill>
                <a:latin typeface="+mn-lt"/>
                <a:ea typeface="黑体" pitchFamily="2" charset="-122"/>
              </a:rPr>
              <a:t>差错报告报文</a:t>
            </a:r>
          </a:p>
        </p:txBody>
      </p:sp>
      <p:sp>
        <p:nvSpPr>
          <p:cNvPr id="541726" name="Text Box 30"/>
          <p:cNvSpPr txBox="1">
            <a:spLocks noChangeArrowheads="1"/>
          </p:cNvSpPr>
          <p:nvPr/>
        </p:nvSpPr>
        <p:spPr bwMode="auto">
          <a:xfrm>
            <a:off x="5611820" y="1556792"/>
            <a:ext cx="26388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数据报的数据字段</a:t>
            </a:r>
          </a:p>
        </p:txBody>
      </p:sp>
      <p:sp>
        <p:nvSpPr>
          <p:cNvPr id="541727" name="AutoShape 31"/>
          <p:cNvSpPr>
            <a:spLocks/>
          </p:cNvSpPr>
          <p:nvPr/>
        </p:nvSpPr>
        <p:spPr bwMode="auto">
          <a:xfrm rot="5400000">
            <a:off x="6815013" y="-371228"/>
            <a:ext cx="169862" cy="4705350"/>
          </a:xfrm>
          <a:prstGeom prst="leftBrace">
            <a:avLst>
              <a:gd name="adj1" fmla="val 213085"/>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41728" name="Line 32"/>
          <p:cNvSpPr>
            <a:spLocks noChangeShapeType="1"/>
          </p:cNvSpPr>
          <p:nvPr/>
        </p:nvSpPr>
        <p:spPr bwMode="auto">
          <a:xfrm>
            <a:off x="2794801" y="2749003"/>
            <a:ext cx="0" cy="4254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41729" name="Line 33"/>
          <p:cNvSpPr>
            <a:spLocks noChangeShapeType="1"/>
          </p:cNvSpPr>
          <p:nvPr/>
        </p:nvSpPr>
        <p:spPr bwMode="auto">
          <a:xfrm>
            <a:off x="1412089" y="3769766"/>
            <a:ext cx="0" cy="4254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41730" name="Line 34"/>
          <p:cNvSpPr>
            <a:spLocks noChangeShapeType="1"/>
          </p:cNvSpPr>
          <p:nvPr/>
        </p:nvSpPr>
        <p:spPr bwMode="auto">
          <a:xfrm>
            <a:off x="5193910" y="3769766"/>
            <a:ext cx="0" cy="4254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41731" name="AutoShape 35"/>
          <p:cNvSpPr>
            <a:spLocks noChangeArrowheads="1"/>
          </p:cNvSpPr>
          <p:nvPr/>
        </p:nvSpPr>
        <p:spPr bwMode="auto">
          <a:xfrm>
            <a:off x="3255706" y="3744367"/>
            <a:ext cx="278606" cy="511175"/>
          </a:xfrm>
          <a:prstGeom prst="downArrow">
            <a:avLst>
              <a:gd name="adj1" fmla="val 47222"/>
              <a:gd name="adj2" fmla="val 10269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CC"/>
              </a:solidFill>
              <a:latin typeface="+mn-lt"/>
              <a:ea typeface="黑体" pitchFamily="2" charset="-122"/>
            </a:endParaRPr>
          </a:p>
        </p:txBody>
      </p:sp>
    </p:spTree>
    <p:extLst>
      <p:ext uri="{BB962C8B-B14F-4D97-AF65-F5344CB8AC3E}">
        <p14:creationId xmlns:p14="http://schemas.microsoft.com/office/powerpoint/2010/main" val="13686075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a:xfrm>
            <a:off x="495300" y="188640"/>
            <a:ext cx="8562156" cy="792088"/>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zh-CN" altLang="en-US" sz="3600" dirty="0"/>
              <a:t>不应发送 </a:t>
            </a:r>
            <a:r>
              <a:rPr lang="en-US" altLang="zh-CN" sz="3600" dirty="0"/>
              <a:t>ICMP </a:t>
            </a:r>
            <a:r>
              <a:rPr lang="zh-CN" altLang="en-US" sz="3600" dirty="0"/>
              <a:t>差错报告报文的几种情况 </a:t>
            </a:r>
          </a:p>
        </p:txBody>
      </p:sp>
      <p:sp>
        <p:nvSpPr>
          <p:cNvPr id="542723" name="Rectangle 3"/>
          <p:cNvSpPr>
            <a:spLocks noGrp="1" noChangeArrowheads="1"/>
          </p:cNvSpPr>
          <p:nvPr>
            <p:ph idx="1"/>
          </p:nvPr>
        </p:nvSpPr>
        <p:spPr/>
        <p:txBody>
          <a:bodyPr/>
          <a:lstStyle/>
          <a:p>
            <a:pPr algn="just"/>
            <a:r>
              <a:rPr lang="zh-CN" altLang="en-US" dirty="0"/>
              <a:t>对 </a:t>
            </a:r>
            <a:r>
              <a:rPr lang="en-US" altLang="zh-CN" dirty="0"/>
              <a:t>ICMP </a:t>
            </a:r>
            <a:r>
              <a:rPr lang="zh-CN" altLang="en-US" dirty="0"/>
              <a:t>差错报告报文不再发送 </a:t>
            </a:r>
            <a:r>
              <a:rPr lang="en-US" altLang="zh-CN" dirty="0"/>
              <a:t>ICMP </a:t>
            </a:r>
            <a:r>
              <a:rPr lang="zh-CN" altLang="en-US" dirty="0"/>
              <a:t>差错报告报文。</a:t>
            </a:r>
          </a:p>
          <a:p>
            <a:pPr algn="just"/>
            <a:r>
              <a:rPr lang="zh-CN" altLang="en-US" dirty="0"/>
              <a:t>对第一个分片的数据报片的所有后续数据报片都不发送 </a:t>
            </a:r>
            <a:r>
              <a:rPr lang="en-US" altLang="zh-CN" dirty="0"/>
              <a:t>ICMP </a:t>
            </a:r>
            <a:r>
              <a:rPr lang="zh-CN" altLang="en-US" dirty="0"/>
              <a:t>差错报告报文。</a:t>
            </a:r>
          </a:p>
          <a:p>
            <a:pPr algn="just"/>
            <a:r>
              <a:rPr lang="zh-CN" altLang="en-US" dirty="0"/>
              <a:t>对具有多播地址的数据报都不发送 </a:t>
            </a:r>
            <a:r>
              <a:rPr lang="en-US" altLang="zh-CN" dirty="0"/>
              <a:t>ICMP </a:t>
            </a:r>
            <a:r>
              <a:rPr lang="zh-CN" altLang="en-US" dirty="0"/>
              <a:t>差错报告报文。</a:t>
            </a:r>
          </a:p>
          <a:p>
            <a:pPr algn="just"/>
            <a:r>
              <a:rPr lang="zh-CN" altLang="en-US" dirty="0"/>
              <a:t>对具有特殊地址（如</a:t>
            </a:r>
            <a:r>
              <a:rPr lang="en-US" altLang="zh-CN" dirty="0"/>
              <a:t>127.0.0.0 </a:t>
            </a:r>
            <a:r>
              <a:rPr lang="zh-CN" altLang="en-US" dirty="0"/>
              <a:t>或 </a:t>
            </a:r>
            <a:r>
              <a:rPr lang="en-US" altLang="zh-CN" dirty="0"/>
              <a:t>0.0.0.0</a:t>
            </a:r>
            <a:r>
              <a:rPr lang="zh-CN" altLang="en-US" dirty="0"/>
              <a:t>）的数据报不发送 </a:t>
            </a:r>
            <a:r>
              <a:rPr lang="en-US" altLang="zh-CN" dirty="0"/>
              <a:t>ICMP </a:t>
            </a:r>
            <a:r>
              <a:rPr lang="zh-CN" altLang="en-US" dirty="0"/>
              <a:t>差错报告报文。</a:t>
            </a:r>
          </a:p>
        </p:txBody>
      </p:sp>
    </p:spTree>
    <p:extLst>
      <p:ext uri="{BB962C8B-B14F-4D97-AF65-F5344CB8AC3E}">
        <p14:creationId xmlns:p14="http://schemas.microsoft.com/office/powerpoint/2010/main" val="33752369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pPr algn="ctr"/>
            <a:r>
              <a:rPr lang="en-US" altLang="zh-CN" dirty="0"/>
              <a:t>ICMP </a:t>
            </a:r>
            <a:r>
              <a:rPr lang="zh-CN" altLang="en-US" dirty="0"/>
              <a:t>询问报文有两种 </a:t>
            </a:r>
          </a:p>
        </p:txBody>
      </p:sp>
      <p:sp>
        <p:nvSpPr>
          <p:cNvPr id="543747" name="Rectangle 3"/>
          <p:cNvSpPr>
            <a:spLocks noGrp="1" noChangeArrowheads="1"/>
          </p:cNvSpPr>
          <p:nvPr>
            <p:ph idx="1"/>
          </p:nvPr>
        </p:nvSpPr>
        <p:spPr/>
        <p:txBody>
          <a:bodyPr/>
          <a:lstStyle/>
          <a:p>
            <a:pPr algn="just"/>
            <a:r>
              <a:rPr lang="zh-CN" altLang="en-US" dirty="0"/>
              <a:t>回送请求</a:t>
            </a:r>
            <a:r>
              <a:rPr lang="en-US" altLang="zh-CN" dirty="0"/>
              <a:t>(8)</a:t>
            </a:r>
            <a:r>
              <a:rPr lang="zh-CN" altLang="en-US" dirty="0"/>
              <a:t>和回答</a:t>
            </a:r>
            <a:r>
              <a:rPr lang="en-US" altLang="zh-CN" dirty="0"/>
              <a:t>(0)</a:t>
            </a:r>
            <a:r>
              <a:rPr lang="zh-CN" altLang="en-US" dirty="0"/>
              <a:t>    </a:t>
            </a:r>
          </a:p>
          <a:p>
            <a:pPr algn="just"/>
            <a:r>
              <a:rPr lang="zh-CN" altLang="en-US" dirty="0"/>
              <a:t>时间戳请求</a:t>
            </a:r>
            <a:r>
              <a:rPr lang="en-US" altLang="zh-CN" dirty="0"/>
              <a:t>(13)</a:t>
            </a:r>
            <a:r>
              <a:rPr lang="zh-CN" altLang="en-US" dirty="0"/>
              <a:t>和回答</a:t>
            </a:r>
            <a:r>
              <a:rPr lang="en-US" altLang="zh-CN" dirty="0"/>
              <a:t>(14)</a:t>
            </a:r>
            <a:endParaRPr lang="en-US" altLang="zh-CN" sz="1600" dirty="0">
              <a:solidFill>
                <a:srgbClr val="FF0000"/>
              </a:solidFill>
            </a:endParaRPr>
          </a:p>
          <a:p>
            <a:pPr algn="just">
              <a:spcBef>
                <a:spcPts val="1800"/>
              </a:spcBef>
              <a:buFont typeface="Wingdings" pitchFamily="2" charset="2"/>
              <a:buNone/>
            </a:pPr>
            <a:r>
              <a:rPr lang="en-US" altLang="zh-CN" dirty="0">
                <a:solidFill>
                  <a:srgbClr val="FF0000"/>
                </a:solidFill>
              </a:rPr>
              <a:t>	</a:t>
            </a:r>
            <a:endParaRPr lang="zh-CN" altLang="en-US" dirty="0"/>
          </a:p>
        </p:txBody>
      </p:sp>
    </p:spTree>
    <p:extLst>
      <p:ext uri="{BB962C8B-B14F-4D97-AF65-F5344CB8AC3E}">
        <p14:creationId xmlns:p14="http://schemas.microsoft.com/office/powerpoint/2010/main" val="39955777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r>
              <a:rPr lang="en-US" altLang="zh-CN" dirty="0"/>
              <a:t>ICMP</a:t>
            </a:r>
            <a:r>
              <a:rPr lang="zh-CN" altLang="en-US" dirty="0"/>
              <a:t>：应用举例</a:t>
            </a:r>
            <a:endParaRPr lang="en-US" altLang="zh-CN" dirty="0"/>
          </a:p>
        </p:txBody>
      </p:sp>
      <p:sp>
        <p:nvSpPr>
          <p:cNvPr id="544771" name="Rectangle 3"/>
          <p:cNvSpPr>
            <a:spLocks noGrp="1" noChangeArrowheads="1"/>
          </p:cNvSpPr>
          <p:nvPr>
            <p:ph idx="1"/>
          </p:nvPr>
        </p:nvSpPr>
        <p:spPr/>
        <p:txBody>
          <a:bodyPr/>
          <a:lstStyle/>
          <a:p>
            <a:pPr marL="0" indent="0" algn="ctr">
              <a:buNone/>
            </a:pPr>
            <a:r>
              <a:rPr lang="en-US" altLang="zh-CN" sz="3600" dirty="0">
                <a:solidFill>
                  <a:srgbClr val="FF0000"/>
                </a:solidFill>
              </a:rPr>
              <a:t>PING (Packet </a:t>
            </a:r>
            <a:r>
              <a:rPr lang="en-US" altLang="zh-CN" sz="3600" dirty="0" err="1">
                <a:solidFill>
                  <a:srgbClr val="FF0000"/>
                </a:solidFill>
              </a:rPr>
              <a:t>InterNet</a:t>
            </a:r>
            <a:r>
              <a:rPr lang="en-US" altLang="zh-CN" sz="3600" dirty="0">
                <a:solidFill>
                  <a:srgbClr val="FF0000"/>
                </a:solidFill>
              </a:rPr>
              <a:t> Groper) </a:t>
            </a:r>
          </a:p>
          <a:p>
            <a:r>
              <a:rPr lang="en-US" altLang="zh-CN" dirty="0">
                <a:solidFill>
                  <a:srgbClr val="0000FF"/>
                </a:solidFill>
              </a:rPr>
              <a:t>PING </a:t>
            </a:r>
            <a:r>
              <a:rPr lang="zh-CN" altLang="en-US" dirty="0">
                <a:solidFill>
                  <a:srgbClr val="0000FF"/>
                </a:solidFill>
              </a:rPr>
              <a:t>用来测试两个主机之间的连通性。</a:t>
            </a:r>
          </a:p>
          <a:p>
            <a:r>
              <a:rPr lang="en-US" altLang="zh-CN" dirty="0"/>
              <a:t>PING </a:t>
            </a:r>
            <a:r>
              <a:rPr lang="zh-CN" altLang="en-US" dirty="0"/>
              <a:t>使用了 </a:t>
            </a:r>
            <a:r>
              <a:rPr lang="en-US" altLang="zh-CN" dirty="0"/>
              <a:t>ICMP </a:t>
            </a:r>
            <a:r>
              <a:rPr lang="zh-CN" altLang="en-US" dirty="0"/>
              <a:t>回送请求与回送回答报文。</a:t>
            </a:r>
          </a:p>
          <a:p>
            <a:r>
              <a:rPr lang="en-US" altLang="zh-CN" dirty="0"/>
              <a:t>PING </a:t>
            </a:r>
            <a:r>
              <a:rPr lang="zh-CN" altLang="en-US" dirty="0"/>
              <a:t>是应用层直接使用网络层 </a:t>
            </a:r>
            <a:r>
              <a:rPr lang="en-US" altLang="zh-CN" dirty="0"/>
              <a:t>ICMP </a:t>
            </a:r>
            <a:r>
              <a:rPr lang="zh-CN" altLang="en-US" dirty="0"/>
              <a:t>的例子。 </a:t>
            </a:r>
          </a:p>
        </p:txBody>
      </p:sp>
    </p:spTree>
    <p:extLst>
      <p:ext uri="{BB962C8B-B14F-4D97-AF65-F5344CB8AC3E}">
        <p14:creationId xmlns:p14="http://schemas.microsoft.com/office/powerpoint/2010/main" val="30047771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30" name="Rectangle 2"/>
          <p:cNvSpPr>
            <a:spLocks noGrp="1" noChangeArrowheads="1"/>
          </p:cNvSpPr>
          <p:nvPr>
            <p:ph type="title"/>
          </p:nvPr>
        </p:nvSpPr>
        <p:spPr/>
        <p:txBody>
          <a:bodyPr/>
          <a:lstStyle/>
          <a:p>
            <a:r>
              <a:rPr lang="en-US" altLang="zh-CN" dirty="0"/>
              <a:t>ICMP</a:t>
            </a:r>
            <a:r>
              <a:rPr lang="zh-CN" altLang="en-US" dirty="0"/>
              <a:t>：应用举例</a:t>
            </a:r>
          </a:p>
        </p:txBody>
      </p:sp>
      <p:sp>
        <p:nvSpPr>
          <p:cNvPr id="2" name="内容占位符 1"/>
          <p:cNvSpPr>
            <a:spLocks noGrp="1"/>
          </p:cNvSpPr>
          <p:nvPr>
            <p:ph idx="1"/>
          </p:nvPr>
        </p:nvSpPr>
        <p:spPr/>
        <p:txBody>
          <a:bodyPr/>
          <a:lstStyle/>
          <a:p>
            <a:pPr marL="0" indent="0" algn="ctr">
              <a:buNone/>
            </a:pPr>
            <a:r>
              <a:rPr lang="en-US" altLang="zh-CN" sz="3600" dirty="0" err="1">
                <a:solidFill>
                  <a:srgbClr val="FF0000"/>
                </a:solidFill>
              </a:rPr>
              <a:t>Traceroute</a:t>
            </a:r>
            <a:r>
              <a:rPr lang="en-US" altLang="zh-CN" sz="3600" dirty="0">
                <a:solidFill>
                  <a:srgbClr val="FF0000"/>
                </a:solidFill>
              </a:rPr>
              <a:t> </a:t>
            </a:r>
            <a:r>
              <a:rPr lang="zh-CN" altLang="en-US" sz="3600" dirty="0">
                <a:solidFill>
                  <a:srgbClr val="FF0000"/>
                </a:solidFill>
              </a:rPr>
              <a:t>的应用举例</a:t>
            </a:r>
            <a:endParaRPr lang="en-US" altLang="zh-CN" sz="3600" dirty="0">
              <a:solidFill>
                <a:srgbClr val="FF0000"/>
              </a:solidFill>
            </a:endParaRPr>
          </a:p>
          <a:p>
            <a:r>
              <a:rPr lang="zh-CN" altLang="zh-CN" dirty="0"/>
              <a:t>在</a:t>
            </a:r>
            <a:r>
              <a:rPr lang="en-US" altLang="zh-CN" dirty="0"/>
              <a:t> Windows </a:t>
            </a:r>
            <a:r>
              <a:rPr lang="zh-CN" altLang="zh-CN" dirty="0"/>
              <a:t>操作系统中这个命令是</a:t>
            </a:r>
            <a:r>
              <a:rPr lang="en-US" altLang="zh-CN" dirty="0"/>
              <a:t> </a:t>
            </a:r>
            <a:r>
              <a:rPr lang="en-US" altLang="zh-CN" dirty="0" err="1"/>
              <a:t>tracert</a:t>
            </a:r>
            <a:r>
              <a:rPr lang="zh-CN" altLang="en-US" dirty="0"/>
              <a:t>。</a:t>
            </a:r>
            <a:endParaRPr lang="en-US" altLang="zh-CN" dirty="0"/>
          </a:p>
          <a:p>
            <a:r>
              <a:rPr lang="zh-CN" altLang="zh-CN" dirty="0">
                <a:solidFill>
                  <a:srgbClr val="0000FF"/>
                </a:solidFill>
              </a:rPr>
              <a:t>用来跟踪一个分组从源点到终点的路径。</a:t>
            </a:r>
            <a:endParaRPr lang="en-US" altLang="zh-CN" dirty="0">
              <a:solidFill>
                <a:srgbClr val="0000FF"/>
              </a:solidFill>
            </a:endParaRPr>
          </a:p>
          <a:p>
            <a:r>
              <a:rPr lang="zh-CN" altLang="en-US" dirty="0"/>
              <a:t>它利用 </a:t>
            </a:r>
            <a:r>
              <a:rPr lang="en-US" altLang="zh-CN" dirty="0"/>
              <a:t>IP </a:t>
            </a:r>
            <a:r>
              <a:rPr lang="zh-CN" altLang="en-US" dirty="0"/>
              <a:t>数据报中的 </a:t>
            </a:r>
            <a:r>
              <a:rPr lang="en-US" altLang="zh-CN" dirty="0"/>
              <a:t>TTL </a:t>
            </a:r>
            <a:r>
              <a:rPr lang="zh-CN" altLang="en-US" dirty="0"/>
              <a:t>字段和 </a:t>
            </a:r>
            <a:r>
              <a:rPr lang="en-US" altLang="zh-CN" dirty="0"/>
              <a:t>ICMP</a:t>
            </a:r>
            <a:r>
              <a:rPr lang="zh-CN" altLang="zh-CN" dirty="0"/>
              <a:t>超时差错报告报文</a:t>
            </a:r>
            <a:r>
              <a:rPr lang="zh-CN" altLang="en-US" dirty="0"/>
              <a:t>实现对从</a:t>
            </a:r>
            <a:r>
              <a:rPr lang="zh-CN" altLang="zh-CN" dirty="0"/>
              <a:t>源点到终点的路径</a:t>
            </a:r>
            <a:r>
              <a:rPr lang="zh-CN" altLang="en-US" dirty="0"/>
              <a:t>的跟踪。</a:t>
            </a:r>
            <a:endParaRPr lang="en-US" altLang="zh-CN" dirty="0"/>
          </a:p>
          <a:p>
            <a:endParaRPr lang="zh-CN" altLang="en-US" dirty="0"/>
          </a:p>
        </p:txBody>
      </p:sp>
      <p:sp>
        <p:nvSpPr>
          <p:cNvPr id="995333" name="Rectangle 5"/>
          <p:cNvSpPr>
            <a:spLocks noChangeArrowheads="1"/>
          </p:cNvSpPr>
          <p:nvPr/>
        </p:nvSpPr>
        <p:spPr bwMode="auto">
          <a:xfrm>
            <a:off x="0" y="20632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38681991"/>
      </p:ext>
    </p:extLst>
  </p:cSld>
  <p:clrMapOvr>
    <a:masterClrMapping/>
  </p:clrMapOvr>
</p:sld>
</file>

<file path=ppt/theme/theme1.xml><?xml version="1.0" encoding="utf-8"?>
<a:theme xmlns:a="http://schemas.openxmlformats.org/drawingml/2006/main" name="CN(myzh)Ic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CN(myzh)Icon</Template>
  <TotalTime>1140</TotalTime>
  <Words>6525</Words>
  <Application>Microsoft Office PowerPoint</Application>
  <PresentationFormat>A4 纸张(210x297 毫米)</PresentationFormat>
  <Paragraphs>1312</Paragraphs>
  <Slides>81</Slides>
  <Notes>68</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81</vt:i4>
      </vt:variant>
    </vt:vector>
  </HeadingPairs>
  <TitlesOfParts>
    <vt:vector size="89" baseType="lpstr">
      <vt:lpstr>黑体</vt:lpstr>
      <vt:lpstr>宋体</vt:lpstr>
      <vt:lpstr>Arial</vt:lpstr>
      <vt:lpstr>Tahoma</vt:lpstr>
      <vt:lpstr>Times New Roman</vt:lpstr>
      <vt:lpstr>Wingdings</vt:lpstr>
      <vt:lpstr>CN(myzh)Icon</vt:lpstr>
      <vt:lpstr>Visio</vt:lpstr>
      <vt:lpstr>网络层（上）</vt:lpstr>
      <vt:lpstr>网络层（上）</vt:lpstr>
      <vt:lpstr>网络层（上）</vt:lpstr>
      <vt:lpstr>概述：两种服务之争 </vt:lpstr>
      <vt:lpstr>概述：网络提供数据报服务</vt:lpstr>
      <vt:lpstr>概述：尽最大努力交付</vt:lpstr>
      <vt:lpstr>概述：网络层的功能</vt:lpstr>
      <vt:lpstr>概述：网际协议 IP </vt:lpstr>
      <vt:lpstr>概述：网际层的 IP 协议及配套协议</vt:lpstr>
      <vt:lpstr>概述：网络互连设备与路由器（1） </vt:lpstr>
      <vt:lpstr>概述：网络互连设备与路由器（2）</vt:lpstr>
      <vt:lpstr>概述：虚拟互连网络（1） </vt:lpstr>
      <vt:lpstr>概述：虚拟互连网络（2）</vt:lpstr>
      <vt:lpstr>PowerPoint 演示文稿</vt:lpstr>
      <vt:lpstr>网络层（上）</vt:lpstr>
      <vt:lpstr>IP 地址及其表示方法 </vt:lpstr>
      <vt:lpstr>IP 地址的编址方法 </vt:lpstr>
      <vt:lpstr>分类 IP 地址 </vt:lpstr>
      <vt:lpstr>分类 IP 地址 </vt:lpstr>
      <vt:lpstr>各类 IP 地址的网络号字段和主机号字段</vt:lpstr>
      <vt:lpstr>点分十进制记法 </vt:lpstr>
      <vt:lpstr>常用的三种类别的 IP 地址 </vt:lpstr>
      <vt:lpstr>一般不使用的特殊的 IP 地址</vt:lpstr>
      <vt:lpstr>采用分级IP地址的好处 </vt:lpstr>
      <vt:lpstr>多归属主机与路由器IP</vt:lpstr>
      <vt:lpstr>4.2.3  IP 地址与硬件地址</vt:lpstr>
      <vt:lpstr>网络层（上）</vt:lpstr>
      <vt:lpstr>地址解析协议 ARP：两个地址</vt:lpstr>
      <vt:lpstr>IP 地址与硬件地址</vt:lpstr>
      <vt:lpstr>PowerPoint 演示文稿</vt:lpstr>
      <vt:lpstr>地址解析协议 ARP 的作用</vt:lpstr>
      <vt:lpstr>地址解析协议 ARP 要点</vt:lpstr>
      <vt:lpstr>地址解析协议 ARP 要点</vt:lpstr>
      <vt:lpstr>地址解析协议 ARP 要点</vt:lpstr>
      <vt:lpstr>PowerPoint 演示文稿</vt:lpstr>
      <vt:lpstr>PowerPoint 演示文稿</vt:lpstr>
      <vt:lpstr>ARP 高速缓存的作用</vt:lpstr>
      <vt:lpstr>应当注意的问题</vt:lpstr>
      <vt:lpstr>使用 ARP 的四种典型情况 </vt:lpstr>
      <vt:lpstr>使用 ARP 的四种典型情况 </vt:lpstr>
      <vt:lpstr>网络层（上）</vt:lpstr>
      <vt:lpstr>4.2.5  IP 数据报的格式 </vt:lpstr>
      <vt:lpstr>PowerPoint 演示文稿</vt:lpstr>
      <vt:lpstr>PowerPoint 演示文稿</vt:lpstr>
      <vt:lpstr>PowerPoint 演示文稿</vt:lpstr>
      <vt:lpstr>1.  IP 数据报首部的固定部分中的各字段 </vt:lpstr>
      <vt:lpstr>1.  IP 数据报首部的固定部分中的各字段 </vt:lpstr>
      <vt:lpstr>1.  IP 数据报首部的固定部分中的各字段 </vt:lpstr>
      <vt:lpstr>1.  IP 数据报首部的固定部分中的各字段 </vt:lpstr>
      <vt:lpstr>1.  IP 数据报首部的固定部分中的各字段 </vt:lpstr>
      <vt:lpstr>1.  IP 数据报首部的固定部分中的各字段 </vt:lpstr>
      <vt:lpstr>1.  IP 数据报首部的固定部分中的各字段 </vt:lpstr>
      <vt:lpstr>【例4-1】 IP 数据报分片</vt:lpstr>
      <vt:lpstr>【例4-1】 IP 数据报分片</vt:lpstr>
      <vt:lpstr>【例4-1】 IP 数据报分片</vt:lpstr>
      <vt:lpstr>1.  IP 数据报首部的固定部分中的各字段 </vt:lpstr>
      <vt:lpstr>1.  IP 数据报首部的固定部分中的各字段 </vt:lpstr>
      <vt:lpstr>PowerPoint 演示文稿</vt:lpstr>
      <vt:lpstr>1.  IP 数据报首部的固定部分中的各字段 </vt:lpstr>
      <vt:lpstr>PowerPoint 演示文稿</vt:lpstr>
      <vt:lpstr>1.  IP 数据报首部的固定部分中的各字段 </vt:lpstr>
      <vt:lpstr>2.  IP 数据报首部的可变部分 </vt:lpstr>
      <vt:lpstr>网络层（上）</vt:lpstr>
      <vt:lpstr>IP 层转发分组的流程 </vt:lpstr>
      <vt:lpstr>PowerPoint 演示文稿</vt:lpstr>
      <vt:lpstr>查找路由表</vt:lpstr>
      <vt:lpstr>特定主机路由 </vt:lpstr>
      <vt:lpstr>默认路由 (default route)</vt:lpstr>
      <vt:lpstr>默认路由举例</vt:lpstr>
      <vt:lpstr>关于下一跳的地址 </vt:lpstr>
      <vt:lpstr>路由器分组转发算法 </vt:lpstr>
      <vt:lpstr>网络层（上）</vt:lpstr>
      <vt:lpstr>网际控制报文协议 ICMP</vt:lpstr>
      <vt:lpstr>ICMP 报文的格式 </vt:lpstr>
      <vt:lpstr>ICMP：报文的种类</vt:lpstr>
      <vt:lpstr>ICMP 差错报告报文共有 4 种 </vt:lpstr>
      <vt:lpstr>ICMP 差错报告报文的数据字段的内容 </vt:lpstr>
      <vt:lpstr>不应发送 ICMP 差错报告报文的几种情况 </vt:lpstr>
      <vt:lpstr>ICMP 询问报文有两种 </vt:lpstr>
      <vt:lpstr>ICMP：应用举例</vt:lpstr>
      <vt:lpstr>ICMP：应用举例</vt:lpstr>
    </vt:vector>
  </TitlesOfParts>
  <Manager/>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2 章  物理层</dc:title>
  <dc:subject/>
  <dc:creator>920</dc:creator>
  <cp:keywords/>
  <dc:description/>
  <cp:lastModifiedBy>admin</cp:lastModifiedBy>
  <cp:revision>56</cp:revision>
  <dcterms:created xsi:type="dcterms:W3CDTF">2016-10-04T02:36:21Z</dcterms:created>
  <dcterms:modified xsi:type="dcterms:W3CDTF">2023-03-19T17:21:18Z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ies>
</file>