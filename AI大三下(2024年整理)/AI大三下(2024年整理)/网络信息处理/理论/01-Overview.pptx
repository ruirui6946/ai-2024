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77"/>
  </p:notesMasterIdLst>
  <p:handoutMasterIdLst>
    <p:handoutMasterId r:id="rId78"/>
  </p:handoutMasterIdLst>
  <p:sldIdLst>
    <p:sldId id="256" r:id="rId2"/>
    <p:sldId id="257" r:id="rId3"/>
    <p:sldId id="426" r:id="rId4"/>
    <p:sldId id="416" r:id="rId5"/>
    <p:sldId id="258" r:id="rId6"/>
    <p:sldId id="419" r:id="rId7"/>
    <p:sldId id="420" r:id="rId8"/>
    <p:sldId id="427" r:id="rId9"/>
    <p:sldId id="271" r:id="rId10"/>
    <p:sldId id="272" r:id="rId11"/>
    <p:sldId id="275" r:id="rId12"/>
    <p:sldId id="276" r:id="rId13"/>
    <p:sldId id="279" r:id="rId14"/>
    <p:sldId id="280" r:id="rId15"/>
    <p:sldId id="281" r:id="rId16"/>
    <p:sldId id="283" r:id="rId17"/>
    <p:sldId id="286" r:id="rId18"/>
    <p:sldId id="287" r:id="rId19"/>
    <p:sldId id="288" r:id="rId20"/>
    <p:sldId id="428" r:id="rId21"/>
    <p:sldId id="290" r:id="rId22"/>
    <p:sldId id="291" r:id="rId23"/>
    <p:sldId id="292" r:id="rId24"/>
    <p:sldId id="294" r:id="rId25"/>
    <p:sldId id="302" r:id="rId26"/>
    <p:sldId id="422" r:id="rId27"/>
    <p:sldId id="421" r:id="rId28"/>
    <p:sldId id="423" r:id="rId29"/>
    <p:sldId id="424" r:id="rId30"/>
    <p:sldId id="315" r:id="rId31"/>
    <p:sldId id="325" r:id="rId32"/>
    <p:sldId id="326" r:id="rId33"/>
    <p:sldId id="328" r:id="rId34"/>
    <p:sldId id="429" r:id="rId35"/>
    <p:sldId id="397" r:id="rId36"/>
    <p:sldId id="398" r:id="rId37"/>
    <p:sldId id="399" r:id="rId38"/>
    <p:sldId id="400" r:id="rId39"/>
    <p:sldId id="401" r:id="rId40"/>
    <p:sldId id="402" r:id="rId41"/>
    <p:sldId id="403" r:id="rId42"/>
    <p:sldId id="404" r:id="rId43"/>
    <p:sldId id="405" r:id="rId44"/>
    <p:sldId id="406" r:id="rId45"/>
    <p:sldId id="408" r:id="rId46"/>
    <p:sldId id="409" r:id="rId47"/>
    <p:sldId id="410" r:id="rId48"/>
    <p:sldId id="411" r:id="rId49"/>
    <p:sldId id="412" r:id="rId50"/>
    <p:sldId id="430" r:id="rId51"/>
    <p:sldId id="343" r:id="rId52"/>
    <p:sldId id="344" r:id="rId53"/>
    <p:sldId id="425" r:id="rId54"/>
    <p:sldId id="345" r:id="rId55"/>
    <p:sldId id="347" r:id="rId56"/>
    <p:sldId id="348" r:id="rId57"/>
    <p:sldId id="350" r:id="rId58"/>
    <p:sldId id="355" r:id="rId59"/>
    <p:sldId id="356" r:id="rId60"/>
    <p:sldId id="359" r:id="rId61"/>
    <p:sldId id="360" r:id="rId62"/>
    <p:sldId id="361" r:id="rId63"/>
    <p:sldId id="374" r:id="rId64"/>
    <p:sldId id="381" r:id="rId65"/>
    <p:sldId id="382" r:id="rId66"/>
    <p:sldId id="383" r:id="rId67"/>
    <p:sldId id="384" r:id="rId68"/>
    <p:sldId id="385" r:id="rId69"/>
    <p:sldId id="386" r:id="rId70"/>
    <p:sldId id="387" r:id="rId71"/>
    <p:sldId id="388" r:id="rId72"/>
    <p:sldId id="389" r:id="rId73"/>
    <p:sldId id="390" r:id="rId74"/>
    <p:sldId id="391" r:id="rId75"/>
    <p:sldId id="392" r:id="rId76"/>
  </p:sldIdLst>
  <p:sldSz cx="9906000" cy="6858000" type="A4"/>
  <p:notesSz cx="7010400" cy="92964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FF"/>
    <a:srgbClr val="66FF66"/>
    <a:srgbClr val="0000CC"/>
    <a:srgbClr val="0000FF"/>
    <a:srgbClr val="FF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4129" autoAdjust="0"/>
    <p:restoredTop sz="88929" autoAdjust="0"/>
  </p:normalViewPr>
  <p:slideViewPr>
    <p:cSldViewPr>
      <p:cViewPr varScale="1">
        <p:scale>
          <a:sx n="90" d="100"/>
          <a:sy n="90" d="100"/>
        </p:scale>
        <p:origin x="1422" y="114"/>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56" d="100"/>
          <a:sy n="56" d="100"/>
        </p:scale>
        <p:origin x="-1830" y="-96"/>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E4C64EE1-592A-45A9-9E8D-8A110C604C90}" type="slidenum">
              <a:rPr lang="zh-CN" altLang="en-US"/>
              <a:pPr/>
              <a:t>‹#›</a:t>
            </a:fld>
            <a:endParaRPr lang="en-US" altLang="zh-CN"/>
          </a:p>
        </p:txBody>
      </p:sp>
    </p:spTree>
    <p:extLst>
      <p:ext uri="{BB962C8B-B14F-4D97-AF65-F5344CB8AC3E}">
        <p14:creationId xmlns:p14="http://schemas.microsoft.com/office/powerpoint/2010/main" val="343127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宋体"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宋体" pitchFamily="2" charset="-122"/>
              </a:defRPr>
            </a:lvl1pPr>
          </a:lstStyle>
          <a:p>
            <a:endParaRPr lang="en-US" altLang="zh-CN"/>
          </a:p>
        </p:txBody>
      </p:sp>
      <p:sp>
        <p:nvSpPr>
          <p:cNvPr id="23556" name="Rectangle 4"/>
          <p:cNvSpPr>
            <a:spLocks noGrp="1" noRot="1" noChangeAspect="1" noChangeArrowheads="1" noTextEdit="1"/>
          </p:cNvSpPr>
          <p:nvPr>
            <p:ph type="sldImg" idx="2"/>
          </p:nvPr>
        </p:nvSpPr>
        <p:spPr bwMode="auto">
          <a:xfrm>
            <a:off x="987425" y="696913"/>
            <a:ext cx="503555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en-US" altLang="zh-CN"/>
              <a:t>5656</a:t>
            </a:r>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宋体"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宋体" pitchFamily="2" charset="-122"/>
              </a:defRPr>
            </a:lvl1pPr>
          </a:lstStyle>
          <a:p>
            <a:fld id="{8DA2099C-E03D-4BEA-80BD-EC59252D8E32}" type="slidenum">
              <a:rPr lang="zh-CN" altLang="en-US"/>
              <a:pPr/>
              <a:t>‹#›</a:t>
            </a:fld>
            <a:endParaRPr lang="en-US" altLang="zh-CN"/>
          </a:p>
        </p:txBody>
      </p:sp>
    </p:spTree>
    <p:extLst>
      <p:ext uri="{BB962C8B-B14F-4D97-AF65-F5344CB8AC3E}">
        <p14:creationId xmlns:p14="http://schemas.microsoft.com/office/powerpoint/2010/main" val="21592848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itchFamily="2" charset="-122"/>
        <a:ea typeface="宋体" pitchFamily="2" charset="-122"/>
        <a:cs typeface="+mn-cs"/>
      </a:defRPr>
    </a:lvl1pPr>
    <a:lvl2pPr marL="457200" algn="l" rtl="0" fontAlgn="base">
      <a:spcBef>
        <a:spcPct val="30000"/>
      </a:spcBef>
      <a:spcAft>
        <a:spcPct val="0"/>
      </a:spcAft>
      <a:defRPr sz="1200" kern="1200">
        <a:solidFill>
          <a:schemeClr val="tx1"/>
        </a:solidFill>
        <a:latin typeface="宋体" pitchFamily="2" charset="-122"/>
        <a:ea typeface="宋体" pitchFamily="2" charset="-122"/>
        <a:cs typeface="+mn-cs"/>
      </a:defRPr>
    </a:lvl2pPr>
    <a:lvl3pPr marL="914400" algn="l" rtl="0" fontAlgn="base">
      <a:spcBef>
        <a:spcPct val="30000"/>
      </a:spcBef>
      <a:spcAft>
        <a:spcPct val="0"/>
      </a:spcAft>
      <a:defRPr sz="1200" kern="1200">
        <a:solidFill>
          <a:schemeClr val="tx1"/>
        </a:solidFill>
        <a:latin typeface="宋体" pitchFamily="2" charset="-122"/>
        <a:ea typeface="宋体" pitchFamily="2" charset="-122"/>
        <a:cs typeface="+mn-cs"/>
      </a:defRPr>
    </a:lvl3pPr>
    <a:lvl4pPr marL="1371600" algn="l" rtl="0" fontAlgn="base">
      <a:spcBef>
        <a:spcPct val="30000"/>
      </a:spcBef>
      <a:spcAft>
        <a:spcPct val="0"/>
      </a:spcAft>
      <a:defRPr sz="1200" kern="1200">
        <a:solidFill>
          <a:schemeClr val="tx1"/>
        </a:solidFill>
        <a:latin typeface="宋体" pitchFamily="2" charset="-122"/>
        <a:ea typeface="宋体" pitchFamily="2" charset="-122"/>
        <a:cs typeface="+mn-cs"/>
      </a:defRPr>
    </a:lvl4pPr>
    <a:lvl5pPr marL="1828800" algn="l" rtl="0" fontAlgn="base">
      <a:spcBef>
        <a:spcPct val="30000"/>
      </a:spcBef>
      <a:spcAft>
        <a:spcPct val="0"/>
      </a:spcAft>
      <a:defRPr sz="1200" kern="1200">
        <a:solidFill>
          <a:schemeClr val="tx1"/>
        </a:solidFill>
        <a:latin typeface="宋体" pitchFamily="2" charset="-122"/>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396C443-04BC-4639-B5F7-E14A7E3E0041}" type="slidenum">
              <a:rPr lang="zh-CN" altLang="en-US"/>
              <a:pPr/>
              <a:t>1</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36B3BC-51B1-4B04-9A42-62DAE4C32B5E}" type="slidenum">
              <a:rPr lang="en-US" altLang="zh-CN"/>
              <a:pPr/>
              <a:t>6</a:t>
            </a:fld>
            <a:endParaRPr lang="en-US" altLang="zh-CN"/>
          </a:p>
        </p:txBody>
      </p:sp>
      <p:sp>
        <p:nvSpPr>
          <p:cNvPr id="227330" name="Rectangle 2"/>
          <p:cNvSpPr>
            <a:spLocks noGrp="1" noRot="1" noChangeAspect="1" noChangeArrowheads="1" noTextEdit="1"/>
          </p:cNvSpPr>
          <p:nvPr>
            <p:ph type="sldImg"/>
          </p:nvPr>
        </p:nvSpPr>
        <p:spPr>
          <a:ln/>
        </p:spPr>
      </p:sp>
      <p:sp>
        <p:nvSpPr>
          <p:cNvPr id="22733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0128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5244FC-F90C-4ABE-BF34-B8442F8279E1}" type="slidenum">
              <a:rPr lang="en-US" altLang="zh-CN"/>
              <a:pPr/>
              <a:t>7</a:t>
            </a:fld>
            <a:endParaRPr lang="en-US" altLang="zh-CN"/>
          </a:p>
        </p:txBody>
      </p:sp>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4409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F8AF1-78D2-4088-8685-D3872DBCFFE3}" type="slidenum">
              <a:rPr lang="en-US" altLang="zh-CN"/>
              <a:pPr/>
              <a:t>13</a:t>
            </a:fld>
            <a:endParaRPr lang="en-US" altLang="zh-CN"/>
          </a:p>
        </p:txBody>
      </p:sp>
      <p:sp>
        <p:nvSpPr>
          <p:cNvPr id="305154" name="Rectangle 2"/>
          <p:cNvSpPr>
            <a:spLocks noGrp="1" noRot="1" noChangeAspect="1" noChangeArrowheads="1" noTextEdit="1"/>
          </p:cNvSpPr>
          <p:nvPr>
            <p:ph type="sldImg"/>
          </p:nvPr>
        </p:nvSpPr>
        <p:spPr>
          <a:ln/>
        </p:spPr>
      </p:sp>
      <p:sp>
        <p:nvSpPr>
          <p:cNvPr id="305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6F8AF1-78D2-4088-8685-D3872DBCFFE3}" type="slidenum">
              <a:rPr lang="en-US" altLang="zh-CN"/>
              <a:pPr/>
              <a:t>14</a:t>
            </a:fld>
            <a:endParaRPr lang="en-US" altLang="zh-CN"/>
          </a:p>
        </p:txBody>
      </p:sp>
      <p:sp>
        <p:nvSpPr>
          <p:cNvPr id="305154" name="Rectangle 2"/>
          <p:cNvSpPr>
            <a:spLocks noGrp="1" noRot="1" noChangeAspect="1" noChangeArrowheads="1" noTextEdit="1"/>
          </p:cNvSpPr>
          <p:nvPr>
            <p:ph type="sldImg"/>
          </p:nvPr>
        </p:nvSpPr>
        <p:spPr>
          <a:ln/>
        </p:spPr>
      </p:sp>
      <p:sp>
        <p:nvSpPr>
          <p:cNvPr id="3051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82DC04-060A-4333-91EC-476ECF23B24D}" type="slidenum">
              <a:rPr lang="en-US" altLang="zh-CN"/>
              <a:pPr/>
              <a:t>15</a:t>
            </a:fld>
            <a:endParaRPr lang="en-US" altLang="zh-CN"/>
          </a:p>
        </p:txBody>
      </p:sp>
      <p:sp>
        <p:nvSpPr>
          <p:cNvPr id="397314" name="Rectangle 2"/>
          <p:cNvSpPr>
            <a:spLocks noGrp="1" noRot="1" noChangeAspect="1" noChangeArrowheads="1" noTextEdit="1"/>
          </p:cNvSpPr>
          <p:nvPr>
            <p:ph type="sldImg"/>
          </p:nvPr>
        </p:nvSpPr>
        <p:spPr>
          <a:ln/>
        </p:spPr>
      </p:sp>
      <p:sp>
        <p:nvSpPr>
          <p:cNvPr id="39731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57AC52-D1C3-48EC-A81E-8D01F3F62898}" type="slidenum">
              <a:rPr lang="en-US" altLang="zh-CN"/>
              <a:pPr/>
              <a:t>16</a:t>
            </a:fld>
            <a:endParaRPr lang="en-US" altLang="zh-CN"/>
          </a:p>
        </p:txBody>
      </p:sp>
      <p:sp>
        <p:nvSpPr>
          <p:cNvPr id="317442" name="Rectangle 2"/>
          <p:cNvSpPr>
            <a:spLocks noGrp="1" noRot="1" noChangeAspect="1" noChangeArrowheads="1" noTextEdit="1"/>
          </p:cNvSpPr>
          <p:nvPr>
            <p:ph type="sldImg"/>
          </p:nvPr>
        </p:nvSpPr>
        <p:spPr>
          <a:ln/>
        </p:spPr>
      </p:sp>
      <p:sp>
        <p:nvSpPr>
          <p:cNvPr id="3174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CAF7FD-C945-4753-AA9D-9B87B52C7BBC}" type="slidenum">
              <a:rPr lang="en-US" altLang="zh-CN"/>
              <a:pPr/>
              <a:t>17</a:t>
            </a:fld>
            <a:endParaRPr lang="en-US" altLang="zh-CN"/>
          </a:p>
        </p:txBody>
      </p:sp>
      <p:sp>
        <p:nvSpPr>
          <p:cNvPr id="321538" name="Rectangle 2"/>
          <p:cNvSpPr>
            <a:spLocks noGrp="1" noRot="1" noChangeAspect="1" noChangeArrowheads="1" noTextEdit="1"/>
          </p:cNvSpPr>
          <p:nvPr>
            <p:ph type="sldImg"/>
          </p:nvPr>
        </p:nvSpPr>
        <p:spPr>
          <a:ln/>
        </p:spPr>
      </p:sp>
      <p:sp>
        <p:nvSpPr>
          <p:cNvPr id="3215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8DC91F-70ED-458E-BAB9-C671610F7BC9}" type="slidenum">
              <a:rPr lang="en-US" altLang="zh-CN"/>
              <a:pPr/>
              <a:t>18</a:t>
            </a:fld>
            <a:endParaRPr lang="en-US" altLang="zh-CN"/>
          </a:p>
        </p:txBody>
      </p:sp>
      <p:sp>
        <p:nvSpPr>
          <p:cNvPr id="323586" name="Rectangle 2"/>
          <p:cNvSpPr>
            <a:spLocks noGrp="1" noRot="1" noChangeAspect="1" noChangeArrowheads="1" noTextEdit="1"/>
          </p:cNvSpPr>
          <p:nvPr>
            <p:ph type="sldImg"/>
          </p:nvPr>
        </p:nvSpPr>
        <p:spPr>
          <a:ln/>
        </p:spPr>
      </p:sp>
      <p:sp>
        <p:nvSpPr>
          <p:cNvPr id="3235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3B0F84-253F-4FCC-AE2D-F6BD9E9F1B3F}" type="slidenum">
              <a:rPr lang="en-US" altLang="zh-CN"/>
              <a:pPr/>
              <a:t>19</a:t>
            </a:fld>
            <a:endParaRPr lang="en-US" altLang="zh-CN"/>
          </a:p>
        </p:txBody>
      </p:sp>
      <p:sp>
        <p:nvSpPr>
          <p:cNvPr id="325634" name="Rectangle 2"/>
          <p:cNvSpPr>
            <a:spLocks noGrp="1" noRot="1" noChangeAspect="1" noChangeArrowheads="1" noTextEdit="1"/>
          </p:cNvSpPr>
          <p:nvPr>
            <p:ph type="sldImg"/>
          </p:nvPr>
        </p:nvSpPr>
        <p:spPr>
          <a:ln/>
        </p:spPr>
      </p:sp>
      <p:sp>
        <p:nvSpPr>
          <p:cNvPr id="3256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2A80B3-C0A5-413B-893E-AEC8AE2A60F3}" type="slidenum">
              <a:rPr lang="en-US" altLang="zh-CN"/>
              <a:pPr/>
              <a:t>21</a:t>
            </a:fld>
            <a:endParaRPr lang="en-US" altLang="zh-CN"/>
          </a:p>
        </p:txBody>
      </p:sp>
      <p:sp>
        <p:nvSpPr>
          <p:cNvPr id="327682" name="Rectangle 2"/>
          <p:cNvSpPr>
            <a:spLocks noGrp="1" noRot="1" noChangeAspect="1" noChangeArrowheads="1" noTextEdit="1"/>
          </p:cNvSpPr>
          <p:nvPr>
            <p:ph type="sldImg"/>
          </p:nvPr>
        </p:nvSpPr>
        <p:spPr>
          <a:ln/>
        </p:spPr>
      </p:sp>
      <p:sp>
        <p:nvSpPr>
          <p:cNvPr id="3276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1E3C24-B2DE-474F-9D4E-5031B58F49A3}" type="slidenum">
              <a:rPr lang="en-US" altLang="zh-CN"/>
              <a:pPr/>
              <a:t>22</a:t>
            </a:fld>
            <a:endParaRPr lang="en-US" altLang="zh-CN"/>
          </a:p>
        </p:txBody>
      </p:sp>
      <p:sp>
        <p:nvSpPr>
          <p:cNvPr id="329730" name="Rectangle 2"/>
          <p:cNvSpPr>
            <a:spLocks noGrp="1" noRot="1" noChangeAspect="1" noChangeArrowheads="1" noTextEdit="1"/>
          </p:cNvSpPr>
          <p:nvPr>
            <p:ph type="sldImg"/>
          </p:nvPr>
        </p:nvSpPr>
        <p:spPr>
          <a:ln/>
        </p:spPr>
      </p:sp>
      <p:sp>
        <p:nvSpPr>
          <p:cNvPr id="3297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3F02B4-BF08-4FFA-9A60-301F9E595FC1}" type="slidenum">
              <a:rPr lang="en-US" altLang="zh-CN"/>
              <a:pPr/>
              <a:t>23</a:t>
            </a:fld>
            <a:endParaRPr lang="en-US" altLang="zh-CN"/>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0153AC-7D3C-4E63-ABF1-831CDADCC2CA}" type="slidenum">
              <a:rPr lang="en-US" altLang="zh-CN"/>
              <a:pPr/>
              <a:t>24</a:t>
            </a:fld>
            <a:endParaRPr lang="en-US" altLang="zh-CN"/>
          </a:p>
        </p:txBody>
      </p:sp>
      <p:sp>
        <p:nvSpPr>
          <p:cNvPr id="333826" name="Rectangle 2"/>
          <p:cNvSpPr>
            <a:spLocks noGrp="1" noRot="1" noChangeAspect="1" noChangeArrowheads="1" noTextEdit="1"/>
          </p:cNvSpPr>
          <p:nvPr>
            <p:ph type="sldImg"/>
          </p:nvPr>
        </p:nvSpPr>
        <p:spPr>
          <a:ln/>
        </p:spPr>
      </p:sp>
      <p:sp>
        <p:nvSpPr>
          <p:cNvPr id="3338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BE0ED5-0D77-46BF-8F16-43D6C728B48A}" type="slidenum">
              <a:rPr lang="en-US" altLang="zh-CN"/>
              <a:pPr/>
              <a:t>25</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BE0ED5-0D77-46BF-8F16-43D6C728B48A}" type="slidenum">
              <a:rPr lang="en-US" altLang="zh-CN"/>
              <a:pPr/>
              <a:t>26</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05507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BE0ED5-0D77-46BF-8F16-43D6C728B48A}" type="slidenum">
              <a:rPr lang="en-US" altLang="zh-CN"/>
              <a:pPr/>
              <a:t>27</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37475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BE0ED5-0D77-46BF-8F16-43D6C728B48A}" type="slidenum">
              <a:rPr lang="en-US" altLang="zh-CN"/>
              <a:pPr/>
              <a:t>28</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9075023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BE0ED5-0D77-46BF-8F16-43D6C728B48A}" type="slidenum">
              <a:rPr lang="en-US" altLang="zh-CN"/>
              <a:pPr/>
              <a:t>29</a:t>
            </a:fld>
            <a:endParaRPr lang="en-US" altLang="zh-CN"/>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02425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2025CE-B141-4D8D-BF96-772BCABB2584}" type="slidenum">
              <a:rPr lang="en-US" altLang="zh-CN"/>
              <a:pPr/>
              <a:t>30</a:t>
            </a:fld>
            <a:endParaRPr lang="en-US" altLang="zh-CN"/>
          </a:p>
        </p:txBody>
      </p:sp>
      <p:sp>
        <p:nvSpPr>
          <p:cNvPr id="198658" name="Rectangle 2"/>
          <p:cNvSpPr>
            <a:spLocks noGrp="1" noRot="1" noChangeAspect="1" noChangeArrowheads="1" noTextEdit="1"/>
          </p:cNvSpPr>
          <p:nvPr>
            <p:ph type="sldImg"/>
          </p:nvPr>
        </p:nvSpPr>
        <p:spPr>
          <a:ln/>
        </p:spPr>
      </p:sp>
      <p:sp>
        <p:nvSpPr>
          <p:cNvPr id="1986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8B8A24-F9C8-42C7-8A70-70CEE7EA191D}" type="slidenum">
              <a:rPr lang="en-US" altLang="zh-CN"/>
              <a:pPr/>
              <a:t>31</a:t>
            </a:fld>
            <a:endParaRPr lang="en-US" altLang="zh-CN"/>
          </a:p>
        </p:txBody>
      </p:sp>
      <p:sp>
        <p:nvSpPr>
          <p:cNvPr id="206850" name="Rectangle 2"/>
          <p:cNvSpPr>
            <a:spLocks noGrp="1" noRot="1" noChangeAspect="1" noChangeArrowheads="1" noTextEdit="1"/>
          </p:cNvSpPr>
          <p:nvPr>
            <p:ph type="sldImg"/>
          </p:nvPr>
        </p:nvSpPr>
        <p:spPr>
          <a:ln/>
        </p:spPr>
      </p:sp>
      <p:sp>
        <p:nvSpPr>
          <p:cNvPr id="206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83F115-D9E6-4D85-B891-ACF2EDAA160E}" type="slidenum">
              <a:rPr lang="en-US" altLang="zh-CN"/>
              <a:pPr/>
              <a:t>32</a:t>
            </a:fld>
            <a:endParaRPr lang="en-US" altLang="zh-CN"/>
          </a:p>
        </p:txBody>
      </p:sp>
      <p:sp>
        <p:nvSpPr>
          <p:cNvPr id="207874" name="Rectangle 2"/>
          <p:cNvSpPr>
            <a:spLocks noGrp="1" noRot="1" noChangeAspect="1" noChangeArrowheads="1" noTextEdit="1"/>
          </p:cNvSpPr>
          <p:nvPr>
            <p:ph type="sldImg"/>
          </p:nvPr>
        </p:nvSpPr>
        <p:spPr>
          <a:ln/>
        </p:spPr>
      </p:sp>
      <p:sp>
        <p:nvSpPr>
          <p:cNvPr id="2078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0EAA12-D355-4362-AB0E-81E5FDB943A9}" type="slidenum">
              <a:rPr lang="en-US" altLang="zh-CN"/>
              <a:pPr/>
              <a:t>33</a:t>
            </a:fld>
            <a:endParaRPr lang="en-US" altLang="zh-CN"/>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E87EC8-B378-4B6D-8827-87FA1C22091C}" type="slidenum">
              <a:rPr lang="en-US" altLang="zh-CN"/>
              <a:pPr/>
              <a:t>35</a:t>
            </a:fld>
            <a:endParaRPr lang="en-US" altLang="zh-CN"/>
          </a:p>
        </p:txBody>
      </p:sp>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833EC6-C4F3-487C-ABAA-F4A85115DD85}" type="slidenum">
              <a:rPr lang="en-US" altLang="zh-CN"/>
              <a:pPr/>
              <a:t>36</a:t>
            </a:fld>
            <a:endParaRPr lang="en-US" altLang="zh-CN"/>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5C1CA0-D570-404B-9C46-DBA3355A574A}" type="slidenum">
              <a:rPr lang="en-US" altLang="zh-CN"/>
              <a:pPr/>
              <a:t>37</a:t>
            </a:fld>
            <a:endParaRPr lang="en-US" altLang="zh-CN"/>
          </a:p>
        </p:txBody>
      </p:sp>
      <p:sp>
        <p:nvSpPr>
          <p:cNvPr id="232450" name="Rectangle 2"/>
          <p:cNvSpPr>
            <a:spLocks noGrp="1" noRot="1" noChangeAspect="1" noChangeArrowheads="1" noTextEdit="1"/>
          </p:cNvSpPr>
          <p:nvPr>
            <p:ph type="sldImg"/>
          </p:nvPr>
        </p:nvSpPr>
        <p:spPr>
          <a:ln/>
        </p:spPr>
      </p:sp>
      <p:sp>
        <p:nvSpPr>
          <p:cNvPr id="2324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4C91FE-31F0-4314-95CA-68F3B5AAB424}" type="slidenum">
              <a:rPr lang="en-US" altLang="zh-CN"/>
              <a:pPr/>
              <a:t>38</a:t>
            </a:fld>
            <a:endParaRPr lang="en-US" altLang="zh-CN"/>
          </a:p>
        </p:txBody>
      </p:sp>
      <p:sp>
        <p:nvSpPr>
          <p:cNvPr id="380930" name="Rectangle 2"/>
          <p:cNvSpPr>
            <a:spLocks noGrp="1" noRot="1" noChangeAspect="1" noChangeArrowheads="1" noTextEdit="1"/>
          </p:cNvSpPr>
          <p:nvPr>
            <p:ph type="sldImg"/>
          </p:nvPr>
        </p:nvSpPr>
        <p:spPr>
          <a:ln/>
        </p:spPr>
      </p:sp>
      <p:sp>
        <p:nvSpPr>
          <p:cNvPr id="3809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9E0011-1584-46E1-924A-4B0214494036}" type="slidenum">
              <a:rPr lang="en-US" altLang="zh-CN"/>
              <a:pPr/>
              <a:t>40</a:t>
            </a:fld>
            <a:endParaRPr lang="en-US" altLang="zh-CN"/>
          </a:p>
        </p:txBody>
      </p:sp>
      <p:sp>
        <p:nvSpPr>
          <p:cNvPr id="233474" name="Rectangle 2"/>
          <p:cNvSpPr>
            <a:spLocks noGrp="1" noRot="1" noChangeAspect="1" noChangeArrowheads="1" noTextEdit="1"/>
          </p:cNvSpPr>
          <p:nvPr>
            <p:ph type="sldImg"/>
          </p:nvPr>
        </p:nvSpPr>
        <p:spPr>
          <a:ln/>
        </p:spPr>
      </p:sp>
      <p:sp>
        <p:nvSpPr>
          <p:cNvPr id="2334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6EF9E2-FF6F-4C53-87E4-8461E5DD1E07}" type="slidenum">
              <a:rPr lang="en-US" altLang="zh-CN"/>
              <a:pPr/>
              <a:t>41</a:t>
            </a:fld>
            <a:endParaRPr lang="en-US" altLang="zh-CN"/>
          </a:p>
        </p:txBody>
      </p:sp>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78289B-38DA-4EDB-B4CE-606DE8339B31}" type="slidenum">
              <a:rPr lang="en-US" altLang="zh-CN"/>
              <a:pPr/>
              <a:t>44</a:t>
            </a:fld>
            <a:endParaRPr lang="en-US" altLang="zh-CN"/>
          </a:p>
        </p:txBody>
      </p:sp>
      <p:sp>
        <p:nvSpPr>
          <p:cNvPr id="237570" name="Rectangle 2"/>
          <p:cNvSpPr>
            <a:spLocks noGrp="1" noRot="1" noChangeAspect="1" noChangeArrowheads="1" noTextEdit="1"/>
          </p:cNvSpPr>
          <p:nvPr>
            <p:ph type="sldImg"/>
          </p:nvPr>
        </p:nvSpPr>
        <p:spPr>
          <a:ln/>
        </p:spPr>
      </p:sp>
      <p:sp>
        <p:nvSpPr>
          <p:cNvPr id="23757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72C422-65E6-4961-99FA-7F6E2F807D07}" type="slidenum">
              <a:rPr lang="en-US" altLang="zh-CN"/>
              <a:pPr/>
              <a:t>45</a:t>
            </a:fld>
            <a:endParaRPr lang="en-US" altLang="zh-CN"/>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AC65C1E-4B37-4B30-B046-114BC48A7C9D}" type="slidenum">
              <a:rPr lang="en-US" altLang="zh-CN"/>
              <a:pPr/>
              <a:t>47</a:t>
            </a:fld>
            <a:endParaRPr lang="en-US" altLang="zh-CN"/>
          </a:p>
        </p:txBody>
      </p:sp>
      <p:sp>
        <p:nvSpPr>
          <p:cNvPr id="384002" name="Rectangle 2"/>
          <p:cNvSpPr>
            <a:spLocks noGrp="1" noRot="1" noChangeAspect="1" noChangeArrowheads="1" noTextEdit="1"/>
          </p:cNvSpPr>
          <p:nvPr>
            <p:ph type="sldImg"/>
          </p:nvPr>
        </p:nvSpPr>
        <p:spPr>
          <a:ln/>
        </p:spPr>
      </p:sp>
      <p:sp>
        <p:nvSpPr>
          <p:cNvPr id="3840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EF69D-A574-4486-BA0A-BB5670DBE115}" type="slidenum">
              <a:rPr lang="en-US" altLang="zh-CN"/>
              <a:pPr/>
              <a:t>48</a:t>
            </a:fld>
            <a:endParaRPr lang="en-US" altLang="zh-CN"/>
          </a:p>
        </p:txBody>
      </p:sp>
      <p:sp>
        <p:nvSpPr>
          <p:cNvPr id="385026" name="Rectangle 2"/>
          <p:cNvSpPr>
            <a:spLocks noGrp="1" noRot="1" noChangeAspect="1" noChangeArrowheads="1" noTextEdit="1"/>
          </p:cNvSpPr>
          <p:nvPr>
            <p:ph type="sldImg"/>
          </p:nvPr>
        </p:nvSpPr>
        <p:spPr>
          <a:ln/>
        </p:spPr>
      </p:sp>
      <p:sp>
        <p:nvSpPr>
          <p:cNvPr id="38502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5EAE26A-63EC-43AC-BBC4-93A0118371AC}" type="slidenum">
              <a:rPr lang="en-US" altLang="zh-CN"/>
              <a:pPr/>
              <a:t>49</a:t>
            </a:fld>
            <a:endParaRPr lang="en-US" altLang="zh-CN"/>
          </a:p>
        </p:txBody>
      </p:sp>
      <p:sp>
        <p:nvSpPr>
          <p:cNvPr id="389122" name="Rectangle 2"/>
          <p:cNvSpPr>
            <a:spLocks noGrp="1" noRot="1" noChangeAspect="1"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C6B84B-4AD7-4776-B0C4-EC45B172BB78}" type="slidenum">
              <a:rPr lang="en-US" altLang="zh-CN"/>
              <a:pPr/>
              <a:t>51</a:t>
            </a:fld>
            <a:endParaRPr lang="en-US" altLang="zh-CN"/>
          </a:p>
        </p:txBody>
      </p:sp>
      <p:sp>
        <p:nvSpPr>
          <p:cNvPr id="241666" name="Rectangle 2"/>
          <p:cNvSpPr>
            <a:spLocks noGrp="1" noRot="1" noChangeAspect="1" noChangeArrowheads="1" noTextEdit="1"/>
          </p:cNvSpPr>
          <p:nvPr>
            <p:ph type="sldImg"/>
          </p:nvPr>
        </p:nvSpPr>
        <p:spPr>
          <a:ln/>
        </p:spPr>
      </p:sp>
      <p:sp>
        <p:nvSpPr>
          <p:cNvPr id="241667"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52210C-0E60-463B-AEBC-A1B179D74AD1}" type="slidenum">
              <a:rPr lang="en-US" altLang="zh-CN"/>
              <a:pPr/>
              <a:t>52</a:t>
            </a:fld>
            <a:endParaRPr lang="en-US" altLang="zh-CN"/>
          </a:p>
        </p:txBody>
      </p:sp>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D1C108-629E-4D03-B240-F08D863515CB}" type="slidenum">
              <a:rPr lang="en-US" altLang="zh-CN"/>
              <a:pPr/>
              <a:t>53</a:t>
            </a:fld>
            <a:endParaRPr lang="en-US" altLang="zh-CN"/>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0795652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52210C-0E60-463B-AEBC-A1B179D74AD1}" type="slidenum">
              <a:rPr lang="en-US" altLang="zh-CN"/>
              <a:pPr/>
              <a:t>54</a:t>
            </a:fld>
            <a:endParaRPr lang="en-US" altLang="zh-CN"/>
          </a:p>
        </p:txBody>
      </p:sp>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1017C9-1228-4590-BA87-E40A7F16FB9D}" type="slidenum">
              <a:rPr lang="en-US" altLang="zh-CN"/>
              <a:pPr/>
              <a:t>55</a:t>
            </a:fld>
            <a:endParaRPr lang="en-US" altLang="zh-CN"/>
          </a:p>
        </p:txBody>
      </p:sp>
      <p:sp>
        <p:nvSpPr>
          <p:cNvPr id="244738" name="Rectangle 2"/>
          <p:cNvSpPr>
            <a:spLocks noGrp="1" noRot="1" noChangeAspect="1" noChangeArrowheads="1" noTextEdit="1"/>
          </p:cNvSpPr>
          <p:nvPr>
            <p:ph type="sldImg"/>
          </p:nvPr>
        </p:nvSpPr>
        <p:spPr>
          <a:ln/>
        </p:spPr>
      </p:sp>
      <p:sp>
        <p:nvSpPr>
          <p:cNvPr id="2447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694DB1-5F52-4722-A95C-C150312DF597}" type="slidenum">
              <a:rPr lang="en-US" altLang="zh-CN"/>
              <a:pPr/>
              <a:t>56</a:t>
            </a:fld>
            <a:endParaRPr lang="en-US" altLang="zh-CN"/>
          </a:p>
        </p:txBody>
      </p:sp>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D2ED36-0F65-45F1-9138-DE577447BBEC}" type="slidenum">
              <a:rPr lang="en-US" altLang="zh-CN"/>
              <a:pPr/>
              <a:t>58</a:t>
            </a:fld>
            <a:endParaRPr lang="en-US" altLang="zh-CN"/>
          </a:p>
        </p:txBody>
      </p:sp>
      <p:sp>
        <p:nvSpPr>
          <p:cNvPr id="250882" name="Rectangle 2"/>
          <p:cNvSpPr>
            <a:spLocks noGrp="1" noRot="1" noChangeAspect="1" noChangeArrowheads="1" noTextEdit="1"/>
          </p:cNvSpPr>
          <p:nvPr>
            <p:ph type="sldImg"/>
          </p:nvPr>
        </p:nvSpPr>
        <p:spPr>
          <a:ln/>
        </p:spPr>
      </p:sp>
      <p:sp>
        <p:nvSpPr>
          <p:cNvPr id="2508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C734B4-1234-4A7E-8BA8-25A61A3CFC21}" type="slidenum">
              <a:rPr lang="en-US" altLang="zh-CN"/>
              <a:pPr/>
              <a:t>59</a:t>
            </a:fld>
            <a:endParaRPr lang="en-US" altLang="zh-CN"/>
          </a:p>
        </p:txBody>
      </p:sp>
      <p:sp>
        <p:nvSpPr>
          <p:cNvPr id="251906" name="Rectangle 2"/>
          <p:cNvSpPr>
            <a:spLocks noGrp="1" noRot="1" noChangeAspect="1" noChangeArrowheads="1" noTextEdit="1"/>
          </p:cNvSpPr>
          <p:nvPr>
            <p:ph type="sldImg"/>
          </p:nvPr>
        </p:nvSpPr>
        <p:spPr>
          <a:ln/>
        </p:spPr>
      </p:sp>
      <p:sp>
        <p:nvSpPr>
          <p:cNvPr id="2519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3D3496-1C0A-4DF1-B1A8-F03A4FB43450}" type="slidenum">
              <a:rPr lang="en-US" altLang="zh-CN"/>
              <a:pPr/>
              <a:t>60</a:t>
            </a:fld>
            <a:endParaRPr lang="en-US" altLang="zh-CN"/>
          </a:p>
        </p:txBody>
      </p:sp>
      <p:sp>
        <p:nvSpPr>
          <p:cNvPr id="253954" name="Rectangle 2"/>
          <p:cNvSpPr>
            <a:spLocks noGrp="1" noRot="1" noChangeAspect="1" noChangeArrowheads="1" noTextEdit="1"/>
          </p:cNvSpPr>
          <p:nvPr>
            <p:ph type="sldImg"/>
          </p:nvPr>
        </p:nvSpPr>
        <p:spPr>
          <a:ln/>
        </p:spPr>
      </p:sp>
      <p:sp>
        <p:nvSpPr>
          <p:cNvPr id="2539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3D3496-1C0A-4DF1-B1A8-F03A4FB43450}" type="slidenum">
              <a:rPr lang="en-US" altLang="zh-CN"/>
              <a:pPr/>
              <a:t>61</a:t>
            </a:fld>
            <a:endParaRPr lang="en-US" altLang="zh-CN"/>
          </a:p>
        </p:txBody>
      </p:sp>
      <p:sp>
        <p:nvSpPr>
          <p:cNvPr id="253954" name="Rectangle 2"/>
          <p:cNvSpPr>
            <a:spLocks noGrp="1" noRot="1" noChangeAspect="1" noChangeArrowheads="1" noTextEdit="1"/>
          </p:cNvSpPr>
          <p:nvPr>
            <p:ph type="sldImg"/>
          </p:nvPr>
        </p:nvSpPr>
        <p:spPr>
          <a:ln/>
        </p:spPr>
      </p:sp>
      <p:sp>
        <p:nvSpPr>
          <p:cNvPr id="2539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A304D7-8932-4204-86CF-52D51FB0CF1B}" type="slidenum">
              <a:rPr lang="en-US" altLang="zh-CN"/>
              <a:pPr/>
              <a:t>62</a:t>
            </a:fld>
            <a:endParaRPr lang="en-US" altLang="zh-CN"/>
          </a:p>
        </p:txBody>
      </p:sp>
      <p:sp>
        <p:nvSpPr>
          <p:cNvPr id="254978" name="Rectangle 2"/>
          <p:cNvSpPr>
            <a:spLocks noGrp="1" noRot="1" noChangeAspect="1" noChangeArrowheads="1" noTextEdit="1"/>
          </p:cNvSpPr>
          <p:nvPr>
            <p:ph type="sldImg"/>
          </p:nvPr>
        </p:nvSpPr>
        <p:spPr>
          <a:ln/>
        </p:spPr>
      </p:sp>
      <p:sp>
        <p:nvSpPr>
          <p:cNvPr id="2549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83EE4E-517D-45E9-A0ED-D63996FA5A5B}" type="slidenum">
              <a:rPr lang="en-US" altLang="zh-CN"/>
              <a:pPr/>
              <a:t>63</a:t>
            </a:fld>
            <a:endParaRPr lang="en-US" altLang="zh-CN"/>
          </a:p>
        </p:txBody>
      </p:sp>
      <p:sp>
        <p:nvSpPr>
          <p:cNvPr id="268290" name="Rectangle 2"/>
          <p:cNvSpPr>
            <a:spLocks noGrp="1" noRot="1" noChangeAspect="1" noChangeArrowheads="1" noTextEdit="1"/>
          </p:cNvSpPr>
          <p:nvPr>
            <p:ph type="sldImg"/>
          </p:nvPr>
        </p:nvSpPr>
        <p:spPr>
          <a:ln/>
        </p:spPr>
      </p:sp>
      <p:sp>
        <p:nvSpPr>
          <p:cNvPr id="2682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D700DA-426B-4B1B-99AA-F0433054AEAD}" type="slidenum">
              <a:rPr lang="en-US" altLang="zh-CN"/>
              <a:pPr/>
              <a:t>65</a:t>
            </a:fld>
            <a:endParaRPr lang="en-US" altLang="zh-CN"/>
          </a:p>
        </p:txBody>
      </p:sp>
      <p:sp>
        <p:nvSpPr>
          <p:cNvPr id="275458" name="Rectangle 2"/>
          <p:cNvSpPr>
            <a:spLocks noGrp="1" noRot="1" noChangeAspect="1" noChangeArrowheads="1" noTextEdit="1"/>
          </p:cNvSpPr>
          <p:nvPr>
            <p:ph type="sldImg"/>
          </p:nvPr>
        </p:nvSpPr>
        <p:spPr>
          <a:ln/>
        </p:spPr>
      </p:sp>
      <p:sp>
        <p:nvSpPr>
          <p:cNvPr id="27545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F36DE0-9DF4-47A6-A4AF-DC7C11C7FE1E}" type="slidenum">
              <a:rPr lang="en-US" altLang="zh-CN"/>
              <a:pPr/>
              <a:t>66</a:t>
            </a:fld>
            <a:endParaRPr lang="en-US" altLang="zh-CN"/>
          </a:p>
        </p:txBody>
      </p:sp>
      <p:sp>
        <p:nvSpPr>
          <p:cNvPr id="276482" name="Rectangle 2"/>
          <p:cNvSpPr>
            <a:spLocks noGrp="1" noRot="1" noChangeAspect="1" noChangeArrowheads="1" noTextEdit="1"/>
          </p:cNvSpPr>
          <p:nvPr>
            <p:ph type="sldImg"/>
          </p:nvPr>
        </p:nvSpPr>
        <p:spPr>
          <a:ln/>
        </p:spPr>
      </p:sp>
      <p:sp>
        <p:nvSpPr>
          <p:cNvPr id="2764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F36DE0-9DF4-47A6-A4AF-DC7C11C7FE1E}" type="slidenum">
              <a:rPr lang="en-US" altLang="zh-CN"/>
              <a:pPr/>
              <a:t>67</a:t>
            </a:fld>
            <a:endParaRPr lang="en-US" altLang="zh-CN"/>
          </a:p>
        </p:txBody>
      </p:sp>
      <p:sp>
        <p:nvSpPr>
          <p:cNvPr id="276482" name="Rectangle 2"/>
          <p:cNvSpPr>
            <a:spLocks noGrp="1" noRot="1" noChangeAspect="1" noChangeArrowheads="1" noTextEdit="1"/>
          </p:cNvSpPr>
          <p:nvPr>
            <p:ph type="sldImg"/>
          </p:nvPr>
        </p:nvSpPr>
        <p:spPr>
          <a:ln/>
        </p:spPr>
      </p:sp>
      <p:sp>
        <p:nvSpPr>
          <p:cNvPr id="27648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666421-0D73-4A8C-BEE9-A8797E6C0678}" type="slidenum">
              <a:rPr lang="en-US" altLang="zh-CN"/>
              <a:pPr/>
              <a:t>68</a:t>
            </a:fld>
            <a:endParaRPr lang="en-US" altLang="zh-CN"/>
          </a:p>
        </p:txBody>
      </p:sp>
      <p:sp>
        <p:nvSpPr>
          <p:cNvPr id="277506" name="Rectangle 2"/>
          <p:cNvSpPr>
            <a:spLocks noGrp="1" noRot="1" noChangeAspect="1" noChangeArrowheads="1" noTextEdit="1"/>
          </p:cNvSpPr>
          <p:nvPr>
            <p:ph type="sldImg"/>
          </p:nvPr>
        </p:nvSpPr>
        <p:spPr>
          <a:ln/>
        </p:spPr>
      </p:sp>
      <p:sp>
        <p:nvSpPr>
          <p:cNvPr id="27750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F94E99-34AB-4C80-9623-A96548A40A3F}" type="slidenum">
              <a:rPr lang="en-US" altLang="zh-CN"/>
              <a:pPr/>
              <a:t>69</a:t>
            </a:fld>
            <a:endParaRPr lang="en-US" altLang="zh-CN"/>
          </a:p>
        </p:txBody>
      </p:sp>
      <p:sp>
        <p:nvSpPr>
          <p:cNvPr id="278530" name="Rectangle 2"/>
          <p:cNvSpPr>
            <a:spLocks noGrp="1" noRot="1" noChangeAspect="1" noChangeArrowheads="1" noTextEdit="1"/>
          </p:cNvSpPr>
          <p:nvPr>
            <p:ph type="sldImg"/>
          </p:nvPr>
        </p:nvSpPr>
        <p:spPr>
          <a:ln/>
        </p:spPr>
      </p:sp>
      <p:sp>
        <p:nvSpPr>
          <p:cNvPr id="2785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457D03-52E6-4C4A-B89F-9D5100BCF774}" type="slidenum">
              <a:rPr lang="en-US" altLang="zh-CN"/>
              <a:pPr/>
              <a:t>70</a:t>
            </a:fld>
            <a:endParaRPr lang="en-US" altLang="zh-CN"/>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6B88E6-21DA-4F1D-BFD3-7D81601353C0}" type="slidenum">
              <a:rPr lang="en-US" altLang="zh-CN"/>
              <a:pPr/>
              <a:t>71</a:t>
            </a:fld>
            <a:endParaRPr lang="en-US" altLang="zh-CN"/>
          </a:p>
        </p:txBody>
      </p:sp>
      <p:sp>
        <p:nvSpPr>
          <p:cNvPr id="280578" name="Rectangle 2"/>
          <p:cNvSpPr>
            <a:spLocks noGrp="1" noRot="1" noChangeAspect="1" noChangeArrowheads="1" noTextEdit="1"/>
          </p:cNvSpPr>
          <p:nvPr>
            <p:ph type="sldImg"/>
          </p:nvPr>
        </p:nvSpPr>
        <p:spPr>
          <a:ln/>
        </p:spPr>
      </p:sp>
      <p:sp>
        <p:nvSpPr>
          <p:cNvPr id="2805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2EA4F2-8EDD-42AD-A666-FFEAD9D48571}" type="slidenum">
              <a:rPr lang="en-US" altLang="zh-CN"/>
              <a:pPr/>
              <a:t>72</a:t>
            </a:fld>
            <a:endParaRPr lang="en-US" altLang="zh-CN"/>
          </a:p>
        </p:txBody>
      </p:sp>
      <p:sp>
        <p:nvSpPr>
          <p:cNvPr id="281602" name="Rectangle 2"/>
          <p:cNvSpPr>
            <a:spLocks noGrp="1" noRot="1" noChangeAspect="1" noChangeArrowheads="1" noTextEdit="1"/>
          </p:cNvSpPr>
          <p:nvPr>
            <p:ph type="sldImg"/>
          </p:nvPr>
        </p:nvSpPr>
        <p:spPr>
          <a:ln/>
        </p:spPr>
      </p:sp>
      <p:sp>
        <p:nvSpPr>
          <p:cNvPr id="28160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81363C-D0A0-43F3-8EC0-00D60E98E321}" type="slidenum">
              <a:rPr lang="en-US" altLang="zh-CN"/>
              <a:pPr/>
              <a:t>73</a:t>
            </a:fld>
            <a:endParaRPr lang="en-US" altLang="zh-CN"/>
          </a:p>
        </p:txBody>
      </p:sp>
      <p:sp>
        <p:nvSpPr>
          <p:cNvPr id="284674" name="Rectangle 2"/>
          <p:cNvSpPr>
            <a:spLocks noGrp="1" noRot="1" noChangeAspect="1" noChangeArrowheads="1" noTextEdit="1"/>
          </p:cNvSpPr>
          <p:nvPr>
            <p:ph type="sldImg"/>
          </p:nvPr>
        </p:nvSpPr>
        <p:spPr>
          <a:ln/>
        </p:spPr>
      </p:sp>
      <p:sp>
        <p:nvSpPr>
          <p:cNvPr id="28467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32ADEF-7B4E-4B9D-881E-B560CE86F079}" type="slidenum">
              <a:rPr lang="en-US" altLang="zh-CN"/>
              <a:pPr/>
              <a:t>75</a:t>
            </a:fld>
            <a:endParaRPr lang="en-US" altLang="zh-CN"/>
          </a:p>
        </p:txBody>
      </p:sp>
      <p:sp>
        <p:nvSpPr>
          <p:cNvPr id="285698" name="Rectangle 2"/>
          <p:cNvSpPr>
            <a:spLocks noGrp="1" noRot="1" noChangeAspect="1" noChangeArrowheads="1" noTextEdit="1"/>
          </p:cNvSpPr>
          <p:nvPr>
            <p:ph type="sldImg"/>
          </p:nvPr>
        </p:nvSpPr>
        <p:spPr>
          <a:ln/>
        </p:spPr>
      </p:sp>
      <p:sp>
        <p:nvSpPr>
          <p:cNvPr id="285699" name="Rectangle 3"/>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itchFamily="2" charset="-122"/>
                <a:ea typeface="黑体"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itchFamily="2" charset="2"/>
              <a:buNone/>
              <a:defRPr sz="3600" b="1">
                <a:latin typeface="黑体" pitchFamily="2" charset="-122"/>
                <a:ea typeface="黑体" pitchFamily="2" charset="-122"/>
              </a:defRPr>
            </a:lvl1pPr>
          </a:lstStyle>
          <a:p>
            <a:pPr lvl="0"/>
            <a:r>
              <a:rPr lang="zh-CN" altLang="en-US" noProof="0" dirty="0"/>
              <a:t>单击此处编辑母版副标题样式</a:t>
            </a:r>
            <a:endParaRPr lang="en-US" altLang="zh-CN" noProof="0" dirty="0"/>
          </a:p>
        </p:txBody>
      </p:sp>
      <p:sp>
        <p:nvSpPr>
          <p:cNvPr id="16388" name="Rectangle 4"/>
          <p:cNvSpPr>
            <a:spLocks noGrp="1" noChangeArrowheads="1"/>
          </p:cNvSpPr>
          <p:nvPr>
            <p:ph type="dt" sz="half" idx="2"/>
          </p:nvPr>
        </p:nvSpPr>
        <p:spPr/>
        <p:txBody>
          <a:bodyPr/>
          <a:lstStyle>
            <a:lvl1pPr>
              <a:defRPr/>
            </a:lvl1pPr>
          </a:lstStyle>
          <a:p>
            <a:endParaRPr lang="en-US" altLang="zh-CN"/>
          </a:p>
        </p:txBody>
      </p:sp>
      <p:sp>
        <p:nvSpPr>
          <p:cNvPr id="16389" name="Rectangle 5"/>
          <p:cNvSpPr>
            <a:spLocks noGrp="1" noChangeArrowheads="1"/>
          </p:cNvSpPr>
          <p:nvPr>
            <p:ph type="ftr" sz="quarter" idx="3"/>
          </p:nvPr>
        </p:nvSpPr>
        <p:spPr/>
        <p:txBody>
          <a:bodyPr/>
          <a:lstStyle>
            <a:lvl1pPr>
              <a:defRPr/>
            </a:lvl1pPr>
          </a:lstStyle>
          <a:p>
            <a:endParaRPr lang="en-US" altLang="zh-CN"/>
          </a:p>
        </p:txBody>
      </p:sp>
      <p:sp>
        <p:nvSpPr>
          <p:cNvPr id="16390" name="Rectangle 6"/>
          <p:cNvSpPr>
            <a:spLocks noGrp="1" noChangeArrowheads="1"/>
          </p:cNvSpPr>
          <p:nvPr>
            <p:ph type="sldNum" sz="quarter" idx="4"/>
          </p:nvPr>
        </p:nvSpPr>
        <p:spPr/>
        <p:txBody>
          <a:bodyPr/>
          <a:lstStyle>
            <a:lvl1pPr>
              <a:defRPr/>
            </a:lvl1pPr>
          </a:lstStyle>
          <a:p>
            <a:fld id="{AC80574E-8B94-4515-ADE1-BF6C35829DF0}" type="slidenum">
              <a:rPr lang="zh-CN" altLang="en-US"/>
              <a:pPr/>
              <a:t>‹#›</a:t>
            </a:fld>
            <a:endParaRPr lang="en-US" altLang="zh-CN"/>
          </a:p>
        </p:txBody>
      </p:sp>
      <p:sp>
        <p:nvSpPr>
          <p:cNvPr id="16392" name="Rectangle 8" descr="Gold bar"/>
          <p:cNvSpPr>
            <a:spLocks noChangeArrowheads="1"/>
          </p:cNvSpPr>
          <p:nvPr/>
        </p:nvSpPr>
        <p:spPr bwMode="auto">
          <a:xfrm>
            <a:off x="247650" y="2889250"/>
            <a:ext cx="3109913" cy="2016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3" name="Rectangle 9" descr="Orange bar"/>
          <p:cNvSpPr>
            <a:spLocks noChangeArrowheads="1"/>
          </p:cNvSpPr>
          <p:nvPr/>
        </p:nvSpPr>
        <p:spPr bwMode="auto">
          <a:xfrm>
            <a:off x="3357563" y="2889250"/>
            <a:ext cx="3108325" cy="20161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4" name="Rectangle 10" descr="Slate bar"/>
          <p:cNvSpPr>
            <a:spLocks noChangeArrowheads="1"/>
          </p:cNvSpPr>
          <p:nvPr/>
        </p:nvSpPr>
        <p:spPr bwMode="auto">
          <a:xfrm>
            <a:off x="6465888" y="2889250"/>
            <a:ext cx="3109912" cy="201613"/>
          </a:xfrm>
          <a:prstGeom prst="rect">
            <a:avLst/>
          </a:prstGeom>
          <a:solidFill>
            <a:srgbClr val="333399"/>
          </a:solidFill>
          <a:ln>
            <a:noFill/>
          </a:ln>
          <a:effectLst/>
        </p:spPr>
        <p:txBody>
          <a:bodyPr wrap="none" anchor="ctr"/>
          <a:lstStyle/>
          <a:p>
            <a:endParaRPr lang="zh-CN" altLang="en-US">
              <a:solidFill>
                <a:srgbClr val="33339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itchFamily="2" charset="-122"/>
              </a:defRPr>
            </a:lvl1pPr>
            <a:lvl2pPr>
              <a:lnSpc>
                <a:spcPct val="110000"/>
              </a:lnSpc>
              <a:spcBef>
                <a:spcPts val="600"/>
              </a:spcBef>
              <a:defRPr sz="2800" b="1">
                <a:solidFill>
                  <a:schemeClr val="tx1"/>
                </a:solidFill>
                <a:latin typeface="+mn-lt"/>
                <a:ea typeface="黑体" pitchFamily="2" charset="-122"/>
              </a:defRPr>
            </a:lvl2pPr>
            <a:lvl3pPr>
              <a:lnSpc>
                <a:spcPct val="110000"/>
              </a:lnSpc>
              <a:spcBef>
                <a:spcPts val="600"/>
              </a:spcBef>
              <a:defRPr sz="2400" b="1">
                <a:solidFill>
                  <a:schemeClr val="tx1"/>
                </a:solidFill>
                <a:latin typeface="+mn-lt"/>
                <a:ea typeface="黑体" pitchFamily="2" charset="-122"/>
              </a:defRPr>
            </a:lvl3pPr>
            <a:lvl4pPr>
              <a:lnSpc>
                <a:spcPct val="110000"/>
              </a:lnSpc>
              <a:spcBef>
                <a:spcPts val="600"/>
              </a:spcBef>
              <a:defRPr sz="2000" b="1">
                <a:solidFill>
                  <a:schemeClr val="tx1"/>
                </a:solidFill>
                <a:latin typeface="+mn-lt"/>
                <a:ea typeface="黑体" pitchFamily="2" charset="-122"/>
              </a:defRPr>
            </a:lvl4pPr>
            <a:lvl5pPr>
              <a:lnSpc>
                <a:spcPct val="110000"/>
              </a:lnSpc>
              <a:spcBef>
                <a:spcPts val="600"/>
              </a:spcBef>
              <a:defRPr sz="2000" b="1">
                <a:solidFill>
                  <a:schemeClr val="tx1"/>
                </a:solidFill>
                <a:latin typeface="+mn-lt"/>
                <a:ea typeface="黑体"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lvl1pPr>
              <a:defRPr/>
            </a:lvl1pPr>
          </a:lstStyle>
          <a:p>
            <a:endParaRPr lang="en-US" altLang="zh-CN" dirty="0"/>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7AC79822-BC0D-4DE8-A7E5-90A3732A2B82}" type="slidenum">
              <a:rPr lang="zh-CN" altLang="en-US"/>
              <a:pPr/>
              <a:t>‹#›</a:t>
            </a:fld>
            <a:endParaRPr lang="en-US" altLang="zh-CN"/>
          </a:p>
        </p:txBody>
      </p:sp>
      <p:sp>
        <p:nvSpPr>
          <p:cNvPr id="7"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65344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3F47B36-077D-42FE-9DED-0C77CB87E4B3}" type="slidenum">
              <a:rPr lang="zh-CN" altLang="en-US"/>
              <a:pPr/>
              <a:t>‹#›</a:t>
            </a:fld>
            <a:endParaRPr lang="en-US" altLang="zh-CN"/>
          </a:p>
        </p:txBody>
      </p:sp>
    </p:spTree>
    <p:extLst>
      <p:ext uri="{BB962C8B-B14F-4D97-AF65-F5344CB8AC3E}">
        <p14:creationId xmlns:p14="http://schemas.microsoft.com/office/powerpoint/2010/main" val="1098139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itchFamily="2" charset="-122"/>
              </a:defRPr>
            </a:lvl1pPr>
            <a:lvl2pPr>
              <a:buClr>
                <a:schemeClr val="accent2"/>
              </a:buCl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buClr>
                <a:srgbClr val="333399"/>
              </a:buClr>
              <a:defRPr sz="1800" b="1">
                <a:solidFill>
                  <a:schemeClr val="tx1"/>
                </a:solidFill>
                <a:latin typeface="+mn-lt"/>
                <a:ea typeface="黑体"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0B52295-AD8D-47A8-A4D5-D2F6B9F48E3F}"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458324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1046753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itchFamily="2" charset="-122"/>
              </a:defRPr>
            </a:lvl1pPr>
            <a:lvl2pPr>
              <a:defRPr sz="2400" b="1">
                <a:solidFill>
                  <a:schemeClr val="tx1"/>
                </a:solidFill>
                <a:latin typeface="+mn-lt"/>
                <a:ea typeface="黑体" pitchFamily="2" charset="-122"/>
              </a:defRPr>
            </a:lvl2pPr>
            <a:lvl3pPr>
              <a:defRPr sz="2000" b="1">
                <a:solidFill>
                  <a:schemeClr val="tx1"/>
                </a:solidFill>
                <a:latin typeface="+mn-lt"/>
                <a:ea typeface="黑体" pitchFamily="2" charset="-122"/>
              </a:defRPr>
            </a:lvl3pPr>
            <a:lvl4pPr>
              <a:defRPr sz="1800" b="1">
                <a:solidFill>
                  <a:schemeClr val="tx1"/>
                </a:solidFill>
                <a:latin typeface="+mn-lt"/>
                <a:ea typeface="黑体" pitchFamily="2" charset="-122"/>
              </a:defRPr>
            </a:lvl4pPr>
            <a:lvl5pPr>
              <a:defRPr sz="1800" b="1">
                <a:solidFill>
                  <a:schemeClr val="tx1"/>
                </a:solidFill>
                <a:latin typeface="+mn-lt"/>
                <a:ea typeface="黑体"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FAC03054-A18C-4CF4-8FEF-67B6C74EC7CF}" type="slidenum">
              <a:rPr lang="zh-CN" altLang="en-US"/>
              <a:pPr/>
              <a:t>‹#›</a:t>
            </a:fld>
            <a:endParaRPr lang="en-US" altLang="zh-CN"/>
          </a:p>
        </p:txBody>
      </p:sp>
      <p:sp>
        <p:nvSpPr>
          <p:cNvPr id="10"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5209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14338B79-8FD5-46F1-8A19-651A319ADB19}" type="slidenum">
              <a:rPr lang="zh-CN" altLang="en-US"/>
              <a:pPr/>
              <a:t>‹#›</a:t>
            </a:fld>
            <a:endParaRPr lang="en-US" altLang="zh-CN"/>
          </a:p>
        </p:txBody>
      </p:sp>
      <p:sp>
        <p:nvSpPr>
          <p:cNvPr id="6"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0813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137DC1DE-D772-415A-B75D-6C2A3BBF0EE5}" type="slidenum">
              <a:rPr lang="zh-CN" altLang="en-US"/>
              <a:pPr/>
              <a:t>‹#›</a:t>
            </a:fld>
            <a:endParaRPr lang="en-US" altLang="zh-CN"/>
          </a:p>
        </p:txBody>
      </p:sp>
    </p:spTree>
    <p:extLst>
      <p:ext uri="{BB962C8B-B14F-4D97-AF65-F5344CB8AC3E}">
        <p14:creationId xmlns:p14="http://schemas.microsoft.com/office/powerpoint/2010/main" val="60705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FB74B41-85B4-4984-A2A4-801BFDC62CF6}" type="slidenum">
              <a:rPr lang="zh-CN" altLang="en-US"/>
              <a:pPr/>
              <a:t>‹#›</a:t>
            </a:fld>
            <a:endParaRPr lang="en-US" altLang="zh-CN"/>
          </a:p>
        </p:txBody>
      </p:sp>
    </p:spTree>
    <p:extLst>
      <p:ext uri="{BB962C8B-B14F-4D97-AF65-F5344CB8AC3E}">
        <p14:creationId xmlns:p14="http://schemas.microsoft.com/office/powerpoint/2010/main" val="1982550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24FEF2C3-09B7-48D6-BCFF-274B159605E4}" type="slidenum">
              <a:rPr lang="zh-CN" altLang="en-US"/>
              <a:pPr/>
              <a:t>‹#›</a:t>
            </a:fld>
            <a:endParaRPr lang="en-US" altLang="zh-CN"/>
          </a:p>
        </p:txBody>
      </p:sp>
    </p:spTree>
    <p:extLst>
      <p:ext uri="{BB962C8B-B14F-4D97-AF65-F5344CB8AC3E}">
        <p14:creationId xmlns:p14="http://schemas.microsoft.com/office/powerpoint/2010/main" val="188598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itchFamily="2" charset="-122"/>
              </a:defRPr>
            </a:lvl1p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2236A91-AB49-49FF-BD59-8386391FD12B}" type="slidenum">
              <a:rPr lang="zh-CN" altLang="en-US"/>
              <a:pPr/>
              <a:t>‹#›</a:t>
            </a:fld>
            <a:endParaRPr lang="en-US" altLang="zh-CN"/>
          </a:p>
        </p:txBody>
      </p:sp>
    </p:spTree>
    <p:extLst>
      <p:ext uri="{BB962C8B-B14F-4D97-AF65-F5344CB8AC3E}">
        <p14:creationId xmlns:p14="http://schemas.microsoft.com/office/powerpoint/2010/main" val="16846428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98FACEB-921B-4428-A32E-7A6FF935A2DD}" type="slidenum">
              <a:rPr lang="zh-CN" altLang="en-US"/>
              <a:pPr/>
              <a:t>‹#›</a:t>
            </a:fld>
            <a:endParaRPr lang="en-US" altLang="zh-CN"/>
          </a:p>
        </p:txBody>
      </p:sp>
    </p:spTree>
    <p:extLst>
      <p:ext uri="{BB962C8B-B14F-4D97-AF65-F5344CB8AC3E}">
        <p14:creationId xmlns:p14="http://schemas.microsoft.com/office/powerpoint/2010/main" val="1291822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88504" y="188640"/>
            <a:ext cx="8915400" cy="792088"/>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99300" y="6248400"/>
            <a:ext cx="2311400" cy="457200"/>
          </a:xfrm>
        </p:spPr>
        <p:txBody>
          <a:bodyPr/>
          <a:lstStyle>
            <a:lvl1pPr>
              <a:defRPr/>
            </a:lvl1pPr>
          </a:lstStyle>
          <a:p>
            <a:fld id="{3C52F4D9-41EC-423B-B963-42D1C41ACCC5}" type="slidenum">
              <a:rPr lang="zh-CN" altLang="en-US"/>
              <a:pPr/>
              <a:t>‹#›</a:t>
            </a:fld>
            <a:endParaRPr lang="en-US" altLang="zh-CN"/>
          </a:p>
        </p:txBody>
      </p:sp>
      <p:sp>
        <p:nvSpPr>
          <p:cNvPr id="9"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463550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1"/>
            <a:ext cx="8915400" cy="792087"/>
          </a:xfrm>
        </p:spPr>
        <p:txBody>
          <a:bodyPr/>
          <a:lstStyle/>
          <a:p>
            <a:r>
              <a:rPr lang="zh-CN" altLang="en-US"/>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剪贴画占位符 3"/>
          <p:cNvSpPr>
            <a:spLocks noGrp="1"/>
          </p:cNvSpPr>
          <p:nvPr>
            <p:ph type="clipArt" sz="half" idx="2"/>
          </p:nvPr>
        </p:nvSpPr>
        <p:spPr>
          <a:xfrm>
            <a:off x="5029200" y="1196752"/>
            <a:ext cx="4381500" cy="4934173"/>
          </a:xfrm>
        </p:spPr>
        <p:txBody>
          <a:bodyPr/>
          <a:lstStyle/>
          <a:p>
            <a:r>
              <a:rPr lang="zh-CN" altLang="en-US"/>
              <a:t>单击图标添加剪 贴画</a:t>
            </a:r>
          </a:p>
        </p:txBody>
      </p:sp>
      <p:sp>
        <p:nvSpPr>
          <p:cNvPr id="5"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384550" y="6248400"/>
            <a:ext cx="31369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7099300" y="6248400"/>
            <a:ext cx="2311400" cy="457200"/>
          </a:xfrm>
        </p:spPr>
        <p:txBody>
          <a:bodyPr/>
          <a:lstStyle>
            <a:lvl1pPr>
              <a:defRPr/>
            </a:lvl1pPr>
          </a:lstStyle>
          <a:p>
            <a:fld id="{966CAE82-64C7-4E5B-88D2-F38A61F120C5}" type="slidenum">
              <a:rPr lang="zh-CN" altLang="en-US"/>
              <a:pPr/>
              <a:t>‹#›</a:t>
            </a:fld>
            <a:endParaRPr lang="en-US" altLang="zh-CN"/>
          </a:p>
        </p:txBody>
      </p:sp>
      <p:sp>
        <p:nvSpPr>
          <p:cNvPr id="8" name="Line 8"/>
          <p:cNvSpPr>
            <a:spLocks noChangeShapeType="1"/>
          </p:cNvSpPr>
          <p:nvPr userDrawn="1"/>
        </p:nvSpPr>
        <p:spPr bwMode="auto">
          <a:xfrm>
            <a:off x="495300" y="1052736"/>
            <a:ext cx="9066212"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50890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bwMode="auto">
          <a:xfrm>
            <a:off x="495300" y="188640"/>
            <a:ext cx="9066212"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5363" name="Rectangle 3"/>
          <p:cNvSpPr>
            <a:spLocks noGrp="1" noChangeArrowheads="1"/>
          </p:cNvSpPr>
          <p:nvPr>
            <p:ph type="body" idx="1"/>
          </p:nvPr>
        </p:nvSpPr>
        <p:spPr bwMode="auto">
          <a:xfrm>
            <a:off x="495300" y="1196752"/>
            <a:ext cx="9066212" cy="4934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endParaRPr lang="en-US" altLang="zh-CN" dirty="0"/>
          </a:p>
        </p:txBody>
      </p:sp>
      <p:sp>
        <p:nvSpPr>
          <p:cNvPr id="15364" name="Rectangle 4"/>
          <p:cNvSpPr>
            <a:spLocks noGrp="1" noChangeArrowheads="1"/>
          </p:cNvSpPr>
          <p:nvPr>
            <p:ph type="dt" sz="half" idx="2"/>
          </p:nvPr>
        </p:nvSpPr>
        <p:spPr bwMode="auto">
          <a:xfrm>
            <a:off x="495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宋体" pitchFamily="2" charset="-122"/>
              </a:defRPr>
            </a:lvl1pPr>
          </a:lstStyle>
          <a:p>
            <a:endParaRPr lang="en-US" altLang="zh-CN" dirty="0"/>
          </a:p>
        </p:txBody>
      </p:sp>
      <p:sp>
        <p:nvSpPr>
          <p:cNvPr id="15365" name="Rectangle 5"/>
          <p:cNvSpPr>
            <a:spLocks noGrp="1" noChangeArrowheads="1"/>
          </p:cNvSpPr>
          <p:nvPr>
            <p:ph type="ftr" sz="quarter" idx="3"/>
          </p:nvPr>
        </p:nvSpPr>
        <p:spPr bwMode="auto">
          <a:xfrm>
            <a:off x="3384550" y="6356176"/>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宋体" pitchFamily="2" charset="-122"/>
              </a:defRPr>
            </a:lvl1pPr>
          </a:lstStyle>
          <a:p>
            <a:endParaRPr lang="en-US" altLang="zh-CN"/>
          </a:p>
        </p:txBody>
      </p:sp>
      <p:sp>
        <p:nvSpPr>
          <p:cNvPr id="15366" name="Rectangle 6"/>
          <p:cNvSpPr>
            <a:spLocks noGrp="1" noChangeArrowheads="1"/>
          </p:cNvSpPr>
          <p:nvPr>
            <p:ph type="sldNum" sz="quarter" idx="4"/>
          </p:nvPr>
        </p:nvSpPr>
        <p:spPr bwMode="auto">
          <a:xfrm>
            <a:off x="7099300" y="6356176"/>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宋体" pitchFamily="2" charset="-122"/>
              </a:defRPr>
            </a:lvl1pPr>
          </a:lstStyle>
          <a:p>
            <a:fld id="{67B052E9-C54A-4603-AE2F-EB72B006DB6C}" type="slidenum">
              <a:rPr lang="zh-CN" altLang="en-US"/>
              <a:pPr/>
              <a:t>‹#›</a:t>
            </a:fld>
            <a:endParaRPr lang="en-US" altLang="zh-CN"/>
          </a:p>
        </p:txBody>
      </p:sp>
      <p:sp>
        <p:nvSpPr>
          <p:cNvPr id="15367" name="Rectangle 7" descr="Gold bar"/>
          <p:cNvSpPr>
            <a:spLocks noChangeArrowheads="1"/>
          </p:cNvSpPr>
          <p:nvPr/>
        </p:nvSpPr>
        <p:spPr bwMode="auto">
          <a:xfrm>
            <a:off x="0" y="0"/>
            <a:ext cx="24765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69" name="Rectangle 9" descr="Orange bar"/>
          <p:cNvSpPr>
            <a:spLocks noChangeArrowheads="1"/>
          </p:cNvSpPr>
          <p:nvPr/>
        </p:nvSpPr>
        <p:spPr bwMode="auto">
          <a:xfrm>
            <a:off x="0" y="2286000"/>
            <a:ext cx="24765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15370" name="Rectangle 10" descr="Slate bar"/>
          <p:cNvSpPr>
            <a:spLocks noChangeArrowheads="1"/>
          </p:cNvSpPr>
          <p:nvPr/>
        </p:nvSpPr>
        <p:spPr bwMode="auto">
          <a:xfrm>
            <a:off x="0" y="4572000"/>
            <a:ext cx="247650" cy="2286000"/>
          </a:xfrm>
          <a:prstGeom prst="rect">
            <a:avLst/>
          </a:prstGeom>
          <a:solidFill>
            <a:srgbClr val="333399"/>
          </a:solidFill>
          <a:ln>
            <a:noFill/>
          </a:ln>
          <a:effectLst/>
        </p:spPr>
        <p:txBody>
          <a:bodyPr wrap="none" anchor="ctr"/>
          <a:lstStyle/>
          <a:p>
            <a:pPr algn="ctr" eaLnBrk="1" hangingPunct="1"/>
            <a:endParaRPr lang="zh-CN" altLang="en-US" sz="2400">
              <a:latin typeface="Times New Roman" pitchFamily="18" charset="0"/>
              <a:ea typeface="宋体" pitchFamily="2" charset="-122"/>
            </a:endParaRPr>
          </a:p>
        </p:txBody>
      </p:sp>
      <p:sp>
        <p:nvSpPr>
          <p:cNvPr id="2"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71"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txStyles>
    <p:titleStyle>
      <a:lvl1pPr algn="l" rtl="0" eaLnBrk="1" fontAlgn="base" hangingPunct="1">
        <a:spcBef>
          <a:spcPct val="0"/>
        </a:spcBef>
        <a:spcAft>
          <a:spcPct val="0"/>
        </a:spcAft>
        <a:defRPr sz="4400" b="1">
          <a:solidFill>
            <a:srgbClr val="333399"/>
          </a:solidFill>
          <a:latin typeface="+mn-lt"/>
          <a:ea typeface="黑体" pitchFamily="2" charset="-122"/>
          <a:cs typeface="+mj-cs"/>
        </a:defRPr>
      </a:lvl1pPr>
      <a:lvl2pPr algn="l" rtl="0" eaLnBrk="1" fontAlgn="base" hangingPunct="1">
        <a:spcBef>
          <a:spcPct val="0"/>
        </a:spcBef>
        <a:spcAft>
          <a:spcPct val="0"/>
        </a:spcAft>
        <a:defRPr sz="4400">
          <a:solidFill>
            <a:schemeClr val="tx2"/>
          </a:solidFill>
          <a:latin typeface="Times New Roman" pitchFamily="18" charset="0"/>
        </a:defRPr>
      </a:lvl2pPr>
      <a:lvl3pPr algn="l" rtl="0" eaLnBrk="1" fontAlgn="base" hangingPunct="1">
        <a:spcBef>
          <a:spcPct val="0"/>
        </a:spcBef>
        <a:spcAft>
          <a:spcPct val="0"/>
        </a:spcAft>
        <a:defRPr sz="4400">
          <a:solidFill>
            <a:schemeClr val="tx2"/>
          </a:solidFill>
          <a:latin typeface="Times New Roman" pitchFamily="18" charset="0"/>
        </a:defRPr>
      </a:lvl3pPr>
      <a:lvl4pPr algn="l" rtl="0" eaLnBrk="1" fontAlgn="base" hangingPunct="1">
        <a:spcBef>
          <a:spcPct val="0"/>
        </a:spcBef>
        <a:spcAft>
          <a:spcPct val="0"/>
        </a:spcAft>
        <a:defRPr sz="4400">
          <a:solidFill>
            <a:schemeClr val="tx2"/>
          </a:solidFill>
          <a:latin typeface="Times New Roman" pitchFamily="18" charset="0"/>
        </a:defRPr>
      </a:lvl4pPr>
      <a:lvl5pPr algn="l" rtl="0" eaLnBrk="1" fontAlgn="base" hangingPunct="1">
        <a:spcBef>
          <a:spcPct val="0"/>
        </a:spcBef>
        <a:spcAft>
          <a:spcPct val="0"/>
        </a:spcAft>
        <a:defRPr sz="4400">
          <a:solidFill>
            <a:schemeClr val="tx2"/>
          </a:solidFill>
          <a:latin typeface="Times New Roman" pitchFamily="18" charset="0"/>
        </a:defRPr>
      </a:lvl5pPr>
      <a:lvl6pPr marL="457200" algn="l" rtl="0" eaLnBrk="1" fontAlgn="base" hangingPunct="1">
        <a:spcBef>
          <a:spcPct val="0"/>
        </a:spcBef>
        <a:spcAft>
          <a:spcPct val="0"/>
        </a:spcAft>
        <a:defRPr sz="4400">
          <a:solidFill>
            <a:schemeClr val="tx2"/>
          </a:solidFill>
          <a:latin typeface="Times New Roman" pitchFamily="18" charset="0"/>
        </a:defRPr>
      </a:lvl6pPr>
      <a:lvl7pPr marL="914400" algn="l" rtl="0" eaLnBrk="1" fontAlgn="base" hangingPunct="1">
        <a:spcBef>
          <a:spcPct val="0"/>
        </a:spcBef>
        <a:spcAft>
          <a:spcPct val="0"/>
        </a:spcAft>
        <a:defRPr sz="4400">
          <a:solidFill>
            <a:schemeClr val="tx2"/>
          </a:solidFill>
          <a:latin typeface="Times New Roman" pitchFamily="18" charset="0"/>
        </a:defRPr>
      </a:lvl7pPr>
      <a:lvl8pPr marL="1371600" algn="l" rtl="0" eaLnBrk="1" fontAlgn="base" hangingPunct="1">
        <a:spcBef>
          <a:spcPct val="0"/>
        </a:spcBef>
        <a:spcAft>
          <a:spcPct val="0"/>
        </a:spcAft>
        <a:defRPr sz="4400">
          <a:solidFill>
            <a:schemeClr val="tx2"/>
          </a:solidFill>
          <a:latin typeface="Times New Roman" pitchFamily="18" charset="0"/>
        </a:defRPr>
      </a:lvl8pPr>
      <a:lvl9pPr marL="1828800" algn="l"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rgbClr val="333399"/>
        </a:buClr>
        <a:buSzPct val="75000"/>
        <a:buFont typeface="Wingdings" pitchFamily="2" charset="2"/>
        <a:buChar char="n"/>
        <a:defRPr sz="3200" b="1">
          <a:solidFill>
            <a:schemeClr val="tx1"/>
          </a:solidFill>
          <a:latin typeface="+mn-lt"/>
          <a:ea typeface="黑体"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itchFamily="2" charset="2"/>
        <a:buChar char="n"/>
        <a:defRPr sz="2800" b="1">
          <a:solidFill>
            <a:schemeClr val="tx1"/>
          </a:solidFill>
          <a:latin typeface="+mn-lt"/>
          <a:ea typeface="黑体" pitchFamily="2" charset="-122"/>
        </a:defRPr>
      </a:lvl2pPr>
      <a:lvl3pPr marL="1143000" indent="-228600" algn="l" rtl="0" eaLnBrk="1" fontAlgn="base" hangingPunct="1">
        <a:spcBef>
          <a:spcPct val="20000"/>
        </a:spcBef>
        <a:spcAft>
          <a:spcPct val="0"/>
        </a:spcAft>
        <a:buClr>
          <a:srgbClr val="333399"/>
        </a:buClr>
        <a:buSzPct val="65000"/>
        <a:buFont typeface="Wingdings" pitchFamily="2" charset="2"/>
        <a:buChar char="p"/>
        <a:defRPr sz="2400" b="1">
          <a:solidFill>
            <a:schemeClr val="tx1"/>
          </a:solidFill>
          <a:latin typeface="+mn-lt"/>
          <a:ea typeface="黑体" pitchFamily="2" charset="-122"/>
        </a:defRPr>
      </a:lvl3pPr>
      <a:lvl4pPr marL="1600200" indent="-228600" algn="l" rtl="0" eaLnBrk="1" fontAlgn="base" hangingPunct="1">
        <a:spcBef>
          <a:spcPct val="20000"/>
        </a:spcBef>
        <a:spcAft>
          <a:spcPct val="0"/>
        </a:spcAft>
        <a:buClr>
          <a:schemeClr val="bg2"/>
        </a:buClr>
        <a:buSzPct val="65000"/>
        <a:buFont typeface="Wingdings" pitchFamily="2" charset="2"/>
        <a:buChar char="n"/>
        <a:defRPr sz="2000" b="1">
          <a:solidFill>
            <a:schemeClr val="tx1"/>
          </a:solidFill>
          <a:latin typeface="+mn-lt"/>
          <a:ea typeface="黑体" pitchFamily="2" charset="-122"/>
        </a:defRPr>
      </a:lvl4pPr>
      <a:lvl5pPr marL="2057400" indent="-228600" algn="l" rtl="0" eaLnBrk="1" fontAlgn="base" hangingPunct="1">
        <a:spcBef>
          <a:spcPct val="20000"/>
        </a:spcBef>
        <a:spcAft>
          <a:spcPct val="0"/>
        </a:spcAft>
        <a:buClr>
          <a:srgbClr val="333399"/>
        </a:buClr>
        <a:buSzPct val="60000"/>
        <a:buFont typeface="Wingdings" pitchFamily="2" charset="2"/>
        <a:buChar char="n"/>
        <a:defRPr sz="2000" b="1">
          <a:solidFill>
            <a:schemeClr val="tx1"/>
          </a:solidFill>
          <a:latin typeface="+mn-lt"/>
          <a:ea typeface="黑体" pitchFamily="2" charset="-122"/>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5.wmf"/><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8.wmf"/><Relationship Id="rId4" Type="http://schemas.openxmlformats.org/officeDocument/2006/relationships/oleObject" Target="../embeddings/oleObject2.bin"/></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zh-CN" altLang="en-US" dirty="0"/>
              <a:t>概述</a:t>
            </a:r>
            <a:endParaRPr lang="zh-CN" altLang="en-US" dirty="0">
              <a:ea typeface="宋体" pitchFamily="2" charset="-122"/>
            </a:endParaRPr>
          </a:p>
        </p:txBody>
      </p:sp>
      <p:sp>
        <p:nvSpPr>
          <p:cNvPr id="2051" name="Rectangle 3"/>
          <p:cNvSpPr>
            <a:spLocks noGrp="1" noChangeArrowheads="1"/>
          </p:cNvSpPr>
          <p:nvPr>
            <p:ph type="subTitle" idx="1"/>
          </p:nvPr>
        </p:nvSpPr>
        <p:spPr/>
        <p:txBody>
          <a:bodyPr/>
          <a:lstStyle/>
          <a:p>
            <a:endParaRPr lang="zh-CN" altLang="en-US">
              <a:ea typeface="宋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概述</a:t>
            </a:r>
            <a:endParaRPr lang="zh-CN" altLang="en-US" dirty="0">
              <a:ea typeface="宋体" pitchFamily="2" charset="-122"/>
            </a:endParaRPr>
          </a:p>
        </p:txBody>
      </p:sp>
      <p:sp>
        <p:nvSpPr>
          <p:cNvPr id="18435" name="Rectangle 3"/>
          <p:cNvSpPr>
            <a:spLocks noGrp="1" noChangeArrowheads="1"/>
          </p:cNvSpPr>
          <p:nvPr>
            <p:ph type="body" idx="1"/>
          </p:nvPr>
        </p:nvSpPr>
        <p:spPr/>
        <p:txBody>
          <a:bodyPr/>
          <a:lstStyle/>
          <a:p>
            <a:r>
              <a:rPr lang="zh-CN" altLang="en-US" dirty="0"/>
              <a:t>计算机网络概述</a:t>
            </a:r>
            <a:endParaRPr lang="en-US" altLang="zh-CN" dirty="0"/>
          </a:p>
          <a:p>
            <a:r>
              <a:rPr lang="en-US" altLang="zh-CN" dirty="0"/>
              <a:t>Internet</a:t>
            </a:r>
            <a:r>
              <a:rPr lang="zh-CN" altLang="zh-CN" dirty="0"/>
              <a:t>概述</a:t>
            </a:r>
            <a:endParaRPr lang="en-US" altLang="zh-CN" dirty="0"/>
          </a:p>
          <a:p>
            <a:r>
              <a:rPr lang="en-US" altLang="zh-CN" dirty="0"/>
              <a:t>Internet</a:t>
            </a:r>
            <a:r>
              <a:rPr lang="zh-CN" altLang="en-US" dirty="0"/>
              <a:t>的组成</a:t>
            </a:r>
            <a:endParaRPr lang="en-US" altLang="zh-CN" dirty="0"/>
          </a:p>
          <a:p>
            <a:r>
              <a:rPr lang="zh-CN" altLang="zh-CN" dirty="0"/>
              <a:t>计算机网络的性能</a:t>
            </a:r>
            <a:r>
              <a:rPr lang="zh-CN" altLang="en-US" dirty="0"/>
              <a:t>指标</a:t>
            </a:r>
            <a:endParaRPr lang="en-US" altLang="zh-CN" dirty="0"/>
          </a:p>
          <a:p>
            <a:r>
              <a:rPr lang="zh-CN" altLang="zh-CN" dirty="0"/>
              <a:t>计算机网络的体系结构</a:t>
            </a:r>
            <a:endParaRPr lang="zh-CN" altLang="en-US" dirty="0">
              <a:ea typeface="宋体" pitchFamily="2" charset="-122"/>
            </a:endParaRPr>
          </a:p>
        </p:txBody>
      </p:sp>
    </p:spTree>
    <p:extLst>
      <p:ext uri="{BB962C8B-B14F-4D97-AF65-F5344CB8AC3E}">
        <p14:creationId xmlns:p14="http://schemas.microsoft.com/office/powerpoint/2010/main" val="3323019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概述</a:t>
            </a:r>
            <a:endParaRPr lang="zh-CN" altLang="en-US" dirty="0">
              <a:ea typeface="宋体" pitchFamily="2" charset="-122"/>
            </a:endParaRPr>
          </a:p>
        </p:txBody>
      </p:sp>
      <p:sp>
        <p:nvSpPr>
          <p:cNvPr id="18435" name="Rectangle 3"/>
          <p:cNvSpPr>
            <a:spLocks noGrp="1" noChangeArrowheads="1"/>
          </p:cNvSpPr>
          <p:nvPr>
            <p:ph type="body" idx="1"/>
          </p:nvPr>
        </p:nvSpPr>
        <p:spPr/>
        <p:txBody>
          <a:bodyPr/>
          <a:lstStyle/>
          <a:p>
            <a:r>
              <a:rPr lang="zh-CN" altLang="en-US" sz="3600" dirty="0">
                <a:solidFill>
                  <a:srgbClr val="FF0000"/>
                </a:solidFill>
              </a:rPr>
              <a:t>计算机网络概述</a:t>
            </a:r>
            <a:endParaRPr lang="en-US" altLang="zh-CN" sz="3600" dirty="0">
              <a:solidFill>
                <a:srgbClr val="FF0000"/>
              </a:solidFill>
            </a:endParaRPr>
          </a:p>
          <a:p>
            <a:r>
              <a:rPr lang="en-US" altLang="zh-CN" dirty="0">
                <a:solidFill>
                  <a:schemeClr val="bg1">
                    <a:lumMod val="65000"/>
                  </a:schemeClr>
                </a:solidFill>
              </a:rPr>
              <a:t>Internet</a:t>
            </a:r>
            <a:r>
              <a:rPr lang="zh-CN" altLang="zh-CN" dirty="0">
                <a:solidFill>
                  <a:schemeClr val="bg1">
                    <a:lumMod val="65000"/>
                  </a:schemeClr>
                </a:solidFill>
              </a:rPr>
              <a:t>概述</a:t>
            </a:r>
            <a:endParaRPr lang="en-US" altLang="zh-CN" dirty="0">
              <a:solidFill>
                <a:schemeClr val="bg1">
                  <a:lumMod val="65000"/>
                </a:schemeClr>
              </a:solidFill>
            </a:endParaRPr>
          </a:p>
          <a:p>
            <a:r>
              <a:rPr lang="en-US" altLang="zh-CN" dirty="0">
                <a:solidFill>
                  <a:schemeClr val="bg1">
                    <a:lumMod val="65000"/>
                  </a:schemeClr>
                </a:solidFill>
              </a:rPr>
              <a:t>Internet</a:t>
            </a:r>
            <a:r>
              <a:rPr lang="zh-CN" altLang="en-US" dirty="0">
                <a:solidFill>
                  <a:schemeClr val="bg1">
                    <a:lumMod val="65000"/>
                  </a:schemeClr>
                </a:solidFill>
              </a:rPr>
              <a:t>的组成</a:t>
            </a:r>
            <a:endParaRPr lang="en-US" altLang="zh-CN" dirty="0">
              <a:solidFill>
                <a:schemeClr val="bg1">
                  <a:lumMod val="65000"/>
                </a:schemeClr>
              </a:solidFill>
            </a:endParaRPr>
          </a:p>
          <a:p>
            <a:r>
              <a:rPr lang="zh-CN" altLang="zh-CN" dirty="0">
                <a:solidFill>
                  <a:schemeClr val="bg1">
                    <a:lumMod val="65000"/>
                  </a:schemeClr>
                </a:solidFill>
              </a:rPr>
              <a:t>计算机网络的性能</a:t>
            </a:r>
            <a:r>
              <a:rPr lang="zh-CN" altLang="en-US" dirty="0">
                <a:solidFill>
                  <a:schemeClr val="bg1">
                    <a:lumMod val="65000"/>
                  </a:schemeClr>
                </a:solidFill>
              </a:rPr>
              <a:t>指标</a:t>
            </a:r>
            <a:endParaRPr lang="en-US" altLang="zh-CN" dirty="0">
              <a:solidFill>
                <a:schemeClr val="bg1">
                  <a:lumMod val="65000"/>
                </a:schemeClr>
              </a:solidFill>
            </a:endParaRPr>
          </a:p>
          <a:p>
            <a:r>
              <a:rPr lang="zh-CN" altLang="zh-CN" dirty="0">
                <a:solidFill>
                  <a:schemeClr val="bg1">
                    <a:lumMod val="65000"/>
                  </a:schemeClr>
                </a:solidFill>
              </a:rPr>
              <a:t>计算机网络的体系结构</a:t>
            </a:r>
            <a:endParaRPr lang="zh-CN" altLang="en-US" dirty="0">
              <a:solidFill>
                <a:schemeClr val="bg1">
                  <a:lumMod val="65000"/>
                </a:schemeClr>
              </a:solidFill>
              <a:ea typeface="宋体" pitchFamily="2" charset="-122"/>
            </a:endParaRPr>
          </a:p>
        </p:txBody>
      </p:sp>
    </p:spTree>
    <p:extLst>
      <p:ext uri="{BB962C8B-B14F-4D97-AF65-F5344CB8AC3E}">
        <p14:creationId xmlns:p14="http://schemas.microsoft.com/office/powerpoint/2010/main" val="1895500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计算机网络概述：定义</a:t>
            </a:r>
          </a:p>
        </p:txBody>
      </p:sp>
      <p:sp>
        <p:nvSpPr>
          <p:cNvPr id="3" name="内容占位符 2"/>
          <p:cNvSpPr>
            <a:spLocks noGrp="1"/>
          </p:cNvSpPr>
          <p:nvPr>
            <p:ph idx="1"/>
          </p:nvPr>
        </p:nvSpPr>
        <p:spPr/>
        <p:txBody>
          <a:bodyPr/>
          <a:lstStyle/>
          <a:p>
            <a:r>
              <a:rPr lang="zh-CN" altLang="en-US" dirty="0"/>
              <a:t>计算机网络的定义</a:t>
            </a:r>
          </a:p>
          <a:p>
            <a:pPr lvl="1"/>
            <a:r>
              <a:rPr lang="zh-CN" altLang="en-US" dirty="0">
                <a:solidFill>
                  <a:srgbClr val="FF3300"/>
                </a:solidFill>
              </a:rPr>
              <a:t>计算机网络的精确定义并未统一！</a:t>
            </a:r>
          </a:p>
          <a:p>
            <a:pPr lvl="1"/>
            <a:r>
              <a:rPr lang="zh-CN" altLang="en-US" dirty="0"/>
              <a:t>一种较复杂的定义：凡是将</a:t>
            </a:r>
            <a:r>
              <a:rPr lang="zh-CN" altLang="en-US" dirty="0">
                <a:solidFill>
                  <a:srgbClr val="FF0000"/>
                </a:solidFill>
              </a:rPr>
              <a:t>地理位置不同</a:t>
            </a:r>
            <a:r>
              <a:rPr lang="zh-CN" altLang="en-US" dirty="0"/>
              <a:t>，并具有</a:t>
            </a:r>
            <a:r>
              <a:rPr lang="zh-CN" altLang="en-US" dirty="0">
                <a:solidFill>
                  <a:srgbClr val="FF0000"/>
                </a:solidFill>
              </a:rPr>
              <a:t>独立功能</a:t>
            </a:r>
            <a:r>
              <a:rPr lang="zh-CN" altLang="en-US" dirty="0"/>
              <a:t>的多个计算机设备通过</a:t>
            </a:r>
            <a:r>
              <a:rPr lang="zh-CN" altLang="en-US" dirty="0">
                <a:solidFill>
                  <a:srgbClr val="FF0000"/>
                </a:solidFill>
              </a:rPr>
              <a:t>通信设备</a:t>
            </a:r>
            <a:r>
              <a:rPr lang="zh-CN" altLang="en-US" dirty="0"/>
              <a:t>和</a:t>
            </a:r>
            <a:r>
              <a:rPr lang="zh-CN" altLang="en-US" dirty="0">
                <a:solidFill>
                  <a:srgbClr val="FF0000"/>
                </a:solidFill>
              </a:rPr>
              <a:t>通信媒介</a:t>
            </a:r>
            <a:r>
              <a:rPr lang="zh-CN" altLang="en-US" dirty="0"/>
              <a:t>连接起来，以功能完善的</a:t>
            </a:r>
            <a:r>
              <a:rPr lang="zh-CN" altLang="en-US" dirty="0">
                <a:solidFill>
                  <a:srgbClr val="FF0000"/>
                </a:solidFill>
              </a:rPr>
              <a:t>软件</a:t>
            </a:r>
            <a:r>
              <a:rPr lang="en-US" altLang="zh-CN" dirty="0"/>
              <a:t>(</a:t>
            </a:r>
            <a:r>
              <a:rPr lang="zh-CN" altLang="en-US" dirty="0"/>
              <a:t>即网络通信协议、信息交换方式、网络操作系统等</a:t>
            </a:r>
            <a:r>
              <a:rPr lang="en-US" altLang="zh-CN" dirty="0"/>
              <a:t>)</a:t>
            </a:r>
            <a:r>
              <a:rPr lang="zh-CN" altLang="en-US" dirty="0"/>
              <a:t>实现网络中</a:t>
            </a:r>
            <a:r>
              <a:rPr lang="zh-CN" altLang="en-US" dirty="0">
                <a:solidFill>
                  <a:srgbClr val="FF0000"/>
                </a:solidFill>
              </a:rPr>
              <a:t>资源共享</a:t>
            </a:r>
            <a:r>
              <a:rPr lang="zh-CN" altLang="en-US" dirty="0"/>
              <a:t>和</a:t>
            </a:r>
            <a:r>
              <a:rPr lang="zh-CN" altLang="en-US" dirty="0">
                <a:solidFill>
                  <a:srgbClr val="FF0000"/>
                </a:solidFill>
              </a:rPr>
              <a:t>通信</a:t>
            </a:r>
            <a:r>
              <a:rPr lang="zh-CN" altLang="en-US" dirty="0"/>
              <a:t>的系统</a:t>
            </a:r>
            <a:endParaRPr lang="en-US" altLang="zh-CN" dirty="0"/>
          </a:p>
          <a:p>
            <a:pPr lvl="1"/>
            <a:r>
              <a:rPr lang="zh-CN" altLang="en-US" dirty="0"/>
              <a:t>简要的定义：连接</a:t>
            </a:r>
            <a:r>
              <a:rPr lang="zh-CN" altLang="en-US" dirty="0">
                <a:solidFill>
                  <a:srgbClr val="FF0000"/>
                </a:solidFill>
              </a:rPr>
              <a:t>分散</a:t>
            </a:r>
            <a:r>
              <a:rPr lang="zh-CN" altLang="en-US" dirty="0"/>
              <a:t>计算机设备以实现</a:t>
            </a:r>
            <a:r>
              <a:rPr lang="zh-CN" altLang="en-US" dirty="0">
                <a:solidFill>
                  <a:srgbClr val="FF0000"/>
                </a:solidFill>
              </a:rPr>
              <a:t>资源共享</a:t>
            </a:r>
            <a:r>
              <a:rPr lang="zh-CN" altLang="en-US" dirty="0"/>
              <a:t>和</a:t>
            </a:r>
            <a:r>
              <a:rPr lang="zh-CN" altLang="en-US" dirty="0">
                <a:solidFill>
                  <a:srgbClr val="FF0000"/>
                </a:solidFill>
              </a:rPr>
              <a:t>通信</a:t>
            </a:r>
            <a:r>
              <a:rPr lang="zh-CN" altLang="en-US" dirty="0"/>
              <a:t>的系统</a:t>
            </a:r>
          </a:p>
          <a:p>
            <a:pPr marL="457200" lvl="1" indent="0">
              <a:buNone/>
            </a:pPr>
            <a:endParaRPr lang="zh-CN" altLang="en-US" dirty="0"/>
          </a:p>
          <a:p>
            <a:pPr lvl="1"/>
            <a:endParaRPr lang="zh-CN" altLang="en-US" dirty="0"/>
          </a:p>
        </p:txBody>
      </p:sp>
    </p:spTree>
    <p:extLst>
      <p:ext uri="{BB962C8B-B14F-4D97-AF65-F5344CB8AC3E}">
        <p14:creationId xmlns:p14="http://schemas.microsoft.com/office/powerpoint/2010/main" val="1677320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dirty="0"/>
              <a:t>计算机网络概述：三类网络</a:t>
            </a:r>
          </a:p>
        </p:txBody>
      </p:sp>
      <p:sp>
        <p:nvSpPr>
          <p:cNvPr id="3" name="内容占位符 2"/>
          <p:cNvSpPr>
            <a:spLocks noGrp="1"/>
          </p:cNvSpPr>
          <p:nvPr>
            <p:ph idx="1"/>
          </p:nvPr>
        </p:nvSpPr>
        <p:spPr/>
        <p:txBody>
          <a:bodyPr/>
          <a:lstStyle/>
          <a:p>
            <a:r>
              <a:rPr lang="en-US" altLang="zh-CN" dirty="0"/>
              <a:t>21 </a:t>
            </a:r>
            <a:r>
              <a:rPr lang="zh-CN" altLang="en-US" dirty="0"/>
              <a:t>世纪的一些重要特征是</a:t>
            </a:r>
            <a:r>
              <a:rPr lang="zh-CN" altLang="en-US" dirty="0">
                <a:solidFill>
                  <a:srgbClr val="0000CC"/>
                </a:solidFill>
              </a:rPr>
              <a:t>数字化</a:t>
            </a:r>
            <a:r>
              <a:rPr lang="zh-CN" altLang="en-US" dirty="0"/>
              <a:t>、</a:t>
            </a:r>
            <a:r>
              <a:rPr lang="zh-CN" altLang="en-US" dirty="0">
                <a:solidFill>
                  <a:srgbClr val="0000CC"/>
                </a:solidFill>
              </a:rPr>
              <a:t>网络化</a:t>
            </a:r>
            <a:r>
              <a:rPr lang="zh-CN" altLang="en-US" dirty="0"/>
              <a:t>和</a:t>
            </a:r>
            <a:r>
              <a:rPr lang="zh-CN" altLang="en-US" dirty="0">
                <a:solidFill>
                  <a:srgbClr val="0000CC"/>
                </a:solidFill>
              </a:rPr>
              <a:t>信息化</a:t>
            </a:r>
            <a:r>
              <a:rPr lang="zh-CN" altLang="en-US" dirty="0"/>
              <a:t>，它是一个以</a:t>
            </a:r>
            <a:r>
              <a:rPr lang="zh-CN" altLang="en-US" dirty="0">
                <a:solidFill>
                  <a:srgbClr val="FF0000"/>
                </a:solidFill>
              </a:rPr>
              <a:t>网络为核心</a:t>
            </a:r>
            <a:r>
              <a:rPr lang="zh-CN" altLang="en-US" dirty="0"/>
              <a:t>的信息时代。</a:t>
            </a:r>
            <a:endParaRPr lang="en-US" altLang="zh-CN" dirty="0"/>
          </a:p>
          <a:p>
            <a:r>
              <a:rPr lang="zh-CN" altLang="en-US" dirty="0"/>
              <a:t>大众熟悉的三大类网络有：</a:t>
            </a:r>
            <a:endParaRPr lang="en-US" altLang="zh-CN" dirty="0"/>
          </a:p>
          <a:p>
            <a:pPr lvl="1"/>
            <a:r>
              <a:rPr lang="zh-CN" altLang="en-US" dirty="0">
                <a:solidFill>
                  <a:srgbClr val="0000CC"/>
                </a:solidFill>
              </a:rPr>
              <a:t>电信网络：</a:t>
            </a:r>
            <a:r>
              <a:rPr lang="zh-CN" altLang="zh-CN" dirty="0"/>
              <a:t>提供电话、电报及传真等服务</a:t>
            </a:r>
            <a:r>
              <a:rPr lang="zh-CN" altLang="en-US" dirty="0"/>
              <a:t>；</a:t>
            </a:r>
            <a:endParaRPr lang="en-US" altLang="zh-CN" dirty="0"/>
          </a:p>
          <a:p>
            <a:pPr lvl="1"/>
            <a:r>
              <a:rPr lang="zh-CN" altLang="en-US" dirty="0">
                <a:solidFill>
                  <a:srgbClr val="0000CC"/>
                </a:solidFill>
              </a:rPr>
              <a:t>有线电视网络：</a:t>
            </a:r>
            <a:r>
              <a:rPr lang="zh-CN" altLang="zh-CN" dirty="0"/>
              <a:t>向用户传送各种电视节目</a:t>
            </a:r>
            <a:r>
              <a:rPr lang="zh-CN" altLang="en-US" dirty="0"/>
              <a:t>；</a:t>
            </a:r>
            <a:endParaRPr lang="en-US" altLang="zh-CN" dirty="0"/>
          </a:p>
          <a:p>
            <a:pPr lvl="1"/>
            <a:r>
              <a:rPr lang="zh-CN" altLang="en-US" dirty="0">
                <a:solidFill>
                  <a:srgbClr val="0000CC"/>
                </a:solidFill>
              </a:rPr>
              <a:t>计算机网络：</a:t>
            </a:r>
            <a:r>
              <a:rPr lang="zh-CN" altLang="zh-CN" dirty="0"/>
              <a:t>使用户</a:t>
            </a:r>
            <a:r>
              <a:rPr lang="zh-CN" altLang="en-US" dirty="0"/>
              <a:t>能</a:t>
            </a:r>
            <a:r>
              <a:rPr lang="zh-CN" altLang="zh-CN" dirty="0"/>
              <a:t>在计算机之间传送数据文件</a:t>
            </a:r>
            <a:r>
              <a:rPr lang="zh-CN" altLang="en-US" dirty="0"/>
              <a:t>；</a:t>
            </a:r>
          </a:p>
          <a:p>
            <a:endParaRPr lang="zh-CN" altLang="en-US" dirty="0"/>
          </a:p>
        </p:txBody>
      </p:sp>
      <p:sp>
        <p:nvSpPr>
          <p:cNvPr id="4" name="矩形 3"/>
          <p:cNvSpPr/>
          <p:nvPr/>
        </p:nvSpPr>
        <p:spPr>
          <a:xfrm>
            <a:off x="632520" y="4797152"/>
            <a:ext cx="9001000" cy="535531"/>
          </a:xfrm>
          <a:prstGeom prst="rect">
            <a:avLst/>
          </a:prstGeom>
          <a:solidFill>
            <a:srgbClr val="FFC000"/>
          </a:solidFill>
        </p:spPr>
        <p:txBody>
          <a:bodyPr wrap="square">
            <a:spAutoFit/>
          </a:bodyPr>
          <a:lstStyle/>
          <a:p>
            <a:pPr algn="ctr">
              <a:lnSpc>
                <a:spcPct val="90000"/>
              </a:lnSpc>
            </a:pPr>
            <a:r>
              <a:rPr lang="zh-CN" altLang="en-US" sz="3200" b="1" dirty="0">
                <a:latin typeface="+mn-lt"/>
                <a:ea typeface="黑体" pitchFamily="2" charset="-122"/>
              </a:rPr>
              <a:t>发展最快的并起到核心作用的是计算机网络。</a:t>
            </a:r>
            <a:endParaRPr lang="en-US" altLang="zh-CN" sz="3200" b="1" dirty="0">
              <a:latin typeface="+mn-lt"/>
              <a:ea typeface="黑体" pitchFamily="2" charset="-122"/>
            </a:endParaRPr>
          </a:p>
        </p:txBody>
      </p:sp>
    </p:spTree>
    <p:extLst>
      <p:ext uri="{BB962C8B-B14F-4D97-AF65-F5344CB8AC3E}">
        <p14:creationId xmlns:p14="http://schemas.microsoft.com/office/powerpoint/2010/main" val="3826466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dirty="0"/>
              <a:t>计算机网络概述：分类</a:t>
            </a:r>
          </a:p>
        </p:txBody>
      </p:sp>
      <p:sp>
        <p:nvSpPr>
          <p:cNvPr id="8192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00000"/>
              </a:lnSpc>
              <a:spcBef>
                <a:spcPts val="1200"/>
              </a:spcBef>
            </a:pPr>
            <a:r>
              <a:rPr lang="zh-CN" altLang="en-US" sz="2800" dirty="0"/>
              <a:t>按照网络的作用范围进行分类</a:t>
            </a:r>
            <a:endParaRPr lang="en-US" altLang="zh-CN" sz="2800" dirty="0">
              <a:solidFill>
                <a:srgbClr val="FF0000"/>
              </a:solidFill>
            </a:endParaRPr>
          </a:p>
          <a:p>
            <a:pPr lvl="1">
              <a:lnSpc>
                <a:spcPct val="100000"/>
              </a:lnSpc>
              <a:spcBef>
                <a:spcPts val="1200"/>
              </a:spcBef>
            </a:pPr>
            <a:r>
              <a:rPr lang="zh-CN" altLang="en-US" sz="2400" dirty="0">
                <a:solidFill>
                  <a:srgbClr val="FF0000"/>
                </a:solidFill>
              </a:rPr>
              <a:t>广域网 </a:t>
            </a:r>
            <a:r>
              <a:rPr lang="en-US" altLang="zh-CN" sz="2400" dirty="0">
                <a:solidFill>
                  <a:srgbClr val="FF0000"/>
                </a:solidFill>
              </a:rPr>
              <a:t>WAN </a:t>
            </a:r>
            <a:r>
              <a:rPr lang="en-US" altLang="zh-CN" sz="2400" dirty="0"/>
              <a:t>(Wide Area Network)</a:t>
            </a:r>
            <a:r>
              <a:rPr lang="zh-CN" altLang="en-US" sz="2400" dirty="0"/>
              <a:t>：</a:t>
            </a:r>
            <a:r>
              <a:rPr lang="zh-CN" altLang="zh-CN" sz="2400" dirty="0"/>
              <a:t>作用范围通常为几十到几千公里</a:t>
            </a:r>
            <a:r>
              <a:rPr lang="zh-CN" altLang="en-US" sz="2400" dirty="0"/>
              <a:t>。</a:t>
            </a:r>
            <a:endParaRPr lang="en-US" altLang="zh-CN" sz="2400" dirty="0"/>
          </a:p>
          <a:p>
            <a:pPr lvl="1">
              <a:lnSpc>
                <a:spcPct val="100000"/>
              </a:lnSpc>
              <a:spcBef>
                <a:spcPts val="1200"/>
              </a:spcBef>
            </a:pPr>
            <a:r>
              <a:rPr lang="zh-CN" altLang="en-US" sz="2400" dirty="0">
                <a:solidFill>
                  <a:srgbClr val="FF0000"/>
                </a:solidFill>
              </a:rPr>
              <a:t>城域网 </a:t>
            </a:r>
            <a:r>
              <a:rPr lang="en-US" altLang="zh-CN" sz="2400" dirty="0">
                <a:solidFill>
                  <a:srgbClr val="FF0000"/>
                </a:solidFill>
              </a:rPr>
              <a:t>MAN </a:t>
            </a:r>
            <a:r>
              <a:rPr lang="en-US" altLang="zh-CN" sz="2400" dirty="0"/>
              <a:t>(Metropolitan Area Network)</a:t>
            </a:r>
            <a:r>
              <a:rPr lang="zh-CN" altLang="en-US" sz="2400" dirty="0"/>
              <a:t>：</a:t>
            </a:r>
            <a:r>
              <a:rPr lang="zh-CN" altLang="zh-CN" sz="2400" dirty="0"/>
              <a:t>作用距离约为</a:t>
            </a:r>
            <a:r>
              <a:rPr lang="en-US" altLang="zh-CN" sz="2400" dirty="0"/>
              <a:t>  5 ~ 50 </a:t>
            </a:r>
            <a:r>
              <a:rPr lang="zh-CN" altLang="en-US" sz="2400" dirty="0"/>
              <a:t>公里。</a:t>
            </a:r>
            <a:endParaRPr lang="en-US" altLang="zh-CN" sz="2400" dirty="0"/>
          </a:p>
          <a:p>
            <a:pPr lvl="1">
              <a:lnSpc>
                <a:spcPct val="100000"/>
              </a:lnSpc>
              <a:spcBef>
                <a:spcPts val="1200"/>
              </a:spcBef>
            </a:pPr>
            <a:r>
              <a:rPr lang="zh-CN" altLang="en-US" sz="2400" dirty="0">
                <a:solidFill>
                  <a:srgbClr val="FF0000"/>
                </a:solidFill>
              </a:rPr>
              <a:t>局域网 </a:t>
            </a:r>
            <a:r>
              <a:rPr lang="en-US" altLang="zh-CN" sz="2400" dirty="0">
                <a:solidFill>
                  <a:srgbClr val="FF0000"/>
                </a:solidFill>
              </a:rPr>
              <a:t>LAN </a:t>
            </a:r>
            <a:r>
              <a:rPr lang="en-US" altLang="zh-CN" sz="2400" dirty="0"/>
              <a:t>(Local Area Network) </a:t>
            </a:r>
            <a:r>
              <a:rPr lang="zh-CN" altLang="en-US" sz="2400" dirty="0"/>
              <a:t>：</a:t>
            </a:r>
            <a:r>
              <a:rPr lang="zh-CN" altLang="zh-CN" sz="2400" dirty="0"/>
              <a:t>局限在较小的范围（如</a:t>
            </a:r>
            <a:r>
              <a:rPr lang="en-US" altLang="zh-CN" sz="2400" dirty="0"/>
              <a:t> 1 </a:t>
            </a:r>
            <a:r>
              <a:rPr lang="zh-CN" altLang="en-US" sz="2400" dirty="0"/>
              <a:t>公里</a:t>
            </a:r>
            <a:r>
              <a:rPr lang="zh-CN" altLang="zh-CN" sz="2400" dirty="0"/>
              <a:t>左右）</a:t>
            </a:r>
            <a:r>
              <a:rPr lang="zh-CN" altLang="en-US" sz="2400" dirty="0"/>
              <a:t>。</a:t>
            </a:r>
            <a:endParaRPr lang="en-US" altLang="zh-CN" sz="2400" dirty="0"/>
          </a:p>
          <a:p>
            <a:pPr lvl="1">
              <a:lnSpc>
                <a:spcPct val="100000"/>
              </a:lnSpc>
              <a:spcBef>
                <a:spcPts val="1200"/>
              </a:spcBef>
            </a:pPr>
            <a:r>
              <a:rPr lang="zh-CN" altLang="en-US" sz="2400" dirty="0">
                <a:solidFill>
                  <a:srgbClr val="FF0000"/>
                </a:solidFill>
              </a:rPr>
              <a:t>个人区域网 </a:t>
            </a:r>
            <a:r>
              <a:rPr lang="en-US" altLang="zh-CN" sz="2400" dirty="0">
                <a:solidFill>
                  <a:srgbClr val="FF0000"/>
                </a:solidFill>
              </a:rPr>
              <a:t>PAN </a:t>
            </a:r>
            <a:r>
              <a:rPr lang="en-US" altLang="zh-CN" sz="2400" dirty="0"/>
              <a:t>(Personal Area Network) </a:t>
            </a:r>
            <a:r>
              <a:rPr lang="zh-CN" altLang="en-US" sz="2400" dirty="0"/>
              <a:t>：</a:t>
            </a:r>
            <a:r>
              <a:rPr lang="zh-CN" altLang="zh-CN" sz="2400" dirty="0"/>
              <a:t>范围很小，大约在</a:t>
            </a:r>
            <a:r>
              <a:rPr lang="en-US" altLang="zh-CN" sz="2400" dirty="0"/>
              <a:t> 10 </a:t>
            </a:r>
            <a:r>
              <a:rPr lang="zh-CN" altLang="en-US" sz="2400" dirty="0"/>
              <a:t>米</a:t>
            </a:r>
            <a:r>
              <a:rPr lang="zh-CN" altLang="zh-CN" sz="2400" dirty="0"/>
              <a:t>左右</a:t>
            </a:r>
            <a:r>
              <a:rPr lang="zh-CN" altLang="en-US" sz="2400" dirty="0"/>
              <a:t>。</a:t>
            </a:r>
            <a:endParaRPr lang="en-US" altLang="zh-CN" sz="2400" dirty="0"/>
          </a:p>
        </p:txBody>
      </p:sp>
      <p:sp>
        <p:nvSpPr>
          <p:cNvPr id="2" name="Rectangle 1"/>
          <p:cNvSpPr>
            <a:spLocks noChangeArrowheads="1"/>
          </p:cNvSpPr>
          <p:nvPr/>
        </p:nvSpPr>
        <p:spPr bwMode="auto">
          <a:xfrm>
            <a:off x="416496" y="5445224"/>
            <a:ext cx="9345488" cy="904863"/>
          </a:xfrm>
          <a:prstGeom prst="rect">
            <a:avLst/>
          </a:prstGeom>
          <a:solidFill>
            <a:srgbClr val="FFFF66"/>
          </a:solidFill>
          <a:ln>
            <a:solidFill>
              <a:schemeClr val="tx1"/>
            </a:solidFill>
          </a:ln>
        </p:spPr>
        <p:txBody>
          <a:bodyPr wrap="square">
            <a:spAutoFit/>
          </a:bodyPr>
          <a:lstStyle/>
          <a:p>
            <a:pPr>
              <a:lnSpc>
                <a:spcPct val="110000"/>
              </a:lnSpc>
            </a:pPr>
            <a:r>
              <a:rPr lang="zh-CN" altLang="en-US" sz="2400" b="1" dirty="0">
                <a:solidFill>
                  <a:srgbClr val="000099"/>
                </a:solidFill>
                <a:latin typeface="+mn-lt"/>
                <a:ea typeface="黑体" pitchFamily="2" charset="-122"/>
              </a:rPr>
              <a:t>若中央处理机之间的距离非常近（如仅</a:t>
            </a:r>
            <a:r>
              <a:rPr lang="en-US" altLang="zh-CN" sz="2400" b="1" dirty="0">
                <a:solidFill>
                  <a:srgbClr val="000099"/>
                </a:solidFill>
                <a:latin typeface="+mn-lt"/>
                <a:ea typeface="黑体" pitchFamily="2" charset="-122"/>
              </a:rPr>
              <a:t>1</a:t>
            </a:r>
            <a:r>
              <a:rPr lang="zh-CN" altLang="en-US" sz="2400" b="1" dirty="0">
                <a:solidFill>
                  <a:srgbClr val="000099"/>
                </a:solidFill>
                <a:latin typeface="+mn-lt"/>
                <a:ea typeface="黑体" pitchFamily="2" charset="-122"/>
              </a:rPr>
              <a:t>米的数量级甚至更小些），则一般就称之为</a:t>
            </a:r>
            <a:r>
              <a:rPr lang="zh-CN" altLang="en-US" sz="2400" b="1" dirty="0">
                <a:solidFill>
                  <a:srgbClr val="FF0000"/>
                </a:solidFill>
                <a:latin typeface="+mn-lt"/>
                <a:ea typeface="黑体" pitchFamily="2" charset="-122"/>
              </a:rPr>
              <a:t>多处理机系统，</a:t>
            </a:r>
            <a:r>
              <a:rPr lang="zh-CN" altLang="en-US" sz="2400" b="1" dirty="0">
                <a:solidFill>
                  <a:srgbClr val="000099"/>
                </a:solidFill>
                <a:latin typeface="+mn-lt"/>
                <a:ea typeface="黑体" pitchFamily="2" charset="-122"/>
              </a:rPr>
              <a:t>而不称它为计算机网络。 </a:t>
            </a:r>
          </a:p>
        </p:txBody>
      </p:sp>
    </p:spTree>
    <p:extLst>
      <p:ext uri="{BB962C8B-B14F-4D97-AF65-F5344CB8AC3E}">
        <p14:creationId xmlns:p14="http://schemas.microsoft.com/office/powerpoint/2010/main" val="3967273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zh-CN" altLang="en-US" dirty="0"/>
              <a:t>计算机网络概述：分类</a:t>
            </a:r>
          </a:p>
        </p:txBody>
      </p:sp>
      <p:sp>
        <p:nvSpPr>
          <p:cNvPr id="16486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t>按照</a:t>
            </a:r>
            <a:r>
              <a:rPr lang="zh-CN" altLang="zh-CN" dirty="0"/>
              <a:t>网络的使用者进行分类</a:t>
            </a:r>
            <a:endParaRPr lang="en-US" altLang="zh-CN" dirty="0">
              <a:solidFill>
                <a:srgbClr val="FF0000"/>
              </a:solidFill>
            </a:endParaRPr>
          </a:p>
          <a:p>
            <a:pPr lvl="1"/>
            <a:r>
              <a:rPr lang="zh-CN" altLang="en-US" dirty="0">
                <a:solidFill>
                  <a:srgbClr val="FF0000"/>
                </a:solidFill>
              </a:rPr>
              <a:t>公用网</a:t>
            </a:r>
            <a:r>
              <a:rPr lang="zh-CN" altLang="en-US" dirty="0"/>
              <a:t> </a:t>
            </a:r>
            <a:r>
              <a:rPr lang="en-US" altLang="zh-CN" dirty="0"/>
              <a:t>(public network) </a:t>
            </a:r>
          </a:p>
          <a:p>
            <a:pPr lvl="2"/>
            <a:r>
              <a:rPr lang="zh-CN" altLang="en-US" dirty="0"/>
              <a:t>按</a:t>
            </a:r>
            <a:r>
              <a:rPr lang="zh-CN" altLang="zh-CN" dirty="0"/>
              <a:t>规定交纳费用的人都可以</a:t>
            </a:r>
            <a:r>
              <a:rPr lang="zh-CN" altLang="en-US" dirty="0"/>
              <a:t>使用的</a:t>
            </a:r>
            <a:r>
              <a:rPr lang="zh-CN" altLang="zh-CN" dirty="0"/>
              <a:t>网络。因此也可称为公众网。</a:t>
            </a:r>
            <a:endParaRPr lang="en-US" altLang="zh-CN" dirty="0"/>
          </a:p>
          <a:p>
            <a:pPr lvl="1"/>
            <a:r>
              <a:rPr lang="zh-CN" altLang="en-US" dirty="0">
                <a:solidFill>
                  <a:srgbClr val="FF0000"/>
                </a:solidFill>
              </a:rPr>
              <a:t>专用网 </a:t>
            </a:r>
            <a:r>
              <a:rPr lang="en-US" altLang="zh-CN" dirty="0"/>
              <a:t>(private network) </a:t>
            </a:r>
          </a:p>
          <a:p>
            <a:pPr lvl="2"/>
            <a:r>
              <a:rPr lang="zh-CN" altLang="zh-CN" dirty="0"/>
              <a:t>为特殊业务工作的需要而建造的网络</a:t>
            </a:r>
            <a:r>
              <a:rPr lang="zh-CN" altLang="en-US" dirty="0"/>
              <a:t>。</a:t>
            </a:r>
            <a:endParaRPr lang="en-US" altLang="zh-CN" dirty="0"/>
          </a:p>
        </p:txBody>
      </p:sp>
      <p:sp>
        <p:nvSpPr>
          <p:cNvPr id="2" name="矩形 1"/>
          <p:cNvSpPr/>
          <p:nvPr/>
        </p:nvSpPr>
        <p:spPr>
          <a:xfrm>
            <a:off x="560512" y="4365104"/>
            <a:ext cx="9001000" cy="999697"/>
          </a:xfrm>
          <a:prstGeom prst="rect">
            <a:avLst/>
          </a:prstGeom>
          <a:solidFill>
            <a:srgbClr val="FFFF66"/>
          </a:solidFill>
          <a:ln>
            <a:solidFill>
              <a:schemeClr val="tx1"/>
            </a:solidFill>
          </a:ln>
        </p:spPr>
        <p:txBody>
          <a:bodyPr wrap="square">
            <a:spAutoFit/>
          </a:bodyPr>
          <a:lstStyle/>
          <a:p>
            <a:pPr>
              <a:lnSpc>
                <a:spcPct val="110000"/>
              </a:lnSpc>
            </a:pPr>
            <a:r>
              <a:rPr lang="zh-CN" altLang="zh-CN" sz="2800" b="1" dirty="0">
                <a:solidFill>
                  <a:srgbClr val="000099"/>
                </a:solidFill>
                <a:latin typeface="+mn-lt"/>
                <a:ea typeface="黑体" pitchFamily="2" charset="-122"/>
              </a:rPr>
              <a:t>公用网和专用网都可以提供多种服务。如传送的是计算机数据，则分别是公用计算机网络和专用计算机网络。</a:t>
            </a:r>
            <a:endParaRPr lang="zh-CN" altLang="en-US" sz="2800" b="1" dirty="0">
              <a:solidFill>
                <a:srgbClr val="000099"/>
              </a:solidFill>
              <a:latin typeface="+mn-lt"/>
              <a:ea typeface="黑体" pitchFamily="2" charset="-122"/>
            </a:endParaRPr>
          </a:p>
        </p:txBody>
      </p:sp>
    </p:spTree>
    <p:extLst>
      <p:ext uri="{BB962C8B-B14F-4D97-AF65-F5344CB8AC3E}">
        <p14:creationId xmlns:p14="http://schemas.microsoft.com/office/powerpoint/2010/main" val="19631127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概述</a:t>
            </a:r>
            <a:endParaRPr lang="zh-CN" altLang="en-US" dirty="0">
              <a:ea typeface="宋体" pitchFamily="2" charset="-122"/>
            </a:endParaRPr>
          </a:p>
        </p:txBody>
      </p:sp>
      <p:sp>
        <p:nvSpPr>
          <p:cNvPr id="18435" name="Rectangle 3"/>
          <p:cNvSpPr>
            <a:spLocks noGrp="1" noChangeArrowheads="1"/>
          </p:cNvSpPr>
          <p:nvPr>
            <p:ph type="body" idx="1"/>
          </p:nvPr>
        </p:nvSpPr>
        <p:spPr/>
        <p:txBody>
          <a:bodyPr/>
          <a:lstStyle/>
          <a:p>
            <a:r>
              <a:rPr lang="zh-CN" altLang="en-US" dirty="0">
                <a:solidFill>
                  <a:schemeClr val="bg1">
                    <a:lumMod val="65000"/>
                  </a:schemeClr>
                </a:solidFill>
              </a:rPr>
              <a:t>计算机网络概述</a:t>
            </a:r>
            <a:endParaRPr lang="en-US" altLang="zh-CN" dirty="0">
              <a:solidFill>
                <a:schemeClr val="bg1">
                  <a:lumMod val="65000"/>
                </a:schemeClr>
              </a:solidFill>
            </a:endParaRPr>
          </a:p>
          <a:p>
            <a:r>
              <a:rPr lang="en-US" altLang="zh-CN" sz="3600" dirty="0">
                <a:solidFill>
                  <a:srgbClr val="FF0000"/>
                </a:solidFill>
              </a:rPr>
              <a:t>Internet</a:t>
            </a:r>
            <a:r>
              <a:rPr lang="zh-CN" altLang="zh-CN" sz="3600" dirty="0">
                <a:solidFill>
                  <a:srgbClr val="FF0000"/>
                </a:solidFill>
              </a:rPr>
              <a:t>概述</a:t>
            </a:r>
            <a:endParaRPr lang="en-US" altLang="zh-CN" sz="3600" dirty="0">
              <a:solidFill>
                <a:srgbClr val="FF0000"/>
              </a:solidFill>
            </a:endParaRPr>
          </a:p>
          <a:p>
            <a:r>
              <a:rPr lang="en-US" altLang="zh-CN" dirty="0">
                <a:solidFill>
                  <a:schemeClr val="bg1">
                    <a:lumMod val="65000"/>
                  </a:schemeClr>
                </a:solidFill>
              </a:rPr>
              <a:t>Internet</a:t>
            </a:r>
            <a:r>
              <a:rPr lang="zh-CN" altLang="en-US" dirty="0">
                <a:solidFill>
                  <a:schemeClr val="bg1">
                    <a:lumMod val="65000"/>
                  </a:schemeClr>
                </a:solidFill>
              </a:rPr>
              <a:t>的组成</a:t>
            </a:r>
            <a:endParaRPr lang="en-US" altLang="zh-CN" dirty="0">
              <a:solidFill>
                <a:schemeClr val="bg1">
                  <a:lumMod val="65000"/>
                </a:schemeClr>
              </a:solidFill>
            </a:endParaRPr>
          </a:p>
          <a:p>
            <a:r>
              <a:rPr lang="zh-CN" altLang="zh-CN" dirty="0">
                <a:solidFill>
                  <a:schemeClr val="bg1">
                    <a:lumMod val="65000"/>
                  </a:schemeClr>
                </a:solidFill>
              </a:rPr>
              <a:t>计算机网络的性能</a:t>
            </a:r>
            <a:r>
              <a:rPr lang="zh-CN" altLang="en-US" dirty="0">
                <a:solidFill>
                  <a:schemeClr val="bg1">
                    <a:lumMod val="65000"/>
                  </a:schemeClr>
                </a:solidFill>
              </a:rPr>
              <a:t>指标</a:t>
            </a:r>
            <a:endParaRPr lang="en-US" altLang="zh-CN" dirty="0">
              <a:solidFill>
                <a:schemeClr val="bg1">
                  <a:lumMod val="65000"/>
                </a:schemeClr>
              </a:solidFill>
            </a:endParaRPr>
          </a:p>
          <a:p>
            <a:r>
              <a:rPr lang="zh-CN" altLang="zh-CN" dirty="0">
                <a:solidFill>
                  <a:schemeClr val="bg1">
                    <a:lumMod val="65000"/>
                  </a:schemeClr>
                </a:solidFill>
              </a:rPr>
              <a:t>计算机网络的体系结构</a:t>
            </a:r>
            <a:endParaRPr lang="zh-CN" altLang="en-US" dirty="0">
              <a:solidFill>
                <a:schemeClr val="bg1">
                  <a:lumMod val="65000"/>
                </a:schemeClr>
              </a:solidFill>
              <a:ea typeface="宋体" pitchFamily="2" charset="-122"/>
            </a:endParaRPr>
          </a:p>
        </p:txBody>
      </p:sp>
    </p:spTree>
    <p:extLst>
      <p:ext uri="{BB962C8B-B14F-4D97-AF65-F5344CB8AC3E}">
        <p14:creationId xmlns:p14="http://schemas.microsoft.com/office/powerpoint/2010/main" val="2178395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Internet</a:t>
            </a:r>
            <a:r>
              <a:rPr lang="zh-CN" altLang="zh-CN" sz="4000" dirty="0"/>
              <a:t>概述</a:t>
            </a:r>
            <a:r>
              <a:rPr lang="zh-CN" altLang="en-US" sz="4000" dirty="0"/>
              <a:t>：网络的网络</a:t>
            </a:r>
          </a:p>
        </p:txBody>
      </p:sp>
      <p:sp>
        <p:nvSpPr>
          <p:cNvPr id="3" name="内容占位符 2"/>
          <p:cNvSpPr>
            <a:spLocks noGrp="1"/>
          </p:cNvSpPr>
          <p:nvPr>
            <p:ph idx="1"/>
          </p:nvPr>
        </p:nvSpPr>
        <p:spPr/>
        <p:txBody>
          <a:bodyPr/>
          <a:lstStyle/>
          <a:p>
            <a:r>
              <a:rPr lang="zh-CN" altLang="zh-CN" dirty="0">
                <a:solidFill>
                  <a:srgbClr val="0000CC"/>
                </a:solidFill>
              </a:rPr>
              <a:t>互连网</a:t>
            </a:r>
            <a:r>
              <a:rPr lang="en-US" altLang="zh-CN" dirty="0">
                <a:solidFill>
                  <a:srgbClr val="0000CC"/>
                </a:solidFill>
              </a:rPr>
              <a:t> (internetwork </a:t>
            </a:r>
            <a:r>
              <a:rPr lang="zh-CN" altLang="zh-CN" dirty="0">
                <a:solidFill>
                  <a:srgbClr val="0000CC"/>
                </a:solidFill>
              </a:rPr>
              <a:t>或</a:t>
            </a:r>
            <a:r>
              <a:rPr lang="en-US" altLang="zh-CN" dirty="0">
                <a:solidFill>
                  <a:srgbClr val="0000CC"/>
                </a:solidFill>
              </a:rPr>
              <a:t> internet)</a:t>
            </a:r>
          </a:p>
          <a:p>
            <a:pPr lvl="1"/>
            <a:r>
              <a:rPr lang="zh-CN" altLang="en-US" dirty="0"/>
              <a:t>可以</a:t>
            </a:r>
            <a:r>
              <a:rPr lang="zh-CN" altLang="zh-CN" dirty="0"/>
              <a:t>通过路由器</a:t>
            </a:r>
            <a:r>
              <a:rPr lang="zh-CN" altLang="en-US" dirty="0"/>
              <a:t>把</a:t>
            </a:r>
            <a:r>
              <a:rPr lang="zh-CN" altLang="zh-CN" dirty="0"/>
              <a:t>网络互连起来，这就构成了一个覆盖范围更大的计算机网络</a:t>
            </a:r>
            <a:r>
              <a:rPr lang="zh-CN" altLang="en-US" dirty="0"/>
              <a:t>，称之为</a:t>
            </a:r>
            <a:r>
              <a:rPr lang="zh-CN" altLang="zh-CN" dirty="0"/>
              <a:t>互连网。</a:t>
            </a:r>
            <a:endParaRPr lang="zh-CN" altLang="en-US" dirty="0"/>
          </a:p>
          <a:p>
            <a:pPr lvl="1"/>
            <a:r>
              <a:rPr lang="zh-CN" altLang="zh-CN" dirty="0"/>
              <a:t>“</a:t>
            </a:r>
            <a:r>
              <a:rPr lang="zh-CN" altLang="zh-CN" dirty="0">
                <a:solidFill>
                  <a:srgbClr val="FF0000"/>
                </a:solidFill>
              </a:rPr>
              <a:t>网络的网络</a:t>
            </a:r>
            <a:r>
              <a:rPr lang="zh-CN" altLang="zh-CN" dirty="0"/>
              <a:t>”</a:t>
            </a:r>
            <a:r>
              <a:rPr lang="en-US" altLang="zh-CN" dirty="0"/>
              <a:t>(network of networks)</a:t>
            </a:r>
            <a:r>
              <a:rPr lang="zh-CN" altLang="en-US" dirty="0"/>
              <a:t>。</a:t>
            </a:r>
            <a:endParaRPr lang="en-US" altLang="zh-CN" dirty="0"/>
          </a:p>
          <a:p>
            <a:r>
              <a:rPr lang="en-US" altLang="zh-CN" dirty="0">
                <a:solidFill>
                  <a:srgbClr val="0000CC"/>
                </a:solidFill>
              </a:rPr>
              <a:t>Internet (</a:t>
            </a:r>
            <a:r>
              <a:rPr lang="zh-CN" altLang="en-US" dirty="0">
                <a:solidFill>
                  <a:srgbClr val="0000CC"/>
                </a:solidFill>
              </a:rPr>
              <a:t>因特网、互联网</a:t>
            </a:r>
            <a:r>
              <a:rPr lang="en-US" altLang="zh-CN" dirty="0">
                <a:solidFill>
                  <a:srgbClr val="0000CC"/>
                </a:solidFill>
              </a:rPr>
              <a:t>)</a:t>
            </a:r>
          </a:p>
          <a:p>
            <a:pPr lvl="1"/>
            <a:r>
              <a:rPr lang="zh-CN" altLang="en-US" dirty="0"/>
              <a:t>特指</a:t>
            </a:r>
            <a:r>
              <a:rPr lang="en-US" altLang="zh-CN" dirty="0"/>
              <a:t>Internet</a:t>
            </a:r>
            <a:r>
              <a:rPr lang="zh-CN" altLang="en-US" dirty="0"/>
              <a:t>，</a:t>
            </a:r>
            <a:r>
              <a:rPr lang="zh-CN" altLang="zh-CN" dirty="0"/>
              <a:t>起源于美国</a:t>
            </a:r>
            <a:r>
              <a:rPr lang="zh-CN" altLang="en-US" dirty="0"/>
              <a:t>，</a:t>
            </a:r>
            <a:r>
              <a:rPr lang="zh-CN" altLang="zh-CN" dirty="0"/>
              <a:t>现已发展成为世界上最大的</a:t>
            </a:r>
            <a:r>
              <a:rPr lang="zh-CN" altLang="en-US" dirty="0"/>
              <a:t>、</a:t>
            </a:r>
            <a:r>
              <a:rPr lang="zh-CN" altLang="zh-CN" dirty="0"/>
              <a:t>覆盖全球的计算机网络</a:t>
            </a:r>
            <a:r>
              <a:rPr lang="zh-CN" altLang="en-US" dirty="0"/>
              <a:t>。</a:t>
            </a:r>
            <a:endParaRPr lang="en-US" altLang="zh-CN" dirty="0"/>
          </a:p>
        </p:txBody>
      </p:sp>
    </p:spTree>
    <p:extLst>
      <p:ext uri="{BB962C8B-B14F-4D97-AF65-F5344CB8AC3E}">
        <p14:creationId xmlns:p14="http://schemas.microsoft.com/office/powerpoint/2010/main" val="2215480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4000" dirty="0"/>
              <a:t>Internet</a:t>
            </a:r>
            <a:r>
              <a:rPr lang="zh-CN" altLang="zh-CN" sz="4000" dirty="0"/>
              <a:t>概述</a:t>
            </a:r>
            <a:r>
              <a:rPr lang="zh-CN" altLang="en-US" sz="4000" dirty="0"/>
              <a:t>：网络的网络</a:t>
            </a:r>
          </a:p>
        </p:txBody>
      </p:sp>
      <p:grpSp>
        <p:nvGrpSpPr>
          <p:cNvPr id="207" name="组合 206"/>
          <p:cNvGrpSpPr/>
          <p:nvPr/>
        </p:nvGrpSpPr>
        <p:grpSpPr>
          <a:xfrm>
            <a:off x="552659" y="1196752"/>
            <a:ext cx="9152869" cy="4330933"/>
            <a:chOff x="552659" y="1196752"/>
            <a:chExt cx="9152869" cy="4330933"/>
          </a:xfrm>
        </p:grpSpPr>
        <p:grpSp>
          <p:nvGrpSpPr>
            <p:cNvPr id="177" name="组合 176"/>
            <p:cNvGrpSpPr/>
            <p:nvPr/>
          </p:nvGrpSpPr>
          <p:grpSpPr>
            <a:xfrm>
              <a:off x="2293827" y="1196752"/>
              <a:ext cx="3324001" cy="3565503"/>
              <a:chOff x="2504629" y="1635667"/>
              <a:chExt cx="2915723" cy="2907445"/>
            </a:xfrm>
          </p:grpSpPr>
          <p:sp>
            <p:nvSpPr>
              <p:cNvPr id="19" name="Text Box 1183"/>
              <p:cNvSpPr txBox="1">
                <a:spLocks noChangeArrowheads="1"/>
              </p:cNvSpPr>
              <p:nvPr/>
            </p:nvSpPr>
            <p:spPr bwMode="auto">
              <a:xfrm>
                <a:off x="3806379" y="4241945"/>
                <a:ext cx="413130"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dirty="0">
                    <a:ln>
                      <a:noFill/>
                    </a:ln>
                    <a:solidFill>
                      <a:srgbClr val="000000"/>
                    </a:solidFill>
                    <a:effectLst/>
                    <a:uLnTx/>
                    <a:uFillTx/>
                    <a:latin typeface="Times New Roman" charset="0"/>
                    <a:ea typeface="宋体" charset="-122"/>
                  </a:rPr>
                  <a:t>(a)</a:t>
                </a:r>
              </a:p>
            </p:txBody>
          </p:sp>
          <p:grpSp>
            <p:nvGrpSpPr>
              <p:cNvPr id="21" name="Group 1282"/>
              <p:cNvGrpSpPr>
                <a:grpSpLocks/>
              </p:cNvGrpSpPr>
              <p:nvPr/>
            </p:nvGrpSpPr>
            <p:grpSpPr bwMode="auto">
              <a:xfrm>
                <a:off x="2504629" y="2111400"/>
                <a:ext cx="2741613" cy="1844675"/>
                <a:chOff x="1680" y="240"/>
                <a:chExt cx="2529" cy="1270"/>
              </a:xfrm>
            </p:grpSpPr>
            <p:sp>
              <p:nvSpPr>
                <p:cNvPr id="22" name="Oval 1283"/>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3" name="Oval 1284"/>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4" name="Oval 1285"/>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5" name="Oval 1286"/>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6" name="Oval 1287"/>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7" name="Oval 1288"/>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8" name="Oval 1289"/>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9" name="Oval 1290"/>
                <p:cNvSpPr>
                  <a:spLocks noChangeArrowheads="1"/>
                </p:cNvSpPr>
                <p:nvPr/>
              </p:nvSpPr>
              <p:spPr bwMode="auto">
                <a:xfrm>
                  <a:off x="3335" y="753"/>
                  <a:ext cx="797"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0" name="Oval 1291"/>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31" name="Line 1503"/>
              <p:cNvSpPr>
                <a:spLocks noChangeShapeType="1"/>
              </p:cNvSpPr>
              <p:nvPr/>
            </p:nvSpPr>
            <p:spPr bwMode="auto">
              <a:xfrm flipH="1" flipV="1">
                <a:off x="4087367" y="2398738"/>
                <a:ext cx="727075" cy="9366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2" name="Text Box 1185"/>
              <p:cNvSpPr txBox="1">
                <a:spLocks noChangeArrowheads="1"/>
              </p:cNvSpPr>
              <p:nvPr/>
            </p:nvSpPr>
            <p:spPr bwMode="auto">
              <a:xfrm>
                <a:off x="2815953" y="1635667"/>
                <a:ext cx="2604399" cy="37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00"/>
                    </a:solidFill>
                    <a:effectLst/>
                    <a:uLnTx/>
                    <a:uFillTx/>
                    <a:latin typeface="Times New Roman" charset="0"/>
                    <a:ea typeface="宋体" charset="-122"/>
                  </a:rPr>
                  <a:t>计算机网络（网络）</a:t>
                </a:r>
              </a:p>
            </p:txBody>
          </p:sp>
          <p:sp>
            <p:nvSpPr>
              <p:cNvPr id="119" name="Line 1209"/>
              <p:cNvSpPr>
                <a:spLocks noChangeShapeType="1"/>
              </p:cNvSpPr>
              <p:nvPr/>
            </p:nvSpPr>
            <p:spPr bwMode="auto">
              <a:xfrm flipV="1">
                <a:off x="2936429" y="2398738"/>
                <a:ext cx="935038" cy="6492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0" name="Line 1204"/>
              <p:cNvSpPr>
                <a:spLocks noChangeShapeType="1"/>
              </p:cNvSpPr>
              <p:nvPr/>
            </p:nvSpPr>
            <p:spPr bwMode="auto">
              <a:xfrm flipV="1">
                <a:off x="3728592" y="2398738"/>
                <a:ext cx="215900" cy="10810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pic>
            <p:nvPicPr>
              <p:cNvPr id="121" name="Picture 12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91967" y="2903563"/>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 name="Picture 15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2692" y="3406800"/>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 name="Picture 15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6654" y="3263925"/>
                <a:ext cx="30956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 name="Picture 14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3742879" y="2298725"/>
                <a:ext cx="434975" cy="25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64" name="Oval 1520"/>
              <p:cNvSpPr>
                <a:spLocks noChangeArrowheads="1"/>
              </p:cNvSpPr>
              <p:nvPr/>
            </p:nvSpPr>
            <p:spPr bwMode="auto">
              <a:xfrm>
                <a:off x="4673154" y="3195663"/>
                <a:ext cx="431800" cy="431800"/>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5" name="Text Box 1523"/>
              <p:cNvSpPr txBox="1">
                <a:spLocks noChangeArrowheads="1"/>
              </p:cNvSpPr>
              <p:nvPr/>
            </p:nvSpPr>
            <p:spPr bwMode="auto">
              <a:xfrm>
                <a:off x="4160392" y="2135213"/>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节点</a:t>
                </a:r>
              </a:p>
            </p:txBody>
          </p:sp>
          <p:sp>
            <p:nvSpPr>
              <p:cNvPr id="166" name="Text Box 1524"/>
              <p:cNvSpPr txBox="1">
                <a:spLocks noChangeArrowheads="1"/>
              </p:cNvSpPr>
              <p:nvPr/>
            </p:nvSpPr>
            <p:spPr bwMode="auto">
              <a:xfrm>
                <a:off x="4433442" y="2638450"/>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Times New Roman" charset="0"/>
                    <a:ea typeface="宋体" charset="-122"/>
                  </a:rPr>
                  <a:t>链路</a:t>
                </a:r>
              </a:p>
            </p:txBody>
          </p:sp>
          <p:sp>
            <p:nvSpPr>
              <p:cNvPr id="167" name="Oval 1527"/>
              <p:cNvSpPr>
                <a:spLocks noChangeArrowheads="1"/>
              </p:cNvSpPr>
              <p:nvPr/>
            </p:nvSpPr>
            <p:spPr bwMode="auto">
              <a:xfrm>
                <a:off x="3746054" y="2192363"/>
                <a:ext cx="431800" cy="431800"/>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8" name="Oval 1528"/>
              <p:cNvSpPr>
                <a:spLocks noChangeArrowheads="1"/>
              </p:cNvSpPr>
              <p:nvPr/>
            </p:nvSpPr>
            <p:spPr bwMode="auto">
              <a:xfrm>
                <a:off x="2742754" y="2865463"/>
                <a:ext cx="431800" cy="431800"/>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9" name="Oval 1529"/>
              <p:cNvSpPr>
                <a:spLocks noChangeArrowheads="1"/>
              </p:cNvSpPr>
              <p:nvPr/>
            </p:nvSpPr>
            <p:spPr bwMode="auto">
              <a:xfrm>
                <a:off x="3453954" y="3360763"/>
                <a:ext cx="431800" cy="431800"/>
              </a:xfrm>
              <a:prstGeom prst="ellipse">
                <a:avLst/>
              </a:prstGeom>
              <a:noFill/>
              <a:ln w="952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178" name="组合 177"/>
            <p:cNvGrpSpPr/>
            <p:nvPr/>
          </p:nvGrpSpPr>
          <p:grpSpPr>
            <a:xfrm>
              <a:off x="5655531" y="1196753"/>
              <a:ext cx="4049997" cy="3600399"/>
              <a:chOff x="5457379" y="1564229"/>
              <a:chExt cx="3552547" cy="2935901"/>
            </a:xfrm>
          </p:grpSpPr>
          <p:grpSp>
            <p:nvGrpSpPr>
              <p:cNvPr id="5" name="Group 1504"/>
              <p:cNvGrpSpPr>
                <a:grpSpLocks/>
              </p:cNvGrpSpPr>
              <p:nvPr/>
            </p:nvGrpSpPr>
            <p:grpSpPr bwMode="auto">
              <a:xfrm>
                <a:off x="5457379" y="1966938"/>
                <a:ext cx="3527425" cy="2160587"/>
                <a:chOff x="109" y="1226"/>
                <a:chExt cx="2516" cy="1675"/>
              </a:xfrm>
            </p:grpSpPr>
            <p:grpSp>
              <p:nvGrpSpPr>
                <p:cNvPr id="6" name="Group 1505"/>
                <p:cNvGrpSpPr>
                  <a:grpSpLocks/>
                </p:cNvGrpSpPr>
                <p:nvPr/>
              </p:nvGrpSpPr>
              <p:grpSpPr bwMode="auto">
                <a:xfrm>
                  <a:off x="109" y="1226"/>
                  <a:ext cx="2516" cy="1675"/>
                  <a:chOff x="109" y="1226"/>
                  <a:chExt cx="2516" cy="1675"/>
                </a:xfrm>
              </p:grpSpPr>
              <p:grpSp>
                <p:nvGrpSpPr>
                  <p:cNvPr id="8" name="Group 1506"/>
                  <p:cNvGrpSpPr>
                    <a:grpSpLocks/>
                  </p:cNvGrpSpPr>
                  <p:nvPr/>
                </p:nvGrpSpPr>
                <p:grpSpPr bwMode="auto">
                  <a:xfrm>
                    <a:off x="109" y="1226"/>
                    <a:ext cx="2516" cy="1675"/>
                    <a:chOff x="109" y="1226"/>
                    <a:chExt cx="2516" cy="1675"/>
                  </a:xfrm>
                </p:grpSpPr>
                <p:sp>
                  <p:nvSpPr>
                    <p:cNvPr id="10" name="Oval 150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 name="Oval 15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4"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5" name="Oval 15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 name="Oval 15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9" name="Oval 1514"/>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7"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7" name="Line 1481"/>
              <p:cNvSpPr>
                <a:spLocks noChangeShapeType="1"/>
              </p:cNvSpPr>
              <p:nvPr/>
            </p:nvSpPr>
            <p:spPr bwMode="auto">
              <a:xfrm flipH="1">
                <a:off x="7184579" y="3119463"/>
                <a:ext cx="71438" cy="5762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8" name="Line 1480"/>
              <p:cNvSpPr>
                <a:spLocks noChangeShapeType="1"/>
              </p:cNvSpPr>
              <p:nvPr/>
            </p:nvSpPr>
            <p:spPr bwMode="auto">
              <a:xfrm flipH="1" flipV="1">
                <a:off x="6740079" y="2824188"/>
                <a:ext cx="444500" cy="2238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0" name="Text Box 1184"/>
              <p:cNvSpPr txBox="1">
                <a:spLocks noChangeArrowheads="1"/>
              </p:cNvSpPr>
              <p:nvPr/>
            </p:nvSpPr>
            <p:spPr bwMode="auto">
              <a:xfrm>
                <a:off x="7267129" y="4198963"/>
                <a:ext cx="424800"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800" b="1" i="0" u="none" strike="noStrike" kern="0" cap="none" spc="0" normalizeH="0" baseline="0" noProof="0">
                    <a:ln>
                      <a:noFill/>
                    </a:ln>
                    <a:solidFill>
                      <a:srgbClr val="000000"/>
                    </a:solidFill>
                    <a:effectLst/>
                    <a:uLnTx/>
                    <a:uFillTx/>
                    <a:latin typeface="Times New Roman" charset="0"/>
                    <a:ea typeface="宋体" charset="-122"/>
                  </a:rPr>
                  <a:t>(b)</a:t>
                </a:r>
              </a:p>
            </p:txBody>
          </p:sp>
          <p:sp>
            <p:nvSpPr>
              <p:cNvPr id="33" name="Line 1296"/>
              <p:cNvSpPr>
                <a:spLocks noChangeShapeType="1"/>
              </p:cNvSpPr>
              <p:nvPr/>
            </p:nvSpPr>
            <p:spPr bwMode="auto">
              <a:xfrm flipH="1" flipV="1">
                <a:off x="6527354" y="3578250"/>
                <a:ext cx="1162050" cy="1889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4" name="Line 1297"/>
              <p:cNvSpPr>
                <a:spLocks noChangeShapeType="1"/>
              </p:cNvSpPr>
              <p:nvPr/>
            </p:nvSpPr>
            <p:spPr bwMode="auto">
              <a:xfrm flipV="1">
                <a:off x="6752779" y="2255863"/>
                <a:ext cx="358775" cy="71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5" name="Text Box 1318"/>
              <p:cNvSpPr txBox="1">
                <a:spLocks noChangeArrowheads="1"/>
              </p:cNvSpPr>
              <p:nvPr/>
            </p:nvSpPr>
            <p:spPr bwMode="auto">
              <a:xfrm>
                <a:off x="5911578" y="1564229"/>
                <a:ext cx="2875778" cy="376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00"/>
                    </a:solidFill>
                    <a:effectLst/>
                    <a:uLnTx/>
                    <a:uFillTx/>
                    <a:latin typeface="Times New Roman" charset="0"/>
                    <a:ea typeface="宋体" charset="-122"/>
                  </a:rPr>
                  <a:t>互连网（网络的网络）</a:t>
                </a:r>
              </a:p>
            </p:txBody>
          </p:sp>
          <p:sp>
            <p:nvSpPr>
              <p:cNvPr id="36" name="Line 1440"/>
              <p:cNvSpPr>
                <a:spLocks noChangeShapeType="1"/>
              </p:cNvSpPr>
              <p:nvPr/>
            </p:nvSpPr>
            <p:spPr bwMode="auto">
              <a:xfrm flipH="1">
                <a:off x="6105079" y="2832125"/>
                <a:ext cx="647700" cy="71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7" name="Line 1443"/>
              <p:cNvSpPr>
                <a:spLocks noChangeShapeType="1"/>
              </p:cNvSpPr>
              <p:nvPr/>
            </p:nvSpPr>
            <p:spPr bwMode="auto">
              <a:xfrm>
                <a:off x="7400479" y="2255863"/>
                <a:ext cx="431800" cy="142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8" name="Line 1444"/>
              <p:cNvSpPr>
                <a:spLocks noChangeShapeType="1"/>
              </p:cNvSpPr>
              <p:nvPr/>
            </p:nvSpPr>
            <p:spPr bwMode="auto">
              <a:xfrm>
                <a:off x="7976742" y="2471763"/>
                <a:ext cx="647700" cy="6477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39" name="Line 1446"/>
              <p:cNvSpPr>
                <a:spLocks noChangeShapeType="1"/>
              </p:cNvSpPr>
              <p:nvPr/>
            </p:nvSpPr>
            <p:spPr bwMode="auto">
              <a:xfrm flipH="1">
                <a:off x="7832279" y="2543200"/>
                <a:ext cx="73025" cy="431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0" name="Line 1447"/>
              <p:cNvSpPr>
                <a:spLocks noChangeShapeType="1"/>
              </p:cNvSpPr>
              <p:nvPr/>
            </p:nvSpPr>
            <p:spPr bwMode="auto">
              <a:xfrm flipV="1">
                <a:off x="6740079" y="2471763"/>
                <a:ext cx="949325" cy="3381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1" name="Line 1448"/>
              <p:cNvSpPr>
                <a:spLocks noChangeShapeType="1"/>
              </p:cNvSpPr>
              <p:nvPr/>
            </p:nvSpPr>
            <p:spPr bwMode="auto">
              <a:xfrm>
                <a:off x="6536879" y="2398738"/>
                <a:ext cx="144463" cy="4318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2" name="Line 1449"/>
              <p:cNvSpPr>
                <a:spLocks noChangeShapeType="1"/>
              </p:cNvSpPr>
              <p:nvPr/>
            </p:nvSpPr>
            <p:spPr bwMode="auto">
              <a:xfrm flipV="1">
                <a:off x="7257604" y="3048025"/>
                <a:ext cx="503238" cy="142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3" name="Line 1452"/>
              <p:cNvSpPr>
                <a:spLocks noChangeShapeType="1"/>
              </p:cNvSpPr>
              <p:nvPr/>
            </p:nvSpPr>
            <p:spPr bwMode="auto">
              <a:xfrm>
                <a:off x="7905304" y="3048025"/>
                <a:ext cx="647700" cy="714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4" name="Line 1453"/>
              <p:cNvSpPr>
                <a:spLocks noChangeShapeType="1"/>
              </p:cNvSpPr>
              <p:nvPr/>
            </p:nvSpPr>
            <p:spPr bwMode="auto">
              <a:xfrm flipH="1">
                <a:off x="6446392" y="2940075"/>
                <a:ext cx="215900" cy="503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5" name="Line 1456"/>
              <p:cNvSpPr>
                <a:spLocks noChangeShapeType="1"/>
              </p:cNvSpPr>
              <p:nvPr/>
            </p:nvSpPr>
            <p:spPr bwMode="auto">
              <a:xfrm>
                <a:off x="7832279" y="3119463"/>
                <a:ext cx="0" cy="5032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nvGrpSpPr>
              <p:cNvPr id="46" name="Group 1320"/>
              <p:cNvGrpSpPr>
                <a:grpSpLocks/>
              </p:cNvGrpSpPr>
              <p:nvPr/>
            </p:nvGrpSpPr>
            <p:grpSpPr bwMode="auto">
              <a:xfrm>
                <a:off x="6176517" y="2182838"/>
                <a:ext cx="647700" cy="360362"/>
                <a:chOff x="2949" y="196"/>
                <a:chExt cx="941" cy="598"/>
              </a:xfrm>
            </p:grpSpPr>
            <p:sp>
              <p:nvSpPr>
                <p:cNvPr id="47" name="Oval 1321"/>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8" name="Oval 1322"/>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9" name="Oval 1323"/>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0" name="Oval 1324"/>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1" name="Oval 1325"/>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2" name="Oval 1326"/>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3" name="Oval 1327"/>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4" name="Oval 1328"/>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5"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6"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7"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58" name="Group 1344"/>
              <p:cNvGrpSpPr>
                <a:grpSpLocks/>
              </p:cNvGrpSpPr>
              <p:nvPr/>
            </p:nvGrpSpPr>
            <p:grpSpPr bwMode="auto">
              <a:xfrm>
                <a:off x="7616379" y="2182838"/>
                <a:ext cx="647700" cy="503237"/>
                <a:chOff x="2949" y="196"/>
                <a:chExt cx="941" cy="598"/>
              </a:xfrm>
            </p:grpSpPr>
            <p:sp>
              <p:nvSpPr>
                <p:cNvPr id="59" name="Oval 1345"/>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0" name="Oval 1346"/>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1" name="Oval 1347"/>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2" name="Oval 1348"/>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3" name="Oval 1349"/>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4" name="Oval 1350"/>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5" name="Oval 1351"/>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6" name="Oval 1352"/>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7"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8"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9"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70" name="Group 1356"/>
              <p:cNvGrpSpPr>
                <a:grpSpLocks/>
              </p:cNvGrpSpPr>
              <p:nvPr/>
            </p:nvGrpSpPr>
            <p:grpSpPr bwMode="auto">
              <a:xfrm rot="-1072061">
                <a:off x="5562154" y="2732113"/>
                <a:ext cx="673100" cy="430212"/>
                <a:chOff x="2949" y="196"/>
                <a:chExt cx="941" cy="598"/>
              </a:xfrm>
            </p:grpSpPr>
            <p:sp>
              <p:nvSpPr>
                <p:cNvPr id="71" name="Oval 1357"/>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2" name="Oval 1358"/>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3" name="Oval 1359"/>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4" name="Oval 1360"/>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5" name="Oval 1361"/>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6" name="Oval 1362"/>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7" name="Oval 1363"/>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8" name="Oval 1364"/>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9"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0"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1"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82" name="Group 1428"/>
              <p:cNvGrpSpPr>
                <a:grpSpLocks/>
              </p:cNvGrpSpPr>
              <p:nvPr/>
            </p:nvGrpSpPr>
            <p:grpSpPr bwMode="auto">
              <a:xfrm rot="-854928">
                <a:off x="6014592" y="3344888"/>
                <a:ext cx="574675" cy="503237"/>
                <a:chOff x="2949" y="196"/>
                <a:chExt cx="941" cy="598"/>
              </a:xfrm>
            </p:grpSpPr>
            <p:sp>
              <p:nvSpPr>
                <p:cNvPr id="83" name="Oval 1429"/>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4" name="Oval 1430"/>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5" name="Oval 1431"/>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6" name="Oval 1432"/>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7" name="Oval 1433"/>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8" name="Oval 1434"/>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9" name="Oval 1435"/>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0" name="Oval 1436"/>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1"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2"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3"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94" name="Line 1445"/>
              <p:cNvSpPr>
                <a:spLocks noChangeShapeType="1"/>
              </p:cNvSpPr>
              <p:nvPr/>
            </p:nvSpPr>
            <p:spPr bwMode="auto">
              <a:xfrm flipH="1">
                <a:off x="7905304" y="3190900"/>
                <a:ext cx="719138" cy="5048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nvGrpSpPr>
              <p:cNvPr id="95" name="Group 1404"/>
              <p:cNvGrpSpPr>
                <a:grpSpLocks/>
              </p:cNvGrpSpPr>
              <p:nvPr/>
            </p:nvGrpSpPr>
            <p:grpSpPr bwMode="auto">
              <a:xfrm rot="-666782">
                <a:off x="7621142" y="3468713"/>
                <a:ext cx="536575" cy="427037"/>
                <a:chOff x="2949" y="196"/>
                <a:chExt cx="941" cy="598"/>
              </a:xfrm>
            </p:grpSpPr>
            <p:sp>
              <p:nvSpPr>
                <p:cNvPr id="96" name="Oval 1405"/>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7" name="Oval 1406"/>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8" name="Oval 1407"/>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9" name="Oval 1408"/>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0" name="Oval 1409"/>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1" name="Oval 1410"/>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2" name="Oval 1411"/>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3" name="Oval 1412"/>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4"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5"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6"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107" name="Group 1416"/>
              <p:cNvGrpSpPr>
                <a:grpSpLocks/>
              </p:cNvGrpSpPr>
              <p:nvPr/>
            </p:nvGrpSpPr>
            <p:grpSpPr bwMode="auto">
              <a:xfrm rot="282232">
                <a:off x="8408542" y="2979763"/>
                <a:ext cx="565150" cy="360362"/>
                <a:chOff x="2949" y="196"/>
                <a:chExt cx="941" cy="598"/>
              </a:xfrm>
            </p:grpSpPr>
            <p:sp>
              <p:nvSpPr>
                <p:cNvPr id="108" name="Oval 1417"/>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9" name="Oval 1418"/>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0" name="Oval 1419"/>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1" name="Oval 1420"/>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2" name="Oval 1421"/>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3" name="Oval 1422"/>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4" name="Oval 1423"/>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5" name="Oval 1424"/>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6"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7"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8"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pic>
            <p:nvPicPr>
              <p:cNvPr id="123"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65442" y="271147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4"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8679" y="36227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5"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6379" y="29035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6"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1204" y="26876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7"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0117" y="21114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28"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6442" y="330202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29" name="Group 1468"/>
              <p:cNvGrpSpPr>
                <a:grpSpLocks/>
              </p:cNvGrpSpPr>
              <p:nvPr/>
            </p:nvGrpSpPr>
            <p:grpSpPr bwMode="auto">
              <a:xfrm rot="-666782">
                <a:off x="6938517" y="2909913"/>
                <a:ext cx="636587" cy="492125"/>
                <a:chOff x="2949" y="196"/>
                <a:chExt cx="941" cy="598"/>
              </a:xfrm>
            </p:grpSpPr>
            <p:sp>
              <p:nvSpPr>
                <p:cNvPr id="130" name="Oval 1469"/>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1" name="Oval 1470"/>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2" name="Oval 1471"/>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3" name="Oval 1472"/>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4" name="Oval 1473"/>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5" name="Oval 1474"/>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6" name="Oval 1475"/>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7" name="Oval 1476"/>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8"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9"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40"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70" name="Text Box 1524"/>
              <p:cNvSpPr txBox="1">
                <a:spLocks noChangeArrowheads="1"/>
              </p:cNvSpPr>
              <p:nvPr/>
            </p:nvSpPr>
            <p:spPr bwMode="auto">
              <a:xfrm>
                <a:off x="6966063" y="3024602"/>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171" name="Text Box 1524"/>
              <p:cNvSpPr txBox="1">
                <a:spLocks noChangeArrowheads="1"/>
              </p:cNvSpPr>
              <p:nvPr/>
            </p:nvSpPr>
            <p:spPr bwMode="auto">
              <a:xfrm>
                <a:off x="8418822" y="3000902"/>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172" name="Text Box 1524"/>
              <p:cNvSpPr txBox="1">
                <a:spLocks noChangeArrowheads="1"/>
              </p:cNvSpPr>
              <p:nvPr/>
            </p:nvSpPr>
            <p:spPr bwMode="auto">
              <a:xfrm>
                <a:off x="6045510" y="3435628"/>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173" name="Text Box 1524"/>
              <p:cNvSpPr txBox="1">
                <a:spLocks noChangeArrowheads="1"/>
              </p:cNvSpPr>
              <p:nvPr/>
            </p:nvSpPr>
            <p:spPr bwMode="auto">
              <a:xfrm>
                <a:off x="7675872" y="2253045"/>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Times New Roman" charset="0"/>
                    <a:ea typeface="宋体" charset="-122"/>
                  </a:rPr>
                  <a:t>网络</a:t>
                </a:r>
              </a:p>
            </p:txBody>
          </p:sp>
          <p:sp>
            <p:nvSpPr>
              <p:cNvPr id="174" name="Text Box 1524"/>
              <p:cNvSpPr txBox="1">
                <a:spLocks noChangeArrowheads="1"/>
              </p:cNvSpPr>
              <p:nvPr/>
            </p:nvSpPr>
            <p:spPr bwMode="auto">
              <a:xfrm>
                <a:off x="5631172" y="2809511"/>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Times New Roman" charset="0"/>
                    <a:ea typeface="宋体" charset="-122"/>
                  </a:rPr>
                  <a:t>网络</a:t>
                </a:r>
              </a:p>
            </p:txBody>
          </p:sp>
          <p:sp>
            <p:nvSpPr>
              <p:cNvPr id="175" name="Text Box 1524"/>
              <p:cNvSpPr txBox="1">
                <a:spLocks noChangeArrowheads="1"/>
              </p:cNvSpPr>
              <p:nvPr/>
            </p:nvSpPr>
            <p:spPr bwMode="auto">
              <a:xfrm>
                <a:off x="6208101" y="2202550"/>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176" name="Text Box 1524"/>
              <p:cNvSpPr txBox="1">
                <a:spLocks noChangeArrowheads="1"/>
              </p:cNvSpPr>
              <p:nvPr/>
            </p:nvSpPr>
            <p:spPr bwMode="auto">
              <a:xfrm>
                <a:off x="7629835" y="3527809"/>
                <a:ext cx="591104" cy="301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Times New Roman" charset="0"/>
                    <a:ea typeface="宋体" charset="-122"/>
                  </a:rPr>
                  <a:t>网络</a:t>
                </a:r>
              </a:p>
            </p:txBody>
          </p:sp>
        </p:grpSp>
        <p:sp>
          <p:nvSpPr>
            <p:cNvPr id="179" name="矩形 178"/>
            <p:cNvSpPr/>
            <p:nvPr/>
          </p:nvSpPr>
          <p:spPr>
            <a:xfrm>
              <a:off x="552659" y="5066020"/>
              <a:ext cx="9143458" cy="461665"/>
            </a:xfrm>
            <a:prstGeom prst="rect">
              <a:avLst/>
            </a:prstGeom>
          </p:spPr>
          <p:txBody>
            <a:bodyPr wrap="square">
              <a:spAutoFit/>
            </a:bodyPr>
            <a:lstStyle/>
            <a:p>
              <a:pPr algn="ctr"/>
              <a:r>
                <a:rPr lang="en-US" altLang="zh-CN" sz="2400" b="1" dirty="0">
                  <a:latin typeface="+mn-lt"/>
                  <a:ea typeface="黑体" pitchFamily="2" charset="-122"/>
                </a:rPr>
                <a:t>  </a:t>
              </a:r>
              <a:r>
                <a:rPr lang="zh-CN" altLang="zh-CN" sz="2400" b="1" dirty="0">
                  <a:latin typeface="+mn-lt"/>
                  <a:ea typeface="黑体" pitchFamily="2" charset="-122"/>
                </a:rPr>
                <a:t>简单的网络</a:t>
              </a:r>
              <a:r>
                <a:rPr lang="en-US" altLang="zh-CN" sz="2400" b="1" dirty="0">
                  <a:latin typeface="+mn-lt"/>
                  <a:ea typeface="黑体" pitchFamily="2" charset="-122"/>
                </a:rPr>
                <a:t> (a) </a:t>
              </a:r>
              <a:r>
                <a:rPr lang="zh-CN" altLang="zh-CN" sz="2400" b="1" dirty="0">
                  <a:latin typeface="+mn-lt"/>
                  <a:ea typeface="黑体" pitchFamily="2" charset="-122"/>
                </a:rPr>
                <a:t>和</a:t>
              </a:r>
              <a:r>
                <a:rPr lang="en-US" altLang="zh-CN" sz="2400" b="1" dirty="0">
                  <a:latin typeface="+mn-lt"/>
                  <a:ea typeface="黑体" pitchFamily="2" charset="-122"/>
                </a:rPr>
                <a:t> </a:t>
              </a:r>
              <a:r>
                <a:rPr lang="zh-CN" altLang="zh-CN" sz="2400" b="1" dirty="0">
                  <a:latin typeface="+mn-lt"/>
                  <a:ea typeface="黑体" pitchFamily="2" charset="-122"/>
                </a:rPr>
                <a:t>由网络构成的互连网</a:t>
              </a:r>
              <a:r>
                <a:rPr lang="en-US" altLang="zh-CN" sz="2400" b="1" dirty="0">
                  <a:latin typeface="+mn-lt"/>
                  <a:ea typeface="黑体" pitchFamily="2" charset="-122"/>
                </a:rPr>
                <a:t> (b)</a:t>
              </a:r>
              <a:endParaRPr lang="zh-CN" altLang="en-US" sz="2400" b="1" dirty="0">
                <a:latin typeface="+mn-lt"/>
                <a:ea typeface="黑体" pitchFamily="2" charset="-122"/>
              </a:endParaRPr>
            </a:p>
          </p:txBody>
        </p:sp>
        <p:grpSp>
          <p:nvGrpSpPr>
            <p:cNvPr id="205" name="组合 204"/>
            <p:cNvGrpSpPr/>
            <p:nvPr/>
          </p:nvGrpSpPr>
          <p:grpSpPr>
            <a:xfrm>
              <a:off x="560512" y="1798370"/>
              <a:ext cx="1436144" cy="2278702"/>
              <a:chOff x="609451" y="1582346"/>
              <a:chExt cx="1436144" cy="2278702"/>
            </a:xfrm>
          </p:grpSpPr>
          <p:sp>
            <p:nvSpPr>
              <p:cNvPr id="183" name="Text Box 1271"/>
              <p:cNvSpPr txBox="1">
                <a:spLocks noChangeArrowheads="1"/>
              </p:cNvSpPr>
              <p:nvPr/>
            </p:nvSpPr>
            <p:spPr bwMode="auto">
              <a:xfrm>
                <a:off x="1113507" y="3380505"/>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r>
                  <a:rPr lang="zh-CN" altLang="en-US" sz="1600" b="1"/>
                  <a:t>网络</a:t>
                </a:r>
              </a:p>
            </p:txBody>
          </p:sp>
          <p:sp>
            <p:nvSpPr>
              <p:cNvPr id="184" name="Text Box 1482"/>
              <p:cNvSpPr txBox="1">
                <a:spLocks noChangeArrowheads="1"/>
              </p:cNvSpPr>
              <p:nvPr/>
            </p:nvSpPr>
            <p:spPr bwMode="auto">
              <a:xfrm>
                <a:off x="1021269" y="1724374"/>
                <a:ext cx="432758" cy="32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r>
                  <a:rPr lang="zh-CN" altLang="en-US" sz="1600" dirty="0"/>
                  <a:t>图例</a:t>
                </a:r>
              </a:p>
            </p:txBody>
          </p:sp>
          <p:pic>
            <p:nvPicPr>
              <p:cNvPr id="185" name="Picture 148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2340" y="2161239"/>
                <a:ext cx="214052" cy="29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Text Box 1484"/>
              <p:cNvSpPr txBox="1">
                <a:spLocks noChangeArrowheads="1"/>
              </p:cNvSpPr>
              <p:nvPr/>
            </p:nvSpPr>
            <p:spPr bwMode="auto">
              <a:xfrm>
                <a:off x="1113507" y="2161239"/>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r>
                  <a:rPr lang="zh-CN" altLang="en-US" sz="1600" b="1" dirty="0"/>
                  <a:t>计算机</a:t>
                </a:r>
              </a:p>
            </p:txBody>
          </p:sp>
          <p:pic>
            <p:nvPicPr>
              <p:cNvPr id="187" name="Picture 1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640517">
                <a:off x="718804" y="2599627"/>
                <a:ext cx="422288" cy="325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88" name="Text Box 1486"/>
              <p:cNvSpPr txBox="1">
                <a:spLocks noChangeArrowheads="1"/>
              </p:cNvSpPr>
              <p:nvPr/>
            </p:nvSpPr>
            <p:spPr bwMode="auto">
              <a:xfrm>
                <a:off x="1113507" y="2567662"/>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r>
                  <a:rPr lang="zh-CN" altLang="en-US" sz="1600" b="1"/>
                  <a:t>集线器</a:t>
                </a:r>
              </a:p>
            </p:txBody>
          </p:sp>
          <p:pic>
            <p:nvPicPr>
              <p:cNvPr id="189" name="Picture 14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257" y="3036493"/>
                <a:ext cx="253605" cy="18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90" name="Text Box 1488"/>
              <p:cNvSpPr txBox="1">
                <a:spLocks noChangeArrowheads="1"/>
              </p:cNvSpPr>
              <p:nvPr/>
            </p:nvSpPr>
            <p:spPr bwMode="auto">
              <a:xfrm>
                <a:off x="1113507" y="2974083"/>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eaLnBrk="1" hangingPunct="1"/>
                <a:r>
                  <a:rPr lang="zh-CN" altLang="en-US" sz="1600" b="1"/>
                  <a:t>路由器</a:t>
                </a:r>
              </a:p>
            </p:txBody>
          </p:sp>
          <p:grpSp>
            <p:nvGrpSpPr>
              <p:cNvPr id="191" name="Group 1489"/>
              <p:cNvGrpSpPr>
                <a:grpSpLocks/>
              </p:cNvGrpSpPr>
              <p:nvPr/>
            </p:nvGrpSpPr>
            <p:grpSpPr bwMode="auto">
              <a:xfrm rot="20745072">
                <a:off x="767663" y="3375938"/>
                <a:ext cx="325732" cy="328791"/>
                <a:chOff x="2949" y="196"/>
                <a:chExt cx="941" cy="598"/>
              </a:xfrm>
            </p:grpSpPr>
            <p:sp>
              <p:nvSpPr>
                <p:cNvPr id="192" name="Oval 1490"/>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3" name="Oval 1491"/>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4" name="Oval 1492"/>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5" name="Oval 1493"/>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6" name="Oval 1494"/>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7" name="Oval 1495"/>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8" name="Oval 1496"/>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199" name="Oval 1497"/>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200" name="Freeform 149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201" name="Freeform 149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202" name="Freeform 150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grpSp>
          <p:sp>
            <p:nvSpPr>
              <p:cNvPr id="203" name="Rectangle 1501"/>
              <p:cNvSpPr>
                <a:spLocks noChangeArrowheads="1"/>
              </p:cNvSpPr>
              <p:nvPr/>
            </p:nvSpPr>
            <p:spPr bwMode="auto">
              <a:xfrm>
                <a:off x="609451" y="1582346"/>
                <a:ext cx="1436144" cy="2278702"/>
              </a:xfrm>
              <a:prstGeom prst="rect">
                <a:avLst/>
              </a:prstGeom>
              <a:noFill/>
              <a:ln w="76200" cmpd="tri">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dirty="0">
                  <a:latin typeface="黑体" pitchFamily="2" charset="-122"/>
                  <a:ea typeface="黑体" pitchFamily="2" charset="-122"/>
                </a:endParaRPr>
              </a:p>
            </p:txBody>
          </p:sp>
        </p:grpSp>
      </p:grpSp>
    </p:spTree>
    <p:extLst>
      <p:ext uri="{BB962C8B-B14F-4D97-AF65-F5344CB8AC3E}">
        <p14:creationId xmlns:p14="http://schemas.microsoft.com/office/powerpoint/2010/main" val="3053331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lgn="ctr"/>
            <a:r>
              <a:rPr lang="zh-CN" altLang="en-US" dirty="0"/>
              <a:t>基本概念</a:t>
            </a:r>
          </a:p>
        </p:txBody>
      </p:sp>
      <p:sp>
        <p:nvSpPr>
          <p:cNvPr id="6" name="内容占位符 5"/>
          <p:cNvSpPr>
            <a:spLocks noGrp="1"/>
          </p:cNvSpPr>
          <p:nvPr>
            <p:ph idx="1"/>
          </p:nvPr>
        </p:nvSpPr>
        <p:spPr/>
        <p:txBody>
          <a:bodyPr/>
          <a:lstStyle/>
          <a:p>
            <a:r>
              <a:rPr lang="zh-CN" altLang="zh-CN" dirty="0">
                <a:solidFill>
                  <a:srgbClr val="FF0000"/>
                </a:solidFill>
              </a:rPr>
              <a:t>网络</a:t>
            </a:r>
            <a:r>
              <a:rPr lang="zh-CN" altLang="zh-CN" dirty="0"/>
              <a:t>把许多计算机连接在一起</a:t>
            </a:r>
            <a:r>
              <a:rPr lang="zh-CN" altLang="en-US" dirty="0"/>
              <a:t>。</a:t>
            </a:r>
            <a:endParaRPr lang="en-US" altLang="zh-CN" dirty="0"/>
          </a:p>
          <a:p>
            <a:r>
              <a:rPr lang="zh-CN" altLang="zh-CN" dirty="0">
                <a:solidFill>
                  <a:srgbClr val="FF0000"/>
                </a:solidFill>
              </a:rPr>
              <a:t>互连网</a:t>
            </a:r>
            <a:r>
              <a:rPr lang="zh-CN" altLang="zh-CN" dirty="0"/>
              <a:t>则把许多网络通过路由器连接在一起</a:t>
            </a:r>
            <a:r>
              <a:rPr lang="zh-CN" altLang="en-US" dirty="0"/>
              <a:t>。</a:t>
            </a:r>
            <a:endParaRPr lang="en-US" altLang="zh-CN" dirty="0"/>
          </a:p>
          <a:p>
            <a:r>
              <a:rPr lang="zh-CN" altLang="zh-CN" dirty="0"/>
              <a:t>与网络相连的计算机常称为</a:t>
            </a:r>
            <a:r>
              <a:rPr lang="zh-CN" altLang="zh-CN" dirty="0">
                <a:solidFill>
                  <a:srgbClr val="0000CC"/>
                </a:solidFill>
              </a:rPr>
              <a:t>主机</a:t>
            </a:r>
            <a:r>
              <a:rPr lang="zh-CN" altLang="en-US" dirty="0"/>
              <a:t>。</a:t>
            </a:r>
          </a:p>
        </p:txBody>
      </p:sp>
      <p:grpSp>
        <p:nvGrpSpPr>
          <p:cNvPr id="178" name="组合 177"/>
          <p:cNvGrpSpPr/>
          <p:nvPr/>
        </p:nvGrpSpPr>
        <p:grpSpPr>
          <a:xfrm>
            <a:off x="1496616" y="3068960"/>
            <a:ext cx="7848871" cy="3143460"/>
            <a:chOff x="1496616" y="3068960"/>
            <a:chExt cx="7848871" cy="3143460"/>
          </a:xfrm>
        </p:grpSpPr>
        <p:grpSp>
          <p:nvGrpSpPr>
            <p:cNvPr id="176" name="组合 175"/>
            <p:cNvGrpSpPr/>
            <p:nvPr/>
          </p:nvGrpSpPr>
          <p:grpSpPr>
            <a:xfrm>
              <a:off x="1496616" y="3068960"/>
              <a:ext cx="5625654" cy="3143460"/>
              <a:chOff x="2068165" y="2996953"/>
              <a:chExt cx="5625654" cy="3143460"/>
            </a:xfrm>
          </p:grpSpPr>
          <p:grpSp>
            <p:nvGrpSpPr>
              <p:cNvPr id="8" name="Group 1504"/>
              <p:cNvGrpSpPr>
                <a:grpSpLocks/>
              </p:cNvGrpSpPr>
              <p:nvPr/>
            </p:nvGrpSpPr>
            <p:grpSpPr bwMode="auto">
              <a:xfrm>
                <a:off x="2775211" y="3490809"/>
                <a:ext cx="4021357" cy="2649604"/>
                <a:chOff x="109" y="1226"/>
                <a:chExt cx="2516" cy="1675"/>
              </a:xfrm>
            </p:grpSpPr>
            <p:grpSp>
              <p:nvGrpSpPr>
                <p:cNvPr id="123" name="Group 1505"/>
                <p:cNvGrpSpPr>
                  <a:grpSpLocks/>
                </p:cNvGrpSpPr>
                <p:nvPr/>
              </p:nvGrpSpPr>
              <p:grpSpPr bwMode="auto">
                <a:xfrm>
                  <a:off x="109" y="1226"/>
                  <a:ext cx="2516" cy="1675"/>
                  <a:chOff x="109" y="1226"/>
                  <a:chExt cx="2516" cy="1675"/>
                </a:xfrm>
              </p:grpSpPr>
              <p:grpSp>
                <p:nvGrpSpPr>
                  <p:cNvPr id="125" name="Group 1506"/>
                  <p:cNvGrpSpPr>
                    <a:grpSpLocks/>
                  </p:cNvGrpSpPr>
                  <p:nvPr/>
                </p:nvGrpSpPr>
                <p:grpSpPr bwMode="auto">
                  <a:xfrm>
                    <a:off x="109" y="1226"/>
                    <a:ext cx="2516" cy="1675"/>
                    <a:chOff x="109" y="1226"/>
                    <a:chExt cx="2516" cy="1675"/>
                  </a:xfrm>
                </p:grpSpPr>
                <p:sp>
                  <p:nvSpPr>
                    <p:cNvPr id="127" name="Oval 150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8"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9"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0" name="Oval 15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1"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2" name="Oval 15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3" name="Oval 15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26" name="Oval 1514"/>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124" name="Freeform 15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9" name="Line 1481"/>
              <p:cNvSpPr>
                <a:spLocks noChangeShapeType="1"/>
              </p:cNvSpPr>
              <p:nvPr/>
            </p:nvSpPr>
            <p:spPr bwMode="auto">
              <a:xfrm flipH="1">
                <a:off x="4744264" y="4904191"/>
                <a:ext cx="81441" cy="7066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 name="Line 1480"/>
              <p:cNvSpPr>
                <a:spLocks noChangeShapeType="1"/>
              </p:cNvSpPr>
              <p:nvPr/>
            </p:nvSpPr>
            <p:spPr bwMode="auto">
              <a:xfrm flipH="1" flipV="1">
                <a:off x="4237523" y="4542085"/>
                <a:ext cx="506742" cy="2744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 name="Line 1296"/>
              <p:cNvSpPr>
                <a:spLocks noChangeShapeType="1"/>
              </p:cNvSpPr>
              <p:nvPr/>
            </p:nvSpPr>
            <p:spPr bwMode="auto">
              <a:xfrm flipH="1" flipV="1">
                <a:off x="3995011" y="5466818"/>
                <a:ext cx="1324768" cy="2316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3" name="Line 1297"/>
              <p:cNvSpPr>
                <a:spLocks noChangeShapeType="1"/>
              </p:cNvSpPr>
              <p:nvPr/>
            </p:nvSpPr>
            <p:spPr bwMode="auto">
              <a:xfrm flipV="1">
                <a:off x="4252001" y="3845128"/>
                <a:ext cx="409013" cy="876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4" name="Text Box 1318"/>
              <p:cNvSpPr txBox="1">
                <a:spLocks noChangeArrowheads="1"/>
              </p:cNvSpPr>
              <p:nvPr/>
            </p:nvSpPr>
            <p:spPr bwMode="auto">
              <a:xfrm>
                <a:off x="3224808" y="2996953"/>
                <a:ext cx="32784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00"/>
                    </a:solidFill>
                    <a:effectLst/>
                    <a:uLnTx/>
                    <a:uFillTx/>
                    <a:latin typeface="Times New Roman" charset="0"/>
                    <a:ea typeface="宋体" charset="-122"/>
                  </a:rPr>
                  <a:t>互连网（网络的网络）</a:t>
                </a:r>
              </a:p>
            </p:txBody>
          </p:sp>
          <p:sp>
            <p:nvSpPr>
              <p:cNvPr id="15" name="Line 1440"/>
              <p:cNvSpPr>
                <a:spLocks noChangeShapeType="1"/>
              </p:cNvSpPr>
              <p:nvPr/>
            </p:nvSpPr>
            <p:spPr bwMode="auto">
              <a:xfrm flipH="1">
                <a:off x="3513606" y="4551818"/>
                <a:ext cx="738395" cy="876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6" name="Line 1443"/>
              <p:cNvSpPr>
                <a:spLocks noChangeShapeType="1"/>
              </p:cNvSpPr>
              <p:nvPr/>
            </p:nvSpPr>
            <p:spPr bwMode="auto">
              <a:xfrm>
                <a:off x="4990396" y="3845128"/>
                <a:ext cx="492263" cy="175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7" name="Line 1444"/>
              <p:cNvSpPr>
                <a:spLocks noChangeShapeType="1"/>
              </p:cNvSpPr>
              <p:nvPr/>
            </p:nvSpPr>
            <p:spPr bwMode="auto">
              <a:xfrm>
                <a:off x="5647351" y="4109894"/>
                <a:ext cx="738395" cy="7942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8" name="Line 1446"/>
              <p:cNvSpPr>
                <a:spLocks noChangeShapeType="1"/>
              </p:cNvSpPr>
              <p:nvPr/>
            </p:nvSpPr>
            <p:spPr bwMode="auto">
              <a:xfrm flipH="1">
                <a:off x="5482659" y="4197500"/>
                <a:ext cx="83250" cy="5295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9" name="Line 1447"/>
              <p:cNvSpPr>
                <a:spLocks noChangeShapeType="1"/>
              </p:cNvSpPr>
              <p:nvPr/>
            </p:nvSpPr>
            <p:spPr bwMode="auto">
              <a:xfrm flipV="1">
                <a:off x="4237523" y="4109894"/>
                <a:ext cx="1082255" cy="4146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0" name="Line 1448"/>
              <p:cNvSpPr>
                <a:spLocks noChangeShapeType="1"/>
              </p:cNvSpPr>
              <p:nvPr/>
            </p:nvSpPr>
            <p:spPr bwMode="auto">
              <a:xfrm>
                <a:off x="4005869" y="4020341"/>
                <a:ext cx="164692" cy="5295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1" name="Line 1449"/>
              <p:cNvSpPr>
                <a:spLocks noChangeShapeType="1"/>
              </p:cNvSpPr>
              <p:nvPr/>
            </p:nvSpPr>
            <p:spPr bwMode="auto">
              <a:xfrm flipV="1">
                <a:off x="4827515" y="4816584"/>
                <a:ext cx="573705" cy="175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2" name="Line 1452"/>
              <p:cNvSpPr>
                <a:spLocks noChangeShapeType="1"/>
              </p:cNvSpPr>
              <p:nvPr/>
            </p:nvSpPr>
            <p:spPr bwMode="auto">
              <a:xfrm>
                <a:off x="5565910" y="4816584"/>
                <a:ext cx="738395" cy="876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3" name="Line 1453"/>
              <p:cNvSpPr>
                <a:spLocks noChangeShapeType="1"/>
              </p:cNvSpPr>
              <p:nvPr/>
            </p:nvSpPr>
            <p:spPr bwMode="auto">
              <a:xfrm flipH="1">
                <a:off x="3902712" y="4684201"/>
                <a:ext cx="246132" cy="6171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4" name="Line 1456"/>
              <p:cNvSpPr>
                <a:spLocks noChangeShapeType="1"/>
              </p:cNvSpPr>
              <p:nvPr/>
            </p:nvSpPr>
            <p:spPr bwMode="auto">
              <a:xfrm>
                <a:off x="5482659" y="4904191"/>
                <a:ext cx="0" cy="6171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29" name="Line 1445"/>
              <p:cNvSpPr>
                <a:spLocks noChangeShapeType="1"/>
              </p:cNvSpPr>
              <p:nvPr/>
            </p:nvSpPr>
            <p:spPr bwMode="auto">
              <a:xfrm flipH="1">
                <a:off x="5565910" y="4991797"/>
                <a:ext cx="819836" cy="6190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pic>
            <p:nvPicPr>
              <p:cNvPr id="32"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4429" y="4403861"/>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3"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133" y="552132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4"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6528" y="4639425"/>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5"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2042" y="4374660"/>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6"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9574" y="366796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37"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6613" y="5128073"/>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141" name="直接连接符 140"/>
              <p:cNvCxnSpPr/>
              <p:nvPr/>
            </p:nvCxnSpPr>
            <p:spPr bwMode="auto">
              <a:xfrm>
                <a:off x="2718495" y="3951781"/>
                <a:ext cx="1026618" cy="9348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直接连接符 142"/>
              <p:cNvCxnSpPr/>
              <p:nvPr/>
            </p:nvCxnSpPr>
            <p:spPr bwMode="auto">
              <a:xfrm flipV="1">
                <a:off x="2376444" y="4766530"/>
                <a:ext cx="726563" cy="296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接连接符 144"/>
              <p:cNvCxnSpPr>
                <a:endCxn id="85" idx="2"/>
              </p:cNvCxnSpPr>
              <p:nvPr/>
            </p:nvCxnSpPr>
            <p:spPr bwMode="auto">
              <a:xfrm flipV="1">
                <a:off x="2594725" y="5584837"/>
                <a:ext cx="829611" cy="1597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接连接符 147"/>
              <p:cNvCxnSpPr/>
              <p:nvPr/>
            </p:nvCxnSpPr>
            <p:spPr bwMode="auto">
              <a:xfrm flipH="1" flipV="1">
                <a:off x="5636218" y="5589627"/>
                <a:ext cx="1407271" cy="16921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直接连接符 149"/>
              <p:cNvCxnSpPr/>
              <p:nvPr/>
            </p:nvCxnSpPr>
            <p:spPr bwMode="auto">
              <a:xfrm flipH="1">
                <a:off x="6603581" y="4858856"/>
                <a:ext cx="871957" cy="8998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连接符 153"/>
              <p:cNvCxnSpPr/>
              <p:nvPr/>
            </p:nvCxnSpPr>
            <p:spPr bwMode="auto">
              <a:xfrm flipH="1">
                <a:off x="5768914" y="3897464"/>
                <a:ext cx="1270645" cy="20041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4" name="Picture 12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5208"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57256"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 name="Picture 12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6444" y="54984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 name="Picture 12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8165"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97216" y="5498430"/>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8" name="Picture 12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0214"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1320"/>
              <p:cNvGrpSpPr>
                <a:grpSpLocks/>
              </p:cNvGrpSpPr>
              <p:nvPr/>
            </p:nvGrpSpPr>
            <p:grpSpPr bwMode="auto">
              <a:xfrm>
                <a:off x="3595047" y="3755575"/>
                <a:ext cx="738395" cy="441925"/>
                <a:chOff x="2949" y="196"/>
                <a:chExt cx="941" cy="598"/>
              </a:xfrm>
            </p:grpSpPr>
            <p:sp>
              <p:nvSpPr>
                <p:cNvPr id="112" name="Oval 1321"/>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3" name="Oval 1322"/>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4" name="Oval 1323"/>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5" name="Oval 1324"/>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6" name="Oval 1325"/>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7" name="Oval 1326"/>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8" name="Oval 1327"/>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9" name="Oval 1328"/>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0" name="Freeform 13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1" name="Freeform 13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22" name="Freeform 13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26" name="Group 1344"/>
              <p:cNvGrpSpPr>
                <a:grpSpLocks/>
              </p:cNvGrpSpPr>
              <p:nvPr/>
            </p:nvGrpSpPr>
            <p:grpSpPr bwMode="auto">
              <a:xfrm>
                <a:off x="5236528" y="3755575"/>
                <a:ext cx="738395" cy="617137"/>
                <a:chOff x="2949" y="196"/>
                <a:chExt cx="941" cy="598"/>
              </a:xfrm>
            </p:grpSpPr>
            <p:sp>
              <p:nvSpPr>
                <p:cNvPr id="101" name="Oval 1345"/>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2" name="Oval 1346"/>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3" name="Oval 1347"/>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4" name="Oval 1348"/>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5" name="Oval 1349"/>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6" name="Oval 1350"/>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7" name="Oval 1351"/>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8" name="Oval 1352"/>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9" name="Freeform 13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0" name="Freeform 13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11" name="Freeform 13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27" name="Group 1356"/>
              <p:cNvGrpSpPr>
                <a:grpSpLocks/>
              </p:cNvGrpSpPr>
              <p:nvPr/>
            </p:nvGrpSpPr>
            <p:grpSpPr bwMode="auto">
              <a:xfrm rot="20527939">
                <a:off x="2894657" y="4429170"/>
                <a:ext cx="767352" cy="527584"/>
                <a:chOff x="2949" y="196"/>
                <a:chExt cx="941" cy="598"/>
              </a:xfrm>
            </p:grpSpPr>
            <p:sp>
              <p:nvSpPr>
                <p:cNvPr id="90" name="Oval 1357"/>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1" name="Oval 1358"/>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2" name="Oval 1359"/>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3" name="Oval 1360"/>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4" name="Oval 1361"/>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5" name="Oval 1362"/>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6" name="Oval 1363"/>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7" name="Oval 1364"/>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8" name="Freeform 13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99" name="Freeform 13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100" name="Freeform 13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28" name="Group 1428"/>
              <p:cNvGrpSpPr>
                <a:grpSpLocks/>
              </p:cNvGrpSpPr>
              <p:nvPr/>
            </p:nvGrpSpPr>
            <p:grpSpPr bwMode="auto">
              <a:xfrm rot="20745072">
                <a:off x="3410448" y="5180638"/>
                <a:ext cx="655145" cy="617137"/>
                <a:chOff x="2949" y="196"/>
                <a:chExt cx="941" cy="598"/>
              </a:xfrm>
            </p:grpSpPr>
            <p:sp>
              <p:nvSpPr>
                <p:cNvPr id="79" name="Oval 1429"/>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0" name="Oval 1430"/>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1" name="Oval 1431"/>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2" name="Oval 1432"/>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3" name="Oval 1433"/>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4" name="Oval 1434"/>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5" name="Oval 1435"/>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6" name="Oval 1436"/>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7"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8"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89"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30" name="Group 1404"/>
              <p:cNvGrpSpPr>
                <a:grpSpLocks/>
              </p:cNvGrpSpPr>
              <p:nvPr/>
            </p:nvGrpSpPr>
            <p:grpSpPr bwMode="auto">
              <a:xfrm rot="20933218">
                <a:off x="5241958" y="5332489"/>
                <a:ext cx="611710" cy="523690"/>
                <a:chOff x="2949" y="196"/>
                <a:chExt cx="941" cy="598"/>
              </a:xfrm>
            </p:grpSpPr>
            <p:sp>
              <p:nvSpPr>
                <p:cNvPr id="68" name="Oval 1405"/>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9" name="Oval 1406"/>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0" name="Oval 1407"/>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1" name="Oval 1408"/>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2" name="Oval 1409"/>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3" name="Oval 1410"/>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4" name="Oval 1411"/>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5" name="Oval 1412"/>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6" name="Freeform 141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7" name="Freeform 141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78" name="Freeform 141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31" name="Group 1416"/>
              <p:cNvGrpSpPr>
                <a:grpSpLocks/>
              </p:cNvGrpSpPr>
              <p:nvPr/>
            </p:nvGrpSpPr>
            <p:grpSpPr bwMode="auto">
              <a:xfrm rot="282232">
                <a:off x="6139614" y="4732872"/>
                <a:ext cx="644286" cy="441925"/>
                <a:chOff x="2949" y="196"/>
                <a:chExt cx="941" cy="598"/>
              </a:xfrm>
            </p:grpSpPr>
            <p:sp>
              <p:nvSpPr>
                <p:cNvPr id="57" name="Oval 1417"/>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8" name="Oval 1418"/>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9" name="Oval 1419"/>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0" name="Oval 1420"/>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1" name="Oval 1421"/>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2" name="Oval 1422"/>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3" name="Oval 1423"/>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4" name="Oval 1424"/>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5" name="Freeform 142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6" name="Freeform 142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67" name="Freeform 142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grpSp>
            <p:nvGrpSpPr>
              <p:cNvPr id="38" name="Group 1468"/>
              <p:cNvGrpSpPr>
                <a:grpSpLocks/>
              </p:cNvGrpSpPr>
              <p:nvPr/>
            </p:nvGrpSpPr>
            <p:grpSpPr bwMode="auto">
              <a:xfrm rot="20933218">
                <a:off x="4463747" y="4647213"/>
                <a:ext cx="725726" cy="603510"/>
                <a:chOff x="2949" y="196"/>
                <a:chExt cx="941" cy="598"/>
              </a:xfrm>
            </p:grpSpPr>
            <p:sp>
              <p:nvSpPr>
                <p:cNvPr id="46" name="Oval 1469"/>
                <p:cNvSpPr>
                  <a:spLocks noChangeArrowheads="1"/>
                </p:cNvSpPr>
                <p:nvPr/>
              </p:nvSpPr>
              <p:spPr bwMode="auto">
                <a:xfrm>
                  <a:off x="3168" y="196"/>
                  <a:ext cx="407" cy="162"/>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7" name="Oval 1470"/>
                <p:cNvSpPr>
                  <a:spLocks noChangeArrowheads="1"/>
                </p:cNvSpPr>
                <p:nvPr/>
              </p:nvSpPr>
              <p:spPr bwMode="auto">
                <a:xfrm rot="900000">
                  <a:off x="3512" y="252"/>
                  <a:ext cx="275" cy="131"/>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8" name="Oval 1471"/>
                <p:cNvSpPr>
                  <a:spLocks noChangeArrowheads="1"/>
                </p:cNvSpPr>
                <p:nvPr/>
              </p:nvSpPr>
              <p:spPr bwMode="auto">
                <a:xfrm rot="1500000">
                  <a:off x="3650" y="385"/>
                  <a:ext cx="240" cy="153"/>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49" name="Oval 1472"/>
                <p:cNvSpPr>
                  <a:spLocks noChangeArrowheads="1"/>
                </p:cNvSpPr>
                <p:nvPr/>
              </p:nvSpPr>
              <p:spPr bwMode="auto">
                <a:xfrm rot="-1560000">
                  <a:off x="3573" y="537"/>
                  <a:ext cx="291" cy="18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0" name="Oval 1473"/>
                <p:cNvSpPr>
                  <a:spLocks noChangeArrowheads="1"/>
                </p:cNvSpPr>
                <p:nvPr/>
              </p:nvSpPr>
              <p:spPr bwMode="auto">
                <a:xfrm>
                  <a:off x="3216" y="555"/>
                  <a:ext cx="471" cy="239"/>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1" name="Oval 1474"/>
                <p:cNvSpPr>
                  <a:spLocks noChangeArrowheads="1"/>
                </p:cNvSpPr>
                <p:nvPr/>
              </p:nvSpPr>
              <p:spPr bwMode="auto">
                <a:xfrm rot="1080000">
                  <a:off x="3023" y="555"/>
                  <a:ext cx="26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2" name="Oval 1475"/>
                <p:cNvSpPr>
                  <a:spLocks noChangeArrowheads="1"/>
                </p:cNvSpPr>
                <p:nvPr/>
              </p:nvSpPr>
              <p:spPr bwMode="auto">
                <a:xfrm>
                  <a:off x="2949" y="432"/>
                  <a:ext cx="217"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3" name="Oval 1476"/>
                <p:cNvSpPr>
                  <a:spLocks noChangeArrowheads="1"/>
                </p:cNvSpPr>
                <p:nvPr/>
              </p:nvSpPr>
              <p:spPr bwMode="auto">
                <a:xfrm rot="-1860000">
                  <a:off x="2984" y="310"/>
                  <a:ext cx="295" cy="156"/>
                </a:xfrm>
                <a:prstGeom prst="ellipse">
                  <a:avLst/>
                </a:prstGeom>
                <a:solidFill>
                  <a:srgbClr val="C0C0C0"/>
                </a:solidFill>
                <a:ln w="12700">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4" name="Freeform 147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5" name="Freeform 147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sp>
              <p:nvSpPr>
                <p:cNvPr id="56" name="Freeform 147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sysClr val="windowText" lastClr="000000"/>
                    </a:solidFill>
                    <a:effectLst/>
                    <a:uLnTx/>
                    <a:uFillTx/>
                  </a:endParaRPr>
                </a:p>
              </p:txBody>
            </p:sp>
          </p:grpSp>
          <p:sp>
            <p:nvSpPr>
              <p:cNvPr id="39" name="Text Box 1524"/>
              <p:cNvSpPr txBox="1">
                <a:spLocks noChangeArrowheads="1"/>
              </p:cNvSpPr>
              <p:nvPr/>
            </p:nvSpPr>
            <p:spPr bwMode="auto">
              <a:xfrm>
                <a:off x="4495150" y="4787860"/>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40" name="Text Box 1524"/>
              <p:cNvSpPr txBox="1">
                <a:spLocks noChangeArrowheads="1"/>
              </p:cNvSpPr>
              <p:nvPr/>
            </p:nvSpPr>
            <p:spPr bwMode="auto">
              <a:xfrm>
                <a:off x="6151334" y="4758796"/>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41" name="Text Box 1524"/>
              <p:cNvSpPr txBox="1">
                <a:spLocks noChangeArrowheads="1"/>
              </p:cNvSpPr>
              <p:nvPr/>
            </p:nvSpPr>
            <p:spPr bwMode="auto">
              <a:xfrm>
                <a:off x="3445696" y="5276471"/>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42" name="Text Box 1524"/>
              <p:cNvSpPr txBox="1">
                <a:spLocks noChangeArrowheads="1"/>
              </p:cNvSpPr>
              <p:nvPr/>
            </p:nvSpPr>
            <p:spPr bwMode="auto">
              <a:xfrm>
                <a:off x="5304351" y="3841672"/>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43" name="Text Box 1524"/>
              <p:cNvSpPr txBox="1">
                <a:spLocks noChangeArrowheads="1"/>
              </p:cNvSpPr>
              <p:nvPr/>
            </p:nvSpPr>
            <p:spPr bwMode="auto">
              <a:xfrm>
                <a:off x="2973340" y="4524086"/>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Times New Roman" charset="0"/>
                    <a:ea typeface="宋体" charset="-122"/>
                  </a:rPr>
                  <a:t>网络</a:t>
                </a:r>
              </a:p>
            </p:txBody>
          </p:sp>
          <p:sp>
            <p:nvSpPr>
              <p:cNvPr id="44" name="Text Box 1524"/>
              <p:cNvSpPr txBox="1">
                <a:spLocks noChangeArrowheads="1"/>
              </p:cNvSpPr>
              <p:nvPr/>
            </p:nvSpPr>
            <p:spPr bwMode="auto">
              <a:xfrm>
                <a:off x="3656856" y="3779748"/>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000000"/>
                    </a:solidFill>
                    <a:effectLst/>
                    <a:uLnTx/>
                    <a:uFillTx/>
                    <a:latin typeface="Times New Roman" charset="0"/>
                    <a:ea typeface="宋体" charset="-122"/>
                  </a:rPr>
                  <a:t>网络</a:t>
                </a:r>
              </a:p>
            </p:txBody>
          </p:sp>
          <p:sp>
            <p:nvSpPr>
              <p:cNvPr id="45" name="Text Box 1524"/>
              <p:cNvSpPr txBox="1">
                <a:spLocks noChangeArrowheads="1"/>
              </p:cNvSpPr>
              <p:nvPr/>
            </p:nvSpPr>
            <p:spPr bwMode="auto">
              <a:xfrm>
                <a:off x="5251868" y="5404960"/>
                <a:ext cx="67387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charset="0"/>
                    <a:ea typeface="宋体" charset="-122"/>
                  </a:defRPr>
                </a:lvl1pPr>
                <a:lvl2pPr marL="742950" indent="-285750" eaLnBrk="0" hangingPunct="0">
                  <a:defRPr kumimoji="1" sz="2400">
                    <a:solidFill>
                      <a:schemeClr val="tx1"/>
                    </a:solidFill>
                    <a:latin typeface="Times New Roman" charset="0"/>
                    <a:ea typeface="宋体" charset="-122"/>
                  </a:defRPr>
                </a:lvl2pPr>
                <a:lvl3pPr marL="1143000" indent="-228600" eaLnBrk="0" hangingPunct="0">
                  <a:defRPr kumimoji="1" sz="2400">
                    <a:solidFill>
                      <a:schemeClr val="tx1"/>
                    </a:solidFill>
                    <a:latin typeface="Times New Roman" charset="0"/>
                    <a:ea typeface="宋体" charset="-122"/>
                  </a:defRPr>
                </a:lvl3pPr>
                <a:lvl4pPr marL="1600200" indent="-228600" eaLnBrk="0" hangingPunct="0">
                  <a:defRPr kumimoji="1" sz="2400">
                    <a:solidFill>
                      <a:schemeClr val="tx1"/>
                    </a:solidFill>
                    <a:latin typeface="Times New Roman" charset="0"/>
                    <a:ea typeface="宋体" charset="-122"/>
                  </a:defRPr>
                </a:lvl4pPr>
                <a:lvl5pPr marL="2057400" indent="-228600" eaLnBrk="0" hangingPunct="0">
                  <a:defRPr kumimoji="1" sz="2400">
                    <a:solidFill>
                      <a:schemeClr val="tx1"/>
                    </a:solidFill>
                    <a:latin typeface="Times New Roman"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a:ln>
                      <a:noFill/>
                    </a:ln>
                    <a:solidFill>
                      <a:srgbClr val="000000"/>
                    </a:solidFill>
                    <a:effectLst/>
                    <a:uLnTx/>
                    <a:uFillTx/>
                    <a:latin typeface="Times New Roman" charset="0"/>
                    <a:ea typeface="宋体" charset="-122"/>
                  </a:rPr>
                  <a:t>网络</a:t>
                </a:r>
              </a:p>
            </p:txBody>
          </p:sp>
          <p:sp>
            <p:nvSpPr>
              <p:cNvPr id="175" name="矩形 174"/>
              <p:cNvSpPr/>
              <p:nvPr/>
            </p:nvSpPr>
            <p:spPr>
              <a:xfrm>
                <a:off x="6702960" y="3356992"/>
                <a:ext cx="649537" cy="36933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b="1" kern="0" dirty="0">
                    <a:solidFill>
                      <a:srgbClr val="000000"/>
                    </a:solidFill>
                    <a:ea typeface="黑体" pitchFamily="2" charset="-122"/>
                  </a:rPr>
                  <a:t>主机</a:t>
                </a:r>
              </a:p>
            </p:txBody>
          </p:sp>
        </p:grpSp>
        <p:sp>
          <p:nvSpPr>
            <p:cNvPr id="177" name="矩形 176"/>
            <p:cNvSpPr/>
            <p:nvPr/>
          </p:nvSpPr>
          <p:spPr>
            <a:xfrm>
              <a:off x="7290080" y="3704975"/>
              <a:ext cx="2055407" cy="1569660"/>
            </a:xfrm>
            <a:prstGeom prst="rect">
              <a:avLst/>
            </a:prstGeom>
            <a:solidFill>
              <a:srgbClr val="FFFF00"/>
            </a:solidFill>
            <a:ln>
              <a:solidFill>
                <a:srgbClr val="000099"/>
              </a:solidFill>
            </a:ln>
          </p:spPr>
          <p:txBody>
            <a:bodyPr wrap="square">
              <a:spAutoFit/>
            </a:bodyPr>
            <a:lstStyle/>
            <a:p>
              <a:r>
                <a:rPr lang="zh-CN" altLang="zh-CN" sz="2400" b="1" dirty="0">
                  <a:latin typeface="+mn-lt"/>
                  <a:ea typeface="黑体" pitchFamily="2" charset="-122"/>
                </a:rPr>
                <a:t>主机</a:t>
              </a:r>
              <a:r>
                <a:rPr lang="zh-CN" altLang="en-US" sz="2400" b="1" dirty="0">
                  <a:latin typeface="+mn-lt"/>
                  <a:ea typeface="黑体" pitchFamily="2" charset="-122"/>
                </a:rPr>
                <a:t>可以是计算机，也可以是</a:t>
              </a:r>
              <a:r>
                <a:rPr lang="zh-CN" altLang="zh-CN" sz="2400" b="1" dirty="0">
                  <a:latin typeface="+mn-lt"/>
                  <a:ea typeface="黑体" pitchFamily="2" charset="-122"/>
                </a:rPr>
                <a:t>智能手机</a:t>
              </a:r>
              <a:r>
                <a:rPr lang="zh-CN" altLang="en-US" sz="2400" b="1" dirty="0">
                  <a:latin typeface="+mn-lt"/>
                  <a:ea typeface="黑体" pitchFamily="2" charset="-122"/>
                </a:rPr>
                <a:t>等</a:t>
              </a:r>
              <a:r>
                <a:rPr lang="zh-CN" altLang="zh-CN" sz="2400" b="1" dirty="0">
                  <a:latin typeface="+mn-lt"/>
                  <a:ea typeface="黑体" pitchFamily="2" charset="-122"/>
                </a:rPr>
                <a:t>智能机器。</a:t>
              </a:r>
              <a:endParaRPr lang="zh-CN" altLang="en-US" sz="2400" b="1" dirty="0">
                <a:latin typeface="+mn-lt"/>
                <a:ea typeface="黑体" pitchFamily="2" charset="-122"/>
              </a:endParaRPr>
            </a:p>
          </p:txBody>
        </p:sp>
      </p:grpSp>
    </p:spTree>
    <p:extLst>
      <p:ext uri="{BB962C8B-B14F-4D97-AF65-F5344CB8AC3E}">
        <p14:creationId xmlns:p14="http://schemas.microsoft.com/office/powerpoint/2010/main" val="3134002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dirty="0"/>
              <a:t>Internet</a:t>
            </a:r>
            <a:r>
              <a:rPr lang="zh-CN" altLang="zh-CN" sz="3600" dirty="0"/>
              <a:t>概述</a:t>
            </a:r>
            <a:r>
              <a:rPr lang="zh-CN" altLang="en-US" sz="3600" dirty="0"/>
              <a:t>：</a:t>
            </a:r>
            <a:r>
              <a:rPr lang="zh-CN" altLang="zh-CN" sz="3600" dirty="0"/>
              <a:t>基础结构发展的三个阶段</a:t>
            </a:r>
            <a:endParaRPr lang="zh-CN" altLang="en-US" sz="3600" dirty="0"/>
          </a:p>
        </p:txBody>
      </p:sp>
      <p:sp>
        <p:nvSpPr>
          <p:cNvPr id="3" name="内容占位符 2"/>
          <p:cNvSpPr>
            <a:spLocks noGrp="1"/>
          </p:cNvSpPr>
          <p:nvPr>
            <p:ph idx="1"/>
          </p:nvPr>
        </p:nvSpPr>
        <p:spPr/>
        <p:txBody>
          <a:bodyPr/>
          <a:lstStyle/>
          <a:p>
            <a:r>
              <a:rPr lang="zh-CN" altLang="en-US" dirty="0">
                <a:solidFill>
                  <a:srgbClr val="FF0000"/>
                </a:solidFill>
              </a:rPr>
              <a:t>第一阶段：</a:t>
            </a:r>
            <a:r>
              <a:rPr lang="zh-CN" altLang="en-US" dirty="0"/>
              <a:t>从单个网络 </a:t>
            </a:r>
            <a:r>
              <a:rPr lang="en-US" altLang="zh-CN" dirty="0"/>
              <a:t>ARPANET </a:t>
            </a:r>
            <a:r>
              <a:rPr lang="zh-CN" altLang="en-US" dirty="0"/>
              <a:t>向互联网发展的过程。 </a:t>
            </a:r>
          </a:p>
          <a:p>
            <a:r>
              <a:rPr lang="en-US" altLang="zh-CN" dirty="0"/>
              <a:t>1983 </a:t>
            </a:r>
            <a:r>
              <a:rPr lang="zh-CN" altLang="en-US" dirty="0"/>
              <a:t>年， </a:t>
            </a:r>
            <a:r>
              <a:rPr lang="en-US" altLang="zh-CN" dirty="0"/>
              <a:t>TCP/IP </a:t>
            </a:r>
            <a:r>
              <a:rPr lang="zh-CN" altLang="en-US" dirty="0"/>
              <a:t>协议成为 </a:t>
            </a:r>
            <a:r>
              <a:rPr lang="en-US" altLang="zh-CN" dirty="0"/>
              <a:t>ARPANET </a:t>
            </a:r>
            <a:r>
              <a:rPr lang="zh-CN" altLang="en-US" dirty="0"/>
              <a:t>上的标准协议，</a:t>
            </a:r>
            <a:r>
              <a:rPr lang="zh-CN" altLang="zh-CN" dirty="0"/>
              <a:t>使得所有使用</a:t>
            </a:r>
            <a:r>
              <a:rPr lang="en-US" altLang="zh-CN" dirty="0"/>
              <a:t> TCP/IP </a:t>
            </a:r>
            <a:r>
              <a:rPr lang="zh-CN" altLang="zh-CN" dirty="0"/>
              <a:t>协议的计算机都能利用互连网相互通信</a:t>
            </a:r>
            <a:r>
              <a:rPr lang="zh-CN" altLang="en-US" dirty="0"/>
              <a:t>。</a:t>
            </a:r>
          </a:p>
          <a:p>
            <a:r>
              <a:rPr lang="zh-CN" altLang="en-US" dirty="0"/>
              <a:t>人们把 </a:t>
            </a:r>
            <a:r>
              <a:rPr lang="en-US" altLang="zh-CN" dirty="0"/>
              <a:t>1983 </a:t>
            </a:r>
            <a:r>
              <a:rPr lang="zh-CN" altLang="en-US" dirty="0"/>
              <a:t>年作为互联网的诞生时间。</a:t>
            </a:r>
            <a:endParaRPr lang="en-US" altLang="zh-CN" dirty="0"/>
          </a:p>
          <a:p>
            <a:r>
              <a:rPr lang="en-US" altLang="zh-CN" dirty="0"/>
              <a:t>1990</a:t>
            </a:r>
            <a:r>
              <a:rPr lang="zh-CN" altLang="zh-CN" dirty="0"/>
              <a:t>年</a:t>
            </a:r>
            <a:r>
              <a:rPr lang="zh-CN" altLang="en-US" dirty="0"/>
              <a:t>，</a:t>
            </a:r>
            <a:r>
              <a:rPr lang="en-US" altLang="zh-CN" dirty="0"/>
              <a:t>ARPANET </a:t>
            </a:r>
            <a:r>
              <a:rPr lang="zh-CN" altLang="zh-CN" dirty="0"/>
              <a:t>正式宣布关闭</a:t>
            </a:r>
            <a:r>
              <a:rPr lang="zh-CN" altLang="en-US" dirty="0"/>
              <a:t>。</a:t>
            </a:r>
          </a:p>
          <a:p>
            <a:endParaRPr lang="en-US" altLang="zh-CN" dirty="0"/>
          </a:p>
        </p:txBody>
      </p:sp>
    </p:spTree>
    <p:extLst>
      <p:ext uri="{BB962C8B-B14F-4D97-AF65-F5344CB8AC3E}">
        <p14:creationId xmlns:p14="http://schemas.microsoft.com/office/powerpoint/2010/main" val="3375140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zh-CN" sz="3600" dirty="0"/>
              <a:t>Internet</a:t>
            </a:r>
            <a:r>
              <a:rPr lang="zh-CN" altLang="zh-CN" sz="3600" dirty="0"/>
              <a:t>概述</a:t>
            </a:r>
            <a:r>
              <a:rPr lang="zh-CN" altLang="en-US" sz="3600" dirty="0"/>
              <a:t>：</a:t>
            </a:r>
            <a:r>
              <a:rPr lang="zh-CN" altLang="zh-CN" sz="3600" dirty="0"/>
              <a:t>基础结构发展的三个阶段</a:t>
            </a:r>
            <a:endParaRPr lang="zh-CN" altLang="en-US" sz="3600" dirty="0"/>
          </a:p>
        </p:txBody>
      </p:sp>
      <p:sp>
        <p:nvSpPr>
          <p:cNvPr id="303107" name="Rectangle 3"/>
          <p:cNvSpPr>
            <a:spLocks noGrp="1" noChangeArrowheads="1"/>
          </p:cNvSpPr>
          <p:nvPr>
            <p:ph idx="1"/>
          </p:nvPr>
        </p:nvSpPr>
        <p:spPr/>
        <p:txBody>
          <a:bodyPr/>
          <a:lstStyle/>
          <a:p>
            <a:r>
              <a:rPr lang="zh-CN" altLang="en-US" dirty="0">
                <a:solidFill>
                  <a:srgbClr val="FF0000"/>
                </a:solidFill>
              </a:rPr>
              <a:t>第二阶段：</a:t>
            </a:r>
            <a:r>
              <a:rPr lang="zh-CN" altLang="en-US" dirty="0"/>
              <a:t>建成了三级结构的互联网。 </a:t>
            </a:r>
          </a:p>
          <a:p>
            <a:r>
              <a:rPr lang="zh-CN" altLang="en-US" dirty="0"/>
              <a:t>它是一个三级计算机网络，分为主干网、地区网和校园网（或企业网）。</a:t>
            </a:r>
            <a:endParaRPr lang="en-US" altLang="zh-CN" dirty="0"/>
          </a:p>
        </p:txBody>
      </p:sp>
      <p:grpSp>
        <p:nvGrpSpPr>
          <p:cNvPr id="5" name="组合 4"/>
          <p:cNvGrpSpPr/>
          <p:nvPr/>
        </p:nvGrpSpPr>
        <p:grpSpPr>
          <a:xfrm>
            <a:off x="747784" y="2996952"/>
            <a:ext cx="8669712" cy="2952328"/>
            <a:chOff x="776536" y="3068960"/>
            <a:chExt cx="8669712" cy="2952328"/>
          </a:xfrm>
        </p:grpSpPr>
        <p:cxnSp>
          <p:nvCxnSpPr>
            <p:cNvPr id="6" name="直接连接符 5"/>
            <p:cNvCxnSpPr>
              <a:endCxn id="17" idx="7"/>
            </p:cNvCxnSpPr>
            <p:nvPr/>
          </p:nvCxnSpPr>
          <p:spPr bwMode="auto">
            <a:xfrm flipH="1">
              <a:off x="3013901" y="3392996"/>
              <a:ext cx="1522291" cy="84044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flipH="1">
              <a:off x="4536192" y="3622124"/>
              <a:ext cx="419100" cy="611319"/>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p:cNvCxnSpPr>
              <a:endCxn id="16" idx="1"/>
            </p:cNvCxnSpPr>
            <p:nvPr/>
          </p:nvCxnSpPr>
          <p:spPr bwMode="auto">
            <a:xfrm>
              <a:off x="5769487" y="3392996"/>
              <a:ext cx="1770684" cy="840447"/>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8374" y="3645024"/>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0"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192" y="378605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8116" y="37170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2" name="椭圆 11"/>
            <p:cNvSpPr/>
            <p:nvPr/>
          </p:nvSpPr>
          <p:spPr bwMode="auto">
            <a:xfrm>
              <a:off x="4232920" y="3068960"/>
              <a:ext cx="1800200" cy="648072"/>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lt"/>
                  <a:ea typeface="黑体" pitchFamily="2" charset="-122"/>
                </a:rPr>
                <a:t>主干网</a:t>
              </a:r>
            </a:p>
          </p:txBody>
        </p:sp>
        <p:grpSp>
          <p:nvGrpSpPr>
            <p:cNvPr id="13" name="组合 12"/>
            <p:cNvGrpSpPr/>
            <p:nvPr/>
          </p:nvGrpSpPr>
          <p:grpSpPr>
            <a:xfrm>
              <a:off x="776536" y="4581128"/>
              <a:ext cx="1354983" cy="1440160"/>
              <a:chOff x="776536" y="4581128"/>
              <a:chExt cx="1354983" cy="1440160"/>
            </a:xfrm>
          </p:grpSpPr>
          <p:cxnSp>
            <p:nvCxnSpPr>
              <p:cNvPr id="84" name="直接连接符 83"/>
              <p:cNvCxnSpPr>
                <a:endCxn id="99" idx="2"/>
              </p:cNvCxnSpPr>
              <p:nvPr/>
            </p:nvCxnSpPr>
            <p:spPr bwMode="auto">
              <a:xfrm flipH="1">
                <a:off x="1495726" y="4581128"/>
                <a:ext cx="635793" cy="83239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85"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86" name="组合 85"/>
              <p:cNvGrpSpPr/>
              <p:nvPr/>
            </p:nvGrpSpPr>
            <p:grpSpPr>
              <a:xfrm>
                <a:off x="776536" y="5341956"/>
                <a:ext cx="1249522" cy="679332"/>
                <a:chOff x="776536" y="5341956"/>
                <a:chExt cx="1249522" cy="679332"/>
              </a:xfrm>
            </p:grpSpPr>
            <p:grpSp>
              <p:nvGrpSpPr>
                <p:cNvPr id="87" name="Group 1428"/>
                <p:cNvGrpSpPr>
                  <a:grpSpLocks/>
                </p:cNvGrpSpPr>
                <p:nvPr/>
              </p:nvGrpSpPr>
              <p:grpSpPr bwMode="auto">
                <a:xfrm>
                  <a:off x="776536" y="5341956"/>
                  <a:ext cx="1226011" cy="679332"/>
                  <a:chOff x="2949" y="196"/>
                  <a:chExt cx="941" cy="598"/>
                </a:xfrm>
              </p:grpSpPr>
              <p:sp>
                <p:nvSpPr>
                  <p:cNvPr id="89"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0"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1"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2"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3"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4"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5"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6"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97"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98"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99"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grpSp>
            <p:sp>
              <p:nvSpPr>
                <p:cNvPr id="88"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2000" b="1" dirty="0">
                      <a:latin typeface="+mn-lt"/>
                      <a:ea typeface="黑体" pitchFamily="2" charset="-122"/>
                    </a:rPr>
                    <a:t>校园网</a:t>
                  </a:r>
                </a:p>
              </p:txBody>
            </p:sp>
          </p:grpSp>
        </p:grpSp>
        <p:grpSp>
          <p:nvGrpSpPr>
            <p:cNvPr id="14" name="组合 13"/>
            <p:cNvGrpSpPr/>
            <p:nvPr/>
          </p:nvGrpSpPr>
          <p:grpSpPr>
            <a:xfrm>
              <a:off x="2328852" y="4581128"/>
              <a:ext cx="1249522" cy="1440160"/>
              <a:chOff x="2328852" y="4581128"/>
              <a:chExt cx="1249522" cy="1440160"/>
            </a:xfrm>
          </p:grpSpPr>
          <p:cxnSp>
            <p:nvCxnSpPr>
              <p:cNvPr id="68" name="直接连接符 67"/>
              <p:cNvCxnSpPr>
                <a:endCxn id="73" idx="4"/>
              </p:cNvCxnSpPr>
              <p:nvPr/>
            </p:nvCxnSpPr>
            <p:spPr bwMode="auto">
              <a:xfrm>
                <a:off x="2722973" y="4581128"/>
                <a:ext cx="156347" cy="94486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70" name="组合 69"/>
              <p:cNvGrpSpPr/>
              <p:nvPr/>
            </p:nvGrpSpPr>
            <p:grpSpPr>
              <a:xfrm>
                <a:off x="2328852" y="5341956"/>
                <a:ext cx="1249522" cy="679332"/>
                <a:chOff x="776536" y="5341956"/>
                <a:chExt cx="1249522" cy="679332"/>
              </a:xfrm>
            </p:grpSpPr>
            <p:grpSp>
              <p:nvGrpSpPr>
                <p:cNvPr id="71" name="Group 1428"/>
                <p:cNvGrpSpPr>
                  <a:grpSpLocks/>
                </p:cNvGrpSpPr>
                <p:nvPr/>
              </p:nvGrpSpPr>
              <p:grpSpPr bwMode="auto">
                <a:xfrm>
                  <a:off x="776536" y="5341956"/>
                  <a:ext cx="1226011" cy="679332"/>
                  <a:chOff x="2949" y="196"/>
                  <a:chExt cx="941" cy="598"/>
                </a:xfrm>
              </p:grpSpPr>
              <p:sp>
                <p:nvSpPr>
                  <p:cNvPr id="73"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74"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75"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76"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77"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78"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79"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80"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81"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82"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83"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grpSp>
            <p:sp>
              <p:nvSpPr>
                <p:cNvPr id="72"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2000" b="1" dirty="0">
                      <a:latin typeface="+mn-lt"/>
                      <a:ea typeface="黑体" pitchFamily="2" charset="-122"/>
                    </a:rPr>
                    <a:t>校园网</a:t>
                  </a:r>
                </a:p>
              </p:txBody>
            </p:sp>
          </p:grpSp>
        </p:grpSp>
        <p:grpSp>
          <p:nvGrpSpPr>
            <p:cNvPr id="15" name="组合 14"/>
            <p:cNvGrpSpPr/>
            <p:nvPr/>
          </p:nvGrpSpPr>
          <p:grpSpPr>
            <a:xfrm>
              <a:off x="6644410" y="4581128"/>
              <a:ext cx="2801838" cy="1440160"/>
              <a:chOff x="776536" y="4581128"/>
              <a:chExt cx="2801838" cy="1440160"/>
            </a:xfrm>
          </p:grpSpPr>
          <p:cxnSp>
            <p:nvCxnSpPr>
              <p:cNvPr id="36" name="直接连接符 35"/>
              <p:cNvCxnSpPr>
                <a:endCxn id="67" idx="2"/>
              </p:cNvCxnSpPr>
              <p:nvPr/>
            </p:nvCxnSpPr>
            <p:spPr bwMode="auto">
              <a:xfrm flipH="1">
                <a:off x="1495726" y="4581128"/>
                <a:ext cx="635793" cy="832396"/>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38" name="直接连接符 37"/>
              <p:cNvCxnSpPr>
                <a:endCxn id="44" idx="4"/>
              </p:cNvCxnSpPr>
              <p:nvPr/>
            </p:nvCxnSpPr>
            <p:spPr bwMode="auto">
              <a:xfrm>
                <a:off x="2722973" y="4581128"/>
                <a:ext cx="156347" cy="94486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9"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40" name="组合 39"/>
              <p:cNvGrpSpPr/>
              <p:nvPr/>
            </p:nvGrpSpPr>
            <p:grpSpPr>
              <a:xfrm>
                <a:off x="776536" y="5341956"/>
                <a:ext cx="1249522" cy="679332"/>
                <a:chOff x="776536" y="5341956"/>
                <a:chExt cx="1249522" cy="679332"/>
              </a:xfrm>
            </p:grpSpPr>
            <p:grpSp>
              <p:nvGrpSpPr>
                <p:cNvPr id="55" name="Group 1428"/>
                <p:cNvGrpSpPr>
                  <a:grpSpLocks/>
                </p:cNvGrpSpPr>
                <p:nvPr/>
              </p:nvGrpSpPr>
              <p:grpSpPr bwMode="auto">
                <a:xfrm>
                  <a:off x="776536" y="5341956"/>
                  <a:ext cx="1226011" cy="679332"/>
                  <a:chOff x="2949" y="196"/>
                  <a:chExt cx="941" cy="598"/>
                </a:xfrm>
              </p:grpSpPr>
              <p:sp>
                <p:nvSpPr>
                  <p:cNvPr id="57"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58"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59"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60"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61"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62"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63"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64"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65"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66"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67"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grpSp>
            <p:sp>
              <p:nvSpPr>
                <p:cNvPr id="56"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2000" b="1" dirty="0">
                      <a:latin typeface="+mn-lt"/>
                      <a:ea typeface="黑体" pitchFamily="2" charset="-122"/>
                    </a:rPr>
                    <a:t>校园网</a:t>
                  </a:r>
                </a:p>
              </p:txBody>
            </p:sp>
          </p:grpSp>
          <p:grpSp>
            <p:nvGrpSpPr>
              <p:cNvPr id="41" name="组合 40"/>
              <p:cNvGrpSpPr/>
              <p:nvPr/>
            </p:nvGrpSpPr>
            <p:grpSpPr>
              <a:xfrm>
                <a:off x="2328852" y="5341956"/>
                <a:ext cx="1249522" cy="679332"/>
                <a:chOff x="776536" y="5341956"/>
                <a:chExt cx="1249522" cy="679332"/>
              </a:xfrm>
            </p:grpSpPr>
            <p:grpSp>
              <p:nvGrpSpPr>
                <p:cNvPr id="42" name="Group 1428"/>
                <p:cNvGrpSpPr>
                  <a:grpSpLocks/>
                </p:cNvGrpSpPr>
                <p:nvPr/>
              </p:nvGrpSpPr>
              <p:grpSpPr bwMode="auto">
                <a:xfrm>
                  <a:off x="776536" y="5341956"/>
                  <a:ext cx="1226011" cy="679332"/>
                  <a:chOff x="2949" y="196"/>
                  <a:chExt cx="941" cy="598"/>
                </a:xfrm>
              </p:grpSpPr>
              <p:sp>
                <p:nvSpPr>
                  <p:cNvPr id="44"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45"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46"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47"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48"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49"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50"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51"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52"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53"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54"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grpSp>
            <p:sp>
              <p:nvSpPr>
                <p:cNvPr id="43"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2000" b="1" dirty="0">
                      <a:latin typeface="+mn-lt"/>
                      <a:ea typeface="黑体" pitchFamily="2" charset="-122"/>
                    </a:rPr>
                    <a:t>校园网</a:t>
                  </a:r>
                </a:p>
              </p:txBody>
            </p:sp>
          </p:grpSp>
        </p:grpSp>
        <p:sp>
          <p:nvSpPr>
            <p:cNvPr id="16" name="椭圆 15"/>
            <p:cNvSpPr/>
            <p:nvPr/>
          </p:nvSpPr>
          <p:spPr bwMode="auto">
            <a:xfrm>
              <a:off x="7329264" y="4149080"/>
              <a:ext cx="1440160" cy="576064"/>
            </a:xfrm>
            <a:prstGeom prst="ellipse">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itchFamily="2" charset="-122"/>
                </a:rPr>
                <a:t>地区网</a:t>
              </a:r>
            </a:p>
          </p:txBody>
        </p:sp>
        <p:sp>
          <p:nvSpPr>
            <p:cNvPr id="17" name="椭圆 16"/>
            <p:cNvSpPr/>
            <p:nvPr/>
          </p:nvSpPr>
          <p:spPr bwMode="auto">
            <a:xfrm>
              <a:off x="1784648" y="4149080"/>
              <a:ext cx="1440160" cy="576064"/>
            </a:xfrm>
            <a:prstGeom prst="ellipse">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itchFamily="2" charset="-122"/>
                </a:rPr>
                <a:t>地区网</a:t>
              </a:r>
            </a:p>
          </p:txBody>
        </p:sp>
        <p:grpSp>
          <p:nvGrpSpPr>
            <p:cNvPr id="18" name="组合 17"/>
            <p:cNvGrpSpPr/>
            <p:nvPr/>
          </p:nvGrpSpPr>
          <p:grpSpPr>
            <a:xfrm>
              <a:off x="4330531" y="4581128"/>
              <a:ext cx="1249522" cy="1440160"/>
              <a:chOff x="4330531" y="4581128"/>
              <a:chExt cx="1249522" cy="1440160"/>
            </a:xfrm>
          </p:grpSpPr>
          <p:cxnSp>
            <p:nvCxnSpPr>
              <p:cNvPr id="20" name="直接连接符 19"/>
              <p:cNvCxnSpPr>
                <a:endCxn id="25" idx="4"/>
              </p:cNvCxnSpPr>
              <p:nvPr/>
            </p:nvCxnSpPr>
            <p:spPr bwMode="auto">
              <a:xfrm>
                <a:off x="4724652" y="4581128"/>
                <a:ext cx="156347" cy="944861"/>
              </a:xfrm>
              <a:prstGeom prst="line">
                <a:avLst/>
              </a:prstGeom>
              <a:solidFill>
                <a:schemeClr val="accent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8415"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2" name="组合 21"/>
              <p:cNvGrpSpPr/>
              <p:nvPr/>
            </p:nvGrpSpPr>
            <p:grpSpPr>
              <a:xfrm>
                <a:off x="4330531" y="5341956"/>
                <a:ext cx="1249522" cy="679332"/>
                <a:chOff x="776536" y="5341956"/>
                <a:chExt cx="1249522" cy="679332"/>
              </a:xfrm>
            </p:grpSpPr>
            <p:grpSp>
              <p:nvGrpSpPr>
                <p:cNvPr id="23" name="Group 1428"/>
                <p:cNvGrpSpPr>
                  <a:grpSpLocks/>
                </p:cNvGrpSpPr>
                <p:nvPr/>
              </p:nvGrpSpPr>
              <p:grpSpPr bwMode="auto">
                <a:xfrm>
                  <a:off x="776536" y="5341956"/>
                  <a:ext cx="1226011" cy="679332"/>
                  <a:chOff x="2949" y="196"/>
                  <a:chExt cx="941" cy="598"/>
                </a:xfrm>
              </p:grpSpPr>
              <p:sp>
                <p:nvSpPr>
                  <p:cNvPr id="25"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26"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27"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28"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29"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30"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31"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32"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endParaRPr lang="zh-CN" altLang="en-US"/>
                  </a:p>
                </p:txBody>
              </p:sp>
              <p:sp>
                <p:nvSpPr>
                  <p:cNvPr id="33" name="Freeform 143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34" name="Freeform 143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sp>
                <p:nvSpPr>
                  <p:cNvPr id="35" name="Freeform 143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Lst>
                </p:spPr>
                <p:txBody>
                  <a:bodyPr/>
                  <a:lstStyle/>
                  <a:p>
                    <a:endParaRPr lang="zh-CN" altLang="en-US"/>
                  </a:p>
                </p:txBody>
              </p:sp>
            </p:grpSp>
            <p:sp>
              <p:nvSpPr>
                <p:cNvPr id="24"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2000" b="1" dirty="0">
                      <a:latin typeface="+mn-lt"/>
                      <a:ea typeface="黑体" pitchFamily="2" charset="-122"/>
                    </a:rPr>
                    <a:t>校园网</a:t>
                  </a:r>
                </a:p>
              </p:txBody>
            </p:sp>
          </p:grpSp>
        </p:grpSp>
        <p:sp>
          <p:nvSpPr>
            <p:cNvPr id="19" name="椭圆 18"/>
            <p:cNvSpPr/>
            <p:nvPr/>
          </p:nvSpPr>
          <p:spPr bwMode="auto">
            <a:xfrm>
              <a:off x="3728864" y="4149080"/>
              <a:ext cx="1440160" cy="576064"/>
            </a:xfrm>
            <a:prstGeom prst="ellipse">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000" b="1" i="0" u="none" strike="noStrike" cap="none" normalizeH="0" baseline="0" dirty="0">
                  <a:ln>
                    <a:noFill/>
                  </a:ln>
                  <a:solidFill>
                    <a:schemeClr val="tx1"/>
                  </a:solidFill>
                  <a:effectLst/>
                  <a:latin typeface="+mn-lt"/>
                  <a:ea typeface="黑体" pitchFamily="2" charset="-122"/>
                </a:rPr>
                <a:t>地区网</a:t>
              </a:r>
            </a:p>
          </p:txBody>
        </p:sp>
      </p:grpSp>
    </p:spTree>
    <p:extLst>
      <p:ext uri="{BB962C8B-B14F-4D97-AF65-F5344CB8AC3E}">
        <p14:creationId xmlns:p14="http://schemas.microsoft.com/office/powerpoint/2010/main" val="1942423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r>
              <a:rPr lang="en-US" altLang="zh-CN" sz="3600" dirty="0"/>
              <a:t>Internet</a:t>
            </a:r>
            <a:r>
              <a:rPr lang="zh-CN" altLang="zh-CN" sz="3600" dirty="0"/>
              <a:t>概述</a:t>
            </a:r>
            <a:r>
              <a:rPr lang="zh-CN" altLang="en-US" sz="3600" dirty="0"/>
              <a:t>：</a:t>
            </a:r>
            <a:r>
              <a:rPr lang="zh-CN" altLang="zh-CN" sz="3600" dirty="0"/>
              <a:t>基础结构发展的三个阶段</a:t>
            </a:r>
            <a:endParaRPr lang="zh-CN" altLang="en-US" sz="3600" dirty="0"/>
          </a:p>
        </p:txBody>
      </p:sp>
      <p:sp>
        <p:nvSpPr>
          <p:cNvPr id="303107" name="Rectangle 3"/>
          <p:cNvSpPr>
            <a:spLocks noGrp="1" noChangeArrowheads="1"/>
          </p:cNvSpPr>
          <p:nvPr>
            <p:ph idx="1"/>
          </p:nvPr>
        </p:nvSpPr>
        <p:spPr/>
        <p:txBody>
          <a:bodyPr/>
          <a:lstStyle/>
          <a:p>
            <a:r>
              <a:rPr lang="zh-CN" altLang="en-US" sz="2800" dirty="0">
                <a:solidFill>
                  <a:srgbClr val="FF0000"/>
                </a:solidFill>
              </a:rPr>
              <a:t>第三阶段：</a:t>
            </a:r>
            <a:r>
              <a:rPr lang="zh-CN" altLang="en-US" sz="2800" dirty="0"/>
              <a:t>逐渐形成了多层次 </a:t>
            </a:r>
            <a:r>
              <a:rPr lang="en-US" altLang="zh-CN" sz="2800" dirty="0"/>
              <a:t>ISP </a:t>
            </a:r>
            <a:r>
              <a:rPr lang="zh-CN" altLang="en-US" sz="2800" dirty="0"/>
              <a:t>结构的互联网。 </a:t>
            </a:r>
            <a:endParaRPr lang="en-US" altLang="zh-CN" sz="2800" dirty="0"/>
          </a:p>
          <a:p>
            <a:r>
              <a:rPr lang="zh-CN" altLang="en-US" sz="2800" dirty="0"/>
              <a:t>出现了</a:t>
            </a:r>
            <a:r>
              <a:rPr lang="zh-CN" altLang="en-US" sz="2800" dirty="0">
                <a:solidFill>
                  <a:srgbClr val="0000CC"/>
                </a:solidFill>
              </a:rPr>
              <a:t>互联网服务提供者 </a:t>
            </a:r>
            <a:r>
              <a:rPr lang="en-US" altLang="zh-CN" sz="2800" dirty="0">
                <a:solidFill>
                  <a:srgbClr val="0000CC"/>
                </a:solidFill>
              </a:rPr>
              <a:t>ISP</a:t>
            </a:r>
            <a:r>
              <a:rPr lang="en-US" altLang="zh-CN" sz="2800" dirty="0"/>
              <a:t> (Internet Service Provider)</a:t>
            </a:r>
            <a:r>
              <a:rPr lang="zh-CN" altLang="en-US" sz="2800" dirty="0"/>
              <a:t>。</a:t>
            </a:r>
            <a:endParaRPr lang="en-US" altLang="zh-CN" sz="2800" dirty="0"/>
          </a:p>
          <a:p>
            <a:r>
              <a:rPr lang="zh-CN" altLang="zh-CN" sz="2800" dirty="0"/>
              <a:t>任何机构和个人只要向某个</a:t>
            </a:r>
            <a:r>
              <a:rPr lang="en-US" altLang="zh-CN" sz="2800" dirty="0"/>
              <a:t> ISP </a:t>
            </a:r>
            <a:r>
              <a:rPr lang="zh-CN" altLang="zh-CN" sz="2800" dirty="0"/>
              <a:t>交纳规定的费用，就可</a:t>
            </a:r>
            <a:r>
              <a:rPr lang="zh-CN" altLang="en-US" sz="2800" dirty="0"/>
              <a:t>从</a:t>
            </a:r>
            <a:r>
              <a:rPr lang="zh-CN" altLang="zh-CN" sz="2800" dirty="0"/>
              <a:t>该</a:t>
            </a:r>
            <a:r>
              <a:rPr lang="en-US" altLang="zh-CN" sz="2800" dirty="0"/>
              <a:t> ISP </a:t>
            </a:r>
            <a:r>
              <a:rPr lang="zh-CN" altLang="zh-CN" sz="2800" dirty="0"/>
              <a:t>获取所需</a:t>
            </a:r>
            <a:r>
              <a:rPr lang="en-US" altLang="zh-CN" sz="2800" dirty="0"/>
              <a:t> IP </a:t>
            </a:r>
            <a:r>
              <a:rPr lang="zh-CN" altLang="zh-CN" sz="2800" dirty="0"/>
              <a:t>地址的使用权，并可通过该</a:t>
            </a:r>
            <a:r>
              <a:rPr lang="en-US" altLang="zh-CN" sz="2800" dirty="0"/>
              <a:t> ISP </a:t>
            </a:r>
            <a:r>
              <a:rPr lang="zh-CN" altLang="zh-CN" sz="2800" dirty="0"/>
              <a:t>接入到互联网</a:t>
            </a:r>
            <a:r>
              <a:rPr lang="zh-CN" altLang="en-US" sz="2800" dirty="0"/>
              <a:t>。</a:t>
            </a:r>
            <a:endParaRPr lang="en-US" altLang="zh-CN" sz="2800" dirty="0"/>
          </a:p>
          <a:p>
            <a:r>
              <a:rPr lang="zh-CN" altLang="zh-CN" sz="2800" dirty="0"/>
              <a:t>根据提供服务的覆盖面积大小以及所拥有的</a:t>
            </a:r>
            <a:r>
              <a:rPr lang="en-US" altLang="zh-CN" sz="2800" dirty="0"/>
              <a:t> IP </a:t>
            </a:r>
            <a:r>
              <a:rPr lang="zh-CN" altLang="zh-CN" sz="2800" dirty="0"/>
              <a:t>地址数目的不同，</a:t>
            </a:r>
            <a:r>
              <a:rPr lang="en-US" altLang="zh-CN" sz="2800" dirty="0"/>
              <a:t>ISP </a:t>
            </a:r>
            <a:r>
              <a:rPr lang="zh-CN" altLang="zh-CN" sz="2800" dirty="0"/>
              <a:t>也分成为</a:t>
            </a:r>
            <a:r>
              <a:rPr lang="zh-CN" altLang="zh-CN" sz="2800" dirty="0">
                <a:solidFill>
                  <a:srgbClr val="0000CC"/>
                </a:solidFill>
              </a:rPr>
              <a:t>不同层次的</a:t>
            </a:r>
            <a:r>
              <a:rPr lang="en-US" altLang="zh-CN" sz="2800" dirty="0">
                <a:solidFill>
                  <a:srgbClr val="0000CC"/>
                </a:solidFill>
              </a:rPr>
              <a:t> ISP</a:t>
            </a:r>
            <a:r>
              <a:rPr lang="zh-CN" altLang="zh-CN" sz="2800" dirty="0"/>
              <a:t>：</a:t>
            </a:r>
            <a:r>
              <a:rPr lang="zh-CN" altLang="zh-CN" sz="2800" dirty="0">
                <a:solidFill>
                  <a:srgbClr val="FF0000"/>
                </a:solidFill>
              </a:rPr>
              <a:t>主干</a:t>
            </a:r>
            <a:r>
              <a:rPr lang="en-US" altLang="zh-CN" sz="2800" dirty="0">
                <a:solidFill>
                  <a:srgbClr val="FF0000"/>
                </a:solidFill>
              </a:rPr>
              <a:t> ISP</a:t>
            </a:r>
            <a:r>
              <a:rPr lang="zh-CN" altLang="zh-CN" sz="2800" dirty="0">
                <a:solidFill>
                  <a:srgbClr val="FF0000"/>
                </a:solidFill>
              </a:rPr>
              <a:t>、地区</a:t>
            </a:r>
            <a:r>
              <a:rPr lang="en-US" altLang="zh-CN" sz="2800" dirty="0">
                <a:solidFill>
                  <a:srgbClr val="FF0000"/>
                </a:solidFill>
              </a:rPr>
              <a:t> ISP </a:t>
            </a:r>
            <a:r>
              <a:rPr lang="zh-CN" altLang="zh-CN" sz="2800" dirty="0"/>
              <a:t>和</a:t>
            </a:r>
            <a:r>
              <a:rPr lang="en-US" altLang="zh-CN" sz="2800" dirty="0"/>
              <a:t> </a:t>
            </a:r>
            <a:r>
              <a:rPr lang="zh-CN" altLang="zh-CN" sz="2800" dirty="0">
                <a:solidFill>
                  <a:srgbClr val="FF0000"/>
                </a:solidFill>
              </a:rPr>
              <a:t>本地</a:t>
            </a:r>
            <a:r>
              <a:rPr lang="en-US" altLang="zh-CN" sz="2800" dirty="0">
                <a:solidFill>
                  <a:srgbClr val="FF0000"/>
                </a:solidFill>
              </a:rPr>
              <a:t> ISP</a:t>
            </a:r>
            <a:r>
              <a:rPr lang="zh-CN" altLang="zh-CN" sz="2800" dirty="0">
                <a:solidFill>
                  <a:srgbClr val="FF0000"/>
                </a:solidFill>
              </a:rPr>
              <a:t>。</a:t>
            </a:r>
            <a:endParaRPr lang="zh-CN" altLang="en-US" sz="2800" dirty="0">
              <a:solidFill>
                <a:srgbClr val="FF0000"/>
              </a:solidFill>
            </a:endParaRPr>
          </a:p>
          <a:p>
            <a:endParaRPr lang="zh-CN" altLang="en-US" sz="2800" dirty="0"/>
          </a:p>
        </p:txBody>
      </p:sp>
    </p:spTree>
    <p:extLst>
      <p:ext uri="{BB962C8B-B14F-4D97-AF65-F5344CB8AC3E}">
        <p14:creationId xmlns:p14="http://schemas.microsoft.com/office/powerpoint/2010/main" val="2800852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920065" y="4796383"/>
            <a:ext cx="8466778" cy="504825"/>
            <a:chOff x="920065" y="4724375"/>
            <a:chExt cx="8466778" cy="504825"/>
          </a:xfrm>
        </p:grpSpPr>
        <p:sp>
          <p:nvSpPr>
            <p:cNvPr id="396459" name="Text Box 171"/>
            <p:cNvSpPr txBox="1">
              <a:spLocks noChangeArrowheads="1"/>
            </p:cNvSpPr>
            <p:nvPr/>
          </p:nvSpPr>
          <p:spPr bwMode="auto">
            <a:xfrm>
              <a:off x="1141542" y="4799397"/>
              <a:ext cx="80772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15000"/>
                </a:spcBef>
                <a:spcAft>
                  <a:spcPct val="15000"/>
                </a:spcAft>
              </a:pPr>
              <a:r>
                <a:rPr kumimoji="1" lang="zh-CN" altLang="en-US" b="1" dirty="0">
                  <a:latin typeface="Arial" pitchFamily="34" charset="0"/>
                  <a:ea typeface="黑体" pitchFamily="2" charset="-122"/>
                  <a:cs typeface="Arial" pitchFamily="34" charset="0"/>
                </a:rPr>
                <a:t>主机</a:t>
              </a:r>
              <a:r>
                <a:rPr kumimoji="1" lang="en-US" altLang="zh-CN" b="1" dirty="0">
                  <a:latin typeface="Arial" pitchFamily="34" charset="0"/>
                  <a:ea typeface="黑体" pitchFamily="2" charset="-122"/>
                  <a:cs typeface="Arial" pitchFamily="34" charset="0"/>
                </a:rPr>
                <a:t>A → </a:t>
              </a:r>
              <a:r>
                <a:rPr kumimoji="1" lang="zh-CN" altLang="en-US" b="1" dirty="0">
                  <a:latin typeface="Arial" pitchFamily="34" charset="0"/>
                  <a:ea typeface="黑体" pitchFamily="2" charset="-122"/>
                  <a:cs typeface="Arial" pitchFamily="34" charset="0"/>
                </a:rPr>
                <a:t>本地 </a:t>
              </a:r>
              <a:r>
                <a:rPr kumimoji="1" lang="en-US" altLang="zh-CN" b="1" dirty="0">
                  <a:latin typeface="Arial" pitchFamily="34" charset="0"/>
                  <a:ea typeface="黑体" pitchFamily="2" charset="-122"/>
                  <a:cs typeface="Arial" pitchFamily="34" charset="0"/>
                </a:rPr>
                <a:t>ISP → </a:t>
              </a:r>
              <a:r>
                <a:rPr kumimoji="1" lang="zh-CN" altLang="en-US" b="1" dirty="0">
                  <a:latin typeface="Arial" pitchFamily="34" charset="0"/>
                  <a:ea typeface="黑体" pitchFamily="2" charset="-122"/>
                  <a:cs typeface="Arial" pitchFamily="34" charset="0"/>
                </a:rPr>
                <a:t>地区 </a:t>
              </a:r>
              <a:r>
                <a:rPr kumimoji="1" lang="en-US" altLang="zh-CN" b="1" dirty="0">
                  <a:latin typeface="Arial" pitchFamily="34" charset="0"/>
                  <a:ea typeface="黑体" pitchFamily="2" charset="-122"/>
                  <a:cs typeface="Arial" pitchFamily="34" charset="0"/>
                </a:rPr>
                <a:t>ISP → </a:t>
              </a:r>
              <a:r>
                <a:rPr kumimoji="1" lang="zh-CN" altLang="en-US" b="1" dirty="0">
                  <a:latin typeface="Arial" pitchFamily="34" charset="0"/>
                  <a:ea typeface="黑体" pitchFamily="2" charset="-122"/>
                  <a:cs typeface="Arial" pitchFamily="34" charset="0"/>
                </a:rPr>
                <a:t>主干 </a:t>
              </a:r>
              <a:r>
                <a:rPr kumimoji="1" lang="en-US" altLang="zh-CN" b="1" dirty="0">
                  <a:latin typeface="Arial" pitchFamily="34" charset="0"/>
                  <a:ea typeface="黑体" pitchFamily="2" charset="-122"/>
                  <a:cs typeface="Arial" pitchFamily="34" charset="0"/>
                </a:rPr>
                <a:t>ISP → </a:t>
              </a:r>
              <a:r>
                <a:rPr kumimoji="1" lang="zh-CN" altLang="en-US" b="1" dirty="0">
                  <a:latin typeface="Arial" pitchFamily="34" charset="0"/>
                  <a:ea typeface="黑体" pitchFamily="2" charset="-122"/>
                  <a:cs typeface="Arial" pitchFamily="34" charset="0"/>
                </a:rPr>
                <a:t>地区 </a:t>
              </a:r>
              <a:r>
                <a:rPr kumimoji="1" lang="en-US" altLang="zh-CN" b="1" dirty="0">
                  <a:latin typeface="Arial" pitchFamily="34" charset="0"/>
                  <a:ea typeface="黑体" pitchFamily="2" charset="-122"/>
                  <a:cs typeface="Arial" pitchFamily="34" charset="0"/>
                </a:rPr>
                <a:t>ISP → </a:t>
              </a:r>
              <a:r>
                <a:rPr kumimoji="1" lang="zh-CN" altLang="en-US" b="1" dirty="0">
                  <a:latin typeface="Arial" pitchFamily="34" charset="0"/>
                  <a:ea typeface="黑体" pitchFamily="2" charset="-122"/>
                  <a:cs typeface="Arial" pitchFamily="34" charset="0"/>
                </a:rPr>
                <a:t>本地 </a:t>
              </a:r>
              <a:r>
                <a:rPr kumimoji="1" lang="en-US" altLang="zh-CN" b="1" dirty="0">
                  <a:latin typeface="Arial" pitchFamily="34" charset="0"/>
                  <a:ea typeface="黑体" pitchFamily="2" charset="-122"/>
                  <a:cs typeface="Arial" pitchFamily="34" charset="0"/>
                </a:rPr>
                <a:t>ISP → </a:t>
              </a:r>
              <a:r>
                <a:rPr kumimoji="1" lang="zh-CN" altLang="en-US" b="1" dirty="0">
                  <a:latin typeface="Arial" pitchFamily="34" charset="0"/>
                  <a:ea typeface="黑体" pitchFamily="2" charset="-122"/>
                  <a:cs typeface="Arial" pitchFamily="34" charset="0"/>
                </a:rPr>
                <a:t>主机</a:t>
              </a:r>
              <a:r>
                <a:rPr kumimoji="1" lang="en-US" altLang="zh-CN" b="1" dirty="0">
                  <a:latin typeface="Arial" pitchFamily="34" charset="0"/>
                  <a:ea typeface="黑体" pitchFamily="2" charset="-122"/>
                  <a:cs typeface="Arial" pitchFamily="34" charset="0"/>
                </a:rPr>
                <a:t>B</a:t>
              </a:r>
            </a:p>
          </p:txBody>
        </p:sp>
        <p:sp>
          <p:nvSpPr>
            <p:cNvPr id="396460" name="Rectangle 172"/>
            <p:cNvSpPr>
              <a:spLocks noChangeArrowheads="1"/>
            </p:cNvSpPr>
            <p:nvPr/>
          </p:nvSpPr>
          <p:spPr bwMode="auto">
            <a:xfrm>
              <a:off x="920065" y="4724375"/>
              <a:ext cx="8466778" cy="504825"/>
            </a:xfrm>
            <a:prstGeom prst="rect">
              <a:avLst/>
            </a:prstGeom>
            <a:noFill/>
            <a:ln w="38100" cmpd="dbl">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Arial" pitchFamily="34" charset="0"/>
                <a:ea typeface="黑体" pitchFamily="2" charset="-122"/>
                <a:cs typeface="Arial" pitchFamily="34" charset="0"/>
              </a:endParaRPr>
            </a:p>
          </p:txBody>
        </p:sp>
      </p:grpSp>
      <p:grpSp>
        <p:nvGrpSpPr>
          <p:cNvPr id="4" name="组合 3"/>
          <p:cNvGrpSpPr/>
          <p:nvPr/>
        </p:nvGrpSpPr>
        <p:grpSpPr>
          <a:xfrm>
            <a:off x="439997" y="527684"/>
            <a:ext cx="9254121" cy="4032448"/>
            <a:chOff x="128464" y="1412776"/>
            <a:chExt cx="9763258" cy="3876676"/>
          </a:xfrm>
        </p:grpSpPr>
        <p:sp>
          <p:nvSpPr>
            <p:cNvPr id="396429" name="Line 141"/>
            <p:cNvSpPr>
              <a:spLocks noChangeShapeType="1"/>
            </p:cNvSpPr>
            <p:nvPr/>
          </p:nvSpPr>
          <p:spPr bwMode="auto">
            <a:xfrm>
              <a:off x="6916483" y="3257451"/>
              <a:ext cx="1480740" cy="0"/>
            </a:xfrm>
            <a:prstGeom prst="line">
              <a:avLst/>
            </a:prstGeom>
            <a:noFill/>
            <a:ln w="76200" cmpd="tri">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0" name="Line 142"/>
            <p:cNvSpPr>
              <a:spLocks noChangeShapeType="1"/>
            </p:cNvSpPr>
            <p:nvPr/>
          </p:nvSpPr>
          <p:spPr bwMode="auto">
            <a:xfrm>
              <a:off x="8476333" y="4221064"/>
              <a:ext cx="311283" cy="720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1" name="Line 143"/>
            <p:cNvSpPr>
              <a:spLocks noChangeShapeType="1"/>
            </p:cNvSpPr>
            <p:nvPr/>
          </p:nvSpPr>
          <p:spPr bwMode="auto">
            <a:xfrm flipH="1">
              <a:off x="7772939" y="4149626"/>
              <a:ext cx="469503" cy="779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2" name="Text Box 144"/>
            <p:cNvSpPr txBox="1">
              <a:spLocks noChangeArrowheads="1"/>
            </p:cNvSpPr>
            <p:nvPr/>
          </p:nvSpPr>
          <p:spPr bwMode="auto">
            <a:xfrm>
              <a:off x="8008550" y="4509989"/>
              <a:ext cx="627772" cy="56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a:latin typeface="Arial" pitchFamily="34" charset="0"/>
                  <a:ea typeface="黑体" pitchFamily="2" charset="-122"/>
                  <a:cs typeface="Arial" pitchFamily="34" charset="0"/>
                  <a:sym typeface="Symbol" pitchFamily="18" charset="2"/>
                </a:rPr>
                <a:t></a:t>
              </a:r>
            </a:p>
          </p:txBody>
        </p:sp>
        <p:sp>
          <p:nvSpPr>
            <p:cNvPr id="396433" name="Line 145"/>
            <p:cNvSpPr>
              <a:spLocks noChangeShapeType="1"/>
            </p:cNvSpPr>
            <p:nvPr/>
          </p:nvSpPr>
          <p:spPr bwMode="auto">
            <a:xfrm flipH="1">
              <a:off x="8242441" y="3286026"/>
              <a:ext cx="545175" cy="863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4" name="Line 146"/>
            <p:cNvSpPr>
              <a:spLocks noChangeShapeType="1"/>
            </p:cNvSpPr>
            <p:nvPr/>
          </p:nvSpPr>
          <p:spPr bwMode="auto">
            <a:xfrm flipH="1">
              <a:off x="5667915" y="3286026"/>
              <a:ext cx="545173" cy="863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5" name="Line 147"/>
            <p:cNvSpPr>
              <a:spLocks noChangeShapeType="1"/>
            </p:cNvSpPr>
            <p:nvPr/>
          </p:nvSpPr>
          <p:spPr bwMode="auto">
            <a:xfrm>
              <a:off x="6446979" y="3213001"/>
              <a:ext cx="546894" cy="10080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6" name="Line 148"/>
            <p:cNvSpPr>
              <a:spLocks noChangeShapeType="1"/>
            </p:cNvSpPr>
            <p:nvPr/>
          </p:nvSpPr>
          <p:spPr bwMode="auto">
            <a:xfrm>
              <a:off x="3640279" y="3213002"/>
              <a:ext cx="545175" cy="9366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7" name="Line 149"/>
            <p:cNvSpPr>
              <a:spLocks noChangeShapeType="1"/>
            </p:cNvSpPr>
            <p:nvPr/>
          </p:nvSpPr>
          <p:spPr bwMode="auto">
            <a:xfrm flipH="1">
              <a:off x="2859494" y="3357464"/>
              <a:ext cx="390393"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8" name="Line 150"/>
            <p:cNvSpPr>
              <a:spLocks noChangeShapeType="1"/>
            </p:cNvSpPr>
            <p:nvPr/>
          </p:nvSpPr>
          <p:spPr bwMode="auto">
            <a:xfrm>
              <a:off x="1065751" y="3357463"/>
              <a:ext cx="233892" cy="863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39" name="Line 151"/>
            <p:cNvSpPr>
              <a:spLocks noChangeShapeType="1"/>
            </p:cNvSpPr>
            <p:nvPr/>
          </p:nvSpPr>
          <p:spPr bwMode="auto">
            <a:xfrm>
              <a:off x="9021508" y="3430488"/>
              <a:ext cx="467783" cy="9350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0" name="Line 152"/>
            <p:cNvSpPr>
              <a:spLocks noChangeShapeType="1"/>
            </p:cNvSpPr>
            <p:nvPr/>
          </p:nvSpPr>
          <p:spPr bwMode="auto">
            <a:xfrm flipH="1">
              <a:off x="909250" y="2349401"/>
              <a:ext cx="624285" cy="7921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1" name="Line 153"/>
            <p:cNvSpPr>
              <a:spLocks noChangeShapeType="1"/>
            </p:cNvSpPr>
            <p:nvPr/>
          </p:nvSpPr>
          <p:spPr bwMode="auto">
            <a:xfrm>
              <a:off x="5200130" y="1557238"/>
              <a:ext cx="1559851" cy="647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2" name="Line 154"/>
            <p:cNvSpPr>
              <a:spLocks noChangeShapeType="1"/>
            </p:cNvSpPr>
            <p:nvPr/>
          </p:nvSpPr>
          <p:spPr bwMode="auto">
            <a:xfrm>
              <a:off x="7150375" y="4221064"/>
              <a:ext cx="311282" cy="720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3" name="Line 155"/>
            <p:cNvSpPr>
              <a:spLocks noChangeShapeType="1"/>
            </p:cNvSpPr>
            <p:nvPr/>
          </p:nvSpPr>
          <p:spPr bwMode="auto">
            <a:xfrm>
              <a:off x="2936885" y="4294089"/>
              <a:ext cx="311282" cy="720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4" name="Line 156"/>
            <p:cNvSpPr>
              <a:spLocks noChangeShapeType="1"/>
            </p:cNvSpPr>
            <p:nvPr/>
          </p:nvSpPr>
          <p:spPr bwMode="auto">
            <a:xfrm flipH="1">
              <a:off x="6446979" y="4149626"/>
              <a:ext cx="469504" cy="779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5" name="Line 157"/>
            <p:cNvSpPr>
              <a:spLocks noChangeShapeType="1"/>
            </p:cNvSpPr>
            <p:nvPr/>
          </p:nvSpPr>
          <p:spPr bwMode="auto">
            <a:xfrm>
              <a:off x="9489291" y="4365526"/>
              <a:ext cx="156501"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6" name="Line 158"/>
            <p:cNvSpPr>
              <a:spLocks noChangeShapeType="1"/>
            </p:cNvSpPr>
            <p:nvPr/>
          </p:nvSpPr>
          <p:spPr bwMode="auto">
            <a:xfrm flipH="1">
              <a:off x="2235210" y="4221063"/>
              <a:ext cx="624284" cy="8651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7" name="Line 159"/>
            <p:cNvSpPr>
              <a:spLocks noChangeShapeType="1"/>
            </p:cNvSpPr>
            <p:nvPr/>
          </p:nvSpPr>
          <p:spPr bwMode="auto">
            <a:xfrm flipH="1">
              <a:off x="597969" y="3357464"/>
              <a:ext cx="154781" cy="1528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8" name="Line 160"/>
            <p:cNvSpPr>
              <a:spLocks noChangeShapeType="1"/>
            </p:cNvSpPr>
            <p:nvPr/>
          </p:nvSpPr>
          <p:spPr bwMode="auto">
            <a:xfrm flipH="1" flipV="1">
              <a:off x="5824415" y="4294088"/>
              <a:ext cx="388673"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49" name="Line 161"/>
            <p:cNvSpPr>
              <a:spLocks noChangeShapeType="1"/>
            </p:cNvSpPr>
            <p:nvPr/>
          </p:nvSpPr>
          <p:spPr bwMode="auto">
            <a:xfrm flipV="1">
              <a:off x="4262844" y="4294089"/>
              <a:ext cx="1086908"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50" name="Line 162"/>
            <p:cNvSpPr>
              <a:spLocks noChangeShapeType="1"/>
            </p:cNvSpPr>
            <p:nvPr/>
          </p:nvSpPr>
          <p:spPr bwMode="auto">
            <a:xfrm>
              <a:off x="2548213" y="2349402"/>
              <a:ext cx="856456" cy="7207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51" name="Line 163"/>
            <p:cNvSpPr>
              <a:spLocks noChangeShapeType="1"/>
            </p:cNvSpPr>
            <p:nvPr/>
          </p:nvSpPr>
          <p:spPr bwMode="auto">
            <a:xfrm flipH="1">
              <a:off x="5277521" y="4294089"/>
              <a:ext cx="233892"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52" name="Oval 164"/>
            <p:cNvSpPr>
              <a:spLocks noChangeArrowheads="1"/>
            </p:cNvSpPr>
            <p:nvPr/>
          </p:nvSpPr>
          <p:spPr bwMode="auto">
            <a:xfrm>
              <a:off x="128464" y="4654452"/>
              <a:ext cx="1012958" cy="504825"/>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dirty="0">
                  <a:latin typeface="Arial" pitchFamily="34" charset="0"/>
                  <a:ea typeface="黑体" pitchFamily="2" charset="-122"/>
                  <a:cs typeface="Arial" pitchFamily="34" charset="0"/>
                </a:rPr>
                <a:t>大公司</a:t>
              </a:r>
            </a:p>
          </p:txBody>
        </p:sp>
        <p:sp>
          <p:nvSpPr>
            <p:cNvPr id="396453" name="Oval 165"/>
            <p:cNvSpPr>
              <a:spLocks noChangeArrowheads="1"/>
            </p:cNvSpPr>
            <p:nvPr/>
          </p:nvSpPr>
          <p:spPr bwMode="auto">
            <a:xfrm>
              <a:off x="3860412" y="4797326"/>
              <a:ext cx="1026716" cy="457200"/>
            </a:xfrm>
            <a:prstGeom prst="ellipse">
              <a:avLst/>
            </a:prstGeom>
            <a:solidFill>
              <a:schemeClr val="bg1"/>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a:latin typeface="Arial" pitchFamily="34" charset="0"/>
                  <a:ea typeface="黑体" pitchFamily="2" charset="-122"/>
                  <a:cs typeface="Arial" pitchFamily="34" charset="0"/>
                </a:rPr>
                <a:t>公司</a:t>
              </a:r>
            </a:p>
          </p:txBody>
        </p:sp>
        <p:sp>
          <p:nvSpPr>
            <p:cNvPr id="396454" name="Oval 166"/>
            <p:cNvSpPr>
              <a:spLocks noChangeArrowheads="1"/>
            </p:cNvSpPr>
            <p:nvPr/>
          </p:nvSpPr>
          <p:spPr bwMode="auto">
            <a:xfrm>
              <a:off x="5033310" y="4055964"/>
              <a:ext cx="1024996" cy="3857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9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pic>
          <p:nvPicPr>
            <p:cNvPr id="396455" name="Picture 1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6817" y="4870351"/>
              <a:ext cx="443706"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6456" name="Text Box 168"/>
            <p:cNvSpPr txBox="1">
              <a:spLocks noChangeArrowheads="1"/>
            </p:cNvSpPr>
            <p:nvPr/>
          </p:nvSpPr>
          <p:spPr bwMode="auto">
            <a:xfrm>
              <a:off x="4887128" y="4797326"/>
              <a:ext cx="370710" cy="35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Arial" pitchFamily="34" charset="0"/>
                  <a:ea typeface="黑体" pitchFamily="2" charset="-122"/>
                  <a:cs typeface="Arial" pitchFamily="34" charset="0"/>
                </a:rPr>
                <a:t>A</a:t>
              </a:r>
            </a:p>
          </p:txBody>
        </p:sp>
        <p:pic>
          <p:nvPicPr>
            <p:cNvPr id="396457" name="Picture 16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35978" y="4870351"/>
              <a:ext cx="443706"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6458" name="Text Box 170"/>
            <p:cNvSpPr txBox="1">
              <a:spLocks noChangeArrowheads="1"/>
            </p:cNvSpPr>
            <p:nvPr/>
          </p:nvSpPr>
          <p:spPr bwMode="auto">
            <a:xfrm>
              <a:off x="9178008" y="4797326"/>
              <a:ext cx="370710" cy="355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Arial" pitchFamily="34" charset="0"/>
                  <a:ea typeface="黑体" pitchFamily="2" charset="-122"/>
                  <a:cs typeface="Arial" pitchFamily="34" charset="0"/>
                </a:rPr>
                <a:t>B</a:t>
              </a:r>
            </a:p>
          </p:txBody>
        </p:sp>
        <p:sp>
          <p:nvSpPr>
            <p:cNvPr id="396461" name="Line 173"/>
            <p:cNvSpPr>
              <a:spLocks noChangeShapeType="1"/>
            </p:cNvSpPr>
            <p:nvPr/>
          </p:nvSpPr>
          <p:spPr bwMode="auto">
            <a:xfrm flipV="1">
              <a:off x="2625602" y="1630263"/>
              <a:ext cx="1405070" cy="431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62" name="Line 174"/>
            <p:cNvSpPr>
              <a:spLocks noChangeShapeType="1"/>
            </p:cNvSpPr>
            <p:nvPr/>
          </p:nvSpPr>
          <p:spPr bwMode="auto">
            <a:xfrm>
              <a:off x="2936885" y="2277963"/>
              <a:ext cx="38230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63" name="Oval 175"/>
            <p:cNvSpPr>
              <a:spLocks noChangeArrowheads="1"/>
            </p:cNvSpPr>
            <p:nvPr/>
          </p:nvSpPr>
          <p:spPr bwMode="auto">
            <a:xfrm>
              <a:off x="8866726" y="4060726"/>
              <a:ext cx="1024996" cy="381000"/>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10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64" name="Line 176"/>
            <p:cNvSpPr>
              <a:spLocks noChangeShapeType="1"/>
            </p:cNvSpPr>
            <p:nvPr/>
          </p:nvSpPr>
          <p:spPr bwMode="auto">
            <a:xfrm flipH="1">
              <a:off x="6292198" y="2422427"/>
              <a:ext cx="779066" cy="7191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65" name="Line 177"/>
            <p:cNvSpPr>
              <a:spLocks noChangeShapeType="1"/>
            </p:cNvSpPr>
            <p:nvPr/>
          </p:nvSpPr>
          <p:spPr bwMode="auto">
            <a:xfrm flipH="1" flipV="1">
              <a:off x="7929440" y="2349402"/>
              <a:ext cx="703395" cy="7207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66" name="Oval 178"/>
            <p:cNvSpPr>
              <a:spLocks noChangeArrowheads="1"/>
            </p:cNvSpPr>
            <p:nvPr/>
          </p:nvSpPr>
          <p:spPr bwMode="auto">
            <a:xfrm>
              <a:off x="909250" y="1989038"/>
              <a:ext cx="2105025" cy="503238"/>
            </a:xfrm>
            <a:prstGeom prst="ellipse">
              <a:avLst/>
            </a:prstGeom>
            <a:solidFill>
              <a:srgbClr val="FFFF00"/>
            </a:solidFill>
            <a:ln w="19050">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dirty="0">
                  <a:latin typeface="Arial" pitchFamily="34" charset="0"/>
                  <a:ea typeface="黑体" pitchFamily="2" charset="-122"/>
                  <a:cs typeface="Arial" pitchFamily="34" charset="0"/>
                </a:rPr>
                <a:t>主干 </a:t>
              </a:r>
              <a:r>
                <a:rPr kumimoji="1" lang="zh-CN" altLang="en-US" sz="900" b="1" dirty="0">
                  <a:latin typeface="Arial" pitchFamily="34" charset="0"/>
                  <a:ea typeface="黑体" pitchFamily="2" charset="-122"/>
                  <a:cs typeface="Arial" pitchFamily="34" charset="0"/>
                </a:rPr>
                <a:t> </a:t>
              </a:r>
              <a:r>
                <a:rPr kumimoji="1" lang="en-US" altLang="zh-CN" b="1" dirty="0">
                  <a:latin typeface="Arial" pitchFamily="34" charset="0"/>
                  <a:ea typeface="黑体" pitchFamily="2" charset="-122"/>
                  <a:cs typeface="Arial" pitchFamily="34" charset="0"/>
                </a:rPr>
                <a:t>ISP</a:t>
              </a:r>
            </a:p>
          </p:txBody>
        </p:sp>
        <p:sp>
          <p:nvSpPr>
            <p:cNvPr id="396467" name="Oval 179"/>
            <p:cNvSpPr>
              <a:spLocks noChangeArrowheads="1"/>
            </p:cNvSpPr>
            <p:nvPr/>
          </p:nvSpPr>
          <p:spPr bwMode="auto">
            <a:xfrm>
              <a:off x="2302281"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9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68" name="Oval 180"/>
            <p:cNvSpPr>
              <a:spLocks noChangeArrowheads="1"/>
            </p:cNvSpPr>
            <p:nvPr/>
          </p:nvSpPr>
          <p:spPr bwMode="auto">
            <a:xfrm>
              <a:off x="742431"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9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69" name="Oval 181"/>
            <p:cNvSpPr>
              <a:spLocks noChangeArrowheads="1"/>
            </p:cNvSpPr>
            <p:nvPr/>
          </p:nvSpPr>
          <p:spPr bwMode="auto">
            <a:xfrm>
              <a:off x="5590523" y="3070127"/>
              <a:ext cx="1458383" cy="388937"/>
            </a:xfrm>
            <a:prstGeom prst="ellipse">
              <a:avLst/>
            </a:prstGeom>
            <a:solidFill>
              <a:srgbClr val="00B0F0"/>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a:latin typeface="Arial" pitchFamily="34" charset="0"/>
                  <a:ea typeface="黑体" pitchFamily="2" charset="-122"/>
                  <a:cs typeface="Arial" pitchFamily="34" charset="0"/>
                </a:rPr>
                <a:t>地区 </a:t>
              </a:r>
              <a:r>
                <a:rPr kumimoji="1" lang="zh-CN" altLang="en-US" sz="6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70" name="Oval 182"/>
            <p:cNvSpPr>
              <a:spLocks noChangeArrowheads="1"/>
            </p:cNvSpPr>
            <p:nvPr/>
          </p:nvSpPr>
          <p:spPr bwMode="auto">
            <a:xfrm>
              <a:off x="3640279" y="1412776"/>
              <a:ext cx="2105025" cy="503237"/>
            </a:xfrm>
            <a:prstGeom prst="ellipse">
              <a:avLst/>
            </a:prstGeom>
            <a:solidFill>
              <a:srgbClr val="FFFF00"/>
            </a:solidFill>
            <a:ln w="19050">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dirty="0">
                  <a:latin typeface="Arial" pitchFamily="34" charset="0"/>
                  <a:ea typeface="黑体" pitchFamily="2" charset="-122"/>
                  <a:cs typeface="Arial" pitchFamily="34" charset="0"/>
                </a:rPr>
                <a:t>主干 </a:t>
              </a:r>
              <a:r>
                <a:rPr kumimoji="1" lang="zh-CN" altLang="en-US" sz="900" b="1" dirty="0">
                  <a:latin typeface="Arial" pitchFamily="34" charset="0"/>
                  <a:ea typeface="黑体" pitchFamily="2" charset="-122"/>
                  <a:cs typeface="Arial" pitchFamily="34" charset="0"/>
                </a:rPr>
                <a:t> </a:t>
              </a:r>
              <a:r>
                <a:rPr kumimoji="1" lang="en-US" altLang="zh-CN" b="1" dirty="0">
                  <a:latin typeface="Arial" pitchFamily="34" charset="0"/>
                  <a:ea typeface="黑体" pitchFamily="2" charset="-122"/>
                  <a:cs typeface="Arial" pitchFamily="34" charset="0"/>
                </a:rPr>
                <a:t>ISP</a:t>
              </a:r>
            </a:p>
          </p:txBody>
        </p:sp>
        <p:sp>
          <p:nvSpPr>
            <p:cNvPr id="396471" name="Oval 183"/>
            <p:cNvSpPr>
              <a:spLocks noChangeArrowheads="1"/>
            </p:cNvSpPr>
            <p:nvPr/>
          </p:nvSpPr>
          <p:spPr bwMode="auto">
            <a:xfrm>
              <a:off x="6369589" y="1989038"/>
              <a:ext cx="2105025" cy="503238"/>
            </a:xfrm>
            <a:prstGeom prst="ellipse">
              <a:avLst/>
            </a:prstGeom>
            <a:solidFill>
              <a:srgbClr val="FFFF00"/>
            </a:solidFill>
            <a:ln w="19050">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a:latin typeface="Arial" pitchFamily="34" charset="0"/>
                  <a:ea typeface="黑体" pitchFamily="2" charset="-122"/>
                  <a:cs typeface="Arial" pitchFamily="34" charset="0"/>
                </a:rPr>
                <a:t>主干 </a:t>
              </a:r>
              <a:r>
                <a:rPr kumimoji="1" lang="zh-CN" altLang="en-US" sz="9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72" name="Oval 184"/>
            <p:cNvSpPr>
              <a:spLocks noChangeArrowheads="1"/>
            </p:cNvSpPr>
            <p:nvPr/>
          </p:nvSpPr>
          <p:spPr bwMode="auto">
            <a:xfrm>
              <a:off x="8163331" y="3070127"/>
              <a:ext cx="1458383" cy="388937"/>
            </a:xfrm>
            <a:prstGeom prst="ellipse">
              <a:avLst/>
            </a:prstGeom>
            <a:solidFill>
              <a:srgbClr val="00B0F0"/>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a:latin typeface="Arial" pitchFamily="34" charset="0"/>
                  <a:ea typeface="黑体" pitchFamily="2" charset="-122"/>
                  <a:cs typeface="Arial" pitchFamily="34" charset="0"/>
                </a:rPr>
                <a:t>地区 </a:t>
              </a:r>
              <a:r>
                <a:rPr kumimoji="1" lang="zh-CN" altLang="en-US" sz="6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73" name="Oval 185"/>
            <p:cNvSpPr>
              <a:spLocks noChangeArrowheads="1"/>
            </p:cNvSpPr>
            <p:nvPr/>
          </p:nvSpPr>
          <p:spPr bwMode="auto">
            <a:xfrm>
              <a:off x="207575" y="3070127"/>
              <a:ext cx="1458383" cy="388937"/>
            </a:xfrm>
            <a:prstGeom prst="ellipse">
              <a:avLst/>
            </a:prstGeom>
            <a:solidFill>
              <a:srgbClr val="00B0F0"/>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dirty="0">
                  <a:latin typeface="Arial" pitchFamily="34" charset="0"/>
                  <a:ea typeface="黑体" pitchFamily="2" charset="-122"/>
                  <a:cs typeface="Arial" pitchFamily="34" charset="0"/>
                </a:rPr>
                <a:t>地区 </a:t>
              </a:r>
              <a:r>
                <a:rPr kumimoji="1" lang="zh-CN" altLang="en-US" sz="600" b="1" dirty="0">
                  <a:latin typeface="Arial" pitchFamily="34" charset="0"/>
                  <a:ea typeface="黑体" pitchFamily="2" charset="-122"/>
                  <a:cs typeface="Arial" pitchFamily="34" charset="0"/>
                </a:rPr>
                <a:t> </a:t>
              </a:r>
              <a:r>
                <a:rPr kumimoji="1" lang="en-US" altLang="zh-CN" b="1" dirty="0">
                  <a:latin typeface="Arial" pitchFamily="34" charset="0"/>
                  <a:ea typeface="黑体" pitchFamily="2" charset="-122"/>
                  <a:cs typeface="Arial" pitchFamily="34" charset="0"/>
                </a:rPr>
                <a:t>ISP</a:t>
              </a:r>
            </a:p>
          </p:txBody>
        </p:sp>
        <p:sp>
          <p:nvSpPr>
            <p:cNvPr id="396474" name="Oval 186"/>
            <p:cNvSpPr>
              <a:spLocks noChangeArrowheads="1"/>
            </p:cNvSpPr>
            <p:nvPr/>
          </p:nvSpPr>
          <p:spPr bwMode="auto">
            <a:xfrm>
              <a:off x="2702993" y="3070127"/>
              <a:ext cx="1458383" cy="388937"/>
            </a:xfrm>
            <a:prstGeom prst="ellipse">
              <a:avLst/>
            </a:prstGeom>
            <a:solidFill>
              <a:srgbClr val="00B0F0"/>
            </a:solidFill>
            <a:ln w="9525">
              <a:solidFill>
                <a:schemeClr val="tx1"/>
              </a:solidFill>
              <a:round/>
              <a:headEnd/>
              <a:tailEnd/>
            </a:ln>
            <a:effectLst>
              <a:outerShdw dist="35921" dir="2700000" algn="ctr" rotWithShape="0">
                <a:schemeClr val="bg2"/>
              </a:outerShdw>
            </a:effectLst>
          </p:spPr>
          <p:txBody>
            <a:bodyPr wrap="none" anchor="ctr"/>
            <a:lstStyle/>
            <a:p>
              <a:pPr algn="ctr"/>
              <a:r>
                <a:rPr kumimoji="1" lang="zh-CN" altLang="en-US" b="1">
                  <a:latin typeface="Arial" pitchFamily="34" charset="0"/>
                  <a:ea typeface="黑体" pitchFamily="2" charset="-122"/>
                  <a:cs typeface="Arial" pitchFamily="34" charset="0"/>
                </a:rPr>
                <a:t>地区 </a:t>
              </a:r>
              <a:r>
                <a:rPr kumimoji="1" lang="zh-CN" altLang="en-US" sz="6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75" name="Text Box 187"/>
            <p:cNvSpPr txBox="1">
              <a:spLocks noChangeArrowheads="1"/>
            </p:cNvSpPr>
            <p:nvPr/>
          </p:nvSpPr>
          <p:spPr bwMode="auto">
            <a:xfrm>
              <a:off x="1714112" y="2655789"/>
              <a:ext cx="925422" cy="88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b="1">
                  <a:latin typeface="Arial" pitchFamily="34" charset="0"/>
                  <a:ea typeface="黑体" pitchFamily="2" charset="-122"/>
                  <a:cs typeface="Arial" pitchFamily="34" charset="0"/>
                  <a:sym typeface="Symbol" pitchFamily="18" charset="2"/>
                </a:rPr>
                <a:t></a:t>
              </a:r>
            </a:p>
          </p:txBody>
        </p:sp>
        <p:sp>
          <p:nvSpPr>
            <p:cNvPr id="396476" name="Text Box 188"/>
            <p:cNvSpPr txBox="1">
              <a:spLocks noChangeArrowheads="1"/>
            </p:cNvSpPr>
            <p:nvPr/>
          </p:nvSpPr>
          <p:spPr bwMode="auto">
            <a:xfrm>
              <a:off x="4419345" y="2638326"/>
              <a:ext cx="925422" cy="88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5400" b="1">
                  <a:latin typeface="Arial" pitchFamily="34" charset="0"/>
                  <a:ea typeface="黑体" pitchFamily="2" charset="-122"/>
                  <a:cs typeface="Arial" pitchFamily="34" charset="0"/>
                  <a:sym typeface="Symbol" pitchFamily="18" charset="2"/>
                </a:rPr>
                <a:t></a:t>
              </a:r>
            </a:p>
          </p:txBody>
        </p:sp>
        <p:sp>
          <p:nvSpPr>
            <p:cNvPr id="396477" name="Oval 189"/>
            <p:cNvSpPr>
              <a:spLocks noChangeArrowheads="1"/>
            </p:cNvSpPr>
            <p:nvPr/>
          </p:nvSpPr>
          <p:spPr bwMode="auto">
            <a:xfrm>
              <a:off x="6446979"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9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sp>
          <p:nvSpPr>
            <p:cNvPr id="396478" name="Oval 190"/>
            <p:cNvSpPr>
              <a:spLocks noChangeArrowheads="1"/>
            </p:cNvSpPr>
            <p:nvPr/>
          </p:nvSpPr>
          <p:spPr bwMode="auto">
            <a:xfrm>
              <a:off x="3640279" y="4005164"/>
              <a:ext cx="1024996" cy="436563"/>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9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grpSp>
          <p:nvGrpSpPr>
            <p:cNvPr id="396479" name="Group 191"/>
            <p:cNvGrpSpPr>
              <a:grpSpLocks/>
            </p:cNvGrpSpPr>
            <p:nvPr/>
          </p:nvGrpSpPr>
          <p:grpSpPr bwMode="auto">
            <a:xfrm>
              <a:off x="7305156" y="3084414"/>
              <a:ext cx="586449" cy="355600"/>
              <a:chOff x="3334" y="255"/>
              <a:chExt cx="341" cy="224"/>
            </a:xfrm>
          </p:grpSpPr>
          <p:pic>
            <p:nvPicPr>
              <p:cNvPr id="396480" name="Picture 19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4" y="255"/>
                <a:ext cx="318"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6481" name="Text Box 193"/>
              <p:cNvSpPr txBox="1">
                <a:spLocks noChangeArrowheads="1"/>
              </p:cNvSpPr>
              <p:nvPr/>
            </p:nvSpPr>
            <p:spPr bwMode="auto">
              <a:xfrm>
                <a:off x="3334" y="255"/>
                <a:ext cx="34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Arial" pitchFamily="34" charset="0"/>
                    <a:ea typeface="黑体" pitchFamily="2" charset="-122"/>
                    <a:cs typeface="Arial" pitchFamily="34" charset="0"/>
                  </a:rPr>
                  <a:t>IXP</a:t>
                </a:r>
              </a:p>
            </p:txBody>
          </p:sp>
        </p:grpSp>
        <p:sp>
          <p:nvSpPr>
            <p:cNvPr id="396482" name="Text Box 194"/>
            <p:cNvSpPr txBox="1">
              <a:spLocks noChangeArrowheads="1"/>
            </p:cNvSpPr>
            <p:nvPr/>
          </p:nvSpPr>
          <p:spPr bwMode="auto">
            <a:xfrm>
              <a:off x="1751948" y="3786088"/>
              <a:ext cx="681890" cy="62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b="1">
                  <a:latin typeface="Arial" pitchFamily="34" charset="0"/>
                  <a:ea typeface="黑体" pitchFamily="2" charset="-122"/>
                  <a:cs typeface="Arial" pitchFamily="34" charset="0"/>
                  <a:sym typeface="Symbol" pitchFamily="18" charset="2"/>
                </a:rPr>
                <a:t></a:t>
              </a:r>
            </a:p>
          </p:txBody>
        </p:sp>
        <p:sp>
          <p:nvSpPr>
            <p:cNvPr id="396483" name="Oval 195"/>
            <p:cNvSpPr>
              <a:spLocks noChangeArrowheads="1"/>
            </p:cNvSpPr>
            <p:nvPr/>
          </p:nvSpPr>
          <p:spPr bwMode="auto">
            <a:xfrm>
              <a:off x="7695548" y="4057551"/>
              <a:ext cx="1024996" cy="381000"/>
            </a:xfrm>
            <a:prstGeom prst="ellipse">
              <a:avLst/>
            </a:prstGeom>
            <a:solidFill>
              <a:schemeClr val="bg1">
                <a:lumMod val="75000"/>
              </a:schemeClr>
            </a:solidFill>
            <a:ln>
              <a:noFill/>
            </a:ln>
            <a:effectLst>
              <a:outerShdw dist="35921" dir="2700000" algn="ctr" rotWithShape="0">
                <a:schemeClr val="bg2"/>
              </a:outerShdw>
            </a:effectLst>
            <a:extLst>
              <a:ext uri="{91240B29-F687-4F45-9708-019B960494DF}">
                <a14:hiddenLine xmlns:a14="http://schemas.microsoft.com/office/drawing/2010/main" w="9525">
                  <a:solidFill>
                    <a:schemeClr val="tx1"/>
                  </a:solidFill>
                  <a:round/>
                  <a:headEnd/>
                  <a:tailEnd/>
                </a14:hiddenLine>
              </a:ext>
            </a:extLst>
          </p:spPr>
          <p:txBody>
            <a:bodyPr wrap="none" anchor="ctr"/>
            <a:lstStyle/>
            <a:p>
              <a:pPr algn="ctr"/>
              <a:r>
                <a:rPr kumimoji="1" lang="zh-CN" altLang="en-US" b="1">
                  <a:latin typeface="Arial" pitchFamily="34" charset="0"/>
                  <a:ea typeface="黑体" pitchFamily="2" charset="-122"/>
                  <a:cs typeface="Arial" pitchFamily="34" charset="0"/>
                </a:rPr>
                <a:t>本地</a:t>
              </a:r>
              <a:r>
                <a:rPr kumimoji="1" lang="zh-CN" altLang="en-US" sz="1000" b="1">
                  <a:latin typeface="Arial" pitchFamily="34" charset="0"/>
                  <a:ea typeface="黑体" pitchFamily="2" charset="-122"/>
                  <a:cs typeface="Arial" pitchFamily="34" charset="0"/>
                </a:rPr>
                <a:t> </a:t>
              </a:r>
              <a:r>
                <a:rPr kumimoji="1" lang="en-US" altLang="zh-CN" b="1">
                  <a:latin typeface="Arial" pitchFamily="34" charset="0"/>
                  <a:ea typeface="黑体" pitchFamily="2" charset="-122"/>
                  <a:cs typeface="Arial" pitchFamily="34" charset="0"/>
                </a:rPr>
                <a:t>ISP</a:t>
              </a:r>
            </a:p>
          </p:txBody>
        </p:sp>
        <p:grpSp>
          <p:nvGrpSpPr>
            <p:cNvPr id="396484" name="Group 196"/>
            <p:cNvGrpSpPr>
              <a:grpSpLocks/>
            </p:cNvGrpSpPr>
            <p:nvPr/>
          </p:nvGrpSpPr>
          <p:grpSpPr bwMode="auto">
            <a:xfrm>
              <a:off x="1724431" y="4725889"/>
              <a:ext cx="964803" cy="563563"/>
              <a:chOff x="295" y="2432"/>
              <a:chExt cx="561" cy="355"/>
            </a:xfrm>
          </p:grpSpPr>
          <p:pic>
            <p:nvPicPr>
              <p:cNvPr id="396485" name="Picture 19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6486" name="Text Box 198"/>
              <p:cNvSpPr txBox="1">
                <a:spLocks noChangeArrowheads="1"/>
              </p:cNvSpPr>
              <p:nvPr/>
            </p:nvSpPr>
            <p:spPr bwMode="auto">
              <a:xfrm>
                <a:off x="315" y="2513"/>
                <a:ext cx="54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Arial" pitchFamily="34" charset="0"/>
                    <a:ea typeface="黑体" pitchFamily="2" charset="-122"/>
                    <a:cs typeface="Arial" pitchFamily="34" charset="0"/>
                  </a:rPr>
                  <a:t>校园网</a:t>
                </a:r>
              </a:p>
            </p:txBody>
          </p:sp>
        </p:grpSp>
        <p:grpSp>
          <p:nvGrpSpPr>
            <p:cNvPr id="396487" name="Group 199"/>
            <p:cNvGrpSpPr>
              <a:grpSpLocks/>
            </p:cNvGrpSpPr>
            <p:nvPr/>
          </p:nvGrpSpPr>
          <p:grpSpPr bwMode="auto">
            <a:xfrm>
              <a:off x="2739108" y="4725889"/>
              <a:ext cx="964803" cy="563563"/>
              <a:chOff x="295" y="2432"/>
              <a:chExt cx="561" cy="355"/>
            </a:xfrm>
          </p:grpSpPr>
          <p:pic>
            <p:nvPicPr>
              <p:cNvPr id="396488" name="Picture 20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5" y="2432"/>
                <a:ext cx="52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396489" name="Text Box 201"/>
              <p:cNvSpPr txBox="1">
                <a:spLocks noChangeArrowheads="1"/>
              </p:cNvSpPr>
              <p:nvPr/>
            </p:nvSpPr>
            <p:spPr bwMode="auto">
              <a:xfrm>
                <a:off x="315" y="2513"/>
                <a:ext cx="541"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Arial" pitchFamily="34" charset="0"/>
                    <a:ea typeface="黑体" pitchFamily="2" charset="-122"/>
                    <a:cs typeface="Arial" pitchFamily="34" charset="0"/>
                  </a:rPr>
                  <a:t>校园网</a:t>
                </a:r>
              </a:p>
            </p:txBody>
          </p:sp>
        </p:grpSp>
        <p:sp>
          <p:nvSpPr>
            <p:cNvPr id="396490" name="Text Box 202"/>
            <p:cNvSpPr txBox="1">
              <a:spLocks noChangeArrowheads="1"/>
            </p:cNvSpPr>
            <p:nvPr/>
          </p:nvSpPr>
          <p:spPr bwMode="auto">
            <a:xfrm>
              <a:off x="5628358" y="4654451"/>
              <a:ext cx="627772" cy="56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a:latin typeface="Arial" pitchFamily="34" charset="0"/>
                  <a:ea typeface="黑体" pitchFamily="2" charset="-122"/>
                  <a:cs typeface="Arial" pitchFamily="34" charset="0"/>
                  <a:sym typeface="Symbol" pitchFamily="18" charset="2"/>
                </a:rPr>
                <a:t></a:t>
              </a:r>
            </a:p>
          </p:txBody>
        </p:sp>
        <p:sp>
          <p:nvSpPr>
            <p:cNvPr id="396491" name="Text Box 203"/>
            <p:cNvSpPr txBox="1">
              <a:spLocks noChangeArrowheads="1"/>
            </p:cNvSpPr>
            <p:nvPr/>
          </p:nvSpPr>
          <p:spPr bwMode="auto">
            <a:xfrm>
              <a:off x="6682591" y="4509989"/>
              <a:ext cx="627772" cy="562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b="1">
                  <a:latin typeface="Arial" pitchFamily="34" charset="0"/>
                  <a:ea typeface="黑体" pitchFamily="2" charset="-122"/>
                  <a:cs typeface="Arial" pitchFamily="34" charset="0"/>
                  <a:sym typeface="Symbol" pitchFamily="18" charset="2"/>
                </a:rPr>
                <a:t></a:t>
              </a:r>
            </a:p>
          </p:txBody>
        </p:sp>
        <p:sp>
          <p:nvSpPr>
            <p:cNvPr id="396492" name="Freeform 204"/>
            <p:cNvSpPr>
              <a:spLocks/>
            </p:cNvSpPr>
            <p:nvPr/>
          </p:nvSpPr>
          <p:spPr bwMode="auto">
            <a:xfrm>
              <a:off x="5504533" y="2349402"/>
              <a:ext cx="4017433" cy="2503487"/>
            </a:xfrm>
            <a:custGeom>
              <a:avLst/>
              <a:gdLst>
                <a:gd name="T0" fmla="*/ 0 w 2336"/>
                <a:gd name="T1" fmla="*/ 1577 h 1577"/>
                <a:gd name="T2" fmla="*/ 251 w 2336"/>
                <a:gd name="T3" fmla="*/ 1062 h 1577"/>
                <a:gd name="T4" fmla="*/ 794 w 2336"/>
                <a:gd name="T5" fmla="*/ 249 h 1577"/>
                <a:gd name="T6" fmla="*/ 1274 w 2336"/>
                <a:gd name="T7" fmla="*/ 27 h 1577"/>
                <a:gd name="T8" fmla="*/ 1661 w 2336"/>
                <a:gd name="T9" fmla="*/ 414 h 1577"/>
                <a:gd name="T10" fmla="*/ 2138 w 2336"/>
                <a:gd name="T11" fmla="*/ 1095 h 1577"/>
                <a:gd name="T12" fmla="*/ 2336 w 2336"/>
                <a:gd name="T13" fmla="*/ 1569 h 1577"/>
              </a:gdLst>
              <a:ahLst/>
              <a:cxnLst>
                <a:cxn ang="0">
                  <a:pos x="T0" y="T1"/>
                </a:cxn>
                <a:cxn ang="0">
                  <a:pos x="T2" y="T3"/>
                </a:cxn>
                <a:cxn ang="0">
                  <a:pos x="T4" y="T5"/>
                </a:cxn>
                <a:cxn ang="0">
                  <a:pos x="T6" y="T7"/>
                </a:cxn>
                <a:cxn ang="0">
                  <a:pos x="T8" y="T9"/>
                </a:cxn>
                <a:cxn ang="0">
                  <a:pos x="T10" y="T11"/>
                </a:cxn>
                <a:cxn ang="0">
                  <a:pos x="T12" y="T13"/>
                </a:cxn>
              </a:cxnLst>
              <a:rect l="0" t="0" r="r" b="b"/>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00000"/>
              </a:solidFill>
              <a:round/>
              <a:headEnd type="triangl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sp>
          <p:nvSpPr>
            <p:cNvPr id="396493" name="Line 205"/>
            <p:cNvSpPr>
              <a:spLocks noChangeShapeType="1"/>
            </p:cNvSpPr>
            <p:nvPr/>
          </p:nvSpPr>
          <p:spPr bwMode="auto">
            <a:xfrm>
              <a:off x="6362710" y="3440525"/>
              <a:ext cx="2340636" cy="0"/>
            </a:xfrm>
            <a:prstGeom prst="line">
              <a:avLst/>
            </a:prstGeom>
            <a:noFill/>
            <a:ln w="76200">
              <a:solidFill>
                <a:srgbClr val="0000FF"/>
              </a:solidFill>
              <a:prstDash val="sysDot"/>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Arial" pitchFamily="34" charset="0"/>
                <a:ea typeface="黑体" pitchFamily="2" charset="-122"/>
                <a:cs typeface="Arial" pitchFamily="34" charset="0"/>
              </a:endParaRPr>
            </a:p>
          </p:txBody>
        </p:sp>
      </p:grpSp>
      <p:sp>
        <p:nvSpPr>
          <p:cNvPr id="8" name="矩形 7"/>
          <p:cNvSpPr/>
          <p:nvPr/>
        </p:nvSpPr>
        <p:spPr>
          <a:xfrm>
            <a:off x="885914" y="5589240"/>
            <a:ext cx="8586510" cy="461665"/>
          </a:xfrm>
          <a:prstGeom prst="rect">
            <a:avLst/>
          </a:prstGeom>
        </p:spPr>
        <p:txBody>
          <a:bodyPr wrap="square">
            <a:spAutoFit/>
          </a:bodyPr>
          <a:lstStyle/>
          <a:p>
            <a:pPr algn="ctr"/>
            <a:r>
              <a:rPr lang="zh-CN" altLang="zh-CN" sz="2400" b="1" dirty="0">
                <a:latin typeface="Arial" pitchFamily="34" charset="0"/>
                <a:ea typeface="黑体" pitchFamily="2" charset="-122"/>
                <a:cs typeface="Arial" pitchFamily="34" charset="0"/>
              </a:rPr>
              <a:t>基于</a:t>
            </a:r>
            <a:r>
              <a:rPr lang="en-US" altLang="zh-CN" sz="2400" b="1" dirty="0">
                <a:latin typeface="Arial" pitchFamily="34" charset="0"/>
                <a:ea typeface="黑体" pitchFamily="2" charset="-122"/>
                <a:cs typeface="Arial" pitchFamily="34" charset="0"/>
              </a:rPr>
              <a:t> ISP </a:t>
            </a:r>
            <a:r>
              <a:rPr lang="zh-CN" altLang="zh-CN" sz="2400" b="1" dirty="0">
                <a:latin typeface="Arial" pitchFamily="34" charset="0"/>
                <a:ea typeface="黑体" pitchFamily="2" charset="-122"/>
                <a:cs typeface="Arial" pitchFamily="34" charset="0"/>
              </a:rPr>
              <a:t>的多层结构的互联网的概念示意图</a:t>
            </a:r>
            <a:endParaRPr lang="zh-CN" altLang="en-US" sz="2400" b="1" dirty="0">
              <a:latin typeface="Arial" pitchFamily="34" charset="0"/>
              <a:ea typeface="黑体" pitchFamily="2" charset="-122"/>
              <a:cs typeface="Arial" pitchFamily="34" charset="0"/>
            </a:endParaRPr>
          </a:p>
        </p:txBody>
      </p:sp>
    </p:spTree>
    <p:extLst>
      <p:ext uri="{BB962C8B-B14F-4D97-AF65-F5344CB8AC3E}">
        <p14:creationId xmlns:p14="http://schemas.microsoft.com/office/powerpoint/2010/main" val="999997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p:txBody>
          <a:bodyPr/>
          <a:lstStyle/>
          <a:p>
            <a:pPr algn="ctr"/>
            <a:r>
              <a:rPr lang="zh-CN" altLang="en-US" dirty="0"/>
              <a:t>万维网 </a:t>
            </a:r>
            <a:r>
              <a:rPr lang="en-US" altLang="zh-CN" b="1" dirty="0"/>
              <a:t>WWW </a:t>
            </a:r>
            <a:r>
              <a:rPr lang="zh-CN" altLang="en-US" b="1" dirty="0"/>
              <a:t>的问世</a:t>
            </a:r>
          </a:p>
        </p:txBody>
      </p:sp>
      <p:sp>
        <p:nvSpPr>
          <p:cNvPr id="316419" name="Rectangle 3"/>
          <p:cNvSpPr>
            <a:spLocks noGrp="1" noChangeArrowheads="1"/>
          </p:cNvSpPr>
          <p:nvPr>
            <p:ph idx="1"/>
          </p:nvPr>
        </p:nvSpPr>
        <p:spPr/>
        <p:txBody>
          <a:bodyPr/>
          <a:lstStyle/>
          <a:p>
            <a:r>
              <a:rPr lang="zh-CN" altLang="en-US" dirty="0"/>
              <a:t>互联网已经成为世界上规模最大和增长速率最快的计算机网络，没有人能够准确说出互联网究竟有多大。</a:t>
            </a:r>
          </a:p>
          <a:p>
            <a:r>
              <a:rPr lang="zh-CN" altLang="en-US" dirty="0"/>
              <a:t>互联网的迅猛发展始于 </a:t>
            </a:r>
            <a:r>
              <a:rPr lang="en-US" altLang="zh-CN" dirty="0"/>
              <a:t>20 </a:t>
            </a:r>
            <a:r>
              <a:rPr lang="zh-CN" altLang="en-US" dirty="0"/>
              <a:t>世纪 </a:t>
            </a:r>
            <a:r>
              <a:rPr lang="en-US" altLang="zh-CN" dirty="0"/>
              <a:t>90 </a:t>
            </a:r>
            <a:r>
              <a:rPr lang="zh-CN" altLang="en-US" dirty="0"/>
              <a:t>年代。由欧洲原子核研究组织 </a:t>
            </a:r>
            <a:r>
              <a:rPr lang="en-US" altLang="zh-CN" dirty="0"/>
              <a:t>CERN </a:t>
            </a:r>
            <a:r>
              <a:rPr lang="zh-CN" altLang="en-US" dirty="0"/>
              <a:t>开发的</a:t>
            </a:r>
            <a:r>
              <a:rPr lang="zh-CN" altLang="en-US" dirty="0">
                <a:solidFill>
                  <a:srgbClr val="FF0000"/>
                </a:solidFill>
              </a:rPr>
              <a:t>万维网 </a:t>
            </a:r>
            <a:r>
              <a:rPr lang="en-US" altLang="zh-CN" b="1" dirty="0">
                <a:solidFill>
                  <a:srgbClr val="FF0000"/>
                </a:solidFill>
              </a:rPr>
              <a:t>WWW</a:t>
            </a:r>
            <a:r>
              <a:rPr lang="en-US" altLang="zh-CN" dirty="0"/>
              <a:t>  (World Wide Web) </a:t>
            </a:r>
            <a:r>
              <a:rPr lang="zh-CN" altLang="en-US" dirty="0"/>
              <a:t>被广泛使用在互联网上，大大方便了广大非网络专业人员对网络的使用，成为互联网的这种指数级增长的主要驱动力。 </a:t>
            </a:r>
          </a:p>
        </p:txBody>
      </p:sp>
    </p:spTree>
    <p:extLst>
      <p:ext uri="{BB962C8B-B14F-4D97-AF65-F5344CB8AC3E}">
        <p14:creationId xmlns:p14="http://schemas.microsoft.com/office/powerpoint/2010/main" val="2523062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p:txBody>
          <a:bodyPr/>
          <a:lstStyle/>
          <a:p>
            <a:r>
              <a:rPr lang="en-US" altLang="zh-CN" dirty="0"/>
              <a:t>Internet</a:t>
            </a:r>
            <a:r>
              <a:rPr lang="zh-CN" altLang="zh-CN" dirty="0"/>
              <a:t>概述</a:t>
            </a:r>
            <a:r>
              <a:rPr lang="zh-CN" altLang="en-US" dirty="0"/>
              <a:t>：</a:t>
            </a:r>
            <a:r>
              <a:rPr lang="zh-CN" altLang="zh-CN" dirty="0"/>
              <a:t>标准化工作</a:t>
            </a:r>
            <a:endParaRPr lang="zh-CN" altLang="en-US" dirty="0"/>
          </a:p>
        </p:txBody>
      </p:sp>
      <p:grpSp>
        <p:nvGrpSpPr>
          <p:cNvPr id="3" name="组合 2"/>
          <p:cNvGrpSpPr/>
          <p:nvPr/>
        </p:nvGrpSpPr>
        <p:grpSpPr>
          <a:xfrm>
            <a:off x="416496" y="2262188"/>
            <a:ext cx="9283437" cy="3614738"/>
            <a:chOff x="350837" y="2262188"/>
            <a:chExt cx="9283437" cy="3614738"/>
          </a:xfrm>
        </p:grpSpPr>
        <p:sp>
          <p:nvSpPr>
            <p:cNvPr id="320515" name="Rectangle 3"/>
            <p:cNvSpPr>
              <a:spLocks noChangeArrowheads="1"/>
            </p:cNvSpPr>
            <p:nvPr/>
          </p:nvSpPr>
          <p:spPr bwMode="auto">
            <a:xfrm>
              <a:off x="350837" y="3576639"/>
              <a:ext cx="3198813" cy="2300287"/>
            </a:xfrm>
            <a:prstGeom prst="rect">
              <a:avLst/>
            </a:prstGeom>
            <a:solidFill>
              <a:srgbClr val="CCECFF"/>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20516" name="Freeform 4"/>
            <p:cNvSpPr>
              <a:spLocks/>
            </p:cNvSpPr>
            <p:nvPr/>
          </p:nvSpPr>
          <p:spPr bwMode="auto">
            <a:xfrm>
              <a:off x="3408627" y="2755901"/>
              <a:ext cx="2744788" cy="246063"/>
            </a:xfrm>
            <a:custGeom>
              <a:avLst/>
              <a:gdLst>
                <a:gd name="T0" fmla="*/ 0 w 1584"/>
                <a:gd name="T1" fmla="*/ 0 h 336"/>
                <a:gd name="T2" fmla="*/ 1584 w 1584"/>
                <a:gd name="T3" fmla="*/ 0 h 336"/>
                <a:gd name="T4" fmla="*/ 1344 w 1584"/>
                <a:gd name="T5" fmla="*/ 336 h 336"/>
                <a:gd name="T6" fmla="*/ 240 w 1584"/>
                <a:gd name="T7" fmla="*/ 336 h 336"/>
                <a:gd name="T8" fmla="*/ 0 w 1584"/>
                <a:gd name="T9" fmla="*/ 0 h 336"/>
              </a:gdLst>
              <a:ahLst/>
              <a:cxnLst>
                <a:cxn ang="0">
                  <a:pos x="T0" y="T1"/>
                </a:cxn>
                <a:cxn ang="0">
                  <a:pos x="T2" y="T3"/>
                </a:cxn>
                <a:cxn ang="0">
                  <a:pos x="T4" y="T5"/>
                </a:cxn>
                <a:cxn ang="0">
                  <a:pos x="T6" y="T7"/>
                </a:cxn>
                <a:cxn ang="0">
                  <a:pos x="T8" y="T9"/>
                </a:cxn>
              </a:cxnLst>
              <a:rect l="0" t="0" r="r" b="b"/>
              <a:pathLst>
                <a:path w="1584" h="336">
                  <a:moveTo>
                    <a:pt x="0" y="0"/>
                  </a:moveTo>
                  <a:lnTo>
                    <a:pt x="1584" y="0"/>
                  </a:lnTo>
                  <a:lnTo>
                    <a:pt x="1344" y="336"/>
                  </a:lnTo>
                  <a:lnTo>
                    <a:pt x="240" y="336"/>
                  </a:lnTo>
                  <a:lnTo>
                    <a:pt x="0" y="0"/>
                  </a:lnTo>
                  <a:close/>
                </a:path>
              </a:pathLst>
            </a:cu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17" name="Rectangle 5"/>
            <p:cNvSpPr>
              <a:spLocks noChangeArrowheads="1"/>
            </p:cNvSpPr>
            <p:nvPr/>
          </p:nvSpPr>
          <p:spPr bwMode="auto">
            <a:xfrm>
              <a:off x="3408627" y="2262188"/>
              <a:ext cx="2744788" cy="49371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dirty="0">
                  <a:solidFill>
                    <a:srgbClr val="000099"/>
                  </a:solidFill>
                  <a:ea typeface="黑体" pitchFamily="2" charset="-122"/>
                </a:rPr>
                <a:t>互联网协会 </a:t>
              </a:r>
              <a:r>
                <a:rPr kumimoji="1" lang="en-US" altLang="zh-CN" sz="2000" b="1" dirty="0">
                  <a:solidFill>
                    <a:srgbClr val="000099"/>
                  </a:solidFill>
                  <a:ea typeface="黑体" pitchFamily="2" charset="-122"/>
                </a:rPr>
                <a:t>ISOC</a:t>
              </a:r>
            </a:p>
          </p:txBody>
        </p:sp>
        <p:sp>
          <p:nvSpPr>
            <p:cNvPr id="320518" name="Line 6"/>
            <p:cNvSpPr>
              <a:spLocks noChangeShapeType="1"/>
            </p:cNvSpPr>
            <p:nvPr/>
          </p:nvSpPr>
          <p:spPr bwMode="auto">
            <a:xfrm>
              <a:off x="2240889" y="4727576"/>
              <a:ext cx="667279" cy="5746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19" name="Line 7"/>
            <p:cNvSpPr>
              <a:spLocks noChangeShapeType="1"/>
            </p:cNvSpPr>
            <p:nvPr/>
          </p:nvSpPr>
          <p:spPr bwMode="auto">
            <a:xfrm>
              <a:off x="3408627" y="2755900"/>
              <a:ext cx="295804" cy="241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20" name="Line 8"/>
            <p:cNvSpPr>
              <a:spLocks noChangeShapeType="1"/>
            </p:cNvSpPr>
            <p:nvPr/>
          </p:nvSpPr>
          <p:spPr bwMode="auto">
            <a:xfrm flipH="1">
              <a:off x="1076590" y="4727576"/>
              <a:ext cx="665560" cy="5746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21" name="Line 9"/>
            <p:cNvSpPr>
              <a:spLocks noChangeShapeType="1"/>
            </p:cNvSpPr>
            <p:nvPr/>
          </p:nvSpPr>
          <p:spPr bwMode="auto">
            <a:xfrm flipH="1">
              <a:off x="5811177" y="2755900"/>
              <a:ext cx="342238" cy="241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22" name="Rectangle 10"/>
            <p:cNvSpPr>
              <a:spLocks noChangeArrowheads="1"/>
            </p:cNvSpPr>
            <p:nvPr/>
          </p:nvSpPr>
          <p:spPr bwMode="auto">
            <a:xfrm>
              <a:off x="584729" y="4140201"/>
              <a:ext cx="2731029" cy="6572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dirty="0">
                  <a:solidFill>
                    <a:srgbClr val="000099"/>
                  </a:solidFill>
                  <a:ea typeface="黑体" pitchFamily="2" charset="-122"/>
                </a:rPr>
                <a:t>互联网研究指导小组</a:t>
              </a:r>
            </a:p>
            <a:p>
              <a:pPr algn="ctr"/>
              <a:r>
                <a:rPr kumimoji="1" lang="en-US" altLang="zh-CN" sz="2000" b="1" dirty="0">
                  <a:solidFill>
                    <a:srgbClr val="000099"/>
                  </a:solidFill>
                  <a:ea typeface="黑体" pitchFamily="2" charset="-122"/>
                </a:rPr>
                <a:t>IRSG </a:t>
              </a:r>
            </a:p>
          </p:txBody>
        </p:sp>
        <p:sp>
          <p:nvSpPr>
            <p:cNvPr id="320523" name="Rectangle 11"/>
            <p:cNvSpPr>
              <a:spLocks noChangeArrowheads="1"/>
            </p:cNvSpPr>
            <p:nvPr/>
          </p:nvSpPr>
          <p:spPr bwMode="auto">
            <a:xfrm>
              <a:off x="5904046" y="3576639"/>
              <a:ext cx="3730228" cy="2300287"/>
            </a:xfrm>
            <a:prstGeom prst="rect">
              <a:avLst/>
            </a:prstGeom>
            <a:solidFill>
              <a:srgbClr val="FFCC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20524" name="Text Box 12"/>
            <p:cNvSpPr txBox="1">
              <a:spLocks noChangeArrowheads="1"/>
            </p:cNvSpPr>
            <p:nvPr/>
          </p:nvSpPr>
          <p:spPr bwMode="auto">
            <a:xfrm>
              <a:off x="741231" y="3606801"/>
              <a:ext cx="24449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ea typeface="黑体" pitchFamily="2" charset="-122"/>
                </a:rPr>
                <a:t>互联网研究部 </a:t>
              </a:r>
              <a:r>
                <a:rPr kumimoji="1" lang="en-US" altLang="zh-CN" sz="2000" b="1" dirty="0">
                  <a:solidFill>
                    <a:srgbClr val="000099"/>
                  </a:solidFill>
                  <a:ea typeface="黑体" pitchFamily="2" charset="-122"/>
                </a:rPr>
                <a:t>IRTF </a:t>
              </a:r>
            </a:p>
          </p:txBody>
        </p:sp>
        <p:sp>
          <p:nvSpPr>
            <p:cNvPr id="320525" name="Text Box 13"/>
            <p:cNvSpPr txBox="1">
              <a:spLocks noChangeArrowheads="1"/>
            </p:cNvSpPr>
            <p:nvPr/>
          </p:nvSpPr>
          <p:spPr bwMode="auto">
            <a:xfrm>
              <a:off x="6485335" y="3560763"/>
              <a:ext cx="243047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ea typeface="黑体" pitchFamily="2" charset="-122"/>
                </a:rPr>
                <a:t>互联网工程部 </a:t>
              </a:r>
              <a:r>
                <a:rPr kumimoji="1" lang="en-US" altLang="zh-CN" sz="2000" b="1" dirty="0">
                  <a:solidFill>
                    <a:srgbClr val="000099"/>
                  </a:solidFill>
                  <a:ea typeface="黑体" pitchFamily="2" charset="-122"/>
                </a:rPr>
                <a:t>IETF </a:t>
              </a:r>
            </a:p>
          </p:txBody>
        </p:sp>
        <p:sp>
          <p:nvSpPr>
            <p:cNvPr id="320526" name="Line 14"/>
            <p:cNvSpPr>
              <a:spLocks noChangeShapeType="1"/>
            </p:cNvSpPr>
            <p:nvPr/>
          </p:nvSpPr>
          <p:spPr bwMode="auto">
            <a:xfrm flipV="1">
              <a:off x="2067189" y="3716339"/>
              <a:ext cx="1637242" cy="4333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27" name="Line 15"/>
            <p:cNvSpPr>
              <a:spLocks noChangeShapeType="1"/>
            </p:cNvSpPr>
            <p:nvPr/>
          </p:nvSpPr>
          <p:spPr bwMode="auto">
            <a:xfrm flipH="1" flipV="1">
              <a:off x="5238486" y="3659188"/>
              <a:ext cx="2445544" cy="41751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28" name="Rectangle 16"/>
            <p:cNvSpPr>
              <a:spLocks noChangeArrowheads="1"/>
            </p:cNvSpPr>
            <p:nvPr/>
          </p:nvSpPr>
          <p:spPr bwMode="auto">
            <a:xfrm>
              <a:off x="6356350" y="4070351"/>
              <a:ext cx="2887531" cy="65722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dirty="0">
                  <a:solidFill>
                    <a:srgbClr val="000099"/>
                  </a:solidFill>
                  <a:ea typeface="黑体" pitchFamily="2" charset="-122"/>
                </a:rPr>
                <a:t>互联网工程指导小组</a:t>
              </a:r>
            </a:p>
            <a:p>
              <a:pPr algn="ctr"/>
              <a:r>
                <a:rPr kumimoji="1" lang="en-US" altLang="zh-CN" sz="2000" b="1" dirty="0">
                  <a:solidFill>
                    <a:srgbClr val="000099"/>
                  </a:solidFill>
                  <a:ea typeface="黑体" pitchFamily="2" charset="-122"/>
                </a:rPr>
                <a:t>IESG </a:t>
              </a:r>
            </a:p>
          </p:txBody>
        </p:sp>
        <p:sp>
          <p:nvSpPr>
            <p:cNvPr id="320529" name="Text Box 17"/>
            <p:cNvSpPr txBox="1">
              <a:spLocks noChangeArrowheads="1"/>
            </p:cNvSpPr>
            <p:nvPr/>
          </p:nvSpPr>
          <p:spPr bwMode="auto">
            <a:xfrm>
              <a:off x="7371027" y="4754563"/>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ea typeface="黑体" pitchFamily="2" charset="-122"/>
                </a:rPr>
                <a:t>…</a:t>
              </a:r>
            </a:p>
          </p:txBody>
        </p:sp>
        <p:sp>
          <p:nvSpPr>
            <p:cNvPr id="320530" name="Line 18"/>
            <p:cNvSpPr>
              <a:spLocks noChangeShapeType="1"/>
            </p:cNvSpPr>
            <p:nvPr/>
          </p:nvSpPr>
          <p:spPr bwMode="auto">
            <a:xfrm flipV="1">
              <a:off x="6825854" y="4727576"/>
              <a:ext cx="158221" cy="2143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31" name="Line 19"/>
            <p:cNvSpPr>
              <a:spLocks noChangeShapeType="1"/>
            </p:cNvSpPr>
            <p:nvPr/>
          </p:nvSpPr>
          <p:spPr bwMode="auto">
            <a:xfrm>
              <a:off x="8306594" y="4724401"/>
              <a:ext cx="259689" cy="1682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32" name="Rectangle 20"/>
            <p:cNvSpPr>
              <a:spLocks noChangeArrowheads="1"/>
            </p:cNvSpPr>
            <p:nvPr/>
          </p:nvSpPr>
          <p:spPr bwMode="auto">
            <a:xfrm>
              <a:off x="827221" y="5302251"/>
              <a:ext cx="498740" cy="409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99"/>
                  </a:solidFill>
                  <a:ea typeface="黑体" pitchFamily="2" charset="-122"/>
                </a:rPr>
                <a:t>RG</a:t>
              </a:r>
            </a:p>
          </p:txBody>
        </p:sp>
        <p:sp>
          <p:nvSpPr>
            <p:cNvPr id="320533" name="Rectangle 21"/>
            <p:cNvSpPr>
              <a:spLocks noChangeArrowheads="1"/>
            </p:cNvSpPr>
            <p:nvPr/>
          </p:nvSpPr>
          <p:spPr bwMode="auto">
            <a:xfrm>
              <a:off x="8972154" y="5373688"/>
              <a:ext cx="583009" cy="412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99"/>
                  </a:solidFill>
                  <a:ea typeface="黑体" pitchFamily="2" charset="-122"/>
                </a:rPr>
                <a:t>WG</a:t>
              </a:r>
            </a:p>
          </p:txBody>
        </p:sp>
        <p:sp>
          <p:nvSpPr>
            <p:cNvPr id="320534" name="Text Box 22"/>
            <p:cNvSpPr txBox="1">
              <a:spLocks noChangeArrowheads="1"/>
            </p:cNvSpPr>
            <p:nvPr/>
          </p:nvSpPr>
          <p:spPr bwMode="auto">
            <a:xfrm>
              <a:off x="6561006" y="5264151"/>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ea typeface="黑体" pitchFamily="2" charset="-122"/>
                </a:rPr>
                <a:t>…</a:t>
              </a:r>
            </a:p>
          </p:txBody>
        </p:sp>
        <p:sp>
          <p:nvSpPr>
            <p:cNvPr id="320535" name="Text Box 23"/>
            <p:cNvSpPr txBox="1">
              <a:spLocks noChangeArrowheads="1"/>
            </p:cNvSpPr>
            <p:nvPr/>
          </p:nvSpPr>
          <p:spPr bwMode="auto">
            <a:xfrm>
              <a:off x="8456216" y="5264151"/>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ea typeface="黑体" pitchFamily="2" charset="-122"/>
                </a:rPr>
                <a:t>…</a:t>
              </a:r>
            </a:p>
          </p:txBody>
        </p:sp>
        <p:sp>
          <p:nvSpPr>
            <p:cNvPr id="320536" name="Line 24"/>
            <p:cNvSpPr>
              <a:spLocks noChangeShapeType="1"/>
            </p:cNvSpPr>
            <p:nvPr/>
          </p:nvSpPr>
          <p:spPr bwMode="auto">
            <a:xfrm flipH="1">
              <a:off x="6235965" y="5219701"/>
              <a:ext cx="331920" cy="1635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37" name="Line 25"/>
            <p:cNvSpPr>
              <a:spLocks noChangeShapeType="1"/>
            </p:cNvSpPr>
            <p:nvPr/>
          </p:nvSpPr>
          <p:spPr bwMode="auto">
            <a:xfrm>
              <a:off x="6818974" y="5219701"/>
              <a:ext cx="500459" cy="1635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38" name="Line 26"/>
            <p:cNvSpPr>
              <a:spLocks noChangeShapeType="1"/>
            </p:cNvSpPr>
            <p:nvPr/>
          </p:nvSpPr>
          <p:spPr bwMode="auto">
            <a:xfrm flipH="1">
              <a:off x="7984994" y="5219701"/>
              <a:ext cx="416190" cy="1635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39" name="Line 27"/>
            <p:cNvSpPr>
              <a:spLocks noChangeShapeType="1"/>
            </p:cNvSpPr>
            <p:nvPr/>
          </p:nvSpPr>
          <p:spPr bwMode="auto">
            <a:xfrm>
              <a:off x="8650552" y="5219701"/>
              <a:ext cx="416190" cy="1635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320540" name="Rectangle 28"/>
            <p:cNvSpPr>
              <a:spLocks noChangeArrowheads="1"/>
            </p:cNvSpPr>
            <p:nvPr/>
          </p:nvSpPr>
          <p:spPr bwMode="auto">
            <a:xfrm>
              <a:off x="2657079" y="5302251"/>
              <a:ext cx="500459" cy="40957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99"/>
                  </a:solidFill>
                  <a:ea typeface="黑体" pitchFamily="2" charset="-122"/>
                </a:rPr>
                <a:t>RG</a:t>
              </a:r>
            </a:p>
          </p:txBody>
        </p:sp>
        <p:sp>
          <p:nvSpPr>
            <p:cNvPr id="320541" name="Text Box 29"/>
            <p:cNvSpPr txBox="1">
              <a:spLocks noChangeArrowheads="1"/>
            </p:cNvSpPr>
            <p:nvPr/>
          </p:nvSpPr>
          <p:spPr bwMode="auto">
            <a:xfrm>
              <a:off x="1676797" y="5264151"/>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ea typeface="黑体" pitchFamily="2" charset="-122"/>
                </a:rPr>
                <a:t>…</a:t>
              </a:r>
            </a:p>
          </p:txBody>
        </p:sp>
        <p:sp>
          <p:nvSpPr>
            <p:cNvPr id="320542" name="Rectangle 30"/>
            <p:cNvSpPr>
              <a:spLocks noChangeArrowheads="1"/>
            </p:cNvSpPr>
            <p:nvPr/>
          </p:nvSpPr>
          <p:spPr bwMode="auto">
            <a:xfrm>
              <a:off x="6493933" y="4892675"/>
              <a:ext cx="627725" cy="388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a:solidFill>
                    <a:srgbClr val="000099"/>
                  </a:solidFill>
                  <a:ea typeface="黑体" pitchFamily="2" charset="-122"/>
                </a:rPr>
                <a:t>领域</a:t>
              </a:r>
            </a:p>
          </p:txBody>
        </p:sp>
        <p:sp>
          <p:nvSpPr>
            <p:cNvPr id="320543" name="Rectangle 31"/>
            <p:cNvSpPr>
              <a:spLocks noChangeArrowheads="1"/>
            </p:cNvSpPr>
            <p:nvPr/>
          </p:nvSpPr>
          <p:spPr bwMode="auto">
            <a:xfrm>
              <a:off x="8382264" y="4892675"/>
              <a:ext cx="627725" cy="388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a:solidFill>
                    <a:srgbClr val="000099"/>
                  </a:solidFill>
                  <a:ea typeface="黑体" pitchFamily="2" charset="-122"/>
                </a:rPr>
                <a:t>领域</a:t>
              </a:r>
            </a:p>
          </p:txBody>
        </p:sp>
        <p:sp>
          <p:nvSpPr>
            <p:cNvPr id="320544" name="Rectangle 32"/>
            <p:cNvSpPr>
              <a:spLocks noChangeArrowheads="1"/>
            </p:cNvSpPr>
            <p:nvPr/>
          </p:nvSpPr>
          <p:spPr bwMode="auto">
            <a:xfrm>
              <a:off x="3704431" y="3001964"/>
              <a:ext cx="2106745" cy="752475"/>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2000" b="1" dirty="0">
                  <a:solidFill>
                    <a:srgbClr val="000099"/>
                  </a:solidFill>
                  <a:ea typeface="黑体" pitchFamily="2" charset="-122"/>
                </a:rPr>
                <a:t>互联网体系结构</a:t>
              </a:r>
            </a:p>
            <a:p>
              <a:pPr algn="ctr"/>
              <a:r>
                <a:rPr kumimoji="1" lang="zh-CN" altLang="en-US" sz="2000" b="1" dirty="0">
                  <a:solidFill>
                    <a:srgbClr val="000099"/>
                  </a:solidFill>
                  <a:ea typeface="黑体" pitchFamily="2" charset="-122"/>
                </a:rPr>
                <a:t>研究委员会 </a:t>
              </a:r>
              <a:r>
                <a:rPr kumimoji="1" lang="en-US" altLang="zh-CN" sz="2000" b="1" dirty="0">
                  <a:solidFill>
                    <a:srgbClr val="000099"/>
                  </a:solidFill>
                  <a:ea typeface="黑体" pitchFamily="2" charset="-122"/>
                </a:rPr>
                <a:t>IAB </a:t>
              </a:r>
            </a:p>
          </p:txBody>
        </p:sp>
        <p:sp>
          <p:nvSpPr>
            <p:cNvPr id="320545" name="Rectangle 33"/>
            <p:cNvSpPr>
              <a:spLocks noChangeArrowheads="1"/>
            </p:cNvSpPr>
            <p:nvPr/>
          </p:nvSpPr>
          <p:spPr bwMode="auto">
            <a:xfrm>
              <a:off x="7802695" y="5373688"/>
              <a:ext cx="583009" cy="412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99"/>
                  </a:solidFill>
                  <a:ea typeface="黑体" pitchFamily="2" charset="-122"/>
                </a:rPr>
                <a:t>WG</a:t>
              </a:r>
            </a:p>
          </p:txBody>
        </p:sp>
        <p:sp>
          <p:nvSpPr>
            <p:cNvPr id="320546" name="Rectangle 34"/>
            <p:cNvSpPr>
              <a:spLocks noChangeArrowheads="1"/>
            </p:cNvSpPr>
            <p:nvPr/>
          </p:nvSpPr>
          <p:spPr bwMode="auto">
            <a:xfrm>
              <a:off x="7021910" y="5373688"/>
              <a:ext cx="583009" cy="412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99"/>
                  </a:solidFill>
                  <a:ea typeface="黑体" pitchFamily="2" charset="-122"/>
                </a:rPr>
                <a:t>WG</a:t>
              </a:r>
            </a:p>
          </p:txBody>
        </p:sp>
        <p:sp>
          <p:nvSpPr>
            <p:cNvPr id="320547" name="Rectangle 35"/>
            <p:cNvSpPr>
              <a:spLocks noChangeArrowheads="1"/>
            </p:cNvSpPr>
            <p:nvPr/>
          </p:nvSpPr>
          <p:spPr bwMode="auto">
            <a:xfrm>
              <a:off x="5967678" y="5373688"/>
              <a:ext cx="583010" cy="412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2000" b="1">
                  <a:solidFill>
                    <a:srgbClr val="000099"/>
                  </a:solidFill>
                  <a:ea typeface="黑体" pitchFamily="2" charset="-122"/>
                </a:rPr>
                <a:t>WG</a:t>
              </a:r>
            </a:p>
          </p:txBody>
        </p:sp>
      </p:grpSp>
      <p:sp>
        <p:nvSpPr>
          <p:cNvPr id="2" name="矩形 1"/>
          <p:cNvSpPr/>
          <p:nvPr/>
        </p:nvSpPr>
        <p:spPr>
          <a:xfrm>
            <a:off x="584729" y="1184970"/>
            <a:ext cx="8832768" cy="1129348"/>
          </a:xfrm>
          <a:prstGeom prst="rect">
            <a:avLst/>
          </a:prstGeom>
        </p:spPr>
        <p:txBody>
          <a:bodyPr wrap="square">
            <a:spAutoFit/>
          </a:bodyPr>
          <a:lstStyle/>
          <a:p>
            <a:pPr>
              <a:lnSpc>
                <a:spcPct val="110000"/>
              </a:lnSpc>
            </a:pPr>
            <a:r>
              <a:rPr lang="zh-CN" altLang="zh-CN" sz="3200" b="1" dirty="0">
                <a:latin typeface="+mn-lt"/>
                <a:ea typeface="黑体" pitchFamily="2" charset="-122"/>
              </a:rPr>
              <a:t>互联网的标准化工作对互联网的发展起到了非常重要的作用</a:t>
            </a:r>
            <a:r>
              <a:rPr lang="zh-CN" altLang="en-US" sz="3200" b="1" dirty="0">
                <a:latin typeface="+mn-lt"/>
                <a:ea typeface="黑体" pitchFamily="2" charset="-122"/>
              </a:rPr>
              <a:t>。</a:t>
            </a:r>
          </a:p>
        </p:txBody>
      </p:sp>
    </p:spTree>
    <p:extLst>
      <p:ext uri="{BB962C8B-B14F-4D97-AF65-F5344CB8AC3E}">
        <p14:creationId xmlns:p14="http://schemas.microsoft.com/office/powerpoint/2010/main" val="809218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p:txBody>
          <a:bodyPr/>
          <a:lstStyle/>
          <a:p>
            <a:pPr algn="ctr"/>
            <a:r>
              <a:rPr lang="zh-CN" altLang="en-US" sz="3600" dirty="0"/>
              <a:t>成为</a:t>
            </a:r>
            <a:r>
              <a:rPr lang="zh-CN" altLang="zh-CN" sz="3600" dirty="0"/>
              <a:t>互联网正式标准要经过三个阶段</a:t>
            </a:r>
            <a:endParaRPr lang="zh-CN" altLang="en-US" sz="3600" dirty="0"/>
          </a:p>
        </p:txBody>
      </p:sp>
      <p:sp>
        <p:nvSpPr>
          <p:cNvPr id="322563" name="Rectangle 3"/>
          <p:cNvSpPr>
            <a:spLocks noGrp="1" noChangeArrowheads="1"/>
          </p:cNvSpPr>
          <p:nvPr>
            <p:ph idx="1"/>
          </p:nvPr>
        </p:nvSpPr>
        <p:spPr>
          <a:xfrm>
            <a:off x="495300" y="1988840"/>
            <a:ext cx="9066212" cy="4142085"/>
          </a:xfr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r>
              <a:rPr lang="zh-CN" altLang="en-US" dirty="0">
                <a:solidFill>
                  <a:srgbClr val="0000CC"/>
                </a:solidFill>
              </a:rPr>
              <a:t>互联网草案 </a:t>
            </a:r>
            <a:r>
              <a:rPr lang="en-US" altLang="zh-CN" dirty="0"/>
              <a:t>(Internet Draft) ——</a:t>
            </a:r>
            <a:r>
              <a:rPr lang="zh-CN" altLang="zh-CN" dirty="0"/>
              <a:t>有效期只有六个月</a:t>
            </a:r>
            <a:r>
              <a:rPr lang="zh-CN" altLang="en-US" dirty="0"/>
              <a:t>。在这个阶段还</a:t>
            </a:r>
            <a:r>
              <a:rPr lang="zh-CN" altLang="en-US" dirty="0">
                <a:solidFill>
                  <a:srgbClr val="FF0000"/>
                </a:solidFill>
              </a:rPr>
              <a:t>不是</a:t>
            </a:r>
            <a:r>
              <a:rPr lang="zh-CN" altLang="en-US" dirty="0"/>
              <a:t> </a:t>
            </a:r>
            <a:r>
              <a:rPr lang="en-US" altLang="zh-CN" dirty="0"/>
              <a:t>RFC </a:t>
            </a:r>
            <a:r>
              <a:rPr lang="zh-CN" altLang="en-US" dirty="0"/>
              <a:t>文档。</a:t>
            </a:r>
          </a:p>
          <a:p>
            <a:r>
              <a:rPr lang="zh-CN" altLang="en-US" dirty="0">
                <a:solidFill>
                  <a:srgbClr val="0000CC"/>
                </a:solidFill>
              </a:rPr>
              <a:t>建议标准 </a:t>
            </a:r>
            <a:r>
              <a:rPr lang="en-US" altLang="zh-CN" dirty="0"/>
              <a:t>(Proposed Standard) ——</a:t>
            </a:r>
            <a:r>
              <a:rPr lang="zh-CN" altLang="en-US" dirty="0"/>
              <a:t>从这个阶段开始就成为 </a:t>
            </a:r>
            <a:r>
              <a:rPr lang="en-US" altLang="zh-CN" dirty="0"/>
              <a:t>RFC </a:t>
            </a:r>
            <a:r>
              <a:rPr lang="zh-CN" altLang="en-US" dirty="0"/>
              <a:t>文档。</a:t>
            </a:r>
          </a:p>
          <a:p>
            <a:r>
              <a:rPr lang="zh-CN" altLang="en-US" dirty="0">
                <a:solidFill>
                  <a:srgbClr val="0000CC"/>
                </a:solidFill>
              </a:rPr>
              <a:t>互联网标准 </a:t>
            </a:r>
            <a:r>
              <a:rPr lang="en-US" altLang="zh-CN" dirty="0"/>
              <a:t>(Internet Standard) ——</a:t>
            </a:r>
            <a:r>
              <a:rPr lang="zh-CN" altLang="zh-CN" dirty="0"/>
              <a:t>达到正式标准后，每个标准就分配到一个编号</a:t>
            </a:r>
            <a:r>
              <a:rPr lang="en-US" altLang="zh-CN" dirty="0"/>
              <a:t> STD </a:t>
            </a:r>
            <a:r>
              <a:rPr lang="en-US" altLang="zh-CN" dirty="0" err="1"/>
              <a:t>xxxx</a:t>
            </a:r>
            <a:r>
              <a:rPr lang="zh-CN" altLang="zh-CN" dirty="0"/>
              <a:t>。</a:t>
            </a:r>
            <a:r>
              <a:rPr lang="en-US" altLang="zh-CN" dirty="0"/>
              <a:t> </a:t>
            </a:r>
            <a:r>
              <a:rPr lang="zh-CN" altLang="zh-CN" dirty="0"/>
              <a:t>一个标准可以和多个</a:t>
            </a:r>
            <a:r>
              <a:rPr lang="en-US" altLang="zh-CN" dirty="0"/>
              <a:t> RFC </a:t>
            </a:r>
            <a:r>
              <a:rPr lang="zh-CN" altLang="zh-CN" dirty="0"/>
              <a:t>文档关联。</a:t>
            </a:r>
            <a:endParaRPr lang="en-US" altLang="zh-CN" dirty="0"/>
          </a:p>
        </p:txBody>
      </p:sp>
      <p:sp>
        <p:nvSpPr>
          <p:cNvPr id="2" name="矩形 1"/>
          <p:cNvSpPr/>
          <p:nvPr/>
        </p:nvSpPr>
        <p:spPr>
          <a:xfrm>
            <a:off x="344488" y="1260049"/>
            <a:ext cx="9489504" cy="584775"/>
          </a:xfrm>
          <a:prstGeom prst="rect">
            <a:avLst/>
          </a:prstGeom>
          <a:solidFill>
            <a:srgbClr val="00B0F0"/>
          </a:solidFill>
        </p:spPr>
        <p:txBody>
          <a:bodyPr wrap="square">
            <a:spAutoFit/>
          </a:bodyPr>
          <a:lstStyle/>
          <a:p>
            <a:pPr algn="ctr"/>
            <a:r>
              <a:rPr lang="zh-CN" altLang="zh-CN" sz="3200" b="1" dirty="0">
                <a:latin typeface="+mn-lt"/>
                <a:ea typeface="黑体" pitchFamily="2" charset="-122"/>
              </a:rPr>
              <a:t>所有互联网标准都以</a:t>
            </a:r>
            <a:r>
              <a:rPr lang="en-US" altLang="zh-CN" sz="3200" b="1" dirty="0">
                <a:latin typeface="+mn-lt"/>
                <a:ea typeface="黑体" pitchFamily="2" charset="-122"/>
              </a:rPr>
              <a:t> RFC </a:t>
            </a:r>
            <a:r>
              <a:rPr lang="zh-CN" altLang="zh-CN" sz="3200" b="1" dirty="0">
                <a:latin typeface="+mn-lt"/>
                <a:ea typeface="黑体" pitchFamily="2" charset="-122"/>
              </a:rPr>
              <a:t>的形式在互联网上发表</a:t>
            </a:r>
            <a:r>
              <a:rPr lang="zh-CN" altLang="en-US" sz="3200" b="1" dirty="0">
                <a:latin typeface="+mn-lt"/>
                <a:ea typeface="黑体" pitchFamily="2" charset="-122"/>
              </a:rPr>
              <a:t>。</a:t>
            </a:r>
          </a:p>
        </p:txBody>
      </p:sp>
    </p:spTree>
    <p:extLst>
      <p:ext uri="{BB962C8B-B14F-4D97-AF65-F5344CB8AC3E}">
        <p14:creationId xmlns:p14="http://schemas.microsoft.com/office/powerpoint/2010/main" val="3846664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1" name="Rectangle 3"/>
          <p:cNvSpPr>
            <a:spLocks noGrp="1" noChangeArrowheads="1"/>
          </p:cNvSpPr>
          <p:nvPr>
            <p:ph type="title"/>
          </p:nvPr>
        </p:nvSpPr>
        <p:spPr/>
        <p:txBody>
          <a:bodyPr/>
          <a:lstStyle/>
          <a:p>
            <a:pPr algn="ctr"/>
            <a:r>
              <a:rPr lang="zh-CN" altLang="en-US" dirty="0"/>
              <a:t>各种 </a:t>
            </a:r>
            <a:r>
              <a:rPr lang="en-US" altLang="zh-CN" dirty="0"/>
              <a:t>RFC </a:t>
            </a:r>
            <a:r>
              <a:rPr lang="zh-CN" altLang="en-US" dirty="0"/>
              <a:t>之间的关系 </a:t>
            </a:r>
          </a:p>
        </p:txBody>
      </p:sp>
      <p:grpSp>
        <p:nvGrpSpPr>
          <p:cNvPr id="3" name="组合 2"/>
          <p:cNvGrpSpPr/>
          <p:nvPr/>
        </p:nvGrpSpPr>
        <p:grpSpPr>
          <a:xfrm>
            <a:off x="704528" y="2420169"/>
            <a:ext cx="8518449" cy="3673127"/>
            <a:chOff x="428229" y="1916114"/>
            <a:chExt cx="8518449" cy="3673127"/>
          </a:xfrm>
        </p:grpSpPr>
        <p:sp>
          <p:nvSpPr>
            <p:cNvPr id="324610" name="Rectangle 2"/>
            <p:cNvSpPr>
              <a:spLocks noChangeArrowheads="1"/>
            </p:cNvSpPr>
            <p:nvPr/>
          </p:nvSpPr>
          <p:spPr bwMode="auto">
            <a:xfrm>
              <a:off x="428229" y="2727327"/>
              <a:ext cx="8485212" cy="2861914"/>
            </a:xfrm>
            <a:prstGeom prst="rect">
              <a:avLst/>
            </a:prstGeom>
            <a:solidFill>
              <a:srgbClr val="CCE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324612" name="Rectangle 4"/>
            <p:cNvSpPr>
              <a:spLocks noChangeArrowheads="1"/>
            </p:cNvSpPr>
            <p:nvPr/>
          </p:nvSpPr>
          <p:spPr bwMode="auto">
            <a:xfrm>
              <a:off x="3680355" y="2944814"/>
              <a:ext cx="1805781" cy="466725"/>
            </a:xfrm>
            <a:prstGeom prst="rect">
              <a:avLst/>
            </a:prstGeom>
            <a:solidFill>
              <a:srgbClr val="CCECFF"/>
            </a:solidFill>
            <a:ln w="9525">
              <a:solidFill>
                <a:srgbClr val="333399"/>
              </a:solidFill>
              <a:miter lim="800000"/>
              <a:headEnd/>
              <a:tailEnd/>
            </a:ln>
            <a:effectLst>
              <a:outerShdw dist="35921" dir="2700000" algn="ctr" rotWithShape="0">
                <a:schemeClr val="bg2"/>
              </a:outerShdw>
            </a:effectLst>
          </p:spPr>
          <p:txBody>
            <a:bodyPr wrap="none" anchor="ctr"/>
            <a:lstStyle/>
            <a:p>
              <a:pPr algn="ctr"/>
              <a:endParaRPr kumimoji="1" lang="zh-CN" altLang="zh-CN" sz="2000" b="1">
                <a:solidFill>
                  <a:srgbClr val="333399"/>
                </a:solidFill>
                <a:ea typeface="黑体" pitchFamily="2" charset="-122"/>
              </a:endParaRPr>
            </a:p>
          </p:txBody>
        </p:sp>
        <p:sp>
          <p:nvSpPr>
            <p:cNvPr id="324614" name="Rectangle 6"/>
            <p:cNvSpPr>
              <a:spLocks noChangeArrowheads="1"/>
            </p:cNvSpPr>
            <p:nvPr/>
          </p:nvSpPr>
          <p:spPr bwMode="auto">
            <a:xfrm>
              <a:off x="3680355" y="3899445"/>
              <a:ext cx="1805781" cy="468312"/>
            </a:xfrm>
            <a:prstGeom prst="rect">
              <a:avLst/>
            </a:prstGeom>
            <a:solidFill>
              <a:srgbClr val="333399"/>
            </a:solidFill>
            <a:ln w="9525">
              <a:solidFill>
                <a:srgbClr val="333399"/>
              </a:solidFill>
              <a:miter lim="800000"/>
              <a:headEnd/>
              <a:tailEnd/>
            </a:ln>
            <a:effectLst>
              <a:outerShdw dist="35921" dir="2700000" algn="ctr" rotWithShape="0">
                <a:schemeClr val="bg2"/>
              </a:outerShdw>
            </a:effectLst>
          </p:spPr>
          <p:txBody>
            <a:bodyPr wrap="none" anchor="ctr"/>
            <a:lstStyle/>
            <a:p>
              <a:pPr algn="ctr"/>
              <a:endParaRPr kumimoji="1" lang="zh-CN" altLang="zh-CN" sz="2000" b="1">
                <a:solidFill>
                  <a:srgbClr val="333399"/>
                </a:solidFill>
                <a:ea typeface="黑体" pitchFamily="2" charset="-122"/>
              </a:endParaRPr>
            </a:p>
          </p:txBody>
        </p:sp>
        <p:sp>
          <p:nvSpPr>
            <p:cNvPr id="324615" name="Rectangle 7"/>
            <p:cNvSpPr>
              <a:spLocks noChangeArrowheads="1"/>
            </p:cNvSpPr>
            <p:nvPr/>
          </p:nvSpPr>
          <p:spPr bwMode="auto">
            <a:xfrm>
              <a:off x="3680355" y="4834483"/>
              <a:ext cx="1805781" cy="466725"/>
            </a:xfrm>
            <a:prstGeom prst="rect">
              <a:avLst/>
            </a:prstGeom>
            <a:solidFill>
              <a:schemeClr val="accent2"/>
            </a:solidFill>
            <a:ln w="9525">
              <a:solidFill>
                <a:srgbClr val="333399"/>
              </a:solidFill>
              <a:miter lim="800000"/>
              <a:headEnd/>
              <a:tailEnd/>
            </a:ln>
            <a:effectLst>
              <a:outerShdw dist="35921" dir="2700000" algn="ctr" rotWithShape="0">
                <a:schemeClr val="bg2"/>
              </a:outerShdw>
            </a:effectLst>
          </p:spPr>
          <p:txBody>
            <a:bodyPr wrap="none" anchor="ctr"/>
            <a:lstStyle/>
            <a:p>
              <a:pPr algn="ctr"/>
              <a:endParaRPr kumimoji="1" lang="zh-CN" altLang="zh-CN" sz="2000" b="1">
                <a:solidFill>
                  <a:srgbClr val="333399"/>
                </a:solidFill>
                <a:ea typeface="黑体" pitchFamily="2" charset="-122"/>
              </a:endParaRPr>
            </a:p>
          </p:txBody>
        </p:sp>
        <p:sp>
          <p:nvSpPr>
            <p:cNvPr id="324616" name="Rectangle 8"/>
            <p:cNvSpPr>
              <a:spLocks noChangeArrowheads="1"/>
            </p:cNvSpPr>
            <p:nvPr/>
          </p:nvSpPr>
          <p:spPr bwMode="auto">
            <a:xfrm>
              <a:off x="6438900" y="2944814"/>
              <a:ext cx="2187575" cy="466725"/>
            </a:xfrm>
            <a:prstGeom prst="rect">
              <a:avLst/>
            </a:prstGeom>
            <a:solidFill>
              <a:schemeClr val="accent2"/>
            </a:solidFill>
            <a:ln w="9525">
              <a:solidFill>
                <a:srgbClr val="333399"/>
              </a:solidFill>
              <a:miter lim="800000"/>
              <a:headEnd/>
              <a:tailEnd/>
            </a:ln>
            <a:effectLst>
              <a:outerShdw dist="35921" dir="2700000" algn="ctr" rotWithShape="0">
                <a:schemeClr val="bg2"/>
              </a:outerShdw>
            </a:effectLst>
          </p:spPr>
          <p:txBody>
            <a:bodyPr wrap="none" anchor="ctr"/>
            <a:lstStyle/>
            <a:p>
              <a:pPr algn="ctr"/>
              <a:endParaRPr kumimoji="1" lang="zh-CN" altLang="zh-CN" sz="2000" b="1">
                <a:solidFill>
                  <a:srgbClr val="333399"/>
                </a:solidFill>
                <a:ea typeface="黑体" pitchFamily="2" charset="-122"/>
              </a:endParaRPr>
            </a:p>
          </p:txBody>
        </p:sp>
        <p:sp>
          <p:nvSpPr>
            <p:cNvPr id="324617" name="Rectangle 9"/>
            <p:cNvSpPr>
              <a:spLocks noChangeArrowheads="1"/>
            </p:cNvSpPr>
            <p:nvPr/>
          </p:nvSpPr>
          <p:spPr bwMode="auto">
            <a:xfrm>
              <a:off x="636323" y="2944814"/>
              <a:ext cx="1902090" cy="466725"/>
            </a:xfrm>
            <a:prstGeom prst="rect">
              <a:avLst/>
            </a:prstGeom>
            <a:solidFill>
              <a:schemeClr val="accent2"/>
            </a:solidFill>
            <a:ln w="9525">
              <a:solidFill>
                <a:srgbClr val="333399"/>
              </a:solidFill>
              <a:miter lim="800000"/>
              <a:headEnd/>
              <a:tailEnd/>
            </a:ln>
            <a:effectLst>
              <a:outerShdw dist="35921" dir="2700000" algn="ctr" rotWithShape="0">
                <a:schemeClr val="bg2"/>
              </a:outerShdw>
            </a:effectLst>
          </p:spPr>
          <p:txBody>
            <a:bodyPr wrap="none" anchor="ctr"/>
            <a:lstStyle/>
            <a:p>
              <a:pPr algn="ctr"/>
              <a:endParaRPr kumimoji="1" lang="zh-CN" altLang="zh-CN" sz="2000" b="1">
                <a:solidFill>
                  <a:srgbClr val="333399"/>
                </a:solidFill>
                <a:ea typeface="黑体" pitchFamily="2" charset="-122"/>
              </a:endParaRPr>
            </a:p>
          </p:txBody>
        </p:sp>
        <p:sp>
          <p:nvSpPr>
            <p:cNvPr id="324618" name="Oval 10"/>
            <p:cNvSpPr>
              <a:spLocks noChangeArrowheads="1"/>
            </p:cNvSpPr>
            <p:nvPr/>
          </p:nvSpPr>
          <p:spPr bwMode="auto">
            <a:xfrm>
              <a:off x="3489458" y="1916114"/>
              <a:ext cx="2187575" cy="561975"/>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endParaRPr kumimoji="1" lang="zh-CN" altLang="zh-CN" sz="2000" b="1">
                <a:solidFill>
                  <a:srgbClr val="333399"/>
                </a:solidFill>
                <a:ea typeface="黑体" pitchFamily="2" charset="-122"/>
              </a:endParaRPr>
            </a:p>
          </p:txBody>
        </p:sp>
        <p:sp>
          <p:nvSpPr>
            <p:cNvPr id="324619" name="Line 11"/>
            <p:cNvSpPr>
              <a:spLocks noChangeShapeType="1"/>
            </p:cNvSpPr>
            <p:nvPr/>
          </p:nvSpPr>
          <p:spPr bwMode="auto">
            <a:xfrm>
              <a:off x="4583245" y="2478089"/>
              <a:ext cx="0" cy="466725"/>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0" name="Line 12"/>
            <p:cNvSpPr>
              <a:spLocks noChangeShapeType="1"/>
            </p:cNvSpPr>
            <p:nvPr/>
          </p:nvSpPr>
          <p:spPr bwMode="auto">
            <a:xfrm>
              <a:off x="4583245" y="3411538"/>
              <a:ext cx="0" cy="466725"/>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2" name="Line 14"/>
            <p:cNvSpPr>
              <a:spLocks noChangeShapeType="1"/>
            </p:cNvSpPr>
            <p:nvPr/>
          </p:nvSpPr>
          <p:spPr bwMode="auto">
            <a:xfrm>
              <a:off x="4583245" y="4367758"/>
              <a:ext cx="0" cy="466725"/>
            </a:xfrm>
            <a:prstGeom prst="line">
              <a:avLst/>
            </a:prstGeom>
            <a:noFill/>
            <a:ln w="571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3" name="Freeform 15"/>
            <p:cNvSpPr>
              <a:spLocks/>
            </p:cNvSpPr>
            <p:nvPr/>
          </p:nvSpPr>
          <p:spPr bwMode="auto">
            <a:xfrm>
              <a:off x="5677033" y="2195513"/>
              <a:ext cx="1855655" cy="749300"/>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4" name="Freeform 16"/>
            <p:cNvSpPr>
              <a:spLocks/>
            </p:cNvSpPr>
            <p:nvPr/>
          </p:nvSpPr>
          <p:spPr bwMode="auto">
            <a:xfrm flipH="1">
              <a:off x="1587369" y="2195513"/>
              <a:ext cx="1853935" cy="749300"/>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5" name="Freeform 17"/>
            <p:cNvSpPr>
              <a:spLocks/>
            </p:cNvSpPr>
            <p:nvPr/>
          </p:nvSpPr>
          <p:spPr bwMode="auto">
            <a:xfrm rot="16200000" flipH="1">
              <a:off x="1829521" y="3217011"/>
              <a:ext cx="1608682" cy="2092986"/>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6" name="Freeform 18"/>
            <p:cNvSpPr>
              <a:spLocks/>
            </p:cNvSpPr>
            <p:nvPr/>
          </p:nvSpPr>
          <p:spPr bwMode="auto">
            <a:xfrm rot="5400000">
              <a:off x="5689857" y="3207819"/>
              <a:ext cx="1656308" cy="2063750"/>
            </a:xfrm>
            <a:custGeom>
              <a:avLst/>
              <a:gdLst>
                <a:gd name="T0" fmla="*/ 0 w 960"/>
                <a:gd name="T1" fmla="*/ 0 h 384"/>
                <a:gd name="T2" fmla="*/ 960 w 960"/>
                <a:gd name="T3" fmla="*/ 0 h 384"/>
                <a:gd name="T4" fmla="*/ 960 w 960"/>
                <a:gd name="T5" fmla="*/ 384 h 384"/>
              </a:gdLst>
              <a:ahLst/>
              <a:cxnLst>
                <a:cxn ang="0">
                  <a:pos x="T0" y="T1"/>
                </a:cxn>
                <a:cxn ang="0">
                  <a:pos x="T2" y="T3"/>
                </a:cxn>
                <a:cxn ang="0">
                  <a:pos x="T4" y="T5"/>
                </a:cxn>
              </a:cxnLst>
              <a:rect l="0" t="0" r="r" b="b"/>
              <a:pathLst>
                <a:path w="960" h="384">
                  <a:moveTo>
                    <a:pt x="0" y="0"/>
                  </a:moveTo>
                  <a:lnTo>
                    <a:pt x="960" y="0"/>
                  </a:lnTo>
                  <a:lnTo>
                    <a:pt x="960" y="384"/>
                  </a:lnTo>
                </a:path>
              </a:pathLst>
            </a:custGeom>
            <a:noFill/>
            <a:ln w="28575" cmpd="sng">
              <a:solidFill>
                <a:srgbClr val="333399"/>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7" name="Line 19"/>
            <p:cNvSpPr>
              <a:spLocks noChangeShapeType="1"/>
            </p:cNvSpPr>
            <p:nvPr/>
          </p:nvSpPr>
          <p:spPr bwMode="auto">
            <a:xfrm rot="-5400000">
              <a:off x="3117123" y="2616532"/>
              <a:ext cx="0" cy="1126463"/>
            </a:xfrm>
            <a:prstGeom prst="line">
              <a:avLst/>
            </a:prstGeom>
            <a:noFill/>
            <a:ln w="19050">
              <a:solidFill>
                <a:srgbClr val="333399"/>
              </a:solidFill>
              <a:prstDash val="dash"/>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28" name="Freeform 20"/>
            <p:cNvSpPr>
              <a:spLocks/>
            </p:cNvSpPr>
            <p:nvPr/>
          </p:nvSpPr>
          <p:spPr bwMode="auto">
            <a:xfrm>
              <a:off x="2947557" y="3396598"/>
              <a:ext cx="923076" cy="1437884"/>
            </a:xfrm>
            <a:custGeom>
              <a:avLst/>
              <a:gdLst>
                <a:gd name="T0" fmla="*/ 528 w 528"/>
                <a:gd name="T1" fmla="*/ 0 h 1192"/>
                <a:gd name="T2" fmla="*/ 528 w 528"/>
                <a:gd name="T3" fmla="*/ 124 h 1192"/>
                <a:gd name="T4" fmla="*/ 0 w 528"/>
                <a:gd name="T5" fmla="*/ 124 h 1192"/>
                <a:gd name="T6" fmla="*/ 0 w 528"/>
                <a:gd name="T7" fmla="*/ 1112 h 1192"/>
                <a:gd name="T8" fmla="*/ 472 w 528"/>
                <a:gd name="T9" fmla="*/ 1111 h 1192"/>
                <a:gd name="T10" fmla="*/ 473 w 528"/>
                <a:gd name="T11" fmla="*/ 1192 h 1192"/>
                <a:gd name="connsiteX0" fmla="*/ 10000 w 10000"/>
                <a:gd name="connsiteY0" fmla="*/ 0 h 10000"/>
                <a:gd name="connsiteX1" fmla="*/ 10000 w 10000"/>
                <a:gd name="connsiteY1" fmla="*/ 1040 h 10000"/>
                <a:gd name="connsiteX2" fmla="*/ 0 w 10000"/>
                <a:gd name="connsiteY2" fmla="*/ 1040 h 10000"/>
                <a:gd name="connsiteX3" fmla="*/ 0 w 10000"/>
                <a:gd name="connsiteY3" fmla="*/ 8170 h 10000"/>
                <a:gd name="connsiteX4" fmla="*/ 8939 w 10000"/>
                <a:gd name="connsiteY4" fmla="*/ 9320 h 10000"/>
                <a:gd name="connsiteX5" fmla="*/ 8958 w 10000"/>
                <a:gd name="connsiteY5" fmla="*/ 10000 h 10000"/>
                <a:gd name="connsiteX0" fmla="*/ 10000 w 10000"/>
                <a:gd name="connsiteY0" fmla="*/ 0 h 10000"/>
                <a:gd name="connsiteX1" fmla="*/ 10000 w 10000"/>
                <a:gd name="connsiteY1" fmla="*/ 1040 h 10000"/>
                <a:gd name="connsiteX2" fmla="*/ 0 w 10000"/>
                <a:gd name="connsiteY2" fmla="*/ 1040 h 10000"/>
                <a:gd name="connsiteX3" fmla="*/ 0 w 10000"/>
                <a:gd name="connsiteY3" fmla="*/ 8170 h 10000"/>
                <a:gd name="connsiteX4" fmla="*/ 8939 w 10000"/>
                <a:gd name="connsiteY4" fmla="*/ 8267 h 10000"/>
                <a:gd name="connsiteX5" fmla="*/ 8958 w 10000"/>
                <a:gd name="connsiteY5" fmla="*/ 10000 h 10000"/>
                <a:gd name="connsiteX0" fmla="*/ 10000 w 10287"/>
                <a:gd name="connsiteY0" fmla="*/ 0 h 10000"/>
                <a:gd name="connsiteX1" fmla="*/ 10287 w 10287"/>
                <a:gd name="connsiteY1" fmla="*/ 1777 h 10000"/>
                <a:gd name="connsiteX2" fmla="*/ 0 w 10287"/>
                <a:gd name="connsiteY2" fmla="*/ 1040 h 10000"/>
                <a:gd name="connsiteX3" fmla="*/ 0 w 10287"/>
                <a:gd name="connsiteY3" fmla="*/ 8170 h 10000"/>
                <a:gd name="connsiteX4" fmla="*/ 8939 w 10287"/>
                <a:gd name="connsiteY4" fmla="*/ 8267 h 10000"/>
                <a:gd name="connsiteX5" fmla="*/ 8958 w 10287"/>
                <a:gd name="connsiteY5" fmla="*/ 10000 h 10000"/>
                <a:gd name="connsiteX0" fmla="*/ 10000 w 10287"/>
                <a:gd name="connsiteY0" fmla="*/ 0 h 10000"/>
                <a:gd name="connsiteX1" fmla="*/ 10287 w 10287"/>
                <a:gd name="connsiteY1" fmla="*/ 1777 h 10000"/>
                <a:gd name="connsiteX2" fmla="*/ 143 w 10287"/>
                <a:gd name="connsiteY2" fmla="*/ 1777 h 10000"/>
                <a:gd name="connsiteX3" fmla="*/ 0 w 10287"/>
                <a:gd name="connsiteY3" fmla="*/ 8170 h 10000"/>
                <a:gd name="connsiteX4" fmla="*/ 8939 w 10287"/>
                <a:gd name="connsiteY4" fmla="*/ 8267 h 10000"/>
                <a:gd name="connsiteX5" fmla="*/ 8958 w 10287"/>
                <a:gd name="connsiteY5" fmla="*/ 10000 h 10000"/>
                <a:gd name="connsiteX0" fmla="*/ 10000 w 10287"/>
                <a:gd name="connsiteY0" fmla="*/ 0 h 10000"/>
                <a:gd name="connsiteX1" fmla="*/ 10287 w 10287"/>
                <a:gd name="connsiteY1" fmla="*/ 1777 h 10000"/>
                <a:gd name="connsiteX2" fmla="*/ 143 w 10287"/>
                <a:gd name="connsiteY2" fmla="*/ 1777 h 10000"/>
                <a:gd name="connsiteX3" fmla="*/ 0 w 10287"/>
                <a:gd name="connsiteY3" fmla="*/ 8170 h 10000"/>
                <a:gd name="connsiteX4" fmla="*/ 8939 w 10287"/>
                <a:gd name="connsiteY4" fmla="*/ 8267 h 10000"/>
                <a:gd name="connsiteX5" fmla="*/ 8958 w 10287"/>
                <a:gd name="connsiteY5" fmla="*/ 10000 h 10000"/>
                <a:gd name="connsiteX0" fmla="*/ 9862 w 10149"/>
                <a:gd name="connsiteY0" fmla="*/ 0 h 10000"/>
                <a:gd name="connsiteX1" fmla="*/ 10149 w 10149"/>
                <a:gd name="connsiteY1" fmla="*/ 1777 h 10000"/>
                <a:gd name="connsiteX2" fmla="*/ 5 w 10149"/>
                <a:gd name="connsiteY2" fmla="*/ 1777 h 10000"/>
                <a:gd name="connsiteX3" fmla="*/ 292 w 10149"/>
                <a:gd name="connsiteY3" fmla="*/ 8381 h 10000"/>
                <a:gd name="connsiteX4" fmla="*/ 8801 w 10149"/>
                <a:gd name="connsiteY4" fmla="*/ 8267 h 10000"/>
                <a:gd name="connsiteX5" fmla="*/ 8820 w 10149"/>
                <a:gd name="connsiteY5" fmla="*/ 10000 h 10000"/>
                <a:gd name="connsiteX0" fmla="*/ 9870 w 10157"/>
                <a:gd name="connsiteY0" fmla="*/ 0 h 10000"/>
                <a:gd name="connsiteX1" fmla="*/ 10157 w 10157"/>
                <a:gd name="connsiteY1" fmla="*/ 1777 h 10000"/>
                <a:gd name="connsiteX2" fmla="*/ 13 w 10157"/>
                <a:gd name="connsiteY2" fmla="*/ 1777 h 10000"/>
                <a:gd name="connsiteX3" fmla="*/ 13 w 10157"/>
                <a:gd name="connsiteY3" fmla="*/ 8381 h 10000"/>
                <a:gd name="connsiteX4" fmla="*/ 8809 w 10157"/>
                <a:gd name="connsiteY4" fmla="*/ 8267 h 10000"/>
                <a:gd name="connsiteX5" fmla="*/ 8828 w 10157"/>
                <a:gd name="connsiteY5" fmla="*/ 10000 h 10000"/>
                <a:gd name="connsiteX0" fmla="*/ 9870 w 9874"/>
                <a:gd name="connsiteY0" fmla="*/ 0 h 10000"/>
                <a:gd name="connsiteX1" fmla="*/ 8723 w 9874"/>
                <a:gd name="connsiteY1" fmla="*/ 1777 h 10000"/>
                <a:gd name="connsiteX2" fmla="*/ 13 w 9874"/>
                <a:gd name="connsiteY2" fmla="*/ 1777 h 10000"/>
                <a:gd name="connsiteX3" fmla="*/ 13 w 9874"/>
                <a:gd name="connsiteY3" fmla="*/ 8381 h 10000"/>
                <a:gd name="connsiteX4" fmla="*/ 8809 w 9874"/>
                <a:gd name="connsiteY4" fmla="*/ 8267 h 10000"/>
                <a:gd name="connsiteX5" fmla="*/ 8828 w 9874"/>
                <a:gd name="connsiteY5" fmla="*/ 10000 h 10000"/>
                <a:gd name="connsiteX0" fmla="*/ 9125 w 9137"/>
                <a:gd name="connsiteY0" fmla="*/ 0 h 10105"/>
                <a:gd name="connsiteX1" fmla="*/ 8834 w 9137"/>
                <a:gd name="connsiteY1" fmla="*/ 1882 h 10105"/>
                <a:gd name="connsiteX2" fmla="*/ 13 w 9137"/>
                <a:gd name="connsiteY2" fmla="*/ 1882 h 10105"/>
                <a:gd name="connsiteX3" fmla="*/ 13 w 9137"/>
                <a:gd name="connsiteY3" fmla="*/ 8486 h 10105"/>
                <a:gd name="connsiteX4" fmla="*/ 8921 w 9137"/>
                <a:gd name="connsiteY4" fmla="*/ 8372 h 10105"/>
                <a:gd name="connsiteX5" fmla="*/ 8941 w 9137"/>
                <a:gd name="connsiteY5" fmla="*/ 10105 h 10105"/>
                <a:gd name="connsiteX0" fmla="*/ 9510 w 9785"/>
                <a:gd name="connsiteY0" fmla="*/ 0 h 10000"/>
                <a:gd name="connsiteX1" fmla="*/ 9668 w 9785"/>
                <a:gd name="connsiteY1" fmla="*/ 1862 h 10000"/>
                <a:gd name="connsiteX2" fmla="*/ 14 w 9785"/>
                <a:gd name="connsiteY2" fmla="*/ 1862 h 10000"/>
                <a:gd name="connsiteX3" fmla="*/ 14 w 9785"/>
                <a:gd name="connsiteY3" fmla="*/ 8398 h 10000"/>
                <a:gd name="connsiteX4" fmla="*/ 9764 w 9785"/>
                <a:gd name="connsiteY4" fmla="*/ 8285 h 10000"/>
                <a:gd name="connsiteX5" fmla="*/ 9785 w 9785"/>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85" h="10000">
                  <a:moveTo>
                    <a:pt x="9510" y="0"/>
                  </a:moveTo>
                  <a:cubicBezTo>
                    <a:pt x="9616" y="586"/>
                    <a:pt x="9562" y="1277"/>
                    <a:pt x="9668" y="1862"/>
                  </a:cubicBezTo>
                  <a:lnTo>
                    <a:pt x="14" y="1862"/>
                  </a:lnTo>
                  <a:cubicBezTo>
                    <a:pt x="-38" y="3971"/>
                    <a:pt x="68" y="6289"/>
                    <a:pt x="14" y="8398"/>
                  </a:cubicBezTo>
                  <a:lnTo>
                    <a:pt x="9764" y="8285"/>
                  </a:lnTo>
                  <a:cubicBezTo>
                    <a:pt x="9770" y="8510"/>
                    <a:pt x="9779" y="9775"/>
                    <a:pt x="9785" y="10000"/>
                  </a:cubicBezTo>
                </a:path>
              </a:pathLst>
            </a:custGeom>
            <a:noFill/>
            <a:ln w="19050" cap="flat" cmpd="sng">
              <a:solidFill>
                <a:srgbClr val="333399"/>
              </a:solidFill>
              <a:prstDash val="dash"/>
              <a:round/>
              <a:headEnd type="none" w="med" len="med"/>
              <a:tailEnd type="triangl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30" name="Text Box 22"/>
            <p:cNvSpPr txBox="1">
              <a:spLocks noChangeArrowheads="1"/>
            </p:cNvSpPr>
            <p:nvPr/>
          </p:nvSpPr>
          <p:spPr bwMode="auto">
            <a:xfrm>
              <a:off x="3768063" y="1992314"/>
              <a:ext cx="17180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333399"/>
                  </a:solidFill>
                  <a:ea typeface="黑体" pitchFamily="2" charset="-122"/>
                </a:rPr>
                <a:t>互联网草案</a:t>
              </a:r>
            </a:p>
          </p:txBody>
        </p:sp>
        <p:sp>
          <p:nvSpPr>
            <p:cNvPr id="324631" name="Text Box 23"/>
            <p:cNvSpPr txBox="1">
              <a:spLocks noChangeArrowheads="1"/>
            </p:cNvSpPr>
            <p:nvPr/>
          </p:nvSpPr>
          <p:spPr bwMode="auto">
            <a:xfrm>
              <a:off x="3883289" y="2981326"/>
              <a:ext cx="13971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333399"/>
                  </a:solidFill>
                  <a:ea typeface="黑体" pitchFamily="2" charset="-122"/>
                </a:rPr>
                <a:t>建议标准</a:t>
              </a:r>
            </a:p>
          </p:txBody>
        </p:sp>
        <p:sp>
          <p:nvSpPr>
            <p:cNvPr id="324633" name="Text Box 25"/>
            <p:cNvSpPr txBox="1">
              <a:spLocks noChangeArrowheads="1"/>
            </p:cNvSpPr>
            <p:nvPr/>
          </p:nvSpPr>
          <p:spPr bwMode="auto">
            <a:xfrm>
              <a:off x="3761184" y="3956596"/>
              <a:ext cx="1724951" cy="400110"/>
            </a:xfrm>
            <a:prstGeom prst="rect">
              <a:avLst/>
            </a:prstGeom>
            <a:solidFill>
              <a:srgbClr val="3333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chemeClr val="accent2"/>
                  </a:solidFill>
                  <a:ea typeface="黑体" pitchFamily="2" charset="-122"/>
                </a:rPr>
                <a:t>互联网标准</a:t>
              </a:r>
            </a:p>
          </p:txBody>
        </p:sp>
        <p:sp>
          <p:nvSpPr>
            <p:cNvPr id="324634" name="Text Box 26"/>
            <p:cNvSpPr txBox="1">
              <a:spLocks noChangeArrowheads="1"/>
            </p:cNvSpPr>
            <p:nvPr/>
          </p:nvSpPr>
          <p:spPr bwMode="auto">
            <a:xfrm>
              <a:off x="3726788" y="4893221"/>
              <a:ext cx="17593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333399"/>
                  </a:solidFill>
                  <a:ea typeface="黑体" pitchFamily="2" charset="-122"/>
                </a:rPr>
                <a:t>历史的 </a:t>
              </a:r>
              <a:r>
                <a:rPr kumimoji="1" lang="en-US" altLang="zh-CN" sz="2000" b="1" dirty="0">
                  <a:solidFill>
                    <a:srgbClr val="333399"/>
                  </a:solidFill>
                  <a:ea typeface="黑体" pitchFamily="2" charset="-122"/>
                </a:rPr>
                <a:t>RFC</a:t>
              </a:r>
            </a:p>
          </p:txBody>
        </p:sp>
        <p:sp>
          <p:nvSpPr>
            <p:cNvPr id="324635" name="Text Box 27"/>
            <p:cNvSpPr txBox="1">
              <a:spLocks noChangeArrowheads="1"/>
            </p:cNvSpPr>
            <p:nvPr/>
          </p:nvSpPr>
          <p:spPr bwMode="auto">
            <a:xfrm>
              <a:off x="732630" y="2986089"/>
              <a:ext cx="17817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333399"/>
                  </a:solidFill>
                  <a:ea typeface="黑体" pitchFamily="2" charset="-122"/>
                </a:rPr>
                <a:t>实验的 </a:t>
              </a:r>
              <a:r>
                <a:rPr kumimoji="1" lang="en-US" altLang="zh-CN" sz="2000" b="1" dirty="0">
                  <a:solidFill>
                    <a:srgbClr val="333399"/>
                  </a:solidFill>
                  <a:ea typeface="黑体" pitchFamily="2" charset="-122"/>
                </a:rPr>
                <a:t>RFC</a:t>
              </a:r>
            </a:p>
          </p:txBody>
        </p:sp>
        <p:sp>
          <p:nvSpPr>
            <p:cNvPr id="324636" name="Text Box 28"/>
            <p:cNvSpPr txBox="1">
              <a:spLocks noChangeArrowheads="1"/>
            </p:cNvSpPr>
            <p:nvPr/>
          </p:nvSpPr>
          <p:spPr bwMode="auto">
            <a:xfrm>
              <a:off x="6407944" y="3001964"/>
              <a:ext cx="22185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2000" b="1" dirty="0">
                  <a:solidFill>
                    <a:srgbClr val="333399"/>
                  </a:solidFill>
                  <a:ea typeface="黑体" pitchFamily="2" charset="-122"/>
                </a:rPr>
                <a:t>提供信息的 </a:t>
              </a:r>
              <a:r>
                <a:rPr kumimoji="1" lang="en-US" altLang="zh-CN" sz="2000" b="1" dirty="0">
                  <a:solidFill>
                    <a:srgbClr val="333399"/>
                  </a:solidFill>
                  <a:ea typeface="黑体" pitchFamily="2" charset="-122"/>
                </a:rPr>
                <a:t>RFC</a:t>
              </a:r>
            </a:p>
          </p:txBody>
        </p:sp>
        <p:sp>
          <p:nvSpPr>
            <p:cNvPr id="324637" name="Line 29"/>
            <p:cNvSpPr>
              <a:spLocks noChangeShapeType="1"/>
            </p:cNvSpPr>
            <p:nvPr/>
          </p:nvSpPr>
          <p:spPr bwMode="auto">
            <a:xfrm>
              <a:off x="428229" y="2709863"/>
              <a:ext cx="8485212" cy="0"/>
            </a:xfrm>
            <a:prstGeom prst="line">
              <a:avLst/>
            </a:prstGeom>
            <a:noFill/>
            <a:ln w="952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324638" name="Line 30"/>
            <p:cNvSpPr>
              <a:spLocks noChangeShapeType="1"/>
            </p:cNvSpPr>
            <p:nvPr/>
          </p:nvSpPr>
          <p:spPr bwMode="auto">
            <a:xfrm>
              <a:off x="461466" y="5589241"/>
              <a:ext cx="8485212" cy="0"/>
            </a:xfrm>
            <a:prstGeom prst="line">
              <a:avLst/>
            </a:prstGeom>
            <a:noFill/>
            <a:ln w="9525">
              <a:solidFill>
                <a:srgbClr val="333399"/>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grpSp>
      <p:sp>
        <p:nvSpPr>
          <p:cNvPr id="2" name="矩形 1"/>
          <p:cNvSpPr/>
          <p:nvPr/>
        </p:nvSpPr>
        <p:spPr>
          <a:xfrm>
            <a:off x="344488" y="1178749"/>
            <a:ext cx="9477771" cy="1040285"/>
          </a:xfrm>
          <a:prstGeom prst="rect">
            <a:avLst/>
          </a:prstGeom>
          <a:solidFill>
            <a:srgbClr val="66FF66"/>
          </a:solidFill>
          <a:ln>
            <a:solidFill>
              <a:srgbClr val="000099"/>
            </a:solidFill>
          </a:ln>
        </p:spPr>
        <p:txBody>
          <a:bodyPr wrap="square">
            <a:spAutoFit/>
          </a:bodyPr>
          <a:lstStyle/>
          <a:p>
            <a:pPr>
              <a:lnSpc>
                <a:spcPct val="110000"/>
              </a:lnSpc>
            </a:pPr>
            <a:r>
              <a:rPr lang="zh-CN" altLang="zh-CN" sz="2800" b="1" dirty="0">
                <a:latin typeface="+mn-lt"/>
                <a:ea typeface="黑体" pitchFamily="2" charset="-122"/>
              </a:rPr>
              <a:t>除了建议标准和互联网标准这两种</a:t>
            </a:r>
            <a:r>
              <a:rPr lang="en-US" altLang="zh-CN" sz="2800" b="1" dirty="0">
                <a:latin typeface="+mn-lt"/>
                <a:ea typeface="黑体" pitchFamily="2" charset="-122"/>
              </a:rPr>
              <a:t> RFC </a:t>
            </a:r>
            <a:r>
              <a:rPr lang="zh-CN" altLang="zh-CN" sz="2800" b="1" dirty="0">
                <a:latin typeface="+mn-lt"/>
                <a:ea typeface="黑体" pitchFamily="2" charset="-122"/>
              </a:rPr>
              <a:t>文档外，还有三种</a:t>
            </a:r>
            <a:r>
              <a:rPr lang="en-US" altLang="zh-CN" sz="2800" b="1" dirty="0">
                <a:latin typeface="+mn-lt"/>
                <a:ea typeface="黑体" pitchFamily="2" charset="-122"/>
              </a:rPr>
              <a:t> RFC </a:t>
            </a:r>
            <a:r>
              <a:rPr lang="zh-CN" altLang="zh-CN" sz="2800" b="1" dirty="0">
                <a:latin typeface="+mn-lt"/>
                <a:ea typeface="黑体" pitchFamily="2" charset="-122"/>
              </a:rPr>
              <a:t>文档，即历史的、实验的和提供信息的</a:t>
            </a:r>
            <a:r>
              <a:rPr lang="en-US" altLang="zh-CN" sz="2800" b="1" dirty="0">
                <a:latin typeface="+mn-lt"/>
                <a:ea typeface="黑体" pitchFamily="2" charset="-122"/>
              </a:rPr>
              <a:t> RFC </a:t>
            </a:r>
            <a:r>
              <a:rPr lang="zh-CN" altLang="zh-CN" sz="2800" b="1" dirty="0">
                <a:latin typeface="+mn-lt"/>
                <a:ea typeface="黑体" pitchFamily="2" charset="-122"/>
              </a:rPr>
              <a:t>文档</a:t>
            </a:r>
            <a:r>
              <a:rPr lang="zh-CN" altLang="en-US" sz="2800" b="1" dirty="0">
                <a:latin typeface="+mn-lt"/>
                <a:ea typeface="黑体" pitchFamily="2" charset="-122"/>
              </a:rPr>
              <a:t>。</a:t>
            </a:r>
          </a:p>
        </p:txBody>
      </p:sp>
    </p:spTree>
    <p:extLst>
      <p:ext uri="{BB962C8B-B14F-4D97-AF65-F5344CB8AC3E}">
        <p14:creationId xmlns:p14="http://schemas.microsoft.com/office/powerpoint/2010/main" val="2510065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概述</a:t>
            </a:r>
            <a:endParaRPr lang="zh-CN" altLang="en-US" dirty="0">
              <a:ea typeface="宋体" pitchFamily="2" charset="-122"/>
            </a:endParaRPr>
          </a:p>
        </p:txBody>
      </p:sp>
      <p:sp>
        <p:nvSpPr>
          <p:cNvPr id="18435" name="Rectangle 3"/>
          <p:cNvSpPr>
            <a:spLocks noGrp="1" noChangeArrowheads="1"/>
          </p:cNvSpPr>
          <p:nvPr>
            <p:ph type="body" idx="1"/>
          </p:nvPr>
        </p:nvSpPr>
        <p:spPr/>
        <p:txBody>
          <a:bodyPr/>
          <a:lstStyle/>
          <a:p>
            <a:r>
              <a:rPr lang="zh-CN" altLang="en-US" dirty="0">
                <a:solidFill>
                  <a:schemeClr val="bg1">
                    <a:lumMod val="65000"/>
                  </a:schemeClr>
                </a:solidFill>
              </a:rPr>
              <a:t>计算机网络概述</a:t>
            </a:r>
            <a:endParaRPr lang="en-US" altLang="zh-CN" dirty="0">
              <a:solidFill>
                <a:schemeClr val="bg1">
                  <a:lumMod val="65000"/>
                </a:schemeClr>
              </a:solidFill>
            </a:endParaRPr>
          </a:p>
          <a:p>
            <a:r>
              <a:rPr lang="en-US" altLang="zh-CN" dirty="0">
                <a:solidFill>
                  <a:schemeClr val="bg1">
                    <a:lumMod val="65000"/>
                  </a:schemeClr>
                </a:solidFill>
              </a:rPr>
              <a:t>Internet</a:t>
            </a:r>
            <a:r>
              <a:rPr lang="zh-CN" altLang="zh-CN" dirty="0">
                <a:solidFill>
                  <a:schemeClr val="bg1">
                    <a:lumMod val="65000"/>
                  </a:schemeClr>
                </a:solidFill>
              </a:rPr>
              <a:t>概述</a:t>
            </a:r>
            <a:endParaRPr lang="en-US" altLang="zh-CN" dirty="0">
              <a:solidFill>
                <a:schemeClr val="bg1">
                  <a:lumMod val="65000"/>
                </a:schemeClr>
              </a:solidFill>
            </a:endParaRPr>
          </a:p>
          <a:p>
            <a:r>
              <a:rPr lang="en-US" altLang="zh-CN" sz="3600" dirty="0">
                <a:solidFill>
                  <a:srgbClr val="FF0000"/>
                </a:solidFill>
              </a:rPr>
              <a:t>Internet</a:t>
            </a:r>
            <a:r>
              <a:rPr lang="zh-CN" altLang="en-US" sz="3600" dirty="0">
                <a:solidFill>
                  <a:srgbClr val="FF0000"/>
                </a:solidFill>
              </a:rPr>
              <a:t>的组成</a:t>
            </a:r>
            <a:endParaRPr lang="en-US" altLang="zh-CN" sz="3600" dirty="0">
              <a:solidFill>
                <a:srgbClr val="FF0000"/>
              </a:solidFill>
            </a:endParaRPr>
          </a:p>
          <a:p>
            <a:r>
              <a:rPr lang="zh-CN" altLang="zh-CN" dirty="0">
                <a:solidFill>
                  <a:schemeClr val="bg1">
                    <a:lumMod val="65000"/>
                  </a:schemeClr>
                </a:solidFill>
              </a:rPr>
              <a:t>计算机网络的性能</a:t>
            </a:r>
            <a:r>
              <a:rPr lang="zh-CN" altLang="en-US" dirty="0">
                <a:solidFill>
                  <a:schemeClr val="bg1">
                    <a:lumMod val="65000"/>
                  </a:schemeClr>
                </a:solidFill>
              </a:rPr>
              <a:t>指标</a:t>
            </a:r>
            <a:endParaRPr lang="en-US" altLang="zh-CN" dirty="0">
              <a:solidFill>
                <a:schemeClr val="bg1">
                  <a:lumMod val="65000"/>
                </a:schemeClr>
              </a:solidFill>
            </a:endParaRPr>
          </a:p>
          <a:p>
            <a:r>
              <a:rPr lang="zh-CN" altLang="zh-CN" dirty="0">
                <a:solidFill>
                  <a:schemeClr val="bg1">
                    <a:lumMod val="65000"/>
                  </a:schemeClr>
                </a:solidFill>
              </a:rPr>
              <a:t>计算机网络的体系结构</a:t>
            </a:r>
            <a:endParaRPr lang="zh-CN" altLang="en-US" dirty="0">
              <a:solidFill>
                <a:schemeClr val="bg1">
                  <a:lumMod val="65000"/>
                </a:schemeClr>
              </a:solidFill>
              <a:ea typeface="宋体" pitchFamily="2" charset="-122"/>
            </a:endParaRPr>
          </a:p>
        </p:txBody>
      </p:sp>
    </p:spTree>
    <p:extLst>
      <p:ext uri="{BB962C8B-B14F-4D97-AF65-F5344CB8AC3E}">
        <p14:creationId xmlns:p14="http://schemas.microsoft.com/office/powerpoint/2010/main" val="2300451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en-US" altLang="zh-CN" dirty="0"/>
              <a:t>Internet</a:t>
            </a:r>
            <a:r>
              <a:rPr lang="zh-CN" altLang="en-US" dirty="0"/>
              <a:t>的组成</a:t>
            </a:r>
          </a:p>
        </p:txBody>
      </p:sp>
      <p:sp>
        <p:nvSpPr>
          <p:cNvPr id="326659" name="Rectangle 3"/>
          <p:cNvSpPr>
            <a:spLocks noGrp="1" noChangeArrowheads="1"/>
          </p:cNvSpPr>
          <p:nvPr>
            <p:ph idx="1"/>
          </p:nvPr>
        </p:nvSpPr>
        <p:spPr/>
        <p:txBody>
          <a:bodyPr/>
          <a:lstStyle/>
          <a:p>
            <a:pPr>
              <a:buFont typeface="Wingdings" pitchFamily="2" charset="2"/>
              <a:buNone/>
            </a:pPr>
            <a:r>
              <a:rPr lang="zh-CN" altLang="en-US" dirty="0"/>
              <a:t>从互联网的工作方式上看，可以划分为两大块：</a:t>
            </a:r>
          </a:p>
          <a:p>
            <a:pPr>
              <a:buNone/>
            </a:pPr>
            <a:r>
              <a:rPr lang="en-US" altLang="zh-CN" dirty="0"/>
              <a:t>(1) </a:t>
            </a:r>
            <a:r>
              <a:rPr lang="zh-CN" altLang="en-US" dirty="0">
                <a:solidFill>
                  <a:srgbClr val="FF0000"/>
                </a:solidFill>
              </a:rPr>
              <a:t>边缘部分：</a:t>
            </a:r>
            <a:r>
              <a:rPr lang="zh-CN" altLang="en-US" dirty="0"/>
              <a:t> 由所有连接在互联网上的主机组成。这部分是用户直接使用的，用来进行通信（传送数据、音频或视频）和资源共享。</a:t>
            </a:r>
          </a:p>
          <a:p>
            <a:pPr>
              <a:buFont typeface="Wingdings" pitchFamily="2" charset="2"/>
              <a:buNone/>
            </a:pPr>
            <a:r>
              <a:rPr lang="en-US" altLang="zh-CN" dirty="0"/>
              <a:t>(2) </a:t>
            </a:r>
            <a:r>
              <a:rPr lang="zh-CN" altLang="en-US" dirty="0">
                <a:solidFill>
                  <a:srgbClr val="FF0000"/>
                </a:solidFill>
              </a:rPr>
              <a:t>核心部分：</a:t>
            </a:r>
            <a:r>
              <a:rPr lang="zh-CN" altLang="en-US" dirty="0"/>
              <a:t>由大量网络和连接这些网络的路由器组成。这部分是为边缘部分提供服务的（提供连通性和交换）。</a:t>
            </a:r>
          </a:p>
        </p:txBody>
      </p:sp>
    </p:spTree>
    <p:extLst>
      <p:ext uri="{BB962C8B-B14F-4D97-AF65-F5344CB8AC3E}">
        <p14:creationId xmlns:p14="http://schemas.microsoft.com/office/powerpoint/2010/main" val="1465114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32519" y="1268760"/>
            <a:ext cx="8928993" cy="4536504"/>
            <a:chOff x="560511" y="1484784"/>
            <a:chExt cx="8928993" cy="4536504"/>
          </a:xfrm>
        </p:grpSpPr>
        <p:sp>
          <p:nvSpPr>
            <p:cNvPr id="328708" name="Oval 4"/>
            <p:cNvSpPr>
              <a:spLocks noChangeArrowheads="1"/>
            </p:cNvSpPr>
            <p:nvPr/>
          </p:nvSpPr>
          <p:spPr bwMode="auto">
            <a:xfrm>
              <a:off x="560511" y="1484784"/>
              <a:ext cx="8928993" cy="4536504"/>
            </a:xfrm>
            <a:prstGeom prst="ellipse">
              <a:avLst/>
            </a:prstGeom>
            <a:solidFill>
              <a:srgbClr val="99CCFF"/>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09" name="Oval 5"/>
            <p:cNvSpPr>
              <a:spLocks noChangeArrowheads="1"/>
            </p:cNvSpPr>
            <p:nvPr/>
          </p:nvSpPr>
          <p:spPr bwMode="auto">
            <a:xfrm>
              <a:off x="2000672" y="2569395"/>
              <a:ext cx="6264696" cy="2416968"/>
            </a:xfrm>
            <a:prstGeom prst="ellipse">
              <a:avLst/>
            </a:prstGeom>
            <a:solidFill>
              <a:schemeClr val="bg1"/>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328710"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8649" y="2517801"/>
              <a:ext cx="5073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11"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9078" y="3203600"/>
              <a:ext cx="53657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28712" name="Group 8"/>
            <p:cNvGrpSpPr>
              <a:grpSpLocks/>
            </p:cNvGrpSpPr>
            <p:nvPr/>
          </p:nvGrpSpPr>
          <p:grpSpPr bwMode="auto">
            <a:xfrm rot="-448665">
              <a:off x="2355844" y="3421516"/>
              <a:ext cx="1056180" cy="583958"/>
              <a:chOff x="2949" y="196"/>
              <a:chExt cx="941" cy="598"/>
            </a:xfrm>
          </p:grpSpPr>
          <p:sp>
            <p:nvSpPr>
              <p:cNvPr id="328713" name="Oval 9"/>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4"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5"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6" name="Oval 12"/>
              <p:cNvSpPr>
                <a:spLocks noChangeArrowheads="1"/>
              </p:cNvSpPr>
              <p:nvPr/>
            </p:nvSpPr>
            <p:spPr bwMode="auto">
              <a:xfrm rot="2004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7" name="Oval 13"/>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8"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19" name="Oval 15"/>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0" name="Oval 16"/>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1" name="Freeform 17"/>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22" name="Freeform 18"/>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23" name="Freeform 19"/>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24" name="Group 20"/>
            <p:cNvGrpSpPr>
              <a:grpSpLocks/>
            </p:cNvGrpSpPr>
            <p:nvPr/>
          </p:nvGrpSpPr>
          <p:grpSpPr bwMode="auto">
            <a:xfrm rot="-448665">
              <a:off x="7012926" y="3365998"/>
              <a:ext cx="1083171" cy="654849"/>
              <a:chOff x="2949" y="196"/>
              <a:chExt cx="941" cy="598"/>
            </a:xfrm>
          </p:grpSpPr>
          <p:sp>
            <p:nvSpPr>
              <p:cNvPr id="328725" name="Oval 21"/>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6"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7"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8" name="Oval 24"/>
              <p:cNvSpPr>
                <a:spLocks noChangeArrowheads="1"/>
              </p:cNvSpPr>
              <p:nvPr/>
            </p:nvSpPr>
            <p:spPr bwMode="auto">
              <a:xfrm rot="2004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29" name="Oval 25"/>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0"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1" name="Oval 27"/>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2" name="Oval 28"/>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3" name="Freeform 29"/>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34" name="Freeform 30"/>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35" name="Freeform 31"/>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36" name="Group 32"/>
            <p:cNvGrpSpPr>
              <a:grpSpLocks/>
            </p:cNvGrpSpPr>
            <p:nvPr/>
          </p:nvGrpSpPr>
          <p:grpSpPr bwMode="auto">
            <a:xfrm rot="-448665">
              <a:off x="3879465" y="4175623"/>
              <a:ext cx="1083171" cy="654849"/>
              <a:chOff x="2949" y="196"/>
              <a:chExt cx="941" cy="598"/>
            </a:xfrm>
          </p:grpSpPr>
          <p:sp>
            <p:nvSpPr>
              <p:cNvPr id="328737" name="Oval 33"/>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8"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39"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0" name="Oval 36"/>
              <p:cNvSpPr>
                <a:spLocks noChangeArrowheads="1"/>
              </p:cNvSpPr>
              <p:nvPr/>
            </p:nvSpPr>
            <p:spPr bwMode="auto">
              <a:xfrm rot="2004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1" name="Oval 37"/>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2"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3" name="Oval 39"/>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4" name="Oval 40"/>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45" name="Freeform 41"/>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46" name="Freeform 42"/>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47" name="Freeform 43"/>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48" name="Group 44"/>
            <p:cNvGrpSpPr>
              <a:grpSpLocks/>
            </p:cNvGrpSpPr>
            <p:nvPr/>
          </p:nvGrpSpPr>
          <p:grpSpPr bwMode="auto">
            <a:xfrm rot="-448665">
              <a:off x="5881305" y="4175666"/>
              <a:ext cx="1080797" cy="654849"/>
              <a:chOff x="2949" y="196"/>
              <a:chExt cx="941" cy="598"/>
            </a:xfrm>
          </p:grpSpPr>
          <p:sp>
            <p:nvSpPr>
              <p:cNvPr id="328749" name="Oval 45"/>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0"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1"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2" name="Oval 48"/>
              <p:cNvSpPr>
                <a:spLocks noChangeArrowheads="1"/>
              </p:cNvSpPr>
              <p:nvPr/>
            </p:nvSpPr>
            <p:spPr bwMode="auto">
              <a:xfrm rot="2004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3" name="Oval 49"/>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4"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5" name="Oval 51"/>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6" name="Oval 52"/>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57" name="Freeform 5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8" name="Freeform 5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59" name="Freeform 5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8760" name="Group 56"/>
            <p:cNvGrpSpPr>
              <a:grpSpLocks/>
            </p:cNvGrpSpPr>
            <p:nvPr/>
          </p:nvGrpSpPr>
          <p:grpSpPr bwMode="auto">
            <a:xfrm rot="-448665">
              <a:off x="4749647" y="2881856"/>
              <a:ext cx="1080797" cy="652715"/>
              <a:chOff x="2949" y="196"/>
              <a:chExt cx="941" cy="598"/>
            </a:xfrm>
          </p:grpSpPr>
          <p:sp>
            <p:nvSpPr>
              <p:cNvPr id="328761" name="Oval 57"/>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2"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3"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4" name="Oval 60"/>
              <p:cNvSpPr>
                <a:spLocks noChangeArrowheads="1"/>
              </p:cNvSpPr>
              <p:nvPr/>
            </p:nvSpPr>
            <p:spPr bwMode="auto">
              <a:xfrm rot="20040000">
                <a:off x="3573" y="537"/>
                <a:ext cx="291" cy="18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5" name="Oval 61"/>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6"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7" name="Oval 63"/>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8" name="Oval 64"/>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8769" name="Freeform 6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70" name="Freeform 6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8771" name="Freeform 6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328772"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50212" y="4035450"/>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3"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3770" y="4357713"/>
              <a:ext cx="53485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4"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3947" y="4010050"/>
              <a:ext cx="534855"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5"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1694" y="3040088"/>
              <a:ext cx="534856"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8776"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6764" y="4600601"/>
              <a:ext cx="50561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7"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8957" y="3487762"/>
              <a:ext cx="507338"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8"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0522" y="2336826"/>
              <a:ext cx="507338"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79"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6491" y="5107012"/>
              <a:ext cx="505619"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80"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6047" y="4519638"/>
              <a:ext cx="507338"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8781"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912" y="3327426"/>
              <a:ext cx="505619"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782" name="Text Box 78"/>
            <p:cNvSpPr txBox="1">
              <a:spLocks noChangeArrowheads="1"/>
            </p:cNvSpPr>
            <p:nvPr/>
          </p:nvSpPr>
          <p:spPr bwMode="auto">
            <a:xfrm>
              <a:off x="3818290" y="3615407"/>
              <a:ext cx="2646878" cy="461665"/>
            </a:xfrm>
            <a:prstGeom prst="rect">
              <a:avLst/>
            </a:prstGeom>
            <a:solidFill>
              <a:srgbClr val="FFFF00"/>
            </a:solidFill>
            <a:ln w="9525">
              <a:solidFill>
                <a:schemeClr val="tx1"/>
              </a:solidFill>
              <a:miter lim="800000"/>
              <a:headEnd/>
              <a:tailEnd/>
            </a:ln>
            <a:effectLst/>
          </p:spPr>
          <p:txBody>
            <a:bodyPr wrap="none">
              <a:spAutoFit/>
            </a:bodyPr>
            <a:lstStyle>
              <a:defPPr>
                <a:defRPr lang="en-US"/>
              </a:defPPr>
              <a:lvl1pPr>
                <a:defRPr sz="2400">
                  <a:solidFill>
                    <a:srgbClr val="333399"/>
                  </a:solidFill>
                  <a:ea typeface="黑体" pitchFamily="2" charset="-122"/>
                </a:defRPr>
              </a:lvl1pPr>
            </a:lstStyle>
            <a:p>
              <a:r>
                <a:rPr lang="zh-CN" altLang="en-US" dirty="0"/>
                <a:t>互联网的核心部分</a:t>
              </a:r>
            </a:p>
          </p:txBody>
        </p:sp>
        <p:sp>
          <p:nvSpPr>
            <p:cNvPr id="328783" name="Text Box 79"/>
            <p:cNvSpPr txBox="1">
              <a:spLocks noChangeArrowheads="1"/>
            </p:cNvSpPr>
            <p:nvPr/>
          </p:nvSpPr>
          <p:spPr bwMode="auto">
            <a:xfrm>
              <a:off x="3818290" y="1844824"/>
              <a:ext cx="2646878" cy="461665"/>
            </a:xfrm>
            <a:prstGeom prst="rect">
              <a:avLst/>
            </a:prstGeom>
            <a:solidFill>
              <a:srgbClr val="FFFF00"/>
            </a:solidFill>
            <a:ln w="9525">
              <a:solidFill>
                <a:schemeClr val="tx1"/>
              </a:solidFill>
              <a:miter lim="800000"/>
              <a:headEnd/>
              <a:tailEnd/>
            </a:ln>
            <a:effectLst/>
          </p:spPr>
          <p:txBody>
            <a:bodyPr wrap="none">
              <a:spAutoFit/>
            </a:bodyPr>
            <a:lstStyle/>
            <a:p>
              <a:r>
                <a:rPr lang="zh-CN" altLang="en-US" sz="2400" dirty="0">
                  <a:solidFill>
                    <a:srgbClr val="333399"/>
                  </a:solidFill>
                  <a:ea typeface="黑体" pitchFamily="2" charset="-122"/>
                </a:rPr>
                <a:t>互联网的边缘部分</a:t>
              </a:r>
            </a:p>
          </p:txBody>
        </p:sp>
        <p:sp>
          <p:nvSpPr>
            <p:cNvPr id="328784" name="Text Box 80"/>
            <p:cNvSpPr txBox="1">
              <a:spLocks noChangeArrowheads="1"/>
            </p:cNvSpPr>
            <p:nvPr/>
          </p:nvSpPr>
          <p:spPr bwMode="auto">
            <a:xfrm>
              <a:off x="1712640" y="2132856"/>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itchFamily="2" charset="-122"/>
                </a:rPr>
                <a:t>主机</a:t>
              </a:r>
            </a:p>
          </p:txBody>
        </p:sp>
        <p:sp>
          <p:nvSpPr>
            <p:cNvPr id="328785" name="Text Box 81"/>
            <p:cNvSpPr txBox="1">
              <a:spLocks noChangeArrowheads="1"/>
            </p:cNvSpPr>
            <p:nvPr/>
          </p:nvSpPr>
          <p:spPr bwMode="auto">
            <a:xfrm>
              <a:off x="2496597" y="303934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itchFamily="2" charset="-122"/>
                </a:rPr>
                <a:t>网络</a:t>
              </a:r>
            </a:p>
          </p:txBody>
        </p:sp>
        <p:sp>
          <p:nvSpPr>
            <p:cNvPr id="328786" name="Text Box 82"/>
            <p:cNvSpPr txBox="1">
              <a:spLocks noChangeArrowheads="1"/>
            </p:cNvSpPr>
            <p:nvPr/>
          </p:nvSpPr>
          <p:spPr bwMode="auto">
            <a:xfrm>
              <a:off x="3296816" y="2823319"/>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dirty="0">
                  <a:solidFill>
                    <a:srgbClr val="333399"/>
                  </a:solidFill>
                  <a:ea typeface="黑体" pitchFamily="2" charset="-122"/>
                </a:rPr>
                <a:t>路由器</a:t>
              </a:r>
            </a:p>
          </p:txBody>
        </p:sp>
      </p:grpSp>
      <p:sp>
        <p:nvSpPr>
          <p:cNvPr id="3" name="标题 2"/>
          <p:cNvSpPr>
            <a:spLocks noGrp="1"/>
          </p:cNvSpPr>
          <p:nvPr>
            <p:ph type="title"/>
          </p:nvPr>
        </p:nvSpPr>
        <p:spPr/>
        <p:txBody>
          <a:bodyPr/>
          <a:lstStyle/>
          <a:p>
            <a:pPr algn="ctr"/>
            <a:r>
              <a:rPr lang="zh-CN" altLang="en-US" dirty="0"/>
              <a:t>互联网的边缘部分与核心部分</a:t>
            </a:r>
          </a:p>
        </p:txBody>
      </p:sp>
      <p:sp>
        <p:nvSpPr>
          <p:cNvPr id="6" name="矩形 5"/>
          <p:cNvSpPr/>
          <p:nvPr/>
        </p:nvSpPr>
        <p:spPr>
          <a:xfrm>
            <a:off x="2701787" y="5919663"/>
            <a:ext cx="5131533" cy="461665"/>
          </a:xfrm>
          <a:prstGeom prst="rect">
            <a:avLst/>
          </a:prstGeom>
        </p:spPr>
        <p:txBody>
          <a:bodyPr wrap="square">
            <a:spAutoFit/>
          </a:bodyPr>
          <a:lstStyle/>
          <a:p>
            <a:pPr algn="ctr"/>
            <a:r>
              <a:rPr lang="zh-CN" altLang="zh-CN" sz="2400" b="1" dirty="0">
                <a:latin typeface="+mn-lt"/>
                <a:ea typeface="黑体" pitchFamily="2" charset="-122"/>
              </a:rPr>
              <a:t>互联网的边缘部分与核心部分</a:t>
            </a:r>
            <a:endParaRPr lang="zh-CN" altLang="en-US" sz="2400" b="1" dirty="0">
              <a:latin typeface="+mn-lt"/>
              <a:ea typeface="黑体" pitchFamily="2" charset="-122"/>
            </a:endParaRPr>
          </a:p>
        </p:txBody>
      </p:sp>
    </p:spTree>
    <p:extLst>
      <p:ext uri="{BB962C8B-B14F-4D97-AF65-F5344CB8AC3E}">
        <p14:creationId xmlns:p14="http://schemas.microsoft.com/office/powerpoint/2010/main" val="11277664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p:txBody>
          <a:bodyPr/>
          <a:lstStyle/>
          <a:p>
            <a:r>
              <a:rPr lang="en-US" altLang="zh-CN" dirty="0"/>
              <a:t>Internet</a:t>
            </a:r>
            <a:r>
              <a:rPr lang="zh-CN" altLang="en-US" dirty="0"/>
              <a:t>的组成：边缘部分</a:t>
            </a:r>
          </a:p>
        </p:txBody>
      </p:sp>
      <p:sp>
        <p:nvSpPr>
          <p:cNvPr id="330755" name="Rectangle 3"/>
          <p:cNvSpPr>
            <a:spLocks noGrp="1" noChangeArrowheads="1"/>
          </p:cNvSpPr>
          <p:nvPr>
            <p:ph idx="1"/>
          </p:nvPr>
        </p:nvSpPr>
        <p:spPr/>
        <p:txBody>
          <a:bodyPr/>
          <a:lstStyle/>
          <a:p>
            <a:r>
              <a:rPr lang="zh-CN" altLang="en-US" dirty="0"/>
              <a:t>处在互联网边缘的部分就是连接在互联网上的所有的主机。这些主机又称为</a:t>
            </a:r>
            <a:r>
              <a:rPr lang="zh-CN" altLang="en-US" dirty="0">
                <a:solidFill>
                  <a:srgbClr val="FF0000"/>
                </a:solidFill>
              </a:rPr>
              <a:t>端系统 </a:t>
            </a:r>
            <a:r>
              <a:rPr lang="en-US" altLang="zh-CN" dirty="0"/>
              <a:t>(end system)</a:t>
            </a:r>
            <a:r>
              <a:rPr lang="zh-CN" altLang="en-US" dirty="0"/>
              <a:t>。</a:t>
            </a:r>
          </a:p>
          <a:p>
            <a:r>
              <a:rPr lang="zh-CN" altLang="zh-CN" dirty="0">
                <a:solidFill>
                  <a:srgbClr val="FF0000"/>
                </a:solidFill>
              </a:rPr>
              <a:t>端系统在功能上可能有很大的差别</a:t>
            </a:r>
            <a:endParaRPr lang="en-US" altLang="zh-CN" dirty="0">
              <a:solidFill>
                <a:srgbClr val="FF0000"/>
              </a:solidFill>
            </a:endParaRPr>
          </a:p>
          <a:p>
            <a:pPr lvl="1"/>
            <a:r>
              <a:rPr lang="zh-CN" altLang="zh-CN" dirty="0"/>
              <a:t>小的端系统可以是一台普通个人电脑</a:t>
            </a:r>
            <a:r>
              <a:rPr lang="zh-CN" altLang="en-US" dirty="0"/>
              <a:t>，</a:t>
            </a:r>
            <a:r>
              <a:rPr lang="zh-CN" altLang="zh-CN" dirty="0"/>
              <a:t>具有上网功能的智能手机，甚至是一个很小的网络摄像头</a:t>
            </a:r>
            <a:r>
              <a:rPr lang="zh-CN" altLang="en-US" dirty="0"/>
              <a:t>。</a:t>
            </a:r>
            <a:endParaRPr lang="en-US" altLang="zh-CN" dirty="0"/>
          </a:p>
          <a:p>
            <a:pPr lvl="1"/>
            <a:r>
              <a:rPr lang="zh-CN" altLang="zh-CN" dirty="0"/>
              <a:t>大的端系统则可以是一台非常昂贵的大型计算机。</a:t>
            </a:r>
            <a:endParaRPr lang="en-US" altLang="zh-CN" dirty="0"/>
          </a:p>
          <a:p>
            <a:pPr lvl="1"/>
            <a:r>
              <a:rPr lang="zh-CN" altLang="zh-CN" dirty="0"/>
              <a:t>端系统的拥有者可以是个人，也可以是单位（如学校、企业、政府机关等），当然也可以是某个</a:t>
            </a:r>
            <a:r>
              <a:rPr lang="en-US" altLang="zh-CN" dirty="0"/>
              <a:t> ISP</a:t>
            </a:r>
            <a:r>
              <a:rPr lang="zh-CN" altLang="en-US" dirty="0"/>
              <a:t>。</a:t>
            </a:r>
          </a:p>
        </p:txBody>
      </p:sp>
    </p:spTree>
    <p:extLst>
      <p:ext uri="{BB962C8B-B14F-4D97-AF65-F5344CB8AC3E}">
        <p14:creationId xmlns:p14="http://schemas.microsoft.com/office/powerpoint/2010/main" val="2388990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pPr algn="ctr"/>
            <a:r>
              <a:rPr lang="zh-CN" altLang="en-US" dirty="0"/>
              <a:t>端系统之间的两种通信方式</a:t>
            </a:r>
          </a:p>
        </p:txBody>
      </p:sp>
      <p:sp>
        <p:nvSpPr>
          <p:cNvPr id="332803" name="Rectangle 3"/>
          <p:cNvSpPr>
            <a:spLocks noGrp="1" noChangeArrowheads="1"/>
          </p:cNvSpPr>
          <p:nvPr>
            <p:ph idx="1"/>
          </p:nvPr>
        </p:nvSpPr>
        <p:spPr/>
        <p:txBody>
          <a:bodyPr/>
          <a:lstStyle/>
          <a:p>
            <a:pPr>
              <a:buNone/>
            </a:pPr>
            <a:r>
              <a:rPr lang="en-US" altLang="zh-CN" dirty="0"/>
              <a:t>	</a:t>
            </a:r>
            <a:r>
              <a:rPr lang="zh-CN" altLang="zh-CN" dirty="0"/>
              <a:t>端系统之间的通信方式</a:t>
            </a:r>
            <a:r>
              <a:rPr lang="zh-CN" altLang="en-US" dirty="0"/>
              <a:t>通常可划分为两大类：</a:t>
            </a:r>
          </a:p>
          <a:p>
            <a:r>
              <a:rPr lang="zh-CN" altLang="en-US" dirty="0">
                <a:solidFill>
                  <a:srgbClr val="FF0000"/>
                </a:solidFill>
              </a:rPr>
              <a:t>客户</a:t>
            </a:r>
            <a:r>
              <a:rPr lang="zh-CN" altLang="en-US" dirty="0">
                <a:solidFill>
                  <a:srgbClr val="FF0000"/>
                </a:solidFill>
                <a:sym typeface="Symbol" pitchFamily="18" charset="2"/>
              </a:rPr>
              <a:t></a:t>
            </a:r>
            <a:r>
              <a:rPr lang="zh-CN" altLang="en-US" dirty="0">
                <a:solidFill>
                  <a:srgbClr val="FF0000"/>
                </a:solidFill>
              </a:rPr>
              <a:t>服务器方式</a:t>
            </a:r>
            <a:r>
              <a:rPr lang="zh-CN" altLang="en-US" dirty="0"/>
              <a:t>（</a:t>
            </a:r>
            <a:r>
              <a:rPr lang="en-US" altLang="zh-CN" dirty="0"/>
              <a:t>C/S </a:t>
            </a:r>
            <a:r>
              <a:rPr lang="zh-CN" altLang="en-US" dirty="0"/>
              <a:t>方式）</a:t>
            </a:r>
          </a:p>
          <a:p>
            <a:pPr>
              <a:buNone/>
            </a:pPr>
            <a:r>
              <a:rPr lang="en-US" altLang="zh-CN" dirty="0"/>
              <a:t>	</a:t>
            </a:r>
            <a:r>
              <a:rPr lang="zh-CN" altLang="en-US" dirty="0"/>
              <a:t>即 </a:t>
            </a:r>
            <a:r>
              <a:rPr lang="en-US" altLang="zh-CN" dirty="0"/>
              <a:t>Client/Server </a:t>
            </a:r>
            <a:r>
              <a:rPr lang="zh-CN" altLang="en-US" dirty="0"/>
              <a:t>方式，简称为 </a:t>
            </a:r>
            <a:r>
              <a:rPr lang="en-US" altLang="zh-CN" dirty="0"/>
              <a:t>C/S </a:t>
            </a:r>
            <a:r>
              <a:rPr lang="zh-CN" altLang="en-US" dirty="0"/>
              <a:t>方式。 </a:t>
            </a:r>
          </a:p>
          <a:p>
            <a:r>
              <a:rPr lang="zh-CN" altLang="en-US" dirty="0">
                <a:solidFill>
                  <a:srgbClr val="FF0000"/>
                </a:solidFill>
              </a:rPr>
              <a:t>对等方式</a:t>
            </a:r>
            <a:r>
              <a:rPr lang="zh-CN" altLang="en-US" dirty="0"/>
              <a:t>（</a:t>
            </a:r>
            <a:r>
              <a:rPr lang="en-US" altLang="zh-CN" dirty="0"/>
              <a:t>P2P </a:t>
            </a:r>
            <a:r>
              <a:rPr lang="zh-CN" altLang="en-US" dirty="0"/>
              <a:t>方式）</a:t>
            </a:r>
          </a:p>
          <a:p>
            <a:pPr>
              <a:buNone/>
            </a:pPr>
            <a:r>
              <a:rPr lang="zh-CN" altLang="en-US" dirty="0"/>
              <a:t>   即 </a:t>
            </a:r>
            <a:r>
              <a:rPr lang="en-US" altLang="zh-CN" dirty="0"/>
              <a:t>Peer</a:t>
            </a:r>
            <a:r>
              <a:rPr lang="zh-CN" altLang="en-US" dirty="0">
                <a:sym typeface="Symbol" pitchFamily="18" charset="2"/>
              </a:rPr>
              <a:t></a:t>
            </a:r>
            <a:r>
              <a:rPr lang="en-US" altLang="zh-CN" dirty="0"/>
              <a:t>to</a:t>
            </a:r>
            <a:r>
              <a:rPr lang="zh-CN" altLang="en-US" dirty="0">
                <a:sym typeface="Symbol" pitchFamily="18" charset="2"/>
              </a:rPr>
              <a:t></a:t>
            </a:r>
            <a:r>
              <a:rPr lang="en-US" altLang="zh-CN" dirty="0"/>
              <a:t>Peer </a:t>
            </a:r>
            <a:r>
              <a:rPr lang="zh-CN" altLang="en-US" dirty="0"/>
              <a:t>方式 ，简称为 </a:t>
            </a:r>
            <a:r>
              <a:rPr lang="en-US" altLang="zh-CN" dirty="0"/>
              <a:t>P2P </a:t>
            </a:r>
            <a:r>
              <a:rPr lang="zh-CN" altLang="en-US" dirty="0"/>
              <a:t>方式。</a:t>
            </a:r>
          </a:p>
        </p:txBody>
      </p:sp>
    </p:spTree>
    <p:extLst>
      <p:ext uri="{BB962C8B-B14F-4D97-AF65-F5344CB8AC3E}">
        <p14:creationId xmlns:p14="http://schemas.microsoft.com/office/powerpoint/2010/main" val="208308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Internet</a:t>
            </a:r>
            <a:r>
              <a:rPr lang="zh-CN" altLang="en-US" dirty="0"/>
              <a:t>的组成：核心部分</a:t>
            </a:r>
          </a:p>
        </p:txBody>
      </p:sp>
      <p:sp>
        <p:nvSpPr>
          <p:cNvPr id="353283" name="Rectangle 3"/>
          <p:cNvSpPr>
            <a:spLocks noGrp="1" noChangeArrowheads="1"/>
          </p:cNvSpPr>
          <p:nvPr>
            <p:ph idx="1"/>
          </p:nvPr>
        </p:nvSpPr>
        <p:spPr/>
        <p:txBody>
          <a:bodyPr/>
          <a:lstStyle/>
          <a:p>
            <a:r>
              <a:rPr lang="zh-CN" altLang="en-US" dirty="0"/>
              <a:t>网络核心部分是互联网中最复杂的部分。</a:t>
            </a:r>
          </a:p>
          <a:p>
            <a:r>
              <a:rPr lang="zh-CN" altLang="en-US" dirty="0"/>
              <a:t>网络中的核心部分要向网络边缘中的大量主机提供连通性，使边缘部分中的任何一个主机都能够向其他主机通信（即传送或接收各种形式的数据）。</a:t>
            </a:r>
          </a:p>
          <a:p>
            <a:r>
              <a:rPr lang="zh-CN" altLang="en-US" dirty="0"/>
              <a:t>在网络核心部分起特殊作用的是</a:t>
            </a:r>
            <a:r>
              <a:rPr lang="zh-CN" altLang="en-US" dirty="0">
                <a:solidFill>
                  <a:srgbClr val="FF0000"/>
                </a:solidFill>
              </a:rPr>
              <a:t>路由器 </a:t>
            </a:r>
            <a:r>
              <a:rPr lang="en-US" altLang="zh-CN" dirty="0"/>
              <a:t>(router)</a:t>
            </a:r>
            <a:r>
              <a:rPr lang="zh-CN" altLang="en-US" dirty="0"/>
              <a:t>。 </a:t>
            </a:r>
          </a:p>
        </p:txBody>
      </p:sp>
    </p:spTree>
    <p:extLst>
      <p:ext uri="{BB962C8B-B14F-4D97-AF65-F5344CB8AC3E}">
        <p14:creationId xmlns:p14="http://schemas.microsoft.com/office/powerpoint/2010/main" val="1797108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Internet</a:t>
            </a:r>
            <a:r>
              <a:rPr lang="zh-CN" altLang="en-US" dirty="0"/>
              <a:t>的组成：分组交换</a:t>
            </a:r>
          </a:p>
        </p:txBody>
      </p:sp>
      <p:sp>
        <p:nvSpPr>
          <p:cNvPr id="353283" name="Rectangle 3"/>
          <p:cNvSpPr>
            <a:spLocks noGrp="1" noChangeArrowheads="1"/>
          </p:cNvSpPr>
          <p:nvPr>
            <p:ph idx="1"/>
          </p:nvPr>
        </p:nvSpPr>
        <p:spPr/>
        <p:txBody>
          <a:bodyPr/>
          <a:lstStyle/>
          <a:p>
            <a:r>
              <a:rPr lang="zh-CN" altLang="en-US" dirty="0"/>
              <a:t>路由器是实现</a:t>
            </a:r>
            <a:r>
              <a:rPr lang="zh-CN" altLang="en-US" dirty="0">
                <a:solidFill>
                  <a:srgbClr val="FF0000"/>
                </a:solidFill>
              </a:rPr>
              <a:t>分组</a:t>
            </a:r>
            <a:r>
              <a:rPr lang="zh-CN" altLang="en-US" dirty="0">
                <a:solidFill>
                  <a:srgbClr val="00B050"/>
                </a:solidFill>
              </a:rPr>
              <a:t>交换</a:t>
            </a:r>
            <a:r>
              <a:rPr lang="zh-CN" altLang="en-US" dirty="0">
                <a:solidFill>
                  <a:srgbClr val="FF0000"/>
                </a:solidFill>
              </a:rPr>
              <a:t> </a:t>
            </a:r>
            <a:r>
              <a:rPr lang="en-US" altLang="zh-CN" dirty="0"/>
              <a:t>(packet switching) </a:t>
            </a:r>
            <a:r>
              <a:rPr lang="zh-CN" altLang="en-US" dirty="0"/>
              <a:t>的关键构件，其任务是</a:t>
            </a:r>
            <a:r>
              <a:rPr lang="zh-CN" altLang="en-US" dirty="0">
                <a:solidFill>
                  <a:srgbClr val="0070C0"/>
                </a:solidFill>
              </a:rPr>
              <a:t>转发</a:t>
            </a:r>
            <a:r>
              <a:rPr lang="zh-CN" altLang="en-US" dirty="0"/>
              <a:t>收到的分组，这是网络核心部分最重要的功能。</a:t>
            </a:r>
            <a:endParaRPr lang="en-US" altLang="zh-CN" dirty="0"/>
          </a:p>
        </p:txBody>
      </p:sp>
    </p:spTree>
    <p:extLst>
      <p:ext uri="{BB962C8B-B14F-4D97-AF65-F5344CB8AC3E}">
        <p14:creationId xmlns:p14="http://schemas.microsoft.com/office/powerpoint/2010/main" val="2991805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Internet</a:t>
            </a:r>
            <a:r>
              <a:rPr lang="zh-CN" altLang="en-US" dirty="0"/>
              <a:t>的组成：分组交换</a:t>
            </a:r>
          </a:p>
        </p:txBody>
      </p:sp>
      <p:sp>
        <p:nvSpPr>
          <p:cNvPr id="353283" name="Rectangle 3"/>
          <p:cNvSpPr>
            <a:spLocks noGrp="1" noChangeArrowheads="1"/>
          </p:cNvSpPr>
          <p:nvPr>
            <p:ph idx="1"/>
          </p:nvPr>
        </p:nvSpPr>
        <p:spPr/>
        <p:txBody>
          <a:bodyPr/>
          <a:lstStyle/>
          <a:p>
            <a:r>
              <a:rPr lang="zh-CN" altLang="en-US" dirty="0"/>
              <a:t>路由器是实现</a:t>
            </a:r>
            <a:r>
              <a:rPr lang="zh-CN" altLang="en-US" dirty="0">
                <a:solidFill>
                  <a:srgbClr val="FF0000"/>
                </a:solidFill>
              </a:rPr>
              <a:t>分组</a:t>
            </a:r>
            <a:r>
              <a:rPr lang="zh-CN" altLang="en-US" dirty="0">
                <a:solidFill>
                  <a:srgbClr val="00B050"/>
                </a:solidFill>
              </a:rPr>
              <a:t>交换</a:t>
            </a:r>
            <a:r>
              <a:rPr lang="zh-CN" altLang="en-US" dirty="0">
                <a:solidFill>
                  <a:srgbClr val="FF0000"/>
                </a:solidFill>
              </a:rPr>
              <a:t> </a:t>
            </a:r>
            <a:r>
              <a:rPr lang="en-US" altLang="zh-CN" dirty="0"/>
              <a:t>(packet switching) </a:t>
            </a:r>
            <a:r>
              <a:rPr lang="zh-CN" altLang="en-US" dirty="0"/>
              <a:t>的关键构件，其任务是</a:t>
            </a:r>
            <a:r>
              <a:rPr lang="zh-CN" altLang="en-US" dirty="0">
                <a:solidFill>
                  <a:srgbClr val="0070C0"/>
                </a:solidFill>
              </a:rPr>
              <a:t>转发</a:t>
            </a:r>
            <a:r>
              <a:rPr lang="zh-CN" altLang="en-US" dirty="0"/>
              <a:t>收到的分组，这是网络核心部分最重要的功能。</a:t>
            </a:r>
            <a:endParaRPr lang="en-US" altLang="zh-CN" dirty="0"/>
          </a:p>
        </p:txBody>
      </p:sp>
      <p:sp>
        <p:nvSpPr>
          <p:cNvPr id="2" name="文本框 1"/>
          <p:cNvSpPr txBox="1"/>
          <p:nvPr/>
        </p:nvSpPr>
        <p:spPr>
          <a:xfrm>
            <a:off x="869402" y="3103062"/>
            <a:ext cx="6676828" cy="523220"/>
          </a:xfrm>
          <a:prstGeom prst="rect">
            <a:avLst/>
          </a:prstGeom>
          <a:noFill/>
        </p:spPr>
        <p:txBody>
          <a:bodyPr wrap="none" rtlCol="0">
            <a:spAutoFit/>
          </a:bodyPr>
          <a:lstStyle/>
          <a:p>
            <a:r>
              <a:rPr lang="zh-CN" altLang="en-US" sz="2800" b="1" dirty="0">
                <a:solidFill>
                  <a:srgbClr val="00B050"/>
                </a:solidFill>
                <a:latin typeface="黑体" panose="02010609060101010101" pitchFamily="49" charset="-122"/>
                <a:ea typeface="黑体" panose="02010609060101010101" pitchFamily="49" charset="-122"/>
              </a:rPr>
              <a:t>交换：从物理的角度提高链路资源利用率</a:t>
            </a:r>
          </a:p>
        </p:txBody>
      </p:sp>
      <p:sp>
        <p:nvSpPr>
          <p:cNvPr id="5" name="Line 9"/>
          <p:cNvSpPr>
            <a:spLocks noChangeShapeType="1"/>
          </p:cNvSpPr>
          <p:nvPr/>
        </p:nvSpPr>
        <p:spPr bwMode="auto">
          <a:xfrm flipV="1">
            <a:off x="862146" y="4224361"/>
            <a:ext cx="1499658" cy="7334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 name="Line 10"/>
          <p:cNvSpPr>
            <a:spLocks noChangeShapeType="1"/>
          </p:cNvSpPr>
          <p:nvPr/>
        </p:nvSpPr>
        <p:spPr bwMode="auto">
          <a:xfrm>
            <a:off x="2511426" y="4262461"/>
            <a:ext cx="1664758" cy="7731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11"/>
          <p:cNvSpPr>
            <a:spLocks noChangeShapeType="1"/>
          </p:cNvSpPr>
          <p:nvPr/>
        </p:nvSpPr>
        <p:spPr bwMode="auto">
          <a:xfrm>
            <a:off x="709084" y="5006998"/>
            <a:ext cx="928688" cy="954087"/>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Line 12"/>
          <p:cNvSpPr>
            <a:spLocks noChangeShapeType="1"/>
          </p:cNvSpPr>
          <p:nvPr/>
        </p:nvSpPr>
        <p:spPr bwMode="auto">
          <a:xfrm flipV="1">
            <a:off x="1761597" y="6030935"/>
            <a:ext cx="1358635"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13"/>
          <p:cNvSpPr>
            <a:spLocks noChangeShapeType="1"/>
          </p:cNvSpPr>
          <p:nvPr/>
        </p:nvSpPr>
        <p:spPr bwMode="auto">
          <a:xfrm flipV="1">
            <a:off x="3209661" y="5002235"/>
            <a:ext cx="969963" cy="93980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 name="Line 14"/>
          <p:cNvSpPr>
            <a:spLocks noChangeShapeType="1"/>
          </p:cNvSpPr>
          <p:nvPr/>
        </p:nvSpPr>
        <p:spPr bwMode="auto">
          <a:xfrm>
            <a:off x="2418557" y="4260873"/>
            <a:ext cx="679318" cy="1770062"/>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5"/>
          <p:cNvSpPr>
            <a:spLocks noChangeShapeType="1"/>
          </p:cNvSpPr>
          <p:nvPr/>
        </p:nvSpPr>
        <p:spPr bwMode="auto">
          <a:xfrm flipH="1">
            <a:off x="1744399" y="4278335"/>
            <a:ext cx="527977" cy="17414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16"/>
          <p:cNvSpPr>
            <a:spLocks noChangeShapeType="1"/>
          </p:cNvSpPr>
          <p:nvPr/>
        </p:nvSpPr>
        <p:spPr bwMode="auto">
          <a:xfrm>
            <a:off x="891382" y="4999060"/>
            <a:ext cx="3231489" cy="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17"/>
          <p:cNvSpPr>
            <a:spLocks noChangeShapeType="1"/>
          </p:cNvSpPr>
          <p:nvPr/>
        </p:nvSpPr>
        <p:spPr bwMode="auto">
          <a:xfrm>
            <a:off x="710804" y="5002235"/>
            <a:ext cx="2387071" cy="100965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8"/>
          <p:cNvSpPr>
            <a:spLocks noChangeShapeType="1"/>
          </p:cNvSpPr>
          <p:nvPr/>
        </p:nvSpPr>
        <p:spPr bwMode="auto">
          <a:xfrm flipV="1">
            <a:off x="1795993" y="5049860"/>
            <a:ext cx="2302802" cy="96678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 name="Group 20"/>
          <p:cNvGrpSpPr>
            <a:grpSpLocks/>
          </p:cNvGrpSpPr>
          <p:nvPr/>
        </p:nvGrpSpPr>
        <p:grpSpPr bwMode="auto">
          <a:xfrm>
            <a:off x="344488" y="3821136"/>
            <a:ext cx="4239286" cy="2416176"/>
            <a:chOff x="1824" y="1570"/>
            <a:chExt cx="2465" cy="1522"/>
          </a:xfrm>
        </p:grpSpPr>
        <p:sp>
          <p:nvSpPr>
            <p:cNvPr id="16" name="Text Box 4"/>
            <p:cNvSpPr txBox="1">
              <a:spLocks noChangeArrowheads="1"/>
            </p:cNvSpPr>
            <p:nvPr/>
          </p:nvSpPr>
          <p:spPr bwMode="auto">
            <a:xfrm>
              <a:off x="2792" y="1570"/>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17" name="Text Box 5"/>
            <p:cNvSpPr txBox="1">
              <a:spLocks noChangeArrowheads="1"/>
            </p:cNvSpPr>
            <p:nvPr/>
          </p:nvSpPr>
          <p:spPr bwMode="auto">
            <a:xfrm>
              <a:off x="1824" y="2058"/>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Wingdings" pitchFamily="2" charset="2"/>
                </a:rPr>
                <a:t></a:t>
              </a:r>
              <a:r>
                <a:rPr kumimoji="1" lang="en-US" altLang="zh-CN" sz="3600" dirty="0">
                  <a:latin typeface="Times New Roman" pitchFamily="18" charset="0"/>
                </a:rPr>
                <a:t> </a:t>
              </a:r>
            </a:p>
          </p:txBody>
        </p:sp>
        <p:sp>
          <p:nvSpPr>
            <p:cNvPr id="18" name="Text Box 7"/>
            <p:cNvSpPr txBox="1">
              <a:spLocks noChangeArrowheads="1"/>
            </p:cNvSpPr>
            <p:nvPr/>
          </p:nvSpPr>
          <p:spPr bwMode="auto">
            <a:xfrm>
              <a:off x="3824" y="2058"/>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Wingdings" pitchFamily="2" charset="2"/>
                </a:rPr>
                <a:t></a:t>
              </a:r>
              <a:r>
                <a:rPr kumimoji="1" lang="en-US" altLang="zh-CN" sz="3600" dirty="0">
                  <a:latin typeface="Times New Roman" pitchFamily="18" charset="0"/>
                </a:rPr>
                <a:t> </a:t>
              </a:r>
            </a:p>
          </p:txBody>
        </p:sp>
        <p:sp>
          <p:nvSpPr>
            <p:cNvPr id="19" name="Text Box 8"/>
            <p:cNvSpPr txBox="1">
              <a:spLocks noChangeArrowheads="1"/>
            </p:cNvSpPr>
            <p:nvPr/>
          </p:nvSpPr>
          <p:spPr bwMode="auto">
            <a:xfrm>
              <a:off x="3244" y="2685"/>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0" name="Text Box 6"/>
            <p:cNvSpPr txBox="1">
              <a:spLocks noChangeArrowheads="1"/>
            </p:cNvSpPr>
            <p:nvPr/>
          </p:nvSpPr>
          <p:spPr bwMode="auto">
            <a:xfrm>
              <a:off x="2405" y="2685"/>
              <a:ext cx="4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Wingdings" pitchFamily="2" charset="2"/>
                </a:rPr>
                <a:t></a:t>
              </a:r>
              <a:r>
                <a:rPr kumimoji="1" lang="en-US" altLang="zh-CN" sz="3600" dirty="0">
                  <a:latin typeface="Times New Roman" pitchFamily="18" charset="0"/>
                </a:rPr>
                <a:t> </a:t>
              </a:r>
            </a:p>
          </p:txBody>
        </p:sp>
      </p:grpSp>
      <p:sp>
        <p:nvSpPr>
          <p:cNvPr id="26" name="Text Box 8"/>
          <p:cNvSpPr txBox="1">
            <a:spLocks noChangeArrowheads="1"/>
          </p:cNvSpPr>
          <p:nvPr/>
        </p:nvSpPr>
        <p:spPr bwMode="auto">
          <a:xfrm>
            <a:off x="7346061" y="3683624"/>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7" name="Text Box 9"/>
          <p:cNvSpPr txBox="1">
            <a:spLocks noChangeArrowheads="1"/>
          </p:cNvSpPr>
          <p:nvPr/>
        </p:nvSpPr>
        <p:spPr bwMode="auto">
          <a:xfrm>
            <a:off x="5717418" y="4352728"/>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Wingdings" pitchFamily="2" charset="2"/>
              </a:rPr>
              <a:t></a:t>
            </a:r>
            <a:r>
              <a:rPr kumimoji="1" lang="en-US" altLang="zh-CN" sz="3600" dirty="0">
                <a:latin typeface="Times New Roman" pitchFamily="18" charset="0"/>
              </a:rPr>
              <a:t> </a:t>
            </a:r>
          </a:p>
        </p:txBody>
      </p:sp>
      <p:sp>
        <p:nvSpPr>
          <p:cNvPr id="28" name="Text Box 10"/>
          <p:cNvSpPr txBox="1">
            <a:spLocks noChangeArrowheads="1"/>
          </p:cNvSpPr>
          <p:nvPr/>
        </p:nvSpPr>
        <p:spPr bwMode="auto">
          <a:xfrm>
            <a:off x="6044178" y="5969624"/>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a:latin typeface="Times New Roman" pitchFamily="18" charset="0"/>
                <a:sym typeface="Wingdings" pitchFamily="2" charset="2"/>
              </a:rPr>
              <a:t></a:t>
            </a:r>
            <a:r>
              <a:rPr kumimoji="1" lang="en-US" altLang="zh-CN" sz="3600">
                <a:latin typeface="Times New Roman" pitchFamily="18" charset="0"/>
              </a:rPr>
              <a:t> </a:t>
            </a:r>
          </a:p>
        </p:txBody>
      </p:sp>
      <p:sp>
        <p:nvSpPr>
          <p:cNvPr id="29" name="Text Box 11"/>
          <p:cNvSpPr txBox="1">
            <a:spLocks noChangeArrowheads="1"/>
          </p:cNvSpPr>
          <p:nvPr/>
        </p:nvSpPr>
        <p:spPr bwMode="auto">
          <a:xfrm>
            <a:off x="8949611" y="4352729"/>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Wingdings" pitchFamily="2" charset="2"/>
              </a:rPr>
              <a:t></a:t>
            </a:r>
            <a:r>
              <a:rPr kumimoji="1" lang="en-US" altLang="zh-CN" sz="3600" dirty="0">
                <a:latin typeface="Times New Roman" pitchFamily="18" charset="0"/>
              </a:rPr>
              <a:t> </a:t>
            </a:r>
          </a:p>
        </p:txBody>
      </p:sp>
      <p:sp>
        <p:nvSpPr>
          <p:cNvPr id="30" name="Text Box 12"/>
          <p:cNvSpPr txBox="1">
            <a:spLocks noChangeArrowheads="1"/>
          </p:cNvSpPr>
          <p:nvPr/>
        </p:nvSpPr>
        <p:spPr bwMode="auto">
          <a:xfrm>
            <a:off x="8368133" y="6019823"/>
            <a:ext cx="8002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600" dirty="0">
                <a:latin typeface="Times New Roman" pitchFamily="18" charset="0"/>
                <a:sym typeface="Wingdings" pitchFamily="2" charset="2"/>
              </a:rPr>
              <a:t></a:t>
            </a:r>
            <a:r>
              <a:rPr kumimoji="1" lang="en-US" altLang="zh-CN" sz="3600" dirty="0">
                <a:latin typeface="Times New Roman" pitchFamily="18" charset="0"/>
              </a:rPr>
              <a:t> </a:t>
            </a:r>
          </a:p>
        </p:txBody>
      </p:sp>
      <p:sp>
        <p:nvSpPr>
          <p:cNvPr id="31" name="Line 13"/>
          <p:cNvSpPr>
            <a:spLocks noChangeShapeType="1"/>
          </p:cNvSpPr>
          <p:nvPr/>
        </p:nvSpPr>
        <p:spPr bwMode="auto">
          <a:xfrm flipH="1" flipV="1">
            <a:off x="7698618" y="4026524"/>
            <a:ext cx="13758" cy="1155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14"/>
          <p:cNvSpPr>
            <a:spLocks noChangeShapeType="1"/>
          </p:cNvSpPr>
          <p:nvPr/>
        </p:nvSpPr>
        <p:spPr bwMode="auto">
          <a:xfrm flipV="1">
            <a:off x="8089013" y="4736463"/>
            <a:ext cx="1079340" cy="5553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15"/>
          <p:cNvSpPr>
            <a:spLocks noChangeShapeType="1"/>
          </p:cNvSpPr>
          <p:nvPr/>
        </p:nvSpPr>
        <p:spPr bwMode="auto">
          <a:xfrm>
            <a:off x="6078574" y="4684350"/>
            <a:ext cx="1258888" cy="59629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6"/>
          <p:cNvSpPr>
            <a:spLocks noChangeShapeType="1"/>
          </p:cNvSpPr>
          <p:nvPr/>
        </p:nvSpPr>
        <p:spPr bwMode="auto">
          <a:xfrm flipV="1">
            <a:off x="6450050" y="5539412"/>
            <a:ext cx="1014677" cy="863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17"/>
          <p:cNvSpPr>
            <a:spLocks noChangeShapeType="1"/>
          </p:cNvSpPr>
          <p:nvPr/>
        </p:nvSpPr>
        <p:spPr bwMode="auto">
          <a:xfrm flipH="1" flipV="1">
            <a:off x="7621228" y="5321924"/>
            <a:ext cx="921808" cy="9350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AutoShape 18"/>
          <p:cNvSpPr>
            <a:spLocks noChangeArrowheads="1"/>
          </p:cNvSpPr>
          <p:nvPr/>
        </p:nvSpPr>
        <p:spPr bwMode="auto">
          <a:xfrm>
            <a:off x="7115609" y="4890124"/>
            <a:ext cx="1284684" cy="730250"/>
          </a:xfrm>
          <a:prstGeom prst="cube">
            <a:avLst>
              <a:gd name="adj" fmla="val 25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sz="2400">
              <a:solidFill>
                <a:srgbClr val="333399"/>
              </a:solidFill>
              <a:latin typeface="Times New Roman" pitchFamily="18" charset="0"/>
            </a:endParaRPr>
          </a:p>
        </p:txBody>
      </p:sp>
      <p:sp>
        <p:nvSpPr>
          <p:cNvPr id="41" name="Text Box 24"/>
          <p:cNvSpPr txBox="1">
            <a:spLocks noChangeArrowheads="1"/>
          </p:cNvSpPr>
          <p:nvPr/>
        </p:nvSpPr>
        <p:spPr bwMode="auto">
          <a:xfrm>
            <a:off x="7101851" y="5083799"/>
            <a:ext cx="1107996" cy="46166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Times New Roman" pitchFamily="18" charset="0"/>
                <a:ea typeface="黑体" pitchFamily="2" charset="-122"/>
              </a:rPr>
              <a:t>交换机</a:t>
            </a:r>
          </a:p>
        </p:txBody>
      </p:sp>
      <p:sp>
        <p:nvSpPr>
          <p:cNvPr id="3" name="右箭头 2"/>
          <p:cNvSpPr/>
          <p:nvPr/>
        </p:nvSpPr>
        <p:spPr bwMode="auto">
          <a:xfrm>
            <a:off x="4622283" y="5163175"/>
            <a:ext cx="873282" cy="54749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131625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Internet</a:t>
            </a:r>
            <a:r>
              <a:rPr lang="zh-CN" altLang="en-US" dirty="0"/>
              <a:t>的组成：分组交换</a:t>
            </a:r>
          </a:p>
        </p:txBody>
      </p:sp>
      <p:sp>
        <p:nvSpPr>
          <p:cNvPr id="353283" name="Rectangle 3"/>
          <p:cNvSpPr>
            <a:spLocks noGrp="1" noChangeArrowheads="1"/>
          </p:cNvSpPr>
          <p:nvPr>
            <p:ph idx="1"/>
          </p:nvPr>
        </p:nvSpPr>
        <p:spPr/>
        <p:txBody>
          <a:bodyPr/>
          <a:lstStyle/>
          <a:p>
            <a:r>
              <a:rPr lang="zh-CN" altLang="en-US" dirty="0"/>
              <a:t>路由器是实现</a:t>
            </a:r>
            <a:r>
              <a:rPr lang="zh-CN" altLang="en-US" dirty="0">
                <a:solidFill>
                  <a:srgbClr val="FF0000"/>
                </a:solidFill>
              </a:rPr>
              <a:t>分组</a:t>
            </a:r>
            <a:r>
              <a:rPr lang="zh-CN" altLang="en-US" dirty="0">
                <a:solidFill>
                  <a:srgbClr val="00B050"/>
                </a:solidFill>
              </a:rPr>
              <a:t>交换</a:t>
            </a:r>
            <a:r>
              <a:rPr lang="zh-CN" altLang="en-US" dirty="0">
                <a:solidFill>
                  <a:srgbClr val="FF0000"/>
                </a:solidFill>
              </a:rPr>
              <a:t> </a:t>
            </a:r>
            <a:r>
              <a:rPr lang="en-US" altLang="zh-CN" dirty="0"/>
              <a:t>(packet switching) </a:t>
            </a:r>
            <a:r>
              <a:rPr lang="zh-CN" altLang="en-US" dirty="0"/>
              <a:t>的关键构件，其任务是</a:t>
            </a:r>
            <a:r>
              <a:rPr lang="zh-CN" altLang="en-US" dirty="0">
                <a:solidFill>
                  <a:srgbClr val="0070C0"/>
                </a:solidFill>
              </a:rPr>
              <a:t>转发</a:t>
            </a:r>
            <a:r>
              <a:rPr lang="zh-CN" altLang="en-US" dirty="0"/>
              <a:t>收到的分组，这是网络核心部分最重要的功能。</a:t>
            </a:r>
            <a:endParaRPr lang="en-US" altLang="zh-CN" dirty="0"/>
          </a:p>
        </p:txBody>
      </p:sp>
      <p:sp>
        <p:nvSpPr>
          <p:cNvPr id="2" name="文本框 1"/>
          <p:cNvSpPr txBox="1"/>
          <p:nvPr/>
        </p:nvSpPr>
        <p:spPr>
          <a:xfrm>
            <a:off x="869402" y="3103062"/>
            <a:ext cx="7398179" cy="523220"/>
          </a:xfrm>
          <a:prstGeom prst="rect">
            <a:avLst/>
          </a:prstGeom>
          <a:noFill/>
        </p:spPr>
        <p:txBody>
          <a:bodyPr wrap="none" rtlCol="0">
            <a:spAutoFit/>
          </a:bodyPr>
          <a:lstStyle/>
          <a:p>
            <a:r>
              <a:rPr lang="zh-CN" altLang="en-US" sz="2800" b="1" dirty="0">
                <a:solidFill>
                  <a:srgbClr val="0070C0"/>
                </a:solidFill>
                <a:latin typeface="黑体" panose="02010609060101010101" pitchFamily="49" charset="-122"/>
                <a:ea typeface="黑体" panose="02010609060101010101" pitchFamily="49" charset="-122"/>
              </a:rPr>
              <a:t>存储转发：不要求连接，从而提高链路利用率</a:t>
            </a:r>
          </a:p>
        </p:txBody>
      </p:sp>
      <p:sp>
        <p:nvSpPr>
          <p:cNvPr id="36" name="Line 145"/>
          <p:cNvSpPr>
            <a:spLocks noChangeShapeType="1"/>
          </p:cNvSpPr>
          <p:nvPr/>
        </p:nvSpPr>
        <p:spPr bwMode="auto">
          <a:xfrm>
            <a:off x="6129610" y="5227115"/>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146"/>
          <p:cNvSpPr>
            <a:spLocks noChangeShapeType="1"/>
          </p:cNvSpPr>
          <p:nvPr/>
        </p:nvSpPr>
        <p:spPr bwMode="auto">
          <a:xfrm>
            <a:off x="2100754" y="5227115"/>
            <a:ext cx="1816100"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 name="Group 147"/>
          <p:cNvGrpSpPr>
            <a:grpSpLocks/>
          </p:cNvGrpSpPr>
          <p:nvPr/>
        </p:nvGrpSpPr>
        <p:grpSpPr bwMode="auto">
          <a:xfrm>
            <a:off x="2018204" y="5074715"/>
            <a:ext cx="2063750" cy="228600"/>
            <a:chOff x="768" y="2544"/>
            <a:chExt cx="1200" cy="144"/>
          </a:xfrm>
        </p:grpSpPr>
        <p:sp>
          <p:nvSpPr>
            <p:cNvPr id="39"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45" name="Group 152"/>
          <p:cNvGrpSpPr>
            <a:grpSpLocks/>
          </p:cNvGrpSpPr>
          <p:nvPr/>
        </p:nvGrpSpPr>
        <p:grpSpPr bwMode="auto">
          <a:xfrm>
            <a:off x="6047060" y="5074715"/>
            <a:ext cx="2063750" cy="228600"/>
            <a:chOff x="768" y="2544"/>
            <a:chExt cx="1200" cy="144"/>
          </a:xfrm>
        </p:grpSpPr>
        <p:sp>
          <p:nvSpPr>
            <p:cNvPr id="46"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0" name="AutoShape 162"/>
          <p:cNvSpPr>
            <a:spLocks noChangeArrowheads="1"/>
          </p:cNvSpPr>
          <p:nvPr/>
        </p:nvSpPr>
        <p:spPr bwMode="auto">
          <a:xfrm>
            <a:off x="6047060" y="4693715"/>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AutoShape 163"/>
          <p:cNvSpPr>
            <a:spLocks noChangeArrowheads="1"/>
          </p:cNvSpPr>
          <p:nvPr/>
        </p:nvSpPr>
        <p:spPr bwMode="auto">
          <a:xfrm>
            <a:off x="6748735" y="4693715"/>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AutoShape 164"/>
          <p:cNvSpPr>
            <a:spLocks noChangeArrowheads="1"/>
          </p:cNvSpPr>
          <p:nvPr/>
        </p:nvSpPr>
        <p:spPr bwMode="auto">
          <a:xfrm>
            <a:off x="7450410" y="4693715"/>
            <a:ext cx="742950" cy="304800"/>
          </a:xfrm>
          <a:prstGeom prst="curvedDownArrow">
            <a:avLst>
              <a:gd name="adj1" fmla="val 49271"/>
              <a:gd name="adj2" fmla="val 94271"/>
              <a:gd name="adj3" fmla="val 52602"/>
            </a:avLst>
          </a:prstGeom>
          <a:solidFill>
            <a:srgbClr val="DDDDDD"/>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AutoShape 165"/>
          <p:cNvSpPr>
            <a:spLocks noChangeArrowheads="1"/>
          </p:cNvSpPr>
          <p:nvPr/>
        </p:nvSpPr>
        <p:spPr bwMode="auto">
          <a:xfrm>
            <a:off x="2100754" y="4769915"/>
            <a:ext cx="2063750" cy="304800"/>
          </a:xfrm>
          <a:prstGeom prst="rightArrow">
            <a:avLst>
              <a:gd name="adj1" fmla="val 58333"/>
              <a:gd name="adj2" fmla="val 109375"/>
            </a:avLst>
          </a:prstGeom>
          <a:solidFill>
            <a:srgbClr val="969696"/>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169"/>
          <p:cNvSpPr txBox="1">
            <a:spLocks noChangeArrowheads="1"/>
          </p:cNvSpPr>
          <p:nvPr/>
        </p:nvSpPr>
        <p:spPr bwMode="auto">
          <a:xfrm>
            <a:off x="1280592" y="4636271"/>
            <a:ext cx="646331"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b="1" dirty="0">
                <a:solidFill>
                  <a:srgbClr val="FF0000"/>
                </a:solidFill>
                <a:latin typeface="Times New Roman" pitchFamily="18" charset="0"/>
              </a:rPr>
              <a:t>数据</a:t>
            </a:r>
            <a:endParaRPr kumimoji="1" lang="en-US" altLang="zh-CN" b="1" dirty="0">
              <a:solidFill>
                <a:srgbClr val="FF0000"/>
              </a:solidFill>
              <a:latin typeface="Times New Roman" pitchFamily="18" charset="0"/>
            </a:endParaRPr>
          </a:p>
          <a:p>
            <a:pPr algn="ctr">
              <a:lnSpc>
                <a:spcPct val="90000"/>
              </a:lnSpc>
            </a:pPr>
            <a:r>
              <a:rPr kumimoji="1" lang="zh-CN" altLang="en-US" b="1" dirty="0">
                <a:solidFill>
                  <a:srgbClr val="FF0000"/>
                </a:solidFill>
                <a:latin typeface="Times New Roman" pitchFamily="18" charset="0"/>
              </a:rPr>
              <a:t>传送</a:t>
            </a:r>
          </a:p>
          <a:p>
            <a:pPr algn="ctr">
              <a:lnSpc>
                <a:spcPct val="90000"/>
              </a:lnSpc>
            </a:pPr>
            <a:r>
              <a:rPr kumimoji="1" lang="zh-CN" altLang="en-US" b="1" dirty="0">
                <a:solidFill>
                  <a:srgbClr val="FF0000"/>
                </a:solidFill>
                <a:latin typeface="Times New Roman" pitchFamily="18" charset="0"/>
              </a:rPr>
              <a:t>特点</a:t>
            </a:r>
          </a:p>
        </p:txBody>
      </p:sp>
      <p:sp>
        <p:nvSpPr>
          <p:cNvPr id="55" name="Text Box 170"/>
          <p:cNvSpPr txBox="1">
            <a:spLocks noChangeArrowheads="1"/>
          </p:cNvSpPr>
          <p:nvPr/>
        </p:nvSpPr>
        <p:spPr bwMode="auto">
          <a:xfrm>
            <a:off x="2061199" y="4488929"/>
            <a:ext cx="1800493"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itchFamily="18" charset="0"/>
              </a:rPr>
              <a:t>比特流直达终点</a:t>
            </a:r>
          </a:p>
        </p:txBody>
      </p:sp>
      <p:sp>
        <p:nvSpPr>
          <p:cNvPr id="56" name="Text Box 171"/>
          <p:cNvSpPr txBox="1">
            <a:spLocks noChangeArrowheads="1"/>
          </p:cNvSpPr>
          <p:nvPr/>
        </p:nvSpPr>
        <p:spPr bwMode="auto">
          <a:xfrm>
            <a:off x="6047060" y="4365104"/>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FF0000"/>
                </a:solidFill>
                <a:latin typeface="Times New Roman" pitchFamily="18" charset="0"/>
              </a:rPr>
              <a:t>报文</a:t>
            </a:r>
          </a:p>
        </p:txBody>
      </p:sp>
      <p:sp>
        <p:nvSpPr>
          <p:cNvPr id="57" name="Text Box 172"/>
          <p:cNvSpPr txBox="1">
            <a:spLocks noChangeArrowheads="1"/>
          </p:cNvSpPr>
          <p:nvPr/>
        </p:nvSpPr>
        <p:spPr bwMode="auto">
          <a:xfrm>
            <a:off x="6759054" y="4365104"/>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itchFamily="18" charset="0"/>
              </a:rPr>
              <a:t>报文</a:t>
            </a:r>
          </a:p>
        </p:txBody>
      </p:sp>
      <p:sp>
        <p:nvSpPr>
          <p:cNvPr id="58" name="Text Box 173"/>
          <p:cNvSpPr txBox="1">
            <a:spLocks noChangeArrowheads="1"/>
          </p:cNvSpPr>
          <p:nvPr/>
        </p:nvSpPr>
        <p:spPr bwMode="auto">
          <a:xfrm>
            <a:off x="7471047" y="4365104"/>
            <a:ext cx="64633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FF0000"/>
                </a:solidFill>
                <a:latin typeface="Times New Roman" pitchFamily="18" charset="0"/>
              </a:rPr>
              <a:t>报文</a:t>
            </a:r>
          </a:p>
        </p:txBody>
      </p:sp>
      <p:sp>
        <p:nvSpPr>
          <p:cNvPr id="59" name="Text Box 177"/>
          <p:cNvSpPr txBox="1">
            <a:spLocks noChangeArrowheads="1"/>
          </p:cNvSpPr>
          <p:nvPr/>
        </p:nvSpPr>
        <p:spPr bwMode="auto">
          <a:xfrm>
            <a:off x="6427134" y="5303315"/>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dirty="0">
                <a:latin typeface="Times New Roman" pitchFamily="18" charset="0"/>
              </a:rPr>
              <a:t>存储</a:t>
            </a:r>
          </a:p>
          <a:p>
            <a:pPr>
              <a:lnSpc>
                <a:spcPct val="90000"/>
              </a:lnSpc>
            </a:pPr>
            <a:r>
              <a:rPr kumimoji="1" lang="zh-CN" altLang="en-US" sz="1600" b="1" dirty="0">
                <a:latin typeface="Times New Roman" pitchFamily="18" charset="0"/>
              </a:rPr>
              <a:t>转发</a:t>
            </a:r>
          </a:p>
        </p:txBody>
      </p:sp>
      <p:sp>
        <p:nvSpPr>
          <p:cNvPr id="60" name="Text Box 178"/>
          <p:cNvSpPr txBox="1">
            <a:spLocks noChangeArrowheads="1"/>
          </p:cNvSpPr>
          <p:nvPr/>
        </p:nvSpPr>
        <p:spPr bwMode="auto">
          <a:xfrm>
            <a:off x="7058297" y="5303315"/>
            <a:ext cx="5950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600" b="1">
                <a:latin typeface="Times New Roman" pitchFamily="18" charset="0"/>
              </a:rPr>
              <a:t>存储</a:t>
            </a:r>
          </a:p>
          <a:p>
            <a:pPr>
              <a:lnSpc>
                <a:spcPct val="90000"/>
              </a:lnSpc>
            </a:pPr>
            <a:r>
              <a:rPr kumimoji="1" lang="zh-CN" altLang="en-US" sz="1600" b="1">
                <a:latin typeface="Times New Roman" pitchFamily="18" charset="0"/>
              </a:rPr>
              <a:t>转发</a:t>
            </a:r>
          </a:p>
        </p:txBody>
      </p:sp>
      <p:sp>
        <p:nvSpPr>
          <p:cNvPr id="61" name="右箭头 60"/>
          <p:cNvSpPr/>
          <p:nvPr/>
        </p:nvSpPr>
        <p:spPr bwMode="auto">
          <a:xfrm>
            <a:off x="4622283" y="5163175"/>
            <a:ext cx="873282" cy="54749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650441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p:txBody>
          <a:bodyPr/>
          <a:lstStyle/>
          <a:p>
            <a:r>
              <a:rPr lang="en-US" altLang="zh-CN" dirty="0"/>
              <a:t>Internet</a:t>
            </a:r>
            <a:r>
              <a:rPr lang="zh-CN" altLang="en-US" dirty="0"/>
              <a:t>的组成：分组交换</a:t>
            </a:r>
          </a:p>
        </p:txBody>
      </p:sp>
      <p:sp>
        <p:nvSpPr>
          <p:cNvPr id="353283" name="Rectangle 3"/>
          <p:cNvSpPr>
            <a:spLocks noGrp="1" noChangeArrowheads="1"/>
          </p:cNvSpPr>
          <p:nvPr>
            <p:ph idx="1"/>
          </p:nvPr>
        </p:nvSpPr>
        <p:spPr/>
        <p:txBody>
          <a:bodyPr/>
          <a:lstStyle/>
          <a:p>
            <a:r>
              <a:rPr lang="zh-CN" altLang="en-US" dirty="0"/>
              <a:t>路由器是实现</a:t>
            </a:r>
            <a:r>
              <a:rPr lang="zh-CN" altLang="en-US" dirty="0">
                <a:solidFill>
                  <a:srgbClr val="FF0000"/>
                </a:solidFill>
              </a:rPr>
              <a:t>分组</a:t>
            </a:r>
            <a:r>
              <a:rPr lang="zh-CN" altLang="en-US" dirty="0">
                <a:solidFill>
                  <a:srgbClr val="00B050"/>
                </a:solidFill>
              </a:rPr>
              <a:t>交换</a:t>
            </a:r>
            <a:r>
              <a:rPr lang="zh-CN" altLang="en-US" dirty="0">
                <a:solidFill>
                  <a:srgbClr val="FF0000"/>
                </a:solidFill>
              </a:rPr>
              <a:t> </a:t>
            </a:r>
            <a:r>
              <a:rPr lang="en-US" altLang="zh-CN" dirty="0"/>
              <a:t>(packet switching) </a:t>
            </a:r>
            <a:r>
              <a:rPr lang="zh-CN" altLang="en-US" dirty="0"/>
              <a:t>的关键构件，其任务是</a:t>
            </a:r>
            <a:r>
              <a:rPr lang="zh-CN" altLang="en-US" dirty="0">
                <a:solidFill>
                  <a:srgbClr val="0070C0"/>
                </a:solidFill>
              </a:rPr>
              <a:t>转发</a:t>
            </a:r>
            <a:r>
              <a:rPr lang="zh-CN" altLang="en-US" dirty="0"/>
              <a:t>收到的分组，这是网络核心部分最重要的功能。</a:t>
            </a:r>
            <a:endParaRPr lang="en-US" altLang="zh-CN" dirty="0"/>
          </a:p>
        </p:txBody>
      </p:sp>
      <p:sp>
        <p:nvSpPr>
          <p:cNvPr id="4" name="文本框 3"/>
          <p:cNvSpPr txBox="1"/>
          <p:nvPr/>
        </p:nvSpPr>
        <p:spPr>
          <a:xfrm>
            <a:off x="869402" y="3103062"/>
            <a:ext cx="6676828" cy="523220"/>
          </a:xfrm>
          <a:prstGeom prst="rect">
            <a:avLst/>
          </a:prstGeom>
          <a:noFill/>
        </p:spPr>
        <p:txBody>
          <a:bodyPr wrap="none" rtlCol="0">
            <a:spAutoFit/>
          </a:bodyPr>
          <a:lstStyle/>
          <a:p>
            <a:r>
              <a:rPr lang="zh-CN" altLang="en-US" sz="2800" b="1" dirty="0">
                <a:solidFill>
                  <a:srgbClr val="FF0000"/>
                </a:solidFill>
                <a:latin typeface="黑体" panose="02010609060101010101" pitchFamily="49" charset="-122"/>
                <a:ea typeface="黑体" panose="02010609060101010101" pitchFamily="49" charset="-122"/>
              </a:rPr>
              <a:t>分组：通过分隔报文，提高灵活性和效率</a:t>
            </a:r>
          </a:p>
        </p:txBody>
      </p:sp>
      <p:grpSp>
        <p:nvGrpSpPr>
          <p:cNvPr id="22" name="Group 22"/>
          <p:cNvGrpSpPr>
            <a:grpSpLocks/>
          </p:cNvGrpSpPr>
          <p:nvPr/>
        </p:nvGrpSpPr>
        <p:grpSpPr bwMode="auto">
          <a:xfrm>
            <a:off x="7008956" y="3587353"/>
            <a:ext cx="2497138" cy="993775"/>
            <a:chOff x="884" y="2078"/>
            <a:chExt cx="1452" cy="626"/>
          </a:xfrm>
        </p:grpSpPr>
        <p:sp>
          <p:nvSpPr>
            <p:cNvPr id="23" name="Rectangle 2"/>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itchFamily="34" charset="0"/>
                  <a:ea typeface="黑体" pitchFamily="2" charset="-122"/>
                </a:rPr>
                <a:t>数     据</a:t>
              </a:r>
            </a:p>
          </p:txBody>
        </p:sp>
        <p:sp>
          <p:nvSpPr>
            <p:cNvPr id="24" name="Rectangle 10"/>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itchFamily="34" charset="0"/>
                  <a:ea typeface="黑体" pitchFamily="2" charset="-122"/>
                </a:rPr>
                <a:t>首部</a:t>
              </a:r>
            </a:p>
          </p:txBody>
        </p:sp>
        <p:grpSp>
          <p:nvGrpSpPr>
            <p:cNvPr id="25" name="Group 13"/>
            <p:cNvGrpSpPr>
              <a:grpSpLocks/>
            </p:cNvGrpSpPr>
            <p:nvPr/>
          </p:nvGrpSpPr>
          <p:grpSpPr bwMode="auto">
            <a:xfrm>
              <a:off x="885" y="2078"/>
              <a:ext cx="1451" cy="308"/>
              <a:chOff x="1973" y="2532"/>
              <a:chExt cx="1451" cy="308"/>
            </a:xfrm>
          </p:grpSpPr>
          <p:sp>
            <p:nvSpPr>
              <p:cNvPr id="26"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27" name="Text Box 15"/>
              <p:cNvSpPr txBox="1">
                <a:spLocks noChangeArrowheads="1"/>
              </p:cNvSpPr>
              <p:nvPr/>
            </p:nvSpPr>
            <p:spPr bwMode="auto">
              <a:xfrm>
                <a:off x="2489" y="2532"/>
                <a:ext cx="52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itchFamily="34" charset="0"/>
                    <a:ea typeface="黑体" pitchFamily="2" charset="-122"/>
                  </a:rPr>
                  <a:t>分组</a:t>
                </a:r>
                <a:r>
                  <a:rPr lang="zh-CN" altLang="en-US" sz="1400" b="1">
                    <a:solidFill>
                      <a:srgbClr val="000099"/>
                    </a:solidFill>
                    <a:latin typeface="Tahoma" pitchFamily="34" charset="0"/>
                    <a:ea typeface="黑体" pitchFamily="2" charset="-122"/>
                  </a:rPr>
                  <a:t> </a:t>
                </a:r>
                <a:r>
                  <a:rPr lang="en-US" altLang="zh-CN" sz="2000" b="1">
                    <a:solidFill>
                      <a:srgbClr val="000099"/>
                    </a:solidFill>
                    <a:ea typeface="黑体" pitchFamily="2" charset="-122"/>
                  </a:rPr>
                  <a:t>1</a:t>
                </a:r>
              </a:p>
            </p:txBody>
          </p:sp>
        </p:grpSp>
      </p:grpSp>
      <p:grpSp>
        <p:nvGrpSpPr>
          <p:cNvPr id="28" name="Group 23"/>
          <p:cNvGrpSpPr>
            <a:grpSpLocks/>
          </p:cNvGrpSpPr>
          <p:nvPr/>
        </p:nvGrpSpPr>
        <p:grpSpPr bwMode="auto">
          <a:xfrm>
            <a:off x="7008096" y="4667473"/>
            <a:ext cx="2495417" cy="993775"/>
            <a:chOff x="1973" y="2623"/>
            <a:chExt cx="1451" cy="626"/>
          </a:xfrm>
        </p:grpSpPr>
        <p:sp>
          <p:nvSpPr>
            <p:cNvPr id="29" name="Rectangle 3"/>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itchFamily="34" charset="0"/>
                  <a:ea typeface="黑体" pitchFamily="2" charset="-122"/>
                </a:rPr>
                <a:t>数     据</a:t>
              </a:r>
            </a:p>
          </p:txBody>
        </p:sp>
        <p:sp>
          <p:nvSpPr>
            <p:cNvPr id="30" name="Rectangle 11"/>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itchFamily="34" charset="0"/>
                  <a:ea typeface="黑体" pitchFamily="2" charset="-122"/>
                </a:rPr>
                <a:t>首部</a:t>
              </a:r>
            </a:p>
          </p:txBody>
        </p:sp>
        <p:grpSp>
          <p:nvGrpSpPr>
            <p:cNvPr id="31" name="Group 16"/>
            <p:cNvGrpSpPr>
              <a:grpSpLocks/>
            </p:cNvGrpSpPr>
            <p:nvPr/>
          </p:nvGrpSpPr>
          <p:grpSpPr bwMode="auto">
            <a:xfrm>
              <a:off x="1973" y="2623"/>
              <a:ext cx="1451" cy="308"/>
              <a:chOff x="1973" y="2532"/>
              <a:chExt cx="1451" cy="308"/>
            </a:xfrm>
          </p:grpSpPr>
          <p:sp>
            <p:nvSpPr>
              <p:cNvPr id="32" name="AutoShape 1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3" name="Text Box 18"/>
              <p:cNvSpPr txBox="1">
                <a:spLocks noChangeArrowheads="1"/>
              </p:cNvSpPr>
              <p:nvPr/>
            </p:nvSpPr>
            <p:spPr bwMode="auto">
              <a:xfrm>
                <a:off x="2489" y="2532"/>
                <a:ext cx="509"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99"/>
                    </a:solidFill>
                    <a:latin typeface="Tahoma" pitchFamily="34" charset="0"/>
                    <a:ea typeface="黑体" pitchFamily="2" charset="-122"/>
                  </a:rPr>
                  <a:t>分组</a:t>
                </a:r>
                <a:r>
                  <a:rPr lang="zh-CN" altLang="en-US" sz="1000" b="1" dirty="0">
                    <a:solidFill>
                      <a:srgbClr val="000099"/>
                    </a:solidFill>
                    <a:ea typeface="黑体" pitchFamily="2" charset="-122"/>
                  </a:rPr>
                  <a:t> </a:t>
                </a:r>
                <a:r>
                  <a:rPr lang="en-US" altLang="zh-CN" sz="2000" b="1" dirty="0">
                    <a:solidFill>
                      <a:srgbClr val="000099"/>
                    </a:solidFill>
                    <a:ea typeface="黑体" pitchFamily="2" charset="-122"/>
                  </a:rPr>
                  <a:t>2</a:t>
                </a:r>
              </a:p>
            </p:txBody>
          </p:sp>
        </p:grpSp>
      </p:grpSp>
      <p:grpSp>
        <p:nvGrpSpPr>
          <p:cNvPr id="34" name="Group 24"/>
          <p:cNvGrpSpPr>
            <a:grpSpLocks/>
          </p:cNvGrpSpPr>
          <p:nvPr/>
        </p:nvGrpSpPr>
        <p:grpSpPr bwMode="auto">
          <a:xfrm>
            <a:off x="7008096" y="5733256"/>
            <a:ext cx="2502296" cy="981075"/>
            <a:chOff x="3061" y="3167"/>
            <a:chExt cx="1455" cy="618"/>
          </a:xfrm>
        </p:grpSpPr>
        <p:sp>
          <p:nvSpPr>
            <p:cNvPr id="35" name="Rectangle 4"/>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000099"/>
                  </a:solidFill>
                  <a:latin typeface="Tahoma" pitchFamily="34" charset="0"/>
                  <a:ea typeface="黑体" pitchFamily="2" charset="-122"/>
                </a:rPr>
                <a:t>数     据</a:t>
              </a:r>
            </a:p>
          </p:txBody>
        </p:sp>
        <p:sp>
          <p:nvSpPr>
            <p:cNvPr id="36" name="Rectangle 12"/>
            <p:cNvSpPr>
              <a:spLocks noChangeArrowheads="1"/>
            </p:cNvSpPr>
            <p:nvPr/>
          </p:nvSpPr>
          <p:spPr bwMode="auto">
            <a:xfrm>
              <a:off x="3061" y="3512"/>
              <a:ext cx="363" cy="273"/>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99"/>
                  </a:solidFill>
                  <a:latin typeface="Tahoma" pitchFamily="34" charset="0"/>
                  <a:ea typeface="黑体" pitchFamily="2" charset="-122"/>
                </a:rPr>
                <a:t>首部</a:t>
              </a:r>
            </a:p>
          </p:txBody>
        </p:sp>
        <p:grpSp>
          <p:nvGrpSpPr>
            <p:cNvPr id="37" name="Group 19"/>
            <p:cNvGrpSpPr>
              <a:grpSpLocks/>
            </p:cNvGrpSpPr>
            <p:nvPr/>
          </p:nvGrpSpPr>
          <p:grpSpPr bwMode="auto">
            <a:xfrm>
              <a:off x="3061" y="3167"/>
              <a:ext cx="1451" cy="308"/>
              <a:chOff x="1973" y="2532"/>
              <a:chExt cx="1451" cy="308"/>
            </a:xfrm>
          </p:grpSpPr>
          <p:sp>
            <p:nvSpPr>
              <p:cNvPr id="38" name="AutoShape 2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39" name="Text Box 21"/>
              <p:cNvSpPr txBox="1">
                <a:spLocks noChangeArrowheads="1"/>
              </p:cNvSpPr>
              <p:nvPr/>
            </p:nvSpPr>
            <p:spPr bwMode="auto">
              <a:xfrm>
                <a:off x="2489" y="2532"/>
                <a:ext cx="51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a:solidFill>
                      <a:srgbClr val="000099"/>
                    </a:solidFill>
                    <a:latin typeface="Tahoma" pitchFamily="34" charset="0"/>
                    <a:ea typeface="黑体" pitchFamily="2" charset="-122"/>
                  </a:rPr>
                  <a:t>分组</a:t>
                </a:r>
                <a:r>
                  <a:rPr lang="zh-CN" altLang="en-US" sz="1200" b="1">
                    <a:solidFill>
                      <a:srgbClr val="000099"/>
                    </a:solidFill>
                    <a:ea typeface="黑体" pitchFamily="2" charset="-122"/>
                  </a:rPr>
                  <a:t> </a:t>
                </a:r>
                <a:r>
                  <a:rPr lang="en-US" altLang="zh-CN" sz="2000" b="1">
                    <a:solidFill>
                      <a:srgbClr val="000099"/>
                    </a:solidFill>
                    <a:ea typeface="黑体" pitchFamily="2" charset="-122"/>
                  </a:rPr>
                  <a:t>3</a:t>
                </a:r>
              </a:p>
            </p:txBody>
          </p:sp>
        </p:grpSp>
      </p:grpSp>
      <p:sp>
        <p:nvSpPr>
          <p:cNvPr id="40" name="右箭头 39"/>
          <p:cNvSpPr/>
          <p:nvPr/>
        </p:nvSpPr>
        <p:spPr bwMode="auto">
          <a:xfrm>
            <a:off x="5867513" y="4838408"/>
            <a:ext cx="873282" cy="547494"/>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
        <p:nvSpPr>
          <p:cNvPr id="41" name="Rectangle 2"/>
          <p:cNvSpPr>
            <a:spLocks noChangeArrowheads="1"/>
          </p:cNvSpPr>
          <p:nvPr/>
        </p:nvSpPr>
        <p:spPr bwMode="auto">
          <a:xfrm>
            <a:off x="412773" y="4889567"/>
            <a:ext cx="5188299" cy="431800"/>
          </a:xfrm>
          <a:prstGeom prst="rect">
            <a:avLst/>
          </a:prstGeom>
          <a:solidFill>
            <a:srgbClr val="CCE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dirty="0">
                <a:solidFill>
                  <a:srgbClr val="000099"/>
                </a:solidFill>
                <a:latin typeface="Tahoma" pitchFamily="34" charset="0"/>
                <a:ea typeface="黑体" pitchFamily="2" charset="-122"/>
              </a:rPr>
              <a:t>报</a:t>
            </a:r>
            <a:r>
              <a:rPr lang="en-US" altLang="zh-CN" sz="2000" b="1" dirty="0">
                <a:solidFill>
                  <a:srgbClr val="000099"/>
                </a:solidFill>
                <a:latin typeface="Tahoma" pitchFamily="34" charset="0"/>
                <a:ea typeface="黑体" pitchFamily="2" charset="-122"/>
              </a:rPr>
              <a:t>       </a:t>
            </a:r>
            <a:r>
              <a:rPr lang="zh-CN" altLang="en-US" sz="2000" b="1" dirty="0">
                <a:solidFill>
                  <a:srgbClr val="000099"/>
                </a:solidFill>
                <a:latin typeface="Tahoma" pitchFamily="34" charset="0"/>
                <a:ea typeface="黑体" pitchFamily="2" charset="-122"/>
              </a:rPr>
              <a:t>文</a:t>
            </a:r>
          </a:p>
        </p:txBody>
      </p:sp>
    </p:spTree>
    <p:extLst>
      <p:ext uri="{BB962C8B-B14F-4D97-AF65-F5344CB8AC3E}">
        <p14:creationId xmlns:p14="http://schemas.microsoft.com/office/powerpoint/2010/main" val="42163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algn="ctr"/>
            <a:r>
              <a:rPr lang="zh-CN" altLang="en-US"/>
              <a:t>分组首部的重要性</a:t>
            </a:r>
          </a:p>
        </p:txBody>
      </p:sp>
      <p:sp>
        <p:nvSpPr>
          <p:cNvPr id="58371" name="Rectangle 3"/>
          <p:cNvSpPr>
            <a:spLocks noGrp="1" noChangeArrowheads="1"/>
          </p:cNvSpPr>
          <p:nvPr>
            <p:ph idx="1"/>
          </p:nvPr>
        </p:nvSpPr>
        <p:spPr/>
        <p:txBody>
          <a:bodyPr/>
          <a:lstStyle/>
          <a:p>
            <a:r>
              <a:rPr lang="zh-CN" altLang="en-US" dirty="0">
                <a:solidFill>
                  <a:srgbClr val="FF0000"/>
                </a:solidFill>
              </a:rPr>
              <a:t>每一个</a:t>
            </a:r>
            <a:r>
              <a:rPr lang="zh-CN" altLang="en-US" dirty="0"/>
              <a:t>分组的首部都含有</a:t>
            </a:r>
            <a:r>
              <a:rPr lang="zh-CN" altLang="en-US" dirty="0">
                <a:solidFill>
                  <a:srgbClr val="FF0000"/>
                </a:solidFill>
              </a:rPr>
              <a:t>地址</a:t>
            </a:r>
            <a:r>
              <a:rPr lang="zh-CN" altLang="en-US" dirty="0"/>
              <a:t>（</a:t>
            </a:r>
            <a:r>
              <a:rPr lang="zh-CN" altLang="zh-CN" dirty="0"/>
              <a:t>诸如目的地址和源地址</a:t>
            </a:r>
            <a:r>
              <a:rPr lang="zh-CN" altLang="en-US" dirty="0"/>
              <a:t>）等控制信息。</a:t>
            </a:r>
          </a:p>
          <a:p>
            <a:r>
              <a:rPr lang="zh-CN" altLang="en-US" dirty="0"/>
              <a:t>分组交换网中的节点交换机根据收到的分组首部中的</a:t>
            </a:r>
            <a:r>
              <a:rPr lang="zh-CN" altLang="en-US" dirty="0">
                <a:solidFill>
                  <a:srgbClr val="FF0000"/>
                </a:solidFill>
              </a:rPr>
              <a:t>地址信息，</a:t>
            </a:r>
            <a:r>
              <a:rPr lang="zh-CN" altLang="en-US" dirty="0"/>
              <a:t>把分组</a:t>
            </a:r>
            <a:r>
              <a:rPr lang="zh-CN" altLang="en-US" dirty="0">
                <a:solidFill>
                  <a:srgbClr val="FF0000"/>
                </a:solidFill>
              </a:rPr>
              <a:t>转发</a:t>
            </a:r>
            <a:r>
              <a:rPr lang="zh-CN" altLang="en-US" dirty="0"/>
              <a:t>到下一个节点交换机。</a:t>
            </a:r>
            <a:endParaRPr lang="en-US" altLang="zh-CN" dirty="0"/>
          </a:p>
          <a:p>
            <a:r>
              <a:rPr lang="zh-CN" altLang="zh-CN" dirty="0"/>
              <a:t>每个分组在互联网中</a:t>
            </a:r>
            <a:r>
              <a:rPr lang="zh-CN" altLang="zh-CN" dirty="0">
                <a:solidFill>
                  <a:srgbClr val="FF0000"/>
                </a:solidFill>
              </a:rPr>
              <a:t>独立地选择传输路径</a:t>
            </a:r>
            <a:r>
              <a:rPr lang="zh-CN" altLang="en-US" dirty="0">
                <a:solidFill>
                  <a:srgbClr val="FF0000"/>
                </a:solidFill>
              </a:rPr>
              <a:t>。</a:t>
            </a:r>
            <a:endParaRPr lang="en-US" altLang="zh-CN" dirty="0">
              <a:solidFill>
                <a:srgbClr val="FF0000"/>
              </a:solidFill>
            </a:endParaRPr>
          </a:p>
          <a:p>
            <a:r>
              <a:rPr lang="zh-CN" altLang="en-US" dirty="0"/>
              <a:t>用这样的</a:t>
            </a:r>
            <a:r>
              <a:rPr lang="zh-CN" altLang="en-US" dirty="0">
                <a:solidFill>
                  <a:srgbClr val="FF0000"/>
                </a:solidFill>
              </a:rPr>
              <a:t>存储转发</a:t>
            </a:r>
            <a:r>
              <a:rPr lang="zh-CN" altLang="en-US" dirty="0"/>
              <a:t>方式，最后分组就能到达</a:t>
            </a:r>
            <a:r>
              <a:rPr lang="zh-CN" altLang="en-US" dirty="0">
                <a:solidFill>
                  <a:srgbClr val="FF0000"/>
                </a:solidFill>
              </a:rPr>
              <a:t>最终目的地。</a:t>
            </a:r>
          </a:p>
        </p:txBody>
      </p:sp>
    </p:spTree>
    <p:extLst>
      <p:ext uri="{BB962C8B-B14F-4D97-AF65-F5344CB8AC3E}">
        <p14:creationId xmlns:p14="http://schemas.microsoft.com/office/powerpoint/2010/main" val="3380892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algn="ctr"/>
            <a:r>
              <a:rPr lang="zh-CN" altLang="en-US"/>
              <a:t>分组交换的优点</a:t>
            </a:r>
          </a:p>
        </p:txBody>
      </p:sp>
      <p:graphicFrame>
        <p:nvGraphicFramePr>
          <p:cNvPr id="3" name="内容占位符 2"/>
          <p:cNvGraphicFramePr>
            <a:graphicFrameLocks noGrp="1"/>
          </p:cNvGraphicFramePr>
          <p:nvPr>
            <p:ph idx="1"/>
            <p:extLst>
              <p:ext uri="{D42A27DB-BD31-4B8C-83A1-F6EECF244321}">
                <p14:modId xmlns:p14="http://schemas.microsoft.com/office/powerpoint/2010/main" val="2779997955"/>
              </p:ext>
            </p:extLst>
          </p:nvPr>
        </p:nvGraphicFramePr>
        <p:xfrm>
          <a:off x="684000" y="1268760"/>
          <a:ext cx="8712968" cy="4626918"/>
        </p:xfrm>
        <a:graphic>
          <a:graphicData uri="http://schemas.openxmlformats.org/drawingml/2006/table">
            <a:tbl>
              <a:tblPr firstRow="1" firstCol="1" bandRow="1" bandCol="1">
                <a:tableStyleId>{073A0DAA-6AF3-43AB-8588-CEC1D06C72B9}</a:tableStyleId>
              </a:tblPr>
              <a:tblGrid>
                <a:gridCol w="1100648">
                  <a:extLst>
                    <a:ext uri="{9D8B030D-6E8A-4147-A177-3AD203B41FA5}">
                      <a16:colId xmlns:a16="http://schemas.microsoft.com/office/drawing/2014/main" val="20000"/>
                    </a:ext>
                  </a:extLst>
                </a:gridCol>
                <a:gridCol w="7612320">
                  <a:extLst>
                    <a:ext uri="{9D8B030D-6E8A-4147-A177-3AD203B41FA5}">
                      <a16:colId xmlns:a16="http://schemas.microsoft.com/office/drawing/2014/main" val="20001"/>
                    </a:ext>
                  </a:extLst>
                </a:gridCol>
              </a:tblGrid>
              <a:tr h="892899">
                <a:tc>
                  <a:txBody>
                    <a:bodyPr/>
                    <a:lstStyle/>
                    <a:p>
                      <a:pPr algn="ctr">
                        <a:lnSpc>
                          <a:spcPct val="100000"/>
                        </a:lnSpc>
                        <a:spcAft>
                          <a:spcPts val="0"/>
                        </a:spcAft>
                      </a:pPr>
                      <a:r>
                        <a:rPr lang="zh-CN" sz="2800" b="1" kern="100" cap="none" spc="0" dirty="0">
                          <a:ln>
                            <a:noFill/>
                          </a:ln>
                          <a:effectLst/>
                          <a:latin typeface="+mn-lt"/>
                          <a:ea typeface="黑体" pitchFamily="2" charset="-122"/>
                        </a:rPr>
                        <a:t>优点</a:t>
                      </a:r>
                      <a:endParaRPr lang="zh-CN" sz="2800" b="1" kern="100" cap="none" spc="0" dirty="0">
                        <a:ln>
                          <a:noFill/>
                        </a:ln>
                        <a:solidFill>
                          <a:schemeClr val="tx1"/>
                        </a:solidFill>
                        <a:effectLst/>
                        <a:latin typeface="+mn-lt"/>
                        <a:ea typeface="黑体" pitchFamily="2" charset="-122"/>
                      </a:endParaRPr>
                    </a:p>
                  </a:txBody>
                  <a:tcPr marL="108000" marR="108000" marT="72000" marB="72000" anchor="ctr"/>
                </a:tc>
                <a:tc>
                  <a:txBody>
                    <a:bodyPr/>
                    <a:lstStyle/>
                    <a:p>
                      <a:pPr algn="ctr">
                        <a:lnSpc>
                          <a:spcPct val="100000"/>
                        </a:lnSpc>
                        <a:spcAft>
                          <a:spcPts val="0"/>
                        </a:spcAft>
                      </a:pPr>
                      <a:r>
                        <a:rPr lang="zh-CN" sz="2800" b="1" kern="100" cap="none" spc="0" dirty="0">
                          <a:ln>
                            <a:noFill/>
                          </a:ln>
                          <a:effectLst/>
                          <a:latin typeface="+mn-lt"/>
                          <a:ea typeface="黑体" pitchFamily="2" charset="-122"/>
                        </a:rPr>
                        <a:t>所采用的手段</a:t>
                      </a:r>
                      <a:endParaRPr lang="zh-CN" sz="2800" b="1" kern="100" cap="none" spc="0" dirty="0">
                        <a:ln>
                          <a:noFill/>
                        </a:ln>
                        <a:solidFill>
                          <a:schemeClr val="tx1"/>
                        </a:solidFill>
                        <a:effectLst/>
                        <a:latin typeface="+mn-lt"/>
                        <a:ea typeface="黑体" pitchFamily="2" charset="-122"/>
                      </a:endParaRPr>
                    </a:p>
                  </a:txBody>
                  <a:tcPr marL="90000" marR="90000" marT="46800" marB="46800" anchor="ctr"/>
                </a:tc>
                <a:extLst>
                  <a:ext uri="{0D108BD9-81ED-4DB2-BD59-A6C34878D82A}">
                    <a16:rowId xmlns:a16="http://schemas.microsoft.com/office/drawing/2014/main" val="10000"/>
                  </a:ext>
                </a:extLst>
              </a:tr>
              <a:tr h="892899">
                <a:tc>
                  <a:txBody>
                    <a:bodyPr/>
                    <a:lstStyle/>
                    <a:p>
                      <a:pPr algn="ctr">
                        <a:lnSpc>
                          <a:spcPct val="100000"/>
                        </a:lnSpc>
                        <a:spcAft>
                          <a:spcPts val="0"/>
                        </a:spcAft>
                      </a:pPr>
                      <a:r>
                        <a:rPr lang="zh-CN" sz="2800" b="1" kern="100" cap="none" spc="0">
                          <a:ln>
                            <a:noFill/>
                          </a:ln>
                          <a:effectLst/>
                          <a:latin typeface="+mn-lt"/>
                          <a:ea typeface="黑体" pitchFamily="2" charset="-122"/>
                        </a:rPr>
                        <a:t>高效</a:t>
                      </a:r>
                      <a:endParaRPr lang="zh-CN" sz="2800" b="1" kern="100" cap="none" spc="0">
                        <a:ln>
                          <a:noFill/>
                        </a:ln>
                        <a:solidFill>
                          <a:schemeClr val="tx1"/>
                        </a:solidFill>
                        <a:effectLst/>
                        <a:latin typeface="+mn-lt"/>
                        <a:ea typeface="黑体"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itchFamily="2" charset="-122"/>
                        </a:rPr>
                        <a:t>在分组传输的过程中</a:t>
                      </a:r>
                      <a:r>
                        <a:rPr lang="zh-CN" sz="2800" b="1" kern="100" cap="none" spc="0" dirty="0">
                          <a:ln>
                            <a:noFill/>
                          </a:ln>
                          <a:solidFill>
                            <a:srgbClr val="FF0000"/>
                          </a:solidFill>
                          <a:effectLst/>
                          <a:latin typeface="+mn-lt"/>
                          <a:ea typeface="黑体" pitchFamily="2" charset="-122"/>
                        </a:rPr>
                        <a:t>动态分配</a:t>
                      </a:r>
                      <a:r>
                        <a:rPr lang="zh-CN" sz="2800" b="1" kern="100" cap="none" spc="0" dirty="0">
                          <a:ln>
                            <a:noFill/>
                          </a:ln>
                          <a:effectLst/>
                          <a:latin typeface="+mn-lt"/>
                          <a:ea typeface="黑体" pitchFamily="2" charset="-122"/>
                        </a:rPr>
                        <a:t>传输带宽，对通信链路是逐段占用</a:t>
                      </a:r>
                      <a:r>
                        <a:rPr lang="zh-CN" altLang="en-US" sz="2800" b="1" kern="100" cap="none" spc="0" dirty="0">
                          <a:ln>
                            <a:noFill/>
                          </a:ln>
                          <a:effectLst/>
                          <a:latin typeface="+mn-lt"/>
                          <a:ea typeface="黑体" pitchFamily="2" charset="-122"/>
                        </a:rPr>
                        <a:t>。</a:t>
                      </a:r>
                      <a:endParaRPr lang="zh-CN" sz="2800" b="1" kern="100" cap="none" spc="0" dirty="0">
                        <a:ln>
                          <a:noFill/>
                        </a:ln>
                        <a:solidFill>
                          <a:schemeClr val="tx1"/>
                        </a:solidFill>
                        <a:effectLst/>
                        <a:latin typeface="+mn-lt"/>
                        <a:ea typeface="黑体" pitchFamily="2" charset="-122"/>
                      </a:endParaRPr>
                    </a:p>
                  </a:txBody>
                  <a:tcPr marL="90000" marR="90000" marT="46800" marB="46800" anchor="ctr"/>
                </a:tc>
                <a:extLst>
                  <a:ext uri="{0D108BD9-81ED-4DB2-BD59-A6C34878D82A}">
                    <a16:rowId xmlns:a16="http://schemas.microsoft.com/office/drawing/2014/main" val="10001"/>
                  </a:ext>
                </a:extLst>
              </a:tr>
              <a:tr h="892899">
                <a:tc>
                  <a:txBody>
                    <a:bodyPr/>
                    <a:lstStyle/>
                    <a:p>
                      <a:pPr algn="ctr">
                        <a:lnSpc>
                          <a:spcPct val="100000"/>
                        </a:lnSpc>
                        <a:spcAft>
                          <a:spcPts val="0"/>
                        </a:spcAft>
                      </a:pPr>
                      <a:r>
                        <a:rPr lang="zh-CN" sz="2800" b="1" kern="100" cap="none" spc="0">
                          <a:ln>
                            <a:noFill/>
                          </a:ln>
                          <a:effectLst/>
                          <a:latin typeface="+mn-lt"/>
                          <a:ea typeface="黑体" pitchFamily="2" charset="-122"/>
                        </a:rPr>
                        <a:t>灵活</a:t>
                      </a:r>
                      <a:endParaRPr lang="zh-CN" sz="2800" b="1" kern="100" cap="none" spc="0">
                        <a:ln>
                          <a:noFill/>
                        </a:ln>
                        <a:solidFill>
                          <a:schemeClr val="tx1"/>
                        </a:solidFill>
                        <a:effectLst/>
                        <a:latin typeface="+mn-lt"/>
                        <a:ea typeface="黑体"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itchFamily="2" charset="-122"/>
                        </a:rPr>
                        <a:t>为每一个分组</a:t>
                      </a:r>
                      <a:r>
                        <a:rPr lang="zh-CN" sz="2800" b="1" kern="100" cap="none" spc="0" dirty="0">
                          <a:ln>
                            <a:noFill/>
                          </a:ln>
                          <a:solidFill>
                            <a:srgbClr val="FF0000"/>
                          </a:solidFill>
                          <a:effectLst/>
                          <a:latin typeface="+mn-lt"/>
                          <a:ea typeface="黑体" pitchFamily="2" charset="-122"/>
                        </a:rPr>
                        <a:t>独立</a:t>
                      </a:r>
                      <a:r>
                        <a:rPr lang="zh-CN" sz="2800" b="1" kern="100" cap="none" spc="0" dirty="0">
                          <a:ln>
                            <a:noFill/>
                          </a:ln>
                          <a:effectLst/>
                          <a:latin typeface="+mn-lt"/>
                          <a:ea typeface="黑体" pitchFamily="2" charset="-122"/>
                        </a:rPr>
                        <a:t>地选择最合适的转发路由</a:t>
                      </a:r>
                      <a:r>
                        <a:rPr lang="zh-CN" altLang="en-US" sz="2800" b="1" kern="100" cap="none" spc="0" dirty="0">
                          <a:ln>
                            <a:noFill/>
                          </a:ln>
                          <a:effectLst/>
                          <a:latin typeface="+mn-lt"/>
                          <a:ea typeface="黑体" pitchFamily="2" charset="-122"/>
                        </a:rPr>
                        <a:t>。</a:t>
                      </a:r>
                      <a:endParaRPr lang="zh-CN" sz="2800" b="1" kern="100" cap="none" spc="0" dirty="0">
                        <a:ln>
                          <a:noFill/>
                        </a:ln>
                        <a:solidFill>
                          <a:schemeClr val="tx1"/>
                        </a:solidFill>
                        <a:effectLst/>
                        <a:latin typeface="+mn-lt"/>
                        <a:ea typeface="黑体" pitchFamily="2" charset="-122"/>
                      </a:endParaRPr>
                    </a:p>
                  </a:txBody>
                  <a:tcPr marL="90000" marR="90000" marT="46800" marB="46800" anchor="ctr"/>
                </a:tc>
                <a:extLst>
                  <a:ext uri="{0D108BD9-81ED-4DB2-BD59-A6C34878D82A}">
                    <a16:rowId xmlns:a16="http://schemas.microsoft.com/office/drawing/2014/main" val="10002"/>
                  </a:ext>
                </a:extLst>
              </a:tr>
              <a:tr h="892899">
                <a:tc>
                  <a:txBody>
                    <a:bodyPr/>
                    <a:lstStyle/>
                    <a:p>
                      <a:pPr algn="ctr">
                        <a:lnSpc>
                          <a:spcPct val="100000"/>
                        </a:lnSpc>
                        <a:spcAft>
                          <a:spcPts val="0"/>
                        </a:spcAft>
                      </a:pPr>
                      <a:r>
                        <a:rPr lang="zh-CN" sz="2800" b="1" kern="100" cap="none" spc="0">
                          <a:ln>
                            <a:noFill/>
                          </a:ln>
                          <a:effectLst/>
                          <a:latin typeface="+mn-lt"/>
                          <a:ea typeface="黑体" pitchFamily="2" charset="-122"/>
                        </a:rPr>
                        <a:t>迅速</a:t>
                      </a:r>
                      <a:endParaRPr lang="zh-CN" sz="2800" b="1" kern="100" cap="none" spc="0">
                        <a:ln>
                          <a:noFill/>
                        </a:ln>
                        <a:solidFill>
                          <a:schemeClr val="tx1"/>
                        </a:solidFill>
                        <a:effectLst/>
                        <a:latin typeface="+mn-lt"/>
                        <a:ea typeface="黑体"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itchFamily="2" charset="-122"/>
                        </a:rPr>
                        <a:t>以分组作为传送单位，可以</a:t>
                      </a:r>
                      <a:r>
                        <a:rPr lang="zh-CN" sz="2800" b="1" kern="100" cap="none" spc="0" dirty="0">
                          <a:ln>
                            <a:noFill/>
                          </a:ln>
                          <a:solidFill>
                            <a:srgbClr val="FF0000"/>
                          </a:solidFill>
                          <a:effectLst/>
                          <a:latin typeface="+mn-lt"/>
                          <a:ea typeface="黑体" pitchFamily="2" charset="-122"/>
                        </a:rPr>
                        <a:t>不先建立连接</a:t>
                      </a:r>
                      <a:r>
                        <a:rPr lang="zh-CN" sz="2800" b="1" kern="100" cap="none" spc="0" dirty="0">
                          <a:ln>
                            <a:noFill/>
                          </a:ln>
                          <a:effectLst/>
                          <a:latin typeface="+mn-lt"/>
                          <a:ea typeface="黑体" pitchFamily="2" charset="-122"/>
                        </a:rPr>
                        <a:t>就能向其他主机发送分组</a:t>
                      </a:r>
                      <a:r>
                        <a:rPr lang="zh-CN" altLang="en-US" sz="2800" b="1" kern="100" cap="none" spc="0" dirty="0">
                          <a:ln>
                            <a:noFill/>
                          </a:ln>
                          <a:effectLst/>
                          <a:latin typeface="+mn-lt"/>
                          <a:ea typeface="黑体" pitchFamily="2" charset="-122"/>
                        </a:rPr>
                        <a:t>。</a:t>
                      </a:r>
                      <a:endParaRPr lang="zh-CN" sz="2800" b="1" kern="100" cap="none" spc="0" dirty="0">
                        <a:ln>
                          <a:noFill/>
                        </a:ln>
                        <a:solidFill>
                          <a:schemeClr val="tx1"/>
                        </a:solidFill>
                        <a:effectLst/>
                        <a:latin typeface="+mn-lt"/>
                        <a:ea typeface="黑体" pitchFamily="2" charset="-122"/>
                      </a:endParaRPr>
                    </a:p>
                  </a:txBody>
                  <a:tcPr marL="90000" marR="90000" marT="46800" marB="46800" anchor="ctr"/>
                </a:tc>
                <a:extLst>
                  <a:ext uri="{0D108BD9-81ED-4DB2-BD59-A6C34878D82A}">
                    <a16:rowId xmlns:a16="http://schemas.microsoft.com/office/drawing/2014/main" val="10003"/>
                  </a:ext>
                </a:extLst>
              </a:tr>
              <a:tr h="892899">
                <a:tc>
                  <a:txBody>
                    <a:bodyPr/>
                    <a:lstStyle/>
                    <a:p>
                      <a:pPr algn="ctr">
                        <a:lnSpc>
                          <a:spcPct val="100000"/>
                        </a:lnSpc>
                        <a:spcAft>
                          <a:spcPts val="0"/>
                        </a:spcAft>
                      </a:pPr>
                      <a:r>
                        <a:rPr lang="zh-CN" sz="2800" b="1" kern="100" cap="none" spc="0">
                          <a:ln>
                            <a:noFill/>
                          </a:ln>
                          <a:effectLst/>
                          <a:latin typeface="+mn-lt"/>
                          <a:ea typeface="黑体" pitchFamily="2" charset="-122"/>
                        </a:rPr>
                        <a:t>可靠</a:t>
                      </a:r>
                      <a:endParaRPr lang="zh-CN" sz="2800" b="1" kern="100" cap="none" spc="0">
                        <a:ln>
                          <a:noFill/>
                        </a:ln>
                        <a:solidFill>
                          <a:schemeClr val="tx1"/>
                        </a:solidFill>
                        <a:effectLst/>
                        <a:latin typeface="+mn-lt"/>
                        <a:ea typeface="黑体" pitchFamily="2" charset="-122"/>
                      </a:endParaRPr>
                    </a:p>
                  </a:txBody>
                  <a:tcPr marL="90000" marR="90000" marT="46800" marB="46800" anchor="ctr"/>
                </a:tc>
                <a:tc>
                  <a:txBody>
                    <a:bodyPr/>
                    <a:lstStyle/>
                    <a:p>
                      <a:pPr algn="just">
                        <a:lnSpc>
                          <a:spcPct val="100000"/>
                        </a:lnSpc>
                        <a:spcAft>
                          <a:spcPts val="0"/>
                        </a:spcAft>
                      </a:pPr>
                      <a:r>
                        <a:rPr lang="zh-CN" sz="2800" b="1" kern="100" cap="none" spc="0" dirty="0">
                          <a:ln>
                            <a:noFill/>
                          </a:ln>
                          <a:effectLst/>
                          <a:latin typeface="+mn-lt"/>
                          <a:ea typeface="黑体" pitchFamily="2" charset="-122"/>
                        </a:rPr>
                        <a:t>保证可靠性的网络协议；分布式多路由的分组交换网，使网络有很好的生存性</a:t>
                      </a:r>
                      <a:r>
                        <a:rPr lang="zh-CN" altLang="en-US" sz="2800" b="1" kern="100" cap="none" spc="0" dirty="0">
                          <a:ln>
                            <a:noFill/>
                          </a:ln>
                          <a:effectLst/>
                          <a:latin typeface="+mn-lt"/>
                          <a:ea typeface="黑体" pitchFamily="2" charset="-122"/>
                        </a:rPr>
                        <a:t>。</a:t>
                      </a:r>
                      <a:endParaRPr lang="zh-CN" sz="2800" b="1" kern="100" cap="none" spc="0" dirty="0">
                        <a:ln>
                          <a:noFill/>
                        </a:ln>
                        <a:solidFill>
                          <a:schemeClr val="tx1"/>
                        </a:solidFill>
                        <a:effectLst/>
                        <a:latin typeface="+mn-lt"/>
                        <a:ea typeface="黑体" pitchFamily="2" charset="-122"/>
                      </a:endParaRPr>
                    </a:p>
                  </a:txBody>
                  <a:tcPr marL="90000" marR="90000" marT="46800" marB="4680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41095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algn="ctr"/>
            <a:r>
              <a:rPr lang="zh-CN" altLang="en-US" dirty="0"/>
              <a:t>分组交换带来的问题</a:t>
            </a:r>
          </a:p>
        </p:txBody>
      </p:sp>
      <p:sp>
        <p:nvSpPr>
          <p:cNvPr id="67587" name="Rectangle 3"/>
          <p:cNvSpPr>
            <a:spLocks noGrp="1" noChangeArrowheads="1"/>
          </p:cNvSpPr>
          <p:nvPr>
            <p:ph idx="1"/>
          </p:nvPr>
        </p:nvSpPr>
        <p:spPr/>
        <p:txBody>
          <a:bodyPr/>
          <a:lstStyle/>
          <a:p>
            <a:r>
              <a:rPr lang="zh-CN" altLang="en-US" dirty="0"/>
              <a:t>分组在各节点存储转发时需要</a:t>
            </a:r>
            <a:r>
              <a:rPr lang="zh-CN" altLang="en-US" dirty="0">
                <a:solidFill>
                  <a:srgbClr val="FF0000"/>
                </a:solidFill>
              </a:rPr>
              <a:t>排队，</a:t>
            </a:r>
            <a:r>
              <a:rPr lang="zh-CN" altLang="en-US" dirty="0"/>
              <a:t>这就会造成一定的</a:t>
            </a:r>
            <a:r>
              <a:rPr lang="zh-CN" altLang="en-US" dirty="0">
                <a:solidFill>
                  <a:srgbClr val="FF0000"/>
                </a:solidFill>
              </a:rPr>
              <a:t>时延。</a:t>
            </a:r>
            <a:r>
              <a:rPr lang="zh-CN" altLang="en-US" dirty="0"/>
              <a:t> </a:t>
            </a:r>
          </a:p>
          <a:p>
            <a:r>
              <a:rPr lang="zh-CN" altLang="en-US" dirty="0"/>
              <a:t>分组必须携带的首部（里面有必不可少的控制信息）也造成了一定的</a:t>
            </a:r>
            <a:r>
              <a:rPr lang="zh-CN" altLang="en-US" dirty="0">
                <a:solidFill>
                  <a:srgbClr val="FF0000"/>
                </a:solidFill>
              </a:rPr>
              <a:t>开销。</a:t>
            </a:r>
            <a:r>
              <a:rPr lang="zh-CN" altLang="en-US" dirty="0"/>
              <a:t> </a:t>
            </a:r>
          </a:p>
        </p:txBody>
      </p:sp>
    </p:spTree>
    <p:extLst>
      <p:ext uri="{BB962C8B-B14F-4D97-AF65-F5344CB8AC3E}">
        <p14:creationId xmlns:p14="http://schemas.microsoft.com/office/powerpoint/2010/main" val="2411299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idx="4294967295"/>
          </p:nvPr>
        </p:nvSpPr>
        <p:spPr>
          <a:xfrm>
            <a:off x="475630" y="0"/>
            <a:ext cx="9157890" cy="692150"/>
          </a:xfrm>
        </p:spPr>
        <p:txBody>
          <a:bodyPr/>
          <a:lstStyle/>
          <a:p>
            <a:pPr algn="ctr"/>
            <a:r>
              <a:rPr lang="zh-CN" altLang="en-US" sz="4000" dirty="0"/>
              <a:t>三种交换的比较 </a:t>
            </a:r>
          </a:p>
        </p:txBody>
      </p:sp>
      <p:grpSp>
        <p:nvGrpSpPr>
          <p:cNvPr id="154758" name="Group 134"/>
          <p:cNvGrpSpPr>
            <a:grpSpLocks/>
          </p:cNvGrpSpPr>
          <p:nvPr/>
        </p:nvGrpSpPr>
        <p:grpSpPr bwMode="auto">
          <a:xfrm>
            <a:off x="8002192" y="2261013"/>
            <a:ext cx="629444" cy="396876"/>
            <a:chOff x="4653" y="1614"/>
            <a:chExt cx="366" cy="250"/>
          </a:xfrm>
        </p:grpSpPr>
        <p:sp>
          <p:nvSpPr>
            <p:cNvPr id="154628" name="AutoShape 4"/>
            <p:cNvSpPr>
              <a:spLocks noChangeArrowheads="1"/>
            </p:cNvSpPr>
            <p:nvPr/>
          </p:nvSpPr>
          <p:spPr bwMode="auto">
            <a:xfrm rot="5400000">
              <a:off x="4733" y="1579"/>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29" name="Text Box 5"/>
            <p:cNvSpPr txBox="1">
              <a:spLocks noChangeArrowheads="1"/>
            </p:cNvSpPr>
            <p:nvPr/>
          </p:nvSpPr>
          <p:spPr bwMode="auto">
            <a:xfrm rot="626605">
              <a:off x="4671" y="1614"/>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1</a:t>
              </a:r>
              <a:endParaRPr kumimoji="1" lang="en-US" altLang="zh-CN">
                <a:solidFill>
                  <a:srgbClr val="333399"/>
                </a:solidFill>
                <a:ea typeface="黑体" pitchFamily="2" charset="-122"/>
              </a:endParaRPr>
            </a:p>
          </p:txBody>
        </p:sp>
        <p:sp>
          <p:nvSpPr>
            <p:cNvPr id="154630"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1"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2"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9" name="Group 135"/>
          <p:cNvGrpSpPr>
            <a:grpSpLocks/>
          </p:cNvGrpSpPr>
          <p:nvPr/>
        </p:nvGrpSpPr>
        <p:grpSpPr bwMode="auto">
          <a:xfrm>
            <a:off x="7993592" y="2545170"/>
            <a:ext cx="631164" cy="396874"/>
            <a:chOff x="4648" y="1793"/>
            <a:chExt cx="367" cy="250"/>
          </a:xfrm>
        </p:grpSpPr>
        <p:sp>
          <p:nvSpPr>
            <p:cNvPr id="154633" name="AutoShape 9"/>
            <p:cNvSpPr>
              <a:spLocks noChangeArrowheads="1"/>
            </p:cNvSpPr>
            <p:nvPr/>
          </p:nvSpPr>
          <p:spPr bwMode="auto">
            <a:xfrm rot="5400000">
              <a:off x="4729" y="1758"/>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4" name="Text Box 10"/>
            <p:cNvSpPr txBox="1">
              <a:spLocks noChangeArrowheads="1"/>
            </p:cNvSpPr>
            <p:nvPr/>
          </p:nvSpPr>
          <p:spPr bwMode="auto">
            <a:xfrm rot="626605">
              <a:off x="4660" y="1793"/>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2</a:t>
              </a:r>
              <a:endParaRPr kumimoji="1" lang="en-US" altLang="zh-CN">
                <a:solidFill>
                  <a:srgbClr val="333399"/>
                </a:solidFill>
                <a:ea typeface="黑体" pitchFamily="2" charset="-122"/>
              </a:endParaRPr>
            </a:p>
          </p:txBody>
        </p:sp>
        <p:sp>
          <p:nvSpPr>
            <p:cNvPr id="154635"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6"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7" name="AutoShape 13"/>
            <p:cNvSpPr>
              <a:spLocks noChangeArrowheads="1"/>
            </p:cNvSpPr>
            <p:nvPr/>
          </p:nvSpPr>
          <p:spPr bwMode="auto">
            <a:xfrm rot="746037">
              <a:off x="4843" y="1894"/>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0" name="Group 136"/>
          <p:cNvGrpSpPr>
            <a:grpSpLocks/>
          </p:cNvGrpSpPr>
          <p:nvPr/>
        </p:nvGrpSpPr>
        <p:grpSpPr bwMode="auto">
          <a:xfrm>
            <a:off x="8000471" y="2834093"/>
            <a:ext cx="629444" cy="387349"/>
            <a:chOff x="4652" y="1975"/>
            <a:chExt cx="366" cy="244"/>
          </a:xfrm>
        </p:grpSpPr>
        <p:sp>
          <p:nvSpPr>
            <p:cNvPr id="154638" name="AutoShape 14"/>
            <p:cNvSpPr>
              <a:spLocks noChangeArrowheads="1"/>
            </p:cNvSpPr>
            <p:nvPr/>
          </p:nvSpPr>
          <p:spPr bwMode="auto">
            <a:xfrm rot="5400000">
              <a:off x="4732" y="1934"/>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39" name="Text Box 15"/>
            <p:cNvSpPr txBox="1">
              <a:spLocks noChangeArrowheads="1"/>
            </p:cNvSpPr>
            <p:nvPr/>
          </p:nvSpPr>
          <p:spPr bwMode="auto">
            <a:xfrm rot="626605">
              <a:off x="4664" y="1975"/>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3</a:t>
              </a:r>
              <a:endParaRPr kumimoji="1" lang="en-US" altLang="zh-CN">
                <a:solidFill>
                  <a:srgbClr val="333399"/>
                </a:solidFill>
                <a:ea typeface="黑体" pitchFamily="2" charset="-122"/>
              </a:endParaRPr>
            </a:p>
          </p:txBody>
        </p:sp>
        <p:sp>
          <p:nvSpPr>
            <p:cNvPr id="154640"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1"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2" name="AutoShape 18"/>
            <p:cNvSpPr>
              <a:spLocks noChangeArrowheads="1"/>
            </p:cNvSpPr>
            <p:nvPr/>
          </p:nvSpPr>
          <p:spPr bwMode="auto">
            <a:xfrm rot="746037">
              <a:off x="4846" y="2069"/>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1" name="Group 137"/>
          <p:cNvGrpSpPr>
            <a:grpSpLocks/>
          </p:cNvGrpSpPr>
          <p:nvPr/>
        </p:nvGrpSpPr>
        <p:grpSpPr bwMode="auto">
          <a:xfrm>
            <a:off x="8007350" y="3103977"/>
            <a:ext cx="629444" cy="395288"/>
            <a:chOff x="4656" y="2145"/>
            <a:chExt cx="366" cy="249"/>
          </a:xfrm>
        </p:grpSpPr>
        <p:sp>
          <p:nvSpPr>
            <p:cNvPr id="154643" name="AutoShape 19"/>
            <p:cNvSpPr>
              <a:spLocks noChangeArrowheads="1"/>
            </p:cNvSpPr>
            <p:nvPr/>
          </p:nvSpPr>
          <p:spPr bwMode="auto">
            <a:xfrm rot="5400000">
              <a:off x="4737" y="2109"/>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4" name="Text Box 20"/>
            <p:cNvSpPr txBox="1">
              <a:spLocks noChangeArrowheads="1"/>
            </p:cNvSpPr>
            <p:nvPr/>
          </p:nvSpPr>
          <p:spPr bwMode="auto">
            <a:xfrm rot="626605">
              <a:off x="4668" y="2145"/>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4</a:t>
              </a:r>
              <a:endParaRPr kumimoji="1" lang="en-US" altLang="zh-CN">
                <a:solidFill>
                  <a:srgbClr val="333399"/>
                </a:solidFill>
                <a:ea typeface="黑体" pitchFamily="2" charset="-122"/>
              </a:endParaRPr>
            </a:p>
          </p:txBody>
        </p:sp>
        <p:sp>
          <p:nvSpPr>
            <p:cNvPr id="154645" name="Line 21"/>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6" name="Line 22"/>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7" name="AutoShape 23"/>
            <p:cNvSpPr>
              <a:spLocks noChangeArrowheads="1"/>
            </p:cNvSpPr>
            <p:nvPr/>
          </p:nvSpPr>
          <p:spPr bwMode="auto">
            <a:xfrm rot="746037">
              <a:off x="4850" y="2245"/>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3" name="Group 139"/>
          <p:cNvGrpSpPr>
            <a:grpSpLocks/>
          </p:cNvGrpSpPr>
          <p:nvPr/>
        </p:nvGrpSpPr>
        <p:grpSpPr bwMode="auto">
          <a:xfrm>
            <a:off x="8624761" y="2656301"/>
            <a:ext cx="629445" cy="385763"/>
            <a:chOff x="5015" y="1863"/>
            <a:chExt cx="366" cy="243"/>
          </a:xfrm>
        </p:grpSpPr>
        <p:sp>
          <p:nvSpPr>
            <p:cNvPr id="154648" name="AutoShape 24"/>
            <p:cNvSpPr>
              <a:spLocks noChangeArrowheads="1"/>
            </p:cNvSpPr>
            <p:nvPr/>
          </p:nvSpPr>
          <p:spPr bwMode="auto">
            <a:xfrm rot="5400000">
              <a:off x="5096" y="1821"/>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49" name="Text Box 25"/>
            <p:cNvSpPr txBox="1">
              <a:spLocks noChangeArrowheads="1"/>
            </p:cNvSpPr>
            <p:nvPr/>
          </p:nvSpPr>
          <p:spPr bwMode="auto">
            <a:xfrm rot="626605">
              <a:off x="5021" y="1863"/>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1</a:t>
              </a:r>
              <a:endParaRPr kumimoji="1" lang="en-US" altLang="zh-CN">
                <a:solidFill>
                  <a:srgbClr val="333399"/>
                </a:solidFill>
                <a:ea typeface="黑体" pitchFamily="2" charset="-122"/>
              </a:endParaRPr>
            </a:p>
          </p:txBody>
        </p:sp>
        <p:sp>
          <p:nvSpPr>
            <p:cNvPr id="154650"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1"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2"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4" name="Group 140"/>
          <p:cNvGrpSpPr>
            <a:grpSpLocks/>
          </p:cNvGrpSpPr>
          <p:nvPr/>
        </p:nvGrpSpPr>
        <p:grpSpPr bwMode="auto">
          <a:xfrm>
            <a:off x="8616162" y="2921414"/>
            <a:ext cx="629444" cy="404813"/>
            <a:chOff x="5010" y="2030"/>
            <a:chExt cx="366" cy="255"/>
          </a:xfrm>
        </p:grpSpPr>
        <p:sp>
          <p:nvSpPr>
            <p:cNvPr id="154653" name="AutoShape 29"/>
            <p:cNvSpPr>
              <a:spLocks noChangeArrowheads="1"/>
            </p:cNvSpPr>
            <p:nvPr/>
          </p:nvSpPr>
          <p:spPr bwMode="auto">
            <a:xfrm rot="5400000">
              <a:off x="5091" y="2000"/>
              <a:ext cx="210"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4" name="Text Box 30"/>
            <p:cNvSpPr txBox="1">
              <a:spLocks noChangeArrowheads="1"/>
            </p:cNvSpPr>
            <p:nvPr/>
          </p:nvSpPr>
          <p:spPr bwMode="auto">
            <a:xfrm rot="626605">
              <a:off x="5016" y="2030"/>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2</a:t>
              </a:r>
              <a:endParaRPr kumimoji="1" lang="en-US" altLang="zh-CN">
                <a:solidFill>
                  <a:srgbClr val="333399"/>
                </a:solidFill>
                <a:ea typeface="黑体" pitchFamily="2" charset="-122"/>
              </a:endParaRPr>
            </a:p>
          </p:txBody>
        </p:sp>
        <p:sp>
          <p:nvSpPr>
            <p:cNvPr id="154655"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6"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7" name="AutoShape 33"/>
            <p:cNvSpPr>
              <a:spLocks noChangeArrowheads="1"/>
            </p:cNvSpPr>
            <p:nvPr/>
          </p:nvSpPr>
          <p:spPr bwMode="auto">
            <a:xfrm rot="746037">
              <a:off x="5204" y="2136"/>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5" name="Group 141"/>
          <p:cNvGrpSpPr>
            <a:grpSpLocks/>
          </p:cNvGrpSpPr>
          <p:nvPr/>
        </p:nvGrpSpPr>
        <p:grpSpPr bwMode="auto">
          <a:xfrm>
            <a:off x="8623036" y="3208744"/>
            <a:ext cx="629444" cy="396874"/>
            <a:chOff x="5014" y="2211"/>
            <a:chExt cx="366" cy="250"/>
          </a:xfrm>
        </p:grpSpPr>
        <p:sp>
          <p:nvSpPr>
            <p:cNvPr id="154658" name="AutoShape 34"/>
            <p:cNvSpPr>
              <a:spLocks noChangeArrowheads="1"/>
            </p:cNvSpPr>
            <p:nvPr/>
          </p:nvSpPr>
          <p:spPr bwMode="auto">
            <a:xfrm rot="5400000">
              <a:off x="5094" y="217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59" name="Text Box 35"/>
            <p:cNvSpPr txBox="1">
              <a:spLocks noChangeArrowheads="1"/>
            </p:cNvSpPr>
            <p:nvPr/>
          </p:nvSpPr>
          <p:spPr bwMode="auto">
            <a:xfrm rot="626605">
              <a:off x="5026" y="2211"/>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3</a:t>
              </a:r>
              <a:endParaRPr kumimoji="1" lang="en-US" altLang="zh-CN">
                <a:solidFill>
                  <a:srgbClr val="333399"/>
                </a:solidFill>
                <a:ea typeface="黑体" pitchFamily="2" charset="-122"/>
              </a:endParaRPr>
            </a:p>
          </p:txBody>
        </p:sp>
        <p:sp>
          <p:nvSpPr>
            <p:cNvPr id="154660"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1"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2"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66" name="Group 142"/>
          <p:cNvGrpSpPr>
            <a:grpSpLocks/>
          </p:cNvGrpSpPr>
          <p:nvPr/>
        </p:nvGrpSpPr>
        <p:grpSpPr bwMode="auto">
          <a:xfrm>
            <a:off x="8628201" y="3478618"/>
            <a:ext cx="631164" cy="406399"/>
            <a:chOff x="5017" y="2381"/>
            <a:chExt cx="367" cy="256"/>
          </a:xfrm>
        </p:grpSpPr>
        <p:sp>
          <p:nvSpPr>
            <p:cNvPr id="154663" name="AutoShape 39"/>
            <p:cNvSpPr>
              <a:spLocks noChangeArrowheads="1"/>
            </p:cNvSpPr>
            <p:nvPr/>
          </p:nvSpPr>
          <p:spPr bwMode="auto">
            <a:xfrm rot="5400000">
              <a:off x="5098" y="2352"/>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4" name="Text Box 40"/>
            <p:cNvSpPr txBox="1">
              <a:spLocks noChangeArrowheads="1"/>
            </p:cNvSpPr>
            <p:nvPr/>
          </p:nvSpPr>
          <p:spPr bwMode="auto">
            <a:xfrm rot="626605">
              <a:off x="5023" y="2381"/>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4</a:t>
              </a:r>
              <a:endParaRPr kumimoji="1" lang="en-US" altLang="zh-CN">
                <a:solidFill>
                  <a:srgbClr val="333399"/>
                </a:solidFill>
                <a:ea typeface="黑体" pitchFamily="2" charset="-122"/>
              </a:endParaRPr>
            </a:p>
          </p:txBody>
        </p:sp>
        <p:sp>
          <p:nvSpPr>
            <p:cNvPr id="154665" name="Line 4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6" name="Line 4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7" name="AutoShape 43"/>
            <p:cNvSpPr>
              <a:spLocks noChangeArrowheads="1"/>
            </p:cNvSpPr>
            <p:nvPr/>
          </p:nvSpPr>
          <p:spPr bwMode="auto">
            <a:xfrm rot="746037">
              <a:off x="5212" y="2487"/>
              <a:ext cx="132" cy="127"/>
            </a:xfrm>
            <a:prstGeom prst="rightArrow">
              <a:avLst>
                <a:gd name="adj1" fmla="val 50000"/>
                <a:gd name="adj2" fmla="val 25984"/>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6" name="Group 132"/>
          <p:cNvGrpSpPr>
            <a:grpSpLocks/>
          </p:cNvGrpSpPr>
          <p:nvPr/>
        </p:nvGrpSpPr>
        <p:grpSpPr bwMode="auto">
          <a:xfrm>
            <a:off x="7377912" y="2440401"/>
            <a:ext cx="629444" cy="395288"/>
            <a:chOff x="4290" y="1727"/>
            <a:chExt cx="366" cy="249"/>
          </a:xfrm>
        </p:grpSpPr>
        <p:sp>
          <p:nvSpPr>
            <p:cNvPr id="154673" name="AutoShape 49"/>
            <p:cNvSpPr>
              <a:spLocks noChangeArrowheads="1"/>
            </p:cNvSpPr>
            <p:nvPr/>
          </p:nvSpPr>
          <p:spPr bwMode="auto">
            <a:xfrm rot="5400000">
              <a:off x="4371" y="1691"/>
              <a:ext cx="210" cy="360"/>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4" name="Text Box 50"/>
            <p:cNvSpPr txBox="1">
              <a:spLocks noChangeArrowheads="1"/>
            </p:cNvSpPr>
            <p:nvPr/>
          </p:nvSpPr>
          <p:spPr bwMode="auto">
            <a:xfrm rot="626605">
              <a:off x="4296" y="1727"/>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3</a:t>
              </a:r>
              <a:endParaRPr kumimoji="1" lang="en-US" altLang="zh-CN">
                <a:solidFill>
                  <a:srgbClr val="333399"/>
                </a:solidFill>
                <a:ea typeface="黑体" pitchFamily="2" charset="-122"/>
              </a:endParaRPr>
            </a:p>
          </p:txBody>
        </p:sp>
        <p:sp>
          <p:nvSpPr>
            <p:cNvPr id="154675"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6"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7" name="AutoShape 53"/>
            <p:cNvSpPr>
              <a:spLocks noChangeArrowheads="1"/>
            </p:cNvSpPr>
            <p:nvPr/>
          </p:nvSpPr>
          <p:spPr bwMode="auto">
            <a:xfrm rot="746037">
              <a:off x="4484" y="1827"/>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7" name="Group 133"/>
          <p:cNvGrpSpPr>
            <a:grpSpLocks/>
          </p:cNvGrpSpPr>
          <p:nvPr/>
        </p:nvGrpSpPr>
        <p:grpSpPr bwMode="auto">
          <a:xfrm>
            <a:off x="7384786" y="2718213"/>
            <a:ext cx="629444" cy="396876"/>
            <a:chOff x="4294" y="1902"/>
            <a:chExt cx="366" cy="250"/>
          </a:xfrm>
        </p:grpSpPr>
        <p:sp>
          <p:nvSpPr>
            <p:cNvPr id="154678" name="AutoShape 54"/>
            <p:cNvSpPr>
              <a:spLocks noChangeArrowheads="1"/>
            </p:cNvSpPr>
            <p:nvPr/>
          </p:nvSpPr>
          <p:spPr bwMode="auto">
            <a:xfrm rot="5400000">
              <a:off x="4374" y="186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9" name="Text Box 55"/>
            <p:cNvSpPr txBox="1">
              <a:spLocks noChangeArrowheads="1"/>
            </p:cNvSpPr>
            <p:nvPr/>
          </p:nvSpPr>
          <p:spPr bwMode="auto">
            <a:xfrm rot="626605">
              <a:off x="4306" y="1902"/>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4</a:t>
              </a:r>
              <a:endParaRPr kumimoji="1" lang="en-US" altLang="zh-CN">
                <a:solidFill>
                  <a:srgbClr val="333399"/>
                </a:solidFill>
                <a:ea typeface="黑体" pitchFamily="2" charset="-122"/>
              </a:endParaRPr>
            </a:p>
          </p:txBody>
        </p:sp>
        <p:sp>
          <p:nvSpPr>
            <p:cNvPr id="154680" name="Line 56"/>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1" name="Line 57"/>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2" name="AutoShape 58"/>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1" name="Group 127"/>
          <p:cNvGrpSpPr>
            <a:grpSpLocks/>
          </p:cNvGrpSpPr>
          <p:nvPr/>
        </p:nvGrpSpPr>
        <p:grpSpPr bwMode="auto">
          <a:xfrm>
            <a:off x="4946121" y="3176998"/>
            <a:ext cx="631164" cy="1069975"/>
            <a:chOff x="2876" y="2191"/>
            <a:chExt cx="367" cy="674"/>
          </a:xfrm>
        </p:grpSpPr>
        <p:sp>
          <p:nvSpPr>
            <p:cNvPr id="154683" name="AutoShape 59"/>
            <p:cNvSpPr>
              <a:spLocks noChangeArrowheads="1"/>
            </p:cNvSpPr>
            <p:nvPr/>
          </p:nvSpPr>
          <p:spPr bwMode="auto">
            <a:xfrm rot="5400000">
              <a:off x="2729" y="2350"/>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4" name="AutoShape 60"/>
            <p:cNvSpPr>
              <a:spLocks noChangeArrowheads="1"/>
            </p:cNvSpPr>
            <p:nvPr/>
          </p:nvSpPr>
          <p:spPr bwMode="auto">
            <a:xfrm rot="746037">
              <a:off x="2925" y="2654"/>
              <a:ext cx="227" cy="127"/>
            </a:xfrm>
            <a:prstGeom prst="rightArrow">
              <a:avLst>
                <a:gd name="adj1" fmla="val 50000"/>
                <a:gd name="adj2" fmla="val 4468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5" name="Text Box 61"/>
            <p:cNvSpPr txBox="1">
              <a:spLocks noChangeArrowheads="1"/>
            </p:cNvSpPr>
            <p:nvPr/>
          </p:nvSpPr>
          <p:spPr bwMode="auto">
            <a:xfrm>
              <a:off x="2919" y="2300"/>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itchFamily="2" charset="-122"/>
                </a:rPr>
                <a:t>报</a:t>
              </a:r>
            </a:p>
            <a:p>
              <a:pPr>
                <a:lnSpc>
                  <a:spcPct val="80000"/>
                </a:lnSpc>
              </a:pPr>
              <a:r>
                <a:rPr kumimoji="1" lang="zh-CN" altLang="en-US" b="1" dirty="0">
                  <a:solidFill>
                    <a:srgbClr val="333399"/>
                  </a:solidFill>
                  <a:ea typeface="黑体" pitchFamily="2" charset="-122"/>
                </a:rPr>
                <a:t>文</a:t>
              </a:r>
            </a:p>
          </p:txBody>
        </p:sp>
        <p:sp>
          <p:nvSpPr>
            <p:cNvPr id="154686" name="Line 62"/>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7" name="Line 63"/>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2" name="Group 128"/>
          <p:cNvGrpSpPr>
            <a:grpSpLocks/>
          </p:cNvGrpSpPr>
          <p:nvPr/>
        </p:nvGrpSpPr>
        <p:grpSpPr bwMode="auto">
          <a:xfrm>
            <a:off x="5591044" y="4513673"/>
            <a:ext cx="629444" cy="1071563"/>
            <a:chOff x="3251" y="3033"/>
            <a:chExt cx="366" cy="675"/>
          </a:xfrm>
        </p:grpSpPr>
        <p:sp>
          <p:nvSpPr>
            <p:cNvPr id="154688" name="AutoShape 64"/>
            <p:cNvSpPr>
              <a:spLocks noChangeArrowheads="1"/>
            </p:cNvSpPr>
            <p:nvPr/>
          </p:nvSpPr>
          <p:spPr bwMode="auto">
            <a:xfrm rot="5400000">
              <a:off x="3102" y="3193"/>
              <a:ext cx="675" cy="355"/>
            </a:xfrm>
            <a:prstGeom prst="parallelogram">
              <a:avLst>
                <a:gd name="adj" fmla="val 1829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89" name="AutoShape 65"/>
            <p:cNvSpPr>
              <a:spLocks noChangeArrowheads="1"/>
            </p:cNvSpPr>
            <p:nvPr/>
          </p:nvSpPr>
          <p:spPr bwMode="auto">
            <a:xfrm rot="746037">
              <a:off x="3300" y="3497"/>
              <a:ext cx="226" cy="126"/>
            </a:xfrm>
            <a:prstGeom prst="rightArrow">
              <a:avLst>
                <a:gd name="adj1" fmla="val 50000"/>
                <a:gd name="adj2" fmla="val 4484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0" name="Text Box 66"/>
            <p:cNvSpPr txBox="1">
              <a:spLocks noChangeArrowheads="1"/>
            </p:cNvSpPr>
            <p:nvPr/>
          </p:nvSpPr>
          <p:spPr bwMode="auto">
            <a:xfrm>
              <a:off x="3293" y="3143"/>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itchFamily="2" charset="-122"/>
                </a:rPr>
                <a:t>报</a:t>
              </a:r>
            </a:p>
            <a:p>
              <a:pPr>
                <a:lnSpc>
                  <a:spcPct val="80000"/>
                </a:lnSpc>
              </a:pPr>
              <a:r>
                <a:rPr kumimoji="1" lang="zh-CN" altLang="en-US" b="1" dirty="0">
                  <a:solidFill>
                    <a:srgbClr val="333399"/>
                  </a:solidFill>
                  <a:ea typeface="黑体" pitchFamily="2" charset="-122"/>
                </a:rPr>
                <a:t>文</a:t>
              </a:r>
            </a:p>
          </p:txBody>
        </p:sp>
        <p:sp>
          <p:nvSpPr>
            <p:cNvPr id="154691" name="Line 67"/>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2" name="Line 68"/>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0" name="Group 126"/>
          <p:cNvGrpSpPr>
            <a:grpSpLocks/>
          </p:cNvGrpSpPr>
          <p:nvPr/>
        </p:nvGrpSpPr>
        <p:grpSpPr bwMode="auto">
          <a:xfrm>
            <a:off x="4332156" y="1905411"/>
            <a:ext cx="620844" cy="1069975"/>
            <a:chOff x="2519" y="1390"/>
            <a:chExt cx="361" cy="674"/>
          </a:xfrm>
        </p:grpSpPr>
        <p:sp>
          <p:nvSpPr>
            <p:cNvPr id="154693" name="AutoShape 69"/>
            <p:cNvSpPr>
              <a:spLocks noChangeArrowheads="1"/>
            </p:cNvSpPr>
            <p:nvPr/>
          </p:nvSpPr>
          <p:spPr bwMode="auto">
            <a:xfrm rot="5400000">
              <a:off x="2366" y="1549"/>
              <a:ext cx="674" cy="355"/>
            </a:xfrm>
            <a:prstGeom prst="parallelogram">
              <a:avLst>
                <a:gd name="adj" fmla="val 18265"/>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4" name="AutoShape 70"/>
            <p:cNvSpPr>
              <a:spLocks noChangeArrowheads="1"/>
            </p:cNvSpPr>
            <p:nvPr/>
          </p:nvSpPr>
          <p:spPr bwMode="auto">
            <a:xfrm rot="746037">
              <a:off x="2563" y="1853"/>
              <a:ext cx="226" cy="127"/>
            </a:xfrm>
            <a:prstGeom prst="rightArrow">
              <a:avLst>
                <a:gd name="adj1" fmla="val 50000"/>
                <a:gd name="adj2" fmla="val 44488"/>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5" name="Text Box 71"/>
            <p:cNvSpPr txBox="1">
              <a:spLocks noChangeArrowheads="1"/>
            </p:cNvSpPr>
            <p:nvPr/>
          </p:nvSpPr>
          <p:spPr bwMode="auto">
            <a:xfrm>
              <a:off x="2567" y="1500"/>
              <a:ext cx="242" cy="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80000"/>
                </a:lnSpc>
              </a:pPr>
              <a:r>
                <a:rPr kumimoji="1" lang="zh-CN" altLang="en-US" b="1" dirty="0">
                  <a:solidFill>
                    <a:srgbClr val="333399"/>
                  </a:solidFill>
                  <a:ea typeface="黑体" pitchFamily="2" charset="-122"/>
                </a:rPr>
                <a:t>报</a:t>
              </a:r>
            </a:p>
            <a:p>
              <a:pPr>
                <a:lnSpc>
                  <a:spcPct val="80000"/>
                </a:lnSpc>
              </a:pPr>
              <a:r>
                <a:rPr kumimoji="1" lang="zh-CN" altLang="en-US" b="1" dirty="0">
                  <a:solidFill>
                    <a:srgbClr val="333399"/>
                  </a:solidFill>
                  <a:ea typeface="黑体" pitchFamily="2" charset="-122"/>
                </a:rPr>
                <a:t>文</a:t>
              </a:r>
            </a:p>
          </p:txBody>
        </p:sp>
        <p:sp>
          <p:nvSpPr>
            <p:cNvPr id="154696" name="Line 7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7" name="Line 7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698" name="Line 74"/>
          <p:cNvSpPr>
            <a:spLocks noChangeShapeType="1"/>
          </p:cNvSpPr>
          <p:nvPr/>
        </p:nvSpPr>
        <p:spPr bwMode="auto">
          <a:xfrm>
            <a:off x="2044833" y="1905411"/>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99" name="Line 75"/>
          <p:cNvSpPr>
            <a:spLocks noChangeShapeType="1"/>
          </p:cNvSpPr>
          <p:nvPr/>
        </p:nvSpPr>
        <p:spPr bwMode="auto">
          <a:xfrm>
            <a:off x="2669117" y="1905411"/>
            <a:ext cx="0" cy="381317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0" name="Text Box 76"/>
          <p:cNvSpPr txBox="1">
            <a:spLocks noChangeArrowheads="1"/>
          </p:cNvSpPr>
          <p:nvPr/>
        </p:nvSpPr>
        <p:spPr bwMode="auto">
          <a:xfrm>
            <a:off x="1264711" y="5693186"/>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itchFamily="2" charset="-122"/>
              </a:rPr>
              <a:t>A      B      C     D </a:t>
            </a:r>
          </a:p>
        </p:txBody>
      </p:sp>
      <p:sp>
        <p:nvSpPr>
          <p:cNvPr id="154701" name="Text Box 77"/>
          <p:cNvSpPr txBox="1">
            <a:spLocks noChangeArrowheads="1"/>
          </p:cNvSpPr>
          <p:nvPr/>
        </p:nvSpPr>
        <p:spPr bwMode="auto">
          <a:xfrm>
            <a:off x="4186636" y="5693186"/>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itchFamily="2" charset="-122"/>
              </a:rPr>
              <a:t>A      B      C      D</a:t>
            </a:r>
          </a:p>
        </p:txBody>
      </p:sp>
      <p:sp>
        <p:nvSpPr>
          <p:cNvPr id="154702" name="Text Box 78"/>
          <p:cNvSpPr txBox="1">
            <a:spLocks noChangeArrowheads="1"/>
          </p:cNvSpPr>
          <p:nvPr/>
        </p:nvSpPr>
        <p:spPr bwMode="auto">
          <a:xfrm>
            <a:off x="7228948" y="5693186"/>
            <a:ext cx="21885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itchFamily="2" charset="-122"/>
              </a:rPr>
              <a:t>A      B      C      D</a:t>
            </a:r>
          </a:p>
        </p:txBody>
      </p:sp>
      <p:sp>
        <p:nvSpPr>
          <p:cNvPr id="154703" name="Line 79"/>
          <p:cNvSpPr>
            <a:spLocks noChangeShapeType="1"/>
          </p:cNvSpPr>
          <p:nvPr/>
        </p:nvSpPr>
        <p:spPr bwMode="auto">
          <a:xfrm>
            <a:off x="1420548" y="2038761"/>
            <a:ext cx="624285" cy="6667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4" name="Line 80"/>
          <p:cNvSpPr>
            <a:spLocks noChangeShapeType="1"/>
          </p:cNvSpPr>
          <p:nvPr/>
        </p:nvSpPr>
        <p:spPr bwMode="auto">
          <a:xfrm>
            <a:off x="2044833" y="2307048"/>
            <a:ext cx="624284" cy="6667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5" name="Line 81"/>
          <p:cNvSpPr>
            <a:spLocks noChangeShapeType="1"/>
          </p:cNvSpPr>
          <p:nvPr/>
        </p:nvSpPr>
        <p:spPr bwMode="auto">
          <a:xfrm>
            <a:off x="2669117" y="2573748"/>
            <a:ext cx="622565" cy="6667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6" name="Line 82"/>
          <p:cNvSpPr>
            <a:spLocks noChangeShapeType="1"/>
          </p:cNvSpPr>
          <p:nvPr/>
        </p:nvSpPr>
        <p:spPr bwMode="auto">
          <a:xfrm flipH="1">
            <a:off x="1420548" y="2975386"/>
            <a:ext cx="1871133" cy="268287"/>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11" name="Text Box 87"/>
          <p:cNvSpPr txBox="1">
            <a:spLocks noChangeArrowheads="1"/>
          </p:cNvSpPr>
          <p:nvPr/>
        </p:nvSpPr>
        <p:spPr bwMode="auto">
          <a:xfrm>
            <a:off x="4665795" y="807095"/>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C00000"/>
                </a:solidFill>
                <a:ea typeface="黑体" pitchFamily="2" charset="-122"/>
              </a:rPr>
              <a:t>报文交换</a:t>
            </a:r>
          </a:p>
        </p:txBody>
      </p:sp>
      <p:sp>
        <p:nvSpPr>
          <p:cNvPr id="154712" name="Text Box 88"/>
          <p:cNvSpPr txBox="1">
            <a:spLocks noChangeArrowheads="1"/>
          </p:cNvSpPr>
          <p:nvPr/>
        </p:nvSpPr>
        <p:spPr bwMode="auto">
          <a:xfrm>
            <a:off x="1676797" y="807095"/>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dirty="0">
                <a:solidFill>
                  <a:srgbClr val="C00000"/>
                </a:solidFill>
                <a:ea typeface="黑体" pitchFamily="2" charset="-122"/>
              </a:rPr>
              <a:t>电路交换</a:t>
            </a:r>
          </a:p>
        </p:txBody>
      </p:sp>
      <p:sp>
        <p:nvSpPr>
          <p:cNvPr id="154713" name="Text Box 89"/>
          <p:cNvSpPr txBox="1">
            <a:spLocks noChangeArrowheads="1"/>
          </p:cNvSpPr>
          <p:nvPr/>
        </p:nvSpPr>
        <p:spPr bwMode="auto">
          <a:xfrm>
            <a:off x="7646194" y="807095"/>
            <a:ext cx="141577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a:solidFill>
                  <a:srgbClr val="C00000"/>
                </a:solidFill>
                <a:ea typeface="黑体" pitchFamily="2" charset="-122"/>
              </a:rPr>
              <a:t>分组交换</a:t>
            </a:r>
          </a:p>
        </p:txBody>
      </p:sp>
      <p:sp>
        <p:nvSpPr>
          <p:cNvPr id="154714" name="Line 90"/>
          <p:cNvSpPr>
            <a:spLocks noChangeShapeType="1"/>
          </p:cNvSpPr>
          <p:nvPr/>
        </p:nvSpPr>
        <p:spPr bwMode="auto">
          <a:xfrm>
            <a:off x="3804179" y="2373722"/>
            <a:ext cx="0" cy="274320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15" name="Text Box 91"/>
          <p:cNvSpPr txBox="1">
            <a:spLocks noChangeArrowheads="1"/>
          </p:cNvSpPr>
          <p:nvPr/>
        </p:nvSpPr>
        <p:spPr bwMode="auto">
          <a:xfrm>
            <a:off x="3694112" y="5132798"/>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t</a:t>
            </a:r>
          </a:p>
        </p:txBody>
      </p:sp>
      <p:grpSp>
        <p:nvGrpSpPr>
          <p:cNvPr id="154746" name="Group 122"/>
          <p:cNvGrpSpPr>
            <a:grpSpLocks/>
          </p:cNvGrpSpPr>
          <p:nvPr/>
        </p:nvGrpSpPr>
        <p:grpSpPr bwMode="auto">
          <a:xfrm>
            <a:off x="194337" y="2037172"/>
            <a:ext cx="1202134" cy="1230313"/>
            <a:chOff x="113" y="1473"/>
            <a:chExt cx="699" cy="775"/>
          </a:xfrm>
        </p:grpSpPr>
        <p:sp>
          <p:nvSpPr>
            <p:cNvPr id="154716" name="Line 92"/>
            <p:cNvSpPr>
              <a:spLocks noChangeShapeType="1"/>
            </p:cNvSpPr>
            <p:nvPr/>
          </p:nvSpPr>
          <p:spPr bwMode="auto">
            <a:xfrm>
              <a:off x="630" y="1474"/>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18" name="Line 94"/>
            <p:cNvSpPr>
              <a:spLocks noChangeShapeType="1"/>
            </p:cNvSpPr>
            <p:nvPr/>
          </p:nvSpPr>
          <p:spPr bwMode="auto">
            <a:xfrm>
              <a:off x="622" y="2248"/>
              <a:ext cx="181"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19" name="Text Box 95"/>
            <p:cNvSpPr txBox="1">
              <a:spLocks noChangeArrowheads="1"/>
            </p:cNvSpPr>
            <p:nvPr/>
          </p:nvSpPr>
          <p:spPr bwMode="auto">
            <a:xfrm>
              <a:off x="113" y="1733"/>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dirty="0">
                  <a:solidFill>
                    <a:srgbClr val="333399"/>
                  </a:solidFill>
                  <a:ea typeface="黑体" pitchFamily="2" charset="-122"/>
                </a:rPr>
                <a:t>连接建立</a:t>
              </a:r>
            </a:p>
          </p:txBody>
        </p:sp>
        <p:sp>
          <p:nvSpPr>
            <p:cNvPr id="154721" name="Line 97"/>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54747" name="Group 123"/>
          <p:cNvGrpSpPr>
            <a:grpSpLocks/>
          </p:cNvGrpSpPr>
          <p:nvPr/>
        </p:nvGrpSpPr>
        <p:grpSpPr bwMode="auto">
          <a:xfrm>
            <a:off x="194337" y="3264311"/>
            <a:ext cx="1202134" cy="1011237"/>
            <a:chOff x="113" y="2246"/>
            <a:chExt cx="699" cy="637"/>
          </a:xfrm>
        </p:grpSpPr>
        <p:sp>
          <p:nvSpPr>
            <p:cNvPr id="154717" name="Line 93"/>
            <p:cNvSpPr>
              <a:spLocks noChangeShapeType="1"/>
            </p:cNvSpPr>
            <p:nvPr/>
          </p:nvSpPr>
          <p:spPr bwMode="auto">
            <a:xfrm>
              <a:off x="630" y="2881"/>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20" name="Text Box 96"/>
            <p:cNvSpPr txBox="1">
              <a:spLocks noChangeArrowheads="1"/>
            </p:cNvSpPr>
            <p:nvPr/>
          </p:nvSpPr>
          <p:spPr bwMode="auto">
            <a:xfrm>
              <a:off x="113" y="2405"/>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333399"/>
                  </a:solidFill>
                  <a:ea typeface="黑体" pitchFamily="2" charset="-122"/>
                </a:rPr>
                <a:t>数据传送</a:t>
              </a:r>
            </a:p>
          </p:txBody>
        </p:sp>
        <p:sp>
          <p:nvSpPr>
            <p:cNvPr id="154722" name="Line 98"/>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sp>
        <p:nvSpPr>
          <p:cNvPr id="154723" name="Freeform 99"/>
          <p:cNvSpPr>
            <a:spLocks/>
          </p:cNvSpPr>
          <p:nvPr/>
        </p:nvSpPr>
        <p:spPr bwMode="auto">
          <a:xfrm>
            <a:off x="1415389" y="1905410"/>
            <a:ext cx="5159" cy="3821112"/>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4" name="Freeform 100"/>
          <p:cNvSpPr>
            <a:spLocks/>
          </p:cNvSpPr>
          <p:nvPr/>
        </p:nvSpPr>
        <p:spPr bwMode="auto">
          <a:xfrm>
            <a:off x="6215328" y="1883186"/>
            <a:ext cx="5160"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5" name="Line 101"/>
          <p:cNvSpPr>
            <a:spLocks noChangeShapeType="1"/>
          </p:cNvSpPr>
          <p:nvPr/>
        </p:nvSpPr>
        <p:spPr bwMode="auto">
          <a:xfrm>
            <a:off x="9250760" y="1932398"/>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6" name="Line 102"/>
          <p:cNvSpPr>
            <a:spLocks noChangeShapeType="1"/>
          </p:cNvSpPr>
          <p:nvPr/>
        </p:nvSpPr>
        <p:spPr bwMode="auto">
          <a:xfrm>
            <a:off x="8624756" y="191811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7" name="Line 103"/>
          <p:cNvSpPr>
            <a:spLocks noChangeShapeType="1"/>
          </p:cNvSpPr>
          <p:nvPr/>
        </p:nvSpPr>
        <p:spPr bwMode="auto">
          <a:xfrm>
            <a:off x="8009070" y="190541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8" name="Line 104"/>
          <p:cNvSpPr>
            <a:spLocks noChangeShapeType="1"/>
          </p:cNvSpPr>
          <p:nvPr/>
        </p:nvSpPr>
        <p:spPr bwMode="auto">
          <a:xfrm>
            <a:off x="4328716" y="1883186"/>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29" name="Line 105"/>
          <p:cNvSpPr>
            <a:spLocks noChangeShapeType="1"/>
          </p:cNvSpPr>
          <p:nvPr/>
        </p:nvSpPr>
        <p:spPr bwMode="auto">
          <a:xfrm>
            <a:off x="4946121" y="1883186"/>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0" name="Line 106"/>
          <p:cNvSpPr>
            <a:spLocks noChangeShapeType="1"/>
          </p:cNvSpPr>
          <p:nvPr/>
        </p:nvSpPr>
        <p:spPr bwMode="auto">
          <a:xfrm>
            <a:off x="5589323" y="1883186"/>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749" name="Group 125"/>
          <p:cNvGrpSpPr>
            <a:grpSpLocks/>
          </p:cNvGrpSpPr>
          <p:nvPr/>
        </p:nvGrpSpPr>
        <p:grpSpPr bwMode="auto">
          <a:xfrm>
            <a:off x="1405071" y="3251611"/>
            <a:ext cx="1914128" cy="1279525"/>
            <a:chOff x="817" y="2238"/>
            <a:chExt cx="1113" cy="806"/>
          </a:xfrm>
        </p:grpSpPr>
        <p:sp>
          <p:nvSpPr>
            <p:cNvPr id="154707" name="Line 83"/>
            <p:cNvSpPr>
              <a:spLocks noChangeShapeType="1"/>
            </p:cNvSpPr>
            <p:nvPr/>
          </p:nvSpPr>
          <p:spPr bwMode="auto">
            <a:xfrm>
              <a:off x="841" y="2268"/>
              <a:ext cx="1089" cy="168"/>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9050">
                  <a:solidFill>
                    <a:schemeClr val="bg2"/>
                  </a:solidFill>
                  <a:round/>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8" name="AutoShape 84"/>
            <p:cNvSpPr>
              <a:spLocks noChangeArrowheads="1"/>
            </p:cNvSpPr>
            <p:nvPr/>
          </p:nvSpPr>
          <p:spPr bwMode="auto">
            <a:xfrm rot="5400000">
              <a:off x="976" y="2091"/>
              <a:ext cx="793" cy="1092"/>
            </a:xfrm>
            <a:prstGeom prst="parallelogram">
              <a:avLst>
                <a:gd name="adj" fmla="val 21176"/>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09" name="Text Box 85"/>
            <p:cNvSpPr txBox="1">
              <a:spLocks noChangeArrowheads="1"/>
            </p:cNvSpPr>
            <p:nvPr/>
          </p:nvSpPr>
          <p:spPr bwMode="auto">
            <a:xfrm>
              <a:off x="1113" y="2429"/>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333399"/>
                  </a:solidFill>
                  <a:ea typeface="黑体" pitchFamily="2" charset="-122"/>
                </a:rPr>
                <a:t>报文</a:t>
              </a:r>
            </a:p>
          </p:txBody>
        </p:sp>
        <p:sp>
          <p:nvSpPr>
            <p:cNvPr id="154710" name="AutoShape 8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2" name="Line 108"/>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3" name="Line 109"/>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5" name="Group 131"/>
          <p:cNvGrpSpPr>
            <a:grpSpLocks/>
          </p:cNvGrpSpPr>
          <p:nvPr/>
        </p:nvGrpSpPr>
        <p:grpSpPr bwMode="auto">
          <a:xfrm>
            <a:off x="7371028" y="2170519"/>
            <a:ext cx="631164" cy="387349"/>
            <a:chOff x="4286" y="1557"/>
            <a:chExt cx="367" cy="244"/>
          </a:xfrm>
        </p:grpSpPr>
        <p:sp>
          <p:nvSpPr>
            <p:cNvPr id="154668" name="AutoShape 44"/>
            <p:cNvSpPr>
              <a:spLocks noChangeArrowheads="1"/>
            </p:cNvSpPr>
            <p:nvPr/>
          </p:nvSpPr>
          <p:spPr bwMode="auto">
            <a:xfrm rot="5400000">
              <a:off x="4367" y="1516"/>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69" name="Text Box 45"/>
            <p:cNvSpPr txBox="1">
              <a:spLocks noChangeArrowheads="1"/>
            </p:cNvSpPr>
            <p:nvPr/>
          </p:nvSpPr>
          <p:spPr bwMode="auto">
            <a:xfrm rot="626605">
              <a:off x="4304" y="1557"/>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a:solidFill>
                    <a:srgbClr val="333399"/>
                  </a:solidFill>
                  <a:ea typeface="黑体" pitchFamily="2" charset="-122"/>
                </a:rPr>
                <a:t>P</a:t>
              </a:r>
              <a:r>
                <a:rPr kumimoji="1" lang="en-US" altLang="zh-CN" baseline="-25000">
                  <a:solidFill>
                    <a:srgbClr val="333399"/>
                  </a:solidFill>
                  <a:ea typeface="黑体" pitchFamily="2" charset="-122"/>
                </a:rPr>
                <a:t>2</a:t>
              </a:r>
              <a:endParaRPr kumimoji="1" lang="en-US" altLang="zh-CN">
                <a:solidFill>
                  <a:srgbClr val="333399"/>
                </a:solidFill>
                <a:ea typeface="黑体" pitchFamily="2" charset="-122"/>
              </a:endParaRPr>
            </a:p>
          </p:txBody>
        </p:sp>
        <p:sp>
          <p:nvSpPr>
            <p:cNvPr id="154671"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2" name="AutoShape 48"/>
            <p:cNvSpPr>
              <a:spLocks noChangeArrowheads="1"/>
            </p:cNvSpPr>
            <p:nvPr/>
          </p:nvSpPr>
          <p:spPr bwMode="auto">
            <a:xfrm rot="746037">
              <a:off x="4481" y="1652"/>
              <a:ext cx="132" cy="126"/>
            </a:xfrm>
            <a:prstGeom prst="rightArrow">
              <a:avLst>
                <a:gd name="adj1" fmla="val 50000"/>
                <a:gd name="adj2" fmla="val 26190"/>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670"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4754" name="Group 130"/>
          <p:cNvGrpSpPr>
            <a:grpSpLocks/>
          </p:cNvGrpSpPr>
          <p:nvPr/>
        </p:nvGrpSpPr>
        <p:grpSpPr bwMode="auto">
          <a:xfrm>
            <a:off x="7379627" y="1876837"/>
            <a:ext cx="629444" cy="396876"/>
            <a:chOff x="4291" y="1372"/>
            <a:chExt cx="366" cy="250"/>
          </a:xfrm>
        </p:grpSpPr>
        <p:sp>
          <p:nvSpPr>
            <p:cNvPr id="154734" name="AutoShape 110"/>
            <p:cNvSpPr>
              <a:spLocks noChangeArrowheads="1"/>
            </p:cNvSpPr>
            <p:nvPr/>
          </p:nvSpPr>
          <p:spPr bwMode="auto">
            <a:xfrm rot="5400000">
              <a:off x="4371" y="1337"/>
              <a:ext cx="211" cy="359"/>
            </a:xfrm>
            <a:prstGeom prst="parallelogram">
              <a:avLst>
                <a:gd name="adj" fmla="val 29162"/>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5" name="Text Box 111"/>
            <p:cNvSpPr txBox="1">
              <a:spLocks noChangeArrowheads="1"/>
            </p:cNvSpPr>
            <p:nvPr/>
          </p:nvSpPr>
          <p:spPr bwMode="auto">
            <a:xfrm rot="626605">
              <a:off x="4303" y="1372"/>
              <a:ext cx="246" cy="23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rgbClr val="333399"/>
                  </a:solidFill>
                  <a:ea typeface="黑体" pitchFamily="2" charset="-122"/>
                </a:rPr>
                <a:t>P</a:t>
              </a:r>
              <a:r>
                <a:rPr kumimoji="1" lang="en-US" altLang="zh-CN" baseline="-25000" dirty="0">
                  <a:solidFill>
                    <a:srgbClr val="333399"/>
                  </a:solidFill>
                  <a:ea typeface="黑体" pitchFamily="2" charset="-122"/>
                </a:rPr>
                <a:t>1</a:t>
              </a:r>
              <a:endParaRPr kumimoji="1" lang="en-US" altLang="zh-CN" dirty="0">
                <a:solidFill>
                  <a:srgbClr val="333399"/>
                </a:solidFill>
                <a:ea typeface="黑体" pitchFamily="2" charset="-122"/>
              </a:endParaRPr>
            </a:p>
          </p:txBody>
        </p:sp>
        <p:sp>
          <p:nvSpPr>
            <p:cNvPr id="154736"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7"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38"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4739" name="Line 115"/>
          <p:cNvSpPr>
            <a:spLocks noChangeShapeType="1"/>
          </p:cNvSpPr>
          <p:nvPr/>
        </p:nvSpPr>
        <p:spPr bwMode="auto">
          <a:xfrm>
            <a:off x="7376187" y="1892711"/>
            <a:ext cx="0" cy="3813175"/>
          </a:xfrm>
          <a:prstGeom prst="line">
            <a:avLst/>
          </a:prstGeom>
          <a:noFill/>
          <a:ln w="12700">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0" name="Line 116"/>
          <p:cNvSpPr>
            <a:spLocks noChangeShapeType="1"/>
          </p:cNvSpPr>
          <p:nvPr/>
        </p:nvSpPr>
        <p:spPr bwMode="auto">
          <a:xfrm>
            <a:off x="1415389" y="4358097"/>
            <a:ext cx="624284" cy="9525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1" name="Line 117"/>
          <p:cNvSpPr>
            <a:spLocks noChangeShapeType="1"/>
          </p:cNvSpPr>
          <p:nvPr/>
        </p:nvSpPr>
        <p:spPr bwMode="auto">
          <a:xfrm>
            <a:off x="2049992" y="4539072"/>
            <a:ext cx="613966" cy="9525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742" name="Line 118"/>
          <p:cNvSpPr>
            <a:spLocks noChangeShapeType="1"/>
          </p:cNvSpPr>
          <p:nvPr/>
        </p:nvSpPr>
        <p:spPr bwMode="auto">
          <a:xfrm>
            <a:off x="2663958" y="4729573"/>
            <a:ext cx="622565" cy="85725"/>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4748" name="Group 124"/>
          <p:cNvGrpSpPr>
            <a:grpSpLocks/>
          </p:cNvGrpSpPr>
          <p:nvPr/>
        </p:nvGrpSpPr>
        <p:grpSpPr bwMode="auto">
          <a:xfrm>
            <a:off x="194337" y="4253322"/>
            <a:ext cx="1176338" cy="592138"/>
            <a:chOff x="113" y="2869"/>
            <a:chExt cx="684" cy="373"/>
          </a:xfrm>
        </p:grpSpPr>
        <p:sp>
          <p:nvSpPr>
            <p:cNvPr id="154743" name="Line 119"/>
            <p:cNvSpPr>
              <a:spLocks noChangeShapeType="1"/>
            </p:cNvSpPr>
            <p:nvPr/>
          </p:nvSpPr>
          <p:spPr bwMode="auto">
            <a:xfrm>
              <a:off x="615" y="3241"/>
              <a:ext cx="182" cy="0"/>
            </a:xfrm>
            <a:prstGeom prst="line">
              <a:avLst/>
            </a:prstGeom>
            <a:noFill/>
            <a:ln w="952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44" name="Line 120"/>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54745" name="Text Box 121"/>
            <p:cNvSpPr txBox="1">
              <a:spLocks noChangeArrowheads="1"/>
            </p:cNvSpPr>
            <p:nvPr/>
          </p:nvSpPr>
          <p:spPr bwMode="auto">
            <a:xfrm>
              <a:off x="113" y="2933"/>
              <a:ext cx="644"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b="1">
                  <a:solidFill>
                    <a:srgbClr val="333399"/>
                  </a:solidFill>
                  <a:ea typeface="黑体" pitchFamily="2" charset="-122"/>
                </a:rPr>
                <a:t>连接释放</a:t>
              </a:r>
            </a:p>
          </p:txBody>
        </p:sp>
      </p:grpSp>
      <p:sp>
        <p:nvSpPr>
          <p:cNvPr id="154731" name="Freeform 107"/>
          <p:cNvSpPr>
            <a:spLocks/>
          </p:cNvSpPr>
          <p:nvPr/>
        </p:nvSpPr>
        <p:spPr bwMode="auto">
          <a:xfrm>
            <a:off x="3293402" y="1927636"/>
            <a:ext cx="5159"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759196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nodeType="afterGroup">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nodeType="afterGroup">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nodeType="afterGroup">
                            <p:stCondLst>
                              <p:cond delay="2000"/>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nodeType="afterGroup">
                            <p:stCondLst>
                              <p:cond delay="2500"/>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nodeType="afterGroup">
                            <p:stCondLst>
                              <p:cond delay="3000"/>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nodeType="afterGroup">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nodeType="afterGroup">
                            <p:stCondLst>
                              <p:cond delay="4000"/>
                            </p:stCondLst>
                            <p:childTnLst>
                              <p:par>
                                <p:cTn id="38" presetID="22" presetClass="entr" presetSubtype="8" fill="hold" grpId="0"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nodeType="afterGroup">
                            <p:stCondLst>
                              <p:cond delay="4500"/>
                            </p:stCondLst>
                            <p:childTnLst>
                              <p:par>
                                <p:cTn id="42" presetID="22" presetClass="entr" presetSubtype="8" fill="hold" grpId="0"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par>
                          <p:cTn id="45" fill="hold" nodeType="afterGroup">
                            <p:stCondLst>
                              <p:cond delay="5000"/>
                            </p:stCondLst>
                            <p:childTnLst>
                              <p:par>
                                <p:cTn id="46" presetID="22" presetClass="entr" presetSubtype="8" fill="hold" nodeType="afterEffect">
                                  <p:stCondLst>
                                    <p:cond delay="0"/>
                                  </p:stCondLst>
                                  <p:childTnLst>
                                    <p:set>
                                      <p:cBhvr>
                                        <p:cTn id="47" dur="1" fill="hold">
                                          <p:stCondLst>
                                            <p:cond delay="0"/>
                                          </p:stCondLst>
                                        </p:cTn>
                                        <p:tgtEl>
                                          <p:spTgt spid="154750"/>
                                        </p:tgtEl>
                                        <p:attrNameLst>
                                          <p:attrName>style.visibility</p:attrName>
                                        </p:attrNameLst>
                                      </p:cBhvr>
                                      <p:to>
                                        <p:strVal val="visible"/>
                                      </p:to>
                                    </p:set>
                                    <p:animEffect transition="in" filter="wipe(left)">
                                      <p:cBhvr>
                                        <p:cTn id="48" dur="2000"/>
                                        <p:tgtEl>
                                          <p:spTgt spid="154750"/>
                                        </p:tgtEl>
                                      </p:cBhvr>
                                    </p:animEffect>
                                  </p:childTnLst>
                                </p:cTn>
                              </p:par>
                            </p:childTnLst>
                          </p:cTn>
                        </p:par>
                        <p:par>
                          <p:cTn id="49" fill="hold" nodeType="afterGroup">
                            <p:stCondLst>
                              <p:cond delay="7000"/>
                            </p:stCondLst>
                            <p:childTnLst>
                              <p:par>
                                <p:cTn id="50" presetID="22" presetClass="entr" presetSubtype="8" fill="hold" nodeType="afterEffect">
                                  <p:stCondLst>
                                    <p:cond delay="1000"/>
                                  </p:stCondLst>
                                  <p:childTnLst>
                                    <p:set>
                                      <p:cBhvr>
                                        <p:cTn id="51" dur="1" fill="hold">
                                          <p:stCondLst>
                                            <p:cond delay="0"/>
                                          </p:stCondLst>
                                        </p:cTn>
                                        <p:tgtEl>
                                          <p:spTgt spid="154751"/>
                                        </p:tgtEl>
                                        <p:attrNameLst>
                                          <p:attrName>style.visibility</p:attrName>
                                        </p:attrNameLst>
                                      </p:cBhvr>
                                      <p:to>
                                        <p:strVal val="visible"/>
                                      </p:to>
                                    </p:set>
                                    <p:animEffect transition="in" filter="wipe(left)">
                                      <p:cBhvr>
                                        <p:cTn id="52" dur="2000"/>
                                        <p:tgtEl>
                                          <p:spTgt spid="154751"/>
                                        </p:tgtEl>
                                      </p:cBhvr>
                                    </p:animEffect>
                                  </p:childTnLst>
                                </p:cTn>
                              </p:par>
                            </p:childTnLst>
                          </p:cTn>
                        </p:par>
                        <p:par>
                          <p:cTn id="53" fill="hold" nodeType="afterGroup">
                            <p:stCondLst>
                              <p:cond delay="10000"/>
                            </p:stCondLst>
                            <p:childTnLst>
                              <p:par>
                                <p:cTn id="54" presetID="22" presetClass="entr" presetSubtype="8" fill="hold" nodeType="afterEffect">
                                  <p:stCondLst>
                                    <p:cond delay="1000"/>
                                  </p:stCondLst>
                                  <p:childTnLst>
                                    <p:set>
                                      <p:cBhvr>
                                        <p:cTn id="55" dur="1" fill="hold">
                                          <p:stCondLst>
                                            <p:cond delay="0"/>
                                          </p:stCondLst>
                                        </p:cTn>
                                        <p:tgtEl>
                                          <p:spTgt spid="154752"/>
                                        </p:tgtEl>
                                        <p:attrNameLst>
                                          <p:attrName>style.visibility</p:attrName>
                                        </p:attrNameLst>
                                      </p:cBhvr>
                                      <p:to>
                                        <p:strVal val="visible"/>
                                      </p:to>
                                    </p:set>
                                    <p:animEffect transition="in" filter="wipe(left)">
                                      <p:cBhvr>
                                        <p:cTn id="56" dur="2000"/>
                                        <p:tgtEl>
                                          <p:spTgt spid="154752"/>
                                        </p:tgtEl>
                                      </p:cBhvr>
                                    </p:animEffect>
                                  </p:childTnLst>
                                </p:cTn>
                              </p:par>
                            </p:childTnLst>
                          </p:cTn>
                        </p:par>
                        <p:par>
                          <p:cTn id="57" fill="hold" nodeType="afterGroup">
                            <p:stCondLst>
                              <p:cond delay="13000"/>
                            </p:stCondLst>
                            <p:childTnLst>
                              <p:par>
                                <p:cTn id="58" presetID="22" presetClass="entr" presetSubtype="8" fill="hold" nodeType="afterEffect">
                                  <p:stCondLst>
                                    <p:cond delay="0"/>
                                  </p:stCondLst>
                                  <p:childTnLst>
                                    <p:set>
                                      <p:cBhvr>
                                        <p:cTn id="59" dur="1" fill="hold">
                                          <p:stCondLst>
                                            <p:cond delay="0"/>
                                          </p:stCondLst>
                                        </p:cTn>
                                        <p:tgtEl>
                                          <p:spTgt spid="154754"/>
                                        </p:tgtEl>
                                        <p:attrNameLst>
                                          <p:attrName>style.visibility</p:attrName>
                                        </p:attrNameLst>
                                      </p:cBhvr>
                                      <p:to>
                                        <p:strVal val="visible"/>
                                      </p:to>
                                    </p:set>
                                    <p:animEffect transition="in" filter="wipe(left)">
                                      <p:cBhvr>
                                        <p:cTn id="60" dur="500"/>
                                        <p:tgtEl>
                                          <p:spTgt spid="154754"/>
                                        </p:tgtEl>
                                      </p:cBhvr>
                                    </p:animEffect>
                                  </p:childTnLst>
                                </p:cTn>
                              </p:par>
                            </p:childTnLst>
                          </p:cTn>
                        </p:par>
                        <p:par>
                          <p:cTn id="61" fill="hold" nodeType="afterGroup">
                            <p:stCondLst>
                              <p:cond delay="13500"/>
                            </p:stCondLst>
                            <p:childTnLst>
                              <p:par>
                                <p:cTn id="62" presetID="22" presetClass="entr" presetSubtype="8" fill="hold" nodeType="afterEffect">
                                  <p:stCondLst>
                                    <p:cond delay="0"/>
                                  </p:stCondLst>
                                  <p:childTnLst>
                                    <p:set>
                                      <p:cBhvr>
                                        <p:cTn id="63" dur="1" fill="hold">
                                          <p:stCondLst>
                                            <p:cond delay="0"/>
                                          </p:stCondLst>
                                        </p:cTn>
                                        <p:tgtEl>
                                          <p:spTgt spid="154755"/>
                                        </p:tgtEl>
                                        <p:attrNameLst>
                                          <p:attrName>style.visibility</p:attrName>
                                        </p:attrNameLst>
                                      </p:cBhvr>
                                      <p:to>
                                        <p:strVal val="visible"/>
                                      </p:to>
                                    </p:set>
                                    <p:animEffect transition="in" filter="wipe(left)">
                                      <p:cBhvr>
                                        <p:cTn id="64" dur="500"/>
                                        <p:tgtEl>
                                          <p:spTgt spid="154755"/>
                                        </p:tgtEl>
                                      </p:cBhvr>
                                    </p:animEffect>
                                  </p:childTnLst>
                                </p:cTn>
                              </p:par>
                              <p:par>
                                <p:cTn id="65" presetID="22" presetClass="entr" presetSubtype="8" fill="hold" nodeType="withEffect">
                                  <p:stCondLst>
                                    <p:cond delay="0"/>
                                  </p:stCondLst>
                                  <p:childTnLst>
                                    <p:set>
                                      <p:cBhvr>
                                        <p:cTn id="66" dur="1" fill="hold">
                                          <p:stCondLst>
                                            <p:cond delay="0"/>
                                          </p:stCondLst>
                                        </p:cTn>
                                        <p:tgtEl>
                                          <p:spTgt spid="154758"/>
                                        </p:tgtEl>
                                        <p:attrNameLst>
                                          <p:attrName>style.visibility</p:attrName>
                                        </p:attrNameLst>
                                      </p:cBhvr>
                                      <p:to>
                                        <p:strVal val="visible"/>
                                      </p:to>
                                    </p:set>
                                    <p:animEffect transition="in" filter="wipe(left)">
                                      <p:cBhvr>
                                        <p:cTn id="67" dur="500"/>
                                        <p:tgtEl>
                                          <p:spTgt spid="154758"/>
                                        </p:tgtEl>
                                      </p:cBhvr>
                                    </p:animEffect>
                                  </p:childTnLst>
                                </p:cTn>
                              </p:par>
                            </p:childTnLst>
                          </p:cTn>
                        </p:par>
                        <p:par>
                          <p:cTn id="68" fill="hold" nodeType="afterGroup">
                            <p:stCondLst>
                              <p:cond delay="14000"/>
                            </p:stCondLst>
                            <p:childTnLst>
                              <p:par>
                                <p:cTn id="69" presetID="22" presetClass="entr" presetSubtype="8" fill="hold" nodeType="afterEffect">
                                  <p:stCondLst>
                                    <p:cond delay="0"/>
                                  </p:stCondLst>
                                  <p:childTnLst>
                                    <p:set>
                                      <p:cBhvr>
                                        <p:cTn id="70" dur="1" fill="hold">
                                          <p:stCondLst>
                                            <p:cond delay="0"/>
                                          </p:stCondLst>
                                        </p:cTn>
                                        <p:tgtEl>
                                          <p:spTgt spid="154756"/>
                                        </p:tgtEl>
                                        <p:attrNameLst>
                                          <p:attrName>style.visibility</p:attrName>
                                        </p:attrNameLst>
                                      </p:cBhvr>
                                      <p:to>
                                        <p:strVal val="visible"/>
                                      </p:to>
                                    </p:set>
                                    <p:animEffect transition="in" filter="wipe(left)">
                                      <p:cBhvr>
                                        <p:cTn id="71" dur="500"/>
                                        <p:tgtEl>
                                          <p:spTgt spid="154756"/>
                                        </p:tgtEl>
                                      </p:cBhvr>
                                    </p:animEffect>
                                  </p:childTnLst>
                                </p:cTn>
                              </p:par>
                              <p:par>
                                <p:cTn id="72" presetID="22" presetClass="entr" presetSubtype="8" fill="hold" nodeType="withEffect">
                                  <p:stCondLst>
                                    <p:cond delay="0"/>
                                  </p:stCondLst>
                                  <p:childTnLst>
                                    <p:set>
                                      <p:cBhvr>
                                        <p:cTn id="73" dur="1" fill="hold">
                                          <p:stCondLst>
                                            <p:cond delay="0"/>
                                          </p:stCondLst>
                                        </p:cTn>
                                        <p:tgtEl>
                                          <p:spTgt spid="154759"/>
                                        </p:tgtEl>
                                        <p:attrNameLst>
                                          <p:attrName>style.visibility</p:attrName>
                                        </p:attrNameLst>
                                      </p:cBhvr>
                                      <p:to>
                                        <p:strVal val="visible"/>
                                      </p:to>
                                    </p:set>
                                    <p:animEffect transition="in" filter="wipe(left)">
                                      <p:cBhvr>
                                        <p:cTn id="74" dur="500"/>
                                        <p:tgtEl>
                                          <p:spTgt spid="154759"/>
                                        </p:tgtEl>
                                      </p:cBhvr>
                                    </p:animEffect>
                                  </p:childTnLst>
                                </p:cTn>
                              </p:par>
                              <p:par>
                                <p:cTn id="75" presetID="22" presetClass="entr" presetSubtype="8" fill="hold" nodeType="withEffect">
                                  <p:stCondLst>
                                    <p:cond delay="0"/>
                                  </p:stCondLst>
                                  <p:childTnLst>
                                    <p:set>
                                      <p:cBhvr>
                                        <p:cTn id="76" dur="1" fill="hold">
                                          <p:stCondLst>
                                            <p:cond delay="0"/>
                                          </p:stCondLst>
                                        </p:cTn>
                                        <p:tgtEl>
                                          <p:spTgt spid="154763"/>
                                        </p:tgtEl>
                                        <p:attrNameLst>
                                          <p:attrName>style.visibility</p:attrName>
                                        </p:attrNameLst>
                                      </p:cBhvr>
                                      <p:to>
                                        <p:strVal val="visible"/>
                                      </p:to>
                                    </p:set>
                                    <p:animEffect transition="in" filter="wipe(left)">
                                      <p:cBhvr>
                                        <p:cTn id="77" dur="500"/>
                                        <p:tgtEl>
                                          <p:spTgt spid="154763"/>
                                        </p:tgtEl>
                                      </p:cBhvr>
                                    </p:animEffect>
                                  </p:childTnLst>
                                </p:cTn>
                              </p:par>
                            </p:childTnLst>
                          </p:cTn>
                        </p:par>
                        <p:par>
                          <p:cTn id="78" fill="hold" nodeType="afterGroup">
                            <p:stCondLst>
                              <p:cond delay="14500"/>
                            </p:stCondLst>
                            <p:childTnLst>
                              <p:par>
                                <p:cTn id="79" presetID="22" presetClass="entr" presetSubtype="8" fill="hold" nodeType="afterEffect">
                                  <p:stCondLst>
                                    <p:cond delay="0"/>
                                  </p:stCondLst>
                                  <p:childTnLst>
                                    <p:set>
                                      <p:cBhvr>
                                        <p:cTn id="80" dur="1" fill="hold">
                                          <p:stCondLst>
                                            <p:cond delay="0"/>
                                          </p:stCondLst>
                                        </p:cTn>
                                        <p:tgtEl>
                                          <p:spTgt spid="154764"/>
                                        </p:tgtEl>
                                        <p:attrNameLst>
                                          <p:attrName>style.visibility</p:attrName>
                                        </p:attrNameLst>
                                      </p:cBhvr>
                                      <p:to>
                                        <p:strVal val="visible"/>
                                      </p:to>
                                    </p:set>
                                    <p:animEffect transition="in" filter="wipe(left)">
                                      <p:cBhvr>
                                        <p:cTn id="81" dur="500"/>
                                        <p:tgtEl>
                                          <p:spTgt spid="154764"/>
                                        </p:tgtEl>
                                      </p:cBhvr>
                                    </p:animEffect>
                                  </p:childTnLst>
                                </p:cTn>
                              </p:par>
                              <p:par>
                                <p:cTn id="82" presetID="22" presetClass="entr" presetSubtype="8" fill="hold" nodeType="withEffect">
                                  <p:stCondLst>
                                    <p:cond delay="0"/>
                                  </p:stCondLst>
                                  <p:childTnLst>
                                    <p:set>
                                      <p:cBhvr>
                                        <p:cTn id="83" dur="1" fill="hold">
                                          <p:stCondLst>
                                            <p:cond delay="0"/>
                                          </p:stCondLst>
                                        </p:cTn>
                                        <p:tgtEl>
                                          <p:spTgt spid="154760"/>
                                        </p:tgtEl>
                                        <p:attrNameLst>
                                          <p:attrName>style.visibility</p:attrName>
                                        </p:attrNameLst>
                                      </p:cBhvr>
                                      <p:to>
                                        <p:strVal val="visible"/>
                                      </p:to>
                                    </p:set>
                                    <p:animEffect transition="in" filter="wipe(left)">
                                      <p:cBhvr>
                                        <p:cTn id="84" dur="500"/>
                                        <p:tgtEl>
                                          <p:spTgt spid="154760"/>
                                        </p:tgtEl>
                                      </p:cBhvr>
                                    </p:animEffect>
                                  </p:childTnLst>
                                </p:cTn>
                              </p:par>
                              <p:par>
                                <p:cTn id="85" presetID="22" presetClass="entr" presetSubtype="8" fill="hold" nodeType="withEffect">
                                  <p:stCondLst>
                                    <p:cond delay="0"/>
                                  </p:stCondLst>
                                  <p:childTnLst>
                                    <p:set>
                                      <p:cBhvr>
                                        <p:cTn id="86" dur="1" fill="hold">
                                          <p:stCondLst>
                                            <p:cond delay="0"/>
                                          </p:stCondLst>
                                        </p:cTn>
                                        <p:tgtEl>
                                          <p:spTgt spid="154757"/>
                                        </p:tgtEl>
                                        <p:attrNameLst>
                                          <p:attrName>style.visibility</p:attrName>
                                        </p:attrNameLst>
                                      </p:cBhvr>
                                      <p:to>
                                        <p:strVal val="visible"/>
                                      </p:to>
                                    </p:set>
                                    <p:animEffect transition="in" filter="wipe(left)">
                                      <p:cBhvr>
                                        <p:cTn id="87" dur="500"/>
                                        <p:tgtEl>
                                          <p:spTgt spid="154757"/>
                                        </p:tgtEl>
                                      </p:cBhvr>
                                    </p:animEffect>
                                  </p:childTnLst>
                                </p:cTn>
                              </p:par>
                            </p:childTnLst>
                          </p:cTn>
                        </p:par>
                        <p:par>
                          <p:cTn id="88" fill="hold" nodeType="afterGroup">
                            <p:stCondLst>
                              <p:cond delay="15000"/>
                            </p:stCondLst>
                            <p:childTnLst>
                              <p:par>
                                <p:cTn id="89" presetID="22" presetClass="entr" presetSubtype="8" fill="hold" nodeType="afterEffect">
                                  <p:stCondLst>
                                    <p:cond delay="0"/>
                                  </p:stCondLst>
                                  <p:childTnLst>
                                    <p:set>
                                      <p:cBhvr>
                                        <p:cTn id="90" dur="1" fill="hold">
                                          <p:stCondLst>
                                            <p:cond delay="0"/>
                                          </p:stCondLst>
                                        </p:cTn>
                                        <p:tgtEl>
                                          <p:spTgt spid="154761"/>
                                        </p:tgtEl>
                                        <p:attrNameLst>
                                          <p:attrName>style.visibility</p:attrName>
                                        </p:attrNameLst>
                                      </p:cBhvr>
                                      <p:to>
                                        <p:strVal val="visible"/>
                                      </p:to>
                                    </p:set>
                                    <p:animEffect transition="in" filter="wipe(left)">
                                      <p:cBhvr>
                                        <p:cTn id="91" dur="500"/>
                                        <p:tgtEl>
                                          <p:spTgt spid="154761"/>
                                        </p:tgtEl>
                                      </p:cBhvr>
                                    </p:animEffect>
                                  </p:childTnLst>
                                </p:cTn>
                              </p:par>
                              <p:par>
                                <p:cTn id="92" presetID="22" presetClass="entr" presetSubtype="8" fill="hold" nodeType="withEffect">
                                  <p:stCondLst>
                                    <p:cond delay="0"/>
                                  </p:stCondLst>
                                  <p:childTnLst>
                                    <p:set>
                                      <p:cBhvr>
                                        <p:cTn id="93" dur="1" fill="hold">
                                          <p:stCondLst>
                                            <p:cond delay="0"/>
                                          </p:stCondLst>
                                        </p:cTn>
                                        <p:tgtEl>
                                          <p:spTgt spid="154765"/>
                                        </p:tgtEl>
                                        <p:attrNameLst>
                                          <p:attrName>style.visibility</p:attrName>
                                        </p:attrNameLst>
                                      </p:cBhvr>
                                      <p:to>
                                        <p:strVal val="visible"/>
                                      </p:to>
                                    </p:set>
                                    <p:animEffect transition="in" filter="wipe(left)">
                                      <p:cBhvr>
                                        <p:cTn id="94" dur="500"/>
                                        <p:tgtEl>
                                          <p:spTgt spid="154765"/>
                                        </p:tgtEl>
                                      </p:cBhvr>
                                    </p:animEffect>
                                  </p:childTnLst>
                                </p:cTn>
                              </p:par>
                            </p:childTnLst>
                          </p:cTn>
                        </p:par>
                        <p:par>
                          <p:cTn id="95" fill="hold" nodeType="afterGroup">
                            <p:stCondLst>
                              <p:cond delay="15500"/>
                            </p:stCondLst>
                            <p:childTnLst>
                              <p:par>
                                <p:cTn id="96" presetID="22" presetClass="entr" presetSubtype="8" fill="hold" nodeType="afterEffect">
                                  <p:stCondLst>
                                    <p:cond delay="0"/>
                                  </p:stCondLst>
                                  <p:childTnLst>
                                    <p:set>
                                      <p:cBhvr>
                                        <p:cTn id="97" dur="1" fill="hold">
                                          <p:stCondLst>
                                            <p:cond delay="0"/>
                                          </p:stCondLst>
                                        </p:cTn>
                                        <p:tgtEl>
                                          <p:spTgt spid="154766"/>
                                        </p:tgtEl>
                                        <p:attrNameLst>
                                          <p:attrName>style.visibility</p:attrName>
                                        </p:attrNameLst>
                                      </p:cBhvr>
                                      <p:to>
                                        <p:strVal val="visible"/>
                                      </p:to>
                                    </p:set>
                                    <p:animEffect transition="in" filter="wipe(left)">
                                      <p:cBhvr>
                                        <p:cTn id="98"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03" grpId="0" animBg="1"/>
      <p:bldP spid="154704" grpId="0" animBg="1"/>
      <p:bldP spid="154705" grpId="0" animBg="1"/>
      <p:bldP spid="154706" grpId="0" animBg="1"/>
      <p:bldP spid="154740" grpId="0" animBg="1"/>
      <p:bldP spid="154741" grpId="0" animBg="1"/>
      <p:bldP spid="15474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概述</a:t>
            </a:r>
            <a:endParaRPr lang="zh-CN" altLang="en-US" dirty="0">
              <a:ea typeface="宋体" pitchFamily="2" charset="-122"/>
            </a:endParaRPr>
          </a:p>
        </p:txBody>
      </p:sp>
      <p:sp>
        <p:nvSpPr>
          <p:cNvPr id="18435" name="Rectangle 3"/>
          <p:cNvSpPr>
            <a:spLocks noGrp="1" noChangeArrowheads="1"/>
          </p:cNvSpPr>
          <p:nvPr>
            <p:ph type="body" idx="1"/>
          </p:nvPr>
        </p:nvSpPr>
        <p:spPr/>
        <p:txBody>
          <a:bodyPr/>
          <a:lstStyle/>
          <a:p>
            <a:r>
              <a:rPr lang="zh-CN" altLang="en-US" dirty="0">
                <a:solidFill>
                  <a:schemeClr val="bg1">
                    <a:lumMod val="65000"/>
                  </a:schemeClr>
                </a:solidFill>
              </a:rPr>
              <a:t>计算机网络概述</a:t>
            </a:r>
            <a:endParaRPr lang="en-US" altLang="zh-CN" dirty="0">
              <a:solidFill>
                <a:schemeClr val="bg1">
                  <a:lumMod val="65000"/>
                </a:schemeClr>
              </a:solidFill>
            </a:endParaRPr>
          </a:p>
          <a:p>
            <a:r>
              <a:rPr lang="en-US" altLang="zh-CN" dirty="0">
                <a:solidFill>
                  <a:schemeClr val="bg1">
                    <a:lumMod val="65000"/>
                  </a:schemeClr>
                </a:solidFill>
              </a:rPr>
              <a:t>Internet</a:t>
            </a:r>
            <a:r>
              <a:rPr lang="zh-CN" altLang="zh-CN" dirty="0">
                <a:solidFill>
                  <a:schemeClr val="bg1">
                    <a:lumMod val="65000"/>
                  </a:schemeClr>
                </a:solidFill>
              </a:rPr>
              <a:t>概述</a:t>
            </a:r>
            <a:endParaRPr lang="en-US" altLang="zh-CN" dirty="0">
              <a:solidFill>
                <a:schemeClr val="bg1">
                  <a:lumMod val="65000"/>
                </a:schemeClr>
              </a:solidFill>
            </a:endParaRPr>
          </a:p>
          <a:p>
            <a:r>
              <a:rPr lang="en-US" altLang="zh-CN" dirty="0">
                <a:solidFill>
                  <a:schemeClr val="bg1">
                    <a:lumMod val="65000"/>
                  </a:schemeClr>
                </a:solidFill>
              </a:rPr>
              <a:t>Internet</a:t>
            </a:r>
            <a:r>
              <a:rPr lang="zh-CN" altLang="en-US" dirty="0">
                <a:solidFill>
                  <a:schemeClr val="bg1">
                    <a:lumMod val="65000"/>
                  </a:schemeClr>
                </a:solidFill>
              </a:rPr>
              <a:t>的组成</a:t>
            </a:r>
            <a:endParaRPr lang="en-US" altLang="zh-CN" dirty="0">
              <a:solidFill>
                <a:schemeClr val="bg1">
                  <a:lumMod val="65000"/>
                </a:schemeClr>
              </a:solidFill>
            </a:endParaRPr>
          </a:p>
          <a:p>
            <a:r>
              <a:rPr lang="zh-CN" altLang="zh-CN" sz="3600" dirty="0">
                <a:solidFill>
                  <a:srgbClr val="FF0000"/>
                </a:solidFill>
              </a:rPr>
              <a:t>计算机网络的性能</a:t>
            </a:r>
            <a:r>
              <a:rPr lang="zh-CN" altLang="en-US" sz="3600" dirty="0">
                <a:solidFill>
                  <a:srgbClr val="FF0000"/>
                </a:solidFill>
              </a:rPr>
              <a:t>指标</a:t>
            </a:r>
            <a:endParaRPr lang="en-US" altLang="zh-CN" sz="3600" dirty="0">
              <a:solidFill>
                <a:srgbClr val="FF0000"/>
              </a:solidFill>
            </a:endParaRPr>
          </a:p>
          <a:p>
            <a:r>
              <a:rPr lang="zh-CN" altLang="zh-CN" dirty="0">
                <a:solidFill>
                  <a:schemeClr val="bg1">
                    <a:lumMod val="65000"/>
                  </a:schemeClr>
                </a:solidFill>
              </a:rPr>
              <a:t>计算机网络的体系结构</a:t>
            </a:r>
            <a:endParaRPr lang="zh-CN" altLang="en-US" dirty="0">
              <a:solidFill>
                <a:schemeClr val="bg1">
                  <a:lumMod val="65000"/>
                </a:schemeClr>
              </a:solidFill>
              <a:ea typeface="宋体" pitchFamily="2" charset="-122"/>
            </a:endParaRPr>
          </a:p>
        </p:txBody>
      </p:sp>
    </p:spTree>
    <p:extLst>
      <p:ext uri="{BB962C8B-B14F-4D97-AF65-F5344CB8AC3E}">
        <p14:creationId xmlns:p14="http://schemas.microsoft.com/office/powerpoint/2010/main" val="3105835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dirty="0"/>
              <a:t>计算机网络的性能指标：速率</a:t>
            </a:r>
          </a:p>
        </p:txBody>
      </p:sp>
      <p:sp>
        <p:nvSpPr>
          <p:cNvPr id="8499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spcBef>
                <a:spcPts val="600"/>
              </a:spcBef>
            </a:pPr>
            <a:r>
              <a:rPr lang="zh-CN" altLang="en-US" sz="2600" dirty="0"/>
              <a:t>比特（</a:t>
            </a:r>
            <a:r>
              <a:rPr lang="en-US" altLang="zh-CN" sz="2600" dirty="0"/>
              <a:t>bit</a:t>
            </a:r>
            <a:r>
              <a:rPr lang="zh-CN" altLang="en-US" sz="2600" dirty="0"/>
              <a:t>）是计算机中数据量的单位，也是信息论中使用的信息量的单位。</a:t>
            </a:r>
          </a:p>
          <a:p>
            <a:pPr>
              <a:spcBef>
                <a:spcPts val="600"/>
              </a:spcBef>
            </a:pPr>
            <a:r>
              <a:rPr lang="zh-CN" altLang="en-US" sz="2600" dirty="0"/>
              <a:t>比特（</a:t>
            </a:r>
            <a:r>
              <a:rPr lang="en-US" altLang="zh-CN" sz="2600" dirty="0"/>
              <a:t>bit</a:t>
            </a:r>
            <a:r>
              <a:rPr lang="zh-CN" altLang="en-US" sz="2600" dirty="0"/>
              <a:t>）来源于 </a:t>
            </a:r>
            <a:r>
              <a:rPr lang="en-US" altLang="zh-CN" sz="2600" dirty="0"/>
              <a:t>binary digit</a:t>
            </a:r>
            <a:r>
              <a:rPr lang="zh-CN" altLang="en-US" sz="2600" dirty="0"/>
              <a:t>，意思是一个“二进制数字”，因此一个比特就是二进制数字中的一个 </a:t>
            </a:r>
            <a:r>
              <a:rPr lang="en-US" altLang="zh-CN" sz="2600" dirty="0"/>
              <a:t>1 </a:t>
            </a:r>
            <a:r>
              <a:rPr lang="zh-CN" altLang="en-US" sz="2600" dirty="0"/>
              <a:t>或 </a:t>
            </a:r>
            <a:r>
              <a:rPr lang="en-US" altLang="zh-CN" sz="2600" dirty="0"/>
              <a:t>0</a:t>
            </a:r>
            <a:r>
              <a:rPr lang="zh-CN" altLang="en-US" sz="2600" dirty="0"/>
              <a:t>。</a:t>
            </a:r>
            <a:endParaRPr lang="en-US" altLang="zh-CN" sz="2600" dirty="0"/>
          </a:p>
          <a:p>
            <a:pPr>
              <a:spcBef>
                <a:spcPts val="600"/>
              </a:spcBef>
            </a:pPr>
            <a:r>
              <a:rPr lang="zh-CN" altLang="zh-CN" sz="2600" dirty="0"/>
              <a:t>速率是计算机网络中最重要的一个性能指标</a:t>
            </a:r>
            <a:r>
              <a:rPr lang="zh-CN" altLang="en-US" sz="2600" dirty="0"/>
              <a:t>，</a:t>
            </a:r>
            <a:r>
              <a:rPr lang="zh-CN" altLang="zh-CN" sz="2600" dirty="0"/>
              <a:t>指的是</a:t>
            </a:r>
            <a:r>
              <a:rPr lang="zh-CN" altLang="zh-CN" sz="2600" dirty="0">
                <a:solidFill>
                  <a:srgbClr val="FF0000"/>
                </a:solidFill>
              </a:rPr>
              <a:t>数据的传送速率，</a:t>
            </a:r>
            <a:r>
              <a:rPr lang="zh-CN" altLang="zh-CN" sz="2600" dirty="0"/>
              <a:t>它也称为</a:t>
            </a:r>
            <a:r>
              <a:rPr lang="zh-CN" altLang="zh-CN" sz="2600" dirty="0">
                <a:solidFill>
                  <a:srgbClr val="FF0000"/>
                </a:solidFill>
              </a:rPr>
              <a:t>数据率</a:t>
            </a:r>
            <a:r>
              <a:rPr lang="en-US" altLang="zh-CN" sz="2600" dirty="0">
                <a:solidFill>
                  <a:srgbClr val="FF0000"/>
                </a:solidFill>
              </a:rPr>
              <a:t> </a:t>
            </a:r>
            <a:r>
              <a:rPr lang="en-US" altLang="zh-CN" sz="2600" dirty="0"/>
              <a:t>(data rate)</a:t>
            </a:r>
            <a:r>
              <a:rPr lang="zh-CN" altLang="zh-CN" sz="2600" dirty="0"/>
              <a:t>或</a:t>
            </a:r>
            <a:r>
              <a:rPr lang="zh-CN" altLang="zh-CN" sz="2600" dirty="0">
                <a:solidFill>
                  <a:srgbClr val="FF0000"/>
                </a:solidFill>
              </a:rPr>
              <a:t>比特率</a:t>
            </a:r>
            <a:r>
              <a:rPr lang="en-US" altLang="zh-CN" sz="2600" dirty="0">
                <a:solidFill>
                  <a:srgbClr val="FF0000"/>
                </a:solidFill>
              </a:rPr>
              <a:t> </a:t>
            </a:r>
            <a:r>
              <a:rPr lang="en-US" altLang="zh-CN" sz="2600" dirty="0"/>
              <a:t>(bit rate)</a:t>
            </a:r>
            <a:r>
              <a:rPr lang="zh-CN" altLang="zh-CN" sz="2600" dirty="0"/>
              <a:t>。</a:t>
            </a:r>
            <a:endParaRPr lang="en-US" altLang="zh-CN" sz="2600" dirty="0"/>
          </a:p>
          <a:p>
            <a:pPr>
              <a:spcBef>
                <a:spcPts val="600"/>
              </a:spcBef>
            </a:pPr>
            <a:r>
              <a:rPr lang="zh-CN" altLang="en-US" sz="2600" dirty="0"/>
              <a:t>速率的</a:t>
            </a:r>
            <a:r>
              <a:rPr lang="zh-CN" altLang="en-US" sz="2600" dirty="0">
                <a:solidFill>
                  <a:srgbClr val="FF0000"/>
                </a:solidFill>
              </a:rPr>
              <a:t>单位</a:t>
            </a:r>
            <a:r>
              <a:rPr lang="zh-CN" altLang="en-US" sz="2600" dirty="0"/>
              <a:t>是 </a:t>
            </a:r>
            <a:r>
              <a:rPr lang="en-US" altLang="zh-CN" sz="2600" dirty="0"/>
              <a:t>bit/s</a:t>
            </a:r>
            <a:r>
              <a:rPr lang="zh-CN" altLang="en-US" sz="2600" dirty="0"/>
              <a:t>，或 </a:t>
            </a:r>
            <a:r>
              <a:rPr lang="en-US" altLang="zh-CN" sz="2600" dirty="0" err="1"/>
              <a:t>kbit</a:t>
            </a:r>
            <a:r>
              <a:rPr lang="en-US" altLang="zh-CN" sz="2600" dirty="0"/>
              <a:t>/s</a:t>
            </a:r>
            <a:r>
              <a:rPr lang="zh-CN" altLang="en-US" sz="2600" dirty="0"/>
              <a:t>、</a:t>
            </a:r>
            <a:r>
              <a:rPr lang="en-US" altLang="zh-CN" sz="2600" dirty="0"/>
              <a:t>Mbit/s</a:t>
            </a:r>
            <a:r>
              <a:rPr lang="zh-CN" altLang="en-US" sz="2600" dirty="0"/>
              <a:t>、</a:t>
            </a:r>
            <a:r>
              <a:rPr lang="en-US" altLang="zh-CN" sz="2600" dirty="0"/>
              <a:t> </a:t>
            </a:r>
            <a:r>
              <a:rPr lang="en-US" altLang="zh-CN" sz="2600" dirty="0" err="1"/>
              <a:t>Gbit</a:t>
            </a:r>
            <a:r>
              <a:rPr lang="en-US" altLang="zh-CN" sz="2600" dirty="0"/>
              <a:t>/s </a:t>
            </a:r>
            <a:r>
              <a:rPr lang="zh-CN" altLang="en-US" sz="2600" dirty="0"/>
              <a:t>等。例如 </a:t>
            </a:r>
            <a:r>
              <a:rPr lang="en-US" altLang="zh-CN" sz="2600" dirty="0"/>
              <a:t>4 </a:t>
            </a:r>
            <a:r>
              <a:rPr lang="en-US" altLang="zh-CN" sz="2600" dirty="0">
                <a:sym typeface="Symbol"/>
              </a:rPr>
              <a:t></a:t>
            </a:r>
            <a:r>
              <a:rPr lang="en-US" altLang="zh-CN" sz="2600" dirty="0"/>
              <a:t> 10</a:t>
            </a:r>
            <a:r>
              <a:rPr lang="en-US" altLang="zh-CN" sz="2600" baseline="30000" dirty="0"/>
              <a:t>10</a:t>
            </a:r>
            <a:r>
              <a:rPr lang="en-US" altLang="zh-CN" sz="2600" dirty="0"/>
              <a:t> bit/s </a:t>
            </a:r>
            <a:r>
              <a:rPr lang="zh-CN" altLang="zh-CN" sz="2600" dirty="0"/>
              <a:t>的数据率就记为 </a:t>
            </a:r>
            <a:r>
              <a:rPr lang="en-US" altLang="zh-CN" sz="2600" dirty="0"/>
              <a:t>40 </a:t>
            </a:r>
            <a:r>
              <a:rPr lang="en-US" altLang="zh-CN" sz="2600" dirty="0" err="1"/>
              <a:t>Gbit</a:t>
            </a:r>
            <a:r>
              <a:rPr lang="en-US" altLang="zh-CN" sz="2600" dirty="0"/>
              <a:t>/s</a:t>
            </a:r>
            <a:r>
              <a:rPr lang="zh-CN" altLang="en-US" sz="2600" dirty="0"/>
              <a:t>。</a:t>
            </a:r>
          </a:p>
          <a:p>
            <a:pPr>
              <a:spcBef>
                <a:spcPts val="600"/>
              </a:spcBef>
            </a:pPr>
            <a:r>
              <a:rPr lang="zh-CN" altLang="en-US" sz="2600" dirty="0">
                <a:solidFill>
                  <a:srgbClr val="C00000"/>
                </a:solidFill>
              </a:rPr>
              <a:t>速率往往是指额定速率或标称速率，非</a:t>
            </a:r>
            <a:r>
              <a:rPr lang="zh-CN" altLang="zh-CN" sz="2600" dirty="0">
                <a:solidFill>
                  <a:srgbClr val="C00000"/>
                </a:solidFill>
              </a:rPr>
              <a:t>实际运行速率</a:t>
            </a:r>
            <a:r>
              <a:rPr lang="zh-CN" altLang="en-US" sz="2600" dirty="0">
                <a:solidFill>
                  <a:srgbClr val="C00000"/>
                </a:solidFill>
              </a:rPr>
              <a:t>。  </a:t>
            </a:r>
          </a:p>
        </p:txBody>
      </p:sp>
    </p:spTree>
    <p:extLst>
      <p:ext uri="{BB962C8B-B14F-4D97-AF65-F5344CB8AC3E}">
        <p14:creationId xmlns:p14="http://schemas.microsoft.com/office/powerpoint/2010/main" val="40465359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zh-CN" altLang="en-US" dirty="0"/>
              <a:t>计算机网络的性能指标：带宽 </a:t>
            </a:r>
          </a:p>
        </p:txBody>
      </p:sp>
      <p:sp>
        <p:nvSpPr>
          <p:cNvPr id="376835"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0" indent="0">
              <a:lnSpc>
                <a:spcPct val="110000"/>
              </a:lnSpc>
              <a:spcBef>
                <a:spcPts val="600"/>
              </a:spcBef>
              <a:buNone/>
            </a:pPr>
            <a:r>
              <a:rPr lang="zh-CN" altLang="en-US" dirty="0"/>
              <a:t>两种不同意义：</a:t>
            </a:r>
            <a:endParaRPr lang="en-US" altLang="zh-CN" dirty="0"/>
          </a:p>
          <a:p>
            <a:pPr>
              <a:lnSpc>
                <a:spcPct val="110000"/>
              </a:lnSpc>
              <a:spcBef>
                <a:spcPts val="600"/>
              </a:spcBef>
            </a:pPr>
            <a:r>
              <a:rPr lang="en-US" altLang="zh-CN" sz="2800" dirty="0"/>
              <a:t>“</a:t>
            </a:r>
            <a:r>
              <a:rPr lang="zh-CN" altLang="en-US" sz="2800" dirty="0"/>
              <a:t>带宽”</a:t>
            </a:r>
            <a:r>
              <a:rPr lang="en-US" altLang="zh-CN" sz="2800" dirty="0"/>
              <a:t>(bandwidth) </a:t>
            </a:r>
            <a:r>
              <a:rPr lang="zh-CN" altLang="en-US" sz="2800" dirty="0"/>
              <a:t>本来是指信号具有的</a:t>
            </a:r>
            <a:r>
              <a:rPr lang="zh-CN" altLang="en-US" sz="2800" dirty="0">
                <a:solidFill>
                  <a:srgbClr val="FF0000"/>
                </a:solidFill>
              </a:rPr>
              <a:t>频带宽度，</a:t>
            </a:r>
            <a:r>
              <a:rPr lang="zh-CN" altLang="en-US" sz="2800" dirty="0"/>
              <a:t>其单位是赫（或千赫、兆赫、吉赫等）。</a:t>
            </a:r>
          </a:p>
          <a:p>
            <a:r>
              <a:rPr lang="zh-CN" altLang="zh-CN" sz="2800" dirty="0"/>
              <a:t>在计算机网络中，带宽用来表示网络中某通道传送数据的能力</a:t>
            </a:r>
            <a:r>
              <a:rPr lang="zh-CN" altLang="en-US" sz="2800" dirty="0"/>
              <a:t>。</a:t>
            </a:r>
            <a:r>
              <a:rPr lang="zh-CN" altLang="zh-CN" sz="2800" dirty="0"/>
              <a:t>表示在单位时间内网络中的某信道所能通过的“</a:t>
            </a:r>
            <a:r>
              <a:rPr lang="zh-CN" altLang="zh-CN" sz="2800" dirty="0">
                <a:solidFill>
                  <a:srgbClr val="FF0000"/>
                </a:solidFill>
              </a:rPr>
              <a:t>最高数据率</a:t>
            </a:r>
            <a:r>
              <a:rPr lang="zh-CN" altLang="zh-CN" sz="2800" dirty="0"/>
              <a:t>”。</a:t>
            </a:r>
            <a:r>
              <a:rPr lang="zh-CN" altLang="en-US" sz="2800" dirty="0"/>
              <a:t>单位是 </a:t>
            </a:r>
            <a:r>
              <a:rPr lang="en-US" altLang="zh-CN" sz="2800" dirty="0"/>
              <a:t>bit/s </a:t>
            </a:r>
            <a:r>
              <a:rPr lang="zh-CN" altLang="en-US" sz="2800" dirty="0"/>
              <a:t>，即</a:t>
            </a:r>
            <a:r>
              <a:rPr lang="en-US" altLang="zh-CN" sz="2800" dirty="0"/>
              <a:t> </a:t>
            </a:r>
            <a:r>
              <a:rPr lang="zh-CN" altLang="en-US" sz="2800" dirty="0"/>
              <a:t>“比特每秒”。    </a:t>
            </a:r>
          </a:p>
          <a:p>
            <a:pPr>
              <a:lnSpc>
                <a:spcPct val="110000"/>
              </a:lnSpc>
              <a:spcBef>
                <a:spcPts val="600"/>
              </a:spcBef>
            </a:pPr>
            <a:endParaRPr lang="en-US" altLang="zh-CN" sz="2800" dirty="0"/>
          </a:p>
        </p:txBody>
      </p:sp>
      <p:sp>
        <p:nvSpPr>
          <p:cNvPr id="2" name="矩形 1"/>
          <p:cNvSpPr/>
          <p:nvPr/>
        </p:nvSpPr>
        <p:spPr>
          <a:xfrm>
            <a:off x="632520" y="4365104"/>
            <a:ext cx="8856984" cy="1815882"/>
          </a:xfrm>
          <a:prstGeom prst="rect">
            <a:avLst/>
          </a:prstGeom>
          <a:solidFill>
            <a:srgbClr val="FFFF66"/>
          </a:solidFill>
          <a:ln>
            <a:solidFill>
              <a:schemeClr val="tx1"/>
            </a:solidFill>
          </a:ln>
        </p:spPr>
        <p:txBody>
          <a:bodyPr wrap="square">
            <a:spAutoFit/>
          </a:bodyPr>
          <a:lstStyle/>
          <a:p>
            <a:r>
              <a:rPr lang="zh-CN" altLang="zh-CN" sz="2800" b="1" dirty="0">
                <a:solidFill>
                  <a:srgbClr val="000099"/>
                </a:solidFill>
                <a:latin typeface="+mn-lt"/>
                <a:ea typeface="黑体" pitchFamily="2" charset="-122"/>
              </a:rPr>
              <a:t>在“带宽”的上述两种表述中，前者为</a:t>
            </a:r>
            <a:r>
              <a:rPr lang="zh-CN" altLang="zh-CN" sz="2800" b="1" dirty="0">
                <a:solidFill>
                  <a:srgbClr val="C00000"/>
                </a:solidFill>
                <a:latin typeface="+mn-lt"/>
                <a:ea typeface="黑体" pitchFamily="2" charset="-122"/>
              </a:rPr>
              <a:t>频域</a:t>
            </a:r>
            <a:r>
              <a:rPr lang="zh-CN" altLang="zh-CN" sz="2800" b="1" dirty="0">
                <a:solidFill>
                  <a:srgbClr val="000099"/>
                </a:solidFill>
                <a:latin typeface="+mn-lt"/>
                <a:ea typeface="黑体" pitchFamily="2" charset="-122"/>
              </a:rPr>
              <a:t>称谓，而后者为</a:t>
            </a:r>
            <a:r>
              <a:rPr lang="zh-CN" altLang="zh-CN" sz="2800" b="1" dirty="0">
                <a:solidFill>
                  <a:srgbClr val="C00000"/>
                </a:solidFill>
                <a:latin typeface="+mn-lt"/>
                <a:ea typeface="黑体" pitchFamily="2" charset="-122"/>
              </a:rPr>
              <a:t>时域</a:t>
            </a:r>
            <a:r>
              <a:rPr lang="zh-CN" altLang="zh-CN" sz="2800" b="1" dirty="0">
                <a:solidFill>
                  <a:srgbClr val="000099"/>
                </a:solidFill>
                <a:latin typeface="+mn-lt"/>
                <a:ea typeface="黑体" pitchFamily="2" charset="-122"/>
              </a:rPr>
              <a:t>称谓，其本质是相同的。也就是说，一条通信链路的“带宽”越宽，其所能传输的“最高数据率”也越高。</a:t>
            </a:r>
          </a:p>
        </p:txBody>
      </p:sp>
    </p:spTree>
    <p:extLst>
      <p:ext uri="{BB962C8B-B14F-4D97-AF65-F5344CB8AC3E}">
        <p14:creationId xmlns:p14="http://schemas.microsoft.com/office/powerpoint/2010/main" val="3922661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lgn="ctr"/>
            <a:r>
              <a:rPr lang="zh-CN" altLang="en-US"/>
              <a:t>数字信号流随时间的变化</a:t>
            </a:r>
          </a:p>
        </p:txBody>
      </p:sp>
      <p:sp>
        <p:nvSpPr>
          <p:cNvPr id="87043"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10000"/>
              </a:lnSpc>
              <a:spcBef>
                <a:spcPts val="600"/>
              </a:spcBef>
            </a:pPr>
            <a:r>
              <a:rPr lang="zh-CN" altLang="en-US" dirty="0"/>
              <a:t>在</a:t>
            </a:r>
            <a:r>
              <a:rPr lang="zh-CN" altLang="en-US" dirty="0">
                <a:solidFill>
                  <a:srgbClr val="C00000"/>
                </a:solidFill>
              </a:rPr>
              <a:t>时间轴</a:t>
            </a:r>
            <a:r>
              <a:rPr lang="zh-CN" altLang="en-US" dirty="0"/>
              <a:t>上信号的宽度随带宽的增大而变窄。     </a:t>
            </a:r>
          </a:p>
        </p:txBody>
      </p:sp>
      <p:grpSp>
        <p:nvGrpSpPr>
          <p:cNvPr id="87073" name="Group 33"/>
          <p:cNvGrpSpPr>
            <a:grpSpLocks/>
          </p:cNvGrpSpPr>
          <p:nvPr/>
        </p:nvGrpSpPr>
        <p:grpSpPr bwMode="auto">
          <a:xfrm>
            <a:off x="427252" y="1824404"/>
            <a:ext cx="9278276" cy="1662112"/>
            <a:chOff x="204" y="1799"/>
            <a:chExt cx="5395" cy="1047"/>
          </a:xfrm>
        </p:grpSpPr>
        <p:sp>
          <p:nvSpPr>
            <p:cNvPr id="87044" name="Line 4"/>
            <p:cNvSpPr>
              <a:spLocks noChangeShapeType="1"/>
            </p:cNvSpPr>
            <p:nvPr/>
          </p:nvSpPr>
          <p:spPr bwMode="auto">
            <a:xfrm>
              <a:off x="1345" y="2602"/>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5" name="Line 5"/>
            <p:cNvSpPr>
              <a:spLocks noChangeShapeType="1"/>
            </p:cNvSpPr>
            <p:nvPr/>
          </p:nvSpPr>
          <p:spPr bwMode="auto">
            <a:xfrm>
              <a:off x="1122" y="2357"/>
              <a:ext cx="4340"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6" name="Line 6"/>
            <p:cNvSpPr>
              <a:spLocks noChangeShapeType="1"/>
            </p:cNvSpPr>
            <p:nvPr/>
          </p:nvSpPr>
          <p:spPr bwMode="auto">
            <a:xfrm>
              <a:off x="1353" y="2724"/>
              <a:ext cx="3782"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8" name="Freeform 8"/>
            <p:cNvSpPr>
              <a:spLocks/>
            </p:cNvSpPr>
            <p:nvPr/>
          </p:nvSpPr>
          <p:spPr bwMode="auto">
            <a:xfrm>
              <a:off x="1345" y="2161"/>
              <a:ext cx="2559" cy="392"/>
            </a:xfrm>
            <a:custGeom>
              <a:avLst/>
              <a:gdLst>
                <a:gd name="T0" fmla="*/ 0 w 2208"/>
                <a:gd name="T1" fmla="*/ 384 h 384"/>
                <a:gd name="T2" fmla="*/ 0 w 2208"/>
                <a:gd name="T3" fmla="*/ 0 h 384"/>
                <a:gd name="T4" fmla="*/ 384 w 2208"/>
                <a:gd name="T5" fmla="*/ 0 h 384"/>
                <a:gd name="T6" fmla="*/ 384 w 2208"/>
                <a:gd name="T7" fmla="*/ 384 h 384"/>
                <a:gd name="T8" fmla="*/ 768 w 2208"/>
                <a:gd name="T9" fmla="*/ 384 h 384"/>
                <a:gd name="T10" fmla="*/ 768 w 2208"/>
                <a:gd name="T11" fmla="*/ 0 h 384"/>
                <a:gd name="T12" fmla="*/ 1152 w 2208"/>
                <a:gd name="T13" fmla="*/ 0 h 384"/>
                <a:gd name="T14" fmla="*/ 1152 w 2208"/>
                <a:gd name="T15" fmla="*/ 384 h 384"/>
                <a:gd name="T16" fmla="*/ 1536 w 2208"/>
                <a:gd name="T17" fmla="*/ 384 h 384"/>
                <a:gd name="T18" fmla="*/ 1536 w 2208"/>
                <a:gd name="T19" fmla="*/ 0 h 384"/>
                <a:gd name="T20" fmla="*/ 1920 w 2208"/>
                <a:gd name="T21" fmla="*/ 0 h 384"/>
                <a:gd name="T22" fmla="*/ 1920 w 2208"/>
                <a:gd name="T23" fmla="*/ 384 h 384"/>
                <a:gd name="T24" fmla="*/ 2208 w 2208"/>
                <a:gd name="T25"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8" h="384">
                  <a:moveTo>
                    <a:pt x="0" y="384"/>
                  </a:moveTo>
                  <a:lnTo>
                    <a:pt x="0" y="0"/>
                  </a:lnTo>
                  <a:lnTo>
                    <a:pt x="384" y="0"/>
                  </a:lnTo>
                  <a:lnTo>
                    <a:pt x="384" y="384"/>
                  </a:lnTo>
                  <a:lnTo>
                    <a:pt x="768" y="384"/>
                  </a:lnTo>
                  <a:lnTo>
                    <a:pt x="768" y="0"/>
                  </a:lnTo>
                  <a:lnTo>
                    <a:pt x="1152" y="0"/>
                  </a:lnTo>
                  <a:lnTo>
                    <a:pt x="1152" y="384"/>
                  </a:lnTo>
                  <a:lnTo>
                    <a:pt x="1536" y="384"/>
                  </a:lnTo>
                  <a:lnTo>
                    <a:pt x="1536" y="0"/>
                  </a:lnTo>
                  <a:lnTo>
                    <a:pt x="1920" y="0"/>
                  </a:lnTo>
                  <a:lnTo>
                    <a:pt x="1920" y="384"/>
                  </a:lnTo>
                  <a:lnTo>
                    <a:pt x="2208"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49" name="Freeform 9"/>
            <p:cNvSpPr>
              <a:spLocks/>
            </p:cNvSpPr>
            <p:nvPr/>
          </p:nvSpPr>
          <p:spPr bwMode="auto">
            <a:xfrm>
              <a:off x="4404" y="2161"/>
              <a:ext cx="724" cy="392"/>
            </a:xfrm>
            <a:custGeom>
              <a:avLst/>
              <a:gdLst>
                <a:gd name="T0" fmla="*/ 0 w 624"/>
                <a:gd name="T1" fmla="*/ 384 h 384"/>
                <a:gd name="T2" fmla="*/ 240 w 624"/>
                <a:gd name="T3" fmla="*/ 384 h 384"/>
                <a:gd name="T4" fmla="*/ 240 w 624"/>
                <a:gd name="T5" fmla="*/ 0 h 384"/>
                <a:gd name="T6" fmla="*/ 624 w 624"/>
                <a:gd name="T7" fmla="*/ 0 h 384"/>
                <a:gd name="T8" fmla="*/ 624 w 624"/>
                <a:gd name="T9" fmla="*/ 384 h 384"/>
              </a:gdLst>
              <a:ahLst/>
              <a:cxnLst>
                <a:cxn ang="0">
                  <a:pos x="T0" y="T1"/>
                </a:cxn>
                <a:cxn ang="0">
                  <a:pos x="T2" y="T3"/>
                </a:cxn>
                <a:cxn ang="0">
                  <a:pos x="T4" y="T5"/>
                </a:cxn>
                <a:cxn ang="0">
                  <a:pos x="T6" y="T7"/>
                </a:cxn>
                <a:cxn ang="0">
                  <a:pos x="T8" y="T9"/>
                </a:cxn>
              </a:cxnLst>
              <a:rect l="0" t="0" r="r" b="b"/>
              <a:pathLst>
                <a:path w="624" h="384">
                  <a:moveTo>
                    <a:pt x="0" y="384"/>
                  </a:moveTo>
                  <a:lnTo>
                    <a:pt x="240" y="384"/>
                  </a:lnTo>
                  <a:lnTo>
                    <a:pt x="240" y="0"/>
                  </a:lnTo>
                  <a:lnTo>
                    <a:pt x="624" y="0"/>
                  </a:lnTo>
                  <a:lnTo>
                    <a:pt x="624"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1" name="Line 11"/>
            <p:cNvSpPr>
              <a:spLocks noChangeShapeType="1"/>
            </p:cNvSpPr>
            <p:nvPr/>
          </p:nvSpPr>
          <p:spPr bwMode="auto">
            <a:xfrm>
              <a:off x="2235" y="2063"/>
              <a:ext cx="445"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3" name="Line 13"/>
            <p:cNvSpPr>
              <a:spLocks noChangeShapeType="1"/>
            </p:cNvSpPr>
            <p:nvPr/>
          </p:nvSpPr>
          <p:spPr bwMode="auto">
            <a:xfrm>
              <a:off x="5128" y="2602"/>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4" name="Text Box 14"/>
            <p:cNvSpPr txBox="1">
              <a:spLocks noChangeArrowheads="1"/>
            </p:cNvSpPr>
            <p:nvPr/>
          </p:nvSpPr>
          <p:spPr bwMode="auto">
            <a:xfrm>
              <a:off x="2528" y="2594"/>
              <a:ext cx="1119" cy="252"/>
            </a:xfrm>
            <a:prstGeom prst="rect">
              <a:avLst/>
            </a:prstGeom>
            <a:solidFill>
              <a:schemeClr val="bg1"/>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333399"/>
                  </a:solidFill>
                  <a:ea typeface="黑体" pitchFamily="2" charset="-122"/>
                </a:rPr>
                <a:t>每</a:t>
              </a:r>
              <a:r>
                <a:rPr kumimoji="1" lang="zh-CN" altLang="en-US" sz="2000" b="1">
                  <a:solidFill>
                    <a:srgbClr val="333399"/>
                  </a:solidFill>
                  <a:ea typeface="黑体" pitchFamily="2" charset="-122"/>
                  <a:sym typeface="Symbol" pitchFamily="18" charset="2"/>
                </a:rPr>
                <a:t>秒</a:t>
              </a:r>
              <a:r>
                <a:rPr kumimoji="1" lang="zh-CN" altLang="en-US" sz="1200" b="1">
                  <a:solidFill>
                    <a:srgbClr val="333399"/>
                  </a:solidFill>
                  <a:ea typeface="黑体" pitchFamily="2" charset="-122"/>
                  <a:sym typeface="Symbol" pitchFamily="18" charset="2"/>
                </a:rPr>
                <a:t> </a:t>
              </a:r>
              <a:r>
                <a:rPr kumimoji="1" lang="en-US" altLang="zh-CN" sz="2000" b="1">
                  <a:solidFill>
                    <a:srgbClr val="333399"/>
                  </a:solidFill>
                  <a:ea typeface="黑体" pitchFamily="2" charset="-122"/>
                  <a:sym typeface="Symbol" pitchFamily="18" charset="2"/>
                </a:rPr>
                <a:t>10</a:t>
              </a:r>
              <a:r>
                <a:rPr kumimoji="1" lang="en-US" altLang="zh-CN" sz="2000" b="1" baseline="30000">
                  <a:solidFill>
                    <a:srgbClr val="333399"/>
                  </a:solidFill>
                  <a:ea typeface="黑体" pitchFamily="2" charset="-122"/>
                  <a:sym typeface="Symbol" pitchFamily="18" charset="2"/>
                </a:rPr>
                <a:t>6</a:t>
              </a:r>
              <a:r>
                <a:rPr kumimoji="1" lang="en-US" altLang="zh-CN" sz="1400" b="1" baseline="30000">
                  <a:solidFill>
                    <a:srgbClr val="333399"/>
                  </a:solidFill>
                  <a:ea typeface="黑体" pitchFamily="2" charset="-122"/>
                  <a:sym typeface="Symbol" pitchFamily="18" charset="2"/>
                </a:rPr>
                <a:t> </a:t>
              </a:r>
              <a:r>
                <a:rPr kumimoji="1" lang="zh-CN" altLang="en-US" sz="2000" b="1">
                  <a:solidFill>
                    <a:srgbClr val="333399"/>
                  </a:solidFill>
                  <a:ea typeface="黑体" pitchFamily="2" charset="-122"/>
                  <a:sym typeface="Symbol" pitchFamily="18" charset="2"/>
                </a:rPr>
                <a:t>个比特</a:t>
              </a:r>
              <a:endParaRPr kumimoji="1" lang="zh-CN" altLang="en-US" sz="2000" b="1">
                <a:solidFill>
                  <a:srgbClr val="333399"/>
                </a:solidFill>
                <a:ea typeface="黑体" pitchFamily="2" charset="-122"/>
              </a:endParaRPr>
            </a:p>
          </p:txBody>
        </p:sp>
        <p:sp>
          <p:nvSpPr>
            <p:cNvPr id="87055" name="Text Box 15"/>
            <p:cNvSpPr txBox="1">
              <a:spLocks noChangeArrowheads="1"/>
            </p:cNvSpPr>
            <p:nvPr/>
          </p:nvSpPr>
          <p:spPr bwMode="auto">
            <a:xfrm>
              <a:off x="5193" y="2086"/>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333399"/>
                  </a:solidFill>
                  <a:ea typeface="黑体" pitchFamily="2" charset="-122"/>
                </a:rPr>
                <a:t>时间</a:t>
              </a:r>
            </a:p>
          </p:txBody>
        </p:sp>
        <p:sp>
          <p:nvSpPr>
            <p:cNvPr id="87067" name="Text Box 27"/>
            <p:cNvSpPr txBox="1">
              <a:spLocks noChangeArrowheads="1"/>
            </p:cNvSpPr>
            <p:nvPr/>
          </p:nvSpPr>
          <p:spPr bwMode="auto">
            <a:xfrm>
              <a:off x="1440" y="2137"/>
              <a:ext cx="3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itchFamily="2" charset="-122"/>
                </a:rPr>
                <a:t>1 </a:t>
              </a:r>
              <a:r>
                <a:rPr kumimoji="1" lang="en-US" altLang="zh-CN" sz="1200" b="1">
                  <a:solidFill>
                    <a:srgbClr val="333399"/>
                  </a:solidFill>
                  <a:ea typeface="黑体" pitchFamily="2" charset="-122"/>
                </a:rPr>
                <a:t>  </a:t>
              </a:r>
              <a:r>
                <a:rPr kumimoji="1" lang="en-US" altLang="zh-CN" sz="2000" b="1">
                  <a:solidFill>
                    <a:srgbClr val="333399"/>
                  </a:solidFill>
                  <a:ea typeface="黑体" pitchFamily="2" charset="-122"/>
                </a:rPr>
                <a:t>      0        1    </a:t>
              </a:r>
              <a:r>
                <a:rPr kumimoji="1" lang="en-US" altLang="zh-CN" sz="1400" b="1">
                  <a:solidFill>
                    <a:srgbClr val="333399"/>
                  </a:solidFill>
                  <a:ea typeface="黑体" pitchFamily="2" charset="-122"/>
                </a:rPr>
                <a:t>  </a:t>
              </a:r>
              <a:r>
                <a:rPr kumimoji="1" lang="en-US" altLang="zh-CN" sz="2000" b="1">
                  <a:solidFill>
                    <a:srgbClr val="333399"/>
                  </a:solidFill>
                  <a:ea typeface="黑体" pitchFamily="2" charset="-122"/>
                </a:rPr>
                <a:t>   0  </a:t>
              </a:r>
              <a:r>
                <a:rPr kumimoji="1" lang="en-US" altLang="zh-CN" b="1">
                  <a:solidFill>
                    <a:srgbClr val="333399"/>
                  </a:solidFill>
                  <a:ea typeface="黑体" pitchFamily="2" charset="-122"/>
                </a:rPr>
                <a:t>  </a:t>
              </a:r>
              <a:r>
                <a:rPr kumimoji="1" lang="en-US" altLang="zh-CN" sz="2000" b="1">
                  <a:solidFill>
                    <a:srgbClr val="333399"/>
                  </a:solidFill>
                  <a:ea typeface="黑体" pitchFamily="2" charset="-122"/>
                </a:rPr>
                <a:t>    1                                 1</a:t>
              </a:r>
            </a:p>
          </p:txBody>
        </p:sp>
        <p:sp>
          <p:nvSpPr>
            <p:cNvPr id="87052" name="Text Box 12"/>
            <p:cNvSpPr txBox="1">
              <a:spLocks noChangeArrowheads="1"/>
            </p:cNvSpPr>
            <p:nvPr/>
          </p:nvSpPr>
          <p:spPr bwMode="auto">
            <a:xfrm>
              <a:off x="2211" y="1799"/>
              <a:ext cx="40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itchFamily="2" charset="-122"/>
                </a:rPr>
                <a:t>1 </a:t>
              </a:r>
              <a:r>
                <a:rPr kumimoji="1" lang="en-US" altLang="zh-CN" sz="2000" b="1">
                  <a:solidFill>
                    <a:srgbClr val="333399"/>
                  </a:solidFill>
                  <a:ea typeface="黑体" pitchFamily="2" charset="-122"/>
                  <a:sym typeface="Symbol" pitchFamily="18" charset="2"/>
                </a:rPr>
                <a:t>s</a:t>
              </a:r>
              <a:endParaRPr kumimoji="1" lang="en-US" altLang="zh-CN" sz="2000" b="1">
                <a:solidFill>
                  <a:srgbClr val="333399"/>
                </a:solidFill>
                <a:ea typeface="黑体" pitchFamily="2" charset="-122"/>
              </a:endParaRPr>
            </a:p>
          </p:txBody>
        </p:sp>
        <p:sp>
          <p:nvSpPr>
            <p:cNvPr id="87071" name="Text Box 31"/>
            <p:cNvSpPr txBox="1">
              <a:spLocks noChangeArrowheads="1"/>
            </p:cNvSpPr>
            <p:nvPr/>
          </p:nvSpPr>
          <p:spPr bwMode="auto">
            <a:xfrm>
              <a:off x="204" y="2115"/>
              <a:ext cx="822" cy="523"/>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CC"/>
                  </a:solidFill>
                  <a:ea typeface="黑体" pitchFamily="2" charset="-122"/>
                </a:rPr>
                <a:t>带宽为</a:t>
              </a:r>
            </a:p>
            <a:p>
              <a:r>
                <a:rPr lang="en-US" altLang="zh-CN" sz="2400" b="1" dirty="0">
                  <a:solidFill>
                    <a:srgbClr val="0000CC"/>
                  </a:solidFill>
                  <a:ea typeface="黑体" pitchFamily="2" charset="-122"/>
                </a:rPr>
                <a:t>1 Mbit/s </a:t>
              </a:r>
            </a:p>
          </p:txBody>
        </p:sp>
      </p:grpSp>
      <p:grpSp>
        <p:nvGrpSpPr>
          <p:cNvPr id="87074" name="Group 34"/>
          <p:cNvGrpSpPr>
            <a:grpSpLocks/>
          </p:cNvGrpSpPr>
          <p:nvPr/>
        </p:nvGrpSpPr>
        <p:grpSpPr bwMode="auto">
          <a:xfrm>
            <a:off x="427252" y="3656378"/>
            <a:ext cx="9231841" cy="1697037"/>
            <a:chOff x="204" y="2953"/>
            <a:chExt cx="5368" cy="1069"/>
          </a:xfrm>
        </p:grpSpPr>
        <p:sp>
          <p:nvSpPr>
            <p:cNvPr id="87047" name="Freeform 7"/>
            <p:cNvSpPr>
              <a:spLocks/>
            </p:cNvSpPr>
            <p:nvPr/>
          </p:nvSpPr>
          <p:spPr bwMode="auto">
            <a:xfrm>
              <a:off x="1352" y="3337"/>
              <a:ext cx="2614" cy="392"/>
            </a:xfrm>
            <a:custGeom>
              <a:avLst/>
              <a:gdLst>
                <a:gd name="T0" fmla="*/ 0 w 2256"/>
                <a:gd name="T1" fmla="*/ 384 h 384"/>
                <a:gd name="T2" fmla="*/ 0 w 2256"/>
                <a:gd name="T3" fmla="*/ 0 h 384"/>
                <a:gd name="T4" fmla="*/ 96 w 2256"/>
                <a:gd name="T5" fmla="*/ 0 h 384"/>
                <a:gd name="T6" fmla="*/ 96 w 2256"/>
                <a:gd name="T7" fmla="*/ 384 h 384"/>
                <a:gd name="T8" fmla="*/ 192 w 2256"/>
                <a:gd name="T9" fmla="*/ 384 h 384"/>
                <a:gd name="T10" fmla="*/ 192 w 2256"/>
                <a:gd name="T11" fmla="*/ 0 h 384"/>
                <a:gd name="T12" fmla="*/ 288 w 2256"/>
                <a:gd name="T13" fmla="*/ 0 h 384"/>
                <a:gd name="T14" fmla="*/ 288 w 2256"/>
                <a:gd name="T15" fmla="*/ 384 h 384"/>
                <a:gd name="T16" fmla="*/ 384 w 2256"/>
                <a:gd name="T17" fmla="*/ 384 h 384"/>
                <a:gd name="T18" fmla="*/ 384 w 2256"/>
                <a:gd name="T19" fmla="*/ 0 h 384"/>
                <a:gd name="T20" fmla="*/ 480 w 2256"/>
                <a:gd name="T21" fmla="*/ 0 h 384"/>
                <a:gd name="T22" fmla="*/ 480 w 2256"/>
                <a:gd name="T23" fmla="*/ 384 h 384"/>
                <a:gd name="T24" fmla="*/ 576 w 2256"/>
                <a:gd name="T25" fmla="*/ 384 h 384"/>
                <a:gd name="T26" fmla="*/ 576 w 2256"/>
                <a:gd name="T27" fmla="*/ 0 h 384"/>
                <a:gd name="T28" fmla="*/ 672 w 2256"/>
                <a:gd name="T29" fmla="*/ 0 h 384"/>
                <a:gd name="T30" fmla="*/ 672 w 2256"/>
                <a:gd name="T31" fmla="*/ 384 h 384"/>
                <a:gd name="T32" fmla="*/ 768 w 2256"/>
                <a:gd name="T33" fmla="*/ 384 h 384"/>
                <a:gd name="T34" fmla="*/ 768 w 2256"/>
                <a:gd name="T35" fmla="*/ 0 h 384"/>
                <a:gd name="T36" fmla="*/ 864 w 2256"/>
                <a:gd name="T37" fmla="*/ 0 h 384"/>
                <a:gd name="T38" fmla="*/ 864 w 2256"/>
                <a:gd name="T39" fmla="*/ 384 h 384"/>
                <a:gd name="T40" fmla="*/ 960 w 2256"/>
                <a:gd name="T41" fmla="*/ 384 h 384"/>
                <a:gd name="T42" fmla="*/ 960 w 2256"/>
                <a:gd name="T43" fmla="*/ 0 h 384"/>
                <a:gd name="T44" fmla="*/ 1056 w 2256"/>
                <a:gd name="T45" fmla="*/ 0 h 384"/>
                <a:gd name="T46" fmla="*/ 1056 w 2256"/>
                <a:gd name="T47" fmla="*/ 384 h 384"/>
                <a:gd name="T48" fmla="*/ 1152 w 2256"/>
                <a:gd name="T49" fmla="*/ 384 h 384"/>
                <a:gd name="T50" fmla="*/ 1152 w 2256"/>
                <a:gd name="T51" fmla="*/ 0 h 384"/>
                <a:gd name="T52" fmla="*/ 1248 w 2256"/>
                <a:gd name="T53" fmla="*/ 0 h 384"/>
                <a:gd name="T54" fmla="*/ 1248 w 2256"/>
                <a:gd name="T55" fmla="*/ 384 h 384"/>
                <a:gd name="T56" fmla="*/ 1344 w 2256"/>
                <a:gd name="T57" fmla="*/ 384 h 384"/>
                <a:gd name="T58" fmla="*/ 1344 w 2256"/>
                <a:gd name="T59" fmla="*/ 0 h 384"/>
                <a:gd name="T60" fmla="*/ 1440 w 2256"/>
                <a:gd name="T61" fmla="*/ 0 h 384"/>
                <a:gd name="T62" fmla="*/ 1440 w 2256"/>
                <a:gd name="T63" fmla="*/ 384 h 384"/>
                <a:gd name="T64" fmla="*/ 1536 w 2256"/>
                <a:gd name="T65" fmla="*/ 384 h 384"/>
                <a:gd name="T66" fmla="*/ 1536 w 2256"/>
                <a:gd name="T67" fmla="*/ 0 h 384"/>
                <a:gd name="T68" fmla="*/ 1632 w 2256"/>
                <a:gd name="T69" fmla="*/ 0 h 384"/>
                <a:gd name="T70" fmla="*/ 1632 w 2256"/>
                <a:gd name="T71" fmla="*/ 384 h 384"/>
                <a:gd name="T72" fmla="*/ 1728 w 2256"/>
                <a:gd name="T73" fmla="*/ 384 h 384"/>
                <a:gd name="T74" fmla="*/ 1728 w 2256"/>
                <a:gd name="T75" fmla="*/ 0 h 384"/>
                <a:gd name="T76" fmla="*/ 1824 w 2256"/>
                <a:gd name="T77" fmla="*/ 0 h 384"/>
                <a:gd name="T78" fmla="*/ 1824 w 2256"/>
                <a:gd name="T79" fmla="*/ 384 h 384"/>
                <a:gd name="T80" fmla="*/ 2256 w 2256"/>
                <a:gd name="T81"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56" h="384">
                  <a:moveTo>
                    <a:pt x="0" y="384"/>
                  </a:moveTo>
                  <a:lnTo>
                    <a:pt x="0" y="0"/>
                  </a:lnTo>
                  <a:lnTo>
                    <a:pt x="96" y="0"/>
                  </a:lnTo>
                  <a:lnTo>
                    <a:pt x="96" y="384"/>
                  </a:lnTo>
                  <a:lnTo>
                    <a:pt x="192" y="384"/>
                  </a:lnTo>
                  <a:lnTo>
                    <a:pt x="192" y="0"/>
                  </a:lnTo>
                  <a:lnTo>
                    <a:pt x="288" y="0"/>
                  </a:lnTo>
                  <a:lnTo>
                    <a:pt x="288" y="384"/>
                  </a:lnTo>
                  <a:lnTo>
                    <a:pt x="384" y="384"/>
                  </a:lnTo>
                  <a:lnTo>
                    <a:pt x="384" y="0"/>
                  </a:lnTo>
                  <a:lnTo>
                    <a:pt x="480" y="0"/>
                  </a:lnTo>
                  <a:lnTo>
                    <a:pt x="480" y="384"/>
                  </a:lnTo>
                  <a:lnTo>
                    <a:pt x="576" y="384"/>
                  </a:lnTo>
                  <a:lnTo>
                    <a:pt x="576" y="0"/>
                  </a:lnTo>
                  <a:lnTo>
                    <a:pt x="672" y="0"/>
                  </a:lnTo>
                  <a:lnTo>
                    <a:pt x="672" y="384"/>
                  </a:lnTo>
                  <a:lnTo>
                    <a:pt x="768" y="384"/>
                  </a:lnTo>
                  <a:lnTo>
                    <a:pt x="768" y="0"/>
                  </a:lnTo>
                  <a:lnTo>
                    <a:pt x="864" y="0"/>
                  </a:lnTo>
                  <a:lnTo>
                    <a:pt x="864" y="384"/>
                  </a:lnTo>
                  <a:lnTo>
                    <a:pt x="960" y="384"/>
                  </a:lnTo>
                  <a:lnTo>
                    <a:pt x="960" y="0"/>
                  </a:lnTo>
                  <a:lnTo>
                    <a:pt x="1056" y="0"/>
                  </a:lnTo>
                  <a:lnTo>
                    <a:pt x="1056" y="384"/>
                  </a:lnTo>
                  <a:lnTo>
                    <a:pt x="1152" y="384"/>
                  </a:lnTo>
                  <a:lnTo>
                    <a:pt x="1152" y="0"/>
                  </a:lnTo>
                  <a:lnTo>
                    <a:pt x="1248" y="0"/>
                  </a:lnTo>
                  <a:lnTo>
                    <a:pt x="1248" y="384"/>
                  </a:lnTo>
                  <a:lnTo>
                    <a:pt x="1344" y="384"/>
                  </a:lnTo>
                  <a:lnTo>
                    <a:pt x="1344" y="0"/>
                  </a:lnTo>
                  <a:lnTo>
                    <a:pt x="1440" y="0"/>
                  </a:lnTo>
                  <a:lnTo>
                    <a:pt x="1440" y="384"/>
                  </a:lnTo>
                  <a:lnTo>
                    <a:pt x="1536" y="384"/>
                  </a:lnTo>
                  <a:lnTo>
                    <a:pt x="1536" y="0"/>
                  </a:lnTo>
                  <a:lnTo>
                    <a:pt x="1632" y="0"/>
                  </a:lnTo>
                  <a:lnTo>
                    <a:pt x="1632" y="384"/>
                  </a:lnTo>
                  <a:lnTo>
                    <a:pt x="1728" y="384"/>
                  </a:lnTo>
                  <a:lnTo>
                    <a:pt x="1728" y="0"/>
                  </a:lnTo>
                  <a:lnTo>
                    <a:pt x="1824" y="0"/>
                  </a:lnTo>
                  <a:lnTo>
                    <a:pt x="1824" y="384"/>
                  </a:lnTo>
                  <a:lnTo>
                    <a:pt x="2256"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0" name="Freeform 10"/>
            <p:cNvSpPr>
              <a:spLocks/>
            </p:cNvSpPr>
            <p:nvPr/>
          </p:nvSpPr>
          <p:spPr bwMode="auto">
            <a:xfrm>
              <a:off x="4245" y="3337"/>
              <a:ext cx="890" cy="392"/>
            </a:xfrm>
            <a:custGeom>
              <a:avLst/>
              <a:gdLst>
                <a:gd name="T0" fmla="*/ 768 w 768"/>
                <a:gd name="T1" fmla="*/ 384 h 384"/>
                <a:gd name="T2" fmla="*/ 672 w 768"/>
                <a:gd name="T3" fmla="*/ 384 h 384"/>
                <a:gd name="T4" fmla="*/ 672 w 768"/>
                <a:gd name="T5" fmla="*/ 0 h 384"/>
                <a:gd name="T6" fmla="*/ 576 w 768"/>
                <a:gd name="T7" fmla="*/ 0 h 384"/>
                <a:gd name="T8" fmla="*/ 576 w 768"/>
                <a:gd name="T9" fmla="*/ 384 h 384"/>
                <a:gd name="T10" fmla="*/ 480 w 768"/>
                <a:gd name="T11" fmla="*/ 384 h 384"/>
                <a:gd name="T12" fmla="*/ 480 w 768"/>
                <a:gd name="T13" fmla="*/ 0 h 384"/>
                <a:gd name="T14" fmla="*/ 384 w 768"/>
                <a:gd name="T15" fmla="*/ 0 h 384"/>
                <a:gd name="T16" fmla="*/ 384 w 768"/>
                <a:gd name="T17" fmla="*/ 384 h 384"/>
                <a:gd name="T18" fmla="*/ 288 w 768"/>
                <a:gd name="T19" fmla="*/ 384 h 384"/>
                <a:gd name="T20" fmla="*/ 288 w 768"/>
                <a:gd name="T21" fmla="*/ 0 h 384"/>
                <a:gd name="T22" fmla="*/ 192 w 768"/>
                <a:gd name="T23" fmla="*/ 0 h 384"/>
                <a:gd name="T24" fmla="*/ 192 w 768"/>
                <a:gd name="T25" fmla="*/ 384 h 384"/>
                <a:gd name="T26" fmla="*/ 0 w 768"/>
                <a:gd name="T27" fmla="*/ 384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8" h="384">
                  <a:moveTo>
                    <a:pt x="768" y="384"/>
                  </a:moveTo>
                  <a:lnTo>
                    <a:pt x="672" y="384"/>
                  </a:lnTo>
                  <a:lnTo>
                    <a:pt x="672" y="0"/>
                  </a:lnTo>
                  <a:lnTo>
                    <a:pt x="576" y="0"/>
                  </a:lnTo>
                  <a:lnTo>
                    <a:pt x="576" y="384"/>
                  </a:lnTo>
                  <a:lnTo>
                    <a:pt x="480" y="384"/>
                  </a:lnTo>
                  <a:lnTo>
                    <a:pt x="480" y="0"/>
                  </a:lnTo>
                  <a:lnTo>
                    <a:pt x="384" y="0"/>
                  </a:lnTo>
                  <a:lnTo>
                    <a:pt x="384" y="384"/>
                  </a:lnTo>
                  <a:lnTo>
                    <a:pt x="288" y="384"/>
                  </a:lnTo>
                  <a:lnTo>
                    <a:pt x="288" y="0"/>
                  </a:lnTo>
                  <a:lnTo>
                    <a:pt x="192" y="0"/>
                  </a:lnTo>
                  <a:lnTo>
                    <a:pt x="192" y="384"/>
                  </a:lnTo>
                  <a:lnTo>
                    <a:pt x="0" y="384"/>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6" name="Line 16"/>
            <p:cNvSpPr>
              <a:spLocks noChangeShapeType="1"/>
            </p:cNvSpPr>
            <p:nvPr/>
          </p:nvSpPr>
          <p:spPr bwMode="auto">
            <a:xfrm>
              <a:off x="1129" y="3533"/>
              <a:ext cx="4340"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7" name="Text Box 17"/>
            <p:cNvSpPr txBox="1">
              <a:spLocks noChangeArrowheads="1"/>
            </p:cNvSpPr>
            <p:nvPr/>
          </p:nvSpPr>
          <p:spPr bwMode="auto">
            <a:xfrm>
              <a:off x="5166" y="3271"/>
              <a:ext cx="40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333399"/>
                  </a:solidFill>
                  <a:ea typeface="黑体" pitchFamily="2" charset="-122"/>
                </a:rPr>
                <a:t>时间</a:t>
              </a:r>
            </a:p>
          </p:txBody>
        </p:sp>
        <p:sp>
          <p:nvSpPr>
            <p:cNvPr id="87058" name="Line 18"/>
            <p:cNvSpPr>
              <a:spLocks noChangeShapeType="1"/>
            </p:cNvSpPr>
            <p:nvPr/>
          </p:nvSpPr>
          <p:spPr bwMode="auto">
            <a:xfrm>
              <a:off x="1352" y="3778"/>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59" name="Line 19"/>
            <p:cNvSpPr>
              <a:spLocks noChangeShapeType="1"/>
            </p:cNvSpPr>
            <p:nvPr/>
          </p:nvSpPr>
          <p:spPr bwMode="auto">
            <a:xfrm>
              <a:off x="5135" y="3778"/>
              <a:ext cx="0" cy="196"/>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0" name="Line 20"/>
            <p:cNvSpPr>
              <a:spLocks noChangeShapeType="1"/>
            </p:cNvSpPr>
            <p:nvPr/>
          </p:nvSpPr>
          <p:spPr bwMode="auto">
            <a:xfrm>
              <a:off x="1352" y="3900"/>
              <a:ext cx="3783" cy="0"/>
            </a:xfrm>
            <a:prstGeom prst="line">
              <a:avLst/>
            </a:prstGeom>
            <a:noFill/>
            <a:ln w="19050">
              <a:solidFill>
                <a:srgbClr val="333399"/>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1" name="Text Box 21"/>
            <p:cNvSpPr txBox="1">
              <a:spLocks noChangeArrowheads="1"/>
            </p:cNvSpPr>
            <p:nvPr/>
          </p:nvSpPr>
          <p:spPr bwMode="auto">
            <a:xfrm>
              <a:off x="2468" y="3770"/>
              <a:ext cx="1331" cy="252"/>
            </a:xfrm>
            <a:prstGeom prst="rect">
              <a:avLst/>
            </a:prstGeom>
            <a:solidFill>
              <a:schemeClr val="bg1"/>
            </a:solidFill>
            <a:ln>
              <a:noFill/>
            </a:ln>
            <a:effectLst/>
            <a:extLs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333399"/>
                  </a:solidFill>
                  <a:ea typeface="黑体" pitchFamily="2" charset="-122"/>
                </a:rPr>
                <a:t>每</a:t>
              </a:r>
              <a:r>
                <a:rPr kumimoji="1" lang="zh-CN" altLang="en-US" sz="2000" b="1" dirty="0">
                  <a:solidFill>
                    <a:srgbClr val="333399"/>
                  </a:solidFill>
                  <a:ea typeface="黑体" pitchFamily="2" charset="-122"/>
                  <a:sym typeface="Symbol" pitchFamily="18" charset="2"/>
                </a:rPr>
                <a:t>秒</a:t>
              </a:r>
              <a:r>
                <a:rPr kumimoji="1" lang="zh-CN" altLang="en-US" sz="1600" b="1" dirty="0">
                  <a:solidFill>
                    <a:srgbClr val="333399"/>
                  </a:solidFill>
                  <a:ea typeface="黑体" pitchFamily="2" charset="-122"/>
                  <a:sym typeface="Symbol" pitchFamily="18" charset="2"/>
                </a:rPr>
                <a:t> </a:t>
              </a:r>
              <a:r>
                <a:rPr kumimoji="1" lang="en-US" altLang="zh-CN" sz="2000" b="1" dirty="0">
                  <a:solidFill>
                    <a:srgbClr val="333399"/>
                  </a:solidFill>
                  <a:ea typeface="黑体" pitchFamily="2" charset="-122"/>
                  <a:sym typeface="Symbol" pitchFamily="18" charset="2"/>
                </a:rPr>
                <a:t>4</a:t>
              </a:r>
              <a:r>
                <a:rPr kumimoji="1" lang="en-US" altLang="zh-CN" sz="1000" b="1" dirty="0">
                  <a:solidFill>
                    <a:srgbClr val="333399"/>
                  </a:solidFill>
                  <a:ea typeface="黑体" pitchFamily="2" charset="-122"/>
                  <a:sym typeface="Symbol" pitchFamily="18" charset="2"/>
                </a:rPr>
                <a:t> </a:t>
              </a:r>
              <a:r>
                <a:rPr kumimoji="1" lang="en-US" altLang="zh-CN" sz="2000" b="1" dirty="0">
                  <a:solidFill>
                    <a:srgbClr val="333399"/>
                  </a:solidFill>
                  <a:ea typeface="黑体" pitchFamily="2" charset="-122"/>
                  <a:sym typeface="Symbol" pitchFamily="18" charset="2"/>
                </a:rPr>
                <a:t></a:t>
              </a:r>
              <a:r>
                <a:rPr kumimoji="1" lang="en-US" altLang="zh-CN" sz="900" b="1" dirty="0">
                  <a:solidFill>
                    <a:srgbClr val="333399"/>
                  </a:solidFill>
                  <a:ea typeface="黑体" pitchFamily="2" charset="-122"/>
                  <a:sym typeface="Symbol" pitchFamily="18" charset="2"/>
                </a:rPr>
                <a:t> </a:t>
              </a:r>
              <a:r>
                <a:rPr kumimoji="1" lang="en-US" altLang="zh-CN" sz="2000" b="1" dirty="0">
                  <a:solidFill>
                    <a:srgbClr val="333399"/>
                  </a:solidFill>
                  <a:ea typeface="黑体" pitchFamily="2" charset="-122"/>
                  <a:sym typeface="Symbol" pitchFamily="18" charset="2"/>
                </a:rPr>
                <a:t>10</a:t>
              </a:r>
              <a:r>
                <a:rPr kumimoji="1" lang="en-US" altLang="zh-CN" sz="2000" b="1" baseline="30000" dirty="0">
                  <a:solidFill>
                    <a:srgbClr val="333399"/>
                  </a:solidFill>
                  <a:ea typeface="黑体" pitchFamily="2" charset="-122"/>
                  <a:sym typeface="Symbol" pitchFamily="18" charset="2"/>
                </a:rPr>
                <a:t>6</a:t>
              </a:r>
              <a:r>
                <a:rPr kumimoji="1" lang="en-US" altLang="zh-CN" sz="1400" b="1" baseline="30000" dirty="0">
                  <a:solidFill>
                    <a:srgbClr val="333399"/>
                  </a:solidFill>
                  <a:ea typeface="黑体" pitchFamily="2" charset="-122"/>
                  <a:sym typeface="Symbol" pitchFamily="18" charset="2"/>
                </a:rPr>
                <a:t> </a:t>
              </a:r>
              <a:r>
                <a:rPr kumimoji="1" lang="zh-CN" altLang="en-US" sz="2000" b="1" dirty="0">
                  <a:solidFill>
                    <a:srgbClr val="333399"/>
                  </a:solidFill>
                  <a:ea typeface="黑体" pitchFamily="2" charset="-122"/>
                  <a:sym typeface="Symbol" pitchFamily="18" charset="2"/>
                </a:rPr>
                <a:t>个比特</a:t>
              </a:r>
              <a:endParaRPr kumimoji="1" lang="zh-CN" altLang="en-US" sz="2000" b="1" dirty="0">
                <a:solidFill>
                  <a:srgbClr val="333399"/>
                </a:solidFill>
                <a:ea typeface="黑体" pitchFamily="2" charset="-122"/>
              </a:endParaRPr>
            </a:p>
          </p:txBody>
        </p:sp>
        <p:sp>
          <p:nvSpPr>
            <p:cNvPr id="87062" name="Line 22"/>
            <p:cNvSpPr>
              <a:spLocks noChangeShapeType="1"/>
            </p:cNvSpPr>
            <p:nvPr/>
          </p:nvSpPr>
          <p:spPr bwMode="auto">
            <a:xfrm>
              <a:off x="2242" y="3190"/>
              <a:ext cx="0" cy="9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3" name="Line 23"/>
            <p:cNvSpPr>
              <a:spLocks noChangeShapeType="1"/>
            </p:cNvSpPr>
            <p:nvPr/>
          </p:nvSpPr>
          <p:spPr bwMode="auto">
            <a:xfrm>
              <a:off x="2353" y="3190"/>
              <a:ext cx="0" cy="98"/>
            </a:xfrm>
            <a:prstGeom prst="line">
              <a:avLst/>
            </a:prstGeom>
            <a:noFill/>
            <a:ln w="19050">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4" name="Line 24"/>
            <p:cNvSpPr>
              <a:spLocks noChangeShapeType="1"/>
            </p:cNvSpPr>
            <p:nvPr/>
          </p:nvSpPr>
          <p:spPr bwMode="auto">
            <a:xfrm>
              <a:off x="1963" y="3239"/>
              <a:ext cx="279"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5" name="Line 25"/>
            <p:cNvSpPr>
              <a:spLocks noChangeShapeType="1"/>
            </p:cNvSpPr>
            <p:nvPr/>
          </p:nvSpPr>
          <p:spPr bwMode="auto">
            <a:xfrm flipH="1">
              <a:off x="2353" y="3239"/>
              <a:ext cx="278" cy="0"/>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87066" name="Text Box 26"/>
            <p:cNvSpPr txBox="1">
              <a:spLocks noChangeArrowheads="1"/>
            </p:cNvSpPr>
            <p:nvPr/>
          </p:nvSpPr>
          <p:spPr bwMode="auto">
            <a:xfrm>
              <a:off x="2074" y="2953"/>
              <a:ext cx="60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ea typeface="黑体" pitchFamily="2" charset="-122"/>
                </a:rPr>
                <a:t>0.25 </a:t>
              </a:r>
              <a:r>
                <a:rPr kumimoji="1" lang="en-US" altLang="zh-CN" sz="2000" b="1">
                  <a:solidFill>
                    <a:srgbClr val="333399"/>
                  </a:solidFill>
                  <a:ea typeface="黑体" pitchFamily="2" charset="-122"/>
                  <a:sym typeface="Symbol" pitchFamily="18" charset="2"/>
                </a:rPr>
                <a:t>s</a:t>
              </a:r>
              <a:endParaRPr kumimoji="1" lang="en-US" altLang="zh-CN" sz="2000" b="1">
                <a:solidFill>
                  <a:srgbClr val="333399"/>
                </a:solidFill>
                <a:ea typeface="黑体" pitchFamily="2" charset="-122"/>
              </a:endParaRPr>
            </a:p>
          </p:txBody>
        </p:sp>
        <p:sp>
          <p:nvSpPr>
            <p:cNvPr id="87072" name="Text Box 32"/>
            <p:cNvSpPr txBox="1">
              <a:spLocks noChangeArrowheads="1"/>
            </p:cNvSpPr>
            <p:nvPr/>
          </p:nvSpPr>
          <p:spPr bwMode="auto">
            <a:xfrm>
              <a:off x="204" y="3269"/>
              <a:ext cx="822" cy="523"/>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CC"/>
                  </a:solidFill>
                  <a:ea typeface="黑体" pitchFamily="2" charset="-122"/>
                </a:rPr>
                <a:t>带宽为</a:t>
              </a:r>
            </a:p>
            <a:p>
              <a:r>
                <a:rPr lang="en-US" altLang="zh-CN" sz="2400" b="1" dirty="0">
                  <a:solidFill>
                    <a:srgbClr val="0000CC"/>
                  </a:solidFill>
                  <a:ea typeface="黑体" pitchFamily="2" charset="-122"/>
                </a:rPr>
                <a:t>4 Mbit/s </a:t>
              </a:r>
            </a:p>
          </p:txBody>
        </p:sp>
      </p:grpSp>
    </p:spTree>
    <p:extLst>
      <p:ext uri="{BB962C8B-B14F-4D97-AF65-F5344CB8AC3E}">
        <p14:creationId xmlns:p14="http://schemas.microsoft.com/office/powerpoint/2010/main" val="2849156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p:txBody>
          <a:bodyPr/>
          <a:lstStyle/>
          <a:p>
            <a:r>
              <a:rPr lang="zh-CN" altLang="en-US" dirty="0"/>
              <a:t>计算机网络的性能指标：吞吐量</a:t>
            </a:r>
          </a:p>
        </p:txBody>
      </p:sp>
      <p:sp>
        <p:nvSpPr>
          <p:cNvPr id="37990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10000"/>
              </a:lnSpc>
              <a:spcBef>
                <a:spcPts val="600"/>
              </a:spcBef>
            </a:pPr>
            <a:r>
              <a:rPr lang="zh-CN" altLang="en-US" dirty="0"/>
              <a:t>吞吐量 </a:t>
            </a:r>
            <a:r>
              <a:rPr lang="en-US" altLang="zh-CN" dirty="0"/>
              <a:t>(throughput) </a:t>
            </a:r>
            <a:r>
              <a:rPr lang="zh-CN" altLang="en-US" dirty="0"/>
              <a:t>表示在单位时间内通过某个网络（或信道、接口）的数据量。</a:t>
            </a:r>
          </a:p>
          <a:p>
            <a:pPr>
              <a:lnSpc>
                <a:spcPct val="110000"/>
              </a:lnSpc>
              <a:spcBef>
                <a:spcPts val="600"/>
              </a:spcBef>
            </a:pPr>
            <a:r>
              <a:rPr lang="zh-CN" altLang="en-US" dirty="0"/>
              <a:t>吞吐量更经常地用于对现实世界中的网络的一种测量，以便知道</a:t>
            </a:r>
            <a:r>
              <a:rPr lang="zh-CN" altLang="en-US" dirty="0">
                <a:solidFill>
                  <a:srgbClr val="FF0000"/>
                </a:solidFill>
              </a:rPr>
              <a:t>实际上到底有多少数据量能够通过网络。</a:t>
            </a:r>
          </a:p>
          <a:p>
            <a:pPr>
              <a:lnSpc>
                <a:spcPct val="110000"/>
              </a:lnSpc>
              <a:spcBef>
                <a:spcPts val="600"/>
              </a:spcBef>
            </a:pPr>
            <a:r>
              <a:rPr lang="zh-CN" altLang="en-US" dirty="0">
                <a:solidFill>
                  <a:srgbClr val="0000CC"/>
                </a:solidFill>
              </a:rPr>
              <a:t>吞吐量受网络的带宽或网络的额定速率的限制。  </a:t>
            </a:r>
          </a:p>
        </p:txBody>
      </p:sp>
    </p:spTree>
    <p:extLst>
      <p:ext uri="{BB962C8B-B14F-4D97-AF65-F5344CB8AC3E}">
        <p14:creationId xmlns:p14="http://schemas.microsoft.com/office/powerpoint/2010/main" val="21435209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计算机网络的性能指标：时延</a:t>
            </a:r>
          </a:p>
        </p:txBody>
      </p:sp>
      <p:sp>
        <p:nvSpPr>
          <p:cNvPr id="3" name="内容占位符 2"/>
          <p:cNvSpPr>
            <a:spLocks noGrp="1"/>
          </p:cNvSpPr>
          <p:nvPr>
            <p:ph idx="1"/>
          </p:nvPr>
        </p:nvSpPr>
        <p:spPr/>
        <p:txBody>
          <a:bodyPr/>
          <a:lstStyle/>
          <a:p>
            <a:r>
              <a:rPr lang="zh-CN" altLang="zh-CN" dirty="0"/>
              <a:t>时延</a:t>
            </a:r>
            <a:r>
              <a:rPr lang="en-US" altLang="zh-CN" dirty="0"/>
              <a:t> (delay </a:t>
            </a:r>
            <a:r>
              <a:rPr lang="zh-CN" altLang="zh-CN" dirty="0"/>
              <a:t>或</a:t>
            </a:r>
            <a:r>
              <a:rPr lang="en-US" altLang="zh-CN" dirty="0"/>
              <a:t> latency) </a:t>
            </a:r>
            <a:r>
              <a:rPr lang="zh-CN" altLang="zh-CN" dirty="0"/>
              <a:t>是指数据（一个报文或分组，甚至比特）从网络（或链路）的一端传送到另一端所需的时间</a:t>
            </a:r>
            <a:r>
              <a:rPr lang="zh-CN" altLang="en-US" dirty="0"/>
              <a:t>。</a:t>
            </a:r>
            <a:endParaRPr lang="en-US" altLang="zh-CN" dirty="0"/>
          </a:p>
          <a:p>
            <a:r>
              <a:rPr lang="zh-CN" altLang="zh-CN" dirty="0"/>
              <a:t>有时也称为</a:t>
            </a:r>
            <a:r>
              <a:rPr lang="zh-CN" altLang="zh-CN" dirty="0">
                <a:solidFill>
                  <a:srgbClr val="FF0000"/>
                </a:solidFill>
              </a:rPr>
              <a:t>延迟</a:t>
            </a:r>
            <a:r>
              <a:rPr lang="zh-CN" altLang="zh-CN" dirty="0"/>
              <a:t>或</a:t>
            </a:r>
            <a:r>
              <a:rPr lang="zh-CN" altLang="zh-CN" dirty="0">
                <a:solidFill>
                  <a:srgbClr val="FF0000"/>
                </a:solidFill>
              </a:rPr>
              <a:t>迟延</a:t>
            </a:r>
            <a:r>
              <a:rPr lang="zh-CN" altLang="en-US" dirty="0">
                <a:solidFill>
                  <a:srgbClr val="FF0000"/>
                </a:solidFill>
              </a:rPr>
              <a:t>。</a:t>
            </a:r>
            <a:endParaRPr lang="en-US" altLang="zh-CN" dirty="0">
              <a:solidFill>
                <a:srgbClr val="FF0000"/>
              </a:solidFill>
            </a:endParaRPr>
          </a:p>
          <a:p>
            <a:r>
              <a:rPr lang="zh-CN" altLang="zh-CN" dirty="0"/>
              <a:t>网络中的时延由以下几个不同的部分组成</a:t>
            </a:r>
            <a:r>
              <a:rPr lang="zh-CN" altLang="en-US" dirty="0"/>
              <a:t>：</a:t>
            </a:r>
            <a:endParaRPr lang="en-US" altLang="zh-CN" dirty="0"/>
          </a:p>
          <a:p>
            <a:pPr lvl="1"/>
            <a:r>
              <a:rPr lang="en-US" altLang="zh-CN" dirty="0"/>
              <a:t>(1) </a:t>
            </a:r>
            <a:r>
              <a:rPr lang="zh-CN" altLang="en-US" dirty="0"/>
              <a:t>发送时延</a:t>
            </a:r>
            <a:endParaRPr lang="en-US" altLang="zh-CN" dirty="0"/>
          </a:p>
          <a:p>
            <a:pPr lvl="1"/>
            <a:r>
              <a:rPr lang="en-US" altLang="zh-CN" dirty="0"/>
              <a:t>(2) </a:t>
            </a:r>
            <a:r>
              <a:rPr lang="zh-CN" altLang="en-US" dirty="0"/>
              <a:t>传播时延</a:t>
            </a:r>
            <a:endParaRPr lang="en-US" altLang="zh-CN" dirty="0"/>
          </a:p>
          <a:p>
            <a:pPr lvl="1"/>
            <a:r>
              <a:rPr lang="en-US" altLang="zh-CN" dirty="0"/>
              <a:t>(3) </a:t>
            </a:r>
            <a:r>
              <a:rPr lang="zh-CN" altLang="en-US" dirty="0"/>
              <a:t>处理时延</a:t>
            </a:r>
            <a:endParaRPr lang="en-US" altLang="zh-CN" dirty="0"/>
          </a:p>
          <a:p>
            <a:pPr lvl="1"/>
            <a:r>
              <a:rPr lang="en-US" altLang="zh-CN" dirty="0"/>
              <a:t>(4) </a:t>
            </a:r>
            <a:r>
              <a:rPr lang="zh-CN" altLang="en-US" dirty="0"/>
              <a:t>排队时延</a:t>
            </a:r>
          </a:p>
        </p:txBody>
      </p:sp>
    </p:spTree>
    <p:extLst>
      <p:ext uri="{BB962C8B-B14F-4D97-AF65-F5344CB8AC3E}">
        <p14:creationId xmlns:p14="http://schemas.microsoft.com/office/powerpoint/2010/main" val="22489251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zh-CN" altLang="en-US" dirty="0"/>
              <a:t>计算机网络的性能指标：时延</a:t>
            </a:r>
            <a:endParaRPr lang="en-US" altLang="zh-CN" dirty="0"/>
          </a:p>
        </p:txBody>
      </p:sp>
      <p:sp>
        <p:nvSpPr>
          <p:cNvPr id="88067"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10000"/>
              </a:lnSpc>
              <a:spcBef>
                <a:spcPts val="600"/>
              </a:spcBef>
            </a:pPr>
            <a:r>
              <a:rPr lang="en-US" altLang="zh-CN" dirty="0">
                <a:solidFill>
                  <a:srgbClr val="0000CC"/>
                </a:solidFill>
              </a:rPr>
              <a:t>(1) </a:t>
            </a:r>
            <a:r>
              <a:rPr lang="zh-CN" altLang="en-US" dirty="0">
                <a:solidFill>
                  <a:srgbClr val="0000CC"/>
                </a:solidFill>
              </a:rPr>
              <a:t>发送时延</a:t>
            </a:r>
            <a:endParaRPr lang="en-US" altLang="zh-CN" dirty="0">
              <a:solidFill>
                <a:srgbClr val="0000CC"/>
              </a:solidFill>
            </a:endParaRPr>
          </a:p>
          <a:p>
            <a:pPr lvl="1">
              <a:lnSpc>
                <a:spcPct val="110000"/>
              </a:lnSpc>
              <a:spcBef>
                <a:spcPts val="600"/>
              </a:spcBef>
            </a:pPr>
            <a:r>
              <a:rPr lang="zh-CN" altLang="en-US" dirty="0"/>
              <a:t>也称为</a:t>
            </a:r>
            <a:r>
              <a:rPr lang="zh-CN" altLang="en-US" dirty="0">
                <a:solidFill>
                  <a:srgbClr val="FF0000"/>
                </a:solidFill>
              </a:rPr>
              <a:t>传输时延。</a:t>
            </a:r>
            <a:endParaRPr lang="en-US" altLang="zh-CN" dirty="0">
              <a:solidFill>
                <a:srgbClr val="FF0000"/>
              </a:solidFill>
            </a:endParaRPr>
          </a:p>
          <a:p>
            <a:pPr lvl="1">
              <a:lnSpc>
                <a:spcPct val="110000"/>
              </a:lnSpc>
              <a:spcBef>
                <a:spcPts val="600"/>
              </a:spcBef>
            </a:pPr>
            <a:r>
              <a:rPr lang="zh-CN" altLang="en-US" dirty="0"/>
              <a:t>发送数据时，数据帧从节点进入到传输媒体所需要的时间。</a:t>
            </a:r>
          </a:p>
          <a:p>
            <a:pPr lvl="1">
              <a:lnSpc>
                <a:spcPct val="110000"/>
              </a:lnSpc>
              <a:spcBef>
                <a:spcPts val="600"/>
              </a:spcBef>
            </a:pPr>
            <a:r>
              <a:rPr lang="zh-CN" altLang="en-US" dirty="0"/>
              <a:t>也就是从发送数据帧的第一个比特算起，到该帧的最后一个比特发送完毕所需的时间。 </a:t>
            </a:r>
          </a:p>
        </p:txBody>
      </p:sp>
      <p:sp>
        <p:nvSpPr>
          <p:cNvPr id="88069" name="Rectangle 5"/>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8081" name="Group 17"/>
          <p:cNvGrpSpPr>
            <a:grpSpLocks/>
          </p:cNvGrpSpPr>
          <p:nvPr/>
        </p:nvGrpSpPr>
        <p:grpSpPr bwMode="auto">
          <a:xfrm>
            <a:off x="2144688" y="4571622"/>
            <a:ext cx="5695950" cy="1225550"/>
            <a:chOff x="1574" y="3066"/>
            <a:chExt cx="3211" cy="772"/>
          </a:xfrm>
        </p:grpSpPr>
        <p:sp>
          <p:nvSpPr>
            <p:cNvPr id="88078" name="Rectangle 14"/>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latin typeface="+mn-lt"/>
                <a:ea typeface="黑体" pitchFamily="2" charset="-122"/>
              </a:endParaRPr>
            </a:p>
          </p:txBody>
        </p:sp>
        <p:sp>
          <p:nvSpPr>
            <p:cNvPr id="88073" name="Text Box 9"/>
            <p:cNvSpPr txBox="1">
              <a:spLocks noChangeArrowheads="1"/>
            </p:cNvSpPr>
            <p:nvPr/>
          </p:nvSpPr>
          <p:spPr bwMode="auto">
            <a:xfrm>
              <a:off x="1688" y="3286"/>
              <a:ext cx="1148"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CC"/>
                  </a:solidFill>
                  <a:latin typeface="+mn-lt"/>
                  <a:ea typeface="黑体" pitchFamily="2" charset="-122"/>
                </a:rPr>
                <a:t>发送时延 </a:t>
              </a:r>
              <a:r>
                <a:rPr lang="en-US" altLang="zh-CN" sz="2800" b="1">
                  <a:solidFill>
                    <a:srgbClr val="0000CC"/>
                  </a:solidFill>
                  <a:latin typeface="+mn-lt"/>
                  <a:ea typeface="黑体" pitchFamily="2" charset="-122"/>
                </a:rPr>
                <a:t>= </a:t>
              </a:r>
            </a:p>
          </p:txBody>
        </p:sp>
        <p:sp>
          <p:nvSpPr>
            <p:cNvPr id="88074" name="Text Box 10"/>
            <p:cNvSpPr txBox="1">
              <a:spLocks noChangeArrowheads="1"/>
            </p:cNvSpPr>
            <p:nvPr/>
          </p:nvSpPr>
          <p:spPr bwMode="auto">
            <a:xfrm>
              <a:off x="2789" y="3150"/>
              <a:ext cx="1775"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itchFamily="2" charset="-122"/>
                </a:rPr>
                <a:t>数据帧长度（</a:t>
              </a:r>
              <a:r>
                <a:rPr lang="en-US" altLang="zh-CN" sz="2800" b="1" dirty="0">
                  <a:solidFill>
                    <a:srgbClr val="FF0000"/>
                  </a:solidFill>
                  <a:latin typeface="+mn-lt"/>
                  <a:ea typeface="黑体" pitchFamily="2" charset="-122"/>
                </a:rPr>
                <a:t>bit</a:t>
              </a:r>
              <a:r>
                <a:rPr lang="zh-CN" altLang="en-US" sz="2800" b="1" dirty="0">
                  <a:solidFill>
                    <a:srgbClr val="0000CC"/>
                  </a:solidFill>
                  <a:latin typeface="+mn-lt"/>
                  <a:ea typeface="黑体" pitchFamily="2" charset="-122"/>
                </a:rPr>
                <a:t>）</a:t>
              </a:r>
            </a:p>
          </p:txBody>
        </p:sp>
        <p:sp>
          <p:nvSpPr>
            <p:cNvPr id="88075" name="Text Box 11"/>
            <p:cNvSpPr txBox="1">
              <a:spLocks noChangeArrowheads="1"/>
            </p:cNvSpPr>
            <p:nvPr/>
          </p:nvSpPr>
          <p:spPr bwMode="auto">
            <a:xfrm>
              <a:off x="2858" y="3467"/>
              <a:ext cx="1741"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itchFamily="2" charset="-122"/>
                </a:rPr>
                <a:t>发送速率（</a:t>
              </a:r>
              <a:r>
                <a:rPr lang="en-US" altLang="zh-CN" sz="2800" b="1" dirty="0">
                  <a:solidFill>
                    <a:srgbClr val="FF0000"/>
                  </a:solidFill>
                  <a:latin typeface="+mn-lt"/>
                  <a:ea typeface="黑体" pitchFamily="2" charset="-122"/>
                </a:rPr>
                <a:t>bit/s</a:t>
              </a:r>
              <a:r>
                <a:rPr lang="zh-CN" altLang="en-US" sz="2800" b="1" dirty="0">
                  <a:solidFill>
                    <a:srgbClr val="0000CC"/>
                  </a:solidFill>
                  <a:latin typeface="+mn-lt"/>
                  <a:ea typeface="黑体" pitchFamily="2" charset="-122"/>
                </a:rPr>
                <a:t>）</a:t>
              </a:r>
            </a:p>
          </p:txBody>
        </p:sp>
        <p:sp>
          <p:nvSpPr>
            <p:cNvPr id="88076" name="Line 12"/>
            <p:cNvSpPr>
              <a:spLocks noChangeShapeType="1"/>
            </p:cNvSpPr>
            <p:nvPr/>
          </p:nvSpPr>
          <p:spPr bwMode="auto">
            <a:xfrm>
              <a:off x="2789" y="3459"/>
              <a:ext cx="1819" cy="0"/>
            </a:xfrm>
            <a:prstGeom prst="line">
              <a:avLst/>
            </a:prstGeom>
            <a:no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latin typeface="+mn-lt"/>
                <a:ea typeface="黑体" pitchFamily="2" charset="-122"/>
              </a:endParaRPr>
            </a:p>
          </p:txBody>
        </p:sp>
      </p:grpSp>
    </p:spTree>
    <p:extLst>
      <p:ext uri="{BB962C8B-B14F-4D97-AF65-F5344CB8AC3E}">
        <p14:creationId xmlns:p14="http://schemas.microsoft.com/office/powerpoint/2010/main" val="9538100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dirty="0"/>
              <a:t>计算机网络的性能指标：时延</a:t>
            </a:r>
            <a:endParaRPr lang="en-US" altLang="zh-CN" dirty="0"/>
          </a:p>
        </p:txBody>
      </p:sp>
      <p:sp>
        <p:nvSpPr>
          <p:cNvPr id="89091" name="Rectangle 3"/>
          <p:cNvSpPr>
            <a:spLocks noGrp="1" noChangeArrowheads="1"/>
          </p:cNvSpPr>
          <p:nvPr>
            <p:ph idx="1"/>
          </p:nvPr>
        </p:nvSpPr>
        <p:spPr>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nSpc>
                <a:spcPct val="110000"/>
              </a:lnSpc>
              <a:spcBef>
                <a:spcPts val="600"/>
              </a:spcBef>
            </a:pPr>
            <a:r>
              <a:rPr lang="en-US" altLang="zh-CN" dirty="0">
                <a:solidFill>
                  <a:srgbClr val="0000CC"/>
                </a:solidFill>
              </a:rPr>
              <a:t>(2) </a:t>
            </a:r>
            <a:r>
              <a:rPr lang="zh-CN" altLang="en-US" dirty="0">
                <a:solidFill>
                  <a:srgbClr val="0000CC"/>
                </a:solidFill>
              </a:rPr>
              <a:t>传播时延</a:t>
            </a:r>
            <a:endParaRPr lang="en-US" altLang="zh-CN" dirty="0">
              <a:solidFill>
                <a:srgbClr val="0000CC"/>
              </a:solidFill>
            </a:endParaRPr>
          </a:p>
          <a:p>
            <a:pPr lvl="1">
              <a:lnSpc>
                <a:spcPct val="110000"/>
              </a:lnSpc>
              <a:spcBef>
                <a:spcPts val="600"/>
              </a:spcBef>
            </a:pPr>
            <a:r>
              <a:rPr lang="zh-CN" altLang="en-US" dirty="0"/>
              <a:t>电磁波在信道中需要传播一定的距离而花费的时间。 </a:t>
            </a:r>
          </a:p>
          <a:p>
            <a:pPr lvl="1">
              <a:lnSpc>
                <a:spcPct val="110000"/>
              </a:lnSpc>
              <a:spcBef>
                <a:spcPts val="600"/>
              </a:spcBef>
            </a:pPr>
            <a:r>
              <a:rPr lang="zh-CN" altLang="en-US" dirty="0">
                <a:solidFill>
                  <a:srgbClr val="FF0000"/>
                </a:solidFill>
              </a:rPr>
              <a:t>发送时延与传播时延</a:t>
            </a:r>
            <a:r>
              <a:rPr lang="zh-CN" altLang="zh-CN" dirty="0">
                <a:solidFill>
                  <a:srgbClr val="FF0000"/>
                </a:solidFill>
              </a:rPr>
              <a:t>有本质上的不同</a:t>
            </a:r>
            <a:r>
              <a:rPr lang="zh-CN" altLang="en-US" dirty="0">
                <a:solidFill>
                  <a:srgbClr val="FF0000"/>
                </a:solidFill>
              </a:rPr>
              <a:t>。</a:t>
            </a:r>
            <a:endParaRPr lang="en-US" altLang="zh-CN" dirty="0">
              <a:solidFill>
                <a:srgbClr val="FF0000"/>
              </a:solidFill>
            </a:endParaRPr>
          </a:p>
          <a:p>
            <a:pPr lvl="1">
              <a:lnSpc>
                <a:spcPct val="110000"/>
              </a:lnSpc>
              <a:spcBef>
                <a:spcPts val="600"/>
              </a:spcBef>
            </a:pPr>
            <a:r>
              <a:rPr lang="zh-CN" altLang="en-US" dirty="0"/>
              <a:t>信号</a:t>
            </a:r>
            <a:r>
              <a:rPr lang="zh-CN" altLang="en-US" dirty="0">
                <a:solidFill>
                  <a:srgbClr val="FF0000"/>
                </a:solidFill>
              </a:rPr>
              <a:t>发送速率</a:t>
            </a:r>
            <a:r>
              <a:rPr lang="zh-CN" altLang="en-US" dirty="0"/>
              <a:t>和信号在信道上的</a:t>
            </a:r>
            <a:r>
              <a:rPr lang="zh-CN" altLang="en-US" dirty="0">
                <a:solidFill>
                  <a:srgbClr val="FF0000"/>
                </a:solidFill>
              </a:rPr>
              <a:t>传播速率</a:t>
            </a:r>
            <a:r>
              <a:rPr lang="zh-CN" altLang="en-US" dirty="0"/>
              <a:t>是</a:t>
            </a:r>
            <a:r>
              <a:rPr lang="zh-CN" altLang="en-US" dirty="0">
                <a:solidFill>
                  <a:srgbClr val="FF0000"/>
                </a:solidFill>
              </a:rPr>
              <a:t>完全不同</a:t>
            </a:r>
            <a:r>
              <a:rPr lang="zh-CN" altLang="en-US" dirty="0"/>
              <a:t>的概念。 </a:t>
            </a:r>
          </a:p>
          <a:p>
            <a:pPr>
              <a:lnSpc>
                <a:spcPct val="110000"/>
              </a:lnSpc>
              <a:spcBef>
                <a:spcPts val="600"/>
              </a:spcBef>
            </a:pPr>
            <a:endParaRPr lang="en-US" altLang="zh-CN" dirty="0"/>
          </a:p>
        </p:txBody>
      </p:sp>
      <p:sp>
        <p:nvSpPr>
          <p:cNvPr id="89092" name="Rectangle 4"/>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89108" name="Group 20"/>
          <p:cNvGrpSpPr>
            <a:grpSpLocks/>
          </p:cNvGrpSpPr>
          <p:nvPr/>
        </p:nvGrpSpPr>
        <p:grpSpPr bwMode="auto">
          <a:xfrm>
            <a:off x="992560" y="4149080"/>
            <a:ext cx="8016546" cy="1225550"/>
            <a:chOff x="1020" y="2840"/>
            <a:chExt cx="4316" cy="772"/>
          </a:xfrm>
        </p:grpSpPr>
        <p:sp>
          <p:nvSpPr>
            <p:cNvPr id="89095" name="Rectangle 7"/>
            <p:cNvSpPr>
              <a:spLocks noChangeArrowheads="1"/>
            </p:cNvSpPr>
            <p:nvPr/>
          </p:nvSpPr>
          <p:spPr bwMode="auto">
            <a:xfrm>
              <a:off x="1020" y="2840"/>
              <a:ext cx="4316" cy="772"/>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89097" name="Text Box 9"/>
            <p:cNvSpPr txBox="1">
              <a:spLocks noChangeArrowheads="1"/>
            </p:cNvSpPr>
            <p:nvPr/>
          </p:nvSpPr>
          <p:spPr bwMode="auto">
            <a:xfrm>
              <a:off x="1134" y="3060"/>
              <a:ext cx="1096"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itchFamily="2" charset="-122"/>
                </a:rPr>
                <a:t>传播时延 </a:t>
              </a:r>
              <a:r>
                <a:rPr lang="en-US" altLang="zh-CN" sz="2800" b="1" dirty="0">
                  <a:solidFill>
                    <a:srgbClr val="0000CC"/>
                  </a:solidFill>
                  <a:latin typeface="+mn-lt"/>
                  <a:ea typeface="黑体" pitchFamily="2" charset="-122"/>
                </a:rPr>
                <a:t>= </a:t>
              </a:r>
            </a:p>
          </p:txBody>
        </p:sp>
        <p:sp>
          <p:nvSpPr>
            <p:cNvPr id="89098" name="Text Box 10"/>
            <p:cNvSpPr txBox="1">
              <a:spLocks noChangeArrowheads="1"/>
            </p:cNvSpPr>
            <p:nvPr/>
          </p:nvSpPr>
          <p:spPr bwMode="auto">
            <a:xfrm>
              <a:off x="3015" y="2916"/>
              <a:ext cx="1459"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CC"/>
                  </a:solidFill>
                  <a:latin typeface="+mn-lt"/>
                  <a:ea typeface="黑体" pitchFamily="2" charset="-122"/>
                </a:rPr>
                <a:t>信道长度（</a:t>
              </a:r>
              <a:r>
                <a:rPr lang="zh-CN" altLang="en-US" sz="2800" b="1" dirty="0">
                  <a:solidFill>
                    <a:srgbClr val="FF0000"/>
                  </a:solidFill>
                  <a:latin typeface="+mn-lt"/>
                  <a:ea typeface="黑体" pitchFamily="2" charset="-122"/>
                </a:rPr>
                <a:t>米</a:t>
              </a:r>
              <a:r>
                <a:rPr lang="zh-CN" altLang="en-US" sz="2800" b="1" dirty="0">
                  <a:solidFill>
                    <a:srgbClr val="0000CC"/>
                  </a:solidFill>
                  <a:latin typeface="+mn-lt"/>
                  <a:ea typeface="黑体" pitchFamily="2" charset="-122"/>
                </a:rPr>
                <a:t>）</a:t>
              </a:r>
            </a:p>
          </p:txBody>
        </p:sp>
        <p:sp>
          <p:nvSpPr>
            <p:cNvPr id="89099" name="Text Box 11"/>
            <p:cNvSpPr txBox="1">
              <a:spLocks noChangeArrowheads="1"/>
            </p:cNvSpPr>
            <p:nvPr/>
          </p:nvSpPr>
          <p:spPr bwMode="auto">
            <a:xfrm>
              <a:off x="2147" y="3248"/>
              <a:ext cx="3137" cy="3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800" b="1" dirty="0">
                  <a:solidFill>
                    <a:srgbClr val="0000CC"/>
                  </a:solidFill>
                  <a:latin typeface="+mn-lt"/>
                  <a:ea typeface="黑体" pitchFamily="2" charset="-122"/>
                </a:rPr>
                <a:t>信号在信道上的传播速率（</a:t>
              </a:r>
              <a:r>
                <a:rPr lang="zh-CN" altLang="en-US" sz="2800" b="1" dirty="0">
                  <a:solidFill>
                    <a:srgbClr val="FF0000"/>
                  </a:solidFill>
                  <a:latin typeface="+mn-lt"/>
                  <a:ea typeface="黑体" pitchFamily="2" charset="-122"/>
                </a:rPr>
                <a:t>米</a:t>
              </a:r>
              <a:r>
                <a:rPr lang="en-US" altLang="zh-CN" sz="2800" b="1" dirty="0">
                  <a:solidFill>
                    <a:srgbClr val="FF0000"/>
                  </a:solidFill>
                  <a:latin typeface="+mn-lt"/>
                  <a:ea typeface="黑体" pitchFamily="2" charset="-122"/>
                </a:rPr>
                <a:t>/</a:t>
              </a:r>
              <a:r>
                <a:rPr lang="zh-CN" altLang="en-US" sz="2800" b="1" dirty="0">
                  <a:solidFill>
                    <a:srgbClr val="FF0000"/>
                  </a:solidFill>
                  <a:latin typeface="+mn-lt"/>
                  <a:ea typeface="黑体" pitchFamily="2" charset="-122"/>
                </a:rPr>
                <a:t>秒</a:t>
              </a:r>
              <a:r>
                <a:rPr lang="zh-CN" altLang="en-US" sz="2800" b="1" dirty="0">
                  <a:solidFill>
                    <a:srgbClr val="0000CC"/>
                  </a:solidFill>
                  <a:latin typeface="+mn-lt"/>
                  <a:ea typeface="黑体" pitchFamily="2" charset="-122"/>
                </a:rPr>
                <a:t>）</a:t>
              </a:r>
            </a:p>
          </p:txBody>
        </p:sp>
        <p:sp>
          <p:nvSpPr>
            <p:cNvPr id="89100" name="Line 12"/>
            <p:cNvSpPr>
              <a:spLocks noChangeShapeType="1"/>
            </p:cNvSpPr>
            <p:nvPr/>
          </p:nvSpPr>
          <p:spPr bwMode="auto">
            <a:xfrm>
              <a:off x="2152" y="3233"/>
              <a:ext cx="2977" cy="13"/>
            </a:xfrm>
            <a:prstGeom prst="line">
              <a:avLst/>
            </a:prstGeom>
            <a:no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a:solidFill>
                  <a:srgbClr val="0000CC"/>
                </a:solidFill>
                <a:latin typeface="+mn-lt"/>
                <a:ea typeface="黑体" pitchFamily="2" charset="-122"/>
              </a:endParaRPr>
            </a:p>
          </p:txBody>
        </p:sp>
      </p:grpSp>
    </p:spTree>
    <p:extLst>
      <p:ext uri="{BB962C8B-B14F-4D97-AF65-F5344CB8AC3E}">
        <p14:creationId xmlns:p14="http://schemas.microsoft.com/office/powerpoint/2010/main" val="2620139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计算机网络的性能指标：时延</a:t>
            </a:r>
          </a:p>
        </p:txBody>
      </p:sp>
      <p:sp>
        <p:nvSpPr>
          <p:cNvPr id="3" name="内容占位符 2"/>
          <p:cNvSpPr>
            <a:spLocks noGrp="1"/>
          </p:cNvSpPr>
          <p:nvPr>
            <p:ph idx="1"/>
          </p:nvPr>
        </p:nvSpPr>
        <p:spPr/>
        <p:txBody>
          <a:bodyPr/>
          <a:lstStyle/>
          <a:p>
            <a:pPr>
              <a:lnSpc>
                <a:spcPct val="110000"/>
              </a:lnSpc>
              <a:spcBef>
                <a:spcPts val="600"/>
              </a:spcBef>
            </a:pPr>
            <a:r>
              <a:rPr lang="en-US" altLang="zh-CN" dirty="0">
                <a:solidFill>
                  <a:srgbClr val="0000CC"/>
                </a:solidFill>
              </a:rPr>
              <a:t>(3) </a:t>
            </a:r>
            <a:r>
              <a:rPr lang="zh-CN" altLang="en-US" dirty="0">
                <a:solidFill>
                  <a:srgbClr val="0000CC"/>
                </a:solidFill>
              </a:rPr>
              <a:t>处理时延</a:t>
            </a:r>
            <a:endParaRPr lang="en-US" altLang="zh-CN" dirty="0">
              <a:solidFill>
                <a:srgbClr val="0000CC"/>
              </a:solidFill>
            </a:endParaRPr>
          </a:p>
          <a:p>
            <a:pPr lvl="1">
              <a:lnSpc>
                <a:spcPct val="110000"/>
              </a:lnSpc>
              <a:spcBef>
                <a:spcPts val="600"/>
              </a:spcBef>
            </a:pPr>
            <a:r>
              <a:rPr lang="zh-CN" altLang="zh-CN" dirty="0"/>
              <a:t>主机或路由器</a:t>
            </a:r>
            <a:r>
              <a:rPr lang="zh-CN" altLang="en-US" dirty="0"/>
              <a:t>在收到分组时，为处理分组（例如分析</a:t>
            </a:r>
            <a:r>
              <a:rPr lang="zh-CN" altLang="zh-CN" dirty="0"/>
              <a:t>首部、提取数据、差错检验或查找路由</a:t>
            </a:r>
            <a:r>
              <a:rPr lang="zh-CN" altLang="en-US" dirty="0"/>
              <a:t>）所花费的时间。 </a:t>
            </a:r>
          </a:p>
          <a:p>
            <a:pPr>
              <a:lnSpc>
                <a:spcPct val="110000"/>
              </a:lnSpc>
              <a:spcBef>
                <a:spcPts val="600"/>
              </a:spcBef>
            </a:pPr>
            <a:r>
              <a:rPr lang="en-US" altLang="zh-CN" dirty="0">
                <a:solidFill>
                  <a:srgbClr val="0000CC"/>
                </a:solidFill>
              </a:rPr>
              <a:t>(4) </a:t>
            </a:r>
            <a:r>
              <a:rPr lang="zh-CN" altLang="en-US" dirty="0">
                <a:solidFill>
                  <a:srgbClr val="0000CC"/>
                </a:solidFill>
              </a:rPr>
              <a:t>排队时延</a:t>
            </a:r>
            <a:endParaRPr lang="en-US" altLang="zh-CN" dirty="0">
              <a:solidFill>
                <a:srgbClr val="0000CC"/>
              </a:solidFill>
            </a:endParaRPr>
          </a:p>
          <a:p>
            <a:pPr lvl="1">
              <a:lnSpc>
                <a:spcPct val="110000"/>
              </a:lnSpc>
              <a:spcBef>
                <a:spcPts val="600"/>
              </a:spcBef>
            </a:pPr>
            <a:r>
              <a:rPr lang="zh-CN" altLang="en-US" dirty="0"/>
              <a:t>分组在路由器输入输出队列中</a:t>
            </a:r>
            <a:r>
              <a:rPr lang="zh-CN" altLang="en-US" dirty="0">
                <a:solidFill>
                  <a:srgbClr val="FF0000"/>
                </a:solidFill>
              </a:rPr>
              <a:t>排队等待处理</a:t>
            </a:r>
            <a:r>
              <a:rPr lang="zh-CN" altLang="en-US" dirty="0"/>
              <a:t>所经历的时延。</a:t>
            </a:r>
          </a:p>
          <a:p>
            <a:pPr lvl="1">
              <a:lnSpc>
                <a:spcPct val="110000"/>
              </a:lnSpc>
              <a:spcBef>
                <a:spcPts val="600"/>
              </a:spcBef>
            </a:pPr>
            <a:r>
              <a:rPr lang="zh-CN" altLang="en-US" dirty="0">
                <a:solidFill>
                  <a:srgbClr val="FF0000"/>
                </a:solidFill>
              </a:rPr>
              <a:t>排队时延的长短往往取决于网络中当时的通信量。</a:t>
            </a:r>
          </a:p>
          <a:p>
            <a:pPr>
              <a:lnSpc>
                <a:spcPct val="110000"/>
              </a:lnSpc>
              <a:spcBef>
                <a:spcPts val="600"/>
              </a:spcBef>
            </a:pPr>
            <a:endParaRPr lang="zh-CN" altLang="en-US" dirty="0"/>
          </a:p>
        </p:txBody>
      </p:sp>
    </p:spTree>
    <p:extLst>
      <p:ext uri="{BB962C8B-B14F-4D97-AF65-F5344CB8AC3E}">
        <p14:creationId xmlns:p14="http://schemas.microsoft.com/office/powerpoint/2010/main" val="35181158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计算机网络的性能指标：时延</a:t>
            </a:r>
          </a:p>
        </p:txBody>
      </p:sp>
      <p:sp>
        <p:nvSpPr>
          <p:cNvPr id="3" name="内容占位符 2"/>
          <p:cNvSpPr>
            <a:spLocks noGrp="1"/>
          </p:cNvSpPr>
          <p:nvPr>
            <p:ph idx="1"/>
          </p:nvPr>
        </p:nvSpPr>
        <p:spPr/>
        <p:txBody>
          <a:bodyPr/>
          <a:lstStyle/>
          <a:p>
            <a:pPr>
              <a:lnSpc>
                <a:spcPct val="110000"/>
              </a:lnSpc>
              <a:spcBef>
                <a:spcPts val="600"/>
              </a:spcBef>
            </a:pPr>
            <a:r>
              <a:rPr lang="zh-CN" altLang="en-US" dirty="0"/>
              <a:t>数据在网络中经历的总时延就是发送时延、传播时延、处理时延和排队时延</a:t>
            </a:r>
            <a:r>
              <a:rPr lang="zh-CN" altLang="en-US" dirty="0">
                <a:solidFill>
                  <a:srgbClr val="FF0000"/>
                </a:solidFill>
              </a:rPr>
              <a:t>之和。</a:t>
            </a:r>
          </a:p>
        </p:txBody>
      </p:sp>
      <p:sp>
        <p:nvSpPr>
          <p:cNvPr id="4" name="Text Box 6"/>
          <p:cNvSpPr txBox="1">
            <a:spLocks noChangeArrowheads="1"/>
          </p:cNvSpPr>
          <p:nvPr/>
        </p:nvSpPr>
        <p:spPr bwMode="auto">
          <a:xfrm>
            <a:off x="2576737" y="2492896"/>
            <a:ext cx="4896543" cy="2292935"/>
          </a:xfrm>
          <a:prstGeom prst="rect">
            <a:avLst/>
          </a:prstGeom>
          <a:solidFill>
            <a:srgbClr val="FFFF00"/>
          </a:solidFill>
          <a:ln>
            <a:noFill/>
          </a:ln>
          <a:effectLst/>
        </p:spPr>
        <p:txBody>
          <a:bodyPr wrap="square">
            <a:spAutoFit/>
          </a:bodyPr>
          <a:lstStyle/>
          <a:p>
            <a:pPr>
              <a:spcBef>
                <a:spcPts val="600"/>
              </a:spcBef>
            </a:pPr>
            <a:r>
              <a:rPr lang="zh-CN" altLang="en-US" sz="3200" b="1" dirty="0">
                <a:solidFill>
                  <a:srgbClr val="0000CC"/>
                </a:solidFill>
                <a:latin typeface="+mn-lt"/>
                <a:ea typeface="黑体" pitchFamily="2" charset="-122"/>
              </a:rPr>
              <a:t>总时延  </a:t>
            </a:r>
            <a:r>
              <a:rPr lang="en-US" altLang="zh-CN" sz="3200" b="1" dirty="0">
                <a:solidFill>
                  <a:srgbClr val="0000CC"/>
                </a:solidFill>
                <a:latin typeface="+mn-lt"/>
                <a:ea typeface="黑体" pitchFamily="2" charset="-122"/>
              </a:rPr>
              <a:t>= 	   </a:t>
            </a:r>
            <a:r>
              <a:rPr lang="zh-CN" altLang="en-US" sz="3200" b="1" dirty="0">
                <a:solidFill>
                  <a:srgbClr val="0000CC"/>
                </a:solidFill>
                <a:latin typeface="+mn-lt"/>
                <a:ea typeface="黑体" pitchFamily="2" charset="-122"/>
              </a:rPr>
              <a:t>发送时延 </a:t>
            </a:r>
            <a:r>
              <a:rPr lang="en-US" altLang="zh-CN" sz="3200" b="1" dirty="0">
                <a:solidFill>
                  <a:srgbClr val="0000CC"/>
                </a:solidFill>
                <a:latin typeface="+mn-lt"/>
                <a:ea typeface="黑体" pitchFamily="2" charset="-122"/>
              </a:rPr>
              <a:t> </a:t>
            </a:r>
          </a:p>
          <a:p>
            <a:pPr>
              <a:spcBef>
                <a:spcPts val="600"/>
              </a:spcBef>
            </a:pPr>
            <a:r>
              <a:rPr lang="en-US" altLang="zh-CN" sz="3200" b="1" dirty="0">
                <a:solidFill>
                  <a:srgbClr val="0000CC"/>
                </a:solidFill>
                <a:latin typeface="+mn-lt"/>
                <a:ea typeface="黑体" pitchFamily="2" charset="-122"/>
              </a:rPr>
              <a:t>		+ </a:t>
            </a:r>
            <a:r>
              <a:rPr lang="zh-CN" altLang="en-US" sz="3200" b="1" dirty="0">
                <a:solidFill>
                  <a:srgbClr val="0000CC"/>
                </a:solidFill>
                <a:latin typeface="+mn-lt"/>
                <a:ea typeface="黑体" pitchFamily="2" charset="-122"/>
              </a:rPr>
              <a:t>传播时延 </a:t>
            </a:r>
            <a:r>
              <a:rPr lang="en-US" altLang="zh-CN" sz="3200" b="1" dirty="0">
                <a:solidFill>
                  <a:srgbClr val="0000CC"/>
                </a:solidFill>
                <a:latin typeface="+mn-lt"/>
                <a:ea typeface="黑体" pitchFamily="2" charset="-122"/>
              </a:rPr>
              <a:t> </a:t>
            </a:r>
          </a:p>
          <a:p>
            <a:pPr>
              <a:spcBef>
                <a:spcPts val="600"/>
              </a:spcBef>
            </a:pPr>
            <a:r>
              <a:rPr lang="en-US" altLang="zh-CN" sz="3200" b="1" dirty="0">
                <a:solidFill>
                  <a:srgbClr val="0000CC"/>
                </a:solidFill>
                <a:latin typeface="+mn-lt"/>
                <a:ea typeface="黑体" pitchFamily="2" charset="-122"/>
              </a:rPr>
              <a:t>		+ </a:t>
            </a:r>
            <a:r>
              <a:rPr lang="zh-CN" altLang="en-US" sz="3200" b="1" dirty="0">
                <a:solidFill>
                  <a:srgbClr val="0000CC"/>
                </a:solidFill>
                <a:latin typeface="+mn-lt"/>
                <a:ea typeface="黑体" pitchFamily="2" charset="-122"/>
              </a:rPr>
              <a:t>处理时延 </a:t>
            </a:r>
            <a:r>
              <a:rPr lang="en-US" altLang="zh-CN" sz="3200" b="1" dirty="0">
                <a:solidFill>
                  <a:srgbClr val="0000CC"/>
                </a:solidFill>
                <a:latin typeface="+mn-lt"/>
                <a:ea typeface="黑体" pitchFamily="2" charset="-122"/>
              </a:rPr>
              <a:t> </a:t>
            </a:r>
          </a:p>
          <a:p>
            <a:pPr>
              <a:spcBef>
                <a:spcPts val="600"/>
              </a:spcBef>
            </a:pPr>
            <a:r>
              <a:rPr lang="en-US" altLang="zh-CN" sz="3200" b="1" dirty="0">
                <a:solidFill>
                  <a:srgbClr val="0000CC"/>
                </a:solidFill>
                <a:latin typeface="+mn-lt"/>
                <a:ea typeface="黑体" pitchFamily="2" charset="-122"/>
              </a:rPr>
              <a:t>		+ </a:t>
            </a:r>
            <a:r>
              <a:rPr lang="zh-CN" altLang="en-US" sz="3200" b="1" dirty="0">
                <a:solidFill>
                  <a:srgbClr val="0000CC"/>
                </a:solidFill>
                <a:latin typeface="+mn-lt"/>
                <a:ea typeface="黑体" pitchFamily="2" charset="-122"/>
              </a:rPr>
              <a:t>排队时延</a:t>
            </a:r>
          </a:p>
        </p:txBody>
      </p:sp>
    </p:spTree>
    <p:extLst>
      <p:ext uri="{BB962C8B-B14F-4D97-AF65-F5344CB8AC3E}">
        <p14:creationId xmlns:p14="http://schemas.microsoft.com/office/powerpoint/2010/main" val="34618849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algn="ctr"/>
            <a:r>
              <a:rPr lang="zh-CN" altLang="en-US" dirty="0"/>
              <a:t>四种时延所产生的地方 </a:t>
            </a:r>
          </a:p>
        </p:txBody>
      </p:sp>
      <p:sp>
        <p:nvSpPr>
          <p:cNvPr id="92167" name="Rectangle 7"/>
          <p:cNvSpPr>
            <a:spLocks noChangeArrowheads="1"/>
          </p:cNvSpPr>
          <p:nvPr/>
        </p:nvSpPr>
        <p:spPr bwMode="auto">
          <a:xfrm>
            <a:off x="2348259" y="4394919"/>
            <a:ext cx="5983156" cy="265113"/>
          </a:xfrm>
          <a:prstGeom prst="rect">
            <a:avLst/>
          </a:prstGeom>
          <a:gradFill rotWithShape="1">
            <a:gsLst>
              <a:gs pos="0">
                <a:srgbClr val="B2B2B2">
                  <a:gamma/>
                  <a:shade val="27451"/>
                  <a:invGamma/>
                </a:srgbClr>
              </a:gs>
              <a:gs pos="50000">
                <a:srgbClr val="B2B2B2"/>
              </a:gs>
              <a:gs pos="100000">
                <a:srgbClr val="B2B2B2">
                  <a:gamma/>
                  <a:shade val="27451"/>
                  <a:invGamma/>
                </a:srgbClr>
              </a:gs>
            </a:gsLst>
            <a:lin ang="5400000" scaled="1"/>
          </a:gra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2169" name="Oval 9"/>
          <p:cNvSpPr>
            <a:spLocks noChangeArrowheads="1"/>
          </p:cNvSpPr>
          <p:nvPr/>
        </p:nvSpPr>
        <p:spPr bwMode="auto">
          <a:xfrm>
            <a:off x="974145" y="3861519"/>
            <a:ext cx="1472142" cy="1331913"/>
          </a:xfrm>
          <a:prstGeom prst="ellipse">
            <a:avLst/>
          </a:prstGeom>
          <a:gradFill rotWithShape="1">
            <a:gsLst>
              <a:gs pos="0">
                <a:srgbClr val="FFFF99"/>
              </a:gs>
              <a:gs pos="100000">
                <a:srgbClr val="FFFF99">
                  <a:gamma/>
                  <a:shade val="69804"/>
                  <a:invGamma/>
                </a:srgbClr>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2170" name="Oval 10"/>
          <p:cNvSpPr>
            <a:spLocks noChangeArrowheads="1"/>
          </p:cNvSpPr>
          <p:nvPr/>
        </p:nvSpPr>
        <p:spPr bwMode="auto">
          <a:xfrm>
            <a:off x="8233386" y="3861519"/>
            <a:ext cx="1472142" cy="1331913"/>
          </a:xfrm>
          <a:prstGeom prst="ellipse">
            <a:avLst/>
          </a:prstGeom>
          <a:gradFill rotWithShape="1">
            <a:gsLst>
              <a:gs pos="0">
                <a:srgbClr val="FFFF99"/>
              </a:gs>
              <a:gs pos="100000">
                <a:srgbClr val="FFFF99">
                  <a:gamma/>
                  <a:shade val="66667"/>
                  <a:invGamma/>
                </a:srgbClr>
              </a:gs>
            </a:gsLst>
            <a:path path="shape">
              <a:fillToRect l="50000" t="50000" r="50000" b="50000"/>
            </a:path>
          </a:gra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grpSp>
        <p:nvGrpSpPr>
          <p:cNvPr id="92171" name="Group 11"/>
          <p:cNvGrpSpPr>
            <a:grpSpLocks/>
          </p:cNvGrpSpPr>
          <p:nvPr/>
        </p:nvGrpSpPr>
        <p:grpSpPr bwMode="auto">
          <a:xfrm>
            <a:off x="1366258" y="4269507"/>
            <a:ext cx="784225" cy="458787"/>
            <a:chOff x="1567" y="1056"/>
            <a:chExt cx="384" cy="336"/>
          </a:xfrm>
        </p:grpSpPr>
        <p:sp>
          <p:nvSpPr>
            <p:cNvPr id="92172" name="Rectangle 12"/>
            <p:cNvSpPr>
              <a:spLocks noChangeArrowheads="1"/>
            </p:cNvSpPr>
            <p:nvPr/>
          </p:nvSpPr>
          <p:spPr bwMode="auto">
            <a:xfrm>
              <a:off x="1663" y="1056"/>
              <a:ext cx="288" cy="336"/>
            </a:xfrm>
            <a:prstGeom prst="rect">
              <a:avLst/>
            </a:prstGeom>
            <a:solidFill>
              <a:srgbClr val="FF6600"/>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2173"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Lst>
              <a:ahLst/>
              <a:cxnLst>
                <a:cxn ang="0">
                  <a:pos x="T0" y="T1"/>
                </a:cxn>
                <a:cxn ang="0">
                  <a:pos x="T2" y="T3"/>
                </a:cxn>
                <a:cxn ang="0">
                  <a:pos x="T4" y="T5"/>
                </a:cxn>
                <a:cxn ang="0">
                  <a:pos x="T6" y="T7"/>
                </a:cxn>
              </a:cxnLst>
              <a:rect l="0" t="0" r="r" b="b"/>
              <a:pathLst>
                <a:path w="384" h="336">
                  <a:moveTo>
                    <a:pt x="0" y="0"/>
                  </a:moveTo>
                  <a:lnTo>
                    <a:pt x="384" y="0"/>
                  </a:lnTo>
                  <a:lnTo>
                    <a:pt x="384" y="336"/>
                  </a:lnTo>
                  <a:lnTo>
                    <a:pt x="0" y="336"/>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174" name="Line 14"/>
            <p:cNvSpPr>
              <a:spLocks noChangeShapeType="1"/>
            </p:cNvSpPr>
            <p:nvPr/>
          </p:nvSpPr>
          <p:spPr bwMode="auto">
            <a:xfrm>
              <a:off x="1855"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175" name="Line 15"/>
            <p:cNvSpPr>
              <a:spLocks noChangeShapeType="1"/>
            </p:cNvSpPr>
            <p:nvPr/>
          </p:nvSpPr>
          <p:spPr bwMode="auto">
            <a:xfrm>
              <a:off x="1759"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176" name="Line 16"/>
            <p:cNvSpPr>
              <a:spLocks noChangeShapeType="1"/>
            </p:cNvSpPr>
            <p:nvPr/>
          </p:nvSpPr>
          <p:spPr bwMode="auto">
            <a:xfrm>
              <a:off x="1663"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grpSp>
      <p:sp>
        <p:nvSpPr>
          <p:cNvPr id="92177" name="Line 17"/>
          <p:cNvSpPr>
            <a:spLocks noChangeShapeType="1"/>
          </p:cNvSpPr>
          <p:nvPr/>
        </p:nvSpPr>
        <p:spPr bwMode="auto">
          <a:xfrm>
            <a:off x="2145324" y="4515568"/>
            <a:ext cx="294085" cy="63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178" name="Rectangle 18"/>
          <p:cNvSpPr>
            <a:spLocks noChangeArrowheads="1"/>
          </p:cNvSpPr>
          <p:nvPr/>
        </p:nvSpPr>
        <p:spPr bwMode="auto">
          <a:xfrm>
            <a:off x="2212396" y="4421907"/>
            <a:ext cx="184017" cy="193675"/>
          </a:xfrm>
          <a:prstGeom prst="rect">
            <a:avLst/>
          </a:prstGeom>
          <a:solidFill>
            <a:srgbClr val="0000CC"/>
          </a:solidFill>
          <a:ln w="9525">
            <a:solidFill>
              <a:schemeClr val="bg1">
                <a:lumMod val="50000"/>
              </a:schemeClr>
            </a:solidFill>
            <a:miter lim="800000"/>
            <a:headEnd/>
            <a:tailEnd/>
          </a:ln>
          <a:effectLst/>
        </p:spPr>
        <p:txBody>
          <a:bodyPr wrap="none" anchor="ctr"/>
          <a:lstStyle/>
          <a:p>
            <a:endParaRPr lang="zh-CN" altLang="en-US" b="1">
              <a:latin typeface="+mn-lt"/>
              <a:ea typeface="黑体" pitchFamily="2" charset="-122"/>
            </a:endParaRPr>
          </a:p>
        </p:txBody>
      </p:sp>
      <p:sp>
        <p:nvSpPr>
          <p:cNvPr id="92181" name="AutoShape 21"/>
          <p:cNvSpPr>
            <a:spLocks noChangeArrowheads="1"/>
          </p:cNvSpPr>
          <p:nvPr/>
        </p:nvSpPr>
        <p:spPr bwMode="auto">
          <a:xfrm>
            <a:off x="3034456" y="4447306"/>
            <a:ext cx="1372394" cy="177800"/>
          </a:xfrm>
          <a:prstGeom prst="rightArrow">
            <a:avLst>
              <a:gd name="adj1" fmla="val 50000"/>
              <a:gd name="adj2" fmla="val 178125"/>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2186" name="AutoShape 26"/>
          <p:cNvSpPr>
            <a:spLocks noChangeArrowheads="1"/>
          </p:cNvSpPr>
          <p:nvPr/>
        </p:nvSpPr>
        <p:spPr bwMode="auto">
          <a:xfrm>
            <a:off x="322317" y="4447306"/>
            <a:ext cx="1236557" cy="177800"/>
          </a:xfrm>
          <a:prstGeom prst="rightArrow">
            <a:avLst>
              <a:gd name="adj1" fmla="val 50000"/>
              <a:gd name="adj2" fmla="val 178348"/>
            </a:avLst>
          </a:prstGeom>
          <a:solidFill>
            <a:srgbClr val="00FFCC"/>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2187" name="AutoShape 27"/>
          <p:cNvSpPr>
            <a:spLocks noChangeArrowheads="1"/>
          </p:cNvSpPr>
          <p:nvPr/>
        </p:nvSpPr>
        <p:spPr bwMode="auto">
          <a:xfrm>
            <a:off x="7144759" y="4439369"/>
            <a:ext cx="1372394" cy="176213"/>
          </a:xfrm>
          <a:prstGeom prst="rightArrow">
            <a:avLst>
              <a:gd name="adj1" fmla="val 50000"/>
              <a:gd name="adj2" fmla="val 179729"/>
            </a:avLst>
          </a:prstGeom>
          <a:solidFill>
            <a:srgbClr val="00FFCC"/>
          </a:solidFill>
          <a:ln w="9525" algn="ctr">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2188" name="Text Box 28"/>
          <p:cNvSpPr txBox="1">
            <a:spLocks noChangeArrowheads="1"/>
          </p:cNvSpPr>
          <p:nvPr/>
        </p:nvSpPr>
        <p:spPr bwMode="auto">
          <a:xfrm>
            <a:off x="4432646" y="4337769"/>
            <a:ext cx="160653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CC"/>
                </a:solidFill>
                <a:latin typeface="+mn-lt"/>
                <a:ea typeface="黑体" pitchFamily="2" charset="-122"/>
              </a:rPr>
              <a:t>1 0 1 1 0 0 1</a:t>
            </a:r>
          </a:p>
        </p:txBody>
      </p:sp>
      <p:sp>
        <p:nvSpPr>
          <p:cNvPr id="92189" name="Text Box 29"/>
          <p:cNvSpPr txBox="1">
            <a:spLocks noChangeArrowheads="1"/>
          </p:cNvSpPr>
          <p:nvPr/>
        </p:nvSpPr>
        <p:spPr bwMode="auto">
          <a:xfrm>
            <a:off x="6181675" y="4204418"/>
            <a:ext cx="49244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b="1">
                <a:solidFill>
                  <a:srgbClr val="333399"/>
                </a:solidFill>
                <a:latin typeface="+mn-lt"/>
                <a:ea typeface="黑体" pitchFamily="2" charset="-122"/>
              </a:rPr>
              <a:t>…</a:t>
            </a:r>
          </a:p>
        </p:txBody>
      </p:sp>
      <p:sp>
        <p:nvSpPr>
          <p:cNvPr id="92192" name="Text Box 32"/>
          <p:cNvSpPr txBox="1">
            <a:spLocks noChangeArrowheads="1"/>
          </p:cNvSpPr>
          <p:nvPr/>
        </p:nvSpPr>
        <p:spPr bwMode="auto">
          <a:xfrm>
            <a:off x="2451446" y="5166443"/>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itchFamily="2" charset="-122"/>
              </a:rPr>
              <a:t>发送器</a:t>
            </a:r>
          </a:p>
        </p:txBody>
      </p:sp>
      <p:sp>
        <p:nvSpPr>
          <p:cNvPr id="92194" name="Text Box 34"/>
          <p:cNvSpPr txBox="1">
            <a:spLocks noChangeArrowheads="1"/>
          </p:cNvSpPr>
          <p:nvPr/>
        </p:nvSpPr>
        <p:spPr bwMode="auto">
          <a:xfrm>
            <a:off x="1319823" y="468066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itchFamily="2" charset="-122"/>
              </a:rPr>
              <a:t>队列</a:t>
            </a:r>
          </a:p>
        </p:txBody>
      </p:sp>
      <p:grpSp>
        <p:nvGrpSpPr>
          <p:cNvPr id="92205" name="Group 45"/>
          <p:cNvGrpSpPr>
            <a:grpSpLocks/>
          </p:cNvGrpSpPr>
          <p:nvPr/>
        </p:nvGrpSpPr>
        <p:grpSpPr bwMode="auto">
          <a:xfrm>
            <a:off x="6145559" y="2761381"/>
            <a:ext cx="2031074" cy="1612900"/>
            <a:chOff x="3486" y="1933"/>
            <a:chExt cx="1181" cy="1016"/>
          </a:xfrm>
        </p:grpSpPr>
        <p:sp>
          <p:nvSpPr>
            <p:cNvPr id="92193" name="Line 33"/>
            <p:cNvSpPr>
              <a:spLocks noChangeShapeType="1"/>
            </p:cNvSpPr>
            <p:nvPr/>
          </p:nvSpPr>
          <p:spPr bwMode="auto">
            <a:xfrm flipH="1">
              <a:off x="3602" y="2495"/>
              <a:ext cx="276" cy="45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196" name="Text Box 36"/>
            <p:cNvSpPr txBox="1">
              <a:spLocks noChangeArrowheads="1"/>
            </p:cNvSpPr>
            <p:nvPr/>
          </p:nvSpPr>
          <p:spPr bwMode="auto">
            <a:xfrm>
              <a:off x="3486" y="1933"/>
              <a:ext cx="1181" cy="523"/>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itchFamily="2" charset="-122"/>
                </a:rPr>
                <a:t>在链路上产生</a:t>
              </a:r>
            </a:p>
            <a:p>
              <a:pPr algn="ctr"/>
              <a:r>
                <a:rPr kumimoji="1" lang="zh-CN" altLang="en-US" sz="2400" b="1">
                  <a:solidFill>
                    <a:srgbClr val="333399"/>
                  </a:solidFill>
                  <a:latin typeface="+mn-lt"/>
                  <a:ea typeface="黑体" pitchFamily="2" charset="-122"/>
                </a:rPr>
                <a:t>传播时延</a:t>
              </a:r>
            </a:p>
          </p:txBody>
        </p:sp>
      </p:grpSp>
      <p:sp>
        <p:nvSpPr>
          <p:cNvPr id="92197" name="Text Box 37"/>
          <p:cNvSpPr txBox="1">
            <a:spLocks noChangeArrowheads="1"/>
          </p:cNvSpPr>
          <p:nvPr/>
        </p:nvSpPr>
        <p:spPr bwMode="auto">
          <a:xfrm>
            <a:off x="8379568" y="5256931"/>
            <a:ext cx="1083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itchFamily="2" charset="-122"/>
              </a:rPr>
              <a:t>节点</a:t>
            </a:r>
            <a:r>
              <a:rPr kumimoji="1" lang="zh-CN" altLang="en-US" sz="1600" b="1" dirty="0">
                <a:solidFill>
                  <a:srgbClr val="333399"/>
                </a:solidFill>
                <a:latin typeface="+mn-lt"/>
                <a:ea typeface="黑体" pitchFamily="2" charset="-122"/>
              </a:rPr>
              <a:t> </a:t>
            </a:r>
            <a:r>
              <a:rPr kumimoji="1" lang="en-US" altLang="zh-CN" sz="2400" b="1" dirty="0">
                <a:solidFill>
                  <a:srgbClr val="333399"/>
                </a:solidFill>
                <a:latin typeface="+mn-lt"/>
                <a:ea typeface="黑体" pitchFamily="2" charset="-122"/>
              </a:rPr>
              <a:t>B</a:t>
            </a:r>
          </a:p>
        </p:txBody>
      </p:sp>
      <p:sp>
        <p:nvSpPr>
          <p:cNvPr id="92198" name="Text Box 38"/>
          <p:cNvSpPr txBox="1">
            <a:spLocks noChangeArrowheads="1"/>
          </p:cNvSpPr>
          <p:nvPr/>
        </p:nvSpPr>
        <p:spPr bwMode="auto">
          <a:xfrm>
            <a:off x="1125487" y="5166443"/>
            <a:ext cx="10839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itchFamily="2" charset="-122"/>
              </a:rPr>
              <a:t>节点</a:t>
            </a:r>
            <a:r>
              <a:rPr kumimoji="1" lang="zh-CN" altLang="en-US" sz="1600" b="1" dirty="0">
                <a:solidFill>
                  <a:srgbClr val="333399"/>
                </a:solidFill>
                <a:latin typeface="+mn-lt"/>
                <a:ea typeface="黑体" pitchFamily="2" charset="-122"/>
              </a:rPr>
              <a:t> </a:t>
            </a:r>
            <a:r>
              <a:rPr kumimoji="1" lang="en-US" altLang="zh-CN" sz="2400" b="1" dirty="0">
                <a:solidFill>
                  <a:srgbClr val="333399"/>
                </a:solidFill>
                <a:latin typeface="+mn-lt"/>
                <a:ea typeface="黑体" pitchFamily="2" charset="-122"/>
              </a:rPr>
              <a:t>A</a:t>
            </a:r>
          </a:p>
        </p:txBody>
      </p:sp>
      <p:grpSp>
        <p:nvGrpSpPr>
          <p:cNvPr id="92204" name="Group 44"/>
          <p:cNvGrpSpPr>
            <a:grpSpLocks/>
          </p:cNvGrpSpPr>
          <p:nvPr/>
        </p:nvGrpSpPr>
        <p:grpSpPr bwMode="auto">
          <a:xfrm>
            <a:off x="2291506" y="2977282"/>
            <a:ext cx="3262445" cy="1470025"/>
            <a:chOff x="1245" y="2069"/>
            <a:chExt cx="1897" cy="926"/>
          </a:xfrm>
        </p:grpSpPr>
        <p:sp>
          <p:nvSpPr>
            <p:cNvPr id="92184" name="Text Box 24"/>
            <p:cNvSpPr txBox="1">
              <a:spLocks noChangeArrowheads="1"/>
            </p:cNvSpPr>
            <p:nvPr/>
          </p:nvSpPr>
          <p:spPr bwMode="auto">
            <a:xfrm>
              <a:off x="1245" y="2069"/>
              <a:ext cx="1897" cy="523"/>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a:solidFill>
                    <a:srgbClr val="333399"/>
                  </a:solidFill>
                  <a:latin typeface="+mn-lt"/>
                  <a:ea typeface="黑体" pitchFamily="2" charset="-122"/>
                </a:rPr>
                <a:t>在发送器产生发送时延</a:t>
              </a:r>
            </a:p>
            <a:p>
              <a:pPr algn="ctr"/>
              <a:r>
                <a:rPr kumimoji="1" lang="en-US" altLang="zh-CN" sz="2400" b="1">
                  <a:solidFill>
                    <a:srgbClr val="333399"/>
                  </a:solidFill>
                  <a:latin typeface="+mn-lt"/>
                  <a:ea typeface="黑体" pitchFamily="2" charset="-122"/>
                </a:rPr>
                <a:t>(</a:t>
              </a:r>
              <a:r>
                <a:rPr kumimoji="1" lang="zh-CN" altLang="en-US" sz="2400" b="1">
                  <a:solidFill>
                    <a:srgbClr val="333399"/>
                  </a:solidFill>
                  <a:latin typeface="+mn-lt"/>
                  <a:ea typeface="黑体" pitchFamily="2" charset="-122"/>
                </a:rPr>
                <a:t>即传输时延</a:t>
              </a:r>
              <a:r>
                <a:rPr kumimoji="1" lang="en-US" altLang="zh-CN" sz="2400" b="1">
                  <a:solidFill>
                    <a:srgbClr val="333399"/>
                  </a:solidFill>
                  <a:latin typeface="+mn-lt"/>
                  <a:ea typeface="黑体" pitchFamily="2" charset="-122"/>
                </a:rPr>
                <a:t>)</a:t>
              </a:r>
            </a:p>
          </p:txBody>
        </p:sp>
        <p:sp>
          <p:nvSpPr>
            <p:cNvPr id="92200" name="Line 40"/>
            <p:cNvSpPr>
              <a:spLocks noChangeShapeType="1"/>
            </p:cNvSpPr>
            <p:nvPr/>
          </p:nvSpPr>
          <p:spPr bwMode="auto">
            <a:xfrm flipH="1">
              <a:off x="1247" y="2614"/>
              <a:ext cx="454" cy="381"/>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grpSp>
      <p:sp>
        <p:nvSpPr>
          <p:cNvPr id="92201" name="Line 41"/>
          <p:cNvSpPr>
            <a:spLocks noChangeShapeType="1"/>
          </p:cNvSpPr>
          <p:nvPr/>
        </p:nvSpPr>
        <p:spPr bwMode="auto">
          <a:xfrm flipH="1" flipV="1">
            <a:off x="2294946" y="4590181"/>
            <a:ext cx="467783" cy="64770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199" name="Line 39"/>
          <p:cNvSpPr>
            <a:spLocks noChangeShapeType="1"/>
          </p:cNvSpPr>
          <p:nvPr/>
        </p:nvSpPr>
        <p:spPr bwMode="auto">
          <a:xfrm flipH="1">
            <a:off x="1710217" y="2834406"/>
            <a:ext cx="60192" cy="100806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2202" name="Text Box 42"/>
          <p:cNvSpPr txBox="1">
            <a:spLocks noChangeArrowheads="1"/>
          </p:cNvSpPr>
          <p:nvPr/>
        </p:nvSpPr>
        <p:spPr bwMode="auto">
          <a:xfrm>
            <a:off x="322318" y="1916832"/>
            <a:ext cx="2954655" cy="830997"/>
          </a:xfrm>
          <a:prstGeom prst="rect">
            <a:avLst/>
          </a:prstGeom>
          <a:solidFill>
            <a:srgbClr val="FFFF99"/>
          </a:solidFill>
          <a:ln w="76200" cmpd="tri">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2400" b="1" dirty="0">
                <a:solidFill>
                  <a:srgbClr val="333399"/>
                </a:solidFill>
                <a:latin typeface="+mn-lt"/>
                <a:ea typeface="黑体" pitchFamily="2" charset="-122"/>
              </a:rPr>
              <a:t>在节点 </a:t>
            </a:r>
            <a:r>
              <a:rPr kumimoji="1" lang="en-US" altLang="zh-CN" sz="2400" b="1" dirty="0">
                <a:solidFill>
                  <a:srgbClr val="333399"/>
                </a:solidFill>
                <a:latin typeface="+mn-lt"/>
                <a:ea typeface="黑体" pitchFamily="2" charset="-122"/>
              </a:rPr>
              <a:t>A </a:t>
            </a:r>
            <a:r>
              <a:rPr kumimoji="1" lang="zh-CN" altLang="en-US" sz="2400" b="1" dirty="0">
                <a:solidFill>
                  <a:srgbClr val="333399"/>
                </a:solidFill>
                <a:latin typeface="+mn-lt"/>
                <a:ea typeface="黑体" pitchFamily="2" charset="-122"/>
              </a:rPr>
              <a:t>中产生</a:t>
            </a:r>
          </a:p>
          <a:p>
            <a:pPr algn="ctr"/>
            <a:r>
              <a:rPr kumimoji="1" lang="zh-CN" altLang="en-US" sz="2400" b="1" dirty="0">
                <a:solidFill>
                  <a:srgbClr val="333399"/>
                </a:solidFill>
                <a:latin typeface="+mn-lt"/>
                <a:ea typeface="黑体" pitchFamily="2" charset="-122"/>
              </a:rPr>
              <a:t>处理时延和排队时延</a:t>
            </a:r>
          </a:p>
        </p:txBody>
      </p:sp>
      <p:sp>
        <p:nvSpPr>
          <p:cNvPr id="92206" name="Text Box 46"/>
          <p:cNvSpPr txBox="1">
            <a:spLocks noChangeArrowheads="1"/>
          </p:cNvSpPr>
          <p:nvPr/>
        </p:nvSpPr>
        <p:spPr bwMode="auto">
          <a:xfrm>
            <a:off x="297768" y="3985343"/>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itchFamily="2" charset="-122"/>
              </a:rPr>
              <a:t>数据</a:t>
            </a:r>
          </a:p>
        </p:txBody>
      </p:sp>
      <p:sp>
        <p:nvSpPr>
          <p:cNvPr id="92207" name="Text Box 47"/>
          <p:cNvSpPr txBox="1">
            <a:spLocks noChangeArrowheads="1"/>
          </p:cNvSpPr>
          <p:nvPr/>
        </p:nvSpPr>
        <p:spPr bwMode="auto">
          <a:xfrm>
            <a:off x="1366258" y="1116033"/>
            <a:ext cx="73038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kumimoji="1" lang="zh-CN" altLang="en-US" sz="3200" b="1" dirty="0">
                <a:solidFill>
                  <a:srgbClr val="C00000"/>
                </a:solidFill>
                <a:latin typeface="+mn-lt"/>
                <a:ea typeface="黑体" pitchFamily="2" charset="-122"/>
              </a:rPr>
              <a:t>假设从节点 </a:t>
            </a:r>
            <a:r>
              <a:rPr kumimoji="1" lang="en-US" altLang="zh-CN" sz="3200" b="1" dirty="0">
                <a:solidFill>
                  <a:srgbClr val="C00000"/>
                </a:solidFill>
                <a:latin typeface="+mn-lt"/>
                <a:ea typeface="黑体" pitchFamily="2" charset="-122"/>
              </a:rPr>
              <a:t>A </a:t>
            </a:r>
            <a:r>
              <a:rPr kumimoji="1" lang="zh-CN" altLang="en-US" sz="3200" b="1" dirty="0">
                <a:solidFill>
                  <a:srgbClr val="C00000"/>
                </a:solidFill>
                <a:latin typeface="+mn-lt"/>
                <a:ea typeface="黑体" pitchFamily="2" charset="-122"/>
              </a:rPr>
              <a:t>向节点 </a:t>
            </a:r>
            <a:r>
              <a:rPr kumimoji="1" lang="en-US" altLang="zh-CN" sz="3200" b="1" dirty="0">
                <a:solidFill>
                  <a:srgbClr val="C00000"/>
                </a:solidFill>
                <a:latin typeface="+mn-lt"/>
                <a:ea typeface="黑体" pitchFamily="2" charset="-122"/>
              </a:rPr>
              <a:t>B </a:t>
            </a:r>
            <a:r>
              <a:rPr kumimoji="1" lang="zh-CN" altLang="en-US" sz="3200" b="1" dirty="0">
                <a:solidFill>
                  <a:srgbClr val="C00000"/>
                </a:solidFill>
                <a:latin typeface="+mn-lt"/>
                <a:ea typeface="黑体" pitchFamily="2" charset="-122"/>
              </a:rPr>
              <a:t>发送数据</a:t>
            </a:r>
          </a:p>
        </p:txBody>
      </p:sp>
      <p:sp>
        <p:nvSpPr>
          <p:cNvPr id="92208" name="Text Box 48"/>
          <p:cNvSpPr txBox="1">
            <a:spLocks noChangeArrowheads="1"/>
          </p:cNvSpPr>
          <p:nvPr/>
        </p:nvSpPr>
        <p:spPr bwMode="auto">
          <a:xfrm>
            <a:off x="4752527" y="4706068"/>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itchFamily="2" charset="-122"/>
              </a:rPr>
              <a:t>链路</a:t>
            </a:r>
          </a:p>
        </p:txBody>
      </p:sp>
      <p:sp>
        <p:nvSpPr>
          <p:cNvPr id="2" name="矩形 1"/>
          <p:cNvSpPr/>
          <p:nvPr/>
        </p:nvSpPr>
        <p:spPr>
          <a:xfrm>
            <a:off x="2792760" y="5862612"/>
            <a:ext cx="4536504" cy="523220"/>
          </a:xfrm>
          <a:prstGeom prst="rect">
            <a:avLst/>
          </a:prstGeom>
        </p:spPr>
        <p:txBody>
          <a:bodyPr wrap="square">
            <a:spAutoFit/>
          </a:bodyPr>
          <a:lstStyle/>
          <a:p>
            <a:pPr algn="ctr"/>
            <a:r>
              <a:rPr lang="zh-CN" altLang="zh-CN" sz="2800" b="1" dirty="0">
                <a:latin typeface="+mn-lt"/>
                <a:ea typeface="黑体" pitchFamily="2" charset="-122"/>
              </a:rPr>
              <a:t>几种时延产生的地方不一样</a:t>
            </a:r>
            <a:endParaRPr lang="zh-CN" altLang="en-US" sz="2800" b="1" dirty="0">
              <a:latin typeface="+mn-lt"/>
              <a:ea typeface="黑体" pitchFamily="2" charset="-122"/>
            </a:endParaRPr>
          </a:p>
        </p:txBody>
      </p:sp>
    </p:spTree>
    <p:extLst>
      <p:ext uri="{BB962C8B-B14F-4D97-AF65-F5344CB8AC3E}">
        <p14:creationId xmlns:p14="http://schemas.microsoft.com/office/powerpoint/2010/main" val="42490102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2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fontScale="90000"/>
          </a:bodyPr>
          <a:lstStyle/>
          <a:p>
            <a:r>
              <a:rPr lang="zh-CN" altLang="en-US" dirty="0"/>
              <a:t>计算机网络的性能指标：时延带宽积</a:t>
            </a:r>
          </a:p>
        </p:txBody>
      </p:sp>
      <p:sp>
        <p:nvSpPr>
          <p:cNvPr id="93228" name="Rectangle 44"/>
          <p:cNvSpPr>
            <a:spLocks noGrp="1" noChangeArrowheads="1"/>
          </p:cNvSpPr>
          <p:nvPr>
            <p:ph idx="1"/>
          </p:nvPr>
        </p:nvSpPr>
        <p:spPr/>
        <p:txBody>
          <a:bodyPr/>
          <a:lstStyle/>
          <a:p>
            <a:r>
              <a:rPr lang="zh-CN" altLang="en-US" dirty="0"/>
              <a:t>链路的时延带宽积又称为</a:t>
            </a:r>
            <a:r>
              <a:rPr lang="zh-CN" altLang="en-US" dirty="0">
                <a:solidFill>
                  <a:srgbClr val="FF0000"/>
                </a:solidFill>
              </a:rPr>
              <a:t>以比特为单位的链路长度。 </a:t>
            </a:r>
          </a:p>
        </p:txBody>
      </p:sp>
      <p:sp>
        <p:nvSpPr>
          <p:cNvPr id="93187" name="Rectangle 3"/>
          <p:cNvSpPr>
            <a:spLocks noChangeArrowheads="1"/>
          </p:cNvSpPr>
          <p:nvPr/>
        </p:nvSpPr>
        <p:spPr bwMode="auto">
          <a:xfrm>
            <a:off x="116946"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93221" name="AutoShape 37"/>
          <p:cNvSpPr>
            <a:spLocks noChangeArrowheads="1"/>
          </p:cNvSpPr>
          <p:nvPr/>
        </p:nvSpPr>
        <p:spPr bwMode="auto">
          <a:xfrm rot="-5400000">
            <a:off x="5021146" y="471069"/>
            <a:ext cx="1038225" cy="7178410"/>
          </a:xfrm>
          <a:prstGeom prst="can">
            <a:avLst>
              <a:gd name="adj" fmla="val 49847"/>
            </a:avLst>
          </a:prstGeom>
          <a:gradFill rotWithShape="1">
            <a:gsLst>
              <a:gs pos="0">
                <a:srgbClr val="0099FF">
                  <a:gamma/>
                  <a:shade val="46275"/>
                  <a:invGamma/>
                </a:srgbClr>
              </a:gs>
              <a:gs pos="50000">
                <a:srgbClr val="0099FF"/>
              </a:gs>
              <a:gs pos="100000">
                <a:srgbClr val="0099FF">
                  <a:gamma/>
                  <a:shade val="46275"/>
                  <a:invGamma/>
                </a:srgbClr>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黑体" pitchFamily="2" charset="-122"/>
            </a:endParaRPr>
          </a:p>
        </p:txBody>
      </p:sp>
      <p:sp>
        <p:nvSpPr>
          <p:cNvPr id="93222" name="Line 38"/>
          <p:cNvSpPr>
            <a:spLocks noChangeShapeType="1"/>
          </p:cNvSpPr>
          <p:nvPr/>
        </p:nvSpPr>
        <p:spPr bwMode="auto">
          <a:xfrm>
            <a:off x="2186664" y="3301448"/>
            <a:ext cx="6708908"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3223" name="Text Box 39"/>
          <p:cNvSpPr txBox="1">
            <a:spLocks noChangeArrowheads="1"/>
          </p:cNvSpPr>
          <p:nvPr/>
        </p:nvSpPr>
        <p:spPr bwMode="auto">
          <a:xfrm>
            <a:off x="4214298" y="3012523"/>
            <a:ext cx="2031325"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333399"/>
                </a:solidFill>
                <a:latin typeface="+mn-lt"/>
                <a:ea typeface="黑体" pitchFamily="2" charset="-122"/>
              </a:rPr>
              <a:t>（传播）时延</a:t>
            </a:r>
          </a:p>
        </p:txBody>
      </p:sp>
      <p:sp>
        <p:nvSpPr>
          <p:cNvPr id="93224" name="Text Box 40"/>
          <p:cNvSpPr txBox="1">
            <a:spLocks noChangeArrowheads="1"/>
          </p:cNvSpPr>
          <p:nvPr/>
        </p:nvSpPr>
        <p:spPr bwMode="auto">
          <a:xfrm>
            <a:off x="5072474" y="3829343"/>
            <a:ext cx="906017" cy="5232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333399"/>
                </a:solidFill>
                <a:latin typeface="+mn-lt"/>
                <a:ea typeface="黑体" pitchFamily="2" charset="-122"/>
              </a:rPr>
              <a:t>链路</a:t>
            </a:r>
            <a:endParaRPr lang="zh-CN" altLang="en-US" sz="2400" b="1" dirty="0">
              <a:solidFill>
                <a:srgbClr val="333399"/>
              </a:solidFill>
              <a:latin typeface="+mn-lt"/>
              <a:ea typeface="黑体" pitchFamily="2" charset="-122"/>
            </a:endParaRPr>
          </a:p>
        </p:txBody>
      </p:sp>
      <p:sp>
        <p:nvSpPr>
          <p:cNvPr id="93225" name="Text Box 41"/>
          <p:cNvSpPr txBox="1">
            <a:spLocks noChangeArrowheads="1"/>
          </p:cNvSpPr>
          <p:nvPr/>
        </p:nvSpPr>
        <p:spPr bwMode="auto">
          <a:xfrm>
            <a:off x="547703" y="3325261"/>
            <a:ext cx="800219"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a:solidFill>
                  <a:srgbClr val="333399"/>
                </a:solidFill>
                <a:latin typeface="+mn-lt"/>
                <a:ea typeface="黑体" pitchFamily="2" charset="-122"/>
              </a:rPr>
              <a:t>带宽</a:t>
            </a:r>
          </a:p>
        </p:txBody>
      </p:sp>
      <p:sp>
        <p:nvSpPr>
          <p:cNvPr id="93226" name="Line 42"/>
          <p:cNvSpPr>
            <a:spLocks noChangeShapeType="1"/>
          </p:cNvSpPr>
          <p:nvPr/>
        </p:nvSpPr>
        <p:spPr bwMode="auto">
          <a:xfrm>
            <a:off x="1015486" y="3757062"/>
            <a:ext cx="1171178" cy="28892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黑体" pitchFamily="2" charset="-122"/>
            </a:endParaRPr>
          </a:p>
        </p:txBody>
      </p:sp>
      <p:sp>
        <p:nvSpPr>
          <p:cNvPr id="93227" name="Text Box 43"/>
          <p:cNvSpPr txBox="1">
            <a:spLocks noChangeArrowheads="1"/>
          </p:cNvSpPr>
          <p:nvPr/>
        </p:nvSpPr>
        <p:spPr bwMode="auto">
          <a:xfrm>
            <a:off x="2585608" y="2204864"/>
            <a:ext cx="5679760" cy="646331"/>
          </a:xfrm>
          <a:prstGeom prst="rect">
            <a:avLst/>
          </a:prstGeom>
          <a:solidFill>
            <a:srgbClr val="FFFF00"/>
          </a:solidFill>
          <a:ln w="9525">
            <a:solidFill>
              <a:srgbClr val="333399"/>
            </a:solidFill>
            <a:miter lim="800000"/>
            <a:headEnd/>
            <a:tailEnd/>
          </a:ln>
          <a:effectLst/>
        </p:spPr>
        <p:txBody>
          <a:bodyPr wrap="none">
            <a:spAutoFit/>
          </a:bodyPr>
          <a:lstStyle/>
          <a:p>
            <a:r>
              <a:rPr lang="zh-CN" altLang="en-US" sz="3200" b="1" dirty="0">
                <a:solidFill>
                  <a:srgbClr val="333399"/>
                </a:solidFill>
                <a:latin typeface="+mn-lt"/>
                <a:ea typeface="黑体" pitchFamily="2" charset="-122"/>
              </a:rPr>
              <a:t>时延带宽积 </a:t>
            </a:r>
            <a:r>
              <a:rPr lang="en-US" altLang="zh-CN" sz="3200" b="1" dirty="0">
                <a:solidFill>
                  <a:srgbClr val="333399"/>
                </a:solidFill>
                <a:latin typeface="+mn-lt"/>
                <a:ea typeface="黑体" pitchFamily="2" charset="-122"/>
              </a:rPr>
              <a:t>= </a:t>
            </a:r>
            <a:r>
              <a:rPr lang="zh-CN" altLang="en-US" sz="3200" b="1" dirty="0">
                <a:solidFill>
                  <a:srgbClr val="333399"/>
                </a:solidFill>
                <a:latin typeface="+mn-lt"/>
                <a:ea typeface="黑体" pitchFamily="2" charset="-122"/>
              </a:rPr>
              <a:t>传播时延 </a:t>
            </a:r>
            <a:r>
              <a:rPr lang="zh-CN" altLang="en-US" sz="3600" b="1" dirty="0">
                <a:solidFill>
                  <a:srgbClr val="333399"/>
                </a:solidFill>
                <a:latin typeface="+mn-lt"/>
                <a:ea typeface="黑体" pitchFamily="2" charset="-122"/>
                <a:sym typeface="Symbol" pitchFamily="18" charset="2"/>
              </a:rPr>
              <a:t> </a:t>
            </a:r>
            <a:r>
              <a:rPr lang="zh-CN" altLang="en-US" sz="3200" b="1" dirty="0">
                <a:solidFill>
                  <a:srgbClr val="333399"/>
                </a:solidFill>
                <a:latin typeface="+mn-lt"/>
                <a:ea typeface="黑体" pitchFamily="2" charset="-122"/>
                <a:sym typeface="Symbol" pitchFamily="18" charset="2"/>
              </a:rPr>
              <a:t>带宽</a:t>
            </a:r>
          </a:p>
        </p:txBody>
      </p:sp>
      <p:sp>
        <p:nvSpPr>
          <p:cNvPr id="2" name="矩形 1"/>
          <p:cNvSpPr/>
          <p:nvPr/>
        </p:nvSpPr>
        <p:spPr>
          <a:xfrm>
            <a:off x="1951053" y="5355213"/>
            <a:ext cx="7178412" cy="954107"/>
          </a:xfrm>
          <a:prstGeom prst="rect">
            <a:avLst/>
          </a:prstGeom>
          <a:solidFill>
            <a:srgbClr val="00FF99"/>
          </a:solidFill>
          <a:ln>
            <a:solidFill>
              <a:srgbClr val="000066"/>
            </a:solidFill>
          </a:ln>
        </p:spPr>
        <p:txBody>
          <a:bodyPr wrap="square">
            <a:spAutoFit/>
          </a:bodyPr>
          <a:lstStyle/>
          <a:p>
            <a:pPr algn="ctr"/>
            <a:r>
              <a:rPr lang="zh-CN" altLang="zh-CN" sz="2800" b="1" dirty="0">
                <a:solidFill>
                  <a:srgbClr val="000099"/>
                </a:solidFill>
                <a:latin typeface="+mn-lt"/>
                <a:ea typeface="黑体" pitchFamily="2" charset="-122"/>
              </a:rPr>
              <a:t>只有在代表链路的管道都充满比特时，</a:t>
            </a:r>
            <a:endParaRPr lang="en-US" altLang="zh-CN" sz="2800" b="1" dirty="0">
              <a:solidFill>
                <a:srgbClr val="000099"/>
              </a:solidFill>
              <a:latin typeface="+mn-lt"/>
              <a:ea typeface="黑体" pitchFamily="2" charset="-122"/>
            </a:endParaRPr>
          </a:p>
          <a:p>
            <a:pPr algn="ctr"/>
            <a:r>
              <a:rPr lang="zh-CN" altLang="zh-CN" sz="2800" b="1" dirty="0">
                <a:solidFill>
                  <a:srgbClr val="000099"/>
                </a:solidFill>
                <a:latin typeface="+mn-lt"/>
                <a:ea typeface="黑体" pitchFamily="2" charset="-122"/>
              </a:rPr>
              <a:t>链路才得到</a:t>
            </a:r>
            <a:r>
              <a:rPr lang="zh-CN" altLang="en-US" sz="2800" b="1" dirty="0">
                <a:solidFill>
                  <a:srgbClr val="000099"/>
                </a:solidFill>
                <a:latin typeface="+mn-lt"/>
                <a:ea typeface="黑体" pitchFamily="2" charset="-122"/>
              </a:rPr>
              <a:t>了</a:t>
            </a:r>
            <a:r>
              <a:rPr lang="zh-CN" altLang="zh-CN" sz="2800" b="1" dirty="0">
                <a:solidFill>
                  <a:srgbClr val="000099"/>
                </a:solidFill>
                <a:latin typeface="+mn-lt"/>
                <a:ea typeface="黑体" pitchFamily="2" charset="-122"/>
              </a:rPr>
              <a:t>充分利用</a:t>
            </a:r>
            <a:r>
              <a:rPr lang="zh-CN" altLang="en-US" sz="2800" b="1" dirty="0">
                <a:solidFill>
                  <a:srgbClr val="000099"/>
                </a:solidFill>
                <a:latin typeface="+mn-lt"/>
                <a:ea typeface="黑体" pitchFamily="2" charset="-122"/>
              </a:rPr>
              <a:t>。</a:t>
            </a:r>
          </a:p>
        </p:txBody>
      </p:sp>
      <p:sp>
        <p:nvSpPr>
          <p:cNvPr id="3" name="矩形 2"/>
          <p:cNvSpPr/>
          <p:nvPr/>
        </p:nvSpPr>
        <p:spPr>
          <a:xfrm>
            <a:off x="3224808" y="4725144"/>
            <a:ext cx="4724769" cy="461665"/>
          </a:xfrm>
          <a:prstGeom prst="rect">
            <a:avLst/>
          </a:prstGeom>
        </p:spPr>
        <p:txBody>
          <a:bodyPr wrap="square">
            <a:spAutoFit/>
          </a:bodyPr>
          <a:lstStyle/>
          <a:p>
            <a:pPr algn="ctr"/>
            <a:r>
              <a:rPr lang="zh-CN" altLang="zh-CN" sz="2400" b="1" dirty="0">
                <a:latin typeface="+mn-lt"/>
                <a:ea typeface="黑体" pitchFamily="2" charset="-122"/>
              </a:rPr>
              <a:t>链路像一条空心管道</a:t>
            </a:r>
            <a:endParaRPr lang="zh-CN" altLang="en-US" sz="2400" b="1" dirty="0">
              <a:latin typeface="+mn-lt"/>
              <a:ea typeface="黑体" pitchFamily="2" charset="-122"/>
            </a:endParaRPr>
          </a:p>
        </p:txBody>
      </p:sp>
    </p:spTree>
    <p:extLst>
      <p:ext uri="{BB962C8B-B14F-4D97-AF65-F5344CB8AC3E}">
        <p14:creationId xmlns:p14="http://schemas.microsoft.com/office/powerpoint/2010/main" val="14712152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计算机网络的性能指标：</a:t>
            </a:r>
            <a:r>
              <a:rPr lang="zh-CN" altLang="zh-CN" dirty="0"/>
              <a:t>往返时间</a:t>
            </a:r>
            <a:r>
              <a:rPr lang="en-US" altLang="zh-CN" dirty="0"/>
              <a:t> RTT</a:t>
            </a:r>
            <a:endParaRPr lang="zh-CN" altLang="en-US" dirty="0"/>
          </a:p>
        </p:txBody>
      </p:sp>
      <p:sp>
        <p:nvSpPr>
          <p:cNvPr id="3" name="内容占位符 2"/>
          <p:cNvSpPr>
            <a:spLocks noGrp="1"/>
          </p:cNvSpPr>
          <p:nvPr>
            <p:ph idx="1"/>
          </p:nvPr>
        </p:nvSpPr>
        <p:spPr/>
        <p:txBody>
          <a:bodyPr/>
          <a:lstStyle/>
          <a:p>
            <a:r>
              <a:rPr lang="zh-CN" altLang="zh-CN" dirty="0"/>
              <a:t>互联网上的信息不仅仅单方向传输</a:t>
            </a:r>
            <a:r>
              <a:rPr lang="zh-CN" altLang="en-US" dirty="0"/>
              <a:t>，</a:t>
            </a:r>
            <a:r>
              <a:rPr lang="zh-CN" altLang="zh-CN" dirty="0"/>
              <a:t>而是双向交互的。因此，有时很需要知道双向交互一次所需的时间</a:t>
            </a:r>
            <a:r>
              <a:rPr lang="zh-CN" altLang="en-US" dirty="0"/>
              <a:t>。</a:t>
            </a:r>
            <a:endParaRPr lang="en-US" altLang="zh-CN" dirty="0"/>
          </a:p>
          <a:p>
            <a:r>
              <a:rPr lang="zh-CN" altLang="zh-CN" dirty="0">
                <a:solidFill>
                  <a:srgbClr val="FF0000"/>
                </a:solidFill>
              </a:rPr>
              <a:t>往返时间</a:t>
            </a:r>
            <a:r>
              <a:rPr lang="zh-CN" altLang="en-US" dirty="0"/>
              <a:t>表示从发送方发送数据开始，到发送方收到来自接收方的确认，总共经历的时间。</a:t>
            </a:r>
            <a:endParaRPr lang="en-US" altLang="zh-CN" dirty="0"/>
          </a:p>
          <a:p>
            <a:r>
              <a:rPr lang="zh-CN" altLang="zh-CN" dirty="0"/>
              <a:t>在互联网中，往返时间还包括</a:t>
            </a:r>
            <a:r>
              <a:rPr lang="zh-CN" altLang="zh-CN" dirty="0">
                <a:solidFill>
                  <a:srgbClr val="FF0000"/>
                </a:solidFill>
              </a:rPr>
              <a:t>各中间</a:t>
            </a:r>
            <a:r>
              <a:rPr lang="zh-CN" altLang="en-US" dirty="0">
                <a:solidFill>
                  <a:srgbClr val="FF0000"/>
                </a:solidFill>
              </a:rPr>
              <a:t>节点</a:t>
            </a:r>
            <a:r>
              <a:rPr lang="zh-CN" altLang="zh-CN" dirty="0"/>
              <a:t>的处理时延、排队时延以及转发数据时的发送时延。</a:t>
            </a:r>
            <a:endParaRPr lang="en-US" altLang="zh-CN" dirty="0"/>
          </a:p>
          <a:p>
            <a:r>
              <a:rPr lang="zh-CN" altLang="zh-CN" dirty="0">
                <a:solidFill>
                  <a:srgbClr val="000099"/>
                </a:solidFill>
              </a:rPr>
              <a:t>当使用卫星通信时，往返时间</a:t>
            </a:r>
            <a:r>
              <a:rPr lang="en-US" altLang="zh-CN" dirty="0">
                <a:solidFill>
                  <a:srgbClr val="000099"/>
                </a:solidFill>
              </a:rPr>
              <a:t> RTT </a:t>
            </a:r>
            <a:r>
              <a:rPr lang="zh-CN" altLang="zh-CN" dirty="0">
                <a:solidFill>
                  <a:srgbClr val="000099"/>
                </a:solidFill>
              </a:rPr>
              <a:t>相对较长，是很重要的一个性能指标。</a:t>
            </a:r>
            <a:endParaRPr lang="zh-CN" altLang="en-US" dirty="0">
              <a:solidFill>
                <a:srgbClr val="000099"/>
              </a:solidFill>
            </a:endParaRPr>
          </a:p>
        </p:txBody>
      </p:sp>
    </p:spTree>
    <p:extLst>
      <p:ext uri="{BB962C8B-B14F-4D97-AF65-F5344CB8AC3E}">
        <p14:creationId xmlns:p14="http://schemas.microsoft.com/office/powerpoint/2010/main" val="1269991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p:txBody>
          <a:bodyPr/>
          <a:lstStyle/>
          <a:p>
            <a:r>
              <a:rPr lang="zh-CN" altLang="en-US" dirty="0"/>
              <a:t>计算机网络的性能指标：利用率</a:t>
            </a:r>
          </a:p>
        </p:txBody>
      </p:sp>
      <p:sp>
        <p:nvSpPr>
          <p:cNvPr id="381955" name="Rectangle 3"/>
          <p:cNvSpPr>
            <a:spLocks noGrp="1" noChangeArrowheads="1"/>
          </p:cNvSpPr>
          <p:nvPr>
            <p:ph idx="1"/>
          </p:nvPr>
        </p:nvSpPr>
        <p:spPr/>
        <p:txBody>
          <a:bodyPr/>
          <a:lstStyle/>
          <a:p>
            <a:r>
              <a:rPr lang="zh-CN" altLang="en-US" dirty="0"/>
              <a:t>分为</a:t>
            </a:r>
            <a:r>
              <a:rPr lang="zh-CN" altLang="en-US" dirty="0">
                <a:solidFill>
                  <a:srgbClr val="FF0000"/>
                </a:solidFill>
              </a:rPr>
              <a:t>信道利用率</a:t>
            </a:r>
            <a:r>
              <a:rPr lang="zh-CN" altLang="en-US" dirty="0"/>
              <a:t>和</a:t>
            </a:r>
            <a:r>
              <a:rPr lang="zh-CN" altLang="en-US" dirty="0">
                <a:solidFill>
                  <a:srgbClr val="FF0000"/>
                </a:solidFill>
              </a:rPr>
              <a:t>网络利用率。</a:t>
            </a:r>
            <a:endParaRPr lang="en-US" altLang="zh-CN" dirty="0">
              <a:solidFill>
                <a:srgbClr val="FF0000"/>
              </a:solidFill>
            </a:endParaRPr>
          </a:p>
          <a:p>
            <a:r>
              <a:rPr lang="zh-CN" altLang="en-US" dirty="0">
                <a:solidFill>
                  <a:srgbClr val="0000CC"/>
                </a:solidFill>
              </a:rPr>
              <a:t>信道利用率</a:t>
            </a:r>
            <a:r>
              <a:rPr lang="zh-CN" altLang="en-US" dirty="0"/>
              <a:t>指出某信道有百分之几的时间是被利用的（有数据通过）。完全空闲的信道的利用率是零。</a:t>
            </a:r>
          </a:p>
          <a:p>
            <a:r>
              <a:rPr lang="zh-CN" altLang="en-US" dirty="0">
                <a:solidFill>
                  <a:srgbClr val="FF0000"/>
                </a:solidFill>
              </a:rPr>
              <a:t>网络利用率</a:t>
            </a:r>
            <a:r>
              <a:rPr lang="zh-CN" altLang="en-US" dirty="0"/>
              <a:t>则是全网络的信道利用率的加权平均值。</a:t>
            </a:r>
          </a:p>
          <a:p>
            <a:r>
              <a:rPr lang="zh-CN" altLang="en-US" dirty="0"/>
              <a:t>信道利用率并非越高越好。</a:t>
            </a:r>
            <a:r>
              <a:rPr lang="zh-CN" altLang="zh-CN" dirty="0">
                <a:solidFill>
                  <a:srgbClr val="FF0000"/>
                </a:solidFill>
              </a:rPr>
              <a:t>当某信道的利用率增大时，该信道引起的时延也就迅速增加</a:t>
            </a:r>
            <a:r>
              <a:rPr lang="zh-CN" altLang="en-US" dirty="0">
                <a:solidFill>
                  <a:srgbClr val="FF0000"/>
                </a:solidFill>
              </a:rPr>
              <a:t>。</a:t>
            </a:r>
          </a:p>
        </p:txBody>
      </p:sp>
    </p:spTree>
    <p:extLst>
      <p:ext uri="{BB962C8B-B14F-4D97-AF65-F5344CB8AC3E}">
        <p14:creationId xmlns:p14="http://schemas.microsoft.com/office/powerpoint/2010/main" val="12332275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p:txBody>
          <a:bodyPr/>
          <a:lstStyle/>
          <a:p>
            <a:pPr algn="ctr"/>
            <a:r>
              <a:rPr lang="zh-CN" altLang="en-US" dirty="0"/>
              <a:t>时延与网络利用率的关系</a:t>
            </a:r>
          </a:p>
        </p:txBody>
      </p:sp>
      <p:sp>
        <p:nvSpPr>
          <p:cNvPr id="382979" name="Rectangle 3"/>
          <p:cNvSpPr>
            <a:spLocks noGrp="1" noChangeArrowheads="1"/>
          </p:cNvSpPr>
          <p:nvPr>
            <p:ph idx="1"/>
          </p:nvPr>
        </p:nvSpPr>
        <p:spPr/>
        <p:txBody>
          <a:bodyPr/>
          <a:lstStyle/>
          <a:p>
            <a:r>
              <a:rPr lang="zh-CN" altLang="en-US" dirty="0"/>
              <a:t>根据排队论的理论，当某信道的利用率增大时，该信道引起的时延也就迅速增加。 </a:t>
            </a:r>
          </a:p>
          <a:p>
            <a:r>
              <a:rPr lang="zh-CN" altLang="en-US" dirty="0"/>
              <a:t>若令 </a:t>
            </a:r>
            <a:r>
              <a:rPr lang="en-US" altLang="zh-CN" i="1" dirty="0"/>
              <a:t>D</a:t>
            </a:r>
            <a:r>
              <a:rPr lang="en-US" altLang="zh-CN" baseline="-25000" dirty="0"/>
              <a:t>0 </a:t>
            </a:r>
            <a:r>
              <a:rPr lang="zh-CN" altLang="en-US" dirty="0"/>
              <a:t>表示网络空闲时的时延，</a:t>
            </a:r>
            <a:r>
              <a:rPr lang="en-US" altLang="zh-CN" i="1" dirty="0"/>
              <a:t>D </a:t>
            </a:r>
            <a:r>
              <a:rPr lang="zh-CN" altLang="en-US" dirty="0"/>
              <a:t>表示网络当前的时延，则在适当的假定条件下，可以用下面的简单公式表示 </a:t>
            </a:r>
            <a:r>
              <a:rPr lang="en-US" altLang="zh-CN" i="1" dirty="0"/>
              <a:t>D </a:t>
            </a:r>
            <a:r>
              <a:rPr lang="zh-CN" altLang="en-US" dirty="0"/>
              <a:t>和 </a:t>
            </a:r>
            <a:r>
              <a:rPr lang="en-US" altLang="zh-CN" i="1" dirty="0"/>
              <a:t>D</a:t>
            </a:r>
            <a:r>
              <a:rPr lang="en-US" altLang="zh-CN" baseline="-25000" dirty="0"/>
              <a:t>0</a:t>
            </a:r>
            <a:r>
              <a:rPr lang="zh-CN" altLang="en-US" dirty="0"/>
              <a:t>之间的关系： </a:t>
            </a:r>
          </a:p>
        </p:txBody>
      </p:sp>
      <p:sp>
        <p:nvSpPr>
          <p:cNvPr id="382981" name="Rectangle 5"/>
          <p:cNvSpPr>
            <a:spLocks noChangeArrowheads="1"/>
          </p:cNvSpPr>
          <p:nvPr/>
        </p:nvSpPr>
        <p:spPr bwMode="auto">
          <a:xfrm>
            <a:off x="0" y="30681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382980" name="Object 4"/>
          <p:cNvGraphicFramePr>
            <a:graphicFrameLocks noChangeAspect="1"/>
          </p:cNvGraphicFramePr>
          <p:nvPr>
            <p:extLst>
              <p:ext uri="{D42A27DB-BD31-4B8C-83A1-F6EECF244321}">
                <p14:modId xmlns:p14="http://schemas.microsoft.com/office/powerpoint/2010/main" val="2553194050"/>
              </p:ext>
            </p:extLst>
          </p:nvPr>
        </p:nvGraphicFramePr>
        <p:xfrm>
          <a:off x="3946891" y="4221088"/>
          <a:ext cx="1833298" cy="1009650"/>
        </p:xfrm>
        <a:graphic>
          <a:graphicData uri="http://schemas.openxmlformats.org/presentationml/2006/ole">
            <mc:AlternateContent xmlns:mc="http://schemas.openxmlformats.org/markup-compatibility/2006">
              <mc:Choice xmlns:v="urn:schemas-microsoft-com:vml" Requires="v">
                <p:oleObj spid="_x0000_s12331" name="公式" r:id="rId4" imgW="660113" imgH="393529" progId="Equation.3">
                  <p:embed/>
                </p:oleObj>
              </mc:Choice>
              <mc:Fallback>
                <p:oleObj name="公式" r:id="rId4" imgW="660113" imgH="393529" progId="Equation.3">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6891" y="4221088"/>
                        <a:ext cx="1833298" cy="1009650"/>
                      </a:xfrm>
                      <a:prstGeom prst="rect">
                        <a:avLst/>
                      </a:prstGeom>
                      <a:solidFill>
                        <a:srgbClr val="FFFF00"/>
                      </a:solidFill>
                      <a:ln w="9525">
                        <a:solidFill>
                          <a:schemeClr val="tx1"/>
                        </a:solidFill>
                        <a:miter lim="800000"/>
                        <a:headEnd/>
                        <a:tailEnd/>
                      </a:ln>
                    </p:spPr>
                  </p:pic>
                </p:oleObj>
              </mc:Fallback>
            </mc:AlternateContent>
          </a:graphicData>
        </a:graphic>
      </p:graphicFrame>
      <p:sp>
        <p:nvSpPr>
          <p:cNvPr id="382982" name="Rectangle 6"/>
          <p:cNvSpPr>
            <a:spLocks noChangeArrowheads="1"/>
          </p:cNvSpPr>
          <p:nvPr/>
        </p:nvSpPr>
        <p:spPr bwMode="auto">
          <a:xfrm>
            <a:off x="1352600" y="5445224"/>
            <a:ext cx="77768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2800" b="1" dirty="0">
                <a:solidFill>
                  <a:srgbClr val="000099"/>
                </a:solidFill>
                <a:ea typeface="黑体" pitchFamily="2" charset="-122"/>
              </a:rPr>
              <a:t>其中：</a:t>
            </a:r>
            <a:r>
              <a:rPr lang="en-US" altLang="zh-CN" sz="2800" b="1" i="1" dirty="0">
                <a:solidFill>
                  <a:srgbClr val="000099"/>
                </a:solidFill>
                <a:ea typeface="黑体" pitchFamily="2" charset="-122"/>
              </a:rPr>
              <a:t>U </a:t>
            </a:r>
            <a:r>
              <a:rPr lang="zh-CN" altLang="en-US" sz="2800" b="1" dirty="0">
                <a:solidFill>
                  <a:srgbClr val="000099"/>
                </a:solidFill>
                <a:ea typeface="黑体" pitchFamily="2" charset="-122"/>
              </a:rPr>
              <a:t>是网络的利用率，数值在 </a:t>
            </a:r>
            <a:r>
              <a:rPr lang="en-US" altLang="zh-CN" sz="2800" b="1" dirty="0">
                <a:solidFill>
                  <a:srgbClr val="000099"/>
                </a:solidFill>
                <a:ea typeface="黑体" pitchFamily="2" charset="-122"/>
              </a:rPr>
              <a:t>0 </a:t>
            </a:r>
            <a:r>
              <a:rPr lang="zh-CN" altLang="en-US" sz="2800" b="1" dirty="0">
                <a:solidFill>
                  <a:srgbClr val="000099"/>
                </a:solidFill>
                <a:ea typeface="黑体" pitchFamily="2" charset="-122"/>
              </a:rPr>
              <a:t>到 </a:t>
            </a:r>
            <a:r>
              <a:rPr lang="en-US" altLang="zh-CN" sz="2800" b="1" dirty="0">
                <a:solidFill>
                  <a:srgbClr val="000099"/>
                </a:solidFill>
                <a:ea typeface="黑体" pitchFamily="2" charset="-122"/>
              </a:rPr>
              <a:t>1 </a:t>
            </a:r>
            <a:r>
              <a:rPr lang="zh-CN" altLang="en-US" sz="2800" b="1" dirty="0">
                <a:solidFill>
                  <a:srgbClr val="000099"/>
                </a:solidFill>
                <a:ea typeface="黑体" pitchFamily="2" charset="-122"/>
              </a:rPr>
              <a:t>之间。 </a:t>
            </a:r>
          </a:p>
        </p:txBody>
      </p:sp>
    </p:spTree>
    <p:extLst>
      <p:ext uri="{BB962C8B-B14F-4D97-AF65-F5344CB8AC3E}">
        <p14:creationId xmlns:p14="http://schemas.microsoft.com/office/powerpoint/2010/main" val="31017575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208584" y="1157194"/>
            <a:ext cx="7229975" cy="3999999"/>
            <a:chOff x="527977" y="1090061"/>
            <a:chExt cx="8215441" cy="5219900"/>
          </a:xfrm>
        </p:grpSpPr>
        <p:sp>
          <p:nvSpPr>
            <p:cNvPr id="388100" name="Rectangle 4"/>
            <p:cNvSpPr>
              <a:spLocks noChangeArrowheads="1"/>
            </p:cNvSpPr>
            <p:nvPr/>
          </p:nvSpPr>
          <p:spPr bwMode="auto">
            <a:xfrm>
              <a:off x="4724269" y="1480587"/>
              <a:ext cx="1736990" cy="4186237"/>
            </a:xfrm>
            <a:prstGeom prst="rect">
              <a:avLst/>
            </a:prstGeom>
            <a:solidFill>
              <a:srgbClr val="FF99CC"/>
            </a:solidFill>
            <a:ln>
              <a:noFill/>
            </a:ln>
            <a:effectLst/>
          </p:spPr>
          <p:txBody>
            <a:bodyPr wrap="none" anchor="ctr"/>
            <a:lstStyle/>
            <a:p>
              <a:endParaRPr lang="zh-CN" altLang="en-US" sz="1600" b="1">
                <a:solidFill>
                  <a:srgbClr val="000099"/>
                </a:solidFill>
              </a:endParaRPr>
            </a:p>
          </p:txBody>
        </p:sp>
        <p:sp>
          <p:nvSpPr>
            <p:cNvPr id="388101" name="Text Box 5"/>
            <p:cNvSpPr txBox="1">
              <a:spLocks noChangeArrowheads="1"/>
            </p:cNvSpPr>
            <p:nvPr/>
          </p:nvSpPr>
          <p:spPr bwMode="auto">
            <a:xfrm>
              <a:off x="527977" y="1090061"/>
              <a:ext cx="1245324" cy="570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99"/>
                  </a:solidFill>
                  <a:ea typeface="黑体" pitchFamily="2" charset="-122"/>
                </a:rPr>
                <a:t>时延</a:t>
              </a:r>
              <a:r>
                <a:rPr lang="zh-CN" altLang="en-US" sz="1400" b="1" dirty="0">
                  <a:solidFill>
                    <a:srgbClr val="000099"/>
                  </a:solidFill>
                  <a:ea typeface="黑体" pitchFamily="2" charset="-122"/>
                </a:rPr>
                <a:t> </a:t>
              </a:r>
              <a:r>
                <a:rPr lang="en-US" altLang="zh-CN" sz="2800" b="1" i="1" dirty="0">
                  <a:solidFill>
                    <a:srgbClr val="000099"/>
                  </a:solidFill>
                  <a:ea typeface="黑体" pitchFamily="2" charset="-122"/>
                </a:rPr>
                <a:t>D</a:t>
              </a:r>
            </a:p>
          </p:txBody>
        </p:sp>
        <p:sp>
          <p:nvSpPr>
            <p:cNvPr id="388102" name="Line 6"/>
            <p:cNvSpPr>
              <a:spLocks noChangeShapeType="1"/>
            </p:cNvSpPr>
            <p:nvPr/>
          </p:nvSpPr>
          <p:spPr bwMode="auto">
            <a:xfrm flipV="1">
              <a:off x="2053431" y="1334537"/>
              <a:ext cx="0" cy="4332287"/>
            </a:xfrm>
            <a:prstGeom prst="line">
              <a:avLst/>
            </a:prstGeom>
            <a:noFill/>
            <a:ln w="38100">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endParaRPr>
            </a:p>
          </p:txBody>
        </p:sp>
        <p:sp>
          <p:nvSpPr>
            <p:cNvPr id="388103" name="Line 7"/>
            <p:cNvSpPr>
              <a:spLocks noChangeShapeType="1"/>
            </p:cNvSpPr>
            <p:nvPr/>
          </p:nvSpPr>
          <p:spPr bwMode="auto">
            <a:xfrm rot="5400000" flipV="1">
              <a:off x="4791340" y="2928915"/>
              <a:ext cx="0" cy="5475817"/>
            </a:xfrm>
            <a:prstGeom prst="line">
              <a:avLst/>
            </a:prstGeom>
            <a:noFill/>
            <a:ln w="38100">
              <a:solidFill>
                <a:srgbClr val="00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endParaRPr>
            </a:p>
          </p:txBody>
        </p:sp>
        <p:sp>
          <p:nvSpPr>
            <p:cNvPr id="388104" name="Line 8"/>
            <p:cNvSpPr>
              <a:spLocks noChangeShapeType="1"/>
            </p:cNvSpPr>
            <p:nvPr/>
          </p:nvSpPr>
          <p:spPr bwMode="auto">
            <a:xfrm>
              <a:off x="6461258" y="1334537"/>
              <a:ext cx="0" cy="4332287"/>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srgbClr val="000099"/>
                </a:solidFill>
              </a:endParaRPr>
            </a:p>
          </p:txBody>
        </p:sp>
        <p:sp>
          <p:nvSpPr>
            <p:cNvPr id="388105" name="Arc 9"/>
            <p:cNvSpPr>
              <a:spLocks/>
            </p:cNvSpPr>
            <p:nvPr/>
          </p:nvSpPr>
          <p:spPr bwMode="auto">
            <a:xfrm flipV="1">
              <a:off x="2053431" y="1480586"/>
              <a:ext cx="4313238" cy="3898900"/>
            </a:xfrm>
            <a:custGeom>
              <a:avLst/>
              <a:gdLst>
                <a:gd name="G0" fmla="+- 0 0 0"/>
                <a:gd name="G1" fmla="+- 21600 0 0"/>
                <a:gd name="G2" fmla="+- 21600 0 0"/>
                <a:gd name="T0" fmla="*/ 0 w 21600"/>
                <a:gd name="T1" fmla="*/ 0 h 21612"/>
                <a:gd name="T2" fmla="*/ 21600 w 21600"/>
                <a:gd name="T3" fmla="*/ 21612 h 21612"/>
                <a:gd name="T4" fmla="*/ 0 w 21600"/>
                <a:gd name="T5" fmla="*/ 21600 h 21612"/>
              </a:gdLst>
              <a:ahLst/>
              <a:cxnLst>
                <a:cxn ang="0">
                  <a:pos x="T0" y="T1"/>
                </a:cxn>
                <a:cxn ang="0">
                  <a:pos x="T2" y="T3"/>
                </a:cxn>
                <a:cxn ang="0">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close/>
                </a:path>
              </a:pathLst>
            </a:custGeom>
            <a:noFill/>
            <a:ln w="762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a:solidFill>
                  <a:srgbClr val="000099"/>
                </a:solidFill>
              </a:endParaRPr>
            </a:p>
          </p:txBody>
        </p:sp>
        <p:sp>
          <p:nvSpPr>
            <p:cNvPr id="388106" name="Text Box 10"/>
            <p:cNvSpPr txBox="1">
              <a:spLocks noChangeArrowheads="1"/>
            </p:cNvSpPr>
            <p:nvPr/>
          </p:nvSpPr>
          <p:spPr bwMode="auto">
            <a:xfrm>
              <a:off x="7128539" y="5739389"/>
              <a:ext cx="1614879" cy="570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99"/>
                  </a:solidFill>
                  <a:ea typeface="黑体" pitchFamily="2" charset="-122"/>
                </a:rPr>
                <a:t>利用率</a:t>
              </a:r>
              <a:r>
                <a:rPr lang="zh-CN" altLang="en-US" sz="1400" b="1" dirty="0">
                  <a:solidFill>
                    <a:srgbClr val="000099"/>
                  </a:solidFill>
                  <a:ea typeface="黑体" pitchFamily="2" charset="-122"/>
                </a:rPr>
                <a:t> </a:t>
              </a:r>
              <a:r>
                <a:rPr lang="en-US" altLang="zh-CN" sz="2800" b="1" i="1" dirty="0">
                  <a:solidFill>
                    <a:srgbClr val="000099"/>
                  </a:solidFill>
                  <a:ea typeface="黑体" pitchFamily="2" charset="-122"/>
                </a:rPr>
                <a:t>U</a:t>
              </a:r>
            </a:p>
          </p:txBody>
        </p:sp>
        <p:sp>
          <p:nvSpPr>
            <p:cNvPr id="388107" name="Text Box 11"/>
            <p:cNvSpPr txBox="1">
              <a:spLocks noChangeArrowheads="1"/>
            </p:cNvSpPr>
            <p:nvPr/>
          </p:nvSpPr>
          <p:spPr bwMode="auto">
            <a:xfrm>
              <a:off x="6196411" y="5652537"/>
              <a:ext cx="394523" cy="570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99"/>
                  </a:solidFill>
                  <a:ea typeface="黑体" pitchFamily="2" charset="-122"/>
                </a:rPr>
                <a:t>1</a:t>
              </a:r>
              <a:endParaRPr lang="en-US" altLang="zh-CN" sz="2800" b="1" i="1" dirty="0">
                <a:solidFill>
                  <a:srgbClr val="000099"/>
                </a:solidFill>
                <a:ea typeface="黑体" pitchFamily="2" charset="-122"/>
              </a:endParaRPr>
            </a:p>
          </p:txBody>
        </p:sp>
        <p:sp>
          <p:nvSpPr>
            <p:cNvPr id="388108" name="Text Box 12"/>
            <p:cNvSpPr txBox="1">
              <a:spLocks noChangeArrowheads="1"/>
            </p:cNvSpPr>
            <p:nvPr/>
          </p:nvSpPr>
          <p:spPr bwMode="auto">
            <a:xfrm>
              <a:off x="1700875" y="5582687"/>
              <a:ext cx="394523" cy="570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99"/>
                  </a:solidFill>
                  <a:ea typeface="黑体" pitchFamily="2" charset="-122"/>
                </a:rPr>
                <a:t>0</a:t>
              </a:r>
              <a:endParaRPr lang="en-US" altLang="zh-CN" sz="2800" b="1" i="1" dirty="0">
                <a:solidFill>
                  <a:srgbClr val="000099"/>
                </a:solidFill>
                <a:ea typeface="黑体" pitchFamily="2" charset="-122"/>
              </a:endParaRPr>
            </a:p>
          </p:txBody>
        </p:sp>
        <p:sp>
          <p:nvSpPr>
            <p:cNvPr id="388109" name="Text Box 13"/>
            <p:cNvSpPr txBox="1">
              <a:spLocks noChangeArrowheads="1"/>
            </p:cNvSpPr>
            <p:nvPr/>
          </p:nvSpPr>
          <p:spPr bwMode="auto">
            <a:xfrm>
              <a:off x="1389592" y="4981023"/>
              <a:ext cx="591620" cy="570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i="1" dirty="0">
                  <a:solidFill>
                    <a:srgbClr val="000099"/>
                  </a:solidFill>
                  <a:ea typeface="黑体" pitchFamily="2" charset="-122"/>
                </a:rPr>
                <a:t>D</a:t>
              </a:r>
              <a:r>
                <a:rPr lang="en-US" altLang="zh-CN" sz="2800" b="1" baseline="-25000" dirty="0">
                  <a:solidFill>
                    <a:srgbClr val="000099"/>
                  </a:solidFill>
                  <a:ea typeface="黑体" pitchFamily="2" charset="-122"/>
                </a:rPr>
                <a:t>0</a:t>
              </a:r>
              <a:endParaRPr lang="en-US" altLang="zh-CN" sz="2800" b="1" i="1" baseline="-25000" dirty="0">
                <a:solidFill>
                  <a:srgbClr val="000099"/>
                </a:solidFill>
                <a:ea typeface="黑体" pitchFamily="2" charset="-122"/>
              </a:endParaRPr>
            </a:p>
          </p:txBody>
        </p:sp>
        <p:sp>
          <p:nvSpPr>
            <p:cNvPr id="388110" name="Text Box 14"/>
            <p:cNvSpPr txBox="1">
              <a:spLocks noChangeArrowheads="1"/>
            </p:cNvSpPr>
            <p:nvPr/>
          </p:nvSpPr>
          <p:spPr bwMode="auto">
            <a:xfrm>
              <a:off x="4965039" y="1556786"/>
              <a:ext cx="928326" cy="1510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000099"/>
                  </a:solidFill>
                  <a:ea typeface="黑体" pitchFamily="2" charset="-122"/>
                </a:rPr>
                <a:t>时延</a:t>
              </a:r>
            </a:p>
            <a:p>
              <a:r>
                <a:rPr lang="zh-CN" altLang="en-US" sz="2800" b="1" dirty="0">
                  <a:solidFill>
                    <a:srgbClr val="000099"/>
                  </a:solidFill>
                  <a:ea typeface="黑体" pitchFamily="2" charset="-122"/>
                </a:rPr>
                <a:t>急剧</a:t>
              </a:r>
            </a:p>
            <a:p>
              <a:r>
                <a:rPr lang="zh-CN" altLang="en-US" sz="2800" b="1" dirty="0">
                  <a:solidFill>
                    <a:srgbClr val="000099"/>
                  </a:solidFill>
                  <a:ea typeface="黑体" pitchFamily="2" charset="-122"/>
                </a:rPr>
                <a:t>增大</a:t>
              </a:r>
              <a:endParaRPr lang="zh-CN" altLang="en-US" sz="2800" b="1" i="1" dirty="0">
                <a:solidFill>
                  <a:srgbClr val="000099"/>
                </a:solidFill>
                <a:ea typeface="黑体" pitchFamily="2" charset="-122"/>
              </a:endParaRPr>
            </a:p>
          </p:txBody>
        </p:sp>
      </p:grpSp>
      <p:sp>
        <p:nvSpPr>
          <p:cNvPr id="2" name="标题 1"/>
          <p:cNvSpPr>
            <a:spLocks noGrp="1"/>
          </p:cNvSpPr>
          <p:nvPr>
            <p:ph type="title"/>
          </p:nvPr>
        </p:nvSpPr>
        <p:spPr/>
        <p:txBody>
          <a:bodyPr/>
          <a:lstStyle/>
          <a:p>
            <a:pPr algn="ctr"/>
            <a:r>
              <a:rPr lang="zh-CN" altLang="en-US" dirty="0"/>
              <a:t>时延与网络利用率的关系</a:t>
            </a:r>
          </a:p>
        </p:txBody>
      </p:sp>
      <p:sp>
        <p:nvSpPr>
          <p:cNvPr id="3" name="矩形 2"/>
          <p:cNvSpPr/>
          <p:nvPr/>
        </p:nvSpPr>
        <p:spPr>
          <a:xfrm>
            <a:off x="2304806" y="5355213"/>
            <a:ext cx="5888554" cy="954107"/>
          </a:xfrm>
          <a:prstGeom prst="rect">
            <a:avLst/>
          </a:prstGeom>
          <a:solidFill>
            <a:srgbClr val="FFFF66"/>
          </a:solidFill>
          <a:ln>
            <a:solidFill>
              <a:srgbClr val="000066"/>
            </a:solidFill>
          </a:ln>
        </p:spPr>
        <p:txBody>
          <a:bodyPr wrap="square">
            <a:spAutoFit/>
          </a:bodyPr>
          <a:lstStyle/>
          <a:p>
            <a:pPr algn="ctr"/>
            <a:r>
              <a:rPr lang="zh-CN" altLang="en-US" sz="2800" b="1" dirty="0">
                <a:solidFill>
                  <a:srgbClr val="000099"/>
                </a:solidFill>
                <a:latin typeface="+mn-lt"/>
                <a:ea typeface="黑体" pitchFamily="2" charset="-122"/>
              </a:rPr>
              <a:t>当信道的利用率增大时，该信道引起的时延迅速增加。</a:t>
            </a:r>
          </a:p>
        </p:txBody>
      </p:sp>
    </p:spTree>
    <p:extLst>
      <p:ext uri="{BB962C8B-B14F-4D97-AF65-F5344CB8AC3E}">
        <p14:creationId xmlns:p14="http://schemas.microsoft.com/office/powerpoint/2010/main" val="3881019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概述</a:t>
            </a:r>
            <a:endParaRPr lang="zh-CN" altLang="en-US" dirty="0">
              <a:ea typeface="宋体" pitchFamily="2" charset="-122"/>
            </a:endParaRPr>
          </a:p>
        </p:txBody>
      </p:sp>
      <p:sp>
        <p:nvSpPr>
          <p:cNvPr id="18435" name="Rectangle 3"/>
          <p:cNvSpPr>
            <a:spLocks noGrp="1" noChangeArrowheads="1"/>
          </p:cNvSpPr>
          <p:nvPr>
            <p:ph type="body" idx="1"/>
          </p:nvPr>
        </p:nvSpPr>
        <p:spPr/>
        <p:txBody>
          <a:bodyPr/>
          <a:lstStyle/>
          <a:p>
            <a:r>
              <a:rPr lang="zh-CN" altLang="en-US" dirty="0">
                <a:solidFill>
                  <a:schemeClr val="bg1">
                    <a:lumMod val="65000"/>
                  </a:schemeClr>
                </a:solidFill>
              </a:rPr>
              <a:t>计算机网络概述</a:t>
            </a:r>
            <a:endParaRPr lang="en-US" altLang="zh-CN" dirty="0">
              <a:solidFill>
                <a:schemeClr val="bg1">
                  <a:lumMod val="65000"/>
                </a:schemeClr>
              </a:solidFill>
            </a:endParaRPr>
          </a:p>
          <a:p>
            <a:r>
              <a:rPr lang="en-US" altLang="zh-CN" dirty="0">
                <a:solidFill>
                  <a:schemeClr val="bg1">
                    <a:lumMod val="65000"/>
                  </a:schemeClr>
                </a:solidFill>
              </a:rPr>
              <a:t>Internet</a:t>
            </a:r>
            <a:r>
              <a:rPr lang="zh-CN" altLang="zh-CN" dirty="0">
                <a:solidFill>
                  <a:schemeClr val="bg1">
                    <a:lumMod val="65000"/>
                  </a:schemeClr>
                </a:solidFill>
              </a:rPr>
              <a:t>概述</a:t>
            </a:r>
            <a:endParaRPr lang="en-US" altLang="zh-CN" dirty="0">
              <a:solidFill>
                <a:schemeClr val="bg1">
                  <a:lumMod val="65000"/>
                </a:schemeClr>
              </a:solidFill>
            </a:endParaRPr>
          </a:p>
          <a:p>
            <a:r>
              <a:rPr lang="en-US" altLang="zh-CN" dirty="0">
                <a:solidFill>
                  <a:schemeClr val="bg1">
                    <a:lumMod val="65000"/>
                  </a:schemeClr>
                </a:solidFill>
              </a:rPr>
              <a:t>Internet</a:t>
            </a:r>
            <a:r>
              <a:rPr lang="zh-CN" altLang="en-US" dirty="0">
                <a:solidFill>
                  <a:schemeClr val="bg1">
                    <a:lumMod val="65000"/>
                  </a:schemeClr>
                </a:solidFill>
              </a:rPr>
              <a:t>的组成</a:t>
            </a:r>
            <a:endParaRPr lang="en-US" altLang="zh-CN" dirty="0">
              <a:solidFill>
                <a:schemeClr val="bg1">
                  <a:lumMod val="65000"/>
                </a:schemeClr>
              </a:solidFill>
            </a:endParaRPr>
          </a:p>
          <a:p>
            <a:r>
              <a:rPr lang="zh-CN" altLang="zh-CN" dirty="0">
                <a:solidFill>
                  <a:schemeClr val="bg1">
                    <a:lumMod val="65000"/>
                  </a:schemeClr>
                </a:solidFill>
              </a:rPr>
              <a:t>计算机网络的性能</a:t>
            </a:r>
            <a:r>
              <a:rPr lang="zh-CN" altLang="en-US" dirty="0">
                <a:solidFill>
                  <a:schemeClr val="bg1">
                    <a:lumMod val="65000"/>
                  </a:schemeClr>
                </a:solidFill>
              </a:rPr>
              <a:t>指标</a:t>
            </a:r>
            <a:endParaRPr lang="en-US" altLang="zh-CN" dirty="0">
              <a:solidFill>
                <a:schemeClr val="bg1">
                  <a:lumMod val="65000"/>
                </a:schemeClr>
              </a:solidFill>
            </a:endParaRPr>
          </a:p>
          <a:p>
            <a:r>
              <a:rPr lang="zh-CN" altLang="zh-CN" sz="3600" dirty="0">
                <a:solidFill>
                  <a:srgbClr val="FF0000"/>
                </a:solidFill>
              </a:rPr>
              <a:t>计算机网络的体系结构</a:t>
            </a:r>
            <a:endParaRPr lang="zh-CN" altLang="en-US" sz="3600" dirty="0">
              <a:solidFill>
                <a:srgbClr val="FF0000"/>
              </a:solidFill>
              <a:ea typeface="宋体" pitchFamily="2" charset="-122"/>
            </a:endParaRPr>
          </a:p>
        </p:txBody>
      </p:sp>
    </p:spTree>
    <p:extLst>
      <p:ext uri="{BB962C8B-B14F-4D97-AF65-F5344CB8AC3E}">
        <p14:creationId xmlns:p14="http://schemas.microsoft.com/office/powerpoint/2010/main" val="22224741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zh-CN" altLang="zh-CN" sz="4000" dirty="0"/>
              <a:t>计算机网络的体系结构</a:t>
            </a:r>
            <a:r>
              <a:rPr lang="zh-CN" altLang="en-US" sz="4000" dirty="0"/>
              <a:t>：</a:t>
            </a:r>
            <a:r>
              <a:rPr lang="zh-CN" altLang="zh-CN" sz="4000" dirty="0"/>
              <a:t>形成</a:t>
            </a:r>
            <a:endParaRPr lang="zh-CN" altLang="en-US" sz="4000" dirty="0"/>
          </a:p>
        </p:txBody>
      </p:sp>
      <p:sp>
        <p:nvSpPr>
          <p:cNvPr id="100355" name="Rectangle 3"/>
          <p:cNvSpPr>
            <a:spLocks noGrp="1" noChangeArrowheads="1"/>
          </p:cNvSpPr>
          <p:nvPr>
            <p:ph idx="1"/>
          </p:nvPr>
        </p:nvSpPr>
        <p:spPr/>
        <p:txBody>
          <a:bodyPr/>
          <a:lstStyle/>
          <a:p>
            <a:r>
              <a:rPr lang="en-US" altLang="zh-CN" dirty="0"/>
              <a:t>1974 </a:t>
            </a:r>
            <a:r>
              <a:rPr lang="zh-CN" altLang="zh-CN" dirty="0"/>
              <a:t>年，美国的</a:t>
            </a:r>
            <a:r>
              <a:rPr lang="en-US" altLang="zh-CN" dirty="0"/>
              <a:t> IBM </a:t>
            </a:r>
            <a:r>
              <a:rPr lang="zh-CN" altLang="zh-CN" dirty="0"/>
              <a:t>公司宣布了</a:t>
            </a:r>
            <a:r>
              <a:rPr lang="zh-CN" altLang="zh-CN" dirty="0">
                <a:solidFill>
                  <a:srgbClr val="FF0000"/>
                </a:solidFill>
              </a:rPr>
              <a:t>系统网络体系结构</a:t>
            </a:r>
            <a:r>
              <a:rPr lang="en-US" altLang="zh-CN" dirty="0">
                <a:solidFill>
                  <a:srgbClr val="FF0000"/>
                </a:solidFill>
              </a:rPr>
              <a:t>SNA</a:t>
            </a:r>
            <a:r>
              <a:rPr lang="en-US" altLang="zh-CN" dirty="0">
                <a:solidFill>
                  <a:srgbClr val="0000CC"/>
                </a:solidFill>
              </a:rPr>
              <a:t> </a:t>
            </a:r>
            <a:r>
              <a:rPr lang="en-US" altLang="zh-CN" dirty="0"/>
              <a:t>(System Network Architecture)</a:t>
            </a:r>
            <a:r>
              <a:rPr lang="zh-CN" altLang="zh-CN" dirty="0"/>
              <a:t>。这个著名的网络标准就是按照分层的方法制定的</a:t>
            </a:r>
            <a:r>
              <a:rPr lang="zh-CN" altLang="en-US" dirty="0"/>
              <a:t>。</a:t>
            </a:r>
            <a:endParaRPr lang="en-US" altLang="zh-CN" dirty="0"/>
          </a:p>
          <a:p>
            <a:r>
              <a:rPr lang="zh-CN" altLang="zh-CN" dirty="0"/>
              <a:t>不久后，其他一些公司也相继推出自己公司的具有不同名称的体系结构。</a:t>
            </a:r>
            <a:endParaRPr lang="en-US" altLang="zh-CN" dirty="0"/>
          </a:p>
          <a:p>
            <a:r>
              <a:rPr lang="zh-CN" altLang="zh-CN" dirty="0">
                <a:solidFill>
                  <a:srgbClr val="FF0000"/>
                </a:solidFill>
              </a:rPr>
              <a:t>由于网络体系结构的不同，不同公司的设备很难互相连通。</a:t>
            </a:r>
            <a:endParaRPr lang="zh-CN" altLang="en-US" dirty="0">
              <a:solidFill>
                <a:srgbClr val="FF0000"/>
              </a:solidFill>
            </a:endParaRPr>
          </a:p>
        </p:txBody>
      </p:sp>
    </p:spTree>
    <p:extLst>
      <p:ext uri="{BB962C8B-B14F-4D97-AF65-F5344CB8AC3E}">
        <p14:creationId xmlns:p14="http://schemas.microsoft.com/office/powerpoint/2010/main" val="3302651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lgn="ctr"/>
            <a:r>
              <a:rPr lang="zh-CN" altLang="en-US" sz="4000" dirty="0"/>
              <a:t>开放系统互连参考模型 </a:t>
            </a:r>
            <a:r>
              <a:rPr lang="en-US" altLang="zh-CN" sz="4000" dirty="0"/>
              <a:t>OSI/RM</a:t>
            </a:r>
          </a:p>
        </p:txBody>
      </p:sp>
      <p:sp>
        <p:nvSpPr>
          <p:cNvPr id="171011" name="Rectangle 3"/>
          <p:cNvSpPr>
            <a:spLocks noGrp="1" noChangeArrowheads="1"/>
          </p:cNvSpPr>
          <p:nvPr>
            <p:ph idx="1"/>
          </p:nvPr>
        </p:nvSpPr>
        <p:spPr/>
        <p:txBody>
          <a:bodyPr/>
          <a:lstStyle/>
          <a:p>
            <a:r>
              <a:rPr lang="zh-CN" altLang="zh-CN" sz="3000" dirty="0"/>
              <a:t>为了使不同体系结构的计算机网络都能互连，国际标准化组织</a:t>
            </a:r>
            <a:r>
              <a:rPr lang="en-US" altLang="zh-CN" sz="3000" dirty="0"/>
              <a:t> ISO </a:t>
            </a:r>
            <a:r>
              <a:rPr lang="zh-CN" altLang="zh-CN" sz="3000" dirty="0"/>
              <a:t>于</a:t>
            </a:r>
            <a:r>
              <a:rPr lang="en-US" altLang="zh-CN" sz="3000" dirty="0"/>
              <a:t> 1977 </a:t>
            </a:r>
            <a:r>
              <a:rPr lang="zh-CN" altLang="zh-CN" sz="3000" dirty="0"/>
              <a:t>年成立了专门机构研究该问题。</a:t>
            </a:r>
            <a:endParaRPr lang="en-US" altLang="zh-CN" sz="3000" dirty="0"/>
          </a:p>
          <a:p>
            <a:r>
              <a:rPr lang="zh-CN" altLang="zh-CN" sz="3000" dirty="0"/>
              <a:t>他们提出了一个试图使各种计算机在世界范围内互连成网的标准框架，即著名的</a:t>
            </a:r>
            <a:r>
              <a:rPr lang="zh-CN" altLang="zh-CN" sz="3000" dirty="0">
                <a:solidFill>
                  <a:srgbClr val="FF0000"/>
                </a:solidFill>
              </a:rPr>
              <a:t>开放系统互连基本参考模型</a:t>
            </a:r>
            <a:r>
              <a:rPr lang="en-US" altLang="zh-CN" sz="3000" dirty="0">
                <a:solidFill>
                  <a:srgbClr val="FF0000"/>
                </a:solidFill>
              </a:rPr>
              <a:t> OSI/RM</a:t>
            </a:r>
            <a:r>
              <a:rPr lang="en-US" altLang="zh-CN" sz="3000" dirty="0"/>
              <a:t> (Open Systems Interconnection Reference Model)</a:t>
            </a:r>
            <a:r>
              <a:rPr lang="zh-CN" altLang="zh-CN" sz="3000" dirty="0"/>
              <a:t>，简称为</a:t>
            </a:r>
            <a:r>
              <a:rPr lang="en-US" altLang="zh-CN" sz="3000" dirty="0"/>
              <a:t> OSI</a:t>
            </a:r>
            <a:r>
              <a:rPr lang="zh-CN" altLang="zh-CN" sz="3000" dirty="0"/>
              <a:t>。</a:t>
            </a:r>
            <a:endParaRPr lang="en-US" altLang="zh-CN" sz="3000" dirty="0"/>
          </a:p>
        </p:txBody>
      </p:sp>
      <p:sp>
        <p:nvSpPr>
          <p:cNvPr id="2" name="矩形 1"/>
          <p:cNvSpPr/>
          <p:nvPr/>
        </p:nvSpPr>
        <p:spPr>
          <a:xfrm>
            <a:off x="1064568" y="4869160"/>
            <a:ext cx="8136904" cy="1384995"/>
          </a:xfrm>
          <a:prstGeom prst="rect">
            <a:avLst/>
          </a:prstGeom>
          <a:solidFill>
            <a:srgbClr val="FFFF66"/>
          </a:solidFill>
          <a:ln>
            <a:solidFill>
              <a:srgbClr val="000099"/>
            </a:solidFill>
          </a:ln>
        </p:spPr>
        <p:txBody>
          <a:bodyPr wrap="square">
            <a:spAutoFit/>
          </a:bodyPr>
          <a:lstStyle/>
          <a:p>
            <a:r>
              <a:rPr lang="zh-CN" altLang="en-US" sz="2800" b="1" dirty="0">
                <a:solidFill>
                  <a:srgbClr val="000066"/>
                </a:solidFill>
                <a:latin typeface="+mn-lt"/>
                <a:ea typeface="黑体" pitchFamily="2" charset="-122"/>
              </a:rPr>
              <a:t>只要遵循 </a:t>
            </a:r>
            <a:r>
              <a:rPr lang="en-US" altLang="zh-CN" sz="2800" b="1" dirty="0">
                <a:solidFill>
                  <a:srgbClr val="000066"/>
                </a:solidFill>
                <a:latin typeface="+mn-lt"/>
                <a:ea typeface="黑体" pitchFamily="2" charset="-122"/>
              </a:rPr>
              <a:t>OSI </a:t>
            </a:r>
            <a:r>
              <a:rPr lang="zh-CN" altLang="en-US" sz="2800" b="1" dirty="0">
                <a:solidFill>
                  <a:srgbClr val="000066"/>
                </a:solidFill>
                <a:latin typeface="+mn-lt"/>
                <a:ea typeface="黑体" pitchFamily="2" charset="-122"/>
              </a:rPr>
              <a:t>标准，一个系统就可以和位于世界上任何地方的、也遵循这同一标准的其他任何系统进行通信。</a:t>
            </a:r>
          </a:p>
        </p:txBody>
      </p:sp>
    </p:spTree>
    <p:extLst>
      <p:ext uri="{BB962C8B-B14F-4D97-AF65-F5344CB8AC3E}">
        <p14:creationId xmlns:p14="http://schemas.microsoft.com/office/powerpoint/2010/main" val="19047177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algn="ctr"/>
            <a:r>
              <a:rPr lang="zh-CN" altLang="en-US"/>
              <a:t>两种国际标准</a:t>
            </a:r>
          </a:p>
        </p:txBody>
      </p:sp>
      <p:sp>
        <p:nvSpPr>
          <p:cNvPr id="172035" name="Rectangle 3"/>
          <p:cNvSpPr>
            <a:spLocks noGrp="1" noChangeArrowheads="1"/>
          </p:cNvSpPr>
          <p:nvPr>
            <p:ph idx="1"/>
          </p:nvPr>
        </p:nvSpPr>
        <p:spPr/>
        <p:txBody>
          <a:bodyPr/>
          <a:lstStyle/>
          <a:p>
            <a:r>
              <a:rPr lang="zh-CN" altLang="en-US" dirty="0"/>
              <a:t>法律上的 </a:t>
            </a:r>
            <a:r>
              <a:rPr lang="en-US" altLang="zh-CN" dirty="0"/>
              <a:t>(</a:t>
            </a:r>
            <a:r>
              <a:rPr lang="en-US" altLang="zh-CN" i="1" dirty="0"/>
              <a:t>de jure</a:t>
            </a:r>
            <a:r>
              <a:rPr lang="en-US" altLang="zh-CN" dirty="0"/>
              <a:t>) </a:t>
            </a:r>
            <a:r>
              <a:rPr lang="zh-CN" altLang="en-US" dirty="0"/>
              <a:t>国际标准 </a:t>
            </a:r>
            <a:r>
              <a:rPr lang="en-US" altLang="zh-CN" dirty="0"/>
              <a:t>OSI </a:t>
            </a:r>
            <a:r>
              <a:rPr lang="zh-CN" altLang="en-US" dirty="0"/>
              <a:t>并没有得到市场的认可。</a:t>
            </a:r>
          </a:p>
          <a:p>
            <a:r>
              <a:rPr lang="zh-CN" altLang="en-US" dirty="0"/>
              <a:t>非国际标准 </a:t>
            </a:r>
            <a:r>
              <a:rPr lang="en-US" altLang="zh-CN" dirty="0"/>
              <a:t>TCP/IP </a:t>
            </a:r>
            <a:r>
              <a:rPr lang="zh-CN" altLang="en-US" dirty="0"/>
              <a:t>却获得了最广泛的应用。</a:t>
            </a:r>
            <a:r>
              <a:rPr lang="en-US" altLang="zh-CN" dirty="0">
                <a:latin typeface="Arial" charset="0"/>
                <a:ea typeface="黑体" pitchFamily="2" charset="-122"/>
              </a:rPr>
              <a:t>TCP/IP </a:t>
            </a:r>
            <a:r>
              <a:rPr lang="zh-CN" altLang="en-US" dirty="0">
                <a:latin typeface="Arial" charset="0"/>
                <a:ea typeface="黑体" pitchFamily="2" charset="-122"/>
              </a:rPr>
              <a:t>常被称为</a:t>
            </a:r>
            <a:r>
              <a:rPr lang="zh-CN" altLang="en-US" dirty="0">
                <a:solidFill>
                  <a:srgbClr val="FF0000"/>
                </a:solidFill>
                <a:latin typeface="Arial" charset="0"/>
                <a:ea typeface="黑体" pitchFamily="2" charset="-122"/>
              </a:rPr>
              <a:t>事实上的 </a:t>
            </a:r>
            <a:r>
              <a:rPr lang="en-US" altLang="zh-CN" dirty="0">
                <a:solidFill>
                  <a:srgbClr val="FF0000"/>
                </a:solidFill>
                <a:latin typeface="Arial" charset="0"/>
                <a:ea typeface="黑体" pitchFamily="2" charset="-122"/>
              </a:rPr>
              <a:t>(</a:t>
            </a:r>
            <a:r>
              <a:rPr lang="en-US" altLang="zh-CN" i="1" dirty="0">
                <a:solidFill>
                  <a:srgbClr val="FF0000"/>
                </a:solidFill>
                <a:latin typeface="Arial" charset="0"/>
                <a:ea typeface="黑体" pitchFamily="2" charset="-122"/>
              </a:rPr>
              <a:t>de facto</a:t>
            </a:r>
            <a:r>
              <a:rPr lang="en-US" altLang="zh-CN" dirty="0">
                <a:solidFill>
                  <a:srgbClr val="FF0000"/>
                </a:solidFill>
                <a:latin typeface="Arial" charset="0"/>
                <a:ea typeface="黑体" pitchFamily="2" charset="-122"/>
              </a:rPr>
              <a:t>) </a:t>
            </a:r>
            <a:r>
              <a:rPr lang="zh-CN" altLang="en-US" dirty="0">
                <a:solidFill>
                  <a:srgbClr val="FF0000"/>
                </a:solidFill>
                <a:latin typeface="Arial" charset="0"/>
                <a:ea typeface="黑体" pitchFamily="2" charset="-122"/>
              </a:rPr>
              <a:t>国际标准</a:t>
            </a:r>
            <a:r>
              <a:rPr lang="zh-CN" altLang="en-US" dirty="0">
                <a:latin typeface="Arial" charset="0"/>
                <a:ea typeface="黑体" pitchFamily="2" charset="-122"/>
              </a:rPr>
              <a:t>。</a:t>
            </a:r>
          </a:p>
        </p:txBody>
      </p:sp>
    </p:spTree>
    <p:extLst>
      <p:ext uri="{BB962C8B-B14F-4D97-AF65-F5344CB8AC3E}">
        <p14:creationId xmlns:p14="http://schemas.microsoft.com/office/powerpoint/2010/main" val="17402405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algn="ctr"/>
            <a:r>
              <a:rPr lang="en-US" altLang="zh-CN" sz="4000" dirty="0"/>
              <a:t>OSI/RM</a:t>
            </a:r>
            <a:r>
              <a:rPr lang="zh-CN" altLang="en-US" sz="4000" dirty="0"/>
              <a:t>的教训</a:t>
            </a:r>
            <a:endParaRPr lang="en-US" altLang="zh-CN" sz="4000" dirty="0"/>
          </a:p>
        </p:txBody>
      </p:sp>
      <p:sp>
        <p:nvSpPr>
          <p:cNvPr id="171011" name="Rectangle 3"/>
          <p:cNvSpPr>
            <a:spLocks noGrp="1" noChangeArrowheads="1"/>
          </p:cNvSpPr>
          <p:nvPr>
            <p:ph idx="1"/>
          </p:nvPr>
        </p:nvSpPr>
        <p:spPr/>
        <p:txBody>
          <a:bodyPr/>
          <a:lstStyle/>
          <a:p>
            <a:r>
              <a:rPr lang="en-US" altLang="zh-CN" dirty="0"/>
              <a:t>OSI </a:t>
            </a:r>
            <a:r>
              <a:rPr lang="zh-CN" altLang="zh-CN" dirty="0"/>
              <a:t>只获得了一些理论研究的成果</a:t>
            </a:r>
            <a:r>
              <a:rPr lang="zh-CN" altLang="en-US" dirty="0"/>
              <a:t>，在市场化方面却失败了。原因包括：</a:t>
            </a:r>
          </a:p>
          <a:p>
            <a:pPr lvl="1"/>
            <a:r>
              <a:rPr lang="en-US" altLang="zh-CN" dirty="0">
                <a:solidFill>
                  <a:srgbClr val="0000CC"/>
                </a:solidFill>
                <a:latin typeface="Arial" charset="0"/>
              </a:rPr>
              <a:t>OSI </a:t>
            </a:r>
            <a:r>
              <a:rPr lang="zh-CN" altLang="en-US" dirty="0">
                <a:solidFill>
                  <a:srgbClr val="0000CC"/>
                </a:solidFill>
                <a:latin typeface="Arial" charset="0"/>
              </a:rPr>
              <a:t>的专家们在完成 </a:t>
            </a:r>
            <a:r>
              <a:rPr lang="en-US" altLang="zh-CN" dirty="0">
                <a:solidFill>
                  <a:srgbClr val="0000CC"/>
                </a:solidFill>
                <a:latin typeface="Arial" charset="0"/>
              </a:rPr>
              <a:t>OSI </a:t>
            </a:r>
            <a:r>
              <a:rPr lang="zh-CN" altLang="en-US" dirty="0">
                <a:solidFill>
                  <a:srgbClr val="0000CC"/>
                </a:solidFill>
                <a:latin typeface="Arial" charset="0"/>
              </a:rPr>
              <a:t>标准时没有商业驱动力；</a:t>
            </a:r>
          </a:p>
          <a:p>
            <a:pPr lvl="1"/>
            <a:r>
              <a:rPr lang="en-US" altLang="zh-CN" dirty="0">
                <a:solidFill>
                  <a:srgbClr val="0000CC"/>
                </a:solidFill>
                <a:latin typeface="Arial" charset="0"/>
              </a:rPr>
              <a:t>OSI </a:t>
            </a:r>
            <a:r>
              <a:rPr lang="zh-CN" altLang="en-US" dirty="0">
                <a:solidFill>
                  <a:srgbClr val="0000CC"/>
                </a:solidFill>
                <a:latin typeface="Arial" charset="0"/>
              </a:rPr>
              <a:t>的协议实现起来过分复杂，且运行效率很低；</a:t>
            </a:r>
          </a:p>
          <a:p>
            <a:pPr lvl="1"/>
            <a:r>
              <a:rPr lang="en-US" altLang="zh-CN" dirty="0">
                <a:solidFill>
                  <a:srgbClr val="0000CC"/>
                </a:solidFill>
                <a:latin typeface="Arial" charset="0"/>
              </a:rPr>
              <a:t>OSI </a:t>
            </a:r>
            <a:r>
              <a:rPr lang="zh-CN" altLang="en-US" dirty="0">
                <a:solidFill>
                  <a:srgbClr val="0000CC"/>
                </a:solidFill>
                <a:latin typeface="Arial" charset="0"/>
              </a:rPr>
              <a:t>标准的制定周期太长，因而使得按 </a:t>
            </a:r>
            <a:r>
              <a:rPr lang="en-US" altLang="zh-CN" dirty="0">
                <a:solidFill>
                  <a:srgbClr val="0000CC"/>
                </a:solidFill>
                <a:latin typeface="Arial" charset="0"/>
              </a:rPr>
              <a:t>OSI </a:t>
            </a:r>
            <a:r>
              <a:rPr lang="zh-CN" altLang="en-US" dirty="0">
                <a:solidFill>
                  <a:srgbClr val="0000CC"/>
                </a:solidFill>
                <a:latin typeface="Arial" charset="0"/>
              </a:rPr>
              <a:t>标准生产的设备无法及时进入市场；</a:t>
            </a:r>
          </a:p>
          <a:p>
            <a:pPr lvl="1"/>
            <a:r>
              <a:rPr lang="en-US" altLang="zh-CN" dirty="0">
                <a:solidFill>
                  <a:srgbClr val="0000CC"/>
                </a:solidFill>
                <a:latin typeface="Arial" charset="0"/>
              </a:rPr>
              <a:t>OSI </a:t>
            </a:r>
            <a:r>
              <a:rPr lang="zh-CN" altLang="en-US" dirty="0">
                <a:solidFill>
                  <a:srgbClr val="0000CC"/>
                </a:solidFill>
                <a:latin typeface="Arial" charset="0"/>
              </a:rPr>
              <a:t>的层次划分也不太合理，有些功能在多个层次中重复出现。</a:t>
            </a:r>
            <a:r>
              <a:rPr lang="zh-CN" altLang="en-US" dirty="0">
                <a:solidFill>
                  <a:srgbClr val="0000CC"/>
                </a:solidFill>
              </a:rPr>
              <a:t>  </a:t>
            </a:r>
          </a:p>
        </p:txBody>
      </p:sp>
    </p:spTree>
    <p:extLst>
      <p:ext uri="{BB962C8B-B14F-4D97-AF65-F5344CB8AC3E}">
        <p14:creationId xmlns:p14="http://schemas.microsoft.com/office/powerpoint/2010/main" val="1885126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normAutofit fontScale="90000"/>
          </a:bodyPr>
          <a:lstStyle/>
          <a:p>
            <a:r>
              <a:rPr lang="zh-CN" altLang="zh-CN" dirty="0"/>
              <a:t>计算机网络的体系结构</a:t>
            </a:r>
            <a:r>
              <a:rPr lang="zh-CN" altLang="en-US" dirty="0"/>
              <a:t>：</a:t>
            </a:r>
            <a:r>
              <a:rPr lang="zh-CN" altLang="zh-CN" dirty="0"/>
              <a:t>协议与分层</a:t>
            </a:r>
            <a:endParaRPr lang="zh-CN" altLang="en-US" dirty="0"/>
          </a:p>
        </p:txBody>
      </p:sp>
      <p:sp>
        <p:nvSpPr>
          <p:cNvPr id="101379" name="Rectangle 3"/>
          <p:cNvSpPr>
            <a:spLocks noGrp="1" noChangeArrowheads="1"/>
          </p:cNvSpPr>
          <p:nvPr>
            <p:ph idx="1"/>
          </p:nvPr>
        </p:nvSpPr>
        <p:spPr/>
        <p:txBody>
          <a:bodyPr/>
          <a:lstStyle/>
          <a:p>
            <a:r>
              <a:rPr lang="zh-CN" altLang="en-US" dirty="0"/>
              <a:t>计算机网络中的数据交换</a:t>
            </a:r>
            <a:r>
              <a:rPr lang="zh-CN" altLang="en-US" dirty="0">
                <a:solidFill>
                  <a:srgbClr val="FF0000"/>
                </a:solidFill>
              </a:rPr>
              <a:t>必须遵守事先约定好的规则。 </a:t>
            </a:r>
          </a:p>
          <a:p>
            <a:r>
              <a:rPr lang="zh-CN" altLang="en-US" dirty="0"/>
              <a:t>这些</a:t>
            </a:r>
            <a:r>
              <a:rPr lang="zh-CN" altLang="en-US" dirty="0">
                <a:solidFill>
                  <a:srgbClr val="FF0000"/>
                </a:solidFill>
              </a:rPr>
              <a:t>规则</a:t>
            </a:r>
            <a:r>
              <a:rPr lang="zh-CN" altLang="en-US" dirty="0"/>
              <a:t>明确规定了所交换的数据的格式以及有关的同步问题（同步含有时序的意思）。</a:t>
            </a:r>
          </a:p>
          <a:p>
            <a:r>
              <a:rPr lang="zh-CN" altLang="en-US" dirty="0">
                <a:solidFill>
                  <a:srgbClr val="FF0000"/>
                </a:solidFill>
              </a:rPr>
              <a:t>网络协议 </a:t>
            </a:r>
            <a:r>
              <a:rPr lang="en-US" altLang="zh-CN" dirty="0"/>
              <a:t>(network protocol)</a:t>
            </a:r>
            <a:r>
              <a:rPr lang="zh-CN" altLang="en-US" dirty="0"/>
              <a:t>，简称为</a:t>
            </a:r>
            <a:r>
              <a:rPr lang="zh-CN" altLang="en-US" dirty="0">
                <a:solidFill>
                  <a:srgbClr val="FF0000"/>
                </a:solidFill>
              </a:rPr>
              <a:t>协议，</a:t>
            </a:r>
            <a:r>
              <a:rPr lang="zh-CN" altLang="en-US" dirty="0">
                <a:solidFill>
                  <a:schemeClr val="tx1"/>
                </a:solidFill>
              </a:rPr>
              <a:t>是</a:t>
            </a:r>
            <a:r>
              <a:rPr lang="zh-CN" altLang="en-US" dirty="0"/>
              <a:t>为进行网络中的数据交换而建立的规则、标准或约定。 </a:t>
            </a:r>
          </a:p>
        </p:txBody>
      </p:sp>
    </p:spTree>
    <p:extLst>
      <p:ext uri="{BB962C8B-B14F-4D97-AF65-F5344CB8AC3E}">
        <p14:creationId xmlns:p14="http://schemas.microsoft.com/office/powerpoint/2010/main" val="23276535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algn="ctr"/>
            <a:r>
              <a:rPr lang="zh-CN" altLang="en-US" dirty="0"/>
              <a:t>网络协议的三个组成要素 </a:t>
            </a:r>
          </a:p>
        </p:txBody>
      </p:sp>
      <p:sp>
        <p:nvSpPr>
          <p:cNvPr id="102403" name="Rectangle 3"/>
          <p:cNvSpPr>
            <a:spLocks noGrp="1" noChangeArrowheads="1"/>
          </p:cNvSpPr>
          <p:nvPr>
            <p:ph idx="1"/>
          </p:nvPr>
        </p:nvSpPr>
        <p:spPr/>
        <p:txBody>
          <a:bodyPr/>
          <a:lstStyle/>
          <a:p>
            <a:r>
              <a:rPr lang="zh-CN" altLang="en-US" dirty="0">
                <a:solidFill>
                  <a:srgbClr val="FF0000"/>
                </a:solidFill>
              </a:rPr>
              <a:t>语法：</a:t>
            </a:r>
            <a:r>
              <a:rPr lang="zh-CN" altLang="en-US" dirty="0"/>
              <a:t>数据与控制信息的结构或格式 。 </a:t>
            </a:r>
          </a:p>
          <a:p>
            <a:r>
              <a:rPr lang="zh-CN" altLang="en-US" dirty="0">
                <a:solidFill>
                  <a:srgbClr val="FF0000"/>
                </a:solidFill>
              </a:rPr>
              <a:t>语义：</a:t>
            </a:r>
            <a:r>
              <a:rPr lang="zh-CN" altLang="en-US" dirty="0"/>
              <a:t>需要发出何种控制信息，完成何种动作以及做出何种响应。 </a:t>
            </a:r>
          </a:p>
          <a:p>
            <a:r>
              <a:rPr lang="zh-CN" altLang="en-US" dirty="0">
                <a:solidFill>
                  <a:srgbClr val="FF0000"/>
                </a:solidFill>
              </a:rPr>
              <a:t>同步：</a:t>
            </a:r>
            <a:r>
              <a:rPr lang="zh-CN" altLang="en-US" dirty="0"/>
              <a:t>事件实现顺序的详细说明。 </a:t>
            </a:r>
          </a:p>
        </p:txBody>
      </p:sp>
      <p:sp>
        <p:nvSpPr>
          <p:cNvPr id="2" name="矩形 1"/>
          <p:cNvSpPr/>
          <p:nvPr/>
        </p:nvSpPr>
        <p:spPr>
          <a:xfrm>
            <a:off x="1856656" y="3771781"/>
            <a:ext cx="6408712" cy="1075103"/>
          </a:xfrm>
          <a:prstGeom prst="rect">
            <a:avLst/>
          </a:prstGeom>
          <a:solidFill>
            <a:srgbClr val="FFFF66"/>
          </a:solidFill>
          <a:ln>
            <a:solidFill>
              <a:srgbClr val="000099"/>
            </a:solidFill>
          </a:ln>
        </p:spPr>
        <p:txBody>
          <a:bodyPr wrap="square">
            <a:spAutoFit/>
          </a:bodyPr>
          <a:lstStyle/>
          <a:p>
            <a:pPr>
              <a:lnSpc>
                <a:spcPct val="120000"/>
              </a:lnSpc>
            </a:pPr>
            <a:r>
              <a:rPr lang="zh-CN" altLang="zh-CN" sz="2800" b="1" dirty="0">
                <a:solidFill>
                  <a:srgbClr val="000066"/>
                </a:solidFill>
                <a:latin typeface="+mn-lt"/>
                <a:ea typeface="黑体" pitchFamily="2" charset="-122"/>
              </a:rPr>
              <a:t>由此可见，网络协议是计算机网络的不可缺少的组成部分。</a:t>
            </a:r>
            <a:endParaRPr lang="zh-CN" altLang="en-US" sz="2800" b="1" dirty="0">
              <a:solidFill>
                <a:srgbClr val="000066"/>
              </a:solidFill>
              <a:latin typeface="+mn-lt"/>
              <a:ea typeface="黑体" pitchFamily="2" charset="-122"/>
            </a:endParaRPr>
          </a:p>
        </p:txBody>
      </p:sp>
    </p:spTree>
    <p:extLst>
      <p:ext uri="{BB962C8B-B14F-4D97-AF65-F5344CB8AC3E}">
        <p14:creationId xmlns:p14="http://schemas.microsoft.com/office/powerpoint/2010/main" val="10754097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层次式协议结构</a:t>
            </a:r>
          </a:p>
        </p:txBody>
      </p:sp>
      <p:sp>
        <p:nvSpPr>
          <p:cNvPr id="3" name="内容占位符 2"/>
          <p:cNvSpPr>
            <a:spLocks noGrp="1"/>
          </p:cNvSpPr>
          <p:nvPr>
            <p:ph idx="1"/>
          </p:nvPr>
        </p:nvSpPr>
        <p:spPr/>
        <p:txBody>
          <a:bodyPr/>
          <a:lstStyle/>
          <a:p>
            <a:r>
              <a:rPr lang="zh-CN" altLang="zh-CN" dirty="0"/>
              <a:t>计算机网络是个非常复杂的系统</a:t>
            </a:r>
            <a:r>
              <a:rPr lang="zh-CN" altLang="en-US" dirty="0"/>
              <a:t>。</a:t>
            </a:r>
            <a:endParaRPr lang="en-US" altLang="zh-CN" dirty="0"/>
          </a:p>
          <a:p>
            <a:r>
              <a:rPr lang="zh-CN" altLang="en-US" dirty="0"/>
              <a:t>相互通信的两个计算机系统必须</a:t>
            </a:r>
            <a:r>
              <a:rPr lang="zh-CN" altLang="en-US" dirty="0">
                <a:solidFill>
                  <a:srgbClr val="FF0000"/>
                </a:solidFill>
              </a:rPr>
              <a:t>高度协调工作</a:t>
            </a:r>
            <a:r>
              <a:rPr lang="zh-CN" altLang="en-US" dirty="0"/>
              <a:t>才行，而这种“协调”是相当复杂的。 </a:t>
            </a:r>
          </a:p>
          <a:p>
            <a:r>
              <a:rPr lang="en-US" altLang="zh-CN" dirty="0"/>
              <a:t>ARPANET </a:t>
            </a:r>
            <a:r>
              <a:rPr lang="zh-CN" altLang="zh-CN" dirty="0"/>
              <a:t>的研制经验表明，对于非常复杂的计算机网络协议，其</a:t>
            </a:r>
            <a:r>
              <a:rPr lang="zh-CN" altLang="zh-CN" dirty="0">
                <a:solidFill>
                  <a:srgbClr val="FF0000"/>
                </a:solidFill>
              </a:rPr>
              <a:t>结构应该是层次式的</a:t>
            </a:r>
            <a:r>
              <a:rPr lang="zh-CN" altLang="en-US" dirty="0">
                <a:solidFill>
                  <a:srgbClr val="FF0000"/>
                </a:solidFill>
              </a:rPr>
              <a:t>。</a:t>
            </a:r>
            <a:endParaRPr lang="en-US" altLang="zh-CN" dirty="0">
              <a:solidFill>
                <a:srgbClr val="FF0000"/>
              </a:solidFill>
            </a:endParaRPr>
          </a:p>
          <a:p>
            <a:r>
              <a:rPr lang="zh-CN" altLang="en-US" dirty="0"/>
              <a:t>“</a:t>
            </a:r>
            <a:r>
              <a:rPr lang="zh-CN" altLang="en-US" dirty="0">
                <a:solidFill>
                  <a:srgbClr val="FF0000"/>
                </a:solidFill>
              </a:rPr>
              <a:t>分层</a:t>
            </a:r>
            <a:r>
              <a:rPr lang="zh-CN" altLang="en-US" dirty="0"/>
              <a:t>”可将庞大而复杂的问题，转化为若干较小的局部问题，而这些较小的局部问题就比较易于研究和处理。 </a:t>
            </a:r>
            <a:endParaRPr lang="en-US" altLang="zh-CN" dirty="0"/>
          </a:p>
        </p:txBody>
      </p:sp>
    </p:spTree>
    <p:extLst>
      <p:ext uri="{BB962C8B-B14F-4D97-AF65-F5344CB8AC3E}">
        <p14:creationId xmlns:p14="http://schemas.microsoft.com/office/powerpoint/2010/main" val="11739572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lgn="ctr"/>
            <a:r>
              <a:rPr lang="zh-CN" altLang="en-US" dirty="0"/>
              <a:t>分层的好处与缺点 </a:t>
            </a:r>
          </a:p>
        </p:txBody>
      </p:sp>
      <p:sp>
        <p:nvSpPr>
          <p:cNvPr id="2" name="文本占位符 1"/>
          <p:cNvSpPr>
            <a:spLocks noGrp="1"/>
          </p:cNvSpPr>
          <p:nvPr>
            <p:ph type="body" idx="1"/>
          </p:nvPr>
        </p:nvSpPr>
        <p:spPr>
          <a:solidFill>
            <a:srgbClr val="FFFF66"/>
          </a:solidFill>
          <a:ln>
            <a:solidFill>
              <a:srgbClr val="000099"/>
            </a:solidFill>
          </a:ln>
        </p:spPr>
        <p:txBody>
          <a:bodyPr anchor="ctr"/>
          <a:lstStyle/>
          <a:p>
            <a:r>
              <a:rPr lang="zh-CN" altLang="en-US" dirty="0">
                <a:solidFill>
                  <a:srgbClr val="FF0000"/>
                </a:solidFill>
              </a:rPr>
              <a:t>好处</a:t>
            </a:r>
          </a:p>
        </p:txBody>
      </p:sp>
      <p:sp>
        <p:nvSpPr>
          <p:cNvPr id="110595" name="Rectangle 3"/>
          <p:cNvSpPr>
            <a:spLocks noGrp="1" noChangeArrowheads="1"/>
          </p:cNvSpPr>
          <p:nvPr>
            <p:ph sz="half" idx="2"/>
          </p:nvPr>
        </p:nvSpPr>
        <p:spPr>
          <a:xfrm>
            <a:off x="495299" y="1844824"/>
            <a:ext cx="4455513" cy="4292770"/>
          </a:xfrm>
          <a:ln>
            <a:solidFill>
              <a:srgbClr val="000099"/>
            </a:solidFill>
          </a:ln>
        </p:spPr>
        <p:txBody>
          <a:bodyPr/>
          <a:lstStyle/>
          <a:p>
            <a:r>
              <a:rPr lang="zh-CN" altLang="en-US" dirty="0"/>
              <a:t>各层之间是独立的。</a:t>
            </a:r>
          </a:p>
          <a:p>
            <a:r>
              <a:rPr lang="zh-CN" altLang="en-US" dirty="0"/>
              <a:t>灵活性好。</a:t>
            </a:r>
          </a:p>
          <a:p>
            <a:r>
              <a:rPr lang="zh-CN" altLang="en-US" dirty="0"/>
              <a:t>结构上可分割开。</a:t>
            </a:r>
          </a:p>
          <a:p>
            <a:r>
              <a:rPr lang="zh-CN" altLang="en-US" dirty="0"/>
              <a:t>易于实现和维护。</a:t>
            </a:r>
          </a:p>
          <a:p>
            <a:r>
              <a:rPr lang="zh-CN" altLang="en-US" dirty="0"/>
              <a:t>能促进标准化工作。  </a:t>
            </a:r>
          </a:p>
        </p:txBody>
      </p:sp>
      <p:sp>
        <p:nvSpPr>
          <p:cNvPr id="3" name="文本占位符 2"/>
          <p:cNvSpPr>
            <a:spLocks noGrp="1"/>
          </p:cNvSpPr>
          <p:nvPr>
            <p:ph type="body" sz="quarter" idx="3"/>
          </p:nvPr>
        </p:nvSpPr>
        <p:spPr>
          <a:solidFill>
            <a:srgbClr val="FFFF66"/>
          </a:solidFill>
          <a:ln>
            <a:solidFill>
              <a:srgbClr val="000099"/>
            </a:solidFill>
          </a:ln>
        </p:spPr>
        <p:txBody>
          <a:bodyPr/>
          <a:lstStyle/>
          <a:p>
            <a:r>
              <a:rPr lang="zh-CN" altLang="en-US" dirty="0">
                <a:solidFill>
                  <a:srgbClr val="0000CC"/>
                </a:solidFill>
              </a:rPr>
              <a:t>缺点</a:t>
            </a:r>
          </a:p>
        </p:txBody>
      </p:sp>
      <p:sp>
        <p:nvSpPr>
          <p:cNvPr id="4" name="内容占位符 3"/>
          <p:cNvSpPr>
            <a:spLocks noGrp="1"/>
          </p:cNvSpPr>
          <p:nvPr>
            <p:ph sz="quarter" idx="4"/>
          </p:nvPr>
        </p:nvSpPr>
        <p:spPr>
          <a:xfrm>
            <a:off x="5104383" y="1844824"/>
            <a:ext cx="4457129" cy="4292770"/>
          </a:xfrm>
          <a:ln>
            <a:solidFill>
              <a:srgbClr val="000099"/>
            </a:solidFill>
          </a:ln>
        </p:spPr>
        <p:txBody>
          <a:bodyPr/>
          <a:lstStyle/>
          <a:p>
            <a:r>
              <a:rPr lang="zh-CN" altLang="en-US" dirty="0"/>
              <a:t>降低效率。</a:t>
            </a:r>
            <a:endParaRPr lang="en-US" altLang="zh-CN" dirty="0"/>
          </a:p>
          <a:p>
            <a:r>
              <a:rPr lang="zh-CN" altLang="zh-CN" dirty="0"/>
              <a:t>有些功能会在不同的层次中重复出现，因而产生了额外开销</a:t>
            </a:r>
            <a:r>
              <a:rPr lang="zh-CN" altLang="en-US" dirty="0"/>
              <a:t>。</a:t>
            </a:r>
          </a:p>
        </p:txBody>
      </p:sp>
    </p:spTree>
    <p:extLst>
      <p:ext uri="{BB962C8B-B14F-4D97-AF65-F5344CB8AC3E}">
        <p14:creationId xmlns:p14="http://schemas.microsoft.com/office/powerpoint/2010/main" val="42782998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a:r>
              <a:rPr lang="zh-CN" altLang="en-US" dirty="0"/>
              <a:t>层数多少要适当 </a:t>
            </a:r>
          </a:p>
        </p:txBody>
      </p:sp>
      <p:sp>
        <p:nvSpPr>
          <p:cNvPr id="111619" name="Rectangle 3"/>
          <p:cNvSpPr>
            <a:spLocks noGrp="1" noChangeArrowheads="1"/>
          </p:cNvSpPr>
          <p:nvPr>
            <p:ph idx="1"/>
          </p:nvPr>
        </p:nvSpPr>
        <p:spPr/>
        <p:txBody>
          <a:bodyPr/>
          <a:lstStyle/>
          <a:p>
            <a:r>
              <a:rPr lang="zh-CN" altLang="en-US" dirty="0"/>
              <a:t>层数太少，就会使每一层的协议太复杂。</a:t>
            </a:r>
          </a:p>
          <a:p>
            <a:r>
              <a:rPr lang="zh-CN" altLang="en-US" dirty="0"/>
              <a:t>层数太多，又会在描述和综合各层功能的系统工程任务时遇到较多的困难。 </a:t>
            </a:r>
          </a:p>
        </p:txBody>
      </p:sp>
    </p:spTree>
    <p:extLst>
      <p:ext uri="{BB962C8B-B14F-4D97-AF65-F5344CB8AC3E}">
        <p14:creationId xmlns:p14="http://schemas.microsoft.com/office/powerpoint/2010/main" val="2943803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fontScale="90000"/>
          </a:bodyPr>
          <a:lstStyle/>
          <a:p>
            <a:r>
              <a:rPr lang="zh-CN" altLang="zh-CN" dirty="0"/>
              <a:t>计算机网络的体系结构</a:t>
            </a:r>
            <a:r>
              <a:rPr lang="zh-CN" altLang="en-US" dirty="0"/>
              <a:t>：</a:t>
            </a:r>
            <a:r>
              <a:rPr lang="zh-CN" altLang="zh-CN" dirty="0"/>
              <a:t>五层协议体系</a:t>
            </a:r>
            <a:endParaRPr lang="zh-CN" altLang="en-US" dirty="0"/>
          </a:p>
        </p:txBody>
      </p:sp>
      <p:sp>
        <p:nvSpPr>
          <p:cNvPr id="113667" name="Rectangle 3"/>
          <p:cNvSpPr>
            <a:spLocks noGrp="1" noChangeArrowheads="1"/>
          </p:cNvSpPr>
          <p:nvPr>
            <p:ph idx="1"/>
          </p:nvPr>
        </p:nvSpPr>
        <p:spPr/>
        <p:txBody>
          <a:bodyPr/>
          <a:lstStyle/>
          <a:p>
            <a:r>
              <a:rPr lang="en-US" altLang="zh-CN" dirty="0"/>
              <a:t>OSI </a:t>
            </a:r>
            <a:r>
              <a:rPr lang="zh-CN" altLang="zh-CN" dirty="0"/>
              <a:t>的七层协议体系结构的概念清楚，理论也较完整，但它既复杂又不实用</a:t>
            </a:r>
            <a:r>
              <a:rPr lang="zh-CN" altLang="en-US" dirty="0"/>
              <a:t>。</a:t>
            </a:r>
            <a:endParaRPr lang="en-US" altLang="zh-CN" dirty="0"/>
          </a:p>
          <a:p>
            <a:r>
              <a:rPr lang="en-US" altLang="zh-CN" dirty="0"/>
              <a:t>TCP/IP </a:t>
            </a:r>
            <a:r>
              <a:rPr lang="zh-CN" altLang="en-US" dirty="0"/>
              <a:t>是四层体系结构：应用层、运输层、网际层和网络接口层。</a:t>
            </a:r>
          </a:p>
          <a:p>
            <a:r>
              <a:rPr lang="zh-CN" altLang="en-US" dirty="0"/>
              <a:t>但最下面的网络接口层并没有具体内容。</a:t>
            </a:r>
          </a:p>
          <a:p>
            <a:r>
              <a:rPr lang="zh-CN" altLang="en-US" dirty="0">
                <a:solidFill>
                  <a:srgbClr val="FF0000"/>
                </a:solidFill>
              </a:rPr>
              <a:t>因此往往采取折中的办法，即综合 </a:t>
            </a:r>
            <a:r>
              <a:rPr lang="en-US" altLang="zh-CN" dirty="0">
                <a:solidFill>
                  <a:srgbClr val="FF0000"/>
                </a:solidFill>
              </a:rPr>
              <a:t>OSI </a:t>
            </a:r>
            <a:r>
              <a:rPr lang="zh-CN" altLang="en-US" dirty="0">
                <a:solidFill>
                  <a:srgbClr val="FF0000"/>
                </a:solidFill>
              </a:rPr>
              <a:t>和</a:t>
            </a:r>
            <a:r>
              <a:rPr lang="zh-CN" altLang="en-US" sz="2000" dirty="0">
                <a:solidFill>
                  <a:srgbClr val="FF0000"/>
                </a:solidFill>
              </a:rPr>
              <a:t> </a:t>
            </a:r>
            <a:r>
              <a:rPr lang="en-US" altLang="zh-CN" dirty="0">
                <a:solidFill>
                  <a:srgbClr val="FF0000"/>
                </a:solidFill>
              </a:rPr>
              <a:t>TCP/IP</a:t>
            </a:r>
            <a:r>
              <a:rPr lang="en-US" altLang="zh-CN" sz="2000" dirty="0">
                <a:solidFill>
                  <a:srgbClr val="FF0000"/>
                </a:solidFill>
              </a:rPr>
              <a:t> </a:t>
            </a:r>
            <a:r>
              <a:rPr lang="zh-CN" altLang="en-US" dirty="0">
                <a:solidFill>
                  <a:srgbClr val="FF0000"/>
                </a:solidFill>
              </a:rPr>
              <a:t>的优点，采用一种只有五层协议的体系结构 。</a:t>
            </a:r>
            <a:r>
              <a:rPr lang="zh-CN" altLang="en-US" dirty="0">
                <a:solidFill>
                  <a:srgbClr val="0000CC"/>
                </a:solidFill>
              </a:rPr>
              <a:t> </a:t>
            </a:r>
          </a:p>
        </p:txBody>
      </p:sp>
    </p:spTree>
    <p:extLst>
      <p:ext uri="{BB962C8B-B14F-4D97-AF65-F5344CB8AC3E}">
        <p14:creationId xmlns:p14="http://schemas.microsoft.com/office/powerpoint/2010/main" val="1238768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fontScale="90000"/>
          </a:bodyPr>
          <a:lstStyle/>
          <a:p>
            <a:r>
              <a:rPr lang="zh-CN" altLang="zh-CN" dirty="0"/>
              <a:t>计算机网络的体系结构</a:t>
            </a:r>
            <a:r>
              <a:rPr lang="zh-CN" altLang="en-US" dirty="0"/>
              <a:t>：</a:t>
            </a:r>
            <a:r>
              <a:rPr lang="zh-CN" altLang="zh-CN" dirty="0"/>
              <a:t>五层协议体系</a:t>
            </a:r>
            <a:endParaRPr lang="zh-CN" altLang="en-US" dirty="0"/>
          </a:p>
        </p:txBody>
      </p:sp>
      <p:sp>
        <p:nvSpPr>
          <p:cNvPr id="6" name="AutoShape 58"/>
          <p:cNvSpPr>
            <a:spLocks noChangeArrowheads="1"/>
          </p:cNvSpPr>
          <p:nvPr/>
        </p:nvSpPr>
        <p:spPr bwMode="auto">
          <a:xfrm>
            <a:off x="900757" y="1653952"/>
            <a:ext cx="2054225" cy="3530600"/>
          </a:xfrm>
          <a:prstGeom prst="cube">
            <a:avLst>
              <a:gd name="adj" fmla="val 9144"/>
            </a:avLst>
          </a:prstGeom>
          <a:solidFill>
            <a:schemeClr val="bg1"/>
          </a:solidFill>
          <a:ln w="19050">
            <a:solidFill>
              <a:schemeClr val="tx1"/>
            </a:solidFill>
            <a:miter lim="800000"/>
            <a:headEnd/>
            <a:tailEnd/>
          </a:ln>
        </p:spPr>
        <p:txBody>
          <a:bodyPr wrap="none" anchor="ctr"/>
          <a:lstStyle/>
          <a:p>
            <a:endParaRPr lang="zh-CN" altLang="en-US" sz="2000" b="1">
              <a:solidFill>
                <a:srgbClr val="000099"/>
              </a:solidFill>
              <a:latin typeface="+mn-lt"/>
              <a:ea typeface="黑体" pitchFamily="2" charset="-122"/>
            </a:endParaRPr>
          </a:p>
        </p:txBody>
      </p:sp>
      <p:sp>
        <p:nvSpPr>
          <p:cNvPr id="7" name="Freeform 50"/>
          <p:cNvSpPr>
            <a:spLocks/>
          </p:cNvSpPr>
          <p:nvPr/>
        </p:nvSpPr>
        <p:spPr bwMode="auto">
          <a:xfrm>
            <a:off x="902345" y="2036540"/>
            <a:ext cx="2039937" cy="260350"/>
          </a:xfrm>
          <a:custGeom>
            <a:avLst/>
            <a:gdLst>
              <a:gd name="T0" fmla="*/ 2030913617 w 2049"/>
              <a:gd name="T1" fmla="*/ 0 h 182"/>
              <a:gd name="T2" fmla="*/ 1853492943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8" name="Freeform 59"/>
          <p:cNvSpPr>
            <a:spLocks/>
          </p:cNvSpPr>
          <p:nvPr/>
        </p:nvSpPr>
        <p:spPr bwMode="auto">
          <a:xfrm>
            <a:off x="900757" y="25159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9" name="Freeform 60"/>
          <p:cNvSpPr>
            <a:spLocks/>
          </p:cNvSpPr>
          <p:nvPr/>
        </p:nvSpPr>
        <p:spPr bwMode="auto">
          <a:xfrm>
            <a:off x="900757" y="2995390"/>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0" name="Freeform 61"/>
          <p:cNvSpPr>
            <a:spLocks/>
          </p:cNvSpPr>
          <p:nvPr/>
        </p:nvSpPr>
        <p:spPr bwMode="auto">
          <a:xfrm>
            <a:off x="900757" y="3474815"/>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1" name="Freeform 62"/>
          <p:cNvSpPr>
            <a:spLocks/>
          </p:cNvSpPr>
          <p:nvPr/>
        </p:nvSpPr>
        <p:spPr bwMode="auto">
          <a:xfrm>
            <a:off x="899170" y="3954240"/>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2" name="Freeform 63"/>
          <p:cNvSpPr>
            <a:spLocks/>
          </p:cNvSpPr>
          <p:nvPr/>
        </p:nvSpPr>
        <p:spPr bwMode="auto">
          <a:xfrm>
            <a:off x="897582" y="44336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13" name="Text Box 22"/>
          <p:cNvSpPr txBox="1">
            <a:spLocks noChangeArrowheads="1"/>
          </p:cNvSpPr>
          <p:nvPr/>
        </p:nvSpPr>
        <p:spPr bwMode="auto">
          <a:xfrm>
            <a:off x="1618307" y="193652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应用层</a:t>
            </a:r>
          </a:p>
        </p:txBody>
      </p:sp>
      <p:sp>
        <p:nvSpPr>
          <p:cNvPr id="14" name="Text Box 23"/>
          <p:cNvSpPr txBox="1">
            <a:spLocks noChangeArrowheads="1"/>
          </p:cNvSpPr>
          <p:nvPr/>
        </p:nvSpPr>
        <p:spPr bwMode="auto">
          <a:xfrm>
            <a:off x="1584970" y="335099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运输层</a:t>
            </a:r>
          </a:p>
        </p:txBody>
      </p:sp>
      <p:sp>
        <p:nvSpPr>
          <p:cNvPr id="15" name="Text Box 24"/>
          <p:cNvSpPr txBox="1">
            <a:spLocks noChangeArrowheads="1"/>
          </p:cNvSpPr>
          <p:nvPr/>
        </p:nvSpPr>
        <p:spPr bwMode="auto">
          <a:xfrm>
            <a:off x="1597670" y="383041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网络层</a:t>
            </a:r>
          </a:p>
        </p:txBody>
      </p:sp>
      <p:sp>
        <p:nvSpPr>
          <p:cNvPr id="16" name="Text Box 54"/>
          <p:cNvSpPr txBox="1">
            <a:spLocks noChangeArrowheads="1"/>
          </p:cNvSpPr>
          <p:nvPr/>
        </p:nvSpPr>
        <p:spPr bwMode="auto">
          <a:xfrm>
            <a:off x="1597670" y="238896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表示层</a:t>
            </a:r>
          </a:p>
        </p:txBody>
      </p:sp>
      <p:sp>
        <p:nvSpPr>
          <p:cNvPr id="17" name="Text Box 55"/>
          <p:cNvSpPr txBox="1">
            <a:spLocks noChangeArrowheads="1"/>
          </p:cNvSpPr>
          <p:nvPr/>
        </p:nvSpPr>
        <p:spPr bwMode="auto">
          <a:xfrm>
            <a:off x="1597670" y="28699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会话层</a:t>
            </a:r>
          </a:p>
        </p:txBody>
      </p:sp>
      <p:sp>
        <p:nvSpPr>
          <p:cNvPr id="18" name="Text Box 56"/>
          <p:cNvSpPr txBox="1">
            <a:spLocks noChangeArrowheads="1"/>
          </p:cNvSpPr>
          <p:nvPr/>
        </p:nvSpPr>
        <p:spPr bwMode="auto">
          <a:xfrm>
            <a:off x="1438920" y="428444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数据链路层</a:t>
            </a:r>
          </a:p>
        </p:txBody>
      </p:sp>
      <p:sp>
        <p:nvSpPr>
          <p:cNvPr id="19" name="Text Box 57"/>
          <p:cNvSpPr txBox="1">
            <a:spLocks noChangeArrowheads="1"/>
          </p:cNvSpPr>
          <p:nvPr/>
        </p:nvSpPr>
        <p:spPr bwMode="auto">
          <a:xfrm>
            <a:off x="1597670" y="47368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dirty="0">
                <a:solidFill>
                  <a:srgbClr val="000099"/>
                </a:solidFill>
                <a:latin typeface="+mn-lt"/>
                <a:ea typeface="黑体" pitchFamily="2" charset="-122"/>
              </a:rPr>
              <a:t>物理层</a:t>
            </a:r>
          </a:p>
        </p:txBody>
      </p:sp>
      <p:sp>
        <p:nvSpPr>
          <p:cNvPr id="20" name="Text Box 43"/>
          <p:cNvSpPr txBox="1">
            <a:spLocks noChangeArrowheads="1"/>
          </p:cNvSpPr>
          <p:nvPr/>
        </p:nvSpPr>
        <p:spPr bwMode="auto">
          <a:xfrm>
            <a:off x="996007" y="1785715"/>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90000"/>
              </a:lnSpc>
            </a:pPr>
            <a:r>
              <a:rPr lang="en-US" altLang="zh-CN" sz="1600" b="1" dirty="0">
                <a:solidFill>
                  <a:srgbClr val="000099"/>
                </a:solidFill>
                <a:latin typeface="+mn-lt"/>
                <a:ea typeface="黑体" pitchFamily="2" charset="-122"/>
              </a:rPr>
              <a:t>7</a:t>
            </a:r>
          </a:p>
          <a:p>
            <a:pPr eaLnBrk="1" hangingPunct="1">
              <a:lnSpc>
                <a:spcPct val="190000"/>
              </a:lnSpc>
            </a:pPr>
            <a:r>
              <a:rPr lang="en-US" altLang="zh-CN" sz="1600" b="1" dirty="0">
                <a:solidFill>
                  <a:srgbClr val="000099"/>
                </a:solidFill>
                <a:latin typeface="+mn-lt"/>
                <a:ea typeface="黑体" pitchFamily="2" charset="-122"/>
              </a:rPr>
              <a:t>6</a:t>
            </a:r>
          </a:p>
          <a:p>
            <a:pPr eaLnBrk="1" hangingPunct="1">
              <a:lnSpc>
                <a:spcPct val="190000"/>
              </a:lnSpc>
            </a:pPr>
            <a:r>
              <a:rPr lang="en-US" altLang="zh-CN" sz="1600" b="1" dirty="0">
                <a:solidFill>
                  <a:srgbClr val="000099"/>
                </a:solidFill>
                <a:latin typeface="+mn-lt"/>
                <a:ea typeface="黑体" pitchFamily="2" charset="-122"/>
              </a:rPr>
              <a:t>5</a:t>
            </a:r>
          </a:p>
          <a:p>
            <a:pPr eaLnBrk="1" hangingPunct="1">
              <a:lnSpc>
                <a:spcPct val="190000"/>
              </a:lnSpc>
            </a:pPr>
            <a:r>
              <a:rPr lang="en-US" altLang="zh-CN" sz="1600" b="1" dirty="0">
                <a:solidFill>
                  <a:srgbClr val="000099"/>
                </a:solidFill>
                <a:latin typeface="+mn-lt"/>
                <a:ea typeface="黑体" pitchFamily="2" charset="-122"/>
              </a:rPr>
              <a:t>4</a:t>
            </a:r>
          </a:p>
          <a:p>
            <a:pPr eaLnBrk="1" hangingPunct="1">
              <a:lnSpc>
                <a:spcPct val="190000"/>
              </a:lnSpc>
            </a:pPr>
            <a:r>
              <a:rPr lang="en-US" altLang="zh-CN" sz="1600" b="1" dirty="0">
                <a:solidFill>
                  <a:srgbClr val="000099"/>
                </a:solidFill>
                <a:latin typeface="+mn-lt"/>
                <a:ea typeface="黑体" pitchFamily="2" charset="-122"/>
              </a:rPr>
              <a:t>3</a:t>
            </a:r>
          </a:p>
          <a:p>
            <a:pPr eaLnBrk="1" hangingPunct="1">
              <a:lnSpc>
                <a:spcPct val="190000"/>
              </a:lnSpc>
            </a:pPr>
            <a:r>
              <a:rPr lang="en-US" altLang="zh-CN" sz="1600" b="1" dirty="0">
                <a:solidFill>
                  <a:srgbClr val="000099"/>
                </a:solidFill>
                <a:latin typeface="+mn-lt"/>
                <a:ea typeface="黑体" pitchFamily="2" charset="-122"/>
              </a:rPr>
              <a:t>2</a:t>
            </a:r>
          </a:p>
          <a:p>
            <a:pPr eaLnBrk="1" hangingPunct="1">
              <a:lnSpc>
                <a:spcPct val="190000"/>
              </a:lnSpc>
            </a:pPr>
            <a:r>
              <a:rPr lang="en-US" altLang="zh-CN" sz="1600" b="1" dirty="0">
                <a:solidFill>
                  <a:srgbClr val="000099"/>
                </a:solidFill>
                <a:latin typeface="+mn-lt"/>
                <a:ea typeface="黑体" pitchFamily="2" charset="-122"/>
              </a:rPr>
              <a:t>1</a:t>
            </a:r>
          </a:p>
        </p:txBody>
      </p:sp>
      <p:sp>
        <p:nvSpPr>
          <p:cNvPr id="21" name="Text Box 13"/>
          <p:cNvSpPr txBox="1">
            <a:spLocks noChangeArrowheads="1"/>
          </p:cNvSpPr>
          <p:nvPr/>
        </p:nvSpPr>
        <p:spPr bwMode="auto">
          <a:xfrm>
            <a:off x="776536" y="1222152"/>
            <a:ext cx="234551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dirty="0">
                <a:solidFill>
                  <a:srgbClr val="C00000"/>
                </a:solidFill>
                <a:latin typeface="+mn-lt"/>
                <a:ea typeface="黑体" pitchFamily="2" charset="-122"/>
              </a:rPr>
              <a:t>OSI </a:t>
            </a:r>
            <a:r>
              <a:rPr lang="zh-CN" altLang="en-US" b="1" dirty="0">
                <a:solidFill>
                  <a:srgbClr val="C00000"/>
                </a:solidFill>
                <a:latin typeface="+mn-lt"/>
                <a:ea typeface="黑体" pitchFamily="2" charset="-122"/>
              </a:rPr>
              <a:t>的体系结构</a:t>
            </a:r>
          </a:p>
        </p:txBody>
      </p:sp>
      <p:sp>
        <p:nvSpPr>
          <p:cNvPr id="22" name="AutoShape 66"/>
          <p:cNvSpPr>
            <a:spLocks noChangeArrowheads="1"/>
          </p:cNvSpPr>
          <p:nvPr/>
        </p:nvSpPr>
        <p:spPr bwMode="auto">
          <a:xfrm>
            <a:off x="3512195" y="1606327"/>
            <a:ext cx="2668587" cy="3587750"/>
          </a:xfrm>
          <a:prstGeom prst="cube">
            <a:avLst>
              <a:gd name="adj" fmla="val 9144"/>
            </a:avLst>
          </a:prstGeom>
          <a:solidFill>
            <a:schemeClr val="bg1"/>
          </a:solidFill>
          <a:ln w="19050">
            <a:solidFill>
              <a:schemeClr val="tx1"/>
            </a:solidFill>
            <a:miter lim="800000"/>
            <a:headEnd/>
            <a:tailEnd/>
          </a:ln>
        </p:spPr>
        <p:txBody>
          <a:bodyPr wrap="none" anchor="ctr"/>
          <a:lstStyle/>
          <a:p>
            <a:endParaRPr lang="zh-CN" altLang="en-US" sz="2000" b="1">
              <a:solidFill>
                <a:srgbClr val="000099"/>
              </a:solidFill>
              <a:latin typeface="+mn-lt"/>
              <a:ea typeface="黑体" pitchFamily="2" charset="-122"/>
            </a:endParaRPr>
          </a:p>
        </p:txBody>
      </p:sp>
      <p:sp>
        <p:nvSpPr>
          <p:cNvPr id="23" name="Freeform 69"/>
          <p:cNvSpPr>
            <a:spLocks/>
          </p:cNvSpPr>
          <p:nvPr/>
        </p:nvSpPr>
        <p:spPr bwMode="auto">
          <a:xfrm>
            <a:off x="3504257" y="2981102"/>
            <a:ext cx="2673350" cy="279400"/>
          </a:xfrm>
          <a:custGeom>
            <a:avLst/>
            <a:gdLst>
              <a:gd name="T0" fmla="*/ 2147483647 w 1684"/>
              <a:gd name="T1" fmla="*/ 0 h 176"/>
              <a:gd name="T2" fmla="*/ 2147483647 w 1684"/>
              <a:gd name="T3" fmla="*/ 433466923 h 176"/>
              <a:gd name="T4" fmla="*/ 0 w 1684"/>
              <a:gd name="T5" fmla="*/ 443547545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24" name="Freeform 70"/>
          <p:cNvSpPr>
            <a:spLocks/>
          </p:cNvSpPr>
          <p:nvPr/>
        </p:nvSpPr>
        <p:spPr bwMode="auto">
          <a:xfrm>
            <a:off x="3505845" y="3457352"/>
            <a:ext cx="2665412" cy="295275"/>
          </a:xfrm>
          <a:custGeom>
            <a:avLst/>
            <a:gdLst>
              <a:gd name="T0" fmla="*/ 2147483647 w 1679"/>
              <a:gd name="T1" fmla="*/ 0 h 186"/>
              <a:gd name="T2" fmla="*/ 2147483647 w 1679"/>
              <a:gd name="T3" fmla="*/ 468749107 h 186"/>
              <a:gd name="T4" fmla="*/ 0 w 1679"/>
              <a:gd name="T5" fmla="*/ 461189435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25" name="Freeform 71"/>
          <p:cNvSpPr>
            <a:spLocks/>
          </p:cNvSpPr>
          <p:nvPr/>
        </p:nvSpPr>
        <p:spPr bwMode="auto">
          <a:xfrm>
            <a:off x="3504257" y="3965352"/>
            <a:ext cx="2647950" cy="257175"/>
          </a:xfrm>
          <a:custGeom>
            <a:avLst/>
            <a:gdLst>
              <a:gd name="T0" fmla="*/ 2147483647 w 1668"/>
              <a:gd name="T1" fmla="*/ 0 h 162"/>
              <a:gd name="T2" fmla="*/ 2147483647 w 1668"/>
              <a:gd name="T3" fmla="*/ 403224947 h 162"/>
              <a:gd name="T4" fmla="*/ 0 w 1668"/>
              <a:gd name="T5" fmla="*/ 408265258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26" name="Text Box 73"/>
          <p:cNvSpPr txBox="1">
            <a:spLocks noChangeArrowheads="1"/>
          </p:cNvSpPr>
          <p:nvPr/>
        </p:nvSpPr>
        <p:spPr bwMode="auto">
          <a:xfrm>
            <a:off x="4290070" y="1965102"/>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应用层</a:t>
            </a:r>
          </a:p>
        </p:txBody>
      </p:sp>
      <p:sp>
        <p:nvSpPr>
          <p:cNvPr id="27" name="Text Box 15"/>
          <p:cNvSpPr txBox="1">
            <a:spLocks noChangeArrowheads="1"/>
          </p:cNvSpPr>
          <p:nvPr/>
        </p:nvSpPr>
        <p:spPr bwMode="auto">
          <a:xfrm>
            <a:off x="4088457" y="434159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网络接口层</a:t>
            </a:r>
          </a:p>
        </p:txBody>
      </p:sp>
      <p:sp>
        <p:nvSpPr>
          <p:cNvPr id="28" name="Text Box 9"/>
          <p:cNvSpPr txBox="1">
            <a:spLocks noChangeArrowheads="1"/>
          </p:cNvSpPr>
          <p:nvPr/>
        </p:nvSpPr>
        <p:spPr bwMode="auto">
          <a:xfrm>
            <a:off x="4196407" y="3878040"/>
            <a:ext cx="11641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网际层 </a:t>
            </a:r>
            <a:r>
              <a:rPr lang="en-US" altLang="zh-CN" sz="1800" b="1">
                <a:solidFill>
                  <a:srgbClr val="000099"/>
                </a:solidFill>
                <a:latin typeface="+mn-lt"/>
                <a:ea typeface="黑体" pitchFamily="2" charset="-122"/>
              </a:rPr>
              <a:t>IP</a:t>
            </a:r>
          </a:p>
        </p:txBody>
      </p:sp>
      <p:sp>
        <p:nvSpPr>
          <p:cNvPr id="29" name="Text Box 16"/>
          <p:cNvSpPr txBox="1">
            <a:spLocks noChangeArrowheads="1"/>
          </p:cNvSpPr>
          <p:nvPr/>
        </p:nvSpPr>
        <p:spPr bwMode="auto">
          <a:xfrm>
            <a:off x="3640716" y="2365152"/>
            <a:ext cx="225279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en-US" altLang="zh-CN" sz="1600" b="1" dirty="0">
                <a:solidFill>
                  <a:srgbClr val="000099"/>
                </a:solidFill>
                <a:latin typeface="+mn-lt"/>
                <a:ea typeface="黑体" pitchFamily="2" charset="-122"/>
              </a:rPr>
              <a:t>(</a:t>
            </a:r>
            <a:r>
              <a:rPr lang="zh-CN" altLang="en-US" sz="1600" b="1" dirty="0">
                <a:solidFill>
                  <a:srgbClr val="000099"/>
                </a:solidFill>
                <a:latin typeface="+mn-lt"/>
                <a:ea typeface="黑体" pitchFamily="2" charset="-122"/>
              </a:rPr>
              <a:t>各种应用层协议，如</a:t>
            </a:r>
          </a:p>
          <a:p>
            <a:pPr algn="ctr" eaLnBrk="1" hangingPunct="1"/>
            <a:r>
              <a:rPr lang="en-US" altLang="zh-CN" sz="1600" b="1" dirty="0">
                <a:solidFill>
                  <a:srgbClr val="000099"/>
                </a:solidFill>
                <a:latin typeface="+mn-lt"/>
                <a:ea typeface="黑体" pitchFamily="2" charset="-122"/>
              </a:rPr>
              <a:t>DNS, HTTP, SMTP </a:t>
            </a:r>
            <a:r>
              <a:rPr lang="zh-CN" altLang="zh-CN" sz="1600" b="1" dirty="0">
                <a:solidFill>
                  <a:srgbClr val="000099"/>
                </a:solidFill>
                <a:latin typeface="+mn-lt"/>
                <a:ea typeface="黑体" pitchFamily="2" charset="-122"/>
              </a:rPr>
              <a:t>等</a:t>
            </a:r>
            <a:r>
              <a:rPr lang="en-US" altLang="zh-CN" sz="1600" b="1" dirty="0">
                <a:solidFill>
                  <a:srgbClr val="000099"/>
                </a:solidFill>
                <a:latin typeface="+mn-lt"/>
                <a:ea typeface="黑体" pitchFamily="2" charset="-122"/>
              </a:rPr>
              <a:t>)</a:t>
            </a:r>
          </a:p>
        </p:txBody>
      </p:sp>
      <p:sp>
        <p:nvSpPr>
          <p:cNvPr id="30" name="Text Box 41"/>
          <p:cNvSpPr txBox="1">
            <a:spLocks noChangeArrowheads="1"/>
          </p:cNvSpPr>
          <p:nvPr/>
        </p:nvSpPr>
        <p:spPr bwMode="auto">
          <a:xfrm>
            <a:off x="3505643" y="3333527"/>
            <a:ext cx="24054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r>
              <a:rPr lang="zh-CN" altLang="en-US" sz="1800" b="1">
                <a:solidFill>
                  <a:srgbClr val="000099"/>
                </a:solidFill>
                <a:latin typeface="+mn-lt"/>
                <a:ea typeface="黑体" pitchFamily="2" charset="-122"/>
              </a:rPr>
              <a:t>运输层 </a:t>
            </a:r>
            <a:r>
              <a:rPr lang="en-US" altLang="zh-CN" sz="1800" b="1">
                <a:solidFill>
                  <a:srgbClr val="000099"/>
                </a:solidFill>
                <a:latin typeface="+mn-lt"/>
                <a:ea typeface="黑体" pitchFamily="2" charset="-122"/>
              </a:rPr>
              <a:t>(TCP </a:t>
            </a:r>
            <a:r>
              <a:rPr lang="zh-CN" altLang="en-US" sz="1800" b="1">
                <a:solidFill>
                  <a:srgbClr val="000099"/>
                </a:solidFill>
                <a:latin typeface="+mn-lt"/>
                <a:ea typeface="黑体" pitchFamily="2" charset="-122"/>
              </a:rPr>
              <a:t>或 </a:t>
            </a:r>
            <a:r>
              <a:rPr lang="en-US" altLang="zh-CN" sz="1800" b="1">
                <a:solidFill>
                  <a:srgbClr val="000099"/>
                </a:solidFill>
                <a:latin typeface="+mn-lt"/>
                <a:ea typeface="黑体" pitchFamily="2" charset="-122"/>
              </a:rPr>
              <a:t>UDP)</a:t>
            </a:r>
          </a:p>
        </p:txBody>
      </p:sp>
      <p:sp>
        <p:nvSpPr>
          <p:cNvPr id="31" name="Text Box 12"/>
          <p:cNvSpPr txBox="1">
            <a:spLocks noChangeArrowheads="1"/>
          </p:cNvSpPr>
          <p:nvPr/>
        </p:nvSpPr>
        <p:spPr bwMode="auto">
          <a:xfrm>
            <a:off x="3524499" y="1222152"/>
            <a:ext cx="280160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b="1">
                <a:solidFill>
                  <a:srgbClr val="C00000"/>
                </a:solidFill>
                <a:latin typeface="+mn-lt"/>
                <a:ea typeface="黑体" pitchFamily="2" charset="-122"/>
              </a:rPr>
              <a:t>TCP/IP </a:t>
            </a:r>
            <a:r>
              <a:rPr lang="zh-CN" altLang="en-US" b="1">
                <a:solidFill>
                  <a:srgbClr val="C00000"/>
                </a:solidFill>
                <a:latin typeface="+mn-lt"/>
                <a:ea typeface="黑体" pitchFamily="2" charset="-122"/>
              </a:rPr>
              <a:t>的体系结构</a:t>
            </a:r>
          </a:p>
        </p:txBody>
      </p:sp>
      <p:sp>
        <p:nvSpPr>
          <p:cNvPr id="32" name="Text Box 95"/>
          <p:cNvSpPr txBox="1">
            <a:spLocks noChangeArrowheads="1"/>
          </p:cNvSpPr>
          <p:nvPr/>
        </p:nvSpPr>
        <p:spPr bwMode="auto">
          <a:xfrm>
            <a:off x="1608782" y="524170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solidFill>
                  <a:srgbClr val="000099"/>
                </a:solidFill>
                <a:latin typeface="+mn-lt"/>
                <a:ea typeface="黑体" pitchFamily="2" charset="-122"/>
              </a:rPr>
              <a:t>(a)</a:t>
            </a:r>
          </a:p>
        </p:txBody>
      </p:sp>
      <p:sp>
        <p:nvSpPr>
          <p:cNvPr id="33" name="Text Box 96"/>
          <p:cNvSpPr txBox="1">
            <a:spLocks noChangeArrowheads="1"/>
          </p:cNvSpPr>
          <p:nvPr/>
        </p:nvSpPr>
        <p:spPr bwMode="auto">
          <a:xfrm>
            <a:off x="4464695" y="5241702"/>
            <a:ext cx="4796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solidFill>
                  <a:srgbClr val="000099"/>
                </a:solidFill>
                <a:latin typeface="+mn-lt"/>
                <a:ea typeface="黑体" pitchFamily="2" charset="-122"/>
              </a:rPr>
              <a:t>(b)</a:t>
            </a:r>
          </a:p>
        </p:txBody>
      </p:sp>
      <p:sp>
        <p:nvSpPr>
          <p:cNvPr id="34" name="Text Box 97"/>
          <p:cNvSpPr txBox="1">
            <a:spLocks noChangeArrowheads="1"/>
          </p:cNvSpPr>
          <p:nvPr/>
        </p:nvSpPr>
        <p:spPr bwMode="auto">
          <a:xfrm>
            <a:off x="7609532" y="5241702"/>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en-US" altLang="zh-CN" sz="1800" b="1">
                <a:solidFill>
                  <a:srgbClr val="000099"/>
                </a:solidFill>
                <a:latin typeface="+mn-lt"/>
                <a:ea typeface="黑体" pitchFamily="2" charset="-122"/>
              </a:rPr>
              <a:t>(c)</a:t>
            </a:r>
          </a:p>
        </p:txBody>
      </p:sp>
      <p:sp>
        <p:nvSpPr>
          <p:cNvPr id="35" name="AutoShape 98"/>
          <p:cNvSpPr>
            <a:spLocks noChangeArrowheads="1"/>
          </p:cNvSpPr>
          <p:nvPr/>
        </p:nvSpPr>
        <p:spPr bwMode="auto">
          <a:xfrm>
            <a:off x="6787207" y="1641252"/>
            <a:ext cx="2054225" cy="3530600"/>
          </a:xfrm>
          <a:prstGeom prst="cube">
            <a:avLst>
              <a:gd name="adj" fmla="val 9144"/>
            </a:avLst>
          </a:prstGeom>
          <a:solidFill>
            <a:schemeClr val="bg1"/>
          </a:solidFill>
          <a:ln w="19050">
            <a:solidFill>
              <a:schemeClr val="tx1"/>
            </a:solidFill>
            <a:miter lim="800000"/>
            <a:headEnd/>
            <a:tailEnd/>
          </a:ln>
        </p:spPr>
        <p:txBody>
          <a:bodyPr wrap="none" anchor="ctr"/>
          <a:lstStyle/>
          <a:p>
            <a:endParaRPr lang="zh-CN" altLang="en-US" sz="2000" b="1">
              <a:solidFill>
                <a:srgbClr val="000099"/>
              </a:solidFill>
              <a:latin typeface="+mn-lt"/>
              <a:ea typeface="黑体" pitchFamily="2" charset="-122"/>
            </a:endParaRPr>
          </a:p>
        </p:txBody>
      </p:sp>
      <p:sp>
        <p:nvSpPr>
          <p:cNvPr id="36" name="Freeform 101"/>
          <p:cNvSpPr>
            <a:spLocks/>
          </p:cNvSpPr>
          <p:nvPr/>
        </p:nvSpPr>
        <p:spPr bwMode="auto">
          <a:xfrm>
            <a:off x="6787207" y="2982690"/>
            <a:ext cx="2038350" cy="260350"/>
          </a:xfrm>
          <a:custGeom>
            <a:avLst/>
            <a:gdLst>
              <a:gd name="T0" fmla="*/ 2027754886 w 2049"/>
              <a:gd name="T1" fmla="*/ 0 h 182"/>
              <a:gd name="T2" fmla="*/ 1850610517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37" name="Freeform 102"/>
          <p:cNvSpPr>
            <a:spLocks/>
          </p:cNvSpPr>
          <p:nvPr/>
        </p:nvSpPr>
        <p:spPr bwMode="auto">
          <a:xfrm>
            <a:off x="6787207" y="3462115"/>
            <a:ext cx="2038350" cy="263525"/>
          </a:xfrm>
          <a:custGeom>
            <a:avLst/>
            <a:gdLst>
              <a:gd name="T0" fmla="*/ 2027754886 w 2049"/>
              <a:gd name="T1" fmla="*/ 0 h 185"/>
              <a:gd name="T2" fmla="*/ 1853579006 w 2049"/>
              <a:gd name="T3" fmla="*/ 375380733 h 185"/>
              <a:gd name="T4" fmla="*/ 0 w 2049"/>
              <a:gd name="T5" fmla="*/ 369293931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38" name="Freeform 103"/>
          <p:cNvSpPr>
            <a:spLocks/>
          </p:cNvSpPr>
          <p:nvPr/>
        </p:nvSpPr>
        <p:spPr bwMode="auto">
          <a:xfrm>
            <a:off x="6785620" y="3941540"/>
            <a:ext cx="2039937" cy="266700"/>
          </a:xfrm>
          <a:custGeom>
            <a:avLst/>
            <a:gdLst>
              <a:gd name="T0" fmla="*/ 2030913617 w 2049"/>
              <a:gd name="T1" fmla="*/ 0 h 187"/>
              <a:gd name="T2" fmla="*/ 1846554772 w 2049"/>
              <a:gd name="T3" fmla="*/ 380368450 h 187"/>
              <a:gd name="T4" fmla="*/ 0 w 2049"/>
              <a:gd name="T5" fmla="*/ 370198109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39" name="Freeform 104"/>
          <p:cNvSpPr>
            <a:spLocks/>
          </p:cNvSpPr>
          <p:nvPr/>
        </p:nvSpPr>
        <p:spPr bwMode="auto">
          <a:xfrm>
            <a:off x="6784032" y="4420965"/>
            <a:ext cx="2039938" cy="260350"/>
          </a:xfrm>
          <a:custGeom>
            <a:avLst/>
            <a:gdLst>
              <a:gd name="T0" fmla="*/ 2030915608 w 2049"/>
              <a:gd name="T1" fmla="*/ 0 h 182"/>
              <a:gd name="T2" fmla="*/ 1853494848 w 2049"/>
              <a:gd name="T3" fmla="*/ 366290959 h 182"/>
              <a:gd name="T4" fmla="*/ 0 w 2049"/>
              <a:gd name="T5" fmla="*/ 372429209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000" b="1">
              <a:solidFill>
                <a:srgbClr val="000099"/>
              </a:solidFill>
              <a:latin typeface="+mn-lt"/>
              <a:ea typeface="黑体" pitchFamily="2" charset="-122"/>
            </a:endParaRPr>
          </a:p>
        </p:txBody>
      </p:sp>
      <p:sp>
        <p:nvSpPr>
          <p:cNvPr id="40" name="Text Box 106"/>
          <p:cNvSpPr txBox="1">
            <a:spLocks noChangeArrowheads="1"/>
          </p:cNvSpPr>
          <p:nvPr/>
        </p:nvSpPr>
        <p:spPr bwMode="auto">
          <a:xfrm>
            <a:off x="7471420" y="3338290"/>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运输层</a:t>
            </a:r>
          </a:p>
        </p:txBody>
      </p:sp>
      <p:sp>
        <p:nvSpPr>
          <p:cNvPr id="41" name="Text Box 107"/>
          <p:cNvSpPr txBox="1">
            <a:spLocks noChangeArrowheads="1"/>
          </p:cNvSpPr>
          <p:nvPr/>
        </p:nvSpPr>
        <p:spPr bwMode="auto">
          <a:xfrm>
            <a:off x="7484120" y="381771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网络层</a:t>
            </a:r>
          </a:p>
        </p:txBody>
      </p:sp>
      <p:sp>
        <p:nvSpPr>
          <p:cNvPr id="42" name="Text Box 108"/>
          <p:cNvSpPr txBox="1">
            <a:spLocks noChangeArrowheads="1"/>
          </p:cNvSpPr>
          <p:nvPr/>
        </p:nvSpPr>
        <p:spPr bwMode="auto">
          <a:xfrm>
            <a:off x="7484120" y="2376265"/>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应用层</a:t>
            </a:r>
          </a:p>
        </p:txBody>
      </p:sp>
      <p:sp>
        <p:nvSpPr>
          <p:cNvPr id="43" name="Text Box 110"/>
          <p:cNvSpPr txBox="1">
            <a:spLocks noChangeArrowheads="1"/>
          </p:cNvSpPr>
          <p:nvPr/>
        </p:nvSpPr>
        <p:spPr bwMode="auto">
          <a:xfrm>
            <a:off x="7325370" y="4271740"/>
            <a:ext cx="13468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数据链路层</a:t>
            </a:r>
          </a:p>
        </p:txBody>
      </p:sp>
      <p:sp>
        <p:nvSpPr>
          <p:cNvPr id="44" name="Text Box 111"/>
          <p:cNvSpPr txBox="1">
            <a:spLocks noChangeArrowheads="1"/>
          </p:cNvSpPr>
          <p:nvPr/>
        </p:nvSpPr>
        <p:spPr bwMode="auto">
          <a:xfrm>
            <a:off x="7484120" y="4724177"/>
            <a:ext cx="88197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800" b="1">
                <a:solidFill>
                  <a:srgbClr val="000099"/>
                </a:solidFill>
                <a:latin typeface="+mn-lt"/>
                <a:ea typeface="黑体" pitchFamily="2" charset="-122"/>
              </a:rPr>
              <a:t>物理层</a:t>
            </a:r>
          </a:p>
        </p:txBody>
      </p:sp>
      <p:sp>
        <p:nvSpPr>
          <p:cNvPr id="45" name="Text Box 112"/>
          <p:cNvSpPr txBox="1">
            <a:spLocks noChangeArrowheads="1"/>
          </p:cNvSpPr>
          <p:nvPr/>
        </p:nvSpPr>
        <p:spPr bwMode="auto">
          <a:xfrm>
            <a:off x="6882457" y="1749202"/>
            <a:ext cx="298480" cy="329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lnSpc>
                <a:spcPct val="190000"/>
              </a:lnSpc>
            </a:pPr>
            <a:endParaRPr lang="en-US" altLang="zh-CN" sz="1600" b="1" dirty="0">
              <a:solidFill>
                <a:srgbClr val="000099"/>
              </a:solidFill>
              <a:latin typeface="+mn-lt"/>
              <a:ea typeface="黑体" pitchFamily="2" charset="-122"/>
            </a:endParaRPr>
          </a:p>
          <a:p>
            <a:pPr eaLnBrk="1" hangingPunct="1">
              <a:lnSpc>
                <a:spcPct val="190000"/>
              </a:lnSpc>
            </a:pPr>
            <a:r>
              <a:rPr lang="en-US" altLang="zh-CN" sz="1600" b="1" dirty="0">
                <a:solidFill>
                  <a:srgbClr val="000099"/>
                </a:solidFill>
                <a:latin typeface="+mn-lt"/>
                <a:ea typeface="黑体" pitchFamily="2" charset="-122"/>
              </a:rPr>
              <a:t>5</a:t>
            </a:r>
          </a:p>
          <a:p>
            <a:pPr eaLnBrk="1" hangingPunct="1">
              <a:lnSpc>
                <a:spcPct val="190000"/>
              </a:lnSpc>
            </a:pPr>
            <a:endParaRPr lang="en-US" altLang="zh-CN" sz="1600" b="1" dirty="0">
              <a:solidFill>
                <a:srgbClr val="000099"/>
              </a:solidFill>
              <a:latin typeface="+mn-lt"/>
              <a:ea typeface="黑体" pitchFamily="2" charset="-122"/>
            </a:endParaRPr>
          </a:p>
          <a:p>
            <a:pPr eaLnBrk="1" hangingPunct="1">
              <a:lnSpc>
                <a:spcPct val="190000"/>
              </a:lnSpc>
            </a:pPr>
            <a:r>
              <a:rPr lang="en-US" altLang="zh-CN" sz="1600" b="1" dirty="0">
                <a:solidFill>
                  <a:srgbClr val="000099"/>
                </a:solidFill>
                <a:latin typeface="+mn-lt"/>
                <a:ea typeface="黑体" pitchFamily="2" charset="-122"/>
              </a:rPr>
              <a:t>4</a:t>
            </a:r>
          </a:p>
          <a:p>
            <a:pPr eaLnBrk="1" hangingPunct="1">
              <a:lnSpc>
                <a:spcPct val="190000"/>
              </a:lnSpc>
            </a:pPr>
            <a:r>
              <a:rPr lang="en-US" altLang="zh-CN" sz="1600" b="1" dirty="0">
                <a:solidFill>
                  <a:srgbClr val="000099"/>
                </a:solidFill>
                <a:latin typeface="+mn-lt"/>
                <a:ea typeface="黑体" pitchFamily="2" charset="-122"/>
              </a:rPr>
              <a:t>3</a:t>
            </a:r>
          </a:p>
          <a:p>
            <a:pPr eaLnBrk="1" hangingPunct="1">
              <a:lnSpc>
                <a:spcPct val="190000"/>
              </a:lnSpc>
            </a:pPr>
            <a:r>
              <a:rPr lang="en-US" altLang="zh-CN" sz="1600" b="1" dirty="0">
                <a:solidFill>
                  <a:srgbClr val="000099"/>
                </a:solidFill>
                <a:latin typeface="+mn-lt"/>
                <a:ea typeface="黑体" pitchFamily="2" charset="-122"/>
              </a:rPr>
              <a:t>2</a:t>
            </a:r>
          </a:p>
          <a:p>
            <a:pPr eaLnBrk="1" hangingPunct="1">
              <a:lnSpc>
                <a:spcPct val="190000"/>
              </a:lnSpc>
            </a:pPr>
            <a:r>
              <a:rPr lang="en-US" altLang="zh-CN" sz="1600" b="1" dirty="0">
                <a:solidFill>
                  <a:srgbClr val="000099"/>
                </a:solidFill>
                <a:latin typeface="+mn-lt"/>
                <a:ea typeface="黑体" pitchFamily="2" charset="-122"/>
              </a:rPr>
              <a:t>1</a:t>
            </a:r>
          </a:p>
        </p:txBody>
      </p:sp>
      <p:sp>
        <p:nvSpPr>
          <p:cNvPr id="46" name="Text Box 113"/>
          <p:cNvSpPr txBox="1">
            <a:spLocks noChangeArrowheads="1"/>
          </p:cNvSpPr>
          <p:nvPr/>
        </p:nvSpPr>
        <p:spPr bwMode="auto">
          <a:xfrm>
            <a:off x="6602785" y="1196752"/>
            <a:ext cx="29690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b="1">
                <a:solidFill>
                  <a:srgbClr val="C00000"/>
                </a:solidFill>
                <a:latin typeface="+mn-lt"/>
                <a:ea typeface="黑体" pitchFamily="2" charset="-122"/>
              </a:rPr>
              <a:t>五层协议的体系结构</a:t>
            </a:r>
          </a:p>
        </p:txBody>
      </p:sp>
      <p:sp>
        <p:nvSpPr>
          <p:cNvPr id="47" name="Text Box 15"/>
          <p:cNvSpPr txBox="1">
            <a:spLocks noChangeArrowheads="1"/>
          </p:cNvSpPr>
          <p:nvPr/>
        </p:nvSpPr>
        <p:spPr bwMode="auto">
          <a:xfrm>
            <a:off x="3386782" y="4701952"/>
            <a:ext cx="26661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r>
              <a:rPr lang="zh-CN" altLang="en-US" sz="1600" b="1" dirty="0">
                <a:solidFill>
                  <a:srgbClr val="000099"/>
                </a:solidFill>
                <a:latin typeface="+mn-lt"/>
                <a:ea typeface="黑体" pitchFamily="2" charset="-122"/>
              </a:rPr>
              <a:t>（这一层并没有具体内容）</a:t>
            </a:r>
          </a:p>
        </p:txBody>
      </p:sp>
      <p:sp>
        <p:nvSpPr>
          <p:cNvPr id="3" name="矩形 2"/>
          <p:cNvSpPr/>
          <p:nvPr/>
        </p:nvSpPr>
        <p:spPr>
          <a:xfrm>
            <a:off x="560512" y="5622339"/>
            <a:ext cx="9201472" cy="830997"/>
          </a:xfrm>
          <a:prstGeom prst="rect">
            <a:avLst/>
          </a:prstGeom>
        </p:spPr>
        <p:txBody>
          <a:bodyPr wrap="square">
            <a:spAutoFit/>
          </a:bodyPr>
          <a:lstStyle/>
          <a:p>
            <a:pPr algn="ctr"/>
            <a:r>
              <a:rPr lang="zh-CN" altLang="zh-CN" sz="2400" b="1" dirty="0">
                <a:latin typeface="+mn-lt"/>
                <a:ea typeface="黑体" pitchFamily="2" charset="-122"/>
              </a:rPr>
              <a:t>计算机网络体系结构：</a:t>
            </a:r>
            <a:endParaRPr lang="en-US" altLang="zh-CN" sz="2400" b="1" dirty="0">
              <a:latin typeface="+mn-lt"/>
              <a:ea typeface="黑体" pitchFamily="2" charset="-122"/>
            </a:endParaRPr>
          </a:p>
          <a:p>
            <a:pPr algn="ctr"/>
            <a:r>
              <a:rPr lang="en-US" altLang="zh-CN" sz="2400" b="1" dirty="0">
                <a:latin typeface="+mn-lt"/>
                <a:ea typeface="黑体" pitchFamily="2" charset="-122"/>
              </a:rPr>
              <a:t>(a) OSI </a:t>
            </a:r>
            <a:r>
              <a:rPr lang="zh-CN" altLang="zh-CN" sz="2400" b="1" dirty="0">
                <a:latin typeface="+mn-lt"/>
                <a:ea typeface="黑体" pitchFamily="2" charset="-122"/>
              </a:rPr>
              <a:t>的七层协议；</a:t>
            </a:r>
            <a:r>
              <a:rPr lang="en-US" altLang="zh-CN" sz="2400" b="1" dirty="0">
                <a:latin typeface="+mn-lt"/>
                <a:ea typeface="黑体" pitchFamily="2" charset="-122"/>
              </a:rPr>
              <a:t>(b) TCP/IP </a:t>
            </a:r>
            <a:r>
              <a:rPr lang="zh-CN" altLang="zh-CN" sz="2400" b="1" dirty="0">
                <a:latin typeface="+mn-lt"/>
                <a:ea typeface="黑体" pitchFamily="2" charset="-122"/>
              </a:rPr>
              <a:t>的四层协议；</a:t>
            </a:r>
            <a:r>
              <a:rPr lang="en-US" altLang="zh-CN" sz="2400" b="1" dirty="0">
                <a:latin typeface="+mn-lt"/>
                <a:ea typeface="黑体" pitchFamily="2" charset="-122"/>
              </a:rPr>
              <a:t>(c) </a:t>
            </a:r>
            <a:r>
              <a:rPr lang="zh-CN" altLang="zh-CN" sz="2400" b="1" dirty="0">
                <a:latin typeface="+mn-lt"/>
                <a:ea typeface="黑体" pitchFamily="2" charset="-122"/>
              </a:rPr>
              <a:t>五层协议</a:t>
            </a:r>
            <a:endParaRPr lang="zh-CN" altLang="en-US" sz="2400" b="1" dirty="0">
              <a:latin typeface="+mn-lt"/>
              <a:ea typeface="黑体" pitchFamily="2" charset="-122"/>
            </a:endParaRPr>
          </a:p>
        </p:txBody>
      </p:sp>
    </p:spTree>
    <p:extLst>
      <p:ext uri="{BB962C8B-B14F-4D97-AF65-F5344CB8AC3E}">
        <p14:creationId xmlns:p14="http://schemas.microsoft.com/office/powerpoint/2010/main" val="563199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lgn="ctr"/>
            <a:r>
              <a:rPr lang="zh-CN" altLang="en-US"/>
              <a:t>五层协议的体系结构 </a:t>
            </a:r>
          </a:p>
        </p:txBody>
      </p:sp>
      <p:sp>
        <p:nvSpPr>
          <p:cNvPr id="114691" name="Rectangle 3"/>
          <p:cNvSpPr>
            <a:spLocks noGrp="1" noChangeArrowheads="1"/>
          </p:cNvSpPr>
          <p:nvPr>
            <p:ph type="body" idx="4294967295"/>
          </p:nvPr>
        </p:nvSpPr>
        <p:spPr>
          <a:xfrm>
            <a:off x="3728864" y="1773261"/>
            <a:ext cx="5845175" cy="3167063"/>
          </a:xfrm>
        </p:spPr>
        <p:txBody>
          <a:bodyPr/>
          <a:lstStyle/>
          <a:p>
            <a:pPr>
              <a:lnSpc>
                <a:spcPct val="125000"/>
              </a:lnSpc>
            </a:pPr>
            <a:r>
              <a:rPr lang="zh-CN" altLang="en-US" sz="2800" dirty="0"/>
              <a:t>应用层 </a:t>
            </a:r>
            <a:r>
              <a:rPr lang="en-US" altLang="zh-CN" sz="2800" dirty="0"/>
              <a:t>(application layer) </a:t>
            </a:r>
          </a:p>
          <a:p>
            <a:pPr>
              <a:lnSpc>
                <a:spcPct val="125000"/>
              </a:lnSpc>
            </a:pPr>
            <a:r>
              <a:rPr lang="zh-CN" altLang="en-US" sz="2800" dirty="0"/>
              <a:t>运输层 </a:t>
            </a:r>
            <a:r>
              <a:rPr lang="en-US" altLang="zh-CN" sz="2800" dirty="0"/>
              <a:t>(transport layer) </a:t>
            </a:r>
          </a:p>
          <a:p>
            <a:pPr>
              <a:lnSpc>
                <a:spcPct val="125000"/>
              </a:lnSpc>
            </a:pPr>
            <a:r>
              <a:rPr lang="zh-CN" altLang="en-US" sz="2800" dirty="0"/>
              <a:t>网络层 </a:t>
            </a:r>
            <a:r>
              <a:rPr lang="en-US" altLang="zh-CN" sz="2800" dirty="0"/>
              <a:t>(network layer) </a:t>
            </a:r>
          </a:p>
          <a:p>
            <a:pPr>
              <a:lnSpc>
                <a:spcPct val="125000"/>
              </a:lnSpc>
            </a:pPr>
            <a:r>
              <a:rPr lang="zh-CN" altLang="en-US" sz="2800" dirty="0"/>
              <a:t>数据链路层 </a:t>
            </a:r>
            <a:r>
              <a:rPr lang="en-US" altLang="zh-CN" sz="2800" dirty="0"/>
              <a:t>(data link layer) </a:t>
            </a:r>
          </a:p>
          <a:p>
            <a:pPr>
              <a:lnSpc>
                <a:spcPct val="125000"/>
              </a:lnSpc>
            </a:pPr>
            <a:r>
              <a:rPr lang="zh-CN" altLang="en-US" sz="2800" dirty="0"/>
              <a:t>物理层 </a:t>
            </a:r>
            <a:r>
              <a:rPr lang="en-US" altLang="zh-CN" sz="2800" dirty="0"/>
              <a:t>(physical layer) </a:t>
            </a:r>
          </a:p>
        </p:txBody>
      </p:sp>
      <p:sp>
        <p:nvSpPr>
          <p:cNvPr id="114692" name="Text Box 4"/>
          <p:cNvSpPr txBox="1">
            <a:spLocks noChangeArrowheads="1"/>
          </p:cNvSpPr>
          <p:nvPr/>
        </p:nvSpPr>
        <p:spPr bwMode="auto">
          <a:xfrm>
            <a:off x="1429147" y="3741761"/>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600" b="1">
                <a:solidFill>
                  <a:srgbClr val="000099"/>
                </a:solidFill>
                <a:latin typeface="+mn-lt"/>
                <a:ea typeface="黑体" pitchFamily="2" charset="-122"/>
              </a:rPr>
              <a:t>数据链路层</a:t>
            </a:r>
          </a:p>
        </p:txBody>
      </p:sp>
      <p:grpSp>
        <p:nvGrpSpPr>
          <p:cNvPr id="114693" name="Group 5"/>
          <p:cNvGrpSpPr>
            <a:grpSpLocks/>
          </p:cNvGrpSpPr>
          <p:nvPr/>
        </p:nvGrpSpPr>
        <p:grpSpPr bwMode="auto">
          <a:xfrm>
            <a:off x="1157421" y="1628800"/>
            <a:ext cx="2079228" cy="3240087"/>
            <a:chOff x="673" y="1389"/>
            <a:chExt cx="1535" cy="2041"/>
          </a:xfrm>
        </p:grpSpPr>
        <p:sp>
          <p:nvSpPr>
            <p:cNvPr id="114694" name="AutoShape 6"/>
            <p:cNvSpPr>
              <a:spLocks noChangeArrowheads="1"/>
            </p:cNvSpPr>
            <p:nvPr/>
          </p:nvSpPr>
          <p:spPr bwMode="auto">
            <a:xfrm>
              <a:off x="673" y="1389"/>
              <a:ext cx="1535" cy="2041"/>
            </a:xfrm>
            <a:prstGeom prst="cube">
              <a:avLst>
                <a:gd name="adj" fmla="val 9250"/>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4695" name="Freeform 7"/>
            <p:cNvSpPr>
              <a:spLocks/>
            </p:cNvSpPr>
            <p:nvPr/>
          </p:nvSpPr>
          <p:spPr bwMode="auto">
            <a:xfrm>
              <a:off x="673" y="292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4696" name="Freeform 8"/>
            <p:cNvSpPr>
              <a:spLocks/>
            </p:cNvSpPr>
            <p:nvPr/>
          </p:nvSpPr>
          <p:spPr bwMode="auto">
            <a:xfrm>
              <a:off x="673" y="2530"/>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4697" name="Freeform 9"/>
            <p:cNvSpPr>
              <a:spLocks/>
            </p:cNvSpPr>
            <p:nvPr/>
          </p:nvSpPr>
          <p:spPr bwMode="auto">
            <a:xfrm>
              <a:off x="673" y="2147"/>
              <a:ext cx="1535" cy="135"/>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14698" name="Freeform 10"/>
            <p:cNvSpPr>
              <a:spLocks/>
            </p:cNvSpPr>
            <p:nvPr/>
          </p:nvSpPr>
          <p:spPr bwMode="auto">
            <a:xfrm>
              <a:off x="673" y="1765"/>
              <a:ext cx="1535" cy="134"/>
            </a:xfrm>
            <a:custGeom>
              <a:avLst/>
              <a:gdLst>
                <a:gd name="T0" fmla="*/ 0 w 1200"/>
                <a:gd name="T1" fmla="*/ 120 h 120"/>
                <a:gd name="T2" fmla="*/ 1080 w 1200"/>
                <a:gd name="T3" fmla="*/ 120 h 120"/>
                <a:gd name="T4" fmla="*/ 1200 w 1200"/>
                <a:gd name="T5" fmla="*/ 0 h 120"/>
              </a:gdLst>
              <a:ahLst/>
              <a:cxnLst>
                <a:cxn ang="0">
                  <a:pos x="T0" y="T1"/>
                </a:cxn>
                <a:cxn ang="0">
                  <a:pos x="T2" y="T3"/>
                </a:cxn>
                <a:cxn ang="0">
                  <a:pos x="T4" y="T5"/>
                </a:cxn>
              </a:cxnLst>
              <a:rect l="0" t="0" r="r" b="b"/>
              <a:pathLst>
                <a:path w="1200" h="120">
                  <a:moveTo>
                    <a:pt x="0" y="120"/>
                  </a:moveTo>
                  <a:lnTo>
                    <a:pt x="1080" y="120"/>
                  </a:lnTo>
                  <a:lnTo>
                    <a:pt x="1200" y="0"/>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grpSp>
      <p:sp>
        <p:nvSpPr>
          <p:cNvPr id="114699" name="Text Box 11"/>
          <p:cNvSpPr txBox="1">
            <a:spLocks noChangeArrowheads="1"/>
          </p:cNvSpPr>
          <p:nvPr/>
        </p:nvSpPr>
        <p:spPr bwMode="auto">
          <a:xfrm>
            <a:off x="815181" y="1916137"/>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5        </a:t>
            </a:r>
            <a:r>
              <a:rPr kumimoji="1" lang="zh-CN" altLang="en-US" sz="2000" b="1">
                <a:solidFill>
                  <a:srgbClr val="000099"/>
                </a:solidFill>
                <a:latin typeface="+mn-lt"/>
                <a:ea typeface="黑体" pitchFamily="2" charset="-122"/>
              </a:rPr>
              <a:t>应用层</a:t>
            </a:r>
          </a:p>
        </p:txBody>
      </p:sp>
      <p:sp>
        <p:nvSpPr>
          <p:cNvPr id="114700" name="Text Box 12"/>
          <p:cNvSpPr txBox="1">
            <a:spLocks noChangeArrowheads="1"/>
          </p:cNvSpPr>
          <p:nvPr/>
        </p:nvSpPr>
        <p:spPr bwMode="auto">
          <a:xfrm>
            <a:off x="815181" y="2527325"/>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4        </a:t>
            </a:r>
            <a:r>
              <a:rPr kumimoji="1" lang="zh-CN" altLang="en-US" sz="2000" b="1">
                <a:solidFill>
                  <a:srgbClr val="000099"/>
                </a:solidFill>
                <a:latin typeface="+mn-lt"/>
                <a:ea typeface="黑体" pitchFamily="2" charset="-122"/>
              </a:rPr>
              <a:t>运输层</a:t>
            </a:r>
          </a:p>
        </p:txBody>
      </p:sp>
      <p:sp>
        <p:nvSpPr>
          <p:cNvPr id="114701" name="Text Box 13"/>
          <p:cNvSpPr txBox="1">
            <a:spLocks noChangeArrowheads="1"/>
          </p:cNvSpPr>
          <p:nvPr/>
        </p:nvSpPr>
        <p:spPr bwMode="auto">
          <a:xfrm>
            <a:off x="815181" y="3140099"/>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3        </a:t>
            </a:r>
            <a:r>
              <a:rPr kumimoji="1" lang="zh-CN" altLang="en-US" sz="2000" b="1" dirty="0">
                <a:solidFill>
                  <a:srgbClr val="000099"/>
                </a:solidFill>
                <a:latin typeface="+mn-lt"/>
                <a:ea typeface="黑体" pitchFamily="2" charset="-122"/>
              </a:rPr>
              <a:t>网络层</a:t>
            </a:r>
          </a:p>
        </p:txBody>
      </p:sp>
      <p:sp>
        <p:nvSpPr>
          <p:cNvPr id="114702" name="Text Box 14"/>
          <p:cNvSpPr txBox="1">
            <a:spLocks noChangeArrowheads="1"/>
          </p:cNvSpPr>
          <p:nvPr/>
        </p:nvSpPr>
        <p:spPr bwMode="auto">
          <a:xfrm>
            <a:off x="815181" y="3752875"/>
            <a:ext cx="189987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2    </a:t>
            </a:r>
            <a:r>
              <a:rPr kumimoji="1" lang="zh-CN" altLang="en-US" sz="2000" b="1" dirty="0">
                <a:solidFill>
                  <a:srgbClr val="000099"/>
                </a:solidFill>
                <a:latin typeface="+mn-lt"/>
                <a:ea typeface="黑体" pitchFamily="2" charset="-122"/>
              </a:rPr>
              <a:t>数据链路层</a:t>
            </a:r>
          </a:p>
        </p:txBody>
      </p:sp>
      <p:sp>
        <p:nvSpPr>
          <p:cNvPr id="114703" name="Text Box 15"/>
          <p:cNvSpPr txBox="1">
            <a:spLocks noChangeArrowheads="1"/>
          </p:cNvSpPr>
          <p:nvPr/>
        </p:nvSpPr>
        <p:spPr bwMode="auto">
          <a:xfrm>
            <a:off x="815181" y="4365650"/>
            <a:ext cx="16658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000099"/>
                </a:solidFill>
                <a:latin typeface="+mn-lt"/>
                <a:ea typeface="黑体" pitchFamily="2" charset="-122"/>
              </a:rPr>
              <a:t>1        </a:t>
            </a:r>
            <a:r>
              <a:rPr kumimoji="1" lang="zh-CN" altLang="en-US" sz="2000" b="1" dirty="0">
                <a:solidFill>
                  <a:srgbClr val="000099"/>
                </a:solidFill>
                <a:latin typeface="+mn-lt"/>
                <a:ea typeface="黑体" pitchFamily="2" charset="-122"/>
              </a:rPr>
              <a:t>物理层</a:t>
            </a:r>
          </a:p>
        </p:txBody>
      </p:sp>
    </p:spTree>
    <p:extLst>
      <p:ext uri="{BB962C8B-B14F-4D97-AF65-F5344CB8AC3E}">
        <p14:creationId xmlns:p14="http://schemas.microsoft.com/office/powerpoint/2010/main" val="26368354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algn="ctr"/>
            <a:r>
              <a:rPr lang="zh-CN" altLang="en-US"/>
              <a:t>主机</a:t>
            </a:r>
            <a:r>
              <a:rPr lang="zh-CN" altLang="en-US" sz="2400"/>
              <a:t> </a:t>
            </a:r>
            <a:r>
              <a:rPr lang="en-US" altLang="zh-CN"/>
              <a:t>1</a:t>
            </a:r>
            <a:r>
              <a:rPr lang="en-US" altLang="zh-CN" sz="2400"/>
              <a:t> </a:t>
            </a:r>
            <a:r>
              <a:rPr lang="zh-CN" altLang="en-US"/>
              <a:t>向主机</a:t>
            </a:r>
            <a:r>
              <a:rPr lang="zh-CN" altLang="en-US" sz="2400"/>
              <a:t> </a:t>
            </a:r>
            <a:r>
              <a:rPr lang="en-US" altLang="zh-CN"/>
              <a:t>2</a:t>
            </a:r>
            <a:r>
              <a:rPr lang="en-US" altLang="zh-CN" sz="2400"/>
              <a:t> </a:t>
            </a:r>
            <a:r>
              <a:rPr lang="zh-CN" altLang="en-US"/>
              <a:t>发送数据 </a:t>
            </a:r>
          </a:p>
        </p:txBody>
      </p:sp>
      <p:sp>
        <p:nvSpPr>
          <p:cNvPr id="128003" name="AutoShape 3"/>
          <p:cNvSpPr>
            <a:spLocks noChangeArrowheads="1"/>
          </p:cNvSpPr>
          <p:nvPr/>
        </p:nvSpPr>
        <p:spPr bwMode="auto">
          <a:xfrm rot="-5400000">
            <a:off x="4756283" y="865436"/>
            <a:ext cx="417513" cy="9740900"/>
          </a:xfrm>
          <a:prstGeom prst="can">
            <a:avLst>
              <a:gd name="adj" fmla="val 48656"/>
            </a:avLst>
          </a:prstGeom>
          <a:gradFill rotWithShape="0">
            <a:gsLst>
              <a:gs pos="0">
                <a:srgbClr val="EAEAEA">
                  <a:gamma/>
                  <a:shade val="73333"/>
                  <a:invGamma/>
                </a:srgbClr>
              </a:gs>
              <a:gs pos="50000">
                <a:srgbClr val="EAEAEA"/>
              </a:gs>
              <a:gs pos="100000">
                <a:srgbClr val="EAEAEA">
                  <a:gamma/>
                  <a:shade val="73333"/>
                  <a:invGamma/>
                </a:srgbClr>
              </a:gs>
            </a:gsLst>
            <a:lin ang="5400000" scaled="1"/>
          </a:gradFill>
          <a:ln w="1905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04" name="AutoShape 4"/>
          <p:cNvSpPr>
            <a:spLocks noChangeArrowheads="1"/>
          </p:cNvSpPr>
          <p:nvPr/>
        </p:nvSpPr>
        <p:spPr bwMode="auto">
          <a:xfrm>
            <a:off x="577850" y="2555329"/>
            <a:ext cx="908050" cy="2997200"/>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05" name="Text Box 5"/>
          <p:cNvSpPr txBox="1">
            <a:spLocks noChangeArrowheads="1"/>
          </p:cNvSpPr>
          <p:nvPr/>
        </p:nvSpPr>
        <p:spPr bwMode="auto">
          <a:xfrm>
            <a:off x="1025266" y="273471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5</a:t>
            </a:r>
          </a:p>
        </p:txBody>
      </p:sp>
      <p:sp>
        <p:nvSpPr>
          <p:cNvPr id="128006" name="Text Box 6"/>
          <p:cNvSpPr txBox="1">
            <a:spLocks noChangeArrowheads="1"/>
          </p:cNvSpPr>
          <p:nvPr/>
        </p:nvSpPr>
        <p:spPr bwMode="auto">
          <a:xfrm>
            <a:off x="1025266" y="336178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4</a:t>
            </a:r>
          </a:p>
        </p:txBody>
      </p:sp>
      <p:sp>
        <p:nvSpPr>
          <p:cNvPr id="128007" name="Text Box 7"/>
          <p:cNvSpPr txBox="1">
            <a:spLocks noChangeArrowheads="1"/>
          </p:cNvSpPr>
          <p:nvPr/>
        </p:nvSpPr>
        <p:spPr bwMode="auto">
          <a:xfrm>
            <a:off x="1025266" y="391899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3</a:t>
            </a:r>
          </a:p>
        </p:txBody>
      </p:sp>
      <p:sp>
        <p:nvSpPr>
          <p:cNvPr id="128008" name="Text Box 8"/>
          <p:cNvSpPr txBox="1">
            <a:spLocks noChangeArrowheads="1"/>
          </p:cNvSpPr>
          <p:nvPr/>
        </p:nvSpPr>
        <p:spPr bwMode="auto">
          <a:xfrm>
            <a:off x="1025266" y="447779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2</a:t>
            </a:r>
          </a:p>
        </p:txBody>
      </p:sp>
      <p:sp>
        <p:nvSpPr>
          <p:cNvPr id="128009" name="Text Box 9"/>
          <p:cNvSpPr txBox="1">
            <a:spLocks noChangeArrowheads="1"/>
          </p:cNvSpPr>
          <p:nvPr/>
        </p:nvSpPr>
        <p:spPr bwMode="auto">
          <a:xfrm>
            <a:off x="1025266" y="5044530"/>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1</a:t>
            </a:r>
          </a:p>
        </p:txBody>
      </p:sp>
      <p:sp>
        <p:nvSpPr>
          <p:cNvPr id="128010" name="Freeform 10"/>
          <p:cNvSpPr>
            <a:spLocks/>
          </p:cNvSpPr>
          <p:nvPr/>
        </p:nvSpPr>
        <p:spPr bwMode="auto">
          <a:xfrm>
            <a:off x="577850" y="3156992"/>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1" name="Freeform 11"/>
          <p:cNvSpPr>
            <a:spLocks/>
          </p:cNvSpPr>
          <p:nvPr/>
        </p:nvSpPr>
        <p:spPr bwMode="auto">
          <a:xfrm>
            <a:off x="588169" y="3731667"/>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2" name="Freeform 12"/>
          <p:cNvSpPr>
            <a:spLocks/>
          </p:cNvSpPr>
          <p:nvPr/>
        </p:nvSpPr>
        <p:spPr bwMode="auto">
          <a:xfrm>
            <a:off x="564092" y="4307930"/>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3" name="Freeform 13"/>
          <p:cNvSpPr>
            <a:spLocks/>
          </p:cNvSpPr>
          <p:nvPr/>
        </p:nvSpPr>
        <p:spPr bwMode="auto">
          <a:xfrm>
            <a:off x="564092" y="4900068"/>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4" name="AutoShape 14"/>
          <p:cNvSpPr>
            <a:spLocks noChangeArrowheads="1"/>
          </p:cNvSpPr>
          <p:nvPr/>
        </p:nvSpPr>
        <p:spPr bwMode="auto">
          <a:xfrm>
            <a:off x="8543925" y="2521993"/>
            <a:ext cx="908050" cy="3030537"/>
          </a:xfrm>
          <a:prstGeom prst="cube">
            <a:avLst>
              <a:gd name="adj" fmla="val 10764"/>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15" name="Text Box 15"/>
          <p:cNvSpPr txBox="1">
            <a:spLocks noChangeArrowheads="1"/>
          </p:cNvSpPr>
          <p:nvPr/>
        </p:nvSpPr>
        <p:spPr bwMode="auto">
          <a:xfrm>
            <a:off x="8585200" y="269979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5</a:t>
            </a:r>
          </a:p>
        </p:txBody>
      </p:sp>
      <p:sp>
        <p:nvSpPr>
          <p:cNvPr id="128016" name="Text Box 16"/>
          <p:cNvSpPr txBox="1">
            <a:spLocks noChangeArrowheads="1"/>
          </p:cNvSpPr>
          <p:nvPr/>
        </p:nvSpPr>
        <p:spPr bwMode="auto">
          <a:xfrm>
            <a:off x="8585200" y="332685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4</a:t>
            </a:r>
          </a:p>
        </p:txBody>
      </p:sp>
      <p:sp>
        <p:nvSpPr>
          <p:cNvPr id="128017" name="Text Box 17"/>
          <p:cNvSpPr txBox="1">
            <a:spLocks noChangeArrowheads="1"/>
          </p:cNvSpPr>
          <p:nvPr/>
        </p:nvSpPr>
        <p:spPr bwMode="auto">
          <a:xfrm>
            <a:off x="8585200" y="3884068"/>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3</a:t>
            </a:r>
          </a:p>
        </p:txBody>
      </p:sp>
      <p:sp>
        <p:nvSpPr>
          <p:cNvPr id="128018" name="Text Box 18"/>
          <p:cNvSpPr txBox="1">
            <a:spLocks noChangeArrowheads="1"/>
          </p:cNvSpPr>
          <p:nvPr/>
        </p:nvSpPr>
        <p:spPr bwMode="auto">
          <a:xfrm>
            <a:off x="8585200" y="444445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2</a:t>
            </a:r>
          </a:p>
        </p:txBody>
      </p:sp>
      <p:sp>
        <p:nvSpPr>
          <p:cNvPr id="128019" name="Text Box 19"/>
          <p:cNvSpPr txBox="1">
            <a:spLocks noChangeArrowheads="1"/>
          </p:cNvSpPr>
          <p:nvPr/>
        </p:nvSpPr>
        <p:spPr bwMode="auto">
          <a:xfrm>
            <a:off x="8585200" y="500960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1</a:t>
            </a:r>
          </a:p>
        </p:txBody>
      </p:sp>
      <p:sp>
        <p:nvSpPr>
          <p:cNvPr id="128020" name="Freeform 20"/>
          <p:cNvSpPr>
            <a:spLocks/>
          </p:cNvSpPr>
          <p:nvPr/>
        </p:nvSpPr>
        <p:spPr bwMode="auto">
          <a:xfrm>
            <a:off x="8543925" y="3122067"/>
            <a:ext cx="918369" cy="61912"/>
          </a:xfrm>
          <a:custGeom>
            <a:avLst/>
            <a:gdLst>
              <a:gd name="T0" fmla="*/ 0 w 534"/>
              <a:gd name="T1" fmla="*/ 42 h 42"/>
              <a:gd name="T2" fmla="*/ 468 w 534"/>
              <a:gd name="T3" fmla="*/ 42 h 42"/>
              <a:gd name="T4" fmla="*/ 534 w 534"/>
              <a:gd name="T5" fmla="*/ 0 h 42"/>
            </a:gdLst>
            <a:ahLst/>
            <a:cxnLst>
              <a:cxn ang="0">
                <a:pos x="T0" y="T1"/>
              </a:cxn>
              <a:cxn ang="0">
                <a:pos x="T2" y="T3"/>
              </a:cxn>
              <a:cxn ang="0">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1" name="Freeform 21"/>
          <p:cNvSpPr>
            <a:spLocks/>
          </p:cNvSpPr>
          <p:nvPr/>
        </p:nvSpPr>
        <p:spPr bwMode="auto">
          <a:xfrm>
            <a:off x="8554244" y="3696742"/>
            <a:ext cx="918369" cy="61912"/>
          </a:xfrm>
          <a:custGeom>
            <a:avLst/>
            <a:gdLst>
              <a:gd name="T0" fmla="*/ 0 w 534"/>
              <a:gd name="T1" fmla="*/ 36 h 42"/>
              <a:gd name="T2" fmla="*/ 468 w 534"/>
              <a:gd name="T3" fmla="*/ 42 h 42"/>
              <a:gd name="T4" fmla="*/ 534 w 534"/>
              <a:gd name="T5" fmla="*/ 0 h 42"/>
            </a:gdLst>
            <a:ahLst/>
            <a:cxnLst>
              <a:cxn ang="0">
                <a:pos x="T0" y="T1"/>
              </a:cxn>
              <a:cxn ang="0">
                <a:pos x="T2" y="T3"/>
              </a:cxn>
              <a:cxn ang="0">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2" name="Freeform 22"/>
          <p:cNvSpPr>
            <a:spLocks/>
          </p:cNvSpPr>
          <p:nvPr/>
        </p:nvSpPr>
        <p:spPr bwMode="auto">
          <a:xfrm>
            <a:off x="8530167" y="4273005"/>
            <a:ext cx="942446" cy="60325"/>
          </a:xfrm>
          <a:custGeom>
            <a:avLst/>
            <a:gdLst>
              <a:gd name="T0" fmla="*/ 0 w 548"/>
              <a:gd name="T1" fmla="*/ 42 h 42"/>
              <a:gd name="T2" fmla="*/ 482 w 548"/>
              <a:gd name="T3" fmla="*/ 42 h 42"/>
              <a:gd name="T4" fmla="*/ 548 w 548"/>
              <a:gd name="T5" fmla="*/ 0 h 42"/>
            </a:gdLst>
            <a:ahLst/>
            <a:cxnLst>
              <a:cxn ang="0">
                <a:pos x="T0" y="T1"/>
              </a:cxn>
              <a:cxn ang="0">
                <a:pos x="T2" y="T3"/>
              </a:cxn>
              <a:cxn ang="0">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3" name="Freeform 23"/>
          <p:cNvSpPr>
            <a:spLocks/>
          </p:cNvSpPr>
          <p:nvPr/>
        </p:nvSpPr>
        <p:spPr bwMode="auto">
          <a:xfrm>
            <a:off x="8530167" y="4865143"/>
            <a:ext cx="932127" cy="60325"/>
          </a:xfrm>
          <a:custGeom>
            <a:avLst/>
            <a:gdLst>
              <a:gd name="T0" fmla="*/ 0 w 542"/>
              <a:gd name="T1" fmla="*/ 42 h 42"/>
              <a:gd name="T2" fmla="*/ 476 w 542"/>
              <a:gd name="T3" fmla="*/ 42 h 42"/>
              <a:gd name="T4" fmla="*/ 542 w 542"/>
              <a:gd name="T5" fmla="*/ 0 h 42"/>
            </a:gdLst>
            <a:ahLst/>
            <a:cxnLst>
              <a:cxn ang="0">
                <a:pos x="T0" y="T1"/>
              </a:cxn>
              <a:cxn ang="0">
                <a:pos x="T2" y="T3"/>
              </a:cxn>
              <a:cxn ang="0">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4" name="Text Box 24"/>
          <p:cNvSpPr txBox="1">
            <a:spLocks noChangeArrowheads="1"/>
          </p:cNvSpPr>
          <p:nvPr/>
        </p:nvSpPr>
        <p:spPr bwMode="auto">
          <a:xfrm>
            <a:off x="428228"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400" b="1" dirty="0">
                <a:solidFill>
                  <a:srgbClr val="C00000"/>
                </a:solidFill>
                <a:ea typeface="黑体" pitchFamily="2" charset="-122"/>
              </a:rPr>
              <a:t>主机</a:t>
            </a:r>
            <a:r>
              <a:rPr kumimoji="1" lang="zh-CN" altLang="en-US" sz="1050" b="1" dirty="0">
                <a:solidFill>
                  <a:srgbClr val="C00000"/>
                </a:solidFill>
                <a:ea typeface="黑体" pitchFamily="2" charset="-122"/>
              </a:rPr>
              <a:t> </a:t>
            </a:r>
            <a:r>
              <a:rPr kumimoji="1" lang="en-US" altLang="zh-CN" sz="2400" b="1" dirty="0">
                <a:solidFill>
                  <a:srgbClr val="C00000"/>
                </a:solidFill>
                <a:ea typeface="黑体" pitchFamily="2" charset="-122"/>
              </a:rPr>
              <a:t>1</a:t>
            </a:r>
          </a:p>
        </p:txBody>
      </p:sp>
      <p:sp>
        <p:nvSpPr>
          <p:cNvPr id="128025" name="AutoShape 25"/>
          <p:cNvSpPr>
            <a:spLocks noChangeArrowheads="1"/>
          </p:cNvSpPr>
          <p:nvPr/>
        </p:nvSpPr>
        <p:spPr bwMode="auto">
          <a:xfrm>
            <a:off x="8703866" y="2025105"/>
            <a:ext cx="742950" cy="557213"/>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6" name="Text Box 26"/>
          <p:cNvSpPr txBox="1">
            <a:spLocks noChangeArrowheads="1"/>
          </p:cNvSpPr>
          <p:nvPr/>
        </p:nvSpPr>
        <p:spPr bwMode="auto">
          <a:xfrm>
            <a:off x="8696987" y="2129880"/>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2</a:t>
            </a:r>
            <a:endParaRPr kumimoji="1" lang="en-US" altLang="zh-CN" sz="2000" b="1">
              <a:solidFill>
                <a:srgbClr val="333399"/>
              </a:solidFill>
            </a:endParaRPr>
          </a:p>
        </p:txBody>
      </p:sp>
      <p:sp>
        <p:nvSpPr>
          <p:cNvPr id="128027" name="AutoShape 27"/>
          <p:cNvSpPr>
            <a:spLocks noChangeArrowheads="1"/>
          </p:cNvSpPr>
          <p:nvPr/>
        </p:nvSpPr>
        <p:spPr bwMode="auto">
          <a:xfrm>
            <a:off x="583010" y="2067967"/>
            <a:ext cx="742950" cy="557212"/>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28" name="Text Box 28"/>
          <p:cNvSpPr txBox="1">
            <a:spLocks noChangeArrowheads="1"/>
          </p:cNvSpPr>
          <p:nvPr/>
        </p:nvSpPr>
        <p:spPr bwMode="auto">
          <a:xfrm>
            <a:off x="605367" y="2188618"/>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en-US" altLang="zh-CN" sz="2000" b="1">
                <a:solidFill>
                  <a:srgbClr val="333399"/>
                </a:solidFill>
              </a:rPr>
              <a:t>AP</a:t>
            </a:r>
            <a:r>
              <a:rPr kumimoji="1" lang="en-US" altLang="zh-CN" sz="2000" b="1" baseline="-25000">
                <a:solidFill>
                  <a:srgbClr val="333399"/>
                </a:solidFill>
              </a:rPr>
              <a:t>1</a:t>
            </a:r>
            <a:endParaRPr kumimoji="1" lang="en-US" altLang="zh-CN" sz="2000" b="1">
              <a:solidFill>
                <a:srgbClr val="333399"/>
              </a:solidFill>
            </a:endParaRPr>
          </a:p>
        </p:txBody>
      </p:sp>
      <p:sp>
        <p:nvSpPr>
          <p:cNvPr id="128029" name="Text Box 29"/>
          <p:cNvSpPr txBox="1">
            <a:spLocks noChangeArrowheads="1"/>
          </p:cNvSpPr>
          <p:nvPr/>
        </p:nvSpPr>
        <p:spPr bwMode="auto">
          <a:xfrm>
            <a:off x="8418381" y="1628800"/>
            <a:ext cx="1011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400" b="1">
                <a:solidFill>
                  <a:srgbClr val="C00000"/>
                </a:solidFill>
                <a:ea typeface="黑体" pitchFamily="2" charset="-122"/>
              </a:rPr>
              <a:t>主机</a:t>
            </a:r>
            <a:r>
              <a:rPr kumimoji="1" lang="zh-CN" altLang="en-US" sz="1050" b="1">
                <a:solidFill>
                  <a:srgbClr val="C00000"/>
                </a:solidFill>
                <a:ea typeface="黑体" pitchFamily="2" charset="-122"/>
              </a:rPr>
              <a:t> </a:t>
            </a:r>
            <a:r>
              <a:rPr kumimoji="1" lang="en-US" altLang="zh-CN" sz="2400" b="1">
                <a:solidFill>
                  <a:srgbClr val="C00000"/>
                </a:solidFill>
                <a:ea typeface="黑体" pitchFamily="2" charset="-122"/>
              </a:rPr>
              <a:t>2</a:t>
            </a:r>
          </a:p>
        </p:txBody>
      </p:sp>
      <p:sp>
        <p:nvSpPr>
          <p:cNvPr id="128030" name="Rectangle 30"/>
          <p:cNvSpPr>
            <a:spLocks noChangeArrowheads="1"/>
          </p:cNvSpPr>
          <p:nvPr/>
        </p:nvSpPr>
        <p:spPr bwMode="auto">
          <a:xfrm>
            <a:off x="4406106" y="2201318"/>
            <a:ext cx="2808420"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itchFamily="34" charset="0"/>
                <a:ea typeface="黑体" pitchFamily="2" charset="-122"/>
              </a:rPr>
              <a:t>应 用 程 序 数 据</a:t>
            </a:r>
          </a:p>
        </p:txBody>
      </p:sp>
      <p:grpSp>
        <p:nvGrpSpPr>
          <p:cNvPr id="128031" name="Group 31"/>
          <p:cNvGrpSpPr>
            <a:grpSpLocks/>
          </p:cNvGrpSpPr>
          <p:nvPr/>
        </p:nvGrpSpPr>
        <p:grpSpPr bwMode="auto">
          <a:xfrm>
            <a:off x="2846257" y="2128292"/>
            <a:ext cx="1561571" cy="1008062"/>
            <a:chOff x="1655" y="1525"/>
            <a:chExt cx="908" cy="635"/>
          </a:xfrm>
        </p:grpSpPr>
        <p:sp>
          <p:nvSpPr>
            <p:cNvPr id="128032" name="Text Box 32"/>
            <p:cNvSpPr txBox="1">
              <a:spLocks noChangeArrowheads="1"/>
            </p:cNvSpPr>
            <p:nvPr/>
          </p:nvSpPr>
          <p:spPr bwMode="auto">
            <a:xfrm>
              <a:off x="1655" y="1525"/>
              <a:ext cx="8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000" b="1">
                  <a:solidFill>
                    <a:srgbClr val="333399"/>
                  </a:solidFill>
                  <a:latin typeface="Arial Rounded MT Bold" pitchFamily="34" charset="0"/>
                  <a:ea typeface="黑体" pitchFamily="2" charset="-122"/>
                </a:rPr>
                <a:t>应用层首部</a:t>
              </a:r>
              <a:endParaRPr kumimoji="1" lang="zh-CN" altLang="en-US" sz="2000" b="1">
                <a:solidFill>
                  <a:srgbClr val="333399"/>
                </a:solidFill>
                <a:latin typeface="Times New Roman" pitchFamily="18" charset="0"/>
                <a:ea typeface="黑体" pitchFamily="2" charset="-122"/>
              </a:endParaRPr>
            </a:p>
          </p:txBody>
        </p:sp>
        <p:sp>
          <p:nvSpPr>
            <p:cNvPr id="128033" name="Line 33"/>
            <p:cNvSpPr>
              <a:spLocks noChangeShapeType="1"/>
            </p:cNvSpPr>
            <p:nvPr/>
          </p:nvSpPr>
          <p:spPr bwMode="auto">
            <a:xfrm>
              <a:off x="2109" y="1752"/>
              <a:ext cx="272"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34" name="Rectangle 34"/>
            <p:cNvSpPr>
              <a:spLocks noChangeArrowheads="1"/>
            </p:cNvSpPr>
            <p:nvPr/>
          </p:nvSpPr>
          <p:spPr bwMode="auto">
            <a:xfrm>
              <a:off x="2245" y="1934"/>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grpSp>
      <p:sp>
        <p:nvSpPr>
          <p:cNvPr id="128035" name="Rectangle 35"/>
          <p:cNvSpPr>
            <a:spLocks noChangeArrowheads="1"/>
          </p:cNvSpPr>
          <p:nvPr/>
        </p:nvSpPr>
        <p:spPr bwMode="auto">
          <a:xfrm>
            <a:off x="2144581" y="5081043"/>
            <a:ext cx="5616840"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solidFill>
                  <a:srgbClr val="333399"/>
                </a:solidFill>
                <a:ea typeface="黑体" pitchFamily="2" charset="-122"/>
              </a:rPr>
              <a:t>10100110100101  </a:t>
            </a:r>
            <a:r>
              <a:rPr lang="zh-CN" altLang="en-US" sz="2000" b="1">
                <a:solidFill>
                  <a:srgbClr val="333399"/>
                </a:solidFill>
                <a:ea typeface="黑体" pitchFamily="2" charset="-122"/>
              </a:rPr>
              <a:t>比  特  流  </a:t>
            </a:r>
            <a:r>
              <a:rPr lang="en-US" altLang="zh-CN" sz="2000" b="1">
                <a:solidFill>
                  <a:srgbClr val="333399"/>
                </a:solidFill>
                <a:ea typeface="黑体" pitchFamily="2" charset="-122"/>
              </a:rPr>
              <a:t>110101110101</a:t>
            </a:r>
          </a:p>
        </p:txBody>
      </p:sp>
      <p:sp>
        <p:nvSpPr>
          <p:cNvPr id="128037" name="Rectangle 37"/>
          <p:cNvSpPr>
            <a:spLocks noChangeArrowheads="1"/>
          </p:cNvSpPr>
          <p:nvPr/>
        </p:nvSpPr>
        <p:spPr bwMode="auto">
          <a:xfrm>
            <a:off x="4406106" y="2777580"/>
            <a:ext cx="2808420" cy="358775"/>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itchFamily="34" charset="0"/>
                <a:ea typeface="黑体" pitchFamily="2" charset="-122"/>
              </a:rPr>
              <a:t>应 用 程 序 数 据</a:t>
            </a:r>
          </a:p>
        </p:txBody>
      </p:sp>
      <p:grpSp>
        <p:nvGrpSpPr>
          <p:cNvPr id="128038" name="Group 38"/>
          <p:cNvGrpSpPr>
            <a:grpSpLocks/>
          </p:cNvGrpSpPr>
          <p:nvPr/>
        </p:nvGrpSpPr>
        <p:grpSpPr bwMode="auto">
          <a:xfrm>
            <a:off x="3860933" y="3353843"/>
            <a:ext cx="3353594" cy="358775"/>
            <a:chOff x="2245" y="2297"/>
            <a:chExt cx="1950" cy="226"/>
          </a:xfrm>
        </p:grpSpPr>
        <p:sp>
          <p:nvSpPr>
            <p:cNvPr id="128039" name="Rectangle 39"/>
            <p:cNvSpPr>
              <a:spLocks noChangeArrowheads="1"/>
            </p:cNvSpPr>
            <p:nvPr/>
          </p:nvSpPr>
          <p:spPr bwMode="auto">
            <a:xfrm>
              <a:off x="2245" y="2297"/>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8040" name="Rectangle 40"/>
            <p:cNvSpPr>
              <a:spLocks noChangeArrowheads="1"/>
            </p:cNvSpPr>
            <p:nvPr/>
          </p:nvSpPr>
          <p:spPr bwMode="auto">
            <a:xfrm>
              <a:off x="2562" y="2297"/>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itchFamily="34" charset="0"/>
                  <a:ea typeface="黑体" pitchFamily="2" charset="-122"/>
                </a:rPr>
                <a:t>应 用 程 序 数 据</a:t>
              </a:r>
            </a:p>
          </p:txBody>
        </p:sp>
      </p:grpSp>
      <p:grpSp>
        <p:nvGrpSpPr>
          <p:cNvPr id="128041" name="Group 41"/>
          <p:cNvGrpSpPr>
            <a:grpSpLocks/>
          </p:cNvGrpSpPr>
          <p:nvPr/>
        </p:nvGrpSpPr>
        <p:grpSpPr bwMode="auto">
          <a:xfrm>
            <a:off x="3314039" y="3930105"/>
            <a:ext cx="3900488" cy="358775"/>
            <a:chOff x="1927" y="2660"/>
            <a:chExt cx="2268" cy="226"/>
          </a:xfrm>
        </p:grpSpPr>
        <p:sp>
          <p:nvSpPr>
            <p:cNvPr id="128042" name="Rectangle 42"/>
            <p:cNvSpPr>
              <a:spLocks noChangeArrowheads="1"/>
            </p:cNvSpPr>
            <p:nvPr/>
          </p:nvSpPr>
          <p:spPr bwMode="auto">
            <a:xfrm>
              <a:off x="1927" y="2660"/>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8043" name="Rectangle 43"/>
            <p:cNvSpPr>
              <a:spLocks noChangeArrowheads="1"/>
            </p:cNvSpPr>
            <p:nvPr/>
          </p:nvSpPr>
          <p:spPr bwMode="auto">
            <a:xfrm>
              <a:off x="2245" y="2660"/>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8044" name="Rectangle 44"/>
            <p:cNvSpPr>
              <a:spLocks noChangeArrowheads="1"/>
            </p:cNvSpPr>
            <p:nvPr/>
          </p:nvSpPr>
          <p:spPr bwMode="auto">
            <a:xfrm>
              <a:off x="2562" y="2660"/>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itchFamily="34" charset="0"/>
                  <a:ea typeface="黑体" pitchFamily="2" charset="-122"/>
                </a:rPr>
                <a:t>应 用 程 序 数 据</a:t>
              </a:r>
            </a:p>
          </p:txBody>
        </p:sp>
      </p:grpSp>
      <p:grpSp>
        <p:nvGrpSpPr>
          <p:cNvPr id="128045" name="Group 45"/>
          <p:cNvGrpSpPr>
            <a:grpSpLocks/>
          </p:cNvGrpSpPr>
          <p:nvPr/>
        </p:nvGrpSpPr>
        <p:grpSpPr bwMode="auto">
          <a:xfrm>
            <a:off x="2768865" y="4506368"/>
            <a:ext cx="4445662" cy="358775"/>
            <a:chOff x="1610" y="3023"/>
            <a:chExt cx="2585" cy="226"/>
          </a:xfrm>
        </p:grpSpPr>
        <p:sp>
          <p:nvSpPr>
            <p:cNvPr id="128046" name="Rectangle 46"/>
            <p:cNvSpPr>
              <a:spLocks noChangeArrowheads="1"/>
            </p:cNvSpPr>
            <p:nvPr/>
          </p:nvSpPr>
          <p:spPr bwMode="auto">
            <a:xfrm>
              <a:off x="1610" y="3023"/>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28047" name="Rectangle 47"/>
            <p:cNvSpPr>
              <a:spLocks noChangeArrowheads="1"/>
            </p:cNvSpPr>
            <p:nvPr/>
          </p:nvSpPr>
          <p:spPr bwMode="auto">
            <a:xfrm>
              <a:off x="1928" y="3023"/>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8048" name="Rectangle 48"/>
            <p:cNvSpPr>
              <a:spLocks noChangeArrowheads="1"/>
            </p:cNvSpPr>
            <p:nvPr/>
          </p:nvSpPr>
          <p:spPr bwMode="auto">
            <a:xfrm>
              <a:off x="2246" y="3023"/>
              <a:ext cx="318" cy="226"/>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5</a:t>
              </a:r>
            </a:p>
          </p:txBody>
        </p:sp>
        <p:sp>
          <p:nvSpPr>
            <p:cNvPr id="128049" name="Rectangle 49"/>
            <p:cNvSpPr>
              <a:spLocks noChangeArrowheads="1"/>
            </p:cNvSpPr>
            <p:nvPr/>
          </p:nvSpPr>
          <p:spPr bwMode="auto">
            <a:xfrm>
              <a:off x="2562" y="3023"/>
              <a:ext cx="1633" cy="226"/>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solidFill>
                    <a:srgbClr val="333399"/>
                  </a:solidFill>
                  <a:latin typeface="Tahoma" pitchFamily="34" charset="0"/>
                  <a:ea typeface="黑体" pitchFamily="2" charset="-122"/>
                </a:rPr>
                <a:t>应 用 程 序 数 据</a:t>
              </a:r>
            </a:p>
          </p:txBody>
        </p:sp>
      </p:grpSp>
      <p:grpSp>
        <p:nvGrpSpPr>
          <p:cNvPr id="128050" name="Group 50"/>
          <p:cNvGrpSpPr>
            <a:grpSpLocks/>
          </p:cNvGrpSpPr>
          <p:nvPr/>
        </p:nvGrpSpPr>
        <p:grpSpPr bwMode="auto">
          <a:xfrm>
            <a:off x="708553" y="2488655"/>
            <a:ext cx="4674391" cy="415925"/>
            <a:chOff x="412" y="1752"/>
            <a:chExt cx="2718" cy="262"/>
          </a:xfrm>
        </p:grpSpPr>
        <p:sp>
          <p:nvSpPr>
            <p:cNvPr id="128051" name="AutoShape 51"/>
            <p:cNvSpPr>
              <a:spLocks noChangeArrowheads="1"/>
            </p:cNvSpPr>
            <p:nvPr/>
          </p:nvSpPr>
          <p:spPr bwMode="auto">
            <a:xfrm flipV="1">
              <a:off x="412" y="1786"/>
              <a:ext cx="124" cy="228"/>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52" name="AutoShape 52"/>
            <p:cNvSpPr>
              <a:spLocks noChangeArrowheads="1"/>
            </p:cNvSpPr>
            <p:nvPr/>
          </p:nvSpPr>
          <p:spPr bwMode="auto">
            <a:xfrm flipV="1">
              <a:off x="3006" y="1752"/>
              <a:ext cx="124" cy="228"/>
            </a:xfrm>
            <a:prstGeom prst="upArrow">
              <a:avLst>
                <a:gd name="adj1" fmla="val 50000"/>
                <a:gd name="adj2" fmla="val 45968"/>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53" name="Group 53"/>
          <p:cNvGrpSpPr>
            <a:grpSpLocks/>
          </p:cNvGrpSpPr>
          <p:nvPr/>
        </p:nvGrpSpPr>
        <p:grpSpPr bwMode="auto">
          <a:xfrm>
            <a:off x="705115" y="3064926"/>
            <a:ext cx="4392351" cy="396876"/>
            <a:chOff x="410" y="2115"/>
            <a:chExt cx="2554" cy="250"/>
          </a:xfrm>
        </p:grpSpPr>
        <p:sp>
          <p:nvSpPr>
            <p:cNvPr id="128054" name="AutoShape 54"/>
            <p:cNvSpPr>
              <a:spLocks noChangeArrowheads="1"/>
            </p:cNvSpPr>
            <p:nvPr/>
          </p:nvSpPr>
          <p:spPr bwMode="auto">
            <a:xfrm rot="10800000">
              <a:off x="410" y="2116"/>
              <a:ext cx="125" cy="249"/>
            </a:xfrm>
            <a:prstGeom prst="upArrow">
              <a:avLst>
                <a:gd name="adj1" fmla="val 50000"/>
                <a:gd name="adj2" fmla="val 498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55" name="AutoShape 55"/>
            <p:cNvSpPr>
              <a:spLocks noChangeArrowheads="1"/>
            </p:cNvSpPr>
            <p:nvPr/>
          </p:nvSpPr>
          <p:spPr bwMode="auto">
            <a:xfrm rot="10800000">
              <a:off x="2839" y="2115"/>
              <a:ext cx="125" cy="249"/>
            </a:xfrm>
            <a:prstGeom prst="upArrow">
              <a:avLst>
                <a:gd name="adj1" fmla="val 50000"/>
                <a:gd name="adj2" fmla="val 498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56" name="Group 56"/>
          <p:cNvGrpSpPr>
            <a:grpSpLocks/>
          </p:cNvGrpSpPr>
          <p:nvPr/>
        </p:nvGrpSpPr>
        <p:grpSpPr bwMode="auto">
          <a:xfrm>
            <a:off x="705115" y="3625305"/>
            <a:ext cx="4031194" cy="409575"/>
            <a:chOff x="410" y="2468"/>
            <a:chExt cx="2344" cy="258"/>
          </a:xfrm>
        </p:grpSpPr>
        <p:sp>
          <p:nvSpPr>
            <p:cNvPr id="128057" name="AutoShape 57"/>
            <p:cNvSpPr>
              <a:spLocks noChangeArrowheads="1"/>
            </p:cNvSpPr>
            <p:nvPr/>
          </p:nvSpPr>
          <p:spPr bwMode="auto">
            <a:xfrm rot="10800000">
              <a:off x="410" y="2468"/>
              <a:ext cx="125" cy="248"/>
            </a:xfrm>
            <a:prstGeom prst="upArrow">
              <a:avLst>
                <a:gd name="adj1" fmla="val 50000"/>
                <a:gd name="adj2" fmla="val 496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58" name="AutoShape 58"/>
            <p:cNvSpPr>
              <a:spLocks noChangeArrowheads="1"/>
            </p:cNvSpPr>
            <p:nvPr/>
          </p:nvSpPr>
          <p:spPr bwMode="auto">
            <a:xfrm rot="10800000">
              <a:off x="2629" y="2478"/>
              <a:ext cx="125" cy="248"/>
            </a:xfrm>
            <a:prstGeom prst="upArrow">
              <a:avLst>
                <a:gd name="adj1" fmla="val 50000"/>
                <a:gd name="adj2" fmla="val 496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59" name="Group 59"/>
          <p:cNvGrpSpPr>
            <a:grpSpLocks/>
          </p:cNvGrpSpPr>
          <p:nvPr/>
        </p:nvGrpSpPr>
        <p:grpSpPr bwMode="auto">
          <a:xfrm>
            <a:off x="703395" y="4215854"/>
            <a:ext cx="3670034" cy="444500"/>
            <a:chOff x="409" y="2840"/>
            <a:chExt cx="2134" cy="280"/>
          </a:xfrm>
        </p:grpSpPr>
        <p:sp>
          <p:nvSpPr>
            <p:cNvPr id="128060" name="AutoShape 60"/>
            <p:cNvSpPr>
              <a:spLocks noChangeArrowheads="1"/>
            </p:cNvSpPr>
            <p:nvPr/>
          </p:nvSpPr>
          <p:spPr bwMode="auto">
            <a:xfrm rot="10800000">
              <a:off x="409" y="2870"/>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61" name="AutoShape 61"/>
            <p:cNvSpPr>
              <a:spLocks noChangeArrowheads="1"/>
            </p:cNvSpPr>
            <p:nvPr/>
          </p:nvSpPr>
          <p:spPr bwMode="auto">
            <a:xfrm rot="10800000">
              <a:off x="2419" y="2840"/>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62" name="Group 62"/>
          <p:cNvGrpSpPr>
            <a:grpSpLocks/>
          </p:cNvGrpSpPr>
          <p:nvPr/>
        </p:nvGrpSpPr>
        <p:grpSpPr bwMode="auto">
          <a:xfrm>
            <a:off x="703396" y="4792118"/>
            <a:ext cx="3455063" cy="460375"/>
            <a:chOff x="409" y="3203"/>
            <a:chExt cx="2009" cy="290"/>
          </a:xfrm>
        </p:grpSpPr>
        <p:sp>
          <p:nvSpPr>
            <p:cNvPr id="128063" name="AutoShape 63"/>
            <p:cNvSpPr>
              <a:spLocks noChangeArrowheads="1"/>
            </p:cNvSpPr>
            <p:nvPr/>
          </p:nvSpPr>
          <p:spPr bwMode="auto">
            <a:xfrm rot="10800000">
              <a:off x="409" y="3243"/>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128064" name="AutoShape 64"/>
            <p:cNvSpPr>
              <a:spLocks noChangeArrowheads="1"/>
            </p:cNvSpPr>
            <p:nvPr/>
          </p:nvSpPr>
          <p:spPr bwMode="auto">
            <a:xfrm rot="10800000">
              <a:off x="2294" y="3203"/>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128065" name="Group 65"/>
          <p:cNvGrpSpPr>
            <a:grpSpLocks/>
          </p:cNvGrpSpPr>
          <p:nvPr/>
        </p:nvGrpSpPr>
        <p:grpSpPr bwMode="auto">
          <a:xfrm>
            <a:off x="2221971" y="2637879"/>
            <a:ext cx="1638962" cy="1074738"/>
            <a:chOff x="1292" y="1846"/>
            <a:chExt cx="953" cy="677"/>
          </a:xfrm>
        </p:grpSpPr>
        <p:sp>
          <p:nvSpPr>
            <p:cNvPr id="128066" name="Rectangle 66"/>
            <p:cNvSpPr>
              <a:spLocks noChangeArrowheads="1"/>
            </p:cNvSpPr>
            <p:nvPr/>
          </p:nvSpPr>
          <p:spPr bwMode="auto">
            <a:xfrm>
              <a:off x="1927" y="2297"/>
              <a:ext cx="318" cy="226"/>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4</a:t>
              </a:r>
            </a:p>
          </p:txBody>
        </p:sp>
        <p:sp>
          <p:nvSpPr>
            <p:cNvPr id="128067" name="Text Box 67"/>
            <p:cNvSpPr txBox="1">
              <a:spLocks noChangeArrowheads="1"/>
            </p:cNvSpPr>
            <p:nvPr/>
          </p:nvSpPr>
          <p:spPr bwMode="auto">
            <a:xfrm>
              <a:off x="1292" y="1846"/>
              <a:ext cx="8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000" b="1">
                  <a:solidFill>
                    <a:srgbClr val="333399"/>
                  </a:solidFill>
                  <a:latin typeface="Arial Rounded MT Bold" pitchFamily="34" charset="0"/>
                  <a:ea typeface="黑体" pitchFamily="2" charset="-122"/>
                </a:rPr>
                <a:t>运输层首部</a:t>
              </a:r>
              <a:endParaRPr kumimoji="1" lang="zh-CN" altLang="en-US" sz="2000" b="1">
                <a:solidFill>
                  <a:srgbClr val="333399"/>
                </a:solidFill>
                <a:latin typeface="Times New Roman" pitchFamily="18" charset="0"/>
                <a:ea typeface="黑体" pitchFamily="2" charset="-122"/>
              </a:endParaRPr>
            </a:p>
          </p:txBody>
        </p:sp>
        <p:sp>
          <p:nvSpPr>
            <p:cNvPr id="128068" name="Line 68"/>
            <p:cNvSpPr>
              <a:spLocks noChangeShapeType="1"/>
            </p:cNvSpPr>
            <p:nvPr/>
          </p:nvSpPr>
          <p:spPr bwMode="auto">
            <a:xfrm>
              <a:off x="1791" y="2069"/>
              <a:ext cx="227" cy="227"/>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28069" name="Group 69"/>
          <p:cNvGrpSpPr>
            <a:grpSpLocks/>
          </p:cNvGrpSpPr>
          <p:nvPr/>
        </p:nvGrpSpPr>
        <p:grpSpPr bwMode="auto">
          <a:xfrm>
            <a:off x="1661319" y="3136355"/>
            <a:ext cx="1652720" cy="1152525"/>
            <a:chOff x="966" y="2160"/>
            <a:chExt cx="961" cy="726"/>
          </a:xfrm>
        </p:grpSpPr>
        <p:sp>
          <p:nvSpPr>
            <p:cNvPr id="128070" name="Rectangle 70"/>
            <p:cNvSpPr>
              <a:spLocks noChangeArrowheads="1"/>
            </p:cNvSpPr>
            <p:nvPr/>
          </p:nvSpPr>
          <p:spPr bwMode="auto">
            <a:xfrm>
              <a:off x="1609" y="2660"/>
              <a:ext cx="318" cy="226"/>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3</a:t>
              </a:r>
            </a:p>
          </p:txBody>
        </p:sp>
        <p:sp>
          <p:nvSpPr>
            <p:cNvPr id="128071" name="Text Box 71"/>
            <p:cNvSpPr txBox="1">
              <a:spLocks noChangeArrowheads="1"/>
            </p:cNvSpPr>
            <p:nvPr/>
          </p:nvSpPr>
          <p:spPr bwMode="auto">
            <a:xfrm>
              <a:off x="966" y="2160"/>
              <a:ext cx="85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eaLnBrk="0" hangingPunct="0"/>
              <a:r>
                <a:rPr kumimoji="1" lang="zh-CN" altLang="en-US" sz="2000" b="1">
                  <a:solidFill>
                    <a:srgbClr val="333399"/>
                  </a:solidFill>
                  <a:latin typeface="Arial Rounded MT Bold" pitchFamily="34" charset="0"/>
                  <a:ea typeface="黑体" pitchFamily="2" charset="-122"/>
                </a:rPr>
                <a:t>网络层首部</a:t>
              </a:r>
              <a:endParaRPr kumimoji="1" lang="zh-CN" altLang="en-US" sz="2000" b="1">
                <a:solidFill>
                  <a:srgbClr val="333399"/>
                </a:solidFill>
                <a:latin typeface="Times New Roman" pitchFamily="18" charset="0"/>
                <a:ea typeface="黑体" pitchFamily="2" charset="-122"/>
              </a:endParaRPr>
            </a:p>
          </p:txBody>
        </p:sp>
        <p:sp>
          <p:nvSpPr>
            <p:cNvPr id="128072" name="Line 72"/>
            <p:cNvSpPr>
              <a:spLocks noChangeShapeType="1"/>
            </p:cNvSpPr>
            <p:nvPr/>
          </p:nvSpPr>
          <p:spPr bwMode="auto">
            <a:xfrm>
              <a:off x="1474" y="2387"/>
              <a:ext cx="227" cy="27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28073" name="Group 73"/>
          <p:cNvGrpSpPr>
            <a:grpSpLocks/>
          </p:cNvGrpSpPr>
          <p:nvPr/>
        </p:nvGrpSpPr>
        <p:grpSpPr bwMode="auto">
          <a:xfrm>
            <a:off x="1546092" y="3568154"/>
            <a:ext cx="1222772" cy="1295400"/>
            <a:chOff x="899" y="2432"/>
            <a:chExt cx="711" cy="816"/>
          </a:xfrm>
        </p:grpSpPr>
        <p:sp>
          <p:nvSpPr>
            <p:cNvPr id="128074" name="Rectangle 74"/>
            <p:cNvSpPr>
              <a:spLocks noChangeArrowheads="1"/>
            </p:cNvSpPr>
            <p:nvPr/>
          </p:nvSpPr>
          <p:spPr bwMode="auto">
            <a:xfrm>
              <a:off x="1247" y="3022"/>
              <a:ext cx="363" cy="226"/>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H</a:t>
              </a:r>
              <a:r>
                <a:rPr lang="en-US" altLang="zh-CN" b="1" baseline="-25000">
                  <a:solidFill>
                    <a:srgbClr val="333399"/>
                  </a:solidFill>
                </a:rPr>
                <a:t>2</a:t>
              </a:r>
            </a:p>
          </p:txBody>
        </p:sp>
        <p:sp>
          <p:nvSpPr>
            <p:cNvPr id="128075" name="Text Box 75"/>
            <p:cNvSpPr txBox="1">
              <a:spLocks noChangeArrowheads="1"/>
            </p:cNvSpPr>
            <p:nvPr/>
          </p:nvSpPr>
          <p:spPr bwMode="auto">
            <a:xfrm>
              <a:off x="899" y="2432"/>
              <a:ext cx="55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algn="ctr" eaLnBrk="0" hangingPunct="0">
                <a:lnSpc>
                  <a:spcPct val="90000"/>
                </a:lnSpc>
              </a:pPr>
              <a:r>
                <a:rPr kumimoji="1" lang="zh-CN" altLang="en-US" sz="2000" b="1">
                  <a:solidFill>
                    <a:srgbClr val="333399"/>
                  </a:solidFill>
                  <a:latin typeface="Arial Rounded MT Bold" pitchFamily="34" charset="0"/>
                  <a:ea typeface="黑体" pitchFamily="2" charset="-122"/>
                </a:rPr>
                <a:t>链路层</a:t>
              </a:r>
            </a:p>
            <a:p>
              <a:pPr algn="ctr" eaLnBrk="0" hangingPunct="0">
                <a:lnSpc>
                  <a:spcPct val="90000"/>
                </a:lnSpc>
              </a:pPr>
              <a:r>
                <a:rPr kumimoji="1" lang="zh-CN" altLang="en-US" sz="2000" b="1">
                  <a:solidFill>
                    <a:srgbClr val="333399"/>
                  </a:solidFill>
                  <a:latin typeface="Arial Rounded MT Bold" pitchFamily="34" charset="0"/>
                  <a:ea typeface="黑体" pitchFamily="2" charset="-122"/>
                </a:rPr>
                <a:t>首部</a:t>
              </a:r>
              <a:endParaRPr kumimoji="1" lang="zh-CN" altLang="en-US" sz="2000" b="1">
                <a:solidFill>
                  <a:srgbClr val="333399"/>
                </a:solidFill>
                <a:latin typeface="Times New Roman" pitchFamily="18" charset="0"/>
                <a:ea typeface="黑体" pitchFamily="2" charset="-122"/>
              </a:endParaRPr>
            </a:p>
          </p:txBody>
        </p:sp>
        <p:sp>
          <p:nvSpPr>
            <p:cNvPr id="128076" name="Line 76"/>
            <p:cNvSpPr>
              <a:spLocks noChangeShapeType="1"/>
            </p:cNvSpPr>
            <p:nvPr/>
          </p:nvSpPr>
          <p:spPr bwMode="auto">
            <a:xfrm>
              <a:off x="1284" y="2799"/>
              <a:ext cx="145" cy="22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grpSp>
      <p:grpSp>
        <p:nvGrpSpPr>
          <p:cNvPr id="128077" name="Group 77"/>
          <p:cNvGrpSpPr>
            <a:grpSpLocks/>
          </p:cNvGrpSpPr>
          <p:nvPr/>
        </p:nvGrpSpPr>
        <p:grpSpPr bwMode="auto">
          <a:xfrm>
            <a:off x="7214526" y="3574504"/>
            <a:ext cx="1057671" cy="1290638"/>
            <a:chOff x="4195" y="2436"/>
            <a:chExt cx="615" cy="813"/>
          </a:xfrm>
        </p:grpSpPr>
        <p:sp>
          <p:nvSpPr>
            <p:cNvPr id="128078" name="Rectangle 78"/>
            <p:cNvSpPr>
              <a:spLocks noChangeArrowheads="1"/>
            </p:cNvSpPr>
            <p:nvPr/>
          </p:nvSpPr>
          <p:spPr bwMode="auto">
            <a:xfrm>
              <a:off x="4195" y="3023"/>
              <a:ext cx="318" cy="226"/>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b="1">
                  <a:solidFill>
                    <a:srgbClr val="333399"/>
                  </a:solidFill>
                </a:rPr>
                <a:t>T</a:t>
              </a:r>
              <a:r>
                <a:rPr lang="en-US" altLang="zh-CN" b="1" baseline="-25000">
                  <a:solidFill>
                    <a:srgbClr val="333399"/>
                  </a:solidFill>
                </a:rPr>
                <a:t>2</a:t>
              </a:r>
            </a:p>
          </p:txBody>
        </p:sp>
        <p:sp>
          <p:nvSpPr>
            <p:cNvPr id="128079" name="Line 79"/>
            <p:cNvSpPr>
              <a:spLocks noChangeShapeType="1"/>
            </p:cNvSpPr>
            <p:nvPr/>
          </p:nvSpPr>
          <p:spPr bwMode="auto">
            <a:xfrm flipH="1">
              <a:off x="4377" y="2840"/>
              <a:ext cx="136" cy="182"/>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28080" name="Text Box 80"/>
            <p:cNvSpPr txBox="1">
              <a:spLocks noChangeArrowheads="1"/>
            </p:cNvSpPr>
            <p:nvPr/>
          </p:nvSpPr>
          <p:spPr bwMode="auto">
            <a:xfrm>
              <a:off x="4255" y="2436"/>
              <a:ext cx="55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Arial" charset="0"/>
                  <a:ea typeface="宋体" pitchFamily="2" charset="-122"/>
                </a:defRPr>
              </a:lvl1pPr>
              <a:lvl2pPr marL="571500" defTabSz="762000">
                <a:defRPr>
                  <a:solidFill>
                    <a:schemeClr val="tx1"/>
                  </a:solidFill>
                  <a:latin typeface="Arial" charset="0"/>
                  <a:ea typeface="宋体" pitchFamily="2" charset="-122"/>
                </a:defRPr>
              </a:lvl2pPr>
              <a:lvl3pPr marL="1143000" defTabSz="762000">
                <a:defRPr>
                  <a:solidFill>
                    <a:schemeClr val="tx1"/>
                  </a:solidFill>
                  <a:latin typeface="Arial" charset="0"/>
                  <a:ea typeface="宋体" pitchFamily="2" charset="-122"/>
                </a:defRPr>
              </a:lvl3pPr>
              <a:lvl4pPr marL="1714500" defTabSz="762000">
                <a:defRPr>
                  <a:solidFill>
                    <a:schemeClr val="tx1"/>
                  </a:solidFill>
                  <a:latin typeface="Arial" charset="0"/>
                  <a:ea typeface="宋体" pitchFamily="2" charset="-122"/>
                </a:defRPr>
              </a:lvl4pPr>
              <a:lvl5pPr marL="2286000" defTabSz="762000">
                <a:defRPr>
                  <a:solidFill>
                    <a:schemeClr val="tx1"/>
                  </a:solidFill>
                  <a:latin typeface="Arial" charset="0"/>
                  <a:ea typeface="宋体" pitchFamily="2" charset="-122"/>
                </a:defRPr>
              </a:lvl5pPr>
              <a:lvl6pPr marL="2743200" defTabSz="762000" fontAlgn="base">
                <a:spcBef>
                  <a:spcPct val="0"/>
                </a:spcBef>
                <a:spcAft>
                  <a:spcPct val="0"/>
                </a:spcAft>
                <a:defRPr>
                  <a:solidFill>
                    <a:schemeClr val="tx1"/>
                  </a:solidFill>
                  <a:latin typeface="Arial" charset="0"/>
                  <a:ea typeface="宋体" pitchFamily="2" charset="-122"/>
                </a:defRPr>
              </a:lvl6pPr>
              <a:lvl7pPr marL="3200400" defTabSz="762000" fontAlgn="base">
                <a:spcBef>
                  <a:spcPct val="0"/>
                </a:spcBef>
                <a:spcAft>
                  <a:spcPct val="0"/>
                </a:spcAft>
                <a:defRPr>
                  <a:solidFill>
                    <a:schemeClr val="tx1"/>
                  </a:solidFill>
                  <a:latin typeface="Arial" charset="0"/>
                  <a:ea typeface="宋体" pitchFamily="2" charset="-122"/>
                </a:defRPr>
              </a:lvl7pPr>
              <a:lvl8pPr marL="3657600" defTabSz="762000" fontAlgn="base">
                <a:spcBef>
                  <a:spcPct val="0"/>
                </a:spcBef>
                <a:spcAft>
                  <a:spcPct val="0"/>
                </a:spcAft>
                <a:defRPr>
                  <a:solidFill>
                    <a:schemeClr val="tx1"/>
                  </a:solidFill>
                  <a:latin typeface="Arial" charset="0"/>
                  <a:ea typeface="宋体" pitchFamily="2" charset="-122"/>
                </a:defRPr>
              </a:lvl8pPr>
              <a:lvl9pPr marL="4114800" defTabSz="762000" fontAlgn="base">
                <a:spcBef>
                  <a:spcPct val="0"/>
                </a:spcBef>
                <a:spcAft>
                  <a:spcPct val="0"/>
                </a:spcAft>
                <a:defRPr>
                  <a:solidFill>
                    <a:schemeClr val="tx1"/>
                  </a:solidFill>
                  <a:latin typeface="Arial" charset="0"/>
                  <a:ea typeface="宋体" pitchFamily="2" charset="-122"/>
                </a:defRPr>
              </a:lvl9pPr>
            </a:lstStyle>
            <a:p>
              <a:pPr algn="ctr" eaLnBrk="0" hangingPunct="0">
                <a:lnSpc>
                  <a:spcPct val="90000"/>
                </a:lnSpc>
              </a:pPr>
              <a:r>
                <a:rPr kumimoji="1" lang="zh-CN" altLang="en-US" sz="2000" b="1">
                  <a:solidFill>
                    <a:srgbClr val="333399"/>
                  </a:solidFill>
                  <a:latin typeface="Arial Rounded MT Bold" pitchFamily="34" charset="0"/>
                  <a:ea typeface="黑体" pitchFamily="2" charset="-122"/>
                </a:rPr>
                <a:t>链路层</a:t>
              </a:r>
            </a:p>
            <a:p>
              <a:pPr algn="ctr" eaLnBrk="0" hangingPunct="0">
                <a:lnSpc>
                  <a:spcPct val="90000"/>
                </a:lnSpc>
              </a:pPr>
              <a:r>
                <a:rPr kumimoji="1" lang="zh-CN" altLang="en-US" sz="2000" b="1">
                  <a:solidFill>
                    <a:srgbClr val="333399"/>
                  </a:solidFill>
                  <a:latin typeface="Arial Rounded MT Bold" pitchFamily="34" charset="0"/>
                  <a:ea typeface="黑体" pitchFamily="2" charset="-122"/>
                </a:rPr>
                <a:t>尾部</a:t>
              </a:r>
              <a:endParaRPr kumimoji="1" lang="zh-CN" altLang="en-US" sz="2000" b="1">
                <a:solidFill>
                  <a:srgbClr val="333399"/>
                </a:solidFill>
                <a:latin typeface="Times New Roman" pitchFamily="18" charset="0"/>
                <a:ea typeface="黑体" pitchFamily="2" charset="-122"/>
              </a:endParaRPr>
            </a:p>
          </p:txBody>
        </p:sp>
      </p:grpSp>
      <p:grpSp>
        <p:nvGrpSpPr>
          <p:cNvPr id="81" name="Group 40"/>
          <p:cNvGrpSpPr>
            <a:grpSpLocks/>
          </p:cNvGrpSpPr>
          <p:nvPr/>
        </p:nvGrpSpPr>
        <p:grpSpPr bwMode="auto">
          <a:xfrm>
            <a:off x="6036471" y="3623270"/>
            <a:ext cx="3107664" cy="396875"/>
            <a:chOff x="3510" y="2454"/>
            <a:chExt cx="1807" cy="250"/>
          </a:xfrm>
        </p:grpSpPr>
        <p:sp>
          <p:nvSpPr>
            <p:cNvPr id="82" name="AutoShape 41"/>
            <p:cNvSpPr>
              <a:spLocks noChangeArrowheads="1"/>
            </p:cNvSpPr>
            <p:nvPr/>
          </p:nvSpPr>
          <p:spPr bwMode="auto">
            <a:xfrm rot="10800000" flipV="1">
              <a:off x="5193" y="2454"/>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83" name="AutoShape 42"/>
            <p:cNvSpPr>
              <a:spLocks noChangeArrowheads="1"/>
            </p:cNvSpPr>
            <p:nvPr/>
          </p:nvSpPr>
          <p:spPr bwMode="auto">
            <a:xfrm rot="10800000" flipV="1">
              <a:off x="3510" y="2454"/>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84" name="Group 40"/>
          <p:cNvGrpSpPr>
            <a:grpSpLocks/>
          </p:cNvGrpSpPr>
          <p:nvPr/>
        </p:nvGrpSpPr>
        <p:grpSpPr bwMode="auto">
          <a:xfrm>
            <a:off x="5169703" y="4740870"/>
            <a:ext cx="3974442" cy="396875"/>
            <a:chOff x="3006" y="3158"/>
            <a:chExt cx="2311" cy="250"/>
          </a:xfrm>
        </p:grpSpPr>
        <p:sp>
          <p:nvSpPr>
            <p:cNvPr id="85" name="AutoShape 41"/>
            <p:cNvSpPr>
              <a:spLocks noChangeArrowheads="1"/>
            </p:cNvSpPr>
            <p:nvPr/>
          </p:nvSpPr>
          <p:spPr bwMode="auto">
            <a:xfrm rot="10800000" flipV="1">
              <a:off x="5193" y="3158"/>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86" name="AutoShape 42"/>
            <p:cNvSpPr>
              <a:spLocks noChangeArrowheads="1"/>
            </p:cNvSpPr>
            <p:nvPr/>
          </p:nvSpPr>
          <p:spPr bwMode="auto">
            <a:xfrm rot="10800000" flipV="1">
              <a:off x="3006" y="3158"/>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87" name="Group 43"/>
          <p:cNvGrpSpPr>
            <a:grpSpLocks/>
          </p:cNvGrpSpPr>
          <p:nvPr/>
        </p:nvGrpSpPr>
        <p:grpSpPr bwMode="auto">
          <a:xfrm>
            <a:off x="5603091" y="4199533"/>
            <a:ext cx="3541054" cy="396875"/>
            <a:chOff x="3258" y="2817"/>
            <a:chExt cx="2059" cy="250"/>
          </a:xfrm>
        </p:grpSpPr>
        <p:sp>
          <p:nvSpPr>
            <p:cNvPr id="88" name="AutoShape 44"/>
            <p:cNvSpPr>
              <a:spLocks noChangeArrowheads="1"/>
            </p:cNvSpPr>
            <p:nvPr/>
          </p:nvSpPr>
          <p:spPr bwMode="auto">
            <a:xfrm rot="10800000" flipV="1">
              <a:off x="5193" y="2817"/>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89" name="AutoShape 45"/>
            <p:cNvSpPr>
              <a:spLocks noChangeArrowheads="1"/>
            </p:cNvSpPr>
            <p:nvPr/>
          </p:nvSpPr>
          <p:spPr bwMode="auto">
            <a:xfrm rot="10800000" flipV="1">
              <a:off x="3258" y="2817"/>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90" name="Group 38"/>
          <p:cNvGrpSpPr>
            <a:grpSpLocks/>
          </p:cNvGrpSpPr>
          <p:nvPr/>
        </p:nvGrpSpPr>
        <p:grpSpPr bwMode="auto">
          <a:xfrm>
            <a:off x="6323683" y="3032720"/>
            <a:ext cx="2820461" cy="396875"/>
            <a:chOff x="3677" y="2082"/>
            <a:chExt cx="1640" cy="250"/>
          </a:xfrm>
        </p:grpSpPr>
        <p:sp>
          <p:nvSpPr>
            <p:cNvPr id="91" name="AutoShape 39"/>
            <p:cNvSpPr>
              <a:spLocks noChangeArrowheads="1"/>
            </p:cNvSpPr>
            <p:nvPr/>
          </p:nvSpPr>
          <p:spPr bwMode="auto">
            <a:xfrm rot="10800000" flipV="1">
              <a:off x="5193" y="2082"/>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92" name="AutoShape 40"/>
            <p:cNvSpPr>
              <a:spLocks noChangeArrowheads="1"/>
            </p:cNvSpPr>
            <p:nvPr/>
          </p:nvSpPr>
          <p:spPr bwMode="auto">
            <a:xfrm rot="10800000" flipV="1">
              <a:off x="3677" y="2082"/>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grpSp>
        <p:nvGrpSpPr>
          <p:cNvPr id="93" name="Group 34"/>
          <p:cNvGrpSpPr>
            <a:grpSpLocks/>
          </p:cNvGrpSpPr>
          <p:nvPr/>
        </p:nvGrpSpPr>
        <p:grpSpPr bwMode="auto">
          <a:xfrm>
            <a:off x="6683120" y="2435820"/>
            <a:ext cx="2461025" cy="396875"/>
            <a:chOff x="3886" y="1706"/>
            <a:chExt cx="1431" cy="250"/>
          </a:xfrm>
        </p:grpSpPr>
        <p:sp>
          <p:nvSpPr>
            <p:cNvPr id="94" name="AutoShape 35"/>
            <p:cNvSpPr>
              <a:spLocks noChangeArrowheads="1"/>
            </p:cNvSpPr>
            <p:nvPr/>
          </p:nvSpPr>
          <p:spPr bwMode="auto">
            <a:xfrm rot="10800000" flipV="1">
              <a:off x="5193" y="170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sp>
          <p:nvSpPr>
            <p:cNvPr id="95" name="AutoShape 36"/>
            <p:cNvSpPr>
              <a:spLocks noChangeArrowheads="1"/>
            </p:cNvSpPr>
            <p:nvPr/>
          </p:nvSpPr>
          <p:spPr bwMode="auto">
            <a:xfrm rot="10800000" flipV="1">
              <a:off x="3886" y="1706"/>
              <a:ext cx="124" cy="250"/>
            </a:xfrm>
            <a:prstGeom prst="upArrow">
              <a:avLst>
                <a:gd name="adj1" fmla="val 50000"/>
                <a:gd name="adj2" fmla="val 50403"/>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p>
          </p:txBody>
        </p:sp>
      </p:grpSp>
    </p:spTree>
    <p:extLst>
      <p:ext uri="{BB962C8B-B14F-4D97-AF65-F5344CB8AC3E}">
        <p14:creationId xmlns:p14="http://schemas.microsoft.com/office/powerpoint/2010/main" val="9534036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a:t>主机</a:t>
            </a:r>
            <a:r>
              <a:rPr lang="zh-CN" altLang="en-US" sz="2400" dirty="0"/>
              <a:t> </a:t>
            </a:r>
            <a:r>
              <a:rPr lang="en-US" altLang="zh-CN" dirty="0"/>
              <a:t>1</a:t>
            </a:r>
            <a:r>
              <a:rPr lang="en-US" altLang="zh-CN" sz="2400" dirty="0"/>
              <a:t> </a:t>
            </a:r>
            <a:r>
              <a:rPr lang="zh-CN" altLang="en-US" dirty="0"/>
              <a:t>向主机</a:t>
            </a:r>
            <a:r>
              <a:rPr lang="zh-CN" altLang="en-US" sz="2400" dirty="0"/>
              <a:t> </a:t>
            </a:r>
            <a:r>
              <a:rPr lang="en-US" altLang="zh-CN" dirty="0"/>
              <a:t>2</a:t>
            </a:r>
            <a:r>
              <a:rPr lang="en-US" altLang="zh-CN" sz="2400" dirty="0"/>
              <a:t> </a:t>
            </a:r>
            <a:r>
              <a:rPr lang="zh-CN" altLang="en-US" dirty="0"/>
              <a:t>发送数据 </a:t>
            </a:r>
          </a:p>
        </p:txBody>
      </p:sp>
      <p:sp>
        <p:nvSpPr>
          <p:cNvPr id="3" name="内容占位符 2"/>
          <p:cNvSpPr>
            <a:spLocks noGrp="1"/>
          </p:cNvSpPr>
          <p:nvPr>
            <p:ph idx="1"/>
          </p:nvPr>
        </p:nvSpPr>
        <p:spPr/>
        <p:txBody>
          <a:bodyPr/>
          <a:lstStyle/>
          <a:p>
            <a:r>
              <a:rPr lang="en-US" altLang="zh-CN" dirty="0"/>
              <a:t>OSI </a:t>
            </a:r>
            <a:r>
              <a:rPr lang="zh-CN" altLang="zh-CN" dirty="0"/>
              <a:t>参考模型把对等层次之间传送的数据单位称为该层的</a:t>
            </a:r>
            <a:r>
              <a:rPr lang="zh-CN" altLang="zh-CN" dirty="0">
                <a:solidFill>
                  <a:srgbClr val="FF0000"/>
                </a:solidFill>
              </a:rPr>
              <a:t>协议数据单元</a:t>
            </a:r>
            <a:r>
              <a:rPr lang="en-US" altLang="zh-CN" dirty="0">
                <a:solidFill>
                  <a:srgbClr val="FF0000"/>
                </a:solidFill>
              </a:rPr>
              <a:t> PDU </a:t>
            </a:r>
            <a:r>
              <a:rPr lang="en-US" altLang="zh-CN" dirty="0"/>
              <a:t>(Protocol Data Unit)</a:t>
            </a:r>
            <a:r>
              <a:rPr lang="zh-CN" altLang="zh-CN" dirty="0"/>
              <a:t>。这个名词现已被许多非</a:t>
            </a:r>
            <a:r>
              <a:rPr lang="en-US" altLang="zh-CN" dirty="0"/>
              <a:t> OSI </a:t>
            </a:r>
            <a:r>
              <a:rPr lang="zh-CN" altLang="zh-CN" dirty="0"/>
              <a:t>标准采用。</a:t>
            </a:r>
          </a:p>
          <a:p>
            <a:r>
              <a:rPr lang="zh-CN" altLang="zh-CN" dirty="0"/>
              <a:t>任何两个同样的层次把数据（即数据单元加上控制信息）通过水平虚线直接传递给对方。这就是所谓的“</a:t>
            </a:r>
            <a:r>
              <a:rPr lang="zh-CN" altLang="zh-CN" dirty="0">
                <a:solidFill>
                  <a:srgbClr val="FF0000"/>
                </a:solidFill>
              </a:rPr>
              <a:t>对等层</a:t>
            </a:r>
            <a:r>
              <a:rPr lang="zh-CN" altLang="zh-CN" dirty="0"/>
              <a:t>”</a:t>
            </a:r>
            <a:r>
              <a:rPr lang="en-US" altLang="zh-CN" dirty="0"/>
              <a:t>(peer layers)</a:t>
            </a:r>
            <a:r>
              <a:rPr lang="zh-CN" altLang="zh-CN" dirty="0"/>
              <a:t>之间的通信。</a:t>
            </a:r>
            <a:endParaRPr lang="en-US" altLang="zh-CN" dirty="0"/>
          </a:p>
          <a:p>
            <a:r>
              <a:rPr lang="zh-CN" altLang="zh-CN" dirty="0">
                <a:solidFill>
                  <a:srgbClr val="FF0000"/>
                </a:solidFill>
              </a:rPr>
              <a:t>各层协议</a:t>
            </a:r>
            <a:r>
              <a:rPr lang="zh-CN" altLang="zh-CN" dirty="0"/>
              <a:t>实际上就是在各个对等层之间传递数据时的各项规定。</a:t>
            </a:r>
            <a:endParaRPr lang="zh-CN" altLang="en-US" dirty="0"/>
          </a:p>
        </p:txBody>
      </p:sp>
    </p:spTree>
    <p:extLst>
      <p:ext uri="{BB962C8B-B14F-4D97-AF65-F5344CB8AC3E}">
        <p14:creationId xmlns:p14="http://schemas.microsoft.com/office/powerpoint/2010/main" val="11503977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zh-CN" altLang="zh-CN" sz="3600" dirty="0"/>
              <a:t>计算机网络的体系结构</a:t>
            </a:r>
            <a:r>
              <a:rPr lang="zh-CN" altLang="en-US" sz="3600" dirty="0"/>
              <a:t>：几个常用概念</a:t>
            </a:r>
          </a:p>
        </p:txBody>
      </p:sp>
      <p:sp>
        <p:nvSpPr>
          <p:cNvPr id="138243" name="Rectangle 3"/>
          <p:cNvSpPr>
            <a:spLocks noGrp="1" noChangeArrowheads="1"/>
          </p:cNvSpPr>
          <p:nvPr>
            <p:ph idx="1"/>
          </p:nvPr>
        </p:nvSpPr>
        <p:spPr/>
        <p:txBody>
          <a:bodyPr/>
          <a:lstStyle/>
          <a:p>
            <a:r>
              <a:rPr lang="zh-CN" altLang="en-US" dirty="0">
                <a:solidFill>
                  <a:srgbClr val="FF0000"/>
                </a:solidFill>
              </a:rPr>
              <a:t>实体 </a:t>
            </a:r>
            <a:r>
              <a:rPr lang="en-US" altLang="zh-CN" dirty="0"/>
              <a:t>(entity) </a:t>
            </a:r>
            <a:r>
              <a:rPr lang="zh-CN" altLang="en-US" dirty="0"/>
              <a:t>表示任何可发送或接收信息的硬件或软件进程。 </a:t>
            </a:r>
          </a:p>
          <a:p>
            <a:r>
              <a:rPr lang="zh-CN" altLang="en-US" dirty="0">
                <a:solidFill>
                  <a:srgbClr val="FF0000"/>
                </a:solidFill>
              </a:rPr>
              <a:t>协议</a:t>
            </a:r>
            <a:r>
              <a:rPr lang="zh-CN" altLang="en-US" dirty="0"/>
              <a:t>是控制</a:t>
            </a:r>
            <a:r>
              <a:rPr lang="zh-CN" altLang="en-US" dirty="0">
                <a:solidFill>
                  <a:srgbClr val="FF0000"/>
                </a:solidFill>
              </a:rPr>
              <a:t>两个对等实体</a:t>
            </a:r>
            <a:r>
              <a:rPr lang="zh-CN" altLang="en-US" dirty="0"/>
              <a:t>进行通信的规则的集合。 </a:t>
            </a:r>
          </a:p>
          <a:p>
            <a:r>
              <a:rPr lang="zh-CN" altLang="en-US" dirty="0"/>
              <a:t>在协议的控制下，两个对等实体间的通信使得本层能够</a:t>
            </a:r>
            <a:r>
              <a:rPr lang="zh-CN" altLang="en-US" dirty="0">
                <a:solidFill>
                  <a:srgbClr val="FF0000"/>
                </a:solidFill>
              </a:rPr>
              <a:t>向上一层提供服务。</a:t>
            </a:r>
          </a:p>
          <a:p>
            <a:r>
              <a:rPr lang="zh-CN" altLang="en-US" dirty="0"/>
              <a:t>要实现本层协议，还需要</a:t>
            </a:r>
            <a:r>
              <a:rPr lang="zh-CN" altLang="en-US" dirty="0">
                <a:solidFill>
                  <a:srgbClr val="FF0000"/>
                </a:solidFill>
              </a:rPr>
              <a:t>使用下层所提供的服务。</a:t>
            </a:r>
            <a:r>
              <a:rPr lang="zh-CN" altLang="en-US" dirty="0"/>
              <a:t> </a:t>
            </a:r>
          </a:p>
        </p:txBody>
      </p:sp>
    </p:spTree>
    <p:extLst>
      <p:ext uri="{BB962C8B-B14F-4D97-AF65-F5344CB8AC3E}">
        <p14:creationId xmlns:p14="http://schemas.microsoft.com/office/powerpoint/2010/main" val="31468224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ctr"/>
            <a:r>
              <a:rPr lang="zh-CN" altLang="zh-CN" sz="4000" dirty="0"/>
              <a:t>协议</a:t>
            </a:r>
            <a:r>
              <a:rPr lang="zh-CN" altLang="en-US" sz="4000" dirty="0"/>
              <a:t>和</a:t>
            </a:r>
            <a:r>
              <a:rPr lang="zh-CN" altLang="zh-CN" sz="4000" dirty="0"/>
              <a:t>服务</a:t>
            </a:r>
            <a:endParaRPr lang="zh-CN" altLang="en-US" sz="4000" dirty="0"/>
          </a:p>
        </p:txBody>
      </p:sp>
      <p:sp>
        <p:nvSpPr>
          <p:cNvPr id="139267" name="Rectangle 3"/>
          <p:cNvSpPr>
            <a:spLocks noGrp="1" noChangeArrowheads="1"/>
          </p:cNvSpPr>
          <p:nvPr>
            <p:ph idx="1"/>
          </p:nvPr>
        </p:nvSpPr>
        <p:spPr/>
        <p:txBody>
          <a:bodyPr/>
          <a:lstStyle/>
          <a:p>
            <a:r>
              <a:rPr lang="zh-CN" altLang="zh-CN" dirty="0"/>
              <a:t>协议的实现保证了能够向上一层提供服务</a:t>
            </a:r>
            <a:r>
              <a:rPr lang="zh-CN" altLang="en-US" dirty="0"/>
              <a:t>。</a:t>
            </a:r>
            <a:endParaRPr lang="en-US" altLang="zh-CN" dirty="0"/>
          </a:p>
          <a:p>
            <a:r>
              <a:rPr lang="zh-CN" altLang="en-US" dirty="0"/>
              <a:t>本层的服务用户</a:t>
            </a:r>
            <a:r>
              <a:rPr lang="zh-CN" altLang="en-US" dirty="0">
                <a:solidFill>
                  <a:srgbClr val="FF0000"/>
                </a:solidFill>
              </a:rPr>
              <a:t>只能看见服务</a:t>
            </a:r>
            <a:r>
              <a:rPr lang="zh-CN" altLang="en-US" dirty="0"/>
              <a:t>而无法看见下面的协议。即下面的协议对上面的服务用户是</a:t>
            </a:r>
            <a:r>
              <a:rPr lang="zh-CN" altLang="en-US" dirty="0">
                <a:solidFill>
                  <a:srgbClr val="FF0000"/>
                </a:solidFill>
              </a:rPr>
              <a:t>透明</a:t>
            </a:r>
            <a:r>
              <a:rPr lang="zh-CN" altLang="en-US" dirty="0"/>
              <a:t>的。 </a:t>
            </a:r>
          </a:p>
          <a:p>
            <a:r>
              <a:rPr lang="zh-CN" altLang="en-US" dirty="0"/>
              <a:t>协议是“</a:t>
            </a:r>
            <a:r>
              <a:rPr lang="zh-CN" altLang="en-US" dirty="0">
                <a:solidFill>
                  <a:srgbClr val="FF0000"/>
                </a:solidFill>
              </a:rPr>
              <a:t>水平的</a:t>
            </a:r>
            <a:r>
              <a:rPr lang="zh-CN" altLang="en-US" dirty="0"/>
              <a:t>”，即协议是控制对等实体之间通信的规则。</a:t>
            </a:r>
          </a:p>
          <a:p>
            <a:r>
              <a:rPr lang="zh-CN" altLang="en-US" dirty="0"/>
              <a:t>服务是“</a:t>
            </a:r>
            <a:r>
              <a:rPr lang="zh-CN" altLang="en-US" dirty="0">
                <a:solidFill>
                  <a:srgbClr val="FF0000"/>
                </a:solidFill>
              </a:rPr>
              <a:t>垂直的</a:t>
            </a:r>
            <a:r>
              <a:rPr lang="zh-CN" altLang="en-US" dirty="0"/>
              <a:t>”，即服务是由下层向上层通过层间接口提供的。</a:t>
            </a:r>
            <a:endParaRPr lang="en-US" altLang="zh-CN" dirty="0"/>
          </a:p>
          <a:p>
            <a:r>
              <a:rPr lang="zh-CN" altLang="zh-CN" dirty="0"/>
              <a:t>上层使用</a:t>
            </a:r>
            <a:r>
              <a:rPr lang="zh-CN" altLang="en-US" dirty="0">
                <a:solidFill>
                  <a:srgbClr val="FF0000"/>
                </a:solidFill>
              </a:rPr>
              <a:t>服务原语</a:t>
            </a:r>
            <a:r>
              <a:rPr lang="zh-CN" altLang="en-US" dirty="0"/>
              <a:t>获得</a:t>
            </a:r>
            <a:r>
              <a:rPr lang="zh-CN" altLang="zh-CN" dirty="0"/>
              <a:t>下层所提供的服务</a:t>
            </a:r>
            <a:r>
              <a:rPr lang="zh-CN" altLang="en-US" dirty="0"/>
              <a:t>。</a:t>
            </a:r>
          </a:p>
        </p:txBody>
      </p:sp>
    </p:spTree>
    <p:extLst>
      <p:ext uri="{BB962C8B-B14F-4D97-AF65-F5344CB8AC3E}">
        <p14:creationId xmlns:p14="http://schemas.microsoft.com/office/powerpoint/2010/main" val="24513088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pPr algn="ctr"/>
            <a:r>
              <a:rPr lang="zh-CN" altLang="zh-CN" dirty="0"/>
              <a:t>服务</a:t>
            </a:r>
            <a:r>
              <a:rPr lang="zh-CN" altLang="en-US" dirty="0"/>
              <a:t>访问点</a:t>
            </a:r>
          </a:p>
        </p:txBody>
      </p:sp>
      <p:sp>
        <p:nvSpPr>
          <p:cNvPr id="139267" name="Rectangle 3"/>
          <p:cNvSpPr>
            <a:spLocks noGrp="1" noChangeArrowheads="1"/>
          </p:cNvSpPr>
          <p:nvPr>
            <p:ph idx="1"/>
          </p:nvPr>
        </p:nvSpPr>
        <p:spPr/>
        <p:txBody>
          <a:bodyPr/>
          <a:lstStyle/>
          <a:p>
            <a:r>
              <a:rPr lang="zh-CN" altLang="en-US" dirty="0"/>
              <a:t>同一系统相邻两层的实体进行交互的地方，称为</a:t>
            </a:r>
            <a:r>
              <a:rPr lang="zh-CN" altLang="en-US" dirty="0">
                <a:solidFill>
                  <a:srgbClr val="FF0000"/>
                </a:solidFill>
              </a:rPr>
              <a:t>服务访问点 </a:t>
            </a:r>
            <a:r>
              <a:rPr lang="en-US" altLang="zh-CN" dirty="0">
                <a:solidFill>
                  <a:srgbClr val="FF0000"/>
                </a:solidFill>
              </a:rPr>
              <a:t>SAP</a:t>
            </a:r>
            <a:r>
              <a:rPr lang="en-US" altLang="zh-CN" dirty="0"/>
              <a:t> (Service Access Point)</a:t>
            </a:r>
            <a:r>
              <a:rPr lang="zh-CN" altLang="en-US" dirty="0"/>
              <a:t>。 </a:t>
            </a:r>
            <a:endParaRPr lang="en-US" altLang="zh-CN" dirty="0"/>
          </a:p>
          <a:p>
            <a:r>
              <a:rPr lang="zh-CN" altLang="zh-CN" dirty="0"/>
              <a:t>服务访问点</a:t>
            </a:r>
            <a:r>
              <a:rPr lang="en-US" altLang="zh-CN" dirty="0"/>
              <a:t>SAP</a:t>
            </a:r>
            <a:r>
              <a:rPr lang="zh-CN" altLang="zh-CN" dirty="0"/>
              <a:t>是一个抽象的概念，它实际上就是一个逻辑接口</a:t>
            </a:r>
            <a:r>
              <a:rPr lang="zh-CN" altLang="en-US" dirty="0"/>
              <a:t>。</a:t>
            </a:r>
            <a:endParaRPr lang="en-US" altLang="zh-CN" dirty="0"/>
          </a:p>
          <a:p>
            <a:r>
              <a:rPr lang="en-US" altLang="zh-CN" dirty="0"/>
              <a:t>OSI</a:t>
            </a:r>
            <a:r>
              <a:rPr lang="zh-CN" altLang="zh-CN" dirty="0"/>
              <a:t>把层与层之间交换的数据的单位称为</a:t>
            </a:r>
            <a:r>
              <a:rPr lang="zh-CN" altLang="zh-CN" dirty="0">
                <a:solidFill>
                  <a:srgbClr val="FF0000"/>
                </a:solidFill>
              </a:rPr>
              <a:t>服务数据单元</a:t>
            </a:r>
            <a:r>
              <a:rPr lang="en-US" altLang="zh-CN" dirty="0">
                <a:solidFill>
                  <a:srgbClr val="FF0000"/>
                </a:solidFill>
              </a:rPr>
              <a:t> SDU</a:t>
            </a:r>
            <a:r>
              <a:rPr lang="en-US" altLang="zh-CN" dirty="0"/>
              <a:t> (Service Data Unit)</a:t>
            </a:r>
            <a:r>
              <a:rPr lang="zh-CN" altLang="en-US" dirty="0"/>
              <a:t>。</a:t>
            </a:r>
            <a:endParaRPr lang="en-US" altLang="zh-CN" dirty="0"/>
          </a:p>
          <a:p>
            <a:r>
              <a:rPr lang="en-US" altLang="zh-CN" dirty="0"/>
              <a:t>SDU </a:t>
            </a:r>
            <a:r>
              <a:rPr lang="zh-CN" altLang="zh-CN" dirty="0"/>
              <a:t>可以与</a:t>
            </a:r>
            <a:r>
              <a:rPr lang="en-US" altLang="zh-CN" dirty="0"/>
              <a:t> PDU </a:t>
            </a:r>
            <a:r>
              <a:rPr lang="zh-CN" altLang="zh-CN" dirty="0"/>
              <a:t>不一样</a:t>
            </a:r>
            <a:r>
              <a:rPr lang="zh-CN" altLang="en-US" dirty="0"/>
              <a:t>，</a:t>
            </a:r>
            <a:r>
              <a:rPr lang="zh-CN" altLang="zh-CN" dirty="0"/>
              <a:t>例如，可以是多个</a:t>
            </a:r>
            <a:r>
              <a:rPr lang="en-US" altLang="zh-CN" dirty="0"/>
              <a:t> SDU </a:t>
            </a:r>
            <a:r>
              <a:rPr lang="zh-CN" altLang="zh-CN" dirty="0"/>
              <a:t>合成为一个</a:t>
            </a:r>
            <a:r>
              <a:rPr lang="en-US" altLang="zh-CN" dirty="0"/>
              <a:t> PDU</a:t>
            </a:r>
            <a:r>
              <a:rPr lang="zh-CN" altLang="zh-CN" dirty="0"/>
              <a:t>，也可以是一个</a:t>
            </a:r>
            <a:r>
              <a:rPr lang="en-US" altLang="zh-CN" dirty="0"/>
              <a:t> SDU </a:t>
            </a:r>
            <a:r>
              <a:rPr lang="zh-CN" altLang="zh-CN" dirty="0"/>
              <a:t>划分为几个</a:t>
            </a:r>
            <a:r>
              <a:rPr lang="en-US" altLang="zh-CN" dirty="0"/>
              <a:t> PDU</a:t>
            </a:r>
            <a:r>
              <a:rPr lang="zh-CN" altLang="zh-CN" dirty="0"/>
              <a:t>。</a:t>
            </a:r>
            <a:endParaRPr lang="zh-CN" altLang="en-US" dirty="0"/>
          </a:p>
        </p:txBody>
      </p:sp>
    </p:spTree>
    <p:extLst>
      <p:ext uri="{BB962C8B-B14F-4D97-AF65-F5344CB8AC3E}">
        <p14:creationId xmlns:p14="http://schemas.microsoft.com/office/powerpoint/2010/main" val="12628744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r>
              <a:rPr lang="zh-CN" altLang="zh-CN" sz="3600" dirty="0"/>
              <a:t>计算机网络的体系结构</a:t>
            </a:r>
            <a:r>
              <a:rPr lang="zh-CN" altLang="en-US" sz="3600" dirty="0"/>
              <a:t>：几个常用概念</a:t>
            </a:r>
          </a:p>
        </p:txBody>
      </p:sp>
      <p:grpSp>
        <p:nvGrpSpPr>
          <p:cNvPr id="3" name="组合 2"/>
          <p:cNvGrpSpPr/>
          <p:nvPr/>
        </p:nvGrpSpPr>
        <p:grpSpPr>
          <a:xfrm>
            <a:off x="258052" y="1556792"/>
            <a:ext cx="9648510" cy="4208462"/>
            <a:chOff x="258052" y="1556792"/>
            <a:chExt cx="9648510" cy="4208462"/>
          </a:xfrm>
        </p:grpSpPr>
        <p:sp>
          <p:nvSpPr>
            <p:cNvPr id="169023" name="Rectangle 63"/>
            <p:cNvSpPr>
              <a:spLocks noChangeArrowheads="1"/>
            </p:cNvSpPr>
            <p:nvPr/>
          </p:nvSpPr>
          <p:spPr bwMode="auto">
            <a:xfrm>
              <a:off x="258052" y="2956967"/>
              <a:ext cx="9633520" cy="2808287"/>
            </a:xfrm>
            <a:prstGeom prst="rect">
              <a:avLst/>
            </a:prstGeom>
            <a:solidFill>
              <a:srgbClr val="FF99CC"/>
            </a:solidFill>
            <a:ln>
              <a:noFill/>
            </a:ln>
            <a:effectLst/>
          </p:spPr>
          <p:txBody>
            <a:bodyPr wrap="none" anchor="ctr"/>
            <a:lstStyle/>
            <a:p>
              <a:endParaRPr lang="zh-CN" altLang="en-US" b="1">
                <a:solidFill>
                  <a:srgbClr val="333399"/>
                </a:solidFill>
                <a:latin typeface="+mn-lt"/>
                <a:ea typeface="黑体" pitchFamily="2" charset="-122"/>
              </a:endParaRPr>
            </a:p>
          </p:txBody>
        </p:sp>
        <p:sp>
          <p:nvSpPr>
            <p:cNvPr id="168995" name="Rectangle 35"/>
            <p:cNvSpPr>
              <a:spLocks noChangeArrowheads="1"/>
            </p:cNvSpPr>
            <p:nvPr/>
          </p:nvSpPr>
          <p:spPr bwMode="auto">
            <a:xfrm>
              <a:off x="1833298" y="3850728"/>
              <a:ext cx="6239404" cy="762000"/>
            </a:xfrm>
            <a:prstGeom prst="rect">
              <a:avLst/>
            </a:prstGeom>
            <a:solidFill>
              <a:srgbClr val="FFFF66"/>
            </a:solidFill>
            <a:ln w="19050">
              <a:solidFill>
                <a:schemeClr val="tx1"/>
              </a:solidFill>
              <a:prstDash val="dash"/>
              <a:miter lim="800000"/>
              <a:headEnd/>
              <a:tailEnd/>
            </a:ln>
            <a:effectLst/>
            <a:extLst>
              <a:ext uri="{AF507438-7753-43E0-B8FC-AC1667EBCBE1}">
                <a14:hiddenEffects xmlns:a14="http://schemas.microsoft.com/office/drawing/2010/main">
                  <a:effectLst>
                    <a:outerShdw dist="71842" dir="2700000" algn="ctr" rotWithShape="0">
                      <a:schemeClr val="bg2"/>
                    </a:outerShdw>
                  </a:effectLst>
                </a14:hiddenEffects>
              </a:ext>
            </a:extLst>
          </p:spPr>
          <p:txBody>
            <a:bodyPr wrap="none" anchor="ctr"/>
            <a:lstStyle/>
            <a:p>
              <a:pPr algn="ctr"/>
              <a:endParaRPr kumimoji="1" lang="zh-CN" altLang="zh-CN" sz="2000" b="1">
                <a:solidFill>
                  <a:srgbClr val="333399"/>
                </a:solidFill>
                <a:latin typeface="+mn-lt"/>
                <a:ea typeface="黑体" pitchFamily="2" charset="-122"/>
              </a:endParaRPr>
            </a:p>
          </p:txBody>
        </p:sp>
        <p:sp>
          <p:nvSpPr>
            <p:cNvPr id="168996" name="Rectangle 36"/>
            <p:cNvSpPr>
              <a:spLocks noChangeArrowheads="1"/>
            </p:cNvSpPr>
            <p:nvPr/>
          </p:nvSpPr>
          <p:spPr bwMode="auto">
            <a:xfrm>
              <a:off x="2634721" y="3712616"/>
              <a:ext cx="252810" cy="254000"/>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b="1">
                <a:solidFill>
                  <a:srgbClr val="333399"/>
                </a:solidFill>
                <a:latin typeface="+mn-lt"/>
                <a:ea typeface="黑体" pitchFamily="2" charset="-122"/>
              </a:endParaRPr>
            </a:p>
          </p:txBody>
        </p:sp>
        <p:sp>
          <p:nvSpPr>
            <p:cNvPr id="168997" name="Line 37"/>
            <p:cNvSpPr>
              <a:spLocks noChangeShapeType="1"/>
            </p:cNvSpPr>
            <p:nvPr/>
          </p:nvSpPr>
          <p:spPr bwMode="auto">
            <a:xfrm>
              <a:off x="3553090" y="1964778"/>
              <a:ext cx="2712112" cy="0"/>
            </a:xfrm>
            <a:prstGeom prst="line">
              <a:avLst/>
            </a:prstGeom>
            <a:noFill/>
            <a:ln w="1905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333399"/>
                </a:solidFill>
                <a:latin typeface="+mn-lt"/>
                <a:ea typeface="黑体" pitchFamily="2" charset="-122"/>
              </a:endParaRPr>
            </a:p>
          </p:txBody>
        </p:sp>
        <p:sp>
          <p:nvSpPr>
            <p:cNvPr id="168998" name="Text Box 38"/>
            <p:cNvSpPr txBox="1">
              <a:spLocks noChangeArrowheads="1"/>
            </p:cNvSpPr>
            <p:nvPr/>
          </p:nvSpPr>
          <p:spPr bwMode="auto">
            <a:xfrm>
              <a:off x="4017434" y="1779041"/>
              <a:ext cx="1793743" cy="46166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400" b="1" dirty="0">
                  <a:solidFill>
                    <a:srgbClr val="333399"/>
                  </a:solidFill>
                  <a:latin typeface="+mn-lt"/>
                  <a:ea typeface="黑体" pitchFamily="2" charset="-122"/>
                </a:rPr>
                <a:t>协议 </a:t>
              </a:r>
              <a:r>
                <a:rPr kumimoji="1" lang="en-US" altLang="zh-CN" sz="2400" b="1" dirty="0">
                  <a:solidFill>
                    <a:srgbClr val="333399"/>
                  </a:solidFill>
                  <a:latin typeface="+mn-lt"/>
                  <a:ea typeface="黑体" pitchFamily="2" charset="-122"/>
                </a:rPr>
                <a:t>(n + 1)</a:t>
              </a:r>
            </a:p>
          </p:txBody>
        </p:sp>
        <p:sp>
          <p:nvSpPr>
            <p:cNvPr id="168999" name="Text Box 39"/>
            <p:cNvSpPr txBox="1">
              <a:spLocks noChangeArrowheads="1"/>
            </p:cNvSpPr>
            <p:nvPr/>
          </p:nvSpPr>
          <p:spPr bwMode="auto">
            <a:xfrm>
              <a:off x="2817019" y="3322092"/>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latin typeface="+mn-lt"/>
                  <a:ea typeface="黑体" pitchFamily="2" charset="-122"/>
                </a:rPr>
                <a:t>SAP</a:t>
              </a:r>
            </a:p>
          </p:txBody>
        </p:sp>
        <p:sp>
          <p:nvSpPr>
            <p:cNvPr id="169000" name="Text Box 40"/>
            <p:cNvSpPr txBox="1">
              <a:spLocks noChangeArrowheads="1"/>
            </p:cNvSpPr>
            <p:nvPr/>
          </p:nvSpPr>
          <p:spPr bwMode="auto">
            <a:xfrm>
              <a:off x="6210169" y="3347492"/>
              <a:ext cx="7136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99"/>
                  </a:solidFill>
                  <a:latin typeface="+mn-lt"/>
                  <a:ea typeface="黑体" pitchFamily="2" charset="-122"/>
                </a:rPr>
                <a:t>SAP</a:t>
              </a:r>
            </a:p>
          </p:txBody>
        </p:sp>
        <p:sp>
          <p:nvSpPr>
            <p:cNvPr id="169001" name="Text Box 41"/>
            <p:cNvSpPr txBox="1">
              <a:spLocks noChangeArrowheads="1"/>
            </p:cNvSpPr>
            <p:nvPr/>
          </p:nvSpPr>
          <p:spPr bwMode="auto">
            <a:xfrm>
              <a:off x="2853135" y="2277516"/>
              <a:ext cx="1415772" cy="46166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itchFamily="2" charset="-122"/>
                </a:rPr>
                <a:t>交换原语</a:t>
              </a:r>
            </a:p>
          </p:txBody>
        </p:sp>
        <p:sp>
          <p:nvSpPr>
            <p:cNvPr id="169002" name="AutoShape 42"/>
            <p:cNvSpPr>
              <a:spLocks noChangeArrowheads="1"/>
            </p:cNvSpPr>
            <p:nvPr/>
          </p:nvSpPr>
          <p:spPr bwMode="auto">
            <a:xfrm>
              <a:off x="2679436" y="2261642"/>
              <a:ext cx="171979" cy="1430337"/>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333399"/>
                </a:solidFill>
                <a:latin typeface="+mn-lt"/>
                <a:ea typeface="黑体" pitchFamily="2" charset="-122"/>
              </a:endParaRPr>
            </a:p>
          </p:txBody>
        </p:sp>
        <p:sp>
          <p:nvSpPr>
            <p:cNvPr id="169003" name="Rectangle 43"/>
            <p:cNvSpPr>
              <a:spLocks noChangeArrowheads="1"/>
            </p:cNvSpPr>
            <p:nvPr/>
          </p:nvSpPr>
          <p:spPr bwMode="auto">
            <a:xfrm>
              <a:off x="6837891" y="3712616"/>
              <a:ext cx="256250" cy="254000"/>
            </a:xfrm>
            <a:prstGeom prst="rect">
              <a:avLst/>
            </a:prstGeom>
            <a:solidFill>
              <a:srgbClr val="CC0000"/>
            </a:solidFill>
            <a:ln w="19050">
              <a:solidFill>
                <a:srgbClr val="CC0000"/>
              </a:solidFill>
              <a:miter lim="800000"/>
              <a:headEnd/>
              <a:tailEnd/>
            </a:ln>
            <a:effectLst/>
            <a:extLst>
              <a:ext uri="{AF507438-7753-43E0-B8FC-AC1667EBCBE1}">
                <a14:hiddenEffects xmlns:a14="http://schemas.microsoft.com/office/drawing/2010/main">
                  <a:effectLst>
                    <a:outerShdw dist="107763" dir="2700000" algn="ctr" rotWithShape="0">
                      <a:schemeClr val="bg2"/>
                    </a:outerShdw>
                  </a:effectLst>
                </a14:hiddenEffects>
              </a:ext>
            </a:extLst>
          </p:spPr>
          <p:txBody>
            <a:bodyPr wrap="none" anchor="ctr"/>
            <a:lstStyle/>
            <a:p>
              <a:endParaRPr lang="zh-CN" altLang="en-US" b="1">
                <a:solidFill>
                  <a:srgbClr val="333399"/>
                </a:solidFill>
                <a:latin typeface="+mn-lt"/>
                <a:ea typeface="黑体" pitchFamily="2" charset="-122"/>
              </a:endParaRPr>
            </a:p>
          </p:txBody>
        </p:sp>
        <p:sp>
          <p:nvSpPr>
            <p:cNvPr id="169004" name="AutoShape 44"/>
            <p:cNvSpPr>
              <a:spLocks noChangeArrowheads="1"/>
            </p:cNvSpPr>
            <p:nvPr/>
          </p:nvSpPr>
          <p:spPr bwMode="auto">
            <a:xfrm>
              <a:off x="6880887" y="2261642"/>
              <a:ext cx="171979" cy="1430337"/>
            </a:xfrm>
            <a:prstGeom prst="upDownArrow">
              <a:avLst>
                <a:gd name="adj1" fmla="val 50000"/>
                <a:gd name="adj2" fmla="val 180200"/>
              </a:avLst>
            </a:prstGeom>
            <a:solidFill>
              <a:schemeClr val="bg1"/>
            </a:solidFill>
            <a:ln w="12700">
              <a:solidFill>
                <a:schemeClr val="tx1"/>
              </a:solidFill>
              <a:miter lim="800000"/>
              <a:headEnd type="none" w="med" len="lg"/>
              <a:tailEnd type="non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333399"/>
                </a:solidFill>
                <a:latin typeface="+mn-lt"/>
                <a:ea typeface="黑体" pitchFamily="2" charset="-122"/>
              </a:endParaRPr>
            </a:p>
          </p:txBody>
        </p:sp>
        <p:sp>
          <p:nvSpPr>
            <p:cNvPr id="169005" name="Text Box 45"/>
            <p:cNvSpPr txBox="1">
              <a:spLocks noChangeArrowheads="1"/>
            </p:cNvSpPr>
            <p:nvPr/>
          </p:nvSpPr>
          <p:spPr bwMode="auto">
            <a:xfrm>
              <a:off x="5343393" y="2277516"/>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itchFamily="2" charset="-122"/>
                </a:rPr>
                <a:t>交换原语</a:t>
              </a:r>
            </a:p>
          </p:txBody>
        </p:sp>
        <p:sp>
          <p:nvSpPr>
            <p:cNvPr id="169006" name="Rectangle 46"/>
            <p:cNvSpPr>
              <a:spLocks noChangeArrowheads="1"/>
            </p:cNvSpPr>
            <p:nvPr/>
          </p:nvSpPr>
          <p:spPr bwMode="auto">
            <a:xfrm>
              <a:off x="1996679" y="1733004"/>
              <a:ext cx="1530615"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b="1">
                <a:solidFill>
                  <a:srgbClr val="333399"/>
                </a:solidFill>
                <a:latin typeface="+mn-lt"/>
                <a:ea typeface="黑体" pitchFamily="2" charset="-122"/>
              </a:endParaRPr>
            </a:p>
          </p:txBody>
        </p:sp>
        <p:sp>
          <p:nvSpPr>
            <p:cNvPr id="169007" name="Text Box 47"/>
            <p:cNvSpPr txBox="1">
              <a:spLocks noChangeArrowheads="1"/>
            </p:cNvSpPr>
            <p:nvPr/>
          </p:nvSpPr>
          <p:spPr bwMode="auto">
            <a:xfrm>
              <a:off x="2037954" y="1806029"/>
              <a:ext cx="1531188" cy="400110"/>
            </a:xfrm>
            <a:prstGeom prst="rect">
              <a:avLst/>
            </a:prstGeom>
            <a:solidFill>
              <a:srgbClr val="CCECFF"/>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333399"/>
                  </a:solidFill>
                  <a:latin typeface="+mn-lt"/>
                  <a:ea typeface="黑体" pitchFamily="2" charset="-122"/>
                </a:rPr>
                <a:t>实体 </a:t>
              </a:r>
              <a:r>
                <a:rPr kumimoji="1" lang="en-US" altLang="zh-CN" sz="2000" b="1" dirty="0">
                  <a:solidFill>
                    <a:srgbClr val="333399"/>
                  </a:solidFill>
                  <a:latin typeface="+mn-lt"/>
                  <a:ea typeface="黑体" pitchFamily="2" charset="-122"/>
                </a:rPr>
                <a:t>(n + 1)</a:t>
              </a:r>
            </a:p>
          </p:txBody>
        </p:sp>
        <p:sp>
          <p:nvSpPr>
            <p:cNvPr id="169008" name="Text Box 48"/>
            <p:cNvSpPr txBox="1">
              <a:spLocks noChangeArrowheads="1"/>
            </p:cNvSpPr>
            <p:nvPr/>
          </p:nvSpPr>
          <p:spPr bwMode="auto">
            <a:xfrm>
              <a:off x="560512" y="3750131"/>
              <a:ext cx="11288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400" b="1" dirty="0">
                  <a:solidFill>
                    <a:srgbClr val="333399"/>
                  </a:solidFill>
                  <a:latin typeface="+mn-lt"/>
                  <a:ea typeface="黑体" pitchFamily="2" charset="-122"/>
                </a:rPr>
                <a:t>服务提供者</a:t>
              </a:r>
            </a:p>
          </p:txBody>
        </p:sp>
        <p:sp>
          <p:nvSpPr>
            <p:cNvPr id="169009" name="Line 49"/>
            <p:cNvSpPr>
              <a:spLocks noChangeShapeType="1"/>
            </p:cNvSpPr>
            <p:nvPr/>
          </p:nvSpPr>
          <p:spPr bwMode="auto">
            <a:xfrm>
              <a:off x="273042" y="2953791"/>
              <a:ext cx="9633520" cy="0"/>
            </a:xfrm>
            <a:prstGeom prst="line">
              <a:avLst/>
            </a:prstGeom>
            <a:noFill/>
            <a:ln w="19050">
              <a:solidFill>
                <a:schemeClr val="tx1"/>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333399"/>
                </a:solidFill>
                <a:latin typeface="+mn-lt"/>
                <a:ea typeface="黑体" pitchFamily="2" charset="-122"/>
              </a:endParaRPr>
            </a:p>
          </p:txBody>
        </p:sp>
        <p:sp>
          <p:nvSpPr>
            <p:cNvPr id="169010" name="Text Box 50"/>
            <p:cNvSpPr txBox="1">
              <a:spLocks noChangeArrowheads="1"/>
            </p:cNvSpPr>
            <p:nvPr/>
          </p:nvSpPr>
          <p:spPr bwMode="auto">
            <a:xfrm>
              <a:off x="8463096" y="3650703"/>
              <a:ext cx="1160895" cy="46166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itchFamily="2" charset="-122"/>
                </a:rPr>
                <a:t>第 </a:t>
              </a:r>
              <a:r>
                <a:rPr kumimoji="1" lang="en-US" altLang="zh-CN" sz="2400" b="1" dirty="0">
                  <a:solidFill>
                    <a:srgbClr val="333399"/>
                  </a:solidFill>
                  <a:latin typeface="+mn-lt"/>
                  <a:ea typeface="黑体" pitchFamily="2" charset="-122"/>
                </a:rPr>
                <a:t>n </a:t>
              </a:r>
              <a:r>
                <a:rPr kumimoji="1" lang="zh-CN" altLang="en-US" sz="2400" b="1" dirty="0">
                  <a:solidFill>
                    <a:srgbClr val="333399"/>
                  </a:solidFill>
                  <a:latin typeface="+mn-lt"/>
                  <a:ea typeface="黑体" pitchFamily="2" charset="-122"/>
                </a:rPr>
                <a:t>层</a:t>
              </a:r>
            </a:p>
          </p:txBody>
        </p:sp>
        <p:sp>
          <p:nvSpPr>
            <p:cNvPr id="169011" name="Text Box 51"/>
            <p:cNvSpPr txBox="1">
              <a:spLocks noChangeArrowheads="1"/>
            </p:cNvSpPr>
            <p:nvPr/>
          </p:nvSpPr>
          <p:spPr bwMode="auto">
            <a:xfrm>
              <a:off x="8151813" y="1964778"/>
              <a:ext cx="1681871" cy="46166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333399"/>
                  </a:solidFill>
                  <a:latin typeface="+mn-lt"/>
                  <a:ea typeface="黑体" pitchFamily="2" charset="-122"/>
                </a:rPr>
                <a:t>第 </a:t>
              </a:r>
              <a:r>
                <a:rPr kumimoji="1" lang="en-US" altLang="zh-CN" sz="2400" b="1" dirty="0">
                  <a:solidFill>
                    <a:srgbClr val="333399"/>
                  </a:solidFill>
                  <a:latin typeface="+mn-lt"/>
                  <a:ea typeface="黑体" pitchFamily="2" charset="-122"/>
                </a:rPr>
                <a:t>n + 1 </a:t>
              </a:r>
              <a:r>
                <a:rPr kumimoji="1" lang="zh-CN" altLang="en-US" sz="2400" b="1" dirty="0">
                  <a:solidFill>
                    <a:srgbClr val="333399"/>
                  </a:solidFill>
                  <a:latin typeface="+mn-lt"/>
                  <a:ea typeface="黑体" pitchFamily="2" charset="-122"/>
                </a:rPr>
                <a:t>层</a:t>
              </a:r>
            </a:p>
          </p:txBody>
        </p:sp>
        <p:sp>
          <p:nvSpPr>
            <p:cNvPr id="169012" name="Rectangle 52"/>
            <p:cNvSpPr>
              <a:spLocks noChangeArrowheads="1"/>
            </p:cNvSpPr>
            <p:nvPr/>
          </p:nvSpPr>
          <p:spPr bwMode="auto">
            <a:xfrm>
              <a:off x="6213609" y="1733004"/>
              <a:ext cx="1528894" cy="525463"/>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b="1">
                <a:solidFill>
                  <a:srgbClr val="333399"/>
                </a:solidFill>
                <a:latin typeface="+mn-lt"/>
                <a:ea typeface="黑体" pitchFamily="2" charset="-122"/>
              </a:endParaRPr>
            </a:p>
          </p:txBody>
        </p:sp>
        <p:sp>
          <p:nvSpPr>
            <p:cNvPr id="169013" name="Text Box 53"/>
            <p:cNvSpPr txBox="1">
              <a:spLocks noChangeArrowheads="1"/>
            </p:cNvSpPr>
            <p:nvPr/>
          </p:nvSpPr>
          <p:spPr bwMode="auto">
            <a:xfrm>
              <a:off x="6256603" y="1804442"/>
              <a:ext cx="1531188" cy="400110"/>
            </a:xfrm>
            <a:prstGeom prst="rect">
              <a:avLst/>
            </a:prstGeom>
            <a:solidFill>
              <a:srgbClr val="CCECFF"/>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333399"/>
                  </a:solidFill>
                  <a:latin typeface="+mn-lt"/>
                  <a:ea typeface="黑体" pitchFamily="2" charset="-122"/>
                </a:rPr>
                <a:t>实体 </a:t>
              </a:r>
              <a:r>
                <a:rPr kumimoji="1" lang="en-US" altLang="zh-CN" sz="2000" b="1" dirty="0">
                  <a:solidFill>
                    <a:srgbClr val="333399"/>
                  </a:solidFill>
                  <a:latin typeface="+mn-lt"/>
                  <a:ea typeface="黑体" pitchFamily="2" charset="-122"/>
                </a:rPr>
                <a:t>(n + 1)</a:t>
              </a:r>
            </a:p>
          </p:txBody>
        </p:sp>
        <p:sp>
          <p:nvSpPr>
            <p:cNvPr id="169014" name="Text Box 54"/>
            <p:cNvSpPr txBox="1">
              <a:spLocks noChangeArrowheads="1"/>
            </p:cNvSpPr>
            <p:nvPr/>
          </p:nvSpPr>
          <p:spPr bwMode="auto">
            <a:xfrm>
              <a:off x="6910123" y="1556792"/>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kumimoji="1" lang="zh-CN" altLang="zh-CN" sz="3200" b="1">
                <a:solidFill>
                  <a:srgbClr val="333399"/>
                </a:solidFill>
                <a:latin typeface="+mn-lt"/>
                <a:ea typeface="黑体" pitchFamily="2" charset="-122"/>
              </a:endParaRPr>
            </a:p>
          </p:txBody>
        </p:sp>
        <p:sp>
          <p:nvSpPr>
            <p:cNvPr id="169015" name="Text Box 55"/>
            <p:cNvSpPr txBox="1">
              <a:spLocks noChangeArrowheads="1"/>
            </p:cNvSpPr>
            <p:nvPr/>
          </p:nvSpPr>
          <p:spPr bwMode="auto">
            <a:xfrm>
              <a:off x="560512" y="1628800"/>
              <a:ext cx="89675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400" b="1" dirty="0">
                  <a:solidFill>
                    <a:srgbClr val="333399"/>
                  </a:solidFill>
                  <a:latin typeface="+mn-lt"/>
                  <a:ea typeface="黑体" pitchFamily="2" charset="-122"/>
                </a:rPr>
                <a:t>服务用户</a:t>
              </a:r>
            </a:p>
          </p:txBody>
        </p:sp>
        <p:sp>
          <p:nvSpPr>
            <p:cNvPr id="169016" name="Rectangle 56"/>
            <p:cNvSpPr>
              <a:spLocks noChangeArrowheads="1"/>
            </p:cNvSpPr>
            <p:nvPr/>
          </p:nvSpPr>
          <p:spPr bwMode="auto">
            <a:xfrm>
              <a:off x="1996679" y="3960267"/>
              <a:ext cx="153061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b="1">
                <a:solidFill>
                  <a:srgbClr val="333399"/>
                </a:solidFill>
                <a:latin typeface="+mn-lt"/>
                <a:ea typeface="黑体" pitchFamily="2" charset="-122"/>
              </a:endParaRPr>
            </a:p>
          </p:txBody>
        </p:sp>
        <p:sp>
          <p:nvSpPr>
            <p:cNvPr id="169017" name="Rectangle 57"/>
            <p:cNvSpPr>
              <a:spLocks noChangeArrowheads="1"/>
            </p:cNvSpPr>
            <p:nvPr/>
          </p:nvSpPr>
          <p:spPr bwMode="auto">
            <a:xfrm>
              <a:off x="6184371" y="3960267"/>
              <a:ext cx="1530615" cy="523875"/>
            </a:xfrm>
            <a:prstGeom prst="rect">
              <a:avLst/>
            </a:prstGeom>
            <a:solidFill>
              <a:srgbClr val="CCECFF"/>
            </a:solidFill>
            <a:ln w="12700">
              <a:solidFill>
                <a:schemeClr val="tx1"/>
              </a:solidFill>
              <a:miter lim="800000"/>
              <a:headEnd/>
              <a:tailEnd/>
            </a:ln>
            <a:effectLst>
              <a:outerShdw dist="45791" dir="2021404" algn="ctr" rotWithShape="0">
                <a:schemeClr val="bg2"/>
              </a:outerShdw>
            </a:effectLst>
          </p:spPr>
          <p:txBody>
            <a:bodyPr wrap="none" anchor="ctr"/>
            <a:lstStyle/>
            <a:p>
              <a:pPr algn="ctr"/>
              <a:endParaRPr kumimoji="1" lang="zh-CN" altLang="zh-CN" sz="2000" b="1">
                <a:solidFill>
                  <a:srgbClr val="333399"/>
                </a:solidFill>
                <a:latin typeface="+mn-lt"/>
                <a:ea typeface="黑体" pitchFamily="2" charset="-122"/>
              </a:endParaRPr>
            </a:p>
          </p:txBody>
        </p:sp>
        <p:sp>
          <p:nvSpPr>
            <p:cNvPr id="169018" name="Text Box 58"/>
            <p:cNvSpPr txBox="1">
              <a:spLocks noChangeArrowheads="1"/>
            </p:cNvSpPr>
            <p:nvPr/>
          </p:nvSpPr>
          <p:spPr bwMode="auto">
            <a:xfrm>
              <a:off x="2144581" y="4001542"/>
              <a:ext cx="109837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333399"/>
                  </a:solidFill>
                  <a:latin typeface="+mn-lt"/>
                  <a:ea typeface="黑体" pitchFamily="2" charset="-122"/>
                </a:rPr>
                <a:t>实体 </a:t>
              </a:r>
              <a:r>
                <a:rPr kumimoji="1" lang="en-US" altLang="zh-CN" sz="2000" b="1" dirty="0">
                  <a:solidFill>
                    <a:srgbClr val="333399"/>
                  </a:solidFill>
                  <a:latin typeface="+mn-lt"/>
                  <a:ea typeface="黑体" pitchFamily="2" charset="-122"/>
                </a:rPr>
                <a:t>(n)</a:t>
              </a:r>
            </a:p>
          </p:txBody>
        </p:sp>
        <p:sp>
          <p:nvSpPr>
            <p:cNvPr id="169019" name="Text Box 59"/>
            <p:cNvSpPr txBox="1">
              <a:spLocks noChangeArrowheads="1"/>
            </p:cNvSpPr>
            <p:nvPr/>
          </p:nvSpPr>
          <p:spPr bwMode="auto">
            <a:xfrm>
              <a:off x="6413104" y="4001542"/>
              <a:ext cx="1098378" cy="400110"/>
            </a:xfrm>
            <a:prstGeom prst="rect">
              <a:avLst/>
            </a:prstGeom>
            <a:solidFill>
              <a:srgbClr val="CCECFF"/>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333399"/>
                  </a:solidFill>
                  <a:latin typeface="+mn-lt"/>
                  <a:ea typeface="黑体" pitchFamily="2" charset="-122"/>
                </a:rPr>
                <a:t>实体 </a:t>
              </a:r>
              <a:r>
                <a:rPr kumimoji="1" lang="en-US" altLang="zh-CN" sz="2000" b="1" dirty="0">
                  <a:solidFill>
                    <a:srgbClr val="333399"/>
                  </a:solidFill>
                  <a:latin typeface="+mn-lt"/>
                  <a:ea typeface="黑体" pitchFamily="2" charset="-122"/>
                </a:rPr>
                <a:t>(n)</a:t>
              </a:r>
            </a:p>
          </p:txBody>
        </p:sp>
        <p:sp>
          <p:nvSpPr>
            <p:cNvPr id="169020" name="Line 60"/>
            <p:cNvSpPr>
              <a:spLocks noChangeShapeType="1"/>
            </p:cNvSpPr>
            <p:nvPr/>
          </p:nvSpPr>
          <p:spPr bwMode="auto">
            <a:xfrm>
              <a:off x="3530734" y="4207916"/>
              <a:ext cx="2713831" cy="0"/>
            </a:xfrm>
            <a:prstGeom prst="line">
              <a:avLst/>
            </a:prstGeom>
            <a:noFill/>
            <a:ln w="19050">
              <a:solidFill>
                <a:schemeClr val="tx1"/>
              </a:solidFill>
              <a:prstDash val="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333399"/>
                </a:solidFill>
                <a:latin typeface="+mn-lt"/>
                <a:ea typeface="黑体" pitchFamily="2" charset="-122"/>
              </a:endParaRPr>
            </a:p>
          </p:txBody>
        </p:sp>
        <p:sp>
          <p:nvSpPr>
            <p:cNvPr id="169021" name="Text Box 61"/>
            <p:cNvSpPr txBox="1">
              <a:spLocks noChangeArrowheads="1"/>
            </p:cNvSpPr>
            <p:nvPr/>
          </p:nvSpPr>
          <p:spPr bwMode="auto">
            <a:xfrm>
              <a:off x="4328716" y="4009478"/>
              <a:ext cx="1196161" cy="461665"/>
            </a:xfrm>
            <a:prstGeom prst="rect">
              <a:avLst/>
            </a:prstGeom>
            <a:solidFill>
              <a:schemeClr val="bg1"/>
            </a:solidFill>
            <a:ln>
              <a:noFill/>
            </a:ln>
            <a:effectLst/>
            <a:extLs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333399"/>
                  </a:solidFill>
                  <a:latin typeface="+mn-lt"/>
                  <a:ea typeface="黑体" pitchFamily="2" charset="-122"/>
                </a:rPr>
                <a:t>协议</a:t>
              </a:r>
              <a:r>
                <a:rPr kumimoji="1" lang="en-US" altLang="zh-CN" sz="2400" b="1">
                  <a:solidFill>
                    <a:srgbClr val="333399"/>
                  </a:solidFill>
                  <a:latin typeface="+mn-lt"/>
                  <a:ea typeface="黑体" pitchFamily="2" charset="-122"/>
                </a:rPr>
                <a:t>(n)</a:t>
              </a:r>
            </a:p>
          </p:txBody>
        </p:sp>
      </p:grpSp>
      <p:sp>
        <p:nvSpPr>
          <p:cNvPr id="2" name="矩形 1"/>
          <p:cNvSpPr/>
          <p:nvPr/>
        </p:nvSpPr>
        <p:spPr>
          <a:xfrm>
            <a:off x="2679436" y="5877272"/>
            <a:ext cx="4771449" cy="461665"/>
          </a:xfrm>
          <a:prstGeom prst="rect">
            <a:avLst/>
          </a:prstGeom>
        </p:spPr>
        <p:txBody>
          <a:bodyPr wrap="square">
            <a:spAutoFit/>
          </a:bodyPr>
          <a:lstStyle/>
          <a:p>
            <a:pPr algn="ctr"/>
            <a:r>
              <a:rPr lang="zh-CN" altLang="zh-CN" sz="2400" b="1" dirty="0">
                <a:latin typeface="+mn-lt"/>
                <a:ea typeface="黑体" pitchFamily="2" charset="-122"/>
              </a:rPr>
              <a:t>相邻两层之间的关系</a:t>
            </a:r>
            <a:endParaRPr lang="zh-CN" altLang="en-US" sz="2400" b="1" dirty="0">
              <a:latin typeface="+mn-lt"/>
              <a:ea typeface="黑体" pitchFamily="2" charset="-122"/>
            </a:endParaRPr>
          </a:p>
        </p:txBody>
      </p:sp>
    </p:spTree>
    <p:extLst>
      <p:ext uri="{BB962C8B-B14F-4D97-AF65-F5344CB8AC3E}">
        <p14:creationId xmlns:p14="http://schemas.microsoft.com/office/powerpoint/2010/main" val="37880564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pPr algn="ctr"/>
            <a:r>
              <a:rPr lang="zh-CN" altLang="en-US"/>
              <a:t>协议很复杂 </a:t>
            </a:r>
          </a:p>
        </p:txBody>
      </p:sp>
      <p:sp>
        <p:nvSpPr>
          <p:cNvPr id="140291" name="Rectangle 3"/>
          <p:cNvSpPr>
            <a:spLocks noGrp="1" noChangeArrowheads="1"/>
          </p:cNvSpPr>
          <p:nvPr>
            <p:ph idx="1"/>
          </p:nvPr>
        </p:nvSpPr>
        <p:spPr/>
        <p:txBody>
          <a:bodyPr/>
          <a:lstStyle/>
          <a:p>
            <a:r>
              <a:rPr lang="zh-CN" altLang="en-US" dirty="0"/>
              <a:t>协议必须把所有</a:t>
            </a:r>
            <a:r>
              <a:rPr lang="zh-CN" altLang="en-US" dirty="0">
                <a:solidFill>
                  <a:srgbClr val="FF0000"/>
                </a:solidFill>
              </a:rPr>
              <a:t>不利的条件</a:t>
            </a:r>
            <a:r>
              <a:rPr lang="zh-CN" altLang="en-US" dirty="0"/>
              <a:t>事先都估计到，而</a:t>
            </a:r>
            <a:r>
              <a:rPr lang="zh-CN" altLang="en-US" dirty="0">
                <a:solidFill>
                  <a:srgbClr val="FF0000"/>
                </a:solidFill>
              </a:rPr>
              <a:t>不能假定</a:t>
            </a:r>
            <a:r>
              <a:rPr lang="zh-CN" altLang="en-US" dirty="0"/>
              <a:t>一切都是正常的和非常理想的。 </a:t>
            </a:r>
          </a:p>
          <a:p>
            <a:r>
              <a:rPr lang="zh-CN" altLang="en-US" dirty="0"/>
              <a:t>看一个计算机网络协议是否正确，不能光看在正常情况下是否正确，还必须非常仔细地检查这个协议</a:t>
            </a:r>
            <a:r>
              <a:rPr lang="zh-CN" altLang="en-US" dirty="0">
                <a:solidFill>
                  <a:srgbClr val="FF0000"/>
                </a:solidFill>
              </a:rPr>
              <a:t>能否应付各种异常情况。 </a:t>
            </a:r>
          </a:p>
        </p:txBody>
      </p:sp>
    </p:spTree>
    <p:extLst>
      <p:ext uri="{BB962C8B-B14F-4D97-AF65-F5344CB8AC3E}">
        <p14:creationId xmlns:p14="http://schemas.microsoft.com/office/powerpoint/2010/main" val="5698424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ctr"/>
            <a:r>
              <a:rPr lang="en-US" altLang="zh-CN" dirty="0"/>
              <a:t>【</a:t>
            </a:r>
            <a:r>
              <a:rPr lang="zh-CN" altLang="en-US" dirty="0"/>
              <a:t>例</a:t>
            </a:r>
            <a:r>
              <a:rPr lang="en-US" altLang="zh-CN" dirty="0"/>
              <a:t>1-1】</a:t>
            </a:r>
            <a:r>
              <a:rPr lang="zh-CN" altLang="en-US" dirty="0"/>
              <a:t>著名的协议举例</a:t>
            </a:r>
            <a:endParaRPr lang="en-US" altLang="zh-CN" dirty="0"/>
          </a:p>
        </p:txBody>
      </p:sp>
      <p:sp>
        <p:nvSpPr>
          <p:cNvPr id="141315" name="Rectangle 3"/>
          <p:cNvSpPr>
            <a:spLocks noGrp="1" noChangeArrowheads="1"/>
          </p:cNvSpPr>
          <p:nvPr>
            <p:ph idx="1"/>
          </p:nvPr>
        </p:nvSpPr>
        <p:spPr/>
        <p:txBody>
          <a:bodyPr/>
          <a:lstStyle/>
          <a:p>
            <a:r>
              <a:rPr lang="zh-CN" altLang="en-US" sz="2900" dirty="0"/>
              <a:t>占据东、西两个山顶的蓝军 </a:t>
            </a:r>
            <a:r>
              <a:rPr lang="en-US" altLang="zh-CN" sz="2900" dirty="0"/>
              <a:t>1 </a:t>
            </a:r>
            <a:r>
              <a:rPr lang="zh-CN" altLang="en-US" sz="2900" dirty="0"/>
              <a:t>和蓝军 </a:t>
            </a:r>
            <a:r>
              <a:rPr lang="en-US" altLang="zh-CN" sz="2900" dirty="0"/>
              <a:t>2 </a:t>
            </a:r>
            <a:r>
              <a:rPr lang="zh-CN" altLang="en-US" sz="2900" dirty="0"/>
              <a:t>与驻扎在山谷的白军作战。其力量对比是：单独的蓝军</a:t>
            </a:r>
            <a:r>
              <a:rPr lang="en-US" altLang="zh-CN" sz="2900" dirty="0"/>
              <a:t>1</a:t>
            </a:r>
            <a:r>
              <a:rPr lang="zh-CN" altLang="en-US" sz="2900" dirty="0"/>
              <a:t>或蓝军</a:t>
            </a:r>
            <a:r>
              <a:rPr lang="en-US" altLang="zh-CN" sz="2900" dirty="0"/>
              <a:t>2</a:t>
            </a:r>
            <a:r>
              <a:rPr lang="zh-CN" altLang="en-US" sz="2900" dirty="0"/>
              <a:t>打不过白军，但蓝军 </a:t>
            </a:r>
            <a:r>
              <a:rPr lang="en-US" altLang="zh-CN" sz="2900" dirty="0"/>
              <a:t>1 </a:t>
            </a:r>
            <a:r>
              <a:rPr lang="zh-CN" altLang="en-US" sz="2900" dirty="0"/>
              <a:t>和蓝军 </a:t>
            </a:r>
            <a:r>
              <a:rPr lang="en-US" altLang="zh-CN" sz="2900" dirty="0"/>
              <a:t>2 </a:t>
            </a:r>
            <a:r>
              <a:rPr lang="zh-CN" altLang="en-US" sz="2900" dirty="0"/>
              <a:t>协同作战则可战胜白军。现蓝军 </a:t>
            </a:r>
            <a:r>
              <a:rPr lang="en-US" altLang="zh-CN" sz="2900" dirty="0"/>
              <a:t>1 </a:t>
            </a:r>
            <a:r>
              <a:rPr lang="zh-CN" altLang="en-US" sz="2900" dirty="0"/>
              <a:t>拟于次日正午向白军发起攻击。于是用计算机发送电文给蓝军 </a:t>
            </a:r>
            <a:r>
              <a:rPr lang="en-US" altLang="zh-CN" sz="2900" dirty="0"/>
              <a:t>2</a:t>
            </a:r>
            <a:r>
              <a:rPr lang="zh-CN" altLang="en-US" sz="2900" dirty="0"/>
              <a:t>。但通信线路很不好，电文出错或丢失的可能性较大（没有电话可使用）。因此要求收到电文的友军必须送回一个确认电文。但此确认电文也可能出错或丢失。</a:t>
            </a:r>
            <a:r>
              <a:rPr lang="zh-CN" altLang="en-US" sz="2900" dirty="0">
                <a:solidFill>
                  <a:srgbClr val="FF0000"/>
                </a:solidFill>
              </a:rPr>
              <a:t>试问能否设计出一种协议使得蓝军 </a:t>
            </a:r>
            <a:r>
              <a:rPr lang="en-US" altLang="zh-CN" sz="2900" dirty="0">
                <a:solidFill>
                  <a:srgbClr val="FF0000"/>
                </a:solidFill>
              </a:rPr>
              <a:t>1 </a:t>
            </a:r>
            <a:r>
              <a:rPr lang="zh-CN" altLang="en-US" sz="2900" dirty="0">
                <a:solidFill>
                  <a:srgbClr val="FF0000"/>
                </a:solidFill>
              </a:rPr>
              <a:t>和蓝军 </a:t>
            </a:r>
            <a:r>
              <a:rPr lang="en-US" altLang="zh-CN" sz="2900" dirty="0">
                <a:solidFill>
                  <a:srgbClr val="FF0000"/>
                </a:solidFill>
              </a:rPr>
              <a:t>2 </a:t>
            </a:r>
            <a:r>
              <a:rPr lang="zh-CN" altLang="en-US" sz="2900" dirty="0">
                <a:solidFill>
                  <a:srgbClr val="FF0000"/>
                </a:solidFill>
              </a:rPr>
              <a:t>能够实现协同作战，因而一定（即 </a:t>
            </a:r>
            <a:r>
              <a:rPr lang="en-US" altLang="zh-CN" sz="2900" dirty="0">
                <a:solidFill>
                  <a:srgbClr val="FF0000"/>
                </a:solidFill>
              </a:rPr>
              <a:t>100 %</a:t>
            </a:r>
            <a:r>
              <a:rPr lang="zh-CN" altLang="en-US" sz="2900" dirty="0">
                <a:solidFill>
                  <a:srgbClr val="FF0000"/>
                </a:solidFill>
              </a:rPr>
              <a:t>而不是 </a:t>
            </a:r>
            <a:r>
              <a:rPr lang="en-US" altLang="zh-CN" sz="2900" dirty="0">
                <a:solidFill>
                  <a:srgbClr val="FF0000"/>
                </a:solidFill>
              </a:rPr>
              <a:t>99.999…%</a:t>
            </a:r>
            <a:r>
              <a:rPr lang="zh-CN" altLang="en-US" sz="2900" dirty="0">
                <a:solidFill>
                  <a:srgbClr val="FF0000"/>
                </a:solidFill>
              </a:rPr>
              <a:t>）取得胜利？ </a:t>
            </a:r>
          </a:p>
        </p:txBody>
      </p:sp>
    </p:spTree>
    <p:extLst>
      <p:ext uri="{BB962C8B-B14F-4D97-AF65-F5344CB8AC3E}">
        <p14:creationId xmlns:p14="http://schemas.microsoft.com/office/powerpoint/2010/main" val="28707186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Freeform 2"/>
          <p:cNvSpPr>
            <a:spLocks/>
          </p:cNvSpPr>
          <p:nvPr/>
        </p:nvSpPr>
        <p:spPr bwMode="auto">
          <a:xfrm>
            <a:off x="229549" y="5027683"/>
            <a:ext cx="9721983" cy="1889125"/>
          </a:xfrm>
          <a:custGeom>
            <a:avLst/>
            <a:gdLst>
              <a:gd name="T0" fmla="*/ 0 w 5653"/>
              <a:gd name="T1" fmla="*/ 1159 h 1190"/>
              <a:gd name="T2" fmla="*/ 928 w 5653"/>
              <a:gd name="T3" fmla="*/ 90 h 1190"/>
              <a:gd name="T4" fmla="*/ 1744 w 5653"/>
              <a:gd name="T5" fmla="*/ 618 h 1190"/>
              <a:gd name="T6" fmla="*/ 2800 w 5653"/>
              <a:gd name="T7" fmla="*/ 1098 h 1190"/>
              <a:gd name="T8" fmla="*/ 3379 w 5653"/>
              <a:gd name="T9" fmla="*/ 1127 h 1190"/>
              <a:gd name="T10" fmla="*/ 3808 w 5653"/>
              <a:gd name="T11" fmla="*/ 1098 h 1190"/>
              <a:gd name="T12" fmla="*/ 4240 w 5653"/>
              <a:gd name="T13" fmla="*/ 666 h 1190"/>
              <a:gd name="T14" fmla="*/ 4558 w 5653"/>
              <a:gd name="T15" fmla="*/ 201 h 1190"/>
              <a:gd name="T16" fmla="*/ 4958 w 5653"/>
              <a:gd name="T17" fmla="*/ 243 h 1190"/>
              <a:gd name="T18" fmla="*/ 5158 w 5653"/>
              <a:gd name="T19" fmla="*/ 727 h 1190"/>
              <a:gd name="T20" fmla="*/ 5316 w 5653"/>
              <a:gd name="T21" fmla="*/ 927 h 1190"/>
              <a:gd name="T22" fmla="*/ 5410 w 5653"/>
              <a:gd name="T23" fmla="*/ 1033 h 1190"/>
              <a:gd name="T24" fmla="*/ 5653 w 5653"/>
              <a:gd name="T25"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53" h="1190">
                <a:moveTo>
                  <a:pt x="0" y="1159"/>
                </a:moveTo>
                <a:cubicBezTo>
                  <a:pt x="153" y="981"/>
                  <a:pt x="637" y="180"/>
                  <a:pt x="928" y="90"/>
                </a:cubicBezTo>
                <a:cubicBezTo>
                  <a:pt x="1219" y="0"/>
                  <a:pt x="1432" y="450"/>
                  <a:pt x="1744" y="618"/>
                </a:cubicBezTo>
                <a:cubicBezTo>
                  <a:pt x="2056" y="786"/>
                  <a:pt x="2528" y="1013"/>
                  <a:pt x="2800" y="1098"/>
                </a:cubicBezTo>
                <a:cubicBezTo>
                  <a:pt x="3072" y="1183"/>
                  <a:pt x="3211" y="1127"/>
                  <a:pt x="3379" y="1127"/>
                </a:cubicBezTo>
                <a:cubicBezTo>
                  <a:pt x="3547" y="1127"/>
                  <a:pt x="3665" y="1175"/>
                  <a:pt x="3808" y="1098"/>
                </a:cubicBezTo>
                <a:cubicBezTo>
                  <a:pt x="3951" y="1021"/>
                  <a:pt x="4115" y="816"/>
                  <a:pt x="4240" y="666"/>
                </a:cubicBezTo>
                <a:cubicBezTo>
                  <a:pt x="4365" y="516"/>
                  <a:pt x="4438" y="272"/>
                  <a:pt x="4558" y="201"/>
                </a:cubicBezTo>
                <a:cubicBezTo>
                  <a:pt x="4678" y="130"/>
                  <a:pt x="4858" y="155"/>
                  <a:pt x="4958" y="243"/>
                </a:cubicBezTo>
                <a:cubicBezTo>
                  <a:pt x="5058" y="331"/>
                  <a:pt x="5098" y="613"/>
                  <a:pt x="5158" y="727"/>
                </a:cubicBezTo>
                <a:cubicBezTo>
                  <a:pt x="5218" y="841"/>
                  <a:pt x="5274" y="876"/>
                  <a:pt x="5316" y="927"/>
                </a:cubicBezTo>
                <a:cubicBezTo>
                  <a:pt x="5358" y="978"/>
                  <a:pt x="5354" y="989"/>
                  <a:pt x="5410" y="1033"/>
                </a:cubicBezTo>
                <a:cubicBezTo>
                  <a:pt x="5466" y="1077"/>
                  <a:pt x="5603" y="1157"/>
                  <a:pt x="5653" y="1190"/>
                </a:cubicBezTo>
              </a:path>
            </a:pathLst>
          </a:custGeom>
          <a:solidFill>
            <a:srgbClr val="66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39" name="Line 3"/>
          <p:cNvSpPr>
            <a:spLocks noChangeShapeType="1"/>
          </p:cNvSpPr>
          <p:nvPr/>
        </p:nvSpPr>
        <p:spPr bwMode="auto">
          <a:xfrm>
            <a:off x="1990616" y="4412749"/>
            <a:ext cx="0" cy="6858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0" name="AutoShape 4"/>
          <p:cNvSpPr>
            <a:spLocks noChangeArrowheads="1"/>
          </p:cNvSpPr>
          <p:nvPr/>
        </p:nvSpPr>
        <p:spPr bwMode="auto">
          <a:xfrm rot="-252939">
            <a:off x="1990616" y="4412749"/>
            <a:ext cx="908050" cy="533400"/>
          </a:xfrm>
          <a:prstGeom prst="wave">
            <a:avLst>
              <a:gd name="adj1" fmla="val 12500"/>
              <a:gd name="adj2" fmla="val -1639"/>
            </a:avLst>
          </a:prstGeom>
          <a:solidFill>
            <a:srgbClr val="0000CC"/>
          </a:solidFill>
          <a:ln>
            <a:noFill/>
          </a:ln>
          <a:effectLst/>
        </p:spPr>
        <p:txBody>
          <a:bodyPr wrap="none" anchor="ctr"/>
          <a:lstStyle/>
          <a:p>
            <a:endParaRPr lang="zh-CN" altLang="en-US"/>
          </a:p>
        </p:txBody>
      </p:sp>
      <p:sp>
        <p:nvSpPr>
          <p:cNvPr id="142341" name="Line 5"/>
          <p:cNvSpPr>
            <a:spLocks noChangeShapeType="1"/>
          </p:cNvSpPr>
          <p:nvPr/>
        </p:nvSpPr>
        <p:spPr bwMode="auto">
          <a:xfrm>
            <a:off x="8346966" y="4565149"/>
            <a:ext cx="0" cy="6858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2" name="AutoShape 6"/>
          <p:cNvSpPr>
            <a:spLocks noChangeArrowheads="1"/>
          </p:cNvSpPr>
          <p:nvPr/>
        </p:nvSpPr>
        <p:spPr bwMode="auto">
          <a:xfrm rot="-252939">
            <a:off x="8346966" y="4565149"/>
            <a:ext cx="908050" cy="533400"/>
          </a:xfrm>
          <a:prstGeom prst="wave">
            <a:avLst>
              <a:gd name="adj1" fmla="val 12500"/>
              <a:gd name="adj2" fmla="val -1639"/>
            </a:avLst>
          </a:prstGeom>
          <a:solidFill>
            <a:srgbClr val="0000CC"/>
          </a:solidFill>
          <a:ln>
            <a:noFill/>
          </a:ln>
          <a:effectLst/>
        </p:spPr>
        <p:txBody>
          <a:bodyPr wrap="none" anchor="ctr"/>
          <a:lstStyle/>
          <a:p>
            <a:endParaRPr lang="zh-CN" altLang="en-US"/>
          </a:p>
        </p:txBody>
      </p:sp>
      <p:sp>
        <p:nvSpPr>
          <p:cNvPr id="142343" name="AutoShape 7"/>
          <p:cNvSpPr>
            <a:spLocks noChangeArrowheads="1"/>
          </p:cNvSpPr>
          <p:nvPr/>
        </p:nvSpPr>
        <p:spPr bwMode="auto">
          <a:xfrm rot="-252939">
            <a:off x="5232424" y="5852612"/>
            <a:ext cx="1382713" cy="762000"/>
          </a:xfrm>
          <a:prstGeom prst="wave">
            <a:avLst>
              <a:gd name="adj1" fmla="val 12500"/>
              <a:gd name="adj2" fmla="val -1639"/>
            </a:avLst>
          </a:prstGeom>
          <a:solidFill>
            <a:schemeClr val="bg1"/>
          </a:solidFill>
          <a:ln w="19050">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44" name="Line 8"/>
          <p:cNvSpPr>
            <a:spLocks noChangeShapeType="1"/>
          </p:cNvSpPr>
          <p:nvPr/>
        </p:nvSpPr>
        <p:spPr bwMode="auto">
          <a:xfrm>
            <a:off x="5270259" y="5860550"/>
            <a:ext cx="0" cy="862013"/>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45" name="Group 9"/>
          <p:cNvGrpSpPr>
            <a:grpSpLocks/>
          </p:cNvGrpSpPr>
          <p:nvPr/>
        </p:nvGrpSpPr>
        <p:grpSpPr bwMode="auto">
          <a:xfrm>
            <a:off x="355467" y="421957"/>
            <a:ext cx="3797300" cy="914400"/>
            <a:chOff x="912" y="192"/>
            <a:chExt cx="2208" cy="576"/>
          </a:xfrm>
        </p:grpSpPr>
        <p:sp>
          <p:nvSpPr>
            <p:cNvPr id="142346" name="AutoShape 10"/>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2347" name="Text Box 11"/>
            <p:cNvSpPr txBox="1">
              <a:spLocks noChangeArrowheads="1"/>
            </p:cNvSpPr>
            <p:nvPr/>
          </p:nvSpPr>
          <p:spPr bwMode="auto">
            <a:xfrm>
              <a:off x="912" y="336"/>
              <a:ext cx="189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itchFamily="18" charset="0"/>
                  <a:ea typeface="黑体" pitchFamily="2" charset="-122"/>
                </a:rPr>
                <a:t>明日正午进攻，如何？</a:t>
              </a:r>
            </a:p>
          </p:txBody>
        </p:sp>
      </p:grpSp>
      <p:grpSp>
        <p:nvGrpSpPr>
          <p:cNvPr id="142348" name="Group 12"/>
          <p:cNvGrpSpPr>
            <a:grpSpLocks/>
          </p:cNvGrpSpPr>
          <p:nvPr/>
        </p:nvGrpSpPr>
        <p:grpSpPr bwMode="auto">
          <a:xfrm>
            <a:off x="5764212" y="1183957"/>
            <a:ext cx="3797300" cy="914400"/>
            <a:chOff x="3303" y="672"/>
            <a:chExt cx="2208" cy="576"/>
          </a:xfrm>
        </p:grpSpPr>
        <p:sp>
          <p:nvSpPr>
            <p:cNvPr id="142349" name="AutoShape 13"/>
            <p:cNvSpPr>
              <a:spLocks noChangeArrowheads="1"/>
            </p:cNvSpPr>
            <p:nvPr/>
          </p:nvSpPr>
          <p:spPr bwMode="auto">
            <a:xfrm rot="-10800000">
              <a:off x="3303" y="672"/>
              <a:ext cx="2208" cy="576"/>
            </a:xfrm>
            <a:prstGeom prst="rightArrow">
              <a:avLst>
                <a:gd name="adj1" fmla="val 50000"/>
                <a:gd name="adj2" fmla="val 95833"/>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142350" name="Text Box 14"/>
            <p:cNvSpPr txBox="1">
              <a:spLocks noChangeArrowheads="1"/>
            </p:cNvSpPr>
            <p:nvPr/>
          </p:nvSpPr>
          <p:spPr bwMode="auto">
            <a:xfrm>
              <a:off x="3907" y="816"/>
              <a:ext cx="465" cy="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CC"/>
                  </a:solidFill>
                  <a:latin typeface="Times New Roman" pitchFamily="18" charset="0"/>
                  <a:ea typeface="黑体" pitchFamily="2" charset="-122"/>
                </a:rPr>
                <a:t>同意</a:t>
              </a:r>
            </a:p>
          </p:txBody>
        </p:sp>
      </p:grpSp>
      <p:grpSp>
        <p:nvGrpSpPr>
          <p:cNvPr id="142351" name="Group 15"/>
          <p:cNvGrpSpPr>
            <a:grpSpLocks/>
          </p:cNvGrpSpPr>
          <p:nvPr/>
        </p:nvGrpSpPr>
        <p:grpSpPr bwMode="auto">
          <a:xfrm>
            <a:off x="355467" y="1869757"/>
            <a:ext cx="3797300" cy="914400"/>
            <a:chOff x="912" y="192"/>
            <a:chExt cx="2208" cy="576"/>
          </a:xfrm>
        </p:grpSpPr>
        <p:sp>
          <p:nvSpPr>
            <p:cNvPr id="142352" name="AutoShape 16"/>
            <p:cNvSpPr>
              <a:spLocks noChangeArrowheads="1"/>
            </p:cNvSpPr>
            <p:nvPr/>
          </p:nvSpPr>
          <p:spPr bwMode="auto">
            <a:xfrm>
              <a:off x="912" y="192"/>
              <a:ext cx="2208" cy="576"/>
            </a:xfrm>
            <a:prstGeom prst="rightArrow">
              <a:avLst>
                <a:gd name="adj1" fmla="val 50000"/>
                <a:gd name="adj2" fmla="val 95833"/>
              </a:avLst>
            </a:prstGeom>
            <a:solidFill>
              <a:srgbClr val="00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p>
          </p:txBody>
        </p:sp>
        <p:sp>
          <p:nvSpPr>
            <p:cNvPr id="142353" name="Text Box 17"/>
            <p:cNvSpPr txBox="1">
              <a:spLocks noChangeArrowheads="1"/>
            </p:cNvSpPr>
            <p:nvPr/>
          </p:nvSpPr>
          <p:spPr bwMode="auto">
            <a:xfrm>
              <a:off x="912" y="336"/>
              <a:ext cx="1181"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FFFF00"/>
                  </a:solidFill>
                  <a:latin typeface="Times New Roman" pitchFamily="18" charset="0"/>
                  <a:ea typeface="黑体" pitchFamily="2" charset="-122"/>
                </a:rPr>
                <a:t>收到“同意”</a:t>
              </a:r>
            </a:p>
          </p:txBody>
        </p:sp>
      </p:grpSp>
      <p:grpSp>
        <p:nvGrpSpPr>
          <p:cNvPr id="142354" name="Group 18"/>
          <p:cNvGrpSpPr>
            <a:grpSpLocks/>
          </p:cNvGrpSpPr>
          <p:nvPr/>
        </p:nvGrpSpPr>
        <p:grpSpPr bwMode="auto">
          <a:xfrm>
            <a:off x="5764212" y="2555557"/>
            <a:ext cx="3797300" cy="914400"/>
            <a:chOff x="3303" y="1536"/>
            <a:chExt cx="2208" cy="576"/>
          </a:xfrm>
        </p:grpSpPr>
        <p:sp>
          <p:nvSpPr>
            <p:cNvPr id="142355" name="AutoShape 19"/>
            <p:cNvSpPr>
              <a:spLocks noChangeArrowheads="1"/>
            </p:cNvSpPr>
            <p:nvPr/>
          </p:nvSpPr>
          <p:spPr bwMode="auto">
            <a:xfrm rot="-10800000">
              <a:off x="3303" y="1536"/>
              <a:ext cx="2208" cy="576"/>
            </a:xfrm>
            <a:prstGeom prst="rightArrow">
              <a:avLst>
                <a:gd name="adj1" fmla="val 50000"/>
                <a:gd name="adj2" fmla="val 95833"/>
              </a:avLst>
            </a:prstGeom>
            <a:solidFill>
              <a:srgbClr val="FFFF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endParaRPr>
            </a:p>
          </p:txBody>
        </p:sp>
        <p:sp>
          <p:nvSpPr>
            <p:cNvPr id="142356" name="Text Box 20"/>
            <p:cNvSpPr txBox="1">
              <a:spLocks noChangeArrowheads="1"/>
            </p:cNvSpPr>
            <p:nvPr/>
          </p:nvSpPr>
          <p:spPr bwMode="auto">
            <a:xfrm>
              <a:off x="3495" y="1680"/>
              <a:ext cx="1718" cy="291"/>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1"/>
                    </a:outerShdw>
                  </a:effectLst>
                </a14:hiddenEffects>
              </a:ext>
            </a:extLst>
          </p:spPr>
          <p:txBody>
            <a:bodyPr wrap="none">
              <a:spAutoFit/>
            </a:bodyPr>
            <a:lstStyle/>
            <a:p>
              <a:r>
                <a:rPr kumimoji="1" lang="zh-CN" altLang="en-US" sz="2400" b="1">
                  <a:solidFill>
                    <a:srgbClr val="0000CC"/>
                  </a:solidFill>
                  <a:latin typeface="Times New Roman" pitchFamily="18" charset="0"/>
                  <a:ea typeface="黑体" pitchFamily="2" charset="-122"/>
                </a:rPr>
                <a:t>收到：收到“同意”</a:t>
              </a:r>
            </a:p>
          </p:txBody>
        </p:sp>
      </p:grpSp>
      <p:sp>
        <p:nvSpPr>
          <p:cNvPr id="142357" name="Text Box 21"/>
          <p:cNvSpPr txBox="1">
            <a:spLocks noChangeArrowheads="1"/>
          </p:cNvSpPr>
          <p:nvPr/>
        </p:nvSpPr>
        <p:spPr bwMode="auto">
          <a:xfrm>
            <a:off x="1136252" y="2995295"/>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itchFamily="18" charset="0"/>
                <a:ea typeface="黑体" pitchFamily="2" charset="-122"/>
              </a:rPr>
              <a:t>…</a:t>
            </a:r>
          </a:p>
        </p:txBody>
      </p:sp>
      <p:sp>
        <p:nvSpPr>
          <p:cNvPr id="142358" name="Text Box 22"/>
          <p:cNvSpPr txBox="1">
            <a:spLocks noChangeArrowheads="1"/>
          </p:cNvSpPr>
          <p:nvPr/>
        </p:nvSpPr>
        <p:spPr bwMode="auto">
          <a:xfrm>
            <a:off x="7673181" y="3438207"/>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itchFamily="18" charset="0"/>
                <a:ea typeface="黑体" pitchFamily="2" charset="-122"/>
              </a:rPr>
              <a:t>…</a:t>
            </a:r>
          </a:p>
        </p:txBody>
      </p:sp>
      <p:sp>
        <p:nvSpPr>
          <p:cNvPr id="142359" name="Text Box 23"/>
          <p:cNvSpPr txBox="1">
            <a:spLocks noChangeArrowheads="1"/>
          </p:cNvSpPr>
          <p:nvPr/>
        </p:nvSpPr>
        <p:spPr bwMode="auto">
          <a:xfrm>
            <a:off x="1136252" y="3012757"/>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itchFamily="18" charset="0"/>
                <a:ea typeface="黑体" pitchFamily="2" charset="-122"/>
              </a:rPr>
              <a:t>…</a:t>
            </a:r>
          </a:p>
        </p:txBody>
      </p:sp>
      <p:sp>
        <p:nvSpPr>
          <p:cNvPr id="142360" name="Text Box 24"/>
          <p:cNvSpPr txBox="1">
            <a:spLocks noChangeArrowheads="1"/>
          </p:cNvSpPr>
          <p:nvPr/>
        </p:nvSpPr>
        <p:spPr bwMode="auto">
          <a:xfrm>
            <a:off x="7673181" y="3455670"/>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a:solidFill>
                  <a:srgbClr val="FF0000"/>
                </a:solidFill>
                <a:latin typeface="Times New Roman" pitchFamily="18" charset="0"/>
                <a:ea typeface="黑体" pitchFamily="2" charset="-122"/>
              </a:rPr>
              <a:t>…</a:t>
            </a:r>
          </a:p>
        </p:txBody>
      </p:sp>
      <p:sp>
        <p:nvSpPr>
          <p:cNvPr id="142361" name="Text Box 25"/>
          <p:cNvSpPr txBox="1">
            <a:spLocks noChangeArrowheads="1"/>
          </p:cNvSpPr>
          <p:nvPr/>
        </p:nvSpPr>
        <p:spPr bwMode="auto">
          <a:xfrm>
            <a:off x="1136252" y="3030220"/>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dirty="0">
                <a:solidFill>
                  <a:srgbClr val="FF0000"/>
                </a:solidFill>
                <a:latin typeface="Times New Roman" pitchFamily="18" charset="0"/>
                <a:ea typeface="黑体" pitchFamily="2" charset="-122"/>
              </a:rPr>
              <a:t>…</a:t>
            </a:r>
          </a:p>
        </p:txBody>
      </p:sp>
      <p:sp>
        <p:nvSpPr>
          <p:cNvPr id="142362" name="Text Box 26"/>
          <p:cNvSpPr txBox="1">
            <a:spLocks noChangeArrowheads="1"/>
          </p:cNvSpPr>
          <p:nvPr/>
        </p:nvSpPr>
        <p:spPr bwMode="auto">
          <a:xfrm>
            <a:off x="7673181" y="3473132"/>
            <a:ext cx="1031051"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6600" b="1" dirty="0">
                <a:solidFill>
                  <a:srgbClr val="FF0000"/>
                </a:solidFill>
                <a:latin typeface="Times New Roman" pitchFamily="18" charset="0"/>
                <a:ea typeface="黑体" pitchFamily="2" charset="-122"/>
              </a:rPr>
              <a:t>…</a:t>
            </a:r>
          </a:p>
        </p:txBody>
      </p:sp>
      <p:sp>
        <p:nvSpPr>
          <p:cNvPr id="142363" name="Text Box 27"/>
          <p:cNvSpPr txBox="1">
            <a:spLocks noChangeArrowheads="1"/>
          </p:cNvSpPr>
          <p:nvPr/>
        </p:nvSpPr>
        <p:spPr bwMode="auto">
          <a:xfrm>
            <a:off x="1760537" y="1890395"/>
            <a:ext cx="6340197" cy="830997"/>
          </a:xfrm>
          <a:prstGeom prst="rect">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4800" b="1" dirty="0">
                <a:effectLst>
                  <a:outerShdw blurRad="38100" dist="38100" dir="2700000" algn="tl">
                    <a:srgbClr val="FFFFFF"/>
                  </a:outerShdw>
                </a:effectLst>
                <a:latin typeface="Bookman Old Style" pitchFamily="18" charset="0"/>
                <a:ea typeface="黑体" pitchFamily="2" charset="-122"/>
              </a:rPr>
              <a:t>这样的协议无法实现！</a:t>
            </a:r>
          </a:p>
        </p:txBody>
      </p:sp>
    </p:spTree>
    <p:extLst>
      <p:ext uri="{BB962C8B-B14F-4D97-AF65-F5344CB8AC3E}">
        <p14:creationId xmlns:p14="http://schemas.microsoft.com/office/powerpoint/2010/main" val="35613781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142345"/>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nodeType="afterEffect">
                                  <p:stCondLst>
                                    <p:cond delay="0"/>
                                  </p:stCondLst>
                                  <p:childTnLst>
                                    <p:animMotion origin="layout" path="M 2.77778E-6 -1.11111E-6 L 0.58021 0.00046 " pathEditMode="relative" rAng="0" ptsTypes="AA">
                                      <p:cBhvr>
                                        <p:cTn id="9" dur="5000" fill="hold"/>
                                        <p:tgtEl>
                                          <p:spTgt spid="142345"/>
                                        </p:tgtEl>
                                        <p:attrNameLst>
                                          <p:attrName>ppt_x</p:attrName>
                                          <p:attrName>ppt_y</p:attrName>
                                        </p:attrNameLst>
                                      </p:cBhvr>
                                      <p:rCtr x="29010" y="23"/>
                                    </p:animMotion>
                                  </p:childTnLst>
                                </p:cTn>
                              </p:par>
                            </p:childTnLst>
                          </p:cTn>
                        </p:par>
                        <p:par>
                          <p:cTn id="10" fill="hold" nodeType="afterGroup">
                            <p:stCondLst>
                              <p:cond delay="5000"/>
                            </p:stCondLst>
                            <p:childTnLst>
                              <p:par>
                                <p:cTn id="11" presetID="1" presetClass="entr" presetSubtype="0" fill="hold" nodeType="afterEffect">
                                  <p:stCondLst>
                                    <p:cond delay="500"/>
                                  </p:stCondLst>
                                  <p:childTnLst>
                                    <p:set>
                                      <p:cBhvr>
                                        <p:cTn id="12" dur="1" fill="hold">
                                          <p:stCondLst>
                                            <p:cond delay="0"/>
                                          </p:stCondLst>
                                        </p:cTn>
                                        <p:tgtEl>
                                          <p:spTgt spid="142348"/>
                                        </p:tgtEl>
                                        <p:attrNameLst>
                                          <p:attrName>style.visibility</p:attrName>
                                        </p:attrNameLst>
                                      </p:cBhvr>
                                      <p:to>
                                        <p:strVal val="visible"/>
                                      </p:to>
                                    </p:set>
                                  </p:childTnLst>
                                </p:cTn>
                              </p:par>
                            </p:childTnLst>
                          </p:cTn>
                        </p:par>
                        <p:par>
                          <p:cTn id="13" fill="hold" nodeType="afterGroup">
                            <p:stCondLst>
                              <p:cond delay="5500"/>
                            </p:stCondLst>
                            <p:childTnLst>
                              <p:par>
                                <p:cTn id="14" presetID="35" presetClass="path" presetSubtype="0" accel="50000" decel="50000" fill="hold" nodeType="afterEffect">
                                  <p:stCondLst>
                                    <p:cond delay="0"/>
                                  </p:stCondLst>
                                  <p:childTnLst>
                                    <p:animMotion origin="layout" path="M -4.16667E-6 -2.22222E-6 L -0.55642 -0.00578 " pathEditMode="relative" rAng="0" ptsTypes="AA">
                                      <p:cBhvr>
                                        <p:cTn id="15" dur="2000" fill="hold"/>
                                        <p:tgtEl>
                                          <p:spTgt spid="142348"/>
                                        </p:tgtEl>
                                        <p:attrNameLst>
                                          <p:attrName>ppt_x</p:attrName>
                                          <p:attrName>ppt_y</p:attrName>
                                        </p:attrNameLst>
                                      </p:cBhvr>
                                      <p:rCtr x="-27830" y="-301"/>
                                    </p:animMotion>
                                  </p:childTnLst>
                                </p:cTn>
                              </p:par>
                            </p:childTnLst>
                          </p:cTn>
                        </p:par>
                        <p:par>
                          <p:cTn id="16" fill="hold" nodeType="afterGroup">
                            <p:stCondLst>
                              <p:cond delay="7500"/>
                            </p:stCondLst>
                            <p:childTnLst>
                              <p:par>
                                <p:cTn id="17" presetID="1" presetClass="entr" presetSubtype="0" fill="hold" nodeType="afterEffect">
                                  <p:stCondLst>
                                    <p:cond delay="500"/>
                                  </p:stCondLst>
                                  <p:childTnLst>
                                    <p:set>
                                      <p:cBhvr>
                                        <p:cTn id="18" dur="1" fill="hold">
                                          <p:stCondLst>
                                            <p:cond delay="0"/>
                                          </p:stCondLst>
                                        </p:cTn>
                                        <p:tgtEl>
                                          <p:spTgt spid="142351"/>
                                        </p:tgtEl>
                                        <p:attrNameLst>
                                          <p:attrName>style.visibility</p:attrName>
                                        </p:attrNameLst>
                                      </p:cBhvr>
                                      <p:to>
                                        <p:strVal val="visible"/>
                                      </p:to>
                                    </p:set>
                                  </p:childTnLst>
                                </p:cTn>
                              </p:par>
                            </p:childTnLst>
                          </p:cTn>
                        </p:par>
                        <p:par>
                          <p:cTn id="19" fill="hold" nodeType="afterGroup">
                            <p:stCondLst>
                              <p:cond delay="8000"/>
                            </p:stCondLst>
                            <p:childTnLst>
                              <p:par>
                                <p:cTn id="20" presetID="63" presetClass="path" presetSubtype="0" accel="50000" decel="50000" fill="hold" nodeType="afterEffect">
                                  <p:stCondLst>
                                    <p:cond delay="500"/>
                                  </p:stCondLst>
                                  <p:childTnLst>
                                    <p:animMotion origin="layout" path="M 2.77778E-6 -2.22222E-6 L 0.58021 -0.00069 " pathEditMode="relative" rAng="0" ptsTypes="AA">
                                      <p:cBhvr>
                                        <p:cTn id="21" dur="5000" fill="hold"/>
                                        <p:tgtEl>
                                          <p:spTgt spid="142351"/>
                                        </p:tgtEl>
                                        <p:attrNameLst>
                                          <p:attrName>ppt_x</p:attrName>
                                          <p:attrName>ppt_y</p:attrName>
                                        </p:attrNameLst>
                                      </p:cBhvr>
                                      <p:rCtr x="29010" y="-46"/>
                                    </p:animMotion>
                                  </p:childTnLst>
                                </p:cTn>
                              </p:par>
                            </p:childTnLst>
                          </p:cTn>
                        </p:par>
                        <p:par>
                          <p:cTn id="22" fill="hold" nodeType="afterGroup">
                            <p:stCondLst>
                              <p:cond delay="13500"/>
                            </p:stCondLst>
                            <p:childTnLst>
                              <p:par>
                                <p:cTn id="23" presetID="1" presetClass="entr" presetSubtype="0" fill="hold" nodeType="afterEffect">
                                  <p:stCondLst>
                                    <p:cond delay="0"/>
                                  </p:stCondLst>
                                  <p:childTnLst>
                                    <p:set>
                                      <p:cBhvr>
                                        <p:cTn id="24" dur="1" fill="hold">
                                          <p:stCondLst>
                                            <p:cond delay="0"/>
                                          </p:stCondLst>
                                        </p:cTn>
                                        <p:tgtEl>
                                          <p:spTgt spid="142354"/>
                                        </p:tgtEl>
                                        <p:attrNameLst>
                                          <p:attrName>style.visibility</p:attrName>
                                        </p:attrNameLst>
                                      </p:cBhvr>
                                      <p:to>
                                        <p:strVal val="visible"/>
                                      </p:to>
                                    </p:set>
                                  </p:childTnLst>
                                </p:cTn>
                              </p:par>
                            </p:childTnLst>
                          </p:cTn>
                        </p:par>
                        <p:par>
                          <p:cTn id="25" fill="hold" nodeType="afterGroup">
                            <p:stCondLst>
                              <p:cond delay="13500"/>
                            </p:stCondLst>
                            <p:childTnLst>
                              <p:par>
                                <p:cTn id="26" presetID="35" presetClass="path" presetSubtype="0" accel="50000" decel="50000" fill="hold" nodeType="afterEffect">
                                  <p:stCondLst>
                                    <p:cond delay="500"/>
                                  </p:stCondLst>
                                  <p:childTnLst>
                                    <p:animMotion origin="layout" path="M -4.16667E-6 -2.22222E-6 L -0.54861 0.00417 " pathEditMode="relative" rAng="0" ptsTypes="AA">
                                      <p:cBhvr>
                                        <p:cTn id="27" dur="2000" fill="hold"/>
                                        <p:tgtEl>
                                          <p:spTgt spid="142354"/>
                                        </p:tgtEl>
                                        <p:attrNameLst>
                                          <p:attrName>ppt_x</p:attrName>
                                          <p:attrName>ppt_y</p:attrName>
                                        </p:attrNameLst>
                                      </p:cBhvr>
                                      <p:rCtr x="-27431" y="208"/>
                                    </p:animMotion>
                                  </p:childTnLst>
                                </p:cTn>
                              </p:par>
                            </p:childTnLst>
                          </p:cTn>
                        </p:par>
                        <p:par>
                          <p:cTn id="28" fill="hold" nodeType="afterGroup">
                            <p:stCondLst>
                              <p:cond delay="16000"/>
                            </p:stCondLst>
                            <p:childTnLst>
                              <p:par>
                                <p:cTn id="29" presetID="1" presetClass="entr" presetSubtype="0" fill="hold" grpId="0" nodeType="afterEffect">
                                  <p:stCondLst>
                                    <p:cond delay="0"/>
                                  </p:stCondLst>
                                  <p:childTnLst>
                                    <p:set>
                                      <p:cBhvr>
                                        <p:cTn id="30" dur="1" fill="hold">
                                          <p:stCondLst>
                                            <p:cond delay="0"/>
                                          </p:stCondLst>
                                        </p:cTn>
                                        <p:tgtEl>
                                          <p:spTgt spid="142357"/>
                                        </p:tgtEl>
                                        <p:attrNameLst>
                                          <p:attrName>style.visibility</p:attrName>
                                        </p:attrNameLst>
                                      </p:cBhvr>
                                      <p:to>
                                        <p:strVal val="visible"/>
                                      </p:to>
                                    </p:set>
                                  </p:childTnLst>
                                </p:cTn>
                              </p:par>
                            </p:childTnLst>
                          </p:cTn>
                        </p:par>
                        <p:par>
                          <p:cTn id="31" fill="hold" nodeType="afterGroup">
                            <p:stCondLst>
                              <p:cond delay="16000"/>
                            </p:stCondLst>
                            <p:childTnLst>
                              <p:par>
                                <p:cTn id="32" presetID="63" presetClass="path" presetSubtype="0" accel="50000" decel="50000" fill="hold" grpId="1" nodeType="afterEffect">
                                  <p:stCondLst>
                                    <p:cond delay="0"/>
                                  </p:stCondLst>
                                  <p:childTnLst>
                                    <p:animMotion origin="layout" path="M -2.77778E-6 1.48148E-6 L 0.7474 0.00023 " pathEditMode="relative" rAng="0" ptsTypes="AA">
                                      <p:cBhvr>
                                        <p:cTn id="33" dur="2000" fill="hold"/>
                                        <p:tgtEl>
                                          <p:spTgt spid="142357"/>
                                        </p:tgtEl>
                                        <p:attrNameLst>
                                          <p:attrName>ppt_x</p:attrName>
                                          <p:attrName>ppt_y</p:attrName>
                                        </p:attrNameLst>
                                      </p:cBhvr>
                                      <p:rCtr x="37361" y="0"/>
                                    </p:animMotion>
                                  </p:childTnLst>
                                </p:cTn>
                              </p:par>
                            </p:childTnLst>
                          </p:cTn>
                        </p:par>
                        <p:par>
                          <p:cTn id="34" fill="hold" nodeType="afterGroup">
                            <p:stCondLst>
                              <p:cond delay="18000"/>
                            </p:stCondLst>
                            <p:childTnLst>
                              <p:par>
                                <p:cTn id="35" presetID="1" presetClass="exit" presetSubtype="0" fill="hold" grpId="2" nodeType="afterEffect">
                                  <p:stCondLst>
                                    <p:cond delay="0"/>
                                  </p:stCondLst>
                                  <p:childTnLst>
                                    <p:set>
                                      <p:cBhvr>
                                        <p:cTn id="36" dur="1" fill="hold">
                                          <p:stCondLst>
                                            <p:cond delay="0"/>
                                          </p:stCondLst>
                                        </p:cTn>
                                        <p:tgtEl>
                                          <p:spTgt spid="142357"/>
                                        </p:tgtEl>
                                        <p:attrNameLst>
                                          <p:attrName>style.visibility</p:attrName>
                                        </p:attrNameLst>
                                      </p:cBhvr>
                                      <p:to>
                                        <p:strVal val="hidden"/>
                                      </p:to>
                                    </p:set>
                                  </p:childTnLst>
                                </p:cTn>
                              </p:par>
                            </p:childTnLst>
                          </p:cTn>
                        </p:par>
                        <p:par>
                          <p:cTn id="37" fill="hold" nodeType="afterGroup">
                            <p:stCondLst>
                              <p:cond delay="18000"/>
                            </p:stCondLst>
                            <p:childTnLst>
                              <p:par>
                                <p:cTn id="38" presetID="1" presetClass="entr" presetSubtype="0" fill="hold" grpId="0" nodeType="afterEffect">
                                  <p:stCondLst>
                                    <p:cond delay="0"/>
                                  </p:stCondLst>
                                  <p:childTnLst>
                                    <p:set>
                                      <p:cBhvr>
                                        <p:cTn id="39" dur="1" fill="hold">
                                          <p:stCondLst>
                                            <p:cond delay="0"/>
                                          </p:stCondLst>
                                        </p:cTn>
                                        <p:tgtEl>
                                          <p:spTgt spid="142358"/>
                                        </p:tgtEl>
                                        <p:attrNameLst>
                                          <p:attrName>style.visibility</p:attrName>
                                        </p:attrNameLst>
                                      </p:cBhvr>
                                      <p:to>
                                        <p:strVal val="visible"/>
                                      </p:to>
                                    </p:set>
                                  </p:childTnLst>
                                </p:cTn>
                              </p:par>
                            </p:childTnLst>
                          </p:cTn>
                        </p:par>
                        <p:par>
                          <p:cTn id="40" fill="hold" nodeType="afterGroup">
                            <p:stCondLst>
                              <p:cond delay="18000"/>
                            </p:stCondLst>
                            <p:childTnLst>
                              <p:par>
                                <p:cTn id="41" presetID="35" presetClass="path" presetSubtype="0" accel="50000" decel="50000" fill="hold" grpId="1" nodeType="afterEffect">
                                  <p:stCondLst>
                                    <p:cond delay="0"/>
                                  </p:stCondLst>
                                  <p:childTnLst>
                                    <p:animMotion origin="layout" path="M 1.38889E-6 -1.85185E-6 L -0.74722 0.00926 " pathEditMode="relative" rAng="0" ptsTypes="AA">
                                      <p:cBhvr>
                                        <p:cTn id="42" dur="2000" fill="hold"/>
                                        <p:tgtEl>
                                          <p:spTgt spid="142358"/>
                                        </p:tgtEl>
                                        <p:attrNameLst>
                                          <p:attrName>ppt_x</p:attrName>
                                          <p:attrName>ppt_y</p:attrName>
                                        </p:attrNameLst>
                                      </p:cBhvr>
                                      <p:rCtr x="-37361" y="463"/>
                                    </p:animMotion>
                                  </p:childTnLst>
                                </p:cTn>
                              </p:par>
                            </p:childTnLst>
                          </p:cTn>
                        </p:par>
                        <p:par>
                          <p:cTn id="43" fill="hold" nodeType="afterGroup">
                            <p:stCondLst>
                              <p:cond delay="20000"/>
                            </p:stCondLst>
                            <p:childTnLst>
                              <p:par>
                                <p:cTn id="44" presetID="1" presetClass="exit" presetSubtype="0" fill="hold" grpId="2" nodeType="afterEffect">
                                  <p:stCondLst>
                                    <p:cond delay="0"/>
                                  </p:stCondLst>
                                  <p:childTnLst>
                                    <p:set>
                                      <p:cBhvr>
                                        <p:cTn id="45" dur="1" fill="hold">
                                          <p:stCondLst>
                                            <p:cond delay="0"/>
                                          </p:stCondLst>
                                        </p:cTn>
                                        <p:tgtEl>
                                          <p:spTgt spid="142358"/>
                                        </p:tgtEl>
                                        <p:attrNameLst>
                                          <p:attrName>style.visibility</p:attrName>
                                        </p:attrNameLst>
                                      </p:cBhvr>
                                      <p:to>
                                        <p:strVal val="hidden"/>
                                      </p:to>
                                    </p:set>
                                  </p:childTnLst>
                                </p:cTn>
                              </p:par>
                            </p:childTnLst>
                          </p:cTn>
                        </p:par>
                        <p:par>
                          <p:cTn id="46" fill="hold" nodeType="afterGroup">
                            <p:stCondLst>
                              <p:cond delay="20000"/>
                            </p:stCondLst>
                            <p:childTnLst>
                              <p:par>
                                <p:cTn id="47" presetID="1" presetClass="entr" presetSubtype="0" fill="hold" grpId="0" nodeType="afterEffect">
                                  <p:stCondLst>
                                    <p:cond delay="0"/>
                                  </p:stCondLst>
                                  <p:childTnLst>
                                    <p:set>
                                      <p:cBhvr>
                                        <p:cTn id="48" dur="1" fill="hold">
                                          <p:stCondLst>
                                            <p:cond delay="0"/>
                                          </p:stCondLst>
                                        </p:cTn>
                                        <p:tgtEl>
                                          <p:spTgt spid="142359"/>
                                        </p:tgtEl>
                                        <p:attrNameLst>
                                          <p:attrName>style.visibility</p:attrName>
                                        </p:attrNameLst>
                                      </p:cBhvr>
                                      <p:to>
                                        <p:strVal val="visible"/>
                                      </p:to>
                                    </p:set>
                                  </p:childTnLst>
                                </p:cTn>
                              </p:par>
                            </p:childTnLst>
                          </p:cTn>
                        </p:par>
                        <p:par>
                          <p:cTn id="49" fill="hold" nodeType="afterGroup">
                            <p:stCondLst>
                              <p:cond delay="20000"/>
                            </p:stCondLst>
                            <p:childTnLst>
                              <p:par>
                                <p:cTn id="50" presetID="63" presetClass="path" presetSubtype="0" accel="50000" decel="50000" fill="hold" grpId="1" nodeType="afterEffect">
                                  <p:stCondLst>
                                    <p:cond delay="0"/>
                                  </p:stCondLst>
                                  <p:childTnLst>
                                    <p:animMotion origin="layout" path="M -2.77778E-6 -4.81481E-6 L 0.73941 -0.00231 " pathEditMode="relative" rAng="0" ptsTypes="AA">
                                      <p:cBhvr>
                                        <p:cTn id="51" dur="2000" fill="hold"/>
                                        <p:tgtEl>
                                          <p:spTgt spid="142359"/>
                                        </p:tgtEl>
                                        <p:attrNameLst>
                                          <p:attrName>ppt_x</p:attrName>
                                          <p:attrName>ppt_y</p:attrName>
                                        </p:attrNameLst>
                                      </p:cBhvr>
                                      <p:rCtr x="36962" y="-116"/>
                                    </p:animMotion>
                                  </p:childTnLst>
                                </p:cTn>
                              </p:par>
                            </p:childTnLst>
                          </p:cTn>
                        </p:par>
                        <p:par>
                          <p:cTn id="52" fill="hold" nodeType="afterGroup">
                            <p:stCondLst>
                              <p:cond delay="22000"/>
                            </p:stCondLst>
                            <p:childTnLst>
                              <p:par>
                                <p:cTn id="53" presetID="1" presetClass="exit" presetSubtype="0" fill="hold" grpId="2" nodeType="afterEffect">
                                  <p:stCondLst>
                                    <p:cond delay="0"/>
                                  </p:stCondLst>
                                  <p:childTnLst>
                                    <p:set>
                                      <p:cBhvr>
                                        <p:cTn id="54" dur="1" fill="hold">
                                          <p:stCondLst>
                                            <p:cond delay="0"/>
                                          </p:stCondLst>
                                        </p:cTn>
                                        <p:tgtEl>
                                          <p:spTgt spid="142359"/>
                                        </p:tgtEl>
                                        <p:attrNameLst>
                                          <p:attrName>style.visibility</p:attrName>
                                        </p:attrNameLst>
                                      </p:cBhvr>
                                      <p:to>
                                        <p:strVal val="hidden"/>
                                      </p:to>
                                    </p:set>
                                  </p:childTnLst>
                                </p:cTn>
                              </p:par>
                            </p:childTnLst>
                          </p:cTn>
                        </p:par>
                        <p:par>
                          <p:cTn id="55" fill="hold" nodeType="afterGroup">
                            <p:stCondLst>
                              <p:cond delay="22000"/>
                            </p:stCondLst>
                            <p:childTnLst>
                              <p:par>
                                <p:cTn id="56" presetID="1" presetClass="entr" presetSubtype="0" fill="hold" grpId="0" nodeType="afterEffect">
                                  <p:stCondLst>
                                    <p:cond delay="0"/>
                                  </p:stCondLst>
                                  <p:childTnLst>
                                    <p:set>
                                      <p:cBhvr>
                                        <p:cTn id="57" dur="1" fill="hold">
                                          <p:stCondLst>
                                            <p:cond delay="0"/>
                                          </p:stCondLst>
                                        </p:cTn>
                                        <p:tgtEl>
                                          <p:spTgt spid="142360"/>
                                        </p:tgtEl>
                                        <p:attrNameLst>
                                          <p:attrName>style.visibility</p:attrName>
                                        </p:attrNameLst>
                                      </p:cBhvr>
                                      <p:to>
                                        <p:strVal val="visible"/>
                                      </p:to>
                                    </p:set>
                                  </p:childTnLst>
                                </p:cTn>
                              </p:par>
                            </p:childTnLst>
                          </p:cTn>
                        </p:par>
                        <p:par>
                          <p:cTn id="58" fill="hold" nodeType="afterGroup">
                            <p:stCondLst>
                              <p:cond delay="22000"/>
                            </p:stCondLst>
                            <p:childTnLst>
                              <p:par>
                                <p:cTn id="59" presetID="35" presetClass="path" presetSubtype="0" accel="50000" decel="50000" fill="hold" grpId="1" nodeType="afterEffect">
                                  <p:stCondLst>
                                    <p:cond delay="0"/>
                                  </p:stCondLst>
                                  <p:childTnLst>
                                    <p:animMotion origin="layout" path="M 1.38889E-6 1.85185E-6 L -0.74722 0.00671 " pathEditMode="relative" rAng="0" ptsTypes="AA">
                                      <p:cBhvr>
                                        <p:cTn id="60" dur="2000" fill="hold"/>
                                        <p:tgtEl>
                                          <p:spTgt spid="142360"/>
                                        </p:tgtEl>
                                        <p:attrNameLst>
                                          <p:attrName>ppt_x</p:attrName>
                                          <p:attrName>ppt_y</p:attrName>
                                        </p:attrNameLst>
                                      </p:cBhvr>
                                      <p:rCtr x="-37361" y="324"/>
                                    </p:animMotion>
                                  </p:childTnLst>
                                </p:cTn>
                              </p:par>
                            </p:childTnLst>
                          </p:cTn>
                        </p:par>
                        <p:par>
                          <p:cTn id="61" fill="hold" nodeType="afterGroup">
                            <p:stCondLst>
                              <p:cond delay="24000"/>
                            </p:stCondLst>
                            <p:childTnLst>
                              <p:par>
                                <p:cTn id="62" presetID="1" presetClass="exit" presetSubtype="0" fill="hold" grpId="2" nodeType="afterEffect">
                                  <p:stCondLst>
                                    <p:cond delay="0"/>
                                  </p:stCondLst>
                                  <p:childTnLst>
                                    <p:set>
                                      <p:cBhvr>
                                        <p:cTn id="63" dur="1" fill="hold">
                                          <p:stCondLst>
                                            <p:cond delay="0"/>
                                          </p:stCondLst>
                                        </p:cTn>
                                        <p:tgtEl>
                                          <p:spTgt spid="142360"/>
                                        </p:tgtEl>
                                        <p:attrNameLst>
                                          <p:attrName>style.visibility</p:attrName>
                                        </p:attrNameLst>
                                      </p:cBhvr>
                                      <p:to>
                                        <p:strVal val="hidden"/>
                                      </p:to>
                                    </p:set>
                                  </p:childTnLst>
                                </p:cTn>
                              </p:par>
                            </p:childTnLst>
                          </p:cTn>
                        </p:par>
                        <p:par>
                          <p:cTn id="64" fill="hold" nodeType="afterGroup">
                            <p:stCondLst>
                              <p:cond delay="24000"/>
                            </p:stCondLst>
                            <p:childTnLst>
                              <p:par>
                                <p:cTn id="65" presetID="1" presetClass="entr" presetSubtype="0" fill="hold" grpId="0" nodeType="afterEffect">
                                  <p:stCondLst>
                                    <p:cond delay="0"/>
                                  </p:stCondLst>
                                  <p:childTnLst>
                                    <p:set>
                                      <p:cBhvr>
                                        <p:cTn id="66" dur="1" fill="hold">
                                          <p:stCondLst>
                                            <p:cond delay="0"/>
                                          </p:stCondLst>
                                        </p:cTn>
                                        <p:tgtEl>
                                          <p:spTgt spid="142361"/>
                                        </p:tgtEl>
                                        <p:attrNameLst>
                                          <p:attrName>style.visibility</p:attrName>
                                        </p:attrNameLst>
                                      </p:cBhvr>
                                      <p:to>
                                        <p:strVal val="visible"/>
                                      </p:to>
                                    </p:set>
                                  </p:childTnLst>
                                </p:cTn>
                              </p:par>
                            </p:childTnLst>
                          </p:cTn>
                        </p:par>
                        <p:par>
                          <p:cTn id="67" fill="hold" nodeType="afterGroup">
                            <p:stCondLst>
                              <p:cond delay="24000"/>
                            </p:stCondLst>
                            <p:childTnLst>
                              <p:par>
                                <p:cTn id="68" presetID="63" presetClass="path" presetSubtype="0" accel="50000" decel="50000" fill="hold" grpId="1" nodeType="afterEffect">
                                  <p:stCondLst>
                                    <p:cond delay="0"/>
                                  </p:stCondLst>
                                  <p:childTnLst>
                                    <p:animMotion origin="layout" path="M -2.77778E-6 -1.11111E-6 L 0.7474 -0.00486 " pathEditMode="relative" rAng="0" ptsTypes="AA">
                                      <p:cBhvr>
                                        <p:cTn id="69" dur="2000" fill="hold"/>
                                        <p:tgtEl>
                                          <p:spTgt spid="142361"/>
                                        </p:tgtEl>
                                        <p:attrNameLst>
                                          <p:attrName>ppt_x</p:attrName>
                                          <p:attrName>ppt_y</p:attrName>
                                        </p:attrNameLst>
                                      </p:cBhvr>
                                      <p:rCtr x="37361" y="-255"/>
                                    </p:animMotion>
                                  </p:childTnLst>
                                </p:cTn>
                              </p:par>
                            </p:childTnLst>
                          </p:cTn>
                        </p:par>
                        <p:par>
                          <p:cTn id="70" fill="hold" nodeType="afterGroup">
                            <p:stCondLst>
                              <p:cond delay="26000"/>
                            </p:stCondLst>
                            <p:childTnLst>
                              <p:par>
                                <p:cTn id="71" presetID="1" presetClass="exit" presetSubtype="0" fill="hold" grpId="2" nodeType="afterEffect">
                                  <p:stCondLst>
                                    <p:cond delay="0"/>
                                  </p:stCondLst>
                                  <p:childTnLst>
                                    <p:set>
                                      <p:cBhvr>
                                        <p:cTn id="72" dur="1" fill="hold">
                                          <p:stCondLst>
                                            <p:cond delay="0"/>
                                          </p:stCondLst>
                                        </p:cTn>
                                        <p:tgtEl>
                                          <p:spTgt spid="142361"/>
                                        </p:tgtEl>
                                        <p:attrNameLst>
                                          <p:attrName>style.visibility</p:attrName>
                                        </p:attrNameLst>
                                      </p:cBhvr>
                                      <p:to>
                                        <p:strVal val="hidden"/>
                                      </p:to>
                                    </p:set>
                                  </p:childTnLst>
                                </p:cTn>
                              </p:par>
                            </p:childTnLst>
                          </p:cTn>
                        </p:par>
                        <p:par>
                          <p:cTn id="73" fill="hold" nodeType="afterGroup">
                            <p:stCondLst>
                              <p:cond delay="26000"/>
                            </p:stCondLst>
                            <p:childTnLst>
                              <p:par>
                                <p:cTn id="74" presetID="1" presetClass="entr" presetSubtype="0" fill="hold" grpId="0" nodeType="afterEffect">
                                  <p:stCondLst>
                                    <p:cond delay="0"/>
                                  </p:stCondLst>
                                  <p:childTnLst>
                                    <p:set>
                                      <p:cBhvr>
                                        <p:cTn id="75" dur="1" fill="hold">
                                          <p:stCondLst>
                                            <p:cond delay="0"/>
                                          </p:stCondLst>
                                        </p:cTn>
                                        <p:tgtEl>
                                          <p:spTgt spid="142362"/>
                                        </p:tgtEl>
                                        <p:attrNameLst>
                                          <p:attrName>style.visibility</p:attrName>
                                        </p:attrNameLst>
                                      </p:cBhvr>
                                      <p:to>
                                        <p:strVal val="visible"/>
                                      </p:to>
                                    </p:set>
                                  </p:childTnLst>
                                </p:cTn>
                              </p:par>
                            </p:childTnLst>
                          </p:cTn>
                        </p:par>
                        <p:par>
                          <p:cTn id="76" fill="hold" nodeType="afterGroup">
                            <p:stCondLst>
                              <p:cond delay="26000"/>
                            </p:stCondLst>
                            <p:childTnLst>
                              <p:par>
                                <p:cTn id="77" presetID="35" presetClass="path" presetSubtype="0" accel="50000" decel="50000" fill="hold" grpId="1" nodeType="afterEffect">
                                  <p:stCondLst>
                                    <p:cond delay="0"/>
                                  </p:stCondLst>
                                  <p:childTnLst>
                                    <p:animMotion origin="layout" path="M 1.38889E-6 -4.44444E-6 L -0.74722 0.00417 " pathEditMode="relative" rAng="0" ptsTypes="AA">
                                      <p:cBhvr>
                                        <p:cTn id="78" dur="2000" fill="hold"/>
                                        <p:tgtEl>
                                          <p:spTgt spid="142362"/>
                                        </p:tgtEl>
                                        <p:attrNameLst>
                                          <p:attrName>ppt_x</p:attrName>
                                          <p:attrName>ppt_y</p:attrName>
                                        </p:attrNameLst>
                                      </p:cBhvr>
                                      <p:rCtr x="-37361" y="208"/>
                                    </p:animMotion>
                                  </p:childTnLst>
                                </p:cTn>
                              </p:par>
                            </p:childTnLst>
                          </p:cTn>
                        </p:par>
                        <p:par>
                          <p:cTn id="79" fill="hold" nodeType="afterGroup">
                            <p:stCondLst>
                              <p:cond delay="28000"/>
                            </p:stCondLst>
                            <p:childTnLst>
                              <p:par>
                                <p:cTn id="80" presetID="1" presetClass="exit" presetSubtype="0" fill="hold" grpId="2" nodeType="afterEffect">
                                  <p:stCondLst>
                                    <p:cond delay="0"/>
                                  </p:stCondLst>
                                  <p:childTnLst>
                                    <p:set>
                                      <p:cBhvr>
                                        <p:cTn id="81" dur="1" fill="hold">
                                          <p:stCondLst>
                                            <p:cond delay="0"/>
                                          </p:stCondLst>
                                        </p:cTn>
                                        <p:tgtEl>
                                          <p:spTgt spid="142362"/>
                                        </p:tgtEl>
                                        <p:attrNameLst>
                                          <p:attrName>style.visibility</p:attrName>
                                        </p:attrNameLst>
                                      </p:cBhvr>
                                      <p:to>
                                        <p:strVal val="hidden"/>
                                      </p:to>
                                    </p:set>
                                  </p:childTnLst>
                                </p:cTn>
                              </p:par>
                            </p:childTnLst>
                          </p:cTn>
                        </p:par>
                        <p:par>
                          <p:cTn id="82" fill="hold" nodeType="afterGroup">
                            <p:stCondLst>
                              <p:cond delay="28000"/>
                            </p:stCondLst>
                            <p:childTnLst>
                              <p:par>
                                <p:cTn id="83" presetID="4" presetClass="entr" presetSubtype="32" fill="hold" grpId="0" nodeType="afterEffect">
                                  <p:stCondLst>
                                    <p:cond delay="0"/>
                                  </p:stCondLst>
                                  <p:childTnLst>
                                    <p:set>
                                      <p:cBhvr>
                                        <p:cTn id="84" dur="1" fill="hold">
                                          <p:stCondLst>
                                            <p:cond delay="0"/>
                                          </p:stCondLst>
                                        </p:cTn>
                                        <p:tgtEl>
                                          <p:spTgt spid="142363"/>
                                        </p:tgtEl>
                                        <p:attrNameLst>
                                          <p:attrName>style.visibility</p:attrName>
                                        </p:attrNameLst>
                                      </p:cBhvr>
                                      <p:to>
                                        <p:strVal val="visible"/>
                                      </p:to>
                                    </p:set>
                                    <p:animEffect transition="in" filter="box(out)">
                                      <p:cBhvr>
                                        <p:cTn id="85" dur="1000"/>
                                        <p:tgtEl>
                                          <p:spTgt spid="142363"/>
                                        </p:tgtEl>
                                      </p:cBhvr>
                                    </p:animEffect>
                                  </p:childTnLst>
                                </p:cTn>
                              </p:par>
                            </p:childTnLst>
                          </p:cTn>
                        </p:par>
                        <p:par>
                          <p:cTn id="86" fill="hold" nodeType="afterGroup">
                            <p:stCondLst>
                              <p:cond delay="29000"/>
                            </p:stCondLst>
                            <p:childTnLst>
                              <p:par>
                                <p:cTn id="87" presetID="6" presetClass="emph" presetSubtype="0" fill="hold" grpId="1" nodeType="afterEffect">
                                  <p:stCondLst>
                                    <p:cond delay="0"/>
                                  </p:stCondLst>
                                  <p:childTnLst>
                                    <p:animScale>
                                      <p:cBhvr>
                                        <p:cTn id="88" dur="2000" fill="hold"/>
                                        <p:tgtEl>
                                          <p:spTgt spid="14236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57" grpId="0"/>
      <p:bldP spid="142357" grpId="1"/>
      <p:bldP spid="142357" grpId="2"/>
      <p:bldP spid="142358" grpId="0"/>
      <p:bldP spid="142358" grpId="1"/>
      <p:bldP spid="142358" grpId="2"/>
      <p:bldP spid="142359" grpId="0"/>
      <p:bldP spid="142359" grpId="1"/>
      <p:bldP spid="142359" grpId="2"/>
      <p:bldP spid="142360" grpId="0"/>
      <p:bldP spid="142360" grpId="1"/>
      <p:bldP spid="142360" grpId="2"/>
      <p:bldP spid="142361" grpId="0"/>
      <p:bldP spid="142361" grpId="1"/>
      <p:bldP spid="142361" grpId="2"/>
      <p:bldP spid="142362" grpId="0"/>
      <p:bldP spid="142362" grpId="1"/>
      <p:bldP spid="142362" grpId="2"/>
      <p:bldP spid="142363" grpId="0" animBg="1"/>
      <p:bldP spid="142363"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algn="ctr"/>
            <a:r>
              <a:rPr lang="zh-CN" altLang="en-US"/>
              <a:t>结论</a:t>
            </a:r>
          </a:p>
        </p:txBody>
      </p:sp>
      <p:sp>
        <p:nvSpPr>
          <p:cNvPr id="143363" name="Rectangle 3"/>
          <p:cNvSpPr>
            <a:spLocks noGrp="1" noChangeArrowheads="1"/>
          </p:cNvSpPr>
          <p:nvPr>
            <p:ph idx="1"/>
          </p:nvPr>
        </p:nvSpPr>
        <p:spPr/>
        <p:txBody>
          <a:bodyPr/>
          <a:lstStyle/>
          <a:p>
            <a:r>
              <a:rPr lang="zh-CN" altLang="en-US" dirty="0"/>
              <a:t>这样无限循环下去，两边的蓝军都始终无法确定自己最后发出的电文对方是否已经收到。</a:t>
            </a:r>
          </a:p>
          <a:p>
            <a:r>
              <a:rPr lang="zh-CN" altLang="en-US" dirty="0">
                <a:solidFill>
                  <a:srgbClr val="FF0000"/>
                </a:solidFill>
              </a:rPr>
              <a:t>没有一种协议能够使蓝军 </a:t>
            </a:r>
            <a:r>
              <a:rPr lang="en-US" altLang="zh-CN" dirty="0">
                <a:solidFill>
                  <a:srgbClr val="FF0000"/>
                </a:solidFill>
              </a:rPr>
              <a:t>100% </a:t>
            </a:r>
            <a:r>
              <a:rPr lang="zh-CN" altLang="en-US" dirty="0">
                <a:solidFill>
                  <a:srgbClr val="FF0000"/>
                </a:solidFill>
              </a:rPr>
              <a:t>获胜。</a:t>
            </a:r>
            <a:endParaRPr lang="en-US" altLang="zh-CN" dirty="0">
              <a:solidFill>
                <a:srgbClr val="FF0000"/>
              </a:solidFill>
            </a:endParaRPr>
          </a:p>
          <a:p>
            <a:r>
              <a:rPr lang="zh-CN" altLang="zh-CN" dirty="0"/>
              <a:t>这个例子告诉我们，看似非常简单的协议，设计起来要考虑的问题还是比较多的</a:t>
            </a:r>
            <a:r>
              <a:rPr lang="zh-CN" altLang="en-US" dirty="0"/>
              <a:t>。</a:t>
            </a:r>
          </a:p>
        </p:txBody>
      </p:sp>
    </p:spTree>
    <p:extLst>
      <p:ext uri="{BB962C8B-B14F-4D97-AF65-F5344CB8AC3E}">
        <p14:creationId xmlns:p14="http://schemas.microsoft.com/office/powerpoint/2010/main" val="27247383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Rectangle 4"/>
          <p:cNvSpPr>
            <a:spLocks noGrp="1" noChangeArrowheads="1"/>
          </p:cNvSpPr>
          <p:nvPr>
            <p:ph type="title"/>
          </p:nvPr>
        </p:nvSpPr>
        <p:spPr/>
        <p:txBody>
          <a:bodyPr/>
          <a:lstStyle/>
          <a:p>
            <a:r>
              <a:rPr lang="en-US" altLang="zh-CN" dirty="0"/>
              <a:t>TCP/IP </a:t>
            </a:r>
            <a:r>
              <a:rPr lang="zh-CN" altLang="zh-CN" dirty="0"/>
              <a:t>的体系结构</a:t>
            </a:r>
            <a:endParaRPr lang="zh-CN" altLang="en-US" dirty="0"/>
          </a:p>
        </p:txBody>
      </p:sp>
      <p:graphicFrame>
        <p:nvGraphicFramePr>
          <p:cNvPr id="136194" name="Object 2"/>
          <p:cNvGraphicFramePr>
            <a:graphicFrameLocks noGrp="1" noChangeAspect="1"/>
          </p:cNvGraphicFramePr>
          <p:nvPr>
            <p:ph idx="4294967295"/>
            <p:extLst>
              <p:ext uri="{D42A27DB-BD31-4B8C-83A1-F6EECF244321}">
                <p14:modId xmlns:p14="http://schemas.microsoft.com/office/powerpoint/2010/main" val="1400336881"/>
              </p:ext>
            </p:extLst>
          </p:nvPr>
        </p:nvGraphicFramePr>
        <p:xfrm>
          <a:off x="2449345" y="4341088"/>
          <a:ext cx="2106613" cy="1111250"/>
        </p:xfrm>
        <a:graphic>
          <a:graphicData uri="http://schemas.openxmlformats.org/presentationml/2006/ole">
            <mc:AlternateContent xmlns:mc="http://schemas.openxmlformats.org/markup-compatibility/2006">
              <mc:Choice xmlns:v="urn:schemas-microsoft-com:vml" Requires="v">
                <p:oleObj spid="_x0000_s14422" name="VISIO" r:id="rId4" imgW="1687068" imgH="964692" progId="">
                  <p:embed/>
                </p:oleObj>
              </mc:Choice>
              <mc:Fallback>
                <p:oleObj name="VISIO" r:id="rId4" imgW="1687068" imgH="964692" progId="">
                  <p:embed/>
                  <p:pic>
                    <p:nvPicPr>
                      <p:cNvPr id="0" name="Picture 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9345" y="4341088"/>
                        <a:ext cx="2106613" cy="1111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36195" name="Object 3"/>
          <p:cNvGraphicFramePr>
            <a:graphicFrameLocks noChangeAspect="1"/>
          </p:cNvGraphicFramePr>
          <p:nvPr>
            <p:extLst>
              <p:ext uri="{D42A27DB-BD31-4B8C-83A1-F6EECF244321}">
                <p14:modId xmlns:p14="http://schemas.microsoft.com/office/powerpoint/2010/main" val="3745574121"/>
              </p:ext>
            </p:extLst>
          </p:nvPr>
        </p:nvGraphicFramePr>
        <p:xfrm>
          <a:off x="5654675" y="4373587"/>
          <a:ext cx="2106745" cy="1111250"/>
        </p:xfrm>
        <a:graphic>
          <a:graphicData uri="http://schemas.openxmlformats.org/presentationml/2006/ole">
            <mc:AlternateContent xmlns:mc="http://schemas.openxmlformats.org/markup-compatibility/2006">
              <mc:Choice xmlns:v="urn:schemas-microsoft-com:vml" Requires="v">
                <p:oleObj spid="_x0000_s14423" name="VISIO" r:id="rId6" imgW="1687068" imgH="964692" progId="">
                  <p:embed/>
                </p:oleObj>
              </mc:Choice>
              <mc:Fallback>
                <p:oleObj name="VISIO" r:id="rId6" imgW="1687068" imgH="964692" progId="">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4675" y="4373587"/>
                        <a:ext cx="2106745" cy="111125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6197" name="AutoShape 5"/>
          <p:cNvSpPr>
            <a:spLocks noChangeArrowheads="1"/>
          </p:cNvSpPr>
          <p:nvPr/>
        </p:nvSpPr>
        <p:spPr bwMode="auto">
          <a:xfrm>
            <a:off x="1319081" y="2016149"/>
            <a:ext cx="1723231" cy="2273300"/>
          </a:xfrm>
          <a:prstGeom prst="cube">
            <a:avLst>
              <a:gd name="adj" fmla="val 25301"/>
            </a:avLst>
          </a:prstGeom>
          <a:solidFill>
            <a:srgbClr val="FFFF66"/>
          </a:solidFill>
          <a:ln w="28575">
            <a:solidFill>
              <a:schemeClr val="tx1"/>
            </a:solidFill>
            <a:miter lim="800000"/>
            <a:headEnd/>
            <a:tailEnd/>
          </a:ln>
          <a:effectLst/>
        </p:spPr>
        <p:txBody>
          <a:bodyPr wrap="none" anchor="ctr"/>
          <a:lstStyle/>
          <a:p>
            <a:endParaRPr lang="zh-CN" altLang="en-US" b="1">
              <a:solidFill>
                <a:srgbClr val="000099"/>
              </a:solidFill>
            </a:endParaRPr>
          </a:p>
        </p:txBody>
      </p:sp>
      <p:sp>
        <p:nvSpPr>
          <p:cNvPr id="136198" name="Freeform 6"/>
          <p:cNvSpPr>
            <a:spLocks/>
          </p:cNvSpPr>
          <p:nvPr/>
        </p:nvSpPr>
        <p:spPr bwMode="auto">
          <a:xfrm>
            <a:off x="1317360" y="2406675"/>
            <a:ext cx="1719792" cy="365125"/>
          </a:xfrm>
          <a:custGeom>
            <a:avLst/>
            <a:gdLst>
              <a:gd name="T0" fmla="*/ 1000 w 1000"/>
              <a:gd name="T1" fmla="*/ 0 h 230"/>
              <a:gd name="T2" fmla="*/ 770 w 1000"/>
              <a:gd name="T3" fmla="*/ 226 h 230"/>
              <a:gd name="T4" fmla="*/ 0 w 1000"/>
              <a:gd name="T5" fmla="*/ 230 h 230"/>
            </a:gdLst>
            <a:ahLst/>
            <a:cxnLst>
              <a:cxn ang="0">
                <a:pos x="T0" y="T1"/>
              </a:cxn>
              <a:cxn ang="0">
                <a:pos x="T2" y="T3"/>
              </a:cxn>
              <a:cxn ang="0">
                <a:pos x="T4" y="T5"/>
              </a:cxn>
            </a:cxnLst>
            <a:rect l="0" t="0" r="r" b="b"/>
            <a:pathLst>
              <a:path w="1000" h="230">
                <a:moveTo>
                  <a:pt x="1000" y="0"/>
                </a:moveTo>
                <a:lnTo>
                  <a:pt x="770" y="226"/>
                </a:lnTo>
                <a:lnTo>
                  <a:pt x="0" y="230"/>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199" name="Text Box 7"/>
          <p:cNvSpPr txBox="1">
            <a:spLocks noChangeArrowheads="1"/>
          </p:cNvSpPr>
          <p:nvPr/>
        </p:nvSpPr>
        <p:spPr bwMode="auto">
          <a:xfrm>
            <a:off x="1540262" y="2348880"/>
            <a:ext cx="954107"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pPr>
            <a:r>
              <a:rPr kumimoji="1" lang="zh-CN" altLang="en-US" sz="2000" b="1" dirty="0">
                <a:solidFill>
                  <a:srgbClr val="000099"/>
                </a:solidFill>
                <a:latin typeface="黑体" pitchFamily="2" charset="-122"/>
                <a:ea typeface="黑体" pitchFamily="2" charset="-122"/>
              </a:rPr>
              <a:t>应用层</a:t>
            </a:r>
          </a:p>
          <a:p>
            <a:pPr algn="ctr">
              <a:lnSpc>
                <a:spcPct val="130000"/>
              </a:lnSpc>
            </a:pPr>
            <a:r>
              <a:rPr kumimoji="1" lang="zh-CN" altLang="en-US" sz="2000" b="1" dirty="0">
                <a:solidFill>
                  <a:srgbClr val="000099"/>
                </a:solidFill>
                <a:latin typeface="黑体" pitchFamily="2" charset="-122"/>
                <a:ea typeface="黑体" pitchFamily="2" charset="-122"/>
              </a:rPr>
              <a:t>运输层</a:t>
            </a:r>
          </a:p>
          <a:p>
            <a:pPr algn="ctr">
              <a:lnSpc>
                <a:spcPct val="130000"/>
              </a:lnSpc>
            </a:pPr>
            <a:r>
              <a:rPr kumimoji="1" lang="zh-CN" altLang="en-US" sz="2000" b="1" dirty="0">
                <a:solidFill>
                  <a:srgbClr val="000099"/>
                </a:solidFill>
                <a:latin typeface="黑体" pitchFamily="2" charset="-122"/>
                <a:ea typeface="黑体" pitchFamily="2" charset="-122"/>
              </a:rPr>
              <a:t>网际层</a:t>
            </a:r>
          </a:p>
          <a:p>
            <a:pPr algn="ctr">
              <a:lnSpc>
                <a:spcPct val="130000"/>
              </a:lnSpc>
            </a:pPr>
            <a:r>
              <a:rPr kumimoji="1" lang="zh-CN" altLang="en-US" sz="2000" b="1" dirty="0">
                <a:solidFill>
                  <a:srgbClr val="000099"/>
                </a:solidFill>
                <a:latin typeface="黑体" pitchFamily="2" charset="-122"/>
                <a:ea typeface="黑体" pitchFamily="2" charset="-122"/>
              </a:rPr>
              <a:t>网络</a:t>
            </a:r>
          </a:p>
          <a:p>
            <a:pPr algn="ctr">
              <a:lnSpc>
                <a:spcPct val="90000"/>
              </a:lnSpc>
            </a:pPr>
            <a:r>
              <a:rPr kumimoji="1" lang="zh-CN" altLang="en-US" sz="2000" b="1" dirty="0">
                <a:solidFill>
                  <a:srgbClr val="000099"/>
                </a:solidFill>
                <a:latin typeface="黑体" pitchFamily="2" charset="-122"/>
                <a:ea typeface="黑体" pitchFamily="2" charset="-122"/>
              </a:rPr>
              <a:t>接口层</a:t>
            </a:r>
          </a:p>
        </p:txBody>
      </p:sp>
      <p:sp>
        <p:nvSpPr>
          <p:cNvPr id="136200" name="Freeform 8"/>
          <p:cNvSpPr>
            <a:spLocks/>
          </p:cNvSpPr>
          <p:nvPr/>
        </p:nvSpPr>
        <p:spPr bwMode="auto">
          <a:xfrm>
            <a:off x="1313922" y="2797199"/>
            <a:ext cx="1723231" cy="387350"/>
          </a:xfrm>
          <a:custGeom>
            <a:avLst/>
            <a:gdLst>
              <a:gd name="T0" fmla="*/ 1002 w 1002"/>
              <a:gd name="T1" fmla="*/ 0 h 244"/>
              <a:gd name="T2" fmla="*/ 770 w 1002"/>
              <a:gd name="T3" fmla="*/ 240 h 244"/>
              <a:gd name="T4" fmla="*/ 0 w 1002"/>
              <a:gd name="T5" fmla="*/ 244 h 244"/>
            </a:gdLst>
            <a:ahLst/>
            <a:cxnLst>
              <a:cxn ang="0">
                <a:pos x="T0" y="T1"/>
              </a:cxn>
              <a:cxn ang="0">
                <a:pos x="T2" y="T3"/>
              </a:cxn>
              <a:cxn ang="0">
                <a:pos x="T4" y="T5"/>
              </a:cxn>
            </a:cxnLst>
            <a:rect l="0" t="0" r="r" b="b"/>
            <a:pathLst>
              <a:path w="1002" h="244">
                <a:moveTo>
                  <a:pt x="1002" y="0"/>
                </a:moveTo>
                <a:lnTo>
                  <a:pt x="770" y="240"/>
                </a:lnTo>
                <a:lnTo>
                  <a:pt x="0" y="244"/>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201" name="Freeform 9"/>
          <p:cNvSpPr>
            <a:spLocks/>
          </p:cNvSpPr>
          <p:nvPr/>
        </p:nvSpPr>
        <p:spPr bwMode="auto">
          <a:xfrm>
            <a:off x="1313922" y="3187725"/>
            <a:ext cx="1723231" cy="409575"/>
          </a:xfrm>
          <a:custGeom>
            <a:avLst/>
            <a:gdLst>
              <a:gd name="T0" fmla="*/ 1002 w 1002"/>
              <a:gd name="T1" fmla="*/ 0 h 258"/>
              <a:gd name="T2" fmla="*/ 770 w 1002"/>
              <a:gd name="T3" fmla="*/ 254 h 258"/>
              <a:gd name="T4" fmla="*/ 0 w 1002"/>
              <a:gd name="T5" fmla="*/ 258 h 258"/>
            </a:gdLst>
            <a:ahLst/>
            <a:cxnLst>
              <a:cxn ang="0">
                <a:pos x="T0" y="T1"/>
              </a:cxn>
              <a:cxn ang="0">
                <a:pos x="T2" y="T3"/>
              </a:cxn>
              <a:cxn ang="0">
                <a:pos x="T4" y="T5"/>
              </a:cxn>
            </a:cxnLst>
            <a:rect l="0" t="0" r="r" b="b"/>
            <a:pathLst>
              <a:path w="1002" h="258">
                <a:moveTo>
                  <a:pt x="1002" y="0"/>
                </a:moveTo>
                <a:lnTo>
                  <a:pt x="770" y="254"/>
                </a:lnTo>
                <a:lnTo>
                  <a:pt x="0" y="258"/>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202" name="AutoShape 10"/>
          <p:cNvSpPr>
            <a:spLocks noChangeArrowheads="1"/>
          </p:cNvSpPr>
          <p:nvPr/>
        </p:nvSpPr>
        <p:spPr bwMode="auto">
          <a:xfrm>
            <a:off x="7592881" y="2016149"/>
            <a:ext cx="1723231" cy="2273300"/>
          </a:xfrm>
          <a:prstGeom prst="cube">
            <a:avLst>
              <a:gd name="adj" fmla="val 25301"/>
            </a:avLst>
          </a:prstGeom>
          <a:solidFill>
            <a:srgbClr val="FFFF66"/>
          </a:solidFill>
          <a:ln w="28575">
            <a:solidFill>
              <a:schemeClr val="tx1"/>
            </a:solidFill>
            <a:miter lim="800000"/>
            <a:headEnd/>
            <a:tailEnd/>
          </a:ln>
          <a:effectLst/>
        </p:spPr>
        <p:txBody>
          <a:bodyPr wrap="none" anchor="ctr"/>
          <a:lstStyle/>
          <a:p>
            <a:endParaRPr lang="zh-CN" altLang="en-US" b="1">
              <a:solidFill>
                <a:srgbClr val="000099"/>
              </a:solidFill>
            </a:endParaRPr>
          </a:p>
        </p:txBody>
      </p:sp>
      <p:sp>
        <p:nvSpPr>
          <p:cNvPr id="136203" name="Freeform 11"/>
          <p:cNvSpPr>
            <a:spLocks/>
          </p:cNvSpPr>
          <p:nvPr/>
        </p:nvSpPr>
        <p:spPr bwMode="auto">
          <a:xfrm>
            <a:off x="7591161" y="2406675"/>
            <a:ext cx="1730110" cy="365125"/>
          </a:xfrm>
          <a:custGeom>
            <a:avLst/>
            <a:gdLst>
              <a:gd name="T0" fmla="*/ 1006 w 1006"/>
              <a:gd name="T1" fmla="*/ 0 h 230"/>
              <a:gd name="T2" fmla="*/ 770 w 1006"/>
              <a:gd name="T3" fmla="*/ 226 h 230"/>
              <a:gd name="T4" fmla="*/ 0 w 1006"/>
              <a:gd name="T5" fmla="*/ 230 h 230"/>
            </a:gdLst>
            <a:ahLst/>
            <a:cxnLst>
              <a:cxn ang="0">
                <a:pos x="T0" y="T1"/>
              </a:cxn>
              <a:cxn ang="0">
                <a:pos x="T2" y="T3"/>
              </a:cxn>
              <a:cxn ang="0">
                <a:pos x="T4" y="T5"/>
              </a:cxn>
            </a:cxnLst>
            <a:rect l="0" t="0" r="r" b="b"/>
            <a:pathLst>
              <a:path w="1006" h="230">
                <a:moveTo>
                  <a:pt x="1006" y="0"/>
                </a:moveTo>
                <a:lnTo>
                  <a:pt x="770" y="226"/>
                </a:lnTo>
                <a:lnTo>
                  <a:pt x="0" y="230"/>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204" name="Freeform 12"/>
          <p:cNvSpPr>
            <a:spLocks/>
          </p:cNvSpPr>
          <p:nvPr/>
        </p:nvSpPr>
        <p:spPr bwMode="auto">
          <a:xfrm>
            <a:off x="7587721" y="2806725"/>
            <a:ext cx="1712913" cy="377825"/>
          </a:xfrm>
          <a:custGeom>
            <a:avLst/>
            <a:gdLst>
              <a:gd name="T0" fmla="*/ 996 w 996"/>
              <a:gd name="T1" fmla="*/ 0 h 238"/>
              <a:gd name="T2" fmla="*/ 770 w 996"/>
              <a:gd name="T3" fmla="*/ 234 h 238"/>
              <a:gd name="T4" fmla="*/ 0 w 996"/>
              <a:gd name="T5" fmla="*/ 238 h 238"/>
            </a:gdLst>
            <a:ahLst/>
            <a:cxnLst>
              <a:cxn ang="0">
                <a:pos x="T0" y="T1"/>
              </a:cxn>
              <a:cxn ang="0">
                <a:pos x="T2" y="T3"/>
              </a:cxn>
              <a:cxn ang="0">
                <a:pos x="T4" y="T5"/>
              </a:cxn>
            </a:cxnLst>
            <a:rect l="0" t="0" r="r" b="b"/>
            <a:pathLst>
              <a:path w="996" h="238">
                <a:moveTo>
                  <a:pt x="996" y="0"/>
                </a:moveTo>
                <a:lnTo>
                  <a:pt x="770" y="234"/>
                </a:lnTo>
                <a:lnTo>
                  <a:pt x="0" y="238"/>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205" name="Freeform 13"/>
          <p:cNvSpPr>
            <a:spLocks/>
          </p:cNvSpPr>
          <p:nvPr/>
        </p:nvSpPr>
        <p:spPr bwMode="auto">
          <a:xfrm>
            <a:off x="7587721" y="3206775"/>
            <a:ext cx="1712913" cy="390525"/>
          </a:xfrm>
          <a:custGeom>
            <a:avLst/>
            <a:gdLst>
              <a:gd name="T0" fmla="*/ 996 w 996"/>
              <a:gd name="T1" fmla="*/ 0 h 246"/>
              <a:gd name="T2" fmla="*/ 770 w 996"/>
              <a:gd name="T3" fmla="*/ 242 h 246"/>
              <a:gd name="T4" fmla="*/ 0 w 996"/>
              <a:gd name="T5" fmla="*/ 246 h 246"/>
            </a:gdLst>
            <a:ahLst/>
            <a:cxnLst>
              <a:cxn ang="0">
                <a:pos x="T0" y="T1"/>
              </a:cxn>
              <a:cxn ang="0">
                <a:pos x="T2" y="T3"/>
              </a:cxn>
              <a:cxn ang="0">
                <a:pos x="T4" y="T5"/>
              </a:cxn>
            </a:cxnLst>
            <a:rect l="0" t="0" r="r" b="b"/>
            <a:pathLst>
              <a:path w="996" h="246">
                <a:moveTo>
                  <a:pt x="996" y="0"/>
                </a:moveTo>
                <a:lnTo>
                  <a:pt x="770" y="242"/>
                </a:lnTo>
                <a:lnTo>
                  <a:pt x="0" y="246"/>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206" name="AutoShape 14"/>
          <p:cNvSpPr>
            <a:spLocks noChangeArrowheads="1"/>
          </p:cNvSpPr>
          <p:nvPr/>
        </p:nvSpPr>
        <p:spPr bwMode="auto">
          <a:xfrm>
            <a:off x="4412986" y="2846412"/>
            <a:ext cx="1723231" cy="1447800"/>
          </a:xfrm>
          <a:prstGeom prst="cube">
            <a:avLst>
              <a:gd name="adj" fmla="val 25301"/>
            </a:avLst>
          </a:prstGeom>
          <a:solidFill>
            <a:srgbClr val="CCFFFF"/>
          </a:solidFill>
          <a:ln w="28575">
            <a:solidFill>
              <a:schemeClr val="tx1"/>
            </a:solidFill>
            <a:miter lim="800000"/>
            <a:headEnd/>
            <a:tailEnd/>
          </a:ln>
          <a:effectLst/>
        </p:spPr>
        <p:txBody>
          <a:bodyPr wrap="none" anchor="ctr"/>
          <a:lstStyle/>
          <a:p>
            <a:endParaRPr lang="zh-CN" altLang="en-US" b="1">
              <a:solidFill>
                <a:srgbClr val="000099"/>
              </a:solidFill>
            </a:endParaRPr>
          </a:p>
        </p:txBody>
      </p:sp>
      <p:sp>
        <p:nvSpPr>
          <p:cNvPr id="136207" name="Freeform 15"/>
          <p:cNvSpPr>
            <a:spLocks/>
          </p:cNvSpPr>
          <p:nvPr/>
        </p:nvSpPr>
        <p:spPr bwMode="auto">
          <a:xfrm>
            <a:off x="4407826" y="3235350"/>
            <a:ext cx="1724951" cy="366713"/>
          </a:xfrm>
          <a:custGeom>
            <a:avLst/>
            <a:gdLst>
              <a:gd name="T0" fmla="*/ 1003 w 1003"/>
              <a:gd name="T1" fmla="*/ 0 h 231"/>
              <a:gd name="T2" fmla="*/ 770 w 1003"/>
              <a:gd name="T3" fmla="*/ 227 h 231"/>
              <a:gd name="T4" fmla="*/ 0 w 1003"/>
              <a:gd name="T5" fmla="*/ 231 h 231"/>
            </a:gdLst>
            <a:ahLst/>
            <a:cxnLst>
              <a:cxn ang="0">
                <a:pos x="T0" y="T1"/>
              </a:cxn>
              <a:cxn ang="0">
                <a:pos x="T2" y="T3"/>
              </a:cxn>
              <a:cxn ang="0">
                <a:pos x="T4" y="T5"/>
              </a:cxn>
            </a:cxnLst>
            <a:rect l="0" t="0" r="r" b="b"/>
            <a:pathLst>
              <a:path w="1003" h="231">
                <a:moveTo>
                  <a:pt x="1003" y="0"/>
                </a:moveTo>
                <a:lnTo>
                  <a:pt x="770" y="227"/>
                </a:lnTo>
                <a:lnTo>
                  <a:pt x="0" y="231"/>
                </a:lnTo>
              </a:path>
            </a:pathLst>
          </a:custGeom>
          <a:noFill/>
          <a:ln w="19050">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endParaRPr>
          </a:p>
        </p:txBody>
      </p:sp>
      <p:sp>
        <p:nvSpPr>
          <p:cNvPr id="136208" name="Text Box 16"/>
          <p:cNvSpPr txBox="1">
            <a:spLocks noChangeArrowheads="1"/>
          </p:cNvSpPr>
          <p:nvPr/>
        </p:nvSpPr>
        <p:spPr bwMode="auto">
          <a:xfrm>
            <a:off x="1676798" y="1556792"/>
            <a:ext cx="102624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ea typeface="黑体" pitchFamily="2" charset="-122"/>
              </a:rPr>
              <a:t>主机</a:t>
            </a:r>
            <a:r>
              <a:rPr kumimoji="1" lang="en-US" altLang="zh-CN" sz="2400" b="1" dirty="0">
                <a:solidFill>
                  <a:srgbClr val="000099"/>
                </a:solidFill>
                <a:ea typeface="黑体" pitchFamily="2" charset="-122"/>
              </a:rPr>
              <a:t>A</a:t>
            </a:r>
          </a:p>
        </p:txBody>
      </p:sp>
      <p:sp>
        <p:nvSpPr>
          <p:cNvPr id="136209" name="Text Box 17"/>
          <p:cNvSpPr txBox="1">
            <a:spLocks noChangeArrowheads="1"/>
          </p:cNvSpPr>
          <p:nvPr/>
        </p:nvSpPr>
        <p:spPr bwMode="auto">
          <a:xfrm>
            <a:off x="8000472" y="1556792"/>
            <a:ext cx="1026243"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a:solidFill>
                  <a:srgbClr val="000099"/>
                </a:solidFill>
                <a:ea typeface="黑体" pitchFamily="2" charset="-122"/>
              </a:rPr>
              <a:t>主机</a:t>
            </a:r>
            <a:r>
              <a:rPr kumimoji="1" lang="en-US" altLang="zh-CN" sz="2400" b="1">
                <a:solidFill>
                  <a:srgbClr val="000099"/>
                </a:solidFill>
                <a:ea typeface="黑体" pitchFamily="2" charset="-122"/>
              </a:rPr>
              <a:t>B</a:t>
            </a:r>
          </a:p>
        </p:txBody>
      </p:sp>
      <p:sp>
        <p:nvSpPr>
          <p:cNvPr id="136210" name="Text Box 18"/>
          <p:cNvSpPr txBox="1">
            <a:spLocks noChangeArrowheads="1"/>
          </p:cNvSpPr>
          <p:nvPr/>
        </p:nvSpPr>
        <p:spPr bwMode="auto">
          <a:xfrm>
            <a:off x="4776299" y="2391271"/>
            <a:ext cx="1112805"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400" b="1" dirty="0">
                <a:solidFill>
                  <a:srgbClr val="000099"/>
                </a:solidFill>
                <a:latin typeface="黑体" pitchFamily="2" charset="-122"/>
                <a:ea typeface="黑体" pitchFamily="2" charset="-122"/>
              </a:rPr>
              <a:t>路由器</a:t>
            </a:r>
          </a:p>
        </p:txBody>
      </p:sp>
      <p:sp>
        <p:nvSpPr>
          <p:cNvPr id="136211" name="Text Box 19"/>
          <p:cNvSpPr txBox="1">
            <a:spLocks noChangeArrowheads="1"/>
          </p:cNvSpPr>
          <p:nvPr/>
        </p:nvSpPr>
        <p:spPr bwMode="auto">
          <a:xfrm>
            <a:off x="6260041" y="4687913"/>
            <a:ext cx="864339"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黑体" pitchFamily="2" charset="-122"/>
                <a:ea typeface="黑体" pitchFamily="2" charset="-122"/>
              </a:rPr>
              <a:t>网络</a:t>
            </a:r>
            <a:r>
              <a:rPr kumimoji="1" lang="zh-CN" altLang="en-US" sz="600" b="1" dirty="0">
                <a:solidFill>
                  <a:srgbClr val="000099"/>
                </a:solidFill>
                <a:latin typeface="黑体" pitchFamily="2" charset="-122"/>
                <a:ea typeface="黑体" pitchFamily="2" charset="-122"/>
              </a:rPr>
              <a:t> </a:t>
            </a:r>
            <a:r>
              <a:rPr kumimoji="1" lang="en-US" altLang="zh-CN" sz="2000" b="1" dirty="0">
                <a:solidFill>
                  <a:srgbClr val="000099"/>
                </a:solidFill>
                <a:latin typeface="黑体" pitchFamily="2" charset="-122"/>
                <a:ea typeface="黑体" pitchFamily="2" charset="-122"/>
              </a:rPr>
              <a:t>2</a:t>
            </a:r>
          </a:p>
        </p:txBody>
      </p:sp>
      <p:sp>
        <p:nvSpPr>
          <p:cNvPr id="136212" name="Text Box 20"/>
          <p:cNvSpPr txBox="1">
            <a:spLocks noChangeArrowheads="1"/>
          </p:cNvSpPr>
          <p:nvPr/>
        </p:nvSpPr>
        <p:spPr bwMode="auto">
          <a:xfrm>
            <a:off x="3080148" y="4662513"/>
            <a:ext cx="857927"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黑体" pitchFamily="2" charset="-122"/>
                <a:ea typeface="黑体" pitchFamily="2" charset="-122"/>
              </a:rPr>
              <a:t>网络</a:t>
            </a:r>
            <a:r>
              <a:rPr kumimoji="1" lang="zh-CN" altLang="en-US" sz="500" b="1" dirty="0">
                <a:solidFill>
                  <a:srgbClr val="000099"/>
                </a:solidFill>
                <a:latin typeface="黑体" pitchFamily="2" charset="-122"/>
                <a:ea typeface="黑体" pitchFamily="2" charset="-122"/>
              </a:rPr>
              <a:t> </a:t>
            </a:r>
            <a:r>
              <a:rPr kumimoji="1" lang="en-US" altLang="zh-CN" sz="2000" b="1" dirty="0">
                <a:solidFill>
                  <a:srgbClr val="000099"/>
                </a:solidFill>
                <a:latin typeface="黑体" pitchFamily="2" charset="-122"/>
                <a:ea typeface="黑体" pitchFamily="2" charset="-122"/>
              </a:rPr>
              <a:t>1</a:t>
            </a:r>
          </a:p>
        </p:txBody>
      </p:sp>
      <p:sp>
        <p:nvSpPr>
          <p:cNvPr id="136213" name="Line 21"/>
          <p:cNvSpPr>
            <a:spLocks noChangeShapeType="1"/>
          </p:cNvSpPr>
          <p:nvPr/>
        </p:nvSpPr>
        <p:spPr bwMode="auto">
          <a:xfrm>
            <a:off x="2041393" y="4291037"/>
            <a:ext cx="818621" cy="481012"/>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6214" name="Line 22"/>
          <p:cNvSpPr>
            <a:spLocks noChangeShapeType="1"/>
          </p:cNvSpPr>
          <p:nvPr/>
        </p:nvSpPr>
        <p:spPr bwMode="auto">
          <a:xfrm flipH="1">
            <a:off x="4225529" y="4291037"/>
            <a:ext cx="636323" cy="41275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6215" name="Line 23"/>
          <p:cNvSpPr>
            <a:spLocks noChangeShapeType="1"/>
          </p:cNvSpPr>
          <p:nvPr/>
        </p:nvSpPr>
        <p:spPr bwMode="auto">
          <a:xfrm>
            <a:off x="5226447" y="4291037"/>
            <a:ext cx="818621" cy="481012"/>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6216" name="Line 24"/>
          <p:cNvSpPr>
            <a:spLocks noChangeShapeType="1"/>
          </p:cNvSpPr>
          <p:nvPr/>
        </p:nvSpPr>
        <p:spPr bwMode="auto">
          <a:xfrm flipH="1">
            <a:off x="7451858" y="4291037"/>
            <a:ext cx="777346" cy="481012"/>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endParaRPr>
          </a:p>
        </p:txBody>
      </p:sp>
      <p:sp>
        <p:nvSpPr>
          <p:cNvPr id="136217" name="Text Box 25"/>
          <p:cNvSpPr txBox="1">
            <a:spLocks noChangeArrowheads="1"/>
          </p:cNvSpPr>
          <p:nvPr/>
        </p:nvSpPr>
        <p:spPr bwMode="auto">
          <a:xfrm>
            <a:off x="7784825" y="2348880"/>
            <a:ext cx="954107"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pPr>
            <a:r>
              <a:rPr kumimoji="1" lang="zh-CN" altLang="en-US" sz="2000" b="1" dirty="0">
                <a:solidFill>
                  <a:srgbClr val="000099"/>
                </a:solidFill>
                <a:latin typeface="黑体" pitchFamily="2" charset="-122"/>
                <a:ea typeface="黑体" pitchFamily="2" charset="-122"/>
              </a:rPr>
              <a:t>应用层</a:t>
            </a:r>
          </a:p>
          <a:p>
            <a:pPr algn="ctr">
              <a:lnSpc>
                <a:spcPct val="130000"/>
              </a:lnSpc>
            </a:pPr>
            <a:r>
              <a:rPr kumimoji="1" lang="zh-CN" altLang="en-US" sz="2000" b="1" dirty="0">
                <a:solidFill>
                  <a:srgbClr val="000099"/>
                </a:solidFill>
                <a:latin typeface="黑体" pitchFamily="2" charset="-122"/>
                <a:ea typeface="黑体" pitchFamily="2" charset="-122"/>
              </a:rPr>
              <a:t>运输层</a:t>
            </a:r>
          </a:p>
          <a:p>
            <a:pPr algn="ctr">
              <a:lnSpc>
                <a:spcPct val="130000"/>
              </a:lnSpc>
            </a:pPr>
            <a:r>
              <a:rPr kumimoji="1" lang="zh-CN" altLang="en-US" sz="2000" b="1" dirty="0">
                <a:solidFill>
                  <a:srgbClr val="000099"/>
                </a:solidFill>
                <a:latin typeface="黑体" pitchFamily="2" charset="-122"/>
                <a:ea typeface="黑体" pitchFamily="2" charset="-122"/>
              </a:rPr>
              <a:t>网际层</a:t>
            </a:r>
          </a:p>
          <a:p>
            <a:pPr algn="ctr">
              <a:lnSpc>
                <a:spcPct val="130000"/>
              </a:lnSpc>
            </a:pPr>
            <a:r>
              <a:rPr kumimoji="1" lang="zh-CN" altLang="en-US" sz="2000" b="1" dirty="0">
                <a:solidFill>
                  <a:srgbClr val="000099"/>
                </a:solidFill>
                <a:latin typeface="黑体" pitchFamily="2" charset="-122"/>
                <a:ea typeface="黑体" pitchFamily="2" charset="-122"/>
              </a:rPr>
              <a:t>网络</a:t>
            </a:r>
          </a:p>
          <a:p>
            <a:pPr algn="ctr">
              <a:lnSpc>
                <a:spcPct val="90000"/>
              </a:lnSpc>
            </a:pPr>
            <a:r>
              <a:rPr kumimoji="1" lang="zh-CN" altLang="en-US" sz="2000" b="1" dirty="0">
                <a:solidFill>
                  <a:srgbClr val="000099"/>
                </a:solidFill>
                <a:latin typeface="黑体" pitchFamily="2" charset="-122"/>
                <a:ea typeface="黑体" pitchFamily="2" charset="-122"/>
              </a:rPr>
              <a:t>接口层</a:t>
            </a:r>
          </a:p>
        </p:txBody>
      </p:sp>
      <p:sp>
        <p:nvSpPr>
          <p:cNvPr id="136218" name="Text Box 26"/>
          <p:cNvSpPr txBox="1">
            <a:spLocks noChangeArrowheads="1"/>
          </p:cNvSpPr>
          <p:nvPr/>
        </p:nvSpPr>
        <p:spPr bwMode="auto">
          <a:xfrm>
            <a:off x="4587733" y="3124225"/>
            <a:ext cx="95410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pPr>
            <a:r>
              <a:rPr kumimoji="1" lang="zh-CN" altLang="en-US" sz="2000" b="1">
                <a:solidFill>
                  <a:srgbClr val="000099"/>
                </a:solidFill>
                <a:latin typeface="黑体" pitchFamily="2" charset="-122"/>
                <a:ea typeface="黑体" pitchFamily="2" charset="-122"/>
              </a:rPr>
              <a:t>网际层</a:t>
            </a:r>
          </a:p>
          <a:p>
            <a:pPr algn="ctr">
              <a:lnSpc>
                <a:spcPct val="130000"/>
              </a:lnSpc>
            </a:pPr>
            <a:r>
              <a:rPr kumimoji="1" lang="zh-CN" altLang="en-US" sz="2000" b="1">
                <a:solidFill>
                  <a:srgbClr val="000099"/>
                </a:solidFill>
                <a:latin typeface="黑体" pitchFamily="2" charset="-122"/>
                <a:ea typeface="黑体" pitchFamily="2" charset="-122"/>
              </a:rPr>
              <a:t>网络</a:t>
            </a:r>
          </a:p>
          <a:p>
            <a:pPr algn="ctr">
              <a:lnSpc>
                <a:spcPct val="90000"/>
              </a:lnSpc>
            </a:pPr>
            <a:r>
              <a:rPr kumimoji="1" lang="zh-CN" altLang="en-US" sz="2000" b="1">
                <a:solidFill>
                  <a:srgbClr val="000099"/>
                </a:solidFill>
                <a:latin typeface="黑体" pitchFamily="2" charset="-122"/>
                <a:ea typeface="黑体" pitchFamily="2" charset="-122"/>
              </a:rPr>
              <a:t>接口层</a:t>
            </a:r>
          </a:p>
        </p:txBody>
      </p:sp>
      <p:sp>
        <p:nvSpPr>
          <p:cNvPr id="136219" name="Text Box 27"/>
          <p:cNvSpPr txBox="1">
            <a:spLocks noChangeArrowheads="1"/>
          </p:cNvSpPr>
          <p:nvPr/>
        </p:nvSpPr>
        <p:spPr bwMode="auto">
          <a:xfrm>
            <a:off x="869068" y="2333650"/>
            <a:ext cx="327334"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130000"/>
              </a:lnSpc>
            </a:pPr>
            <a:r>
              <a:rPr kumimoji="1" lang="en-US" altLang="zh-CN" sz="2000" b="1">
                <a:solidFill>
                  <a:srgbClr val="000099"/>
                </a:solidFill>
                <a:ea typeface="黑体" pitchFamily="2" charset="-122"/>
              </a:rPr>
              <a:t>4</a:t>
            </a:r>
          </a:p>
          <a:p>
            <a:pPr algn="ctr">
              <a:lnSpc>
                <a:spcPct val="130000"/>
              </a:lnSpc>
            </a:pPr>
            <a:r>
              <a:rPr kumimoji="1" lang="en-US" altLang="zh-CN" sz="2000" b="1">
                <a:solidFill>
                  <a:srgbClr val="000099"/>
                </a:solidFill>
                <a:ea typeface="黑体" pitchFamily="2" charset="-122"/>
              </a:rPr>
              <a:t>3</a:t>
            </a:r>
          </a:p>
          <a:p>
            <a:pPr algn="ctr">
              <a:lnSpc>
                <a:spcPct val="130000"/>
              </a:lnSpc>
            </a:pPr>
            <a:r>
              <a:rPr kumimoji="1" lang="en-US" altLang="zh-CN" sz="2000" b="1">
                <a:solidFill>
                  <a:srgbClr val="000099"/>
                </a:solidFill>
                <a:ea typeface="黑体" pitchFamily="2" charset="-122"/>
              </a:rPr>
              <a:t>2</a:t>
            </a:r>
          </a:p>
          <a:p>
            <a:pPr algn="ctr">
              <a:lnSpc>
                <a:spcPct val="155000"/>
              </a:lnSpc>
            </a:pPr>
            <a:r>
              <a:rPr kumimoji="1" lang="en-US" altLang="zh-CN" sz="2000" b="1">
                <a:solidFill>
                  <a:srgbClr val="000099"/>
                </a:solidFill>
                <a:ea typeface="黑体" pitchFamily="2" charset="-122"/>
              </a:rPr>
              <a:t>1</a:t>
            </a:r>
          </a:p>
        </p:txBody>
      </p:sp>
      <p:sp>
        <p:nvSpPr>
          <p:cNvPr id="136220" name="Text Box 28"/>
          <p:cNvSpPr txBox="1">
            <a:spLocks noChangeArrowheads="1"/>
          </p:cNvSpPr>
          <p:nvPr/>
        </p:nvSpPr>
        <p:spPr bwMode="auto">
          <a:xfrm>
            <a:off x="2605225" y="5550331"/>
            <a:ext cx="5444119" cy="830997"/>
          </a:xfrm>
          <a:prstGeom prst="rect">
            <a:avLst/>
          </a:prstGeom>
          <a:solidFill>
            <a:srgbClr val="00FF99"/>
          </a:solidFill>
          <a:ln>
            <a:solidFill>
              <a:srgbClr val="000066"/>
            </a:solidFill>
          </a:ln>
          <a:effectLst/>
        </p:spPr>
        <p:txBody>
          <a:bodyPr wrap="none">
            <a:spAutoFit/>
          </a:bodyPr>
          <a:lstStyle/>
          <a:p>
            <a:pPr algn="ctr"/>
            <a:r>
              <a:rPr lang="zh-CN" altLang="en-US" sz="2400" b="1" dirty="0">
                <a:solidFill>
                  <a:srgbClr val="000099"/>
                </a:solidFill>
                <a:latin typeface="黑体" pitchFamily="2" charset="-122"/>
                <a:ea typeface="黑体" pitchFamily="2" charset="-122"/>
              </a:rPr>
              <a:t>路由器在转发分组时最高只用到网际层</a:t>
            </a:r>
          </a:p>
          <a:p>
            <a:pPr algn="ctr"/>
            <a:r>
              <a:rPr lang="zh-CN" altLang="en-US" sz="2400" b="1" dirty="0">
                <a:solidFill>
                  <a:srgbClr val="000099"/>
                </a:solidFill>
                <a:latin typeface="黑体" pitchFamily="2" charset="-122"/>
                <a:ea typeface="黑体" pitchFamily="2" charset="-122"/>
              </a:rPr>
              <a:t>而没有使用运输层和应用层。 </a:t>
            </a:r>
          </a:p>
        </p:txBody>
      </p:sp>
      <p:sp>
        <p:nvSpPr>
          <p:cNvPr id="2" name="矩形 1"/>
          <p:cNvSpPr/>
          <p:nvPr/>
        </p:nvSpPr>
        <p:spPr>
          <a:xfrm>
            <a:off x="3443201" y="1188041"/>
            <a:ext cx="3958071" cy="523220"/>
          </a:xfrm>
          <a:prstGeom prst="rect">
            <a:avLst/>
          </a:prstGeom>
          <a:solidFill>
            <a:srgbClr val="FF66FF"/>
          </a:solidFill>
        </p:spPr>
        <p:txBody>
          <a:bodyPr wrap="none">
            <a:spAutoFit/>
          </a:bodyPr>
          <a:lstStyle/>
          <a:p>
            <a:r>
              <a:rPr lang="en-US" altLang="zh-CN" sz="2800" b="1" dirty="0">
                <a:solidFill>
                  <a:srgbClr val="000099"/>
                </a:solidFill>
                <a:latin typeface="+mn-lt"/>
                <a:ea typeface="黑体" pitchFamily="2" charset="-122"/>
              </a:rPr>
              <a:t>TCP/IP </a:t>
            </a:r>
            <a:r>
              <a:rPr lang="zh-CN" altLang="en-US" sz="2800" b="1" dirty="0">
                <a:solidFill>
                  <a:srgbClr val="000099"/>
                </a:solidFill>
                <a:latin typeface="+mn-lt"/>
                <a:ea typeface="黑体" pitchFamily="2" charset="-122"/>
              </a:rPr>
              <a:t>是四层体系结构</a:t>
            </a:r>
          </a:p>
        </p:txBody>
      </p:sp>
    </p:spTree>
    <p:extLst>
      <p:ext uri="{BB962C8B-B14F-4D97-AF65-F5344CB8AC3E}">
        <p14:creationId xmlns:p14="http://schemas.microsoft.com/office/powerpoint/2010/main" val="26858454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95300" y="188640"/>
            <a:ext cx="8634164" cy="792088"/>
          </a:xfrm>
        </p:spPr>
        <p:txBody>
          <a:bodyPr/>
          <a:lstStyle/>
          <a:p>
            <a:pPr algn="ctr"/>
            <a:r>
              <a:rPr lang="en-US" altLang="zh-CN" sz="4000" dirty="0"/>
              <a:t>TCP/IP </a:t>
            </a:r>
            <a:r>
              <a:rPr lang="zh-CN" altLang="zh-CN" sz="4000" dirty="0"/>
              <a:t>体系结构</a:t>
            </a:r>
            <a:r>
              <a:rPr lang="zh-CN" altLang="en-US" sz="4000" dirty="0"/>
              <a:t>的另一种表示方法</a:t>
            </a:r>
          </a:p>
        </p:txBody>
      </p:sp>
      <p:sp>
        <p:nvSpPr>
          <p:cNvPr id="14" name="内容占位符 13"/>
          <p:cNvSpPr>
            <a:spLocks noGrp="1"/>
          </p:cNvSpPr>
          <p:nvPr>
            <p:ph idx="1"/>
          </p:nvPr>
        </p:nvSpPr>
        <p:spPr/>
        <p:txBody>
          <a:bodyPr/>
          <a:lstStyle/>
          <a:p>
            <a:r>
              <a:rPr lang="zh-CN" altLang="zh-CN" sz="2800" dirty="0"/>
              <a:t>实际上</a:t>
            </a:r>
            <a:r>
              <a:rPr lang="zh-CN" altLang="en-US" sz="2800" dirty="0"/>
              <a:t>，</a:t>
            </a:r>
            <a:r>
              <a:rPr lang="zh-CN" altLang="zh-CN" sz="2800" dirty="0"/>
              <a:t>现在的互联网使用的</a:t>
            </a:r>
            <a:r>
              <a:rPr lang="en-US" altLang="zh-CN" sz="2800" dirty="0"/>
              <a:t> TCP/IP </a:t>
            </a:r>
            <a:r>
              <a:rPr lang="zh-CN" altLang="zh-CN" sz="2800" dirty="0"/>
              <a:t>体系结构有时已经</a:t>
            </a:r>
            <a:r>
              <a:rPr lang="zh-CN" altLang="en-US" sz="2800" dirty="0"/>
              <a:t>发生了</a:t>
            </a:r>
            <a:r>
              <a:rPr lang="zh-CN" altLang="zh-CN" sz="2800" dirty="0"/>
              <a:t>演变，即某些应用程序可以直接使用</a:t>
            </a:r>
            <a:r>
              <a:rPr lang="en-US" altLang="zh-CN" sz="2800" dirty="0"/>
              <a:t> IP </a:t>
            </a:r>
            <a:r>
              <a:rPr lang="zh-CN" altLang="zh-CN" sz="2800" dirty="0"/>
              <a:t>层，或甚至直接使用最下面的网络接口层</a:t>
            </a:r>
            <a:r>
              <a:rPr lang="zh-CN" altLang="en-US" sz="2800" dirty="0"/>
              <a:t>。</a:t>
            </a:r>
          </a:p>
          <a:p>
            <a:endParaRPr lang="zh-CN" altLang="en-US" sz="2800" dirty="0"/>
          </a:p>
        </p:txBody>
      </p:sp>
      <p:grpSp>
        <p:nvGrpSpPr>
          <p:cNvPr id="12" name="组合 11"/>
          <p:cNvGrpSpPr/>
          <p:nvPr/>
        </p:nvGrpSpPr>
        <p:grpSpPr>
          <a:xfrm>
            <a:off x="2700338" y="2924919"/>
            <a:ext cx="4844950" cy="2736329"/>
            <a:chOff x="2700338" y="1628775"/>
            <a:chExt cx="3562939" cy="2016125"/>
          </a:xfrm>
        </p:grpSpPr>
        <p:sp>
          <p:nvSpPr>
            <p:cNvPr id="3" name="Rectangle 5"/>
            <p:cNvSpPr>
              <a:spLocks noChangeArrowheads="1"/>
            </p:cNvSpPr>
            <p:nvPr/>
          </p:nvSpPr>
          <p:spPr bwMode="auto">
            <a:xfrm>
              <a:off x="2700338" y="1628775"/>
              <a:ext cx="3311525" cy="2016125"/>
            </a:xfrm>
            <a:prstGeom prst="rect">
              <a:avLst/>
            </a:prstGeom>
            <a:solidFill>
              <a:schemeClr val="bg1"/>
            </a:solidFill>
            <a:ln w="28575">
              <a:solidFill>
                <a:schemeClr val="tx1"/>
              </a:solidFill>
              <a:miter lim="800000"/>
              <a:headEnd/>
              <a:tailEnd/>
            </a:ln>
            <a:effectLst>
              <a:outerShdw dist="35921" dir="2700000" algn="ctr" rotWithShape="0">
                <a:schemeClr val="bg2"/>
              </a:outerShdw>
            </a:effectLst>
          </p:spPr>
          <p:txBody>
            <a:bodyPr wrap="none" anchor="ctr"/>
            <a:lstStyle/>
            <a:p>
              <a:endParaRPr lang="zh-CN" altLang="en-US" sz="3200" b="1">
                <a:solidFill>
                  <a:srgbClr val="000099"/>
                </a:solidFill>
                <a:latin typeface="+mn-lt"/>
                <a:ea typeface="黑体" pitchFamily="2" charset="-122"/>
              </a:endParaRPr>
            </a:p>
          </p:txBody>
        </p:sp>
        <p:sp>
          <p:nvSpPr>
            <p:cNvPr id="4" name="Line 6"/>
            <p:cNvSpPr>
              <a:spLocks noChangeShapeType="1"/>
            </p:cNvSpPr>
            <p:nvPr/>
          </p:nvSpPr>
          <p:spPr bwMode="auto">
            <a:xfrm>
              <a:off x="2700338" y="3141663"/>
              <a:ext cx="33115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200" b="1">
                <a:solidFill>
                  <a:srgbClr val="000099"/>
                </a:solidFill>
                <a:latin typeface="+mn-lt"/>
                <a:ea typeface="黑体" pitchFamily="2" charset="-122"/>
              </a:endParaRPr>
            </a:p>
          </p:txBody>
        </p:sp>
        <p:sp>
          <p:nvSpPr>
            <p:cNvPr id="5" name="Freeform 7"/>
            <p:cNvSpPr>
              <a:spLocks/>
            </p:cNvSpPr>
            <p:nvPr/>
          </p:nvSpPr>
          <p:spPr bwMode="auto">
            <a:xfrm>
              <a:off x="2700338" y="2636838"/>
              <a:ext cx="2447925" cy="504825"/>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200" b="1">
                <a:solidFill>
                  <a:srgbClr val="000099"/>
                </a:solidFill>
                <a:latin typeface="+mn-lt"/>
                <a:ea typeface="黑体" pitchFamily="2" charset="-122"/>
              </a:endParaRPr>
            </a:p>
          </p:txBody>
        </p:sp>
        <p:sp>
          <p:nvSpPr>
            <p:cNvPr id="6" name="Freeform 8"/>
            <p:cNvSpPr>
              <a:spLocks/>
            </p:cNvSpPr>
            <p:nvPr/>
          </p:nvSpPr>
          <p:spPr bwMode="auto">
            <a:xfrm>
              <a:off x="2700338" y="2133600"/>
              <a:ext cx="1584325" cy="504825"/>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200" b="1">
                <a:solidFill>
                  <a:srgbClr val="000099"/>
                </a:solidFill>
                <a:latin typeface="+mn-lt"/>
                <a:ea typeface="黑体" pitchFamily="2" charset="-122"/>
              </a:endParaRPr>
            </a:p>
          </p:txBody>
        </p:sp>
        <p:sp>
          <p:nvSpPr>
            <p:cNvPr id="7" name="Line 9"/>
            <p:cNvSpPr>
              <a:spLocks noChangeShapeType="1"/>
            </p:cNvSpPr>
            <p:nvPr/>
          </p:nvSpPr>
          <p:spPr bwMode="auto">
            <a:xfrm>
              <a:off x="3492500" y="2133600"/>
              <a:ext cx="0" cy="5032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200" b="1">
                <a:solidFill>
                  <a:srgbClr val="000099"/>
                </a:solidFill>
                <a:latin typeface="+mn-lt"/>
                <a:ea typeface="黑体" pitchFamily="2" charset="-122"/>
              </a:endParaRPr>
            </a:p>
          </p:txBody>
        </p:sp>
        <p:sp>
          <p:nvSpPr>
            <p:cNvPr id="8" name="Text Box 10"/>
            <p:cNvSpPr txBox="1">
              <a:spLocks noChangeArrowheads="1"/>
            </p:cNvSpPr>
            <p:nvPr/>
          </p:nvSpPr>
          <p:spPr bwMode="auto">
            <a:xfrm>
              <a:off x="2815009" y="2193259"/>
              <a:ext cx="1436011" cy="385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99"/>
                  </a:solidFill>
                  <a:latin typeface="+mn-lt"/>
                  <a:ea typeface="黑体" pitchFamily="2" charset="-122"/>
                </a:rPr>
                <a:t>TCP   UDP</a:t>
              </a:r>
            </a:p>
          </p:txBody>
        </p:sp>
        <p:sp>
          <p:nvSpPr>
            <p:cNvPr id="9" name="Text Box 11"/>
            <p:cNvSpPr txBox="1">
              <a:spLocks noChangeArrowheads="1"/>
            </p:cNvSpPr>
            <p:nvPr/>
          </p:nvSpPr>
          <p:spPr bwMode="auto">
            <a:xfrm>
              <a:off x="3670300" y="2722563"/>
              <a:ext cx="419794" cy="385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99"/>
                  </a:solidFill>
                  <a:latin typeface="+mn-lt"/>
                  <a:ea typeface="黑体" pitchFamily="2" charset="-122"/>
                </a:rPr>
                <a:t>IP</a:t>
              </a:r>
            </a:p>
          </p:txBody>
        </p:sp>
        <p:sp>
          <p:nvSpPr>
            <p:cNvPr id="10" name="Text Box 4"/>
            <p:cNvSpPr txBox="1">
              <a:spLocks noChangeArrowheads="1"/>
            </p:cNvSpPr>
            <p:nvPr/>
          </p:nvSpPr>
          <p:spPr bwMode="auto">
            <a:xfrm>
              <a:off x="3995738" y="1700213"/>
              <a:ext cx="1016926" cy="385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itchFamily="2" charset="-122"/>
                </a:rPr>
                <a:t>应用层</a:t>
              </a:r>
            </a:p>
          </p:txBody>
        </p:sp>
        <p:sp>
          <p:nvSpPr>
            <p:cNvPr id="11" name="Text Box 12"/>
            <p:cNvSpPr txBox="1">
              <a:spLocks noChangeArrowheads="1"/>
            </p:cNvSpPr>
            <p:nvPr/>
          </p:nvSpPr>
          <p:spPr bwMode="auto">
            <a:xfrm>
              <a:off x="3219450" y="3213100"/>
              <a:ext cx="3043827" cy="385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a:solidFill>
                    <a:srgbClr val="000099"/>
                  </a:solidFill>
                  <a:latin typeface="+mn-lt"/>
                  <a:ea typeface="黑体" pitchFamily="2" charset="-122"/>
                </a:rPr>
                <a:t>网络接口层（子网层）</a:t>
              </a:r>
            </a:p>
          </p:txBody>
        </p:sp>
      </p:grpSp>
    </p:spTree>
    <p:extLst>
      <p:ext uri="{BB962C8B-B14F-4D97-AF65-F5344CB8AC3E}">
        <p14:creationId xmlns:p14="http://schemas.microsoft.com/office/powerpoint/2010/main" val="31532620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4"/>
          <p:cNvSpPr>
            <a:spLocks noGrp="1" noChangeArrowheads="1"/>
          </p:cNvSpPr>
          <p:nvPr>
            <p:ph type="title"/>
          </p:nvPr>
        </p:nvSpPr>
        <p:spPr/>
        <p:txBody>
          <a:bodyPr/>
          <a:lstStyle/>
          <a:p>
            <a:pPr algn="ctr"/>
            <a:r>
              <a:rPr lang="zh-CN" altLang="en-US" sz="4000" dirty="0"/>
              <a:t>沙漏计时器形状的</a:t>
            </a:r>
            <a:r>
              <a:rPr lang="en-US" altLang="zh-CN" sz="4000" dirty="0"/>
              <a:t>TCP/IP</a:t>
            </a:r>
            <a:r>
              <a:rPr lang="zh-CN" altLang="en-US" sz="4000" dirty="0"/>
              <a:t>协议族 </a:t>
            </a:r>
          </a:p>
        </p:txBody>
      </p:sp>
      <p:sp>
        <p:nvSpPr>
          <p:cNvPr id="137218" name="AutoShape 2"/>
          <p:cNvSpPr>
            <a:spLocks noChangeArrowheads="1"/>
          </p:cNvSpPr>
          <p:nvPr/>
        </p:nvSpPr>
        <p:spPr bwMode="auto">
          <a:xfrm>
            <a:off x="1425791" y="3068092"/>
            <a:ext cx="7838810" cy="2808287"/>
          </a:xfrm>
          <a:prstGeom prst="triangle">
            <a:avLst>
              <a:gd name="adj" fmla="val 50000"/>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219" name="AutoShape 3"/>
          <p:cNvSpPr>
            <a:spLocks noChangeArrowheads="1"/>
          </p:cNvSpPr>
          <p:nvPr/>
        </p:nvSpPr>
        <p:spPr bwMode="auto">
          <a:xfrm flipV="1">
            <a:off x="1425791" y="1556792"/>
            <a:ext cx="7838810" cy="3095625"/>
          </a:xfrm>
          <a:prstGeom prst="triangle">
            <a:avLst>
              <a:gd name="adj" fmla="val 50000"/>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99"/>
              </a:solidFill>
              <a:latin typeface="+mn-lt"/>
              <a:ea typeface="黑体" pitchFamily="2" charset="-122"/>
            </a:endParaRPr>
          </a:p>
        </p:txBody>
      </p:sp>
      <p:sp>
        <p:nvSpPr>
          <p:cNvPr id="137221" name="Rectangle 5"/>
          <p:cNvSpPr>
            <a:spLocks noChangeArrowheads="1"/>
          </p:cNvSpPr>
          <p:nvPr/>
        </p:nvSpPr>
        <p:spPr bwMode="auto">
          <a:xfrm>
            <a:off x="2619325" y="1747291"/>
            <a:ext cx="882254"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HTTP</a:t>
            </a:r>
          </a:p>
        </p:txBody>
      </p:sp>
      <p:sp>
        <p:nvSpPr>
          <p:cNvPr id="137222" name="Rectangle 6"/>
          <p:cNvSpPr>
            <a:spLocks noChangeArrowheads="1"/>
          </p:cNvSpPr>
          <p:nvPr/>
        </p:nvSpPr>
        <p:spPr bwMode="auto">
          <a:xfrm>
            <a:off x="4296123" y="1747291"/>
            <a:ext cx="883973"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SMTP</a:t>
            </a:r>
          </a:p>
        </p:txBody>
      </p:sp>
      <p:sp>
        <p:nvSpPr>
          <p:cNvPr id="137223" name="Rectangle 7"/>
          <p:cNvSpPr>
            <a:spLocks noChangeArrowheads="1"/>
          </p:cNvSpPr>
          <p:nvPr/>
        </p:nvSpPr>
        <p:spPr bwMode="auto">
          <a:xfrm>
            <a:off x="5532652" y="1747291"/>
            <a:ext cx="882254"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DNS</a:t>
            </a:r>
          </a:p>
        </p:txBody>
      </p:sp>
      <p:sp>
        <p:nvSpPr>
          <p:cNvPr id="137224" name="Rectangle 8"/>
          <p:cNvSpPr>
            <a:spLocks noChangeArrowheads="1"/>
          </p:cNvSpPr>
          <p:nvPr/>
        </p:nvSpPr>
        <p:spPr bwMode="auto">
          <a:xfrm>
            <a:off x="7209450" y="1747291"/>
            <a:ext cx="883973" cy="393700"/>
          </a:xfrm>
          <a:prstGeom prst="rect">
            <a:avLst/>
          </a:prstGeom>
          <a:solidFill>
            <a:srgbClr val="CCECFF"/>
          </a:solidFill>
          <a:ln w="9525">
            <a:solidFill>
              <a:schemeClr val="tx1"/>
            </a:solidFill>
            <a:miter lim="800000"/>
            <a:headEnd/>
            <a:tailEnd/>
          </a:ln>
          <a:effectLst>
            <a:outerShdw dist="53882"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RTP</a:t>
            </a:r>
          </a:p>
        </p:txBody>
      </p:sp>
      <p:sp>
        <p:nvSpPr>
          <p:cNvPr id="137225" name="Rectangle 9"/>
          <p:cNvSpPr>
            <a:spLocks noChangeArrowheads="1"/>
          </p:cNvSpPr>
          <p:nvPr/>
        </p:nvSpPr>
        <p:spPr bwMode="auto">
          <a:xfrm>
            <a:off x="3413869" y="2691853"/>
            <a:ext cx="882254"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TCP</a:t>
            </a:r>
          </a:p>
        </p:txBody>
      </p:sp>
      <p:sp>
        <p:nvSpPr>
          <p:cNvPr id="137226" name="Rectangle 10"/>
          <p:cNvSpPr>
            <a:spLocks noChangeArrowheads="1"/>
          </p:cNvSpPr>
          <p:nvPr/>
        </p:nvSpPr>
        <p:spPr bwMode="auto">
          <a:xfrm>
            <a:off x="6414907" y="2691853"/>
            <a:ext cx="883973" cy="393700"/>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UDP</a:t>
            </a:r>
          </a:p>
        </p:txBody>
      </p:sp>
      <p:sp>
        <p:nvSpPr>
          <p:cNvPr id="137227" name="Rectangle 11"/>
          <p:cNvSpPr>
            <a:spLocks noChangeArrowheads="1"/>
          </p:cNvSpPr>
          <p:nvPr/>
        </p:nvSpPr>
        <p:spPr bwMode="auto">
          <a:xfrm>
            <a:off x="4913528" y="3796753"/>
            <a:ext cx="883973" cy="393700"/>
          </a:xfrm>
          <a:prstGeom prst="rect">
            <a:avLst/>
          </a:prstGeom>
          <a:solidFill>
            <a:srgbClr val="FF99FF"/>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kumimoji="1" lang="en-US" altLang="zh-CN" sz="2000" b="1">
                <a:solidFill>
                  <a:srgbClr val="000099"/>
                </a:solidFill>
                <a:latin typeface="+mn-lt"/>
                <a:ea typeface="黑体" pitchFamily="2" charset="-122"/>
              </a:rPr>
              <a:t>IP</a:t>
            </a:r>
          </a:p>
        </p:txBody>
      </p:sp>
      <p:sp>
        <p:nvSpPr>
          <p:cNvPr id="137228" name="Rectangle 12"/>
          <p:cNvSpPr>
            <a:spLocks noChangeArrowheads="1"/>
          </p:cNvSpPr>
          <p:nvPr/>
        </p:nvSpPr>
        <p:spPr bwMode="auto">
          <a:xfrm>
            <a:off x="2619326" y="5076279"/>
            <a:ext cx="1413669"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endParaRPr kumimoji="1" lang="zh-CN" altLang="zh-CN" sz="1600" b="1">
              <a:solidFill>
                <a:srgbClr val="000099"/>
              </a:solidFill>
              <a:latin typeface="+mn-lt"/>
              <a:ea typeface="黑体" pitchFamily="2" charset="-122"/>
            </a:endParaRPr>
          </a:p>
        </p:txBody>
      </p:sp>
      <p:sp>
        <p:nvSpPr>
          <p:cNvPr id="137229" name="Rectangle 13"/>
          <p:cNvSpPr>
            <a:spLocks noChangeArrowheads="1"/>
          </p:cNvSpPr>
          <p:nvPr/>
        </p:nvSpPr>
        <p:spPr bwMode="auto">
          <a:xfrm>
            <a:off x="4473261" y="5076279"/>
            <a:ext cx="1411950"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endParaRPr kumimoji="1" lang="zh-CN" altLang="zh-CN" sz="1600" b="1">
              <a:solidFill>
                <a:srgbClr val="000099"/>
              </a:solidFill>
              <a:latin typeface="+mn-lt"/>
              <a:ea typeface="黑体" pitchFamily="2" charset="-122"/>
            </a:endParaRPr>
          </a:p>
        </p:txBody>
      </p:sp>
      <p:sp>
        <p:nvSpPr>
          <p:cNvPr id="137230" name="Rectangle 14"/>
          <p:cNvSpPr>
            <a:spLocks noChangeArrowheads="1"/>
          </p:cNvSpPr>
          <p:nvPr/>
        </p:nvSpPr>
        <p:spPr bwMode="auto">
          <a:xfrm>
            <a:off x="6681473" y="5076279"/>
            <a:ext cx="1411950" cy="549275"/>
          </a:xfrm>
          <a:prstGeom prst="rect">
            <a:avLst/>
          </a:prstGeom>
          <a:solidFill>
            <a:srgbClr val="99FF66"/>
          </a:solidFill>
          <a:ln w="9525">
            <a:solidFill>
              <a:schemeClr val="tx1"/>
            </a:solidFill>
            <a:miter lim="800000"/>
            <a:headEnd/>
            <a:tailEnd/>
          </a:ln>
          <a:effectLst>
            <a:outerShdw dist="35921" dir="2700000" algn="ctr" rotWithShape="0">
              <a:schemeClr val="bg2"/>
            </a:outerShdw>
          </a:effectLst>
        </p:spPr>
        <p:txBody>
          <a:bodyPr wrap="none" anchor="ctr"/>
          <a:lstStyle/>
          <a:p>
            <a:pPr algn="ctr"/>
            <a:endParaRPr kumimoji="1" lang="zh-CN" altLang="zh-CN" sz="1600" b="1">
              <a:solidFill>
                <a:srgbClr val="000099"/>
              </a:solidFill>
              <a:latin typeface="+mn-lt"/>
              <a:ea typeface="黑体" pitchFamily="2" charset="-122"/>
            </a:endParaRPr>
          </a:p>
        </p:txBody>
      </p:sp>
      <p:sp>
        <p:nvSpPr>
          <p:cNvPr id="137231" name="Line 15"/>
          <p:cNvSpPr>
            <a:spLocks noChangeShapeType="1"/>
          </p:cNvSpPr>
          <p:nvPr/>
        </p:nvSpPr>
        <p:spPr bwMode="auto">
          <a:xfrm>
            <a:off x="500542" y="4506366"/>
            <a:ext cx="794543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32" name="Line 16"/>
          <p:cNvSpPr>
            <a:spLocks noChangeShapeType="1"/>
          </p:cNvSpPr>
          <p:nvPr/>
        </p:nvSpPr>
        <p:spPr bwMode="auto">
          <a:xfrm>
            <a:off x="500542" y="3482428"/>
            <a:ext cx="794543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33" name="Line 17"/>
          <p:cNvSpPr>
            <a:spLocks noChangeShapeType="1"/>
          </p:cNvSpPr>
          <p:nvPr/>
        </p:nvSpPr>
        <p:spPr bwMode="auto">
          <a:xfrm>
            <a:off x="500542" y="2455316"/>
            <a:ext cx="794543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34" name="Text Box 18"/>
          <p:cNvSpPr txBox="1">
            <a:spLocks noChangeArrowheads="1"/>
          </p:cNvSpPr>
          <p:nvPr/>
        </p:nvSpPr>
        <p:spPr bwMode="auto">
          <a:xfrm>
            <a:off x="744985" y="3752304"/>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网际层</a:t>
            </a:r>
          </a:p>
        </p:txBody>
      </p:sp>
      <p:sp>
        <p:nvSpPr>
          <p:cNvPr id="137235" name="Text Box 19"/>
          <p:cNvSpPr txBox="1">
            <a:spLocks noChangeArrowheads="1"/>
          </p:cNvSpPr>
          <p:nvPr/>
        </p:nvSpPr>
        <p:spPr bwMode="auto">
          <a:xfrm>
            <a:off x="488504" y="5012779"/>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网络接口层</a:t>
            </a:r>
          </a:p>
        </p:txBody>
      </p:sp>
      <p:sp>
        <p:nvSpPr>
          <p:cNvPr id="137236" name="Text Box 20"/>
          <p:cNvSpPr txBox="1">
            <a:spLocks noChangeArrowheads="1"/>
          </p:cNvSpPr>
          <p:nvPr/>
        </p:nvSpPr>
        <p:spPr bwMode="auto">
          <a:xfrm>
            <a:off x="744985" y="27442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运输层</a:t>
            </a:r>
          </a:p>
        </p:txBody>
      </p:sp>
      <p:sp>
        <p:nvSpPr>
          <p:cNvPr id="137237" name="Text Box 21"/>
          <p:cNvSpPr txBox="1">
            <a:spLocks noChangeArrowheads="1"/>
          </p:cNvSpPr>
          <p:nvPr/>
        </p:nvSpPr>
        <p:spPr bwMode="auto">
          <a:xfrm>
            <a:off x="744985" y="1736179"/>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solidFill>
                  <a:srgbClr val="000099"/>
                </a:solidFill>
                <a:latin typeface="+mn-lt"/>
                <a:ea typeface="黑体" pitchFamily="2" charset="-122"/>
              </a:rPr>
              <a:t>应用层</a:t>
            </a:r>
          </a:p>
        </p:txBody>
      </p:sp>
      <p:sp>
        <p:nvSpPr>
          <p:cNvPr id="137238" name="Text Box 22"/>
          <p:cNvSpPr txBox="1">
            <a:spLocks noChangeArrowheads="1"/>
          </p:cNvSpPr>
          <p:nvPr/>
        </p:nvSpPr>
        <p:spPr bwMode="auto">
          <a:xfrm>
            <a:off x="3639162" y="166315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a:t>
            </a:r>
          </a:p>
        </p:txBody>
      </p:sp>
      <p:sp>
        <p:nvSpPr>
          <p:cNvPr id="137239" name="Text Box 23"/>
          <p:cNvSpPr txBox="1">
            <a:spLocks noChangeArrowheads="1"/>
          </p:cNvSpPr>
          <p:nvPr/>
        </p:nvSpPr>
        <p:spPr bwMode="auto">
          <a:xfrm>
            <a:off x="6559368" y="1663154"/>
            <a:ext cx="4411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000099"/>
                </a:solidFill>
                <a:latin typeface="+mn-lt"/>
                <a:ea typeface="黑体" pitchFamily="2" charset="-122"/>
              </a:rPr>
              <a:t>…</a:t>
            </a:r>
          </a:p>
        </p:txBody>
      </p:sp>
      <p:sp>
        <p:nvSpPr>
          <p:cNvPr id="137240" name="Text Box 24"/>
          <p:cNvSpPr txBox="1">
            <a:spLocks noChangeArrowheads="1"/>
          </p:cNvSpPr>
          <p:nvPr/>
        </p:nvSpPr>
        <p:spPr bwMode="auto">
          <a:xfrm>
            <a:off x="6067508" y="5060403"/>
            <a:ext cx="3898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600" b="1">
                <a:solidFill>
                  <a:srgbClr val="000099"/>
                </a:solidFill>
                <a:latin typeface="+mn-lt"/>
                <a:ea typeface="黑体" pitchFamily="2" charset="-122"/>
              </a:rPr>
              <a:t>…</a:t>
            </a:r>
          </a:p>
        </p:txBody>
      </p:sp>
      <p:sp>
        <p:nvSpPr>
          <p:cNvPr id="137241" name="Line 25"/>
          <p:cNvSpPr>
            <a:spLocks noChangeShapeType="1"/>
          </p:cNvSpPr>
          <p:nvPr/>
        </p:nvSpPr>
        <p:spPr bwMode="auto">
          <a:xfrm>
            <a:off x="3047554" y="2167978"/>
            <a:ext cx="552053" cy="547688"/>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2" name="Line 26"/>
          <p:cNvSpPr>
            <a:spLocks noChangeShapeType="1"/>
          </p:cNvSpPr>
          <p:nvPr/>
        </p:nvSpPr>
        <p:spPr bwMode="auto">
          <a:xfrm>
            <a:off x="5955722" y="2185441"/>
            <a:ext cx="636323" cy="49530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3" name="Line 27"/>
          <p:cNvSpPr>
            <a:spLocks noChangeShapeType="1"/>
          </p:cNvSpPr>
          <p:nvPr/>
        </p:nvSpPr>
        <p:spPr bwMode="auto">
          <a:xfrm flipH="1">
            <a:off x="4089748" y="2169566"/>
            <a:ext cx="632883" cy="52070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4" name="Line 28"/>
          <p:cNvSpPr>
            <a:spLocks noChangeShapeType="1"/>
          </p:cNvSpPr>
          <p:nvPr/>
        </p:nvSpPr>
        <p:spPr bwMode="auto">
          <a:xfrm flipH="1">
            <a:off x="7030592" y="2169566"/>
            <a:ext cx="620844" cy="52705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5" name="Line 29"/>
          <p:cNvSpPr>
            <a:spLocks noChangeShapeType="1"/>
          </p:cNvSpPr>
          <p:nvPr/>
        </p:nvSpPr>
        <p:spPr bwMode="auto">
          <a:xfrm>
            <a:off x="3850696" y="3117303"/>
            <a:ext cx="1245129" cy="661988"/>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6" name="Line 30"/>
          <p:cNvSpPr>
            <a:spLocks noChangeShapeType="1"/>
          </p:cNvSpPr>
          <p:nvPr/>
        </p:nvSpPr>
        <p:spPr bwMode="auto">
          <a:xfrm flipH="1">
            <a:off x="5620363" y="3133178"/>
            <a:ext cx="1248569" cy="64770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7" name="Line 31"/>
          <p:cNvSpPr>
            <a:spLocks noChangeShapeType="1"/>
          </p:cNvSpPr>
          <p:nvPr/>
        </p:nvSpPr>
        <p:spPr bwMode="auto">
          <a:xfrm>
            <a:off x="5668517" y="4244428"/>
            <a:ext cx="1762786" cy="839788"/>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8" name="Line 32"/>
          <p:cNvSpPr>
            <a:spLocks noChangeShapeType="1"/>
          </p:cNvSpPr>
          <p:nvPr/>
        </p:nvSpPr>
        <p:spPr bwMode="auto">
          <a:xfrm flipH="1">
            <a:off x="3219534" y="4234904"/>
            <a:ext cx="1783423" cy="84931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49" name="Line 33"/>
          <p:cNvSpPr>
            <a:spLocks noChangeShapeType="1"/>
          </p:cNvSpPr>
          <p:nvPr/>
        </p:nvSpPr>
        <p:spPr bwMode="auto">
          <a:xfrm flipH="1">
            <a:off x="5092386" y="4190454"/>
            <a:ext cx="264848" cy="893763"/>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99"/>
              </a:solidFill>
              <a:latin typeface="+mn-lt"/>
              <a:ea typeface="黑体" pitchFamily="2" charset="-122"/>
            </a:endParaRPr>
          </a:p>
        </p:txBody>
      </p:sp>
      <p:sp>
        <p:nvSpPr>
          <p:cNvPr id="137250" name="Text Box 34"/>
          <p:cNvSpPr txBox="1">
            <a:spLocks noChangeArrowheads="1"/>
          </p:cNvSpPr>
          <p:nvPr/>
        </p:nvSpPr>
        <p:spPr bwMode="auto">
          <a:xfrm>
            <a:off x="2569452" y="5173117"/>
            <a:ext cx="14109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网络接口</a:t>
            </a:r>
            <a:r>
              <a:rPr kumimoji="1" lang="zh-CN" altLang="en-US"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1</a:t>
            </a:r>
          </a:p>
        </p:txBody>
      </p:sp>
      <p:sp>
        <p:nvSpPr>
          <p:cNvPr id="137251" name="Text Box 35"/>
          <p:cNvSpPr txBox="1">
            <a:spLocks noChangeArrowheads="1"/>
          </p:cNvSpPr>
          <p:nvPr/>
        </p:nvSpPr>
        <p:spPr bwMode="auto">
          <a:xfrm>
            <a:off x="4430266" y="5141367"/>
            <a:ext cx="14109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网络接口</a:t>
            </a:r>
            <a:r>
              <a:rPr kumimoji="1" lang="zh-CN" altLang="en-US"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2</a:t>
            </a:r>
          </a:p>
        </p:txBody>
      </p:sp>
      <p:sp>
        <p:nvSpPr>
          <p:cNvPr id="137252" name="Text Box 36"/>
          <p:cNvSpPr txBox="1">
            <a:spLocks noChangeArrowheads="1"/>
          </p:cNvSpPr>
          <p:nvPr/>
        </p:nvSpPr>
        <p:spPr bwMode="auto">
          <a:xfrm>
            <a:off x="6652237" y="5120729"/>
            <a:ext cx="14109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a:solidFill>
                  <a:srgbClr val="000099"/>
                </a:solidFill>
                <a:latin typeface="+mn-lt"/>
                <a:ea typeface="黑体" pitchFamily="2" charset="-122"/>
              </a:rPr>
              <a:t>网络接口</a:t>
            </a:r>
            <a:r>
              <a:rPr kumimoji="1" lang="zh-CN" altLang="en-US" sz="1000" b="1">
                <a:solidFill>
                  <a:srgbClr val="000099"/>
                </a:solidFill>
                <a:latin typeface="+mn-lt"/>
                <a:ea typeface="黑体" pitchFamily="2" charset="-122"/>
              </a:rPr>
              <a:t> </a:t>
            </a:r>
            <a:r>
              <a:rPr kumimoji="1" lang="en-US" altLang="zh-CN" sz="2000" b="1">
                <a:solidFill>
                  <a:srgbClr val="000099"/>
                </a:solidFill>
                <a:latin typeface="+mn-lt"/>
                <a:ea typeface="黑体" pitchFamily="2" charset="-122"/>
              </a:rPr>
              <a:t>3</a:t>
            </a:r>
          </a:p>
        </p:txBody>
      </p:sp>
      <p:sp>
        <p:nvSpPr>
          <p:cNvPr id="137253" name="Text Box 37"/>
          <p:cNvSpPr txBox="1">
            <a:spLocks noChangeArrowheads="1"/>
          </p:cNvSpPr>
          <p:nvPr/>
        </p:nvSpPr>
        <p:spPr bwMode="auto">
          <a:xfrm>
            <a:off x="1135146" y="188640"/>
            <a:ext cx="7782057" cy="1274195"/>
          </a:xfrm>
          <a:prstGeom prst="rect">
            <a:avLst/>
          </a:prstGeom>
          <a:solidFill>
            <a:srgbClr val="FFFF00"/>
          </a:solidFill>
          <a:ln>
            <a:noFill/>
          </a:ln>
          <a:effectLst/>
        </p:spPr>
        <p:txBody>
          <a:bodyPr>
            <a:spAutoFit/>
          </a:bodyPr>
          <a:lstStyle/>
          <a:p>
            <a:pPr algn="ctr">
              <a:lnSpc>
                <a:spcPct val="120000"/>
              </a:lnSpc>
            </a:pPr>
            <a:r>
              <a:rPr lang="en-US" altLang="zh-CN" sz="3200" b="1" dirty="0">
                <a:solidFill>
                  <a:srgbClr val="333399"/>
                </a:solidFill>
                <a:latin typeface="+mn-lt"/>
                <a:ea typeface="黑体" pitchFamily="2" charset="-122"/>
              </a:rPr>
              <a:t>Everything over IP </a:t>
            </a:r>
          </a:p>
          <a:p>
            <a:pPr algn="ctr">
              <a:lnSpc>
                <a:spcPct val="120000"/>
              </a:lnSpc>
            </a:pPr>
            <a:r>
              <a:rPr lang="en-US" altLang="zh-CN" sz="3200" b="1" dirty="0">
                <a:solidFill>
                  <a:srgbClr val="333399"/>
                </a:solidFill>
                <a:latin typeface="+mn-lt"/>
                <a:ea typeface="黑体" pitchFamily="2" charset="-122"/>
              </a:rPr>
              <a:t>IP</a:t>
            </a:r>
            <a:r>
              <a:rPr lang="en-US" altLang="zh-CN" sz="1600" b="1" dirty="0">
                <a:solidFill>
                  <a:srgbClr val="333399"/>
                </a:solidFill>
                <a:latin typeface="+mn-lt"/>
                <a:ea typeface="黑体" pitchFamily="2" charset="-122"/>
              </a:rPr>
              <a:t> </a:t>
            </a:r>
            <a:r>
              <a:rPr lang="zh-CN" altLang="en-US" sz="3200" b="1" dirty="0">
                <a:solidFill>
                  <a:srgbClr val="333399"/>
                </a:solidFill>
                <a:latin typeface="+mn-lt"/>
                <a:ea typeface="黑体" pitchFamily="2" charset="-122"/>
              </a:rPr>
              <a:t>可为各式各样的应用程序提供服务</a:t>
            </a:r>
          </a:p>
        </p:txBody>
      </p:sp>
      <p:sp>
        <p:nvSpPr>
          <p:cNvPr id="137254" name="Text Box 38"/>
          <p:cNvSpPr txBox="1">
            <a:spLocks noChangeArrowheads="1"/>
          </p:cNvSpPr>
          <p:nvPr/>
        </p:nvSpPr>
        <p:spPr bwMode="auto">
          <a:xfrm>
            <a:off x="1135146" y="188640"/>
            <a:ext cx="7782057" cy="1274195"/>
          </a:xfrm>
          <a:prstGeom prst="rect">
            <a:avLst/>
          </a:prstGeom>
          <a:solidFill>
            <a:srgbClr val="00FF99"/>
          </a:solidFill>
          <a:ln>
            <a:noFill/>
          </a:ln>
          <a:effectLst/>
        </p:spPr>
        <p:txBody>
          <a:bodyPr>
            <a:spAutoFit/>
          </a:bodyPr>
          <a:lstStyle/>
          <a:p>
            <a:pPr algn="ctr">
              <a:lnSpc>
                <a:spcPct val="120000"/>
              </a:lnSpc>
            </a:pPr>
            <a:r>
              <a:rPr lang="en-US" altLang="zh-CN" sz="3200" b="1" dirty="0">
                <a:solidFill>
                  <a:srgbClr val="333399"/>
                </a:solidFill>
                <a:latin typeface="+mn-lt"/>
                <a:ea typeface="黑体" pitchFamily="2" charset="-122"/>
              </a:rPr>
              <a:t>IP over Everything </a:t>
            </a:r>
          </a:p>
          <a:p>
            <a:pPr algn="ctr">
              <a:lnSpc>
                <a:spcPct val="120000"/>
              </a:lnSpc>
            </a:pPr>
            <a:r>
              <a:rPr lang="en-US" altLang="zh-CN" sz="3200" b="1" dirty="0">
                <a:solidFill>
                  <a:srgbClr val="333399"/>
                </a:solidFill>
                <a:latin typeface="+mn-lt"/>
                <a:ea typeface="黑体" pitchFamily="2" charset="-122"/>
              </a:rPr>
              <a:t>IP</a:t>
            </a:r>
            <a:r>
              <a:rPr lang="en-US" altLang="zh-CN" sz="1200" b="1" dirty="0">
                <a:solidFill>
                  <a:srgbClr val="333399"/>
                </a:solidFill>
                <a:latin typeface="+mn-lt"/>
                <a:ea typeface="黑体" pitchFamily="2" charset="-122"/>
              </a:rPr>
              <a:t> </a:t>
            </a:r>
            <a:r>
              <a:rPr lang="zh-CN" altLang="en-US" sz="3200" b="1" dirty="0">
                <a:solidFill>
                  <a:srgbClr val="333399"/>
                </a:solidFill>
                <a:latin typeface="+mn-lt"/>
                <a:ea typeface="黑体" pitchFamily="2" charset="-122"/>
              </a:rPr>
              <a:t>可应用到各式各样的网络上</a:t>
            </a:r>
          </a:p>
        </p:txBody>
      </p:sp>
      <p:sp>
        <p:nvSpPr>
          <p:cNvPr id="2" name="矩形 1"/>
          <p:cNvSpPr/>
          <p:nvPr/>
        </p:nvSpPr>
        <p:spPr>
          <a:xfrm>
            <a:off x="2298273" y="6021288"/>
            <a:ext cx="5674951" cy="461665"/>
          </a:xfrm>
          <a:prstGeom prst="rect">
            <a:avLst/>
          </a:prstGeom>
        </p:spPr>
        <p:txBody>
          <a:bodyPr wrap="square">
            <a:spAutoFit/>
          </a:bodyPr>
          <a:lstStyle/>
          <a:p>
            <a:pPr algn="ctr"/>
            <a:r>
              <a:rPr lang="zh-CN" altLang="zh-CN" sz="2400" b="1" dirty="0">
                <a:latin typeface="+mn-lt"/>
                <a:ea typeface="黑体" pitchFamily="2" charset="-122"/>
              </a:rPr>
              <a:t>沙漏计时器形状的</a:t>
            </a:r>
            <a:r>
              <a:rPr lang="en-US" altLang="zh-CN" sz="2400" b="1" dirty="0">
                <a:latin typeface="+mn-lt"/>
                <a:ea typeface="黑体" pitchFamily="2" charset="-122"/>
              </a:rPr>
              <a:t> TCP/IP </a:t>
            </a:r>
            <a:r>
              <a:rPr lang="zh-CN" altLang="zh-CN" sz="2400" b="1" dirty="0">
                <a:latin typeface="+mn-lt"/>
                <a:ea typeface="黑体" pitchFamily="2" charset="-122"/>
              </a:rPr>
              <a:t>协议族</a:t>
            </a:r>
            <a:endParaRPr lang="zh-CN" altLang="en-US" sz="2400" b="1" dirty="0">
              <a:latin typeface="+mn-lt"/>
              <a:ea typeface="黑体" pitchFamily="2" charset="-122"/>
            </a:endParaRPr>
          </a:p>
        </p:txBody>
      </p:sp>
    </p:spTree>
    <p:extLst>
      <p:ext uri="{BB962C8B-B14F-4D97-AF65-F5344CB8AC3E}">
        <p14:creationId xmlns:p14="http://schemas.microsoft.com/office/powerpoint/2010/main" val="37402831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253"/>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37219"/>
                                        </p:tgtEl>
                                        <p:attrNameLst>
                                          <p:attrName>style.visibility</p:attrName>
                                        </p:attrNameLst>
                                      </p:cBhvr>
                                      <p:to>
                                        <p:strVal val="visible"/>
                                      </p:to>
                                    </p:set>
                                  </p:childTnLst>
                                </p:cTn>
                              </p:par>
                            </p:childTnLst>
                          </p:cTn>
                        </p:par>
                        <p:par>
                          <p:cTn id="10" fill="hold" nodeType="afterGroup">
                            <p:stCondLst>
                              <p:cond delay="0"/>
                            </p:stCondLst>
                            <p:childTnLst>
                              <p:par>
                                <p:cTn id="11" presetID="35" presetClass="emph" presetSubtype="0" repeatCount="indefinite" fill="hold" grpId="0" nodeType="afterEffect">
                                  <p:stCondLst>
                                    <p:cond delay="0"/>
                                  </p:stCondLst>
                                  <p:endCondLst>
                                    <p:cond evt="onNext" delay="0">
                                      <p:tgtEl>
                                        <p:sldTgt/>
                                      </p:tgtEl>
                                    </p:cond>
                                  </p:endCondLst>
                                  <p:childTnLst>
                                    <p:anim calcmode="discrete" valueType="str">
                                      <p:cBhvr>
                                        <p:cTn id="12"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7254"/>
                                        </p:tgtEl>
                                        <p:attrNameLst>
                                          <p:attrName>style.visibility</p:attrName>
                                        </p:attrNameLst>
                                      </p:cBhvr>
                                      <p:to>
                                        <p:strVal val="visible"/>
                                      </p:to>
                                    </p:set>
                                  </p:childTnLst>
                                </p:cTn>
                              </p:par>
                            </p:childTnLst>
                          </p:cTn>
                        </p:par>
                        <p:par>
                          <p:cTn id="17" fill="hold" nodeType="afterGroup">
                            <p:stCondLst>
                              <p:cond delay="0"/>
                            </p:stCondLst>
                            <p:childTnLst>
                              <p:par>
                                <p:cTn id="18" presetID="1" presetClass="exit" presetSubtype="0" fill="hold" grpId="1" nodeType="afterEffect">
                                  <p:stCondLst>
                                    <p:cond delay="0"/>
                                  </p:stCondLst>
                                  <p:childTnLst>
                                    <p:set>
                                      <p:cBhvr>
                                        <p:cTn id="19" dur="1" fill="hold">
                                          <p:stCondLst>
                                            <p:cond delay="0"/>
                                          </p:stCondLst>
                                        </p:cTn>
                                        <p:tgtEl>
                                          <p:spTgt spid="137219"/>
                                        </p:tgtEl>
                                        <p:attrNameLst>
                                          <p:attrName>style.visibility</p:attrName>
                                        </p:attrNameLst>
                                      </p:cBhvr>
                                      <p:to>
                                        <p:strVal val="hidden"/>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37218"/>
                                        </p:tgtEl>
                                        <p:attrNameLst>
                                          <p:attrName>style.visibility</p:attrName>
                                        </p:attrNameLst>
                                      </p:cBhvr>
                                      <p:to>
                                        <p:strVal val="visible"/>
                                      </p:to>
                                    </p:set>
                                  </p:childTnLst>
                                </p:cTn>
                              </p:par>
                            </p:childTnLst>
                          </p:cTn>
                        </p:par>
                        <p:par>
                          <p:cTn id="23" fill="hold" nodeType="afterGroup">
                            <p:stCondLst>
                              <p:cond delay="0"/>
                            </p:stCondLst>
                            <p:childTnLst>
                              <p:par>
                                <p:cTn id="24" presetID="35" presetClass="emph" presetSubtype="0" repeatCount="indefinite" fill="hold" grpId="1" nodeType="afterEffect">
                                  <p:stCondLst>
                                    <p:cond delay="0"/>
                                  </p:stCondLst>
                                  <p:endCondLst>
                                    <p:cond evt="onNext" delay="0">
                                      <p:tgtEl>
                                        <p:sldTgt/>
                                      </p:tgtEl>
                                    </p:cond>
                                  </p:endCondLst>
                                  <p:childTnLst>
                                    <p:anim calcmode="discrete" valueType="str">
                                      <p:cBhvr>
                                        <p:cTn id="25" dur="1000" fill="hold"/>
                                        <p:tgtEl>
                                          <p:spTgt spid="13722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8" grpId="0" animBg="1"/>
      <p:bldP spid="137219" grpId="0" animBg="1"/>
      <p:bldP spid="137219" grpId="1" animBg="1"/>
      <p:bldP spid="137227" grpId="0" animBg="1"/>
      <p:bldP spid="137227" grpId="1" animBg="1"/>
      <p:bldP spid="137253" grpId="0" animBg="1"/>
      <p:bldP spid="137254" grpId="0" animBg="1"/>
    </p:bld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Template>
  <TotalTime>1019</TotalTime>
  <Words>5063</Words>
  <Application>Microsoft Office PowerPoint</Application>
  <PresentationFormat>A4 纸张(210x297 毫米)</PresentationFormat>
  <Paragraphs>735</Paragraphs>
  <Slides>75</Slides>
  <Notes>56</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75</vt:i4>
      </vt:variant>
    </vt:vector>
  </HeadingPairs>
  <TitlesOfParts>
    <vt:vector size="86" baseType="lpstr">
      <vt:lpstr>黑体</vt:lpstr>
      <vt:lpstr>宋体</vt:lpstr>
      <vt:lpstr>Arial</vt:lpstr>
      <vt:lpstr>Arial Rounded MT Bold</vt:lpstr>
      <vt:lpstr>Bookman Old Style</vt:lpstr>
      <vt:lpstr>Tahoma</vt:lpstr>
      <vt:lpstr>Times New Roman</vt:lpstr>
      <vt:lpstr>Wingdings</vt:lpstr>
      <vt:lpstr>Presentation</vt:lpstr>
      <vt:lpstr>公式</vt:lpstr>
      <vt:lpstr>VISIO</vt:lpstr>
      <vt:lpstr>概述</vt:lpstr>
      <vt:lpstr>概述</vt:lpstr>
      <vt:lpstr>概述</vt:lpstr>
      <vt:lpstr>计算机网络概述：定义</vt:lpstr>
      <vt:lpstr>计算机网络概述：三类网络</vt:lpstr>
      <vt:lpstr>计算机网络概述：分类</vt:lpstr>
      <vt:lpstr>计算机网络概述：分类</vt:lpstr>
      <vt:lpstr>概述</vt:lpstr>
      <vt:lpstr>Internet概述：网络的网络</vt:lpstr>
      <vt:lpstr>Internet概述：网络的网络</vt:lpstr>
      <vt:lpstr>基本概念</vt:lpstr>
      <vt:lpstr>Internet概述：基础结构发展的三个阶段</vt:lpstr>
      <vt:lpstr>Internet概述：基础结构发展的三个阶段</vt:lpstr>
      <vt:lpstr>Internet概述：基础结构发展的三个阶段</vt:lpstr>
      <vt:lpstr>PowerPoint 演示文稿</vt:lpstr>
      <vt:lpstr>万维网 WWW 的问世</vt:lpstr>
      <vt:lpstr>Internet概述：标准化工作</vt:lpstr>
      <vt:lpstr>成为互联网正式标准要经过三个阶段</vt:lpstr>
      <vt:lpstr>各种 RFC 之间的关系 </vt:lpstr>
      <vt:lpstr>概述</vt:lpstr>
      <vt:lpstr>Internet的组成</vt:lpstr>
      <vt:lpstr>互联网的边缘部分与核心部分</vt:lpstr>
      <vt:lpstr>Internet的组成：边缘部分</vt:lpstr>
      <vt:lpstr>端系统之间的两种通信方式</vt:lpstr>
      <vt:lpstr>Internet的组成：核心部分</vt:lpstr>
      <vt:lpstr>Internet的组成：分组交换</vt:lpstr>
      <vt:lpstr>Internet的组成：分组交换</vt:lpstr>
      <vt:lpstr>Internet的组成：分组交换</vt:lpstr>
      <vt:lpstr>Internet的组成：分组交换</vt:lpstr>
      <vt:lpstr>分组首部的重要性</vt:lpstr>
      <vt:lpstr>分组交换的优点</vt:lpstr>
      <vt:lpstr>分组交换带来的问题</vt:lpstr>
      <vt:lpstr>三种交换的比较 </vt:lpstr>
      <vt:lpstr>概述</vt:lpstr>
      <vt:lpstr>计算机网络的性能指标：速率</vt:lpstr>
      <vt:lpstr>计算机网络的性能指标：带宽 </vt:lpstr>
      <vt:lpstr>数字信号流随时间的变化</vt:lpstr>
      <vt:lpstr>计算机网络的性能指标：吞吐量</vt:lpstr>
      <vt:lpstr>计算机网络的性能指标：时延</vt:lpstr>
      <vt:lpstr>计算机网络的性能指标：时延</vt:lpstr>
      <vt:lpstr>计算机网络的性能指标：时延</vt:lpstr>
      <vt:lpstr>计算机网络的性能指标：时延</vt:lpstr>
      <vt:lpstr>计算机网络的性能指标：时延</vt:lpstr>
      <vt:lpstr>四种时延所产生的地方 </vt:lpstr>
      <vt:lpstr>计算机网络的性能指标：时延带宽积</vt:lpstr>
      <vt:lpstr>计算机网络的性能指标：往返时间 RTT</vt:lpstr>
      <vt:lpstr>计算机网络的性能指标：利用率</vt:lpstr>
      <vt:lpstr>时延与网络利用率的关系</vt:lpstr>
      <vt:lpstr>时延与网络利用率的关系</vt:lpstr>
      <vt:lpstr>概述</vt:lpstr>
      <vt:lpstr>计算机网络的体系结构：形成</vt:lpstr>
      <vt:lpstr>开放系统互连参考模型 OSI/RM</vt:lpstr>
      <vt:lpstr>两种国际标准</vt:lpstr>
      <vt:lpstr>OSI/RM的教训</vt:lpstr>
      <vt:lpstr>计算机网络的体系结构：协议与分层</vt:lpstr>
      <vt:lpstr>网络协议的三个组成要素 </vt:lpstr>
      <vt:lpstr>层次式协议结构</vt:lpstr>
      <vt:lpstr>分层的好处与缺点 </vt:lpstr>
      <vt:lpstr>层数多少要适当 </vt:lpstr>
      <vt:lpstr>计算机网络的体系结构：五层协议体系</vt:lpstr>
      <vt:lpstr>计算机网络的体系结构：五层协议体系</vt:lpstr>
      <vt:lpstr>五层协议的体系结构 </vt:lpstr>
      <vt:lpstr>主机 1 向主机 2 发送数据 </vt:lpstr>
      <vt:lpstr>主机 1 向主机 2 发送数据 </vt:lpstr>
      <vt:lpstr>计算机网络的体系结构：几个常用概念</vt:lpstr>
      <vt:lpstr>协议和服务</vt:lpstr>
      <vt:lpstr>服务访问点</vt:lpstr>
      <vt:lpstr>计算机网络的体系结构：几个常用概念</vt:lpstr>
      <vt:lpstr>协议很复杂 </vt:lpstr>
      <vt:lpstr>【例1-1】著名的协议举例</vt:lpstr>
      <vt:lpstr>PowerPoint 演示文稿</vt:lpstr>
      <vt:lpstr>结论</vt:lpstr>
      <vt:lpstr>TCP/IP 的体系结构</vt:lpstr>
      <vt:lpstr>TCP/IP 体系结构的另一种表示方法</vt:lpstr>
      <vt:lpstr>沙漏计时器形状的TCP/IP协议族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admin</cp:lastModifiedBy>
  <cp:revision>67</cp:revision>
  <dcterms:created xsi:type="dcterms:W3CDTF">2016-10-01T05:27:09Z</dcterms:created>
  <dcterms:modified xsi:type="dcterms:W3CDTF">2023-02-28T17:16:22Z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ies>
</file>