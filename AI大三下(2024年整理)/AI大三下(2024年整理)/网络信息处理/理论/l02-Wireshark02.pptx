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7" r:id="rId1"/>
  </p:sldMasterIdLst>
  <p:notesMasterIdLst>
    <p:notesMasterId r:id="rId13"/>
  </p:notesMasterIdLst>
  <p:handoutMasterIdLst>
    <p:handoutMasterId r:id="rId14"/>
  </p:handoutMasterIdLst>
  <p:sldIdLst>
    <p:sldId id="256" r:id="rId2"/>
    <p:sldId id="257" r:id="rId3"/>
    <p:sldId id="284" r:id="rId4"/>
    <p:sldId id="285" r:id="rId5"/>
    <p:sldId id="286" r:id="rId6"/>
    <p:sldId id="287" r:id="rId7"/>
    <p:sldId id="288" r:id="rId8"/>
    <p:sldId id="289" r:id="rId9"/>
    <p:sldId id="290" r:id="rId10"/>
    <p:sldId id="291" r:id="rId11"/>
    <p:sldId id="279" r:id="rId12"/>
  </p:sldIdLst>
  <p:sldSz cx="9906000" cy="6858000" type="A4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FF"/>
    <a:srgbClr val="66FF66"/>
    <a:srgbClr val="0000CC"/>
    <a:srgbClr val="0000FF"/>
    <a:srgbClr val="FFFF66"/>
    <a:srgbClr val="000099"/>
    <a:srgbClr val="00FF00"/>
    <a:srgbClr val="33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14129" autoAdjust="0"/>
    <p:restoredTop sz="88929" autoAdjust="0"/>
  </p:normalViewPr>
  <p:slideViewPr>
    <p:cSldViewPr>
      <p:cViewPr varScale="1">
        <p:scale>
          <a:sx n="90" d="100"/>
          <a:sy n="90" d="100"/>
        </p:scale>
        <p:origin x="1422" y="9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>
        <p:scale>
          <a:sx n="56" d="100"/>
          <a:sy n="56" d="100"/>
        </p:scale>
        <p:origin x="-1830" y="-96"/>
      </p:cViewPr>
      <p:guideLst>
        <p:guide orient="horz" pos="2928"/>
        <p:guide pos="220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宋体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宋体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560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宋体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56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宋体" pitchFamily="2" charset="-122"/>
              </a:defRPr>
            </a:lvl1pPr>
          </a:lstStyle>
          <a:p>
            <a:fld id="{E4C64EE1-592A-45A9-9E8D-8A110C604C9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312776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宋体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宋体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355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87425" y="696913"/>
            <a:ext cx="503555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35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  <a:endParaRPr lang="en-US" altLang="zh-CN"/>
          </a:p>
          <a:p>
            <a:pPr lvl="1"/>
            <a:r>
              <a:rPr lang="en-US" altLang="zh-CN"/>
              <a:t>5656</a:t>
            </a:r>
          </a:p>
          <a:p>
            <a:pPr lvl="2"/>
            <a:r>
              <a:rPr lang="zh-CN" altLang="en-US"/>
              <a:t>第三级</a:t>
            </a:r>
            <a:endParaRPr lang="en-US" altLang="zh-CN"/>
          </a:p>
          <a:p>
            <a:pPr lvl="3"/>
            <a:r>
              <a:rPr lang="zh-CN" altLang="en-US"/>
              <a:t>第四级</a:t>
            </a:r>
            <a:endParaRPr lang="en-US" altLang="zh-CN"/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235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宋体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35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宋体" pitchFamily="2" charset="-122"/>
              </a:defRPr>
            </a:lvl1pPr>
          </a:lstStyle>
          <a:p>
            <a:fld id="{8DA2099C-E03D-4BEA-80BD-EC59252D8E32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592848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itchFamily="2" charset="-122"/>
        <a:ea typeface="宋体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itchFamily="2" charset="-122"/>
        <a:ea typeface="宋体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itchFamily="2" charset="-122"/>
        <a:ea typeface="宋体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itchFamily="2" charset="-122"/>
        <a:ea typeface="宋体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itchFamily="2" charset="-122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396C443-04BC-4639-B5F7-E14A7E3E0041}" type="slidenum">
              <a:rPr lang="zh-CN" altLang="en-US"/>
              <a:pPr/>
              <a:t>1</a:t>
            </a:fld>
            <a:endParaRPr lang="en-US" altLang="zh-CN"/>
          </a:p>
        </p:txBody>
      </p:sp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42950" y="685800"/>
            <a:ext cx="8420100" cy="2127250"/>
          </a:xfrm>
        </p:spPr>
        <p:txBody>
          <a:bodyPr/>
          <a:lstStyle>
            <a:lvl1pPr algn="ctr">
              <a:defRPr sz="5400" b="1">
                <a:solidFill>
                  <a:srgbClr val="333399"/>
                </a:solidFill>
                <a:latin typeface="黑体" pitchFamily="2" charset="-122"/>
                <a:ea typeface="黑体" pitchFamily="2" charset="-122"/>
              </a:defRPr>
            </a:lvl1pPr>
          </a:lstStyle>
          <a:p>
            <a:pPr lvl="0"/>
            <a:r>
              <a:rPr lang="zh-CN" altLang="en-US" noProof="0" dirty="0"/>
              <a:t>单击此处编辑母版标题样式</a:t>
            </a:r>
            <a:endParaRPr lang="en-US" altLang="zh-CN" noProof="0" dirty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85900" y="3270250"/>
            <a:ext cx="6934200" cy="22098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3600" b="1">
                <a:latin typeface="黑体" pitchFamily="2" charset="-122"/>
                <a:ea typeface="黑体" pitchFamily="2" charset="-122"/>
              </a:defRPr>
            </a:lvl1pPr>
          </a:lstStyle>
          <a:p>
            <a:pPr lvl="0"/>
            <a:r>
              <a:rPr lang="zh-CN" altLang="en-US" noProof="0" dirty="0"/>
              <a:t>单击此处编辑母版副标题样式</a:t>
            </a:r>
            <a:endParaRPr lang="en-US" altLang="zh-CN" noProof="0" dirty="0"/>
          </a:p>
        </p:txBody>
      </p:sp>
      <p:sp>
        <p:nvSpPr>
          <p:cNvPr id="16388" name="Rectangle 4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16389" name="Rectangle 5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16390" name="Rectangle 6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AC80574E-8B94-4515-ADE1-BF6C35829DF0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16392" name="Rectangle 8" descr="Gold bar"/>
          <p:cNvSpPr>
            <a:spLocks noChangeArrowheads="1"/>
          </p:cNvSpPr>
          <p:nvPr/>
        </p:nvSpPr>
        <p:spPr bwMode="auto">
          <a:xfrm>
            <a:off x="247650" y="2889250"/>
            <a:ext cx="3109913" cy="2016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393" name="Rectangle 9" descr="Orange bar"/>
          <p:cNvSpPr>
            <a:spLocks noChangeArrowheads="1"/>
          </p:cNvSpPr>
          <p:nvPr/>
        </p:nvSpPr>
        <p:spPr bwMode="auto">
          <a:xfrm>
            <a:off x="3357563" y="2889250"/>
            <a:ext cx="3108325" cy="20161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394" name="Rectangle 10" descr="Slate bar"/>
          <p:cNvSpPr>
            <a:spLocks noChangeArrowheads="1"/>
          </p:cNvSpPr>
          <p:nvPr/>
        </p:nvSpPr>
        <p:spPr bwMode="auto">
          <a:xfrm>
            <a:off x="6465888" y="2889250"/>
            <a:ext cx="3109912" cy="201613"/>
          </a:xfrm>
          <a:prstGeom prst="rect">
            <a:avLst/>
          </a:prstGeom>
          <a:solidFill>
            <a:srgbClr val="333399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>
              <a:solidFill>
                <a:srgbClr val="333399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5300" y="1196752"/>
            <a:ext cx="9066212" cy="4934173"/>
          </a:xfrm>
        </p:spPr>
        <p:txBody>
          <a:bodyPr/>
          <a:lstStyle>
            <a:lvl1pPr>
              <a:lnSpc>
                <a:spcPct val="110000"/>
              </a:lnSpc>
              <a:spcBef>
                <a:spcPts val="600"/>
              </a:spcBef>
              <a:defRPr sz="3200" b="1">
                <a:solidFill>
                  <a:schemeClr val="tx1"/>
                </a:solidFill>
                <a:latin typeface="+mn-lt"/>
                <a:ea typeface="黑体" pitchFamily="2" charset="-122"/>
              </a:defRPr>
            </a:lvl1pPr>
            <a:lvl2pPr>
              <a:lnSpc>
                <a:spcPct val="110000"/>
              </a:lnSpc>
              <a:spcBef>
                <a:spcPts val="600"/>
              </a:spcBef>
              <a:defRPr sz="2800" b="1">
                <a:solidFill>
                  <a:schemeClr val="tx1"/>
                </a:solidFill>
                <a:latin typeface="+mn-lt"/>
                <a:ea typeface="黑体" pitchFamily="2" charset="-122"/>
              </a:defRPr>
            </a:lvl2pPr>
            <a:lvl3pPr>
              <a:lnSpc>
                <a:spcPct val="110000"/>
              </a:lnSpc>
              <a:spcBef>
                <a:spcPts val="600"/>
              </a:spcBef>
              <a:defRPr sz="2400" b="1">
                <a:solidFill>
                  <a:schemeClr val="tx1"/>
                </a:solidFill>
                <a:latin typeface="+mn-lt"/>
                <a:ea typeface="黑体" pitchFamily="2" charset="-122"/>
              </a:defRPr>
            </a:lvl3pPr>
            <a:lvl4pPr>
              <a:lnSpc>
                <a:spcPct val="110000"/>
              </a:lnSpc>
              <a:spcBef>
                <a:spcPts val="600"/>
              </a:spcBef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4pPr>
            <a:lvl5pPr>
              <a:lnSpc>
                <a:spcPct val="110000"/>
              </a:lnSpc>
              <a:spcBef>
                <a:spcPts val="600"/>
              </a:spcBef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C79822-BC0D-4DE8-A7E5-90A3732A2B82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7" name="Line 8"/>
          <p:cNvSpPr>
            <a:spLocks noChangeShapeType="1"/>
          </p:cNvSpPr>
          <p:nvPr userDrawn="1"/>
        </p:nvSpPr>
        <p:spPr bwMode="auto">
          <a:xfrm>
            <a:off x="495300" y="1052736"/>
            <a:ext cx="9066212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3446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634858" cy="1362075"/>
          </a:xfrm>
        </p:spPr>
        <p:txBody>
          <a:bodyPr anchor="t"/>
          <a:lstStyle>
            <a:lvl1pPr algn="l">
              <a:defRPr sz="4400" b="1" cap="all">
                <a:solidFill>
                  <a:srgbClr val="333399"/>
                </a:solidFill>
                <a:latin typeface="+mn-lt"/>
                <a:ea typeface="黑体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634858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F47B36-077D-42FE-9DED-0C77CB87E4B3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98139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95300" y="1196752"/>
            <a:ext cx="4460304" cy="4934173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itchFamily="2" charset="-122"/>
              </a:defRPr>
            </a:lvl1pPr>
            <a:lvl2pPr>
              <a:buClr>
                <a:schemeClr val="accent2"/>
              </a:buClr>
              <a:defRPr sz="2400" b="1">
                <a:solidFill>
                  <a:schemeClr val="tx1"/>
                </a:solidFill>
                <a:latin typeface="+mn-lt"/>
                <a:ea typeface="黑体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4pPr>
            <a:lvl5pPr>
              <a:buClr>
                <a:srgbClr val="333399"/>
              </a:buCl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01208" y="1196752"/>
            <a:ext cx="4460304" cy="4934173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itchFamily="2" charset="-122"/>
              </a:defRPr>
            </a:lvl1pPr>
            <a:lvl2pPr>
              <a:buClr>
                <a:schemeClr val="accent2"/>
              </a:buClr>
              <a:defRPr sz="2400" b="1">
                <a:solidFill>
                  <a:schemeClr val="tx1"/>
                </a:solidFill>
                <a:latin typeface="+mn-lt"/>
                <a:ea typeface="黑体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4pPr>
            <a:lvl5pPr>
              <a:buClr>
                <a:srgbClr val="333399"/>
              </a:buCl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0B52295-AD8D-47A8-A4D5-D2F6B9F48E3F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8" name="Line 8"/>
          <p:cNvSpPr>
            <a:spLocks noChangeShapeType="1"/>
          </p:cNvSpPr>
          <p:nvPr userDrawn="1"/>
        </p:nvSpPr>
        <p:spPr bwMode="auto">
          <a:xfrm>
            <a:off x="495300" y="1052736"/>
            <a:ext cx="9066212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83244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95299" y="1207874"/>
            <a:ext cx="4455513" cy="639762"/>
          </a:xfrm>
        </p:spPr>
        <p:txBody>
          <a:bodyPr anchor="b"/>
          <a:lstStyle>
            <a:lvl1pPr marL="0" indent="0">
              <a:buNone/>
              <a:defRPr sz="2800" b="1">
                <a:latin typeface="+mn-lt"/>
                <a:ea typeface="黑体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5299" y="1872534"/>
            <a:ext cx="4455513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104383" y="1207874"/>
            <a:ext cx="4457129" cy="639762"/>
          </a:xfrm>
        </p:spPr>
        <p:txBody>
          <a:bodyPr anchor="b"/>
          <a:lstStyle>
            <a:lvl1pPr marL="0" indent="0">
              <a:buNone/>
              <a:defRPr sz="2800" b="1">
                <a:latin typeface="+mn-lt"/>
                <a:ea typeface="黑体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04383" y="1872534"/>
            <a:ext cx="4457129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C03054-A18C-4CF4-8FEF-67B6C74EC7CF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10" name="Line 8"/>
          <p:cNvSpPr>
            <a:spLocks noChangeShapeType="1"/>
          </p:cNvSpPr>
          <p:nvPr userDrawn="1"/>
        </p:nvSpPr>
        <p:spPr bwMode="auto">
          <a:xfrm>
            <a:off x="495300" y="1052736"/>
            <a:ext cx="9066212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67530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95299" y="1207874"/>
            <a:ext cx="9066213" cy="639762"/>
          </a:xfrm>
        </p:spPr>
        <p:txBody>
          <a:bodyPr anchor="b"/>
          <a:lstStyle>
            <a:lvl1pPr marL="0" indent="0">
              <a:buNone/>
              <a:defRPr sz="3200" b="1">
                <a:latin typeface="+mn-lt"/>
                <a:ea typeface="黑体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5299" y="1872534"/>
            <a:ext cx="4455513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04383" y="1872534"/>
            <a:ext cx="4457129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C03054-A18C-4CF4-8FEF-67B6C74EC7CF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10" name="Line 8"/>
          <p:cNvSpPr>
            <a:spLocks noChangeShapeType="1"/>
          </p:cNvSpPr>
          <p:nvPr userDrawn="1"/>
        </p:nvSpPr>
        <p:spPr bwMode="auto">
          <a:xfrm>
            <a:off x="495300" y="1052736"/>
            <a:ext cx="9066212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2090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338B79-8FD5-46F1-8A19-651A319ADB19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495300" y="1052736"/>
            <a:ext cx="9066212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132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37DC1DE-D772-415A-B75D-6C2A3BBF0EE5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07053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73500" y="273050"/>
            <a:ext cx="56880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B74B41-85B4-4984-A2A4-801BFDC62CF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82550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FEF2C3-09B7-48D6-BCFF-274B159605E4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859875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2236A91-AB49-49FF-BD59-8386391FD12B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846428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181850" y="277813"/>
            <a:ext cx="2379662" cy="585311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95300" y="277813"/>
            <a:ext cx="6534150" cy="585311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98FACEB-921B-4428-A32E-7A6FF935A2DD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918229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8504" y="188640"/>
            <a:ext cx="8915400" cy="79208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95300" y="1196752"/>
            <a:ext cx="4381500" cy="4934173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5029200" y="1196752"/>
            <a:ext cx="4381500" cy="2376587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029200" y="3754339"/>
            <a:ext cx="4381500" cy="237658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>
          <a:xfrm>
            <a:off x="495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>
          <a:xfrm>
            <a:off x="3384550" y="6248400"/>
            <a:ext cx="31369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7099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fld id="{3C52F4D9-41EC-423B-B963-42D1C41ACCC5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9" name="Line 8"/>
          <p:cNvSpPr>
            <a:spLocks noChangeShapeType="1"/>
          </p:cNvSpPr>
          <p:nvPr userDrawn="1"/>
        </p:nvSpPr>
        <p:spPr bwMode="auto">
          <a:xfrm>
            <a:off x="495300" y="1052736"/>
            <a:ext cx="9066212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35509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1"/>
            <a:ext cx="8915400" cy="79208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95300" y="1196752"/>
            <a:ext cx="4381500" cy="4934173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剪贴画占位符 3"/>
          <p:cNvSpPr>
            <a:spLocks noGrp="1"/>
          </p:cNvSpPr>
          <p:nvPr>
            <p:ph type="clipArt" sz="half" idx="2"/>
          </p:nvPr>
        </p:nvSpPr>
        <p:spPr>
          <a:xfrm>
            <a:off x="5029200" y="1196752"/>
            <a:ext cx="4381500" cy="4934173"/>
          </a:xfrm>
        </p:spPr>
        <p:txBody>
          <a:bodyPr/>
          <a:lstStyle/>
          <a:p>
            <a:r>
              <a:rPr lang="zh-CN" altLang="en-US"/>
              <a:t>单击图标添加剪 贴画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95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384550" y="6248400"/>
            <a:ext cx="31369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7099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fld id="{966CAE82-64C7-4E5B-88D2-F38A61F120C5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8" name="Line 8"/>
          <p:cNvSpPr>
            <a:spLocks noChangeShapeType="1"/>
          </p:cNvSpPr>
          <p:nvPr userDrawn="1"/>
        </p:nvSpPr>
        <p:spPr bwMode="auto">
          <a:xfrm>
            <a:off x="495300" y="1052736"/>
            <a:ext cx="9066212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0890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95300" y="188640"/>
            <a:ext cx="9066212" cy="7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  <a:endParaRPr lang="en-US" altLang="zh-CN" dirty="0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1196752"/>
            <a:ext cx="9066212" cy="49341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en-US" altLang="zh-CN" dirty="0"/>
          </a:p>
          <a:p>
            <a:pPr lvl="1"/>
            <a:r>
              <a:rPr lang="zh-CN" altLang="en-US" dirty="0"/>
              <a:t>第二级</a:t>
            </a:r>
            <a:endParaRPr lang="en-US" altLang="zh-CN" dirty="0"/>
          </a:p>
          <a:p>
            <a:pPr lvl="2"/>
            <a:r>
              <a:rPr lang="zh-CN" altLang="en-US" dirty="0"/>
              <a:t>第三级</a:t>
            </a:r>
            <a:endParaRPr lang="en-US" altLang="zh-CN" dirty="0"/>
          </a:p>
          <a:p>
            <a:pPr lvl="3"/>
            <a:r>
              <a:rPr lang="zh-CN" altLang="en-US" dirty="0"/>
              <a:t>第四级</a:t>
            </a:r>
            <a:endParaRPr lang="en-US" altLang="zh-CN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95300" y="6356176"/>
            <a:ext cx="2311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ea typeface="宋体" pitchFamily="2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84550" y="6356176"/>
            <a:ext cx="3136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ea typeface="宋体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99300" y="6356176"/>
            <a:ext cx="2311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ea typeface="宋体" pitchFamily="2" charset="-122"/>
              </a:defRPr>
            </a:lvl1pPr>
          </a:lstStyle>
          <a:p>
            <a:fld id="{67B052E9-C54A-4603-AE2F-EB72B006DB6C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15367" name="Rectangle 7" descr="Gold bar"/>
          <p:cNvSpPr>
            <a:spLocks noChangeArrowheads="1"/>
          </p:cNvSpPr>
          <p:nvPr/>
        </p:nvSpPr>
        <p:spPr bwMode="auto">
          <a:xfrm>
            <a:off x="0" y="0"/>
            <a:ext cx="247650" cy="2286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lang="zh-CN" altLang="en-US" sz="240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5369" name="Rectangle 9" descr="Orange bar"/>
          <p:cNvSpPr>
            <a:spLocks noChangeArrowheads="1"/>
          </p:cNvSpPr>
          <p:nvPr/>
        </p:nvSpPr>
        <p:spPr bwMode="auto">
          <a:xfrm>
            <a:off x="0" y="2286000"/>
            <a:ext cx="247650" cy="2286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lang="zh-CN" altLang="en-US" sz="240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5370" name="Rectangle 10" descr="Slate bar"/>
          <p:cNvSpPr>
            <a:spLocks noChangeArrowheads="1"/>
          </p:cNvSpPr>
          <p:nvPr/>
        </p:nvSpPr>
        <p:spPr bwMode="auto">
          <a:xfrm>
            <a:off x="0" y="4572000"/>
            <a:ext cx="247650" cy="2286000"/>
          </a:xfrm>
          <a:prstGeom prst="rect">
            <a:avLst/>
          </a:prstGeom>
          <a:solidFill>
            <a:srgbClr val="333399"/>
          </a:solidFill>
          <a:ln>
            <a:noFill/>
          </a:ln>
          <a:effectLst/>
        </p:spPr>
        <p:txBody>
          <a:bodyPr wrap="none" anchor="ctr"/>
          <a:lstStyle/>
          <a:p>
            <a:pPr algn="ctr" eaLnBrk="1" hangingPunct="1"/>
            <a:endParaRPr lang="zh-CN" altLang="en-US" sz="240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" name="AutoShape 5" descr="https://publicrelationssydney.com.au/wp-content/uploads/2013/01/shutterstock_80434384.jpg"/>
          <p:cNvSpPr>
            <a:spLocks noChangeAspect="1" noChangeArrowheads="1"/>
          </p:cNvSpPr>
          <p:nvPr userDrawn="1"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71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  <p:sldLayoutId id="2147483669" r:id="rId13"/>
    <p:sldLayoutId id="2147483670" r:id="rId14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+mn-lt"/>
          <a:ea typeface="黑体" pitchFamily="2" charset="-122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333399"/>
        </a:buClr>
        <a:buSzPct val="75000"/>
        <a:buFont typeface="Wingdings" pitchFamily="2" charset="2"/>
        <a:buChar char="n"/>
        <a:defRPr sz="3200" b="1">
          <a:solidFill>
            <a:schemeClr val="tx1"/>
          </a:solidFill>
          <a:latin typeface="+mn-lt"/>
          <a:ea typeface="黑体" pitchFamily="2" charset="-122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n"/>
        <a:defRPr sz="2800" b="1">
          <a:solidFill>
            <a:schemeClr val="tx1"/>
          </a:solidFill>
          <a:latin typeface="+mn-lt"/>
          <a:ea typeface="黑体" pitchFamily="2" charset="-122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333399"/>
        </a:buClr>
        <a:buSzPct val="65000"/>
        <a:buFont typeface="Wingdings" pitchFamily="2" charset="2"/>
        <a:buChar char="p"/>
        <a:defRPr sz="2400" b="1">
          <a:solidFill>
            <a:schemeClr val="tx1"/>
          </a:solidFill>
          <a:latin typeface="+mn-lt"/>
          <a:ea typeface="黑体" pitchFamily="2" charset="-122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000" b="1">
          <a:solidFill>
            <a:schemeClr val="tx1"/>
          </a:solidFill>
          <a:latin typeface="+mn-lt"/>
          <a:ea typeface="黑体" pitchFamily="2" charset="-122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333399"/>
        </a:buClr>
        <a:buSzPct val="60000"/>
        <a:buFont typeface="Wingdings" pitchFamily="2" charset="2"/>
        <a:buChar char="n"/>
        <a:defRPr sz="2000" b="1">
          <a:solidFill>
            <a:schemeClr val="tx1"/>
          </a:solidFill>
          <a:latin typeface="+mn-lt"/>
          <a:ea typeface="黑体" pitchFamily="2" charset="-122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Wireshark</a:t>
            </a:r>
            <a:r>
              <a:rPr lang="zh-CN" altLang="en-US" dirty="0"/>
              <a:t>使用</a:t>
            </a:r>
            <a:r>
              <a:rPr lang="en-US" altLang="zh-CN" dirty="0"/>
              <a:t>2-</a:t>
            </a:r>
            <a:r>
              <a:rPr lang="zh-CN" altLang="en-US" dirty="0"/>
              <a:t>过滤器</a:t>
            </a:r>
            <a:endParaRPr lang="zh-CN" altLang="en-US" dirty="0">
              <a:ea typeface="宋体" pitchFamily="2" charset="-122"/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>
              <a:ea typeface="宋体" pitchFamily="2" charset="-122"/>
            </a:endParaRP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课程概况</a:t>
            </a:r>
            <a:endParaRPr lang="zh-CN" altLang="en-US" dirty="0">
              <a:ea typeface="宋体" pitchFamily="2" charset="-122"/>
            </a:endParaRP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Wireshark</a:t>
            </a:r>
            <a:r>
              <a:rPr lang="zh-CN" altLang="en-US" dirty="0"/>
              <a:t>过滤器</a:t>
            </a:r>
            <a:endParaRPr lang="en-US" altLang="zh-CN" dirty="0"/>
          </a:p>
          <a:p>
            <a:r>
              <a:rPr lang="zh-CN" altLang="en-US" dirty="0"/>
              <a:t>实验</a:t>
            </a:r>
            <a:r>
              <a:rPr lang="en-US" altLang="zh-CN" dirty="0"/>
              <a:t>2</a:t>
            </a:r>
            <a:r>
              <a:rPr lang="zh-CN" altLang="en-US" dirty="0"/>
              <a:t>内容</a:t>
            </a:r>
          </a:p>
        </p:txBody>
      </p:sp>
    </p:spTree>
    <p:extLst>
      <p:ext uri="{BB962C8B-B14F-4D97-AF65-F5344CB8AC3E}">
        <p14:creationId xmlns:p14="http://schemas.microsoft.com/office/powerpoint/2010/main" val="3323019446"/>
      </p:ext>
    </p:extLst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标题 1">
            <a:extLst>
              <a:ext uri="{FF2B5EF4-FFF2-40B4-BE49-F238E27FC236}">
                <a16:creationId xmlns:a16="http://schemas.microsoft.com/office/drawing/2014/main" id="{143CE6A7-B3B8-4872-A58C-08439F4B2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Wireshark</a:t>
            </a:r>
            <a:r>
              <a:rPr lang="zh-CN" altLang="en-US" dirty="0"/>
              <a:t>过滤器概述</a:t>
            </a:r>
          </a:p>
        </p:txBody>
      </p:sp>
      <p:sp>
        <p:nvSpPr>
          <p:cNvPr id="3075" name="TextBox 6">
            <a:extLst>
              <a:ext uri="{FF2B5EF4-FFF2-40B4-BE49-F238E27FC236}">
                <a16:creationId xmlns:a16="http://schemas.microsoft.com/office/drawing/2014/main" id="{9A4BC6C0-BBBF-4686-B669-3F3824BD3E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3838" y="1938339"/>
            <a:ext cx="2741612" cy="2586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1800">
                <a:latin typeface="黑体" panose="02010609060101010101" pitchFamily="49" charset="-122"/>
                <a:ea typeface="黑体" panose="02010609060101010101" pitchFamily="49" charset="-122"/>
              </a:rPr>
              <a:t>在</a:t>
            </a:r>
            <a:r>
              <a:rPr lang="en-US" altLang="zh-CN" sz="1800">
                <a:latin typeface="黑体" panose="02010609060101010101" pitchFamily="49" charset="-122"/>
                <a:ea typeface="黑体" panose="02010609060101010101" pitchFamily="49" charset="-122"/>
              </a:rPr>
              <a:t>Wireshark</a:t>
            </a:r>
            <a:r>
              <a:rPr lang="zh-CN" altLang="en-US" sz="1800">
                <a:latin typeface="黑体" panose="02010609060101010101" pitchFamily="49" charset="-122"/>
                <a:ea typeface="黑体" panose="02010609060101010101" pitchFamily="49" charset="-122"/>
              </a:rPr>
              <a:t>中有两种过滤器。</a:t>
            </a:r>
            <a:endParaRPr lang="en-US" altLang="zh-CN" sz="18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8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捕捉过滤器：</a:t>
            </a:r>
            <a:r>
              <a:rPr lang="zh-CN" altLang="en-US" sz="1800">
                <a:latin typeface="黑体" panose="02010609060101010101" pitchFamily="49" charset="-122"/>
                <a:ea typeface="黑体" panose="02010609060101010101" pitchFamily="49" charset="-122"/>
              </a:rPr>
              <a:t>在抓包之前设置，让</a:t>
            </a:r>
            <a:r>
              <a:rPr lang="en-US" altLang="zh-CN" sz="1800">
                <a:latin typeface="黑体" panose="02010609060101010101" pitchFamily="49" charset="-122"/>
                <a:ea typeface="黑体" panose="02010609060101010101" pitchFamily="49" charset="-122"/>
              </a:rPr>
              <a:t>Wireshark</a:t>
            </a:r>
            <a:r>
              <a:rPr lang="zh-CN" altLang="en-US" sz="1800">
                <a:latin typeface="黑体" panose="02010609060101010101" pitchFamily="49" charset="-122"/>
                <a:ea typeface="黑体" panose="02010609060101010101" pitchFamily="49" charset="-122"/>
              </a:rPr>
              <a:t>只抓取过滤器指定的包。</a:t>
            </a:r>
            <a:endParaRPr lang="en-US" altLang="zh-CN" sz="18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8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显示过滤器：</a:t>
            </a:r>
            <a:r>
              <a:rPr lang="zh-CN" altLang="en-US" sz="1800">
                <a:latin typeface="黑体" panose="02010609060101010101" pitchFamily="49" charset="-122"/>
                <a:ea typeface="黑体" panose="02010609060101010101" pitchFamily="49" charset="-122"/>
              </a:rPr>
              <a:t>在桌包之前或者完成抓包之后都可，不影响抓包，只是方便查看。</a:t>
            </a:r>
            <a:r>
              <a:rPr lang="en-US" altLang="zh-CN" sz="1800"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endParaRPr lang="zh-CN" altLang="en-US" sz="18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3076" name="图片 2">
            <a:extLst>
              <a:ext uri="{FF2B5EF4-FFF2-40B4-BE49-F238E27FC236}">
                <a16:creationId xmlns:a16="http://schemas.microsoft.com/office/drawing/2014/main" id="{DDA126AA-46E6-4087-9A10-7BEA7368BA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425" y="1876426"/>
            <a:ext cx="5614988" cy="270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7" name="图片 3">
            <a:extLst>
              <a:ext uri="{FF2B5EF4-FFF2-40B4-BE49-F238E27FC236}">
                <a16:creationId xmlns:a16="http://schemas.microsoft.com/office/drawing/2014/main" id="{55305B8F-288C-4CB7-8220-EF8621BC16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426" y="5037138"/>
            <a:ext cx="8156575" cy="1293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 1">
            <a:extLst>
              <a:ext uri="{FF2B5EF4-FFF2-40B4-BE49-F238E27FC236}">
                <a16:creationId xmlns:a16="http://schemas.microsoft.com/office/drawing/2014/main" id="{47FE2B88-50F9-461B-B5BE-BAF7722C9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捕捉过滤器</a:t>
            </a:r>
          </a:p>
        </p:txBody>
      </p:sp>
      <p:sp>
        <p:nvSpPr>
          <p:cNvPr id="5123" name="内容占位符 2">
            <a:extLst>
              <a:ext uri="{FF2B5EF4-FFF2-40B4-BE49-F238E27FC236}">
                <a16:creationId xmlns:a16="http://schemas.microsoft.com/office/drawing/2014/main" id="{0FE9CF03-56C6-4FE6-8D7C-A71B2CB204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charset="0"/>
              <a:buChar char="•"/>
              <a:defRPr/>
            </a:pPr>
            <a:r>
              <a:rPr lang="zh-CN" altLang="en-US" sz="2215" dirty="0"/>
              <a:t>捕捉过滤器例子：</a:t>
            </a:r>
            <a:endParaRPr lang="en-US" sz="2215" dirty="0"/>
          </a:p>
          <a:p>
            <a:pPr lvl="1">
              <a:buFont typeface="Arial" charset="0"/>
              <a:buChar char="•"/>
              <a:defRPr/>
            </a:pPr>
            <a:r>
              <a:rPr lang="en-US" sz="1662" dirty="0"/>
              <a:t>[</a:t>
            </a:r>
            <a:r>
              <a:rPr lang="en-US" sz="1662" dirty="0" err="1"/>
              <a:t>src|dst</a:t>
            </a:r>
            <a:r>
              <a:rPr lang="en-US" sz="1662" dirty="0"/>
              <a:t>] host &lt;host&gt;  </a:t>
            </a:r>
            <a:r>
              <a:rPr lang="zh-CN" altLang="en-US" sz="1662" dirty="0"/>
              <a:t>主机过滤</a:t>
            </a:r>
          </a:p>
          <a:p>
            <a:pPr lvl="1">
              <a:buFont typeface="Arial" charset="0"/>
              <a:buChar char="•"/>
              <a:defRPr/>
            </a:pPr>
            <a:r>
              <a:rPr lang="en-US" sz="1662" dirty="0" err="1"/>
              <a:t>src</a:t>
            </a:r>
            <a:r>
              <a:rPr lang="en-US" sz="1662" dirty="0"/>
              <a:t> host 192.168.20.159  </a:t>
            </a:r>
            <a:r>
              <a:rPr lang="zh-CN" altLang="en-US" sz="1662" dirty="0"/>
              <a:t>捕捉源</a:t>
            </a:r>
            <a:r>
              <a:rPr lang="en-US" sz="1662" dirty="0"/>
              <a:t>IP</a:t>
            </a:r>
            <a:r>
              <a:rPr lang="zh-CN" altLang="en-US" sz="1662" dirty="0"/>
              <a:t>地址是</a:t>
            </a:r>
            <a:r>
              <a:rPr lang="en-US" sz="1662" dirty="0"/>
              <a:t>192.168.20.159</a:t>
            </a:r>
            <a:r>
              <a:rPr lang="zh-CN" altLang="en-US" sz="1662" dirty="0"/>
              <a:t>的包。</a:t>
            </a:r>
          </a:p>
          <a:p>
            <a:pPr lvl="1">
              <a:buFont typeface="Arial" charset="0"/>
              <a:buChar char="•"/>
              <a:defRPr/>
            </a:pPr>
            <a:r>
              <a:rPr lang="en-US" sz="1662" dirty="0" err="1"/>
              <a:t>dst</a:t>
            </a:r>
            <a:r>
              <a:rPr lang="en-US" sz="1662" dirty="0"/>
              <a:t> host 192.168.20.159  </a:t>
            </a:r>
            <a:r>
              <a:rPr lang="zh-CN" altLang="en-US" sz="1662" dirty="0"/>
              <a:t>捕捉目标</a:t>
            </a:r>
            <a:r>
              <a:rPr lang="en-US" sz="1662" dirty="0"/>
              <a:t>IP</a:t>
            </a:r>
            <a:r>
              <a:rPr lang="zh-CN" altLang="en-US" sz="1662" dirty="0"/>
              <a:t>地址是</a:t>
            </a:r>
            <a:r>
              <a:rPr lang="en-US" sz="1662" dirty="0"/>
              <a:t>192.168.20.159</a:t>
            </a:r>
            <a:r>
              <a:rPr lang="zh-CN" altLang="en-US" sz="1662" dirty="0"/>
              <a:t>的包。</a:t>
            </a:r>
          </a:p>
          <a:p>
            <a:pPr lvl="1">
              <a:buFont typeface="Arial" charset="0"/>
              <a:buChar char="•"/>
              <a:defRPr/>
            </a:pPr>
            <a:r>
              <a:rPr lang="en-US" sz="1662" dirty="0"/>
              <a:t>host 192.168.20.159  </a:t>
            </a:r>
            <a:r>
              <a:rPr lang="zh-CN" altLang="en-US" sz="1662" dirty="0"/>
              <a:t>捕捉源</a:t>
            </a:r>
            <a:r>
              <a:rPr lang="en-US" sz="1662" dirty="0"/>
              <a:t>IP</a:t>
            </a:r>
            <a:r>
              <a:rPr lang="zh-CN" altLang="en-US" sz="1662" dirty="0"/>
              <a:t>或者目标</a:t>
            </a:r>
            <a:r>
              <a:rPr lang="en-US" sz="1662" dirty="0"/>
              <a:t>IP</a:t>
            </a:r>
            <a:r>
              <a:rPr lang="zh-CN" altLang="en-US" sz="1662" dirty="0"/>
              <a:t>是</a:t>
            </a:r>
            <a:r>
              <a:rPr lang="en-US" sz="1662" dirty="0"/>
              <a:t>192.168.20.159</a:t>
            </a:r>
            <a:r>
              <a:rPr lang="zh-CN" altLang="en-US" sz="1662" dirty="0"/>
              <a:t>的包。</a:t>
            </a:r>
          </a:p>
          <a:p>
            <a:pPr lvl="1">
              <a:buFont typeface="Arial" charset="0"/>
              <a:buChar char="•"/>
              <a:defRPr/>
            </a:pPr>
            <a:r>
              <a:rPr lang="en-US" sz="1662" dirty="0"/>
              <a:t> </a:t>
            </a:r>
            <a:endParaRPr lang="zh-CN" altLang="en-US" sz="1662" dirty="0"/>
          </a:p>
          <a:p>
            <a:pPr lvl="1">
              <a:buFont typeface="Arial" charset="0"/>
              <a:buChar char="•"/>
              <a:defRPr/>
            </a:pPr>
            <a:r>
              <a:rPr lang="en-US" sz="1662" dirty="0"/>
              <a:t>[</a:t>
            </a:r>
            <a:r>
              <a:rPr lang="en-US" sz="1662" dirty="0" err="1"/>
              <a:t>tcp|udp</a:t>
            </a:r>
            <a:r>
              <a:rPr lang="en-US" sz="1662" dirty="0"/>
              <a:t>] [</a:t>
            </a:r>
            <a:r>
              <a:rPr lang="en-US" sz="1662" dirty="0" err="1"/>
              <a:t>src|dst</a:t>
            </a:r>
            <a:r>
              <a:rPr lang="en-US" sz="1662" dirty="0"/>
              <a:t>] port &lt;port&gt; </a:t>
            </a:r>
            <a:r>
              <a:rPr lang="zh-CN" altLang="en-US" sz="1662" dirty="0"/>
              <a:t>端口过滤</a:t>
            </a:r>
          </a:p>
          <a:p>
            <a:pPr lvl="1">
              <a:buFont typeface="Arial" charset="0"/>
              <a:buChar char="•"/>
              <a:defRPr/>
            </a:pPr>
            <a:r>
              <a:rPr lang="en-US" sz="1662" dirty="0"/>
              <a:t>host 192.168.20.159 and </a:t>
            </a:r>
            <a:r>
              <a:rPr lang="en-US" sz="1662" dirty="0" err="1"/>
              <a:t>tcp</a:t>
            </a:r>
            <a:r>
              <a:rPr lang="en-US" sz="1662" dirty="0"/>
              <a:t> port 9990  </a:t>
            </a:r>
            <a:r>
              <a:rPr lang="zh-CN" altLang="en-US" sz="1662" dirty="0"/>
              <a:t>捕捉源</a:t>
            </a:r>
            <a:r>
              <a:rPr lang="en-US" altLang="zh-CN" sz="1662" dirty="0"/>
              <a:t>/</a:t>
            </a:r>
            <a:r>
              <a:rPr lang="zh-CN" altLang="en-US" sz="1662" dirty="0"/>
              <a:t>目标</a:t>
            </a:r>
            <a:r>
              <a:rPr lang="en-US" altLang="zh-CN" sz="1662" dirty="0"/>
              <a:t>IP</a:t>
            </a:r>
            <a:r>
              <a:rPr lang="zh-CN" altLang="en-US" sz="1662" dirty="0"/>
              <a:t>地址是</a:t>
            </a:r>
            <a:r>
              <a:rPr lang="en-US" altLang="zh-CN" sz="1662" dirty="0"/>
              <a:t>192.168.20.159</a:t>
            </a:r>
            <a:r>
              <a:rPr lang="zh-CN" altLang="en-US" sz="1662" dirty="0"/>
              <a:t>，源</a:t>
            </a:r>
            <a:r>
              <a:rPr lang="en-US" altLang="zh-CN" sz="1662" dirty="0"/>
              <a:t>/</a:t>
            </a:r>
            <a:r>
              <a:rPr lang="zh-CN" altLang="en-US" sz="1662" dirty="0"/>
              <a:t>目标 端口是</a:t>
            </a:r>
            <a:r>
              <a:rPr lang="en-US" altLang="zh-CN" sz="1662" dirty="0"/>
              <a:t>TCP 9990</a:t>
            </a:r>
            <a:r>
              <a:rPr lang="zh-CN" altLang="en-US" sz="1662" dirty="0"/>
              <a:t>端口的数据包。</a:t>
            </a:r>
            <a:r>
              <a:rPr lang="en-US" dirty="0"/>
              <a:t> </a:t>
            </a:r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标题 1">
            <a:extLst>
              <a:ext uri="{FF2B5EF4-FFF2-40B4-BE49-F238E27FC236}">
                <a16:creationId xmlns:a16="http://schemas.microsoft.com/office/drawing/2014/main" id="{CA434958-2164-4CAB-8461-B17A6EC66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>
                <a:latin typeface="+mn-ea"/>
              </a:rPr>
              <a:t>捕捉过滤器</a:t>
            </a:r>
          </a:p>
        </p:txBody>
      </p:sp>
      <p:sp>
        <p:nvSpPr>
          <p:cNvPr id="5123" name="内容占位符 2">
            <a:extLst>
              <a:ext uri="{FF2B5EF4-FFF2-40B4-BE49-F238E27FC236}">
                <a16:creationId xmlns:a16="http://schemas.microsoft.com/office/drawing/2014/main" id="{78991CE3-5A93-4674-B761-05082C0A0A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06701"/>
            <a:ext cx="8229600" cy="2949575"/>
          </a:xfrm>
        </p:spPr>
        <p:txBody>
          <a:bodyPr/>
          <a:lstStyle/>
          <a:p>
            <a:pPr>
              <a:buFont typeface="Arial" charset="0"/>
              <a:buChar char="•"/>
              <a:defRPr/>
            </a:pPr>
            <a:r>
              <a:rPr lang="en-US" sz="1662" dirty="0">
                <a:latin typeface="+mn-ea"/>
              </a:rPr>
              <a:t>Protocol</a:t>
            </a:r>
            <a:r>
              <a:rPr lang="zh-CN" altLang="en-US" sz="1662" dirty="0">
                <a:latin typeface="+mn-ea"/>
              </a:rPr>
              <a:t>（协议）</a:t>
            </a:r>
            <a:r>
              <a:rPr lang="en-US" sz="1662" dirty="0">
                <a:latin typeface="+mn-ea"/>
              </a:rPr>
              <a:t>:</a:t>
            </a:r>
            <a:br>
              <a:rPr lang="en-US" sz="1662" dirty="0">
                <a:latin typeface="+mn-ea"/>
              </a:rPr>
            </a:br>
            <a:r>
              <a:rPr lang="zh-CN" altLang="en-US" sz="1662" dirty="0">
                <a:latin typeface="+mn-ea"/>
              </a:rPr>
              <a:t>可能的值</a:t>
            </a:r>
            <a:r>
              <a:rPr lang="en-US" sz="1662" dirty="0">
                <a:latin typeface="+mn-ea"/>
              </a:rPr>
              <a:t>: ether, </a:t>
            </a:r>
            <a:r>
              <a:rPr lang="en-US" sz="1662" dirty="0" err="1">
                <a:latin typeface="+mn-ea"/>
              </a:rPr>
              <a:t>fddi</a:t>
            </a:r>
            <a:r>
              <a:rPr lang="en-US" sz="1662" dirty="0">
                <a:latin typeface="+mn-ea"/>
              </a:rPr>
              <a:t>, </a:t>
            </a:r>
            <a:r>
              <a:rPr lang="en-US" sz="1662" dirty="0" err="1">
                <a:latin typeface="+mn-ea"/>
              </a:rPr>
              <a:t>ip</a:t>
            </a:r>
            <a:r>
              <a:rPr lang="en-US" sz="1662" dirty="0">
                <a:latin typeface="+mn-ea"/>
              </a:rPr>
              <a:t>, </a:t>
            </a:r>
            <a:r>
              <a:rPr lang="en-US" sz="1662" dirty="0" err="1">
                <a:latin typeface="+mn-ea"/>
              </a:rPr>
              <a:t>arp</a:t>
            </a:r>
            <a:r>
              <a:rPr lang="en-US" sz="1662" dirty="0">
                <a:latin typeface="+mn-ea"/>
              </a:rPr>
              <a:t>, </a:t>
            </a:r>
            <a:r>
              <a:rPr lang="en-US" sz="1662" dirty="0" err="1">
                <a:latin typeface="+mn-ea"/>
              </a:rPr>
              <a:t>rarp</a:t>
            </a:r>
            <a:r>
              <a:rPr lang="en-US" sz="1662" dirty="0">
                <a:latin typeface="+mn-ea"/>
              </a:rPr>
              <a:t>, </a:t>
            </a:r>
            <a:r>
              <a:rPr lang="en-US" sz="1662" dirty="0" err="1">
                <a:latin typeface="+mn-ea"/>
              </a:rPr>
              <a:t>decnet</a:t>
            </a:r>
            <a:r>
              <a:rPr lang="en-US" sz="1662" dirty="0">
                <a:latin typeface="+mn-ea"/>
              </a:rPr>
              <a:t>, lat, </a:t>
            </a:r>
            <a:r>
              <a:rPr lang="en-US" sz="1662" dirty="0" err="1">
                <a:latin typeface="+mn-ea"/>
              </a:rPr>
              <a:t>sca</a:t>
            </a:r>
            <a:r>
              <a:rPr lang="en-US" sz="1662" dirty="0">
                <a:latin typeface="+mn-ea"/>
              </a:rPr>
              <a:t>, </a:t>
            </a:r>
            <a:r>
              <a:rPr lang="en-US" sz="1662" dirty="0" err="1">
                <a:latin typeface="+mn-ea"/>
              </a:rPr>
              <a:t>moprc</a:t>
            </a:r>
            <a:r>
              <a:rPr lang="en-US" sz="1662" dirty="0">
                <a:latin typeface="+mn-ea"/>
              </a:rPr>
              <a:t>, </a:t>
            </a:r>
            <a:r>
              <a:rPr lang="en-US" sz="1662" dirty="0" err="1">
                <a:latin typeface="+mn-ea"/>
              </a:rPr>
              <a:t>mopdl</a:t>
            </a:r>
            <a:r>
              <a:rPr lang="en-US" sz="1662" dirty="0">
                <a:latin typeface="+mn-ea"/>
              </a:rPr>
              <a:t>, </a:t>
            </a:r>
            <a:r>
              <a:rPr lang="en-US" sz="1662" dirty="0" err="1">
                <a:latin typeface="+mn-ea"/>
              </a:rPr>
              <a:t>tcp</a:t>
            </a:r>
            <a:r>
              <a:rPr lang="en-US" sz="1662" dirty="0">
                <a:latin typeface="+mn-ea"/>
              </a:rPr>
              <a:t> and </a:t>
            </a:r>
            <a:r>
              <a:rPr lang="en-US" sz="1662" dirty="0" err="1">
                <a:latin typeface="+mn-ea"/>
              </a:rPr>
              <a:t>udp</a:t>
            </a:r>
            <a:r>
              <a:rPr lang="en-US" sz="1662" dirty="0">
                <a:latin typeface="+mn-ea"/>
              </a:rPr>
              <a:t>.</a:t>
            </a:r>
            <a:br>
              <a:rPr lang="en-US" sz="1662" dirty="0">
                <a:latin typeface="+mn-ea"/>
              </a:rPr>
            </a:br>
            <a:r>
              <a:rPr lang="zh-CN" altLang="en-US" sz="1662" dirty="0">
                <a:latin typeface="+mn-ea"/>
              </a:rPr>
              <a:t>如果没有特别指明是什么协议，则默认使用所有支持的协议。</a:t>
            </a:r>
          </a:p>
          <a:p>
            <a:pPr>
              <a:buFont typeface="Arial" charset="0"/>
              <a:buChar char="•"/>
              <a:defRPr/>
            </a:pPr>
            <a:r>
              <a:rPr lang="en-US" sz="1662" dirty="0">
                <a:latin typeface="+mn-ea"/>
              </a:rPr>
              <a:t> </a:t>
            </a:r>
            <a:endParaRPr lang="zh-CN" altLang="en-US" sz="1662" dirty="0">
              <a:latin typeface="+mn-ea"/>
            </a:endParaRPr>
          </a:p>
          <a:p>
            <a:pPr>
              <a:buFont typeface="Arial" charset="0"/>
              <a:buChar char="•"/>
              <a:defRPr/>
            </a:pPr>
            <a:r>
              <a:rPr lang="en-US" sz="1662" dirty="0">
                <a:latin typeface="+mn-ea"/>
              </a:rPr>
              <a:t>Direction</a:t>
            </a:r>
            <a:r>
              <a:rPr lang="zh-CN" altLang="en-US" sz="1662" dirty="0">
                <a:latin typeface="+mn-ea"/>
              </a:rPr>
              <a:t>（方向）</a:t>
            </a:r>
            <a:r>
              <a:rPr lang="en-US" sz="1662" dirty="0">
                <a:latin typeface="+mn-ea"/>
              </a:rPr>
              <a:t>:</a:t>
            </a:r>
            <a:br>
              <a:rPr lang="en-US" sz="1662" dirty="0">
                <a:latin typeface="+mn-ea"/>
              </a:rPr>
            </a:br>
            <a:r>
              <a:rPr lang="zh-CN" altLang="en-US" sz="1662" dirty="0">
                <a:latin typeface="+mn-ea"/>
              </a:rPr>
              <a:t>可能的值</a:t>
            </a:r>
            <a:r>
              <a:rPr lang="en-US" sz="1662" dirty="0">
                <a:latin typeface="+mn-ea"/>
              </a:rPr>
              <a:t>: </a:t>
            </a:r>
            <a:r>
              <a:rPr lang="en-US" sz="1662" dirty="0" err="1">
                <a:latin typeface="+mn-ea"/>
              </a:rPr>
              <a:t>src</a:t>
            </a:r>
            <a:r>
              <a:rPr lang="en-US" sz="1662" dirty="0">
                <a:latin typeface="+mn-ea"/>
              </a:rPr>
              <a:t>, </a:t>
            </a:r>
            <a:r>
              <a:rPr lang="en-US" sz="1662" dirty="0" err="1">
                <a:latin typeface="+mn-ea"/>
              </a:rPr>
              <a:t>dst</a:t>
            </a:r>
            <a:r>
              <a:rPr lang="en-US" sz="1662" dirty="0">
                <a:latin typeface="+mn-ea"/>
              </a:rPr>
              <a:t>, </a:t>
            </a:r>
            <a:r>
              <a:rPr lang="en-US" sz="1662" dirty="0" err="1">
                <a:latin typeface="+mn-ea"/>
              </a:rPr>
              <a:t>src</a:t>
            </a:r>
            <a:r>
              <a:rPr lang="en-US" sz="1662" dirty="0">
                <a:latin typeface="+mn-ea"/>
              </a:rPr>
              <a:t> and </a:t>
            </a:r>
            <a:r>
              <a:rPr lang="en-US" sz="1662" dirty="0" err="1">
                <a:latin typeface="+mn-ea"/>
              </a:rPr>
              <a:t>dst</a:t>
            </a:r>
            <a:r>
              <a:rPr lang="en-US" sz="1662" dirty="0">
                <a:latin typeface="+mn-ea"/>
              </a:rPr>
              <a:t>, </a:t>
            </a:r>
            <a:r>
              <a:rPr lang="en-US" sz="1662" dirty="0" err="1">
                <a:latin typeface="+mn-ea"/>
              </a:rPr>
              <a:t>src</a:t>
            </a:r>
            <a:r>
              <a:rPr lang="en-US" sz="1662" dirty="0">
                <a:latin typeface="+mn-ea"/>
              </a:rPr>
              <a:t> or </a:t>
            </a:r>
            <a:r>
              <a:rPr lang="en-US" sz="1662" dirty="0" err="1">
                <a:latin typeface="+mn-ea"/>
              </a:rPr>
              <a:t>dst</a:t>
            </a:r>
            <a:br>
              <a:rPr lang="en-US" sz="1662" dirty="0">
                <a:latin typeface="+mn-ea"/>
              </a:rPr>
            </a:br>
            <a:r>
              <a:rPr lang="zh-CN" altLang="en-US" sz="1662" dirty="0">
                <a:latin typeface="+mn-ea"/>
              </a:rPr>
              <a:t>如果没有特别指明来源或目的地，则默认使用 “</a:t>
            </a:r>
            <a:r>
              <a:rPr lang="en-US" sz="1662" dirty="0" err="1">
                <a:latin typeface="+mn-ea"/>
              </a:rPr>
              <a:t>src</a:t>
            </a:r>
            <a:r>
              <a:rPr lang="en-US" sz="1662" dirty="0">
                <a:latin typeface="+mn-ea"/>
              </a:rPr>
              <a:t> or </a:t>
            </a:r>
            <a:r>
              <a:rPr lang="en-US" sz="1662" dirty="0" err="1">
                <a:latin typeface="+mn-ea"/>
              </a:rPr>
              <a:t>dst</a:t>
            </a:r>
            <a:r>
              <a:rPr lang="zh-CN" altLang="en-US" sz="1662" dirty="0">
                <a:latin typeface="+mn-ea"/>
              </a:rPr>
              <a:t>” 作为关键字。</a:t>
            </a:r>
            <a:br>
              <a:rPr lang="en-US" sz="1662" dirty="0">
                <a:latin typeface="+mn-ea"/>
              </a:rPr>
            </a:br>
            <a:r>
              <a:rPr lang="zh-CN" altLang="en-US" sz="1662" dirty="0">
                <a:latin typeface="+mn-ea"/>
              </a:rPr>
              <a:t>例如，”</a:t>
            </a:r>
            <a:r>
              <a:rPr lang="en-US" sz="1662" dirty="0">
                <a:latin typeface="+mn-ea"/>
              </a:rPr>
              <a:t>host 10.2.2.2</a:t>
            </a:r>
            <a:r>
              <a:rPr lang="en-US" altLang="zh-CN" sz="1662" dirty="0">
                <a:latin typeface="+mn-ea"/>
              </a:rPr>
              <a:t>″</a:t>
            </a:r>
            <a:r>
              <a:rPr lang="zh-CN" altLang="en-US" sz="1662" dirty="0">
                <a:latin typeface="+mn-ea"/>
              </a:rPr>
              <a:t>与”</a:t>
            </a:r>
            <a:r>
              <a:rPr lang="en-US" sz="1662" dirty="0" err="1">
                <a:latin typeface="+mn-ea"/>
              </a:rPr>
              <a:t>src</a:t>
            </a:r>
            <a:r>
              <a:rPr lang="en-US" sz="1662" dirty="0">
                <a:latin typeface="+mn-ea"/>
              </a:rPr>
              <a:t> or </a:t>
            </a:r>
            <a:r>
              <a:rPr lang="en-US" sz="1662" dirty="0" err="1">
                <a:latin typeface="+mn-ea"/>
              </a:rPr>
              <a:t>dst</a:t>
            </a:r>
            <a:r>
              <a:rPr lang="en-US" sz="1662" dirty="0">
                <a:latin typeface="+mn-ea"/>
              </a:rPr>
              <a:t> host 10.2.2.2</a:t>
            </a:r>
            <a:r>
              <a:rPr lang="en-US" altLang="zh-CN" sz="1662" dirty="0">
                <a:latin typeface="+mn-ea"/>
              </a:rPr>
              <a:t>″</a:t>
            </a:r>
            <a:r>
              <a:rPr lang="zh-CN" altLang="en-US" sz="1662" dirty="0">
                <a:latin typeface="+mn-ea"/>
              </a:rPr>
              <a:t>是一样的。</a:t>
            </a:r>
          </a:p>
          <a:p>
            <a:pPr>
              <a:buFont typeface="Arial" charset="0"/>
              <a:buChar char="•"/>
              <a:defRPr/>
            </a:pPr>
            <a:endParaRPr lang="zh-CN" altLang="en-US" dirty="0"/>
          </a:p>
        </p:txBody>
      </p:sp>
      <p:pic>
        <p:nvPicPr>
          <p:cNvPr id="5124" name="图片 0" descr="untitled.bmp">
            <a:extLst>
              <a:ext uri="{FF2B5EF4-FFF2-40B4-BE49-F238E27FC236}">
                <a16:creationId xmlns:a16="http://schemas.microsoft.com/office/drawing/2014/main" id="{07D856F2-7AD3-487C-B1C2-558F2140F8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025" y="1933575"/>
            <a:ext cx="7685088" cy="62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标题 1">
            <a:extLst>
              <a:ext uri="{FF2B5EF4-FFF2-40B4-BE49-F238E27FC236}">
                <a16:creationId xmlns:a16="http://schemas.microsoft.com/office/drawing/2014/main" id="{97A027B5-A77F-4F5D-8147-ECD6906AE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>
                <a:latin typeface="+mn-ea"/>
              </a:rPr>
              <a:t>捕捉过滤器</a:t>
            </a:r>
          </a:p>
        </p:txBody>
      </p:sp>
      <p:sp>
        <p:nvSpPr>
          <p:cNvPr id="5123" name="内容占位符 2">
            <a:extLst>
              <a:ext uri="{FF2B5EF4-FFF2-40B4-BE49-F238E27FC236}">
                <a16:creationId xmlns:a16="http://schemas.microsoft.com/office/drawing/2014/main" id="{70CE207F-6677-49F0-9AE2-83181F082C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2100264"/>
            <a:ext cx="8469313" cy="3862387"/>
          </a:xfrm>
        </p:spPr>
        <p:txBody>
          <a:bodyPr/>
          <a:lstStyle/>
          <a:p>
            <a:pPr>
              <a:buFont typeface="Arial" charset="0"/>
              <a:buChar char="•"/>
              <a:defRPr/>
            </a:pPr>
            <a:r>
              <a:rPr lang="en-US" sz="1662" dirty="0">
                <a:latin typeface="+mn-ea"/>
              </a:rPr>
              <a:t>Host(s):</a:t>
            </a:r>
            <a:br>
              <a:rPr lang="en-US" sz="1662" dirty="0">
                <a:latin typeface="+mn-ea"/>
              </a:rPr>
            </a:br>
            <a:r>
              <a:rPr lang="zh-CN" altLang="en-US" sz="1662" dirty="0">
                <a:latin typeface="+mn-ea"/>
              </a:rPr>
              <a:t>可能的值：</a:t>
            </a:r>
            <a:r>
              <a:rPr lang="en-US" sz="1662" dirty="0">
                <a:latin typeface="+mn-ea"/>
              </a:rPr>
              <a:t> net, port, host, </a:t>
            </a:r>
            <a:r>
              <a:rPr lang="en-US" sz="1662" dirty="0" err="1">
                <a:latin typeface="+mn-ea"/>
              </a:rPr>
              <a:t>portrange</a:t>
            </a:r>
            <a:r>
              <a:rPr lang="en-US" sz="1662" dirty="0">
                <a:latin typeface="+mn-ea"/>
              </a:rPr>
              <a:t>.</a:t>
            </a:r>
            <a:br>
              <a:rPr lang="en-US" sz="1662" dirty="0">
                <a:latin typeface="+mn-ea"/>
              </a:rPr>
            </a:br>
            <a:r>
              <a:rPr lang="zh-CN" altLang="en-US" sz="1662" dirty="0">
                <a:latin typeface="+mn-ea"/>
              </a:rPr>
              <a:t>如果没有指定此值，则默认使用”</a:t>
            </a:r>
            <a:r>
              <a:rPr lang="en-US" sz="1662" dirty="0">
                <a:latin typeface="+mn-ea"/>
              </a:rPr>
              <a:t>host</a:t>
            </a:r>
            <a:r>
              <a:rPr lang="zh-CN" altLang="en-US" sz="1662" dirty="0">
                <a:latin typeface="+mn-ea"/>
              </a:rPr>
              <a:t>”关键字。</a:t>
            </a:r>
            <a:br>
              <a:rPr lang="en-US" sz="1662" dirty="0">
                <a:latin typeface="+mn-ea"/>
              </a:rPr>
            </a:br>
            <a:r>
              <a:rPr lang="zh-CN" altLang="en-US" sz="1662" dirty="0">
                <a:latin typeface="+mn-ea"/>
              </a:rPr>
              <a:t>例如，”</a:t>
            </a:r>
            <a:r>
              <a:rPr lang="en-US" sz="1662" dirty="0" err="1">
                <a:latin typeface="+mn-ea"/>
              </a:rPr>
              <a:t>src</a:t>
            </a:r>
            <a:r>
              <a:rPr lang="en-US" sz="1662" dirty="0">
                <a:latin typeface="+mn-ea"/>
              </a:rPr>
              <a:t> 10.1.1.1</a:t>
            </a:r>
            <a:r>
              <a:rPr lang="en-US" altLang="zh-CN" sz="1662" dirty="0">
                <a:latin typeface="+mn-ea"/>
              </a:rPr>
              <a:t>″</a:t>
            </a:r>
            <a:r>
              <a:rPr lang="zh-CN" altLang="en-US" sz="1662" dirty="0">
                <a:latin typeface="+mn-ea"/>
              </a:rPr>
              <a:t>与”</a:t>
            </a:r>
            <a:r>
              <a:rPr lang="en-US" sz="1662" dirty="0" err="1">
                <a:latin typeface="+mn-ea"/>
              </a:rPr>
              <a:t>src</a:t>
            </a:r>
            <a:r>
              <a:rPr lang="en-US" sz="1662" dirty="0">
                <a:latin typeface="+mn-ea"/>
              </a:rPr>
              <a:t> host 10.1.1.1</a:t>
            </a:r>
            <a:r>
              <a:rPr lang="en-US" altLang="zh-CN" sz="1662" dirty="0">
                <a:latin typeface="+mn-ea"/>
              </a:rPr>
              <a:t>″</a:t>
            </a:r>
            <a:r>
              <a:rPr lang="zh-CN" altLang="en-US" sz="1662" dirty="0">
                <a:latin typeface="+mn-ea"/>
              </a:rPr>
              <a:t>相同。</a:t>
            </a:r>
          </a:p>
          <a:p>
            <a:pPr>
              <a:buFont typeface="Arial" charset="0"/>
              <a:buChar char="•"/>
              <a:defRPr/>
            </a:pPr>
            <a:r>
              <a:rPr lang="en-US" sz="1662" dirty="0">
                <a:latin typeface="+mn-ea"/>
              </a:rPr>
              <a:t> </a:t>
            </a:r>
            <a:endParaRPr lang="zh-CN" altLang="en-US" sz="1662" dirty="0">
              <a:latin typeface="+mn-ea"/>
            </a:endParaRPr>
          </a:p>
          <a:p>
            <a:pPr>
              <a:buFont typeface="Arial" charset="0"/>
              <a:buChar char="•"/>
              <a:defRPr/>
            </a:pPr>
            <a:r>
              <a:rPr lang="en-US" sz="1662" dirty="0">
                <a:latin typeface="+mn-ea"/>
              </a:rPr>
              <a:t>Logical Operations</a:t>
            </a:r>
            <a:r>
              <a:rPr lang="zh-CN" altLang="en-US" sz="1662" dirty="0">
                <a:latin typeface="+mn-ea"/>
              </a:rPr>
              <a:t>（逻辑运算）</a:t>
            </a:r>
            <a:r>
              <a:rPr lang="en-US" sz="1662" dirty="0">
                <a:latin typeface="+mn-ea"/>
              </a:rPr>
              <a:t>:</a:t>
            </a:r>
            <a:br>
              <a:rPr lang="en-US" sz="1662" dirty="0">
                <a:latin typeface="+mn-ea"/>
              </a:rPr>
            </a:br>
            <a:r>
              <a:rPr lang="zh-CN" altLang="en-US" sz="1662" dirty="0">
                <a:latin typeface="+mn-ea"/>
              </a:rPr>
              <a:t>可能的值：</a:t>
            </a:r>
            <a:r>
              <a:rPr lang="en-US" sz="1662" dirty="0">
                <a:latin typeface="+mn-ea"/>
              </a:rPr>
              <a:t>not, and, or.</a:t>
            </a:r>
            <a:br>
              <a:rPr lang="en-US" sz="1662" dirty="0">
                <a:latin typeface="+mn-ea"/>
              </a:rPr>
            </a:br>
            <a:r>
              <a:rPr lang="zh-CN" altLang="en-US" sz="1662" dirty="0">
                <a:latin typeface="+mn-ea"/>
              </a:rPr>
              <a:t>否</a:t>
            </a:r>
            <a:r>
              <a:rPr lang="en-US" sz="1662" dirty="0">
                <a:latin typeface="+mn-ea"/>
              </a:rPr>
              <a:t>(</a:t>
            </a:r>
            <a:r>
              <a:rPr lang="zh-CN" altLang="en-US" sz="1662" dirty="0">
                <a:latin typeface="+mn-ea"/>
              </a:rPr>
              <a:t>“</a:t>
            </a:r>
            <a:r>
              <a:rPr lang="en-US" sz="1662" dirty="0">
                <a:latin typeface="+mn-ea"/>
              </a:rPr>
              <a:t>not</a:t>
            </a:r>
            <a:r>
              <a:rPr lang="zh-CN" altLang="en-US" sz="1662" dirty="0">
                <a:latin typeface="+mn-ea"/>
              </a:rPr>
              <a:t>”</a:t>
            </a:r>
            <a:r>
              <a:rPr lang="en-US" sz="1662" dirty="0">
                <a:latin typeface="+mn-ea"/>
              </a:rPr>
              <a:t>)</a:t>
            </a:r>
            <a:r>
              <a:rPr lang="zh-CN" altLang="en-US" sz="1662" dirty="0">
                <a:latin typeface="+mn-ea"/>
              </a:rPr>
              <a:t>具有最高的优先级。或</a:t>
            </a:r>
            <a:r>
              <a:rPr lang="en-US" sz="1662" dirty="0">
                <a:latin typeface="+mn-ea"/>
              </a:rPr>
              <a:t>(</a:t>
            </a:r>
            <a:r>
              <a:rPr lang="zh-CN" altLang="en-US" sz="1662" dirty="0">
                <a:latin typeface="+mn-ea"/>
              </a:rPr>
              <a:t>“</a:t>
            </a:r>
            <a:r>
              <a:rPr lang="en-US" sz="1662" dirty="0">
                <a:latin typeface="+mn-ea"/>
              </a:rPr>
              <a:t>or</a:t>
            </a:r>
            <a:r>
              <a:rPr lang="zh-CN" altLang="en-US" sz="1662" dirty="0">
                <a:latin typeface="+mn-ea"/>
              </a:rPr>
              <a:t>”</a:t>
            </a:r>
            <a:r>
              <a:rPr lang="en-US" sz="1662" dirty="0">
                <a:latin typeface="+mn-ea"/>
              </a:rPr>
              <a:t>)</a:t>
            </a:r>
            <a:r>
              <a:rPr lang="zh-CN" altLang="en-US" sz="1662" dirty="0">
                <a:latin typeface="+mn-ea"/>
              </a:rPr>
              <a:t>和与</a:t>
            </a:r>
            <a:r>
              <a:rPr lang="en-US" sz="1662" dirty="0">
                <a:latin typeface="+mn-ea"/>
              </a:rPr>
              <a:t>(</a:t>
            </a:r>
            <a:r>
              <a:rPr lang="zh-CN" altLang="en-US" sz="1662" dirty="0">
                <a:latin typeface="+mn-ea"/>
              </a:rPr>
              <a:t>“</a:t>
            </a:r>
            <a:r>
              <a:rPr lang="en-US" sz="1662" dirty="0">
                <a:latin typeface="+mn-ea"/>
              </a:rPr>
              <a:t>and</a:t>
            </a:r>
            <a:r>
              <a:rPr lang="zh-CN" altLang="en-US" sz="1662" dirty="0">
                <a:latin typeface="+mn-ea"/>
              </a:rPr>
              <a:t>”</a:t>
            </a:r>
            <a:r>
              <a:rPr lang="en-US" sz="1662" dirty="0">
                <a:latin typeface="+mn-ea"/>
              </a:rPr>
              <a:t>)</a:t>
            </a:r>
            <a:r>
              <a:rPr lang="zh-CN" altLang="en-US" sz="1662" dirty="0">
                <a:latin typeface="+mn-ea"/>
              </a:rPr>
              <a:t>具有相同的优先级，运算时从左至右进行。</a:t>
            </a:r>
            <a:br>
              <a:rPr lang="en-US" sz="1662" dirty="0">
                <a:latin typeface="+mn-ea"/>
              </a:rPr>
            </a:br>
            <a:r>
              <a:rPr lang="zh-CN" altLang="en-US" sz="1662" dirty="0">
                <a:latin typeface="+mn-ea"/>
              </a:rPr>
              <a:t>例如，</a:t>
            </a:r>
            <a:br>
              <a:rPr lang="en-US" sz="1662" dirty="0">
                <a:latin typeface="+mn-ea"/>
              </a:rPr>
            </a:br>
            <a:r>
              <a:rPr lang="zh-CN" altLang="en-US" sz="1662" dirty="0">
                <a:latin typeface="+mn-ea"/>
              </a:rPr>
              <a:t>“</a:t>
            </a:r>
            <a:r>
              <a:rPr lang="en-US" sz="1662" dirty="0">
                <a:latin typeface="+mn-ea"/>
              </a:rPr>
              <a:t>not </a:t>
            </a:r>
            <a:r>
              <a:rPr lang="en-US" sz="1662" dirty="0" err="1">
                <a:latin typeface="+mn-ea"/>
              </a:rPr>
              <a:t>tcp</a:t>
            </a:r>
            <a:r>
              <a:rPr lang="en-US" sz="1662" dirty="0">
                <a:latin typeface="+mn-ea"/>
              </a:rPr>
              <a:t> port 3128 and </a:t>
            </a:r>
            <a:r>
              <a:rPr lang="en-US" sz="1662" dirty="0" err="1">
                <a:latin typeface="+mn-ea"/>
              </a:rPr>
              <a:t>tcp</a:t>
            </a:r>
            <a:r>
              <a:rPr lang="en-US" sz="1662" dirty="0">
                <a:latin typeface="+mn-ea"/>
              </a:rPr>
              <a:t> port 23</a:t>
            </a:r>
            <a:r>
              <a:rPr lang="en-US" altLang="zh-CN" sz="1662" dirty="0">
                <a:latin typeface="+mn-ea"/>
              </a:rPr>
              <a:t>″</a:t>
            </a:r>
            <a:r>
              <a:rPr lang="zh-CN" altLang="en-US" sz="1662" dirty="0">
                <a:latin typeface="+mn-ea"/>
              </a:rPr>
              <a:t>与”</a:t>
            </a:r>
            <a:r>
              <a:rPr lang="en-US" sz="1662" dirty="0">
                <a:latin typeface="+mn-ea"/>
              </a:rPr>
              <a:t>(not </a:t>
            </a:r>
            <a:r>
              <a:rPr lang="en-US" sz="1662" dirty="0" err="1">
                <a:latin typeface="+mn-ea"/>
              </a:rPr>
              <a:t>tcp</a:t>
            </a:r>
            <a:r>
              <a:rPr lang="en-US" sz="1662" dirty="0">
                <a:latin typeface="+mn-ea"/>
              </a:rPr>
              <a:t> port 3128) and </a:t>
            </a:r>
            <a:r>
              <a:rPr lang="en-US" sz="1662" dirty="0" err="1">
                <a:latin typeface="+mn-ea"/>
              </a:rPr>
              <a:t>tcp</a:t>
            </a:r>
            <a:r>
              <a:rPr lang="en-US" sz="1662" dirty="0">
                <a:latin typeface="+mn-ea"/>
              </a:rPr>
              <a:t> port 23</a:t>
            </a:r>
            <a:r>
              <a:rPr lang="en-US" altLang="zh-CN" sz="1662" dirty="0">
                <a:latin typeface="+mn-ea"/>
              </a:rPr>
              <a:t>″</a:t>
            </a:r>
            <a:r>
              <a:rPr lang="zh-CN" altLang="en-US" sz="1662" dirty="0">
                <a:latin typeface="+mn-ea"/>
              </a:rPr>
              <a:t>相同。</a:t>
            </a:r>
            <a:br>
              <a:rPr lang="en-US" sz="1662" dirty="0">
                <a:latin typeface="+mn-ea"/>
              </a:rPr>
            </a:br>
            <a:r>
              <a:rPr lang="zh-CN" altLang="en-US" sz="1662" dirty="0">
                <a:latin typeface="+mn-ea"/>
              </a:rPr>
              <a:t>“</a:t>
            </a:r>
            <a:r>
              <a:rPr lang="en-US" sz="1662" dirty="0">
                <a:latin typeface="+mn-ea"/>
              </a:rPr>
              <a:t>not </a:t>
            </a:r>
            <a:r>
              <a:rPr lang="en-US" sz="1662" dirty="0" err="1">
                <a:latin typeface="+mn-ea"/>
              </a:rPr>
              <a:t>tcp</a:t>
            </a:r>
            <a:r>
              <a:rPr lang="en-US" sz="1662" dirty="0">
                <a:latin typeface="+mn-ea"/>
              </a:rPr>
              <a:t> port 3128 and </a:t>
            </a:r>
            <a:r>
              <a:rPr lang="en-US" sz="1662" dirty="0" err="1">
                <a:latin typeface="+mn-ea"/>
              </a:rPr>
              <a:t>tcp</a:t>
            </a:r>
            <a:r>
              <a:rPr lang="en-US" sz="1662" dirty="0">
                <a:latin typeface="+mn-ea"/>
              </a:rPr>
              <a:t> port 23</a:t>
            </a:r>
            <a:r>
              <a:rPr lang="en-US" altLang="zh-CN" sz="1662" dirty="0">
                <a:latin typeface="+mn-ea"/>
              </a:rPr>
              <a:t>″</a:t>
            </a:r>
            <a:r>
              <a:rPr lang="zh-CN" altLang="en-US" sz="1662" dirty="0">
                <a:latin typeface="+mn-ea"/>
              </a:rPr>
              <a:t>与”</a:t>
            </a:r>
            <a:r>
              <a:rPr lang="en-US" sz="1662" dirty="0">
                <a:latin typeface="+mn-ea"/>
              </a:rPr>
              <a:t>not (</a:t>
            </a:r>
            <a:r>
              <a:rPr lang="en-US" sz="1662" dirty="0" err="1">
                <a:latin typeface="+mn-ea"/>
              </a:rPr>
              <a:t>tcp</a:t>
            </a:r>
            <a:r>
              <a:rPr lang="en-US" sz="1662" dirty="0">
                <a:latin typeface="+mn-ea"/>
              </a:rPr>
              <a:t> port 3128 and </a:t>
            </a:r>
            <a:r>
              <a:rPr lang="en-US" sz="1662" dirty="0" err="1">
                <a:latin typeface="+mn-ea"/>
              </a:rPr>
              <a:t>tcp</a:t>
            </a:r>
            <a:r>
              <a:rPr lang="en-US" sz="1662" dirty="0">
                <a:latin typeface="+mn-ea"/>
              </a:rPr>
              <a:t> port 23)</a:t>
            </a:r>
            <a:r>
              <a:rPr lang="zh-CN" altLang="en-US" sz="1662" dirty="0">
                <a:latin typeface="+mn-ea"/>
              </a:rPr>
              <a:t>”不同。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标题 1">
            <a:extLst>
              <a:ext uri="{FF2B5EF4-FFF2-40B4-BE49-F238E27FC236}">
                <a16:creationId xmlns:a16="http://schemas.microsoft.com/office/drawing/2014/main" id="{5E9C7344-91D3-451D-B174-47D863FCB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显示过滤器</a:t>
            </a:r>
          </a:p>
        </p:txBody>
      </p:sp>
      <p:sp>
        <p:nvSpPr>
          <p:cNvPr id="5123" name="内容占位符 2">
            <a:extLst>
              <a:ext uri="{FF2B5EF4-FFF2-40B4-BE49-F238E27FC236}">
                <a16:creationId xmlns:a16="http://schemas.microsoft.com/office/drawing/2014/main" id="{6588C489-B5BB-423A-B330-F28358801E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00264"/>
            <a:ext cx="8229600" cy="1743075"/>
          </a:xfrm>
        </p:spPr>
        <p:txBody>
          <a:bodyPr/>
          <a:lstStyle/>
          <a:p>
            <a:pPr>
              <a:buFont typeface="Arial" charset="0"/>
              <a:buChar char="•"/>
              <a:defRPr/>
            </a:pPr>
            <a:r>
              <a:rPr lang="zh-CN" altLang="en-US" sz="2215" dirty="0"/>
              <a:t>显示过滤器例子：</a:t>
            </a:r>
          </a:p>
          <a:p>
            <a:pPr lvl="1">
              <a:buFont typeface="Arial" charset="0"/>
              <a:buChar char="•"/>
              <a:defRPr/>
            </a:pPr>
            <a:r>
              <a:rPr lang="en-US" sz="1662" dirty="0"/>
              <a:t>http      </a:t>
            </a:r>
            <a:r>
              <a:rPr lang="zh-CN" altLang="en-US" sz="1662" dirty="0"/>
              <a:t>显示</a:t>
            </a:r>
            <a:r>
              <a:rPr lang="en-US" sz="1662" dirty="0"/>
              <a:t>TCP 80</a:t>
            </a:r>
            <a:r>
              <a:rPr lang="zh-CN" altLang="en-US" sz="1662" dirty="0"/>
              <a:t>端口的</a:t>
            </a:r>
            <a:r>
              <a:rPr lang="en-US" sz="1662" dirty="0"/>
              <a:t>http</a:t>
            </a:r>
            <a:r>
              <a:rPr lang="zh-CN" altLang="en-US" sz="1662" dirty="0"/>
              <a:t>包。</a:t>
            </a:r>
          </a:p>
          <a:p>
            <a:pPr lvl="1">
              <a:buFont typeface="Arial" charset="0"/>
              <a:buChar char="•"/>
              <a:defRPr/>
            </a:pPr>
            <a:r>
              <a:rPr lang="en-US" sz="1662" dirty="0" err="1"/>
              <a:t>tcp.port</a:t>
            </a:r>
            <a:r>
              <a:rPr lang="en-US" sz="1662" dirty="0"/>
              <a:t> == 9990    </a:t>
            </a:r>
            <a:r>
              <a:rPr lang="zh-CN" altLang="en-US" sz="1662" dirty="0"/>
              <a:t>显示</a:t>
            </a:r>
            <a:r>
              <a:rPr lang="en-US" sz="1662" dirty="0" err="1"/>
              <a:t>tcp</a:t>
            </a:r>
            <a:r>
              <a:rPr lang="en-US" sz="1662" dirty="0"/>
              <a:t> </a:t>
            </a:r>
            <a:r>
              <a:rPr lang="zh-CN" altLang="en-US" sz="1662" dirty="0"/>
              <a:t>端口是</a:t>
            </a:r>
            <a:r>
              <a:rPr lang="en-US" sz="1662" dirty="0"/>
              <a:t>9990</a:t>
            </a:r>
            <a:r>
              <a:rPr lang="zh-CN" altLang="en-US" sz="1662" dirty="0"/>
              <a:t>的包。</a:t>
            </a:r>
          </a:p>
          <a:p>
            <a:pPr lvl="1">
              <a:buFont typeface="Arial" charset="0"/>
              <a:buChar char="•"/>
              <a:defRPr/>
            </a:pPr>
            <a:r>
              <a:rPr lang="en-US" sz="1662" dirty="0" err="1"/>
              <a:t>tcp.flags.reset</a:t>
            </a:r>
            <a:r>
              <a:rPr lang="en-US" sz="1662" dirty="0"/>
              <a:t> == 1    </a:t>
            </a:r>
            <a:r>
              <a:rPr lang="zh-CN" altLang="en-US" sz="1662" dirty="0"/>
              <a:t>显示</a:t>
            </a:r>
            <a:r>
              <a:rPr lang="en-US" sz="1662" dirty="0" err="1"/>
              <a:t>tcp</a:t>
            </a:r>
            <a:r>
              <a:rPr lang="zh-CN" altLang="en-US" sz="1662" dirty="0"/>
              <a:t>标志字段中</a:t>
            </a:r>
            <a:r>
              <a:rPr lang="en-US" sz="1662" dirty="0"/>
              <a:t>reset</a:t>
            </a:r>
            <a:r>
              <a:rPr lang="zh-CN" altLang="en-US" sz="1662" dirty="0"/>
              <a:t>标志为</a:t>
            </a:r>
            <a:r>
              <a:rPr lang="en-US" sz="1662" dirty="0"/>
              <a:t>1</a:t>
            </a:r>
            <a:r>
              <a:rPr lang="zh-CN" altLang="en-US" sz="1662" dirty="0"/>
              <a:t>的包。</a:t>
            </a:r>
            <a:endParaRPr lang="en-US" altLang="zh-CN" sz="1662" dirty="0"/>
          </a:p>
          <a:p>
            <a:pPr lvl="1">
              <a:buFont typeface="Arial" charset="0"/>
              <a:buChar char="•"/>
              <a:defRPr/>
            </a:pPr>
            <a:r>
              <a:rPr lang="en-US" altLang="zh-CN" sz="1662" dirty="0" err="1"/>
              <a:t>tcp.port</a:t>
            </a:r>
            <a:r>
              <a:rPr lang="en-US" altLang="zh-CN" sz="1662" dirty="0"/>
              <a:t>==80 or </a:t>
            </a:r>
            <a:r>
              <a:rPr lang="en-US" altLang="zh-CN" sz="1662" dirty="0" err="1"/>
              <a:t>tcp.port</a:t>
            </a:r>
            <a:r>
              <a:rPr lang="en-US" altLang="zh-CN" sz="1662" dirty="0"/>
              <a:t>==9990   </a:t>
            </a:r>
            <a:r>
              <a:rPr lang="zh-CN" altLang="en-US" sz="1662" dirty="0"/>
              <a:t>显示端口是</a:t>
            </a:r>
            <a:r>
              <a:rPr lang="en-US" altLang="zh-CN" sz="1662" dirty="0"/>
              <a:t>80</a:t>
            </a:r>
            <a:r>
              <a:rPr lang="zh-CN" altLang="en-US" sz="1662" dirty="0"/>
              <a:t>或者</a:t>
            </a:r>
            <a:r>
              <a:rPr lang="en-US" altLang="zh-CN" sz="1662" dirty="0"/>
              <a:t>9990</a:t>
            </a:r>
            <a:r>
              <a:rPr lang="zh-CN" altLang="en-US" sz="1662" dirty="0"/>
              <a:t>的包</a:t>
            </a:r>
            <a:endParaRPr lang="zh-CN" altLang="en-US" sz="1662" dirty="0">
              <a:latin typeface="+mn-ea"/>
            </a:endParaRPr>
          </a:p>
        </p:txBody>
      </p:sp>
      <p:pic>
        <p:nvPicPr>
          <p:cNvPr id="7172" name="图片 1" descr="101236176.png">
            <a:extLst>
              <a:ext uri="{FF2B5EF4-FFF2-40B4-BE49-F238E27FC236}">
                <a16:creationId xmlns:a16="http://schemas.microsoft.com/office/drawing/2014/main" id="{28858A2E-D98B-4C5E-829D-7CD1A70CD0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076" y="4425950"/>
            <a:ext cx="7254875" cy="788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标题 1">
            <a:extLst>
              <a:ext uri="{FF2B5EF4-FFF2-40B4-BE49-F238E27FC236}">
                <a16:creationId xmlns:a16="http://schemas.microsoft.com/office/drawing/2014/main" id="{F2FB3F72-6B95-45E2-BDC4-D34755EC2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>
                <a:latin typeface="+mn-ea"/>
              </a:rPr>
              <a:t>显示过滤器</a:t>
            </a:r>
          </a:p>
        </p:txBody>
      </p:sp>
      <p:sp>
        <p:nvSpPr>
          <p:cNvPr id="8195" name="矩形 5">
            <a:extLst>
              <a:ext uri="{FF2B5EF4-FFF2-40B4-BE49-F238E27FC236}">
                <a16:creationId xmlns:a16="http://schemas.microsoft.com/office/drawing/2014/main" id="{DCB22B89-7E0C-483D-9F61-00F6376CB5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24538" y="2390775"/>
            <a:ext cx="3490912" cy="304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 b="1">
                <a:ea typeface="黑体" panose="02010609060101010101" pitchFamily="49" charset="-122"/>
                <a:cs typeface="Times New Roman" panose="02020603050405020304" pitchFamily="18" charset="0"/>
              </a:rPr>
              <a:t>Protocol</a:t>
            </a:r>
            <a:r>
              <a:rPr lang="zh-CN" altLang="en-US" sz="1800" b="1">
                <a:ea typeface="黑体" panose="02010609060101010101" pitchFamily="49" charset="-122"/>
                <a:cs typeface="Times New Roman" panose="02020603050405020304" pitchFamily="18" charset="0"/>
              </a:rPr>
              <a:t>（协议）</a:t>
            </a:r>
            <a:r>
              <a:rPr lang="en-US" altLang="zh-CN" sz="1800" b="1"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br>
              <a:rPr lang="en-US" altLang="zh-CN" sz="1800">
                <a:ea typeface="黑体" panose="02010609060101010101" pitchFamily="49" charset="-122"/>
                <a:cs typeface="Times New Roman" panose="02020603050405020304" pitchFamily="18" charset="0"/>
              </a:rPr>
            </a:br>
            <a:r>
              <a:rPr lang="zh-CN" altLang="en-US" sz="1800"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可以使用大量位于</a:t>
            </a:r>
            <a:r>
              <a:rPr lang="en-US" altLang="zh-CN" sz="1800"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OSI</a:t>
            </a:r>
            <a:r>
              <a:rPr lang="zh-CN" altLang="en-US" sz="1800"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模型第</a:t>
            </a:r>
            <a:r>
              <a:rPr lang="en-US" altLang="zh-CN" sz="1800"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1800"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至</a:t>
            </a:r>
            <a:r>
              <a:rPr lang="en-US" altLang="zh-CN" sz="1800"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7</a:t>
            </a:r>
            <a:r>
              <a:rPr lang="zh-CN" altLang="en-US" sz="1800"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层的协议。点击”</a:t>
            </a:r>
            <a:r>
              <a:rPr lang="en-US" altLang="zh-CN" sz="1800"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Expression…”</a:t>
            </a:r>
            <a:r>
              <a:rPr lang="zh-CN" altLang="en-US" sz="1800"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按钮后，可以看到它们。</a:t>
            </a:r>
            <a:br>
              <a:rPr lang="zh-CN" altLang="en-US" sz="1800"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</a:br>
            <a:r>
              <a:rPr lang="zh-CN" altLang="en-US" sz="1800"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比如：</a:t>
            </a:r>
            <a:r>
              <a:rPr lang="en-US" altLang="zh-CN" sz="1800"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IP</a:t>
            </a:r>
            <a:r>
              <a:rPr lang="zh-CN" altLang="en-US" sz="1800"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1800"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TCP</a:t>
            </a:r>
            <a:r>
              <a:rPr lang="zh-CN" altLang="en-US" sz="1800"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1800"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DNS</a:t>
            </a:r>
            <a:r>
              <a:rPr lang="zh-CN" altLang="en-US" sz="1800"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1800"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SSH</a:t>
            </a:r>
            <a:r>
              <a:rPr lang="zh-CN" altLang="en-US" sz="1800"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en-US" altLang="zh-CN" sz="1800">
              <a:latin typeface="宋体" panose="02010600030101010101" pitchFamily="2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zh-CN" sz="1200">
              <a:latin typeface="宋体" panose="02010600030101010101" pitchFamily="2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 b="1"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String1, String2 </a:t>
            </a:r>
            <a:r>
              <a:rPr lang="en-US" altLang="zh-CN" sz="1800"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zh-CN" altLang="en-US" sz="1800"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可选项</a:t>
            </a:r>
            <a:r>
              <a:rPr lang="en-US" altLang="zh-CN" sz="1800"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):</a:t>
            </a:r>
            <a:br>
              <a:rPr lang="en-US" altLang="zh-CN" sz="1800"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</a:br>
            <a:r>
              <a:rPr lang="zh-CN" altLang="en-US" sz="1800"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协议的子类。</a:t>
            </a:r>
            <a:br>
              <a:rPr lang="zh-CN" altLang="en-US" sz="1800"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</a:br>
            <a:r>
              <a:rPr lang="zh-CN" altLang="en-US" sz="1800"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点击相关父类旁的”</a:t>
            </a:r>
            <a:r>
              <a:rPr lang="en-US" altLang="zh-CN" sz="1800"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+”</a:t>
            </a:r>
            <a:r>
              <a:rPr lang="zh-CN" altLang="en-US" sz="1800"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号，然后选择其子类。</a:t>
            </a:r>
            <a:endParaRPr lang="zh-CN" altLang="en-US" sz="3600">
              <a:latin typeface="宋体" panose="02010600030101010101" pitchFamily="2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8196" name="图片 1">
            <a:extLst>
              <a:ext uri="{FF2B5EF4-FFF2-40B4-BE49-F238E27FC236}">
                <a16:creationId xmlns:a16="http://schemas.microsoft.com/office/drawing/2014/main" id="{0D0C74C1-FEFD-4B97-AF20-3DA4C20A1A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975" y="1860550"/>
            <a:ext cx="4908550" cy="4249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标题 1">
            <a:extLst>
              <a:ext uri="{FF2B5EF4-FFF2-40B4-BE49-F238E27FC236}">
                <a16:creationId xmlns:a16="http://schemas.microsoft.com/office/drawing/2014/main" id="{E43CD282-E471-4E4B-8AC2-F07143351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>
                <a:latin typeface="+mn-ea"/>
              </a:rPr>
              <a:t>显示过滤器</a:t>
            </a:r>
          </a:p>
        </p:txBody>
      </p:sp>
      <p:pic>
        <p:nvPicPr>
          <p:cNvPr id="9219" name="图片 11" descr="http://img1.51cto.com/attachment/201112/101202225.png">
            <a:extLst>
              <a:ext uri="{FF2B5EF4-FFF2-40B4-BE49-F238E27FC236}">
                <a16:creationId xmlns:a16="http://schemas.microsoft.com/office/drawing/2014/main" id="{0052CC58-7D24-4407-807D-255E27B961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614" y="2390776"/>
            <a:ext cx="4522787" cy="2492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5C963C23-2CAB-4CC0-87B3-FB45B625231C}"/>
              </a:ext>
            </a:extLst>
          </p:cNvPr>
          <p:cNvSpPr/>
          <p:nvPr/>
        </p:nvSpPr>
        <p:spPr>
          <a:xfrm>
            <a:off x="1089025" y="1435100"/>
            <a:ext cx="7519988" cy="4889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en-US" sz="2585" dirty="0">
                <a:latin typeface="+mn-ea"/>
              </a:rPr>
              <a:t>Comparison operators </a:t>
            </a:r>
            <a:r>
              <a:rPr lang="zh-CN" altLang="en-US" sz="2585" dirty="0">
                <a:latin typeface="+mn-ea"/>
              </a:rPr>
              <a:t>（比较运算符）</a:t>
            </a:r>
          </a:p>
        </p:txBody>
      </p:sp>
      <p:sp>
        <p:nvSpPr>
          <p:cNvPr id="9221" name="TextBox 10">
            <a:extLst>
              <a:ext uri="{FF2B5EF4-FFF2-40B4-BE49-F238E27FC236}">
                <a16:creationId xmlns:a16="http://schemas.microsoft.com/office/drawing/2014/main" id="{60F136A7-4058-4386-A8AE-BA2B92CCDA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1" y="2390776"/>
            <a:ext cx="3324225" cy="2335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800">
                <a:latin typeface="黑体" panose="02010609060101010101" pitchFamily="49" charset="-122"/>
                <a:ea typeface="黑体" panose="02010609060101010101" pitchFamily="49" charset="-122"/>
              </a:rPr>
              <a:t>例如：</a:t>
            </a:r>
            <a:endParaRPr lang="en-US" altLang="zh-CN" sz="18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黑体" panose="02010609060101010101" pitchFamily="49" charset="-122"/>
                <a:ea typeface="黑体" panose="02010609060101010101" pitchFamily="49" charset="-122"/>
              </a:rPr>
              <a:t>tcp.port==9990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800">
                <a:latin typeface="黑体" panose="02010609060101010101" pitchFamily="49" charset="-122"/>
                <a:ea typeface="黑体" panose="02010609060101010101" pitchFamily="49" charset="-122"/>
              </a:rPr>
              <a:t>过滤显示</a:t>
            </a:r>
            <a:r>
              <a:rPr lang="en-US" altLang="zh-CN" sz="1800">
                <a:latin typeface="黑体" panose="02010609060101010101" pitchFamily="49" charset="-122"/>
                <a:ea typeface="黑体" panose="02010609060101010101" pitchFamily="49" charset="-122"/>
              </a:rPr>
              <a:t>TCP</a:t>
            </a:r>
            <a:r>
              <a:rPr lang="zh-CN" altLang="en-US" sz="1800">
                <a:latin typeface="黑体" panose="02010609060101010101" pitchFamily="49" charset="-122"/>
                <a:ea typeface="黑体" panose="02010609060101010101" pitchFamily="49" charset="-122"/>
              </a:rPr>
              <a:t>端口是</a:t>
            </a:r>
            <a:r>
              <a:rPr lang="en-US" altLang="zh-CN" sz="1800">
                <a:latin typeface="黑体" panose="02010609060101010101" pitchFamily="49" charset="-122"/>
                <a:ea typeface="黑体" panose="02010609060101010101" pitchFamily="49" charset="-122"/>
              </a:rPr>
              <a:t>9990</a:t>
            </a:r>
            <a:r>
              <a:rPr lang="zh-CN" altLang="en-US" sz="1800">
                <a:latin typeface="黑体" panose="02010609060101010101" pitchFamily="49" charset="-122"/>
                <a:ea typeface="黑体" panose="02010609060101010101" pitchFamily="49" charset="-122"/>
              </a:rPr>
              <a:t>的数据包。</a:t>
            </a:r>
            <a:endParaRPr lang="en-US" altLang="zh-CN" sz="18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黑体" panose="02010609060101010101" pitchFamily="49" charset="-122"/>
                <a:ea typeface="黑体" panose="02010609060101010101" pitchFamily="49" charset="-122"/>
              </a:rPr>
              <a:t>Tcp.seq eq 115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800">
                <a:latin typeface="黑体" panose="02010609060101010101" pitchFamily="49" charset="-122"/>
                <a:ea typeface="黑体" panose="02010609060101010101" pitchFamily="49" charset="-122"/>
              </a:rPr>
              <a:t>过滤显示序列号为</a:t>
            </a:r>
            <a:r>
              <a:rPr lang="en-US" altLang="zh-CN" sz="1800">
                <a:latin typeface="黑体" panose="02010609060101010101" pitchFamily="49" charset="-122"/>
                <a:ea typeface="黑体" panose="02010609060101010101" pitchFamily="49" charset="-122"/>
              </a:rPr>
              <a:t>115</a:t>
            </a:r>
            <a:r>
              <a:rPr lang="zh-CN" altLang="en-US" sz="1800">
                <a:latin typeface="黑体" panose="02010609060101010101" pitchFamily="49" charset="-122"/>
                <a:ea typeface="黑体" panose="02010609060101010101" pitchFamily="49" charset="-122"/>
              </a:rPr>
              <a:t>的数据包。</a:t>
            </a:r>
            <a:endParaRPr lang="en-US" altLang="zh-CN" sz="18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黑体" panose="02010609060101010101" pitchFamily="49" charset="-122"/>
                <a:ea typeface="黑体" panose="02010609060101010101" pitchFamily="49" charset="-122"/>
              </a:rPr>
              <a:t>……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6">
            <a:extLst>
              <a:ext uri="{FF2B5EF4-FFF2-40B4-BE49-F238E27FC236}">
                <a16:creationId xmlns:a16="http://schemas.microsoft.com/office/drawing/2014/main" id="{8C167CF6-7632-4639-9647-51227611E7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1" y="1646239"/>
            <a:ext cx="66675" cy="769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3231" tIns="33231" rIns="33231" bIns="33231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lnSpc>
                <a:spcPct val="70000"/>
              </a:lnSpc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lnSpc>
                <a:spcPct val="70000"/>
              </a:lnSpc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lnSpc>
                <a:spcPct val="70000"/>
              </a:lnSpc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lnSpc>
                <a:spcPct val="70000"/>
              </a:lnSpc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defRPr/>
            </a:pPr>
            <a:endParaRPr lang="en-US" altLang="zh-CN" sz="923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defRPr/>
            </a:pPr>
            <a:br>
              <a:rPr lang="en-US" altLang="zh-CN" sz="923">
                <a:latin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altLang="zh-CN" sz="923">
                <a:latin typeface="Calibri" panose="020F0502020204030204" pitchFamily="34" charset="0"/>
                <a:cs typeface="Times New Roman" panose="02020603050405020304" pitchFamily="18" charset="0"/>
              </a:rPr>
            </a:br>
            <a:endParaRPr lang="en-US" altLang="zh-CN"/>
          </a:p>
        </p:txBody>
      </p:sp>
      <p:sp>
        <p:nvSpPr>
          <p:cNvPr id="24579" name="标题 9">
            <a:extLst>
              <a:ext uri="{FF2B5EF4-FFF2-40B4-BE49-F238E27FC236}">
                <a16:creationId xmlns:a16="http://schemas.microsoft.com/office/drawing/2014/main" id="{A1D1197F-D95C-487F-9DFA-EB702C6E2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>
                <a:latin typeface="+mn-ea"/>
              </a:rPr>
              <a:t>显示过滤器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FBC6390-EEAC-458A-981B-7233CC9803C7}"/>
              </a:ext>
            </a:extLst>
          </p:cNvPr>
          <p:cNvSpPr/>
          <p:nvPr/>
        </p:nvSpPr>
        <p:spPr>
          <a:xfrm>
            <a:off x="923926" y="1393825"/>
            <a:ext cx="8099425" cy="49053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en-US" sz="2585" dirty="0">
                <a:latin typeface="+mn-ea"/>
              </a:rPr>
              <a:t>Logical e­xpressions</a:t>
            </a:r>
            <a:r>
              <a:rPr lang="zh-CN" altLang="en-US" sz="2585" dirty="0">
                <a:latin typeface="+mn-ea"/>
              </a:rPr>
              <a:t>（逻辑运算符）</a:t>
            </a:r>
          </a:p>
        </p:txBody>
      </p:sp>
      <p:pic>
        <p:nvPicPr>
          <p:cNvPr id="10245" name="图片 12" descr="http://img1.51cto.com/attachment/201112/101215970.png">
            <a:extLst>
              <a:ext uri="{FF2B5EF4-FFF2-40B4-BE49-F238E27FC236}">
                <a16:creationId xmlns:a16="http://schemas.microsoft.com/office/drawing/2014/main" id="{D7B93290-0C66-4163-8945-C82481062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926" y="2971800"/>
            <a:ext cx="4360863" cy="2078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6" name="TextBox 12">
            <a:extLst>
              <a:ext uri="{FF2B5EF4-FFF2-40B4-BE49-F238E27FC236}">
                <a16:creationId xmlns:a16="http://schemas.microsoft.com/office/drawing/2014/main" id="{C1DB99CD-8AF2-48F7-B864-D414ADCC66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4538" y="2265364"/>
            <a:ext cx="3033712" cy="314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800">
                <a:latin typeface="黑体" panose="02010609060101010101" pitchFamily="49" charset="-122"/>
                <a:ea typeface="黑体" panose="02010609060101010101" pitchFamily="49" charset="-122"/>
              </a:rPr>
              <a:t>例如：</a:t>
            </a:r>
            <a:endParaRPr lang="en-US" altLang="zh-CN" sz="18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黑体" panose="02010609060101010101" pitchFamily="49" charset="-122"/>
                <a:ea typeface="黑体" panose="02010609060101010101" pitchFamily="49" charset="-122"/>
              </a:rPr>
              <a:t>tcp.port== 9990  or tcp.port== 9991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800">
                <a:latin typeface="黑体" panose="02010609060101010101" pitchFamily="49" charset="-122"/>
                <a:ea typeface="黑体" panose="02010609060101010101" pitchFamily="49" charset="-122"/>
              </a:rPr>
              <a:t>过滤显示</a:t>
            </a:r>
            <a:r>
              <a:rPr lang="en-US" altLang="zh-CN" sz="1800">
                <a:latin typeface="黑体" panose="02010609060101010101" pitchFamily="49" charset="-122"/>
                <a:ea typeface="黑体" panose="02010609060101010101" pitchFamily="49" charset="-122"/>
              </a:rPr>
              <a:t>TCP</a:t>
            </a:r>
            <a:r>
              <a:rPr lang="zh-CN" altLang="en-US" sz="1800">
                <a:latin typeface="黑体" panose="02010609060101010101" pitchFamily="49" charset="-122"/>
                <a:ea typeface="黑体" panose="02010609060101010101" pitchFamily="49" charset="-122"/>
              </a:rPr>
              <a:t>端口是</a:t>
            </a:r>
            <a:r>
              <a:rPr lang="en-US" altLang="zh-CN" sz="1800">
                <a:latin typeface="黑体" panose="02010609060101010101" pitchFamily="49" charset="-122"/>
                <a:ea typeface="黑体" panose="02010609060101010101" pitchFamily="49" charset="-122"/>
              </a:rPr>
              <a:t>9990</a:t>
            </a:r>
            <a:r>
              <a:rPr lang="zh-CN" altLang="en-US" sz="1800">
                <a:latin typeface="黑体" panose="02010609060101010101" pitchFamily="49" charset="-122"/>
                <a:ea typeface="黑体" panose="02010609060101010101" pitchFamily="49" charset="-122"/>
              </a:rPr>
              <a:t>或者</a:t>
            </a:r>
            <a:r>
              <a:rPr lang="en-US" altLang="zh-CN" sz="1800">
                <a:latin typeface="黑体" panose="02010609060101010101" pitchFamily="49" charset="-122"/>
                <a:ea typeface="黑体" panose="02010609060101010101" pitchFamily="49" charset="-122"/>
              </a:rPr>
              <a:t>9991</a:t>
            </a:r>
            <a:r>
              <a:rPr lang="zh-CN" altLang="en-US" sz="1800">
                <a:latin typeface="黑体" panose="02010609060101010101" pitchFamily="49" charset="-122"/>
                <a:ea typeface="黑体" panose="02010609060101010101" pitchFamily="49" charset="-122"/>
              </a:rPr>
              <a:t>的包。</a:t>
            </a:r>
            <a:endParaRPr lang="en-US" altLang="zh-CN" sz="18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黑体" panose="02010609060101010101" pitchFamily="49" charset="-122"/>
                <a:ea typeface="黑体" panose="02010609060101010101" pitchFamily="49" charset="-122"/>
              </a:rPr>
              <a:t>!(ip.src == 180.149.135.236)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800">
                <a:latin typeface="黑体" panose="02010609060101010101" pitchFamily="49" charset="-122"/>
                <a:ea typeface="黑体" panose="02010609060101010101" pitchFamily="49" charset="-122"/>
              </a:rPr>
              <a:t>过滤显示源</a:t>
            </a:r>
            <a:r>
              <a:rPr lang="en-US" altLang="zh-CN" sz="1800">
                <a:latin typeface="黑体" panose="02010609060101010101" pitchFamily="49" charset="-122"/>
                <a:ea typeface="黑体" panose="02010609060101010101" pitchFamily="49" charset="-122"/>
              </a:rPr>
              <a:t>IP</a:t>
            </a:r>
            <a:r>
              <a:rPr lang="zh-CN" altLang="en-US" sz="1800">
                <a:latin typeface="黑体" panose="02010609060101010101" pitchFamily="49" charset="-122"/>
                <a:ea typeface="黑体" panose="02010609060101010101" pitchFamily="49" charset="-122"/>
              </a:rPr>
              <a:t>地址不是</a:t>
            </a:r>
            <a:r>
              <a:rPr lang="en-US" altLang="zh-CN" sz="1800">
                <a:latin typeface="黑体" panose="02010609060101010101" pitchFamily="49" charset="-122"/>
                <a:ea typeface="黑体" panose="02010609060101010101" pitchFamily="49" charset="-122"/>
              </a:rPr>
              <a:t>180.149.135.236</a:t>
            </a:r>
            <a:r>
              <a:rPr lang="zh-CN" altLang="en-US" sz="1800">
                <a:latin typeface="黑体" panose="02010609060101010101" pitchFamily="49" charset="-122"/>
                <a:ea typeface="黑体" panose="02010609060101010101" pitchFamily="49" charset="-122"/>
              </a:rPr>
              <a:t>的数据包。</a:t>
            </a:r>
            <a:endParaRPr lang="en-US" altLang="zh-CN" sz="18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黑体" panose="02010609060101010101" pitchFamily="49" charset="-122"/>
                <a:ea typeface="黑体" panose="02010609060101010101" pitchFamily="49" charset="-122"/>
              </a:rPr>
              <a:t>……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标题 1">
            <a:extLst>
              <a:ext uri="{FF2B5EF4-FFF2-40B4-BE49-F238E27FC236}">
                <a16:creationId xmlns:a16="http://schemas.microsoft.com/office/drawing/2014/main" id="{56FA1FD7-6655-4614-AB8F-7B462A2DA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实验</a:t>
            </a:r>
            <a:r>
              <a:rPr lang="en-US" altLang="zh-CN"/>
              <a:t>2</a:t>
            </a:r>
            <a:r>
              <a:rPr lang="zh-CN" altLang="en-US"/>
              <a:t>：捕获并分析网络分组</a:t>
            </a:r>
          </a:p>
        </p:txBody>
      </p:sp>
      <p:sp>
        <p:nvSpPr>
          <p:cNvPr id="11267" name="内容占位符 2">
            <a:extLst>
              <a:ext uri="{FF2B5EF4-FFF2-40B4-BE49-F238E27FC236}">
                <a16:creationId xmlns:a16="http://schemas.microsoft.com/office/drawing/2014/main" id="{6D57AFC1-E13A-4D13-815C-8DAA2A8B25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学习</a:t>
            </a:r>
            <a:r>
              <a:rPr lang="en-US" altLang="zh-CN" dirty="0"/>
              <a:t>Wireshark</a:t>
            </a:r>
            <a:r>
              <a:rPr lang="zh-CN" altLang="en-US" dirty="0"/>
              <a:t>的过滤器使用</a:t>
            </a:r>
            <a:endParaRPr lang="en-US" altLang="zh-CN" dirty="0"/>
          </a:p>
          <a:p>
            <a:r>
              <a:rPr lang="zh-CN" altLang="en-US" dirty="0"/>
              <a:t>捕获与分析</a:t>
            </a:r>
            <a:r>
              <a:rPr lang="en-US" altLang="zh-CN" dirty="0"/>
              <a:t>ARP</a:t>
            </a:r>
            <a:r>
              <a:rPr lang="zh-CN" altLang="en-US" dirty="0"/>
              <a:t>报文</a:t>
            </a:r>
            <a:endParaRPr lang="en-US" altLang="zh-CN" dirty="0"/>
          </a:p>
          <a:p>
            <a:r>
              <a:rPr lang="zh-CN" altLang="en-US" dirty="0"/>
              <a:t>捕获与分析</a:t>
            </a:r>
            <a:r>
              <a:rPr lang="en-US" altLang="zh-CN" dirty="0"/>
              <a:t>ICMP</a:t>
            </a:r>
            <a:r>
              <a:rPr lang="zh-CN" altLang="en-US" dirty="0"/>
              <a:t>报文</a:t>
            </a:r>
            <a:endParaRPr lang="en-US" altLang="zh-CN" dirty="0"/>
          </a:p>
          <a:p>
            <a:r>
              <a:rPr lang="zh-CN" altLang="en-US" dirty="0"/>
              <a:t>捕获与分析</a:t>
            </a:r>
            <a:r>
              <a:rPr lang="en-US" altLang="zh-CN" dirty="0"/>
              <a:t>IP</a:t>
            </a:r>
            <a:r>
              <a:rPr lang="zh-CN" altLang="en-US" dirty="0"/>
              <a:t>报文</a:t>
            </a:r>
            <a:endParaRPr lang="en-US" altLang="zh-C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esentation">
  <a:themeElements>
    <a:clrScheme name="演示稿（水平） 9">
      <a:dk1>
        <a:srgbClr val="000000"/>
      </a:dk1>
      <a:lt1>
        <a:srgbClr val="FFFFFF"/>
      </a:lt1>
      <a:dk2>
        <a:srgbClr val="666699"/>
      </a:dk2>
      <a:lt2>
        <a:srgbClr val="FFCC00"/>
      </a:lt2>
      <a:accent1>
        <a:srgbClr val="FF9900"/>
      </a:accent1>
      <a:accent2>
        <a:srgbClr val="FF9900"/>
      </a:accent2>
      <a:accent3>
        <a:srgbClr val="FFFFFF"/>
      </a:accent3>
      <a:accent4>
        <a:srgbClr val="000000"/>
      </a:accent4>
      <a:accent5>
        <a:srgbClr val="FFCAAA"/>
      </a:accent5>
      <a:accent6>
        <a:srgbClr val="E78A00"/>
      </a:accent6>
      <a:hlink>
        <a:srgbClr val="666699"/>
      </a:hlink>
      <a:folHlink>
        <a:srgbClr val="999966"/>
      </a:folHlink>
    </a:clrScheme>
    <a:fontScheme name="演示稿（水平）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演示稿（水平）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9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99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8A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</Template>
  <TotalTime>1704</TotalTime>
  <Words>324</Words>
  <Application>Microsoft Office PowerPoint</Application>
  <PresentationFormat>A4 纸张(210x297 毫米)</PresentationFormat>
  <Paragraphs>59</Paragraphs>
  <Slides>11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8" baseType="lpstr">
      <vt:lpstr>黑体</vt:lpstr>
      <vt:lpstr>宋体</vt:lpstr>
      <vt:lpstr>Arial</vt:lpstr>
      <vt:lpstr>Calibri</vt:lpstr>
      <vt:lpstr>Times New Roman</vt:lpstr>
      <vt:lpstr>Wingdings</vt:lpstr>
      <vt:lpstr>Presentation</vt:lpstr>
      <vt:lpstr>Wireshark使用2-过滤器</vt:lpstr>
      <vt:lpstr>课程概况</vt:lpstr>
      <vt:lpstr>Wireshark过滤器概述</vt:lpstr>
      <vt:lpstr>捕捉过滤器</vt:lpstr>
      <vt:lpstr>捕捉过滤器</vt:lpstr>
      <vt:lpstr>捕捉过滤器</vt:lpstr>
      <vt:lpstr>显示过滤器</vt:lpstr>
      <vt:lpstr>显示过滤器</vt:lpstr>
      <vt:lpstr>显示过滤器</vt:lpstr>
      <vt:lpstr>显示过滤器</vt:lpstr>
      <vt:lpstr>实验2：捕获并分析网络分组</vt:lpstr>
    </vt:vector>
  </TitlesOfParts>
  <Company>920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920</dc:creator>
  <cp:lastModifiedBy>admin</cp:lastModifiedBy>
  <cp:revision>57</cp:revision>
  <dcterms:created xsi:type="dcterms:W3CDTF">2016-10-01T05:27:09Z</dcterms:created>
  <dcterms:modified xsi:type="dcterms:W3CDTF">2022-03-20T15:55:22Z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TC060874522052</vt:lpwstr>
  </property>
</Properties>
</file>