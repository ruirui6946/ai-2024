
<file path=[Content_Types].xml><?xml version="1.0" encoding="utf-8"?>
<Types xmlns="http://schemas.openxmlformats.org/package/2006/content-types">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7" r:id="rId1"/>
  </p:sldMasterIdLst>
  <p:notesMasterIdLst>
    <p:notesMasterId r:id="rId95"/>
  </p:notesMasterIdLst>
  <p:handoutMasterIdLst>
    <p:handoutMasterId r:id="rId96"/>
  </p:handoutMasterIdLst>
  <p:sldIdLst>
    <p:sldId id="256" r:id="rId2"/>
    <p:sldId id="708" r:id="rId3"/>
    <p:sldId id="687" r:id="rId4"/>
    <p:sldId id="688" r:id="rId5"/>
    <p:sldId id="689" r:id="rId6"/>
    <p:sldId id="690" r:id="rId7"/>
    <p:sldId id="691" r:id="rId8"/>
    <p:sldId id="692" r:id="rId9"/>
    <p:sldId id="693" r:id="rId10"/>
    <p:sldId id="694" r:id="rId11"/>
    <p:sldId id="695" r:id="rId12"/>
    <p:sldId id="696" r:id="rId13"/>
    <p:sldId id="697" r:id="rId14"/>
    <p:sldId id="698" r:id="rId15"/>
    <p:sldId id="699" r:id="rId16"/>
    <p:sldId id="700" r:id="rId17"/>
    <p:sldId id="701" r:id="rId18"/>
    <p:sldId id="702" r:id="rId19"/>
    <p:sldId id="703" r:id="rId20"/>
    <p:sldId id="704" r:id="rId21"/>
    <p:sldId id="705" r:id="rId22"/>
    <p:sldId id="706" r:id="rId23"/>
    <p:sldId id="707" r:id="rId24"/>
    <p:sldId id="684" r:id="rId25"/>
    <p:sldId id="583" r:id="rId26"/>
    <p:sldId id="584" r:id="rId27"/>
    <p:sldId id="585" r:id="rId28"/>
    <p:sldId id="586" r:id="rId29"/>
    <p:sldId id="587" r:id="rId30"/>
    <p:sldId id="588" r:id="rId31"/>
    <p:sldId id="589" r:id="rId32"/>
    <p:sldId id="590" r:id="rId33"/>
    <p:sldId id="591" r:id="rId34"/>
    <p:sldId id="592" r:id="rId35"/>
    <p:sldId id="593" r:id="rId36"/>
    <p:sldId id="594" r:id="rId37"/>
    <p:sldId id="595" r:id="rId38"/>
    <p:sldId id="596" r:id="rId39"/>
    <p:sldId id="597" r:id="rId40"/>
    <p:sldId id="598" r:id="rId41"/>
    <p:sldId id="599" r:id="rId42"/>
    <p:sldId id="600" r:id="rId43"/>
    <p:sldId id="601" r:id="rId44"/>
    <p:sldId id="602" r:id="rId45"/>
    <p:sldId id="603" r:id="rId46"/>
    <p:sldId id="604" r:id="rId47"/>
    <p:sldId id="685" r:id="rId48"/>
    <p:sldId id="606" r:id="rId49"/>
    <p:sldId id="607" r:id="rId50"/>
    <p:sldId id="608" r:id="rId51"/>
    <p:sldId id="609" r:id="rId52"/>
    <p:sldId id="610" r:id="rId53"/>
    <p:sldId id="686" r:id="rId54"/>
    <p:sldId id="615" r:id="rId55"/>
    <p:sldId id="616" r:id="rId56"/>
    <p:sldId id="617" r:id="rId57"/>
    <p:sldId id="618" r:id="rId58"/>
    <p:sldId id="619" r:id="rId59"/>
    <p:sldId id="620" r:id="rId60"/>
    <p:sldId id="621" r:id="rId61"/>
    <p:sldId id="622" r:id="rId62"/>
    <p:sldId id="623" r:id="rId63"/>
    <p:sldId id="624" r:id="rId64"/>
    <p:sldId id="625" r:id="rId65"/>
    <p:sldId id="626" r:id="rId66"/>
    <p:sldId id="627" r:id="rId67"/>
    <p:sldId id="628" r:id="rId68"/>
    <p:sldId id="629" r:id="rId69"/>
    <p:sldId id="630" r:id="rId70"/>
    <p:sldId id="631" r:id="rId71"/>
    <p:sldId id="632" r:id="rId72"/>
    <p:sldId id="633" r:id="rId73"/>
    <p:sldId id="634" r:id="rId74"/>
    <p:sldId id="635" r:id="rId75"/>
    <p:sldId id="636" r:id="rId76"/>
    <p:sldId id="637" r:id="rId77"/>
    <p:sldId id="638" r:id="rId78"/>
    <p:sldId id="639" r:id="rId79"/>
    <p:sldId id="640" r:id="rId80"/>
    <p:sldId id="641" r:id="rId81"/>
    <p:sldId id="642" r:id="rId82"/>
    <p:sldId id="643" r:id="rId83"/>
    <p:sldId id="644" r:id="rId84"/>
    <p:sldId id="645" r:id="rId85"/>
    <p:sldId id="646" r:id="rId86"/>
    <p:sldId id="647" r:id="rId87"/>
    <p:sldId id="648" r:id="rId88"/>
    <p:sldId id="649" r:id="rId89"/>
    <p:sldId id="650" r:id="rId90"/>
    <p:sldId id="651" r:id="rId91"/>
    <p:sldId id="652" r:id="rId92"/>
    <p:sldId id="653" r:id="rId93"/>
    <p:sldId id="654" r:id="rId94"/>
  </p:sldIdLst>
  <p:sldSz cx="9906000" cy="6858000" type="A4"/>
  <p:notesSz cx="7010400" cy="9296400"/>
  <p:defaultTextStyle>
    <a:defPPr>
      <a:defRPr lang="en-US"/>
    </a:defPPr>
    <a:lvl1pPr algn="l" rtl="0" eaLnBrk="0" fontAlgn="base" hangingPunct="0">
      <a:spcBef>
        <a:spcPct val="0"/>
      </a:spcBef>
      <a:spcAft>
        <a:spcPct val="0"/>
      </a:spcAft>
      <a:defRPr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Arial" charset="0"/>
        <a:ea typeface="+mn-ea"/>
        <a:cs typeface="+mn-cs"/>
      </a:defRPr>
    </a:lvl2pPr>
    <a:lvl3pPr marL="914400" algn="l" rtl="0" eaLnBrk="0" fontAlgn="base" hangingPunct="0">
      <a:spcBef>
        <a:spcPct val="0"/>
      </a:spcBef>
      <a:spcAft>
        <a:spcPct val="0"/>
      </a:spcAft>
      <a:defRPr kern="1200">
        <a:solidFill>
          <a:schemeClr val="tx1"/>
        </a:solidFill>
        <a:latin typeface="Arial" charset="0"/>
        <a:ea typeface="+mn-ea"/>
        <a:cs typeface="+mn-cs"/>
      </a:defRPr>
    </a:lvl3pPr>
    <a:lvl4pPr marL="1371600" algn="l" rtl="0" eaLnBrk="0" fontAlgn="base" hangingPunct="0">
      <a:spcBef>
        <a:spcPct val="0"/>
      </a:spcBef>
      <a:spcAft>
        <a:spcPct val="0"/>
      </a:spcAft>
      <a:defRPr kern="1200">
        <a:solidFill>
          <a:schemeClr val="tx1"/>
        </a:solidFill>
        <a:latin typeface="Arial" charset="0"/>
        <a:ea typeface="+mn-ea"/>
        <a:cs typeface="+mn-cs"/>
      </a:defRPr>
    </a:lvl4pPr>
    <a:lvl5pPr marL="1828800" algn="l" rtl="0" eaLnBrk="0" fontAlgn="base" hangingPunct="0">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120">
          <p15:clr>
            <a:srgbClr val="A4A3A4"/>
          </p15:clr>
        </p15:guide>
      </p15:sldGuideLst>
    </p:ext>
    <p:ext uri="{2D200454-40CA-4A62-9FC3-DE9A4176ACB9}">
      <p15:notesGuideLst xmlns:p15="http://schemas.microsoft.com/office/powerpoint/2012/main">
        <p15:guide id="1" orient="horz" pos="2928">
          <p15:clr>
            <a:srgbClr val="A4A3A4"/>
          </p15:clr>
        </p15:guide>
        <p15:guide id="2" pos="220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66"/>
    <a:srgbClr val="0000FF"/>
    <a:srgbClr val="000099"/>
    <a:srgbClr val="CCECFF"/>
    <a:srgbClr val="66FFFF"/>
    <a:srgbClr val="0000CC"/>
    <a:srgbClr val="FF66FF"/>
    <a:srgbClr val="FF99FF"/>
    <a:srgbClr val="00FFFF"/>
    <a:srgbClr val="66FF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44" autoAdjust="0"/>
    <p:restoredTop sz="94690" autoAdjust="0"/>
  </p:normalViewPr>
  <p:slideViewPr>
    <p:cSldViewPr>
      <p:cViewPr varScale="1">
        <p:scale>
          <a:sx n="102" d="100"/>
          <a:sy n="102" d="100"/>
        </p:scale>
        <p:origin x="1596" y="108"/>
      </p:cViewPr>
      <p:guideLst>
        <p:guide orient="horz" pos="2160"/>
        <p:guide pos="3120"/>
      </p:guideLst>
    </p:cSldViewPr>
  </p:slideViewPr>
  <p:outlineViewPr>
    <p:cViewPr>
      <p:scale>
        <a:sx n="33" d="100"/>
        <a:sy n="33" d="100"/>
      </p:scale>
      <p:origin x="0" y="0"/>
    </p:cViewPr>
    <p:sldLst>
      <p:sld r:id="rId1" collapse="1"/>
      <p:sld r:id="rId2" collapse="1"/>
      <p:sld r:id="rId3" collapse="1"/>
      <p:sld r:id="rId4" collapse="1"/>
      <p:sld r:id="rId5" collapse="1"/>
    </p:sldLst>
  </p:outlineViewPr>
  <p:notesTextViewPr>
    <p:cViewPr>
      <p:scale>
        <a:sx n="100" d="100"/>
        <a:sy n="100" d="100"/>
      </p:scale>
      <p:origin x="0" y="0"/>
    </p:cViewPr>
  </p:notesTextViewPr>
  <p:notesViewPr>
    <p:cSldViewPr>
      <p:cViewPr>
        <p:scale>
          <a:sx n="56" d="100"/>
          <a:sy n="56" d="100"/>
        </p:scale>
        <p:origin x="-1830" y="-96"/>
      </p:cViewPr>
      <p:guideLst>
        <p:guide orient="horz" pos="2928"/>
        <p:guide pos="2208"/>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notesMaster" Target="notesMasters/notesMaster1.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viewProps" Target="viewProps.xml"/></Relationships>
</file>

<file path=ppt/_rels/viewProps.xml.rels><?xml version="1.0" encoding="UTF-8" standalone="yes"?>
<Relationships xmlns="http://schemas.openxmlformats.org/package/2006/relationships"><Relationship Id="rId3" Type="http://schemas.openxmlformats.org/officeDocument/2006/relationships/slide" Target="slides/slide66.xml"/><Relationship Id="rId2" Type="http://schemas.openxmlformats.org/officeDocument/2006/relationships/slide" Target="slides/slide65.xml"/><Relationship Id="rId1" Type="http://schemas.openxmlformats.org/officeDocument/2006/relationships/slide" Target="slides/slide64.xml"/><Relationship Id="rId5" Type="http://schemas.openxmlformats.org/officeDocument/2006/relationships/slide" Target="slides/slide68.xml"/><Relationship Id="rId4" Type="http://schemas.openxmlformats.org/officeDocument/2006/relationships/slide" Target="slides/slide6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602" name="Rectangle 2"/>
          <p:cNvSpPr>
            <a:spLocks noGrp="1" noChangeArrowheads="1"/>
          </p:cNvSpPr>
          <p:nvPr>
            <p:ph type="hdr" sz="quarter"/>
          </p:nvPr>
        </p:nvSpPr>
        <p:spPr bwMode="auto">
          <a:xfrm>
            <a:off x="0" y="0"/>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200">
                <a:latin typeface="宋体" pitchFamily="2" charset="-122"/>
              </a:defRPr>
            </a:lvl1pPr>
          </a:lstStyle>
          <a:p>
            <a:endParaRPr lang="zh-CN" altLang="en-US"/>
          </a:p>
        </p:txBody>
      </p:sp>
      <p:sp>
        <p:nvSpPr>
          <p:cNvPr id="25603" name="Rectangle 3"/>
          <p:cNvSpPr>
            <a:spLocks noGrp="1" noChangeArrowheads="1"/>
          </p:cNvSpPr>
          <p:nvPr>
            <p:ph type="dt" sz="quarter" idx="1"/>
          </p:nvPr>
        </p:nvSpPr>
        <p:spPr bwMode="auto">
          <a:xfrm>
            <a:off x="3970338" y="0"/>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200">
                <a:latin typeface="宋体" pitchFamily="2" charset="-122"/>
              </a:defRPr>
            </a:lvl1pPr>
          </a:lstStyle>
          <a:p>
            <a:endParaRPr lang="en-US" altLang="zh-CN"/>
          </a:p>
        </p:txBody>
      </p:sp>
      <p:sp>
        <p:nvSpPr>
          <p:cNvPr id="25604" name="Rectangle 4"/>
          <p:cNvSpPr>
            <a:spLocks noGrp="1" noChangeArrowheads="1"/>
          </p:cNvSpPr>
          <p:nvPr>
            <p:ph type="ftr" sz="quarter" idx="2"/>
          </p:nvPr>
        </p:nvSpPr>
        <p:spPr bwMode="auto">
          <a:xfrm>
            <a:off x="0" y="8829675"/>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1200">
                <a:latin typeface="宋体" pitchFamily="2" charset="-122"/>
              </a:defRPr>
            </a:lvl1pPr>
          </a:lstStyle>
          <a:p>
            <a:endParaRPr lang="en-US" altLang="zh-CN"/>
          </a:p>
        </p:txBody>
      </p:sp>
      <p:sp>
        <p:nvSpPr>
          <p:cNvPr id="25605" name="Rectangle 5"/>
          <p:cNvSpPr>
            <a:spLocks noGrp="1" noChangeArrowheads="1"/>
          </p:cNvSpPr>
          <p:nvPr>
            <p:ph type="sldNum" sz="quarter" idx="3"/>
          </p:nvPr>
        </p:nvSpPr>
        <p:spPr bwMode="auto">
          <a:xfrm>
            <a:off x="3970338" y="8829675"/>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200">
                <a:latin typeface="宋体" pitchFamily="2" charset="-122"/>
              </a:defRPr>
            </a:lvl1pPr>
          </a:lstStyle>
          <a:p>
            <a:fld id="{E4C64EE1-592A-45A9-9E8D-8A110C604C90}" type="slidenum">
              <a:rPr lang="zh-CN" altLang="en-US"/>
              <a:pPr/>
              <a:t>‹#›</a:t>
            </a:fld>
            <a:endParaRPr lang="en-US" altLang="zh-CN"/>
          </a:p>
        </p:txBody>
      </p:sp>
    </p:spTree>
    <p:extLst>
      <p:ext uri="{BB962C8B-B14F-4D97-AF65-F5344CB8AC3E}">
        <p14:creationId xmlns:p14="http://schemas.microsoft.com/office/powerpoint/2010/main" val="343127766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554" name="Rectangle 2"/>
          <p:cNvSpPr>
            <a:spLocks noGrp="1" noChangeArrowheads="1"/>
          </p:cNvSpPr>
          <p:nvPr>
            <p:ph type="hdr" sz="quarter"/>
          </p:nvPr>
        </p:nvSpPr>
        <p:spPr bwMode="auto">
          <a:xfrm>
            <a:off x="0" y="0"/>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200">
                <a:latin typeface="宋体" pitchFamily="2" charset="-122"/>
              </a:defRPr>
            </a:lvl1pPr>
          </a:lstStyle>
          <a:p>
            <a:endParaRPr lang="zh-CN" altLang="en-US"/>
          </a:p>
        </p:txBody>
      </p:sp>
      <p:sp>
        <p:nvSpPr>
          <p:cNvPr id="23555" name="Rectangle 3"/>
          <p:cNvSpPr>
            <a:spLocks noGrp="1" noChangeArrowheads="1"/>
          </p:cNvSpPr>
          <p:nvPr>
            <p:ph type="dt" idx="1"/>
          </p:nvPr>
        </p:nvSpPr>
        <p:spPr bwMode="auto">
          <a:xfrm>
            <a:off x="3970338" y="0"/>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200">
                <a:latin typeface="宋体" pitchFamily="2" charset="-122"/>
              </a:defRPr>
            </a:lvl1pPr>
          </a:lstStyle>
          <a:p>
            <a:endParaRPr lang="en-US" altLang="zh-CN"/>
          </a:p>
        </p:txBody>
      </p:sp>
      <p:sp>
        <p:nvSpPr>
          <p:cNvPr id="23556" name="Rectangle 4"/>
          <p:cNvSpPr>
            <a:spLocks noGrp="1" noRot="1" noChangeAspect="1" noChangeArrowheads="1" noTextEdit="1"/>
          </p:cNvSpPr>
          <p:nvPr>
            <p:ph type="sldImg" idx="2"/>
          </p:nvPr>
        </p:nvSpPr>
        <p:spPr bwMode="auto">
          <a:xfrm>
            <a:off x="987425" y="696913"/>
            <a:ext cx="5035550" cy="3486150"/>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23557" name="Rectangle 5"/>
          <p:cNvSpPr>
            <a:spLocks noGrp="1" noChangeArrowheads="1"/>
          </p:cNvSpPr>
          <p:nvPr>
            <p:ph type="body" sz="quarter" idx="3"/>
          </p:nvPr>
        </p:nvSpPr>
        <p:spPr bwMode="auto">
          <a:xfrm>
            <a:off x="701675" y="4416425"/>
            <a:ext cx="5607050" cy="4183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endParaRPr lang="en-US" altLang="zh-CN"/>
          </a:p>
          <a:p>
            <a:pPr lvl="1"/>
            <a:r>
              <a:rPr lang="en-US" altLang="zh-CN"/>
              <a:t>5656</a:t>
            </a:r>
          </a:p>
          <a:p>
            <a:pPr lvl="2"/>
            <a:r>
              <a:rPr lang="zh-CN" altLang="en-US"/>
              <a:t>第三级</a:t>
            </a:r>
            <a:endParaRPr lang="en-US" altLang="zh-CN"/>
          </a:p>
          <a:p>
            <a:pPr lvl="3"/>
            <a:r>
              <a:rPr lang="zh-CN" altLang="en-US"/>
              <a:t>第四级</a:t>
            </a:r>
            <a:endParaRPr lang="en-US" altLang="zh-CN"/>
          </a:p>
          <a:p>
            <a:pPr lvl="4"/>
            <a:r>
              <a:rPr lang="zh-CN" altLang="en-US"/>
              <a:t>第五级</a:t>
            </a:r>
            <a:endParaRPr lang="en-US" altLang="zh-CN"/>
          </a:p>
        </p:txBody>
      </p:sp>
      <p:sp>
        <p:nvSpPr>
          <p:cNvPr id="23558" name="Rectangle 6"/>
          <p:cNvSpPr>
            <a:spLocks noGrp="1" noChangeArrowheads="1"/>
          </p:cNvSpPr>
          <p:nvPr>
            <p:ph type="ftr" sz="quarter" idx="4"/>
          </p:nvPr>
        </p:nvSpPr>
        <p:spPr bwMode="auto">
          <a:xfrm>
            <a:off x="0" y="8829675"/>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1200">
                <a:latin typeface="宋体" pitchFamily="2" charset="-122"/>
              </a:defRPr>
            </a:lvl1pPr>
          </a:lstStyle>
          <a:p>
            <a:endParaRPr lang="en-US" altLang="zh-CN"/>
          </a:p>
        </p:txBody>
      </p:sp>
      <p:sp>
        <p:nvSpPr>
          <p:cNvPr id="23559" name="Rectangle 7"/>
          <p:cNvSpPr>
            <a:spLocks noGrp="1" noChangeArrowheads="1"/>
          </p:cNvSpPr>
          <p:nvPr>
            <p:ph type="sldNum" sz="quarter" idx="5"/>
          </p:nvPr>
        </p:nvSpPr>
        <p:spPr bwMode="auto">
          <a:xfrm>
            <a:off x="3970338" y="8829675"/>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200">
                <a:latin typeface="宋体" pitchFamily="2" charset="-122"/>
              </a:defRPr>
            </a:lvl1pPr>
          </a:lstStyle>
          <a:p>
            <a:fld id="{8DA2099C-E03D-4BEA-80BD-EC59252D8E32}" type="slidenum">
              <a:rPr lang="zh-CN" altLang="en-US"/>
              <a:pPr/>
              <a:t>‹#›</a:t>
            </a:fld>
            <a:endParaRPr lang="en-US" altLang="zh-CN"/>
          </a:p>
        </p:txBody>
      </p:sp>
    </p:spTree>
    <p:extLst>
      <p:ext uri="{BB962C8B-B14F-4D97-AF65-F5344CB8AC3E}">
        <p14:creationId xmlns:p14="http://schemas.microsoft.com/office/powerpoint/2010/main" val="215928488"/>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宋体" pitchFamily="2" charset="-122"/>
        <a:ea typeface="宋体" pitchFamily="2" charset="-122"/>
        <a:cs typeface="+mn-cs"/>
      </a:defRPr>
    </a:lvl1pPr>
    <a:lvl2pPr marL="457200" algn="l" rtl="0" fontAlgn="base">
      <a:spcBef>
        <a:spcPct val="30000"/>
      </a:spcBef>
      <a:spcAft>
        <a:spcPct val="0"/>
      </a:spcAft>
      <a:defRPr sz="1200" kern="1200">
        <a:solidFill>
          <a:schemeClr val="tx1"/>
        </a:solidFill>
        <a:latin typeface="宋体" pitchFamily="2" charset="-122"/>
        <a:ea typeface="宋体" pitchFamily="2" charset="-122"/>
        <a:cs typeface="+mn-cs"/>
      </a:defRPr>
    </a:lvl2pPr>
    <a:lvl3pPr marL="914400" algn="l" rtl="0" fontAlgn="base">
      <a:spcBef>
        <a:spcPct val="30000"/>
      </a:spcBef>
      <a:spcAft>
        <a:spcPct val="0"/>
      </a:spcAft>
      <a:defRPr sz="1200" kern="1200">
        <a:solidFill>
          <a:schemeClr val="tx1"/>
        </a:solidFill>
        <a:latin typeface="宋体" pitchFamily="2" charset="-122"/>
        <a:ea typeface="宋体" pitchFamily="2" charset="-122"/>
        <a:cs typeface="+mn-cs"/>
      </a:defRPr>
    </a:lvl3pPr>
    <a:lvl4pPr marL="1371600" algn="l" rtl="0" fontAlgn="base">
      <a:spcBef>
        <a:spcPct val="30000"/>
      </a:spcBef>
      <a:spcAft>
        <a:spcPct val="0"/>
      </a:spcAft>
      <a:defRPr sz="1200" kern="1200">
        <a:solidFill>
          <a:schemeClr val="tx1"/>
        </a:solidFill>
        <a:latin typeface="宋体" pitchFamily="2" charset="-122"/>
        <a:ea typeface="宋体" pitchFamily="2" charset="-122"/>
        <a:cs typeface="+mn-cs"/>
      </a:defRPr>
    </a:lvl4pPr>
    <a:lvl5pPr marL="1828800" algn="l" rtl="0" fontAlgn="base">
      <a:spcBef>
        <a:spcPct val="30000"/>
      </a:spcBef>
      <a:spcAft>
        <a:spcPct val="0"/>
      </a:spcAft>
      <a:defRPr sz="1200" kern="1200">
        <a:solidFill>
          <a:schemeClr val="tx1"/>
        </a:solidFill>
        <a:latin typeface="宋体" pitchFamily="2" charset="-122"/>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396C443-04BC-4639-B5F7-E14A7E3E0041}" type="slidenum">
              <a:rPr lang="zh-CN" altLang="en-US"/>
              <a:pPr/>
              <a:t>1</a:t>
            </a:fld>
            <a:endParaRPr lang="en-US" altLang="zh-CN"/>
          </a:p>
        </p:txBody>
      </p:sp>
      <p:sp>
        <p:nvSpPr>
          <p:cNvPr id="24578" name="Rectangle 2"/>
          <p:cNvSpPr>
            <a:spLocks noGrp="1" noRot="1" noChangeAspect="1" noChangeArrowheads="1" noTextEdit="1"/>
          </p:cNvSpPr>
          <p:nvPr>
            <p:ph type="sldImg"/>
          </p:nvPr>
        </p:nvSpPr>
        <p:spPr>
          <a:ln/>
        </p:spPr>
      </p:sp>
      <p:sp>
        <p:nvSpPr>
          <p:cNvPr id="24579" name="Rectangle 3"/>
          <p:cNvSpPr>
            <a:spLocks noGrp="1" noChangeArrowheads="1"/>
          </p:cNvSpPr>
          <p:nvPr>
            <p:ph type="body" idx="1"/>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F7086A1-AA6B-4540-9AEA-06C3FCB8888D}" type="slidenum">
              <a:rPr lang="en-US" altLang="zh-CN"/>
              <a:pPr/>
              <a:t>4</a:t>
            </a:fld>
            <a:endParaRPr lang="en-US" altLang="zh-CN"/>
          </a:p>
        </p:txBody>
      </p:sp>
      <p:sp>
        <p:nvSpPr>
          <p:cNvPr id="935938" name="Rectangle 2"/>
          <p:cNvSpPr>
            <a:spLocks noGrp="1" noRot="1" noChangeAspect="1" noChangeArrowheads="1" noTextEdit="1"/>
          </p:cNvSpPr>
          <p:nvPr>
            <p:ph type="sldImg"/>
          </p:nvPr>
        </p:nvSpPr>
        <p:spPr>
          <a:ln/>
        </p:spPr>
      </p:sp>
      <p:sp>
        <p:nvSpPr>
          <p:cNvPr id="935939"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11357092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F7086A1-AA6B-4540-9AEA-06C3FCB8888D}" type="slidenum">
              <a:rPr lang="en-US" altLang="zh-CN"/>
              <a:pPr/>
              <a:t>5</a:t>
            </a:fld>
            <a:endParaRPr lang="en-US" altLang="zh-CN"/>
          </a:p>
        </p:txBody>
      </p:sp>
      <p:sp>
        <p:nvSpPr>
          <p:cNvPr id="935938" name="Rectangle 2"/>
          <p:cNvSpPr>
            <a:spLocks noGrp="1" noRot="1" noChangeAspect="1" noChangeArrowheads="1" noTextEdit="1"/>
          </p:cNvSpPr>
          <p:nvPr>
            <p:ph type="sldImg"/>
          </p:nvPr>
        </p:nvSpPr>
        <p:spPr>
          <a:ln/>
        </p:spPr>
      </p:sp>
      <p:sp>
        <p:nvSpPr>
          <p:cNvPr id="935939"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8429093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F7086A1-AA6B-4540-9AEA-06C3FCB8888D}" type="slidenum">
              <a:rPr lang="en-US" altLang="zh-CN"/>
              <a:pPr/>
              <a:t>6</a:t>
            </a:fld>
            <a:endParaRPr lang="en-US" altLang="zh-CN"/>
          </a:p>
        </p:txBody>
      </p:sp>
      <p:sp>
        <p:nvSpPr>
          <p:cNvPr id="935938" name="Rectangle 2"/>
          <p:cNvSpPr>
            <a:spLocks noGrp="1" noRot="1" noChangeAspect="1" noChangeArrowheads="1" noTextEdit="1"/>
          </p:cNvSpPr>
          <p:nvPr>
            <p:ph type="sldImg"/>
          </p:nvPr>
        </p:nvSpPr>
        <p:spPr>
          <a:ln/>
        </p:spPr>
      </p:sp>
      <p:sp>
        <p:nvSpPr>
          <p:cNvPr id="935939"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21784266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D51AAD9-CF87-44F5-AC1A-254F14F2D36B}" type="slidenum">
              <a:rPr lang="en-US" altLang="zh-CN"/>
              <a:pPr/>
              <a:t>21</a:t>
            </a:fld>
            <a:endParaRPr lang="en-US" altLang="zh-CN"/>
          </a:p>
        </p:txBody>
      </p:sp>
      <p:sp>
        <p:nvSpPr>
          <p:cNvPr id="660482" name="Rectangle 2"/>
          <p:cNvSpPr>
            <a:spLocks noGrp="1" noRot="1" noChangeAspect="1" noChangeArrowheads="1" noTextEdit="1"/>
          </p:cNvSpPr>
          <p:nvPr>
            <p:ph type="sldImg"/>
          </p:nvPr>
        </p:nvSpPr>
        <p:spPr>
          <a:ln/>
        </p:spPr>
      </p:sp>
      <p:sp>
        <p:nvSpPr>
          <p:cNvPr id="660483"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36125643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D51AAD9-CF87-44F5-AC1A-254F14F2D36B}" type="slidenum">
              <a:rPr lang="en-US" altLang="zh-CN"/>
              <a:pPr/>
              <a:t>22</a:t>
            </a:fld>
            <a:endParaRPr lang="en-US" altLang="zh-CN"/>
          </a:p>
        </p:txBody>
      </p:sp>
      <p:sp>
        <p:nvSpPr>
          <p:cNvPr id="660482" name="Rectangle 2"/>
          <p:cNvSpPr>
            <a:spLocks noGrp="1" noRot="1" noChangeAspect="1" noChangeArrowheads="1" noTextEdit="1"/>
          </p:cNvSpPr>
          <p:nvPr>
            <p:ph type="sldImg"/>
          </p:nvPr>
        </p:nvSpPr>
        <p:spPr>
          <a:ln/>
        </p:spPr>
      </p:sp>
      <p:sp>
        <p:nvSpPr>
          <p:cNvPr id="660483"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1853014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4BF4591-0342-47E2-A74A-3F9BFE83CF55}" type="slidenum">
              <a:rPr lang="en-US" altLang="zh-CN"/>
              <a:pPr/>
              <a:t>23</a:t>
            </a:fld>
            <a:endParaRPr lang="en-US" altLang="zh-CN"/>
          </a:p>
        </p:txBody>
      </p:sp>
      <p:sp>
        <p:nvSpPr>
          <p:cNvPr id="661506" name="Rectangle 2"/>
          <p:cNvSpPr>
            <a:spLocks noGrp="1" noRot="1" noChangeAspect="1" noChangeArrowheads="1" noTextEdit="1"/>
          </p:cNvSpPr>
          <p:nvPr>
            <p:ph type="sldImg"/>
          </p:nvPr>
        </p:nvSpPr>
        <p:spPr>
          <a:ln/>
        </p:spPr>
      </p:sp>
      <p:sp>
        <p:nvSpPr>
          <p:cNvPr id="661507"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10013800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6B2B608-8DC4-4D8F-AFC8-835E2FFA36E2}" type="slidenum">
              <a:rPr lang="en-US" altLang="zh-CN"/>
              <a:pPr/>
              <a:t>26</a:t>
            </a:fld>
            <a:endParaRPr lang="en-US" altLang="zh-CN"/>
          </a:p>
        </p:txBody>
      </p:sp>
      <p:sp>
        <p:nvSpPr>
          <p:cNvPr id="724994" name="Rectangle 2"/>
          <p:cNvSpPr>
            <a:spLocks noGrp="1" noRot="1" noChangeAspect="1" noChangeArrowheads="1" noTextEdit="1"/>
          </p:cNvSpPr>
          <p:nvPr>
            <p:ph type="sldImg"/>
          </p:nvPr>
        </p:nvSpPr>
        <p:spPr>
          <a:ln/>
        </p:spPr>
      </p:sp>
      <p:sp>
        <p:nvSpPr>
          <p:cNvPr id="724995"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C17613F-0030-43CF-AFCB-F18C272F25A2}" type="slidenum">
              <a:rPr lang="en-US" altLang="zh-CN"/>
              <a:pPr/>
              <a:t>27</a:t>
            </a:fld>
            <a:endParaRPr lang="en-US" altLang="zh-CN"/>
          </a:p>
        </p:txBody>
      </p:sp>
      <p:sp>
        <p:nvSpPr>
          <p:cNvPr id="727042" name="Rectangle 2"/>
          <p:cNvSpPr>
            <a:spLocks noGrp="1" noRot="1" noChangeAspect="1" noChangeArrowheads="1" noTextEdit="1"/>
          </p:cNvSpPr>
          <p:nvPr>
            <p:ph type="sldImg"/>
          </p:nvPr>
        </p:nvSpPr>
        <p:spPr>
          <a:ln/>
        </p:spPr>
      </p:sp>
      <p:sp>
        <p:nvSpPr>
          <p:cNvPr id="727043"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5BA0A2E-F060-4685-9815-7CFB92EBA7D4}" type="slidenum">
              <a:rPr lang="en-US" altLang="zh-CN"/>
              <a:pPr/>
              <a:t>28</a:t>
            </a:fld>
            <a:endParaRPr lang="en-US" altLang="zh-CN"/>
          </a:p>
        </p:txBody>
      </p:sp>
      <p:sp>
        <p:nvSpPr>
          <p:cNvPr id="730114" name="Rectangle 2"/>
          <p:cNvSpPr>
            <a:spLocks noGrp="1" noRot="1" noChangeAspect="1" noChangeArrowheads="1" noTextEdit="1"/>
          </p:cNvSpPr>
          <p:nvPr>
            <p:ph type="sldImg"/>
          </p:nvPr>
        </p:nvSpPr>
        <p:spPr>
          <a:ln/>
        </p:spPr>
      </p:sp>
      <p:sp>
        <p:nvSpPr>
          <p:cNvPr id="730115"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80F3C08-D992-4447-A123-E9A615B15A69}" type="slidenum">
              <a:rPr lang="en-US" altLang="zh-CN"/>
              <a:pPr/>
              <a:t>29</a:t>
            </a:fld>
            <a:endParaRPr lang="en-US" altLang="zh-CN"/>
          </a:p>
        </p:txBody>
      </p:sp>
      <p:sp>
        <p:nvSpPr>
          <p:cNvPr id="731138" name="Rectangle 2"/>
          <p:cNvSpPr>
            <a:spLocks noGrp="1" noRot="1" noChangeAspect="1" noChangeArrowheads="1" noTextEdit="1"/>
          </p:cNvSpPr>
          <p:nvPr>
            <p:ph type="sldImg"/>
          </p:nvPr>
        </p:nvSpPr>
        <p:spPr>
          <a:ln/>
        </p:spPr>
      </p:sp>
      <p:sp>
        <p:nvSpPr>
          <p:cNvPr id="731139"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9678244-9B97-4C58-BE0E-0C1AC448226C}" type="slidenum">
              <a:rPr lang="en-US" altLang="zh-CN"/>
              <a:pPr/>
              <a:t>30</a:t>
            </a:fld>
            <a:endParaRPr lang="en-US" altLang="zh-CN"/>
          </a:p>
        </p:txBody>
      </p:sp>
      <p:sp>
        <p:nvSpPr>
          <p:cNvPr id="739330" name="Rectangle 2"/>
          <p:cNvSpPr>
            <a:spLocks noGrp="1" noRot="1" noChangeAspect="1" noChangeArrowheads="1" noTextEdit="1"/>
          </p:cNvSpPr>
          <p:nvPr>
            <p:ph type="sldImg"/>
          </p:nvPr>
        </p:nvSpPr>
        <p:spPr>
          <a:ln/>
        </p:spPr>
      </p:sp>
      <p:sp>
        <p:nvSpPr>
          <p:cNvPr id="739331"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75A2D08-37A5-4F86-B7B8-CB60C79707C0}" type="slidenum">
              <a:rPr lang="en-US" altLang="zh-CN"/>
              <a:pPr/>
              <a:t>31</a:t>
            </a:fld>
            <a:endParaRPr lang="en-US" altLang="zh-CN"/>
          </a:p>
        </p:txBody>
      </p:sp>
      <p:sp>
        <p:nvSpPr>
          <p:cNvPr id="740354" name="Rectangle 2"/>
          <p:cNvSpPr>
            <a:spLocks noGrp="1" noRot="1" noChangeAspect="1" noChangeArrowheads="1" noTextEdit="1"/>
          </p:cNvSpPr>
          <p:nvPr>
            <p:ph type="sldImg"/>
          </p:nvPr>
        </p:nvSpPr>
        <p:spPr>
          <a:ln/>
        </p:spPr>
      </p:sp>
      <p:sp>
        <p:nvSpPr>
          <p:cNvPr id="740355"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A66E44C-50F9-4C65-9A51-5B7F1A963390}" type="slidenum">
              <a:rPr lang="en-US" altLang="zh-CN"/>
              <a:pPr/>
              <a:t>32</a:t>
            </a:fld>
            <a:endParaRPr lang="en-US" altLang="zh-CN"/>
          </a:p>
        </p:txBody>
      </p:sp>
      <p:sp>
        <p:nvSpPr>
          <p:cNvPr id="741378" name="Rectangle 2"/>
          <p:cNvSpPr>
            <a:spLocks noGrp="1" noRot="1" noChangeAspect="1" noChangeArrowheads="1" noTextEdit="1"/>
          </p:cNvSpPr>
          <p:nvPr>
            <p:ph type="sldImg"/>
          </p:nvPr>
        </p:nvSpPr>
        <p:spPr>
          <a:ln/>
        </p:spPr>
      </p:sp>
      <p:sp>
        <p:nvSpPr>
          <p:cNvPr id="741379"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D330430-03C2-4715-97BD-9EE1F31F602A}" type="slidenum">
              <a:rPr lang="en-US" altLang="zh-CN"/>
              <a:pPr/>
              <a:t>33</a:t>
            </a:fld>
            <a:endParaRPr lang="en-US" altLang="zh-CN"/>
          </a:p>
        </p:txBody>
      </p:sp>
      <p:sp>
        <p:nvSpPr>
          <p:cNvPr id="742402" name="Rectangle 2"/>
          <p:cNvSpPr>
            <a:spLocks noGrp="1" noRot="1" noChangeAspect="1" noChangeArrowheads="1" noTextEdit="1"/>
          </p:cNvSpPr>
          <p:nvPr>
            <p:ph type="sldImg"/>
          </p:nvPr>
        </p:nvSpPr>
        <p:spPr>
          <a:ln/>
        </p:spPr>
      </p:sp>
      <p:sp>
        <p:nvSpPr>
          <p:cNvPr id="742403"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D330430-03C2-4715-97BD-9EE1F31F602A}" type="slidenum">
              <a:rPr lang="en-US" altLang="zh-CN"/>
              <a:pPr/>
              <a:t>34</a:t>
            </a:fld>
            <a:endParaRPr lang="en-US" altLang="zh-CN"/>
          </a:p>
        </p:txBody>
      </p:sp>
      <p:sp>
        <p:nvSpPr>
          <p:cNvPr id="742402" name="Rectangle 2"/>
          <p:cNvSpPr>
            <a:spLocks noGrp="1" noRot="1" noChangeAspect="1" noChangeArrowheads="1" noTextEdit="1"/>
          </p:cNvSpPr>
          <p:nvPr>
            <p:ph type="sldImg"/>
          </p:nvPr>
        </p:nvSpPr>
        <p:spPr>
          <a:ln/>
        </p:spPr>
      </p:sp>
      <p:sp>
        <p:nvSpPr>
          <p:cNvPr id="742403"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097B5B9-4C23-489C-84C7-C6D9FA14D038}" type="slidenum">
              <a:rPr lang="en-US" altLang="zh-CN"/>
              <a:pPr/>
              <a:t>35</a:t>
            </a:fld>
            <a:endParaRPr lang="en-US" altLang="zh-CN"/>
          </a:p>
        </p:txBody>
      </p:sp>
      <p:sp>
        <p:nvSpPr>
          <p:cNvPr id="756738" name="Rectangle 2"/>
          <p:cNvSpPr>
            <a:spLocks noGrp="1" noRot="1" noChangeAspect="1" noChangeArrowheads="1" noTextEdit="1"/>
          </p:cNvSpPr>
          <p:nvPr>
            <p:ph type="sldImg"/>
          </p:nvPr>
        </p:nvSpPr>
        <p:spPr>
          <a:ln/>
        </p:spPr>
      </p:sp>
      <p:sp>
        <p:nvSpPr>
          <p:cNvPr id="756739"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A4702AC-2F11-48EC-B7A9-BC1718C84B13}" type="slidenum">
              <a:rPr lang="en-US" altLang="zh-CN"/>
              <a:pPr/>
              <a:t>36</a:t>
            </a:fld>
            <a:endParaRPr lang="en-US" altLang="zh-CN"/>
          </a:p>
        </p:txBody>
      </p:sp>
      <p:sp>
        <p:nvSpPr>
          <p:cNvPr id="758786" name="Rectangle 2"/>
          <p:cNvSpPr>
            <a:spLocks noGrp="1" noRot="1" noChangeAspect="1" noChangeArrowheads="1" noTextEdit="1"/>
          </p:cNvSpPr>
          <p:nvPr>
            <p:ph type="sldImg"/>
          </p:nvPr>
        </p:nvSpPr>
        <p:spPr>
          <a:ln/>
        </p:spPr>
      </p:sp>
      <p:sp>
        <p:nvSpPr>
          <p:cNvPr id="758787"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A4702AC-2F11-48EC-B7A9-BC1718C84B13}" type="slidenum">
              <a:rPr lang="en-US" altLang="zh-CN"/>
              <a:pPr/>
              <a:t>37</a:t>
            </a:fld>
            <a:endParaRPr lang="en-US" altLang="zh-CN"/>
          </a:p>
        </p:txBody>
      </p:sp>
      <p:sp>
        <p:nvSpPr>
          <p:cNvPr id="758786" name="Rectangle 2"/>
          <p:cNvSpPr>
            <a:spLocks noGrp="1" noRot="1" noChangeAspect="1" noChangeArrowheads="1" noTextEdit="1"/>
          </p:cNvSpPr>
          <p:nvPr>
            <p:ph type="sldImg"/>
          </p:nvPr>
        </p:nvSpPr>
        <p:spPr>
          <a:ln/>
        </p:spPr>
      </p:sp>
      <p:sp>
        <p:nvSpPr>
          <p:cNvPr id="758787"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B20A2F5-0B84-49AC-937A-5FC1D5738E4D}" type="slidenum">
              <a:rPr lang="en-US" altLang="zh-CN"/>
              <a:pPr/>
              <a:t>40</a:t>
            </a:fld>
            <a:endParaRPr lang="en-US" altLang="zh-CN"/>
          </a:p>
        </p:txBody>
      </p:sp>
      <p:sp>
        <p:nvSpPr>
          <p:cNvPr id="750594" name="Rectangle 2"/>
          <p:cNvSpPr>
            <a:spLocks noGrp="1" noRot="1" noChangeAspect="1" noChangeArrowheads="1" noTextEdit="1"/>
          </p:cNvSpPr>
          <p:nvPr>
            <p:ph type="sldImg"/>
          </p:nvPr>
        </p:nvSpPr>
        <p:spPr>
          <a:ln/>
        </p:spPr>
      </p:sp>
      <p:sp>
        <p:nvSpPr>
          <p:cNvPr id="750595"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0DD26B3-8FFB-4A55-AA6A-D7C0327A4734}" type="slidenum">
              <a:rPr lang="en-US" altLang="zh-CN"/>
              <a:pPr/>
              <a:t>41</a:t>
            </a:fld>
            <a:endParaRPr lang="en-US" altLang="zh-CN"/>
          </a:p>
        </p:txBody>
      </p:sp>
      <p:sp>
        <p:nvSpPr>
          <p:cNvPr id="752642" name="Rectangle 2"/>
          <p:cNvSpPr>
            <a:spLocks noGrp="1" noRot="1" noChangeAspect="1" noChangeArrowheads="1" noTextEdit="1"/>
          </p:cNvSpPr>
          <p:nvPr>
            <p:ph type="sldImg"/>
          </p:nvPr>
        </p:nvSpPr>
        <p:spPr>
          <a:ln/>
        </p:spPr>
      </p:sp>
      <p:sp>
        <p:nvSpPr>
          <p:cNvPr id="752643"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3857BC1-71FD-490E-8237-E2CD7D7B1801}" type="slidenum">
              <a:rPr lang="en-US" altLang="zh-CN"/>
              <a:pPr/>
              <a:t>42</a:t>
            </a:fld>
            <a:endParaRPr lang="en-US" altLang="zh-CN"/>
          </a:p>
        </p:txBody>
      </p:sp>
      <p:sp>
        <p:nvSpPr>
          <p:cNvPr id="754690" name="Rectangle 2"/>
          <p:cNvSpPr>
            <a:spLocks noGrp="1" noRot="1" noChangeAspect="1" noChangeArrowheads="1" noTextEdit="1"/>
          </p:cNvSpPr>
          <p:nvPr>
            <p:ph type="sldImg"/>
          </p:nvPr>
        </p:nvSpPr>
        <p:spPr>
          <a:ln/>
        </p:spPr>
      </p:sp>
      <p:sp>
        <p:nvSpPr>
          <p:cNvPr id="754691"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C760EFC-8A83-48C1-88F1-80234B9FF293}" type="slidenum">
              <a:rPr lang="en-US" altLang="zh-CN"/>
              <a:pPr/>
              <a:t>48</a:t>
            </a:fld>
            <a:endParaRPr lang="en-US" altLang="zh-CN"/>
          </a:p>
        </p:txBody>
      </p:sp>
      <p:sp>
        <p:nvSpPr>
          <p:cNvPr id="743426" name="Rectangle 2"/>
          <p:cNvSpPr>
            <a:spLocks noGrp="1" noRot="1" noChangeAspect="1" noChangeArrowheads="1" noTextEdit="1"/>
          </p:cNvSpPr>
          <p:nvPr>
            <p:ph type="sldImg"/>
          </p:nvPr>
        </p:nvSpPr>
        <p:spPr>
          <a:ln/>
        </p:spPr>
      </p:sp>
      <p:sp>
        <p:nvSpPr>
          <p:cNvPr id="743427"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Rectangle 7"/>
          <p:cNvSpPr>
            <a:spLocks noGrp="1" noChangeArrowheads="1"/>
          </p:cNvSpPr>
          <p:nvPr>
            <p:ph type="sldNum" sz="quarter" idx="5"/>
          </p:nvPr>
        </p:nvSpPr>
        <p:spPr>
          <a:noFill/>
        </p:spPr>
        <p:txBody>
          <a:bodyPr/>
          <a:lstStyle>
            <a:lvl1pPr eaLnBrk="0" hangingPunct="0">
              <a:defRPr kumimoji="1" sz="2400" b="1">
                <a:solidFill>
                  <a:schemeClr val="tx1"/>
                </a:solidFill>
                <a:latin typeface="Tahoma" pitchFamily="34" charset="0"/>
                <a:ea typeface="宋体" pitchFamily="2" charset="-122"/>
              </a:defRPr>
            </a:lvl1pPr>
            <a:lvl2pPr marL="757066" indent="-291179" eaLnBrk="0" hangingPunct="0">
              <a:defRPr kumimoji="1" sz="2400" b="1">
                <a:solidFill>
                  <a:schemeClr val="tx1"/>
                </a:solidFill>
                <a:latin typeface="Tahoma" pitchFamily="34" charset="0"/>
                <a:ea typeface="宋体" pitchFamily="2" charset="-122"/>
              </a:defRPr>
            </a:lvl2pPr>
            <a:lvl3pPr marL="1164717" indent="-232943" eaLnBrk="0" hangingPunct="0">
              <a:defRPr kumimoji="1" sz="2400" b="1">
                <a:solidFill>
                  <a:schemeClr val="tx1"/>
                </a:solidFill>
                <a:latin typeface="Tahoma" pitchFamily="34" charset="0"/>
                <a:ea typeface="宋体" pitchFamily="2" charset="-122"/>
              </a:defRPr>
            </a:lvl3pPr>
            <a:lvl4pPr marL="1630604" indent="-232943" eaLnBrk="0" hangingPunct="0">
              <a:defRPr kumimoji="1" sz="2400" b="1">
                <a:solidFill>
                  <a:schemeClr val="tx1"/>
                </a:solidFill>
                <a:latin typeface="Tahoma" pitchFamily="34" charset="0"/>
                <a:ea typeface="宋体" pitchFamily="2" charset="-122"/>
              </a:defRPr>
            </a:lvl4pPr>
            <a:lvl5pPr marL="2096491" indent="-232943" eaLnBrk="0" hangingPunct="0">
              <a:defRPr kumimoji="1" sz="2400" b="1">
                <a:solidFill>
                  <a:schemeClr val="tx1"/>
                </a:solidFill>
                <a:latin typeface="Tahoma" pitchFamily="34" charset="0"/>
                <a:ea typeface="宋体" pitchFamily="2" charset="-122"/>
              </a:defRPr>
            </a:lvl5pPr>
            <a:lvl6pPr marL="2562377" indent="-232943"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3028264" indent="-232943"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94151" indent="-232943"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960038" indent="-232943"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eaLnBrk="1" hangingPunct="1"/>
            <a:fld id="{7CA8BEEF-E6E7-408C-A832-EFD8D22E9E9B}" type="slidenum">
              <a:rPr kumimoji="0" lang="en-US" altLang="zh-CN" sz="1200" b="0">
                <a:latin typeface="Arial" pitchFamily="34" charset="0"/>
              </a:rPr>
              <a:pPr eaLnBrk="1" hangingPunct="1"/>
              <a:t>74</a:t>
            </a:fld>
            <a:endParaRPr kumimoji="0" lang="en-US" altLang="zh-CN" sz="1200" b="0">
              <a:latin typeface="Arial" pitchFamily="34" charset="0"/>
            </a:endParaRPr>
          </a:p>
        </p:txBody>
      </p:sp>
      <p:sp>
        <p:nvSpPr>
          <p:cNvPr id="195587" name="Rectangle 2"/>
          <p:cNvSpPr>
            <a:spLocks noGrp="1" noRot="1" noChangeAspect="1" noChangeArrowheads="1" noTextEdit="1"/>
          </p:cNvSpPr>
          <p:nvPr>
            <p:ph type="sldImg"/>
          </p:nvPr>
        </p:nvSpPr>
        <p:spPr>
          <a:ln/>
        </p:spPr>
      </p:sp>
      <p:sp>
        <p:nvSpPr>
          <p:cNvPr id="195588"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Rectangle 7"/>
          <p:cNvSpPr>
            <a:spLocks noGrp="1" noChangeArrowheads="1"/>
          </p:cNvSpPr>
          <p:nvPr>
            <p:ph type="sldNum" sz="quarter" idx="5"/>
          </p:nvPr>
        </p:nvSpPr>
        <p:spPr>
          <a:noFill/>
        </p:spPr>
        <p:txBody>
          <a:bodyPr/>
          <a:lstStyle>
            <a:lvl1pPr eaLnBrk="0" hangingPunct="0">
              <a:defRPr kumimoji="1" sz="2400" b="1">
                <a:solidFill>
                  <a:schemeClr val="tx1"/>
                </a:solidFill>
                <a:latin typeface="Tahoma" pitchFamily="34" charset="0"/>
                <a:ea typeface="宋体" pitchFamily="2" charset="-122"/>
              </a:defRPr>
            </a:lvl1pPr>
            <a:lvl2pPr marL="757066" indent="-291179" eaLnBrk="0" hangingPunct="0">
              <a:defRPr kumimoji="1" sz="2400" b="1">
                <a:solidFill>
                  <a:schemeClr val="tx1"/>
                </a:solidFill>
                <a:latin typeface="Tahoma" pitchFamily="34" charset="0"/>
                <a:ea typeface="宋体" pitchFamily="2" charset="-122"/>
              </a:defRPr>
            </a:lvl2pPr>
            <a:lvl3pPr marL="1164717" indent="-232943" eaLnBrk="0" hangingPunct="0">
              <a:defRPr kumimoji="1" sz="2400" b="1">
                <a:solidFill>
                  <a:schemeClr val="tx1"/>
                </a:solidFill>
                <a:latin typeface="Tahoma" pitchFamily="34" charset="0"/>
                <a:ea typeface="宋体" pitchFamily="2" charset="-122"/>
              </a:defRPr>
            </a:lvl3pPr>
            <a:lvl4pPr marL="1630604" indent="-232943" eaLnBrk="0" hangingPunct="0">
              <a:defRPr kumimoji="1" sz="2400" b="1">
                <a:solidFill>
                  <a:schemeClr val="tx1"/>
                </a:solidFill>
                <a:latin typeface="Tahoma" pitchFamily="34" charset="0"/>
                <a:ea typeface="宋体" pitchFamily="2" charset="-122"/>
              </a:defRPr>
            </a:lvl4pPr>
            <a:lvl5pPr marL="2096491" indent="-232943" eaLnBrk="0" hangingPunct="0">
              <a:defRPr kumimoji="1" sz="2400" b="1">
                <a:solidFill>
                  <a:schemeClr val="tx1"/>
                </a:solidFill>
                <a:latin typeface="Tahoma" pitchFamily="34" charset="0"/>
                <a:ea typeface="宋体" pitchFamily="2" charset="-122"/>
              </a:defRPr>
            </a:lvl5pPr>
            <a:lvl6pPr marL="2562377" indent="-232943"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3028264" indent="-232943"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94151" indent="-232943"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960038" indent="-232943"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eaLnBrk="1" hangingPunct="1"/>
            <a:fld id="{7CA8BEEF-E6E7-408C-A832-EFD8D22E9E9B}" type="slidenum">
              <a:rPr kumimoji="0" lang="en-US" altLang="zh-CN" sz="1200" b="0">
                <a:latin typeface="Arial" pitchFamily="34" charset="0"/>
              </a:rPr>
              <a:pPr eaLnBrk="1" hangingPunct="1"/>
              <a:t>75</a:t>
            </a:fld>
            <a:endParaRPr kumimoji="0" lang="en-US" altLang="zh-CN" sz="1200" b="0">
              <a:latin typeface="Arial" pitchFamily="34" charset="0"/>
            </a:endParaRPr>
          </a:p>
        </p:txBody>
      </p:sp>
      <p:sp>
        <p:nvSpPr>
          <p:cNvPr id="195587" name="Rectangle 2"/>
          <p:cNvSpPr>
            <a:spLocks noGrp="1" noRot="1" noChangeAspect="1" noChangeArrowheads="1" noTextEdit="1"/>
          </p:cNvSpPr>
          <p:nvPr>
            <p:ph type="sldImg"/>
          </p:nvPr>
        </p:nvSpPr>
        <p:spPr>
          <a:ln/>
        </p:spPr>
      </p:sp>
      <p:sp>
        <p:nvSpPr>
          <p:cNvPr id="195588"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Rectangle 7"/>
          <p:cNvSpPr>
            <a:spLocks noGrp="1" noChangeArrowheads="1"/>
          </p:cNvSpPr>
          <p:nvPr>
            <p:ph type="sldNum" sz="quarter" idx="5"/>
          </p:nvPr>
        </p:nvSpPr>
        <p:spPr>
          <a:noFill/>
        </p:spPr>
        <p:txBody>
          <a:bodyPr/>
          <a:lstStyle>
            <a:lvl1pPr eaLnBrk="0" hangingPunct="0">
              <a:defRPr kumimoji="1" sz="2400" b="1">
                <a:solidFill>
                  <a:schemeClr val="tx1"/>
                </a:solidFill>
                <a:latin typeface="Tahoma" pitchFamily="34" charset="0"/>
                <a:ea typeface="宋体" pitchFamily="2" charset="-122"/>
              </a:defRPr>
            </a:lvl1pPr>
            <a:lvl2pPr marL="757066" indent="-291179" eaLnBrk="0" hangingPunct="0">
              <a:defRPr kumimoji="1" sz="2400" b="1">
                <a:solidFill>
                  <a:schemeClr val="tx1"/>
                </a:solidFill>
                <a:latin typeface="Tahoma" pitchFamily="34" charset="0"/>
                <a:ea typeface="宋体" pitchFamily="2" charset="-122"/>
              </a:defRPr>
            </a:lvl2pPr>
            <a:lvl3pPr marL="1164717" indent="-232943" eaLnBrk="0" hangingPunct="0">
              <a:defRPr kumimoji="1" sz="2400" b="1">
                <a:solidFill>
                  <a:schemeClr val="tx1"/>
                </a:solidFill>
                <a:latin typeface="Tahoma" pitchFamily="34" charset="0"/>
                <a:ea typeface="宋体" pitchFamily="2" charset="-122"/>
              </a:defRPr>
            </a:lvl3pPr>
            <a:lvl4pPr marL="1630604" indent="-232943" eaLnBrk="0" hangingPunct="0">
              <a:defRPr kumimoji="1" sz="2400" b="1">
                <a:solidFill>
                  <a:schemeClr val="tx1"/>
                </a:solidFill>
                <a:latin typeface="Tahoma" pitchFamily="34" charset="0"/>
                <a:ea typeface="宋体" pitchFamily="2" charset="-122"/>
              </a:defRPr>
            </a:lvl4pPr>
            <a:lvl5pPr marL="2096491" indent="-232943" eaLnBrk="0" hangingPunct="0">
              <a:defRPr kumimoji="1" sz="2400" b="1">
                <a:solidFill>
                  <a:schemeClr val="tx1"/>
                </a:solidFill>
                <a:latin typeface="Tahoma" pitchFamily="34" charset="0"/>
                <a:ea typeface="宋体" pitchFamily="2" charset="-122"/>
              </a:defRPr>
            </a:lvl5pPr>
            <a:lvl6pPr marL="2562377" indent="-232943"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3028264" indent="-232943"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94151" indent="-232943"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960038" indent="-232943"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eaLnBrk="1" hangingPunct="1"/>
            <a:fld id="{7CA8BEEF-E6E7-408C-A832-EFD8D22E9E9B}" type="slidenum">
              <a:rPr kumimoji="0" lang="en-US" altLang="zh-CN" sz="1200" b="0">
                <a:latin typeface="Arial" pitchFamily="34" charset="0"/>
              </a:rPr>
              <a:pPr eaLnBrk="1" hangingPunct="1"/>
              <a:t>76</a:t>
            </a:fld>
            <a:endParaRPr kumimoji="0" lang="en-US" altLang="zh-CN" sz="1200" b="0">
              <a:latin typeface="Arial" pitchFamily="34" charset="0"/>
            </a:endParaRPr>
          </a:p>
        </p:txBody>
      </p:sp>
      <p:sp>
        <p:nvSpPr>
          <p:cNvPr id="195587" name="Rectangle 2"/>
          <p:cNvSpPr>
            <a:spLocks noGrp="1" noRot="1" noChangeAspect="1" noChangeArrowheads="1" noTextEdit="1"/>
          </p:cNvSpPr>
          <p:nvPr>
            <p:ph type="sldImg"/>
          </p:nvPr>
        </p:nvSpPr>
        <p:spPr>
          <a:ln/>
        </p:spPr>
      </p:sp>
      <p:sp>
        <p:nvSpPr>
          <p:cNvPr id="195588"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Rectangle 7"/>
          <p:cNvSpPr>
            <a:spLocks noGrp="1" noChangeArrowheads="1"/>
          </p:cNvSpPr>
          <p:nvPr>
            <p:ph type="sldNum" sz="quarter" idx="5"/>
          </p:nvPr>
        </p:nvSpPr>
        <p:spPr>
          <a:noFill/>
        </p:spPr>
        <p:txBody>
          <a:bodyPr/>
          <a:lstStyle>
            <a:lvl1pPr eaLnBrk="0" hangingPunct="0">
              <a:defRPr kumimoji="1" sz="2400" b="1">
                <a:solidFill>
                  <a:schemeClr val="tx1"/>
                </a:solidFill>
                <a:latin typeface="Tahoma" pitchFamily="34" charset="0"/>
                <a:ea typeface="宋体" pitchFamily="2" charset="-122"/>
              </a:defRPr>
            </a:lvl1pPr>
            <a:lvl2pPr marL="757066" indent="-291179" eaLnBrk="0" hangingPunct="0">
              <a:defRPr kumimoji="1" sz="2400" b="1">
                <a:solidFill>
                  <a:schemeClr val="tx1"/>
                </a:solidFill>
                <a:latin typeface="Tahoma" pitchFamily="34" charset="0"/>
                <a:ea typeface="宋体" pitchFamily="2" charset="-122"/>
              </a:defRPr>
            </a:lvl2pPr>
            <a:lvl3pPr marL="1164717" indent="-232943" eaLnBrk="0" hangingPunct="0">
              <a:defRPr kumimoji="1" sz="2400" b="1">
                <a:solidFill>
                  <a:schemeClr val="tx1"/>
                </a:solidFill>
                <a:latin typeface="Tahoma" pitchFamily="34" charset="0"/>
                <a:ea typeface="宋体" pitchFamily="2" charset="-122"/>
              </a:defRPr>
            </a:lvl3pPr>
            <a:lvl4pPr marL="1630604" indent="-232943" eaLnBrk="0" hangingPunct="0">
              <a:defRPr kumimoji="1" sz="2400" b="1">
                <a:solidFill>
                  <a:schemeClr val="tx1"/>
                </a:solidFill>
                <a:latin typeface="Tahoma" pitchFamily="34" charset="0"/>
                <a:ea typeface="宋体" pitchFamily="2" charset="-122"/>
              </a:defRPr>
            </a:lvl4pPr>
            <a:lvl5pPr marL="2096491" indent="-232943" eaLnBrk="0" hangingPunct="0">
              <a:defRPr kumimoji="1" sz="2400" b="1">
                <a:solidFill>
                  <a:schemeClr val="tx1"/>
                </a:solidFill>
                <a:latin typeface="Tahoma" pitchFamily="34" charset="0"/>
                <a:ea typeface="宋体" pitchFamily="2" charset="-122"/>
              </a:defRPr>
            </a:lvl5pPr>
            <a:lvl6pPr marL="2562377" indent="-232943"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3028264" indent="-232943"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94151" indent="-232943"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960038" indent="-232943"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eaLnBrk="1" hangingPunct="1"/>
            <a:fld id="{7CA8BEEF-E6E7-408C-A832-EFD8D22E9E9B}" type="slidenum">
              <a:rPr kumimoji="0" lang="en-US" altLang="zh-CN" sz="1200" b="0">
                <a:latin typeface="Arial" pitchFamily="34" charset="0"/>
              </a:rPr>
              <a:pPr eaLnBrk="1" hangingPunct="1"/>
              <a:t>77</a:t>
            </a:fld>
            <a:endParaRPr kumimoji="0" lang="en-US" altLang="zh-CN" sz="1200" b="0">
              <a:latin typeface="Arial" pitchFamily="34" charset="0"/>
            </a:endParaRPr>
          </a:p>
        </p:txBody>
      </p:sp>
      <p:sp>
        <p:nvSpPr>
          <p:cNvPr id="195587" name="Rectangle 2"/>
          <p:cNvSpPr>
            <a:spLocks noGrp="1" noRot="1" noChangeAspect="1" noChangeArrowheads="1" noTextEdit="1"/>
          </p:cNvSpPr>
          <p:nvPr>
            <p:ph type="sldImg"/>
          </p:nvPr>
        </p:nvSpPr>
        <p:spPr>
          <a:ln/>
        </p:spPr>
      </p:sp>
      <p:sp>
        <p:nvSpPr>
          <p:cNvPr id="195588"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Rectangle 7"/>
          <p:cNvSpPr>
            <a:spLocks noGrp="1" noChangeArrowheads="1"/>
          </p:cNvSpPr>
          <p:nvPr>
            <p:ph type="sldNum" sz="quarter" idx="5"/>
          </p:nvPr>
        </p:nvSpPr>
        <p:spPr>
          <a:noFill/>
        </p:spPr>
        <p:txBody>
          <a:bodyPr/>
          <a:lstStyle>
            <a:lvl1pPr eaLnBrk="0" hangingPunct="0">
              <a:defRPr kumimoji="1" sz="2400" b="1">
                <a:solidFill>
                  <a:schemeClr val="tx1"/>
                </a:solidFill>
                <a:latin typeface="Tahoma" pitchFamily="34" charset="0"/>
                <a:ea typeface="宋体" pitchFamily="2" charset="-122"/>
              </a:defRPr>
            </a:lvl1pPr>
            <a:lvl2pPr marL="757066" indent="-291179" eaLnBrk="0" hangingPunct="0">
              <a:defRPr kumimoji="1" sz="2400" b="1">
                <a:solidFill>
                  <a:schemeClr val="tx1"/>
                </a:solidFill>
                <a:latin typeface="Tahoma" pitchFamily="34" charset="0"/>
                <a:ea typeface="宋体" pitchFamily="2" charset="-122"/>
              </a:defRPr>
            </a:lvl2pPr>
            <a:lvl3pPr marL="1164717" indent="-232943" eaLnBrk="0" hangingPunct="0">
              <a:defRPr kumimoji="1" sz="2400" b="1">
                <a:solidFill>
                  <a:schemeClr val="tx1"/>
                </a:solidFill>
                <a:latin typeface="Tahoma" pitchFamily="34" charset="0"/>
                <a:ea typeface="宋体" pitchFamily="2" charset="-122"/>
              </a:defRPr>
            </a:lvl3pPr>
            <a:lvl4pPr marL="1630604" indent="-232943" eaLnBrk="0" hangingPunct="0">
              <a:defRPr kumimoji="1" sz="2400" b="1">
                <a:solidFill>
                  <a:schemeClr val="tx1"/>
                </a:solidFill>
                <a:latin typeface="Tahoma" pitchFamily="34" charset="0"/>
                <a:ea typeface="宋体" pitchFamily="2" charset="-122"/>
              </a:defRPr>
            </a:lvl4pPr>
            <a:lvl5pPr marL="2096491" indent="-232943" eaLnBrk="0" hangingPunct="0">
              <a:defRPr kumimoji="1" sz="2400" b="1">
                <a:solidFill>
                  <a:schemeClr val="tx1"/>
                </a:solidFill>
                <a:latin typeface="Tahoma" pitchFamily="34" charset="0"/>
                <a:ea typeface="宋体" pitchFamily="2" charset="-122"/>
              </a:defRPr>
            </a:lvl5pPr>
            <a:lvl6pPr marL="2562377" indent="-232943"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3028264" indent="-232943"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94151" indent="-232943"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960038" indent="-232943"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eaLnBrk="1" hangingPunct="1"/>
            <a:fld id="{7CA8BEEF-E6E7-408C-A832-EFD8D22E9E9B}" type="slidenum">
              <a:rPr kumimoji="0" lang="en-US" altLang="zh-CN" sz="1200" b="0">
                <a:latin typeface="Arial" pitchFamily="34" charset="0"/>
              </a:rPr>
              <a:pPr eaLnBrk="1" hangingPunct="1"/>
              <a:t>78</a:t>
            </a:fld>
            <a:endParaRPr kumimoji="0" lang="en-US" altLang="zh-CN" sz="1200" b="0">
              <a:latin typeface="Arial" pitchFamily="34" charset="0"/>
            </a:endParaRPr>
          </a:p>
        </p:txBody>
      </p:sp>
      <p:sp>
        <p:nvSpPr>
          <p:cNvPr id="195587" name="Rectangle 2"/>
          <p:cNvSpPr>
            <a:spLocks noGrp="1" noRot="1" noChangeAspect="1" noChangeArrowheads="1" noTextEdit="1"/>
          </p:cNvSpPr>
          <p:nvPr>
            <p:ph type="sldImg"/>
          </p:nvPr>
        </p:nvSpPr>
        <p:spPr>
          <a:ln/>
        </p:spPr>
      </p:sp>
      <p:sp>
        <p:nvSpPr>
          <p:cNvPr id="195588"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Rectangle 7"/>
          <p:cNvSpPr>
            <a:spLocks noGrp="1" noChangeArrowheads="1"/>
          </p:cNvSpPr>
          <p:nvPr>
            <p:ph type="sldNum" sz="quarter" idx="5"/>
          </p:nvPr>
        </p:nvSpPr>
        <p:spPr>
          <a:noFill/>
        </p:spPr>
        <p:txBody>
          <a:bodyPr/>
          <a:lstStyle>
            <a:lvl1pPr eaLnBrk="0" hangingPunct="0">
              <a:defRPr kumimoji="1" sz="2400" b="1">
                <a:solidFill>
                  <a:schemeClr val="tx1"/>
                </a:solidFill>
                <a:latin typeface="Tahoma" pitchFamily="34" charset="0"/>
                <a:ea typeface="宋体" pitchFamily="2" charset="-122"/>
              </a:defRPr>
            </a:lvl1pPr>
            <a:lvl2pPr marL="757066" indent="-291179" eaLnBrk="0" hangingPunct="0">
              <a:defRPr kumimoji="1" sz="2400" b="1">
                <a:solidFill>
                  <a:schemeClr val="tx1"/>
                </a:solidFill>
                <a:latin typeface="Tahoma" pitchFamily="34" charset="0"/>
                <a:ea typeface="宋体" pitchFamily="2" charset="-122"/>
              </a:defRPr>
            </a:lvl2pPr>
            <a:lvl3pPr marL="1164717" indent="-232943" eaLnBrk="0" hangingPunct="0">
              <a:defRPr kumimoji="1" sz="2400" b="1">
                <a:solidFill>
                  <a:schemeClr val="tx1"/>
                </a:solidFill>
                <a:latin typeface="Tahoma" pitchFamily="34" charset="0"/>
                <a:ea typeface="宋体" pitchFamily="2" charset="-122"/>
              </a:defRPr>
            </a:lvl3pPr>
            <a:lvl4pPr marL="1630604" indent="-232943" eaLnBrk="0" hangingPunct="0">
              <a:defRPr kumimoji="1" sz="2400" b="1">
                <a:solidFill>
                  <a:schemeClr val="tx1"/>
                </a:solidFill>
                <a:latin typeface="Tahoma" pitchFamily="34" charset="0"/>
                <a:ea typeface="宋体" pitchFamily="2" charset="-122"/>
              </a:defRPr>
            </a:lvl4pPr>
            <a:lvl5pPr marL="2096491" indent="-232943" eaLnBrk="0" hangingPunct="0">
              <a:defRPr kumimoji="1" sz="2400" b="1">
                <a:solidFill>
                  <a:schemeClr val="tx1"/>
                </a:solidFill>
                <a:latin typeface="Tahoma" pitchFamily="34" charset="0"/>
                <a:ea typeface="宋体" pitchFamily="2" charset="-122"/>
              </a:defRPr>
            </a:lvl5pPr>
            <a:lvl6pPr marL="2562377" indent="-232943"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3028264" indent="-232943"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94151" indent="-232943"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960038" indent="-232943"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eaLnBrk="1" hangingPunct="1"/>
            <a:fld id="{7CA8BEEF-E6E7-408C-A832-EFD8D22E9E9B}" type="slidenum">
              <a:rPr kumimoji="0" lang="en-US" altLang="zh-CN" sz="1200" b="0">
                <a:latin typeface="Arial" pitchFamily="34" charset="0"/>
              </a:rPr>
              <a:pPr eaLnBrk="1" hangingPunct="1"/>
              <a:t>79</a:t>
            </a:fld>
            <a:endParaRPr kumimoji="0" lang="en-US" altLang="zh-CN" sz="1200" b="0">
              <a:latin typeface="Arial" pitchFamily="34" charset="0"/>
            </a:endParaRPr>
          </a:p>
        </p:txBody>
      </p:sp>
      <p:sp>
        <p:nvSpPr>
          <p:cNvPr id="195587" name="Rectangle 2"/>
          <p:cNvSpPr>
            <a:spLocks noGrp="1" noRot="1" noChangeAspect="1" noChangeArrowheads="1" noTextEdit="1"/>
          </p:cNvSpPr>
          <p:nvPr>
            <p:ph type="sldImg"/>
          </p:nvPr>
        </p:nvSpPr>
        <p:spPr>
          <a:ln/>
        </p:spPr>
      </p:sp>
      <p:sp>
        <p:nvSpPr>
          <p:cNvPr id="195588"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Rectangle 7"/>
          <p:cNvSpPr>
            <a:spLocks noGrp="1" noChangeArrowheads="1"/>
          </p:cNvSpPr>
          <p:nvPr>
            <p:ph type="sldNum" sz="quarter" idx="5"/>
          </p:nvPr>
        </p:nvSpPr>
        <p:spPr>
          <a:noFill/>
        </p:spPr>
        <p:txBody>
          <a:bodyPr/>
          <a:lstStyle>
            <a:lvl1pPr eaLnBrk="0" hangingPunct="0">
              <a:defRPr kumimoji="1" sz="2400" b="1">
                <a:solidFill>
                  <a:schemeClr val="tx1"/>
                </a:solidFill>
                <a:latin typeface="Tahoma" pitchFamily="34" charset="0"/>
                <a:ea typeface="宋体" pitchFamily="2" charset="-122"/>
              </a:defRPr>
            </a:lvl1pPr>
            <a:lvl2pPr marL="757066" indent="-291179" eaLnBrk="0" hangingPunct="0">
              <a:defRPr kumimoji="1" sz="2400" b="1">
                <a:solidFill>
                  <a:schemeClr val="tx1"/>
                </a:solidFill>
                <a:latin typeface="Tahoma" pitchFamily="34" charset="0"/>
                <a:ea typeface="宋体" pitchFamily="2" charset="-122"/>
              </a:defRPr>
            </a:lvl2pPr>
            <a:lvl3pPr marL="1164717" indent="-232943" eaLnBrk="0" hangingPunct="0">
              <a:defRPr kumimoji="1" sz="2400" b="1">
                <a:solidFill>
                  <a:schemeClr val="tx1"/>
                </a:solidFill>
                <a:latin typeface="Tahoma" pitchFamily="34" charset="0"/>
                <a:ea typeface="宋体" pitchFamily="2" charset="-122"/>
              </a:defRPr>
            </a:lvl3pPr>
            <a:lvl4pPr marL="1630604" indent="-232943" eaLnBrk="0" hangingPunct="0">
              <a:defRPr kumimoji="1" sz="2400" b="1">
                <a:solidFill>
                  <a:schemeClr val="tx1"/>
                </a:solidFill>
                <a:latin typeface="Tahoma" pitchFamily="34" charset="0"/>
                <a:ea typeface="宋体" pitchFamily="2" charset="-122"/>
              </a:defRPr>
            </a:lvl4pPr>
            <a:lvl5pPr marL="2096491" indent="-232943" eaLnBrk="0" hangingPunct="0">
              <a:defRPr kumimoji="1" sz="2400" b="1">
                <a:solidFill>
                  <a:schemeClr val="tx1"/>
                </a:solidFill>
                <a:latin typeface="Tahoma" pitchFamily="34" charset="0"/>
                <a:ea typeface="宋体" pitchFamily="2" charset="-122"/>
              </a:defRPr>
            </a:lvl5pPr>
            <a:lvl6pPr marL="2562377" indent="-232943"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3028264" indent="-232943"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94151" indent="-232943"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960038" indent="-232943"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eaLnBrk="1" hangingPunct="1"/>
            <a:fld id="{7CA8BEEF-E6E7-408C-A832-EFD8D22E9E9B}" type="slidenum">
              <a:rPr kumimoji="0" lang="en-US" altLang="zh-CN" sz="1200" b="0">
                <a:latin typeface="Arial" pitchFamily="34" charset="0"/>
              </a:rPr>
              <a:pPr eaLnBrk="1" hangingPunct="1"/>
              <a:t>80</a:t>
            </a:fld>
            <a:endParaRPr kumimoji="0" lang="en-US" altLang="zh-CN" sz="1200" b="0">
              <a:latin typeface="Arial" pitchFamily="34" charset="0"/>
            </a:endParaRPr>
          </a:p>
        </p:txBody>
      </p:sp>
      <p:sp>
        <p:nvSpPr>
          <p:cNvPr id="195587" name="Rectangle 2"/>
          <p:cNvSpPr>
            <a:spLocks noGrp="1" noRot="1" noChangeAspect="1" noChangeArrowheads="1" noTextEdit="1"/>
          </p:cNvSpPr>
          <p:nvPr>
            <p:ph type="sldImg"/>
          </p:nvPr>
        </p:nvSpPr>
        <p:spPr>
          <a:ln/>
        </p:spPr>
      </p:sp>
      <p:sp>
        <p:nvSpPr>
          <p:cNvPr id="195588"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826" name="Rectangle 7"/>
          <p:cNvSpPr>
            <a:spLocks noGrp="1" noChangeArrowheads="1"/>
          </p:cNvSpPr>
          <p:nvPr>
            <p:ph type="sldNum" sz="quarter" idx="5"/>
          </p:nvPr>
        </p:nvSpPr>
        <p:spPr>
          <a:noFill/>
        </p:spPr>
        <p:txBody>
          <a:bodyPr/>
          <a:lstStyle>
            <a:lvl1pPr eaLnBrk="0" hangingPunct="0">
              <a:defRPr kumimoji="1" sz="2400" b="1">
                <a:solidFill>
                  <a:schemeClr val="tx1"/>
                </a:solidFill>
                <a:latin typeface="Tahoma" pitchFamily="34" charset="0"/>
                <a:ea typeface="宋体" pitchFamily="2" charset="-122"/>
              </a:defRPr>
            </a:lvl1pPr>
            <a:lvl2pPr marL="757066" indent="-291179" eaLnBrk="0" hangingPunct="0">
              <a:defRPr kumimoji="1" sz="2400" b="1">
                <a:solidFill>
                  <a:schemeClr val="tx1"/>
                </a:solidFill>
                <a:latin typeface="Tahoma" pitchFamily="34" charset="0"/>
                <a:ea typeface="宋体" pitchFamily="2" charset="-122"/>
              </a:defRPr>
            </a:lvl2pPr>
            <a:lvl3pPr marL="1164717" indent="-232943" eaLnBrk="0" hangingPunct="0">
              <a:defRPr kumimoji="1" sz="2400" b="1">
                <a:solidFill>
                  <a:schemeClr val="tx1"/>
                </a:solidFill>
                <a:latin typeface="Tahoma" pitchFamily="34" charset="0"/>
                <a:ea typeface="宋体" pitchFamily="2" charset="-122"/>
              </a:defRPr>
            </a:lvl3pPr>
            <a:lvl4pPr marL="1630604" indent="-232943" eaLnBrk="0" hangingPunct="0">
              <a:defRPr kumimoji="1" sz="2400" b="1">
                <a:solidFill>
                  <a:schemeClr val="tx1"/>
                </a:solidFill>
                <a:latin typeface="Tahoma" pitchFamily="34" charset="0"/>
                <a:ea typeface="宋体" pitchFamily="2" charset="-122"/>
              </a:defRPr>
            </a:lvl4pPr>
            <a:lvl5pPr marL="2096491" indent="-232943" eaLnBrk="0" hangingPunct="0">
              <a:defRPr kumimoji="1" sz="2400" b="1">
                <a:solidFill>
                  <a:schemeClr val="tx1"/>
                </a:solidFill>
                <a:latin typeface="Tahoma" pitchFamily="34" charset="0"/>
                <a:ea typeface="宋体" pitchFamily="2" charset="-122"/>
              </a:defRPr>
            </a:lvl5pPr>
            <a:lvl6pPr marL="2562377" indent="-232943"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3028264" indent="-232943"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94151" indent="-232943"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960038" indent="-232943"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eaLnBrk="1" hangingPunct="1"/>
            <a:fld id="{2D2219C2-CE5B-40C8-A68B-33A28636C3E7}" type="slidenum">
              <a:rPr kumimoji="0" lang="en-US" altLang="zh-CN" sz="1200" b="0">
                <a:latin typeface="Arial" pitchFamily="34" charset="0"/>
              </a:rPr>
              <a:pPr eaLnBrk="1" hangingPunct="1"/>
              <a:t>81</a:t>
            </a:fld>
            <a:endParaRPr kumimoji="0" lang="en-US" altLang="zh-CN" sz="1200" b="0">
              <a:latin typeface="Arial" pitchFamily="34" charset="0"/>
            </a:endParaRPr>
          </a:p>
        </p:txBody>
      </p:sp>
      <p:sp>
        <p:nvSpPr>
          <p:cNvPr id="205827" name="Rectangle 2"/>
          <p:cNvSpPr>
            <a:spLocks noGrp="1" noRot="1" noChangeAspect="1" noChangeArrowheads="1" noTextEdit="1"/>
          </p:cNvSpPr>
          <p:nvPr>
            <p:ph type="sldImg"/>
          </p:nvPr>
        </p:nvSpPr>
        <p:spPr>
          <a:ln/>
        </p:spPr>
      </p:sp>
      <p:sp>
        <p:nvSpPr>
          <p:cNvPr id="205828"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Rectangle 7"/>
          <p:cNvSpPr>
            <a:spLocks noGrp="1" noChangeArrowheads="1"/>
          </p:cNvSpPr>
          <p:nvPr>
            <p:ph type="sldNum" sz="quarter" idx="5"/>
          </p:nvPr>
        </p:nvSpPr>
        <p:spPr>
          <a:noFill/>
        </p:spPr>
        <p:txBody>
          <a:bodyPr/>
          <a:lstStyle>
            <a:lvl1pPr eaLnBrk="0" hangingPunct="0">
              <a:defRPr kumimoji="1" sz="2400" b="1">
                <a:solidFill>
                  <a:schemeClr val="tx1"/>
                </a:solidFill>
                <a:latin typeface="Tahoma" pitchFamily="34" charset="0"/>
                <a:ea typeface="宋体" pitchFamily="2" charset="-122"/>
              </a:defRPr>
            </a:lvl1pPr>
            <a:lvl2pPr marL="757066" indent="-291179" eaLnBrk="0" hangingPunct="0">
              <a:defRPr kumimoji="1" sz="2400" b="1">
                <a:solidFill>
                  <a:schemeClr val="tx1"/>
                </a:solidFill>
                <a:latin typeface="Tahoma" pitchFamily="34" charset="0"/>
                <a:ea typeface="宋体" pitchFamily="2" charset="-122"/>
              </a:defRPr>
            </a:lvl2pPr>
            <a:lvl3pPr marL="1164717" indent="-232943" eaLnBrk="0" hangingPunct="0">
              <a:defRPr kumimoji="1" sz="2400" b="1">
                <a:solidFill>
                  <a:schemeClr val="tx1"/>
                </a:solidFill>
                <a:latin typeface="Tahoma" pitchFamily="34" charset="0"/>
                <a:ea typeface="宋体" pitchFamily="2" charset="-122"/>
              </a:defRPr>
            </a:lvl3pPr>
            <a:lvl4pPr marL="1630604" indent="-232943" eaLnBrk="0" hangingPunct="0">
              <a:defRPr kumimoji="1" sz="2400" b="1">
                <a:solidFill>
                  <a:schemeClr val="tx1"/>
                </a:solidFill>
                <a:latin typeface="Tahoma" pitchFamily="34" charset="0"/>
                <a:ea typeface="宋体" pitchFamily="2" charset="-122"/>
              </a:defRPr>
            </a:lvl4pPr>
            <a:lvl5pPr marL="2096491" indent="-232943" eaLnBrk="0" hangingPunct="0">
              <a:defRPr kumimoji="1" sz="2400" b="1">
                <a:solidFill>
                  <a:schemeClr val="tx1"/>
                </a:solidFill>
                <a:latin typeface="Tahoma" pitchFamily="34" charset="0"/>
                <a:ea typeface="宋体" pitchFamily="2" charset="-122"/>
              </a:defRPr>
            </a:lvl5pPr>
            <a:lvl6pPr marL="2562377" indent="-232943"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3028264" indent="-232943"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94151" indent="-232943"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960038" indent="-232943"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eaLnBrk="1" hangingPunct="1"/>
            <a:fld id="{7CA8BEEF-E6E7-408C-A832-EFD8D22E9E9B}" type="slidenum">
              <a:rPr kumimoji="0" lang="en-US" altLang="zh-CN" sz="1200" b="0">
                <a:latin typeface="Arial" pitchFamily="34" charset="0"/>
              </a:rPr>
              <a:pPr eaLnBrk="1" hangingPunct="1"/>
              <a:t>82</a:t>
            </a:fld>
            <a:endParaRPr kumimoji="0" lang="en-US" altLang="zh-CN" sz="1200" b="0">
              <a:latin typeface="Arial" pitchFamily="34" charset="0"/>
            </a:endParaRPr>
          </a:p>
        </p:txBody>
      </p:sp>
      <p:sp>
        <p:nvSpPr>
          <p:cNvPr id="195587" name="Rectangle 2"/>
          <p:cNvSpPr>
            <a:spLocks noGrp="1" noRot="1" noChangeAspect="1" noChangeArrowheads="1" noTextEdit="1"/>
          </p:cNvSpPr>
          <p:nvPr>
            <p:ph type="sldImg"/>
          </p:nvPr>
        </p:nvSpPr>
        <p:spPr>
          <a:ln/>
        </p:spPr>
      </p:sp>
      <p:sp>
        <p:nvSpPr>
          <p:cNvPr id="195588"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Rectangle 7"/>
          <p:cNvSpPr>
            <a:spLocks noGrp="1" noChangeArrowheads="1"/>
          </p:cNvSpPr>
          <p:nvPr>
            <p:ph type="sldNum" sz="quarter" idx="5"/>
          </p:nvPr>
        </p:nvSpPr>
        <p:spPr>
          <a:noFill/>
        </p:spPr>
        <p:txBody>
          <a:bodyPr/>
          <a:lstStyle>
            <a:lvl1pPr eaLnBrk="0" hangingPunct="0">
              <a:defRPr kumimoji="1" sz="2400" b="1">
                <a:solidFill>
                  <a:schemeClr val="tx1"/>
                </a:solidFill>
                <a:latin typeface="Tahoma" pitchFamily="34" charset="0"/>
                <a:ea typeface="宋体" pitchFamily="2" charset="-122"/>
              </a:defRPr>
            </a:lvl1pPr>
            <a:lvl2pPr marL="757066" indent="-291179" eaLnBrk="0" hangingPunct="0">
              <a:defRPr kumimoji="1" sz="2400" b="1">
                <a:solidFill>
                  <a:schemeClr val="tx1"/>
                </a:solidFill>
                <a:latin typeface="Tahoma" pitchFamily="34" charset="0"/>
                <a:ea typeface="宋体" pitchFamily="2" charset="-122"/>
              </a:defRPr>
            </a:lvl2pPr>
            <a:lvl3pPr marL="1164717" indent="-232943" eaLnBrk="0" hangingPunct="0">
              <a:defRPr kumimoji="1" sz="2400" b="1">
                <a:solidFill>
                  <a:schemeClr val="tx1"/>
                </a:solidFill>
                <a:latin typeface="Tahoma" pitchFamily="34" charset="0"/>
                <a:ea typeface="宋体" pitchFamily="2" charset="-122"/>
              </a:defRPr>
            </a:lvl3pPr>
            <a:lvl4pPr marL="1630604" indent="-232943" eaLnBrk="0" hangingPunct="0">
              <a:defRPr kumimoji="1" sz="2400" b="1">
                <a:solidFill>
                  <a:schemeClr val="tx1"/>
                </a:solidFill>
                <a:latin typeface="Tahoma" pitchFamily="34" charset="0"/>
                <a:ea typeface="宋体" pitchFamily="2" charset="-122"/>
              </a:defRPr>
            </a:lvl4pPr>
            <a:lvl5pPr marL="2096491" indent="-232943" eaLnBrk="0" hangingPunct="0">
              <a:defRPr kumimoji="1" sz="2400" b="1">
                <a:solidFill>
                  <a:schemeClr val="tx1"/>
                </a:solidFill>
                <a:latin typeface="Tahoma" pitchFamily="34" charset="0"/>
                <a:ea typeface="宋体" pitchFamily="2" charset="-122"/>
              </a:defRPr>
            </a:lvl5pPr>
            <a:lvl6pPr marL="2562377" indent="-232943"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3028264" indent="-232943"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94151" indent="-232943"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960038" indent="-232943"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eaLnBrk="1" hangingPunct="1"/>
            <a:fld id="{7CA8BEEF-E6E7-408C-A832-EFD8D22E9E9B}" type="slidenum">
              <a:rPr kumimoji="0" lang="en-US" altLang="zh-CN" sz="1200" b="0">
                <a:latin typeface="Arial" pitchFamily="34" charset="0"/>
              </a:rPr>
              <a:pPr eaLnBrk="1" hangingPunct="1"/>
              <a:t>83</a:t>
            </a:fld>
            <a:endParaRPr kumimoji="0" lang="en-US" altLang="zh-CN" sz="1200" b="0">
              <a:latin typeface="Arial" pitchFamily="34" charset="0"/>
            </a:endParaRPr>
          </a:p>
        </p:txBody>
      </p:sp>
      <p:sp>
        <p:nvSpPr>
          <p:cNvPr id="195587" name="Rectangle 2"/>
          <p:cNvSpPr>
            <a:spLocks noGrp="1" noRot="1" noChangeAspect="1" noChangeArrowheads="1" noTextEdit="1"/>
          </p:cNvSpPr>
          <p:nvPr>
            <p:ph type="sldImg"/>
          </p:nvPr>
        </p:nvSpPr>
        <p:spPr>
          <a:ln/>
        </p:spPr>
      </p:sp>
      <p:sp>
        <p:nvSpPr>
          <p:cNvPr id="195588"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Rectangle 7"/>
          <p:cNvSpPr>
            <a:spLocks noGrp="1" noChangeArrowheads="1"/>
          </p:cNvSpPr>
          <p:nvPr>
            <p:ph type="sldNum" sz="quarter" idx="5"/>
          </p:nvPr>
        </p:nvSpPr>
        <p:spPr>
          <a:noFill/>
        </p:spPr>
        <p:txBody>
          <a:bodyPr/>
          <a:lstStyle>
            <a:lvl1pPr eaLnBrk="0" hangingPunct="0">
              <a:defRPr kumimoji="1" sz="2400" b="1">
                <a:solidFill>
                  <a:schemeClr val="tx1"/>
                </a:solidFill>
                <a:latin typeface="Tahoma" pitchFamily="34" charset="0"/>
                <a:ea typeface="宋体" pitchFamily="2" charset="-122"/>
              </a:defRPr>
            </a:lvl1pPr>
            <a:lvl2pPr marL="757066" indent="-291179" eaLnBrk="0" hangingPunct="0">
              <a:defRPr kumimoji="1" sz="2400" b="1">
                <a:solidFill>
                  <a:schemeClr val="tx1"/>
                </a:solidFill>
                <a:latin typeface="Tahoma" pitchFamily="34" charset="0"/>
                <a:ea typeface="宋体" pitchFamily="2" charset="-122"/>
              </a:defRPr>
            </a:lvl2pPr>
            <a:lvl3pPr marL="1164717" indent="-232943" eaLnBrk="0" hangingPunct="0">
              <a:defRPr kumimoji="1" sz="2400" b="1">
                <a:solidFill>
                  <a:schemeClr val="tx1"/>
                </a:solidFill>
                <a:latin typeface="Tahoma" pitchFamily="34" charset="0"/>
                <a:ea typeface="宋体" pitchFamily="2" charset="-122"/>
              </a:defRPr>
            </a:lvl3pPr>
            <a:lvl4pPr marL="1630604" indent="-232943" eaLnBrk="0" hangingPunct="0">
              <a:defRPr kumimoji="1" sz="2400" b="1">
                <a:solidFill>
                  <a:schemeClr val="tx1"/>
                </a:solidFill>
                <a:latin typeface="Tahoma" pitchFamily="34" charset="0"/>
                <a:ea typeface="宋体" pitchFamily="2" charset="-122"/>
              </a:defRPr>
            </a:lvl4pPr>
            <a:lvl5pPr marL="2096491" indent="-232943" eaLnBrk="0" hangingPunct="0">
              <a:defRPr kumimoji="1" sz="2400" b="1">
                <a:solidFill>
                  <a:schemeClr val="tx1"/>
                </a:solidFill>
                <a:latin typeface="Tahoma" pitchFamily="34" charset="0"/>
                <a:ea typeface="宋体" pitchFamily="2" charset="-122"/>
              </a:defRPr>
            </a:lvl5pPr>
            <a:lvl6pPr marL="2562377" indent="-232943"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3028264" indent="-232943"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94151" indent="-232943"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960038" indent="-232943"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eaLnBrk="1" hangingPunct="1"/>
            <a:fld id="{7CA8BEEF-E6E7-408C-A832-EFD8D22E9E9B}" type="slidenum">
              <a:rPr kumimoji="0" lang="en-US" altLang="zh-CN" sz="1200" b="0">
                <a:latin typeface="Arial" pitchFamily="34" charset="0"/>
              </a:rPr>
              <a:pPr eaLnBrk="1" hangingPunct="1"/>
              <a:t>84</a:t>
            </a:fld>
            <a:endParaRPr kumimoji="0" lang="en-US" altLang="zh-CN" sz="1200" b="0">
              <a:latin typeface="Arial" pitchFamily="34" charset="0"/>
            </a:endParaRPr>
          </a:p>
        </p:txBody>
      </p:sp>
      <p:sp>
        <p:nvSpPr>
          <p:cNvPr id="195587" name="Rectangle 2"/>
          <p:cNvSpPr>
            <a:spLocks noGrp="1" noRot="1" noChangeAspect="1" noChangeArrowheads="1" noTextEdit="1"/>
          </p:cNvSpPr>
          <p:nvPr>
            <p:ph type="sldImg"/>
          </p:nvPr>
        </p:nvSpPr>
        <p:spPr>
          <a:ln/>
        </p:spPr>
      </p:sp>
      <p:sp>
        <p:nvSpPr>
          <p:cNvPr id="195588"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Rectangle 7"/>
          <p:cNvSpPr>
            <a:spLocks noGrp="1" noChangeArrowheads="1"/>
          </p:cNvSpPr>
          <p:nvPr>
            <p:ph type="sldNum" sz="quarter" idx="5"/>
          </p:nvPr>
        </p:nvSpPr>
        <p:spPr>
          <a:noFill/>
        </p:spPr>
        <p:txBody>
          <a:bodyPr/>
          <a:lstStyle>
            <a:lvl1pPr eaLnBrk="0" hangingPunct="0">
              <a:defRPr kumimoji="1" sz="2400" b="1">
                <a:solidFill>
                  <a:schemeClr val="tx1"/>
                </a:solidFill>
                <a:latin typeface="Tahoma" pitchFamily="34" charset="0"/>
                <a:ea typeface="宋体" pitchFamily="2" charset="-122"/>
              </a:defRPr>
            </a:lvl1pPr>
            <a:lvl2pPr marL="757066" indent="-291179" eaLnBrk="0" hangingPunct="0">
              <a:defRPr kumimoji="1" sz="2400" b="1">
                <a:solidFill>
                  <a:schemeClr val="tx1"/>
                </a:solidFill>
                <a:latin typeface="Tahoma" pitchFamily="34" charset="0"/>
                <a:ea typeface="宋体" pitchFamily="2" charset="-122"/>
              </a:defRPr>
            </a:lvl2pPr>
            <a:lvl3pPr marL="1164717" indent="-232943" eaLnBrk="0" hangingPunct="0">
              <a:defRPr kumimoji="1" sz="2400" b="1">
                <a:solidFill>
                  <a:schemeClr val="tx1"/>
                </a:solidFill>
                <a:latin typeface="Tahoma" pitchFamily="34" charset="0"/>
                <a:ea typeface="宋体" pitchFamily="2" charset="-122"/>
              </a:defRPr>
            </a:lvl3pPr>
            <a:lvl4pPr marL="1630604" indent="-232943" eaLnBrk="0" hangingPunct="0">
              <a:defRPr kumimoji="1" sz="2400" b="1">
                <a:solidFill>
                  <a:schemeClr val="tx1"/>
                </a:solidFill>
                <a:latin typeface="Tahoma" pitchFamily="34" charset="0"/>
                <a:ea typeface="宋体" pitchFamily="2" charset="-122"/>
              </a:defRPr>
            </a:lvl4pPr>
            <a:lvl5pPr marL="2096491" indent="-232943" eaLnBrk="0" hangingPunct="0">
              <a:defRPr kumimoji="1" sz="2400" b="1">
                <a:solidFill>
                  <a:schemeClr val="tx1"/>
                </a:solidFill>
                <a:latin typeface="Tahoma" pitchFamily="34" charset="0"/>
                <a:ea typeface="宋体" pitchFamily="2" charset="-122"/>
              </a:defRPr>
            </a:lvl5pPr>
            <a:lvl6pPr marL="2562377" indent="-232943"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3028264" indent="-232943"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94151" indent="-232943"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960038" indent="-232943"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eaLnBrk="1" hangingPunct="1"/>
            <a:fld id="{7CA8BEEF-E6E7-408C-A832-EFD8D22E9E9B}" type="slidenum">
              <a:rPr kumimoji="0" lang="en-US" altLang="zh-CN" sz="1200" b="0">
                <a:latin typeface="Arial" pitchFamily="34" charset="0"/>
              </a:rPr>
              <a:pPr eaLnBrk="1" hangingPunct="1"/>
              <a:t>85</a:t>
            </a:fld>
            <a:endParaRPr kumimoji="0" lang="en-US" altLang="zh-CN" sz="1200" b="0">
              <a:latin typeface="Arial" pitchFamily="34" charset="0"/>
            </a:endParaRPr>
          </a:p>
        </p:txBody>
      </p:sp>
      <p:sp>
        <p:nvSpPr>
          <p:cNvPr id="195587" name="Rectangle 2"/>
          <p:cNvSpPr>
            <a:spLocks noGrp="1" noRot="1" noChangeAspect="1" noChangeArrowheads="1" noTextEdit="1"/>
          </p:cNvSpPr>
          <p:nvPr>
            <p:ph type="sldImg"/>
          </p:nvPr>
        </p:nvSpPr>
        <p:spPr>
          <a:ln/>
        </p:spPr>
      </p:sp>
      <p:sp>
        <p:nvSpPr>
          <p:cNvPr id="195588"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50" name="Rectangle 7"/>
          <p:cNvSpPr>
            <a:spLocks noGrp="1" noChangeArrowheads="1"/>
          </p:cNvSpPr>
          <p:nvPr>
            <p:ph type="sldNum" sz="quarter" idx="5"/>
          </p:nvPr>
        </p:nvSpPr>
        <p:spPr>
          <a:noFill/>
        </p:spPr>
        <p:txBody>
          <a:bodyPr/>
          <a:lstStyle>
            <a:lvl1pPr eaLnBrk="0" hangingPunct="0">
              <a:defRPr kumimoji="1" sz="2400" b="1">
                <a:solidFill>
                  <a:schemeClr val="tx1"/>
                </a:solidFill>
                <a:latin typeface="Tahoma" pitchFamily="34" charset="0"/>
                <a:ea typeface="宋体" pitchFamily="2" charset="-122"/>
              </a:defRPr>
            </a:lvl1pPr>
            <a:lvl2pPr marL="757066" indent="-291179" eaLnBrk="0" hangingPunct="0">
              <a:defRPr kumimoji="1" sz="2400" b="1">
                <a:solidFill>
                  <a:schemeClr val="tx1"/>
                </a:solidFill>
                <a:latin typeface="Tahoma" pitchFamily="34" charset="0"/>
                <a:ea typeface="宋体" pitchFamily="2" charset="-122"/>
              </a:defRPr>
            </a:lvl2pPr>
            <a:lvl3pPr marL="1164717" indent="-232943" eaLnBrk="0" hangingPunct="0">
              <a:defRPr kumimoji="1" sz="2400" b="1">
                <a:solidFill>
                  <a:schemeClr val="tx1"/>
                </a:solidFill>
                <a:latin typeface="Tahoma" pitchFamily="34" charset="0"/>
                <a:ea typeface="宋体" pitchFamily="2" charset="-122"/>
              </a:defRPr>
            </a:lvl3pPr>
            <a:lvl4pPr marL="1630604" indent="-232943" eaLnBrk="0" hangingPunct="0">
              <a:defRPr kumimoji="1" sz="2400" b="1">
                <a:solidFill>
                  <a:schemeClr val="tx1"/>
                </a:solidFill>
                <a:latin typeface="Tahoma" pitchFamily="34" charset="0"/>
                <a:ea typeface="宋体" pitchFamily="2" charset="-122"/>
              </a:defRPr>
            </a:lvl4pPr>
            <a:lvl5pPr marL="2096491" indent="-232943" eaLnBrk="0" hangingPunct="0">
              <a:defRPr kumimoji="1" sz="2400" b="1">
                <a:solidFill>
                  <a:schemeClr val="tx1"/>
                </a:solidFill>
                <a:latin typeface="Tahoma" pitchFamily="34" charset="0"/>
                <a:ea typeface="宋体" pitchFamily="2" charset="-122"/>
              </a:defRPr>
            </a:lvl5pPr>
            <a:lvl6pPr marL="2562377" indent="-232943"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3028264" indent="-232943"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94151" indent="-232943"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960038" indent="-232943"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eaLnBrk="1" hangingPunct="1"/>
            <a:fld id="{B18AC3D8-C89C-4BA5-A63C-698F3D2482F5}" type="slidenum">
              <a:rPr kumimoji="0" lang="en-US" altLang="zh-CN" sz="1200" b="0">
                <a:latin typeface="Arial" pitchFamily="34" charset="0"/>
              </a:rPr>
              <a:pPr eaLnBrk="1" hangingPunct="1"/>
              <a:t>86</a:t>
            </a:fld>
            <a:endParaRPr kumimoji="0" lang="en-US" altLang="zh-CN" sz="1200" b="0">
              <a:latin typeface="Arial" pitchFamily="34" charset="0"/>
            </a:endParaRPr>
          </a:p>
        </p:txBody>
      </p:sp>
      <p:sp>
        <p:nvSpPr>
          <p:cNvPr id="206851" name="Rectangle 2"/>
          <p:cNvSpPr>
            <a:spLocks noGrp="1" noRot="1" noChangeAspect="1" noChangeArrowheads="1" noTextEdit="1"/>
          </p:cNvSpPr>
          <p:nvPr>
            <p:ph type="sldImg"/>
          </p:nvPr>
        </p:nvSpPr>
        <p:spPr>
          <a:ln/>
        </p:spPr>
      </p:sp>
      <p:sp>
        <p:nvSpPr>
          <p:cNvPr id="206852"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50" name="Rectangle 7"/>
          <p:cNvSpPr>
            <a:spLocks noGrp="1" noChangeArrowheads="1"/>
          </p:cNvSpPr>
          <p:nvPr>
            <p:ph type="sldNum" sz="quarter" idx="5"/>
          </p:nvPr>
        </p:nvSpPr>
        <p:spPr>
          <a:noFill/>
        </p:spPr>
        <p:txBody>
          <a:bodyPr/>
          <a:lstStyle>
            <a:lvl1pPr eaLnBrk="0" hangingPunct="0">
              <a:defRPr kumimoji="1" sz="2400" b="1">
                <a:solidFill>
                  <a:schemeClr val="tx1"/>
                </a:solidFill>
                <a:latin typeface="Tahoma" pitchFamily="34" charset="0"/>
                <a:ea typeface="宋体" pitchFamily="2" charset="-122"/>
              </a:defRPr>
            </a:lvl1pPr>
            <a:lvl2pPr marL="757066" indent="-291179" eaLnBrk="0" hangingPunct="0">
              <a:defRPr kumimoji="1" sz="2400" b="1">
                <a:solidFill>
                  <a:schemeClr val="tx1"/>
                </a:solidFill>
                <a:latin typeface="Tahoma" pitchFamily="34" charset="0"/>
                <a:ea typeface="宋体" pitchFamily="2" charset="-122"/>
              </a:defRPr>
            </a:lvl2pPr>
            <a:lvl3pPr marL="1164717" indent="-232943" eaLnBrk="0" hangingPunct="0">
              <a:defRPr kumimoji="1" sz="2400" b="1">
                <a:solidFill>
                  <a:schemeClr val="tx1"/>
                </a:solidFill>
                <a:latin typeface="Tahoma" pitchFamily="34" charset="0"/>
                <a:ea typeface="宋体" pitchFamily="2" charset="-122"/>
              </a:defRPr>
            </a:lvl3pPr>
            <a:lvl4pPr marL="1630604" indent="-232943" eaLnBrk="0" hangingPunct="0">
              <a:defRPr kumimoji="1" sz="2400" b="1">
                <a:solidFill>
                  <a:schemeClr val="tx1"/>
                </a:solidFill>
                <a:latin typeface="Tahoma" pitchFamily="34" charset="0"/>
                <a:ea typeface="宋体" pitchFamily="2" charset="-122"/>
              </a:defRPr>
            </a:lvl4pPr>
            <a:lvl5pPr marL="2096491" indent="-232943" eaLnBrk="0" hangingPunct="0">
              <a:defRPr kumimoji="1" sz="2400" b="1">
                <a:solidFill>
                  <a:schemeClr val="tx1"/>
                </a:solidFill>
                <a:latin typeface="Tahoma" pitchFamily="34" charset="0"/>
                <a:ea typeface="宋体" pitchFamily="2" charset="-122"/>
              </a:defRPr>
            </a:lvl5pPr>
            <a:lvl6pPr marL="2562377" indent="-232943"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3028264" indent="-232943"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94151" indent="-232943"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960038" indent="-232943"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eaLnBrk="1" hangingPunct="1"/>
            <a:fld id="{B18AC3D8-C89C-4BA5-A63C-698F3D2482F5}" type="slidenum">
              <a:rPr kumimoji="0" lang="en-US" altLang="zh-CN" sz="1200" b="0">
                <a:latin typeface="Arial" pitchFamily="34" charset="0"/>
              </a:rPr>
              <a:pPr eaLnBrk="1" hangingPunct="1"/>
              <a:t>87</a:t>
            </a:fld>
            <a:endParaRPr kumimoji="0" lang="en-US" altLang="zh-CN" sz="1200" b="0">
              <a:latin typeface="Arial" pitchFamily="34" charset="0"/>
            </a:endParaRPr>
          </a:p>
        </p:txBody>
      </p:sp>
      <p:sp>
        <p:nvSpPr>
          <p:cNvPr id="206851" name="Rectangle 2"/>
          <p:cNvSpPr>
            <a:spLocks noGrp="1" noRot="1" noChangeAspect="1" noChangeArrowheads="1" noTextEdit="1"/>
          </p:cNvSpPr>
          <p:nvPr>
            <p:ph type="sldImg"/>
          </p:nvPr>
        </p:nvSpPr>
        <p:spPr>
          <a:ln/>
        </p:spPr>
      </p:sp>
      <p:sp>
        <p:nvSpPr>
          <p:cNvPr id="206852"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874" name="Rectangle 7"/>
          <p:cNvSpPr>
            <a:spLocks noGrp="1" noChangeArrowheads="1"/>
          </p:cNvSpPr>
          <p:nvPr>
            <p:ph type="sldNum" sz="quarter" idx="5"/>
          </p:nvPr>
        </p:nvSpPr>
        <p:spPr>
          <a:noFill/>
        </p:spPr>
        <p:txBody>
          <a:bodyPr/>
          <a:lstStyle>
            <a:lvl1pPr eaLnBrk="0" hangingPunct="0">
              <a:defRPr kumimoji="1" sz="2400" b="1">
                <a:solidFill>
                  <a:schemeClr val="tx1"/>
                </a:solidFill>
                <a:latin typeface="Tahoma" pitchFamily="34" charset="0"/>
                <a:ea typeface="宋体" pitchFamily="2" charset="-122"/>
              </a:defRPr>
            </a:lvl1pPr>
            <a:lvl2pPr marL="757066" indent="-291179" eaLnBrk="0" hangingPunct="0">
              <a:defRPr kumimoji="1" sz="2400" b="1">
                <a:solidFill>
                  <a:schemeClr val="tx1"/>
                </a:solidFill>
                <a:latin typeface="Tahoma" pitchFamily="34" charset="0"/>
                <a:ea typeface="宋体" pitchFamily="2" charset="-122"/>
              </a:defRPr>
            </a:lvl2pPr>
            <a:lvl3pPr marL="1164717" indent="-232943" eaLnBrk="0" hangingPunct="0">
              <a:defRPr kumimoji="1" sz="2400" b="1">
                <a:solidFill>
                  <a:schemeClr val="tx1"/>
                </a:solidFill>
                <a:latin typeface="Tahoma" pitchFamily="34" charset="0"/>
                <a:ea typeface="宋体" pitchFamily="2" charset="-122"/>
              </a:defRPr>
            </a:lvl3pPr>
            <a:lvl4pPr marL="1630604" indent="-232943" eaLnBrk="0" hangingPunct="0">
              <a:defRPr kumimoji="1" sz="2400" b="1">
                <a:solidFill>
                  <a:schemeClr val="tx1"/>
                </a:solidFill>
                <a:latin typeface="Tahoma" pitchFamily="34" charset="0"/>
                <a:ea typeface="宋体" pitchFamily="2" charset="-122"/>
              </a:defRPr>
            </a:lvl4pPr>
            <a:lvl5pPr marL="2096491" indent="-232943" eaLnBrk="0" hangingPunct="0">
              <a:defRPr kumimoji="1" sz="2400" b="1">
                <a:solidFill>
                  <a:schemeClr val="tx1"/>
                </a:solidFill>
                <a:latin typeface="Tahoma" pitchFamily="34" charset="0"/>
                <a:ea typeface="宋体" pitchFamily="2" charset="-122"/>
              </a:defRPr>
            </a:lvl5pPr>
            <a:lvl6pPr marL="2562377" indent="-232943"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3028264" indent="-232943"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94151" indent="-232943"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960038" indent="-232943"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eaLnBrk="1" hangingPunct="1"/>
            <a:fld id="{5C84F16B-6DFD-45D7-A72D-BB61D99F7694}" type="slidenum">
              <a:rPr kumimoji="0" lang="en-US" altLang="zh-CN" sz="1200" b="0">
                <a:latin typeface="Arial" pitchFamily="34" charset="0"/>
              </a:rPr>
              <a:pPr eaLnBrk="1" hangingPunct="1"/>
              <a:t>88</a:t>
            </a:fld>
            <a:endParaRPr kumimoji="0" lang="en-US" altLang="zh-CN" sz="1200" b="0">
              <a:latin typeface="Arial" pitchFamily="34" charset="0"/>
            </a:endParaRPr>
          </a:p>
        </p:txBody>
      </p:sp>
      <p:sp>
        <p:nvSpPr>
          <p:cNvPr id="207875" name="Rectangle 2"/>
          <p:cNvSpPr>
            <a:spLocks noGrp="1" noRot="1" noChangeAspect="1" noChangeArrowheads="1" noTextEdit="1"/>
          </p:cNvSpPr>
          <p:nvPr>
            <p:ph type="sldImg"/>
          </p:nvPr>
        </p:nvSpPr>
        <p:spPr>
          <a:ln/>
        </p:spPr>
      </p:sp>
      <p:sp>
        <p:nvSpPr>
          <p:cNvPr id="207876"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898" name="Rectangle 7"/>
          <p:cNvSpPr>
            <a:spLocks noGrp="1" noChangeArrowheads="1"/>
          </p:cNvSpPr>
          <p:nvPr>
            <p:ph type="sldNum" sz="quarter" idx="5"/>
          </p:nvPr>
        </p:nvSpPr>
        <p:spPr>
          <a:noFill/>
        </p:spPr>
        <p:txBody>
          <a:bodyPr/>
          <a:lstStyle>
            <a:lvl1pPr eaLnBrk="0" hangingPunct="0">
              <a:defRPr kumimoji="1" sz="2400" b="1">
                <a:solidFill>
                  <a:schemeClr val="tx1"/>
                </a:solidFill>
                <a:latin typeface="Tahoma" pitchFamily="34" charset="0"/>
                <a:ea typeface="宋体" pitchFamily="2" charset="-122"/>
              </a:defRPr>
            </a:lvl1pPr>
            <a:lvl2pPr marL="757066" indent="-291179" eaLnBrk="0" hangingPunct="0">
              <a:defRPr kumimoji="1" sz="2400" b="1">
                <a:solidFill>
                  <a:schemeClr val="tx1"/>
                </a:solidFill>
                <a:latin typeface="Tahoma" pitchFamily="34" charset="0"/>
                <a:ea typeface="宋体" pitchFamily="2" charset="-122"/>
              </a:defRPr>
            </a:lvl2pPr>
            <a:lvl3pPr marL="1164717" indent="-232943" eaLnBrk="0" hangingPunct="0">
              <a:defRPr kumimoji="1" sz="2400" b="1">
                <a:solidFill>
                  <a:schemeClr val="tx1"/>
                </a:solidFill>
                <a:latin typeface="Tahoma" pitchFamily="34" charset="0"/>
                <a:ea typeface="宋体" pitchFamily="2" charset="-122"/>
              </a:defRPr>
            </a:lvl3pPr>
            <a:lvl4pPr marL="1630604" indent="-232943" eaLnBrk="0" hangingPunct="0">
              <a:defRPr kumimoji="1" sz="2400" b="1">
                <a:solidFill>
                  <a:schemeClr val="tx1"/>
                </a:solidFill>
                <a:latin typeface="Tahoma" pitchFamily="34" charset="0"/>
                <a:ea typeface="宋体" pitchFamily="2" charset="-122"/>
              </a:defRPr>
            </a:lvl4pPr>
            <a:lvl5pPr marL="2096491" indent="-232943" eaLnBrk="0" hangingPunct="0">
              <a:defRPr kumimoji="1" sz="2400" b="1">
                <a:solidFill>
                  <a:schemeClr val="tx1"/>
                </a:solidFill>
                <a:latin typeface="Tahoma" pitchFamily="34" charset="0"/>
                <a:ea typeface="宋体" pitchFamily="2" charset="-122"/>
              </a:defRPr>
            </a:lvl5pPr>
            <a:lvl6pPr marL="2562377" indent="-232943"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3028264" indent="-232943"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94151" indent="-232943"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960038" indent="-232943"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eaLnBrk="1" hangingPunct="1"/>
            <a:fld id="{21E2CCC4-0234-4F36-A45A-BDC49CFC493A}" type="slidenum">
              <a:rPr kumimoji="0" lang="en-US" altLang="zh-CN" sz="1200" b="0">
                <a:latin typeface="Arial" pitchFamily="34" charset="0"/>
              </a:rPr>
              <a:pPr eaLnBrk="1" hangingPunct="1"/>
              <a:t>89</a:t>
            </a:fld>
            <a:endParaRPr kumimoji="0" lang="en-US" altLang="zh-CN" sz="1200" b="0">
              <a:latin typeface="Arial" pitchFamily="34" charset="0"/>
            </a:endParaRPr>
          </a:p>
        </p:txBody>
      </p:sp>
      <p:sp>
        <p:nvSpPr>
          <p:cNvPr id="208899" name="Rectangle 2"/>
          <p:cNvSpPr>
            <a:spLocks noGrp="1" noRot="1" noChangeAspect="1" noChangeArrowheads="1" noTextEdit="1"/>
          </p:cNvSpPr>
          <p:nvPr>
            <p:ph type="sldImg"/>
          </p:nvPr>
        </p:nvSpPr>
        <p:spPr>
          <a:ln/>
        </p:spPr>
      </p:sp>
      <p:sp>
        <p:nvSpPr>
          <p:cNvPr id="208900"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Rectangle 7"/>
          <p:cNvSpPr>
            <a:spLocks noGrp="1" noChangeArrowheads="1"/>
          </p:cNvSpPr>
          <p:nvPr>
            <p:ph type="sldNum" sz="quarter" idx="5"/>
          </p:nvPr>
        </p:nvSpPr>
        <p:spPr>
          <a:noFill/>
        </p:spPr>
        <p:txBody>
          <a:bodyPr/>
          <a:lstStyle>
            <a:lvl1pPr eaLnBrk="0" hangingPunct="0">
              <a:defRPr kumimoji="1" sz="2400" b="1">
                <a:solidFill>
                  <a:schemeClr val="tx1"/>
                </a:solidFill>
                <a:latin typeface="Tahoma" pitchFamily="34" charset="0"/>
                <a:ea typeface="宋体" pitchFamily="2" charset="-122"/>
              </a:defRPr>
            </a:lvl1pPr>
            <a:lvl2pPr marL="757066" indent="-291179" eaLnBrk="0" hangingPunct="0">
              <a:defRPr kumimoji="1" sz="2400" b="1">
                <a:solidFill>
                  <a:schemeClr val="tx1"/>
                </a:solidFill>
                <a:latin typeface="Tahoma" pitchFamily="34" charset="0"/>
                <a:ea typeface="宋体" pitchFamily="2" charset="-122"/>
              </a:defRPr>
            </a:lvl2pPr>
            <a:lvl3pPr marL="1164717" indent="-232943" eaLnBrk="0" hangingPunct="0">
              <a:defRPr kumimoji="1" sz="2400" b="1">
                <a:solidFill>
                  <a:schemeClr val="tx1"/>
                </a:solidFill>
                <a:latin typeface="Tahoma" pitchFamily="34" charset="0"/>
                <a:ea typeface="宋体" pitchFamily="2" charset="-122"/>
              </a:defRPr>
            </a:lvl3pPr>
            <a:lvl4pPr marL="1630604" indent="-232943" eaLnBrk="0" hangingPunct="0">
              <a:defRPr kumimoji="1" sz="2400" b="1">
                <a:solidFill>
                  <a:schemeClr val="tx1"/>
                </a:solidFill>
                <a:latin typeface="Tahoma" pitchFamily="34" charset="0"/>
                <a:ea typeface="宋体" pitchFamily="2" charset="-122"/>
              </a:defRPr>
            </a:lvl4pPr>
            <a:lvl5pPr marL="2096491" indent="-232943" eaLnBrk="0" hangingPunct="0">
              <a:defRPr kumimoji="1" sz="2400" b="1">
                <a:solidFill>
                  <a:schemeClr val="tx1"/>
                </a:solidFill>
                <a:latin typeface="Tahoma" pitchFamily="34" charset="0"/>
                <a:ea typeface="宋体" pitchFamily="2" charset="-122"/>
              </a:defRPr>
            </a:lvl5pPr>
            <a:lvl6pPr marL="2562377" indent="-232943"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3028264" indent="-232943"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94151" indent="-232943"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960038" indent="-232943"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eaLnBrk="1" hangingPunct="1"/>
            <a:fld id="{7CA8BEEF-E6E7-408C-A832-EFD8D22E9E9B}" type="slidenum">
              <a:rPr kumimoji="0" lang="en-US" altLang="zh-CN" sz="1200" b="0">
                <a:latin typeface="Arial" pitchFamily="34" charset="0"/>
              </a:rPr>
              <a:pPr eaLnBrk="1" hangingPunct="1"/>
              <a:t>90</a:t>
            </a:fld>
            <a:endParaRPr kumimoji="0" lang="en-US" altLang="zh-CN" sz="1200" b="0">
              <a:latin typeface="Arial" pitchFamily="34" charset="0"/>
            </a:endParaRPr>
          </a:p>
        </p:txBody>
      </p:sp>
      <p:sp>
        <p:nvSpPr>
          <p:cNvPr id="195587" name="Rectangle 2"/>
          <p:cNvSpPr>
            <a:spLocks noGrp="1" noRot="1" noChangeAspect="1" noChangeArrowheads="1" noTextEdit="1"/>
          </p:cNvSpPr>
          <p:nvPr>
            <p:ph type="sldImg"/>
          </p:nvPr>
        </p:nvSpPr>
        <p:spPr>
          <a:ln/>
        </p:spPr>
      </p:sp>
      <p:sp>
        <p:nvSpPr>
          <p:cNvPr id="195588"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8F25F39-7FE8-4D14-B1E0-BCB6EBC02C98}" type="slidenum">
              <a:rPr lang="en-US" altLang="zh-CN"/>
              <a:pPr/>
              <a:t>93</a:t>
            </a:fld>
            <a:endParaRPr lang="en-US" altLang="zh-CN"/>
          </a:p>
        </p:txBody>
      </p:sp>
      <p:sp>
        <p:nvSpPr>
          <p:cNvPr id="802818" name="Rectangle 2"/>
          <p:cNvSpPr>
            <a:spLocks noGrp="1" noRot="1" noChangeAspect="1" noChangeArrowheads="1" noTextEdit="1"/>
          </p:cNvSpPr>
          <p:nvPr>
            <p:ph type="sldImg"/>
          </p:nvPr>
        </p:nvSpPr>
        <p:spPr>
          <a:ln/>
        </p:spPr>
      </p:sp>
      <p:sp>
        <p:nvSpPr>
          <p:cNvPr id="802819" name="Rectangle 3"/>
          <p:cNvSpPr>
            <a:spLocks noGrp="1" noChangeArrowheads="1"/>
          </p:cNvSpPr>
          <p:nvPr>
            <p:ph type="body" idx="1"/>
          </p:nvPr>
        </p:nvSpPr>
        <p:spPr/>
        <p:txBody>
          <a:bodyPr/>
          <a:lstStyle/>
          <a:p>
            <a:endParaRPr lang="zh-CN"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16386" name="Rectangle 2"/>
          <p:cNvSpPr>
            <a:spLocks noGrp="1" noChangeArrowheads="1"/>
          </p:cNvSpPr>
          <p:nvPr>
            <p:ph type="ctrTitle"/>
          </p:nvPr>
        </p:nvSpPr>
        <p:spPr>
          <a:xfrm>
            <a:off x="742950" y="685800"/>
            <a:ext cx="8420100" cy="2127250"/>
          </a:xfrm>
        </p:spPr>
        <p:txBody>
          <a:bodyPr/>
          <a:lstStyle>
            <a:lvl1pPr algn="ctr">
              <a:defRPr sz="5400" b="1">
                <a:solidFill>
                  <a:srgbClr val="333399"/>
                </a:solidFill>
                <a:latin typeface="黑体" pitchFamily="2" charset="-122"/>
                <a:ea typeface="黑体" pitchFamily="2" charset="-122"/>
              </a:defRPr>
            </a:lvl1pPr>
          </a:lstStyle>
          <a:p>
            <a:pPr lvl="0"/>
            <a:r>
              <a:rPr lang="zh-CN" altLang="en-US" noProof="0"/>
              <a:t>单击此处编辑母版标题样式</a:t>
            </a:r>
            <a:endParaRPr lang="en-US" altLang="zh-CN" noProof="0" dirty="0"/>
          </a:p>
        </p:txBody>
      </p:sp>
      <p:sp>
        <p:nvSpPr>
          <p:cNvPr id="16387" name="Rectangle 3"/>
          <p:cNvSpPr>
            <a:spLocks noGrp="1" noChangeArrowheads="1"/>
          </p:cNvSpPr>
          <p:nvPr>
            <p:ph type="subTitle" idx="1"/>
          </p:nvPr>
        </p:nvSpPr>
        <p:spPr>
          <a:xfrm>
            <a:off x="1485900" y="3270250"/>
            <a:ext cx="6934200" cy="2209800"/>
          </a:xfrm>
        </p:spPr>
        <p:txBody>
          <a:bodyPr/>
          <a:lstStyle>
            <a:lvl1pPr marL="0" indent="0" algn="ctr">
              <a:buFont typeface="Wingdings" pitchFamily="2" charset="2"/>
              <a:buNone/>
              <a:defRPr sz="3600" b="1">
                <a:latin typeface="黑体" pitchFamily="2" charset="-122"/>
                <a:ea typeface="黑体" pitchFamily="2" charset="-122"/>
              </a:defRPr>
            </a:lvl1pPr>
          </a:lstStyle>
          <a:p>
            <a:pPr lvl="0"/>
            <a:r>
              <a:rPr lang="zh-CN" altLang="en-US" noProof="0"/>
              <a:t>单击此处编辑母版副标题样式</a:t>
            </a:r>
            <a:endParaRPr lang="en-US" altLang="zh-CN" noProof="0" dirty="0"/>
          </a:p>
        </p:txBody>
      </p:sp>
      <p:sp>
        <p:nvSpPr>
          <p:cNvPr id="16388" name="Rectangle 4"/>
          <p:cNvSpPr>
            <a:spLocks noGrp="1" noChangeArrowheads="1"/>
          </p:cNvSpPr>
          <p:nvPr>
            <p:ph type="dt" sz="half" idx="2"/>
          </p:nvPr>
        </p:nvSpPr>
        <p:spPr/>
        <p:txBody>
          <a:bodyPr/>
          <a:lstStyle>
            <a:lvl1pPr>
              <a:defRPr/>
            </a:lvl1pPr>
          </a:lstStyle>
          <a:p>
            <a:endParaRPr lang="en-US" altLang="zh-CN"/>
          </a:p>
        </p:txBody>
      </p:sp>
      <p:sp>
        <p:nvSpPr>
          <p:cNvPr id="16389" name="Rectangle 5"/>
          <p:cNvSpPr>
            <a:spLocks noGrp="1" noChangeArrowheads="1"/>
          </p:cNvSpPr>
          <p:nvPr>
            <p:ph type="ftr" sz="quarter" idx="3"/>
          </p:nvPr>
        </p:nvSpPr>
        <p:spPr/>
        <p:txBody>
          <a:bodyPr/>
          <a:lstStyle>
            <a:lvl1pPr>
              <a:defRPr/>
            </a:lvl1pPr>
          </a:lstStyle>
          <a:p>
            <a:endParaRPr lang="en-US" altLang="zh-CN"/>
          </a:p>
        </p:txBody>
      </p:sp>
      <p:sp>
        <p:nvSpPr>
          <p:cNvPr id="16390" name="Rectangle 6"/>
          <p:cNvSpPr>
            <a:spLocks noGrp="1" noChangeArrowheads="1"/>
          </p:cNvSpPr>
          <p:nvPr>
            <p:ph type="sldNum" sz="quarter" idx="4"/>
          </p:nvPr>
        </p:nvSpPr>
        <p:spPr/>
        <p:txBody>
          <a:bodyPr/>
          <a:lstStyle>
            <a:lvl1pPr>
              <a:defRPr/>
            </a:lvl1pPr>
          </a:lstStyle>
          <a:p>
            <a:fld id="{AC80574E-8B94-4515-ADE1-BF6C35829DF0}" type="slidenum">
              <a:rPr lang="zh-CN" altLang="en-US"/>
              <a:pPr/>
              <a:t>‹#›</a:t>
            </a:fld>
            <a:endParaRPr lang="en-US" altLang="zh-CN"/>
          </a:p>
        </p:txBody>
      </p:sp>
      <p:sp>
        <p:nvSpPr>
          <p:cNvPr id="16392" name="Rectangle 8" descr="Gold bar"/>
          <p:cNvSpPr>
            <a:spLocks noChangeArrowheads="1"/>
          </p:cNvSpPr>
          <p:nvPr/>
        </p:nvSpPr>
        <p:spPr bwMode="auto">
          <a:xfrm>
            <a:off x="247650" y="2889250"/>
            <a:ext cx="3109913" cy="2016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393" name="Rectangle 9" descr="Orange bar"/>
          <p:cNvSpPr>
            <a:spLocks noChangeArrowheads="1"/>
          </p:cNvSpPr>
          <p:nvPr/>
        </p:nvSpPr>
        <p:spPr bwMode="auto">
          <a:xfrm>
            <a:off x="3357563" y="2889250"/>
            <a:ext cx="3108325" cy="201613"/>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394" name="Rectangle 10" descr="Slate bar"/>
          <p:cNvSpPr>
            <a:spLocks noChangeArrowheads="1"/>
          </p:cNvSpPr>
          <p:nvPr/>
        </p:nvSpPr>
        <p:spPr bwMode="auto">
          <a:xfrm>
            <a:off x="6465888" y="2889250"/>
            <a:ext cx="3109912" cy="201613"/>
          </a:xfrm>
          <a:prstGeom prst="rect">
            <a:avLst/>
          </a:prstGeom>
          <a:solidFill>
            <a:srgbClr val="333399"/>
          </a:solidFill>
          <a:ln>
            <a:noFill/>
          </a:ln>
          <a:effectLst/>
        </p:spPr>
        <p:txBody>
          <a:bodyPr wrap="none" anchor="ctr"/>
          <a:lstStyle/>
          <a:p>
            <a:endParaRPr lang="zh-CN" altLang="en-US">
              <a:solidFill>
                <a:srgbClr val="333399"/>
              </a:solidFil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itchFamily="2" charset="-122"/>
              </a:defRPr>
            </a:lvl1pPr>
          </a:lstStyle>
          <a:p>
            <a:r>
              <a:rPr lang="zh-CN" altLang="en-US"/>
              <a:t>单击此处编辑母版标题样式</a:t>
            </a:r>
            <a:endParaRPr lang="zh-CN" altLang="en-US" dirty="0"/>
          </a:p>
        </p:txBody>
      </p:sp>
      <p:sp>
        <p:nvSpPr>
          <p:cNvPr id="3" name="内容占位符 2"/>
          <p:cNvSpPr>
            <a:spLocks noGrp="1"/>
          </p:cNvSpPr>
          <p:nvPr>
            <p:ph idx="1"/>
          </p:nvPr>
        </p:nvSpPr>
        <p:spPr>
          <a:xfrm>
            <a:off x="495300" y="1196752"/>
            <a:ext cx="9066212" cy="4934173"/>
          </a:xfrm>
        </p:spPr>
        <p:txBody>
          <a:bodyPr/>
          <a:lstStyle>
            <a:lvl1pPr>
              <a:defRPr sz="3200" b="1">
                <a:solidFill>
                  <a:schemeClr val="tx1"/>
                </a:solidFill>
                <a:latin typeface="+mn-lt"/>
                <a:ea typeface="黑体" pitchFamily="2" charset="-122"/>
              </a:defRPr>
            </a:lvl1pPr>
            <a:lvl2pPr>
              <a:defRPr sz="2800" b="1">
                <a:solidFill>
                  <a:schemeClr val="tx1"/>
                </a:solidFill>
                <a:latin typeface="+mn-lt"/>
                <a:ea typeface="黑体" pitchFamily="2" charset="-122"/>
              </a:defRPr>
            </a:lvl2pPr>
            <a:lvl3pPr>
              <a:defRPr sz="2400" b="1">
                <a:solidFill>
                  <a:schemeClr val="tx1"/>
                </a:solidFill>
                <a:latin typeface="+mn-lt"/>
                <a:ea typeface="黑体" pitchFamily="2" charset="-122"/>
              </a:defRPr>
            </a:lvl3pPr>
            <a:lvl4pPr>
              <a:defRPr sz="2000" b="1">
                <a:solidFill>
                  <a:schemeClr val="tx1"/>
                </a:solidFill>
                <a:latin typeface="+mn-lt"/>
                <a:ea typeface="黑体" pitchFamily="2" charset="-122"/>
              </a:defRPr>
            </a:lvl4pPr>
            <a:lvl5pPr>
              <a:defRPr sz="2000" b="1">
                <a:solidFill>
                  <a:schemeClr val="tx1"/>
                </a:solidFill>
                <a:latin typeface="+mn-lt"/>
                <a:ea typeface="黑体" pitchFamily="2" charset="-122"/>
              </a:defRPr>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4" name="日期占位符 3"/>
          <p:cNvSpPr>
            <a:spLocks noGrp="1"/>
          </p:cNvSpPr>
          <p:nvPr>
            <p:ph type="dt" sz="half" idx="10"/>
          </p:nvPr>
        </p:nvSpPr>
        <p:spPr/>
        <p:txBody>
          <a:bodyPr/>
          <a:lstStyle>
            <a:lvl1pPr>
              <a:defRPr/>
            </a:lvl1pPr>
          </a:lstStyle>
          <a:p>
            <a:endParaRPr lang="en-US" altLang="zh-CN" dirty="0"/>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7AC79822-BC0D-4DE8-A7E5-90A3732A2B82}" type="slidenum">
              <a:rPr lang="zh-CN" altLang="en-US"/>
              <a:pPr/>
              <a:t>‹#›</a:t>
            </a:fld>
            <a:endParaRPr lang="en-US" altLang="zh-CN"/>
          </a:p>
        </p:txBody>
      </p:sp>
      <p:sp>
        <p:nvSpPr>
          <p:cNvPr id="7" name="Line 8"/>
          <p:cNvSpPr>
            <a:spLocks noChangeShapeType="1"/>
          </p:cNvSpPr>
          <p:nvPr userDrawn="1"/>
        </p:nvSpPr>
        <p:spPr bwMode="auto">
          <a:xfrm>
            <a:off x="495300" y="1052736"/>
            <a:ext cx="9066212" cy="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extLst>
      <p:ext uri="{BB962C8B-B14F-4D97-AF65-F5344CB8AC3E}">
        <p14:creationId xmlns:p14="http://schemas.microsoft.com/office/powerpoint/2010/main" val="26534460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82638" y="4406900"/>
            <a:ext cx="8634858" cy="1362075"/>
          </a:xfrm>
        </p:spPr>
        <p:txBody>
          <a:bodyPr anchor="t"/>
          <a:lstStyle>
            <a:lvl1pPr algn="l">
              <a:defRPr sz="4400" b="1" cap="all">
                <a:solidFill>
                  <a:srgbClr val="333399"/>
                </a:solidFill>
                <a:latin typeface="+mn-lt"/>
                <a:ea typeface="黑体" pitchFamily="2" charset="-122"/>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782638" y="2906713"/>
            <a:ext cx="8634858"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C3F47B36-077D-42FE-9DED-0C77CB87E4B3}" type="slidenum">
              <a:rPr lang="zh-CN" altLang="en-US"/>
              <a:pPr/>
              <a:t>‹#›</a:t>
            </a:fld>
            <a:endParaRPr lang="en-US" altLang="zh-CN"/>
          </a:p>
        </p:txBody>
      </p:sp>
    </p:spTree>
    <p:extLst>
      <p:ext uri="{BB962C8B-B14F-4D97-AF65-F5344CB8AC3E}">
        <p14:creationId xmlns:p14="http://schemas.microsoft.com/office/powerpoint/2010/main" val="10981399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itchFamily="2" charset="-122"/>
              </a:defRPr>
            </a:lvl1pPr>
          </a:lstStyle>
          <a:p>
            <a:r>
              <a:rPr lang="zh-CN" altLang="en-US"/>
              <a:t>单击此处编辑母版标题样式</a:t>
            </a:r>
          </a:p>
        </p:txBody>
      </p:sp>
      <p:sp>
        <p:nvSpPr>
          <p:cNvPr id="3" name="内容占位符 2"/>
          <p:cNvSpPr>
            <a:spLocks noGrp="1"/>
          </p:cNvSpPr>
          <p:nvPr>
            <p:ph sz="half" idx="1"/>
          </p:nvPr>
        </p:nvSpPr>
        <p:spPr>
          <a:xfrm>
            <a:off x="495300" y="1196752"/>
            <a:ext cx="4460304" cy="4934173"/>
          </a:xfrm>
        </p:spPr>
        <p:txBody>
          <a:bodyPr/>
          <a:lstStyle>
            <a:lvl1pPr>
              <a:defRPr sz="3200" b="1">
                <a:solidFill>
                  <a:schemeClr val="tx1"/>
                </a:solidFill>
                <a:latin typeface="+mn-lt"/>
                <a:ea typeface="黑体" pitchFamily="2" charset="-122"/>
              </a:defRPr>
            </a:lvl1pPr>
            <a:lvl2pPr>
              <a:buClr>
                <a:schemeClr val="accent2"/>
              </a:buClr>
              <a:defRPr sz="2800" b="1">
                <a:solidFill>
                  <a:schemeClr val="tx1"/>
                </a:solidFill>
                <a:latin typeface="+mn-lt"/>
                <a:ea typeface="黑体" pitchFamily="2" charset="-122"/>
              </a:defRPr>
            </a:lvl2pPr>
            <a:lvl3pPr>
              <a:defRPr sz="2400" b="1">
                <a:solidFill>
                  <a:schemeClr val="tx1"/>
                </a:solidFill>
                <a:latin typeface="+mn-lt"/>
                <a:ea typeface="黑体" pitchFamily="2" charset="-122"/>
              </a:defRPr>
            </a:lvl3pPr>
            <a:lvl4pPr>
              <a:defRPr sz="2000" b="1">
                <a:solidFill>
                  <a:schemeClr val="tx1"/>
                </a:solidFill>
                <a:latin typeface="+mn-lt"/>
                <a:ea typeface="黑体" pitchFamily="2" charset="-122"/>
              </a:defRPr>
            </a:lvl4pPr>
            <a:lvl5pPr>
              <a:buClr>
                <a:srgbClr val="333399"/>
              </a:buClr>
              <a:defRPr sz="2000" b="1">
                <a:solidFill>
                  <a:schemeClr val="tx1"/>
                </a:solidFill>
                <a:latin typeface="+mn-lt"/>
                <a:ea typeface="黑体" pitchFamily="2" charset="-122"/>
              </a:defRPr>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4" name="内容占位符 3"/>
          <p:cNvSpPr>
            <a:spLocks noGrp="1"/>
          </p:cNvSpPr>
          <p:nvPr>
            <p:ph sz="half" idx="2"/>
          </p:nvPr>
        </p:nvSpPr>
        <p:spPr>
          <a:xfrm>
            <a:off x="5101208" y="1196752"/>
            <a:ext cx="4460304" cy="4934173"/>
          </a:xfrm>
        </p:spPr>
        <p:txBody>
          <a:bodyPr/>
          <a:lstStyle>
            <a:lvl1pPr>
              <a:defRPr sz="3200" b="1">
                <a:solidFill>
                  <a:schemeClr val="tx1"/>
                </a:solidFill>
                <a:latin typeface="+mn-lt"/>
                <a:ea typeface="黑体" pitchFamily="2" charset="-122"/>
              </a:defRPr>
            </a:lvl1pPr>
            <a:lvl2pPr>
              <a:buClr>
                <a:schemeClr val="accent2"/>
              </a:buClr>
              <a:defRPr sz="2800" b="1">
                <a:solidFill>
                  <a:schemeClr val="tx1"/>
                </a:solidFill>
                <a:latin typeface="+mn-lt"/>
                <a:ea typeface="黑体" pitchFamily="2" charset="-122"/>
              </a:defRPr>
            </a:lvl2pPr>
            <a:lvl3pPr>
              <a:defRPr sz="2400" b="1">
                <a:solidFill>
                  <a:schemeClr val="tx1"/>
                </a:solidFill>
                <a:latin typeface="+mn-lt"/>
                <a:ea typeface="黑体" pitchFamily="2" charset="-122"/>
              </a:defRPr>
            </a:lvl3pPr>
            <a:lvl4pPr>
              <a:defRPr sz="2000" b="1">
                <a:solidFill>
                  <a:schemeClr val="tx1"/>
                </a:solidFill>
                <a:latin typeface="+mn-lt"/>
                <a:ea typeface="黑体" pitchFamily="2" charset="-122"/>
              </a:defRPr>
            </a:lvl4pPr>
            <a:lvl5pPr>
              <a:buClr>
                <a:srgbClr val="333399"/>
              </a:buClr>
              <a:defRPr sz="2000" b="1">
                <a:solidFill>
                  <a:schemeClr val="tx1"/>
                </a:solidFill>
                <a:latin typeface="+mn-lt"/>
                <a:ea typeface="黑体" pitchFamily="2" charset="-122"/>
              </a:defRPr>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40B52295-AD8D-47A8-A4D5-D2F6B9F48E3F}" type="slidenum">
              <a:rPr lang="zh-CN" altLang="en-US"/>
              <a:pPr/>
              <a:t>‹#›</a:t>
            </a:fld>
            <a:endParaRPr lang="en-US" altLang="zh-CN"/>
          </a:p>
        </p:txBody>
      </p:sp>
      <p:sp>
        <p:nvSpPr>
          <p:cNvPr id="8" name="Line 8"/>
          <p:cNvSpPr>
            <a:spLocks noChangeShapeType="1"/>
          </p:cNvSpPr>
          <p:nvPr userDrawn="1"/>
        </p:nvSpPr>
        <p:spPr bwMode="auto">
          <a:xfrm>
            <a:off x="495300" y="1052736"/>
            <a:ext cx="9066212" cy="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extLst>
      <p:ext uri="{BB962C8B-B14F-4D97-AF65-F5344CB8AC3E}">
        <p14:creationId xmlns:p14="http://schemas.microsoft.com/office/powerpoint/2010/main" val="34583244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itchFamily="2" charset="-122"/>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495299" y="1207874"/>
            <a:ext cx="4455513" cy="639762"/>
          </a:xfrm>
        </p:spPr>
        <p:txBody>
          <a:bodyPr anchor="b"/>
          <a:lstStyle>
            <a:lvl1pPr marL="0" indent="0">
              <a:buNone/>
              <a:defRPr sz="3200" b="1">
                <a:latin typeface="+mn-lt"/>
                <a:ea typeface="黑体" pitchFamily="2"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95299" y="1872534"/>
            <a:ext cx="4455513" cy="4292770"/>
          </a:xfrm>
        </p:spPr>
        <p:txBody>
          <a:bodyPr/>
          <a:lstStyle>
            <a:lvl1pPr>
              <a:defRPr sz="3200" b="1">
                <a:solidFill>
                  <a:schemeClr val="tx1"/>
                </a:solidFill>
                <a:latin typeface="+mn-lt"/>
                <a:ea typeface="黑体" pitchFamily="2" charset="-122"/>
              </a:defRPr>
            </a:lvl1pPr>
            <a:lvl2pPr>
              <a:defRPr sz="2800" b="1">
                <a:solidFill>
                  <a:schemeClr val="tx1"/>
                </a:solidFill>
                <a:latin typeface="+mn-lt"/>
                <a:ea typeface="黑体" pitchFamily="2" charset="-122"/>
              </a:defRPr>
            </a:lvl2pPr>
            <a:lvl3pPr>
              <a:defRPr sz="2400" b="1">
                <a:solidFill>
                  <a:schemeClr val="tx1"/>
                </a:solidFill>
                <a:latin typeface="+mn-lt"/>
                <a:ea typeface="黑体" pitchFamily="2" charset="-122"/>
              </a:defRPr>
            </a:lvl3pPr>
            <a:lvl4pPr>
              <a:defRPr sz="2000" b="1">
                <a:solidFill>
                  <a:schemeClr val="tx1"/>
                </a:solidFill>
                <a:latin typeface="+mn-lt"/>
                <a:ea typeface="黑体" pitchFamily="2" charset="-122"/>
              </a:defRPr>
            </a:lvl4pPr>
            <a:lvl5pPr>
              <a:defRPr sz="2000" b="1">
                <a:solidFill>
                  <a:schemeClr val="tx1"/>
                </a:solidFill>
                <a:latin typeface="+mn-lt"/>
                <a:ea typeface="黑体" pitchFamily="2" charset="-122"/>
              </a:defRPr>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5" name="文本占位符 4"/>
          <p:cNvSpPr>
            <a:spLocks noGrp="1"/>
          </p:cNvSpPr>
          <p:nvPr>
            <p:ph type="body" sz="quarter" idx="3"/>
          </p:nvPr>
        </p:nvSpPr>
        <p:spPr>
          <a:xfrm>
            <a:off x="5104383" y="1207874"/>
            <a:ext cx="4457129" cy="639762"/>
          </a:xfrm>
        </p:spPr>
        <p:txBody>
          <a:bodyPr anchor="b"/>
          <a:lstStyle>
            <a:lvl1pPr marL="0" indent="0">
              <a:buNone/>
              <a:defRPr sz="3200" b="1">
                <a:latin typeface="+mn-lt"/>
                <a:ea typeface="黑体" pitchFamily="2"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5104383" y="1872534"/>
            <a:ext cx="4457129" cy="4292770"/>
          </a:xfrm>
        </p:spPr>
        <p:txBody>
          <a:bodyPr/>
          <a:lstStyle>
            <a:lvl1pPr>
              <a:defRPr sz="3200" b="1">
                <a:solidFill>
                  <a:schemeClr val="tx1"/>
                </a:solidFill>
                <a:latin typeface="+mn-lt"/>
                <a:ea typeface="黑体" pitchFamily="2" charset="-122"/>
              </a:defRPr>
            </a:lvl1pPr>
            <a:lvl2pPr>
              <a:defRPr sz="2800" b="1">
                <a:solidFill>
                  <a:schemeClr val="tx1"/>
                </a:solidFill>
                <a:latin typeface="+mn-lt"/>
                <a:ea typeface="黑体" pitchFamily="2" charset="-122"/>
              </a:defRPr>
            </a:lvl2pPr>
            <a:lvl3pPr>
              <a:defRPr sz="2400" b="1">
                <a:solidFill>
                  <a:schemeClr val="tx1"/>
                </a:solidFill>
                <a:latin typeface="+mn-lt"/>
                <a:ea typeface="黑体" pitchFamily="2" charset="-122"/>
              </a:defRPr>
            </a:lvl3pPr>
            <a:lvl4pPr>
              <a:defRPr sz="2000" b="1">
                <a:solidFill>
                  <a:schemeClr val="tx1"/>
                </a:solidFill>
                <a:latin typeface="+mn-lt"/>
                <a:ea typeface="黑体" pitchFamily="2" charset="-122"/>
              </a:defRPr>
            </a:lvl4pPr>
            <a:lvl5pPr>
              <a:defRPr sz="2000" b="1">
                <a:solidFill>
                  <a:schemeClr val="tx1"/>
                </a:solidFill>
                <a:latin typeface="+mn-lt"/>
                <a:ea typeface="黑体" pitchFamily="2" charset="-122"/>
              </a:defRPr>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7" name="日期占位符 6"/>
          <p:cNvSpPr>
            <a:spLocks noGrp="1"/>
          </p:cNvSpPr>
          <p:nvPr>
            <p:ph type="dt" sz="half" idx="10"/>
          </p:nvPr>
        </p:nvSpPr>
        <p:spPr/>
        <p:txBody>
          <a:bodyPr/>
          <a:lstStyle>
            <a:lvl1pPr>
              <a:defRPr/>
            </a:lvl1pPr>
          </a:lstStyle>
          <a:p>
            <a:endParaRPr lang="en-US" altLang="zh-CN"/>
          </a:p>
        </p:txBody>
      </p:sp>
      <p:sp>
        <p:nvSpPr>
          <p:cNvPr id="8" name="页脚占位符 7"/>
          <p:cNvSpPr>
            <a:spLocks noGrp="1"/>
          </p:cNvSpPr>
          <p:nvPr>
            <p:ph type="ftr" sz="quarter" idx="11"/>
          </p:nvPr>
        </p:nvSpPr>
        <p:spPr/>
        <p:txBody>
          <a:bodyPr/>
          <a:lstStyle>
            <a:lvl1pPr>
              <a:defRPr/>
            </a:lvl1pPr>
          </a:lstStyle>
          <a:p>
            <a:endParaRPr lang="en-US" altLang="zh-CN"/>
          </a:p>
        </p:txBody>
      </p:sp>
      <p:sp>
        <p:nvSpPr>
          <p:cNvPr id="9" name="灯片编号占位符 8"/>
          <p:cNvSpPr>
            <a:spLocks noGrp="1"/>
          </p:cNvSpPr>
          <p:nvPr>
            <p:ph type="sldNum" sz="quarter" idx="12"/>
          </p:nvPr>
        </p:nvSpPr>
        <p:spPr/>
        <p:txBody>
          <a:bodyPr/>
          <a:lstStyle>
            <a:lvl1pPr>
              <a:defRPr/>
            </a:lvl1pPr>
          </a:lstStyle>
          <a:p>
            <a:fld id="{FAC03054-A18C-4CF4-8FEF-67B6C74EC7CF}" type="slidenum">
              <a:rPr lang="zh-CN" altLang="en-US"/>
              <a:pPr/>
              <a:t>‹#›</a:t>
            </a:fld>
            <a:endParaRPr lang="en-US" altLang="zh-CN"/>
          </a:p>
        </p:txBody>
      </p:sp>
      <p:sp>
        <p:nvSpPr>
          <p:cNvPr id="10" name="Line 8"/>
          <p:cNvSpPr>
            <a:spLocks noChangeShapeType="1"/>
          </p:cNvSpPr>
          <p:nvPr userDrawn="1"/>
        </p:nvSpPr>
        <p:spPr bwMode="auto">
          <a:xfrm>
            <a:off x="495300" y="1052736"/>
            <a:ext cx="9066212" cy="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extLst>
      <p:ext uri="{BB962C8B-B14F-4D97-AF65-F5344CB8AC3E}">
        <p14:creationId xmlns:p14="http://schemas.microsoft.com/office/powerpoint/2010/main" val="10467530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b="1">
                <a:solidFill>
                  <a:srgbClr val="333399"/>
                </a:solidFill>
                <a:latin typeface="+mn-lt"/>
                <a:ea typeface="黑体" pitchFamily="2" charset="-122"/>
              </a:defRPr>
            </a:lvl1pPr>
          </a:lstStyle>
          <a:p>
            <a:r>
              <a:rPr lang="zh-CN" altLang="en-US"/>
              <a:t>单击此处编辑母版标题样式</a:t>
            </a:r>
          </a:p>
        </p:txBody>
      </p:sp>
      <p:sp>
        <p:nvSpPr>
          <p:cNvPr id="3" name="日期占位符 2"/>
          <p:cNvSpPr>
            <a:spLocks noGrp="1"/>
          </p:cNvSpPr>
          <p:nvPr>
            <p:ph type="dt" sz="half" idx="10"/>
          </p:nvPr>
        </p:nvSpPr>
        <p:spPr/>
        <p:txBody>
          <a:bodyPr/>
          <a:lstStyle>
            <a:lvl1pPr>
              <a:defRPr/>
            </a:lvl1pPr>
          </a:lstStyle>
          <a:p>
            <a:endParaRPr lang="en-US" altLang="zh-CN"/>
          </a:p>
        </p:txBody>
      </p:sp>
      <p:sp>
        <p:nvSpPr>
          <p:cNvPr id="4" name="页脚占位符 3"/>
          <p:cNvSpPr>
            <a:spLocks noGrp="1"/>
          </p:cNvSpPr>
          <p:nvPr>
            <p:ph type="ftr" sz="quarter" idx="11"/>
          </p:nvPr>
        </p:nvSpPr>
        <p:spPr/>
        <p:txBody>
          <a:bodyPr/>
          <a:lstStyle>
            <a:lvl1pPr>
              <a:defRPr/>
            </a:lvl1pPr>
          </a:lstStyle>
          <a:p>
            <a:endParaRPr lang="en-US" altLang="zh-CN"/>
          </a:p>
        </p:txBody>
      </p:sp>
      <p:sp>
        <p:nvSpPr>
          <p:cNvPr id="5" name="灯片编号占位符 4"/>
          <p:cNvSpPr>
            <a:spLocks noGrp="1"/>
          </p:cNvSpPr>
          <p:nvPr>
            <p:ph type="sldNum" sz="quarter" idx="12"/>
          </p:nvPr>
        </p:nvSpPr>
        <p:spPr/>
        <p:txBody>
          <a:bodyPr/>
          <a:lstStyle>
            <a:lvl1pPr>
              <a:defRPr/>
            </a:lvl1pPr>
          </a:lstStyle>
          <a:p>
            <a:fld id="{14338B79-8FD5-46F1-8A19-651A319ADB19}" type="slidenum">
              <a:rPr lang="zh-CN" altLang="en-US"/>
              <a:pPr/>
              <a:t>‹#›</a:t>
            </a:fld>
            <a:endParaRPr lang="en-US" altLang="zh-CN"/>
          </a:p>
        </p:txBody>
      </p:sp>
      <p:sp>
        <p:nvSpPr>
          <p:cNvPr id="6" name="Line 8"/>
          <p:cNvSpPr>
            <a:spLocks noChangeShapeType="1"/>
          </p:cNvSpPr>
          <p:nvPr userDrawn="1"/>
        </p:nvSpPr>
        <p:spPr bwMode="auto">
          <a:xfrm>
            <a:off x="495300" y="1052736"/>
            <a:ext cx="9066212" cy="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extLst>
      <p:ext uri="{BB962C8B-B14F-4D97-AF65-F5344CB8AC3E}">
        <p14:creationId xmlns:p14="http://schemas.microsoft.com/office/powerpoint/2010/main" val="2081324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endParaRPr lang="en-US" altLang="zh-CN"/>
          </a:p>
        </p:txBody>
      </p:sp>
      <p:sp>
        <p:nvSpPr>
          <p:cNvPr id="3" name="页脚占位符 2"/>
          <p:cNvSpPr>
            <a:spLocks noGrp="1"/>
          </p:cNvSpPr>
          <p:nvPr>
            <p:ph type="ftr" sz="quarter" idx="11"/>
          </p:nvPr>
        </p:nvSpPr>
        <p:spPr/>
        <p:txBody>
          <a:bodyPr/>
          <a:lstStyle>
            <a:lvl1pPr>
              <a:defRPr/>
            </a:lvl1pPr>
          </a:lstStyle>
          <a:p>
            <a:endParaRPr lang="en-US" altLang="zh-CN"/>
          </a:p>
        </p:txBody>
      </p:sp>
      <p:sp>
        <p:nvSpPr>
          <p:cNvPr id="4" name="灯片编号占位符 3"/>
          <p:cNvSpPr>
            <a:spLocks noGrp="1"/>
          </p:cNvSpPr>
          <p:nvPr>
            <p:ph type="sldNum" sz="quarter" idx="12"/>
          </p:nvPr>
        </p:nvSpPr>
        <p:spPr/>
        <p:txBody>
          <a:bodyPr/>
          <a:lstStyle>
            <a:lvl1pPr>
              <a:defRPr/>
            </a:lvl1pPr>
          </a:lstStyle>
          <a:p>
            <a:fld id="{137DC1DE-D772-415A-B75D-6C2A3BBF0EE5}" type="slidenum">
              <a:rPr lang="zh-CN" altLang="en-US"/>
              <a:pPr/>
              <a:t>‹#›</a:t>
            </a:fld>
            <a:endParaRPr lang="en-US" altLang="zh-CN"/>
          </a:p>
        </p:txBody>
      </p:sp>
    </p:spTree>
    <p:extLst>
      <p:ext uri="{BB962C8B-B14F-4D97-AF65-F5344CB8AC3E}">
        <p14:creationId xmlns:p14="http://schemas.microsoft.com/office/powerpoint/2010/main" val="6070538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95300" y="273050"/>
            <a:ext cx="3259138" cy="1162050"/>
          </a:xfrm>
        </p:spPr>
        <p:txBody>
          <a:bodyPr/>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873500" y="273050"/>
            <a:ext cx="5688012"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4" name="文本占位符 3"/>
          <p:cNvSpPr>
            <a:spLocks noGrp="1"/>
          </p:cNvSpPr>
          <p:nvPr>
            <p:ph type="body" sz="half" idx="2"/>
          </p:nvPr>
        </p:nvSpPr>
        <p:spPr>
          <a:xfrm>
            <a:off x="495300" y="1435100"/>
            <a:ext cx="3259138"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DFB74B41-85B4-4984-A2A4-801BFDC62CF6}" type="slidenum">
              <a:rPr lang="zh-CN" altLang="en-US"/>
              <a:pPr/>
              <a:t>‹#›</a:t>
            </a:fld>
            <a:endParaRPr lang="en-US" altLang="zh-CN"/>
          </a:p>
        </p:txBody>
      </p:sp>
    </p:spTree>
    <p:extLst>
      <p:ext uri="{BB962C8B-B14F-4D97-AF65-F5344CB8AC3E}">
        <p14:creationId xmlns:p14="http://schemas.microsoft.com/office/powerpoint/2010/main" val="19825503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941513" y="4800600"/>
            <a:ext cx="5943600" cy="566738"/>
          </a:xfrm>
        </p:spPr>
        <p:txBody>
          <a:bodyPr/>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941513" y="612775"/>
            <a:ext cx="59436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p>
        </p:txBody>
      </p:sp>
      <p:sp>
        <p:nvSpPr>
          <p:cNvPr id="4" name="文本占位符 3"/>
          <p:cNvSpPr>
            <a:spLocks noGrp="1"/>
          </p:cNvSpPr>
          <p:nvPr>
            <p:ph type="body" sz="half" idx="2"/>
          </p:nvPr>
        </p:nvSpPr>
        <p:spPr>
          <a:xfrm>
            <a:off x="1941513" y="5367338"/>
            <a:ext cx="59436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24FEF2C3-09B7-48D6-BCFF-274B159605E4}" type="slidenum">
              <a:rPr lang="zh-CN" altLang="en-US"/>
              <a:pPr/>
              <a:t>‹#›</a:t>
            </a:fld>
            <a:endParaRPr lang="en-US" altLang="zh-CN"/>
          </a:p>
        </p:txBody>
      </p:sp>
    </p:spTree>
    <p:extLst>
      <p:ext uri="{BB962C8B-B14F-4D97-AF65-F5344CB8AC3E}">
        <p14:creationId xmlns:p14="http://schemas.microsoft.com/office/powerpoint/2010/main" val="18859875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b="1">
                <a:solidFill>
                  <a:srgbClr val="333399"/>
                </a:solidFill>
                <a:latin typeface="+mn-lt"/>
                <a:ea typeface="黑体" pitchFamily="2" charset="-122"/>
              </a:defRPr>
            </a:lvl1p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A2236A91-AB49-49FF-BD59-8386391FD12B}" type="slidenum">
              <a:rPr lang="zh-CN" altLang="en-US"/>
              <a:pPr/>
              <a:t>‹#›</a:t>
            </a:fld>
            <a:endParaRPr lang="en-US" altLang="zh-CN"/>
          </a:p>
        </p:txBody>
      </p:sp>
      <p:sp>
        <p:nvSpPr>
          <p:cNvPr id="7" name="Line 8"/>
          <p:cNvSpPr>
            <a:spLocks noChangeShapeType="1"/>
          </p:cNvSpPr>
          <p:nvPr userDrawn="1"/>
        </p:nvSpPr>
        <p:spPr bwMode="auto">
          <a:xfrm>
            <a:off x="495300" y="1052736"/>
            <a:ext cx="9066212" cy="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extLst>
      <p:ext uri="{BB962C8B-B14F-4D97-AF65-F5344CB8AC3E}">
        <p14:creationId xmlns:p14="http://schemas.microsoft.com/office/powerpoint/2010/main" val="16846428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181850" y="277813"/>
            <a:ext cx="2379662" cy="5853112"/>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95300" y="277813"/>
            <a:ext cx="6534150" cy="5853112"/>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D98FACEB-921B-4428-A32E-7A6FF935A2DD}" type="slidenum">
              <a:rPr lang="zh-CN" altLang="en-US"/>
              <a:pPr/>
              <a:t>‹#›</a:t>
            </a:fld>
            <a:endParaRPr lang="en-US" altLang="zh-CN"/>
          </a:p>
        </p:txBody>
      </p:sp>
    </p:spTree>
    <p:extLst>
      <p:ext uri="{BB962C8B-B14F-4D97-AF65-F5344CB8AC3E}">
        <p14:creationId xmlns:p14="http://schemas.microsoft.com/office/powerpoint/2010/main" val="129182296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488504" y="188640"/>
            <a:ext cx="8915400" cy="792088"/>
          </a:xfrm>
        </p:spPr>
        <p:txBody>
          <a:bodyPr/>
          <a:lstStyle/>
          <a:p>
            <a:r>
              <a:rPr lang="zh-CN" altLang="en-US"/>
              <a:t>单击此处编辑母版标题样式</a:t>
            </a:r>
          </a:p>
        </p:txBody>
      </p:sp>
      <p:sp>
        <p:nvSpPr>
          <p:cNvPr id="3" name="文本占位符 2"/>
          <p:cNvSpPr>
            <a:spLocks noGrp="1"/>
          </p:cNvSpPr>
          <p:nvPr>
            <p:ph type="body" sz="half" idx="1"/>
          </p:nvPr>
        </p:nvSpPr>
        <p:spPr>
          <a:xfrm>
            <a:off x="495300" y="1196752"/>
            <a:ext cx="4381500" cy="493417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4" name="内容占位符 3"/>
          <p:cNvSpPr>
            <a:spLocks noGrp="1"/>
          </p:cNvSpPr>
          <p:nvPr>
            <p:ph sz="quarter" idx="2"/>
          </p:nvPr>
        </p:nvSpPr>
        <p:spPr>
          <a:xfrm>
            <a:off x="5029200" y="1196752"/>
            <a:ext cx="4381500" cy="237658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5" name="内容占位符 4"/>
          <p:cNvSpPr>
            <a:spLocks noGrp="1"/>
          </p:cNvSpPr>
          <p:nvPr>
            <p:ph sz="quarter" idx="3"/>
          </p:nvPr>
        </p:nvSpPr>
        <p:spPr>
          <a:xfrm>
            <a:off x="5029200" y="3754339"/>
            <a:ext cx="4381500" cy="2376586"/>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日期占位符 5"/>
          <p:cNvSpPr>
            <a:spLocks noGrp="1"/>
          </p:cNvSpPr>
          <p:nvPr>
            <p:ph type="dt" sz="half" idx="10"/>
          </p:nvPr>
        </p:nvSpPr>
        <p:spPr>
          <a:xfrm>
            <a:off x="495300" y="6248400"/>
            <a:ext cx="2311400" cy="457200"/>
          </a:xfrm>
        </p:spPr>
        <p:txBody>
          <a:bodyPr/>
          <a:lstStyle>
            <a:lvl1pPr>
              <a:defRPr/>
            </a:lvl1pPr>
          </a:lstStyle>
          <a:p>
            <a:endParaRPr lang="en-US" altLang="zh-CN"/>
          </a:p>
        </p:txBody>
      </p:sp>
      <p:sp>
        <p:nvSpPr>
          <p:cNvPr id="7" name="页脚占位符 6"/>
          <p:cNvSpPr>
            <a:spLocks noGrp="1"/>
          </p:cNvSpPr>
          <p:nvPr>
            <p:ph type="ftr" sz="quarter" idx="11"/>
          </p:nvPr>
        </p:nvSpPr>
        <p:spPr>
          <a:xfrm>
            <a:off x="3384550" y="6248400"/>
            <a:ext cx="3136900" cy="457200"/>
          </a:xfrm>
        </p:spPr>
        <p:txBody>
          <a:bodyPr/>
          <a:lstStyle>
            <a:lvl1pPr>
              <a:defRPr/>
            </a:lvl1pPr>
          </a:lstStyle>
          <a:p>
            <a:endParaRPr lang="en-US" altLang="zh-CN"/>
          </a:p>
        </p:txBody>
      </p:sp>
      <p:sp>
        <p:nvSpPr>
          <p:cNvPr id="8" name="灯片编号占位符 7"/>
          <p:cNvSpPr>
            <a:spLocks noGrp="1"/>
          </p:cNvSpPr>
          <p:nvPr>
            <p:ph type="sldNum" sz="quarter" idx="12"/>
          </p:nvPr>
        </p:nvSpPr>
        <p:spPr>
          <a:xfrm>
            <a:off x="7099300" y="6248400"/>
            <a:ext cx="2311400" cy="457200"/>
          </a:xfrm>
        </p:spPr>
        <p:txBody>
          <a:bodyPr/>
          <a:lstStyle>
            <a:lvl1pPr>
              <a:defRPr/>
            </a:lvl1pPr>
          </a:lstStyle>
          <a:p>
            <a:fld id="{3C52F4D9-41EC-423B-B963-42D1C41ACCC5}" type="slidenum">
              <a:rPr lang="zh-CN" altLang="en-US"/>
              <a:pPr/>
              <a:t>‹#›</a:t>
            </a:fld>
            <a:endParaRPr lang="en-US" altLang="zh-CN"/>
          </a:p>
        </p:txBody>
      </p:sp>
      <p:sp>
        <p:nvSpPr>
          <p:cNvPr id="9" name="Line 8"/>
          <p:cNvSpPr>
            <a:spLocks noChangeShapeType="1"/>
          </p:cNvSpPr>
          <p:nvPr userDrawn="1"/>
        </p:nvSpPr>
        <p:spPr bwMode="auto">
          <a:xfrm>
            <a:off x="495300" y="1052736"/>
            <a:ext cx="9066212" cy="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extLst>
      <p:ext uri="{BB962C8B-B14F-4D97-AF65-F5344CB8AC3E}">
        <p14:creationId xmlns:p14="http://schemas.microsoft.com/office/powerpoint/2010/main" val="46355094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ClipArt" preserve="1">
  <p:cSld name="标题，文本与剪贴画">
    <p:spTree>
      <p:nvGrpSpPr>
        <p:cNvPr id="1" name=""/>
        <p:cNvGrpSpPr/>
        <p:nvPr/>
      </p:nvGrpSpPr>
      <p:grpSpPr>
        <a:xfrm>
          <a:off x="0" y="0"/>
          <a:ext cx="0" cy="0"/>
          <a:chOff x="0" y="0"/>
          <a:chExt cx="0" cy="0"/>
        </a:xfrm>
      </p:grpSpPr>
      <p:sp>
        <p:nvSpPr>
          <p:cNvPr id="2" name="标题 1"/>
          <p:cNvSpPr>
            <a:spLocks noGrp="1"/>
          </p:cNvSpPr>
          <p:nvPr>
            <p:ph type="title"/>
          </p:nvPr>
        </p:nvSpPr>
        <p:spPr>
          <a:xfrm>
            <a:off x="495300" y="188641"/>
            <a:ext cx="8915400" cy="792087"/>
          </a:xfrm>
        </p:spPr>
        <p:txBody>
          <a:bodyPr/>
          <a:lstStyle/>
          <a:p>
            <a:r>
              <a:rPr lang="zh-CN" altLang="en-US"/>
              <a:t>单击此处编辑母版标题样式</a:t>
            </a:r>
          </a:p>
        </p:txBody>
      </p:sp>
      <p:sp>
        <p:nvSpPr>
          <p:cNvPr id="3" name="文本占位符 2"/>
          <p:cNvSpPr>
            <a:spLocks noGrp="1"/>
          </p:cNvSpPr>
          <p:nvPr>
            <p:ph type="body" sz="half" idx="1"/>
          </p:nvPr>
        </p:nvSpPr>
        <p:spPr>
          <a:xfrm>
            <a:off x="495300" y="1196752"/>
            <a:ext cx="4381500" cy="493417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4" name="剪贴画占位符 3"/>
          <p:cNvSpPr>
            <a:spLocks noGrp="1"/>
          </p:cNvSpPr>
          <p:nvPr>
            <p:ph type="clipArt" sz="half" idx="2"/>
          </p:nvPr>
        </p:nvSpPr>
        <p:spPr>
          <a:xfrm>
            <a:off x="5029200" y="1196752"/>
            <a:ext cx="4381500" cy="4934173"/>
          </a:xfrm>
        </p:spPr>
        <p:txBody>
          <a:bodyPr/>
          <a:lstStyle/>
          <a:p>
            <a:r>
              <a:rPr lang="zh-CN" altLang="en-US"/>
              <a:t>单击图标添加剪 贴画</a:t>
            </a:r>
          </a:p>
        </p:txBody>
      </p:sp>
      <p:sp>
        <p:nvSpPr>
          <p:cNvPr id="5" name="日期占位符 4"/>
          <p:cNvSpPr>
            <a:spLocks noGrp="1"/>
          </p:cNvSpPr>
          <p:nvPr>
            <p:ph type="dt" sz="half" idx="10"/>
          </p:nvPr>
        </p:nvSpPr>
        <p:spPr>
          <a:xfrm>
            <a:off x="495300" y="6248400"/>
            <a:ext cx="2311400" cy="457200"/>
          </a:xfrm>
        </p:spPr>
        <p:txBody>
          <a:bodyPr/>
          <a:lstStyle>
            <a:lvl1pPr>
              <a:defRPr/>
            </a:lvl1pPr>
          </a:lstStyle>
          <a:p>
            <a:endParaRPr lang="en-US" altLang="zh-CN"/>
          </a:p>
        </p:txBody>
      </p:sp>
      <p:sp>
        <p:nvSpPr>
          <p:cNvPr id="6" name="页脚占位符 5"/>
          <p:cNvSpPr>
            <a:spLocks noGrp="1"/>
          </p:cNvSpPr>
          <p:nvPr>
            <p:ph type="ftr" sz="quarter" idx="11"/>
          </p:nvPr>
        </p:nvSpPr>
        <p:spPr>
          <a:xfrm>
            <a:off x="3384550" y="6248400"/>
            <a:ext cx="3136900" cy="457200"/>
          </a:xfrm>
        </p:spPr>
        <p:txBody>
          <a:bodyPr/>
          <a:lstStyle>
            <a:lvl1pPr>
              <a:defRPr/>
            </a:lvl1pPr>
          </a:lstStyle>
          <a:p>
            <a:endParaRPr lang="en-US" altLang="zh-CN"/>
          </a:p>
        </p:txBody>
      </p:sp>
      <p:sp>
        <p:nvSpPr>
          <p:cNvPr id="7" name="灯片编号占位符 6"/>
          <p:cNvSpPr>
            <a:spLocks noGrp="1"/>
          </p:cNvSpPr>
          <p:nvPr>
            <p:ph type="sldNum" sz="quarter" idx="12"/>
          </p:nvPr>
        </p:nvSpPr>
        <p:spPr>
          <a:xfrm>
            <a:off x="7099300" y="6248400"/>
            <a:ext cx="2311400" cy="457200"/>
          </a:xfrm>
        </p:spPr>
        <p:txBody>
          <a:bodyPr/>
          <a:lstStyle>
            <a:lvl1pPr>
              <a:defRPr/>
            </a:lvl1pPr>
          </a:lstStyle>
          <a:p>
            <a:fld id="{966CAE82-64C7-4E5B-88D2-F38A61F120C5}" type="slidenum">
              <a:rPr lang="zh-CN" altLang="en-US"/>
              <a:pPr/>
              <a:t>‹#›</a:t>
            </a:fld>
            <a:endParaRPr lang="en-US" altLang="zh-CN"/>
          </a:p>
        </p:txBody>
      </p:sp>
      <p:sp>
        <p:nvSpPr>
          <p:cNvPr id="8" name="Line 8"/>
          <p:cNvSpPr>
            <a:spLocks noChangeShapeType="1"/>
          </p:cNvSpPr>
          <p:nvPr userDrawn="1"/>
        </p:nvSpPr>
        <p:spPr bwMode="auto">
          <a:xfrm>
            <a:off x="495300" y="1052736"/>
            <a:ext cx="9066212" cy="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extLst>
      <p:ext uri="{BB962C8B-B14F-4D97-AF65-F5344CB8AC3E}">
        <p14:creationId xmlns:p14="http://schemas.microsoft.com/office/powerpoint/2010/main" val="27508900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bwMode="auto">
          <a:xfrm>
            <a:off x="495300" y="188640"/>
            <a:ext cx="9066212" cy="792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zh-CN" altLang="en-US" dirty="0"/>
              <a:t>单击此处编辑母版标题样式</a:t>
            </a:r>
            <a:endParaRPr lang="en-US" altLang="zh-CN" dirty="0"/>
          </a:p>
        </p:txBody>
      </p:sp>
      <p:sp>
        <p:nvSpPr>
          <p:cNvPr id="15363" name="Rectangle 3"/>
          <p:cNvSpPr>
            <a:spLocks noGrp="1" noChangeArrowheads="1"/>
          </p:cNvSpPr>
          <p:nvPr>
            <p:ph type="body" idx="1"/>
          </p:nvPr>
        </p:nvSpPr>
        <p:spPr bwMode="auto">
          <a:xfrm>
            <a:off x="495300" y="1196752"/>
            <a:ext cx="9066212" cy="4934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dirty="0"/>
              <a:t>单击此处编辑母版文本样式</a:t>
            </a:r>
            <a:endParaRPr lang="en-US" altLang="zh-CN" dirty="0"/>
          </a:p>
          <a:p>
            <a:pPr lvl="1"/>
            <a:r>
              <a:rPr lang="zh-CN" altLang="en-US" dirty="0"/>
              <a:t>第二级</a:t>
            </a:r>
            <a:endParaRPr lang="en-US" altLang="zh-CN" dirty="0"/>
          </a:p>
          <a:p>
            <a:pPr lvl="2"/>
            <a:r>
              <a:rPr lang="zh-CN" altLang="en-US" dirty="0"/>
              <a:t>第三级</a:t>
            </a:r>
            <a:endParaRPr lang="en-US" altLang="zh-CN" dirty="0"/>
          </a:p>
          <a:p>
            <a:pPr lvl="3"/>
            <a:r>
              <a:rPr lang="zh-CN" altLang="en-US" dirty="0"/>
              <a:t>第四级</a:t>
            </a:r>
            <a:endParaRPr lang="en-US" altLang="zh-CN" dirty="0"/>
          </a:p>
          <a:p>
            <a:pPr lvl="4"/>
            <a:r>
              <a:rPr lang="zh-CN" altLang="en-US" dirty="0"/>
              <a:t>第五级</a:t>
            </a:r>
            <a:endParaRPr lang="en-US" altLang="zh-CN" dirty="0"/>
          </a:p>
        </p:txBody>
      </p:sp>
      <p:sp>
        <p:nvSpPr>
          <p:cNvPr id="15364" name="Rectangle 4"/>
          <p:cNvSpPr>
            <a:spLocks noGrp="1" noChangeArrowheads="1"/>
          </p:cNvSpPr>
          <p:nvPr>
            <p:ph type="dt" sz="half" idx="2"/>
          </p:nvPr>
        </p:nvSpPr>
        <p:spPr bwMode="auto">
          <a:xfrm>
            <a:off x="495300" y="6356176"/>
            <a:ext cx="2311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000">
                <a:ea typeface="宋体" pitchFamily="2" charset="-122"/>
              </a:defRPr>
            </a:lvl1pPr>
          </a:lstStyle>
          <a:p>
            <a:endParaRPr lang="en-US" altLang="zh-CN" dirty="0"/>
          </a:p>
        </p:txBody>
      </p:sp>
      <p:sp>
        <p:nvSpPr>
          <p:cNvPr id="15365" name="Rectangle 5"/>
          <p:cNvSpPr>
            <a:spLocks noGrp="1" noChangeArrowheads="1"/>
          </p:cNvSpPr>
          <p:nvPr>
            <p:ph type="ftr" sz="quarter" idx="3"/>
          </p:nvPr>
        </p:nvSpPr>
        <p:spPr bwMode="auto">
          <a:xfrm>
            <a:off x="3384550" y="6356176"/>
            <a:ext cx="31369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defRPr sz="1000">
                <a:ea typeface="宋体" pitchFamily="2" charset="-122"/>
              </a:defRPr>
            </a:lvl1pPr>
          </a:lstStyle>
          <a:p>
            <a:endParaRPr lang="en-US" altLang="zh-CN"/>
          </a:p>
        </p:txBody>
      </p:sp>
      <p:sp>
        <p:nvSpPr>
          <p:cNvPr id="15366" name="Rectangle 6"/>
          <p:cNvSpPr>
            <a:spLocks noGrp="1" noChangeArrowheads="1"/>
          </p:cNvSpPr>
          <p:nvPr>
            <p:ph type="sldNum" sz="quarter" idx="4"/>
          </p:nvPr>
        </p:nvSpPr>
        <p:spPr bwMode="auto">
          <a:xfrm>
            <a:off x="7099300" y="6356176"/>
            <a:ext cx="2311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000">
                <a:ea typeface="宋体" pitchFamily="2" charset="-122"/>
              </a:defRPr>
            </a:lvl1pPr>
          </a:lstStyle>
          <a:p>
            <a:fld id="{67B052E9-C54A-4603-AE2F-EB72B006DB6C}" type="slidenum">
              <a:rPr lang="zh-CN" altLang="en-US"/>
              <a:pPr/>
              <a:t>‹#›</a:t>
            </a:fld>
            <a:endParaRPr lang="en-US" altLang="zh-CN"/>
          </a:p>
        </p:txBody>
      </p:sp>
      <p:sp>
        <p:nvSpPr>
          <p:cNvPr id="15367" name="Rectangle 7" descr="Gold bar"/>
          <p:cNvSpPr>
            <a:spLocks noChangeArrowheads="1"/>
          </p:cNvSpPr>
          <p:nvPr/>
        </p:nvSpPr>
        <p:spPr bwMode="auto">
          <a:xfrm>
            <a:off x="0" y="0"/>
            <a:ext cx="247650" cy="2286000"/>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en-US" sz="2400">
              <a:latin typeface="Times New Roman" pitchFamily="18" charset="0"/>
              <a:ea typeface="宋体" pitchFamily="2" charset="-122"/>
            </a:endParaRPr>
          </a:p>
        </p:txBody>
      </p:sp>
      <p:sp>
        <p:nvSpPr>
          <p:cNvPr id="15369" name="Rectangle 9" descr="Orange bar"/>
          <p:cNvSpPr>
            <a:spLocks noChangeArrowheads="1"/>
          </p:cNvSpPr>
          <p:nvPr/>
        </p:nvSpPr>
        <p:spPr bwMode="auto">
          <a:xfrm>
            <a:off x="0" y="2286000"/>
            <a:ext cx="247650" cy="2286000"/>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en-US" sz="2400">
              <a:latin typeface="Times New Roman" pitchFamily="18" charset="0"/>
              <a:ea typeface="宋体" pitchFamily="2" charset="-122"/>
            </a:endParaRPr>
          </a:p>
        </p:txBody>
      </p:sp>
      <p:sp>
        <p:nvSpPr>
          <p:cNvPr id="15370" name="Rectangle 10" descr="Slate bar"/>
          <p:cNvSpPr>
            <a:spLocks noChangeArrowheads="1"/>
          </p:cNvSpPr>
          <p:nvPr/>
        </p:nvSpPr>
        <p:spPr bwMode="auto">
          <a:xfrm>
            <a:off x="0" y="4572000"/>
            <a:ext cx="247650" cy="2286000"/>
          </a:xfrm>
          <a:prstGeom prst="rect">
            <a:avLst/>
          </a:prstGeom>
          <a:solidFill>
            <a:srgbClr val="333399"/>
          </a:solidFill>
          <a:ln>
            <a:noFill/>
          </a:ln>
          <a:effectLst/>
        </p:spPr>
        <p:txBody>
          <a:bodyPr wrap="none" anchor="ctr"/>
          <a:lstStyle/>
          <a:p>
            <a:pPr algn="ctr" eaLnBrk="1" hangingPunct="1"/>
            <a:endParaRPr lang="zh-CN" altLang="en-US" sz="2400">
              <a:latin typeface="Times New Roman" pitchFamily="18" charset="0"/>
              <a:ea typeface="宋体" pitchFamily="2" charset="-122"/>
            </a:endParaRPr>
          </a:p>
        </p:txBody>
      </p:sp>
    </p:spTree>
  </p:cSld>
  <p:clrMap bg1="lt1" tx1="dk1" bg2="lt2" tx2="dk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 id="2147483669" r:id="rId12"/>
    <p:sldLayoutId id="2147483670" r:id="rId13"/>
  </p:sldLayoutIdLst>
  <p:txStyles>
    <p:titleStyle>
      <a:lvl1pPr algn="l" rtl="0" eaLnBrk="1" fontAlgn="base" hangingPunct="1">
        <a:spcBef>
          <a:spcPct val="0"/>
        </a:spcBef>
        <a:spcAft>
          <a:spcPct val="0"/>
        </a:spcAft>
        <a:defRPr sz="4400" b="1">
          <a:solidFill>
            <a:srgbClr val="333399"/>
          </a:solidFill>
          <a:latin typeface="+mn-lt"/>
          <a:ea typeface="黑体" pitchFamily="2" charset="-122"/>
          <a:cs typeface="+mj-cs"/>
        </a:defRPr>
      </a:lvl1pPr>
      <a:lvl2pPr algn="l" rtl="0" eaLnBrk="1" fontAlgn="base" hangingPunct="1">
        <a:spcBef>
          <a:spcPct val="0"/>
        </a:spcBef>
        <a:spcAft>
          <a:spcPct val="0"/>
        </a:spcAft>
        <a:defRPr sz="4400">
          <a:solidFill>
            <a:schemeClr val="tx2"/>
          </a:solidFill>
          <a:latin typeface="Times New Roman" pitchFamily="18" charset="0"/>
        </a:defRPr>
      </a:lvl2pPr>
      <a:lvl3pPr algn="l" rtl="0" eaLnBrk="1" fontAlgn="base" hangingPunct="1">
        <a:spcBef>
          <a:spcPct val="0"/>
        </a:spcBef>
        <a:spcAft>
          <a:spcPct val="0"/>
        </a:spcAft>
        <a:defRPr sz="4400">
          <a:solidFill>
            <a:schemeClr val="tx2"/>
          </a:solidFill>
          <a:latin typeface="Times New Roman" pitchFamily="18" charset="0"/>
        </a:defRPr>
      </a:lvl3pPr>
      <a:lvl4pPr algn="l" rtl="0" eaLnBrk="1" fontAlgn="base" hangingPunct="1">
        <a:spcBef>
          <a:spcPct val="0"/>
        </a:spcBef>
        <a:spcAft>
          <a:spcPct val="0"/>
        </a:spcAft>
        <a:defRPr sz="4400">
          <a:solidFill>
            <a:schemeClr val="tx2"/>
          </a:solidFill>
          <a:latin typeface="Times New Roman" pitchFamily="18" charset="0"/>
        </a:defRPr>
      </a:lvl4pPr>
      <a:lvl5pPr algn="l" rtl="0" eaLnBrk="1" fontAlgn="base" hangingPunct="1">
        <a:spcBef>
          <a:spcPct val="0"/>
        </a:spcBef>
        <a:spcAft>
          <a:spcPct val="0"/>
        </a:spcAft>
        <a:defRPr sz="4400">
          <a:solidFill>
            <a:schemeClr val="tx2"/>
          </a:solidFill>
          <a:latin typeface="Times New Roman" pitchFamily="18" charset="0"/>
        </a:defRPr>
      </a:lvl5pPr>
      <a:lvl6pPr marL="457200" algn="l" rtl="0" eaLnBrk="1" fontAlgn="base" hangingPunct="1">
        <a:spcBef>
          <a:spcPct val="0"/>
        </a:spcBef>
        <a:spcAft>
          <a:spcPct val="0"/>
        </a:spcAft>
        <a:defRPr sz="4400">
          <a:solidFill>
            <a:schemeClr val="tx2"/>
          </a:solidFill>
          <a:latin typeface="Times New Roman" pitchFamily="18" charset="0"/>
        </a:defRPr>
      </a:lvl6pPr>
      <a:lvl7pPr marL="914400" algn="l" rtl="0" eaLnBrk="1" fontAlgn="base" hangingPunct="1">
        <a:spcBef>
          <a:spcPct val="0"/>
        </a:spcBef>
        <a:spcAft>
          <a:spcPct val="0"/>
        </a:spcAft>
        <a:defRPr sz="4400">
          <a:solidFill>
            <a:schemeClr val="tx2"/>
          </a:solidFill>
          <a:latin typeface="Times New Roman" pitchFamily="18" charset="0"/>
        </a:defRPr>
      </a:lvl7pPr>
      <a:lvl8pPr marL="1371600" algn="l" rtl="0" eaLnBrk="1" fontAlgn="base" hangingPunct="1">
        <a:spcBef>
          <a:spcPct val="0"/>
        </a:spcBef>
        <a:spcAft>
          <a:spcPct val="0"/>
        </a:spcAft>
        <a:defRPr sz="4400">
          <a:solidFill>
            <a:schemeClr val="tx2"/>
          </a:solidFill>
          <a:latin typeface="Times New Roman" pitchFamily="18" charset="0"/>
        </a:defRPr>
      </a:lvl8pPr>
      <a:lvl9pPr marL="1828800" algn="l" rtl="0" eaLnBrk="1" fontAlgn="base" hangingPunct="1">
        <a:spcBef>
          <a:spcPct val="0"/>
        </a:spcBef>
        <a:spcAft>
          <a:spcPct val="0"/>
        </a:spcAft>
        <a:defRPr sz="4400">
          <a:solidFill>
            <a:schemeClr val="tx2"/>
          </a:solidFill>
          <a:latin typeface="Times New Roman" pitchFamily="18" charset="0"/>
        </a:defRPr>
      </a:lvl9pPr>
    </p:titleStyle>
    <p:bodyStyle>
      <a:lvl1pPr marL="342900" indent="-342900" algn="l" rtl="0" eaLnBrk="1" fontAlgn="base" hangingPunct="1">
        <a:lnSpc>
          <a:spcPct val="110000"/>
        </a:lnSpc>
        <a:spcBef>
          <a:spcPts val="600"/>
        </a:spcBef>
        <a:spcAft>
          <a:spcPct val="0"/>
        </a:spcAft>
        <a:buClr>
          <a:srgbClr val="333399"/>
        </a:buClr>
        <a:buSzPct val="75000"/>
        <a:buFont typeface="Wingdings" pitchFamily="2" charset="2"/>
        <a:buChar char="n"/>
        <a:defRPr sz="3200" b="1">
          <a:solidFill>
            <a:schemeClr val="tx1"/>
          </a:solidFill>
          <a:latin typeface="+mn-lt"/>
          <a:ea typeface="黑体" pitchFamily="2" charset="-122"/>
          <a:cs typeface="+mn-cs"/>
        </a:defRPr>
      </a:lvl1pPr>
      <a:lvl2pPr marL="742950" indent="-285750" algn="l" rtl="0" eaLnBrk="1" fontAlgn="base" hangingPunct="1">
        <a:lnSpc>
          <a:spcPct val="110000"/>
        </a:lnSpc>
        <a:spcBef>
          <a:spcPts val="600"/>
        </a:spcBef>
        <a:spcAft>
          <a:spcPct val="0"/>
        </a:spcAft>
        <a:buClr>
          <a:schemeClr val="accent2"/>
        </a:buClr>
        <a:buSzPct val="70000"/>
        <a:buFont typeface="Wingdings" pitchFamily="2" charset="2"/>
        <a:buChar char="n"/>
        <a:defRPr sz="2800" b="1">
          <a:solidFill>
            <a:schemeClr val="tx1"/>
          </a:solidFill>
          <a:latin typeface="+mn-lt"/>
          <a:ea typeface="黑体" pitchFamily="2" charset="-122"/>
        </a:defRPr>
      </a:lvl2pPr>
      <a:lvl3pPr marL="1143000" indent="-228600" algn="l" rtl="0" eaLnBrk="1" fontAlgn="base" hangingPunct="1">
        <a:lnSpc>
          <a:spcPct val="110000"/>
        </a:lnSpc>
        <a:spcBef>
          <a:spcPts val="600"/>
        </a:spcBef>
        <a:spcAft>
          <a:spcPct val="0"/>
        </a:spcAft>
        <a:buClr>
          <a:srgbClr val="333399"/>
        </a:buClr>
        <a:buSzPct val="65000"/>
        <a:buFont typeface="Wingdings" pitchFamily="2" charset="2"/>
        <a:buChar char="p"/>
        <a:defRPr sz="2400" b="1">
          <a:solidFill>
            <a:schemeClr val="tx1"/>
          </a:solidFill>
          <a:latin typeface="+mn-lt"/>
          <a:ea typeface="黑体" pitchFamily="2" charset="-122"/>
        </a:defRPr>
      </a:lvl3pPr>
      <a:lvl4pPr marL="1600200" indent="-228600" algn="l" rtl="0" eaLnBrk="1" fontAlgn="base" hangingPunct="1">
        <a:lnSpc>
          <a:spcPct val="110000"/>
        </a:lnSpc>
        <a:spcBef>
          <a:spcPts val="600"/>
        </a:spcBef>
        <a:spcAft>
          <a:spcPct val="0"/>
        </a:spcAft>
        <a:buClr>
          <a:schemeClr val="bg2"/>
        </a:buClr>
        <a:buSzPct val="65000"/>
        <a:buFont typeface="Wingdings" pitchFamily="2" charset="2"/>
        <a:buChar char="n"/>
        <a:defRPr sz="2000" b="1">
          <a:solidFill>
            <a:schemeClr val="tx1"/>
          </a:solidFill>
          <a:latin typeface="+mn-lt"/>
          <a:ea typeface="黑体" pitchFamily="2" charset="-122"/>
        </a:defRPr>
      </a:lvl4pPr>
      <a:lvl5pPr marL="2057400" indent="-228600" algn="l" rtl="0" eaLnBrk="1" fontAlgn="base" hangingPunct="1">
        <a:lnSpc>
          <a:spcPct val="110000"/>
        </a:lnSpc>
        <a:spcBef>
          <a:spcPts val="600"/>
        </a:spcBef>
        <a:spcAft>
          <a:spcPct val="0"/>
        </a:spcAft>
        <a:buClr>
          <a:srgbClr val="333399"/>
        </a:buClr>
        <a:buSzPct val="60000"/>
        <a:buFont typeface="Wingdings" pitchFamily="2" charset="2"/>
        <a:buChar char="n"/>
        <a:defRPr sz="2000" b="1">
          <a:solidFill>
            <a:schemeClr val="tx1"/>
          </a:solidFill>
          <a:latin typeface="+mn-lt"/>
          <a:ea typeface="黑体" pitchFamily="2" charset="-122"/>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p:txBody>
          <a:bodyPr/>
          <a:lstStyle/>
          <a:p>
            <a:r>
              <a:rPr lang="zh-CN" altLang="en-US" dirty="0">
                <a:latin typeface="+mn-lt"/>
              </a:rPr>
              <a:t>运输层</a:t>
            </a:r>
          </a:p>
        </p:txBody>
      </p:sp>
      <p:sp>
        <p:nvSpPr>
          <p:cNvPr id="2051" name="Rectangle 3"/>
          <p:cNvSpPr>
            <a:spLocks noGrp="1" noChangeArrowheads="1"/>
          </p:cNvSpPr>
          <p:nvPr>
            <p:ph type="subTitle" idx="1"/>
          </p:nvPr>
        </p:nvSpPr>
        <p:spPr/>
        <p:txBody>
          <a:bodyPr/>
          <a:lstStyle/>
          <a:p>
            <a:endParaRPr lang="zh-CN" altLang="en-US" dirty="0">
              <a:ea typeface="宋体" pitchFamily="2" charset="-122"/>
            </a:endParaRPr>
          </a:p>
        </p:txBody>
      </p:sp>
    </p:spTree>
    <p:extLst>
      <p:ext uri="{BB962C8B-B14F-4D97-AF65-F5344CB8AC3E}">
        <p14:creationId xmlns:p14="http://schemas.microsoft.com/office/powerpoint/2010/main" val="210693819"/>
      </p:ext>
    </p:extLst>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运输</a:t>
            </a:r>
            <a:r>
              <a:rPr lang="zh-CN" altLang="zh-CN" dirty="0"/>
              <a:t>层</a:t>
            </a:r>
            <a:endParaRPr lang="zh-CN" altLang="en-US" dirty="0"/>
          </a:p>
        </p:txBody>
      </p:sp>
      <p:sp>
        <p:nvSpPr>
          <p:cNvPr id="3" name="内容占位符 2"/>
          <p:cNvSpPr>
            <a:spLocks noGrp="1"/>
          </p:cNvSpPr>
          <p:nvPr>
            <p:ph idx="1"/>
          </p:nvPr>
        </p:nvSpPr>
        <p:spPr/>
        <p:txBody>
          <a:bodyPr/>
          <a:lstStyle/>
          <a:p>
            <a:r>
              <a:rPr lang="en-US" altLang="zh-CN" sz="2800" dirty="0"/>
              <a:t>TCP </a:t>
            </a:r>
            <a:r>
              <a:rPr lang="zh-CN" altLang="zh-CN" sz="2800" dirty="0"/>
              <a:t>的运输连接管理</a:t>
            </a:r>
          </a:p>
          <a:p>
            <a:r>
              <a:rPr lang="en-US" altLang="zh-CN" sz="2800" dirty="0"/>
              <a:t>TCP </a:t>
            </a:r>
            <a:r>
              <a:rPr lang="zh-CN" altLang="zh-CN" sz="2800" dirty="0"/>
              <a:t>可靠传输的实现</a:t>
            </a:r>
          </a:p>
          <a:p>
            <a:r>
              <a:rPr lang="en-US" altLang="zh-CN" sz="2800" dirty="0"/>
              <a:t>TCP </a:t>
            </a:r>
            <a:r>
              <a:rPr lang="zh-CN" altLang="zh-CN" sz="2800" dirty="0"/>
              <a:t>的流量控制</a:t>
            </a:r>
          </a:p>
          <a:p>
            <a:r>
              <a:rPr lang="en-US" altLang="zh-CN" sz="2800" dirty="0"/>
              <a:t>TCP </a:t>
            </a:r>
            <a:r>
              <a:rPr lang="zh-CN" altLang="zh-CN" sz="2800" dirty="0"/>
              <a:t>的拥塞控制</a:t>
            </a:r>
          </a:p>
        </p:txBody>
      </p:sp>
    </p:spTree>
    <p:extLst>
      <p:ext uri="{BB962C8B-B14F-4D97-AF65-F5344CB8AC3E}">
        <p14:creationId xmlns:p14="http://schemas.microsoft.com/office/powerpoint/2010/main" val="12911551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运输</a:t>
            </a:r>
            <a:r>
              <a:rPr lang="zh-CN" altLang="zh-CN" dirty="0"/>
              <a:t>层</a:t>
            </a:r>
            <a:endParaRPr lang="zh-CN" altLang="en-US" dirty="0"/>
          </a:p>
        </p:txBody>
      </p:sp>
      <p:sp>
        <p:nvSpPr>
          <p:cNvPr id="3" name="内容占位符 2"/>
          <p:cNvSpPr>
            <a:spLocks noGrp="1"/>
          </p:cNvSpPr>
          <p:nvPr>
            <p:ph idx="1"/>
          </p:nvPr>
        </p:nvSpPr>
        <p:spPr/>
        <p:txBody>
          <a:bodyPr/>
          <a:lstStyle/>
          <a:p>
            <a:pPr lvl="0"/>
            <a:r>
              <a:rPr lang="en-US" altLang="zh-CN" dirty="0">
                <a:solidFill>
                  <a:srgbClr val="FF0000"/>
                </a:solidFill>
              </a:rPr>
              <a:t>TCP </a:t>
            </a:r>
            <a:r>
              <a:rPr lang="zh-CN" altLang="zh-CN" dirty="0">
                <a:solidFill>
                  <a:srgbClr val="FF0000"/>
                </a:solidFill>
              </a:rPr>
              <a:t>的运输连接管理</a:t>
            </a:r>
          </a:p>
          <a:p>
            <a:r>
              <a:rPr lang="en-US" altLang="zh-CN" sz="2800" dirty="0">
                <a:solidFill>
                  <a:schemeClr val="bg1">
                    <a:lumMod val="65000"/>
                  </a:schemeClr>
                </a:solidFill>
              </a:rPr>
              <a:t>TCP </a:t>
            </a:r>
            <a:r>
              <a:rPr lang="zh-CN" altLang="zh-CN" sz="2800" dirty="0">
                <a:solidFill>
                  <a:schemeClr val="bg1">
                    <a:lumMod val="65000"/>
                  </a:schemeClr>
                </a:solidFill>
              </a:rPr>
              <a:t>可靠传输的实现</a:t>
            </a:r>
          </a:p>
          <a:p>
            <a:r>
              <a:rPr lang="en-US" altLang="zh-CN" sz="2800" dirty="0">
                <a:solidFill>
                  <a:schemeClr val="bg1">
                    <a:lumMod val="65000"/>
                  </a:schemeClr>
                </a:solidFill>
              </a:rPr>
              <a:t>TCP </a:t>
            </a:r>
            <a:r>
              <a:rPr lang="zh-CN" altLang="zh-CN" sz="2800" dirty="0">
                <a:solidFill>
                  <a:schemeClr val="bg1">
                    <a:lumMod val="65000"/>
                  </a:schemeClr>
                </a:solidFill>
              </a:rPr>
              <a:t>的流量控制</a:t>
            </a:r>
          </a:p>
          <a:p>
            <a:r>
              <a:rPr lang="en-US" altLang="zh-CN" sz="2800" dirty="0">
                <a:solidFill>
                  <a:schemeClr val="bg1">
                    <a:lumMod val="65000"/>
                  </a:schemeClr>
                </a:solidFill>
              </a:rPr>
              <a:t>TCP </a:t>
            </a:r>
            <a:r>
              <a:rPr lang="zh-CN" altLang="zh-CN" sz="2800" dirty="0">
                <a:solidFill>
                  <a:schemeClr val="bg1">
                    <a:lumMod val="65000"/>
                  </a:schemeClr>
                </a:solidFill>
              </a:rPr>
              <a:t>的拥塞控制</a:t>
            </a:r>
          </a:p>
        </p:txBody>
      </p:sp>
    </p:spTree>
    <p:extLst>
      <p:ext uri="{BB962C8B-B14F-4D97-AF65-F5344CB8AC3E}">
        <p14:creationId xmlns:p14="http://schemas.microsoft.com/office/powerpoint/2010/main" val="26129040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42" name="Rectangle 2"/>
          <p:cNvSpPr>
            <a:spLocks noGrp="1" noChangeArrowheads="1"/>
          </p:cNvSpPr>
          <p:nvPr>
            <p:ph type="title"/>
          </p:nvPr>
        </p:nvSpPr>
        <p:spPr/>
        <p:txBody>
          <a:bodyPr/>
          <a:lstStyle/>
          <a:p>
            <a:r>
              <a:rPr lang="zh-CN" altLang="zh-CN" dirty="0"/>
              <a:t>连接管理</a:t>
            </a:r>
            <a:r>
              <a:rPr lang="zh-CN" altLang="en-US" dirty="0"/>
              <a:t>：</a:t>
            </a:r>
            <a:r>
              <a:rPr lang="zh-CN" altLang="zh-CN" dirty="0"/>
              <a:t>三个阶段</a:t>
            </a:r>
          </a:p>
        </p:txBody>
      </p:sp>
      <p:sp>
        <p:nvSpPr>
          <p:cNvPr id="931843" name="Rectangle 3"/>
          <p:cNvSpPr>
            <a:spLocks noGrp="1" noChangeArrowheads="1"/>
          </p:cNvSpPr>
          <p:nvPr>
            <p:ph idx="1"/>
          </p:nvPr>
        </p:nvSpPr>
        <p:spPr/>
        <p:txBody>
          <a:bodyPr/>
          <a:lstStyle/>
          <a:p>
            <a:r>
              <a:rPr lang="en-US" altLang="zh-CN" dirty="0"/>
              <a:t>TCP </a:t>
            </a:r>
            <a:r>
              <a:rPr lang="zh-CN" altLang="zh-CN" dirty="0"/>
              <a:t>是面向连接的协议。</a:t>
            </a:r>
            <a:endParaRPr lang="en-US" altLang="zh-CN" dirty="0"/>
          </a:p>
          <a:p>
            <a:r>
              <a:rPr lang="zh-CN" altLang="zh-CN" dirty="0"/>
              <a:t>运输连接有三个阶段：</a:t>
            </a:r>
            <a:endParaRPr lang="en-US" altLang="zh-CN" dirty="0"/>
          </a:p>
          <a:p>
            <a:pPr lvl="1"/>
            <a:r>
              <a:rPr lang="zh-CN" altLang="zh-CN" dirty="0">
                <a:solidFill>
                  <a:srgbClr val="0000FF"/>
                </a:solidFill>
              </a:rPr>
              <a:t>连接建立</a:t>
            </a:r>
            <a:endParaRPr lang="en-US" altLang="zh-CN" dirty="0">
              <a:solidFill>
                <a:srgbClr val="0000FF"/>
              </a:solidFill>
            </a:endParaRPr>
          </a:p>
          <a:p>
            <a:pPr lvl="1"/>
            <a:r>
              <a:rPr lang="zh-CN" altLang="zh-CN" dirty="0">
                <a:solidFill>
                  <a:srgbClr val="0000FF"/>
                </a:solidFill>
              </a:rPr>
              <a:t>数据传送</a:t>
            </a:r>
            <a:endParaRPr lang="en-US" altLang="zh-CN" dirty="0">
              <a:solidFill>
                <a:srgbClr val="0000FF"/>
              </a:solidFill>
            </a:endParaRPr>
          </a:p>
          <a:p>
            <a:pPr lvl="1"/>
            <a:r>
              <a:rPr lang="zh-CN" altLang="zh-CN" dirty="0">
                <a:solidFill>
                  <a:srgbClr val="0000FF"/>
                </a:solidFill>
              </a:rPr>
              <a:t>连接释放</a:t>
            </a:r>
            <a:endParaRPr lang="en-US" altLang="zh-CN" dirty="0">
              <a:solidFill>
                <a:srgbClr val="0000FF"/>
              </a:solidFill>
            </a:endParaRPr>
          </a:p>
          <a:p>
            <a:r>
              <a:rPr lang="zh-CN" altLang="zh-CN" dirty="0">
                <a:solidFill>
                  <a:srgbClr val="FF0000"/>
                </a:solidFill>
              </a:rPr>
              <a:t>运输连接的管理</a:t>
            </a:r>
            <a:r>
              <a:rPr lang="zh-CN" altLang="zh-CN" dirty="0"/>
              <a:t>就是使运输连接的建立和释放都能正常地进行。</a:t>
            </a:r>
          </a:p>
        </p:txBody>
      </p:sp>
    </p:spTree>
    <p:extLst>
      <p:ext uri="{BB962C8B-B14F-4D97-AF65-F5344CB8AC3E}">
        <p14:creationId xmlns:p14="http://schemas.microsoft.com/office/powerpoint/2010/main" val="24357328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42" name="Rectangle 2"/>
          <p:cNvSpPr>
            <a:spLocks noGrp="1" noChangeArrowheads="1"/>
          </p:cNvSpPr>
          <p:nvPr>
            <p:ph type="title"/>
          </p:nvPr>
        </p:nvSpPr>
        <p:spPr>
          <a:xfrm>
            <a:off x="495300" y="188640"/>
            <a:ext cx="8490148" cy="792088"/>
          </a:xfrm>
        </p:spPr>
        <p:txBody>
          <a:bodyPr/>
          <a:lstStyle/>
          <a:p>
            <a:pPr algn="ctr"/>
            <a:r>
              <a:rPr lang="en-US" altLang="zh-CN" sz="3600" dirty="0"/>
              <a:t>TCP </a:t>
            </a:r>
            <a:r>
              <a:rPr lang="zh-CN" altLang="zh-CN" sz="3600" dirty="0"/>
              <a:t>连接建立过程中要解决</a:t>
            </a:r>
            <a:r>
              <a:rPr lang="zh-CN" altLang="en-US" sz="3600" dirty="0"/>
              <a:t>的</a:t>
            </a:r>
            <a:r>
              <a:rPr lang="zh-CN" altLang="zh-CN" sz="3600" dirty="0"/>
              <a:t>三个问题</a:t>
            </a:r>
          </a:p>
        </p:txBody>
      </p:sp>
      <p:sp>
        <p:nvSpPr>
          <p:cNvPr id="931843" name="Rectangle 3"/>
          <p:cNvSpPr>
            <a:spLocks noGrp="1" noChangeArrowheads="1"/>
          </p:cNvSpPr>
          <p:nvPr>
            <p:ph idx="1"/>
          </p:nvPr>
        </p:nvSpPr>
        <p:spPr/>
        <p:txBody>
          <a:bodyPr/>
          <a:lstStyle/>
          <a:p>
            <a:r>
              <a:rPr lang="en-US" altLang="zh-CN" dirty="0"/>
              <a:t>(1) </a:t>
            </a:r>
            <a:r>
              <a:rPr lang="zh-CN" altLang="zh-CN" dirty="0"/>
              <a:t>要使每一方能够确知对方的存在。</a:t>
            </a:r>
          </a:p>
          <a:p>
            <a:r>
              <a:rPr lang="en-US" altLang="zh-CN" dirty="0"/>
              <a:t>(2) </a:t>
            </a:r>
            <a:r>
              <a:rPr lang="zh-CN" altLang="zh-CN" dirty="0"/>
              <a:t>要允许双方协商一些参数（如最大窗口值、是否使用窗口扩大选项和时间戳选项以及服务质量等）。</a:t>
            </a:r>
          </a:p>
          <a:p>
            <a:r>
              <a:rPr lang="en-US" altLang="zh-CN" dirty="0"/>
              <a:t>(3) </a:t>
            </a:r>
            <a:r>
              <a:rPr lang="zh-CN" altLang="zh-CN" dirty="0"/>
              <a:t>能够对运输实体资源（如缓存大小、连接表中的项目等）进行分配。</a:t>
            </a:r>
          </a:p>
        </p:txBody>
      </p:sp>
    </p:spTree>
    <p:extLst>
      <p:ext uri="{BB962C8B-B14F-4D97-AF65-F5344CB8AC3E}">
        <p14:creationId xmlns:p14="http://schemas.microsoft.com/office/powerpoint/2010/main" val="39772615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42" name="Rectangle 2"/>
          <p:cNvSpPr>
            <a:spLocks noGrp="1" noChangeArrowheads="1"/>
          </p:cNvSpPr>
          <p:nvPr>
            <p:ph type="title"/>
          </p:nvPr>
        </p:nvSpPr>
        <p:spPr/>
        <p:txBody>
          <a:bodyPr/>
          <a:lstStyle/>
          <a:p>
            <a:pPr algn="ctr"/>
            <a:r>
              <a:rPr lang="zh-CN" altLang="en-US" dirty="0"/>
              <a:t>客户</a:t>
            </a:r>
            <a:r>
              <a:rPr lang="zh-CN" altLang="en-US" dirty="0">
                <a:sym typeface="Symbol" pitchFamily="18" charset="2"/>
              </a:rPr>
              <a:t></a:t>
            </a:r>
            <a:r>
              <a:rPr lang="zh-CN" altLang="en-US" dirty="0"/>
              <a:t>服务器方式 </a:t>
            </a:r>
            <a:endParaRPr lang="zh-CN" altLang="zh-CN" dirty="0"/>
          </a:p>
        </p:txBody>
      </p:sp>
      <p:sp>
        <p:nvSpPr>
          <p:cNvPr id="931843" name="Rectangle 3"/>
          <p:cNvSpPr>
            <a:spLocks noGrp="1" noChangeArrowheads="1"/>
          </p:cNvSpPr>
          <p:nvPr>
            <p:ph idx="1"/>
          </p:nvPr>
        </p:nvSpPr>
        <p:spPr/>
        <p:txBody>
          <a:bodyPr/>
          <a:lstStyle/>
          <a:p>
            <a:r>
              <a:rPr lang="en-US" altLang="zh-CN" dirty="0"/>
              <a:t>TCP</a:t>
            </a:r>
            <a:r>
              <a:rPr lang="zh-CN" altLang="zh-CN" dirty="0"/>
              <a:t>连接的建立</a:t>
            </a:r>
            <a:r>
              <a:rPr lang="zh-CN" altLang="zh-CN" dirty="0">
                <a:solidFill>
                  <a:srgbClr val="FF0000"/>
                </a:solidFill>
              </a:rPr>
              <a:t>采用客户服务器方式。</a:t>
            </a:r>
            <a:endParaRPr lang="en-US" altLang="zh-CN" dirty="0">
              <a:solidFill>
                <a:srgbClr val="FF0000"/>
              </a:solidFill>
            </a:endParaRPr>
          </a:p>
          <a:p>
            <a:r>
              <a:rPr lang="zh-CN" altLang="zh-CN" dirty="0"/>
              <a:t>主动发起连接建立的应用进程叫做</a:t>
            </a:r>
            <a:r>
              <a:rPr lang="zh-CN" altLang="zh-CN" dirty="0">
                <a:solidFill>
                  <a:srgbClr val="FF0000"/>
                </a:solidFill>
              </a:rPr>
              <a:t>客户</a:t>
            </a:r>
            <a:r>
              <a:rPr lang="en-US" altLang="zh-CN" dirty="0"/>
              <a:t>(client)</a:t>
            </a:r>
            <a:r>
              <a:rPr lang="zh-CN" altLang="zh-CN" dirty="0"/>
              <a:t>，</a:t>
            </a:r>
            <a:endParaRPr lang="en-US" altLang="zh-CN" dirty="0"/>
          </a:p>
          <a:p>
            <a:r>
              <a:rPr lang="zh-CN" altLang="zh-CN" dirty="0"/>
              <a:t>被动等待连接建立的应用进程叫做</a:t>
            </a:r>
            <a:r>
              <a:rPr lang="zh-CN" altLang="zh-CN" dirty="0">
                <a:solidFill>
                  <a:srgbClr val="FF0000"/>
                </a:solidFill>
              </a:rPr>
              <a:t>服务器</a:t>
            </a:r>
            <a:r>
              <a:rPr lang="en-US" altLang="zh-CN" dirty="0"/>
              <a:t>(server)</a:t>
            </a:r>
            <a:r>
              <a:rPr lang="zh-CN" altLang="zh-CN" dirty="0"/>
              <a:t>。</a:t>
            </a:r>
          </a:p>
        </p:txBody>
      </p:sp>
    </p:spTree>
    <p:extLst>
      <p:ext uri="{BB962C8B-B14F-4D97-AF65-F5344CB8AC3E}">
        <p14:creationId xmlns:p14="http://schemas.microsoft.com/office/powerpoint/2010/main" val="23039397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连接管理</a:t>
            </a:r>
            <a:r>
              <a:rPr lang="zh-CN" altLang="en-US" dirty="0"/>
              <a:t>：</a:t>
            </a:r>
            <a:r>
              <a:rPr lang="zh-CN" altLang="zh-CN" dirty="0"/>
              <a:t>连接建立</a:t>
            </a:r>
            <a:endParaRPr lang="zh-CN" altLang="en-US" dirty="0"/>
          </a:p>
        </p:txBody>
      </p:sp>
      <p:sp>
        <p:nvSpPr>
          <p:cNvPr id="3" name="内容占位符 2"/>
          <p:cNvSpPr>
            <a:spLocks noGrp="1"/>
          </p:cNvSpPr>
          <p:nvPr>
            <p:ph idx="1"/>
          </p:nvPr>
        </p:nvSpPr>
        <p:spPr/>
        <p:txBody>
          <a:bodyPr/>
          <a:lstStyle/>
          <a:p>
            <a:r>
              <a:rPr lang="en-US" altLang="zh-CN" dirty="0"/>
              <a:t>TCP </a:t>
            </a:r>
            <a:r>
              <a:rPr lang="zh-CN" altLang="zh-CN" dirty="0"/>
              <a:t>建立连接的过程叫做</a:t>
            </a:r>
            <a:r>
              <a:rPr lang="zh-CN" altLang="zh-CN" dirty="0">
                <a:solidFill>
                  <a:srgbClr val="FF0000"/>
                </a:solidFill>
              </a:rPr>
              <a:t>握手</a:t>
            </a:r>
            <a:r>
              <a:rPr lang="zh-CN" altLang="en-US" dirty="0">
                <a:solidFill>
                  <a:srgbClr val="FF0000"/>
                </a:solidFill>
              </a:rPr>
              <a:t>。</a:t>
            </a:r>
            <a:endParaRPr lang="en-US" altLang="zh-CN" dirty="0">
              <a:solidFill>
                <a:srgbClr val="FF0000"/>
              </a:solidFill>
            </a:endParaRPr>
          </a:p>
          <a:p>
            <a:r>
              <a:rPr lang="zh-CN" altLang="zh-CN" dirty="0"/>
              <a:t>握手需要在客户和服务器之间交换三个</a:t>
            </a:r>
            <a:r>
              <a:rPr lang="en-US" altLang="zh-CN" dirty="0"/>
              <a:t> TCP </a:t>
            </a:r>
            <a:r>
              <a:rPr lang="zh-CN" altLang="zh-CN" dirty="0"/>
              <a:t>报文段。</a:t>
            </a:r>
            <a:r>
              <a:rPr lang="zh-CN" altLang="en-US" dirty="0"/>
              <a:t>称之为</a:t>
            </a:r>
            <a:r>
              <a:rPr lang="zh-CN" altLang="zh-CN" dirty="0">
                <a:solidFill>
                  <a:srgbClr val="FF0000"/>
                </a:solidFill>
              </a:rPr>
              <a:t>三报文握手</a:t>
            </a:r>
            <a:r>
              <a:rPr lang="zh-CN" altLang="en-US" dirty="0">
                <a:solidFill>
                  <a:srgbClr val="FF0000"/>
                </a:solidFill>
              </a:rPr>
              <a:t>。</a:t>
            </a:r>
            <a:endParaRPr lang="en-US" altLang="zh-CN" dirty="0">
              <a:solidFill>
                <a:srgbClr val="FF0000"/>
              </a:solidFill>
            </a:endParaRPr>
          </a:p>
          <a:p>
            <a:r>
              <a:rPr lang="zh-CN" altLang="en-US" dirty="0"/>
              <a:t>采用</a:t>
            </a:r>
            <a:r>
              <a:rPr lang="zh-CN" altLang="zh-CN" dirty="0">
                <a:solidFill>
                  <a:srgbClr val="FF0000"/>
                </a:solidFill>
              </a:rPr>
              <a:t>三报文握手</a:t>
            </a:r>
            <a:r>
              <a:rPr lang="zh-CN" altLang="zh-CN" dirty="0"/>
              <a:t>主要是为了防止已失效的连接请求报文段突然又传送到了，因而产生错误。</a:t>
            </a:r>
          </a:p>
        </p:txBody>
      </p:sp>
    </p:spTree>
    <p:extLst>
      <p:ext uri="{BB962C8B-B14F-4D97-AF65-F5344CB8AC3E}">
        <p14:creationId xmlns:p14="http://schemas.microsoft.com/office/powerpoint/2010/main" val="32020002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2"/>
          <p:cNvGrpSpPr>
            <a:grpSpLocks/>
          </p:cNvGrpSpPr>
          <p:nvPr/>
        </p:nvGrpSpPr>
        <p:grpSpPr bwMode="auto">
          <a:xfrm>
            <a:off x="2802259" y="2997200"/>
            <a:ext cx="4248150" cy="3441700"/>
            <a:chOff x="1474" y="1888"/>
            <a:chExt cx="2676" cy="2432"/>
          </a:xfrm>
        </p:grpSpPr>
        <p:sp>
          <p:nvSpPr>
            <p:cNvPr id="7" name="Line 3"/>
            <p:cNvSpPr>
              <a:spLocks noChangeShapeType="1"/>
            </p:cNvSpPr>
            <p:nvPr/>
          </p:nvSpPr>
          <p:spPr bwMode="auto">
            <a:xfrm>
              <a:off x="1474" y="1888"/>
              <a:ext cx="0" cy="2432"/>
            </a:xfrm>
            <a:prstGeom prst="line">
              <a:avLst/>
            </a:prstGeom>
            <a:noFill/>
            <a:ln w="28575">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8" name="Line 4"/>
            <p:cNvSpPr>
              <a:spLocks noChangeShapeType="1"/>
            </p:cNvSpPr>
            <p:nvPr/>
          </p:nvSpPr>
          <p:spPr bwMode="auto">
            <a:xfrm>
              <a:off x="4150" y="1888"/>
              <a:ext cx="0" cy="2432"/>
            </a:xfrm>
            <a:prstGeom prst="line">
              <a:avLst/>
            </a:prstGeom>
            <a:noFill/>
            <a:ln w="28575">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grpSp>
      <p:sp>
        <p:nvSpPr>
          <p:cNvPr id="9" name="Rectangle 5"/>
          <p:cNvSpPr txBox="1">
            <a:spLocks noChangeArrowheads="1"/>
          </p:cNvSpPr>
          <p:nvPr/>
        </p:nvSpPr>
        <p:spPr bwMode="auto">
          <a:xfrm>
            <a:off x="0" y="152400"/>
            <a:ext cx="8791575"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kumimoji="1" sz="4400" b="1">
                <a:solidFill>
                  <a:schemeClr val="tx2"/>
                </a:solidFill>
                <a:latin typeface="+mj-lt"/>
                <a:ea typeface="+mj-ea"/>
                <a:cs typeface="+mj-cs"/>
              </a:defRPr>
            </a:lvl1pPr>
            <a:lvl2pPr algn="l" rtl="0" eaLnBrk="0" fontAlgn="base" hangingPunct="0">
              <a:spcBef>
                <a:spcPct val="0"/>
              </a:spcBef>
              <a:spcAft>
                <a:spcPct val="0"/>
              </a:spcAft>
              <a:defRPr kumimoji="1" sz="4400" b="1">
                <a:solidFill>
                  <a:schemeClr val="tx2"/>
                </a:solidFill>
                <a:latin typeface="Tahoma" pitchFamily="34" charset="0"/>
                <a:ea typeface="黑体" pitchFamily="2" charset="-122"/>
              </a:defRPr>
            </a:lvl2pPr>
            <a:lvl3pPr algn="l" rtl="0" eaLnBrk="0" fontAlgn="base" hangingPunct="0">
              <a:spcBef>
                <a:spcPct val="0"/>
              </a:spcBef>
              <a:spcAft>
                <a:spcPct val="0"/>
              </a:spcAft>
              <a:defRPr kumimoji="1" sz="4400" b="1">
                <a:solidFill>
                  <a:schemeClr val="tx2"/>
                </a:solidFill>
                <a:latin typeface="Tahoma" pitchFamily="34" charset="0"/>
                <a:ea typeface="黑体" pitchFamily="2" charset="-122"/>
              </a:defRPr>
            </a:lvl3pPr>
            <a:lvl4pPr algn="l" rtl="0" eaLnBrk="0" fontAlgn="base" hangingPunct="0">
              <a:spcBef>
                <a:spcPct val="0"/>
              </a:spcBef>
              <a:spcAft>
                <a:spcPct val="0"/>
              </a:spcAft>
              <a:defRPr kumimoji="1" sz="4400" b="1">
                <a:solidFill>
                  <a:schemeClr val="tx2"/>
                </a:solidFill>
                <a:latin typeface="Tahoma" pitchFamily="34" charset="0"/>
                <a:ea typeface="黑体" pitchFamily="2" charset="-122"/>
              </a:defRPr>
            </a:lvl4pPr>
            <a:lvl5pPr algn="l" rtl="0" eaLnBrk="0" fontAlgn="base" hangingPunct="0">
              <a:spcBef>
                <a:spcPct val="0"/>
              </a:spcBef>
              <a:spcAft>
                <a:spcPct val="0"/>
              </a:spcAft>
              <a:defRPr kumimoji="1" sz="4400" b="1">
                <a:solidFill>
                  <a:schemeClr val="tx2"/>
                </a:solidFill>
                <a:latin typeface="Tahoma" pitchFamily="34" charset="0"/>
                <a:ea typeface="黑体" pitchFamily="2" charset="-122"/>
              </a:defRPr>
            </a:lvl5pPr>
            <a:lvl6pPr marL="457200" algn="l" rtl="0" fontAlgn="base">
              <a:spcBef>
                <a:spcPct val="0"/>
              </a:spcBef>
              <a:spcAft>
                <a:spcPct val="0"/>
              </a:spcAft>
              <a:defRPr kumimoji="1" sz="4400" b="1">
                <a:solidFill>
                  <a:schemeClr val="tx2"/>
                </a:solidFill>
                <a:latin typeface="Tahoma" pitchFamily="34" charset="0"/>
                <a:ea typeface="黑体" pitchFamily="2" charset="-122"/>
              </a:defRPr>
            </a:lvl6pPr>
            <a:lvl7pPr marL="914400" algn="l" rtl="0" fontAlgn="base">
              <a:spcBef>
                <a:spcPct val="0"/>
              </a:spcBef>
              <a:spcAft>
                <a:spcPct val="0"/>
              </a:spcAft>
              <a:defRPr kumimoji="1" sz="4400" b="1">
                <a:solidFill>
                  <a:schemeClr val="tx2"/>
                </a:solidFill>
                <a:latin typeface="Tahoma" pitchFamily="34" charset="0"/>
                <a:ea typeface="黑体" pitchFamily="2" charset="-122"/>
              </a:defRPr>
            </a:lvl7pPr>
            <a:lvl8pPr marL="1371600" algn="l" rtl="0" fontAlgn="base">
              <a:spcBef>
                <a:spcPct val="0"/>
              </a:spcBef>
              <a:spcAft>
                <a:spcPct val="0"/>
              </a:spcAft>
              <a:defRPr kumimoji="1" sz="4400" b="1">
                <a:solidFill>
                  <a:schemeClr val="tx2"/>
                </a:solidFill>
                <a:latin typeface="Tahoma" pitchFamily="34" charset="0"/>
                <a:ea typeface="黑体" pitchFamily="2" charset="-122"/>
              </a:defRPr>
            </a:lvl8pPr>
            <a:lvl9pPr marL="1828800" algn="l" rtl="0" fontAlgn="base">
              <a:spcBef>
                <a:spcPct val="0"/>
              </a:spcBef>
              <a:spcAft>
                <a:spcPct val="0"/>
              </a:spcAft>
              <a:defRPr kumimoji="1" sz="4400" b="1">
                <a:solidFill>
                  <a:schemeClr val="tx2"/>
                </a:solidFill>
                <a:latin typeface="Tahoma" pitchFamily="34" charset="0"/>
                <a:ea typeface="黑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br>
              <a:rPr kumimoji="1" lang="en-US" altLang="zh-CN" sz="4000" b="1" i="0" u="none" strike="noStrike" kern="0" cap="none" spc="0" normalizeH="0" baseline="0" noProof="0">
                <a:ln>
                  <a:noFill/>
                </a:ln>
                <a:solidFill>
                  <a:srgbClr val="333399"/>
                </a:solidFill>
                <a:effectLst/>
                <a:uLnTx/>
                <a:uFillTx/>
                <a:latin typeface="Tahoma"/>
                <a:ea typeface="黑体"/>
                <a:cs typeface="+mj-cs"/>
              </a:rPr>
            </a:br>
            <a:endParaRPr kumimoji="1" lang="en-US" altLang="zh-CN" sz="4000" b="1" i="0" u="none" strike="noStrike" kern="0" cap="none" spc="0" normalizeH="0" baseline="0" noProof="0">
              <a:ln>
                <a:noFill/>
              </a:ln>
              <a:solidFill>
                <a:srgbClr val="333399"/>
              </a:solidFill>
              <a:effectLst/>
              <a:uLnTx/>
              <a:uFillTx/>
              <a:latin typeface="Tahoma"/>
              <a:ea typeface="黑体"/>
              <a:cs typeface="+mj-cs"/>
            </a:endParaRPr>
          </a:p>
        </p:txBody>
      </p:sp>
      <p:grpSp>
        <p:nvGrpSpPr>
          <p:cNvPr id="10" name="Group 6"/>
          <p:cNvGrpSpPr>
            <a:grpSpLocks/>
          </p:cNvGrpSpPr>
          <p:nvPr/>
        </p:nvGrpSpPr>
        <p:grpSpPr bwMode="auto">
          <a:xfrm>
            <a:off x="2875284" y="3005141"/>
            <a:ext cx="4111625" cy="801688"/>
            <a:chOff x="1520" y="1893"/>
            <a:chExt cx="2590" cy="505"/>
          </a:xfrm>
        </p:grpSpPr>
        <p:sp>
          <p:nvSpPr>
            <p:cNvPr id="11" name="Rectangle 7"/>
            <p:cNvSpPr>
              <a:spLocks noChangeArrowheads="1"/>
            </p:cNvSpPr>
            <p:nvPr/>
          </p:nvSpPr>
          <p:spPr bwMode="auto">
            <a:xfrm rot="665985">
              <a:off x="2095" y="1903"/>
              <a:ext cx="160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2000" b="1" i="0" u="none" strike="noStrike" kern="0" cap="none" spc="0" normalizeH="0" baseline="0" noProof="0" dirty="0">
                  <a:ln>
                    <a:noFill/>
                  </a:ln>
                  <a:solidFill>
                    <a:srgbClr val="3333CC"/>
                  </a:solidFill>
                  <a:effectLst/>
                  <a:uLnTx/>
                  <a:uFillTx/>
                  <a:latin typeface="+mn-lt"/>
                  <a:ea typeface="黑体" pitchFamily="2" charset="-122"/>
                </a:rPr>
                <a:t>SYN = 1, </a:t>
              </a:r>
              <a:r>
                <a:rPr kumimoji="0" lang="en-US" altLang="zh-CN" sz="2000" b="1" i="0" u="none" strike="noStrike" kern="0" cap="none" spc="0" normalizeH="0" baseline="0" noProof="0" dirty="0" err="1">
                  <a:ln>
                    <a:noFill/>
                  </a:ln>
                  <a:solidFill>
                    <a:srgbClr val="3333CC"/>
                  </a:solidFill>
                  <a:effectLst/>
                  <a:uLnTx/>
                  <a:uFillTx/>
                  <a:latin typeface="+mn-lt"/>
                  <a:ea typeface="黑体" pitchFamily="2" charset="-122"/>
                </a:rPr>
                <a:t>seq</a:t>
              </a:r>
              <a:r>
                <a:rPr kumimoji="0" lang="en-US" altLang="zh-CN" sz="2000" b="1" i="0" u="none" strike="noStrike" kern="0" cap="none" spc="0" normalizeH="0" baseline="0" noProof="0" dirty="0">
                  <a:ln>
                    <a:noFill/>
                  </a:ln>
                  <a:solidFill>
                    <a:srgbClr val="3333CC"/>
                  </a:solidFill>
                  <a:effectLst/>
                  <a:uLnTx/>
                  <a:uFillTx/>
                  <a:latin typeface="+mn-lt"/>
                  <a:ea typeface="黑体" pitchFamily="2" charset="-122"/>
                </a:rPr>
                <a:t> = x</a:t>
              </a:r>
            </a:p>
          </p:txBody>
        </p:sp>
        <p:sp>
          <p:nvSpPr>
            <p:cNvPr id="12" name="Line 8"/>
            <p:cNvSpPr>
              <a:spLocks noChangeShapeType="1"/>
            </p:cNvSpPr>
            <p:nvPr/>
          </p:nvSpPr>
          <p:spPr bwMode="auto">
            <a:xfrm>
              <a:off x="1520" y="1893"/>
              <a:ext cx="2590" cy="505"/>
            </a:xfrm>
            <a:prstGeom prst="line">
              <a:avLst/>
            </a:prstGeom>
            <a:noFill/>
            <a:ln w="5715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itchFamily="2" charset="-122"/>
              </a:endParaRPr>
            </a:p>
          </p:txBody>
        </p:sp>
      </p:grpSp>
      <p:sp>
        <p:nvSpPr>
          <p:cNvPr id="13" name="Rectangle 9"/>
          <p:cNvSpPr>
            <a:spLocks noChangeArrowheads="1"/>
          </p:cNvSpPr>
          <p:nvPr/>
        </p:nvSpPr>
        <p:spPr bwMode="auto">
          <a:xfrm>
            <a:off x="1898972" y="2393950"/>
            <a:ext cx="966787" cy="549275"/>
          </a:xfrm>
          <a:prstGeom prst="rect">
            <a:avLst/>
          </a:prstGeom>
          <a:solidFill>
            <a:srgbClr val="663300"/>
          </a:solidFill>
          <a:ln>
            <a:noFill/>
          </a:ln>
          <a:effectLst>
            <a:outerShdw dist="35921" dir="2700000" algn="ctr" rotWithShape="0">
              <a:srgbClr val="1C1C1C"/>
            </a:outerShdw>
          </a:effectLst>
          <a:extLst>
            <a:ext uri="{91240B29-F687-4F45-9708-019B960494DF}">
              <a14:hiddenLine xmlns:a14="http://schemas.microsoft.com/office/drawing/2010/main" w="12700">
                <a:solidFill>
                  <a:schemeClr val="tx1"/>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itchFamily="2" charset="-122"/>
            </a:endParaRPr>
          </a:p>
        </p:txBody>
      </p:sp>
      <p:sp>
        <p:nvSpPr>
          <p:cNvPr id="14" name="Text Box 10"/>
          <p:cNvSpPr txBox="1">
            <a:spLocks noChangeArrowheads="1"/>
          </p:cNvSpPr>
          <p:nvPr/>
        </p:nvSpPr>
        <p:spPr bwMode="auto">
          <a:xfrm>
            <a:off x="1849759" y="2455863"/>
            <a:ext cx="114646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a:r>
              <a:rPr lang="en-US" altLang="zh-CN" sz="1800">
                <a:solidFill>
                  <a:srgbClr val="FFFF99"/>
                </a:solidFill>
                <a:latin typeface="+mn-lt"/>
                <a:ea typeface="黑体" pitchFamily="2" charset="-122"/>
              </a:rPr>
              <a:t>CLOSED</a:t>
            </a:r>
          </a:p>
        </p:txBody>
      </p:sp>
      <p:sp>
        <p:nvSpPr>
          <p:cNvPr id="15" name="Rectangle 11"/>
          <p:cNvSpPr>
            <a:spLocks noChangeArrowheads="1"/>
          </p:cNvSpPr>
          <p:nvPr/>
        </p:nvSpPr>
        <p:spPr bwMode="auto">
          <a:xfrm>
            <a:off x="6988497" y="2393950"/>
            <a:ext cx="985837" cy="549275"/>
          </a:xfrm>
          <a:prstGeom prst="rect">
            <a:avLst/>
          </a:prstGeom>
          <a:solidFill>
            <a:srgbClr val="663300"/>
          </a:solidFill>
          <a:ln>
            <a:noFill/>
          </a:ln>
          <a:effectLst>
            <a:outerShdw dist="35921" dir="2700000" algn="ctr" rotWithShape="0">
              <a:srgbClr val="1C1C1C"/>
            </a:outerShdw>
          </a:effectLst>
          <a:extLst>
            <a:ext uri="{91240B29-F687-4F45-9708-019B960494DF}">
              <a14:hiddenLine xmlns:a14="http://schemas.microsoft.com/office/drawing/2010/main" w="12700">
                <a:solidFill>
                  <a:schemeClr val="tx1"/>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itchFamily="2" charset="-122"/>
            </a:endParaRPr>
          </a:p>
        </p:txBody>
      </p:sp>
      <p:sp>
        <p:nvSpPr>
          <p:cNvPr id="16" name="Text Box 12"/>
          <p:cNvSpPr txBox="1">
            <a:spLocks noChangeArrowheads="1"/>
          </p:cNvSpPr>
          <p:nvPr/>
        </p:nvSpPr>
        <p:spPr bwMode="auto">
          <a:xfrm>
            <a:off x="6948809" y="2455863"/>
            <a:ext cx="114646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a:r>
              <a:rPr lang="en-US" altLang="zh-CN" sz="1800">
                <a:solidFill>
                  <a:srgbClr val="FFFF99"/>
                </a:solidFill>
                <a:latin typeface="+mn-lt"/>
                <a:ea typeface="黑体" pitchFamily="2" charset="-122"/>
              </a:rPr>
              <a:t>CLOSED</a:t>
            </a:r>
          </a:p>
        </p:txBody>
      </p:sp>
      <p:grpSp>
        <p:nvGrpSpPr>
          <p:cNvPr id="17" name="Group 13"/>
          <p:cNvGrpSpPr>
            <a:grpSpLocks/>
          </p:cNvGrpSpPr>
          <p:nvPr/>
        </p:nvGrpSpPr>
        <p:grpSpPr bwMode="auto">
          <a:xfrm>
            <a:off x="857572" y="2057400"/>
            <a:ext cx="1320800" cy="947738"/>
            <a:chOff x="249" y="1296"/>
            <a:chExt cx="832" cy="597"/>
          </a:xfrm>
        </p:grpSpPr>
        <p:sp>
          <p:nvSpPr>
            <p:cNvPr id="18" name="Rectangle 14"/>
            <p:cNvSpPr>
              <a:spLocks noChangeArrowheads="1"/>
            </p:cNvSpPr>
            <p:nvPr/>
          </p:nvSpPr>
          <p:spPr bwMode="auto">
            <a:xfrm>
              <a:off x="251" y="1638"/>
              <a:ext cx="701"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800" b="1" i="0" u="none" strike="noStrike" kern="0" cap="none" spc="0" normalizeH="0" baseline="0" noProof="0">
                  <a:ln>
                    <a:noFill/>
                  </a:ln>
                  <a:solidFill>
                    <a:srgbClr val="3333CC"/>
                  </a:solidFill>
                  <a:effectLst/>
                  <a:uLnTx/>
                  <a:uFillTx/>
                  <a:latin typeface="+mn-lt"/>
                  <a:ea typeface="黑体" pitchFamily="2" charset="-122"/>
                </a:rPr>
                <a:t>主动打开</a:t>
              </a:r>
            </a:p>
          </p:txBody>
        </p:sp>
        <p:sp>
          <p:nvSpPr>
            <p:cNvPr id="19" name="Freeform 15"/>
            <p:cNvSpPr>
              <a:spLocks/>
            </p:cNvSpPr>
            <p:nvPr/>
          </p:nvSpPr>
          <p:spPr bwMode="auto">
            <a:xfrm>
              <a:off x="249" y="1296"/>
              <a:ext cx="832" cy="597"/>
            </a:xfrm>
            <a:custGeom>
              <a:avLst/>
              <a:gdLst>
                <a:gd name="T0" fmla="*/ 832 w 758"/>
                <a:gd name="T1" fmla="*/ 5 h 491"/>
                <a:gd name="T2" fmla="*/ 0 w 758"/>
                <a:gd name="T3" fmla="*/ 0 h 491"/>
                <a:gd name="T4" fmla="*/ 0 w 758"/>
                <a:gd name="T5" fmla="*/ 597 h 491"/>
                <a:gd name="T6" fmla="*/ 650 w 758"/>
                <a:gd name="T7" fmla="*/ 597 h 49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58" h="491">
                  <a:moveTo>
                    <a:pt x="758" y="4"/>
                  </a:moveTo>
                  <a:lnTo>
                    <a:pt x="0" y="0"/>
                  </a:lnTo>
                  <a:lnTo>
                    <a:pt x="0" y="491"/>
                  </a:lnTo>
                  <a:lnTo>
                    <a:pt x="592" y="491"/>
                  </a:lnTo>
                </a:path>
              </a:pathLst>
            </a:custGeom>
            <a:noFill/>
            <a:ln w="28575" cap="flat" cmpd="sng">
              <a:solidFill>
                <a:srgbClr val="3333CC"/>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itchFamily="2" charset="-122"/>
              </a:endParaRPr>
            </a:p>
          </p:txBody>
        </p:sp>
      </p:grpSp>
      <p:grpSp>
        <p:nvGrpSpPr>
          <p:cNvPr id="20" name="Group 16"/>
          <p:cNvGrpSpPr>
            <a:grpSpLocks/>
          </p:cNvGrpSpPr>
          <p:nvPr/>
        </p:nvGrpSpPr>
        <p:grpSpPr bwMode="auto">
          <a:xfrm>
            <a:off x="7685412" y="2065338"/>
            <a:ext cx="1401763" cy="939800"/>
            <a:chOff x="4550" y="1301"/>
            <a:chExt cx="883" cy="592"/>
          </a:xfrm>
        </p:grpSpPr>
        <p:sp>
          <p:nvSpPr>
            <p:cNvPr id="21" name="Rectangle 17"/>
            <p:cNvSpPr>
              <a:spLocks noChangeArrowheads="1"/>
            </p:cNvSpPr>
            <p:nvPr/>
          </p:nvSpPr>
          <p:spPr bwMode="auto">
            <a:xfrm>
              <a:off x="4732" y="1617"/>
              <a:ext cx="701"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800" b="1" i="0" u="none" strike="noStrike" kern="0" cap="none" spc="0" normalizeH="0" baseline="0" noProof="0">
                  <a:ln>
                    <a:noFill/>
                  </a:ln>
                  <a:solidFill>
                    <a:srgbClr val="3333CC"/>
                  </a:solidFill>
                  <a:effectLst/>
                  <a:uLnTx/>
                  <a:uFillTx/>
                  <a:latin typeface="+mn-lt"/>
                  <a:ea typeface="黑体" pitchFamily="2" charset="-122"/>
                </a:rPr>
                <a:t>被动打开</a:t>
              </a:r>
            </a:p>
          </p:txBody>
        </p:sp>
        <p:sp>
          <p:nvSpPr>
            <p:cNvPr id="22" name="Freeform 18"/>
            <p:cNvSpPr>
              <a:spLocks/>
            </p:cNvSpPr>
            <p:nvPr/>
          </p:nvSpPr>
          <p:spPr bwMode="auto">
            <a:xfrm>
              <a:off x="4550" y="1301"/>
              <a:ext cx="870" cy="592"/>
            </a:xfrm>
            <a:custGeom>
              <a:avLst/>
              <a:gdLst>
                <a:gd name="T0" fmla="*/ 0 w 792"/>
                <a:gd name="T1" fmla="*/ 0 h 487"/>
                <a:gd name="T2" fmla="*/ 870 w 792"/>
                <a:gd name="T3" fmla="*/ 5 h 487"/>
                <a:gd name="T4" fmla="*/ 870 w 792"/>
                <a:gd name="T5" fmla="*/ 592 h 487"/>
                <a:gd name="T6" fmla="*/ 201 w 792"/>
                <a:gd name="T7" fmla="*/ 583 h 48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92" h="487">
                  <a:moveTo>
                    <a:pt x="0" y="0"/>
                  </a:moveTo>
                  <a:lnTo>
                    <a:pt x="792" y="4"/>
                  </a:lnTo>
                  <a:lnTo>
                    <a:pt x="792" y="487"/>
                  </a:lnTo>
                  <a:lnTo>
                    <a:pt x="183" y="480"/>
                  </a:lnTo>
                </a:path>
              </a:pathLst>
            </a:custGeom>
            <a:noFill/>
            <a:ln w="28575" cap="flat" cmpd="sng">
              <a:solidFill>
                <a:srgbClr val="3333CC"/>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itchFamily="2" charset="-122"/>
              </a:endParaRPr>
            </a:p>
          </p:txBody>
        </p:sp>
      </p:grpSp>
      <p:pic>
        <p:nvPicPr>
          <p:cNvPr id="23" name="Picture 19"/>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132334" y="1779588"/>
            <a:ext cx="501650" cy="51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4" name="Picture 20"/>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231384" y="1779588"/>
            <a:ext cx="501650" cy="51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5" name="Rectangle 21"/>
          <p:cNvSpPr>
            <a:spLocks noChangeArrowheads="1"/>
          </p:cNvSpPr>
          <p:nvPr/>
        </p:nvSpPr>
        <p:spPr bwMode="auto">
          <a:xfrm>
            <a:off x="2556197" y="1779588"/>
            <a:ext cx="368692"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2000" b="1" i="0" u="none" strike="noStrike" kern="0" cap="none" spc="0" normalizeH="0" baseline="0" noProof="0" dirty="0">
                <a:ln>
                  <a:noFill/>
                </a:ln>
                <a:solidFill>
                  <a:srgbClr val="3333CC"/>
                </a:solidFill>
                <a:effectLst/>
                <a:uLnTx/>
                <a:uFillTx/>
                <a:latin typeface="+mn-lt"/>
                <a:ea typeface="黑体" pitchFamily="2" charset="-122"/>
              </a:rPr>
              <a:t>A</a:t>
            </a:r>
          </a:p>
        </p:txBody>
      </p:sp>
      <p:sp>
        <p:nvSpPr>
          <p:cNvPr id="26" name="Rectangle 22"/>
          <p:cNvSpPr>
            <a:spLocks noChangeArrowheads="1"/>
          </p:cNvSpPr>
          <p:nvPr/>
        </p:nvSpPr>
        <p:spPr bwMode="auto">
          <a:xfrm>
            <a:off x="6998022" y="1779588"/>
            <a:ext cx="368692"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2000" b="1" i="0" u="none" strike="noStrike" kern="0" cap="none" spc="0" normalizeH="0" baseline="0" noProof="0">
                <a:ln>
                  <a:noFill/>
                </a:ln>
                <a:solidFill>
                  <a:srgbClr val="3333CC"/>
                </a:solidFill>
                <a:effectLst/>
                <a:uLnTx/>
                <a:uFillTx/>
                <a:latin typeface="+mn-lt"/>
                <a:ea typeface="黑体" pitchFamily="2" charset="-122"/>
              </a:rPr>
              <a:t>B</a:t>
            </a:r>
          </a:p>
        </p:txBody>
      </p:sp>
      <p:sp>
        <p:nvSpPr>
          <p:cNvPr id="27" name="Rectangle 23"/>
          <p:cNvSpPr>
            <a:spLocks noChangeArrowheads="1"/>
          </p:cNvSpPr>
          <p:nvPr/>
        </p:nvSpPr>
        <p:spPr bwMode="auto">
          <a:xfrm>
            <a:off x="2051372" y="1425575"/>
            <a:ext cx="647614"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800" b="1" i="0" u="none" strike="noStrike" kern="0" cap="none" spc="0" normalizeH="0" baseline="0" noProof="0" dirty="0">
                <a:ln>
                  <a:noFill/>
                </a:ln>
                <a:solidFill>
                  <a:srgbClr val="3333CC"/>
                </a:solidFill>
                <a:effectLst/>
                <a:uLnTx/>
                <a:uFillTx/>
                <a:latin typeface="+mn-lt"/>
                <a:ea typeface="黑体" pitchFamily="2" charset="-122"/>
              </a:rPr>
              <a:t>客户</a:t>
            </a:r>
          </a:p>
        </p:txBody>
      </p:sp>
      <p:sp>
        <p:nvSpPr>
          <p:cNvPr id="28" name="Rectangle 24"/>
          <p:cNvSpPr>
            <a:spLocks noChangeArrowheads="1"/>
          </p:cNvSpPr>
          <p:nvPr/>
        </p:nvSpPr>
        <p:spPr bwMode="auto">
          <a:xfrm>
            <a:off x="7047234" y="1425575"/>
            <a:ext cx="880050"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800" b="1" i="0" u="none" strike="noStrike" kern="0" cap="none" spc="0" normalizeH="0" baseline="0" noProof="0">
                <a:ln>
                  <a:noFill/>
                </a:ln>
                <a:solidFill>
                  <a:srgbClr val="3333CC"/>
                </a:solidFill>
                <a:effectLst/>
                <a:uLnTx/>
                <a:uFillTx/>
                <a:latin typeface="+mn-lt"/>
                <a:ea typeface="黑体" pitchFamily="2" charset="-122"/>
              </a:rPr>
              <a:t>服务器</a:t>
            </a:r>
          </a:p>
        </p:txBody>
      </p:sp>
      <p:sp>
        <p:nvSpPr>
          <p:cNvPr id="30" name="Text Box 26"/>
          <p:cNvSpPr txBox="1">
            <a:spLocks noChangeArrowheads="1"/>
          </p:cNvSpPr>
          <p:nvPr/>
        </p:nvSpPr>
        <p:spPr bwMode="auto">
          <a:xfrm>
            <a:off x="1217934" y="5068341"/>
            <a:ext cx="8050602" cy="1384995"/>
          </a:xfrm>
          <a:prstGeom prst="rect">
            <a:avLst/>
          </a:prstGeom>
          <a:solidFill>
            <a:srgbClr val="FFFF99"/>
          </a:solidFill>
          <a:ln w="9525">
            <a:solidFill>
              <a:srgbClr val="3333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altLang="zh-CN" sz="2800" b="1" i="0" u="none" strike="noStrike" kern="0" cap="none" spc="0" normalizeH="0" baseline="0" noProof="0" dirty="0">
                <a:ln>
                  <a:noFill/>
                </a:ln>
                <a:solidFill>
                  <a:srgbClr val="000099"/>
                </a:solidFill>
                <a:effectLst/>
                <a:uLnTx/>
                <a:uFillTx/>
                <a:latin typeface="Arial" pitchFamily="34" charset="0"/>
                <a:ea typeface="黑体" pitchFamily="2" charset="-122"/>
              </a:rPr>
              <a:t>A </a:t>
            </a:r>
            <a:r>
              <a:rPr kumimoji="0" lang="zh-CN" altLang="en-US" sz="2800" b="1" i="0" u="none" strike="noStrike" kern="0" cap="none" spc="0" normalizeH="0" baseline="0" noProof="0" dirty="0">
                <a:ln>
                  <a:noFill/>
                </a:ln>
                <a:solidFill>
                  <a:srgbClr val="000099"/>
                </a:solidFill>
                <a:effectLst/>
                <a:uLnTx/>
                <a:uFillTx/>
                <a:latin typeface="Arial" pitchFamily="34" charset="0"/>
                <a:ea typeface="黑体" pitchFamily="2" charset="-122"/>
              </a:rPr>
              <a:t>的 </a:t>
            </a:r>
            <a:r>
              <a:rPr kumimoji="0" lang="en-US" altLang="zh-CN" sz="2800" b="1" i="0" u="none" strike="noStrike" kern="0" cap="none" spc="0" normalizeH="0" baseline="0" noProof="0" dirty="0">
                <a:ln>
                  <a:noFill/>
                </a:ln>
                <a:solidFill>
                  <a:srgbClr val="000099"/>
                </a:solidFill>
                <a:effectLst/>
                <a:uLnTx/>
                <a:uFillTx/>
                <a:latin typeface="Arial" pitchFamily="34" charset="0"/>
                <a:ea typeface="黑体" pitchFamily="2" charset="-122"/>
              </a:rPr>
              <a:t>TCP </a:t>
            </a:r>
            <a:r>
              <a:rPr kumimoji="0" lang="zh-CN" altLang="en-US" sz="2800" b="1" i="0" u="none" strike="noStrike" kern="0" cap="none" spc="0" normalizeH="0" baseline="0" noProof="0" dirty="0">
                <a:ln>
                  <a:noFill/>
                </a:ln>
                <a:solidFill>
                  <a:srgbClr val="000099"/>
                </a:solidFill>
                <a:effectLst/>
                <a:uLnTx/>
                <a:uFillTx/>
                <a:latin typeface="Arial" pitchFamily="34" charset="0"/>
                <a:ea typeface="黑体" pitchFamily="2" charset="-122"/>
              </a:rPr>
              <a:t>向 </a:t>
            </a:r>
            <a:r>
              <a:rPr kumimoji="0" lang="en-US" altLang="zh-CN" sz="2800" b="1" i="0" u="none" strike="noStrike" kern="0" cap="none" spc="0" normalizeH="0" baseline="0" noProof="0" dirty="0">
                <a:ln>
                  <a:noFill/>
                </a:ln>
                <a:solidFill>
                  <a:srgbClr val="000099"/>
                </a:solidFill>
                <a:effectLst/>
                <a:uLnTx/>
                <a:uFillTx/>
                <a:latin typeface="Arial" pitchFamily="34" charset="0"/>
                <a:ea typeface="黑体" pitchFamily="2" charset="-122"/>
              </a:rPr>
              <a:t>B </a:t>
            </a:r>
            <a:r>
              <a:rPr kumimoji="0" lang="zh-CN" altLang="en-US" sz="2800" b="1" i="0" u="none" strike="noStrike" kern="0" cap="none" spc="0" normalizeH="0" baseline="0" noProof="0" dirty="0">
                <a:ln>
                  <a:noFill/>
                </a:ln>
                <a:solidFill>
                  <a:srgbClr val="000099"/>
                </a:solidFill>
                <a:effectLst/>
                <a:uLnTx/>
                <a:uFillTx/>
                <a:latin typeface="Arial" pitchFamily="34" charset="0"/>
                <a:ea typeface="黑体" pitchFamily="2" charset="-122"/>
              </a:rPr>
              <a:t>发出连接请求报文段，其首部中的</a:t>
            </a:r>
          </a:p>
          <a:p>
            <a:pPr marL="0" marR="0" lvl="0" indent="0" algn="l" defTabSz="914400" eaLnBrk="1" fontAlgn="auto" latinLnBrk="0" hangingPunct="1">
              <a:lnSpc>
                <a:spcPct val="100000"/>
              </a:lnSpc>
              <a:spcBef>
                <a:spcPts val="0"/>
              </a:spcBef>
              <a:spcAft>
                <a:spcPts val="0"/>
              </a:spcAft>
              <a:buClrTx/>
              <a:buSzTx/>
              <a:buFontTx/>
              <a:buNone/>
              <a:tabLst/>
              <a:defRPr/>
            </a:pPr>
            <a:r>
              <a:rPr kumimoji="0" lang="zh-CN" altLang="en-US" sz="2800" b="1" i="0" u="none" strike="noStrike" kern="0" cap="none" spc="0" normalizeH="0" baseline="0" noProof="0" dirty="0">
                <a:ln>
                  <a:noFill/>
                </a:ln>
                <a:solidFill>
                  <a:srgbClr val="000099"/>
                </a:solidFill>
                <a:effectLst/>
                <a:uLnTx/>
                <a:uFillTx/>
                <a:latin typeface="Arial" pitchFamily="34" charset="0"/>
                <a:ea typeface="黑体" pitchFamily="2" charset="-122"/>
              </a:rPr>
              <a:t>同步位 </a:t>
            </a:r>
            <a:r>
              <a:rPr kumimoji="0" lang="en-US" altLang="zh-CN" sz="2800" b="1" i="0" u="none" strike="noStrike" kern="0" cap="none" spc="0" normalizeH="0" baseline="0" noProof="0" dirty="0">
                <a:ln>
                  <a:noFill/>
                </a:ln>
                <a:solidFill>
                  <a:srgbClr val="000099"/>
                </a:solidFill>
                <a:effectLst/>
                <a:uLnTx/>
                <a:uFillTx/>
                <a:latin typeface="Arial" pitchFamily="34" charset="0"/>
                <a:ea typeface="黑体" pitchFamily="2" charset="-122"/>
              </a:rPr>
              <a:t>SYN = 1</a:t>
            </a:r>
            <a:r>
              <a:rPr kumimoji="0" lang="zh-CN" altLang="en-US" sz="2800" b="1" i="0" u="none" strike="noStrike" kern="0" cap="none" spc="0" normalizeH="0" baseline="0" noProof="0" dirty="0">
                <a:ln>
                  <a:noFill/>
                </a:ln>
                <a:solidFill>
                  <a:srgbClr val="000099"/>
                </a:solidFill>
                <a:effectLst/>
                <a:uLnTx/>
                <a:uFillTx/>
                <a:latin typeface="Arial" pitchFamily="34" charset="0"/>
                <a:ea typeface="黑体" pitchFamily="2" charset="-122"/>
              </a:rPr>
              <a:t>，并选择序号 </a:t>
            </a:r>
            <a:r>
              <a:rPr kumimoji="0" lang="en-US" altLang="zh-CN" sz="2800" b="1" i="0" u="none" strike="noStrike" kern="0" cap="none" spc="0" normalizeH="0" baseline="0" noProof="0" dirty="0" err="1">
                <a:ln>
                  <a:noFill/>
                </a:ln>
                <a:solidFill>
                  <a:srgbClr val="000099"/>
                </a:solidFill>
                <a:effectLst/>
                <a:uLnTx/>
                <a:uFillTx/>
                <a:latin typeface="Arial" pitchFamily="34" charset="0"/>
                <a:ea typeface="黑体" pitchFamily="2" charset="-122"/>
              </a:rPr>
              <a:t>seq</a:t>
            </a:r>
            <a:r>
              <a:rPr kumimoji="0" lang="en-US" altLang="zh-CN" sz="2800" b="1" i="0" u="none" strike="noStrike" kern="0" cap="none" spc="0" normalizeH="0" baseline="0" noProof="0" dirty="0">
                <a:ln>
                  <a:noFill/>
                </a:ln>
                <a:solidFill>
                  <a:srgbClr val="000099"/>
                </a:solidFill>
                <a:effectLst/>
                <a:uLnTx/>
                <a:uFillTx/>
                <a:latin typeface="Arial" pitchFamily="34" charset="0"/>
                <a:ea typeface="黑体" pitchFamily="2" charset="-122"/>
              </a:rPr>
              <a:t> = x</a:t>
            </a:r>
            <a:r>
              <a:rPr kumimoji="0" lang="zh-CN" altLang="en-US" sz="2800" b="1" i="0" u="none" strike="noStrike" kern="0" cap="none" spc="0" normalizeH="0" baseline="0" noProof="0" dirty="0">
                <a:ln>
                  <a:noFill/>
                </a:ln>
                <a:solidFill>
                  <a:srgbClr val="000099"/>
                </a:solidFill>
                <a:effectLst/>
                <a:uLnTx/>
                <a:uFillTx/>
                <a:latin typeface="Arial" pitchFamily="34" charset="0"/>
                <a:ea typeface="黑体" pitchFamily="2" charset="-122"/>
              </a:rPr>
              <a:t>，表明传送</a:t>
            </a:r>
          </a:p>
          <a:p>
            <a:pPr marL="0" marR="0" lvl="0" indent="0" algn="l" defTabSz="914400" eaLnBrk="1" fontAlgn="auto" latinLnBrk="0" hangingPunct="1">
              <a:lnSpc>
                <a:spcPct val="100000"/>
              </a:lnSpc>
              <a:spcBef>
                <a:spcPts val="0"/>
              </a:spcBef>
              <a:spcAft>
                <a:spcPts val="0"/>
              </a:spcAft>
              <a:buClrTx/>
              <a:buSzTx/>
              <a:buFontTx/>
              <a:buNone/>
              <a:tabLst/>
              <a:defRPr/>
            </a:pPr>
            <a:r>
              <a:rPr kumimoji="0" lang="zh-CN" altLang="en-US" sz="2800" b="1" i="0" u="none" strike="noStrike" kern="0" cap="none" spc="0" normalizeH="0" baseline="0" noProof="0" dirty="0">
                <a:ln>
                  <a:noFill/>
                </a:ln>
                <a:solidFill>
                  <a:srgbClr val="000099"/>
                </a:solidFill>
                <a:effectLst/>
                <a:uLnTx/>
                <a:uFillTx/>
                <a:latin typeface="Arial" pitchFamily="34" charset="0"/>
                <a:ea typeface="黑体" pitchFamily="2" charset="-122"/>
              </a:rPr>
              <a:t>数据时的第一个数据字节的序号是 </a:t>
            </a:r>
            <a:r>
              <a:rPr kumimoji="0" lang="en-US" altLang="zh-CN" sz="2800" b="1" i="0" u="none" strike="noStrike" kern="0" cap="none" spc="0" normalizeH="0" baseline="0" noProof="0" dirty="0">
                <a:ln>
                  <a:noFill/>
                </a:ln>
                <a:solidFill>
                  <a:srgbClr val="000099"/>
                </a:solidFill>
                <a:effectLst/>
                <a:uLnTx/>
                <a:uFillTx/>
                <a:latin typeface="Arial" pitchFamily="34" charset="0"/>
                <a:ea typeface="黑体" pitchFamily="2" charset="-122"/>
              </a:rPr>
              <a:t>x</a:t>
            </a:r>
            <a:r>
              <a:rPr kumimoji="0" lang="zh-CN" altLang="en-US" sz="2800" b="1" i="0" u="none" strike="noStrike" kern="0" cap="none" spc="0" normalizeH="0" baseline="0" noProof="0" dirty="0">
                <a:ln>
                  <a:noFill/>
                </a:ln>
                <a:solidFill>
                  <a:srgbClr val="000099"/>
                </a:solidFill>
                <a:effectLst/>
                <a:uLnTx/>
                <a:uFillTx/>
                <a:latin typeface="Arial" pitchFamily="34" charset="0"/>
                <a:ea typeface="黑体" pitchFamily="2" charset="-122"/>
              </a:rPr>
              <a:t>。</a:t>
            </a:r>
          </a:p>
        </p:txBody>
      </p:sp>
      <p:sp>
        <p:nvSpPr>
          <p:cNvPr id="31" name="Text Box 48"/>
          <p:cNvSpPr txBox="1">
            <a:spLocks noChangeArrowheads="1"/>
          </p:cNvSpPr>
          <p:nvPr/>
        </p:nvSpPr>
        <p:spPr bwMode="auto">
          <a:xfrm>
            <a:off x="992559" y="116632"/>
            <a:ext cx="8041781" cy="646331"/>
          </a:xfrm>
          <a:prstGeom prst="rect">
            <a:avLst/>
          </a:prstGeom>
          <a:solidFill>
            <a:srgbClr val="FFFF99"/>
          </a:solidFill>
          <a:ln w="9525">
            <a:solidFill>
              <a:srgbClr val="3333CC"/>
            </a:solidFill>
            <a:miter lim="800000"/>
            <a:headEnd/>
            <a:tailEnd/>
          </a:ln>
          <a:effectLst>
            <a:outerShdw dist="35921" dir="2700000" algn="ctr" rotWithShape="0">
              <a:srgbClr val="1C1C1C"/>
            </a:outerShdw>
          </a:effectLst>
        </p:spPr>
        <p:txBody>
          <a:bodyPr wrap="squar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600" b="1" i="0" u="none" strike="noStrike" kern="0" cap="none" spc="0" normalizeH="0" baseline="0" noProof="0" dirty="0">
                <a:ln>
                  <a:noFill/>
                </a:ln>
                <a:solidFill>
                  <a:srgbClr val="000099"/>
                </a:solidFill>
                <a:effectLst/>
                <a:uLnTx/>
                <a:uFillTx/>
                <a:latin typeface="Arial" pitchFamily="34" charset="0"/>
                <a:ea typeface="黑体" pitchFamily="2" charset="-122"/>
              </a:rPr>
              <a:t>TCP </a:t>
            </a:r>
            <a:r>
              <a:rPr kumimoji="0" lang="zh-CN" altLang="en-US" sz="3600" b="1" i="0" u="none" strike="noStrike" kern="0" cap="none" spc="0" normalizeH="0" baseline="0" noProof="0" dirty="0">
                <a:ln>
                  <a:noFill/>
                </a:ln>
                <a:solidFill>
                  <a:srgbClr val="000099"/>
                </a:solidFill>
                <a:effectLst/>
                <a:uLnTx/>
                <a:uFillTx/>
                <a:latin typeface="Arial" pitchFamily="34" charset="0"/>
                <a:ea typeface="黑体" pitchFamily="2" charset="-122"/>
              </a:rPr>
              <a:t>的连接建立：</a:t>
            </a:r>
            <a:r>
              <a:rPr kumimoji="0" lang="zh-CN" altLang="en-US" sz="3600" kern="0" dirty="0">
                <a:solidFill>
                  <a:srgbClr val="000099"/>
                </a:solidFill>
                <a:latin typeface="Arial" pitchFamily="34" charset="0"/>
                <a:ea typeface="黑体" pitchFamily="2" charset="-122"/>
              </a:rPr>
              <a:t>采用</a:t>
            </a:r>
            <a:r>
              <a:rPr kumimoji="0" lang="zh-CN" altLang="zh-CN" sz="3600" kern="0" dirty="0">
                <a:solidFill>
                  <a:srgbClr val="FF0000"/>
                </a:solidFill>
                <a:latin typeface="Arial" pitchFamily="34" charset="0"/>
                <a:ea typeface="黑体" pitchFamily="2" charset="-122"/>
              </a:rPr>
              <a:t>三报文握手</a:t>
            </a:r>
            <a:endParaRPr kumimoji="0" lang="zh-CN" altLang="en-US" sz="3600" kern="0" dirty="0">
              <a:solidFill>
                <a:srgbClr val="FF0000"/>
              </a:solidFill>
              <a:latin typeface="Arial" pitchFamily="34" charset="0"/>
              <a:ea typeface="黑体" pitchFamily="2" charset="-122"/>
            </a:endParaRPr>
          </a:p>
        </p:txBody>
      </p:sp>
    </p:spTree>
    <p:extLst>
      <p:ext uri="{BB962C8B-B14F-4D97-AF65-F5344CB8AC3E}">
        <p14:creationId xmlns:p14="http://schemas.microsoft.com/office/powerpoint/2010/main" val="41062871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wipe(up)">
                                      <p:cBhvr>
                                        <p:cTn id="7" dur="10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wipe(up)">
                                      <p:cBhvr>
                                        <p:cTn id="12" dur="1000"/>
                                        <p:tgtEl>
                                          <p:spTgt spid="17"/>
                                        </p:tgtEl>
                                      </p:cBhvr>
                                    </p:animEffect>
                                  </p:childTnLst>
                                </p:cTn>
                              </p:par>
                            </p:childTnLst>
                          </p:cTn>
                        </p:par>
                        <p:par>
                          <p:cTn id="13" fill="hold">
                            <p:stCondLst>
                              <p:cond delay="1000"/>
                            </p:stCondLst>
                            <p:childTnLst>
                              <p:par>
                                <p:cTn id="14" presetID="1" presetClass="entr" presetSubtype="0" fill="hold" grpId="0" nodeType="afterEffect">
                                  <p:stCondLst>
                                    <p:cond delay="0"/>
                                  </p:stCondLst>
                                  <p:childTnLst>
                                    <p:set>
                                      <p:cBhvr>
                                        <p:cTn id="15" dur="1" fill="hold">
                                          <p:stCondLst>
                                            <p:cond delay="0"/>
                                          </p:stCondLst>
                                        </p:cTn>
                                        <p:tgtEl>
                                          <p:spTgt spid="30"/>
                                        </p:tgtEl>
                                        <p:attrNameLst>
                                          <p:attrName>style.visibility</p:attrName>
                                        </p:attrNameLst>
                                      </p:cBhvr>
                                      <p:to>
                                        <p:strVal val="visible"/>
                                      </p:to>
                                    </p:set>
                                  </p:childTnLst>
                                </p:cTn>
                              </p:par>
                            </p:childTnLst>
                          </p:cTn>
                        </p:par>
                        <p:par>
                          <p:cTn id="16" fill="hold">
                            <p:stCondLst>
                              <p:cond delay="1000"/>
                            </p:stCondLst>
                            <p:childTnLst>
                              <p:par>
                                <p:cTn id="17" presetID="22" presetClass="entr" presetSubtype="8" fill="hold" nodeType="afterEffect">
                                  <p:stCondLst>
                                    <p:cond delay="2000"/>
                                  </p:stCondLst>
                                  <p:childTnLst>
                                    <p:set>
                                      <p:cBhvr>
                                        <p:cTn id="18" dur="1" fill="hold">
                                          <p:stCondLst>
                                            <p:cond delay="0"/>
                                          </p:stCondLst>
                                        </p:cTn>
                                        <p:tgtEl>
                                          <p:spTgt spid="10"/>
                                        </p:tgtEl>
                                        <p:attrNameLst>
                                          <p:attrName>style.visibility</p:attrName>
                                        </p:attrNameLst>
                                      </p:cBhvr>
                                      <p:to>
                                        <p:strVal val="visible"/>
                                      </p:to>
                                    </p:set>
                                    <p:animEffect transition="in" filter="wipe(left)">
                                      <p:cBhvr>
                                        <p:cTn id="19"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2"/>
          <p:cNvGrpSpPr>
            <a:grpSpLocks/>
          </p:cNvGrpSpPr>
          <p:nvPr/>
        </p:nvGrpSpPr>
        <p:grpSpPr bwMode="auto">
          <a:xfrm>
            <a:off x="2770063" y="2997200"/>
            <a:ext cx="4248150" cy="3441700"/>
            <a:chOff x="1474" y="1888"/>
            <a:chExt cx="2676" cy="2432"/>
          </a:xfrm>
        </p:grpSpPr>
        <p:sp>
          <p:nvSpPr>
            <p:cNvPr id="5" name="Line 3"/>
            <p:cNvSpPr>
              <a:spLocks noChangeShapeType="1"/>
            </p:cNvSpPr>
            <p:nvPr/>
          </p:nvSpPr>
          <p:spPr bwMode="auto">
            <a:xfrm>
              <a:off x="1474" y="1888"/>
              <a:ext cx="0" cy="2432"/>
            </a:xfrm>
            <a:prstGeom prst="line">
              <a:avLst/>
            </a:prstGeom>
            <a:noFill/>
            <a:ln w="28575">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6" name="Line 4"/>
            <p:cNvSpPr>
              <a:spLocks noChangeShapeType="1"/>
            </p:cNvSpPr>
            <p:nvPr/>
          </p:nvSpPr>
          <p:spPr bwMode="auto">
            <a:xfrm>
              <a:off x="4150" y="1888"/>
              <a:ext cx="0" cy="2432"/>
            </a:xfrm>
            <a:prstGeom prst="line">
              <a:avLst/>
            </a:prstGeom>
            <a:noFill/>
            <a:ln w="28575">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grpSp>
      <p:grpSp>
        <p:nvGrpSpPr>
          <p:cNvPr id="7" name="Group 6"/>
          <p:cNvGrpSpPr>
            <a:grpSpLocks/>
          </p:cNvGrpSpPr>
          <p:nvPr/>
        </p:nvGrpSpPr>
        <p:grpSpPr bwMode="auto">
          <a:xfrm>
            <a:off x="2843088" y="3005141"/>
            <a:ext cx="4111625" cy="801688"/>
            <a:chOff x="1520" y="1893"/>
            <a:chExt cx="2590" cy="505"/>
          </a:xfrm>
        </p:grpSpPr>
        <p:sp>
          <p:nvSpPr>
            <p:cNvPr id="8" name="Rectangle 7"/>
            <p:cNvSpPr>
              <a:spLocks noChangeArrowheads="1"/>
            </p:cNvSpPr>
            <p:nvPr/>
          </p:nvSpPr>
          <p:spPr bwMode="auto">
            <a:xfrm rot="665985">
              <a:off x="2094" y="1905"/>
              <a:ext cx="162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2000" b="1" i="0" u="none" strike="noStrike" kern="0" cap="none" spc="0" normalizeH="0" baseline="0" noProof="0" dirty="0">
                  <a:ln>
                    <a:noFill/>
                  </a:ln>
                  <a:solidFill>
                    <a:srgbClr val="3333CC"/>
                  </a:solidFill>
                  <a:effectLst/>
                  <a:uLnTx/>
                  <a:uFillTx/>
                  <a:latin typeface="+mn-lt"/>
                  <a:ea typeface="黑体" pitchFamily="2" charset="-122"/>
                </a:rPr>
                <a:t>SYN = 1, </a:t>
              </a:r>
              <a:r>
                <a:rPr kumimoji="0" lang="en-US" altLang="zh-CN" sz="2000" b="1" i="0" u="none" strike="noStrike" kern="0" cap="none" spc="0" normalizeH="0" baseline="0" noProof="0" dirty="0" err="1">
                  <a:ln>
                    <a:noFill/>
                  </a:ln>
                  <a:solidFill>
                    <a:srgbClr val="3333CC"/>
                  </a:solidFill>
                  <a:effectLst/>
                  <a:uLnTx/>
                  <a:uFillTx/>
                  <a:latin typeface="+mn-lt"/>
                  <a:ea typeface="黑体" pitchFamily="2" charset="-122"/>
                </a:rPr>
                <a:t>seq</a:t>
              </a:r>
              <a:r>
                <a:rPr kumimoji="0" lang="en-US" altLang="zh-CN" sz="2000" b="1" i="0" u="none" strike="noStrike" kern="0" cap="none" spc="0" normalizeH="0" baseline="0" noProof="0" dirty="0">
                  <a:ln>
                    <a:noFill/>
                  </a:ln>
                  <a:solidFill>
                    <a:srgbClr val="3333CC"/>
                  </a:solidFill>
                  <a:effectLst/>
                  <a:uLnTx/>
                  <a:uFillTx/>
                  <a:latin typeface="+mn-lt"/>
                  <a:ea typeface="黑体" pitchFamily="2" charset="-122"/>
                </a:rPr>
                <a:t> = x</a:t>
              </a:r>
            </a:p>
          </p:txBody>
        </p:sp>
        <p:sp>
          <p:nvSpPr>
            <p:cNvPr id="9" name="Line 8"/>
            <p:cNvSpPr>
              <a:spLocks noChangeShapeType="1"/>
            </p:cNvSpPr>
            <p:nvPr/>
          </p:nvSpPr>
          <p:spPr bwMode="auto">
            <a:xfrm>
              <a:off x="1520" y="1893"/>
              <a:ext cx="2590" cy="505"/>
            </a:xfrm>
            <a:prstGeom prst="line">
              <a:avLst/>
            </a:prstGeom>
            <a:noFill/>
            <a:ln w="5715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itchFamily="2" charset="-122"/>
              </a:endParaRPr>
            </a:p>
          </p:txBody>
        </p:sp>
      </p:grpSp>
      <p:sp>
        <p:nvSpPr>
          <p:cNvPr id="10" name="Rectangle 9"/>
          <p:cNvSpPr>
            <a:spLocks noChangeArrowheads="1"/>
          </p:cNvSpPr>
          <p:nvPr/>
        </p:nvSpPr>
        <p:spPr bwMode="auto">
          <a:xfrm>
            <a:off x="1866776" y="2393950"/>
            <a:ext cx="966787" cy="549275"/>
          </a:xfrm>
          <a:prstGeom prst="rect">
            <a:avLst/>
          </a:prstGeom>
          <a:solidFill>
            <a:srgbClr val="663300"/>
          </a:solidFill>
          <a:ln>
            <a:noFill/>
          </a:ln>
          <a:effectLst>
            <a:outerShdw dist="35921" dir="2700000" algn="ctr" rotWithShape="0">
              <a:srgbClr val="1C1C1C"/>
            </a:outerShdw>
          </a:effectLst>
          <a:extLst>
            <a:ext uri="{91240B29-F687-4F45-9708-019B960494DF}">
              <a14:hiddenLine xmlns:a14="http://schemas.microsoft.com/office/drawing/2010/main" w="12700">
                <a:solidFill>
                  <a:schemeClr val="tx1"/>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itchFamily="2" charset="-122"/>
            </a:endParaRPr>
          </a:p>
        </p:txBody>
      </p:sp>
      <p:sp>
        <p:nvSpPr>
          <p:cNvPr id="11" name="Text Box 10"/>
          <p:cNvSpPr txBox="1">
            <a:spLocks noChangeArrowheads="1"/>
          </p:cNvSpPr>
          <p:nvPr/>
        </p:nvSpPr>
        <p:spPr bwMode="auto">
          <a:xfrm>
            <a:off x="1817563" y="2455863"/>
            <a:ext cx="114646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a:r>
              <a:rPr lang="en-US" altLang="zh-CN" sz="1800">
                <a:solidFill>
                  <a:srgbClr val="FFFF99"/>
                </a:solidFill>
                <a:latin typeface="+mn-lt"/>
                <a:ea typeface="黑体" pitchFamily="2" charset="-122"/>
              </a:rPr>
              <a:t>CLOSED</a:t>
            </a:r>
          </a:p>
        </p:txBody>
      </p:sp>
      <p:sp>
        <p:nvSpPr>
          <p:cNvPr id="12" name="Rectangle 11"/>
          <p:cNvSpPr>
            <a:spLocks noChangeArrowheads="1"/>
          </p:cNvSpPr>
          <p:nvPr/>
        </p:nvSpPr>
        <p:spPr bwMode="auto">
          <a:xfrm>
            <a:off x="6956301" y="2393950"/>
            <a:ext cx="985837" cy="549275"/>
          </a:xfrm>
          <a:prstGeom prst="rect">
            <a:avLst/>
          </a:prstGeom>
          <a:solidFill>
            <a:srgbClr val="663300"/>
          </a:solidFill>
          <a:ln>
            <a:noFill/>
          </a:ln>
          <a:effectLst>
            <a:outerShdw dist="35921" dir="2700000" algn="ctr" rotWithShape="0">
              <a:srgbClr val="1C1C1C"/>
            </a:outerShdw>
          </a:effectLst>
          <a:extLst>
            <a:ext uri="{91240B29-F687-4F45-9708-019B960494DF}">
              <a14:hiddenLine xmlns:a14="http://schemas.microsoft.com/office/drawing/2010/main" w="12700">
                <a:solidFill>
                  <a:schemeClr val="tx1"/>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itchFamily="2" charset="-122"/>
            </a:endParaRPr>
          </a:p>
        </p:txBody>
      </p:sp>
      <p:sp>
        <p:nvSpPr>
          <p:cNvPr id="13" name="Text Box 12"/>
          <p:cNvSpPr txBox="1">
            <a:spLocks noChangeArrowheads="1"/>
          </p:cNvSpPr>
          <p:nvPr/>
        </p:nvSpPr>
        <p:spPr bwMode="auto">
          <a:xfrm>
            <a:off x="6916613" y="2455863"/>
            <a:ext cx="114646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a:r>
              <a:rPr lang="en-US" altLang="zh-CN" sz="1800">
                <a:solidFill>
                  <a:srgbClr val="FFFF99"/>
                </a:solidFill>
                <a:latin typeface="+mn-lt"/>
                <a:ea typeface="黑体" pitchFamily="2" charset="-122"/>
              </a:rPr>
              <a:t>CLOSED</a:t>
            </a:r>
          </a:p>
        </p:txBody>
      </p:sp>
      <p:grpSp>
        <p:nvGrpSpPr>
          <p:cNvPr id="14" name="Group 13"/>
          <p:cNvGrpSpPr>
            <a:grpSpLocks/>
          </p:cNvGrpSpPr>
          <p:nvPr/>
        </p:nvGrpSpPr>
        <p:grpSpPr bwMode="auto">
          <a:xfrm>
            <a:off x="825376" y="2057400"/>
            <a:ext cx="1320800" cy="947738"/>
            <a:chOff x="249" y="1296"/>
            <a:chExt cx="832" cy="597"/>
          </a:xfrm>
        </p:grpSpPr>
        <p:sp>
          <p:nvSpPr>
            <p:cNvPr id="15" name="Rectangle 14"/>
            <p:cNvSpPr>
              <a:spLocks noChangeArrowheads="1"/>
            </p:cNvSpPr>
            <p:nvPr/>
          </p:nvSpPr>
          <p:spPr bwMode="auto">
            <a:xfrm>
              <a:off x="251" y="1638"/>
              <a:ext cx="701"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800" b="1" i="0" u="none" strike="noStrike" kern="0" cap="none" spc="0" normalizeH="0" baseline="0" noProof="0">
                  <a:ln>
                    <a:noFill/>
                  </a:ln>
                  <a:solidFill>
                    <a:srgbClr val="3333CC"/>
                  </a:solidFill>
                  <a:effectLst/>
                  <a:uLnTx/>
                  <a:uFillTx/>
                  <a:latin typeface="+mn-lt"/>
                  <a:ea typeface="黑体" pitchFamily="2" charset="-122"/>
                </a:rPr>
                <a:t>主动打开</a:t>
              </a:r>
            </a:p>
          </p:txBody>
        </p:sp>
        <p:sp>
          <p:nvSpPr>
            <p:cNvPr id="16" name="Freeform 15"/>
            <p:cNvSpPr>
              <a:spLocks/>
            </p:cNvSpPr>
            <p:nvPr/>
          </p:nvSpPr>
          <p:spPr bwMode="auto">
            <a:xfrm>
              <a:off x="249" y="1296"/>
              <a:ext cx="832" cy="597"/>
            </a:xfrm>
            <a:custGeom>
              <a:avLst/>
              <a:gdLst>
                <a:gd name="T0" fmla="*/ 832 w 758"/>
                <a:gd name="T1" fmla="*/ 5 h 491"/>
                <a:gd name="T2" fmla="*/ 0 w 758"/>
                <a:gd name="T3" fmla="*/ 0 h 491"/>
                <a:gd name="T4" fmla="*/ 0 w 758"/>
                <a:gd name="T5" fmla="*/ 597 h 491"/>
                <a:gd name="T6" fmla="*/ 650 w 758"/>
                <a:gd name="T7" fmla="*/ 597 h 49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58" h="491">
                  <a:moveTo>
                    <a:pt x="758" y="4"/>
                  </a:moveTo>
                  <a:lnTo>
                    <a:pt x="0" y="0"/>
                  </a:lnTo>
                  <a:lnTo>
                    <a:pt x="0" y="491"/>
                  </a:lnTo>
                  <a:lnTo>
                    <a:pt x="592" y="491"/>
                  </a:lnTo>
                </a:path>
              </a:pathLst>
            </a:custGeom>
            <a:noFill/>
            <a:ln w="28575" cap="flat" cmpd="sng">
              <a:solidFill>
                <a:srgbClr val="3333CC"/>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itchFamily="2" charset="-122"/>
              </a:endParaRPr>
            </a:p>
          </p:txBody>
        </p:sp>
      </p:grpSp>
      <p:grpSp>
        <p:nvGrpSpPr>
          <p:cNvPr id="17" name="Group 16"/>
          <p:cNvGrpSpPr>
            <a:grpSpLocks/>
          </p:cNvGrpSpPr>
          <p:nvPr/>
        </p:nvGrpSpPr>
        <p:grpSpPr bwMode="auto">
          <a:xfrm>
            <a:off x="7653216" y="2065338"/>
            <a:ext cx="1401763" cy="939800"/>
            <a:chOff x="4550" y="1301"/>
            <a:chExt cx="883" cy="592"/>
          </a:xfrm>
        </p:grpSpPr>
        <p:sp>
          <p:nvSpPr>
            <p:cNvPr id="18" name="Rectangle 17"/>
            <p:cNvSpPr>
              <a:spLocks noChangeArrowheads="1"/>
            </p:cNvSpPr>
            <p:nvPr/>
          </p:nvSpPr>
          <p:spPr bwMode="auto">
            <a:xfrm>
              <a:off x="4732" y="1617"/>
              <a:ext cx="701"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800" b="1" i="0" u="none" strike="noStrike" kern="0" cap="none" spc="0" normalizeH="0" baseline="0" noProof="0">
                  <a:ln>
                    <a:noFill/>
                  </a:ln>
                  <a:solidFill>
                    <a:srgbClr val="3333CC"/>
                  </a:solidFill>
                  <a:effectLst/>
                  <a:uLnTx/>
                  <a:uFillTx/>
                  <a:latin typeface="+mn-lt"/>
                  <a:ea typeface="黑体" pitchFamily="2" charset="-122"/>
                </a:rPr>
                <a:t>被动打开</a:t>
              </a:r>
            </a:p>
          </p:txBody>
        </p:sp>
        <p:sp>
          <p:nvSpPr>
            <p:cNvPr id="19" name="Freeform 18"/>
            <p:cNvSpPr>
              <a:spLocks/>
            </p:cNvSpPr>
            <p:nvPr/>
          </p:nvSpPr>
          <p:spPr bwMode="auto">
            <a:xfrm>
              <a:off x="4550" y="1301"/>
              <a:ext cx="870" cy="592"/>
            </a:xfrm>
            <a:custGeom>
              <a:avLst/>
              <a:gdLst>
                <a:gd name="T0" fmla="*/ 0 w 792"/>
                <a:gd name="T1" fmla="*/ 0 h 487"/>
                <a:gd name="T2" fmla="*/ 870 w 792"/>
                <a:gd name="T3" fmla="*/ 5 h 487"/>
                <a:gd name="T4" fmla="*/ 870 w 792"/>
                <a:gd name="T5" fmla="*/ 592 h 487"/>
                <a:gd name="T6" fmla="*/ 201 w 792"/>
                <a:gd name="T7" fmla="*/ 583 h 48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92" h="487">
                  <a:moveTo>
                    <a:pt x="0" y="0"/>
                  </a:moveTo>
                  <a:lnTo>
                    <a:pt x="792" y="4"/>
                  </a:lnTo>
                  <a:lnTo>
                    <a:pt x="792" y="487"/>
                  </a:lnTo>
                  <a:lnTo>
                    <a:pt x="183" y="480"/>
                  </a:lnTo>
                </a:path>
              </a:pathLst>
            </a:custGeom>
            <a:noFill/>
            <a:ln w="28575" cap="flat" cmpd="sng">
              <a:solidFill>
                <a:srgbClr val="3333CC"/>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itchFamily="2" charset="-122"/>
              </a:endParaRPr>
            </a:p>
          </p:txBody>
        </p:sp>
      </p:grpSp>
      <p:pic>
        <p:nvPicPr>
          <p:cNvPr id="20" name="Picture 19"/>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100138" y="1779588"/>
            <a:ext cx="501650" cy="51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1" name="Picture 20"/>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199188" y="1779588"/>
            <a:ext cx="501650" cy="51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2" name="Rectangle 21"/>
          <p:cNvSpPr>
            <a:spLocks noChangeArrowheads="1"/>
          </p:cNvSpPr>
          <p:nvPr/>
        </p:nvSpPr>
        <p:spPr bwMode="auto">
          <a:xfrm>
            <a:off x="2524001" y="1779588"/>
            <a:ext cx="349456"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800" b="1" i="0" u="none" strike="noStrike" kern="0" cap="none" spc="0" normalizeH="0" baseline="0" noProof="0">
                <a:ln>
                  <a:noFill/>
                </a:ln>
                <a:solidFill>
                  <a:srgbClr val="3333CC"/>
                </a:solidFill>
                <a:effectLst/>
                <a:uLnTx/>
                <a:uFillTx/>
                <a:latin typeface="+mn-lt"/>
                <a:ea typeface="黑体" pitchFamily="2" charset="-122"/>
              </a:rPr>
              <a:t>A</a:t>
            </a:r>
          </a:p>
        </p:txBody>
      </p:sp>
      <p:sp>
        <p:nvSpPr>
          <p:cNvPr id="23" name="Rectangle 22"/>
          <p:cNvSpPr>
            <a:spLocks noChangeArrowheads="1"/>
          </p:cNvSpPr>
          <p:nvPr/>
        </p:nvSpPr>
        <p:spPr bwMode="auto">
          <a:xfrm>
            <a:off x="6965826" y="1779588"/>
            <a:ext cx="349456"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800" b="1" i="0" u="none" strike="noStrike" kern="0" cap="none" spc="0" normalizeH="0" baseline="0" noProof="0">
                <a:ln>
                  <a:noFill/>
                </a:ln>
                <a:solidFill>
                  <a:srgbClr val="3333CC"/>
                </a:solidFill>
                <a:effectLst/>
                <a:uLnTx/>
                <a:uFillTx/>
                <a:latin typeface="+mn-lt"/>
                <a:ea typeface="黑体" pitchFamily="2" charset="-122"/>
              </a:rPr>
              <a:t>B</a:t>
            </a:r>
          </a:p>
        </p:txBody>
      </p:sp>
      <p:sp>
        <p:nvSpPr>
          <p:cNvPr id="24" name="Rectangle 23"/>
          <p:cNvSpPr>
            <a:spLocks noChangeArrowheads="1"/>
          </p:cNvSpPr>
          <p:nvPr/>
        </p:nvSpPr>
        <p:spPr bwMode="auto">
          <a:xfrm>
            <a:off x="2019176" y="1425575"/>
            <a:ext cx="647614"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800" b="1" i="0" u="none" strike="noStrike" kern="0" cap="none" spc="0" normalizeH="0" baseline="0" noProof="0">
                <a:ln>
                  <a:noFill/>
                </a:ln>
                <a:solidFill>
                  <a:srgbClr val="3333CC"/>
                </a:solidFill>
                <a:effectLst/>
                <a:uLnTx/>
                <a:uFillTx/>
                <a:latin typeface="+mn-lt"/>
                <a:ea typeface="黑体" pitchFamily="2" charset="-122"/>
              </a:rPr>
              <a:t>客户</a:t>
            </a:r>
          </a:p>
        </p:txBody>
      </p:sp>
      <p:sp>
        <p:nvSpPr>
          <p:cNvPr id="25" name="Rectangle 24"/>
          <p:cNvSpPr>
            <a:spLocks noChangeArrowheads="1"/>
          </p:cNvSpPr>
          <p:nvPr/>
        </p:nvSpPr>
        <p:spPr bwMode="auto">
          <a:xfrm>
            <a:off x="7015038" y="1425575"/>
            <a:ext cx="880050"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800" b="1" i="0" u="none" strike="noStrike" kern="0" cap="none" spc="0" normalizeH="0" baseline="0" noProof="0">
                <a:ln>
                  <a:noFill/>
                </a:ln>
                <a:solidFill>
                  <a:srgbClr val="3333CC"/>
                </a:solidFill>
                <a:effectLst/>
                <a:uLnTx/>
                <a:uFillTx/>
                <a:latin typeface="+mn-lt"/>
                <a:ea typeface="黑体" pitchFamily="2" charset="-122"/>
              </a:rPr>
              <a:t>服务器</a:t>
            </a:r>
          </a:p>
        </p:txBody>
      </p:sp>
      <p:grpSp>
        <p:nvGrpSpPr>
          <p:cNvPr id="26" name="Group 26"/>
          <p:cNvGrpSpPr>
            <a:grpSpLocks/>
          </p:cNvGrpSpPr>
          <p:nvPr/>
        </p:nvGrpSpPr>
        <p:grpSpPr bwMode="auto">
          <a:xfrm>
            <a:off x="2501777" y="3881438"/>
            <a:ext cx="4452938" cy="801687"/>
            <a:chOff x="1305" y="2445"/>
            <a:chExt cx="2805" cy="505"/>
          </a:xfrm>
        </p:grpSpPr>
        <p:sp>
          <p:nvSpPr>
            <p:cNvPr id="27" name="Line 27"/>
            <p:cNvSpPr>
              <a:spLocks noChangeShapeType="1"/>
            </p:cNvSpPr>
            <p:nvPr/>
          </p:nvSpPr>
          <p:spPr bwMode="auto">
            <a:xfrm flipH="1">
              <a:off x="1520" y="2445"/>
              <a:ext cx="2590" cy="505"/>
            </a:xfrm>
            <a:prstGeom prst="line">
              <a:avLst/>
            </a:prstGeom>
            <a:noFill/>
            <a:ln w="5715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itchFamily="2" charset="-122"/>
              </a:endParaRPr>
            </a:p>
          </p:txBody>
        </p:sp>
        <p:sp>
          <p:nvSpPr>
            <p:cNvPr id="28" name="Rectangle 28"/>
            <p:cNvSpPr>
              <a:spLocks noChangeArrowheads="1"/>
            </p:cNvSpPr>
            <p:nvPr/>
          </p:nvSpPr>
          <p:spPr bwMode="auto">
            <a:xfrm rot="20990024" flipH="1">
              <a:off x="1305" y="2483"/>
              <a:ext cx="2773"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marL="0" marR="0" lvl="0" indent="0" algn="ctr" defTabSz="762000" eaLnBrk="0" fontAlgn="auto" latinLnBrk="0" hangingPunct="0">
                <a:lnSpc>
                  <a:spcPct val="100000"/>
                </a:lnSpc>
                <a:spcBef>
                  <a:spcPts val="0"/>
                </a:spcBef>
                <a:spcAft>
                  <a:spcPts val="0"/>
                </a:spcAft>
                <a:buClrTx/>
                <a:buSzTx/>
                <a:buFontTx/>
                <a:buNone/>
                <a:tabLst/>
                <a:defRPr/>
              </a:pPr>
              <a:r>
                <a:rPr kumimoji="0" lang="en-US" altLang="zh-CN" sz="1600" b="1" i="0" u="none" strike="noStrike" kern="0" cap="none" spc="0" normalizeH="0" baseline="0" noProof="0" dirty="0">
                  <a:ln>
                    <a:noFill/>
                  </a:ln>
                  <a:solidFill>
                    <a:srgbClr val="3333CC"/>
                  </a:solidFill>
                  <a:effectLst/>
                  <a:uLnTx/>
                  <a:uFillTx/>
                  <a:latin typeface="+mn-lt"/>
                  <a:ea typeface="黑体" pitchFamily="2" charset="-122"/>
                </a:rPr>
                <a:t>SYN = 1, ACK = 1, </a:t>
              </a:r>
              <a:r>
                <a:rPr kumimoji="0" lang="en-US" altLang="zh-CN" sz="1600" b="1" i="0" u="none" strike="noStrike" kern="0" cap="none" spc="0" normalizeH="0" baseline="0" noProof="0" dirty="0" err="1">
                  <a:ln>
                    <a:noFill/>
                  </a:ln>
                  <a:solidFill>
                    <a:srgbClr val="3333CC"/>
                  </a:solidFill>
                  <a:effectLst/>
                  <a:uLnTx/>
                  <a:uFillTx/>
                  <a:latin typeface="+mn-lt"/>
                  <a:ea typeface="黑体" pitchFamily="2" charset="-122"/>
                </a:rPr>
                <a:t>seq</a:t>
              </a:r>
              <a:r>
                <a:rPr kumimoji="0" lang="en-US" altLang="zh-CN" sz="1600" b="1" i="0" u="none" strike="noStrike" kern="0" cap="none" spc="0" normalizeH="0" baseline="0" noProof="0" dirty="0">
                  <a:ln>
                    <a:noFill/>
                  </a:ln>
                  <a:solidFill>
                    <a:srgbClr val="3333CC"/>
                  </a:solidFill>
                  <a:effectLst/>
                  <a:uLnTx/>
                  <a:uFillTx/>
                  <a:latin typeface="+mn-lt"/>
                  <a:ea typeface="黑体" pitchFamily="2" charset="-122"/>
                </a:rPr>
                <a:t> = y, </a:t>
              </a:r>
              <a:r>
                <a:rPr kumimoji="0" lang="en-US" altLang="zh-CN" sz="1600" b="1" i="0" u="none" strike="noStrike" kern="0" cap="none" spc="0" normalizeH="0" baseline="0" noProof="0" dirty="0" err="1">
                  <a:ln>
                    <a:noFill/>
                  </a:ln>
                  <a:solidFill>
                    <a:srgbClr val="3333CC"/>
                  </a:solidFill>
                  <a:effectLst/>
                  <a:uLnTx/>
                  <a:uFillTx/>
                  <a:latin typeface="+mn-lt"/>
                  <a:ea typeface="黑体" pitchFamily="2" charset="-122"/>
                </a:rPr>
                <a:t>ack</a:t>
              </a:r>
              <a:r>
                <a:rPr kumimoji="0" lang="en-US" altLang="zh-CN" sz="1600" b="1" i="0" u="none" strike="noStrike" kern="0" cap="none" spc="0" normalizeH="0" baseline="0" noProof="0" dirty="0">
                  <a:ln>
                    <a:noFill/>
                  </a:ln>
                  <a:solidFill>
                    <a:srgbClr val="3333CC"/>
                  </a:solidFill>
                  <a:effectLst/>
                  <a:uLnTx/>
                  <a:uFillTx/>
                  <a:latin typeface="+mn-lt"/>
                  <a:ea typeface="黑体" pitchFamily="2" charset="-122"/>
                </a:rPr>
                <a:t>= x </a:t>
              </a:r>
              <a:r>
                <a:rPr kumimoji="0" lang="en-US" altLang="zh-CN" sz="1600" b="1" i="0" u="none" strike="noStrike" kern="0" cap="none" spc="0" normalizeH="0" baseline="0" noProof="0" dirty="0">
                  <a:ln>
                    <a:noFill/>
                  </a:ln>
                  <a:solidFill>
                    <a:srgbClr val="3333CC"/>
                  </a:solidFill>
                  <a:effectLst/>
                  <a:uLnTx/>
                  <a:uFillTx/>
                  <a:latin typeface="+mn-lt"/>
                  <a:ea typeface="黑体" pitchFamily="2" charset="-122"/>
                  <a:sym typeface="Symbol" pitchFamily="18" charset="2"/>
                </a:rPr>
                <a:t> 1</a:t>
              </a:r>
              <a:endParaRPr kumimoji="0" lang="en-US" altLang="zh-CN" sz="1600" b="1" i="0" u="none" strike="noStrike" kern="0" cap="none" spc="0" normalizeH="0" baseline="0" noProof="0" dirty="0">
                <a:ln>
                  <a:noFill/>
                </a:ln>
                <a:solidFill>
                  <a:srgbClr val="3333CC"/>
                </a:solidFill>
                <a:effectLst/>
                <a:uLnTx/>
                <a:uFillTx/>
                <a:latin typeface="+mn-lt"/>
                <a:ea typeface="黑体" pitchFamily="2" charset="-122"/>
              </a:endParaRPr>
            </a:p>
          </p:txBody>
        </p:sp>
      </p:grpSp>
      <p:sp>
        <p:nvSpPr>
          <p:cNvPr id="29" name="Text Box 29"/>
          <p:cNvSpPr txBox="1">
            <a:spLocks noChangeArrowheads="1"/>
          </p:cNvSpPr>
          <p:nvPr/>
        </p:nvSpPr>
        <p:spPr bwMode="auto">
          <a:xfrm>
            <a:off x="1041276" y="4932363"/>
            <a:ext cx="8237537" cy="1809750"/>
          </a:xfrm>
          <a:prstGeom prst="rect">
            <a:avLst/>
          </a:prstGeom>
          <a:solidFill>
            <a:srgbClr val="FFFF99"/>
          </a:solidFill>
          <a:ln w="9525">
            <a:solidFill>
              <a:srgbClr val="3333CC"/>
            </a:solidFill>
            <a:miter lim="800000"/>
            <a:headEnd/>
            <a:tailEnd/>
          </a:ln>
          <a:effectLst>
            <a:outerShdw dist="35921" dir="2700000" algn="ctr" rotWithShape="0">
              <a:srgbClr val="1C1C1C"/>
            </a:outerShdw>
          </a:effec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Char char="•"/>
              <a:tabLst/>
              <a:defRPr/>
            </a:pPr>
            <a:r>
              <a:rPr kumimoji="0" lang="en-US" altLang="zh-CN" sz="2800" b="1" i="0" u="none" strike="noStrike" kern="0" cap="none" spc="0" normalizeH="0" baseline="0" noProof="0" dirty="0">
                <a:ln>
                  <a:noFill/>
                </a:ln>
                <a:solidFill>
                  <a:srgbClr val="000099"/>
                </a:solidFill>
                <a:effectLst/>
                <a:uLnTx/>
                <a:uFillTx/>
                <a:latin typeface="Arial" pitchFamily="34" charset="0"/>
                <a:ea typeface="黑体" pitchFamily="2" charset="-122"/>
              </a:rPr>
              <a:t>  B </a:t>
            </a:r>
            <a:r>
              <a:rPr kumimoji="0" lang="zh-CN" altLang="en-US" sz="2800" b="1" i="0" u="none" strike="noStrike" kern="0" cap="none" spc="0" normalizeH="0" baseline="0" noProof="0" dirty="0">
                <a:ln>
                  <a:noFill/>
                </a:ln>
                <a:solidFill>
                  <a:srgbClr val="000099"/>
                </a:solidFill>
                <a:effectLst/>
                <a:uLnTx/>
                <a:uFillTx/>
                <a:latin typeface="Arial" pitchFamily="34" charset="0"/>
                <a:ea typeface="黑体" pitchFamily="2" charset="-122"/>
              </a:rPr>
              <a:t>的 </a:t>
            </a:r>
            <a:r>
              <a:rPr kumimoji="0" lang="en-US" altLang="zh-CN" sz="2800" b="1" i="0" u="none" strike="noStrike" kern="0" cap="none" spc="0" normalizeH="0" baseline="0" noProof="0" dirty="0">
                <a:ln>
                  <a:noFill/>
                </a:ln>
                <a:solidFill>
                  <a:srgbClr val="000099"/>
                </a:solidFill>
                <a:effectLst/>
                <a:uLnTx/>
                <a:uFillTx/>
                <a:latin typeface="Arial" pitchFamily="34" charset="0"/>
                <a:ea typeface="黑体" pitchFamily="2" charset="-122"/>
              </a:rPr>
              <a:t>TCP </a:t>
            </a:r>
            <a:r>
              <a:rPr kumimoji="0" lang="zh-CN" altLang="en-US" sz="2800" b="1" i="0" u="none" strike="noStrike" kern="0" cap="none" spc="0" normalizeH="0" baseline="0" noProof="0" dirty="0">
                <a:ln>
                  <a:noFill/>
                </a:ln>
                <a:solidFill>
                  <a:srgbClr val="000099"/>
                </a:solidFill>
                <a:effectLst/>
                <a:uLnTx/>
                <a:uFillTx/>
                <a:latin typeface="Arial" pitchFamily="34" charset="0"/>
                <a:ea typeface="黑体" pitchFamily="2" charset="-122"/>
              </a:rPr>
              <a:t>收到连接请求报文段后，如同意，则</a:t>
            </a:r>
          </a:p>
          <a:p>
            <a:pPr marL="0" marR="0" lvl="0" indent="0" algn="l" defTabSz="914400" eaLnBrk="1" fontAlgn="auto" latinLnBrk="0" hangingPunct="1">
              <a:lnSpc>
                <a:spcPct val="100000"/>
              </a:lnSpc>
              <a:spcBef>
                <a:spcPts val="0"/>
              </a:spcBef>
              <a:spcAft>
                <a:spcPts val="0"/>
              </a:spcAft>
              <a:buClrTx/>
              <a:buSzTx/>
              <a:buFontTx/>
              <a:buNone/>
              <a:tabLst/>
              <a:defRPr/>
            </a:pPr>
            <a:r>
              <a:rPr kumimoji="0" lang="zh-CN" altLang="en-US" sz="2800" b="1" i="0" u="none" strike="noStrike" kern="0" cap="none" spc="0" normalizeH="0" baseline="0" noProof="0" dirty="0">
                <a:ln>
                  <a:noFill/>
                </a:ln>
                <a:solidFill>
                  <a:srgbClr val="000099"/>
                </a:solidFill>
                <a:effectLst/>
                <a:uLnTx/>
                <a:uFillTx/>
                <a:latin typeface="Arial" pitchFamily="34" charset="0"/>
                <a:ea typeface="黑体" pitchFamily="2" charset="-122"/>
              </a:rPr>
              <a:t>   发回确认。</a:t>
            </a:r>
          </a:p>
          <a:p>
            <a:pPr marL="0" marR="0" lvl="0" indent="0" algn="l" defTabSz="914400" eaLnBrk="1" fontAlgn="auto" latinLnBrk="0" hangingPunct="1">
              <a:lnSpc>
                <a:spcPct val="100000"/>
              </a:lnSpc>
              <a:spcBef>
                <a:spcPts val="0"/>
              </a:spcBef>
              <a:spcAft>
                <a:spcPts val="0"/>
              </a:spcAft>
              <a:buClrTx/>
              <a:buSzTx/>
              <a:buFontTx/>
              <a:buChar char="•"/>
              <a:tabLst/>
              <a:defRPr/>
            </a:pPr>
            <a:r>
              <a:rPr kumimoji="0" lang="zh-CN" altLang="en-US" sz="2800" b="1" i="0" u="none" strike="noStrike" kern="0" cap="none" spc="0" normalizeH="0" baseline="0" noProof="0" dirty="0">
                <a:ln>
                  <a:noFill/>
                </a:ln>
                <a:solidFill>
                  <a:srgbClr val="000099"/>
                </a:solidFill>
                <a:effectLst/>
                <a:uLnTx/>
                <a:uFillTx/>
                <a:latin typeface="Arial" pitchFamily="34" charset="0"/>
                <a:ea typeface="黑体" pitchFamily="2" charset="-122"/>
              </a:rPr>
              <a:t>  </a:t>
            </a:r>
            <a:r>
              <a:rPr kumimoji="0" lang="en-US" altLang="zh-CN" sz="2800" b="1" i="0" u="none" strike="noStrike" kern="0" cap="none" spc="0" normalizeH="0" baseline="0" noProof="0" dirty="0">
                <a:ln>
                  <a:noFill/>
                </a:ln>
                <a:solidFill>
                  <a:srgbClr val="000099"/>
                </a:solidFill>
                <a:effectLst/>
                <a:uLnTx/>
                <a:uFillTx/>
                <a:latin typeface="Arial" pitchFamily="34" charset="0"/>
                <a:ea typeface="黑体" pitchFamily="2" charset="-122"/>
              </a:rPr>
              <a:t>B </a:t>
            </a:r>
            <a:r>
              <a:rPr kumimoji="0" lang="zh-CN" altLang="en-US" sz="2800" b="1" i="0" u="none" strike="noStrike" kern="0" cap="none" spc="0" normalizeH="0" baseline="0" noProof="0" dirty="0">
                <a:ln>
                  <a:noFill/>
                </a:ln>
                <a:solidFill>
                  <a:srgbClr val="000099"/>
                </a:solidFill>
                <a:effectLst/>
                <a:uLnTx/>
                <a:uFillTx/>
                <a:latin typeface="Arial" pitchFamily="34" charset="0"/>
                <a:ea typeface="黑体" pitchFamily="2" charset="-122"/>
              </a:rPr>
              <a:t>在确认报文段中应使 </a:t>
            </a:r>
            <a:r>
              <a:rPr kumimoji="0" lang="en-US" altLang="zh-CN" sz="2800" b="1" i="0" u="none" strike="noStrike" kern="0" cap="none" spc="0" normalizeH="0" baseline="0" noProof="0" dirty="0">
                <a:ln>
                  <a:noFill/>
                </a:ln>
                <a:solidFill>
                  <a:srgbClr val="000099"/>
                </a:solidFill>
                <a:effectLst/>
                <a:uLnTx/>
                <a:uFillTx/>
                <a:latin typeface="Arial" pitchFamily="34" charset="0"/>
                <a:ea typeface="黑体" pitchFamily="2" charset="-122"/>
              </a:rPr>
              <a:t>SYN = 1</a:t>
            </a:r>
            <a:r>
              <a:rPr kumimoji="0" lang="zh-CN" altLang="en-US" sz="2800" b="1" i="0" u="none" strike="noStrike" kern="0" cap="none" spc="0" normalizeH="0" baseline="0" noProof="0" dirty="0">
                <a:ln>
                  <a:noFill/>
                </a:ln>
                <a:solidFill>
                  <a:srgbClr val="000099"/>
                </a:solidFill>
                <a:effectLst/>
                <a:uLnTx/>
                <a:uFillTx/>
                <a:latin typeface="Arial" pitchFamily="34" charset="0"/>
                <a:ea typeface="黑体" pitchFamily="2" charset="-122"/>
              </a:rPr>
              <a:t>，使 </a:t>
            </a:r>
            <a:r>
              <a:rPr kumimoji="0" lang="en-US" altLang="zh-CN" sz="2800" b="1" i="0" u="none" strike="noStrike" kern="0" cap="none" spc="0" normalizeH="0" baseline="0" noProof="0" dirty="0">
                <a:ln>
                  <a:noFill/>
                </a:ln>
                <a:solidFill>
                  <a:srgbClr val="000099"/>
                </a:solidFill>
                <a:effectLst/>
                <a:uLnTx/>
                <a:uFillTx/>
                <a:latin typeface="Arial" pitchFamily="34" charset="0"/>
                <a:ea typeface="黑体" pitchFamily="2" charset="-122"/>
              </a:rPr>
              <a:t>ACK = 1</a:t>
            </a:r>
            <a:r>
              <a:rPr kumimoji="0" lang="zh-CN" altLang="en-US" sz="2800" b="1" i="0" u="none" strike="noStrike" kern="0" cap="none" spc="0" normalizeH="0" baseline="0" noProof="0" dirty="0">
                <a:ln>
                  <a:noFill/>
                </a:ln>
                <a:solidFill>
                  <a:srgbClr val="000099"/>
                </a:solidFill>
                <a:effectLst/>
                <a:uLnTx/>
                <a:uFillTx/>
                <a:latin typeface="Arial" pitchFamily="34" charset="0"/>
                <a:ea typeface="黑体" pitchFamily="2" charset="-122"/>
              </a:rPr>
              <a:t>，</a:t>
            </a:r>
          </a:p>
          <a:p>
            <a:pPr marL="0" marR="0" lvl="0" indent="0" algn="l" defTabSz="914400" eaLnBrk="1" fontAlgn="auto" latinLnBrk="0" hangingPunct="1">
              <a:lnSpc>
                <a:spcPct val="100000"/>
              </a:lnSpc>
              <a:spcBef>
                <a:spcPts val="0"/>
              </a:spcBef>
              <a:spcAft>
                <a:spcPts val="0"/>
              </a:spcAft>
              <a:buClrTx/>
              <a:buSzTx/>
              <a:buFontTx/>
              <a:buNone/>
              <a:tabLst/>
              <a:defRPr/>
            </a:pPr>
            <a:r>
              <a:rPr kumimoji="0" lang="zh-CN" altLang="en-US" sz="2800" b="1" i="0" u="none" strike="noStrike" kern="0" cap="none" spc="0" normalizeH="0" baseline="0" noProof="0" dirty="0">
                <a:ln>
                  <a:noFill/>
                </a:ln>
                <a:solidFill>
                  <a:srgbClr val="000099"/>
                </a:solidFill>
                <a:effectLst/>
                <a:uLnTx/>
                <a:uFillTx/>
                <a:latin typeface="Arial" pitchFamily="34" charset="0"/>
                <a:ea typeface="黑体" pitchFamily="2" charset="-122"/>
              </a:rPr>
              <a:t>   其确认号</a:t>
            </a:r>
            <a:r>
              <a:rPr kumimoji="0" lang="en-US" altLang="zh-CN" sz="2800" b="1" i="0" u="none" strike="noStrike" kern="0" cap="none" spc="0" normalizeH="0" baseline="0" noProof="0" dirty="0" err="1">
                <a:ln>
                  <a:noFill/>
                </a:ln>
                <a:solidFill>
                  <a:srgbClr val="000099"/>
                </a:solidFill>
                <a:effectLst/>
                <a:uLnTx/>
                <a:uFillTx/>
                <a:latin typeface="Arial" pitchFamily="34" charset="0"/>
                <a:ea typeface="黑体" pitchFamily="2" charset="-122"/>
              </a:rPr>
              <a:t>ack</a:t>
            </a:r>
            <a:r>
              <a:rPr kumimoji="0" lang="en-US" altLang="zh-CN" sz="2800" b="1" i="0" u="none" strike="noStrike" kern="0" cap="none" spc="0" normalizeH="0" baseline="0" noProof="0" dirty="0">
                <a:ln>
                  <a:noFill/>
                </a:ln>
                <a:solidFill>
                  <a:srgbClr val="000099"/>
                </a:solidFill>
                <a:effectLst/>
                <a:uLnTx/>
                <a:uFillTx/>
                <a:latin typeface="Arial" pitchFamily="34" charset="0"/>
                <a:ea typeface="黑体" pitchFamily="2" charset="-122"/>
              </a:rPr>
              <a:t> = x </a:t>
            </a:r>
            <a:r>
              <a:rPr kumimoji="0" lang="en-US" altLang="zh-CN" sz="2800" b="1" i="0" u="none" strike="noStrike" kern="0" cap="none" spc="0" normalizeH="0" baseline="0" noProof="0" dirty="0">
                <a:ln>
                  <a:noFill/>
                </a:ln>
                <a:solidFill>
                  <a:srgbClr val="000099"/>
                </a:solidFill>
                <a:effectLst/>
                <a:uLnTx/>
                <a:uFillTx/>
                <a:latin typeface="Arial" pitchFamily="34" charset="0"/>
                <a:ea typeface="黑体" pitchFamily="2" charset="-122"/>
                <a:sym typeface="Symbol" pitchFamily="18" charset="2"/>
              </a:rPr>
              <a:t></a:t>
            </a:r>
            <a:r>
              <a:rPr kumimoji="0" lang="en-US" altLang="zh-CN" sz="2800" b="1" i="0" u="none" strike="noStrike" kern="0" cap="none" spc="0" normalizeH="0" baseline="0" noProof="0" dirty="0">
                <a:ln>
                  <a:noFill/>
                </a:ln>
                <a:solidFill>
                  <a:srgbClr val="000099"/>
                </a:solidFill>
                <a:effectLst/>
                <a:uLnTx/>
                <a:uFillTx/>
                <a:latin typeface="Arial" pitchFamily="34" charset="0"/>
                <a:ea typeface="黑体" pitchFamily="2" charset="-122"/>
              </a:rPr>
              <a:t> 1</a:t>
            </a:r>
            <a:r>
              <a:rPr kumimoji="0" lang="zh-CN" altLang="en-US" sz="2800" b="1" i="0" u="none" strike="noStrike" kern="0" cap="none" spc="0" normalizeH="0" baseline="0" noProof="0" dirty="0">
                <a:ln>
                  <a:noFill/>
                </a:ln>
                <a:solidFill>
                  <a:srgbClr val="000099"/>
                </a:solidFill>
                <a:effectLst/>
                <a:uLnTx/>
                <a:uFillTx/>
                <a:latin typeface="Arial" pitchFamily="34" charset="0"/>
                <a:ea typeface="黑体" pitchFamily="2" charset="-122"/>
              </a:rPr>
              <a:t>，自己选择的序号 </a:t>
            </a:r>
            <a:r>
              <a:rPr kumimoji="0" lang="en-US" altLang="zh-CN" sz="2800" b="1" i="0" u="none" strike="noStrike" kern="0" cap="none" spc="0" normalizeH="0" baseline="0" noProof="0" dirty="0" err="1">
                <a:ln>
                  <a:noFill/>
                </a:ln>
                <a:solidFill>
                  <a:srgbClr val="000099"/>
                </a:solidFill>
                <a:effectLst/>
                <a:uLnTx/>
                <a:uFillTx/>
                <a:latin typeface="Arial" pitchFamily="34" charset="0"/>
                <a:ea typeface="黑体" pitchFamily="2" charset="-122"/>
              </a:rPr>
              <a:t>seq</a:t>
            </a:r>
            <a:r>
              <a:rPr kumimoji="0" lang="en-US" altLang="zh-CN" sz="2800" b="1" i="0" u="none" strike="noStrike" kern="0" cap="none" spc="0" normalizeH="0" baseline="0" noProof="0" dirty="0">
                <a:ln>
                  <a:noFill/>
                </a:ln>
                <a:solidFill>
                  <a:srgbClr val="000099"/>
                </a:solidFill>
                <a:effectLst/>
                <a:uLnTx/>
                <a:uFillTx/>
                <a:latin typeface="Arial" pitchFamily="34" charset="0"/>
                <a:ea typeface="黑体" pitchFamily="2" charset="-122"/>
              </a:rPr>
              <a:t> = y</a:t>
            </a:r>
            <a:r>
              <a:rPr kumimoji="0" lang="zh-CN" altLang="en-US" sz="2800" b="1" i="0" u="none" strike="noStrike" kern="0" cap="none" spc="0" normalizeH="0" baseline="0" noProof="0" dirty="0">
                <a:ln>
                  <a:noFill/>
                </a:ln>
                <a:solidFill>
                  <a:srgbClr val="000099"/>
                </a:solidFill>
                <a:effectLst/>
                <a:uLnTx/>
                <a:uFillTx/>
                <a:latin typeface="Arial" pitchFamily="34" charset="0"/>
                <a:ea typeface="黑体" pitchFamily="2" charset="-122"/>
              </a:rPr>
              <a:t>。</a:t>
            </a:r>
          </a:p>
        </p:txBody>
      </p:sp>
      <p:sp>
        <p:nvSpPr>
          <p:cNvPr id="31" name="Text Box 48"/>
          <p:cNvSpPr txBox="1">
            <a:spLocks noChangeArrowheads="1"/>
          </p:cNvSpPr>
          <p:nvPr/>
        </p:nvSpPr>
        <p:spPr bwMode="auto">
          <a:xfrm>
            <a:off x="992559" y="116632"/>
            <a:ext cx="8041781" cy="646331"/>
          </a:xfrm>
          <a:prstGeom prst="rect">
            <a:avLst/>
          </a:prstGeom>
          <a:solidFill>
            <a:srgbClr val="FFFF99"/>
          </a:solidFill>
          <a:ln w="9525">
            <a:solidFill>
              <a:srgbClr val="3333CC"/>
            </a:solidFill>
            <a:miter lim="800000"/>
            <a:headEnd/>
            <a:tailEnd/>
          </a:ln>
          <a:effectLst>
            <a:outerShdw dist="35921" dir="2700000" algn="ctr" rotWithShape="0">
              <a:srgbClr val="1C1C1C"/>
            </a:outerShdw>
          </a:effectLst>
        </p:spPr>
        <p:txBody>
          <a:bodyPr wrap="squar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600" b="1" i="0" u="none" strike="noStrike" kern="0" cap="none" spc="0" normalizeH="0" baseline="0" noProof="0" dirty="0">
                <a:ln>
                  <a:noFill/>
                </a:ln>
                <a:solidFill>
                  <a:srgbClr val="000099"/>
                </a:solidFill>
                <a:effectLst/>
                <a:uLnTx/>
                <a:uFillTx/>
                <a:latin typeface="Arial" pitchFamily="34" charset="0"/>
                <a:ea typeface="黑体" pitchFamily="2" charset="-122"/>
              </a:rPr>
              <a:t>TCP </a:t>
            </a:r>
            <a:r>
              <a:rPr kumimoji="0" lang="zh-CN" altLang="en-US" sz="3600" b="1" i="0" u="none" strike="noStrike" kern="0" cap="none" spc="0" normalizeH="0" baseline="0" noProof="0" dirty="0">
                <a:ln>
                  <a:noFill/>
                </a:ln>
                <a:solidFill>
                  <a:srgbClr val="000099"/>
                </a:solidFill>
                <a:effectLst/>
                <a:uLnTx/>
                <a:uFillTx/>
                <a:latin typeface="Arial" pitchFamily="34" charset="0"/>
                <a:ea typeface="黑体" pitchFamily="2" charset="-122"/>
              </a:rPr>
              <a:t>的连接建立：</a:t>
            </a:r>
            <a:r>
              <a:rPr kumimoji="0" lang="zh-CN" altLang="en-US" sz="3600" kern="0" dirty="0">
                <a:solidFill>
                  <a:srgbClr val="000099"/>
                </a:solidFill>
                <a:latin typeface="Arial" pitchFamily="34" charset="0"/>
                <a:ea typeface="黑体" pitchFamily="2" charset="-122"/>
              </a:rPr>
              <a:t>采用</a:t>
            </a:r>
            <a:r>
              <a:rPr kumimoji="0" lang="zh-CN" altLang="zh-CN" sz="3600" kern="0" dirty="0">
                <a:solidFill>
                  <a:srgbClr val="FF0000"/>
                </a:solidFill>
                <a:latin typeface="Arial" pitchFamily="34" charset="0"/>
                <a:ea typeface="黑体" pitchFamily="2" charset="-122"/>
              </a:rPr>
              <a:t>三报文握手</a:t>
            </a:r>
            <a:endParaRPr kumimoji="0" lang="zh-CN" altLang="en-US" sz="3600" kern="0" dirty="0">
              <a:solidFill>
                <a:srgbClr val="FF0000"/>
              </a:solidFill>
              <a:latin typeface="Arial" pitchFamily="34" charset="0"/>
              <a:ea typeface="黑体" pitchFamily="2" charset="-122"/>
            </a:endParaRPr>
          </a:p>
        </p:txBody>
      </p:sp>
    </p:spTree>
    <p:extLst>
      <p:ext uri="{BB962C8B-B14F-4D97-AF65-F5344CB8AC3E}">
        <p14:creationId xmlns:p14="http://schemas.microsoft.com/office/powerpoint/2010/main" val="23934861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29"/>
                                        </p:tgtEl>
                                        <p:attrNameLst>
                                          <p:attrName>style.visibility</p:attrName>
                                        </p:attrNameLst>
                                      </p:cBhvr>
                                      <p:to>
                                        <p:strVal val="visible"/>
                                      </p:to>
                                    </p:set>
                                  </p:childTnLst>
                                </p:cTn>
                              </p:par>
                            </p:childTnLst>
                          </p:cTn>
                        </p:par>
                        <p:par>
                          <p:cTn id="7" fill="hold">
                            <p:stCondLst>
                              <p:cond delay="0"/>
                            </p:stCondLst>
                            <p:childTnLst>
                              <p:par>
                                <p:cTn id="8" presetID="22" presetClass="entr" presetSubtype="2" fill="hold" nodeType="afterEffect">
                                  <p:stCondLst>
                                    <p:cond delay="2000"/>
                                  </p:stCondLst>
                                  <p:childTnLst>
                                    <p:set>
                                      <p:cBhvr>
                                        <p:cTn id="9" dur="1" fill="hold">
                                          <p:stCondLst>
                                            <p:cond delay="0"/>
                                          </p:stCondLst>
                                        </p:cTn>
                                        <p:tgtEl>
                                          <p:spTgt spid="26"/>
                                        </p:tgtEl>
                                        <p:attrNameLst>
                                          <p:attrName>style.visibility</p:attrName>
                                        </p:attrNameLst>
                                      </p:cBhvr>
                                      <p:to>
                                        <p:strVal val="visible"/>
                                      </p:to>
                                    </p:set>
                                    <p:animEffect transition="in" filter="wipe(right)">
                                      <p:cBhvr>
                                        <p:cTn id="10" dur="10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2"/>
          <p:cNvGrpSpPr>
            <a:grpSpLocks/>
          </p:cNvGrpSpPr>
          <p:nvPr/>
        </p:nvGrpSpPr>
        <p:grpSpPr bwMode="auto">
          <a:xfrm>
            <a:off x="2783656" y="2997200"/>
            <a:ext cx="4248150" cy="3441700"/>
            <a:chOff x="1474" y="1888"/>
            <a:chExt cx="2676" cy="2432"/>
          </a:xfrm>
        </p:grpSpPr>
        <p:sp>
          <p:nvSpPr>
            <p:cNvPr id="5" name="Line 3"/>
            <p:cNvSpPr>
              <a:spLocks noChangeShapeType="1"/>
            </p:cNvSpPr>
            <p:nvPr/>
          </p:nvSpPr>
          <p:spPr bwMode="auto">
            <a:xfrm>
              <a:off x="1474" y="1888"/>
              <a:ext cx="0" cy="2432"/>
            </a:xfrm>
            <a:prstGeom prst="line">
              <a:avLst/>
            </a:prstGeom>
            <a:noFill/>
            <a:ln w="28575">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itchFamily="2" charset="-122"/>
              </a:endParaRPr>
            </a:p>
          </p:txBody>
        </p:sp>
        <p:sp>
          <p:nvSpPr>
            <p:cNvPr id="6" name="Line 4"/>
            <p:cNvSpPr>
              <a:spLocks noChangeShapeType="1"/>
            </p:cNvSpPr>
            <p:nvPr/>
          </p:nvSpPr>
          <p:spPr bwMode="auto">
            <a:xfrm>
              <a:off x="4150" y="1888"/>
              <a:ext cx="0" cy="2432"/>
            </a:xfrm>
            <a:prstGeom prst="line">
              <a:avLst/>
            </a:prstGeom>
            <a:noFill/>
            <a:ln w="28575">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itchFamily="2" charset="-122"/>
              </a:endParaRPr>
            </a:p>
          </p:txBody>
        </p:sp>
      </p:grpSp>
      <p:grpSp>
        <p:nvGrpSpPr>
          <p:cNvPr id="7" name="Group 5"/>
          <p:cNvGrpSpPr>
            <a:grpSpLocks/>
          </p:cNvGrpSpPr>
          <p:nvPr/>
        </p:nvGrpSpPr>
        <p:grpSpPr bwMode="auto">
          <a:xfrm>
            <a:off x="2856681" y="3005138"/>
            <a:ext cx="4111625" cy="801687"/>
            <a:chOff x="1520" y="1893"/>
            <a:chExt cx="2590" cy="505"/>
          </a:xfrm>
        </p:grpSpPr>
        <p:sp>
          <p:nvSpPr>
            <p:cNvPr id="8" name="Rectangle 6"/>
            <p:cNvSpPr>
              <a:spLocks noChangeArrowheads="1"/>
            </p:cNvSpPr>
            <p:nvPr/>
          </p:nvSpPr>
          <p:spPr bwMode="auto">
            <a:xfrm rot="665985">
              <a:off x="2094" y="1904"/>
              <a:ext cx="1615"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2000" b="1" i="0" u="none" strike="noStrike" kern="0" cap="none" spc="0" normalizeH="0" baseline="0" noProof="0" dirty="0">
                  <a:ln>
                    <a:noFill/>
                  </a:ln>
                  <a:solidFill>
                    <a:srgbClr val="3333CC"/>
                  </a:solidFill>
                  <a:effectLst/>
                  <a:uLnTx/>
                  <a:uFillTx/>
                  <a:latin typeface="+mn-lt"/>
                  <a:ea typeface="黑体" pitchFamily="2" charset="-122"/>
                </a:rPr>
                <a:t>SYN = 1, </a:t>
              </a:r>
              <a:r>
                <a:rPr kumimoji="0" lang="en-US" altLang="zh-CN" sz="2000" b="1" i="0" u="none" strike="noStrike" kern="0" cap="none" spc="0" normalizeH="0" baseline="0" noProof="0" dirty="0" err="1">
                  <a:ln>
                    <a:noFill/>
                  </a:ln>
                  <a:solidFill>
                    <a:srgbClr val="3333CC"/>
                  </a:solidFill>
                  <a:effectLst/>
                  <a:uLnTx/>
                  <a:uFillTx/>
                  <a:latin typeface="+mn-lt"/>
                  <a:ea typeface="黑体" pitchFamily="2" charset="-122"/>
                </a:rPr>
                <a:t>seq</a:t>
              </a:r>
              <a:r>
                <a:rPr kumimoji="0" lang="en-US" altLang="zh-CN" sz="2000" b="1" i="0" u="none" strike="noStrike" kern="0" cap="none" spc="0" normalizeH="0" baseline="0" noProof="0" dirty="0">
                  <a:ln>
                    <a:noFill/>
                  </a:ln>
                  <a:solidFill>
                    <a:srgbClr val="3333CC"/>
                  </a:solidFill>
                  <a:effectLst/>
                  <a:uLnTx/>
                  <a:uFillTx/>
                  <a:latin typeface="+mn-lt"/>
                  <a:ea typeface="黑体" pitchFamily="2" charset="-122"/>
                </a:rPr>
                <a:t> = x</a:t>
              </a:r>
            </a:p>
          </p:txBody>
        </p:sp>
        <p:sp>
          <p:nvSpPr>
            <p:cNvPr id="9" name="Line 7"/>
            <p:cNvSpPr>
              <a:spLocks noChangeShapeType="1"/>
            </p:cNvSpPr>
            <p:nvPr/>
          </p:nvSpPr>
          <p:spPr bwMode="auto">
            <a:xfrm>
              <a:off x="1520" y="1893"/>
              <a:ext cx="2590" cy="505"/>
            </a:xfrm>
            <a:prstGeom prst="line">
              <a:avLst/>
            </a:prstGeom>
            <a:noFill/>
            <a:ln w="5715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itchFamily="2" charset="-122"/>
              </a:endParaRPr>
            </a:p>
          </p:txBody>
        </p:sp>
      </p:grpSp>
      <p:grpSp>
        <p:nvGrpSpPr>
          <p:cNvPr id="10" name="Group 8"/>
          <p:cNvGrpSpPr>
            <a:grpSpLocks/>
          </p:cNvGrpSpPr>
          <p:nvPr/>
        </p:nvGrpSpPr>
        <p:grpSpPr bwMode="auto">
          <a:xfrm>
            <a:off x="2856681" y="4756150"/>
            <a:ext cx="4202113" cy="800100"/>
            <a:chOff x="1520" y="2996"/>
            <a:chExt cx="2647" cy="504"/>
          </a:xfrm>
        </p:grpSpPr>
        <p:sp>
          <p:nvSpPr>
            <p:cNvPr id="11" name="Rectangle 9"/>
            <p:cNvSpPr>
              <a:spLocks noChangeArrowheads="1"/>
            </p:cNvSpPr>
            <p:nvPr/>
          </p:nvSpPr>
          <p:spPr bwMode="auto">
            <a:xfrm rot="649536">
              <a:off x="1856" y="3064"/>
              <a:ext cx="2311"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tabLst/>
                <a:defRPr/>
              </a:pPr>
              <a:r>
                <a:rPr kumimoji="0" lang="en-US" altLang="zh-CN" sz="1800" b="1" i="0" u="none" strike="noStrike" kern="0" cap="none" spc="0" normalizeH="0" baseline="0" noProof="0" dirty="0">
                  <a:ln>
                    <a:noFill/>
                  </a:ln>
                  <a:solidFill>
                    <a:srgbClr val="3333CC"/>
                  </a:solidFill>
                  <a:effectLst/>
                  <a:uLnTx/>
                  <a:uFillTx/>
                  <a:latin typeface="+mn-lt"/>
                  <a:ea typeface="黑体" pitchFamily="2" charset="-122"/>
                </a:rPr>
                <a:t>ACK = 1, </a:t>
              </a:r>
              <a:r>
                <a:rPr kumimoji="0" lang="en-US" altLang="zh-CN" sz="1800" b="1" i="0" u="none" strike="noStrike" kern="0" cap="none" spc="0" normalizeH="0" baseline="0" noProof="0" dirty="0" err="1">
                  <a:ln>
                    <a:noFill/>
                  </a:ln>
                  <a:solidFill>
                    <a:srgbClr val="3333CC"/>
                  </a:solidFill>
                  <a:effectLst/>
                  <a:uLnTx/>
                  <a:uFillTx/>
                  <a:latin typeface="+mn-lt"/>
                  <a:ea typeface="黑体" pitchFamily="2" charset="-122"/>
                </a:rPr>
                <a:t>seq</a:t>
              </a:r>
              <a:r>
                <a:rPr kumimoji="0" lang="en-US" altLang="zh-CN" sz="1800" b="1" i="0" u="none" strike="noStrike" kern="0" cap="none" spc="0" normalizeH="0" baseline="0" noProof="0" dirty="0">
                  <a:ln>
                    <a:noFill/>
                  </a:ln>
                  <a:solidFill>
                    <a:srgbClr val="3333CC"/>
                  </a:solidFill>
                  <a:effectLst/>
                  <a:uLnTx/>
                  <a:uFillTx/>
                  <a:latin typeface="+mn-lt"/>
                  <a:ea typeface="黑体" pitchFamily="2" charset="-122"/>
                </a:rPr>
                <a:t> = x + 1, </a:t>
              </a:r>
              <a:r>
                <a:rPr kumimoji="0" lang="en-US" altLang="zh-CN" sz="1800" b="1" i="0" u="none" strike="noStrike" kern="0" cap="none" spc="0" normalizeH="0" baseline="0" noProof="0" dirty="0" err="1">
                  <a:ln>
                    <a:noFill/>
                  </a:ln>
                  <a:solidFill>
                    <a:srgbClr val="3333CC"/>
                  </a:solidFill>
                  <a:effectLst/>
                  <a:uLnTx/>
                  <a:uFillTx/>
                  <a:latin typeface="+mn-lt"/>
                  <a:ea typeface="黑体" pitchFamily="2" charset="-122"/>
                </a:rPr>
                <a:t>ack</a:t>
              </a:r>
              <a:r>
                <a:rPr kumimoji="0" lang="en-US" altLang="zh-CN" sz="1800" b="1" i="0" u="none" strike="noStrike" kern="0" cap="none" spc="0" normalizeH="0" baseline="0" noProof="0" dirty="0">
                  <a:ln>
                    <a:noFill/>
                  </a:ln>
                  <a:solidFill>
                    <a:srgbClr val="3333CC"/>
                  </a:solidFill>
                  <a:effectLst/>
                  <a:uLnTx/>
                  <a:uFillTx/>
                  <a:latin typeface="+mn-lt"/>
                  <a:ea typeface="黑体" pitchFamily="2" charset="-122"/>
                </a:rPr>
                <a:t> = y </a:t>
              </a:r>
              <a:r>
                <a:rPr kumimoji="0" lang="en-US" altLang="zh-CN" sz="1800" b="1" i="0" u="none" strike="noStrike" kern="0" cap="none" spc="0" normalizeH="0" baseline="0" noProof="0" dirty="0">
                  <a:ln>
                    <a:noFill/>
                  </a:ln>
                  <a:solidFill>
                    <a:srgbClr val="3333CC"/>
                  </a:solidFill>
                  <a:effectLst/>
                  <a:uLnTx/>
                  <a:uFillTx/>
                  <a:latin typeface="+mn-lt"/>
                  <a:ea typeface="黑体" pitchFamily="2" charset="-122"/>
                  <a:sym typeface="Symbol" pitchFamily="18" charset="2"/>
                </a:rPr>
                <a:t> 1</a:t>
              </a:r>
            </a:p>
          </p:txBody>
        </p:sp>
        <p:sp>
          <p:nvSpPr>
            <p:cNvPr id="12" name="Line 10"/>
            <p:cNvSpPr>
              <a:spLocks noChangeShapeType="1"/>
            </p:cNvSpPr>
            <p:nvPr/>
          </p:nvSpPr>
          <p:spPr bwMode="auto">
            <a:xfrm>
              <a:off x="1520" y="2996"/>
              <a:ext cx="2590" cy="504"/>
            </a:xfrm>
            <a:prstGeom prst="line">
              <a:avLst/>
            </a:prstGeom>
            <a:noFill/>
            <a:ln w="5715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itchFamily="2" charset="-122"/>
              </a:endParaRPr>
            </a:p>
          </p:txBody>
        </p:sp>
      </p:grpSp>
      <p:sp>
        <p:nvSpPr>
          <p:cNvPr id="13" name="Rectangle 11"/>
          <p:cNvSpPr>
            <a:spLocks noChangeArrowheads="1"/>
          </p:cNvSpPr>
          <p:nvPr/>
        </p:nvSpPr>
        <p:spPr bwMode="auto">
          <a:xfrm>
            <a:off x="1880369" y="2393950"/>
            <a:ext cx="966787" cy="549275"/>
          </a:xfrm>
          <a:prstGeom prst="rect">
            <a:avLst/>
          </a:prstGeom>
          <a:solidFill>
            <a:srgbClr val="663300"/>
          </a:solidFill>
          <a:ln>
            <a:noFill/>
          </a:ln>
          <a:effectLst>
            <a:outerShdw dist="35921" dir="2700000" algn="ctr" rotWithShape="0">
              <a:srgbClr val="1C1C1C"/>
            </a:outerShdw>
          </a:effectLst>
          <a:extLst>
            <a:ext uri="{91240B29-F687-4F45-9708-019B960494DF}">
              <a14:hiddenLine xmlns:a14="http://schemas.microsoft.com/office/drawing/2010/main" w="12700">
                <a:solidFill>
                  <a:schemeClr val="tx1"/>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itchFamily="2" charset="-122"/>
            </a:endParaRPr>
          </a:p>
        </p:txBody>
      </p:sp>
      <p:sp>
        <p:nvSpPr>
          <p:cNvPr id="14" name="Text Box 12"/>
          <p:cNvSpPr txBox="1">
            <a:spLocks noChangeArrowheads="1"/>
          </p:cNvSpPr>
          <p:nvPr/>
        </p:nvSpPr>
        <p:spPr bwMode="auto">
          <a:xfrm>
            <a:off x="1831156" y="2455863"/>
            <a:ext cx="114646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a:r>
              <a:rPr lang="en-US" altLang="zh-CN" sz="1800">
                <a:solidFill>
                  <a:srgbClr val="FFFF99"/>
                </a:solidFill>
                <a:latin typeface="+mn-lt"/>
                <a:ea typeface="黑体" pitchFamily="2" charset="-122"/>
              </a:rPr>
              <a:t>CLOSED</a:t>
            </a:r>
          </a:p>
        </p:txBody>
      </p:sp>
      <p:sp>
        <p:nvSpPr>
          <p:cNvPr id="15" name="Rectangle 13"/>
          <p:cNvSpPr>
            <a:spLocks noChangeArrowheads="1"/>
          </p:cNvSpPr>
          <p:nvPr/>
        </p:nvSpPr>
        <p:spPr bwMode="auto">
          <a:xfrm>
            <a:off x="6969894" y="2393950"/>
            <a:ext cx="985837" cy="549275"/>
          </a:xfrm>
          <a:prstGeom prst="rect">
            <a:avLst/>
          </a:prstGeom>
          <a:solidFill>
            <a:srgbClr val="663300"/>
          </a:solidFill>
          <a:ln>
            <a:noFill/>
          </a:ln>
          <a:effectLst>
            <a:outerShdw dist="35921" dir="2700000" algn="ctr" rotWithShape="0">
              <a:srgbClr val="1C1C1C"/>
            </a:outerShdw>
          </a:effectLst>
          <a:extLst>
            <a:ext uri="{91240B29-F687-4F45-9708-019B960494DF}">
              <a14:hiddenLine xmlns:a14="http://schemas.microsoft.com/office/drawing/2010/main" w="12700">
                <a:solidFill>
                  <a:schemeClr val="tx1"/>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itchFamily="2" charset="-122"/>
            </a:endParaRPr>
          </a:p>
        </p:txBody>
      </p:sp>
      <p:sp>
        <p:nvSpPr>
          <p:cNvPr id="16" name="Text Box 14"/>
          <p:cNvSpPr txBox="1">
            <a:spLocks noChangeArrowheads="1"/>
          </p:cNvSpPr>
          <p:nvPr/>
        </p:nvSpPr>
        <p:spPr bwMode="auto">
          <a:xfrm>
            <a:off x="6930206" y="2455863"/>
            <a:ext cx="114646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a:r>
              <a:rPr lang="en-US" altLang="zh-CN" sz="1800">
                <a:solidFill>
                  <a:srgbClr val="FFFF99"/>
                </a:solidFill>
                <a:latin typeface="+mn-lt"/>
                <a:ea typeface="黑体" pitchFamily="2" charset="-122"/>
              </a:rPr>
              <a:t>CLOSED</a:t>
            </a:r>
          </a:p>
        </p:txBody>
      </p:sp>
      <p:grpSp>
        <p:nvGrpSpPr>
          <p:cNvPr id="17" name="Group 15"/>
          <p:cNvGrpSpPr>
            <a:grpSpLocks/>
          </p:cNvGrpSpPr>
          <p:nvPr/>
        </p:nvGrpSpPr>
        <p:grpSpPr bwMode="auto">
          <a:xfrm>
            <a:off x="838969" y="2057400"/>
            <a:ext cx="1320800" cy="947738"/>
            <a:chOff x="249" y="1296"/>
            <a:chExt cx="832" cy="597"/>
          </a:xfrm>
        </p:grpSpPr>
        <p:sp>
          <p:nvSpPr>
            <p:cNvPr id="18" name="Rectangle 16"/>
            <p:cNvSpPr>
              <a:spLocks noChangeArrowheads="1"/>
            </p:cNvSpPr>
            <p:nvPr/>
          </p:nvSpPr>
          <p:spPr bwMode="auto">
            <a:xfrm>
              <a:off x="251" y="1638"/>
              <a:ext cx="701"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800" b="1" i="0" u="none" strike="noStrike" kern="0" cap="none" spc="0" normalizeH="0" baseline="0" noProof="0">
                  <a:ln>
                    <a:noFill/>
                  </a:ln>
                  <a:solidFill>
                    <a:srgbClr val="3333CC"/>
                  </a:solidFill>
                  <a:effectLst/>
                  <a:uLnTx/>
                  <a:uFillTx/>
                  <a:latin typeface="+mn-lt"/>
                  <a:ea typeface="黑体" pitchFamily="2" charset="-122"/>
                </a:rPr>
                <a:t>主动打开</a:t>
              </a:r>
            </a:p>
          </p:txBody>
        </p:sp>
        <p:sp>
          <p:nvSpPr>
            <p:cNvPr id="19" name="Freeform 17"/>
            <p:cNvSpPr>
              <a:spLocks/>
            </p:cNvSpPr>
            <p:nvPr/>
          </p:nvSpPr>
          <p:spPr bwMode="auto">
            <a:xfrm>
              <a:off x="249" y="1296"/>
              <a:ext cx="832" cy="597"/>
            </a:xfrm>
            <a:custGeom>
              <a:avLst/>
              <a:gdLst>
                <a:gd name="T0" fmla="*/ 832 w 758"/>
                <a:gd name="T1" fmla="*/ 5 h 491"/>
                <a:gd name="T2" fmla="*/ 0 w 758"/>
                <a:gd name="T3" fmla="*/ 0 h 491"/>
                <a:gd name="T4" fmla="*/ 0 w 758"/>
                <a:gd name="T5" fmla="*/ 597 h 491"/>
                <a:gd name="T6" fmla="*/ 650 w 758"/>
                <a:gd name="T7" fmla="*/ 597 h 49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58" h="491">
                  <a:moveTo>
                    <a:pt x="758" y="4"/>
                  </a:moveTo>
                  <a:lnTo>
                    <a:pt x="0" y="0"/>
                  </a:lnTo>
                  <a:lnTo>
                    <a:pt x="0" y="491"/>
                  </a:lnTo>
                  <a:lnTo>
                    <a:pt x="592" y="491"/>
                  </a:lnTo>
                </a:path>
              </a:pathLst>
            </a:custGeom>
            <a:noFill/>
            <a:ln w="28575" cap="flat" cmpd="sng">
              <a:solidFill>
                <a:srgbClr val="3333CC"/>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itchFamily="2" charset="-122"/>
              </a:endParaRPr>
            </a:p>
          </p:txBody>
        </p:sp>
      </p:grpSp>
      <p:grpSp>
        <p:nvGrpSpPr>
          <p:cNvPr id="20" name="Group 18"/>
          <p:cNvGrpSpPr>
            <a:grpSpLocks/>
          </p:cNvGrpSpPr>
          <p:nvPr/>
        </p:nvGrpSpPr>
        <p:grpSpPr bwMode="auto">
          <a:xfrm>
            <a:off x="7666809" y="2065338"/>
            <a:ext cx="1401763" cy="939800"/>
            <a:chOff x="4550" y="1301"/>
            <a:chExt cx="883" cy="592"/>
          </a:xfrm>
        </p:grpSpPr>
        <p:sp>
          <p:nvSpPr>
            <p:cNvPr id="21" name="Rectangle 19"/>
            <p:cNvSpPr>
              <a:spLocks noChangeArrowheads="1"/>
            </p:cNvSpPr>
            <p:nvPr/>
          </p:nvSpPr>
          <p:spPr bwMode="auto">
            <a:xfrm>
              <a:off x="4732" y="1617"/>
              <a:ext cx="701"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800" b="1" i="0" u="none" strike="noStrike" kern="0" cap="none" spc="0" normalizeH="0" baseline="0" noProof="0">
                  <a:ln>
                    <a:noFill/>
                  </a:ln>
                  <a:solidFill>
                    <a:srgbClr val="3333CC"/>
                  </a:solidFill>
                  <a:effectLst/>
                  <a:uLnTx/>
                  <a:uFillTx/>
                  <a:latin typeface="+mn-lt"/>
                  <a:ea typeface="黑体" pitchFamily="2" charset="-122"/>
                </a:rPr>
                <a:t>被动打开</a:t>
              </a:r>
            </a:p>
          </p:txBody>
        </p:sp>
        <p:sp>
          <p:nvSpPr>
            <p:cNvPr id="22" name="Freeform 20"/>
            <p:cNvSpPr>
              <a:spLocks/>
            </p:cNvSpPr>
            <p:nvPr/>
          </p:nvSpPr>
          <p:spPr bwMode="auto">
            <a:xfrm>
              <a:off x="4550" y="1301"/>
              <a:ext cx="870" cy="592"/>
            </a:xfrm>
            <a:custGeom>
              <a:avLst/>
              <a:gdLst>
                <a:gd name="T0" fmla="*/ 0 w 792"/>
                <a:gd name="T1" fmla="*/ 0 h 487"/>
                <a:gd name="T2" fmla="*/ 870 w 792"/>
                <a:gd name="T3" fmla="*/ 5 h 487"/>
                <a:gd name="T4" fmla="*/ 870 w 792"/>
                <a:gd name="T5" fmla="*/ 592 h 487"/>
                <a:gd name="T6" fmla="*/ 201 w 792"/>
                <a:gd name="T7" fmla="*/ 583 h 48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92" h="487">
                  <a:moveTo>
                    <a:pt x="0" y="0"/>
                  </a:moveTo>
                  <a:lnTo>
                    <a:pt x="792" y="4"/>
                  </a:lnTo>
                  <a:lnTo>
                    <a:pt x="792" y="487"/>
                  </a:lnTo>
                  <a:lnTo>
                    <a:pt x="183" y="480"/>
                  </a:lnTo>
                </a:path>
              </a:pathLst>
            </a:custGeom>
            <a:noFill/>
            <a:ln w="28575" cap="flat" cmpd="sng">
              <a:solidFill>
                <a:srgbClr val="3333CC"/>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itchFamily="2" charset="-122"/>
              </a:endParaRPr>
            </a:p>
          </p:txBody>
        </p:sp>
      </p:grpSp>
      <p:pic>
        <p:nvPicPr>
          <p:cNvPr id="23" name="Picture 21"/>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113731" y="1779588"/>
            <a:ext cx="501650" cy="51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4" name="Picture 22"/>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212781" y="1779588"/>
            <a:ext cx="501650" cy="51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5" name="Rectangle 23"/>
          <p:cNvSpPr>
            <a:spLocks noChangeArrowheads="1"/>
          </p:cNvSpPr>
          <p:nvPr/>
        </p:nvSpPr>
        <p:spPr bwMode="auto">
          <a:xfrm>
            <a:off x="2537594" y="1779588"/>
            <a:ext cx="349456"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800" b="1" i="0" u="none" strike="noStrike" kern="0" cap="none" spc="0" normalizeH="0" baseline="0" noProof="0">
                <a:ln>
                  <a:noFill/>
                </a:ln>
                <a:solidFill>
                  <a:srgbClr val="3333CC"/>
                </a:solidFill>
                <a:effectLst/>
                <a:uLnTx/>
                <a:uFillTx/>
                <a:latin typeface="+mn-lt"/>
                <a:ea typeface="黑体" pitchFamily="2" charset="-122"/>
              </a:rPr>
              <a:t>A</a:t>
            </a:r>
          </a:p>
        </p:txBody>
      </p:sp>
      <p:sp>
        <p:nvSpPr>
          <p:cNvPr id="26" name="Rectangle 24"/>
          <p:cNvSpPr>
            <a:spLocks noChangeArrowheads="1"/>
          </p:cNvSpPr>
          <p:nvPr/>
        </p:nvSpPr>
        <p:spPr bwMode="auto">
          <a:xfrm>
            <a:off x="6979419" y="1779588"/>
            <a:ext cx="349456"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800" b="1" i="0" u="none" strike="noStrike" kern="0" cap="none" spc="0" normalizeH="0" baseline="0" noProof="0">
                <a:ln>
                  <a:noFill/>
                </a:ln>
                <a:solidFill>
                  <a:srgbClr val="3333CC"/>
                </a:solidFill>
                <a:effectLst/>
                <a:uLnTx/>
                <a:uFillTx/>
                <a:latin typeface="+mn-lt"/>
                <a:ea typeface="黑体" pitchFamily="2" charset="-122"/>
              </a:rPr>
              <a:t>B</a:t>
            </a:r>
          </a:p>
        </p:txBody>
      </p:sp>
      <p:sp>
        <p:nvSpPr>
          <p:cNvPr id="27" name="Rectangle 25"/>
          <p:cNvSpPr>
            <a:spLocks noChangeArrowheads="1"/>
          </p:cNvSpPr>
          <p:nvPr/>
        </p:nvSpPr>
        <p:spPr bwMode="auto">
          <a:xfrm>
            <a:off x="2032769" y="1425575"/>
            <a:ext cx="647614"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800" b="1" i="0" u="none" strike="noStrike" kern="0" cap="none" spc="0" normalizeH="0" baseline="0" noProof="0">
                <a:ln>
                  <a:noFill/>
                </a:ln>
                <a:solidFill>
                  <a:srgbClr val="3333CC"/>
                </a:solidFill>
                <a:effectLst/>
                <a:uLnTx/>
                <a:uFillTx/>
                <a:latin typeface="+mn-lt"/>
                <a:ea typeface="黑体" pitchFamily="2" charset="-122"/>
              </a:rPr>
              <a:t>客户</a:t>
            </a:r>
          </a:p>
        </p:txBody>
      </p:sp>
      <p:sp>
        <p:nvSpPr>
          <p:cNvPr id="28" name="Rectangle 26"/>
          <p:cNvSpPr>
            <a:spLocks noChangeArrowheads="1"/>
          </p:cNvSpPr>
          <p:nvPr/>
        </p:nvSpPr>
        <p:spPr bwMode="auto">
          <a:xfrm>
            <a:off x="7028631" y="1425575"/>
            <a:ext cx="880050"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800" b="1" i="0" u="none" strike="noStrike" kern="0" cap="none" spc="0" normalizeH="0" baseline="0" noProof="0">
                <a:ln>
                  <a:noFill/>
                </a:ln>
                <a:solidFill>
                  <a:srgbClr val="3333CC"/>
                </a:solidFill>
                <a:effectLst/>
                <a:uLnTx/>
                <a:uFillTx/>
                <a:latin typeface="+mn-lt"/>
                <a:ea typeface="黑体" pitchFamily="2" charset="-122"/>
              </a:rPr>
              <a:t>服务器</a:t>
            </a:r>
          </a:p>
        </p:txBody>
      </p:sp>
      <p:grpSp>
        <p:nvGrpSpPr>
          <p:cNvPr id="29" name="Group 27"/>
          <p:cNvGrpSpPr>
            <a:grpSpLocks/>
          </p:cNvGrpSpPr>
          <p:nvPr/>
        </p:nvGrpSpPr>
        <p:grpSpPr bwMode="auto">
          <a:xfrm>
            <a:off x="2810645" y="3881438"/>
            <a:ext cx="4157663" cy="801687"/>
            <a:chOff x="1491" y="2445"/>
            <a:chExt cx="2619" cy="505"/>
          </a:xfrm>
        </p:grpSpPr>
        <p:sp>
          <p:nvSpPr>
            <p:cNvPr id="30" name="Line 28"/>
            <p:cNvSpPr>
              <a:spLocks noChangeShapeType="1"/>
            </p:cNvSpPr>
            <p:nvPr/>
          </p:nvSpPr>
          <p:spPr bwMode="auto">
            <a:xfrm flipH="1">
              <a:off x="1520" y="2445"/>
              <a:ext cx="2590" cy="505"/>
            </a:xfrm>
            <a:prstGeom prst="line">
              <a:avLst/>
            </a:prstGeom>
            <a:noFill/>
            <a:ln w="5715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itchFamily="2" charset="-122"/>
              </a:endParaRPr>
            </a:p>
          </p:txBody>
        </p:sp>
        <p:sp>
          <p:nvSpPr>
            <p:cNvPr id="31" name="Rectangle 29"/>
            <p:cNvSpPr>
              <a:spLocks noChangeArrowheads="1"/>
            </p:cNvSpPr>
            <p:nvPr/>
          </p:nvSpPr>
          <p:spPr bwMode="auto">
            <a:xfrm rot="20990024" flipH="1">
              <a:off x="1491" y="2483"/>
              <a:ext cx="2373"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tabLst/>
                <a:defRPr/>
              </a:pPr>
              <a:r>
                <a:rPr kumimoji="0" lang="en-US" altLang="zh-CN" sz="1600" b="1" i="0" u="none" strike="noStrike" kern="0" cap="none" spc="0" normalizeH="0" baseline="0" noProof="0" dirty="0">
                  <a:ln>
                    <a:noFill/>
                  </a:ln>
                  <a:solidFill>
                    <a:srgbClr val="3333CC"/>
                  </a:solidFill>
                  <a:effectLst/>
                  <a:uLnTx/>
                  <a:uFillTx/>
                  <a:latin typeface="+mn-lt"/>
                  <a:ea typeface="黑体" pitchFamily="2" charset="-122"/>
                </a:rPr>
                <a:t>SYN = 1, ACK = 1, </a:t>
              </a:r>
              <a:r>
                <a:rPr kumimoji="0" lang="en-US" altLang="zh-CN" sz="1600" b="1" i="0" u="none" strike="noStrike" kern="0" cap="none" spc="0" normalizeH="0" baseline="0" noProof="0" dirty="0" err="1">
                  <a:ln>
                    <a:noFill/>
                  </a:ln>
                  <a:solidFill>
                    <a:srgbClr val="3333CC"/>
                  </a:solidFill>
                  <a:effectLst/>
                  <a:uLnTx/>
                  <a:uFillTx/>
                  <a:latin typeface="+mn-lt"/>
                  <a:ea typeface="黑体" pitchFamily="2" charset="-122"/>
                </a:rPr>
                <a:t>seq</a:t>
              </a:r>
              <a:r>
                <a:rPr kumimoji="0" lang="en-US" altLang="zh-CN" sz="1600" b="1" i="0" u="none" strike="noStrike" kern="0" cap="none" spc="0" normalizeH="0" baseline="0" noProof="0" dirty="0">
                  <a:ln>
                    <a:noFill/>
                  </a:ln>
                  <a:solidFill>
                    <a:srgbClr val="3333CC"/>
                  </a:solidFill>
                  <a:effectLst/>
                  <a:uLnTx/>
                  <a:uFillTx/>
                  <a:latin typeface="+mn-lt"/>
                  <a:ea typeface="黑体" pitchFamily="2" charset="-122"/>
                </a:rPr>
                <a:t> = y, </a:t>
              </a:r>
              <a:r>
                <a:rPr kumimoji="0" lang="en-US" altLang="zh-CN" sz="1600" b="1" i="0" u="none" strike="noStrike" kern="0" cap="none" spc="0" normalizeH="0" baseline="0" noProof="0" dirty="0" err="1">
                  <a:ln>
                    <a:noFill/>
                  </a:ln>
                  <a:solidFill>
                    <a:srgbClr val="3333CC"/>
                  </a:solidFill>
                  <a:effectLst/>
                  <a:uLnTx/>
                  <a:uFillTx/>
                  <a:latin typeface="+mn-lt"/>
                  <a:ea typeface="黑体" pitchFamily="2" charset="-122"/>
                </a:rPr>
                <a:t>ack</a:t>
              </a:r>
              <a:r>
                <a:rPr kumimoji="0" lang="en-US" altLang="zh-CN" sz="1600" b="1" i="0" u="none" strike="noStrike" kern="0" cap="none" spc="0" normalizeH="0" baseline="0" noProof="0" dirty="0">
                  <a:ln>
                    <a:noFill/>
                  </a:ln>
                  <a:solidFill>
                    <a:srgbClr val="3333CC"/>
                  </a:solidFill>
                  <a:effectLst/>
                  <a:uLnTx/>
                  <a:uFillTx/>
                  <a:latin typeface="+mn-lt"/>
                  <a:ea typeface="黑体" pitchFamily="2" charset="-122"/>
                </a:rPr>
                <a:t>= x </a:t>
              </a:r>
              <a:r>
                <a:rPr kumimoji="0" lang="en-US" altLang="zh-CN" sz="1600" b="1" i="0" u="none" strike="noStrike" kern="0" cap="none" spc="0" normalizeH="0" baseline="0" noProof="0" dirty="0">
                  <a:ln>
                    <a:noFill/>
                  </a:ln>
                  <a:solidFill>
                    <a:srgbClr val="3333CC"/>
                  </a:solidFill>
                  <a:effectLst/>
                  <a:uLnTx/>
                  <a:uFillTx/>
                  <a:latin typeface="+mn-lt"/>
                  <a:ea typeface="黑体" pitchFamily="2" charset="-122"/>
                  <a:sym typeface="Symbol" pitchFamily="18" charset="2"/>
                </a:rPr>
                <a:t> 1</a:t>
              </a:r>
              <a:endParaRPr kumimoji="0" lang="en-US" altLang="zh-CN" sz="1600" b="1" i="0" u="none" strike="noStrike" kern="0" cap="none" spc="0" normalizeH="0" baseline="0" noProof="0" dirty="0">
                <a:ln>
                  <a:noFill/>
                </a:ln>
                <a:solidFill>
                  <a:srgbClr val="3333CC"/>
                </a:solidFill>
                <a:effectLst/>
                <a:uLnTx/>
                <a:uFillTx/>
                <a:latin typeface="+mn-lt"/>
                <a:ea typeface="黑体" pitchFamily="2" charset="-122"/>
              </a:endParaRPr>
            </a:p>
          </p:txBody>
        </p:sp>
      </p:grpSp>
      <p:sp>
        <p:nvSpPr>
          <p:cNvPr id="32" name="Text Box 30"/>
          <p:cNvSpPr txBox="1">
            <a:spLocks noChangeArrowheads="1"/>
          </p:cNvSpPr>
          <p:nvPr/>
        </p:nvSpPr>
        <p:spPr bwMode="auto">
          <a:xfrm>
            <a:off x="906785" y="44450"/>
            <a:ext cx="8294687" cy="1296988"/>
          </a:xfrm>
          <a:prstGeom prst="rect">
            <a:avLst/>
          </a:prstGeom>
          <a:solidFill>
            <a:srgbClr val="FFFF99"/>
          </a:solidFill>
          <a:ln w="9525">
            <a:solidFill>
              <a:srgbClr val="3333CC"/>
            </a:solidFill>
            <a:miter lim="800000"/>
            <a:headEnd/>
            <a:tailEnd/>
          </a:ln>
          <a:effectLst>
            <a:outerShdw dist="35921" dir="2700000" algn="ctr" rotWithShape="0">
              <a:srgbClr val="1C1C1C"/>
            </a:outerShdw>
          </a:effectLst>
        </p:spPr>
        <p:txBody>
          <a:bodyPr>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just" defTabSz="914400" eaLnBrk="1" fontAlgn="auto" latinLnBrk="0" hangingPunct="1">
              <a:lnSpc>
                <a:spcPct val="90000"/>
              </a:lnSpc>
              <a:spcBef>
                <a:spcPts val="0"/>
              </a:spcBef>
              <a:spcAft>
                <a:spcPts val="0"/>
              </a:spcAft>
              <a:buClrTx/>
              <a:buSzTx/>
              <a:buFontTx/>
              <a:buChar char="•"/>
              <a:tabLst/>
              <a:defRPr/>
            </a:pPr>
            <a:r>
              <a:rPr kumimoji="0" lang="en-US" altLang="zh-CN" sz="2800" b="1" i="0" u="none" strike="noStrike" kern="0" cap="none" spc="0" normalizeH="0" baseline="0" noProof="0">
                <a:ln>
                  <a:noFill/>
                </a:ln>
                <a:solidFill>
                  <a:srgbClr val="000099"/>
                </a:solidFill>
                <a:effectLst/>
                <a:uLnTx/>
                <a:uFillTx/>
                <a:latin typeface="Arial" pitchFamily="34" charset="0"/>
                <a:ea typeface="黑体" pitchFamily="2" charset="-122"/>
              </a:rPr>
              <a:t>  A </a:t>
            </a:r>
            <a:r>
              <a:rPr kumimoji="0" lang="zh-CN" altLang="en-US" sz="2800" b="1" i="0" u="none" strike="noStrike" kern="0" cap="none" spc="0" normalizeH="0" baseline="0" noProof="0">
                <a:ln>
                  <a:noFill/>
                </a:ln>
                <a:solidFill>
                  <a:srgbClr val="000099"/>
                </a:solidFill>
                <a:effectLst/>
                <a:uLnTx/>
                <a:uFillTx/>
                <a:latin typeface="Arial" pitchFamily="34" charset="0"/>
                <a:ea typeface="黑体" pitchFamily="2" charset="-122"/>
              </a:rPr>
              <a:t>收到此报文段后向 </a:t>
            </a:r>
            <a:r>
              <a:rPr kumimoji="0" lang="en-US" altLang="zh-CN" sz="2800" b="1" i="0" u="none" strike="noStrike" kern="0" cap="none" spc="0" normalizeH="0" baseline="0" noProof="0">
                <a:ln>
                  <a:noFill/>
                </a:ln>
                <a:solidFill>
                  <a:srgbClr val="000099"/>
                </a:solidFill>
                <a:effectLst/>
                <a:uLnTx/>
                <a:uFillTx/>
                <a:latin typeface="Arial" pitchFamily="34" charset="0"/>
                <a:ea typeface="黑体" pitchFamily="2" charset="-122"/>
              </a:rPr>
              <a:t>B </a:t>
            </a:r>
            <a:r>
              <a:rPr kumimoji="0" lang="zh-CN" altLang="en-US" sz="2800" b="1" i="0" u="none" strike="noStrike" kern="0" cap="none" spc="0" normalizeH="0" baseline="0" noProof="0">
                <a:ln>
                  <a:noFill/>
                </a:ln>
                <a:solidFill>
                  <a:srgbClr val="000099"/>
                </a:solidFill>
                <a:effectLst/>
                <a:uLnTx/>
                <a:uFillTx/>
                <a:latin typeface="Arial" pitchFamily="34" charset="0"/>
                <a:ea typeface="黑体" pitchFamily="2" charset="-122"/>
              </a:rPr>
              <a:t>给出确认，其 </a:t>
            </a:r>
            <a:r>
              <a:rPr kumimoji="0" lang="en-US" altLang="zh-CN" sz="2800" b="1" i="0" u="none" strike="noStrike" kern="0" cap="none" spc="0" normalizeH="0" baseline="0" noProof="0">
                <a:ln>
                  <a:noFill/>
                </a:ln>
                <a:solidFill>
                  <a:srgbClr val="000099"/>
                </a:solidFill>
                <a:effectLst/>
                <a:uLnTx/>
                <a:uFillTx/>
                <a:latin typeface="Arial" pitchFamily="34" charset="0"/>
                <a:ea typeface="黑体" pitchFamily="2" charset="-122"/>
              </a:rPr>
              <a:t>ACK = 1</a:t>
            </a:r>
            <a:r>
              <a:rPr kumimoji="0" lang="zh-CN" altLang="en-US" sz="2800" b="1" i="0" u="none" strike="noStrike" kern="0" cap="none" spc="0" normalizeH="0" baseline="0" noProof="0">
                <a:ln>
                  <a:noFill/>
                </a:ln>
                <a:solidFill>
                  <a:srgbClr val="000099"/>
                </a:solidFill>
                <a:effectLst/>
                <a:uLnTx/>
                <a:uFillTx/>
                <a:latin typeface="Arial" pitchFamily="34" charset="0"/>
                <a:ea typeface="黑体" pitchFamily="2" charset="-122"/>
              </a:rPr>
              <a:t>，</a:t>
            </a:r>
          </a:p>
          <a:p>
            <a:pPr marL="0" marR="0" lvl="0" indent="0" algn="just" defTabSz="914400" eaLnBrk="1" fontAlgn="auto" latinLnBrk="0" hangingPunct="1">
              <a:lnSpc>
                <a:spcPct val="90000"/>
              </a:lnSpc>
              <a:spcBef>
                <a:spcPts val="0"/>
              </a:spcBef>
              <a:spcAft>
                <a:spcPts val="0"/>
              </a:spcAft>
              <a:buClrTx/>
              <a:buSzTx/>
              <a:buFontTx/>
              <a:buNone/>
              <a:tabLst/>
              <a:defRPr/>
            </a:pPr>
            <a:r>
              <a:rPr kumimoji="0" lang="zh-CN" altLang="en-US" sz="2800" b="1" i="0" u="none" strike="noStrike" kern="0" cap="none" spc="0" normalizeH="0" baseline="0" noProof="0">
                <a:ln>
                  <a:noFill/>
                </a:ln>
                <a:solidFill>
                  <a:srgbClr val="000099"/>
                </a:solidFill>
                <a:effectLst/>
                <a:uLnTx/>
                <a:uFillTx/>
                <a:latin typeface="Arial" pitchFamily="34" charset="0"/>
                <a:ea typeface="黑体" pitchFamily="2" charset="-122"/>
              </a:rPr>
              <a:t>   确认号 </a:t>
            </a:r>
            <a:r>
              <a:rPr kumimoji="0" lang="en-US" altLang="zh-CN" sz="2800" b="1" i="0" u="none" strike="noStrike" kern="0" cap="none" spc="0" normalizeH="0" baseline="0" noProof="0">
                <a:ln>
                  <a:noFill/>
                </a:ln>
                <a:solidFill>
                  <a:srgbClr val="000099"/>
                </a:solidFill>
                <a:effectLst/>
                <a:uLnTx/>
                <a:uFillTx/>
                <a:latin typeface="Arial" pitchFamily="34" charset="0"/>
                <a:ea typeface="黑体" pitchFamily="2" charset="-122"/>
              </a:rPr>
              <a:t>ack = y </a:t>
            </a:r>
            <a:r>
              <a:rPr kumimoji="0" lang="en-US" altLang="zh-CN" sz="2800" b="1" i="0" u="none" strike="noStrike" kern="0" cap="none" spc="0" normalizeH="0" baseline="0" noProof="0">
                <a:ln>
                  <a:noFill/>
                </a:ln>
                <a:solidFill>
                  <a:srgbClr val="000099"/>
                </a:solidFill>
                <a:effectLst/>
                <a:uLnTx/>
                <a:uFillTx/>
                <a:latin typeface="Arial" pitchFamily="34" charset="0"/>
                <a:ea typeface="黑体" pitchFamily="2" charset="-122"/>
                <a:sym typeface="Symbol" pitchFamily="18" charset="2"/>
              </a:rPr>
              <a:t></a:t>
            </a:r>
            <a:r>
              <a:rPr kumimoji="0" lang="en-US" altLang="zh-CN" sz="2800" b="1" i="0" u="none" strike="noStrike" kern="0" cap="none" spc="0" normalizeH="0" baseline="0" noProof="0">
                <a:ln>
                  <a:noFill/>
                </a:ln>
                <a:solidFill>
                  <a:srgbClr val="000099"/>
                </a:solidFill>
                <a:effectLst/>
                <a:uLnTx/>
                <a:uFillTx/>
                <a:latin typeface="Arial" pitchFamily="34" charset="0"/>
                <a:ea typeface="黑体" pitchFamily="2" charset="-122"/>
              </a:rPr>
              <a:t> 1</a:t>
            </a:r>
            <a:r>
              <a:rPr kumimoji="0" lang="zh-CN" altLang="en-US" sz="2800" b="1" i="0" u="none" strike="noStrike" kern="0" cap="none" spc="0" normalizeH="0" baseline="0" noProof="0">
                <a:ln>
                  <a:noFill/>
                </a:ln>
                <a:solidFill>
                  <a:srgbClr val="000099"/>
                </a:solidFill>
                <a:effectLst/>
                <a:uLnTx/>
                <a:uFillTx/>
                <a:latin typeface="Arial" pitchFamily="34" charset="0"/>
                <a:ea typeface="黑体" pitchFamily="2" charset="-122"/>
              </a:rPr>
              <a:t>。</a:t>
            </a:r>
          </a:p>
          <a:p>
            <a:pPr marL="0" marR="0" lvl="0" indent="0" algn="just" defTabSz="914400" eaLnBrk="1" fontAlgn="auto" latinLnBrk="0" hangingPunct="1">
              <a:lnSpc>
                <a:spcPct val="100000"/>
              </a:lnSpc>
              <a:spcBef>
                <a:spcPts val="0"/>
              </a:spcBef>
              <a:spcAft>
                <a:spcPts val="0"/>
              </a:spcAft>
              <a:buClrTx/>
              <a:buSzTx/>
              <a:buFontTx/>
              <a:buChar char="•"/>
              <a:tabLst/>
              <a:defRPr/>
            </a:pPr>
            <a:r>
              <a:rPr kumimoji="0" lang="zh-CN" altLang="en-US" sz="2800" b="1" i="0" u="none" strike="noStrike" kern="0" cap="none" spc="0" normalizeH="0" baseline="0" noProof="0">
                <a:ln>
                  <a:noFill/>
                </a:ln>
                <a:solidFill>
                  <a:srgbClr val="000099"/>
                </a:solidFill>
                <a:effectLst/>
                <a:uLnTx/>
                <a:uFillTx/>
                <a:latin typeface="Arial" pitchFamily="34" charset="0"/>
                <a:ea typeface="黑体" pitchFamily="2" charset="-122"/>
              </a:rPr>
              <a:t>  </a:t>
            </a:r>
            <a:r>
              <a:rPr kumimoji="0" lang="en-US" altLang="zh-CN" sz="2800" b="1" i="0" u="none" strike="noStrike" kern="0" cap="none" spc="0" normalizeH="0" baseline="0" noProof="0">
                <a:ln>
                  <a:noFill/>
                </a:ln>
                <a:solidFill>
                  <a:srgbClr val="000099"/>
                </a:solidFill>
                <a:effectLst/>
                <a:uLnTx/>
                <a:uFillTx/>
                <a:latin typeface="Arial" pitchFamily="34" charset="0"/>
                <a:ea typeface="黑体" pitchFamily="2" charset="-122"/>
              </a:rPr>
              <a:t>A </a:t>
            </a:r>
            <a:r>
              <a:rPr kumimoji="0" lang="zh-CN" altLang="en-US" sz="2800" b="1" i="0" u="none" strike="noStrike" kern="0" cap="none" spc="0" normalizeH="0" baseline="0" noProof="0">
                <a:ln>
                  <a:noFill/>
                </a:ln>
                <a:solidFill>
                  <a:srgbClr val="000099"/>
                </a:solidFill>
                <a:effectLst/>
                <a:uLnTx/>
                <a:uFillTx/>
                <a:latin typeface="Arial" pitchFamily="34" charset="0"/>
                <a:ea typeface="黑体" pitchFamily="2" charset="-122"/>
              </a:rPr>
              <a:t>的 </a:t>
            </a:r>
            <a:r>
              <a:rPr kumimoji="0" lang="en-US" altLang="zh-CN" sz="2800" b="1" i="0" u="none" strike="noStrike" kern="0" cap="none" spc="0" normalizeH="0" baseline="0" noProof="0">
                <a:ln>
                  <a:noFill/>
                </a:ln>
                <a:solidFill>
                  <a:srgbClr val="000099"/>
                </a:solidFill>
                <a:effectLst/>
                <a:uLnTx/>
                <a:uFillTx/>
                <a:latin typeface="Arial" pitchFamily="34" charset="0"/>
                <a:ea typeface="黑体" pitchFamily="2" charset="-122"/>
              </a:rPr>
              <a:t>TCP </a:t>
            </a:r>
            <a:r>
              <a:rPr kumimoji="0" lang="zh-CN" altLang="en-US" sz="2800" b="1" i="0" u="none" strike="noStrike" kern="0" cap="none" spc="0" normalizeH="0" baseline="0" noProof="0">
                <a:ln>
                  <a:noFill/>
                </a:ln>
                <a:solidFill>
                  <a:srgbClr val="000099"/>
                </a:solidFill>
                <a:effectLst/>
                <a:uLnTx/>
                <a:uFillTx/>
                <a:latin typeface="Arial" pitchFamily="34" charset="0"/>
                <a:ea typeface="黑体" pitchFamily="2" charset="-122"/>
              </a:rPr>
              <a:t>通知上层应用进程，连接已经建立。   </a:t>
            </a:r>
          </a:p>
        </p:txBody>
      </p:sp>
    </p:spTree>
    <p:extLst>
      <p:ext uri="{BB962C8B-B14F-4D97-AF65-F5344CB8AC3E}">
        <p14:creationId xmlns:p14="http://schemas.microsoft.com/office/powerpoint/2010/main" val="31134134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200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2"/>
          <p:cNvGrpSpPr>
            <a:grpSpLocks/>
          </p:cNvGrpSpPr>
          <p:nvPr/>
        </p:nvGrpSpPr>
        <p:grpSpPr bwMode="auto">
          <a:xfrm>
            <a:off x="2793678" y="2997200"/>
            <a:ext cx="4248150" cy="3441700"/>
            <a:chOff x="1474" y="1888"/>
            <a:chExt cx="2676" cy="2432"/>
          </a:xfrm>
        </p:grpSpPr>
        <p:sp>
          <p:nvSpPr>
            <p:cNvPr id="5" name="Line 3"/>
            <p:cNvSpPr>
              <a:spLocks noChangeShapeType="1"/>
            </p:cNvSpPr>
            <p:nvPr/>
          </p:nvSpPr>
          <p:spPr bwMode="auto">
            <a:xfrm>
              <a:off x="1474" y="1888"/>
              <a:ext cx="0" cy="2432"/>
            </a:xfrm>
            <a:prstGeom prst="line">
              <a:avLst/>
            </a:prstGeom>
            <a:noFill/>
            <a:ln w="28575">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itchFamily="2" charset="-122"/>
              </a:endParaRPr>
            </a:p>
          </p:txBody>
        </p:sp>
        <p:sp>
          <p:nvSpPr>
            <p:cNvPr id="6" name="Line 4"/>
            <p:cNvSpPr>
              <a:spLocks noChangeShapeType="1"/>
            </p:cNvSpPr>
            <p:nvPr/>
          </p:nvSpPr>
          <p:spPr bwMode="auto">
            <a:xfrm>
              <a:off x="4150" y="1888"/>
              <a:ext cx="0" cy="2432"/>
            </a:xfrm>
            <a:prstGeom prst="line">
              <a:avLst/>
            </a:prstGeom>
            <a:noFill/>
            <a:ln w="28575">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itchFamily="2" charset="-122"/>
              </a:endParaRPr>
            </a:p>
          </p:txBody>
        </p:sp>
      </p:grpSp>
      <p:grpSp>
        <p:nvGrpSpPr>
          <p:cNvPr id="7" name="Group 5"/>
          <p:cNvGrpSpPr>
            <a:grpSpLocks/>
          </p:cNvGrpSpPr>
          <p:nvPr/>
        </p:nvGrpSpPr>
        <p:grpSpPr bwMode="auto">
          <a:xfrm>
            <a:off x="2866703" y="3005141"/>
            <a:ext cx="4111625" cy="801688"/>
            <a:chOff x="1520" y="1893"/>
            <a:chExt cx="2590" cy="505"/>
          </a:xfrm>
        </p:grpSpPr>
        <p:sp>
          <p:nvSpPr>
            <p:cNvPr id="8" name="Rectangle 6"/>
            <p:cNvSpPr>
              <a:spLocks noChangeArrowheads="1"/>
            </p:cNvSpPr>
            <p:nvPr/>
          </p:nvSpPr>
          <p:spPr bwMode="auto">
            <a:xfrm rot="665985">
              <a:off x="2093" y="1917"/>
              <a:ext cx="1743"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2000" b="1" i="0" u="none" strike="noStrike" kern="0" cap="none" spc="0" normalizeH="0" baseline="0" noProof="0" dirty="0">
                  <a:ln>
                    <a:noFill/>
                  </a:ln>
                  <a:solidFill>
                    <a:srgbClr val="3333CC"/>
                  </a:solidFill>
                  <a:effectLst/>
                  <a:uLnTx/>
                  <a:uFillTx/>
                  <a:latin typeface="+mn-lt"/>
                  <a:ea typeface="黑体" pitchFamily="2" charset="-122"/>
                </a:rPr>
                <a:t>SYN = 1, </a:t>
              </a:r>
              <a:r>
                <a:rPr kumimoji="0" lang="en-US" altLang="zh-CN" sz="2000" b="1" i="0" u="none" strike="noStrike" kern="0" cap="none" spc="0" normalizeH="0" baseline="0" noProof="0" dirty="0" err="1">
                  <a:ln>
                    <a:noFill/>
                  </a:ln>
                  <a:solidFill>
                    <a:srgbClr val="3333CC"/>
                  </a:solidFill>
                  <a:effectLst/>
                  <a:uLnTx/>
                  <a:uFillTx/>
                  <a:latin typeface="+mn-lt"/>
                  <a:ea typeface="黑体" pitchFamily="2" charset="-122"/>
                </a:rPr>
                <a:t>seq</a:t>
              </a:r>
              <a:r>
                <a:rPr kumimoji="0" lang="en-US" altLang="zh-CN" sz="2000" b="1" i="0" u="none" strike="noStrike" kern="0" cap="none" spc="0" normalizeH="0" baseline="0" noProof="0" dirty="0">
                  <a:ln>
                    <a:noFill/>
                  </a:ln>
                  <a:solidFill>
                    <a:srgbClr val="3333CC"/>
                  </a:solidFill>
                  <a:effectLst/>
                  <a:uLnTx/>
                  <a:uFillTx/>
                  <a:latin typeface="+mn-lt"/>
                  <a:ea typeface="黑体" pitchFamily="2" charset="-122"/>
                </a:rPr>
                <a:t> = x</a:t>
              </a:r>
            </a:p>
          </p:txBody>
        </p:sp>
        <p:sp>
          <p:nvSpPr>
            <p:cNvPr id="9" name="Line 7"/>
            <p:cNvSpPr>
              <a:spLocks noChangeShapeType="1"/>
            </p:cNvSpPr>
            <p:nvPr/>
          </p:nvSpPr>
          <p:spPr bwMode="auto">
            <a:xfrm>
              <a:off x="1520" y="1893"/>
              <a:ext cx="2590" cy="505"/>
            </a:xfrm>
            <a:prstGeom prst="line">
              <a:avLst/>
            </a:prstGeom>
            <a:noFill/>
            <a:ln w="5715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itchFamily="2" charset="-122"/>
              </a:endParaRPr>
            </a:p>
          </p:txBody>
        </p:sp>
      </p:grpSp>
      <p:grpSp>
        <p:nvGrpSpPr>
          <p:cNvPr id="10" name="Group 8"/>
          <p:cNvGrpSpPr>
            <a:grpSpLocks/>
          </p:cNvGrpSpPr>
          <p:nvPr/>
        </p:nvGrpSpPr>
        <p:grpSpPr bwMode="auto">
          <a:xfrm>
            <a:off x="2866703" y="4756150"/>
            <a:ext cx="4202113" cy="800100"/>
            <a:chOff x="1520" y="2996"/>
            <a:chExt cx="2647" cy="504"/>
          </a:xfrm>
        </p:grpSpPr>
        <p:sp>
          <p:nvSpPr>
            <p:cNvPr id="11" name="Rectangle 9"/>
            <p:cNvSpPr>
              <a:spLocks noChangeArrowheads="1"/>
            </p:cNvSpPr>
            <p:nvPr/>
          </p:nvSpPr>
          <p:spPr bwMode="auto">
            <a:xfrm rot="649536">
              <a:off x="1856" y="3064"/>
              <a:ext cx="2311"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tabLst/>
                <a:defRPr/>
              </a:pPr>
              <a:r>
                <a:rPr kumimoji="0" lang="en-US" altLang="zh-CN" sz="1800" b="1" i="0" u="none" strike="noStrike" kern="0" cap="none" spc="0" normalizeH="0" baseline="0" noProof="0" dirty="0">
                  <a:ln>
                    <a:noFill/>
                  </a:ln>
                  <a:solidFill>
                    <a:srgbClr val="3333CC"/>
                  </a:solidFill>
                  <a:effectLst/>
                  <a:uLnTx/>
                  <a:uFillTx/>
                  <a:latin typeface="+mn-lt"/>
                  <a:ea typeface="黑体" pitchFamily="2" charset="-122"/>
                </a:rPr>
                <a:t>ACK = 1, </a:t>
              </a:r>
              <a:r>
                <a:rPr kumimoji="0" lang="en-US" altLang="zh-CN" sz="1800" b="1" i="0" u="none" strike="noStrike" kern="0" cap="none" spc="0" normalizeH="0" baseline="0" noProof="0" dirty="0" err="1">
                  <a:ln>
                    <a:noFill/>
                  </a:ln>
                  <a:solidFill>
                    <a:srgbClr val="3333CC"/>
                  </a:solidFill>
                  <a:effectLst/>
                  <a:uLnTx/>
                  <a:uFillTx/>
                  <a:latin typeface="+mn-lt"/>
                  <a:ea typeface="黑体" pitchFamily="2" charset="-122"/>
                </a:rPr>
                <a:t>seq</a:t>
              </a:r>
              <a:r>
                <a:rPr kumimoji="0" lang="en-US" altLang="zh-CN" sz="1800" b="1" i="0" u="none" strike="noStrike" kern="0" cap="none" spc="0" normalizeH="0" baseline="0" noProof="0" dirty="0">
                  <a:ln>
                    <a:noFill/>
                  </a:ln>
                  <a:solidFill>
                    <a:srgbClr val="3333CC"/>
                  </a:solidFill>
                  <a:effectLst/>
                  <a:uLnTx/>
                  <a:uFillTx/>
                  <a:latin typeface="+mn-lt"/>
                  <a:ea typeface="黑体" pitchFamily="2" charset="-122"/>
                </a:rPr>
                <a:t> = x + 1, </a:t>
              </a:r>
              <a:r>
                <a:rPr kumimoji="0" lang="en-US" altLang="zh-CN" sz="1800" b="1" i="0" u="none" strike="noStrike" kern="0" cap="none" spc="0" normalizeH="0" baseline="0" noProof="0" dirty="0" err="1">
                  <a:ln>
                    <a:noFill/>
                  </a:ln>
                  <a:solidFill>
                    <a:srgbClr val="3333CC"/>
                  </a:solidFill>
                  <a:effectLst/>
                  <a:uLnTx/>
                  <a:uFillTx/>
                  <a:latin typeface="+mn-lt"/>
                  <a:ea typeface="黑体" pitchFamily="2" charset="-122"/>
                </a:rPr>
                <a:t>ack</a:t>
              </a:r>
              <a:r>
                <a:rPr kumimoji="0" lang="en-US" altLang="zh-CN" sz="1800" b="1" i="0" u="none" strike="noStrike" kern="0" cap="none" spc="0" normalizeH="0" baseline="0" noProof="0" dirty="0">
                  <a:ln>
                    <a:noFill/>
                  </a:ln>
                  <a:solidFill>
                    <a:srgbClr val="3333CC"/>
                  </a:solidFill>
                  <a:effectLst/>
                  <a:uLnTx/>
                  <a:uFillTx/>
                  <a:latin typeface="+mn-lt"/>
                  <a:ea typeface="黑体" pitchFamily="2" charset="-122"/>
                </a:rPr>
                <a:t> = y </a:t>
              </a:r>
              <a:r>
                <a:rPr kumimoji="0" lang="en-US" altLang="zh-CN" sz="1800" b="1" i="0" u="none" strike="noStrike" kern="0" cap="none" spc="0" normalizeH="0" baseline="0" noProof="0" dirty="0">
                  <a:ln>
                    <a:noFill/>
                  </a:ln>
                  <a:solidFill>
                    <a:srgbClr val="3333CC"/>
                  </a:solidFill>
                  <a:effectLst/>
                  <a:uLnTx/>
                  <a:uFillTx/>
                  <a:latin typeface="+mn-lt"/>
                  <a:ea typeface="黑体" pitchFamily="2" charset="-122"/>
                  <a:sym typeface="Symbol" pitchFamily="18" charset="2"/>
                </a:rPr>
                <a:t> 1</a:t>
              </a:r>
            </a:p>
          </p:txBody>
        </p:sp>
        <p:sp>
          <p:nvSpPr>
            <p:cNvPr id="12" name="Line 10"/>
            <p:cNvSpPr>
              <a:spLocks noChangeShapeType="1"/>
            </p:cNvSpPr>
            <p:nvPr/>
          </p:nvSpPr>
          <p:spPr bwMode="auto">
            <a:xfrm>
              <a:off x="1520" y="2996"/>
              <a:ext cx="2590" cy="504"/>
            </a:xfrm>
            <a:prstGeom prst="line">
              <a:avLst/>
            </a:prstGeom>
            <a:noFill/>
            <a:ln w="5715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itchFamily="2" charset="-122"/>
              </a:endParaRPr>
            </a:p>
          </p:txBody>
        </p:sp>
      </p:grpSp>
      <p:sp>
        <p:nvSpPr>
          <p:cNvPr id="13" name="Rectangle 11"/>
          <p:cNvSpPr>
            <a:spLocks noChangeArrowheads="1"/>
          </p:cNvSpPr>
          <p:nvPr/>
        </p:nvSpPr>
        <p:spPr bwMode="auto">
          <a:xfrm>
            <a:off x="1890391" y="2393950"/>
            <a:ext cx="966787" cy="549275"/>
          </a:xfrm>
          <a:prstGeom prst="rect">
            <a:avLst/>
          </a:prstGeom>
          <a:solidFill>
            <a:srgbClr val="663300"/>
          </a:solidFill>
          <a:ln>
            <a:noFill/>
          </a:ln>
          <a:effectLst>
            <a:outerShdw dist="35921" dir="2700000" algn="ctr" rotWithShape="0">
              <a:srgbClr val="1C1C1C"/>
            </a:outerShdw>
          </a:effectLst>
          <a:extLst>
            <a:ext uri="{91240B29-F687-4F45-9708-019B960494DF}">
              <a14:hiddenLine xmlns:a14="http://schemas.microsoft.com/office/drawing/2010/main" w="12700">
                <a:solidFill>
                  <a:schemeClr val="tx1"/>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itchFamily="2" charset="-122"/>
            </a:endParaRPr>
          </a:p>
        </p:txBody>
      </p:sp>
      <p:sp>
        <p:nvSpPr>
          <p:cNvPr id="14" name="Text Box 12"/>
          <p:cNvSpPr txBox="1">
            <a:spLocks noChangeArrowheads="1"/>
          </p:cNvSpPr>
          <p:nvPr/>
        </p:nvSpPr>
        <p:spPr bwMode="auto">
          <a:xfrm>
            <a:off x="1841178" y="2455863"/>
            <a:ext cx="114646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a:r>
              <a:rPr lang="en-US" altLang="zh-CN" sz="1800">
                <a:solidFill>
                  <a:srgbClr val="FFFF99"/>
                </a:solidFill>
                <a:latin typeface="+mn-lt"/>
                <a:ea typeface="黑体" pitchFamily="2" charset="-122"/>
              </a:rPr>
              <a:t>CLOSED</a:t>
            </a:r>
          </a:p>
        </p:txBody>
      </p:sp>
      <p:sp>
        <p:nvSpPr>
          <p:cNvPr id="15" name="Rectangle 13"/>
          <p:cNvSpPr>
            <a:spLocks noChangeArrowheads="1"/>
          </p:cNvSpPr>
          <p:nvPr/>
        </p:nvSpPr>
        <p:spPr bwMode="auto">
          <a:xfrm>
            <a:off x="6979916" y="2393950"/>
            <a:ext cx="985837" cy="549275"/>
          </a:xfrm>
          <a:prstGeom prst="rect">
            <a:avLst/>
          </a:prstGeom>
          <a:solidFill>
            <a:srgbClr val="663300"/>
          </a:solidFill>
          <a:ln>
            <a:noFill/>
          </a:ln>
          <a:effectLst>
            <a:outerShdw dist="35921" dir="2700000" algn="ctr" rotWithShape="0">
              <a:srgbClr val="1C1C1C"/>
            </a:outerShdw>
          </a:effectLst>
          <a:extLst>
            <a:ext uri="{91240B29-F687-4F45-9708-019B960494DF}">
              <a14:hiddenLine xmlns:a14="http://schemas.microsoft.com/office/drawing/2010/main" w="12700">
                <a:solidFill>
                  <a:schemeClr val="tx1"/>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itchFamily="2" charset="-122"/>
            </a:endParaRPr>
          </a:p>
        </p:txBody>
      </p:sp>
      <p:sp>
        <p:nvSpPr>
          <p:cNvPr id="16" name="Text Box 14"/>
          <p:cNvSpPr txBox="1">
            <a:spLocks noChangeArrowheads="1"/>
          </p:cNvSpPr>
          <p:nvPr/>
        </p:nvSpPr>
        <p:spPr bwMode="auto">
          <a:xfrm>
            <a:off x="6940228" y="2455863"/>
            <a:ext cx="114646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a:r>
              <a:rPr lang="en-US" altLang="zh-CN" sz="1800">
                <a:solidFill>
                  <a:srgbClr val="FFFF99"/>
                </a:solidFill>
                <a:latin typeface="+mn-lt"/>
                <a:ea typeface="黑体" pitchFamily="2" charset="-122"/>
              </a:rPr>
              <a:t>CLOSED</a:t>
            </a:r>
          </a:p>
        </p:txBody>
      </p:sp>
      <p:grpSp>
        <p:nvGrpSpPr>
          <p:cNvPr id="17" name="Group 15"/>
          <p:cNvGrpSpPr>
            <a:grpSpLocks/>
          </p:cNvGrpSpPr>
          <p:nvPr/>
        </p:nvGrpSpPr>
        <p:grpSpPr bwMode="auto">
          <a:xfrm>
            <a:off x="3768403" y="5805264"/>
            <a:ext cx="2371725" cy="396874"/>
            <a:chOff x="2088" y="3679"/>
            <a:chExt cx="1494" cy="250"/>
          </a:xfrm>
        </p:grpSpPr>
        <p:sp>
          <p:nvSpPr>
            <p:cNvPr id="18" name="AutoShape 16"/>
            <p:cNvSpPr>
              <a:spLocks noChangeArrowheads="1"/>
            </p:cNvSpPr>
            <p:nvPr/>
          </p:nvSpPr>
          <p:spPr bwMode="auto">
            <a:xfrm>
              <a:off x="2088" y="3735"/>
              <a:ext cx="1494" cy="166"/>
            </a:xfrm>
            <a:prstGeom prst="leftRightArrow">
              <a:avLst>
                <a:gd name="adj1" fmla="val 55880"/>
                <a:gd name="adj2" fmla="val 103167"/>
              </a:avLst>
            </a:prstGeom>
            <a:solidFill>
              <a:srgbClr val="FF0000"/>
            </a:solidFill>
            <a:ln w="12700">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itchFamily="2" charset="-122"/>
              </a:endParaRPr>
            </a:p>
          </p:txBody>
        </p:sp>
        <p:sp>
          <p:nvSpPr>
            <p:cNvPr id="19" name="Rectangle 17"/>
            <p:cNvSpPr>
              <a:spLocks noChangeArrowheads="1"/>
            </p:cNvSpPr>
            <p:nvPr/>
          </p:nvSpPr>
          <p:spPr bwMode="auto">
            <a:xfrm>
              <a:off x="2462" y="3679"/>
              <a:ext cx="765" cy="250"/>
            </a:xfrm>
            <a:prstGeom prst="rect">
              <a:avLst/>
            </a:prstGeom>
            <a:solidFill>
              <a:srgbClr val="CCECFF"/>
            </a:solidFill>
            <a:ln w="38100" cmpd="dbl">
              <a:solidFill>
                <a:srgbClr val="3333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2000" b="1" i="0" u="none" strike="noStrike" kern="0" cap="none" spc="0" normalizeH="0" baseline="0" noProof="0" dirty="0">
                  <a:ln>
                    <a:noFill/>
                  </a:ln>
                  <a:solidFill>
                    <a:srgbClr val="3333CC"/>
                  </a:solidFill>
                  <a:effectLst/>
                  <a:uLnTx/>
                  <a:uFillTx/>
                  <a:latin typeface="+mn-lt"/>
                  <a:ea typeface="黑体" pitchFamily="2" charset="-122"/>
                </a:rPr>
                <a:t>数据传送</a:t>
              </a:r>
            </a:p>
          </p:txBody>
        </p:sp>
      </p:grpSp>
      <p:grpSp>
        <p:nvGrpSpPr>
          <p:cNvPr id="20" name="Group 18"/>
          <p:cNvGrpSpPr>
            <a:grpSpLocks/>
          </p:cNvGrpSpPr>
          <p:nvPr/>
        </p:nvGrpSpPr>
        <p:grpSpPr bwMode="auto">
          <a:xfrm>
            <a:off x="848991" y="2057400"/>
            <a:ext cx="1320800" cy="947738"/>
            <a:chOff x="249" y="1296"/>
            <a:chExt cx="832" cy="597"/>
          </a:xfrm>
        </p:grpSpPr>
        <p:sp>
          <p:nvSpPr>
            <p:cNvPr id="21" name="Rectangle 19"/>
            <p:cNvSpPr>
              <a:spLocks noChangeArrowheads="1"/>
            </p:cNvSpPr>
            <p:nvPr/>
          </p:nvSpPr>
          <p:spPr bwMode="auto">
            <a:xfrm>
              <a:off x="251" y="1638"/>
              <a:ext cx="701"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800" b="1" i="0" u="none" strike="noStrike" kern="0" cap="none" spc="0" normalizeH="0" baseline="0" noProof="0">
                  <a:ln>
                    <a:noFill/>
                  </a:ln>
                  <a:solidFill>
                    <a:srgbClr val="3333CC"/>
                  </a:solidFill>
                  <a:effectLst/>
                  <a:uLnTx/>
                  <a:uFillTx/>
                  <a:latin typeface="+mn-lt"/>
                  <a:ea typeface="黑体" pitchFamily="2" charset="-122"/>
                </a:rPr>
                <a:t>主动打开</a:t>
              </a:r>
            </a:p>
          </p:txBody>
        </p:sp>
        <p:sp>
          <p:nvSpPr>
            <p:cNvPr id="22" name="Freeform 20"/>
            <p:cNvSpPr>
              <a:spLocks/>
            </p:cNvSpPr>
            <p:nvPr/>
          </p:nvSpPr>
          <p:spPr bwMode="auto">
            <a:xfrm>
              <a:off x="249" y="1296"/>
              <a:ext cx="832" cy="597"/>
            </a:xfrm>
            <a:custGeom>
              <a:avLst/>
              <a:gdLst>
                <a:gd name="T0" fmla="*/ 832 w 758"/>
                <a:gd name="T1" fmla="*/ 5 h 491"/>
                <a:gd name="T2" fmla="*/ 0 w 758"/>
                <a:gd name="T3" fmla="*/ 0 h 491"/>
                <a:gd name="T4" fmla="*/ 0 w 758"/>
                <a:gd name="T5" fmla="*/ 597 h 491"/>
                <a:gd name="T6" fmla="*/ 650 w 758"/>
                <a:gd name="T7" fmla="*/ 597 h 49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58" h="491">
                  <a:moveTo>
                    <a:pt x="758" y="4"/>
                  </a:moveTo>
                  <a:lnTo>
                    <a:pt x="0" y="0"/>
                  </a:lnTo>
                  <a:lnTo>
                    <a:pt x="0" y="491"/>
                  </a:lnTo>
                  <a:lnTo>
                    <a:pt x="592" y="491"/>
                  </a:lnTo>
                </a:path>
              </a:pathLst>
            </a:custGeom>
            <a:noFill/>
            <a:ln w="28575" cap="flat" cmpd="sng">
              <a:solidFill>
                <a:srgbClr val="3333CC"/>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itchFamily="2" charset="-122"/>
              </a:endParaRPr>
            </a:p>
          </p:txBody>
        </p:sp>
      </p:grpSp>
      <p:grpSp>
        <p:nvGrpSpPr>
          <p:cNvPr id="23" name="Group 21"/>
          <p:cNvGrpSpPr>
            <a:grpSpLocks/>
          </p:cNvGrpSpPr>
          <p:nvPr/>
        </p:nvGrpSpPr>
        <p:grpSpPr bwMode="auto">
          <a:xfrm>
            <a:off x="7676831" y="2065338"/>
            <a:ext cx="1401763" cy="939800"/>
            <a:chOff x="4550" y="1301"/>
            <a:chExt cx="883" cy="592"/>
          </a:xfrm>
        </p:grpSpPr>
        <p:sp>
          <p:nvSpPr>
            <p:cNvPr id="24" name="Rectangle 22"/>
            <p:cNvSpPr>
              <a:spLocks noChangeArrowheads="1"/>
            </p:cNvSpPr>
            <p:nvPr/>
          </p:nvSpPr>
          <p:spPr bwMode="auto">
            <a:xfrm>
              <a:off x="4732" y="1617"/>
              <a:ext cx="701"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800" b="1" i="0" u="none" strike="noStrike" kern="0" cap="none" spc="0" normalizeH="0" baseline="0" noProof="0">
                  <a:ln>
                    <a:noFill/>
                  </a:ln>
                  <a:solidFill>
                    <a:srgbClr val="3333CC"/>
                  </a:solidFill>
                  <a:effectLst/>
                  <a:uLnTx/>
                  <a:uFillTx/>
                  <a:latin typeface="+mn-lt"/>
                  <a:ea typeface="黑体" pitchFamily="2" charset="-122"/>
                </a:rPr>
                <a:t>被动打开</a:t>
              </a:r>
            </a:p>
          </p:txBody>
        </p:sp>
        <p:sp>
          <p:nvSpPr>
            <p:cNvPr id="25" name="Freeform 23"/>
            <p:cNvSpPr>
              <a:spLocks/>
            </p:cNvSpPr>
            <p:nvPr/>
          </p:nvSpPr>
          <p:spPr bwMode="auto">
            <a:xfrm>
              <a:off x="4550" y="1301"/>
              <a:ext cx="870" cy="592"/>
            </a:xfrm>
            <a:custGeom>
              <a:avLst/>
              <a:gdLst>
                <a:gd name="T0" fmla="*/ 0 w 792"/>
                <a:gd name="T1" fmla="*/ 0 h 487"/>
                <a:gd name="T2" fmla="*/ 870 w 792"/>
                <a:gd name="T3" fmla="*/ 5 h 487"/>
                <a:gd name="T4" fmla="*/ 870 w 792"/>
                <a:gd name="T5" fmla="*/ 592 h 487"/>
                <a:gd name="T6" fmla="*/ 201 w 792"/>
                <a:gd name="T7" fmla="*/ 583 h 48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92" h="487">
                  <a:moveTo>
                    <a:pt x="0" y="0"/>
                  </a:moveTo>
                  <a:lnTo>
                    <a:pt x="792" y="4"/>
                  </a:lnTo>
                  <a:lnTo>
                    <a:pt x="792" y="487"/>
                  </a:lnTo>
                  <a:lnTo>
                    <a:pt x="183" y="480"/>
                  </a:lnTo>
                </a:path>
              </a:pathLst>
            </a:custGeom>
            <a:noFill/>
            <a:ln w="28575" cap="flat" cmpd="sng">
              <a:solidFill>
                <a:srgbClr val="3333CC"/>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itchFamily="2" charset="-122"/>
              </a:endParaRPr>
            </a:p>
          </p:txBody>
        </p:sp>
      </p:grpSp>
      <p:pic>
        <p:nvPicPr>
          <p:cNvPr id="26" name="Picture 24"/>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123753" y="1779588"/>
            <a:ext cx="501650" cy="51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7" name="Picture 25"/>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222803" y="1779588"/>
            <a:ext cx="501650" cy="51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8" name="Rectangle 26"/>
          <p:cNvSpPr>
            <a:spLocks noChangeArrowheads="1"/>
          </p:cNvSpPr>
          <p:nvPr/>
        </p:nvSpPr>
        <p:spPr bwMode="auto">
          <a:xfrm>
            <a:off x="2547616" y="1779588"/>
            <a:ext cx="349456"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800" b="1" i="0" u="none" strike="noStrike" kern="0" cap="none" spc="0" normalizeH="0" baseline="0" noProof="0">
                <a:ln>
                  <a:noFill/>
                </a:ln>
                <a:solidFill>
                  <a:srgbClr val="3333CC"/>
                </a:solidFill>
                <a:effectLst/>
                <a:uLnTx/>
                <a:uFillTx/>
                <a:latin typeface="+mn-lt"/>
                <a:ea typeface="黑体" pitchFamily="2" charset="-122"/>
              </a:rPr>
              <a:t>A</a:t>
            </a:r>
          </a:p>
        </p:txBody>
      </p:sp>
      <p:sp>
        <p:nvSpPr>
          <p:cNvPr id="29" name="Rectangle 27"/>
          <p:cNvSpPr>
            <a:spLocks noChangeArrowheads="1"/>
          </p:cNvSpPr>
          <p:nvPr/>
        </p:nvSpPr>
        <p:spPr bwMode="auto">
          <a:xfrm>
            <a:off x="6989441" y="1779588"/>
            <a:ext cx="349456"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800" b="1" i="0" u="none" strike="noStrike" kern="0" cap="none" spc="0" normalizeH="0" baseline="0" noProof="0">
                <a:ln>
                  <a:noFill/>
                </a:ln>
                <a:solidFill>
                  <a:srgbClr val="3333CC"/>
                </a:solidFill>
                <a:effectLst/>
                <a:uLnTx/>
                <a:uFillTx/>
                <a:latin typeface="+mn-lt"/>
                <a:ea typeface="黑体" pitchFamily="2" charset="-122"/>
              </a:rPr>
              <a:t>B</a:t>
            </a:r>
          </a:p>
        </p:txBody>
      </p:sp>
      <p:sp>
        <p:nvSpPr>
          <p:cNvPr id="30" name="Rectangle 28"/>
          <p:cNvSpPr>
            <a:spLocks noChangeArrowheads="1"/>
          </p:cNvSpPr>
          <p:nvPr/>
        </p:nvSpPr>
        <p:spPr bwMode="auto">
          <a:xfrm>
            <a:off x="2042791" y="1425575"/>
            <a:ext cx="647614"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800" b="1" i="0" u="none" strike="noStrike" kern="0" cap="none" spc="0" normalizeH="0" baseline="0" noProof="0">
                <a:ln>
                  <a:noFill/>
                </a:ln>
                <a:solidFill>
                  <a:srgbClr val="3333CC"/>
                </a:solidFill>
                <a:effectLst/>
                <a:uLnTx/>
                <a:uFillTx/>
                <a:latin typeface="+mn-lt"/>
                <a:ea typeface="黑体" pitchFamily="2" charset="-122"/>
              </a:rPr>
              <a:t>客户</a:t>
            </a:r>
          </a:p>
        </p:txBody>
      </p:sp>
      <p:sp>
        <p:nvSpPr>
          <p:cNvPr id="31" name="Rectangle 29"/>
          <p:cNvSpPr>
            <a:spLocks noChangeArrowheads="1"/>
          </p:cNvSpPr>
          <p:nvPr/>
        </p:nvSpPr>
        <p:spPr bwMode="auto">
          <a:xfrm>
            <a:off x="7038653" y="1425575"/>
            <a:ext cx="880050"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800" b="1" i="0" u="none" strike="noStrike" kern="0" cap="none" spc="0" normalizeH="0" baseline="0" noProof="0">
                <a:ln>
                  <a:noFill/>
                </a:ln>
                <a:solidFill>
                  <a:srgbClr val="3333CC"/>
                </a:solidFill>
                <a:effectLst/>
                <a:uLnTx/>
                <a:uFillTx/>
                <a:latin typeface="+mn-lt"/>
                <a:ea typeface="黑体" pitchFamily="2" charset="-122"/>
              </a:rPr>
              <a:t>服务器</a:t>
            </a:r>
          </a:p>
        </p:txBody>
      </p:sp>
      <p:grpSp>
        <p:nvGrpSpPr>
          <p:cNvPr id="32" name="Group 30"/>
          <p:cNvGrpSpPr>
            <a:grpSpLocks/>
          </p:cNvGrpSpPr>
          <p:nvPr/>
        </p:nvGrpSpPr>
        <p:grpSpPr bwMode="auto">
          <a:xfrm>
            <a:off x="2820667" y="3881438"/>
            <a:ext cx="4157663" cy="801687"/>
            <a:chOff x="1491" y="2445"/>
            <a:chExt cx="2619" cy="505"/>
          </a:xfrm>
        </p:grpSpPr>
        <p:sp>
          <p:nvSpPr>
            <p:cNvPr id="33" name="Line 31"/>
            <p:cNvSpPr>
              <a:spLocks noChangeShapeType="1"/>
            </p:cNvSpPr>
            <p:nvPr/>
          </p:nvSpPr>
          <p:spPr bwMode="auto">
            <a:xfrm flipH="1">
              <a:off x="1520" y="2445"/>
              <a:ext cx="2590" cy="505"/>
            </a:xfrm>
            <a:prstGeom prst="line">
              <a:avLst/>
            </a:prstGeom>
            <a:noFill/>
            <a:ln w="5715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itchFamily="2" charset="-122"/>
              </a:endParaRPr>
            </a:p>
          </p:txBody>
        </p:sp>
        <p:sp>
          <p:nvSpPr>
            <p:cNvPr id="34" name="Rectangle 32"/>
            <p:cNvSpPr>
              <a:spLocks noChangeArrowheads="1"/>
            </p:cNvSpPr>
            <p:nvPr/>
          </p:nvSpPr>
          <p:spPr bwMode="auto">
            <a:xfrm rot="20990024" flipH="1">
              <a:off x="1491" y="2483"/>
              <a:ext cx="2373"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tabLst/>
                <a:defRPr/>
              </a:pPr>
              <a:r>
                <a:rPr kumimoji="0" lang="en-US" altLang="zh-CN" sz="1600" b="1" i="0" u="none" strike="noStrike" kern="0" cap="none" spc="0" normalizeH="0" baseline="0" noProof="0" dirty="0">
                  <a:ln>
                    <a:noFill/>
                  </a:ln>
                  <a:solidFill>
                    <a:srgbClr val="3333CC"/>
                  </a:solidFill>
                  <a:effectLst/>
                  <a:uLnTx/>
                  <a:uFillTx/>
                  <a:latin typeface="+mn-lt"/>
                  <a:ea typeface="黑体" pitchFamily="2" charset="-122"/>
                </a:rPr>
                <a:t>SYN = 1, ACK = 1, </a:t>
              </a:r>
              <a:r>
                <a:rPr kumimoji="0" lang="en-US" altLang="zh-CN" sz="1600" b="1" i="0" u="none" strike="noStrike" kern="0" cap="none" spc="0" normalizeH="0" baseline="0" noProof="0" dirty="0" err="1">
                  <a:ln>
                    <a:noFill/>
                  </a:ln>
                  <a:solidFill>
                    <a:srgbClr val="3333CC"/>
                  </a:solidFill>
                  <a:effectLst/>
                  <a:uLnTx/>
                  <a:uFillTx/>
                  <a:latin typeface="+mn-lt"/>
                  <a:ea typeface="黑体" pitchFamily="2" charset="-122"/>
                </a:rPr>
                <a:t>seq</a:t>
              </a:r>
              <a:r>
                <a:rPr kumimoji="0" lang="en-US" altLang="zh-CN" sz="1600" b="1" i="0" u="none" strike="noStrike" kern="0" cap="none" spc="0" normalizeH="0" baseline="0" noProof="0" dirty="0">
                  <a:ln>
                    <a:noFill/>
                  </a:ln>
                  <a:solidFill>
                    <a:srgbClr val="3333CC"/>
                  </a:solidFill>
                  <a:effectLst/>
                  <a:uLnTx/>
                  <a:uFillTx/>
                  <a:latin typeface="+mn-lt"/>
                  <a:ea typeface="黑体" pitchFamily="2" charset="-122"/>
                </a:rPr>
                <a:t> = y, </a:t>
              </a:r>
              <a:r>
                <a:rPr kumimoji="0" lang="en-US" altLang="zh-CN" sz="1600" b="1" i="0" u="none" strike="noStrike" kern="0" cap="none" spc="0" normalizeH="0" baseline="0" noProof="0" dirty="0" err="1">
                  <a:ln>
                    <a:noFill/>
                  </a:ln>
                  <a:solidFill>
                    <a:srgbClr val="3333CC"/>
                  </a:solidFill>
                  <a:effectLst/>
                  <a:uLnTx/>
                  <a:uFillTx/>
                  <a:latin typeface="+mn-lt"/>
                  <a:ea typeface="黑体" pitchFamily="2" charset="-122"/>
                </a:rPr>
                <a:t>ack</a:t>
              </a:r>
              <a:r>
                <a:rPr kumimoji="0" lang="en-US" altLang="zh-CN" sz="1600" b="1" i="0" u="none" strike="noStrike" kern="0" cap="none" spc="0" normalizeH="0" baseline="0" noProof="0" dirty="0">
                  <a:ln>
                    <a:noFill/>
                  </a:ln>
                  <a:solidFill>
                    <a:srgbClr val="3333CC"/>
                  </a:solidFill>
                  <a:effectLst/>
                  <a:uLnTx/>
                  <a:uFillTx/>
                  <a:latin typeface="+mn-lt"/>
                  <a:ea typeface="黑体" pitchFamily="2" charset="-122"/>
                </a:rPr>
                <a:t>= x </a:t>
              </a:r>
              <a:r>
                <a:rPr kumimoji="0" lang="en-US" altLang="zh-CN" sz="1600" b="1" i="0" u="none" strike="noStrike" kern="0" cap="none" spc="0" normalizeH="0" baseline="0" noProof="0" dirty="0">
                  <a:ln>
                    <a:noFill/>
                  </a:ln>
                  <a:solidFill>
                    <a:srgbClr val="3333CC"/>
                  </a:solidFill>
                  <a:effectLst/>
                  <a:uLnTx/>
                  <a:uFillTx/>
                  <a:latin typeface="+mn-lt"/>
                  <a:ea typeface="黑体" pitchFamily="2" charset="-122"/>
                  <a:sym typeface="Symbol" pitchFamily="18" charset="2"/>
                </a:rPr>
                <a:t> 1</a:t>
              </a:r>
              <a:endParaRPr kumimoji="0" lang="en-US" altLang="zh-CN" sz="1600" b="1" i="0" u="none" strike="noStrike" kern="0" cap="none" spc="0" normalizeH="0" baseline="0" noProof="0" dirty="0">
                <a:ln>
                  <a:noFill/>
                </a:ln>
                <a:solidFill>
                  <a:srgbClr val="3333CC"/>
                </a:solidFill>
                <a:effectLst/>
                <a:uLnTx/>
                <a:uFillTx/>
                <a:latin typeface="+mn-lt"/>
                <a:ea typeface="黑体" pitchFamily="2" charset="-122"/>
              </a:endParaRPr>
            </a:p>
          </p:txBody>
        </p:sp>
      </p:grpSp>
      <p:sp>
        <p:nvSpPr>
          <p:cNvPr id="35" name="Text Box 33"/>
          <p:cNvSpPr txBox="1">
            <a:spLocks noChangeArrowheads="1"/>
          </p:cNvSpPr>
          <p:nvPr/>
        </p:nvSpPr>
        <p:spPr bwMode="auto">
          <a:xfrm>
            <a:off x="979166" y="116632"/>
            <a:ext cx="8294687" cy="869950"/>
          </a:xfrm>
          <a:prstGeom prst="rect">
            <a:avLst/>
          </a:prstGeom>
          <a:solidFill>
            <a:srgbClr val="FFFF99"/>
          </a:solidFill>
          <a:ln w="9525">
            <a:solidFill>
              <a:srgbClr val="3333CC"/>
            </a:solidFill>
            <a:miter lim="800000"/>
            <a:headEnd/>
            <a:tailEnd/>
          </a:ln>
          <a:effectLst>
            <a:outerShdw dist="35921" dir="2700000" algn="ctr" rotWithShape="0">
              <a:srgbClr val="1C1C1C"/>
            </a:outerShdw>
          </a:effectLst>
        </p:spPr>
        <p:txBody>
          <a:bodyPr>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just" defTabSz="914400" eaLnBrk="1" fontAlgn="auto" latinLnBrk="0" hangingPunct="1">
              <a:lnSpc>
                <a:spcPct val="90000"/>
              </a:lnSpc>
              <a:spcBef>
                <a:spcPts val="0"/>
              </a:spcBef>
              <a:spcAft>
                <a:spcPts val="0"/>
              </a:spcAft>
              <a:buClrTx/>
              <a:buSzTx/>
              <a:buFontTx/>
              <a:buChar char="•"/>
              <a:tabLst/>
              <a:defRPr/>
            </a:pPr>
            <a:r>
              <a:rPr kumimoji="0" lang="en-US" altLang="zh-CN" sz="2800" b="1" i="0" u="none" strike="noStrike" kern="0" cap="none" spc="0" normalizeH="0" baseline="0" noProof="0" dirty="0">
                <a:ln>
                  <a:noFill/>
                </a:ln>
                <a:solidFill>
                  <a:srgbClr val="000099"/>
                </a:solidFill>
                <a:effectLst/>
                <a:uLnTx/>
                <a:uFillTx/>
                <a:latin typeface="Arial" pitchFamily="34" charset="0"/>
                <a:ea typeface="黑体" pitchFamily="2" charset="-122"/>
              </a:rPr>
              <a:t>   B </a:t>
            </a:r>
            <a:r>
              <a:rPr kumimoji="0" lang="zh-CN" altLang="en-US" sz="2800" b="1" i="0" u="none" strike="noStrike" kern="0" cap="none" spc="0" normalizeH="0" baseline="0" noProof="0" dirty="0">
                <a:ln>
                  <a:noFill/>
                </a:ln>
                <a:solidFill>
                  <a:srgbClr val="000099"/>
                </a:solidFill>
                <a:effectLst/>
                <a:uLnTx/>
                <a:uFillTx/>
                <a:latin typeface="Arial" pitchFamily="34" charset="0"/>
                <a:ea typeface="黑体" pitchFamily="2" charset="-122"/>
              </a:rPr>
              <a:t>的 </a:t>
            </a:r>
            <a:r>
              <a:rPr kumimoji="0" lang="en-US" altLang="zh-CN" sz="2800" b="1" i="0" u="none" strike="noStrike" kern="0" cap="none" spc="0" normalizeH="0" baseline="0" noProof="0" dirty="0">
                <a:ln>
                  <a:noFill/>
                </a:ln>
                <a:solidFill>
                  <a:srgbClr val="000099"/>
                </a:solidFill>
                <a:effectLst/>
                <a:uLnTx/>
                <a:uFillTx/>
                <a:latin typeface="Arial" pitchFamily="34" charset="0"/>
                <a:ea typeface="黑体" pitchFamily="2" charset="-122"/>
              </a:rPr>
              <a:t>TCP </a:t>
            </a:r>
            <a:r>
              <a:rPr kumimoji="0" lang="zh-CN" altLang="en-US" sz="2800" b="1" i="0" u="none" strike="noStrike" kern="0" cap="none" spc="0" normalizeH="0" baseline="0" noProof="0" dirty="0">
                <a:ln>
                  <a:noFill/>
                </a:ln>
                <a:solidFill>
                  <a:srgbClr val="000099"/>
                </a:solidFill>
                <a:effectLst/>
                <a:uLnTx/>
                <a:uFillTx/>
                <a:latin typeface="Arial" pitchFamily="34" charset="0"/>
                <a:ea typeface="黑体" pitchFamily="2" charset="-122"/>
              </a:rPr>
              <a:t>收到主机 </a:t>
            </a:r>
            <a:r>
              <a:rPr kumimoji="0" lang="en-US" altLang="zh-CN" sz="2800" b="1" i="0" u="none" strike="noStrike" kern="0" cap="none" spc="0" normalizeH="0" baseline="0" noProof="0" dirty="0">
                <a:ln>
                  <a:noFill/>
                </a:ln>
                <a:solidFill>
                  <a:srgbClr val="000099"/>
                </a:solidFill>
                <a:effectLst/>
                <a:uLnTx/>
                <a:uFillTx/>
                <a:latin typeface="Arial" pitchFamily="34" charset="0"/>
                <a:ea typeface="黑体" pitchFamily="2" charset="-122"/>
              </a:rPr>
              <a:t>A </a:t>
            </a:r>
            <a:r>
              <a:rPr kumimoji="0" lang="zh-CN" altLang="en-US" sz="2800" b="1" i="0" u="none" strike="noStrike" kern="0" cap="none" spc="0" normalizeH="0" baseline="0" noProof="0" dirty="0">
                <a:ln>
                  <a:noFill/>
                </a:ln>
                <a:solidFill>
                  <a:srgbClr val="000099"/>
                </a:solidFill>
                <a:effectLst/>
                <a:uLnTx/>
                <a:uFillTx/>
                <a:latin typeface="Arial" pitchFamily="34" charset="0"/>
                <a:ea typeface="黑体" pitchFamily="2" charset="-122"/>
              </a:rPr>
              <a:t>的确认后，也通知其上层</a:t>
            </a:r>
          </a:p>
          <a:p>
            <a:pPr marL="0" marR="0" lvl="0" indent="0" algn="just" defTabSz="914400" eaLnBrk="1" fontAlgn="auto" latinLnBrk="0" hangingPunct="1">
              <a:lnSpc>
                <a:spcPct val="90000"/>
              </a:lnSpc>
              <a:spcBef>
                <a:spcPts val="0"/>
              </a:spcBef>
              <a:spcAft>
                <a:spcPts val="0"/>
              </a:spcAft>
              <a:buClrTx/>
              <a:buSzTx/>
              <a:buFontTx/>
              <a:buNone/>
              <a:tabLst/>
              <a:defRPr/>
            </a:pPr>
            <a:r>
              <a:rPr kumimoji="0" lang="zh-CN" altLang="en-US" sz="2800" b="1" i="0" u="none" strike="noStrike" kern="0" cap="none" spc="0" normalizeH="0" baseline="0" noProof="0" dirty="0">
                <a:ln>
                  <a:noFill/>
                </a:ln>
                <a:solidFill>
                  <a:srgbClr val="000099"/>
                </a:solidFill>
                <a:effectLst/>
                <a:uLnTx/>
                <a:uFillTx/>
                <a:latin typeface="Arial" pitchFamily="34" charset="0"/>
                <a:ea typeface="黑体" pitchFamily="2" charset="-122"/>
              </a:rPr>
              <a:t>    应用进程：</a:t>
            </a:r>
            <a:r>
              <a:rPr kumimoji="0" lang="en-US" altLang="zh-CN" sz="2800" b="1" i="0" u="none" strike="noStrike" kern="0" cap="none" spc="0" normalizeH="0" baseline="0" noProof="0" dirty="0">
                <a:ln>
                  <a:noFill/>
                </a:ln>
                <a:solidFill>
                  <a:srgbClr val="000099"/>
                </a:solidFill>
                <a:effectLst/>
                <a:uLnTx/>
                <a:uFillTx/>
                <a:latin typeface="Arial" pitchFamily="34" charset="0"/>
                <a:ea typeface="黑体" pitchFamily="2" charset="-122"/>
              </a:rPr>
              <a:t>TCP </a:t>
            </a:r>
            <a:r>
              <a:rPr kumimoji="0" lang="zh-CN" altLang="en-US" sz="2800" b="1" i="0" u="none" strike="noStrike" kern="0" cap="none" spc="0" normalizeH="0" baseline="0" noProof="0" dirty="0">
                <a:ln>
                  <a:noFill/>
                </a:ln>
                <a:solidFill>
                  <a:srgbClr val="000099"/>
                </a:solidFill>
                <a:effectLst/>
                <a:uLnTx/>
                <a:uFillTx/>
                <a:latin typeface="Arial" pitchFamily="34" charset="0"/>
                <a:ea typeface="黑体" pitchFamily="2" charset="-122"/>
              </a:rPr>
              <a:t>连接已经建立。</a:t>
            </a:r>
          </a:p>
        </p:txBody>
      </p:sp>
    </p:spTree>
    <p:extLst>
      <p:ext uri="{BB962C8B-B14F-4D97-AF65-F5344CB8AC3E}">
        <p14:creationId xmlns:p14="http://schemas.microsoft.com/office/powerpoint/2010/main" val="26579455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200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2"/>
          <p:cNvGrpSpPr>
            <a:grpSpLocks/>
          </p:cNvGrpSpPr>
          <p:nvPr/>
        </p:nvGrpSpPr>
        <p:grpSpPr bwMode="auto">
          <a:xfrm>
            <a:off x="1855663" y="3005138"/>
            <a:ext cx="6140450" cy="3765550"/>
            <a:chOff x="898" y="1893"/>
            <a:chExt cx="3868" cy="2372"/>
          </a:xfrm>
        </p:grpSpPr>
        <p:grpSp>
          <p:nvGrpSpPr>
            <p:cNvPr id="5" name="Group 3"/>
            <p:cNvGrpSpPr>
              <a:grpSpLocks/>
            </p:cNvGrpSpPr>
            <p:nvPr/>
          </p:nvGrpSpPr>
          <p:grpSpPr bwMode="auto">
            <a:xfrm>
              <a:off x="899" y="1916"/>
              <a:ext cx="622" cy="1048"/>
              <a:chOff x="899" y="1916"/>
              <a:chExt cx="622" cy="1048"/>
            </a:xfrm>
          </p:grpSpPr>
          <p:sp>
            <p:nvSpPr>
              <p:cNvPr id="18" name="Rectangle 4"/>
              <p:cNvSpPr>
                <a:spLocks noChangeArrowheads="1"/>
              </p:cNvSpPr>
              <p:nvPr/>
            </p:nvSpPr>
            <p:spPr bwMode="auto">
              <a:xfrm>
                <a:off x="899" y="1916"/>
                <a:ext cx="622" cy="1048"/>
              </a:xfrm>
              <a:prstGeom prst="rect">
                <a:avLst/>
              </a:prstGeom>
              <a:solidFill>
                <a:srgbClr val="FFCCCC"/>
              </a:solidFill>
              <a:ln>
                <a:noFill/>
              </a:ln>
              <a:effectLst>
                <a:outerShdw dist="35921" dir="2700000" algn="ctr" rotWithShape="0">
                  <a:srgbClr val="1C1C1C"/>
                </a:outerShdw>
              </a:effectLst>
              <a:extLst>
                <a:ext uri="{91240B29-F687-4F45-9708-019B960494DF}">
                  <a14:hiddenLine xmlns:a14="http://schemas.microsoft.com/office/drawing/2010/main" w="12700">
                    <a:solidFill>
                      <a:schemeClr val="tx1"/>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itchFamily="2" charset="-122"/>
                </a:endParaRPr>
              </a:p>
            </p:txBody>
          </p:sp>
          <p:sp>
            <p:nvSpPr>
              <p:cNvPr id="19" name="Rectangle 5"/>
              <p:cNvSpPr>
                <a:spLocks noChangeArrowheads="1"/>
              </p:cNvSpPr>
              <p:nvPr/>
            </p:nvSpPr>
            <p:spPr bwMode="auto">
              <a:xfrm>
                <a:off x="964" y="2169"/>
                <a:ext cx="503" cy="4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tabLst/>
                  <a:defRPr/>
                </a:pPr>
                <a:r>
                  <a:rPr kumimoji="0" lang="en-US" altLang="zh-CN" sz="1800" b="1" i="0" u="none" strike="noStrike" kern="0" cap="none" spc="0" normalizeH="0" baseline="0" noProof="0">
                    <a:ln>
                      <a:noFill/>
                    </a:ln>
                    <a:solidFill>
                      <a:srgbClr val="3333CC"/>
                    </a:solidFill>
                    <a:effectLst/>
                    <a:uLnTx/>
                    <a:uFillTx/>
                    <a:latin typeface="+mn-lt"/>
                    <a:ea typeface="黑体" pitchFamily="2" charset="-122"/>
                  </a:rPr>
                  <a:t>SYN-</a:t>
                </a:r>
              </a:p>
              <a:p>
                <a:pPr marL="0" marR="0" lvl="0" indent="0" defTabSz="762000" eaLnBrk="0" fontAlgn="auto" latinLnBrk="0" hangingPunct="0">
                  <a:lnSpc>
                    <a:spcPct val="100000"/>
                  </a:lnSpc>
                  <a:spcBef>
                    <a:spcPts val="0"/>
                  </a:spcBef>
                  <a:spcAft>
                    <a:spcPts val="0"/>
                  </a:spcAft>
                  <a:buClrTx/>
                  <a:buSzTx/>
                  <a:buFontTx/>
                  <a:buNone/>
                  <a:tabLst/>
                  <a:defRPr/>
                </a:pPr>
                <a:r>
                  <a:rPr kumimoji="0" lang="en-US" altLang="zh-CN" sz="1800" b="1" i="0" u="none" strike="noStrike" kern="0" cap="none" spc="0" normalizeH="0" baseline="0" noProof="0">
                    <a:ln>
                      <a:noFill/>
                    </a:ln>
                    <a:solidFill>
                      <a:srgbClr val="3333CC"/>
                    </a:solidFill>
                    <a:effectLst/>
                    <a:uLnTx/>
                    <a:uFillTx/>
                    <a:latin typeface="+mn-lt"/>
                    <a:ea typeface="黑体" pitchFamily="2" charset="-122"/>
                  </a:rPr>
                  <a:t>SENT</a:t>
                </a:r>
              </a:p>
            </p:txBody>
          </p:sp>
        </p:grpSp>
        <p:grpSp>
          <p:nvGrpSpPr>
            <p:cNvPr id="6" name="Group 6"/>
            <p:cNvGrpSpPr>
              <a:grpSpLocks/>
            </p:cNvGrpSpPr>
            <p:nvPr/>
          </p:nvGrpSpPr>
          <p:grpSpPr bwMode="auto">
            <a:xfrm>
              <a:off x="898" y="3013"/>
              <a:ext cx="656" cy="1252"/>
              <a:chOff x="898" y="3013"/>
              <a:chExt cx="656" cy="1252"/>
            </a:xfrm>
          </p:grpSpPr>
          <p:sp>
            <p:nvSpPr>
              <p:cNvPr id="16" name="Rectangle 7"/>
              <p:cNvSpPr>
                <a:spLocks noChangeArrowheads="1"/>
              </p:cNvSpPr>
              <p:nvPr/>
            </p:nvSpPr>
            <p:spPr bwMode="auto">
              <a:xfrm>
                <a:off x="905" y="3013"/>
                <a:ext cx="609" cy="1252"/>
              </a:xfrm>
              <a:prstGeom prst="rect">
                <a:avLst/>
              </a:prstGeom>
              <a:solidFill>
                <a:srgbClr val="CCFF99"/>
              </a:solidFill>
              <a:ln>
                <a:noFill/>
              </a:ln>
              <a:effectLst>
                <a:outerShdw dist="35921" dir="2700000" algn="ctr" rotWithShape="0">
                  <a:srgbClr val="1C1C1C"/>
                </a:outerShdw>
              </a:effectLst>
              <a:extLst>
                <a:ext uri="{91240B29-F687-4F45-9708-019B960494DF}">
                  <a14:hiddenLine xmlns:a14="http://schemas.microsoft.com/office/drawing/2010/main" w="12700">
                    <a:solidFill>
                      <a:schemeClr val="tx1"/>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itchFamily="2" charset="-122"/>
                </a:endParaRPr>
              </a:p>
            </p:txBody>
          </p:sp>
          <p:sp>
            <p:nvSpPr>
              <p:cNvPr id="17" name="Rectangle 8"/>
              <p:cNvSpPr>
                <a:spLocks noChangeArrowheads="1"/>
              </p:cNvSpPr>
              <p:nvPr/>
            </p:nvSpPr>
            <p:spPr bwMode="auto">
              <a:xfrm>
                <a:off x="898" y="3383"/>
                <a:ext cx="656" cy="4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800" b="1" i="0" u="none" strike="noStrike" kern="0" cap="none" spc="0" normalizeH="0" baseline="0" noProof="0">
                    <a:ln>
                      <a:noFill/>
                    </a:ln>
                    <a:solidFill>
                      <a:srgbClr val="3333CC"/>
                    </a:solidFill>
                    <a:effectLst/>
                    <a:uLnTx/>
                    <a:uFillTx/>
                    <a:latin typeface="+mn-lt"/>
                    <a:ea typeface="黑体" pitchFamily="2" charset="-122"/>
                  </a:rPr>
                  <a:t>ESTAB-</a:t>
                </a:r>
              </a:p>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800" b="1" i="0" u="none" strike="noStrike" kern="0" cap="none" spc="0" normalizeH="0" baseline="0" noProof="0">
                    <a:ln>
                      <a:noFill/>
                    </a:ln>
                    <a:solidFill>
                      <a:srgbClr val="3333CC"/>
                    </a:solidFill>
                    <a:effectLst/>
                    <a:uLnTx/>
                    <a:uFillTx/>
                    <a:latin typeface="+mn-lt"/>
                    <a:ea typeface="黑体" pitchFamily="2" charset="-122"/>
                  </a:rPr>
                  <a:t>LISHED</a:t>
                </a:r>
              </a:p>
            </p:txBody>
          </p:sp>
        </p:grpSp>
        <p:grpSp>
          <p:nvGrpSpPr>
            <p:cNvPr id="7" name="Group 9"/>
            <p:cNvGrpSpPr>
              <a:grpSpLocks/>
            </p:cNvGrpSpPr>
            <p:nvPr/>
          </p:nvGrpSpPr>
          <p:grpSpPr bwMode="auto">
            <a:xfrm>
              <a:off x="4111" y="2445"/>
              <a:ext cx="621" cy="1064"/>
              <a:chOff x="4111" y="2445"/>
              <a:chExt cx="621" cy="1064"/>
            </a:xfrm>
          </p:grpSpPr>
          <p:sp>
            <p:nvSpPr>
              <p:cNvPr id="14" name="Rectangle 10"/>
              <p:cNvSpPr>
                <a:spLocks noChangeArrowheads="1"/>
              </p:cNvSpPr>
              <p:nvPr/>
            </p:nvSpPr>
            <p:spPr bwMode="auto">
              <a:xfrm>
                <a:off x="4111" y="2445"/>
                <a:ext cx="621" cy="1064"/>
              </a:xfrm>
              <a:prstGeom prst="rect">
                <a:avLst/>
              </a:prstGeom>
              <a:solidFill>
                <a:srgbClr val="FFCCCC"/>
              </a:solidFill>
              <a:ln>
                <a:noFill/>
              </a:ln>
              <a:effectLst>
                <a:outerShdw dist="35921" dir="2700000" algn="ctr" rotWithShape="0">
                  <a:srgbClr val="1C1C1C"/>
                </a:outerShdw>
              </a:effectLst>
              <a:extLst>
                <a:ext uri="{91240B29-F687-4F45-9708-019B960494DF}">
                  <a14:hiddenLine xmlns:a14="http://schemas.microsoft.com/office/drawing/2010/main" w="12700" algn="ctr">
                    <a:solidFill>
                      <a:schemeClr val="tx1"/>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itchFamily="2" charset="-122"/>
                </a:endParaRPr>
              </a:p>
            </p:txBody>
          </p:sp>
          <p:sp>
            <p:nvSpPr>
              <p:cNvPr id="15" name="Rectangle 11"/>
              <p:cNvSpPr>
                <a:spLocks noChangeArrowheads="1"/>
              </p:cNvSpPr>
              <p:nvPr/>
            </p:nvSpPr>
            <p:spPr bwMode="auto">
              <a:xfrm>
                <a:off x="4156" y="2721"/>
                <a:ext cx="527" cy="4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tabLst/>
                  <a:defRPr/>
                </a:pPr>
                <a:r>
                  <a:rPr kumimoji="0" lang="en-US" altLang="zh-CN" sz="1800" b="1" i="0" u="none" strike="noStrike" kern="0" cap="none" spc="0" normalizeH="0" baseline="0" noProof="0">
                    <a:ln>
                      <a:noFill/>
                    </a:ln>
                    <a:solidFill>
                      <a:srgbClr val="3333CC"/>
                    </a:solidFill>
                    <a:effectLst/>
                    <a:uLnTx/>
                    <a:uFillTx/>
                    <a:latin typeface="+mn-lt"/>
                    <a:ea typeface="黑体" pitchFamily="2" charset="-122"/>
                  </a:rPr>
                  <a:t>SYN-</a:t>
                </a:r>
              </a:p>
              <a:p>
                <a:pPr marL="0" marR="0" lvl="0" indent="0" defTabSz="762000" eaLnBrk="0" fontAlgn="auto" latinLnBrk="0" hangingPunct="0">
                  <a:lnSpc>
                    <a:spcPct val="100000"/>
                  </a:lnSpc>
                  <a:spcBef>
                    <a:spcPts val="0"/>
                  </a:spcBef>
                  <a:spcAft>
                    <a:spcPts val="0"/>
                  </a:spcAft>
                  <a:buClrTx/>
                  <a:buSzTx/>
                  <a:buFontTx/>
                  <a:buNone/>
                  <a:tabLst/>
                  <a:defRPr/>
                </a:pPr>
                <a:r>
                  <a:rPr kumimoji="0" lang="en-US" altLang="zh-CN" sz="1800" b="1" i="0" u="none" strike="noStrike" kern="0" cap="none" spc="0" normalizeH="0" baseline="0" noProof="0">
                    <a:ln>
                      <a:noFill/>
                    </a:ln>
                    <a:solidFill>
                      <a:srgbClr val="3333CC"/>
                    </a:solidFill>
                    <a:effectLst/>
                    <a:uLnTx/>
                    <a:uFillTx/>
                    <a:latin typeface="+mn-lt"/>
                    <a:ea typeface="黑体" pitchFamily="2" charset="-122"/>
                  </a:rPr>
                  <a:t>RCVD</a:t>
                </a:r>
              </a:p>
            </p:txBody>
          </p:sp>
        </p:grpSp>
        <p:grpSp>
          <p:nvGrpSpPr>
            <p:cNvPr id="8" name="Group 12"/>
            <p:cNvGrpSpPr>
              <a:grpSpLocks/>
            </p:cNvGrpSpPr>
            <p:nvPr/>
          </p:nvGrpSpPr>
          <p:grpSpPr bwMode="auto">
            <a:xfrm>
              <a:off x="4111" y="1893"/>
              <a:ext cx="639" cy="519"/>
              <a:chOff x="4111" y="1893"/>
              <a:chExt cx="639" cy="519"/>
            </a:xfrm>
          </p:grpSpPr>
          <p:sp>
            <p:nvSpPr>
              <p:cNvPr id="12" name="Rectangle 13"/>
              <p:cNvSpPr>
                <a:spLocks noChangeArrowheads="1"/>
              </p:cNvSpPr>
              <p:nvPr/>
            </p:nvSpPr>
            <p:spPr bwMode="auto">
              <a:xfrm>
                <a:off x="4111" y="1893"/>
                <a:ext cx="621" cy="519"/>
              </a:xfrm>
              <a:prstGeom prst="rect">
                <a:avLst/>
              </a:prstGeom>
              <a:solidFill>
                <a:srgbClr val="FFFF99"/>
              </a:solidFill>
              <a:ln>
                <a:noFill/>
              </a:ln>
              <a:effectLst>
                <a:outerShdw dist="35921" dir="2700000" algn="ctr" rotWithShape="0">
                  <a:srgbClr val="1C1C1C"/>
                </a:outerShdw>
              </a:effectLst>
              <a:extLst>
                <a:ext uri="{91240B29-F687-4F45-9708-019B960494DF}">
                  <a14:hiddenLine xmlns:a14="http://schemas.microsoft.com/office/drawing/2010/main" w="12700">
                    <a:solidFill>
                      <a:schemeClr val="tx1"/>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itchFamily="2" charset="-122"/>
                </a:endParaRPr>
              </a:p>
            </p:txBody>
          </p:sp>
          <p:sp>
            <p:nvSpPr>
              <p:cNvPr id="13" name="Rectangle 14"/>
              <p:cNvSpPr>
                <a:spLocks noChangeArrowheads="1"/>
              </p:cNvSpPr>
              <p:nvPr/>
            </p:nvSpPr>
            <p:spPr bwMode="auto">
              <a:xfrm>
                <a:off x="4118" y="2004"/>
                <a:ext cx="63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800" b="1" i="0" u="none" strike="noStrike" kern="0" cap="none" spc="0" normalizeH="0" baseline="0" noProof="0">
                    <a:ln>
                      <a:noFill/>
                    </a:ln>
                    <a:solidFill>
                      <a:srgbClr val="3333CC"/>
                    </a:solidFill>
                    <a:effectLst/>
                    <a:uLnTx/>
                    <a:uFillTx/>
                    <a:latin typeface="+mn-lt"/>
                    <a:ea typeface="黑体" pitchFamily="2" charset="-122"/>
                  </a:rPr>
                  <a:t>LISTEN</a:t>
                </a:r>
              </a:p>
            </p:txBody>
          </p:sp>
        </p:grpSp>
        <p:grpSp>
          <p:nvGrpSpPr>
            <p:cNvPr id="9" name="Group 15"/>
            <p:cNvGrpSpPr>
              <a:grpSpLocks/>
            </p:cNvGrpSpPr>
            <p:nvPr/>
          </p:nvGrpSpPr>
          <p:grpSpPr bwMode="auto">
            <a:xfrm>
              <a:off x="4110" y="3564"/>
              <a:ext cx="656" cy="701"/>
              <a:chOff x="4110" y="3564"/>
              <a:chExt cx="656" cy="701"/>
            </a:xfrm>
          </p:grpSpPr>
          <p:sp>
            <p:nvSpPr>
              <p:cNvPr id="10" name="Rectangle 16"/>
              <p:cNvSpPr>
                <a:spLocks noChangeArrowheads="1"/>
              </p:cNvSpPr>
              <p:nvPr/>
            </p:nvSpPr>
            <p:spPr bwMode="auto">
              <a:xfrm>
                <a:off x="4111" y="3564"/>
                <a:ext cx="621" cy="701"/>
              </a:xfrm>
              <a:prstGeom prst="rect">
                <a:avLst/>
              </a:prstGeom>
              <a:solidFill>
                <a:srgbClr val="CCFF99"/>
              </a:solidFill>
              <a:ln>
                <a:noFill/>
              </a:ln>
              <a:effectLst>
                <a:outerShdw dist="35921" dir="2700000" algn="ctr" rotWithShape="0">
                  <a:srgbClr val="1C1C1C"/>
                </a:outerShdw>
              </a:effectLst>
              <a:extLst>
                <a:ext uri="{91240B29-F687-4F45-9708-019B960494DF}">
                  <a14:hiddenLine xmlns:a14="http://schemas.microsoft.com/office/drawing/2010/main" w="12700" algn="ctr">
                    <a:solidFill>
                      <a:schemeClr val="tx1"/>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itchFamily="2" charset="-122"/>
                </a:endParaRPr>
              </a:p>
            </p:txBody>
          </p:sp>
          <p:sp>
            <p:nvSpPr>
              <p:cNvPr id="11" name="Rectangle 17"/>
              <p:cNvSpPr>
                <a:spLocks noChangeArrowheads="1"/>
              </p:cNvSpPr>
              <p:nvPr/>
            </p:nvSpPr>
            <p:spPr bwMode="auto">
              <a:xfrm>
                <a:off x="4110" y="3708"/>
                <a:ext cx="656" cy="4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800" b="1" i="0" u="none" strike="noStrike" kern="0" cap="none" spc="0" normalizeH="0" baseline="0" noProof="0">
                    <a:ln>
                      <a:noFill/>
                    </a:ln>
                    <a:solidFill>
                      <a:srgbClr val="3333CC"/>
                    </a:solidFill>
                    <a:effectLst/>
                    <a:uLnTx/>
                    <a:uFillTx/>
                    <a:latin typeface="+mn-lt"/>
                    <a:ea typeface="黑体" pitchFamily="2" charset="-122"/>
                  </a:rPr>
                  <a:t>ESTAB-</a:t>
                </a:r>
              </a:p>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800" b="1" i="0" u="none" strike="noStrike" kern="0" cap="none" spc="0" normalizeH="0" baseline="0" noProof="0">
                    <a:ln>
                      <a:noFill/>
                    </a:ln>
                    <a:solidFill>
                      <a:srgbClr val="3333CC"/>
                    </a:solidFill>
                    <a:effectLst/>
                    <a:uLnTx/>
                    <a:uFillTx/>
                    <a:latin typeface="+mn-lt"/>
                    <a:ea typeface="黑体" pitchFamily="2" charset="-122"/>
                  </a:rPr>
                  <a:t>LISHED</a:t>
                </a:r>
              </a:p>
            </p:txBody>
          </p:sp>
        </p:grpSp>
      </p:grpSp>
      <p:sp>
        <p:nvSpPr>
          <p:cNvPr id="20" name="Rectangle 18"/>
          <p:cNvSpPr txBox="1">
            <a:spLocks noChangeArrowheads="1"/>
          </p:cNvSpPr>
          <p:nvPr/>
        </p:nvSpPr>
        <p:spPr bwMode="auto">
          <a:xfrm>
            <a:off x="1424608" y="692150"/>
            <a:ext cx="7345362" cy="768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kumimoji="1" sz="4400" b="1">
                <a:solidFill>
                  <a:schemeClr val="tx2"/>
                </a:solidFill>
                <a:latin typeface="+mj-lt"/>
                <a:ea typeface="+mj-ea"/>
                <a:cs typeface="+mj-cs"/>
              </a:defRPr>
            </a:lvl1pPr>
            <a:lvl2pPr algn="l" rtl="0" eaLnBrk="0" fontAlgn="base" hangingPunct="0">
              <a:spcBef>
                <a:spcPct val="0"/>
              </a:spcBef>
              <a:spcAft>
                <a:spcPct val="0"/>
              </a:spcAft>
              <a:defRPr kumimoji="1" sz="4400" b="1">
                <a:solidFill>
                  <a:schemeClr val="tx2"/>
                </a:solidFill>
                <a:latin typeface="Tahoma" pitchFamily="34" charset="0"/>
                <a:ea typeface="黑体" pitchFamily="2" charset="-122"/>
              </a:defRPr>
            </a:lvl2pPr>
            <a:lvl3pPr algn="l" rtl="0" eaLnBrk="0" fontAlgn="base" hangingPunct="0">
              <a:spcBef>
                <a:spcPct val="0"/>
              </a:spcBef>
              <a:spcAft>
                <a:spcPct val="0"/>
              </a:spcAft>
              <a:defRPr kumimoji="1" sz="4400" b="1">
                <a:solidFill>
                  <a:schemeClr val="tx2"/>
                </a:solidFill>
                <a:latin typeface="Tahoma" pitchFamily="34" charset="0"/>
                <a:ea typeface="黑体" pitchFamily="2" charset="-122"/>
              </a:defRPr>
            </a:lvl3pPr>
            <a:lvl4pPr algn="l" rtl="0" eaLnBrk="0" fontAlgn="base" hangingPunct="0">
              <a:spcBef>
                <a:spcPct val="0"/>
              </a:spcBef>
              <a:spcAft>
                <a:spcPct val="0"/>
              </a:spcAft>
              <a:defRPr kumimoji="1" sz="4400" b="1">
                <a:solidFill>
                  <a:schemeClr val="tx2"/>
                </a:solidFill>
                <a:latin typeface="Tahoma" pitchFamily="34" charset="0"/>
                <a:ea typeface="黑体" pitchFamily="2" charset="-122"/>
              </a:defRPr>
            </a:lvl4pPr>
            <a:lvl5pPr algn="l" rtl="0" eaLnBrk="0" fontAlgn="base" hangingPunct="0">
              <a:spcBef>
                <a:spcPct val="0"/>
              </a:spcBef>
              <a:spcAft>
                <a:spcPct val="0"/>
              </a:spcAft>
              <a:defRPr kumimoji="1" sz="4400" b="1">
                <a:solidFill>
                  <a:schemeClr val="tx2"/>
                </a:solidFill>
                <a:latin typeface="Tahoma" pitchFamily="34" charset="0"/>
                <a:ea typeface="黑体" pitchFamily="2" charset="-122"/>
              </a:defRPr>
            </a:lvl5pPr>
            <a:lvl6pPr marL="457200" algn="l" rtl="0" fontAlgn="base">
              <a:spcBef>
                <a:spcPct val="0"/>
              </a:spcBef>
              <a:spcAft>
                <a:spcPct val="0"/>
              </a:spcAft>
              <a:defRPr kumimoji="1" sz="4400" b="1">
                <a:solidFill>
                  <a:schemeClr val="tx2"/>
                </a:solidFill>
                <a:latin typeface="Tahoma" pitchFamily="34" charset="0"/>
                <a:ea typeface="黑体" pitchFamily="2" charset="-122"/>
              </a:defRPr>
            </a:lvl6pPr>
            <a:lvl7pPr marL="914400" algn="l" rtl="0" fontAlgn="base">
              <a:spcBef>
                <a:spcPct val="0"/>
              </a:spcBef>
              <a:spcAft>
                <a:spcPct val="0"/>
              </a:spcAft>
              <a:defRPr kumimoji="1" sz="4400" b="1">
                <a:solidFill>
                  <a:schemeClr val="tx2"/>
                </a:solidFill>
                <a:latin typeface="Tahoma" pitchFamily="34" charset="0"/>
                <a:ea typeface="黑体" pitchFamily="2" charset="-122"/>
              </a:defRPr>
            </a:lvl7pPr>
            <a:lvl8pPr marL="1371600" algn="l" rtl="0" fontAlgn="base">
              <a:spcBef>
                <a:spcPct val="0"/>
              </a:spcBef>
              <a:spcAft>
                <a:spcPct val="0"/>
              </a:spcAft>
              <a:defRPr kumimoji="1" sz="4400" b="1">
                <a:solidFill>
                  <a:schemeClr val="tx2"/>
                </a:solidFill>
                <a:latin typeface="Tahoma" pitchFamily="34" charset="0"/>
                <a:ea typeface="黑体" pitchFamily="2" charset="-122"/>
              </a:defRPr>
            </a:lvl8pPr>
            <a:lvl9pPr marL="1828800" algn="l" rtl="0" fontAlgn="base">
              <a:spcBef>
                <a:spcPct val="0"/>
              </a:spcBef>
              <a:spcAft>
                <a:spcPct val="0"/>
              </a:spcAft>
              <a:defRPr kumimoji="1" sz="4400" b="1">
                <a:solidFill>
                  <a:schemeClr val="tx2"/>
                </a:solidFill>
                <a:latin typeface="Tahoma" pitchFamily="34" charset="0"/>
                <a:ea typeface="黑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3200" b="1" i="0" u="none" strike="noStrike" kern="0" cap="none" spc="0" normalizeH="0" baseline="0" noProof="0" dirty="0">
                <a:ln>
                  <a:noFill/>
                </a:ln>
                <a:solidFill>
                  <a:srgbClr val="000099"/>
                </a:solidFill>
                <a:effectLst/>
                <a:uLnTx/>
                <a:uFillTx/>
                <a:latin typeface="Tahoma"/>
                <a:ea typeface="黑体"/>
                <a:cs typeface="+mj-cs"/>
              </a:rPr>
              <a:t>采用三报文握手建立 </a:t>
            </a:r>
            <a:r>
              <a:rPr kumimoji="1" lang="en-US" altLang="zh-CN" sz="3200" b="1" i="0" u="none" strike="noStrike" kern="0" cap="none" spc="0" normalizeH="0" baseline="0" noProof="0" dirty="0">
                <a:ln>
                  <a:noFill/>
                </a:ln>
                <a:solidFill>
                  <a:srgbClr val="000099"/>
                </a:solidFill>
                <a:effectLst/>
                <a:uLnTx/>
                <a:uFillTx/>
                <a:latin typeface="Tahoma"/>
                <a:ea typeface="黑体"/>
                <a:cs typeface="+mj-cs"/>
              </a:rPr>
              <a:t>TCP </a:t>
            </a:r>
            <a:r>
              <a:rPr kumimoji="1" lang="zh-CN" altLang="en-US" sz="3200" b="1" i="0" u="none" strike="noStrike" kern="0" cap="none" spc="0" normalizeH="0" baseline="0" noProof="0" dirty="0">
                <a:ln>
                  <a:noFill/>
                </a:ln>
                <a:solidFill>
                  <a:srgbClr val="000099"/>
                </a:solidFill>
                <a:effectLst/>
                <a:uLnTx/>
                <a:uFillTx/>
                <a:latin typeface="Tahoma"/>
                <a:ea typeface="黑体"/>
                <a:cs typeface="+mj-cs"/>
              </a:rPr>
              <a:t>连接的各状态</a:t>
            </a:r>
            <a:r>
              <a:rPr kumimoji="1" lang="zh-CN" altLang="en-US" sz="4000" b="1" i="0" u="none" strike="noStrike" kern="0" cap="none" spc="0" normalizeH="0" baseline="0" noProof="0" dirty="0">
                <a:ln>
                  <a:noFill/>
                </a:ln>
                <a:solidFill>
                  <a:srgbClr val="000099"/>
                </a:solidFill>
                <a:effectLst/>
                <a:uLnTx/>
                <a:uFillTx/>
                <a:latin typeface="Tahoma"/>
                <a:ea typeface="黑体"/>
                <a:cs typeface="+mj-cs"/>
              </a:rPr>
              <a:t> </a:t>
            </a:r>
          </a:p>
        </p:txBody>
      </p:sp>
      <p:grpSp>
        <p:nvGrpSpPr>
          <p:cNvPr id="21" name="Group 19"/>
          <p:cNvGrpSpPr>
            <a:grpSpLocks/>
          </p:cNvGrpSpPr>
          <p:nvPr/>
        </p:nvGrpSpPr>
        <p:grpSpPr bwMode="auto">
          <a:xfrm>
            <a:off x="2843088" y="3005138"/>
            <a:ext cx="4111625" cy="801687"/>
            <a:chOff x="1520" y="1893"/>
            <a:chExt cx="2590" cy="505"/>
          </a:xfrm>
        </p:grpSpPr>
        <p:sp>
          <p:nvSpPr>
            <p:cNvPr id="22" name="Rectangle 20"/>
            <p:cNvSpPr>
              <a:spLocks noChangeArrowheads="1"/>
            </p:cNvSpPr>
            <p:nvPr/>
          </p:nvSpPr>
          <p:spPr bwMode="auto">
            <a:xfrm rot="665985">
              <a:off x="2093" y="1914"/>
              <a:ext cx="1717"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2000" b="1" i="0" u="none" strike="noStrike" kern="0" cap="none" spc="0" normalizeH="0" baseline="0" noProof="0" dirty="0">
                  <a:ln>
                    <a:noFill/>
                  </a:ln>
                  <a:solidFill>
                    <a:srgbClr val="3333CC"/>
                  </a:solidFill>
                  <a:effectLst/>
                  <a:uLnTx/>
                  <a:uFillTx/>
                  <a:latin typeface="+mn-lt"/>
                  <a:ea typeface="黑体" pitchFamily="2" charset="-122"/>
                </a:rPr>
                <a:t>SYN = 1, </a:t>
              </a:r>
              <a:r>
                <a:rPr kumimoji="0" lang="en-US" altLang="zh-CN" sz="2000" b="1" i="0" u="none" strike="noStrike" kern="0" cap="none" spc="0" normalizeH="0" baseline="0" noProof="0" dirty="0" err="1">
                  <a:ln>
                    <a:noFill/>
                  </a:ln>
                  <a:solidFill>
                    <a:srgbClr val="3333CC"/>
                  </a:solidFill>
                  <a:effectLst/>
                  <a:uLnTx/>
                  <a:uFillTx/>
                  <a:latin typeface="+mn-lt"/>
                  <a:ea typeface="黑体" pitchFamily="2" charset="-122"/>
                </a:rPr>
                <a:t>seq</a:t>
              </a:r>
              <a:r>
                <a:rPr kumimoji="0" lang="en-US" altLang="zh-CN" sz="2000" b="1" i="0" u="none" strike="noStrike" kern="0" cap="none" spc="0" normalizeH="0" baseline="0" noProof="0" dirty="0">
                  <a:ln>
                    <a:noFill/>
                  </a:ln>
                  <a:solidFill>
                    <a:srgbClr val="3333CC"/>
                  </a:solidFill>
                  <a:effectLst/>
                  <a:uLnTx/>
                  <a:uFillTx/>
                  <a:latin typeface="+mn-lt"/>
                  <a:ea typeface="黑体" pitchFamily="2" charset="-122"/>
                </a:rPr>
                <a:t> = x</a:t>
              </a:r>
            </a:p>
          </p:txBody>
        </p:sp>
        <p:sp>
          <p:nvSpPr>
            <p:cNvPr id="23" name="Line 21"/>
            <p:cNvSpPr>
              <a:spLocks noChangeShapeType="1"/>
            </p:cNvSpPr>
            <p:nvPr/>
          </p:nvSpPr>
          <p:spPr bwMode="auto">
            <a:xfrm>
              <a:off x="1520" y="1893"/>
              <a:ext cx="2590" cy="505"/>
            </a:xfrm>
            <a:prstGeom prst="line">
              <a:avLst/>
            </a:prstGeom>
            <a:noFill/>
            <a:ln w="5715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itchFamily="2" charset="-122"/>
              </a:endParaRPr>
            </a:p>
          </p:txBody>
        </p:sp>
      </p:grpSp>
      <p:grpSp>
        <p:nvGrpSpPr>
          <p:cNvPr id="24" name="Group 22"/>
          <p:cNvGrpSpPr>
            <a:grpSpLocks/>
          </p:cNvGrpSpPr>
          <p:nvPr/>
        </p:nvGrpSpPr>
        <p:grpSpPr bwMode="auto">
          <a:xfrm>
            <a:off x="2843088" y="4756150"/>
            <a:ext cx="4202113" cy="800100"/>
            <a:chOff x="1520" y="2996"/>
            <a:chExt cx="2647" cy="504"/>
          </a:xfrm>
        </p:grpSpPr>
        <p:sp>
          <p:nvSpPr>
            <p:cNvPr id="25" name="Rectangle 23"/>
            <p:cNvSpPr>
              <a:spLocks noChangeArrowheads="1"/>
            </p:cNvSpPr>
            <p:nvPr/>
          </p:nvSpPr>
          <p:spPr bwMode="auto">
            <a:xfrm rot="649536">
              <a:off x="1856" y="3064"/>
              <a:ext cx="2311"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tabLst/>
                <a:defRPr/>
              </a:pPr>
              <a:r>
                <a:rPr kumimoji="0" lang="en-US" altLang="zh-CN" sz="1800" b="1" i="0" u="none" strike="noStrike" kern="0" cap="none" spc="0" normalizeH="0" baseline="0" noProof="0">
                  <a:ln>
                    <a:noFill/>
                  </a:ln>
                  <a:solidFill>
                    <a:srgbClr val="3333CC"/>
                  </a:solidFill>
                  <a:effectLst/>
                  <a:uLnTx/>
                  <a:uFillTx/>
                  <a:latin typeface="+mn-lt"/>
                  <a:ea typeface="黑体" pitchFamily="2" charset="-122"/>
                </a:rPr>
                <a:t>ACK = 1, seq = x + 1, ack = y </a:t>
              </a:r>
              <a:r>
                <a:rPr kumimoji="0" lang="en-US" altLang="zh-CN" sz="1800" b="1" i="0" u="none" strike="noStrike" kern="0" cap="none" spc="0" normalizeH="0" baseline="0" noProof="0">
                  <a:ln>
                    <a:noFill/>
                  </a:ln>
                  <a:solidFill>
                    <a:srgbClr val="3333CC"/>
                  </a:solidFill>
                  <a:effectLst/>
                  <a:uLnTx/>
                  <a:uFillTx/>
                  <a:latin typeface="+mn-lt"/>
                  <a:ea typeface="黑体" pitchFamily="2" charset="-122"/>
                  <a:sym typeface="Symbol" pitchFamily="18" charset="2"/>
                </a:rPr>
                <a:t> 1</a:t>
              </a:r>
            </a:p>
          </p:txBody>
        </p:sp>
        <p:sp>
          <p:nvSpPr>
            <p:cNvPr id="26" name="Line 24"/>
            <p:cNvSpPr>
              <a:spLocks noChangeShapeType="1"/>
            </p:cNvSpPr>
            <p:nvPr/>
          </p:nvSpPr>
          <p:spPr bwMode="auto">
            <a:xfrm>
              <a:off x="1520" y="2996"/>
              <a:ext cx="2590" cy="504"/>
            </a:xfrm>
            <a:prstGeom prst="line">
              <a:avLst/>
            </a:prstGeom>
            <a:noFill/>
            <a:ln w="5715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itchFamily="2" charset="-122"/>
              </a:endParaRPr>
            </a:p>
          </p:txBody>
        </p:sp>
      </p:grpSp>
      <p:sp>
        <p:nvSpPr>
          <p:cNvPr id="27" name="Rectangle 25"/>
          <p:cNvSpPr>
            <a:spLocks noChangeArrowheads="1"/>
          </p:cNvSpPr>
          <p:nvPr/>
        </p:nvSpPr>
        <p:spPr bwMode="auto">
          <a:xfrm>
            <a:off x="1866776" y="2393950"/>
            <a:ext cx="966787" cy="549275"/>
          </a:xfrm>
          <a:prstGeom prst="rect">
            <a:avLst/>
          </a:prstGeom>
          <a:solidFill>
            <a:srgbClr val="663300"/>
          </a:solidFill>
          <a:ln>
            <a:noFill/>
          </a:ln>
          <a:effectLst>
            <a:outerShdw dist="35921" dir="2700000" algn="ctr" rotWithShape="0">
              <a:srgbClr val="1C1C1C"/>
            </a:outerShdw>
          </a:effectLst>
          <a:extLst>
            <a:ext uri="{91240B29-F687-4F45-9708-019B960494DF}">
              <a14:hiddenLine xmlns:a14="http://schemas.microsoft.com/office/drawing/2010/main" w="12700">
                <a:solidFill>
                  <a:schemeClr val="tx1"/>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itchFamily="2" charset="-122"/>
            </a:endParaRPr>
          </a:p>
        </p:txBody>
      </p:sp>
      <p:sp>
        <p:nvSpPr>
          <p:cNvPr id="28" name="Text Box 26"/>
          <p:cNvSpPr txBox="1">
            <a:spLocks noChangeArrowheads="1"/>
          </p:cNvSpPr>
          <p:nvPr/>
        </p:nvSpPr>
        <p:spPr bwMode="auto">
          <a:xfrm>
            <a:off x="1817563" y="2455863"/>
            <a:ext cx="114646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a:r>
              <a:rPr lang="en-US" altLang="zh-CN" sz="1800">
                <a:solidFill>
                  <a:srgbClr val="FFFF99"/>
                </a:solidFill>
                <a:latin typeface="+mn-lt"/>
                <a:ea typeface="黑体" pitchFamily="2" charset="-122"/>
              </a:rPr>
              <a:t>CLOSED</a:t>
            </a:r>
          </a:p>
        </p:txBody>
      </p:sp>
      <p:sp>
        <p:nvSpPr>
          <p:cNvPr id="29" name="Rectangle 27"/>
          <p:cNvSpPr>
            <a:spLocks noChangeArrowheads="1"/>
          </p:cNvSpPr>
          <p:nvPr/>
        </p:nvSpPr>
        <p:spPr bwMode="auto">
          <a:xfrm>
            <a:off x="6956301" y="2393950"/>
            <a:ext cx="985837" cy="549275"/>
          </a:xfrm>
          <a:prstGeom prst="rect">
            <a:avLst/>
          </a:prstGeom>
          <a:solidFill>
            <a:srgbClr val="663300"/>
          </a:solidFill>
          <a:ln>
            <a:noFill/>
          </a:ln>
          <a:effectLst>
            <a:outerShdw dist="35921" dir="2700000" algn="ctr" rotWithShape="0">
              <a:srgbClr val="1C1C1C"/>
            </a:outerShdw>
          </a:effectLst>
          <a:extLst>
            <a:ext uri="{91240B29-F687-4F45-9708-019B960494DF}">
              <a14:hiddenLine xmlns:a14="http://schemas.microsoft.com/office/drawing/2010/main" w="12700">
                <a:solidFill>
                  <a:schemeClr val="tx1"/>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itchFamily="2" charset="-122"/>
            </a:endParaRPr>
          </a:p>
        </p:txBody>
      </p:sp>
      <p:sp>
        <p:nvSpPr>
          <p:cNvPr id="30" name="Text Box 28"/>
          <p:cNvSpPr txBox="1">
            <a:spLocks noChangeArrowheads="1"/>
          </p:cNvSpPr>
          <p:nvPr/>
        </p:nvSpPr>
        <p:spPr bwMode="auto">
          <a:xfrm>
            <a:off x="6916613" y="2455863"/>
            <a:ext cx="114646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a:r>
              <a:rPr lang="en-US" altLang="zh-CN" sz="1800">
                <a:solidFill>
                  <a:srgbClr val="FFFF99"/>
                </a:solidFill>
                <a:latin typeface="+mn-lt"/>
                <a:ea typeface="黑体" pitchFamily="2" charset="-122"/>
              </a:rPr>
              <a:t>CLOSED</a:t>
            </a:r>
          </a:p>
        </p:txBody>
      </p:sp>
      <p:grpSp>
        <p:nvGrpSpPr>
          <p:cNvPr id="31" name="Group 29"/>
          <p:cNvGrpSpPr>
            <a:grpSpLocks/>
          </p:cNvGrpSpPr>
          <p:nvPr/>
        </p:nvGrpSpPr>
        <p:grpSpPr bwMode="auto">
          <a:xfrm>
            <a:off x="3744788" y="5840405"/>
            <a:ext cx="2371725" cy="396874"/>
            <a:chOff x="2088" y="3679"/>
            <a:chExt cx="1494" cy="250"/>
          </a:xfrm>
        </p:grpSpPr>
        <p:sp>
          <p:nvSpPr>
            <p:cNvPr id="32" name="AutoShape 30"/>
            <p:cNvSpPr>
              <a:spLocks noChangeArrowheads="1"/>
            </p:cNvSpPr>
            <p:nvPr/>
          </p:nvSpPr>
          <p:spPr bwMode="auto">
            <a:xfrm>
              <a:off x="2088" y="3735"/>
              <a:ext cx="1494" cy="166"/>
            </a:xfrm>
            <a:prstGeom prst="leftRightArrow">
              <a:avLst>
                <a:gd name="adj1" fmla="val 55880"/>
                <a:gd name="adj2" fmla="val 103167"/>
              </a:avLst>
            </a:prstGeom>
            <a:solidFill>
              <a:srgbClr val="FF0000"/>
            </a:solidFill>
            <a:ln w="12700">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latin typeface="+mn-lt"/>
                <a:ea typeface="黑体" pitchFamily="2" charset="-122"/>
              </a:endParaRPr>
            </a:p>
          </p:txBody>
        </p:sp>
        <p:sp>
          <p:nvSpPr>
            <p:cNvPr id="33" name="Rectangle 31"/>
            <p:cNvSpPr>
              <a:spLocks noChangeArrowheads="1"/>
            </p:cNvSpPr>
            <p:nvPr/>
          </p:nvSpPr>
          <p:spPr bwMode="auto">
            <a:xfrm>
              <a:off x="2462" y="3679"/>
              <a:ext cx="765" cy="250"/>
            </a:xfrm>
            <a:prstGeom prst="rect">
              <a:avLst/>
            </a:prstGeom>
            <a:solidFill>
              <a:srgbClr val="CCECFF"/>
            </a:solidFill>
            <a:ln w="38100" cmpd="dbl">
              <a:solidFill>
                <a:srgbClr val="3333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2000" b="1" i="0" u="none" strike="noStrike" kern="0" cap="none" spc="0" normalizeH="0" baseline="0" noProof="0" dirty="0">
                  <a:ln>
                    <a:noFill/>
                  </a:ln>
                  <a:solidFill>
                    <a:srgbClr val="3333CC"/>
                  </a:solidFill>
                  <a:effectLst/>
                  <a:uLnTx/>
                  <a:uFillTx/>
                  <a:latin typeface="+mn-lt"/>
                  <a:ea typeface="黑体" pitchFamily="2" charset="-122"/>
                </a:rPr>
                <a:t>数据传送</a:t>
              </a:r>
            </a:p>
          </p:txBody>
        </p:sp>
      </p:grpSp>
      <p:grpSp>
        <p:nvGrpSpPr>
          <p:cNvPr id="34" name="Group 32"/>
          <p:cNvGrpSpPr>
            <a:grpSpLocks/>
          </p:cNvGrpSpPr>
          <p:nvPr/>
        </p:nvGrpSpPr>
        <p:grpSpPr bwMode="auto">
          <a:xfrm>
            <a:off x="825376" y="2057400"/>
            <a:ext cx="1320800" cy="947738"/>
            <a:chOff x="249" y="1296"/>
            <a:chExt cx="832" cy="597"/>
          </a:xfrm>
        </p:grpSpPr>
        <p:sp>
          <p:nvSpPr>
            <p:cNvPr id="35" name="Rectangle 33"/>
            <p:cNvSpPr>
              <a:spLocks noChangeArrowheads="1"/>
            </p:cNvSpPr>
            <p:nvPr/>
          </p:nvSpPr>
          <p:spPr bwMode="auto">
            <a:xfrm>
              <a:off x="251" y="1638"/>
              <a:ext cx="701"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800" b="1" i="0" u="none" strike="noStrike" kern="0" cap="none" spc="0" normalizeH="0" baseline="0" noProof="0">
                  <a:ln>
                    <a:noFill/>
                  </a:ln>
                  <a:solidFill>
                    <a:srgbClr val="3333CC"/>
                  </a:solidFill>
                  <a:effectLst/>
                  <a:uLnTx/>
                  <a:uFillTx/>
                  <a:latin typeface="+mn-lt"/>
                  <a:ea typeface="黑体" pitchFamily="2" charset="-122"/>
                </a:rPr>
                <a:t>主动打开</a:t>
              </a:r>
            </a:p>
          </p:txBody>
        </p:sp>
        <p:sp>
          <p:nvSpPr>
            <p:cNvPr id="36" name="Freeform 34"/>
            <p:cNvSpPr>
              <a:spLocks/>
            </p:cNvSpPr>
            <p:nvPr/>
          </p:nvSpPr>
          <p:spPr bwMode="auto">
            <a:xfrm>
              <a:off x="249" y="1296"/>
              <a:ext cx="832" cy="597"/>
            </a:xfrm>
            <a:custGeom>
              <a:avLst/>
              <a:gdLst>
                <a:gd name="T0" fmla="*/ 832 w 758"/>
                <a:gd name="T1" fmla="*/ 5 h 491"/>
                <a:gd name="T2" fmla="*/ 0 w 758"/>
                <a:gd name="T3" fmla="*/ 0 h 491"/>
                <a:gd name="T4" fmla="*/ 0 w 758"/>
                <a:gd name="T5" fmla="*/ 597 h 491"/>
                <a:gd name="T6" fmla="*/ 650 w 758"/>
                <a:gd name="T7" fmla="*/ 597 h 49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58" h="491">
                  <a:moveTo>
                    <a:pt x="758" y="4"/>
                  </a:moveTo>
                  <a:lnTo>
                    <a:pt x="0" y="0"/>
                  </a:lnTo>
                  <a:lnTo>
                    <a:pt x="0" y="491"/>
                  </a:lnTo>
                  <a:lnTo>
                    <a:pt x="592" y="491"/>
                  </a:lnTo>
                </a:path>
              </a:pathLst>
            </a:custGeom>
            <a:noFill/>
            <a:ln w="28575" cap="flat" cmpd="sng">
              <a:solidFill>
                <a:srgbClr val="3333CC"/>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itchFamily="2" charset="-122"/>
              </a:endParaRPr>
            </a:p>
          </p:txBody>
        </p:sp>
      </p:grpSp>
      <p:grpSp>
        <p:nvGrpSpPr>
          <p:cNvPr id="37" name="Group 35"/>
          <p:cNvGrpSpPr>
            <a:grpSpLocks/>
          </p:cNvGrpSpPr>
          <p:nvPr/>
        </p:nvGrpSpPr>
        <p:grpSpPr bwMode="auto">
          <a:xfrm>
            <a:off x="7653216" y="2065338"/>
            <a:ext cx="1401763" cy="939800"/>
            <a:chOff x="4550" y="1301"/>
            <a:chExt cx="883" cy="592"/>
          </a:xfrm>
        </p:grpSpPr>
        <p:sp>
          <p:nvSpPr>
            <p:cNvPr id="38" name="Rectangle 36"/>
            <p:cNvSpPr>
              <a:spLocks noChangeArrowheads="1"/>
            </p:cNvSpPr>
            <p:nvPr/>
          </p:nvSpPr>
          <p:spPr bwMode="auto">
            <a:xfrm>
              <a:off x="4732" y="1617"/>
              <a:ext cx="701"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800" b="1" i="0" u="none" strike="noStrike" kern="0" cap="none" spc="0" normalizeH="0" baseline="0" noProof="0">
                  <a:ln>
                    <a:noFill/>
                  </a:ln>
                  <a:solidFill>
                    <a:srgbClr val="3333CC"/>
                  </a:solidFill>
                  <a:effectLst/>
                  <a:uLnTx/>
                  <a:uFillTx/>
                  <a:latin typeface="+mn-lt"/>
                  <a:ea typeface="黑体" pitchFamily="2" charset="-122"/>
                </a:rPr>
                <a:t>被动打开</a:t>
              </a:r>
            </a:p>
          </p:txBody>
        </p:sp>
        <p:sp>
          <p:nvSpPr>
            <p:cNvPr id="39" name="Freeform 37"/>
            <p:cNvSpPr>
              <a:spLocks/>
            </p:cNvSpPr>
            <p:nvPr/>
          </p:nvSpPr>
          <p:spPr bwMode="auto">
            <a:xfrm>
              <a:off x="4550" y="1301"/>
              <a:ext cx="870" cy="592"/>
            </a:xfrm>
            <a:custGeom>
              <a:avLst/>
              <a:gdLst>
                <a:gd name="T0" fmla="*/ 0 w 792"/>
                <a:gd name="T1" fmla="*/ 0 h 487"/>
                <a:gd name="T2" fmla="*/ 870 w 792"/>
                <a:gd name="T3" fmla="*/ 5 h 487"/>
                <a:gd name="T4" fmla="*/ 870 w 792"/>
                <a:gd name="T5" fmla="*/ 592 h 487"/>
                <a:gd name="T6" fmla="*/ 201 w 792"/>
                <a:gd name="T7" fmla="*/ 583 h 48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92" h="487">
                  <a:moveTo>
                    <a:pt x="0" y="0"/>
                  </a:moveTo>
                  <a:lnTo>
                    <a:pt x="792" y="4"/>
                  </a:lnTo>
                  <a:lnTo>
                    <a:pt x="792" y="487"/>
                  </a:lnTo>
                  <a:lnTo>
                    <a:pt x="183" y="480"/>
                  </a:lnTo>
                </a:path>
              </a:pathLst>
            </a:custGeom>
            <a:noFill/>
            <a:ln w="28575" cap="flat" cmpd="sng">
              <a:solidFill>
                <a:srgbClr val="3333CC"/>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itchFamily="2" charset="-122"/>
              </a:endParaRPr>
            </a:p>
          </p:txBody>
        </p:sp>
      </p:grpSp>
      <p:pic>
        <p:nvPicPr>
          <p:cNvPr id="40" name="Picture 38"/>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100138" y="1779588"/>
            <a:ext cx="501650" cy="51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1" name="Picture 39"/>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199188" y="1779588"/>
            <a:ext cx="501650" cy="51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2" name="Rectangle 40"/>
          <p:cNvSpPr>
            <a:spLocks noChangeArrowheads="1"/>
          </p:cNvSpPr>
          <p:nvPr/>
        </p:nvSpPr>
        <p:spPr bwMode="auto">
          <a:xfrm>
            <a:off x="2524001" y="1779588"/>
            <a:ext cx="349456"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800" b="1" i="0" u="none" strike="noStrike" kern="0" cap="none" spc="0" normalizeH="0" baseline="0" noProof="0">
                <a:ln>
                  <a:noFill/>
                </a:ln>
                <a:solidFill>
                  <a:srgbClr val="3333CC"/>
                </a:solidFill>
                <a:effectLst/>
                <a:uLnTx/>
                <a:uFillTx/>
                <a:latin typeface="+mn-lt"/>
                <a:ea typeface="黑体" pitchFamily="2" charset="-122"/>
              </a:rPr>
              <a:t>A</a:t>
            </a:r>
          </a:p>
        </p:txBody>
      </p:sp>
      <p:sp>
        <p:nvSpPr>
          <p:cNvPr id="43" name="Rectangle 41"/>
          <p:cNvSpPr>
            <a:spLocks noChangeArrowheads="1"/>
          </p:cNvSpPr>
          <p:nvPr/>
        </p:nvSpPr>
        <p:spPr bwMode="auto">
          <a:xfrm>
            <a:off x="6965826" y="1779588"/>
            <a:ext cx="349456"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800" b="1" i="0" u="none" strike="noStrike" kern="0" cap="none" spc="0" normalizeH="0" baseline="0" noProof="0">
                <a:ln>
                  <a:noFill/>
                </a:ln>
                <a:solidFill>
                  <a:srgbClr val="3333CC"/>
                </a:solidFill>
                <a:effectLst/>
                <a:uLnTx/>
                <a:uFillTx/>
                <a:latin typeface="+mn-lt"/>
                <a:ea typeface="黑体" pitchFamily="2" charset="-122"/>
              </a:rPr>
              <a:t>B</a:t>
            </a:r>
          </a:p>
        </p:txBody>
      </p:sp>
      <p:sp>
        <p:nvSpPr>
          <p:cNvPr id="44" name="Rectangle 42"/>
          <p:cNvSpPr>
            <a:spLocks noChangeArrowheads="1"/>
          </p:cNvSpPr>
          <p:nvPr/>
        </p:nvSpPr>
        <p:spPr bwMode="auto">
          <a:xfrm>
            <a:off x="2019176" y="1425575"/>
            <a:ext cx="647614"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800" b="1" i="0" u="none" strike="noStrike" kern="0" cap="none" spc="0" normalizeH="0" baseline="0" noProof="0">
                <a:ln>
                  <a:noFill/>
                </a:ln>
                <a:solidFill>
                  <a:srgbClr val="3333CC"/>
                </a:solidFill>
                <a:effectLst/>
                <a:uLnTx/>
                <a:uFillTx/>
                <a:latin typeface="+mn-lt"/>
                <a:ea typeface="黑体" pitchFamily="2" charset="-122"/>
              </a:rPr>
              <a:t>客户</a:t>
            </a:r>
          </a:p>
        </p:txBody>
      </p:sp>
      <p:sp>
        <p:nvSpPr>
          <p:cNvPr id="45" name="Rectangle 43"/>
          <p:cNvSpPr>
            <a:spLocks noChangeArrowheads="1"/>
          </p:cNvSpPr>
          <p:nvPr/>
        </p:nvSpPr>
        <p:spPr bwMode="auto">
          <a:xfrm>
            <a:off x="7015038" y="1425575"/>
            <a:ext cx="880050"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800" b="1" i="0" u="none" strike="noStrike" kern="0" cap="none" spc="0" normalizeH="0" baseline="0" noProof="0">
                <a:ln>
                  <a:noFill/>
                </a:ln>
                <a:solidFill>
                  <a:srgbClr val="3333CC"/>
                </a:solidFill>
                <a:effectLst/>
                <a:uLnTx/>
                <a:uFillTx/>
                <a:latin typeface="+mn-lt"/>
                <a:ea typeface="黑体" pitchFamily="2" charset="-122"/>
              </a:rPr>
              <a:t>服务器</a:t>
            </a:r>
          </a:p>
        </p:txBody>
      </p:sp>
      <p:grpSp>
        <p:nvGrpSpPr>
          <p:cNvPr id="46" name="Group 45"/>
          <p:cNvGrpSpPr>
            <a:grpSpLocks/>
          </p:cNvGrpSpPr>
          <p:nvPr/>
        </p:nvGrpSpPr>
        <p:grpSpPr bwMode="auto">
          <a:xfrm>
            <a:off x="2797052" y="3881438"/>
            <a:ext cx="4157663" cy="801687"/>
            <a:chOff x="1491" y="2445"/>
            <a:chExt cx="2619" cy="505"/>
          </a:xfrm>
        </p:grpSpPr>
        <p:sp>
          <p:nvSpPr>
            <p:cNvPr id="47" name="Line 46"/>
            <p:cNvSpPr>
              <a:spLocks noChangeShapeType="1"/>
            </p:cNvSpPr>
            <p:nvPr/>
          </p:nvSpPr>
          <p:spPr bwMode="auto">
            <a:xfrm flipH="1">
              <a:off x="1520" y="2445"/>
              <a:ext cx="2590" cy="505"/>
            </a:xfrm>
            <a:prstGeom prst="line">
              <a:avLst/>
            </a:prstGeom>
            <a:noFill/>
            <a:ln w="5715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itchFamily="2" charset="-122"/>
              </a:endParaRPr>
            </a:p>
          </p:txBody>
        </p:sp>
        <p:sp>
          <p:nvSpPr>
            <p:cNvPr id="48" name="Rectangle 47"/>
            <p:cNvSpPr>
              <a:spLocks noChangeArrowheads="1"/>
            </p:cNvSpPr>
            <p:nvPr/>
          </p:nvSpPr>
          <p:spPr bwMode="auto">
            <a:xfrm rot="20990024" flipH="1">
              <a:off x="1491" y="2483"/>
              <a:ext cx="2373"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tabLst/>
                <a:defRPr/>
              </a:pPr>
              <a:r>
                <a:rPr kumimoji="0" lang="en-US" altLang="zh-CN" sz="1600" b="1" i="0" u="none" strike="noStrike" kern="0" cap="none" spc="0" normalizeH="0" baseline="0" noProof="0" dirty="0">
                  <a:ln>
                    <a:noFill/>
                  </a:ln>
                  <a:solidFill>
                    <a:srgbClr val="3333CC"/>
                  </a:solidFill>
                  <a:effectLst/>
                  <a:uLnTx/>
                  <a:uFillTx/>
                  <a:latin typeface="+mn-lt"/>
                  <a:ea typeface="黑体" pitchFamily="2" charset="-122"/>
                </a:rPr>
                <a:t>SYN = 1, ACK = 1, </a:t>
              </a:r>
              <a:r>
                <a:rPr kumimoji="0" lang="en-US" altLang="zh-CN" sz="1600" b="1" i="0" u="none" strike="noStrike" kern="0" cap="none" spc="0" normalizeH="0" baseline="0" noProof="0" dirty="0" err="1">
                  <a:ln>
                    <a:noFill/>
                  </a:ln>
                  <a:solidFill>
                    <a:srgbClr val="3333CC"/>
                  </a:solidFill>
                  <a:effectLst/>
                  <a:uLnTx/>
                  <a:uFillTx/>
                  <a:latin typeface="+mn-lt"/>
                  <a:ea typeface="黑体" pitchFamily="2" charset="-122"/>
                </a:rPr>
                <a:t>seq</a:t>
              </a:r>
              <a:r>
                <a:rPr kumimoji="0" lang="en-US" altLang="zh-CN" sz="1600" b="1" i="0" u="none" strike="noStrike" kern="0" cap="none" spc="0" normalizeH="0" baseline="0" noProof="0" dirty="0">
                  <a:ln>
                    <a:noFill/>
                  </a:ln>
                  <a:solidFill>
                    <a:srgbClr val="3333CC"/>
                  </a:solidFill>
                  <a:effectLst/>
                  <a:uLnTx/>
                  <a:uFillTx/>
                  <a:latin typeface="+mn-lt"/>
                  <a:ea typeface="黑体" pitchFamily="2" charset="-122"/>
                </a:rPr>
                <a:t> = y, </a:t>
              </a:r>
              <a:r>
                <a:rPr kumimoji="0" lang="en-US" altLang="zh-CN" sz="1600" b="1" i="0" u="none" strike="noStrike" kern="0" cap="none" spc="0" normalizeH="0" baseline="0" noProof="0" dirty="0" err="1">
                  <a:ln>
                    <a:noFill/>
                  </a:ln>
                  <a:solidFill>
                    <a:srgbClr val="3333CC"/>
                  </a:solidFill>
                  <a:effectLst/>
                  <a:uLnTx/>
                  <a:uFillTx/>
                  <a:latin typeface="+mn-lt"/>
                  <a:ea typeface="黑体" pitchFamily="2" charset="-122"/>
                </a:rPr>
                <a:t>ack</a:t>
              </a:r>
              <a:r>
                <a:rPr kumimoji="0" lang="en-US" altLang="zh-CN" sz="1600" b="1" i="0" u="none" strike="noStrike" kern="0" cap="none" spc="0" normalizeH="0" baseline="0" noProof="0" dirty="0">
                  <a:ln>
                    <a:noFill/>
                  </a:ln>
                  <a:solidFill>
                    <a:srgbClr val="3333CC"/>
                  </a:solidFill>
                  <a:effectLst/>
                  <a:uLnTx/>
                  <a:uFillTx/>
                  <a:latin typeface="+mn-lt"/>
                  <a:ea typeface="黑体" pitchFamily="2" charset="-122"/>
                </a:rPr>
                <a:t>= x </a:t>
              </a:r>
              <a:r>
                <a:rPr kumimoji="0" lang="en-US" altLang="zh-CN" sz="1600" b="1" i="0" u="none" strike="noStrike" kern="0" cap="none" spc="0" normalizeH="0" baseline="0" noProof="0" dirty="0">
                  <a:ln>
                    <a:noFill/>
                  </a:ln>
                  <a:solidFill>
                    <a:srgbClr val="3333CC"/>
                  </a:solidFill>
                  <a:effectLst/>
                  <a:uLnTx/>
                  <a:uFillTx/>
                  <a:latin typeface="+mn-lt"/>
                  <a:ea typeface="黑体" pitchFamily="2" charset="-122"/>
                  <a:sym typeface="Symbol" pitchFamily="18" charset="2"/>
                </a:rPr>
                <a:t> 1</a:t>
              </a:r>
              <a:endParaRPr kumimoji="0" lang="en-US" altLang="zh-CN" sz="1600" b="1" i="0" u="none" strike="noStrike" kern="0" cap="none" spc="0" normalizeH="0" baseline="0" noProof="0" dirty="0">
                <a:ln>
                  <a:noFill/>
                </a:ln>
                <a:solidFill>
                  <a:srgbClr val="3333CC"/>
                </a:solidFill>
                <a:effectLst/>
                <a:uLnTx/>
                <a:uFillTx/>
                <a:latin typeface="+mn-lt"/>
                <a:ea typeface="黑体" pitchFamily="2" charset="-122"/>
              </a:endParaRPr>
            </a:p>
          </p:txBody>
        </p:sp>
      </p:grpSp>
      <p:sp>
        <p:nvSpPr>
          <p:cNvPr id="49" name="Text Box 48"/>
          <p:cNvSpPr txBox="1">
            <a:spLocks noChangeArrowheads="1"/>
          </p:cNvSpPr>
          <p:nvPr/>
        </p:nvSpPr>
        <p:spPr bwMode="auto">
          <a:xfrm>
            <a:off x="992559" y="116632"/>
            <a:ext cx="8041781" cy="646331"/>
          </a:xfrm>
          <a:prstGeom prst="rect">
            <a:avLst/>
          </a:prstGeom>
          <a:solidFill>
            <a:srgbClr val="FFFF99"/>
          </a:solidFill>
          <a:ln w="9525">
            <a:solidFill>
              <a:srgbClr val="3333CC"/>
            </a:solidFill>
            <a:miter lim="800000"/>
            <a:headEnd/>
            <a:tailEnd/>
          </a:ln>
          <a:effectLst>
            <a:outerShdw dist="35921" dir="2700000" algn="ctr" rotWithShape="0">
              <a:srgbClr val="1C1C1C"/>
            </a:outerShdw>
          </a:effectLst>
        </p:spPr>
        <p:txBody>
          <a:bodyPr wrap="squar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600" b="1" i="0" u="none" strike="noStrike" kern="0" cap="none" spc="0" normalizeH="0" baseline="0" noProof="0" dirty="0">
                <a:ln>
                  <a:noFill/>
                </a:ln>
                <a:solidFill>
                  <a:srgbClr val="000099"/>
                </a:solidFill>
                <a:effectLst/>
                <a:uLnTx/>
                <a:uFillTx/>
                <a:latin typeface="Arial" pitchFamily="34" charset="0"/>
                <a:ea typeface="黑体" pitchFamily="2" charset="-122"/>
              </a:rPr>
              <a:t>TCP </a:t>
            </a:r>
            <a:r>
              <a:rPr kumimoji="0" lang="zh-CN" altLang="en-US" sz="3600" b="1" i="0" u="none" strike="noStrike" kern="0" cap="none" spc="0" normalizeH="0" baseline="0" noProof="0" dirty="0">
                <a:ln>
                  <a:noFill/>
                </a:ln>
                <a:solidFill>
                  <a:srgbClr val="000099"/>
                </a:solidFill>
                <a:effectLst/>
                <a:uLnTx/>
                <a:uFillTx/>
                <a:latin typeface="Arial" pitchFamily="34" charset="0"/>
                <a:ea typeface="黑体" pitchFamily="2" charset="-122"/>
              </a:rPr>
              <a:t>的连接建立：</a:t>
            </a:r>
            <a:r>
              <a:rPr kumimoji="0" lang="zh-CN" altLang="en-US" sz="3600" kern="0" dirty="0">
                <a:solidFill>
                  <a:srgbClr val="000099"/>
                </a:solidFill>
                <a:latin typeface="Arial" pitchFamily="34" charset="0"/>
                <a:ea typeface="黑体" pitchFamily="2" charset="-122"/>
              </a:rPr>
              <a:t>采用</a:t>
            </a:r>
            <a:r>
              <a:rPr kumimoji="0" lang="zh-CN" altLang="zh-CN" sz="3600" kern="0" dirty="0">
                <a:solidFill>
                  <a:srgbClr val="FF0000"/>
                </a:solidFill>
                <a:latin typeface="Arial" pitchFamily="34" charset="0"/>
                <a:ea typeface="黑体" pitchFamily="2" charset="-122"/>
              </a:rPr>
              <a:t>三报文握手</a:t>
            </a:r>
            <a:endParaRPr kumimoji="0" lang="zh-CN" altLang="en-US" sz="3600" kern="0" dirty="0">
              <a:solidFill>
                <a:srgbClr val="FF0000"/>
              </a:solidFill>
              <a:latin typeface="Arial" pitchFamily="34" charset="0"/>
              <a:ea typeface="黑体" pitchFamily="2" charset="-122"/>
            </a:endParaRPr>
          </a:p>
        </p:txBody>
      </p:sp>
    </p:spTree>
    <p:extLst>
      <p:ext uri="{BB962C8B-B14F-4D97-AF65-F5344CB8AC3E}">
        <p14:creationId xmlns:p14="http://schemas.microsoft.com/office/powerpoint/2010/main" val="13735377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连接管理</a:t>
            </a:r>
            <a:r>
              <a:rPr lang="zh-CN" altLang="en-US" dirty="0"/>
              <a:t>：</a:t>
            </a:r>
            <a:r>
              <a:rPr lang="zh-CN" altLang="zh-CN" dirty="0"/>
              <a:t>连接释放</a:t>
            </a:r>
            <a:endParaRPr lang="zh-CN" altLang="en-US" dirty="0"/>
          </a:p>
        </p:txBody>
      </p:sp>
      <p:sp>
        <p:nvSpPr>
          <p:cNvPr id="3" name="内容占位符 2"/>
          <p:cNvSpPr>
            <a:spLocks noGrp="1"/>
          </p:cNvSpPr>
          <p:nvPr>
            <p:ph idx="1"/>
          </p:nvPr>
        </p:nvSpPr>
        <p:spPr/>
        <p:txBody>
          <a:bodyPr/>
          <a:lstStyle/>
          <a:p>
            <a:r>
              <a:rPr lang="en-US" altLang="zh-CN" dirty="0"/>
              <a:t>TCP </a:t>
            </a:r>
            <a:r>
              <a:rPr lang="zh-CN" altLang="zh-CN" dirty="0"/>
              <a:t>连接释放过程比较复杂</a:t>
            </a:r>
            <a:r>
              <a:rPr lang="zh-CN" altLang="en-US" dirty="0"/>
              <a:t>。</a:t>
            </a:r>
            <a:endParaRPr lang="en-US" altLang="zh-CN" dirty="0"/>
          </a:p>
          <a:p>
            <a:r>
              <a:rPr lang="zh-CN" altLang="zh-CN" dirty="0"/>
              <a:t>数据传输结束后，通信的双方都可释放连接。</a:t>
            </a:r>
            <a:endParaRPr lang="en-US" altLang="zh-CN" dirty="0"/>
          </a:p>
          <a:p>
            <a:r>
              <a:rPr lang="en-US" altLang="zh-CN" dirty="0"/>
              <a:t>TCP </a:t>
            </a:r>
            <a:r>
              <a:rPr lang="zh-CN" altLang="zh-CN" dirty="0"/>
              <a:t>连接释放过程是</a:t>
            </a:r>
            <a:r>
              <a:rPr lang="zh-CN" altLang="zh-CN" dirty="0">
                <a:solidFill>
                  <a:srgbClr val="FF0000"/>
                </a:solidFill>
              </a:rPr>
              <a:t>四报文握手。</a:t>
            </a:r>
            <a:endParaRPr lang="en-US" altLang="zh-CN" dirty="0">
              <a:solidFill>
                <a:srgbClr val="FF0000"/>
              </a:solidFill>
            </a:endParaRPr>
          </a:p>
          <a:p>
            <a:endParaRPr lang="zh-CN" altLang="en-US" dirty="0"/>
          </a:p>
        </p:txBody>
      </p:sp>
    </p:spTree>
    <p:extLst>
      <p:ext uri="{BB962C8B-B14F-4D97-AF65-F5344CB8AC3E}">
        <p14:creationId xmlns:p14="http://schemas.microsoft.com/office/powerpoint/2010/main" val="26932601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2"/>
          <p:cNvGrpSpPr>
            <a:grpSpLocks/>
          </p:cNvGrpSpPr>
          <p:nvPr/>
        </p:nvGrpSpPr>
        <p:grpSpPr bwMode="auto">
          <a:xfrm>
            <a:off x="2880494" y="2349500"/>
            <a:ext cx="4248150" cy="4062413"/>
            <a:chOff x="1474" y="1888"/>
            <a:chExt cx="2676" cy="2432"/>
          </a:xfrm>
        </p:grpSpPr>
        <p:sp>
          <p:nvSpPr>
            <p:cNvPr id="7" name="Line 3"/>
            <p:cNvSpPr>
              <a:spLocks noChangeShapeType="1"/>
            </p:cNvSpPr>
            <p:nvPr/>
          </p:nvSpPr>
          <p:spPr bwMode="auto">
            <a:xfrm>
              <a:off x="1474" y="1888"/>
              <a:ext cx="0" cy="2432"/>
            </a:xfrm>
            <a:prstGeom prst="line">
              <a:avLst/>
            </a:prstGeom>
            <a:noFill/>
            <a:ln w="28575">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itchFamily="2" charset="-122"/>
              </a:endParaRPr>
            </a:p>
          </p:txBody>
        </p:sp>
        <p:sp>
          <p:nvSpPr>
            <p:cNvPr id="8" name="Line 4"/>
            <p:cNvSpPr>
              <a:spLocks noChangeShapeType="1"/>
            </p:cNvSpPr>
            <p:nvPr/>
          </p:nvSpPr>
          <p:spPr bwMode="auto">
            <a:xfrm>
              <a:off x="4150" y="1888"/>
              <a:ext cx="0" cy="2432"/>
            </a:xfrm>
            <a:prstGeom prst="line">
              <a:avLst/>
            </a:prstGeom>
            <a:noFill/>
            <a:ln w="28575">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itchFamily="2" charset="-122"/>
              </a:endParaRPr>
            </a:p>
          </p:txBody>
        </p:sp>
      </p:grpSp>
      <p:sp>
        <p:nvSpPr>
          <p:cNvPr id="9" name="AutoShape 5"/>
          <p:cNvSpPr>
            <a:spLocks noChangeArrowheads="1"/>
          </p:cNvSpPr>
          <p:nvPr/>
        </p:nvSpPr>
        <p:spPr bwMode="auto">
          <a:xfrm>
            <a:off x="3866331" y="1863725"/>
            <a:ext cx="2384425" cy="252413"/>
          </a:xfrm>
          <a:prstGeom prst="leftRightArrow">
            <a:avLst>
              <a:gd name="adj1" fmla="val 55880"/>
              <a:gd name="adj2" fmla="val 108285"/>
            </a:avLst>
          </a:prstGeom>
          <a:solidFill>
            <a:srgbClr val="FF0000"/>
          </a:solidFill>
          <a:ln w="12700"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itchFamily="2" charset="-122"/>
            </a:endParaRPr>
          </a:p>
        </p:txBody>
      </p:sp>
      <p:grpSp>
        <p:nvGrpSpPr>
          <p:cNvPr id="10" name="Group 6"/>
          <p:cNvGrpSpPr>
            <a:grpSpLocks/>
          </p:cNvGrpSpPr>
          <p:nvPr/>
        </p:nvGrpSpPr>
        <p:grpSpPr bwMode="auto">
          <a:xfrm>
            <a:off x="2932881" y="2355850"/>
            <a:ext cx="4133850" cy="768350"/>
            <a:chOff x="1614" y="1484"/>
            <a:chExt cx="2604" cy="484"/>
          </a:xfrm>
        </p:grpSpPr>
        <p:sp>
          <p:nvSpPr>
            <p:cNvPr id="11" name="Rectangle 7"/>
            <p:cNvSpPr>
              <a:spLocks noChangeArrowheads="1"/>
            </p:cNvSpPr>
            <p:nvPr/>
          </p:nvSpPr>
          <p:spPr bwMode="auto">
            <a:xfrm rot="597975">
              <a:off x="2449" y="1520"/>
              <a:ext cx="129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2000" b="1" i="0" u="none" strike="noStrike" kern="0" cap="none" spc="0" normalizeH="0" baseline="0" noProof="0">
                  <a:ln>
                    <a:noFill/>
                  </a:ln>
                  <a:solidFill>
                    <a:srgbClr val="3333CC"/>
                  </a:solidFill>
                  <a:effectLst/>
                  <a:uLnTx/>
                  <a:uFillTx/>
                  <a:latin typeface="+mn-lt"/>
                  <a:ea typeface="黑体" pitchFamily="2" charset="-122"/>
                </a:rPr>
                <a:t>FIN = 1, seq = u</a:t>
              </a:r>
            </a:p>
          </p:txBody>
        </p:sp>
        <p:sp>
          <p:nvSpPr>
            <p:cNvPr id="12" name="Line 8"/>
            <p:cNvSpPr>
              <a:spLocks noChangeShapeType="1"/>
            </p:cNvSpPr>
            <p:nvPr/>
          </p:nvSpPr>
          <p:spPr bwMode="auto">
            <a:xfrm>
              <a:off x="1614" y="1484"/>
              <a:ext cx="2604" cy="484"/>
            </a:xfrm>
            <a:prstGeom prst="line">
              <a:avLst/>
            </a:prstGeom>
            <a:noFill/>
            <a:ln w="3810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itchFamily="2" charset="-122"/>
              </a:endParaRPr>
            </a:p>
          </p:txBody>
        </p:sp>
      </p:grpSp>
      <p:sp>
        <p:nvSpPr>
          <p:cNvPr id="13" name="Rectangle 9"/>
          <p:cNvSpPr>
            <a:spLocks noChangeArrowheads="1"/>
          </p:cNvSpPr>
          <p:nvPr/>
        </p:nvSpPr>
        <p:spPr bwMode="auto">
          <a:xfrm>
            <a:off x="1977206" y="1611313"/>
            <a:ext cx="954088" cy="673100"/>
          </a:xfrm>
          <a:prstGeom prst="rect">
            <a:avLst/>
          </a:prstGeom>
          <a:solidFill>
            <a:srgbClr val="CCFF99"/>
          </a:solidFill>
          <a:ln>
            <a:noFill/>
          </a:ln>
          <a:effectLst>
            <a:outerShdw dist="35921" dir="2700000" algn="ctr" rotWithShape="0">
              <a:srgbClr val="1C1C1C"/>
            </a:outerShdw>
          </a:effectLst>
          <a:extLst>
            <a:ext uri="{91240B29-F687-4F45-9708-019B960494DF}">
              <a14:hiddenLine xmlns:a14="http://schemas.microsoft.com/office/drawing/2010/main" w="12700" algn="ctr">
                <a:solidFill>
                  <a:schemeClr val="tx1"/>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itchFamily="2" charset="-122"/>
            </a:endParaRPr>
          </a:p>
        </p:txBody>
      </p:sp>
      <p:sp>
        <p:nvSpPr>
          <p:cNvPr id="14" name="Rectangle 10"/>
          <p:cNvSpPr>
            <a:spLocks noChangeArrowheads="1"/>
          </p:cNvSpPr>
          <p:nvPr/>
        </p:nvSpPr>
        <p:spPr bwMode="auto">
          <a:xfrm>
            <a:off x="7063556" y="1611313"/>
            <a:ext cx="955675" cy="1479550"/>
          </a:xfrm>
          <a:prstGeom prst="rect">
            <a:avLst/>
          </a:prstGeom>
          <a:solidFill>
            <a:srgbClr val="CCFF99"/>
          </a:solidFill>
          <a:ln>
            <a:noFill/>
          </a:ln>
          <a:effectLst>
            <a:outerShdw dist="35921" dir="2700000" algn="ctr" rotWithShape="0">
              <a:srgbClr val="1C1C1C"/>
            </a:outerShdw>
          </a:effectLst>
          <a:extLst>
            <a:ext uri="{91240B29-F687-4F45-9708-019B960494DF}">
              <a14:hiddenLine xmlns:a14="http://schemas.microsoft.com/office/drawing/2010/main" w="12700" algn="ctr">
                <a:solidFill>
                  <a:schemeClr val="tx1"/>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itchFamily="2" charset="-122"/>
            </a:endParaRPr>
          </a:p>
        </p:txBody>
      </p:sp>
      <p:grpSp>
        <p:nvGrpSpPr>
          <p:cNvPr id="15" name="Group 11"/>
          <p:cNvGrpSpPr>
            <a:grpSpLocks/>
          </p:cNvGrpSpPr>
          <p:nvPr/>
        </p:nvGrpSpPr>
        <p:grpSpPr bwMode="auto">
          <a:xfrm>
            <a:off x="1878781" y="1528763"/>
            <a:ext cx="6278563" cy="82550"/>
            <a:chOff x="1020" y="481"/>
            <a:chExt cx="4037" cy="46"/>
          </a:xfrm>
        </p:grpSpPr>
        <p:sp>
          <p:nvSpPr>
            <p:cNvPr id="16" name="Line 12"/>
            <p:cNvSpPr>
              <a:spLocks noChangeShapeType="1"/>
            </p:cNvSpPr>
            <p:nvPr/>
          </p:nvSpPr>
          <p:spPr bwMode="auto">
            <a:xfrm>
              <a:off x="1020" y="527"/>
              <a:ext cx="4037" cy="0"/>
            </a:xfrm>
            <a:prstGeom prst="line">
              <a:avLst/>
            </a:prstGeom>
            <a:noFill/>
            <a:ln w="12700">
              <a:solidFill>
                <a:srgbClr val="3333CC"/>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itchFamily="2" charset="-122"/>
              </a:endParaRPr>
            </a:p>
          </p:txBody>
        </p:sp>
        <p:sp>
          <p:nvSpPr>
            <p:cNvPr id="17" name="Line 13"/>
            <p:cNvSpPr>
              <a:spLocks noChangeShapeType="1"/>
            </p:cNvSpPr>
            <p:nvPr/>
          </p:nvSpPr>
          <p:spPr bwMode="auto">
            <a:xfrm>
              <a:off x="1020" y="481"/>
              <a:ext cx="4037" cy="0"/>
            </a:xfrm>
            <a:prstGeom prst="line">
              <a:avLst/>
            </a:prstGeom>
            <a:noFill/>
            <a:ln w="12700">
              <a:solidFill>
                <a:srgbClr val="3333CC"/>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itchFamily="2" charset="-122"/>
              </a:endParaRPr>
            </a:p>
          </p:txBody>
        </p:sp>
      </p:grpSp>
      <p:grpSp>
        <p:nvGrpSpPr>
          <p:cNvPr id="19" name="Group 15"/>
          <p:cNvGrpSpPr>
            <a:grpSpLocks/>
          </p:cNvGrpSpPr>
          <p:nvPr/>
        </p:nvGrpSpPr>
        <p:grpSpPr bwMode="auto">
          <a:xfrm>
            <a:off x="869131" y="1257300"/>
            <a:ext cx="1403350" cy="1082675"/>
            <a:chOff x="314" y="792"/>
            <a:chExt cx="884" cy="682"/>
          </a:xfrm>
        </p:grpSpPr>
        <p:sp>
          <p:nvSpPr>
            <p:cNvPr id="20" name="Freeform 16"/>
            <p:cNvSpPr>
              <a:spLocks/>
            </p:cNvSpPr>
            <p:nvPr/>
          </p:nvSpPr>
          <p:spPr bwMode="auto">
            <a:xfrm>
              <a:off x="349" y="792"/>
              <a:ext cx="849" cy="682"/>
            </a:xfrm>
            <a:custGeom>
              <a:avLst/>
              <a:gdLst>
                <a:gd name="T0" fmla="*/ 849 w 769"/>
                <a:gd name="T1" fmla="*/ 0 h 584"/>
                <a:gd name="T2" fmla="*/ 0 w 769"/>
                <a:gd name="T3" fmla="*/ 11 h 584"/>
                <a:gd name="T4" fmla="*/ 0 w 769"/>
                <a:gd name="T5" fmla="*/ 682 h 584"/>
                <a:gd name="T6" fmla="*/ 666 w 769"/>
                <a:gd name="T7" fmla="*/ 682 h 58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69" h="584">
                  <a:moveTo>
                    <a:pt x="769" y="0"/>
                  </a:moveTo>
                  <a:lnTo>
                    <a:pt x="0" y="9"/>
                  </a:lnTo>
                  <a:lnTo>
                    <a:pt x="0" y="584"/>
                  </a:lnTo>
                  <a:lnTo>
                    <a:pt x="603" y="584"/>
                  </a:lnTo>
                </a:path>
              </a:pathLst>
            </a:custGeom>
            <a:noFill/>
            <a:ln w="28575" cap="flat" cmpd="sng">
              <a:solidFill>
                <a:srgbClr val="3333CC"/>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itchFamily="2" charset="-122"/>
              </a:endParaRPr>
            </a:p>
          </p:txBody>
        </p:sp>
        <p:sp>
          <p:nvSpPr>
            <p:cNvPr id="21" name="Rectangle 17"/>
            <p:cNvSpPr>
              <a:spLocks noChangeArrowheads="1"/>
            </p:cNvSpPr>
            <p:nvPr/>
          </p:nvSpPr>
          <p:spPr bwMode="auto">
            <a:xfrm>
              <a:off x="314" y="1227"/>
              <a:ext cx="701"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800" b="1" i="0" u="none" strike="noStrike" kern="0" cap="none" spc="0" normalizeH="0" baseline="0" noProof="0" dirty="0">
                  <a:ln>
                    <a:noFill/>
                  </a:ln>
                  <a:solidFill>
                    <a:srgbClr val="3333CC"/>
                  </a:solidFill>
                  <a:effectLst/>
                  <a:uLnTx/>
                  <a:uFillTx/>
                  <a:latin typeface="+mn-lt"/>
                  <a:ea typeface="黑体" pitchFamily="2" charset="-122"/>
                </a:rPr>
                <a:t>主动关闭</a:t>
              </a:r>
            </a:p>
          </p:txBody>
        </p:sp>
      </p:grpSp>
      <p:sp>
        <p:nvSpPr>
          <p:cNvPr id="22" name="Rectangle 18"/>
          <p:cNvSpPr>
            <a:spLocks noChangeArrowheads="1"/>
          </p:cNvSpPr>
          <p:nvPr/>
        </p:nvSpPr>
        <p:spPr bwMode="auto">
          <a:xfrm>
            <a:off x="4501331" y="1778000"/>
            <a:ext cx="1215077" cy="397545"/>
          </a:xfrm>
          <a:prstGeom prst="rect">
            <a:avLst/>
          </a:prstGeom>
          <a:solidFill>
            <a:srgbClr val="CCECFF"/>
          </a:solidFill>
          <a:ln w="38100" cmpd="dbl" algn="ctr">
            <a:solidFill>
              <a:srgbClr val="3333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2000" b="1" i="0" u="none" strike="noStrike" kern="0" cap="none" spc="0" normalizeH="0" baseline="0" noProof="0">
                <a:ln>
                  <a:noFill/>
                </a:ln>
                <a:solidFill>
                  <a:srgbClr val="3333CC"/>
                </a:solidFill>
                <a:effectLst/>
                <a:uLnTx/>
                <a:uFillTx/>
                <a:latin typeface="+mn-lt"/>
                <a:ea typeface="黑体" pitchFamily="2" charset="-122"/>
              </a:rPr>
              <a:t>数据传送</a:t>
            </a:r>
          </a:p>
        </p:txBody>
      </p:sp>
      <p:sp>
        <p:nvSpPr>
          <p:cNvPr id="23" name="Rectangle 19"/>
          <p:cNvSpPr>
            <a:spLocks noChangeArrowheads="1"/>
          </p:cNvSpPr>
          <p:nvPr/>
        </p:nvSpPr>
        <p:spPr bwMode="auto">
          <a:xfrm>
            <a:off x="1958156" y="1622425"/>
            <a:ext cx="1041953"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800" b="1" i="0" u="none" strike="noStrike" kern="0" cap="none" spc="0" normalizeH="0" baseline="0" noProof="0">
                <a:ln>
                  <a:noFill/>
                </a:ln>
                <a:solidFill>
                  <a:srgbClr val="3333CC"/>
                </a:solidFill>
                <a:effectLst/>
                <a:uLnTx/>
                <a:uFillTx/>
                <a:latin typeface="+mn-lt"/>
                <a:ea typeface="黑体" pitchFamily="2" charset="-122"/>
              </a:rPr>
              <a:t>ESTAB-</a:t>
            </a:r>
          </a:p>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800" b="1" i="0" u="none" strike="noStrike" kern="0" cap="none" spc="0" normalizeH="0" baseline="0" noProof="0">
                <a:ln>
                  <a:noFill/>
                </a:ln>
                <a:solidFill>
                  <a:srgbClr val="3333CC"/>
                </a:solidFill>
                <a:effectLst/>
                <a:uLnTx/>
                <a:uFillTx/>
                <a:latin typeface="+mn-lt"/>
                <a:ea typeface="黑体" pitchFamily="2" charset="-122"/>
              </a:rPr>
              <a:t>LISHED</a:t>
            </a:r>
          </a:p>
        </p:txBody>
      </p:sp>
      <p:sp>
        <p:nvSpPr>
          <p:cNvPr id="24" name="Rectangle 20"/>
          <p:cNvSpPr>
            <a:spLocks noChangeArrowheads="1"/>
          </p:cNvSpPr>
          <p:nvPr/>
        </p:nvSpPr>
        <p:spPr bwMode="auto">
          <a:xfrm>
            <a:off x="7044506" y="2058988"/>
            <a:ext cx="1041953"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800" b="1" i="0" u="none" strike="noStrike" kern="0" cap="none" spc="0" normalizeH="0" baseline="0" noProof="0">
                <a:ln>
                  <a:noFill/>
                </a:ln>
                <a:solidFill>
                  <a:srgbClr val="3333CC"/>
                </a:solidFill>
                <a:effectLst/>
                <a:uLnTx/>
                <a:uFillTx/>
                <a:latin typeface="+mn-lt"/>
                <a:ea typeface="黑体" pitchFamily="2" charset="-122"/>
              </a:rPr>
              <a:t>ESTAB-</a:t>
            </a:r>
          </a:p>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800" b="1" i="0" u="none" strike="noStrike" kern="0" cap="none" spc="0" normalizeH="0" baseline="0" noProof="0">
                <a:ln>
                  <a:noFill/>
                </a:ln>
                <a:solidFill>
                  <a:srgbClr val="3333CC"/>
                </a:solidFill>
                <a:effectLst/>
                <a:uLnTx/>
                <a:uFillTx/>
                <a:latin typeface="+mn-lt"/>
                <a:ea typeface="黑体" pitchFamily="2" charset="-122"/>
              </a:rPr>
              <a:t>LISHED</a:t>
            </a:r>
          </a:p>
        </p:txBody>
      </p:sp>
      <p:pic>
        <p:nvPicPr>
          <p:cNvPr id="25" name="Picture 21"/>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202631" y="969963"/>
            <a:ext cx="504825" cy="496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6" name="Picture 22"/>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288981" y="969963"/>
            <a:ext cx="504825" cy="496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7" name="Rectangle 23"/>
          <p:cNvSpPr>
            <a:spLocks noChangeArrowheads="1"/>
          </p:cNvSpPr>
          <p:nvPr/>
        </p:nvSpPr>
        <p:spPr bwMode="auto">
          <a:xfrm>
            <a:off x="2593156" y="938213"/>
            <a:ext cx="349456"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800" b="1" i="0" u="none" strike="noStrike" kern="0" cap="none" spc="0" normalizeH="0" baseline="0" noProof="0">
                <a:ln>
                  <a:noFill/>
                </a:ln>
                <a:solidFill>
                  <a:srgbClr val="3333CC"/>
                </a:solidFill>
                <a:effectLst/>
                <a:uLnTx/>
                <a:uFillTx/>
                <a:latin typeface="+mn-lt"/>
                <a:ea typeface="黑体" pitchFamily="2" charset="-122"/>
              </a:rPr>
              <a:t>A</a:t>
            </a:r>
          </a:p>
        </p:txBody>
      </p:sp>
      <p:sp>
        <p:nvSpPr>
          <p:cNvPr id="28" name="Rectangle 24"/>
          <p:cNvSpPr>
            <a:spLocks noChangeArrowheads="1"/>
          </p:cNvSpPr>
          <p:nvPr/>
        </p:nvSpPr>
        <p:spPr bwMode="auto">
          <a:xfrm>
            <a:off x="7093719" y="938213"/>
            <a:ext cx="349456"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800" b="1" i="0" u="none" strike="noStrike" kern="0" cap="none" spc="0" normalizeH="0" baseline="0" noProof="0">
                <a:ln>
                  <a:noFill/>
                </a:ln>
                <a:solidFill>
                  <a:srgbClr val="3333CC"/>
                </a:solidFill>
                <a:effectLst/>
                <a:uLnTx/>
                <a:uFillTx/>
                <a:latin typeface="+mn-lt"/>
                <a:ea typeface="黑体" pitchFamily="2" charset="-122"/>
              </a:rPr>
              <a:t>B</a:t>
            </a:r>
          </a:p>
        </p:txBody>
      </p:sp>
      <p:sp>
        <p:nvSpPr>
          <p:cNvPr id="29" name="Rectangle 25"/>
          <p:cNvSpPr>
            <a:spLocks noChangeArrowheads="1"/>
          </p:cNvSpPr>
          <p:nvPr/>
        </p:nvSpPr>
        <p:spPr bwMode="auto">
          <a:xfrm>
            <a:off x="2137544" y="647700"/>
            <a:ext cx="647614"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800" b="1" i="0" u="none" strike="noStrike" kern="0" cap="none" spc="0" normalizeH="0" baseline="0" noProof="0">
                <a:ln>
                  <a:noFill/>
                </a:ln>
                <a:solidFill>
                  <a:srgbClr val="3333CC"/>
                </a:solidFill>
                <a:effectLst/>
                <a:uLnTx/>
                <a:uFillTx/>
                <a:latin typeface="+mn-lt"/>
                <a:ea typeface="黑体" pitchFamily="2" charset="-122"/>
              </a:rPr>
              <a:t>客户</a:t>
            </a:r>
          </a:p>
        </p:txBody>
      </p:sp>
      <p:sp>
        <p:nvSpPr>
          <p:cNvPr id="30" name="Rectangle 26"/>
          <p:cNvSpPr>
            <a:spLocks noChangeArrowheads="1"/>
          </p:cNvSpPr>
          <p:nvPr/>
        </p:nvSpPr>
        <p:spPr bwMode="auto">
          <a:xfrm>
            <a:off x="7104831" y="647700"/>
            <a:ext cx="880050"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800" b="1" i="0" u="none" strike="noStrike" kern="0" cap="none" spc="0" normalizeH="0" baseline="0" noProof="0">
                <a:ln>
                  <a:noFill/>
                </a:ln>
                <a:solidFill>
                  <a:srgbClr val="3333CC"/>
                </a:solidFill>
                <a:effectLst/>
                <a:uLnTx/>
                <a:uFillTx/>
                <a:latin typeface="+mn-lt"/>
                <a:ea typeface="黑体" pitchFamily="2" charset="-122"/>
              </a:rPr>
              <a:t>服务器</a:t>
            </a:r>
          </a:p>
        </p:txBody>
      </p:sp>
      <p:sp>
        <p:nvSpPr>
          <p:cNvPr id="32" name="Text Box 28"/>
          <p:cNvSpPr txBox="1">
            <a:spLocks noChangeArrowheads="1"/>
          </p:cNvSpPr>
          <p:nvPr/>
        </p:nvSpPr>
        <p:spPr bwMode="auto">
          <a:xfrm>
            <a:off x="2855094" y="66675"/>
            <a:ext cx="45021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altLang="zh-CN" sz="3200" b="1" i="0" u="none" strike="noStrike" kern="0" cap="none" spc="0" normalizeH="0" baseline="0" noProof="0">
                <a:ln>
                  <a:noFill/>
                </a:ln>
                <a:solidFill>
                  <a:srgbClr val="3333CC"/>
                </a:solidFill>
                <a:effectLst/>
                <a:uLnTx/>
                <a:uFillTx/>
                <a:latin typeface="Arial" pitchFamily="34" charset="0"/>
                <a:ea typeface="黑体" pitchFamily="2" charset="-122"/>
              </a:rPr>
              <a:t>5.9.2   TCP </a:t>
            </a:r>
            <a:r>
              <a:rPr kumimoji="0" lang="zh-CN" altLang="en-US" sz="3200" b="1" i="0" u="none" strike="noStrike" kern="0" cap="none" spc="0" normalizeH="0" baseline="0" noProof="0">
                <a:ln>
                  <a:noFill/>
                </a:ln>
                <a:solidFill>
                  <a:srgbClr val="3333CC"/>
                </a:solidFill>
                <a:effectLst/>
                <a:uLnTx/>
                <a:uFillTx/>
                <a:latin typeface="Arial" pitchFamily="34" charset="0"/>
                <a:ea typeface="黑体" pitchFamily="2" charset="-122"/>
              </a:rPr>
              <a:t>的连接释放 </a:t>
            </a:r>
          </a:p>
        </p:txBody>
      </p:sp>
      <p:sp>
        <p:nvSpPr>
          <p:cNvPr id="33" name="Text Box 29"/>
          <p:cNvSpPr txBox="1">
            <a:spLocks noChangeArrowheads="1"/>
          </p:cNvSpPr>
          <p:nvPr/>
        </p:nvSpPr>
        <p:spPr bwMode="auto">
          <a:xfrm>
            <a:off x="1263462" y="3727450"/>
            <a:ext cx="7721986" cy="2677656"/>
          </a:xfrm>
          <a:prstGeom prst="rect">
            <a:avLst/>
          </a:prstGeom>
          <a:solidFill>
            <a:srgbClr val="FFFF99"/>
          </a:solidFill>
          <a:ln w="9525">
            <a:solidFill>
              <a:srgbClr val="3333CC"/>
            </a:solidFill>
            <a:miter lim="800000"/>
            <a:headEnd/>
            <a:tailEnd/>
          </a:ln>
          <a:effectLst>
            <a:outerShdw dist="35921" dir="2700000" algn="ctr" rotWithShape="0">
              <a:srgbClr val="1C1C1C"/>
            </a:outerShdw>
          </a:effec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Char char="•"/>
              <a:tabLst/>
              <a:defRPr/>
            </a:pPr>
            <a:r>
              <a:rPr kumimoji="0" lang="en-US" altLang="zh-CN" sz="2800" b="1" i="0" u="none" strike="noStrike" kern="0" cap="none" spc="0" normalizeH="0" baseline="0" noProof="0" dirty="0">
                <a:ln>
                  <a:noFill/>
                </a:ln>
                <a:solidFill>
                  <a:srgbClr val="000099"/>
                </a:solidFill>
                <a:effectLst/>
                <a:uLnTx/>
                <a:uFillTx/>
                <a:latin typeface="Arial" pitchFamily="34" charset="0"/>
                <a:ea typeface="黑体" pitchFamily="2" charset="-122"/>
              </a:rPr>
              <a:t>  </a:t>
            </a:r>
            <a:r>
              <a:rPr kumimoji="0" lang="zh-CN" altLang="en-US" sz="2800" b="1" i="0" u="none" strike="noStrike" kern="0" cap="none" spc="0" normalizeH="0" baseline="0" noProof="0" dirty="0">
                <a:ln>
                  <a:noFill/>
                </a:ln>
                <a:solidFill>
                  <a:srgbClr val="000099"/>
                </a:solidFill>
                <a:effectLst/>
                <a:uLnTx/>
                <a:uFillTx/>
                <a:latin typeface="Arial" pitchFamily="34" charset="0"/>
                <a:ea typeface="黑体" pitchFamily="2" charset="-122"/>
              </a:rPr>
              <a:t>数据传输结束后，通信的双方都可释放连接。</a:t>
            </a:r>
            <a:endParaRPr kumimoji="0" lang="en-US" altLang="zh-CN" sz="2800" b="1" i="0" u="none" strike="noStrike" kern="0" cap="none" spc="0" normalizeH="0" baseline="0" noProof="0" dirty="0">
              <a:ln>
                <a:noFill/>
              </a:ln>
              <a:solidFill>
                <a:srgbClr val="000099"/>
              </a:solidFill>
              <a:effectLst/>
              <a:uLnTx/>
              <a:uFillTx/>
              <a:latin typeface="Arial" pitchFamily="34" charset="0"/>
              <a:ea typeface="黑体" pitchFamily="2" charset="-122"/>
            </a:endParaRPr>
          </a:p>
          <a:p>
            <a:pPr marL="0" marR="0" lvl="0" indent="0" algn="l" defTabSz="914400" eaLnBrk="1" fontAlgn="auto" latinLnBrk="0" hangingPunct="1">
              <a:lnSpc>
                <a:spcPct val="100000"/>
              </a:lnSpc>
              <a:spcBef>
                <a:spcPts val="0"/>
              </a:spcBef>
              <a:spcAft>
                <a:spcPts val="0"/>
              </a:spcAft>
              <a:buClrTx/>
              <a:buSzTx/>
              <a:buFontTx/>
              <a:buChar char="•"/>
              <a:tabLst/>
              <a:defRPr/>
            </a:pPr>
            <a:r>
              <a:rPr kumimoji="0" lang="en-US" altLang="zh-CN" sz="2800" kern="0" dirty="0">
                <a:solidFill>
                  <a:srgbClr val="000099"/>
                </a:solidFill>
                <a:latin typeface="Arial" pitchFamily="34" charset="0"/>
                <a:ea typeface="黑体" pitchFamily="2" charset="-122"/>
              </a:rPr>
              <a:t>  </a:t>
            </a:r>
            <a:r>
              <a:rPr kumimoji="0" lang="zh-CN" altLang="en-US" sz="2800" b="1" i="0" u="none" strike="noStrike" kern="0" cap="none" spc="0" normalizeH="0" baseline="0" noProof="0" dirty="0">
                <a:ln>
                  <a:noFill/>
                </a:ln>
                <a:solidFill>
                  <a:srgbClr val="000099"/>
                </a:solidFill>
                <a:effectLst/>
                <a:uLnTx/>
                <a:uFillTx/>
                <a:latin typeface="Arial" pitchFamily="34" charset="0"/>
                <a:ea typeface="黑体" pitchFamily="2" charset="-122"/>
              </a:rPr>
              <a:t>现在 </a:t>
            </a:r>
            <a:r>
              <a:rPr kumimoji="0" lang="en-US" altLang="zh-CN" sz="2800" b="1" i="0" u="none" strike="noStrike" kern="0" cap="none" spc="0" normalizeH="0" baseline="0" noProof="0" dirty="0">
                <a:ln>
                  <a:noFill/>
                </a:ln>
                <a:solidFill>
                  <a:srgbClr val="000099"/>
                </a:solidFill>
                <a:effectLst/>
                <a:uLnTx/>
                <a:uFillTx/>
                <a:latin typeface="Arial" pitchFamily="34" charset="0"/>
                <a:ea typeface="黑体" pitchFamily="2" charset="-122"/>
              </a:rPr>
              <a:t>A </a:t>
            </a:r>
            <a:r>
              <a:rPr kumimoji="0" lang="zh-CN" altLang="en-US" sz="2800" b="1" i="0" u="none" strike="noStrike" kern="0" cap="none" spc="0" normalizeH="0" baseline="0" noProof="0" dirty="0">
                <a:ln>
                  <a:noFill/>
                </a:ln>
                <a:solidFill>
                  <a:srgbClr val="000099"/>
                </a:solidFill>
                <a:effectLst/>
                <a:uLnTx/>
                <a:uFillTx/>
                <a:latin typeface="Arial" pitchFamily="34" charset="0"/>
                <a:ea typeface="黑体" pitchFamily="2" charset="-122"/>
              </a:rPr>
              <a:t>的应用进程先向其 </a:t>
            </a:r>
            <a:r>
              <a:rPr kumimoji="0" lang="en-US" altLang="zh-CN" sz="2800" b="1" i="0" u="none" strike="noStrike" kern="0" cap="none" spc="0" normalizeH="0" baseline="0" noProof="0" dirty="0">
                <a:ln>
                  <a:noFill/>
                </a:ln>
                <a:solidFill>
                  <a:srgbClr val="000099"/>
                </a:solidFill>
                <a:effectLst/>
                <a:uLnTx/>
                <a:uFillTx/>
                <a:latin typeface="Arial" pitchFamily="34" charset="0"/>
                <a:ea typeface="黑体" pitchFamily="2" charset="-122"/>
              </a:rPr>
              <a:t>TCP </a:t>
            </a:r>
            <a:r>
              <a:rPr kumimoji="0" lang="zh-CN" altLang="en-US" sz="2800" b="1" i="0" u="none" strike="noStrike" kern="0" cap="none" spc="0" normalizeH="0" baseline="0" noProof="0" dirty="0">
                <a:ln>
                  <a:noFill/>
                </a:ln>
                <a:solidFill>
                  <a:srgbClr val="000099"/>
                </a:solidFill>
                <a:effectLst/>
                <a:uLnTx/>
                <a:uFillTx/>
                <a:latin typeface="Arial" pitchFamily="34" charset="0"/>
                <a:ea typeface="黑体" pitchFamily="2" charset="-122"/>
              </a:rPr>
              <a:t>发出连接释放</a:t>
            </a:r>
          </a:p>
          <a:p>
            <a:pPr marL="0" marR="0" lvl="0" indent="0" algn="l" defTabSz="914400" eaLnBrk="1" fontAlgn="auto" latinLnBrk="0" hangingPunct="1">
              <a:lnSpc>
                <a:spcPct val="100000"/>
              </a:lnSpc>
              <a:spcBef>
                <a:spcPts val="0"/>
              </a:spcBef>
              <a:spcAft>
                <a:spcPts val="0"/>
              </a:spcAft>
              <a:buClrTx/>
              <a:buSzTx/>
              <a:buFontTx/>
              <a:buNone/>
              <a:tabLst/>
              <a:defRPr/>
            </a:pPr>
            <a:r>
              <a:rPr kumimoji="0" lang="zh-CN" altLang="en-US" sz="2800" b="1" i="0" u="none" strike="noStrike" kern="0" cap="none" spc="0" normalizeH="0" baseline="0" noProof="0" dirty="0">
                <a:ln>
                  <a:noFill/>
                </a:ln>
                <a:solidFill>
                  <a:srgbClr val="000099"/>
                </a:solidFill>
                <a:effectLst/>
                <a:uLnTx/>
                <a:uFillTx/>
                <a:latin typeface="Arial" pitchFamily="34" charset="0"/>
                <a:ea typeface="黑体" pitchFamily="2" charset="-122"/>
              </a:rPr>
              <a:t>   报文段，并停止再发送数据，主动关闭 </a:t>
            </a:r>
            <a:r>
              <a:rPr kumimoji="0" lang="en-US" altLang="zh-CN" sz="2800" b="1" i="0" u="none" strike="noStrike" kern="0" cap="none" spc="0" normalizeH="0" baseline="0" noProof="0" dirty="0">
                <a:ln>
                  <a:noFill/>
                </a:ln>
                <a:solidFill>
                  <a:srgbClr val="000099"/>
                </a:solidFill>
                <a:effectLst/>
                <a:uLnTx/>
                <a:uFillTx/>
                <a:latin typeface="Arial" pitchFamily="34" charset="0"/>
                <a:ea typeface="黑体" pitchFamily="2" charset="-122"/>
              </a:rPr>
              <a:t>TCP </a:t>
            </a:r>
          </a:p>
          <a:p>
            <a:pPr marL="0" marR="0" lvl="0" indent="0" algn="l" defTabSz="914400" eaLnBrk="1" fontAlgn="auto" latinLnBrk="0" hangingPunct="1">
              <a:lnSpc>
                <a:spcPct val="100000"/>
              </a:lnSpc>
              <a:spcBef>
                <a:spcPts val="0"/>
              </a:spcBef>
              <a:spcAft>
                <a:spcPts val="0"/>
              </a:spcAft>
              <a:buClrTx/>
              <a:buSzTx/>
              <a:buFontTx/>
              <a:buNone/>
              <a:tabLst/>
              <a:defRPr/>
            </a:pPr>
            <a:r>
              <a:rPr kumimoji="0" lang="en-US" altLang="zh-CN" sz="2800" b="1" i="0" u="none" strike="noStrike" kern="0" cap="none" spc="0" normalizeH="0" baseline="0" noProof="0" dirty="0">
                <a:ln>
                  <a:noFill/>
                </a:ln>
                <a:solidFill>
                  <a:srgbClr val="000099"/>
                </a:solidFill>
                <a:effectLst/>
                <a:uLnTx/>
                <a:uFillTx/>
                <a:latin typeface="Arial" pitchFamily="34" charset="0"/>
                <a:ea typeface="黑体" pitchFamily="2" charset="-122"/>
              </a:rPr>
              <a:t>   </a:t>
            </a:r>
            <a:r>
              <a:rPr kumimoji="0" lang="zh-CN" altLang="en-US" sz="2800" b="1" i="0" u="none" strike="noStrike" kern="0" cap="none" spc="0" normalizeH="0" baseline="0" noProof="0" dirty="0">
                <a:ln>
                  <a:noFill/>
                </a:ln>
                <a:solidFill>
                  <a:srgbClr val="000099"/>
                </a:solidFill>
                <a:effectLst/>
                <a:uLnTx/>
                <a:uFillTx/>
                <a:latin typeface="Arial" pitchFamily="34" charset="0"/>
                <a:ea typeface="黑体" pitchFamily="2" charset="-122"/>
              </a:rPr>
              <a:t>连接。</a:t>
            </a:r>
          </a:p>
          <a:p>
            <a:pPr marL="0" marR="0" lvl="0" indent="0" algn="l" defTabSz="914400" eaLnBrk="1" fontAlgn="auto" latinLnBrk="0" hangingPunct="1">
              <a:lnSpc>
                <a:spcPct val="100000"/>
              </a:lnSpc>
              <a:spcBef>
                <a:spcPts val="0"/>
              </a:spcBef>
              <a:spcAft>
                <a:spcPts val="0"/>
              </a:spcAft>
              <a:buClrTx/>
              <a:buSzTx/>
              <a:buFontTx/>
              <a:buChar char="•"/>
              <a:tabLst/>
              <a:defRPr/>
            </a:pPr>
            <a:r>
              <a:rPr kumimoji="0" lang="zh-CN" altLang="en-US" sz="2800" b="1" i="0" u="none" strike="noStrike" kern="0" cap="none" spc="0" normalizeH="0" baseline="0" noProof="0" dirty="0">
                <a:ln>
                  <a:noFill/>
                </a:ln>
                <a:solidFill>
                  <a:srgbClr val="000099"/>
                </a:solidFill>
                <a:effectLst/>
                <a:uLnTx/>
                <a:uFillTx/>
                <a:latin typeface="Arial" pitchFamily="34" charset="0"/>
                <a:ea typeface="黑体" pitchFamily="2" charset="-122"/>
              </a:rPr>
              <a:t>  </a:t>
            </a:r>
            <a:r>
              <a:rPr kumimoji="0" lang="en-US" altLang="zh-CN" sz="2800" b="1" i="0" u="none" strike="noStrike" kern="0" cap="none" spc="0" normalizeH="0" baseline="0" noProof="0" dirty="0">
                <a:ln>
                  <a:noFill/>
                </a:ln>
                <a:solidFill>
                  <a:srgbClr val="000099"/>
                </a:solidFill>
                <a:effectLst/>
                <a:uLnTx/>
                <a:uFillTx/>
                <a:latin typeface="Arial" pitchFamily="34" charset="0"/>
                <a:ea typeface="黑体" pitchFamily="2" charset="-122"/>
              </a:rPr>
              <a:t>A </a:t>
            </a:r>
            <a:r>
              <a:rPr kumimoji="0" lang="zh-CN" altLang="en-US" sz="2800" b="1" i="0" u="none" strike="noStrike" kern="0" cap="none" spc="0" normalizeH="0" baseline="0" noProof="0" dirty="0">
                <a:ln>
                  <a:noFill/>
                </a:ln>
                <a:solidFill>
                  <a:srgbClr val="000099"/>
                </a:solidFill>
                <a:effectLst/>
                <a:uLnTx/>
                <a:uFillTx/>
                <a:latin typeface="Arial" pitchFamily="34" charset="0"/>
                <a:ea typeface="黑体" pitchFamily="2" charset="-122"/>
              </a:rPr>
              <a:t>把连接释放报文段首部的 </a:t>
            </a:r>
            <a:r>
              <a:rPr kumimoji="0" lang="en-US" altLang="zh-CN" sz="2800" b="1" i="0" u="none" strike="noStrike" kern="0" cap="none" spc="0" normalizeH="0" baseline="0" noProof="0" dirty="0">
                <a:ln>
                  <a:noFill/>
                </a:ln>
                <a:solidFill>
                  <a:srgbClr val="000099"/>
                </a:solidFill>
                <a:effectLst/>
                <a:uLnTx/>
                <a:uFillTx/>
                <a:latin typeface="Arial" pitchFamily="34" charset="0"/>
                <a:ea typeface="黑体" pitchFamily="2" charset="-122"/>
              </a:rPr>
              <a:t>FIN = 1</a:t>
            </a:r>
            <a:r>
              <a:rPr kumimoji="0" lang="zh-CN" altLang="en-US" sz="2800" b="1" i="0" u="none" strike="noStrike" kern="0" cap="none" spc="0" normalizeH="0" baseline="0" noProof="0" dirty="0">
                <a:ln>
                  <a:noFill/>
                </a:ln>
                <a:solidFill>
                  <a:srgbClr val="000099"/>
                </a:solidFill>
                <a:effectLst/>
                <a:uLnTx/>
                <a:uFillTx/>
                <a:latin typeface="Arial" pitchFamily="34" charset="0"/>
                <a:ea typeface="黑体" pitchFamily="2" charset="-122"/>
              </a:rPr>
              <a:t>，其序号</a:t>
            </a:r>
          </a:p>
          <a:p>
            <a:pPr marL="0" marR="0" lvl="0" indent="0" algn="l" defTabSz="914400" eaLnBrk="1" fontAlgn="auto" latinLnBrk="0" hangingPunct="1">
              <a:lnSpc>
                <a:spcPct val="100000"/>
              </a:lnSpc>
              <a:spcBef>
                <a:spcPts val="0"/>
              </a:spcBef>
              <a:spcAft>
                <a:spcPts val="0"/>
              </a:spcAft>
              <a:buClrTx/>
              <a:buSzTx/>
              <a:buFontTx/>
              <a:buNone/>
              <a:tabLst/>
              <a:defRPr/>
            </a:pPr>
            <a:r>
              <a:rPr kumimoji="0" lang="zh-CN" altLang="en-US" sz="2800" b="1" i="0" u="none" strike="noStrike" kern="0" cap="none" spc="0" normalizeH="0" baseline="0" noProof="0" dirty="0">
                <a:ln>
                  <a:noFill/>
                </a:ln>
                <a:solidFill>
                  <a:srgbClr val="000099"/>
                </a:solidFill>
                <a:effectLst/>
                <a:uLnTx/>
                <a:uFillTx/>
                <a:latin typeface="Arial" pitchFamily="34" charset="0"/>
                <a:ea typeface="黑体" pitchFamily="2" charset="-122"/>
              </a:rPr>
              <a:t>   </a:t>
            </a:r>
            <a:r>
              <a:rPr kumimoji="0" lang="en-US" altLang="zh-CN" sz="2800" b="1" i="0" u="none" strike="noStrike" kern="0" cap="none" spc="0" normalizeH="0" baseline="0" noProof="0" dirty="0" err="1">
                <a:ln>
                  <a:noFill/>
                </a:ln>
                <a:solidFill>
                  <a:srgbClr val="000099"/>
                </a:solidFill>
                <a:effectLst/>
                <a:uLnTx/>
                <a:uFillTx/>
                <a:latin typeface="Arial" pitchFamily="34" charset="0"/>
                <a:ea typeface="黑体" pitchFamily="2" charset="-122"/>
              </a:rPr>
              <a:t>seq</a:t>
            </a:r>
            <a:r>
              <a:rPr kumimoji="0" lang="en-US" altLang="zh-CN" sz="2800" b="1" i="0" u="none" strike="noStrike" kern="0" cap="none" spc="0" normalizeH="0" baseline="0" noProof="0" dirty="0">
                <a:ln>
                  <a:noFill/>
                </a:ln>
                <a:solidFill>
                  <a:srgbClr val="000099"/>
                </a:solidFill>
                <a:effectLst/>
                <a:uLnTx/>
                <a:uFillTx/>
                <a:latin typeface="Arial" pitchFamily="34" charset="0"/>
                <a:ea typeface="黑体" pitchFamily="2" charset="-122"/>
              </a:rPr>
              <a:t> = u</a:t>
            </a:r>
            <a:r>
              <a:rPr kumimoji="0" lang="zh-CN" altLang="en-US" sz="2800" b="1" i="0" u="none" strike="noStrike" kern="0" cap="none" spc="0" normalizeH="0" baseline="0" noProof="0" dirty="0">
                <a:ln>
                  <a:noFill/>
                </a:ln>
                <a:solidFill>
                  <a:srgbClr val="000099"/>
                </a:solidFill>
                <a:effectLst/>
                <a:uLnTx/>
                <a:uFillTx/>
                <a:latin typeface="Arial" pitchFamily="34" charset="0"/>
                <a:ea typeface="黑体" pitchFamily="2" charset="-122"/>
              </a:rPr>
              <a:t>，等待 </a:t>
            </a:r>
            <a:r>
              <a:rPr kumimoji="0" lang="en-US" altLang="zh-CN" sz="2800" b="1" i="0" u="none" strike="noStrike" kern="0" cap="none" spc="0" normalizeH="0" baseline="0" noProof="0" dirty="0">
                <a:ln>
                  <a:noFill/>
                </a:ln>
                <a:solidFill>
                  <a:srgbClr val="000099"/>
                </a:solidFill>
                <a:effectLst/>
                <a:uLnTx/>
                <a:uFillTx/>
                <a:latin typeface="Arial" pitchFamily="34" charset="0"/>
                <a:ea typeface="黑体" pitchFamily="2" charset="-122"/>
              </a:rPr>
              <a:t>B </a:t>
            </a:r>
            <a:r>
              <a:rPr kumimoji="0" lang="zh-CN" altLang="en-US" sz="2800" b="1" i="0" u="none" strike="noStrike" kern="0" cap="none" spc="0" normalizeH="0" baseline="0" noProof="0" dirty="0">
                <a:ln>
                  <a:noFill/>
                </a:ln>
                <a:solidFill>
                  <a:srgbClr val="000099"/>
                </a:solidFill>
                <a:effectLst/>
                <a:uLnTx/>
                <a:uFillTx/>
                <a:latin typeface="Arial" pitchFamily="34" charset="0"/>
                <a:ea typeface="黑体" pitchFamily="2" charset="-122"/>
              </a:rPr>
              <a:t>的确认。</a:t>
            </a:r>
          </a:p>
        </p:txBody>
      </p:sp>
      <p:sp>
        <p:nvSpPr>
          <p:cNvPr id="34" name="Text Box 30"/>
          <p:cNvSpPr txBox="1">
            <a:spLocks noChangeArrowheads="1"/>
          </p:cNvSpPr>
          <p:nvPr/>
        </p:nvSpPr>
        <p:spPr bwMode="auto">
          <a:xfrm>
            <a:off x="1132656" y="34925"/>
            <a:ext cx="7924800" cy="650875"/>
          </a:xfrm>
          <a:prstGeom prst="rect">
            <a:avLst/>
          </a:prstGeom>
          <a:solidFill>
            <a:srgbClr val="FFFF99"/>
          </a:solidFill>
          <a:ln w="9525">
            <a:solidFill>
              <a:srgbClr val="3333CC"/>
            </a:solidFill>
            <a:miter lim="800000"/>
            <a:headEnd/>
            <a:tailEnd/>
          </a:ln>
          <a:effectLst>
            <a:outerShdw dist="35921" dir="2700000" algn="ctr" rotWithShape="0">
              <a:srgbClr val="1C1C1C"/>
            </a:outerShdw>
          </a:effectLst>
        </p:spPr>
        <p:txBody>
          <a:bodyPr>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3600" b="1" i="0" u="none" strike="noStrike" kern="0" cap="none" spc="0" normalizeH="0" baseline="0" noProof="0" dirty="0">
                <a:ln>
                  <a:noFill/>
                </a:ln>
                <a:solidFill>
                  <a:srgbClr val="333399"/>
                </a:solidFill>
                <a:effectLst/>
                <a:uLnTx/>
                <a:uFillTx/>
                <a:latin typeface="Arial" pitchFamily="34" charset="0"/>
                <a:ea typeface="黑体" pitchFamily="2" charset="-122"/>
              </a:rPr>
              <a:t>TCP </a:t>
            </a:r>
            <a:r>
              <a:rPr kumimoji="0" lang="zh-CN" altLang="en-US" sz="3600" b="1" i="0" u="none" strike="noStrike" kern="0" cap="none" spc="0" normalizeH="0" baseline="0" noProof="0" dirty="0">
                <a:ln>
                  <a:noFill/>
                </a:ln>
                <a:solidFill>
                  <a:srgbClr val="333399"/>
                </a:solidFill>
                <a:effectLst/>
                <a:uLnTx/>
                <a:uFillTx/>
                <a:latin typeface="Arial" pitchFamily="34" charset="0"/>
                <a:ea typeface="黑体" pitchFamily="2" charset="-122"/>
              </a:rPr>
              <a:t>的连接释放：采用</a:t>
            </a:r>
            <a:r>
              <a:rPr kumimoji="0" lang="zh-CN" altLang="zh-CN" sz="3600" kern="0" dirty="0">
                <a:solidFill>
                  <a:srgbClr val="FF0000"/>
                </a:solidFill>
                <a:latin typeface="Arial" pitchFamily="34" charset="0"/>
                <a:ea typeface="黑体" pitchFamily="2" charset="-122"/>
              </a:rPr>
              <a:t>四报文握手</a:t>
            </a:r>
            <a:endParaRPr kumimoji="0" lang="zh-CN" altLang="en-US" sz="3600" kern="0" dirty="0">
              <a:solidFill>
                <a:srgbClr val="FF0000"/>
              </a:solidFill>
              <a:latin typeface="Arial" pitchFamily="34" charset="0"/>
              <a:ea typeface="黑体" pitchFamily="2" charset="-122"/>
            </a:endParaRPr>
          </a:p>
        </p:txBody>
      </p:sp>
    </p:spTree>
    <p:extLst>
      <p:ext uri="{BB962C8B-B14F-4D97-AF65-F5344CB8AC3E}">
        <p14:creationId xmlns:p14="http://schemas.microsoft.com/office/powerpoint/2010/main" val="31998977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1500"/>
                                  </p:stCondLst>
                                  <p:childTnLst>
                                    <p:set>
                                      <p:cBhvr>
                                        <p:cTn id="6" dur="1" fill="hold">
                                          <p:stCondLst>
                                            <p:cond delay="0"/>
                                          </p:stCondLst>
                                        </p:cTn>
                                        <p:tgtEl>
                                          <p:spTgt spid="19"/>
                                        </p:tgtEl>
                                        <p:attrNameLst>
                                          <p:attrName>style.visibility</p:attrName>
                                        </p:attrNameLst>
                                      </p:cBhvr>
                                      <p:to>
                                        <p:strVal val="visible"/>
                                      </p:to>
                                    </p:set>
                                    <p:animEffect transition="in" filter="wipe(up)">
                                      <p:cBhvr>
                                        <p:cTn id="7" dur="1000"/>
                                        <p:tgtEl>
                                          <p:spTgt spid="19"/>
                                        </p:tgtEl>
                                      </p:cBhvr>
                                    </p:animEffect>
                                  </p:childTnLst>
                                </p:cTn>
                              </p:par>
                            </p:childTnLst>
                          </p:cTn>
                        </p:par>
                        <p:par>
                          <p:cTn id="8" fill="hold">
                            <p:stCondLst>
                              <p:cond delay="2500"/>
                            </p:stCondLst>
                            <p:childTnLst>
                              <p:par>
                                <p:cTn id="9" presetID="22" presetClass="entr" presetSubtype="8" fill="hold"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wipe(left)">
                                      <p:cBhvr>
                                        <p:cTn id="11"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2"/>
          <p:cNvGrpSpPr>
            <a:grpSpLocks/>
          </p:cNvGrpSpPr>
          <p:nvPr/>
        </p:nvGrpSpPr>
        <p:grpSpPr bwMode="auto">
          <a:xfrm>
            <a:off x="2891533" y="2349500"/>
            <a:ext cx="4248150" cy="4062413"/>
            <a:chOff x="1474" y="1888"/>
            <a:chExt cx="2676" cy="2432"/>
          </a:xfrm>
        </p:grpSpPr>
        <p:sp>
          <p:nvSpPr>
            <p:cNvPr id="5" name="Line 3"/>
            <p:cNvSpPr>
              <a:spLocks noChangeShapeType="1"/>
            </p:cNvSpPr>
            <p:nvPr/>
          </p:nvSpPr>
          <p:spPr bwMode="auto">
            <a:xfrm>
              <a:off x="1474" y="1888"/>
              <a:ext cx="0" cy="2432"/>
            </a:xfrm>
            <a:prstGeom prst="line">
              <a:avLst/>
            </a:prstGeom>
            <a:noFill/>
            <a:ln w="28575">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itchFamily="2" charset="-122"/>
              </a:endParaRPr>
            </a:p>
          </p:txBody>
        </p:sp>
        <p:sp>
          <p:nvSpPr>
            <p:cNvPr id="6" name="Line 4"/>
            <p:cNvSpPr>
              <a:spLocks noChangeShapeType="1"/>
            </p:cNvSpPr>
            <p:nvPr/>
          </p:nvSpPr>
          <p:spPr bwMode="auto">
            <a:xfrm>
              <a:off x="4150" y="1888"/>
              <a:ext cx="0" cy="2432"/>
            </a:xfrm>
            <a:prstGeom prst="line">
              <a:avLst/>
            </a:prstGeom>
            <a:noFill/>
            <a:ln w="28575">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itchFamily="2" charset="-122"/>
              </a:endParaRPr>
            </a:p>
          </p:txBody>
        </p:sp>
      </p:grpSp>
      <p:sp>
        <p:nvSpPr>
          <p:cNvPr id="7" name="AutoShape 5"/>
          <p:cNvSpPr>
            <a:spLocks noChangeArrowheads="1"/>
          </p:cNvSpPr>
          <p:nvPr/>
        </p:nvSpPr>
        <p:spPr bwMode="auto">
          <a:xfrm>
            <a:off x="3877370" y="1863725"/>
            <a:ext cx="2384425" cy="252413"/>
          </a:xfrm>
          <a:prstGeom prst="leftRightArrow">
            <a:avLst>
              <a:gd name="adj1" fmla="val 55880"/>
              <a:gd name="adj2" fmla="val 108285"/>
            </a:avLst>
          </a:prstGeom>
          <a:solidFill>
            <a:srgbClr val="FF0000"/>
          </a:solidFill>
          <a:ln w="12700"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itchFamily="2" charset="-122"/>
            </a:endParaRPr>
          </a:p>
        </p:txBody>
      </p:sp>
      <p:grpSp>
        <p:nvGrpSpPr>
          <p:cNvPr id="8" name="Group 6"/>
          <p:cNvGrpSpPr>
            <a:grpSpLocks/>
          </p:cNvGrpSpPr>
          <p:nvPr/>
        </p:nvGrpSpPr>
        <p:grpSpPr bwMode="auto">
          <a:xfrm>
            <a:off x="2943920" y="2355850"/>
            <a:ext cx="4133850" cy="768350"/>
            <a:chOff x="1614" y="1484"/>
            <a:chExt cx="2604" cy="484"/>
          </a:xfrm>
        </p:grpSpPr>
        <p:sp>
          <p:nvSpPr>
            <p:cNvPr id="9" name="Rectangle 7"/>
            <p:cNvSpPr>
              <a:spLocks noChangeArrowheads="1"/>
            </p:cNvSpPr>
            <p:nvPr/>
          </p:nvSpPr>
          <p:spPr bwMode="auto">
            <a:xfrm rot="597975">
              <a:off x="2449" y="1520"/>
              <a:ext cx="129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2000" b="1" i="0" u="none" strike="noStrike" kern="0" cap="none" spc="0" normalizeH="0" baseline="0" noProof="0">
                  <a:ln>
                    <a:noFill/>
                  </a:ln>
                  <a:solidFill>
                    <a:srgbClr val="3333CC"/>
                  </a:solidFill>
                  <a:effectLst/>
                  <a:uLnTx/>
                  <a:uFillTx/>
                  <a:latin typeface="+mn-lt"/>
                  <a:ea typeface="黑体" pitchFamily="2" charset="-122"/>
                </a:rPr>
                <a:t>FIN = 1, seq = u</a:t>
              </a:r>
            </a:p>
          </p:txBody>
        </p:sp>
        <p:sp>
          <p:nvSpPr>
            <p:cNvPr id="10" name="Line 8"/>
            <p:cNvSpPr>
              <a:spLocks noChangeShapeType="1"/>
            </p:cNvSpPr>
            <p:nvPr/>
          </p:nvSpPr>
          <p:spPr bwMode="auto">
            <a:xfrm>
              <a:off x="1614" y="1484"/>
              <a:ext cx="2604" cy="484"/>
            </a:xfrm>
            <a:prstGeom prst="line">
              <a:avLst/>
            </a:prstGeom>
            <a:noFill/>
            <a:ln w="3810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itchFamily="2" charset="-122"/>
              </a:endParaRPr>
            </a:p>
          </p:txBody>
        </p:sp>
      </p:grpSp>
      <p:grpSp>
        <p:nvGrpSpPr>
          <p:cNvPr id="11" name="Group 9"/>
          <p:cNvGrpSpPr>
            <a:grpSpLocks/>
          </p:cNvGrpSpPr>
          <p:nvPr/>
        </p:nvGrpSpPr>
        <p:grpSpPr bwMode="auto">
          <a:xfrm>
            <a:off x="2958208" y="3167063"/>
            <a:ext cx="4133850" cy="769937"/>
            <a:chOff x="1623" y="1995"/>
            <a:chExt cx="2604" cy="485"/>
          </a:xfrm>
        </p:grpSpPr>
        <p:sp>
          <p:nvSpPr>
            <p:cNvPr id="12" name="Rectangle 10"/>
            <p:cNvSpPr>
              <a:spLocks noChangeArrowheads="1"/>
            </p:cNvSpPr>
            <p:nvPr/>
          </p:nvSpPr>
          <p:spPr bwMode="auto">
            <a:xfrm rot="20990024" flipH="1">
              <a:off x="1828" y="2020"/>
              <a:ext cx="2033"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tabLst/>
                <a:defRPr/>
              </a:pPr>
              <a:r>
                <a:rPr kumimoji="0" lang="en-US" altLang="zh-CN" sz="1800" b="1" i="0" u="none" strike="noStrike" kern="0" cap="none" spc="0" normalizeH="0" baseline="0" noProof="0">
                  <a:ln>
                    <a:noFill/>
                  </a:ln>
                  <a:solidFill>
                    <a:srgbClr val="3333CC"/>
                  </a:solidFill>
                  <a:effectLst/>
                  <a:uLnTx/>
                  <a:uFillTx/>
                  <a:latin typeface="+mn-lt"/>
                  <a:ea typeface="黑体" pitchFamily="2" charset="-122"/>
                </a:rPr>
                <a:t>ACK = 1, seq = v, ack= u </a:t>
              </a:r>
              <a:r>
                <a:rPr kumimoji="0" lang="en-US" altLang="zh-CN" sz="1800" b="1" i="0" u="none" strike="noStrike" kern="0" cap="none" spc="0" normalizeH="0" baseline="0" noProof="0">
                  <a:ln>
                    <a:noFill/>
                  </a:ln>
                  <a:solidFill>
                    <a:srgbClr val="3333CC"/>
                  </a:solidFill>
                  <a:effectLst/>
                  <a:uLnTx/>
                  <a:uFillTx/>
                  <a:latin typeface="+mn-lt"/>
                  <a:ea typeface="黑体" pitchFamily="2" charset="-122"/>
                  <a:sym typeface="Symbol" pitchFamily="18" charset="2"/>
                </a:rPr>
                <a:t> 1</a:t>
              </a:r>
              <a:endParaRPr kumimoji="0" lang="en-US" altLang="zh-CN" sz="1800" b="1" i="0" u="none" strike="noStrike" kern="0" cap="none" spc="0" normalizeH="0" baseline="0" noProof="0">
                <a:ln>
                  <a:noFill/>
                </a:ln>
                <a:solidFill>
                  <a:srgbClr val="3333CC"/>
                </a:solidFill>
                <a:effectLst/>
                <a:uLnTx/>
                <a:uFillTx/>
                <a:latin typeface="+mn-lt"/>
                <a:ea typeface="黑体" pitchFamily="2" charset="-122"/>
              </a:endParaRPr>
            </a:p>
          </p:txBody>
        </p:sp>
        <p:sp>
          <p:nvSpPr>
            <p:cNvPr id="13" name="Line 11"/>
            <p:cNvSpPr>
              <a:spLocks noChangeShapeType="1"/>
            </p:cNvSpPr>
            <p:nvPr/>
          </p:nvSpPr>
          <p:spPr bwMode="auto">
            <a:xfrm flipH="1">
              <a:off x="1623" y="1995"/>
              <a:ext cx="2604" cy="485"/>
            </a:xfrm>
            <a:prstGeom prst="line">
              <a:avLst/>
            </a:prstGeom>
            <a:noFill/>
            <a:ln w="3810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itchFamily="2" charset="-122"/>
              </a:endParaRPr>
            </a:p>
          </p:txBody>
        </p:sp>
      </p:grpSp>
      <p:sp>
        <p:nvSpPr>
          <p:cNvPr id="14" name="Rectangle 12"/>
          <p:cNvSpPr>
            <a:spLocks noChangeArrowheads="1"/>
          </p:cNvSpPr>
          <p:nvPr/>
        </p:nvSpPr>
        <p:spPr bwMode="auto">
          <a:xfrm>
            <a:off x="1988245" y="1611313"/>
            <a:ext cx="954088" cy="673100"/>
          </a:xfrm>
          <a:prstGeom prst="rect">
            <a:avLst/>
          </a:prstGeom>
          <a:solidFill>
            <a:srgbClr val="CCFF99"/>
          </a:solidFill>
          <a:ln>
            <a:noFill/>
          </a:ln>
          <a:effectLst>
            <a:outerShdw dist="35921" dir="2700000" algn="ctr" rotWithShape="0">
              <a:srgbClr val="1C1C1C"/>
            </a:outerShdw>
          </a:effectLst>
          <a:extLst>
            <a:ext uri="{91240B29-F687-4F45-9708-019B960494DF}">
              <a14:hiddenLine xmlns:a14="http://schemas.microsoft.com/office/drawing/2010/main" w="12700" algn="ctr">
                <a:solidFill>
                  <a:schemeClr val="tx1"/>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itchFamily="2" charset="-122"/>
            </a:endParaRPr>
          </a:p>
        </p:txBody>
      </p:sp>
      <p:sp>
        <p:nvSpPr>
          <p:cNvPr id="15" name="Rectangle 13"/>
          <p:cNvSpPr>
            <a:spLocks noChangeArrowheads="1"/>
          </p:cNvSpPr>
          <p:nvPr/>
        </p:nvSpPr>
        <p:spPr bwMode="auto">
          <a:xfrm>
            <a:off x="7074595" y="1611313"/>
            <a:ext cx="955675" cy="1479550"/>
          </a:xfrm>
          <a:prstGeom prst="rect">
            <a:avLst/>
          </a:prstGeom>
          <a:solidFill>
            <a:srgbClr val="CCFF99"/>
          </a:solidFill>
          <a:ln>
            <a:noFill/>
          </a:ln>
          <a:effectLst>
            <a:outerShdw dist="35921" dir="2700000" algn="ctr" rotWithShape="0">
              <a:srgbClr val="1C1C1C"/>
            </a:outerShdw>
          </a:effectLst>
          <a:extLst>
            <a:ext uri="{91240B29-F687-4F45-9708-019B960494DF}">
              <a14:hiddenLine xmlns:a14="http://schemas.microsoft.com/office/drawing/2010/main" w="12700" algn="ctr">
                <a:solidFill>
                  <a:schemeClr val="tx1"/>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itchFamily="2" charset="-122"/>
            </a:endParaRPr>
          </a:p>
        </p:txBody>
      </p:sp>
      <p:grpSp>
        <p:nvGrpSpPr>
          <p:cNvPr id="16" name="Group 14"/>
          <p:cNvGrpSpPr>
            <a:grpSpLocks/>
          </p:cNvGrpSpPr>
          <p:nvPr/>
        </p:nvGrpSpPr>
        <p:grpSpPr bwMode="auto">
          <a:xfrm>
            <a:off x="1889820" y="1528763"/>
            <a:ext cx="6278563" cy="82550"/>
            <a:chOff x="1020" y="481"/>
            <a:chExt cx="4037" cy="46"/>
          </a:xfrm>
        </p:grpSpPr>
        <p:sp>
          <p:nvSpPr>
            <p:cNvPr id="17" name="Line 15"/>
            <p:cNvSpPr>
              <a:spLocks noChangeShapeType="1"/>
            </p:cNvSpPr>
            <p:nvPr/>
          </p:nvSpPr>
          <p:spPr bwMode="auto">
            <a:xfrm>
              <a:off x="1020" y="527"/>
              <a:ext cx="4037" cy="0"/>
            </a:xfrm>
            <a:prstGeom prst="line">
              <a:avLst/>
            </a:prstGeom>
            <a:noFill/>
            <a:ln w="12700">
              <a:solidFill>
                <a:srgbClr val="3333CC"/>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itchFamily="2" charset="-122"/>
              </a:endParaRPr>
            </a:p>
          </p:txBody>
        </p:sp>
        <p:sp>
          <p:nvSpPr>
            <p:cNvPr id="18" name="Line 16"/>
            <p:cNvSpPr>
              <a:spLocks noChangeShapeType="1"/>
            </p:cNvSpPr>
            <p:nvPr/>
          </p:nvSpPr>
          <p:spPr bwMode="auto">
            <a:xfrm>
              <a:off x="1020" y="481"/>
              <a:ext cx="4037" cy="0"/>
            </a:xfrm>
            <a:prstGeom prst="line">
              <a:avLst/>
            </a:prstGeom>
            <a:noFill/>
            <a:ln w="12700">
              <a:solidFill>
                <a:srgbClr val="3333CC"/>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itchFamily="2" charset="-122"/>
              </a:endParaRPr>
            </a:p>
          </p:txBody>
        </p:sp>
      </p:grpSp>
      <p:grpSp>
        <p:nvGrpSpPr>
          <p:cNvPr id="19" name="Group 17"/>
          <p:cNvGrpSpPr>
            <a:grpSpLocks/>
          </p:cNvGrpSpPr>
          <p:nvPr/>
        </p:nvGrpSpPr>
        <p:grpSpPr bwMode="auto">
          <a:xfrm>
            <a:off x="880170" y="1257300"/>
            <a:ext cx="1403350" cy="1082675"/>
            <a:chOff x="314" y="792"/>
            <a:chExt cx="884" cy="682"/>
          </a:xfrm>
        </p:grpSpPr>
        <p:sp>
          <p:nvSpPr>
            <p:cNvPr id="20" name="Freeform 18"/>
            <p:cNvSpPr>
              <a:spLocks/>
            </p:cNvSpPr>
            <p:nvPr/>
          </p:nvSpPr>
          <p:spPr bwMode="auto">
            <a:xfrm>
              <a:off x="349" y="792"/>
              <a:ext cx="849" cy="682"/>
            </a:xfrm>
            <a:custGeom>
              <a:avLst/>
              <a:gdLst>
                <a:gd name="T0" fmla="*/ 849 w 769"/>
                <a:gd name="T1" fmla="*/ 0 h 584"/>
                <a:gd name="T2" fmla="*/ 0 w 769"/>
                <a:gd name="T3" fmla="*/ 11 h 584"/>
                <a:gd name="T4" fmla="*/ 0 w 769"/>
                <a:gd name="T5" fmla="*/ 682 h 584"/>
                <a:gd name="T6" fmla="*/ 666 w 769"/>
                <a:gd name="T7" fmla="*/ 682 h 58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69" h="584">
                  <a:moveTo>
                    <a:pt x="769" y="0"/>
                  </a:moveTo>
                  <a:lnTo>
                    <a:pt x="0" y="9"/>
                  </a:lnTo>
                  <a:lnTo>
                    <a:pt x="0" y="584"/>
                  </a:lnTo>
                  <a:lnTo>
                    <a:pt x="603" y="584"/>
                  </a:lnTo>
                </a:path>
              </a:pathLst>
            </a:custGeom>
            <a:noFill/>
            <a:ln w="28575" cap="flat" cmpd="sng">
              <a:solidFill>
                <a:srgbClr val="3333CC"/>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itchFamily="2" charset="-122"/>
              </a:endParaRPr>
            </a:p>
          </p:txBody>
        </p:sp>
        <p:sp>
          <p:nvSpPr>
            <p:cNvPr id="21" name="Rectangle 19"/>
            <p:cNvSpPr>
              <a:spLocks noChangeArrowheads="1"/>
            </p:cNvSpPr>
            <p:nvPr/>
          </p:nvSpPr>
          <p:spPr bwMode="auto">
            <a:xfrm>
              <a:off x="314" y="1227"/>
              <a:ext cx="701"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800" b="1" i="0" u="none" strike="noStrike" kern="0" cap="none" spc="0" normalizeH="0" baseline="0" noProof="0">
                  <a:ln>
                    <a:noFill/>
                  </a:ln>
                  <a:solidFill>
                    <a:srgbClr val="3333CC"/>
                  </a:solidFill>
                  <a:effectLst/>
                  <a:uLnTx/>
                  <a:uFillTx/>
                  <a:latin typeface="+mn-lt"/>
                  <a:ea typeface="黑体" pitchFamily="2" charset="-122"/>
                </a:rPr>
                <a:t>主动关闭</a:t>
              </a:r>
            </a:p>
          </p:txBody>
        </p:sp>
      </p:grpSp>
      <p:sp>
        <p:nvSpPr>
          <p:cNvPr id="22" name="Rectangle 20"/>
          <p:cNvSpPr>
            <a:spLocks noChangeArrowheads="1"/>
          </p:cNvSpPr>
          <p:nvPr/>
        </p:nvSpPr>
        <p:spPr bwMode="auto">
          <a:xfrm>
            <a:off x="4512370" y="1778000"/>
            <a:ext cx="1215077" cy="397545"/>
          </a:xfrm>
          <a:prstGeom prst="rect">
            <a:avLst/>
          </a:prstGeom>
          <a:solidFill>
            <a:srgbClr val="CCECFF"/>
          </a:solidFill>
          <a:ln w="38100" cmpd="dbl" algn="ctr">
            <a:solidFill>
              <a:srgbClr val="3333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2000" b="1" i="0" u="none" strike="noStrike" kern="0" cap="none" spc="0" normalizeH="0" baseline="0" noProof="0">
                <a:ln>
                  <a:noFill/>
                </a:ln>
                <a:solidFill>
                  <a:srgbClr val="3333CC"/>
                </a:solidFill>
                <a:effectLst/>
                <a:uLnTx/>
                <a:uFillTx/>
                <a:latin typeface="+mn-lt"/>
                <a:ea typeface="黑体" pitchFamily="2" charset="-122"/>
              </a:rPr>
              <a:t>数据传送</a:t>
            </a:r>
          </a:p>
        </p:txBody>
      </p:sp>
      <p:sp>
        <p:nvSpPr>
          <p:cNvPr id="23" name="Freeform 21"/>
          <p:cNvSpPr>
            <a:spLocks/>
          </p:cNvSpPr>
          <p:nvPr/>
        </p:nvSpPr>
        <p:spPr bwMode="auto">
          <a:xfrm>
            <a:off x="7835008" y="1376363"/>
            <a:ext cx="573087" cy="1789112"/>
          </a:xfrm>
          <a:custGeom>
            <a:avLst/>
            <a:gdLst>
              <a:gd name="T0" fmla="*/ 127070 w 451"/>
              <a:gd name="T1" fmla="*/ 1789112 h 965"/>
              <a:gd name="T2" fmla="*/ 426956 w 451"/>
              <a:gd name="T3" fmla="*/ 1657478 h 965"/>
              <a:gd name="T4" fmla="*/ 541319 w 451"/>
              <a:gd name="T5" fmla="*/ 1312633 h 965"/>
              <a:gd name="T6" fmla="*/ 573087 w 451"/>
              <a:gd name="T7" fmla="*/ 773119 h 965"/>
              <a:gd name="T8" fmla="*/ 541319 w 451"/>
              <a:gd name="T9" fmla="*/ 383778 h 965"/>
              <a:gd name="T10" fmla="*/ 426956 w 451"/>
              <a:gd name="T11" fmla="*/ 133488 h 965"/>
              <a:gd name="T12" fmla="*/ 0 w 451"/>
              <a:gd name="T13" fmla="*/ 0 h 96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51" h="965">
                <a:moveTo>
                  <a:pt x="100" y="965"/>
                </a:moveTo>
                <a:cubicBezTo>
                  <a:pt x="139" y="951"/>
                  <a:pt x="282" y="937"/>
                  <a:pt x="336" y="894"/>
                </a:cubicBezTo>
                <a:cubicBezTo>
                  <a:pt x="390" y="851"/>
                  <a:pt x="407" y="787"/>
                  <a:pt x="426" y="708"/>
                </a:cubicBezTo>
                <a:cubicBezTo>
                  <a:pt x="445" y="629"/>
                  <a:pt x="451" y="500"/>
                  <a:pt x="451" y="417"/>
                </a:cubicBezTo>
                <a:cubicBezTo>
                  <a:pt x="451" y="334"/>
                  <a:pt x="445" y="264"/>
                  <a:pt x="426" y="207"/>
                </a:cubicBezTo>
                <a:cubicBezTo>
                  <a:pt x="407" y="150"/>
                  <a:pt x="407" y="106"/>
                  <a:pt x="336" y="72"/>
                </a:cubicBezTo>
                <a:cubicBezTo>
                  <a:pt x="265" y="38"/>
                  <a:pt x="70" y="15"/>
                  <a:pt x="0" y="0"/>
                </a:cubicBezTo>
              </a:path>
            </a:pathLst>
          </a:custGeom>
          <a:noFill/>
          <a:ln w="28575" cap="flat" cmpd="sng">
            <a:solidFill>
              <a:srgbClr val="3333CC"/>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itchFamily="2" charset="-122"/>
            </a:endParaRPr>
          </a:p>
        </p:txBody>
      </p:sp>
      <p:sp>
        <p:nvSpPr>
          <p:cNvPr id="24" name="Rectangle 22"/>
          <p:cNvSpPr>
            <a:spLocks noChangeArrowheads="1"/>
          </p:cNvSpPr>
          <p:nvPr/>
        </p:nvSpPr>
        <p:spPr bwMode="auto">
          <a:xfrm>
            <a:off x="8393808" y="1778000"/>
            <a:ext cx="647614" cy="9207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800" b="1" i="0" u="none" strike="noStrike" kern="0" cap="none" spc="0" normalizeH="0" baseline="0" noProof="0">
                <a:ln>
                  <a:noFill/>
                </a:ln>
                <a:solidFill>
                  <a:srgbClr val="3333CC"/>
                </a:solidFill>
                <a:effectLst/>
                <a:uLnTx/>
                <a:uFillTx/>
                <a:latin typeface="+mn-lt"/>
                <a:ea typeface="黑体" pitchFamily="2" charset="-122"/>
              </a:rPr>
              <a:t>通知</a:t>
            </a:r>
          </a:p>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800" b="1" i="0" u="none" strike="noStrike" kern="0" cap="none" spc="0" normalizeH="0" baseline="0" noProof="0">
                <a:ln>
                  <a:noFill/>
                </a:ln>
                <a:solidFill>
                  <a:srgbClr val="3333CC"/>
                </a:solidFill>
                <a:effectLst/>
                <a:uLnTx/>
                <a:uFillTx/>
                <a:latin typeface="+mn-lt"/>
                <a:ea typeface="黑体" pitchFamily="2" charset="-122"/>
              </a:rPr>
              <a:t>应用</a:t>
            </a:r>
          </a:p>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800" b="1" i="0" u="none" strike="noStrike" kern="0" cap="none" spc="0" normalizeH="0" baseline="0" noProof="0">
                <a:ln>
                  <a:noFill/>
                </a:ln>
                <a:solidFill>
                  <a:srgbClr val="3333CC"/>
                </a:solidFill>
                <a:effectLst/>
                <a:uLnTx/>
                <a:uFillTx/>
                <a:latin typeface="+mn-lt"/>
                <a:ea typeface="黑体" pitchFamily="2" charset="-122"/>
              </a:rPr>
              <a:t>进程</a:t>
            </a:r>
          </a:p>
        </p:txBody>
      </p:sp>
      <p:sp>
        <p:nvSpPr>
          <p:cNvPr id="25" name="Rectangle 23"/>
          <p:cNvSpPr>
            <a:spLocks noChangeArrowheads="1"/>
          </p:cNvSpPr>
          <p:nvPr/>
        </p:nvSpPr>
        <p:spPr bwMode="auto">
          <a:xfrm>
            <a:off x="1969195" y="1622425"/>
            <a:ext cx="1041953"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800" b="1" i="0" u="none" strike="noStrike" kern="0" cap="none" spc="0" normalizeH="0" baseline="0" noProof="0">
                <a:ln>
                  <a:noFill/>
                </a:ln>
                <a:solidFill>
                  <a:srgbClr val="3333CC"/>
                </a:solidFill>
                <a:effectLst/>
                <a:uLnTx/>
                <a:uFillTx/>
                <a:latin typeface="+mn-lt"/>
                <a:ea typeface="黑体" pitchFamily="2" charset="-122"/>
              </a:rPr>
              <a:t>ESTAB-</a:t>
            </a:r>
          </a:p>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800" b="1" i="0" u="none" strike="noStrike" kern="0" cap="none" spc="0" normalizeH="0" baseline="0" noProof="0">
                <a:ln>
                  <a:noFill/>
                </a:ln>
                <a:solidFill>
                  <a:srgbClr val="3333CC"/>
                </a:solidFill>
                <a:effectLst/>
                <a:uLnTx/>
                <a:uFillTx/>
                <a:latin typeface="+mn-lt"/>
                <a:ea typeface="黑体" pitchFamily="2" charset="-122"/>
              </a:rPr>
              <a:t>LISHED</a:t>
            </a:r>
          </a:p>
        </p:txBody>
      </p:sp>
      <p:sp>
        <p:nvSpPr>
          <p:cNvPr id="26" name="Rectangle 24"/>
          <p:cNvSpPr>
            <a:spLocks noChangeArrowheads="1"/>
          </p:cNvSpPr>
          <p:nvPr/>
        </p:nvSpPr>
        <p:spPr bwMode="auto">
          <a:xfrm>
            <a:off x="7055545" y="2058988"/>
            <a:ext cx="1041953"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800" b="1" i="0" u="none" strike="noStrike" kern="0" cap="none" spc="0" normalizeH="0" baseline="0" noProof="0">
                <a:ln>
                  <a:noFill/>
                </a:ln>
                <a:solidFill>
                  <a:srgbClr val="3333CC"/>
                </a:solidFill>
                <a:effectLst/>
                <a:uLnTx/>
                <a:uFillTx/>
                <a:latin typeface="+mn-lt"/>
                <a:ea typeface="黑体" pitchFamily="2" charset="-122"/>
              </a:rPr>
              <a:t>ESTAB-</a:t>
            </a:r>
          </a:p>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800" b="1" i="0" u="none" strike="noStrike" kern="0" cap="none" spc="0" normalizeH="0" baseline="0" noProof="0">
                <a:ln>
                  <a:noFill/>
                </a:ln>
                <a:solidFill>
                  <a:srgbClr val="3333CC"/>
                </a:solidFill>
                <a:effectLst/>
                <a:uLnTx/>
                <a:uFillTx/>
                <a:latin typeface="+mn-lt"/>
                <a:ea typeface="黑体" pitchFamily="2" charset="-122"/>
              </a:rPr>
              <a:t>LISHED</a:t>
            </a:r>
          </a:p>
        </p:txBody>
      </p:sp>
      <p:pic>
        <p:nvPicPr>
          <p:cNvPr id="27" name="Picture 25"/>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213670" y="969963"/>
            <a:ext cx="504825" cy="496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8" name="Picture 26"/>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300020" y="969963"/>
            <a:ext cx="504825" cy="496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9" name="Rectangle 27"/>
          <p:cNvSpPr>
            <a:spLocks noChangeArrowheads="1"/>
          </p:cNvSpPr>
          <p:nvPr/>
        </p:nvSpPr>
        <p:spPr bwMode="auto">
          <a:xfrm>
            <a:off x="2604195" y="938213"/>
            <a:ext cx="349456"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800" b="1" i="0" u="none" strike="noStrike" kern="0" cap="none" spc="0" normalizeH="0" baseline="0" noProof="0">
                <a:ln>
                  <a:noFill/>
                </a:ln>
                <a:solidFill>
                  <a:srgbClr val="3333CC"/>
                </a:solidFill>
                <a:effectLst/>
                <a:uLnTx/>
                <a:uFillTx/>
                <a:latin typeface="+mn-lt"/>
                <a:ea typeface="黑体" pitchFamily="2" charset="-122"/>
              </a:rPr>
              <a:t>A</a:t>
            </a:r>
          </a:p>
        </p:txBody>
      </p:sp>
      <p:sp>
        <p:nvSpPr>
          <p:cNvPr id="30" name="Rectangle 28"/>
          <p:cNvSpPr>
            <a:spLocks noChangeArrowheads="1"/>
          </p:cNvSpPr>
          <p:nvPr/>
        </p:nvSpPr>
        <p:spPr bwMode="auto">
          <a:xfrm>
            <a:off x="7104758" y="938213"/>
            <a:ext cx="349456"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800" b="1" i="0" u="none" strike="noStrike" kern="0" cap="none" spc="0" normalizeH="0" baseline="0" noProof="0">
                <a:ln>
                  <a:noFill/>
                </a:ln>
                <a:solidFill>
                  <a:srgbClr val="3333CC"/>
                </a:solidFill>
                <a:effectLst/>
                <a:uLnTx/>
                <a:uFillTx/>
                <a:latin typeface="+mn-lt"/>
                <a:ea typeface="黑体" pitchFamily="2" charset="-122"/>
              </a:rPr>
              <a:t>B</a:t>
            </a:r>
          </a:p>
        </p:txBody>
      </p:sp>
      <p:sp>
        <p:nvSpPr>
          <p:cNvPr id="31" name="Rectangle 29"/>
          <p:cNvSpPr>
            <a:spLocks noChangeArrowheads="1"/>
          </p:cNvSpPr>
          <p:nvPr/>
        </p:nvSpPr>
        <p:spPr bwMode="auto">
          <a:xfrm>
            <a:off x="2148583" y="647700"/>
            <a:ext cx="647614"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800" b="1" i="0" u="none" strike="noStrike" kern="0" cap="none" spc="0" normalizeH="0" baseline="0" noProof="0">
                <a:ln>
                  <a:noFill/>
                </a:ln>
                <a:solidFill>
                  <a:srgbClr val="3333CC"/>
                </a:solidFill>
                <a:effectLst/>
                <a:uLnTx/>
                <a:uFillTx/>
                <a:latin typeface="+mn-lt"/>
                <a:ea typeface="黑体" pitchFamily="2" charset="-122"/>
              </a:rPr>
              <a:t>客户</a:t>
            </a:r>
          </a:p>
        </p:txBody>
      </p:sp>
      <p:sp>
        <p:nvSpPr>
          <p:cNvPr id="32" name="Rectangle 30"/>
          <p:cNvSpPr>
            <a:spLocks noChangeArrowheads="1"/>
          </p:cNvSpPr>
          <p:nvPr/>
        </p:nvSpPr>
        <p:spPr bwMode="auto">
          <a:xfrm>
            <a:off x="7115870" y="647700"/>
            <a:ext cx="880050"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800" b="1" i="0" u="none" strike="noStrike" kern="0" cap="none" spc="0" normalizeH="0" baseline="0" noProof="0">
                <a:ln>
                  <a:noFill/>
                </a:ln>
                <a:solidFill>
                  <a:srgbClr val="3333CC"/>
                </a:solidFill>
                <a:effectLst/>
                <a:uLnTx/>
                <a:uFillTx/>
                <a:latin typeface="+mn-lt"/>
                <a:ea typeface="黑体" pitchFamily="2" charset="-122"/>
              </a:rPr>
              <a:t>服务器</a:t>
            </a:r>
          </a:p>
        </p:txBody>
      </p:sp>
      <p:sp>
        <p:nvSpPr>
          <p:cNvPr id="33" name="Text Box 32"/>
          <p:cNvSpPr txBox="1">
            <a:spLocks noChangeArrowheads="1"/>
          </p:cNvSpPr>
          <p:nvPr/>
        </p:nvSpPr>
        <p:spPr bwMode="auto">
          <a:xfrm>
            <a:off x="1214759" y="4216400"/>
            <a:ext cx="7986713" cy="2236788"/>
          </a:xfrm>
          <a:prstGeom prst="rect">
            <a:avLst/>
          </a:prstGeom>
          <a:solidFill>
            <a:srgbClr val="FFFF99"/>
          </a:solidFill>
          <a:ln w="9525">
            <a:solidFill>
              <a:srgbClr val="3333CC"/>
            </a:solidFill>
            <a:miter lim="800000"/>
            <a:headEnd/>
            <a:tailEnd/>
          </a:ln>
          <a:effectLst>
            <a:outerShdw dist="35921" dir="2700000" algn="ctr" rotWithShape="0">
              <a:srgbClr val="1C1C1C"/>
            </a:outerShdw>
          </a:effec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Char char="•"/>
              <a:tabLst/>
              <a:defRPr/>
            </a:pPr>
            <a:r>
              <a:rPr kumimoji="0" lang="en-US" altLang="zh-CN" sz="2800" b="1" i="0" u="none" strike="noStrike" kern="0" cap="none" spc="0" normalizeH="0" baseline="0" noProof="0" dirty="0">
                <a:ln>
                  <a:noFill/>
                </a:ln>
                <a:solidFill>
                  <a:srgbClr val="000099"/>
                </a:solidFill>
                <a:effectLst/>
                <a:uLnTx/>
                <a:uFillTx/>
                <a:latin typeface="Arial" pitchFamily="34" charset="0"/>
                <a:ea typeface="黑体" pitchFamily="2" charset="-122"/>
              </a:rPr>
              <a:t>  B </a:t>
            </a:r>
            <a:r>
              <a:rPr kumimoji="0" lang="zh-CN" altLang="en-US" sz="2800" b="1" i="0" u="none" strike="noStrike" kern="0" cap="none" spc="0" normalizeH="0" baseline="0" noProof="0" dirty="0">
                <a:ln>
                  <a:noFill/>
                </a:ln>
                <a:solidFill>
                  <a:srgbClr val="000099"/>
                </a:solidFill>
                <a:effectLst/>
                <a:uLnTx/>
                <a:uFillTx/>
                <a:latin typeface="Arial" pitchFamily="34" charset="0"/>
                <a:ea typeface="黑体" pitchFamily="2" charset="-122"/>
              </a:rPr>
              <a:t>发出确认，确认号 </a:t>
            </a:r>
            <a:r>
              <a:rPr kumimoji="0" lang="en-US" altLang="zh-CN" sz="2800" b="1" i="0" u="none" strike="noStrike" kern="0" cap="none" spc="0" normalizeH="0" baseline="0" noProof="0" dirty="0" err="1">
                <a:ln>
                  <a:noFill/>
                </a:ln>
                <a:solidFill>
                  <a:srgbClr val="000099"/>
                </a:solidFill>
                <a:effectLst/>
                <a:uLnTx/>
                <a:uFillTx/>
                <a:latin typeface="Arial" pitchFamily="34" charset="0"/>
                <a:ea typeface="黑体" pitchFamily="2" charset="-122"/>
              </a:rPr>
              <a:t>ack</a:t>
            </a:r>
            <a:r>
              <a:rPr kumimoji="0" lang="en-US" altLang="zh-CN" sz="2800" b="1" i="0" u="none" strike="noStrike" kern="0" cap="none" spc="0" normalizeH="0" baseline="0" noProof="0" dirty="0">
                <a:ln>
                  <a:noFill/>
                </a:ln>
                <a:solidFill>
                  <a:srgbClr val="000099"/>
                </a:solidFill>
                <a:effectLst/>
                <a:uLnTx/>
                <a:uFillTx/>
                <a:latin typeface="Arial" pitchFamily="34" charset="0"/>
                <a:ea typeface="黑体" pitchFamily="2" charset="-122"/>
              </a:rPr>
              <a:t> = u </a:t>
            </a:r>
            <a:r>
              <a:rPr kumimoji="0" lang="en-US" altLang="zh-CN" sz="2800" b="1" i="0" u="none" strike="noStrike" kern="0" cap="none" spc="0" normalizeH="0" baseline="0" noProof="0" dirty="0">
                <a:ln>
                  <a:noFill/>
                </a:ln>
                <a:solidFill>
                  <a:srgbClr val="000099"/>
                </a:solidFill>
                <a:effectLst/>
                <a:uLnTx/>
                <a:uFillTx/>
                <a:latin typeface="Arial" pitchFamily="34" charset="0"/>
                <a:ea typeface="黑体" pitchFamily="2" charset="-122"/>
                <a:sym typeface="Symbol" pitchFamily="18" charset="2"/>
              </a:rPr>
              <a:t></a:t>
            </a:r>
            <a:r>
              <a:rPr kumimoji="0" lang="en-US" altLang="zh-CN" sz="2800" b="1" i="0" u="none" strike="noStrike" kern="0" cap="none" spc="0" normalizeH="0" baseline="0" noProof="0" dirty="0">
                <a:ln>
                  <a:noFill/>
                </a:ln>
                <a:solidFill>
                  <a:srgbClr val="000099"/>
                </a:solidFill>
                <a:effectLst/>
                <a:uLnTx/>
                <a:uFillTx/>
                <a:latin typeface="Arial" pitchFamily="34" charset="0"/>
                <a:ea typeface="黑体" pitchFamily="2" charset="-122"/>
              </a:rPr>
              <a:t> 1</a:t>
            </a:r>
            <a:r>
              <a:rPr kumimoji="0" lang="zh-CN" altLang="en-US" sz="2800" b="1" i="0" u="none" strike="noStrike" kern="0" cap="none" spc="0" normalizeH="0" baseline="0" noProof="0" dirty="0">
                <a:ln>
                  <a:noFill/>
                </a:ln>
                <a:solidFill>
                  <a:srgbClr val="000099"/>
                </a:solidFill>
                <a:effectLst/>
                <a:uLnTx/>
                <a:uFillTx/>
                <a:latin typeface="Arial" pitchFamily="34" charset="0"/>
                <a:ea typeface="黑体" pitchFamily="2" charset="-122"/>
              </a:rPr>
              <a:t>，</a:t>
            </a:r>
          </a:p>
          <a:p>
            <a:pPr marL="0" marR="0" lvl="0" indent="0" algn="l" defTabSz="914400" eaLnBrk="1" fontAlgn="auto" latinLnBrk="0" hangingPunct="1">
              <a:lnSpc>
                <a:spcPct val="100000"/>
              </a:lnSpc>
              <a:spcBef>
                <a:spcPts val="0"/>
              </a:spcBef>
              <a:spcAft>
                <a:spcPts val="0"/>
              </a:spcAft>
              <a:buClrTx/>
              <a:buSzTx/>
              <a:buFontTx/>
              <a:buNone/>
              <a:tabLst/>
              <a:defRPr/>
            </a:pPr>
            <a:r>
              <a:rPr kumimoji="0" lang="zh-CN" altLang="en-US" sz="2800" b="1" i="0" u="none" strike="noStrike" kern="0" cap="none" spc="0" normalizeH="0" baseline="0" noProof="0" dirty="0">
                <a:ln>
                  <a:noFill/>
                </a:ln>
                <a:solidFill>
                  <a:srgbClr val="000099"/>
                </a:solidFill>
                <a:effectLst/>
                <a:uLnTx/>
                <a:uFillTx/>
                <a:latin typeface="Arial" pitchFamily="34" charset="0"/>
                <a:ea typeface="黑体" pitchFamily="2" charset="-122"/>
              </a:rPr>
              <a:t>   而这个报文段自己的序号 </a:t>
            </a:r>
            <a:r>
              <a:rPr kumimoji="0" lang="en-US" altLang="zh-CN" sz="2800" b="1" i="0" u="none" strike="noStrike" kern="0" cap="none" spc="0" normalizeH="0" baseline="0" noProof="0" dirty="0" err="1">
                <a:ln>
                  <a:noFill/>
                </a:ln>
                <a:solidFill>
                  <a:srgbClr val="000099"/>
                </a:solidFill>
                <a:effectLst/>
                <a:uLnTx/>
                <a:uFillTx/>
                <a:latin typeface="Arial" pitchFamily="34" charset="0"/>
                <a:ea typeface="黑体" pitchFamily="2" charset="-122"/>
              </a:rPr>
              <a:t>seq</a:t>
            </a:r>
            <a:r>
              <a:rPr kumimoji="0" lang="en-US" altLang="zh-CN" sz="2800" b="1" i="0" u="none" strike="noStrike" kern="0" cap="none" spc="0" normalizeH="0" baseline="0" noProof="0" dirty="0">
                <a:ln>
                  <a:noFill/>
                </a:ln>
                <a:solidFill>
                  <a:srgbClr val="000099"/>
                </a:solidFill>
                <a:effectLst/>
                <a:uLnTx/>
                <a:uFillTx/>
                <a:latin typeface="Arial" pitchFamily="34" charset="0"/>
                <a:ea typeface="黑体" pitchFamily="2" charset="-122"/>
              </a:rPr>
              <a:t> = v</a:t>
            </a:r>
            <a:r>
              <a:rPr kumimoji="0" lang="zh-CN" altLang="en-US" sz="2800" b="1" i="0" u="none" strike="noStrike" kern="0" cap="none" spc="0" normalizeH="0" baseline="0" noProof="0" dirty="0">
                <a:ln>
                  <a:noFill/>
                </a:ln>
                <a:solidFill>
                  <a:srgbClr val="000099"/>
                </a:solidFill>
                <a:effectLst/>
                <a:uLnTx/>
                <a:uFillTx/>
                <a:latin typeface="Arial" pitchFamily="34" charset="0"/>
                <a:ea typeface="黑体" pitchFamily="2" charset="-122"/>
              </a:rPr>
              <a:t>。</a:t>
            </a:r>
          </a:p>
          <a:p>
            <a:pPr marL="0" marR="0" lvl="0" indent="0" algn="l" defTabSz="914400" eaLnBrk="1" fontAlgn="auto" latinLnBrk="0" hangingPunct="1">
              <a:lnSpc>
                <a:spcPct val="100000"/>
              </a:lnSpc>
              <a:spcBef>
                <a:spcPts val="0"/>
              </a:spcBef>
              <a:spcAft>
                <a:spcPts val="0"/>
              </a:spcAft>
              <a:buClrTx/>
              <a:buSzTx/>
              <a:buFontTx/>
              <a:buChar char="•"/>
              <a:tabLst/>
              <a:defRPr/>
            </a:pPr>
            <a:r>
              <a:rPr kumimoji="0" lang="zh-CN" altLang="en-US" sz="2800" b="1" i="0" u="none" strike="noStrike" kern="0" cap="none" spc="0" normalizeH="0" baseline="0" noProof="0" dirty="0">
                <a:ln>
                  <a:noFill/>
                </a:ln>
                <a:solidFill>
                  <a:srgbClr val="000099"/>
                </a:solidFill>
                <a:effectLst/>
                <a:uLnTx/>
                <a:uFillTx/>
                <a:latin typeface="Arial" pitchFamily="34" charset="0"/>
                <a:ea typeface="黑体" pitchFamily="2" charset="-122"/>
              </a:rPr>
              <a:t>  </a:t>
            </a:r>
            <a:r>
              <a:rPr kumimoji="0" lang="en-US" altLang="zh-CN" sz="2800" b="1" i="0" u="none" strike="noStrike" kern="0" cap="none" spc="0" normalizeH="0" baseline="0" noProof="0" dirty="0">
                <a:ln>
                  <a:noFill/>
                </a:ln>
                <a:solidFill>
                  <a:srgbClr val="000099"/>
                </a:solidFill>
                <a:effectLst/>
                <a:uLnTx/>
                <a:uFillTx/>
                <a:latin typeface="Arial" pitchFamily="34" charset="0"/>
                <a:ea typeface="黑体" pitchFamily="2" charset="-122"/>
              </a:rPr>
              <a:t>TCP </a:t>
            </a:r>
            <a:r>
              <a:rPr kumimoji="0" lang="zh-CN" altLang="en-US" sz="2800" b="1" i="0" u="none" strike="noStrike" kern="0" cap="none" spc="0" normalizeH="0" baseline="0" noProof="0" dirty="0">
                <a:ln>
                  <a:noFill/>
                </a:ln>
                <a:solidFill>
                  <a:srgbClr val="000099"/>
                </a:solidFill>
                <a:effectLst/>
                <a:uLnTx/>
                <a:uFillTx/>
                <a:latin typeface="Arial" pitchFamily="34" charset="0"/>
                <a:ea typeface="黑体" pitchFamily="2" charset="-122"/>
              </a:rPr>
              <a:t>服务器进程通知高层应用进程。</a:t>
            </a:r>
          </a:p>
          <a:p>
            <a:pPr marL="0" marR="0" lvl="0" indent="0" algn="l" defTabSz="914400" eaLnBrk="1" fontAlgn="auto" latinLnBrk="0" hangingPunct="1">
              <a:lnSpc>
                <a:spcPct val="100000"/>
              </a:lnSpc>
              <a:spcBef>
                <a:spcPts val="0"/>
              </a:spcBef>
              <a:spcAft>
                <a:spcPts val="0"/>
              </a:spcAft>
              <a:buClrTx/>
              <a:buSzTx/>
              <a:buFontTx/>
              <a:buChar char="•"/>
              <a:tabLst/>
              <a:defRPr/>
            </a:pPr>
            <a:r>
              <a:rPr kumimoji="0" lang="zh-CN" altLang="en-US" sz="2800" b="1" i="0" u="none" strike="noStrike" kern="0" cap="none" spc="0" normalizeH="0" baseline="0" noProof="0" dirty="0">
                <a:ln>
                  <a:noFill/>
                </a:ln>
                <a:solidFill>
                  <a:srgbClr val="000099"/>
                </a:solidFill>
                <a:effectLst/>
                <a:uLnTx/>
                <a:uFillTx/>
                <a:latin typeface="Arial" pitchFamily="34" charset="0"/>
                <a:ea typeface="黑体" pitchFamily="2" charset="-122"/>
              </a:rPr>
              <a:t>  从 </a:t>
            </a:r>
            <a:r>
              <a:rPr kumimoji="0" lang="en-US" altLang="zh-CN" sz="2800" b="1" i="0" u="none" strike="noStrike" kern="0" cap="none" spc="0" normalizeH="0" baseline="0" noProof="0" dirty="0">
                <a:ln>
                  <a:noFill/>
                </a:ln>
                <a:solidFill>
                  <a:srgbClr val="000099"/>
                </a:solidFill>
                <a:effectLst/>
                <a:uLnTx/>
                <a:uFillTx/>
                <a:latin typeface="Arial" pitchFamily="34" charset="0"/>
                <a:ea typeface="黑体" pitchFamily="2" charset="-122"/>
              </a:rPr>
              <a:t>A </a:t>
            </a:r>
            <a:r>
              <a:rPr kumimoji="0" lang="zh-CN" altLang="en-US" sz="2800" b="1" i="0" u="none" strike="noStrike" kern="0" cap="none" spc="0" normalizeH="0" baseline="0" noProof="0" dirty="0">
                <a:ln>
                  <a:noFill/>
                </a:ln>
                <a:solidFill>
                  <a:srgbClr val="000099"/>
                </a:solidFill>
                <a:effectLst/>
                <a:uLnTx/>
                <a:uFillTx/>
                <a:latin typeface="Arial" pitchFamily="34" charset="0"/>
                <a:ea typeface="黑体" pitchFamily="2" charset="-122"/>
              </a:rPr>
              <a:t>到 </a:t>
            </a:r>
            <a:r>
              <a:rPr kumimoji="0" lang="en-US" altLang="zh-CN" sz="2800" b="1" i="0" u="none" strike="noStrike" kern="0" cap="none" spc="0" normalizeH="0" baseline="0" noProof="0" dirty="0">
                <a:ln>
                  <a:noFill/>
                </a:ln>
                <a:solidFill>
                  <a:srgbClr val="000099"/>
                </a:solidFill>
                <a:effectLst/>
                <a:uLnTx/>
                <a:uFillTx/>
                <a:latin typeface="Arial" pitchFamily="34" charset="0"/>
                <a:ea typeface="黑体" pitchFamily="2" charset="-122"/>
              </a:rPr>
              <a:t>B </a:t>
            </a:r>
            <a:r>
              <a:rPr kumimoji="0" lang="zh-CN" altLang="en-US" sz="2800" b="1" i="0" u="none" strike="noStrike" kern="0" cap="none" spc="0" normalizeH="0" baseline="0" noProof="0" dirty="0">
                <a:ln>
                  <a:noFill/>
                </a:ln>
                <a:solidFill>
                  <a:srgbClr val="000099"/>
                </a:solidFill>
                <a:effectLst/>
                <a:uLnTx/>
                <a:uFillTx/>
                <a:latin typeface="Arial" pitchFamily="34" charset="0"/>
                <a:ea typeface="黑体" pitchFamily="2" charset="-122"/>
              </a:rPr>
              <a:t>这个方向的连接就释放了，</a:t>
            </a:r>
            <a:r>
              <a:rPr kumimoji="0" lang="en-US" altLang="zh-CN" sz="2800" b="1" i="0" u="none" strike="noStrike" kern="0" cap="none" spc="0" normalizeH="0" baseline="0" noProof="0" dirty="0">
                <a:ln>
                  <a:noFill/>
                </a:ln>
                <a:solidFill>
                  <a:srgbClr val="000099"/>
                </a:solidFill>
                <a:effectLst/>
                <a:uLnTx/>
                <a:uFillTx/>
                <a:latin typeface="Arial" pitchFamily="34" charset="0"/>
                <a:ea typeface="黑体" pitchFamily="2" charset="-122"/>
              </a:rPr>
              <a:t>TCP </a:t>
            </a:r>
            <a:r>
              <a:rPr kumimoji="0" lang="zh-CN" altLang="en-US" sz="2800" b="1" i="0" u="none" strike="noStrike" kern="0" cap="none" spc="0" normalizeH="0" baseline="0" noProof="0" dirty="0">
                <a:ln>
                  <a:noFill/>
                </a:ln>
                <a:solidFill>
                  <a:srgbClr val="000099"/>
                </a:solidFill>
                <a:effectLst/>
                <a:uLnTx/>
                <a:uFillTx/>
                <a:latin typeface="Arial" pitchFamily="34" charset="0"/>
                <a:ea typeface="黑体" pitchFamily="2" charset="-122"/>
              </a:rPr>
              <a:t>连接</a:t>
            </a:r>
          </a:p>
          <a:p>
            <a:pPr marL="0" marR="0" lvl="0" indent="0" algn="l" defTabSz="914400" eaLnBrk="1" fontAlgn="auto" latinLnBrk="0" hangingPunct="1">
              <a:lnSpc>
                <a:spcPct val="100000"/>
              </a:lnSpc>
              <a:spcBef>
                <a:spcPts val="0"/>
              </a:spcBef>
              <a:spcAft>
                <a:spcPts val="0"/>
              </a:spcAft>
              <a:buClrTx/>
              <a:buSzTx/>
              <a:buFontTx/>
              <a:buNone/>
              <a:tabLst/>
              <a:defRPr/>
            </a:pPr>
            <a:r>
              <a:rPr kumimoji="0" lang="zh-CN" altLang="en-US" sz="2800" b="1" i="0" u="none" strike="noStrike" kern="0" cap="none" spc="0" normalizeH="0" baseline="0" noProof="0" dirty="0">
                <a:ln>
                  <a:noFill/>
                </a:ln>
                <a:solidFill>
                  <a:srgbClr val="000099"/>
                </a:solidFill>
                <a:effectLst/>
                <a:uLnTx/>
                <a:uFillTx/>
                <a:latin typeface="Arial" pitchFamily="34" charset="0"/>
                <a:ea typeface="黑体" pitchFamily="2" charset="-122"/>
              </a:rPr>
              <a:t>   处于</a:t>
            </a:r>
            <a:r>
              <a:rPr kumimoji="0" lang="zh-CN" altLang="en-US" sz="2800" b="1" i="0" u="none" strike="noStrike" kern="0" cap="none" spc="0" normalizeH="0" baseline="0" noProof="0" dirty="0">
                <a:ln>
                  <a:noFill/>
                </a:ln>
                <a:solidFill>
                  <a:srgbClr val="FF0000"/>
                </a:solidFill>
                <a:effectLst/>
                <a:uLnTx/>
                <a:uFillTx/>
                <a:latin typeface="Arial" pitchFamily="34" charset="0"/>
                <a:ea typeface="黑体" pitchFamily="2" charset="-122"/>
              </a:rPr>
              <a:t>半关闭</a:t>
            </a:r>
            <a:r>
              <a:rPr kumimoji="0" lang="zh-CN" altLang="en-US" sz="2800" b="1" i="0" u="none" strike="noStrike" kern="0" cap="none" spc="0" normalizeH="0" baseline="0" noProof="0" dirty="0">
                <a:ln>
                  <a:noFill/>
                </a:ln>
                <a:solidFill>
                  <a:srgbClr val="000099"/>
                </a:solidFill>
                <a:effectLst/>
                <a:uLnTx/>
                <a:uFillTx/>
                <a:latin typeface="Arial" pitchFamily="34" charset="0"/>
                <a:ea typeface="黑体" pitchFamily="2" charset="-122"/>
              </a:rPr>
              <a:t>状态。</a:t>
            </a:r>
            <a:r>
              <a:rPr kumimoji="0" lang="en-US" altLang="zh-CN" sz="2800" b="1" i="0" u="none" strike="noStrike" kern="0" cap="none" spc="0" normalizeH="0" baseline="0" noProof="0" dirty="0">
                <a:ln>
                  <a:noFill/>
                </a:ln>
                <a:solidFill>
                  <a:srgbClr val="000099"/>
                </a:solidFill>
                <a:effectLst/>
                <a:uLnTx/>
                <a:uFillTx/>
                <a:latin typeface="Arial" pitchFamily="34" charset="0"/>
                <a:ea typeface="黑体" pitchFamily="2" charset="-122"/>
              </a:rPr>
              <a:t>B </a:t>
            </a:r>
            <a:r>
              <a:rPr kumimoji="0" lang="zh-CN" altLang="en-US" sz="2800" b="1" i="0" u="none" strike="noStrike" kern="0" cap="none" spc="0" normalizeH="0" baseline="0" noProof="0" dirty="0">
                <a:ln>
                  <a:noFill/>
                </a:ln>
                <a:solidFill>
                  <a:srgbClr val="000099"/>
                </a:solidFill>
                <a:effectLst/>
                <a:uLnTx/>
                <a:uFillTx/>
                <a:latin typeface="Arial" pitchFamily="34" charset="0"/>
                <a:ea typeface="黑体" pitchFamily="2" charset="-122"/>
              </a:rPr>
              <a:t>若发送数据，</a:t>
            </a:r>
            <a:r>
              <a:rPr kumimoji="0" lang="en-US" altLang="zh-CN" sz="2800" b="1" i="0" u="none" strike="noStrike" kern="0" cap="none" spc="0" normalizeH="0" baseline="0" noProof="0" dirty="0">
                <a:ln>
                  <a:noFill/>
                </a:ln>
                <a:solidFill>
                  <a:srgbClr val="000099"/>
                </a:solidFill>
                <a:effectLst/>
                <a:uLnTx/>
                <a:uFillTx/>
                <a:latin typeface="Arial" pitchFamily="34" charset="0"/>
                <a:ea typeface="黑体" pitchFamily="2" charset="-122"/>
              </a:rPr>
              <a:t>A </a:t>
            </a:r>
            <a:r>
              <a:rPr kumimoji="0" lang="zh-CN" altLang="en-US" sz="2800" b="1" i="0" u="none" strike="noStrike" kern="0" cap="none" spc="0" normalizeH="0" baseline="0" noProof="0" dirty="0">
                <a:ln>
                  <a:noFill/>
                </a:ln>
                <a:solidFill>
                  <a:srgbClr val="000099"/>
                </a:solidFill>
                <a:effectLst/>
                <a:uLnTx/>
                <a:uFillTx/>
                <a:latin typeface="Arial" pitchFamily="34" charset="0"/>
                <a:ea typeface="黑体" pitchFamily="2" charset="-122"/>
              </a:rPr>
              <a:t>仍要接收。</a:t>
            </a:r>
          </a:p>
        </p:txBody>
      </p:sp>
      <p:sp>
        <p:nvSpPr>
          <p:cNvPr id="35" name="Text Box 30"/>
          <p:cNvSpPr txBox="1">
            <a:spLocks noChangeArrowheads="1"/>
          </p:cNvSpPr>
          <p:nvPr/>
        </p:nvSpPr>
        <p:spPr bwMode="auto">
          <a:xfrm>
            <a:off x="1132656" y="34925"/>
            <a:ext cx="7924800" cy="650875"/>
          </a:xfrm>
          <a:prstGeom prst="rect">
            <a:avLst/>
          </a:prstGeom>
          <a:solidFill>
            <a:srgbClr val="FFFF99"/>
          </a:solidFill>
          <a:ln w="9525">
            <a:solidFill>
              <a:srgbClr val="3333CC"/>
            </a:solidFill>
            <a:miter lim="800000"/>
            <a:headEnd/>
            <a:tailEnd/>
          </a:ln>
          <a:effectLst>
            <a:outerShdw dist="35921" dir="2700000" algn="ctr" rotWithShape="0">
              <a:srgbClr val="1C1C1C"/>
            </a:outerShdw>
          </a:effectLst>
        </p:spPr>
        <p:txBody>
          <a:bodyPr>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3600" b="1" i="0" u="none" strike="noStrike" kern="0" cap="none" spc="0" normalizeH="0" baseline="0" noProof="0" dirty="0">
                <a:ln>
                  <a:noFill/>
                </a:ln>
                <a:solidFill>
                  <a:srgbClr val="333399"/>
                </a:solidFill>
                <a:effectLst/>
                <a:uLnTx/>
                <a:uFillTx/>
                <a:latin typeface="Arial" pitchFamily="34" charset="0"/>
                <a:ea typeface="黑体" pitchFamily="2" charset="-122"/>
              </a:rPr>
              <a:t>TCP </a:t>
            </a:r>
            <a:r>
              <a:rPr kumimoji="0" lang="zh-CN" altLang="en-US" sz="3600" b="1" i="0" u="none" strike="noStrike" kern="0" cap="none" spc="0" normalizeH="0" baseline="0" noProof="0" dirty="0">
                <a:ln>
                  <a:noFill/>
                </a:ln>
                <a:solidFill>
                  <a:srgbClr val="333399"/>
                </a:solidFill>
                <a:effectLst/>
                <a:uLnTx/>
                <a:uFillTx/>
                <a:latin typeface="Arial" pitchFamily="34" charset="0"/>
                <a:ea typeface="黑体" pitchFamily="2" charset="-122"/>
              </a:rPr>
              <a:t>的连接释放：采用</a:t>
            </a:r>
            <a:r>
              <a:rPr kumimoji="0" lang="zh-CN" altLang="zh-CN" sz="3600" kern="0" dirty="0">
                <a:solidFill>
                  <a:srgbClr val="FF0000"/>
                </a:solidFill>
                <a:latin typeface="Arial" pitchFamily="34" charset="0"/>
                <a:ea typeface="黑体" pitchFamily="2" charset="-122"/>
              </a:rPr>
              <a:t>四报文握手</a:t>
            </a:r>
            <a:endParaRPr kumimoji="0" lang="zh-CN" altLang="en-US" sz="3600" kern="0" dirty="0">
              <a:solidFill>
                <a:srgbClr val="FF0000"/>
              </a:solidFill>
              <a:latin typeface="Arial" pitchFamily="34" charset="0"/>
              <a:ea typeface="黑体" pitchFamily="2" charset="-122"/>
            </a:endParaRPr>
          </a:p>
        </p:txBody>
      </p:sp>
    </p:spTree>
    <p:extLst>
      <p:ext uri="{BB962C8B-B14F-4D97-AF65-F5344CB8AC3E}">
        <p14:creationId xmlns:p14="http://schemas.microsoft.com/office/powerpoint/2010/main" val="17759040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right)">
                                      <p:cBhvr>
                                        <p:cTn id="7" dur="1000"/>
                                        <p:tgtEl>
                                          <p:spTgt spid="11"/>
                                        </p:tgtEl>
                                      </p:cBhvr>
                                    </p:animEffect>
                                  </p:childTnLst>
                                </p:cTn>
                              </p:par>
                            </p:childTnLst>
                          </p:cTn>
                        </p:par>
                        <p:par>
                          <p:cTn id="8" fill="hold">
                            <p:stCondLst>
                              <p:cond delay="1000"/>
                            </p:stCondLst>
                            <p:childTnLst>
                              <p:par>
                                <p:cTn id="9" presetID="22" presetClass="entr" presetSubtype="4" fill="hold" grpId="0" nodeType="afterEffect">
                                  <p:stCondLst>
                                    <p:cond delay="0"/>
                                  </p:stCondLst>
                                  <p:childTnLst>
                                    <p:set>
                                      <p:cBhvr>
                                        <p:cTn id="10" dur="1" fill="hold">
                                          <p:stCondLst>
                                            <p:cond delay="0"/>
                                          </p:stCondLst>
                                        </p:cTn>
                                        <p:tgtEl>
                                          <p:spTgt spid="23"/>
                                        </p:tgtEl>
                                        <p:attrNameLst>
                                          <p:attrName>style.visibility</p:attrName>
                                        </p:attrNameLst>
                                      </p:cBhvr>
                                      <p:to>
                                        <p:strVal val="visible"/>
                                      </p:to>
                                    </p:set>
                                    <p:animEffect transition="in" filter="wipe(down)">
                                      <p:cBhvr>
                                        <p:cTn id="11" dur="1000"/>
                                        <p:tgtEl>
                                          <p:spTgt spid="23"/>
                                        </p:tgtEl>
                                      </p:cBhvr>
                                    </p:animEffect>
                                  </p:childTnLst>
                                </p:cTn>
                              </p:par>
                            </p:childTnLst>
                          </p:cTn>
                        </p:par>
                        <p:par>
                          <p:cTn id="12" fill="hold">
                            <p:stCondLst>
                              <p:cond delay="2000"/>
                            </p:stCondLst>
                            <p:childTnLst>
                              <p:par>
                                <p:cTn id="13" presetID="1" presetClass="entr" presetSubtype="0" fill="hold" grpId="0" nodeType="afterEffect">
                                  <p:stCondLst>
                                    <p:cond delay="0"/>
                                  </p:stCondLst>
                                  <p:childTnLst>
                                    <p:set>
                                      <p:cBhvr>
                                        <p:cTn id="14"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2"/>
          <p:cNvGrpSpPr>
            <a:grpSpLocks/>
          </p:cNvGrpSpPr>
          <p:nvPr/>
        </p:nvGrpSpPr>
        <p:grpSpPr bwMode="auto">
          <a:xfrm>
            <a:off x="2867918" y="2349500"/>
            <a:ext cx="4248150" cy="4062413"/>
            <a:chOff x="1474" y="1888"/>
            <a:chExt cx="2676" cy="2432"/>
          </a:xfrm>
        </p:grpSpPr>
        <p:sp>
          <p:nvSpPr>
            <p:cNvPr id="5" name="Line 3"/>
            <p:cNvSpPr>
              <a:spLocks noChangeShapeType="1"/>
            </p:cNvSpPr>
            <p:nvPr/>
          </p:nvSpPr>
          <p:spPr bwMode="auto">
            <a:xfrm>
              <a:off x="1474" y="1888"/>
              <a:ext cx="0" cy="2432"/>
            </a:xfrm>
            <a:prstGeom prst="line">
              <a:avLst/>
            </a:prstGeom>
            <a:noFill/>
            <a:ln w="28575">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itchFamily="2" charset="-122"/>
              </a:endParaRPr>
            </a:p>
          </p:txBody>
        </p:sp>
        <p:sp>
          <p:nvSpPr>
            <p:cNvPr id="6" name="Line 4"/>
            <p:cNvSpPr>
              <a:spLocks noChangeShapeType="1"/>
            </p:cNvSpPr>
            <p:nvPr/>
          </p:nvSpPr>
          <p:spPr bwMode="auto">
            <a:xfrm>
              <a:off x="4150" y="1888"/>
              <a:ext cx="0" cy="2432"/>
            </a:xfrm>
            <a:prstGeom prst="line">
              <a:avLst/>
            </a:prstGeom>
            <a:noFill/>
            <a:ln w="28575">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itchFamily="2" charset="-122"/>
              </a:endParaRPr>
            </a:p>
          </p:txBody>
        </p:sp>
      </p:grpSp>
      <p:sp>
        <p:nvSpPr>
          <p:cNvPr id="7" name="AutoShape 5"/>
          <p:cNvSpPr>
            <a:spLocks noChangeArrowheads="1"/>
          </p:cNvSpPr>
          <p:nvPr/>
        </p:nvSpPr>
        <p:spPr bwMode="auto">
          <a:xfrm rot="-651552">
            <a:off x="4144268" y="3895725"/>
            <a:ext cx="676275" cy="236538"/>
          </a:xfrm>
          <a:prstGeom prst="leftArrow">
            <a:avLst>
              <a:gd name="adj1" fmla="val 53620"/>
              <a:gd name="adj2" fmla="val 119816"/>
            </a:avLst>
          </a:prstGeom>
          <a:solidFill>
            <a:srgbClr val="FF0000"/>
          </a:solidFill>
          <a:ln w="12700"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itchFamily="2" charset="-122"/>
            </a:endParaRPr>
          </a:p>
        </p:txBody>
      </p:sp>
      <p:sp>
        <p:nvSpPr>
          <p:cNvPr id="8" name="AutoShape 6"/>
          <p:cNvSpPr>
            <a:spLocks noChangeArrowheads="1"/>
          </p:cNvSpPr>
          <p:nvPr/>
        </p:nvSpPr>
        <p:spPr bwMode="auto">
          <a:xfrm>
            <a:off x="3853755" y="1863725"/>
            <a:ext cx="2384425" cy="252413"/>
          </a:xfrm>
          <a:prstGeom prst="leftRightArrow">
            <a:avLst>
              <a:gd name="adj1" fmla="val 55880"/>
              <a:gd name="adj2" fmla="val 108285"/>
            </a:avLst>
          </a:prstGeom>
          <a:solidFill>
            <a:srgbClr val="FF0000"/>
          </a:solidFill>
          <a:ln w="12700"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itchFamily="2" charset="-122"/>
            </a:endParaRPr>
          </a:p>
        </p:txBody>
      </p:sp>
      <p:grpSp>
        <p:nvGrpSpPr>
          <p:cNvPr id="9" name="Group 7"/>
          <p:cNvGrpSpPr>
            <a:grpSpLocks/>
          </p:cNvGrpSpPr>
          <p:nvPr/>
        </p:nvGrpSpPr>
        <p:grpSpPr bwMode="auto">
          <a:xfrm>
            <a:off x="2920305" y="2355850"/>
            <a:ext cx="4133850" cy="768350"/>
            <a:chOff x="1614" y="1484"/>
            <a:chExt cx="2604" cy="484"/>
          </a:xfrm>
        </p:grpSpPr>
        <p:sp>
          <p:nvSpPr>
            <p:cNvPr id="10" name="Rectangle 8"/>
            <p:cNvSpPr>
              <a:spLocks noChangeArrowheads="1"/>
            </p:cNvSpPr>
            <p:nvPr/>
          </p:nvSpPr>
          <p:spPr bwMode="auto">
            <a:xfrm rot="597975">
              <a:off x="2449" y="1520"/>
              <a:ext cx="129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2000" b="1" i="0" u="none" strike="noStrike" kern="0" cap="none" spc="0" normalizeH="0" baseline="0" noProof="0">
                  <a:ln>
                    <a:noFill/>
                  </a:ln>
                  <a:solidFill>
                    <a:srgbClr val="3333CC"/>
                  </a:solidFill>
                  <a:effectLst/>
                  <a:uLnTx/>
                  <a:uFillTx/>
                  <a:latin typeface="+mn-lt"/>
                  <a:ea typeface="黑体" pitchFamily="2" charset="-122"/>
                </a:rPr>
                <a:t>FIN = 1, seq = u</a:t>
              </a:r>
            </a:p>
          </p:txBody>
        </p:sp>
        <p:sp>
          <p:nvSpPr>
            <p:cNvPr id="11" name="Line 9"/>
            <p:cNvSpPr>
              <a:spLocks noChangeShapeType="1"/>
            </p:cNvSpPr>
            <p:nvPr/>
          </p:nvSpPr>
          <p:spPr bwMode="auto">
            <a:xfrm>
              <a:off x="1614" y="1484"/>
              <a:ext cx="2604" cy="484"/>
            </a:xfrm>
            <a:prstGeom prst="line">
              <a:avLst/>
            </a:prstGeom>
            <a:noFill/>
            <a:ln w="3810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itchFamily="2" charset="-122"/>
              </a:endParaRPr>
            </a:p>
          </p:txBody>
        </p:sp>
      </p:grpSp>
      <p:grpSp>
        <p:nvGrpSpPr>
          <p:cNvPr id="12" name="Group 10"/>
          <p:cNvGrpSpPr>
            <a:grpSpLocks/>
          </p:cNvGrpSpPr>
          <p:nvPr/>
        </p:nvGrpSpPr>
        <p:grpSpPr bwMode="auto">
          <a:xfrm>
            <a:off x="2934593" y="3167063"/>
            <a:ext cx="4133850" cy="769937"/>
            <a:chOff x="1623" y="1995"/>
            <a:chExt cx="2604" cy="485"/>
          </a:xfrm>
        </p:grpSpPr>
        <p:sp>
          <p:nvSpPr>
            <p:cNvPr id="13" name="Rectangle 11"/>
            <p:cNvSpPr>
              <a:spLocks noChangeArrowheads="1"/>
            </p:cNvSpPr>
            <p:nvPr/>
          </p:nvSpPr>
          <p:spPr bwMode="auto">
            <a:xfrm rot="20990024" flipH="1">
              <a:off x="1829" y="2020"/>
              <a:ext cx="2033"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tabLst/>
                <a:defRPr/>
              </a:pPr>
              <a:r>
                <a:rPr kumimoji="0" lang="en-US" altLang="zh-CN" sz="1800" b="1" i="0" u="none" strike="noStrike" kern="0" cap="none" spc="0" normalizeH="0" baseline="0" noProof="0">
                  <a:ln>
                    <a:noFill/>
                  </a:ln>
                  <a:solidFill>
                    <a:srgbClr val="3333CC"/>
                  </a:solidFill>
                  <a:effectLst/>
                  <a:uLnTx/>
                  <a:uFillTx/>
                  <a:latin typeface="+mn-lt"/>
                  <a:ea typeface="黑体" pitchFamily="2" charset="-122"/>
                </a:rPr>
                <a:t>ACK = 1, seq = v, ack= u </a:t>
              </a:r>
              <a:r>
                <a:rPr kumimoji="0" lang="en-US" altLang="zh-CN" sz="1800" b="1" i="0" u="none" strike="noStrike" kern="0" cap="none" spc="0" normalizeH="0" baseline="0" noProof="0">
                  <a:ln>
                    <a:noFill/>
                  </a:ln>
                  <a:solidFill>
                    <a:srgbClr val="3333CC"/>
                  </a:solidFill>
                  <a:effectLst/>
                  <a:uLnTx/>
                  <a:uFillTx/>
                  <a:latin typeface="+mn-lt"/>
                  <a:ea typeface="黑体" pitchFamily="2" charset="-122"/>
                  <a:sym typeface="Symbol" pitchFamily="18" charset="2"/>
                </a:rPr>
                <a:t> 1</a:t>
              </a:r>
              <a:endParaRPr kumimoji="0" lang="en-US" altLang="zh-CN" sz="1800" b="1" i="0" u="none" strike="noStrike" kern="0" cap="none" spc="0" normalizeH="0" baseline="0" noProof="0">
                <a:ln>
                  <a:noFill/>
                </a:ln>
                <a:solidFill>
                  <a:srgbClr val="3333CC"/>
                </a:solidFill>
                <a:effectLst/>
                <a:uLnTx/>
                <a:uFillTx/>
                <a:latin typeface="+mn-lt"/>
                <a:ea typeface="黑体" pitchFamily="2" charset="-122"/>
              </a:endParaRPr>
            </a:p>
          </p:txBody>
        </p:sp>
        <p:sp>
          <p:nvSpPr>
            <p:cNvPr id="14" name="Line 12"/>
            <p:cNvSpPr>
              <a:spLocks noChangeShapeType="1"/>
            </p:cNvSpPr>
            <p:nvPr/>
          </p:nvSpPr>
          <p:spPr bwMode="auto">
            <a:xfrm flipH="1">
              <a:off x="1623" y="1995"/>
              <a:ext cx="2604" cy="485"/>
            </a:xfrm>
            <a:prstGeom prst="line">
              <a:avLst/>
            </a:prstGeom>
            <a:noFill/>
            <a:ln w="3810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itchFamily="2" charset="-122"/>
              </a:endParaRPr>
            </a:p>
          </p:txBody>
        </p:sp>
      </p:grpSp>
      <p:grpSp>
        <p:nvGrpSpPr>
          <p:cNvPr id="15" name="Group 13"/>
          <p:cNvGrpSpPr>
            <a:grpSpLocks/>
          </p:cNvGrpSpPr>
          <p:nvPr/>
        </p:nvGrpSpPr>
        <p:grpSpPr bwMode="auto">
          <a:xfrm>
            <a:off x="2899669" y="4086223"/>
            <a:ext cx="4298950" cy="787399"/>
            <a:chOff x="1601" y="2574"/>
            <a:chExt cx="2708" cy="496"/>
          </a:xfrm>
        </p:grpSpPr>
        <p:sp>
          <p:nvSpPr>
            <p:cNvPr id="16" name="Line 14"/>
            <p:cNvSpPr>
              <a:spLocks noChangeShapeType="1"/>
            </p:cNvSpPr>
            <p:nvPr/>
          </p:nvSpPr>
          <p:spPr bwMode="auto">
            <a:xfrm flipH="1">
              <a:off x="1601" y="2585"/>
              <a:ext cx="2604" cy="485"/>
            </a:xfrm>
            <a:prstGeom prst="line">
              <a:avLst/>
            </a:prstGeom>
            <a:noFill/>
            <a:ln w="3810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itchFamily="2" charset="-122"/>
              </a:endParaRPr>
            </a:p>
          </p:txBody>
        </p:sp>
        <p:sp>
          <p:nvSpPr>
            <p:cNvPr id="17" name="Rectangle 15"/>
            <p:cNvSpPr>
              <a:spLocks noChangeArrowheads="1"/>
            </p:cNvSpPr>
            <p:nvPr/>
          </p:nvSpPr>
          <p:spPr bwMode="auto">
            <a:xfrm rot="20943314" flipH="1">
              <a:off x="1683" y="2574"/>
              <a:ext cx="262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tabLst/>
                <a:defRPr/>
              </a:pPr>
              <a:r>
                <a:rPr kumimoji="0" lang="en-US" altLang="zh-CN" sz="1800" b="1" i="0" u="none" strike="noStrike" kern="0" cap="none" spc="0" normalizeH="0" baseline="0" noProof="0">
                  <a:ln>
                    <a:noFill/>
                  </a:ln>
                  <a:solidFill>
                    <a:srgbClr val="3333CC"/>
                  </a:solidFill>
                  <a:effectLst/>
                  <a:uLnTx/>
                  <a:uFillTx/>
                  <a:latin typeface="+mn-lt"/>
                  <a:ea typeface="黑体" pitchFamily="2" charset="-122"/>
                </a:rPr>
                <a:t>FIN = 1, ACK = 1, seq = w, ack= u </a:t>
              </a:r>
              <a:r>
                <a:rPr kumimoji="0" lang="en-US" altLang="zh-CN" sz="1800" b="1" i="0" u="none" strike="noStrike" kern="0" cap="none" spc="0" normalizeH="0" baseline="0" noProof="0">
                  <a:ln>
                    <a:noFill/>
                  </a:ln>
                  <a:solidFill>
                    <a:srgbClr val="3333CC"/>
                  </a:solidFill>
                  <a:effectLst/>
                  <a:uLnTx/>
                  <a:uFillTx/>
                  <a:latin typeface="+mn-lt"/>
                  <a:ea typeface="黑体" pitchFamily="2" charset="-122"/>
                  <a:sym typeface="Symbol" pitchFamily="18" charset="2"/>
                </a:rPr>
                <a:t> 1</a:t>
              </a:r>
              <a:endParaRPr kumimoji="0" lang="en-US" altLang="zh-CN" sz="1800" b="1" i="0" u="none" strike="noStrike" kern="0" cap="none" spc="0" normalizeH="0" baseline="0" noProof="0">
                <a:ln>
                  <a:noFill/>
                </a:ln>
                <a:solidFill>
                  <a:srgbClr val="3333CC"/>
                </a:solidFill>
                <a:effectLst/>
                <a:uLnTx/>
                <a:uFillTx/>
                <a:latin typeface="+mn-lt"/>
                <a:ea typeface="黑体" pitchFamily="2" charset="-122"/>
              </a:endParaRPr>
            </a:p>
          </p:txBody>
        </p:sp>
      </p:grpSp>
      <p:sp>
        <p:nvSpPr>
          <p:cNvPr id="18" name="Rectangle 16"/>
          <p:cNvSpPr>
            <a:spLocks noChangeArrowheads="1"/>
          </p:cNvSpPr>
          <p:nvPr/>
        </p:nvSpPr>
        <p:spPr bwMode="auto">
          <a:xfrm>
            <a:off x="1964630" y="1611313"/>
            <a:ext cx="954088" cy="673100"/>
          </a:xfrm>
          <a:prstGeom prst="rect">
            <a:avLst/>
          </a:prstGeom>
          <a:solidFill>
            <a:srgbClr val="CCFF99"/>
          </a:solidFill>
          <a:ln>
            <a:noFill/>
          </a:ln>
          <a:effectLst>
            <a:outerShdw dist="35921" dir="2700000" algn="ctr" rotWithShape="0">
              <a:srgbClr val="1C1C1C"/>
            </a:outerShdw>
          </a:effectLst>
          <a:extLst>
            <a:ext uri="{91240B29-F687-4F45-9708-019B960494DF}">
              <a14:hiddenLine xmlns:a14="http://schemas.microsoft.com/office/drawing/2010/main" w="12700" algn="ctr">
                <a:solidFill>
                  <a:schemeClr val="tx1"/>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itchFamily="2" charset="-122"/>
            </a:endParaRPr>
          </a:p>
        </p:txBody>
      </p:sp>
      <p:sp>
        <p:nvSpPr>
          <p:cNvPr id="19" name="Rectangle 17"/>
          <p:cNvSpPr>
            <a:spLocks noChangeArrowheads="1"/>
          </p:cNvSpPr>
          <p:nvPr/>
        </p:nvSpPr>
        <p:spPr bwMode="auto">
          <a:xfrm>
            <a:off x="7050980" y="1611313"/>
            <a:ext cx="955675" cy="1479550"/>
          </a:xfrm>
          <a:prstGeom prst="rect">
            <a:avLst/>
          </a:prstGeom>
          <a:solidFill>
            <a:srgbClr val="CCFF99"/>
          </a:solidFill>
          <a:ln>
            <a:noFill/>
          </a:ln>
          <a:effectLst>
            <a:outerShdw dist="35921" dir="2700000" algn="ctr" rotWithShape="0">
              <a:srgbClr val="1C1C1C"/>
            </a:outerShdw>
          </a:effectLst>
          <a:extLst>
            <a:ext uri="{91240B29-F687-4F45-9708-019B960494DF}">
              <a14:hiddenLine xmlns:a14="http://schemas.microsoft.com/office/drawing/2010/main" w="12700" algn="ctr">
                <a:solidFill>
                  <a:schemeClr val="tx1"/>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itchFamily="2" charset="-122"/>
            </a:endParaRPr>
          </a:p>
        </p:txBody>
      </p:sp>
      <p:grpSp>
        <p:nvGrpSpPr>
          <p:cNvPr id="20" name="Group 18"/>
          <p:cNvGrpSpPr>
            <a:grpSpLocks/>
          </p:cNvGrpSpPr>
          <p:nvPr/>
        </p:nvGrpSpPr>
        <p:grpSpPr bwMode="auto">
          <a:xfrm>
            <a:off x="1866205" y="1528763"/>
            <a:ext cx="6278563" cy="82550"/>
            <a:chOff x="1020" y="481"/>
            <a:chExt cx="4037" cy="46"/>
          </a:xfrm>
        </p:grpSpPr>
        <p:sp>
          <p:nvSpPr>
            <p:cNvPr id="21" name="Line 19"/>
            <p:cNvSpPr>
              <a:spLocks noChangeShapeType="1"/>
            </p:cNvSpPr>
            <p:nvPr/>
          </p:nvSpPr>
          <p:spPr bwMode="auto">
            <a:xfrm>
              <a:off x="1020" y="527"/>
              <a:ext cx="4037" cy="0"/>
            </a:xfrm>
            <a:prstGeom prst="line">
              <a:avLst/>
            </a:prstGeom>
            <a:noFill/>
            <a:ln w="12700">
              <a:solidFill>
                <a:srgbClr val="3333CC"/>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itchFamily="2" charset="-122"/>
              </a:endParaRPr>
            </a:p>
          </p:txBody>
        </p:sp>
        <p:sp>
          <p:nvSpPr>
            <p:cNvPr id="22" name="Line 20"/>
            <p:cNvSpPr>
              <a:spLocks noChangeShapeType="1"/>
            </p:cNvSpPr>
            <p:nvPr/>
          </p:nvSpPr>
          <p:spPr bwMode="auto">
            <a:xfrm>
              <a:off x="1020" y="481"/>
              <a:ext cx="4037" cy="0"/>
            </a:xfrm>
            <a:prstGeom prst="line">
              <a:avLst/>
            </a:prstGeom>
            <a:noFill/>
            <a:ln w="12700">
              <a:solidFill>
                <a:srgbClr val="3333CC"/>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itchFamily="2" charset="-122"/>
              </a:endParaRPr>
            </a:p>
          </p:txBody>
        </p:sp>
      </p:grpSp>
      <p:grpSp>
        <p:nvGrpSpPr>
          <p:cNvPr id="23" name="Group 21"/>
          <p:cNvGrpSpPr>
            <a:grpSpLocks/>
          </p:cNvGrpSpPr>
          <p:nvPr/>
        </p:nvGrpSpPr>
        <p:grpSpPr bwMode="auto">
          <a:xfrm>
            <a:off x="856555" y="1257300"/>
            <a:ext cx="1403350" cy="1082675"/>
            <a:chOff x="314" y="792"/>
            <a:chExt cx="884" cy="682"/>
          </a:xfrm>
        </p:grpSpPr>
        <p:sp>
          <p:nvSpPr>
            <p:cNvPr id="24" name="Freeform 22"/>
            <p:cNvSpPr>
              <a:spLocks/>
            </p:cNvSpPr>
            <p:nvPr/>
          </p:nvSpPr>
          <p:spPr bwMode="auto">
            <a:xfrm>
              <a:off x="349" y="792"/>
              <a:ext cx="849" cy="682"/>
            </a:xfrm>
            <a:custGeom>
              <a:avLst/>
              <a:gdLst>
                <a:gd name="T0" fmla="*/ 849 w 769"/>
                <a:gd name="T1" fmla="*/ 0 h 584"/>
                <a:gd name="T2" fmla="*/ 0 w 769"/>
                <a:gd name="T3" fmla="*/ 11 h 584"/>
                <a:gd name="T4" fmla="*/ 0 w 769"/>
                <a:gd name="T5" fmla="*/ 682 h 584"/>
                <a:gd name="T6" fmla="*/ 666 w 769"/>
                <a:gd name="T7" fmla="*/ 682 h 58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69" h="584">
                  <a:moveTo>
                    <a:pt x="769" y="0"/>
                  </a:moveTo>
                  <a:lnTo>
                    <a:pt x="0" y="9"/>
                  </a:lnTo>
                  <a:lnTo>
                    <a:pt x="0" y="584"/>
                  </a:lnTo>
                  <a:lnTo>
                    <a:pt x="603" y="584"/>
                  </a:lnTo>
                </a:path>
              </a:pathLst>
            </a:custGeom>
            <a:noFill/>
            <a:ln w="28575" cap="flat" cmpd="sng">
              <a:solidFill>
                <a:srgbClr val="3333CC"/>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itchFamily="2" charset="-122"/>
              </a:endParaRPr>
            </a:p>
          </p:txBody>
        </p:sp>
        <p:sp>
          <p:nvSpPr>
            <p:cNvPr id="25" name="Rectangle 23"/>
            <p:cNvSpPr>
              <a:spLocks noChangeArrowheads="1"/>
            </p:cNvSpPr>
            <p:nvPr/>
          </p:nvSpPr>
          <p:spPr bwMode="auto">
            <a:xfrm>
              <a:off x="314" y="1227"/>
              <a:ext cx="701"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800" b="1" i="0" u="none" strike="noStrike" kern="0" cap="none" spc="0" normalizeH="0" baseline="0" noProof="0">
                  <a:ln>
                    <a:noFill/>
                  </a:ln>
                  <a:solidFill>
                    <a:srgbClr val="3333CC"/>
                  </a:solidFill>
                  <a:effectLst/>
                  <a:uLnTx/>
                  <a:uFillTx/>
                  <a:latin typeface="+mn-lt"/>
                  <a:ea typeface="黑体" pitchFamily="2" charset="-122"/>
                </a:rPr>
                <a:t>主动关闭</a:t>
              </a:r>
            </a:p>
          </p:txBody>
        </p:sp>
      </p:grpSp>
      <p:grpSp>
        <p:nvGrpSpPr>
          <p:cNvPr id="26" name="Group 24"/>
          <p:cNvGrpSpPr>
            <a:grpSpLocks/>
          </p:cNvGrpSpPr>
          <p:nvPr/>
        </p:nvGrpSpPr>
        <p:grpSpPr bwMode="auto">
          <a:xfrm>
            <a:off x="7770118" y="1190625"/>
            <a:ext cx="1408112" cy="2905125"/>
            <a:chOff x="4669" y="750"/>
            <a:chExt cx="887" cy="1830"/>
          </a:xfrm>
        </p:grpSpPr>
        <p:sp>
          <p:nvSpPr>
            <p:cNvPr id="27" name="Freeform 25"/>
            <p:cNvSpPr>
              <a:spLocks/>
            </p:cNvSpPr>
            <p:nvPr/>
          </p:nvSpPr>
          <p:spPr bwMode="auto">
            <a:xfrm>
              <a:off x="4669" y="750"/>
              <a:ext cx="887" cy="1830"/>
            </a:xfrm>
            <a:custGeom>
              <a:avLst/>
              <a:gdLst>
                <a:gd name="T0" fmla="*/ 0 w 868"/>
                <a:gd name="T1" fmla="*/ 0 h 1493"/>
                <a:gd name="T2" fmla="*/ 887 w 868"/>
                <a:gd name="T3" fmla="*/ 9 h 1493"/>
                <a:gd name="T4" fmla="*/ 887 w 868"/>
                <a:gd name="T5" fmla="*/ 1830 h 1493"/>
                <a:gd name="T6" fmla="*/ 127 w 868"/>
                <a:gd name="T7" fmla="*/ 1830 h 149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68" h="1493">
                  <a:moveTo>
                    <a:pt x="0" y="0"/>
                  </a:moveTo>
                  <a:lnTo>
                    <a:pt x="868" y="7"/>
                  </a:lnTo>
                  <a:lnTo>
                    <a:pt x="868" y="1493"/>
                  </a:lnTo>
                  <a:lnTo>
                    <a:pt x="124" y="1493"/>
                  </a:lnTo>
                </a:path>
              </a:pathLst>
            </a:custGeom>
            <a:noFill/>
            <a:ln w="28575" cap="flat" cmpd="sng">
              <a:solidFill>
                <a:srgbClr val="3333CC"/>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itchFamily="2" charset="-122"/>
              </a:endParaRPr>
            </a:p>
          </p:txBody>
        </p:sp>
        <p:sp>
          <p:nvSpPr>
            <p:cNvPr id="28" name="Rectangle 26"/>
            <p:cNvSpPr>
              <a:spLocks noChangeArrowheads="1"/>
            </p:cNvSpPr>
            <p:nvPr/>
          </p:nvSpPr>
          <p:spPr bwMode="auto">
            <a:xfrm>
              <a:off x="4855" y="2306"/>
              <a:ext cx="701"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800" b="1" i="0" u="none" strike="noStrike" kern="0" cap="none" spc="0" normalizeH="0" baseline="0" noProof="0">
                  <a:ln>
                    <a:noFill/>
                  </a:ln>
                  <a:solidFill>
                    <a:srgbClr val="3333CC"/>
                  </a:solidFill>
                  <a:effectLst/>
                  <a:uLnTx/>
                  <a:uFillTx/>
                  <a:latin typeface="+mn-lt"/>
                  <a:ea typeface="黑体" pitchFamily="2" charset="-122"/>
                </a:rPr>
                <a:t>被动关闭</a:t>
              </a:r>
            </a:p>
          </p:txBody>
        </p:sp>
      </p:grpSp>
      <p:sp>
        <p:nvSpPr>
          <p:cNvPr id="29" name="Rectangle 27"/>
          <p:cNvSpPr>
            <a:spLocks noChangeArrowheads="1"/>
          </p:cNvSpPr>
          <p:nvPr/>
        </p:nvSpPr>
        <p:spPr bwMode="auto">
          <a:xfrm>
            <a:off x="4488755" y="1778000"/>
            <a:ext cx="1215077" cy="397545"/>
          </a:xfrm>
          <a:prstGeom prst="rect">
            <a:avLst/>
          </a:prstGeom>
          <a:solidFill>
            <a:srgbClr val="CCECFF"/>
          </a:solidFill>
          <a:ln w="38100" cmpd="dbl" algn="ctr">
            <a:solidFill>
              <a:srgbClr val="3333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2000" b="1" i="0" u="none" strike="noStrike" kern="0" cap="none" spc="0" normalizeH="0" baseline="0" noProof="0">
                <a:ln>
                  <a:noFill/>
                </a:ln>
                <a:solidFill>
                  <a:srgbClr val="3333CC"/>
                </a:solidFill>
                <a:effectLst/>
                <a:uLnTx/>
                <a:uFillTx/>
                <a:latin typeface="+mn-lt"/>
                <a:ea typeface="黑体" pitchFamily="2" charset="-122"/>
              </a:rPr>
              <a:t>数据传送</a:t>
            </a:r>
          </a:p>
        </p:txBody>
      </p:sp>
      <p:grpSp>
        <p:nvGrpSpPr>
          <p:cNvPr id="30" name="Group 28"/>
          <p:cNvGrpSpPr>
            <a:grpSpLocks/>
          </p:cNvGrpSpPr>
          <p:nvPr/>
        </p:nvGrpSpPr>
        <p:grpSpPr bwMode="auto">
          <a:xfrm>
            <a:off x="7811393" y="1376363"/>
            <a:ext cx="1206500" cy="1789112"/>
            <a:chOff x="4695" y="867"/>
            <a:chExt cx="760" cy="1127"/>
          </a:xfrm>
        </p:grpSpPr>
        <p:sp>
          <p:nvSpPr>
            <p:cNvPr id="31" name="Freeform 29"/>
            <p:cNvSpPr>
              <a:spLocks/>
            </p:cNvSpPr>
            <p:nvPr/>
          </p:nvSpPr>
          <p:spPr bwMode="auto">
            <a:xfrm>
              <a:off x="4695" y="867"/>
              <a:ext cx="361" cy="1127"/>
            </a:xfrm>
            <a:custGeom>
              <a:avLst/>
              <a:gdLst>
                <a:gd name="T0" fmla="*/ 80 w 451"/>
                <a:gd name="T1" fmla="*/ 1127 h 965"/>
                <a:gd name="T2" fmla="*/ 269 w 451"/>
                <a:gd name="T3" fmla="*/ 1044 h 965"/>
                <a:gd name="T4" fmla="*/ 341 w 451"/>
                <a:gd name="T5" fmla="*/ 827 h 965"/>
                <a:gd name="T6" fmla="*/ 361 w 451"/>
                <a:gd name="T7" fmla="*/ 487 h 965"/>
                <a:gd name="T8" fmla="*/ 341 w 451"/>
                <a:gd name="T9" fmla="*/ 242 h 965"/>
                <a:gd name="T10" fmla="*/ 269 w 451"/>
                <a:gd name="T11" fmla="*/ 84 h 965"/>
                <a:gd name="T12" fmla="*/ 0 w 451"/>
                <a:gd name="T13" fmla="*/ 0 h 96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51" h="965">
                  <a:moveTo>
                    <a:pt x="100" y="965"/>
                  </a:moveTo>
                  <a:cubicBezTo>
                    <a:pt x="139" y="951"/>
                    <a:pt x="282" y="937"/>
                    <a:pt x="336" y="894"/>
                  </a:cubicBezTo>
                  <a:cubicBezTo>
                    <a:pt x="390" y="851"/>
                    <a:pt x="407" y="787"/>
                    <a:pt x="426" y="708"/>
                  </a:cubicBezTo>
                  <a:cubicBezTo>
                    <a:pt x="445" y="629"/>
                    <a:pt x="451" y="500"/>
                    <a:pt x="451" y="417"/>
                  </a:cubicBezTo>
                  <a:cubicBezTo>
                    <a:pt x="451" y="334"/>
                    <a:pt x="445" y="264"/>
                    <a:pt x="426" y="207"/>
                  </a:cubicBezTo>
                  <a:cubicBezTo>
                    <a:pt x="407" y="150"/>
                    <a:pt x="407" y="106"/>
                    <a:pt x="336" y="72"/>
                  </a:cubicBezTo>
                  <a:cubicBezTo>
                    <a:pt x="265" y="38"/>
                    <a:pt x="70" y="15"/>
                    <a:pt x="0" y="0"/>
                  </a:cubicBezTo>
                </a:path>
              </a:pathLst>
            </a:custGeom>
            <a:noFill/>
            <a:ln w="28575" cap="flat" cmpd="sng">
              <a:solidFill>
                <a:srgbClr val="3333CC"/>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itchFamily="2" charset="-122"/>
              </a:endParaRPr>
            </a:p>
          </p:txBody>
        </p:sp>
        <p:sp>
          <p:nvSpPr>
            <p:cNvPr id="32" name="Rectangle 30"/>
            <p:cNvSpPr>
              <a:spLocks noChangeArrowheads="1"/>
            </p:cNvSpPr>
            <p:nvPr/>
          </p:nvSpPr>
          <p:spPr bwMode="auto">
            <a:xfrm>
              <a:off x="5047" y="1120"/>
              <a:ext cx="408" cy="5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800" b="1" i="0" u="none" strike="noStrike" kern="0" cap="none" spc="0" normalizeH="0" baseline="0" noProof="0">
                  <a:ln>
                    <a:noFill/>
                  </a:ln>
                  <a:solidFill>
                    <a:srgbClr val="3333CC"/>
                  </a:solidFill>
                  <a:effectLst/>
                  <a:uLnTx/>
                  <a:uFillTx/>
                  <a:latin typeface="+mn-lt"/>
                  <a:ea typeface="黑体" pitchFamily="2" charset="-122"/>
                </a:rPr>
                <a:t>通知</a:t>
              </a:r>
            </a:p>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800" b="1" i="0" u="none" strike="noStrike" kern="0" cap="none" spc="0" normalizeH="0" baseline="0" noProof="0">
                  <a:ln>
                    <a:noFill/>
                  </a:ln>
                  <a:solidFill>
                    <a:srgbClr val="3333CC"/>
                  </a:solidFill>
                  <a:effectLst/>
                  <a:uLnTx/>
                  <a:uFillTx/>
                  <a:latin typeface="+mn-lt"/>
                  <a:ea typeface="黑体" pitchFamily="2" charset="-122"/>
                </a:rPr>
                <a:t>应用</a:t>
              </a:r>
            </a:p>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800" b="1" i="0" u="none" strike="noStrike" kern="0" cap="none" spc="0" normalizeH="0" baseline="0" noProof="0">
                  <a:ln>
                    <a:noFill/>
                  </a:ln>
                  <a:solidFill>
                    <a:srgbClr val="3333CC"/>
                  </a:solidFill>
                  <a:effectLst/>
                  <a:uLnTx/>
                  <a:uFillTx/>
                  <a:latin typeface="+mn-lt"/>
                  <a:ea typeface="黑体" pitchFamily="2" charset="-122"/>
                </a:rPr>
                <a:t>进程</a:t>
              </a:r>
            </a:p>
          </p:txBody>
        </p:sp>
      </p:grpSp>
      <p:sp>
        <p:nvSpPr>
          <p:cNvPr id="33" name="Rectangle 31"/>
          <p:cNvSpPr>
            <a:spLocks noChangeArrowheads="1"/>
          </p:cNvSpPr>
          <p:nvPr/>
        </p:nvSpPr>
        <p:spPr bwMode="auto">
          <a:xfrm>
            <a:off x="1945580" y="1622425"/>
            <a:ext cx="1041953"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800" b="1" i="0" u="none" strike="noStrike" kern="0" cap="none" spc="0" normalizeH="0" baseline="0" noProof="0">
                <a:ln>
                  <a:noFill/>
                </a:ln>
                <a:solidFill>
                  <a:srgbClr val="3333CC"/>
                </a:solidFill>
                <a:effectLst/>
                <a:uLnTx/>
                <a:uFillTx/>
                <a:latin typeface="+mn-lt"/>
                <a:ea typeface="黑体" pitchFamily="2" charset="-122"/>
              </a:rPr>
              <a:t>ESTAB-</a:t>
            </a:r>
          </a:p>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800" b="1" i="0" u="none" strike="noStrike" kern="0" cap="none" spc="0" normalizeH="0" baseline="0" noProof="0">
                <a:ln>
                  <a:noFill/>
                </a:ln>
                <a:solidFill>
                  <a:srgbClr val="3333CC"/>
                </a:solidFill>
                <a:effectLst/>
                <a:uLnTx/>
                <a:uFillTx/>
                <a:latin typeface="+mn-lt"/>
                <a:ea typeface="黑体" pitchFamily="2" charset="-122"/>
              </a:rPr>
              <a:t>LISHED</a:t>
            </a:r>
          </a:p>
        </p:txBody>
      </p:sp>
      <p:sp>
        <p:nvSpPr>
          <p:cNvPr id="34" name="Rectangle 32"/>
          <p:cNvSpPr>
            <a:spLocks noChangeArrowheads="1"/>
          </p:cNvSpPr>
          <p:nvPr/>
        </p:nvSpPr>
        <p:spPr bwMode="auto">
          <a:xfrm>
            <a:off x="7031930" y="2058988"/>
            <a:ext cx="1041953"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800" b="1" i="0" u="none" strike="noStrike" kern="0" cap="none" spc="0" normalizeH="0" baseline="0" noProof="0">
                <a:ln>
                  <a:noFill/>
                </a:ln>
                <a:solidFill>
                  <a:srgbClr val="3333CC"/>
                </a:solidFill>
                <a:effectLst/>
                <a:uLnTx/>
                <a:uFillTx/>
                <a:latin typeface="+mn-lt"/>
                <a:ea typeface="黑体" pitchFamily="2" charset="-122"/>
              </a:rPr>
              <a:t>ESTAB-</a:t>
            </a:r>
          </a:p>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800" b="1" i="0" u="none" strike="noStrike" kern="0" cap="none" spc="0" normalizeH="0" baseline="0" noProof="0">
                <a:ln>
                  <a:noFill/>
                </a:ln>
                <a:solidFill>
                  <a:srgbClr val="3333CC"/>
                </a:solidFill>
                <a:effectLst/>
                <a:uLnTx/>
                <a:uFillTx/>
                <a:latin typeface="+mn-lt"/>
                <a:ea typeface="黑体" pitchFamily="2" charset="-122"/>
              </a:rPr>
              <a:t>LISHED</a:t>
            </a:r>
          </a:p>
        </p:txBody>
      </p:sp>
      <p:pic>
        <p:nvPicPr>
          <p:cNvPr id="35" name="Picture 33"/>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190055" y="969963"/>
            <a:ext cx="504825" cy="496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6" name="Picture 34"/>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276405" y="969963"/>
            <a:ext cx="504825" cy="496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7" name="Rectangle 35"/>
          <p:cNvSpPr>
            <a:spLocks noChangeArrowheads="1"/>
          </p:cNvSpPr>
          <p:nvPr/>
        </p:nvSpPr>
        <p:spPr bwMode="auto">
          <a:xfrm>
            <a:off x="2580580" y="938213"/>
            <a:ext cx="349456"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800" b="1" i="0" u="none" strike="noStrike" kern="0" cap="none" spc="0" normalizeH="0" baseline="0" noProof="0">
                <a:ln>
                  <a:noFill/>
                </a:ln>
                <a:solidFill>
                  <a:srgbClr val="3333CC"/>
                </a:solidFill>
                <a:effectLst/>
                <a:uLnTx/>
                <a:uFillTx/>
                <a:latin typeface="+mn-lt"/>
                <a:ea typeface="黑体" pitchFamily="2" charset="-122"/>
              </a:rPr>
              <a:t>A</a:t>
            </a:r>
          </a:p>
        </p:txBody>
      </p:sp>
      <p:sp>
        <p:nvSpPr>
          <p:cNvPr id="38" name="Rectangle 36"/>
          <p:cNvSpPr>
            <a:spLocks noChangeArrowheads="1"/>
          </p:cNvSpPr>
          <p:nvPr/>
        </p:nvSpPr>
        <p:spPr bwMode="auto">
          <a:xfrm>
            <a:off x="7081143" y="938213"/>
            <a:ext cx="349456"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800" b="1" i="0" u="none" strike="noStrike" kern="0" cap="none" spc="0" normalizeH="0" baseline="0" noProof="0">
                <a:ln>
                  <a:noFill/>
                </a:ln>
                <a:solidFill>
                  <a:srgbClr val="3333CC"/>
                </a:solidFill>
                <a:effectLst/>
                <a:uLnTx/>
                <a:uFillTx/>
                <a:latin typeface="+mn-lt"/>
                <a:ea typeface="黑体" pitchFamily="2" charset="-122"/>
              </a:rPr>
              <a:t>B</a:t>
            </a:r>
          </a:p>
        </p:txBody>
      </p:sp>
      <p:sp>
        <p:nvSpPr>
          <p:cNvPr id="39" name="Rectangle 37"/>
          <p:cNvSpPr>
            <a:spLocks noChangeArrowheads="1"/>
          </p:cNvSpPr>
          <p:nvPr/>
        </p:nvSpPr>
        <p:spPr bwMode="auto">
          <a:xfrm>
            <a:off x="2124968" y="647700"/>
            <a:ext cx="647614"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800" b="1" i="0" u="none" strike="noStrike" kern="0" cap="none" spc="0" normalizeH="0" baseline="0" noProof="0">
                <a:ln>
                  <a:noFill/>
                </a:ln>
                <a:solidFill>
                  <a:srgbClr val="3333CC"/>
                </a:solidFill>
                <a:effectLst/>
                <a:uLnTx/>
                <a:uFillTx/>
                <a:latin typeface="+mn-lt"/>
                <a:ea typeface="黑体" pitchFamily="2" charset="-122"/>
              </a:rPr>
              <a:t>客户</a:t>
            </a:r>
          </a:p>
        </p:txBody>
      </p:sp>
      <p:sp>
        <p:nvSpPr>
          <p:cNvPr id="40" name="Rectangle 38"/>
          <p:cNvSpPr>
            <a:spLocks noChangeArrowheads="1"/>
          </p:cNvSpPr>
          <p:nvPr/>
        </p:nvSpPr>
        <p:spPr bwMode="auto">
          <a:xfrm>
            <a:off x="7092255" y="647700"/>
            <a:ext cx="880050"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800" b="1" i="0" u="none" strike="noStrike" kern="0" cap="none" spc="0" normalizeH="0" baseline="0" noProof="0">
                <a:ln>
                  <a:noFill/>
                </a:ln>
                <a:solidFill>
                  <a:srgbClr val="3333CC"/>
                </a:solidFill>
                <a:effectLst/>
                <a:uLnTx/>
                <a:uFillTx/>
                <a:latin typeface="+mn-lt"/>
                <a:ea typeface="黑体" pitchFamily="2" charset="-122"/>
              </a:rPr>
              <a:t>服务器</a:t>
            </a:r>
          </a:p>
        </p:txBody>
      </p:sp>
      <p:sp>
        <p:nvSpPr>
          <p:cNvPr id="41" name="Rectangle 39"/>
          <p:cNvSpPr>
            <a:spLocks noChangeArrowheads="1"/>
          </p:cNvSpPr>
          <p:nvPr/>
        </p:nvSpPr>
        <p:spPr bwMode="auto">
          <a:xfrm rot="-628888">
            <a:off x="4660679" y="3629484"/>
            <a:ext cx="1215077" cy="397545"/>
          </a:xfrm>
          <a:prstGeom prst="rect">
            <a:avLst/>
          </a:prstGeom>
          <a:solidFill>
            <a:srgbClr val="CCECFF"/>
          </a:solidFill>
          <a:ln w="38100" cmpd="dbl" algn="ctr">
            <a:solidFill>
              <a:srgbClr val="3333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2000" b="1" i="0" u="none" strike="noStrike" kern="0" cap="none" spc="0" normalizeH="0" baseline="0" noProof="0">
                <a:ln>
                  <a:noFill/>
                </a:ln>
                <a:solidFill>
                  <a:srgbClr val="3333CC"/>
                </a:solidFill>
                <a:effectLst/>
                <a:uLnTx/>
                <a:uFillTx/>
                <a:latin typeface="+mn-lt"/>
                <a:ea typeface="黑体" pitchFamily="2" charset="-122"/>
              </a:rPr>
              <a:t>数据传送</a:t>
            </a:r>
          </a:p>
        </p:txBody>
      </p:sp>
      <p:sp>
        <p:nvSpPr>
          <p:cNvPr id="42" name="Text Box 41"/>
          <p:cNvSpPr txBox="1">
            <a:spLocks noChangeArrowheads="1"/>
          </p:cNvSpPr>
          <p:nvPr/>
        </p:nvSpPr>
        <p:spPr bwMode="auto">
          <a:xfrm>
            <a:off x="1853505" y="5373688"/>
            <a:ext cx="6167073" cy="954107"/>
          </a:xfrm>
          <a:prstGeom prst="rect">
            <a:avLst/>
          </a:prstGeom>
          <a:solidFill>
            <a:srgbClr val="FFFF99"/>
          </a:solidFill>
          <a:ln w="9525">
            <a:solidFill>
              <a:srgbClr val="3333CC"/>
            </a:solidFill>
            <a:miter lim="800000"/>
            <a:headEnd/>
            <a:tailEnd/>
          </a:ln>
          <a:effectLst>
            <a:outerShdw dist="35921" dir="2700000" algn="ctr" rotWithShape="0">
              <a:srgbClr val="1C1C1C"/>
            </a:outerShdw>
          </a:effec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Char char="•"/>
              <a:tabLst/>
              <a:defRPr/>
            </a:pPr>
            <a:r>
              <a:rPr kumimoji="0" lang="en-US" altLang="zh-CN" sz="2800" i="0" u="none" strike="noStrike" kern="0" cap="none" spc="0" normalizeH="0" baseline="0" noProof="0">
                <a:ln>
                  <a:noFill/>
                </a:ln>
                <a:solidFill>
                  <a:srgbClr val="000099"/>
                </a:solidFill>
                <a:effectLst/>
                <a:uLnTx/>
                <a:uFillTx/>
                <a:latin typeface="+mn-lt"/>
                <a:ea typeface="黑体" pitchFamily="2" charset="-122"/>
              </a:rPr>
              <a:t>  </a:t>
            </a:r>
            <a:r>
              <a:rPr kumimoji="0" lang="zh-CN" altLang="en-US" sz="2800" i="0" u="none" strike="noStrike" kern="0" cap="none" spc="0" normalizeH="0" baseline="0" noProof="0">
                <a:ln>
                  <a:noFill/>
                </a:ln>
                <a:solidFill>
                  <a:srgbClr val="000099"/>
                </a:solidFill>
                <a:effectLst/>
                <a:uLnTx/>
                <a:uFillTx/>
                <a:latin typeface="+mn-lt"/>
                <a:ea typeface="黑体" pitchFamily="2" charset="-122"/>
              </a:rPr>
              <a:t>若 </a:t>
            </a:r>
            <a:r>
              <a:rPr kumimoji="0" lang="en-US" altLang="zh-CN" sz="2800" i="0" u="none" strike="noStrike" kern="0" cap="none" spc="0" normalizeH="0" baseline="0" noProof="0">
                <a:ln>
                  <a:noFill/>
                </a:ln>
                <a:solidFill>
                  <a:srgbClr val="000099"/>
                </a:solidFill>
                <a:effectLst/>
                <a:uLnTx/>
                <a:uFillTx/>
                <a:latin typeface="+mn-lt"/>
                <a:ea typeface="黑体" pitchFamily="2" charset="-122"/>
              </a:rPr>
              <a:t>B </a:t>
            </a:r>
            <a:r>
              <a:rPr kumimoji="0" lang="zh-CN" altLang="en-US" sz="2800" i="0" u="none" strike="noStrike" kern="0" cap="none" spc="0" normalizeH="0" baseline="0" noProof="0">
                <a:ln>
                  <a:noFill/>
                </a:ln>
                <a:solidFill>
                  <a:srgbClr val="000099"/>
                </a:solidFill>
                <a:effectLst/>
                <a:uLnTx/>
                <a:uFillTx/>
                <a:latin typeface="+mn-lt"/>
                <a:ea typeface="黑体" pitchFamily="2" charset="-122"/>
              </a:rPr>
              <a:t>已经没有要向 </a:t>
            </a:r>
            <a:r>
              <a:rPr kumimoji="0" lang="en-US" altLang="zh-CN" sz="2800" i="0" u="none" strike="noStrike" kern="0" cap="none" spc="0" normalizeH="0" baseline="0" noProof="0">
                <a:ln>
                  <a:noFill/>
                </a:ln>
                <a:solidFill>
                  <a:srgbClr val="000099"/>
                </a:solidFill>
                <a:effectLst/>
                <a:uLnTx/>
                <a:uFillTx/>
                <a:latin typeface="+mn-lt"/>
                <a:ea typeface="黑体" pitchFamily="2" charset="-122"/>
              </a:rPr>
              <a:t>A </a:t>
            </a:r>
            <a:r>
              <a:rPr kumimoji="0" lang="zh-CN" altLang="en-US" sz="2800" i="0" u="none" strike="noStrike" kern="0" cap="none" spc="0" normalizeH="0" baseline="0" noProof="0">
                <a:ln>
                  <a:noFill/>
                </a:ln>
                <a:solidFill>
                  <a:srgbClr val="000099"/>
                </a:solidFill>
                <a:effectLst/>
                <a:uLnTx/>
                <a:uFillTx/>
                <a:latin typeface="+mn-lt"/>
                <a:ea typeface="黑体" pitchFamily="2" charset="-122"/>
              </a:rPr>
              <a:t>发送的数据，</a:t>
            </a:r>
          </a:p>
          <a:p>
            <a:pPr marL="0" marR="0" lvl="0" indent="0" algn="l" defTabSz="914400" eaLnBrk="1" fontAlgn="auto" latinLnBrk="0" hangingPunct="1">
              <a:lnSpc>
                <a:spcPct val="100000"/>
              </a:lnSpc>
              <a:spcBef>
                <a:spcPts val="0"/>
              </a:spcBef>
              <a:spcAft>
                <a:spcPts val="0"/>
              </a:spcAft>
              <a:buClrTx/>
              <a:buSzTx/>
              <a:buFontTx/>
              <a:buNone/>
              <a:tabLst/>
              <a:defRPr/>
            </a:pPr>
            <a:r>
              <a:rPr kumimoji="0" lang="zh-CN" altLang="en-US" sz="2800" i="0" u="none" strike="noStrike" kern="0" cap="none" spc="0" normalizeH="0" baseline="0" noProof="0">
                <a:ln>
                  <a:noFill/>
                </a:ln>
                <a:solidFill>
                  <a:srgbClr val="000099"/>
                </a:solidFill>
                <a:effectLst/>
                <a:uLnTx/>
                <a:uFillTx/>
                <a:latin typeface="+mn-lt"/>
                <a:ea typeface="黑体" pitchFamily="2" charset="-122"/>
              </a:rPr>
              <a:t>   其应用进程就通知 </a:t>
            </a:r>
            <a:r>
              <a:rPr kumimoji="0" lang="en-US" altLang="zh-CN" sz="2800" i="0" u="none" strike="noStrike" kern="0" cap="none" spc="0" normalizeH="0" baseline="0" noProof="0">
                <a:ln>
                  <a:noFill/>
                </a:ln>
                <a:solidFill>
                  <a:srgbClr val="000099"/>
                </a:solidFill>
                <a:effectLst/>
                <a:uLnTx/>
                <a:uFillTx/>
                <a:latin typeface="+mn-lt"/>
                <a:ea typeface="黑体" pitchFamily="2" charset="-122"/>
              </a:rPr>
              <a:t>TCP </a:t>
            </a:r>
            <a:r>
              <a:rPr kumimoji="0" lang="zh-CN" altLang="en-US" sz="2800" i="0" u="none" strike="noStrike" kern="0" cap="none" spc="0" normalizeH="0" baseline="0" noProof="0">
                <a:ln>
                  <a:noFill/>
                </a:ln>
                <a:solidFill>
                  <a:srgbClr val="000099"/>
                </a:solidFill>
                <a:effectLst/>
                <a:uLnTx/>
                <a:uFillTx/>
                <a:latin typeface="+mn-lt"/>
                <a:ea typeface="黑体" pitchFamily="2" charset="-122"/>
              </a:rPr>
              <a:t>释放连接。 </a:t>
            </a:r>
          </a:p>
        </p:txBody>
      </p:sp>
      <p:sp>
        <p:nvSpPr>
          <p:cNvPr id="44" name="Text Box 30"/>
          <p:cNvSpPr txBox="1">
            <a:spLocks noChangeArrowheads="1"/>
          </p:cNvSpPr>
          <p:nvPr/>
        </p:nvSpPr>
        <p:spPr bwMode="auto">
          <a:xfrm>
            <a:off x="1132656" y="34925"/>
            <a:ext cx="7924800" cy="650875"/>
          </a:xfrm>
          <a:prstGeom prst="rect">
            <a:avLst/>
          </a:prstGeom>
          <a:solidFill>
            <a:srgbClr val="FFFF99"/>
          </a:solidFill>
          <a:ln w="9525">
            <a:solidFill>
              <a:srgbClr val="3333CC"/>
            </a:solidFill>
            <a:miter lim="800000"/>
            <a:headEnd/>
            <a:tailEnd/>
          </a:ln>
          <a:effectLst>
            <a:outerShdw dist="35921" dir="2700000" algn="ctr" rotWithShape="0">
              <a:srgbClr val="1C1C1C"/>
            </a:outerShdw>
          </a:effectLst>
        </p:spPr>
        <p:txBody>
          <a:bodyPr>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3600" b="1" i="0" u="none" strike="noStrike" kern="0" cap="none" spc="0" normalizeH="0" baseline="0" noProof="0" dirty="0">
                <a:ln>
                  <a:noFill/>
                </a:ln>
                <a:solidFill>
                  <a:srgbClr val="333399"/>
                </a:solidFill>
                <a:effectLst/>
                <a:uLnTx/>
                <a:uFillTx/>
                <a:latin typeface="Arial" pitchFamily="34" charset="0"/>
                <a:ea typeface="黑体" pitchFamily="2" charset="-122"/>
              </a:rPr>
              <a:t>TCP </a:t>
            </a:r>
            <a:r>
              <a:rPr kumimoji="0" lang="zh-CN" altLang="en-US" sz="3600" b="1" i="0" u="none" strike="noStrike" kern="0" cap="none" spc="0" normalizeH="0" baseline="0" noProof="0" dirty="0">
                <a:ln>
                  <a:noFill/>
                </a:ln>
                <a:solidFill>
                  <a:srgbClr val="333399"/>
                </a:solidFill>
                <a:effectLst/>
                <a:uLnTx/>
                <a:uFillTx/>
                <a:latin typeface="Arial" pitchFamily="34" charset="0"/>
                <a:ea typeface="黑体" pitchFamily="2" charset="-122"/>
              </a:rPr>
              <a:t>的连接释放：采用</a:t>
            </a:r>
            <a:r>
              <a:rPr kumimoji="0" lang="zh-CN" altLang="zh-CN" sz="3600" kern="0" dirty="0">
                <a:solidFill>
                  <a:srgbClr val="FF0000"/>
                </a:solidFill>
                <a:latin typeface="Arial" pitchFamily="34" charset="0"/>
                <a:ea typeface="黑体" pitchFamily="2" charset="-122"/>
              </a:rPr>
              <a:t>四报文握手</a:t>
            </a:r>
            <a:endParaRPr kumimoji="0" lang="zh-CN" altLang="en-US" sz="3600" kern="0" dirty="0">
              <a:solidFill>
                <a:srgbClr val="FF0000"/>
              </a:solidFill>
              <a:latin typeface="Arial" pitchFamily="34" charset="0"/>
              <a:ea typeface="黑体" pitchFamily="2" charset="-122"/>
            </a:endParaRPr>
          </a:p>
        </p:txBody>
      </p:sp>
    </p:spTree>
    <p:extLst>
      <p:ext uri="{BB962C8B-B14F-4D97-AF65-F5344CB8AC3E}">
        <p14:creationId xmlns:p14="http://schemas.microsoft.com/office/powerpoint/2010/main" val="31438624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42"/>
                                        </p:tgtEl>
                                        <p:attrNameLst>
                                          <p:attrName>style.visibility</p:attrName>
                                        </p:attrNameLst>
                                      </p:cBhvr>
                                      <p:to>
                                        <p:strVal val="visible"/>
                                      </p:to>
                                    </p:set>
                                  </p:childTnLst>
                                </p:cTn>
                              </p:par>
                            </p:childTnLst>
                          </p:cTn>
                        </p:par>
                        <p:par>
                          <p:cTn id="7" fill="hold">
                            <p:stCondLst>
                              <p:cond delay="0"/>
                            </p:stCondLst>
                            <p:childTnLst>
                              <p:par>
                                <p:cTn id="8" presetID="22" presetClass="entr" presetSubtype="1" fill="hold" nodeType="afterEffect">
                                  <p:stCondLst>
                                    <p:cond delay="1000"/>
                                  </p:stCondLst>
                                  <p:childTnLst>
                                    <p:set>
                                      <p:cBhvr>
                                        <p:cTn id="9" dur="1" fill="hold">
                                          <p:stCondLst>
                                            <p:cond delay="0"/>
                                          </p:stCondLst>
                                        </p:cTn>
                                        <p:tgtEl>
                                          <p:spTgt spid="26"/>
                                        </p:tgtEl>
                                        <p:attrNameLst>
                                          <p:attrName>style.visibility</p:attrName>
                                        </p:attrNameLst>
                                      </p:cBhvr>
                                      <p:to>
                                        <p:strVal val="visible"/>
                                      </p:to>
                                    </p:set>
                                    <p:animEffect transition="in" filter="wipe(up)">
                                      <p:cBhvr>
                                        <p:cTn id="10" dur="1000"/>
                                        <p:tgtEl>
                                          <p:spTgt spid="26"/>
                                        </p:tgtEl>
                                      </p:cBhvr>
                                    </p:animEffect>
                                  </p:childTnLst>
                                </p:cTn>
                              </p:par>
                            </p:childTnLst>
                          </p:cTn>
                        </p:par>
                        <p:par>
                          <p:cTn id="11" fill="hold">
                            <p:stCondLst>
                              <p:cond delay="2000"/>
                            </p:stCondLst>
                            <p:childTnLst>
                              <p:par>
                                <p:cTn id="12" presetID="22" presetClass="entr" presetSubtype="2" fill="hold" nodeType="afterEffect">
                                  <p:stCondLst>
                                    <p:cond delay="0"/>
                                  </p:stCondLst>
                                  <p:childTnLst>
                                    <p:set>
                                      <p:cBhvr>
                                        <p:cTn id="13" dur="1" fill="hold">
                                          <p:stCondLst>
                                            <p:cond delay="0"/>
                                          </p:stCondLst>
                                        </p:cTn>
                                        <p:tgtEl>
                                          <p:spTgt spid="15"/>
                                        </p:tgtEl>
                                        <p:attrNameLst>
                                          <p:attrName>style.visibility</p:attrName>
                                        </p:attrNameLst>
                                      </p:cBhvr>
                                      <p:to>
                                        <p:strVal val="visible"/>
                                      </p:to>
                                    </p:set>
                                    <p:animEffect transition="in" filter="wipe(right)">
                                      <p:cBhvr>
                                        <p:cTn id="14" dur="10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2"/>
          <p:cNvGrpSpPr>
            <a:grpSpLocks/>
          </p:cNvGrpSpPr>
          <p:nvPr/>
        </p:nvGrpSpPr>
        <p:grpSpPr bwMode="auto">
          <a:xfrm>
            <a:off x="2891160" y="2349500"/>
            <a:ext cx="4248150" cy="4062413"/>
            <a:chOff x="1474" y="1888"/>
            <a:chExt cx="2676" cy="2432"/>
          </a:xfrm>
        </p:grpSpPr>
        <p:sp>
          <p:nvSpPr>
            <p:cNvPr id="5" name="Line 3"/>
            <p:cNvSpPr>
              <a:spLocks noChangeShapeType="1"/>
            </p:cNvSpPr>
            <p:nvPr/>
          </p:nvSpPr>
          <p:spPr bwMode="auto">
            <a:xfrm>
              <a:off x="1474" y="1888"/>
              <a:ext cx="0" cy="2432"/>
            </a:xfrm>
            <a:prstGeom prst="line">
              <a:avLst/>
            </a:prstGeom>
            <a:noFill/>
            <a:ln w="28575">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6" name="Line 4"/>
            <p:cNvSpPr>
              <a:spLocks noChangeShapeType="1"/>
            </p:cNvSpPr>
            <p:nvPr/>
          </p:nvSpPr>
          <p:spPr bwMode="auto">
            <a:xfrm>
              <a:off x="4150" y="1888"/>
              <a:ext cx="0" cy="2432"/>
            </a:xfrm>
            <a:prstGeom prst="line">
              <a:avLst/>
            </a:prstGeom>
            <a:noFill/>
            <a:ln w="28575">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grpSp>
      <p:sp>
        <p:nvSpPr>
          <p:cNvPr id="7" name="AutoShape 5"/>
          <p:cNvSpPr>
            <a:spLocks noChangeArrowheads="1"/>
          </p:cNvSpPr>
          <p:nvPr/>
        </p:nvSpPr>
        <p:spPr bwMode="auto">
          <a:xfrm rot="-651552">
            <a:off x="4136257" y="3895725"/>
            <a:ext cx="676275" cy="236538"/>
          </a:xfrm>
          <a:prstGeom prst="leftArrow">
            <a:avLst>
              <a:gd name="adj1" fmla="val 53620"/>
              <a:gd name="adj2" fmla="val 119816"/>
            </a:avLst>
          </a:prstGeom>
          <a:solidFill>
            <a:srgbClr val="FF0000"/>
          </a:solidFill>
          <a:ln w="12700"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itchFamily="2" charset="-122"/>
            </a:endParaRPr>
          </a:p>
        </p:txBody>
      </p:sp>
      <p:sp>
        <p:nvSpPr>
          <p:cNvPr id="8" name="AutoShape 6"/>
          <p:cNvSpPr>
            <a:spLocks noChangeArrowheads="1"/>
          </p:cNvSpPr>
          <p:nvPr/>
        </p:nvSpPr>
        <p:spPr bwMode="auto">
          <a:xfrm>
            <a:off x="3845744" y="1863725"/>
            <a:ext cx="2384425" cy="252413"/>
          </a:xfrm>
          <a:prstGeom prst="leftRightArrow">
            <a:avLst>
              <a:gd name="adj1" fmla="val 55880"/>
              <a:gd name="adj2" fmla="val 108285"/>
            </a:avLst>
          </a:prstGeom>
          <a:solidFill>
            <a:srgbClr val="FF0000"/>
          </a:solidFill>
          <a:ln w="12700"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itchFamily="2" charset="-122"/>
            </a:endParaRPr>
          </a:p>
        </p:txBody>
      </p:sp>
      <p:grpSp>
        <p:nvGrpSpPr>
          <p:cNvPr id="9" name="Group 7"/>
          <p:cNvGrpSpPr>
            <a:grpSpLocks/>
          </p:cNvGrpSpPr>
          <p:nvPr/>
        </p:nvGrpSpPr>
        <p:grpSpPr bwMode="auto">
          <a:xfrm>
            <a:off x="2912294" y="2355850"/>
            <a:ext cx="4133850" cy="768350"/>
            <a:chOff x="1614" y="1484"/>
            <a:chExt cx="2604" cy="484"/>
          </a:xfrm>
        </p:grpSpPr>
        <p:sp>
          <p:nvSpPr>
            <p:cNvPr id="10" name="Rectangle 8"/>
            <p:cNvSpPr>
              <a:spLocks noChangeArrowheads="1"/>
            </p:cNvSpPr>
            <p:nvPr/>
          </p:nvSpPr>
          <p:spPr bwMode="auto">
            <a:xfrm rot="597975">
              <a:off x="2449" y="1520"/>
              <a:ext cx="129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2000" b="1" i="0" u="none" strike="noStrike" kern="0" cap="none" spc="0" normalizeH="0" baseline="0" noProof="0">
                  <a:ln>
                    <a:noFill/>
                  </a:ln>
                  <a:solidFill>
                    <a:srgbClr val="3333CC"/>
                  </a:solidFill>
                  <a:effectLst/>
                  <a:uLnTx/>
                  <a:uFillTx/>
                  <a:latin typeface="+mn-lt"/>
                  <a:ea typeface="黑体" pitchFamily="2" charset="-122"/>
                </a:rPr>
                <a:t>FIN = 1, seq = u</a:t>
              </a:r>
            </a:p>
          </p:txBody>
        </p:sp>
        <p:sp>
          <p:nvSpPr>
            <p:cNvPr id="11" name="Line 9"/>
            <p:cNvSpPr>
              <a:spLocks noChangeShapeType="1"/>
            </p:cNvSpPr>
            <p:nvPr/>
          </p:nvSpPr>
          <p:spPr bwMode="auto">
            <a:xfrm>
              <a:off x="1614" y="1484"/>
              <a:ext cx="2604" cy="484"/>
            </a:xfrm>
            <a:prstGeom prst="line">
              <a:avLst/>
            </a:prstGeom>
            <a:noFill/>
            <a:ln w="3810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itchFamily="2" charset="-122"/>
              </a:endParaRPr>
            </a:p>
          </p:txBody>
        </p:sp>
      </p:grpSp>
      <p:grpSp>
        <p:nvGrpSpPr>
          <p:cNvPr id="12" name="Group 10"/>
          <p:cNvGrpSpPr>
            <a:grpSpLocks/>
          </p:cNvGrpSpPr>
          <p:nvPr/>
        </p:nvGrpSpPr>
        <p:grpSpPr bwMode="auto">
          <a:xfrm>
            <a:off x="2926582" y="3167063"/>
            <a:ext cx="4133850" cy="769937"/>
            <a:chOff x="1623" y="1995"/>
            <a:chExt cx="2604" cy="485"/>
          </a:xfrm>
        </p:grpSpPr>
        <p:sp>
          <p:nvSpPr>
            <p:cNvPr id="13" name="Rectangle 11"/>
            <p:cNvSpPr>
              <a:spLocks noChangeArrowheads="1"/>
            </p:cNvSpPr>
            <p:nvPr/>
          </p:nvSpPr>
          <p:spPr bwMode="auto">
            <a:xfrm rot="20990024" flipH="1">
              <a:off x="1828" y="2020"/>
              <a:ext cx="2033"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tabLst/>
                <a:defRPr/>
              </a:pPr>
              <a:r>
                <a:rPr kumimoji="0" lang="en-US" altLang="zh-CN" sz="1800" b="1" i="0" u="none" strike="noStrike" kern="0" cap="none" spc="0" normalizeH="0" baseline="0" noProof="0">
                  <a:ln>
                    <a:noFill/>
                  </a:ln>
                  <a:solidFill>
                    <a:srgbClr val="3333CC"/>
                  </a:solidFill>
                  <a:effectLst/>
                  <a:uLnTx/>
                  <a:uFillTx/>
                  <a:latin typeface="+mn-lt"/>
                  <a:ea typeface="黑体" pitchFamily="2" charset="-122"/>
                </a:rPr>
                <a:t>ACK = 1, seq = v, ack= u </a:t>
              </a:r>
              <a:r>
                <a:rPr kumimoji="0" lang="en-US" altLang="zh-CN" sz="1800" b="1" i="0" u="none" strike="noStrike" kern="0" cap="none" spc="0" normalizeH="0" baseline="0" noProof="0">
                  <a:ln>
                    <a:noFill/>
                  </a:ln>
                  <a:solidFill>
                    <a:srgbClr val="3333CC"/>
                  </a:solidFill>
                  <a:effectLst/>
                  <a:uLnTx/>
                  <a:uFillTx/>
                  <a:latin typeface="+mn-lt"/>
                  <a:ea typeface="黑体" pitchFamily="2" charset="-122"/>
                  <a:sym typeface="Symbol" pitchFamily="18" charset="2"/>
                </a:rPr>
                <a:t> 1</a:t>
              </a:r>
              <a:endParaRPr kumimoji="0" lang="en-US" altLang="zh-CN" sz="1800" b="1" i="0" u="none" strike="noStrike" kern="0" cap="none" spc="0" normalizeH="0" baseline="0" noProof="0">
                <a:ln>
                  <a:noFill/>
                </a:ln>
                <a:solidFill>
                  <a:srgbClr val="3333CC"/>
                </a:solidFill>
                <a:effectLst/>
                <a:uLnTx/>
                <a:uFillTx/>
                <a:latin typeface="+mn-lt"/>
                <a:ea typeface="黑体" pitchFamily="2" charset="-122"/>
              </a:endParaRPr>
            </a:p>
          </p:txBody>
        </p:sp>
        <p:sp>
          <p:nvSpPr>
            <p:cNvPr id="14" name="Line 12"/>
            <p:cNvSpPr>
              <a:spLocks noChangeShapeType="1"/>
            </p:cNvSpPr>
            <p:nvPr/>
          </p:nvSpPr>
          <p:spPr bwMode="auto">
            <a:xfrm flipH="1">
              <a:off x="1623" y="1995"/>
              <a:ext cx="2604" cy="485"/>
            </a:xfrm>
            <a:prstGeom prst="line">
              <a:avLst/>
            </a:prstGeom>
            <a:noFill/>
            <a:ln w="3810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itchFamily="2" charset="-122"/>
              </a:endParaRPr>
            </a:p>
          </p:txBody>
        </p:sp>
      </p:grpSp>
      <p:grpSp>
        <p:nvGrpSpPr>
          <p:cNvPr id="15" name="Group 13"/>
          <p:cNvGrpSpPr>
            <a:grpSpLocks/>
          </p:cNvGrpSpPr>
          <p:nvPr/>
        </p:nvGrpSpPr>
        <p:grpSpPr bwMode="auto">
          <a:xfrm>
            <a:off x="2891657" y="4086223"/>
            <a:ext cx="4298950" cy="787399"/>
            <a:chOff x="1601" y="2574"/>
            <a:chExt cx="2708" cy="496"/>
          </a:xfrm>
        </p:grpSpPr>
        <p:sp>
          <p:nvSpPr>
            <p:cNvPr id="16" name="Line 14"/>
            <p:cNvSpPr>
              <a:spLocks noChangeShapeType="1"/>
            </p:cNvSpPr>
            <p:nvPr/>
          </p:nvSpPr>
          <p:spPr bwMode="auto">
            <a:xfrm flipH="1">
              <a:off x="1601" y="2585"/>
              <a:ext cx="2604" cy="485"/>
            </a:xfrm>
            <a:prstGeom prst="line">
              <a:avLst/>
            </a:prstGeom>
            <a:noFill/>
            <a:ln w="3810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itchFamily="2" charset="-122"/>
              </a:endParaRPr>
            </a:p>
          </p:txBody>
        </p:sp>
        <p:sp>
          <p:nvSpPr>
            <p:cNvPr id="17" name="Rectangle 15"/>
            <p:cNvSpPr>
              <a:spLocks noChangeArrowheads="1"/>
            </p:cNvSpPr>
            <p:nvPr/>
          </p:nvSpPr>
          <p:spPr bwMode="auto">
            <a:xfrm rot="20943314" flipH="1">
              <a:off x="1683" y="2574"/>
              <a:ext cx="262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tabLst/>
                <a:defRPr/>
              </a:pPr>
              <a:r>
                <a:rPr kumimoji="0" lang="en-US" altLang="zh-CN" sz="1800" b="1" i="0" u="none" strike="noStrike" kern="0" cap="none" spc="0" normalizeH="0" baseline="0" noProof="0">
                  <a:ln>
                    <a:noFill/>
                  </a:ln>
                  <a:solidFill>
                    <a:srgbClr val="3333CC"/>
                  </a:solidFill>
                  <a:effectLst/>
                  <a:uLnTx/>
                  <a:uFillTx/>
                  <a:latin typeface="+mn-lt"/>
                  <a:ea typeface="黑体" pitchFamily="2" charset="-122"/>
                </a:rPr>
                <a:t>FIN = 1, ACK = 1, seq = w, ack= u </a:t>
              </a:r>
              <a:r>
                <a:rPr kumimoji="0" lang="en-US" altLang="zh-CN" sz="1800" b="1" i="0" u="none" strike="noStrike" kern="0" cap="none" spc="0" normalizeH="0" baseline="0" noProof="0">
                  <a:ln>
                    <a:noFill/>
                  </a:ln>
                  <a:solidFill>
                    <a:srgbClr val="3333CC"/>
                  </a:solidFill>
                  <a:effectLst/>
                  <a:uLnTx/>
                  <a:uFillTx/>
                  <a:latin typeface="+mn-lt"/>
                  <a:ea typeface="黑体" pitchFamily="2" charset="-122"/>
                  <a:sym typeface="Symbol" pitchFamily="18" charset="2"/>
                </a:rPr>
                <a:t> 1</a:t>
              </a:r>
              <a:endParaRPr kumimoji="0" lang="en-US" altLang="zh-CN" sz="1800" b="1" i="0" u="none" strike="noStrike" kern="0" cap="none" spc="0" normalizeH="0" baseline="0" noProof="0">
                <a:ln>
                  <a:noFill/>
                </a:ln>
                <a:solidFill>
                  <a:srgbClr val="3333CC"/>
                </a:solidFill>
                <a:effectLst/>
                <a:uLnTx/>
                <a:uFillTx/>
                <a:latin typeface="+mn-lt"/>
                <a:ea typeface="黑体" pitchFamily="2" charset="-122"/>
              </a:endParaRPr>
            </a:p>
          </p:txBody>
        </p:sp>
      </p:grpSp>
      <p:sp>
        <p:nvSpPr>
          <p:cNvPr id="18" name="Rectangle 16"/>
          <p:cNvSpPr>
            <a:spLocks noChangeArrowheads="1"/>
          </p:cNvSpPr>
          <p:nvPr/>
        </p:nvSpPr>
        <p:spPr bwMode="auto">
          <a:xfrm>
            <a:off x="1956619" y="1611313"/>
            <a:ext cx="954088" cy="673100"/>
          </a:xfrm>
          <a:prstGeom prst="rect">
            <a:avLst/>
          </a:prstGeom>
          <a:solidFill>
            <a:srgbClr val="CCFF99"/>
          </a:solidFill>
          <a:ln>
            <a:noFill/>
          </a:ln>
          <a:effectLst>
            <a:outerShdw dist="35921" dir="2700000" algn="ctr" rotWithShape="0">
              <a:srgbClr val="1C1C1C"/>
            </a:outerShdw>
          </a:effectLst>
          <a:extLst>
            <a:ext uri="{91240B29-F687-4F45-9708-019B960494DF}">
              <a14:hiddenLine xmlns:a14="http://schemas.microsoft.com/office/drawing/2010/main" w="12700" algn="ctr">
                <a:solidFill>
                  <a:schemeClr val="tx1"/>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itchFamily="2" charset="-122"/>
            </a:endParaRPr>
          </a:p>
        </p:txBody>
      </p:sp>
      <p:sp>
        <p:nvSpPr>
          <p:cNvPr id="19" name="Rectangle 17"/>
          <p:cNvSpPr>
            <a:spLocks noChangeArrowheads="1"/>
          </p:cNvSpPr>
          <p:nvPr/>
        </p:nvSpPr>
        <p:spPr bwMode="auto">
          <a:xfrm>
            <a:off x="7042969" y="1611313"/>
            <a:ext cx="955675" cy="1479550"/>
          </a:xfrm>
          <a:prstGeom prst="rect">
            <a:avLst/>
          </a:prstGeom>
          <a:solidFill>
            <a:srgbClr val="CCFF99"/>
          </a:solidFill>
          <a:ln>
            <a:noFill/>
          </a:ln>
          <a:effectLst>
            <a:outerShdw dist="35921" dir="2700000" algn="ctr" rotWithShape="0">
              <a:srgbClr val="1C1C1C"/>
            </a:outerShdw>
          </a:effectLst>
          <a:extLst>
            <a:ext uri="{91240B29-F687-4F45-9708-019B960494DF}">
              <a14:hiddenLine xmlns:a14="http://schemas.microsoft.com/office/drawing/2010/main" w="12700" algn="ctr">
                <a:solidFill>
                  <a:schemeClr val="tx1"/>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itchFamily="2" charset="-122"/>
            </a:endParaRPr>
          </a:p>
        </p:txBody>
      </p:sp>
      <p:grpSp>
        <p:nvGrpSpPr>
          <p:cNvPr id="20" name="Group 18"/>
          <p:cNvGrpSpPr>
            <a:grpSpLocks/>
          </p:cNvGrpSpPr>
          <p:nvPr/>
        </p:nvGrpSpPr>
        <p:grpSpPr bwMode="auto">
          <a:xfrm>
            <a:off x="1858194" y="1528763"/>
            <a:ext cx="6278563" cy="82550"/>
            <a:chOff x="1020" y="481"/>
            <a:chExt cx="4037" cy="46"/>
          </a:xfrm>
        </p:grpSpPr>
        <p:sp>
          <p:nvSpPr>
            <p:cNvPr id="21" name="Line 19"/>
            <p:cNvSpPr>
              <a:spLocks noChangeShapeType="1"/>
            </p:cNvSpPr>
            <p:nvPr/>
          </p:nvSpPr>
          <p:spPr bwMode="auto">
            <a:xfrm>
              <a:off x="1020" y="527"/>
              <a:ext cx="4037" cy="0"/>
            </a:xfrm>
            <a:prstGeom prst="line">
              <a:avLst/>
            </a:prstGeom>
            <a:noFill/>
            <a:ln w="12700">
              <a:solidFill>
                <a:srgbClr val="3333CC"/>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itchFamily="2" charset="-122"/>
              </a:endParaRPr>
            </a:p>
          </p:txBody>
        </p:sp>
        <p:sp>
          <p:nvSpPr>
            <p:cNvPr id="22" name="Line 20"/>
            <p:cNvSpPr>
              <a:spLocks noChangeShapeType="1"/>
            </p:cNvSpPr>
            <p:nvPr/>
          </p:nvSpPr>
          <p:spPr bwMode="auto">
            <a:xfrm>
              <a:off x="1020" y="481"/>
              <a:ext cx="4037" cy="0"/>
            </a:xfrm>
            <a:prstGeom prst="line">
              <a:avLst/>
            </a:prstGeom>
            <a:noFill/>
            <a:ln w="12700">
              <a:solidFill>
                <a:srgbClr val="3333CC"/>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itchFamily="2" charset="-122"/>
              </a:endParaRPr>
            </a:p>
          </p:txBody>
        </p:sp>
      </p:grpSp>
      <p:grpSp>
        <p:nvGrpSpPr>
          <p:cNvPr id="23" name="Group 21"/>
          <p:cNvGrpSpPr>
            <a:grpSpLocks/>
          </p:cNvGrpSpPr>
          <p:nvPr/>
        </p:nvGrpSpPr>
        <p:grpSpPr bwMode="auto">
          <a:xfrm>
            <a:off x="848544" y="1257300"/>
            <a:ext cx="1403350" cy="1082675"/>
            <a:chOff x="314" y="792"/>
            <a:chExt cx="884" cy="682"/>
          </a:xfrm>
        </p:grpSpPr>
        <p:sp>
          <p:nvSpPr>
            <p:cNvPr id="24" name="Freeform 22"/>
            <p:cNvSpPr>
              <a:spLocks/>
            </p:cNvSpPr>
            <p:nvPr/>
          </p:nvSpPr>
          <p:spPr bwMode="auto">
            <a:xfrm>
              <a:off x="349" y="792"/>
              <a:ext cx="849" cy="682"/>
            </a:xfrm>
            <a:custGeom>
              <a:avLst/>
              <a:gdLst>
                <a:gd name="T0" fmla="*/ 849 w 769"/>
                <a:gd name="T1" fmla="*/ 0 h 584"/>
                <a:gd name="T2" fmla="*/ 0 w 769"/>
                <a:gd name="T3" fmla="*/ 11 h 584"/>
                <a:gd name="T4" fmla="*/ 0 w 769"/>
                <a:gd name="T5" fmla="*/ 682 h 584"/>
                <a:gd name="T6" fmla="*/ 666 w 769"/>
                <a:gd name="T7" fmla="*/ 682 h 58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69" h="584">
                  <a:moveTo>
                    <a:pt x="769" y="0"/>
                  </a:moveTo>
                  <a:lnTo>
                    <a:pt x="0" y="9"/>
                  </a:lnTo>
                  <a:lnTo>
                    <a:pt x="0" y="584"/>
                  </a:lnTo>
                  <a:lnTo>
                    <a:pt x="603" y="584"/>
                  </a:lnTo>
                </a:path>
              </a:pathLst>
            </a:custGeom>
            <a:noFill/>
            <a:ln w="28575" cap="flat" cmpd="sng">
              <a:solidFill>
                <a:srgbClr val="3333CC"/>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itchFamily="2" charset="-122"/>
              </a:endParaRPr>
            </a:p>
          </p:txBody>
        </p:sp>
        <p:sp>
          <p:nvSpPr>
            <p:cNvPr id="25" name="Rectangle 23"/>
            <p:cNvSpPr>
              <a:spLocks noChangeArrowheads="1"/>
            </p:cNvSpPr>
            <p:nvPr/>
          </p:nvSpPr>
          <p:spPr bwMode="auto">
            <a:xfrm>
              <a:off x="314" y="1227"/>
              <a:ext cx="701"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800" b="1" i="0" u="none" strike="noStrike" kern="0" cap="none" spc="0" normalizeH="0" baseline="0" noProof="0">
                  <a:ln>
                    <a:noFill/>
                  </a:ln>
                  <a:solidFill>
                    <a:srgbClr val="3333CC"/>
                  </a:solidFill>
                  <a:effectLst/>
                  <a:uLnTx/>
                  <a:uFillTx/>
                  <a:latin typeface="+mn-lt"/>
                  <a:ea typeface="黑体" pitchFamily="2" charset="-122"/>
                </a:rPr>
                <a:t>主动关闭</a:t>
              </a:r>
            </a:p>
          </p:txBody>
        </p:sp>
      </p:grpSp>
      <p:grpSp>
        <p:nvGrpSpPr>
          <p:cNvPr id="26" name="Group 24"/>
          <p:cNvGrpSpPr>
            <a:grpSpLocks/>
          </p:cNvGrpSpPr>
          <p:nvPr/>
        </p:nvGrpSpPr>
        <p:grpSpPr bwMode="auto">
          <a:xfrm>
            <a:off x="7762107" y="1190625"/>
            <a:ext cx="1408112" cy="2905125"/>
            <a:chOff x="4669" y="750"/>
            <a:chExt cx="887" cy="1830"/>
          </a:xfrm>
        </p:grpSpPr>
        <p:sp>
          <p:nvSpPr>
            <p:cNvPr id="27" name="Freeform 25"/>
            <p:cNvSpPr>
              <a:spLocks/>
            </p:cNvSpPr>
            <p:nvPr/>
          </p:nvSpPr>
          <p:spPr bwMode="auto">
            <a:xfrm>
              <a:off x="4669" y="750"/>
              <a:ext cx="887" cy="1830"/>
            </a:xfrm>
            <a:custGeom>
              <a:avLst/>
              <a:gdLst>
                <a:gd name="T0" fmla="*/ 0 w 868"/>
                <a:gd name="T1" fmla="*/ 0 h 1493"/>
                <a:gd name="T2" fmla="*/ 887 w 868"/>
                <a:gd name="T3" fmla="*/ 9 h 1493"/>
                <a:gd name="T4" fmla="*/ 887 w 868"/>
                <a:gd name="T5" fmla="*/ 1830 h 1493"/>
                <a:gd name="T6" fmla="*/ 127 w 868"/>
                <a:gd name="T7" fmla="*/ 1830 h 149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68" h="1493">
                  <a:moveTo>
                    <a:pt x="0" y="0"/>
                  </a:moveTo>
                  <a:lnTo>
                    <a:pt x="868" y="7"/>
                  </a:lnTo>
                  <a:lnTo>
                    <a:pt x="868" y="1493"/>
                  </a:lnTo>
                  <a:lnTo>
                    <a:pt x="124" y="1493"/>
                  </a:lnTo>
                </a:path>
              </a:pathLst>
            </a:custGeom>
            <a:noFill/>
            <a:ln w="28575" cap="flat" cmpd="sng">
              <a:solidFill>
                <a:srgbClr val="3333CC"/>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itchFamily="2" charset="-122"/>
              </a:endParaRPr>
            </a:p>
          </p:txBody>
        </p:sp>
        <p:sp>
          <p:nvSpPr>
            <p:cNvPr id="28" name="Rectangle 26"/>
            <p:cNvSpPr>
              <a:spLocks noChangeArrowheads="1"/>
            </p:cNvSpPr>
            <p:nvPr/>
          </p:nvSpPr>
          <p:spPr bwMode="auto">
            <a:xfrm>
              <a:off x="4855" y="2306"/>
              <a:ext cx="701"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800" b="1" i="0" u="none" strike="noStrike" kern="0" cap="none" spc="0" normalizeH="0" baseline="0" noProof="0">
                  <a:ln>
                    <a:noFill/>
                  </a:ln>
                  <a:solidFill>
                    <a:srgbClr val="3333CC"/>
                  </a:solidFill>
                  <a:effectLst/>
                  <a:uLnTx/>
                  <a:uFillTx/>
                  <a:latin typeface="+mn-lt"/>
                  <a:ea typeface="黑体" pitchFamily="2" charset="-122"/>
                </a:rPr>
                <a:t>被动关闭</a:t>
              </a:r>
            </a:p>
          </p:txBody>
        </p:sp>
      </p:grpSp>
      <p:sp>
        <p:nvSpPr>
          <p:cNvPr id="29" name="Rectangle 27"/>
          <p:cNvSpPr>
            <a:spLocks noChangeArrowheads="1"/>
          </p:cNvSpPr>
          <p:nvPr/>
        </p:nvSpPr>
        <p:spPr bwMode="auto">
          <a:xfrm>
            <a:off x="4480744" y="1778000"/>
            <a:ext cx="1215077" cy="397545"/>
          </a:xfrm>
          <a:prstGeom prst="rect">
            <a:avLst/>
          </a:prstGeom>
          <a:solidFill>
            <a:srgbClr val="CCECFF"/>
          </a:solidFill>
          <a:ln w="38100" cmpd="dbl" algn="ctr">
            <a:solidFill>
              <a:srgbClr val="3333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2000" b="1" i="0" u="none" strike="noStrike" kern="0" cap="none" spc="0" normalizeH="0" baseline="0" noProof="0">
                <a:ln>
                  <a:noFill/>
                </a:ln>
                <a:solidFill>
                  <a:srgbClr val="3333CC"/>
                </a:solidFill>
                <a:effectLst/>
                <a:uLnTx/>
                <a:uFillTx/>
                <a:latin typeface="+mn-lt"/>
                <a:ea typeface="黑体" pitchFamily="2" charset="-122"/>
              </a:rPr>
              <a:t>数据传送</a:t>
            </a:r>
          </a:p>
        </p:txBody>
      </p:sp>
      <p:grpSp>
        <p:nvGrpSpPr>
          <p:cNvPr id="30" name="Group 28"/>
          <p:cNvGrpSpPr>
            <a:grpSpLocks/>
          </p:cNvGrpSpPr>
          <p:nvPr/>
        </p:nvGrpSpPr>
        <p:grpSpPr bwMode="auto">
          <a:xfrm>
            <a:off x="7803382" y="1376363"/>
            <a:ext cx="1206500" cy="1789112"/>
            <a:chOff x="4695" y="867"/>
            <a:chExt cx="760" cy="1127"/>
          </a:xfrm>
        </p:grpSpPr>
        <p:sp>
          <p:nvSpPr>
            <p:cNvPr id="31" name="Freeform 29"/>
            <p:cNvSpPr>
              <a:spLocks/>
            </p:cNvSpPr>
            <p:nvPr/>
          </p:nvSpPr>
          <p:spPr bwMode="auto">
            <a:xfrm>
              <a:off x="4695" y="867"/>
              <a:ext cx="361" cy="1127"/>
            </a:xfrm>
            <a:custGeom>
              <a:avLst/>
              <a:gdLst>
                <a:gd name="T0" fmla="*/ 80 w 451"/>
                <a:gd name="T1" fmla="*/ 1127 h 965"/>
                <a:gd name="T2" fmla="*/ 269 w 451"/>
                <a:gd name="T3" fmla="*/ 1044 h 965"/>
                <a:gd name="T4" fmla="*/ 341 w 451"/>
                <a:gd name="T5" fmla="*/ 827 h 965"/>
                <a:gd name="T6" fmla="*/ 361 w 451"/>
                <a:gd name="T7" fmla="*/ 487 h 965"/>
                <a:gd name="T8" fmla="*/ 341 w 451"/>
                <a:gd name="T9" fmla="*/ 242 h 965"/>
                <a:gd name="T10" fmla="*/ 269 w 451"/>
                <a:gd name="T11" fmla="*/ 84 h 965"/>
                <a:gd name="T12" fmla="*/ 0 w 451"/>
                <a:gd name="T13" fmla="*/ 0 h 96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51" h="965">
                  <a:moveTo>
                    <a:pt x="100" y="965"/>
                  </a:moveTo>
                  <a:cubicBezTo>
                    <a:pt x="139" y="951"/>
                    <a:pt x="282" y="937"/>
                    <a:pt x="336" y="894"/>
                  </a:cubicBezTo>
                  <a:cubicBezTo>
                    <a:pt x="390" y="851"/>
                    <a:pt x="407" y="787"/>
                    <a:pt x="426" y="708"/>
                  </a:cubicBezTo>
                  <a:cubicBezTo>
                    <a:pt x="445" y="629"/>
                    <a:pt x="451" y="500"/>
                    <a:pt x="451" y="417"/>
                  </a:cubicBezTo>
                  <a:cubicBezTo>
                    <a:pt x="451" y="334"/>
                    <a:pt x="445" y="264"/>
                    <a:pt x="426" y="207"/>
                  </a:cubicBezTo>
                  <a:cubicBezTo>
                    <a:pt x="407" y="150"/>
                    <a:pt x="407" y="106"/>
                    <a:pt x="336" y="72"/>
                  </a:cubicBezTo>
                  <a:cubicBezTo>
                    <a:pt x="265" y="38"/>
                    <a:pt x="70" y="15"/>
                    <a:pt x="0" y="0"/>
                  </a:cubicBezTo>
                </a:path>
              </a:pathLst>
            </a:custGeom>
            <a:noFill/>
            <a:ln w="28575" cap="flat" cmpd="sng">
              <a:solidFill>
                <a:srgbClr val="3333CC"/>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itchFamily="2" charset="-122"/>
              </a:endParaRPr>
            </a:p>
          </p:txBody>
        </p:sp>
        <p:sp>
          <p:nvSpPr>
            <p:cNvPr id="32" name="Rectangle 30"/>
            <p:cNvSpPr>
              <a:spLocks noChangeArrowheads="1"/>
            </p:cNvSpPr>
            <p:nvPr/>
          </p:nvSpPr>
          <p:spPr bwMode="auto">
            <a:xfrm>
              <a:off x="5047" y="1120"/>
              <a:ext cx="408" cy="5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800" b="1" i="0" u="none" strike="noStrike" kern="0" cap="none" spc="0" normalizeH="0" baseline="0" noProof="0">
                  <a:ln>
                    <a:noFill/>
                  </a:ln>
                  <a:solidFill>
                    <a:srgbClr val="3333CC"/>
                  </a:solidFill>
                  <a:effectLst/>
                  <a:uLnTx/>
                  <a:uFillTx/>
                  <a:latin typeface="+mn-lt"/>
                  <a:ea typeface="黑体" pitchFamily="2" charset="-122"/>
                </a:rPr>
                <a:t>通知</a:t>
              </a:r>
            </a:p>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800" b="1" i="0" u="none" strike="noStrike" kern="0" cap="none" spc="0" normalizeH="0" baseline="0" noProof="0">
                  <a:ln>
                    <a:noFill/>
                  </a:ln>
                  <a:solidFill>
                    <a:srgbClr val="3333CC"/>
                  </a:solidFill>
                  <a:effectLst/>
                  <a:uLnTx/>
                  <a:uFillTx/>
                  <a:latin typeface="+mn-lt"/>
                  <a:ea typeface="黑体" pitchFamily="2" charset="-122"/>
                </a:rPr>
                <a:t>应用</a:t>
              </a:r>
            </a:p>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800" b="1" i="0" u="none" strike="noStrike" kern="0" cap="none" spc="0" normalizeH="0" baseline="0" noProof="0">
                  <a:ln>
                    <a:noFill/>
                  </a:ln>
                  <a:solidFill>
                    <a:srgbClr val="3333CC"/>
                  </a:solidFill>
                  <a:effectLst/>
                  <a:uLnTx/>
                  <a:uFillTx/>
                  <a:latin typeface="+mn-lt"/>
                  <a:ea typeface="黑体" pitchFamily="2" charset="-122"/>
                </a:rPr>
                <a:t>进程</a:t>
              </a:r>
            </a:p>
          </p:txBody>
        </p:sp>
      </p:grpSp>
      <p:sp>
        <p:nvSpPr>
          <p:cNvPr id="33" name="Rectangle 31"/>
          <p:cNvSpPr>
            <a:spLocks noChangeArrowheads="1"/>
          </p:cNvSpPr>
          <p:nvPr/>
        </p:nvSpPr>
        <p:spPr bwMode="auto">
          <a:xfrm>
            <a:off x="1937569" y="1622425"/>
            <a:ext cx="1041953"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800" b="1" i="0" u="none" strike="noStrike" kern="0" cap="none" spc="0" normalizeH="0" baseline="0" noProof="0">
                <a:ln>
                  <a:noFill/>
                </a:ln>
                <a:solidFill>
                  <a:srgbClr val="3333CC"/>
                </a:solidFill>
                <a:effectLst/>
                <a:uLnTx/>
                <a:uFillTx/>
                <a:latin typeface="+mn-lt"/>
                <a:ea typeface="黑体" pitchFamily="2" charset="-122"/>
              </a:rPr>
              <a:t>ESTAB-</a:t>
            </a:r>
          </a:p>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800" b="1" i="0" u="none" strike="noStrike" kern="0" cap="none" spc="0" normalizeH="0" baseline="0" noProof="0">
                <a:ln>
                  <a:noFill/>
                </a:ln>
                <a:solidFill>
                  <a:srgbClr val="3333CC"/>
                </a:solidFill>
                <a:effectLst/>
                <a:uLnTx/>
                <a:uFillTx/>
                <a:latin typeface="+mn-lt"/>
                <a:ea typeface="黑体" pitchFamily="2" charset="-122"/>
              </a:rPr>
              <a:t>LISHED</a:t>
            </a:r>
          </a:p>
        </p:txBody>
      </p:sp>
      <p:sp>
        <p:nvSpPr>
          <p:cNvPr id="34" name="Rectangle 32"/>
          <p:cNvSpPr>
            <a:spLocks noChangeArrowheads="1"/>
          </p:cNvSpPr>
          <p:nvPr/>
        </p:nvSpPr>
        <p:spPr bwMode="auto">
          <a:xfrm>
            <a:off x="7023919" y="2058988"/>
            <a:ext cx="1041953"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800" b="1" i="0" u="none" strike="noStrike" kern="0" cap="none" spc="0" normalizeH="0" baseline="0" noProof="0">
                <a:ln>
                  <a:noFill/>
                </a:ln>
                <a:solidFill>
                  <a:srgbClr val="3333CC"/>
                </a:solidFill>
                <a:effectLst/>
                <a:uLnTx/>
                <a:uFillTx/>
                <a:latin typeface="+mn-lt"/>
                <a:ea typeface="黑体" pitchFamily="2" charset="-122"/>
              </a:rPr>
              <a:t>ESTAB-</a:t>
            </a:r>
          </a:p>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800" b="1" i="0" u="none" strike="noStrike" kern="0" cap="none" spc="0" normalizeH="0" baseline="0" noProof="0">
                <a:ln>
                  <a:noFill/>
                </a:ln>
                <a:solidFill>
                  <a:srgbClr val="3333CC"/>
                </a:solidFill>
                <a:effectLst/>
                <a:uLnTx/>
                <a:uFillTx/>
                <a:latin typeface="+mn-lt"/>
                <a:ea typeface="黑体" pitchFamily="2" charset="-122"/>
              </a:rPr>
              <a:t>LISHED</a:t>
            </a:r>
          </a:p>
        </p:txBody>
      </p:sp>
      <p:pic>
        <p:nvPicPr>
          <p:cNvPr id="35" name="Picture 33"/>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182044" y="969963"/>
            <a:ext cx="504825" cy="496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6" name="Picture 34"/>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268394" y="969963"/>
            <a:ext cx="504825" cy="496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7" name="Rectangle 35"/>
          <p:cNvSpPr>
            <a:spLocks noChangeArrowheads="1"/>
          </p:cNvSpPr>
          <p:nvPr/>
        </p:nvSpPr>
        <p:spPr bwMode="auto">
          <a:xfrm>
            <a:off x="2572569" y="938213"/>
            <a:ext cx="349456"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800" b="1" i="0" u="none" strike="noStrike" kern="0" cap="none" spc="0" normalizeH="0" baseline="0" noProof="0">
                <a:ln>
                  <a:noFill/>
                </a:ln>
                <a:solidFill>
                  <a:srgbClr val="3333CC"/>
                </a:solidFill>
                <a:effectLst/>
                <a:uLnTx/>
                <a:uFillTx/>
                <a:latin typeface="+mn-lt"/>
                <a:ea typeface="黑体" pitchFamily="2" charset="-122"/>
              </a:rPr>
              <a:t>A</a:t>
            </a:r>
          </a:p>
        </p:txBody>
      </p:sp>
      <p:sp>
        <p:nvSpPr>
          <p:cNvPr id="38" name="Rectangle 36"/>
          <p:cNvSpPr>
            <a:spLocks noChangeArrowheads="1"/>
          </p:cNvSpPr>
          <p:nvPr/>
        </p:nvSpPr>
        <p:spPr bwMode="auto">
          <a:xfrm>
            <a:off x="7073132" y="938213"/>
            <a:ext cx="349456"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800" b="1" i="0" u="none" strike="noStrike" kern="0" cap="none" spc="0" normalizeH="0" baseline="0" noProof="0">
                <a:ln>
                  <a:noFill/>
                </a:ln>
                <a:solidFill>
                  <a:srgbClr val="3333CC"/>
                </a:solidFill>
                <a:effectLst/>
                <a:uLnTx/>
                <a:uFillTx/>
                <a:latin typeface="+mn-lt"/>
                <a:ea typeface="黑体" pitchFamily="2" charset="-122"/>
              </a:rPr>
              <a:t>B</a:t>
            </a:r>
          </a:p>
        </p:txBody>
      </p:sp>
      <p:sp>
        <p:nvSpPr>
          <p:cNvPr id="39" name="Rectangle 37"/>
          <p:cNvSpPr>
            <a:spLocks noChangeArrowheads="1"/>
          </p:cNvSpPr>
          <p:nvPr/>
        </p:nvSpPr>
        <p:spPr bwMode="auto">
          <a:xfrm>
            <a:off x="2116957" y="647700"/>
            <a:ext cx="647614"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800" b="1" i="0" u="none" strike="noStrike" kern="0" cap="none" spc="0" normalizeH="0" baseline="0" noProof="0">
                <a:ln>
                  <a:noFill/>
                </a:ln>
                <a:solidFill>
                  <a:srgbClr val="3333CC"/>
                </a:solidFill>
                <a:effectLst/>
                <a:uLnTx/>
                <a:uFillTx/>
                <a:latin typeface="+mn-lt"/>
                <a:ea typeface="黑体" pitchFamily="2" charset="-122"/>
              </a:rPr>
              <a:t>客户</a:t>
            </a:r>
          </a:p>
        </p:txBody>
      </p:sp>
      <p:sp>
        <p:nvSpPr>
          <p:cNvPr id="40" name="Rectangle 38"/>
          <p:cNvSpPr>
            <a:spLocks noChangeArrowheads="1"/>
          </p:cNvSpPr>
          <p:nvPr/>
        </p:nvSpPr>
        <p:spPr bwMode="auto">
          <a:xfrm>
            <a:off x="7084244" y="647700"/>
            <a:ext cx="880050"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800" b="1" i="0" u="none" strike="noStrike" kern="0" cap="none" spc="0" normalizeH="0" baseline="0" noProof="0">
                <a:ln>
                  <a:noFill/>
                </a:ln>
                <a:solidFill>
                  <a:srgbClr val="3333CC"/>
                </a:solidFill>
                <a:effectLst/>
                <a:uLnTx/>
                <a:uFillTx/>
                <a:latin typeface="+mn-lt"/>
                <a:ea typeface="黑体" pitchFamily="2" charset="-122"/>
              </a:rPr>
              <a:t>服务器</a:t>
            </a:r>
          </a:p>
        </p:txBody>
      </p:sp>
      <p:sp>
        <p:nvSpPr>
          <p:cNvPr id="41" name="Rectangle 39"/>
          <p:cNvSpPr>
            <a:spLocks noChangeArrowheads="1"/>
          </p:cNvSpPr>
          <p:nvPr/>
        </p:nvSpPr>
        <p:spPr bwMode="auto">
          <a:xfrm rot="-628888">
            <a:off x="4652668" y="3629484"/>
            <a:ext cx="1215077" cy="397545"/>
          </a:xfrm>
          <a:prstGeom prst="rect">
            <a:avLst/>
          </a:prstGeom>
          <a:solidFill>
            <a:srgbClr val="CCECFF"/>
          </a:solidFill>
          <a:ln w="38100" cmpd="dbl" algn="ctr">
            <a:solidFill>
              <a:srgbClr val="3333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2000" b="1" i="0" u="none" strike="noStrike" kern="0" cap="none" spc="0" normalizeH="0" baseline="0" noProof="0">
                <a:ln>
                  <a:noFill/>
                </a:ln>
                <a:solidFill>
                  <a:srgbClr val="3333CC"/>
                </a:solidFill>
                <a:effectLst/>
                <a:uLnTx/>
                <a:uFillTx/>
                <a:latin typeface="+mn-lt"/>
                <a:ea typeface="黑体" pitchFamily="2" charset="-122"/>
              </a:rPr>
              <a:t>数据传送</a:t>
            </a:r>
          </a:p>
        </p:txBody>
      </p:sp>
      <p:sp>
        <p:nvSpPr>
          <p:cNvPr id="42" name="Text Box 41"/>
          <p:cNvSpPr txBox="1">
            <a:spLocks noChangeArrowheads="1"/>
          </p:cNvSpPr>
          <p:nvPr/>
        </p:nvSpPr>
        <p:spPr bwMode="auto">
          <a:xfrm>
            <a:off x="1371674" y="6021388"/>
            <a:ext cx="7397750" cy="528637"/>
          </a:xfrm>
          <a:prstGeom prst="rect">
            <a:avLst/>
          </a:prstGeom>
          <a:solidFill>
            <a:srgbClr val="FFFF99"/>
          </a:solidFill>
          <a:ln w="9525">
            <a:solidFill>
              <a:srgbClr val="3333CC"/>
            </a:solidFill>
            <a:miter lim="800000"/>
            <a:headEnd/>
            <a:tailEnd/>
          </a:ln>
          <a:effectLst>
            <a:outerShdw dist="35921" dir="2700000" algn="ctr" rotWithShape="0">
              <a:srgbClr val="1C1C1C"/>
            </a:outerShdw>
          </a:effec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Char char="•"/>
              <a:tabLst/>
              <a:defRPr/>
            </a:pPr>
            <a:r>
              <a:rPr kumimoji="0" lang="en-US" altLang="zh-CN" sz="2800" b="1" i="0" u="none" strike="noStrike" kern="0" cap="none" spc="0" normalizeH="0" baseline="0" noProof="0">
                <a:ln>
                  <a:noFill/>
                </a:ln>
                <a:solidFill>
                  <a:srgbClr val="000099"/>
                </a:solidFill>
                <a:effectLst/>
                <a:uLnTx/>
                <a:uFillTx/>
                <a:latin typeface="Arial" pitchFamily="34" charset="0"/>
                <a:ea typeface="黑体" pitchFamily="2" charset="-122"/>
              </a:rPr>
              <a:t>  A </a:t>
            </a:r>
            <a:r>
              <a:rPr kumimoji="0" lang="zh-CN" altLang="en-US" sz="2800" b="1" i="0" u="none" strike="noStrike" kern="0" cap="none" spc="0" normalizeH="0" baseline="0" noProof="0">
                <a:ln>
                  <a:noFill/>
                </a:ln>
                <a:solidFill>
                  <a:srgbClr val="000099"/>
                </a:solidFill>
                <a:effectLst/>
                <a:uLnTx/>
                <a:uFillTx/>
                <a:latin typeface="Arial" pitchFamily="34" charset="0"/>
                <a:ea typeface="黑体" pitchFamily="2" charset="-122"/>
              </a:rPr>
              <a:t>收到连接释放报文段后，必须发出确认。 </a:t>
            </a:r>
          </a:p>
        </p:txBody>
      </p:sp>
      <p:grpSp>
        <p:nvGrpSpPr>
          <p:cNvPr id="43" name="Group 42"/>
          <p:cNvGrpSpPr>
            <a:grpSpLocks/>
          </p:cNvGrpSpPr>
          <p:nvPr/>
        </p:nvGrpSpPr>
        <p:grpSpPr bwMode="auto">
          <a:xfrm>
            <a:off x="2912294" y="4933339"/>
            <a:ext cx="4189413" cy="769937"/>
            <a:chOff x="1614" y="3081"/>
            <a:chExt cx="2639" cy="485"/>
          </a:xfrm>
        </p:grpSpPr>
        <p:sp>
          <p:nvSpPr>
            <p:cNvPr id="44" name="Rectangle 43"/>
            <p:cNvSpPr>
              <a:spLocks noChangeArrowheads="1"/>
            </p:cNvSpPr>
            <p:nvPr/>
          </p:nvSpPr>
          <p:spPr bwMode="auto">
            <a:xfrm rot="610931">
              <a:off x="1901" y="3121"/>
              <a:ext cx="235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tabLst/>
                <a:defRPr/>
              </a:pPr>
              <a:r>
                <a:rPr kumimoji="0" lang="en-US" altLang="zh-CN" sz="1800" b="1" i="0" u="none" strike="noStrike" kern="0" cap="none" spc="0" normalizeH="0" baseline="0" noProof="0" dirty="0">
                  <a:ln>
                    <a:noFill/>
                  </a:ln>
                  <a:solidFill>
                    <a:srgbClr val="3333CC"/>
                  </a:solidFill>
                  <a:effectLst/>
                  <a:uLnTx/>
                  <a:uFillTx/>
                  <a:latin typeface="+mn-lt"/>
                  <a:ea typeface="黑体" pitchFamily="2" charset="-122"/>
                </a:rPr>
                <a:t>ACK = 1, </a:t>
              </a:r>
              <a:r>
                <a:rPr kumimoji="0" lang="en-US" altLang="zh-CN" sz="1800" b="1" i="0" u="none" strike="noStrike" kern="0" cap="none" spc="0" normalizeH="0" baseline="0" noProof="0" dirty="0" err="1">
                  <a:ln>
                    <a:noFill/>
                  </a:ln>
                  <a:solidFill>
                    <a:srgbClr val="3333CC"/>
                  </a:solidFill>
                  <a:effectLst/>
                  <a:uLnTx/>
                  <a:uFillTx/>
                  <a:latin typeface="+mn-lt"/>
                  <a:ea typeface="黑体" pitchFamily="2" charset="-122"/>
                </a:rPr>
                <a:t>seq</a:t>
              </a:r>
              <a:r>
                <a:rPr kumimoji="0" lang="en-US" altLang="zh-CN" sz="1800" b="1" i="0" u="none" strike="noStrike" kern="0" cap="none" spc="0" normalizeH="0" baseline="0" noProof="0" dirty="0">
                  <a:ln>
                    <a:noFill/>
                  </a:ln>
                  <a:solidFill>
                    <a:srgbClr val="3333CC"/>
                  </a:solidFill>
                  <a:effectLst/>
                  <a:uLnTx/>
                  <a:uFillTx/>
                  <a:latin typeface="+mn-lt"/>
                  <a:ea typeface="黑体" pitchFamily="2" charset="-122"/>
                </a:rPr>
                <a:t> = u + 1, </a:t>
              </a:r>
              <a:r>
                <a:rPr kumimoji="0" lang="en-US" altLang="zh-CN" sz="1800" b="1" i="0" u="none" strike="noStrike" kern="0" cap="none" spc="0" normalizeH="0" baseline="0" noProof="0" dirty="0" err="1">
                  <a:ln>
                    <a:noFill/>
                  </a:ln>
                  <a:solidFill>
                    <a:srgbClr val="3333CC"/>
                  </a:solidFill>
                  <a:effectLst/>
                  <a:uLnTx/>
                  <a:uFillTx/>
                  <a:latin typeface="+mn-lt"/>
                  <a:ea typeface="黑体" pitchFamily="2" charset="-122"/>
                </a:rPr>
                <a:t>ack</a:t>
              </a:r>
              <a:r>
                <a:rPr kumimoji="0" lang="en-US" altLang="zh-CN" sz="1800" b="1" i="0" u="none" strike="noStrike" kern="0" cap="none" spc="0" normalizeH="0" baseline="0" noProof="0" dirty="0">
                  <a:ln>
                    <a:noFill/>
                  </a:ln>
                  <a:solidFill>
                    <a:srgbClr val="3333CC"/>
                  </a:solidFill>
                  <a:effectLst/>
                  <a:uLnTx/>
                  <a:uFillTx/>
                  <a:latin typeface="+mn-lt"/>
                  <a:ea typeface="黑体" pitchFamily="2" charset="-122"/>
                </a:rPr>
                <a:t> = w </a:t>
              </a:r>
              <a:r>
                <a:rPr kumimoji="0" lang="en-US" altLang="zh-CN" sz="1800" b="1" i="0" u="none" strike="noStrike" kern="0" cap="none" spc="0" normalizeH="0" baseline="0" noProof="0" dirty="0">
                  <a:ln>
                    <a:noFill/>
                  </a:ln>
                  <a:solidFill>
                    <a:srgbClr val="3333CC"/>
                  </a:solidFill>
                  <a:effectLst/>
                  <a:uLnTx/>
                  <a:uFillTx/>
                  <a:latin typeface="+mn-lt"/>
                  <a:ea typeface="黑体" pitchFamily="2" charset="-122"/>
                  <a:sym typeface="Symbol" pitchFamily="18" charset="2"/>
                </a:rPr>
                <a:t> 1</a:t>
              </a:r>
            </a:p>
          </p:txBody>
        </p:sp>
        <p:sp>
          <p:nvSpPr>
            <p:cNvPr id="45" name="Line 44"/>
            <p:cNvSpPr>
              <a:spLocks noChangeShapeType="1"/>
            </p:cNvSpPr>
            <p:nvPr/>
          </p:nvSpPr>
          <p:spPr bwMode="auto">
            <a:xfrm>
              <a:off x="1614" y="3081"/>
              <a:ext cx="2604" cy="485"/>
            </a:xfrm>
            <a:prstGeom prst="line">
              <a:avLst/>
            </a:prstGeom>
            <a:noFill/>
            <a:ln w="3810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itchFamily="2" charset="-122"/>
              </a:endParaRPr>
            </a:p>
          </p:txBody>
        </p:sp>
      </p:grpSp>
      <p:sp>
        <p:nvSpPr>
          <p:cNvPr id="47" name="Text Box 30"/>
          <p:cNvSpPr txBox="1">
            <a:spLocks noChangeArrowheads="1"/>
          </p:cNvSpPr>
          <p:nvPr/>
        </p:nvSpPr>
        <p:spPr bwMode="auto">
          <a:xfrm>
            <a:off x="1132656" y="34925"/>
            <a:ext cx="7924800" cy="650875"/>
          </a:xfrm>
          <a:prstGeom prst="rect">
            <a:avLst/>
          </a:prstGeom>
          <a:solidFill>
            <a:srgbClr val="FFFF99"/>
          </a:solidFill>
          <a:ln w="9525">
            <a:solidFill>
              <a:srgbClr val="3333CC"/>
            </a:solidFill>
            <a:miter lim="800000"/>
            <a:headEnd/>
            <a:tailEnd/>
          </a:ln>
          <a:effectLst>
            <a:outerShdw dist="35921" dir="2700000" algn="ctr" rotWithShape="0">
              <a:srgbClr val="1C1C1C"/>
            </a:outerShdw>
          </a:effectLst>
        </p:spPr>
        <p:txBody>
          <a:bodyPr>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3600" b="1" i="0" u="none" strike="noStrike" kern="0" cap="none" spc="0" normalizeH="0" baseline="0" noProof="0" dirty="0">
                <a:ln>
                  <a:noFill/>
                </a:ln>
                <a:solidFill>
                  <a:srgbClr val="333399"/>
                </a:solidFill>
                <a:effectLst/>
                <a:uLnTx/>
                <a:uFillTx/>
                <a:latin typeface="Arial" pitchFamily="34" charset="0"/>
                <a:ea typeface="黑体" pitchFamily="2" charset="-122"/>
              </a:rPr>
              <a:t>TCP </a:t>
            </a:r>
            <a:r>
              <a:rPr kumimoji="0" lang="zh-CN" altLang="en-US" sz="3600" b="1" i="0" u="none" strike="noStrike" kern="0" cap="none" spc="0" normalizeH="0" baseline="0" noProof="0" dirty="0">
                <a:ln>
                  <a:noFill/>
                </a:ln>
                <a:solidFill>
                  <a:srgbClr val="333399"/>
                </a:solidFill>
                <a:effectLst/>
                <a:uLnTx/>
                <a:uFillTx/>
                <a:latin typeface="Arial" pitchFamily="34" charset="0"/>
                <a:ea typeface="黑体" pitchFamily="2" charset="-122"/>
              </a:rPr>
              <a:t>的连接释放：采用</a:t>
            </a:r>
            <a:r>
              <a:rPr kumimoji="0" lang="zh-CN" altLang="zh-CN" sz="3600" kern="0" dirty="0">
                <a:solidFill>
                  <a:srgbClr val="FF0000"/>
                </a:solidFill>
                <a:latin typeface="Arial" pitchFamily="34" charset="0"/>
                <a:ea typeface="黑体" pitchFamily="2" charset="-122"/>
              </a:rPr>
              <a:t>四报文握手</a:t>
            </a:r>
            <a:endParaRPr kumimoji="0" lang="zh-CN" altLang="en-US" sz="3600" kern="0" dirty="0">
              <a:solidFill>
                <a:srgbClr val="FF0000"/>
              </a:solidFill>
              <a:latin typeface="Arial" pitchFamily="34" charset="0"/>
              <a:ea typeface="黑体" pitchFamily="2" charset="-122"/>
            </a:endParaRPr>
          </a:p>
        </p:txBody>
      </p:sp>
    </p:spTree>
    <p:extLst>
      <p:ext uri="{BB962C8B-B14F-4D97-AF65-F5344CB8AC3E}">
        <p14:creationId xmlns:p14="http://schemas.microsoft.com/office/powerpoint/2010/main" val="23579707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1000"/>
                                  </p:stCondLst>
                                  <p:childTnLst>
                                    <p:set>
                                      <p:cBhvr>
                                        <p:cTn id="6" dur="1" fill="hold">
                                          <p:stCondLst>
                                            <p:cond delay="0"/>
                                          </p:stCondLst>
                                        </p:cTn>
                                        <p:tgtEl>
                                          <p:spTgt spid="43"/>
                                        </p:tgtEl>
                                        <p:attrNameLst>
                                          <p:attrName>style.visibility</p:attrName>
                                        </p:attrNameLst>
                                      </p:cBhvr>
                                      <p:to>
                                        <p:strVal val="visible"/>
                                      </p:to>
                                    </p:set>
                                    <p:animEffect transition="in" filter="wipe(left)">
                                      <p:cBhvr>
                                        <p:cTn id="7"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2"/>
          <p:cNvGrpSpPr>
            <a:grpSpLocks/>
          </p:cNvGrpSpPr>
          <p:nvPr/>
        </p:nvGrpSpPr>
        <p:grpSpPr bwMode="auto">
          <a:xfrm>
            <a:off x="2881188" y="2349500"/>
            <a:ext cx="4248150" cy="4062413"/>
            <a:chOff x="1474" y="1888"/>
            <a:chExt cx="2676" cy="2432"/>
          </a:xfrm>
        </p:grpSpPr>
        <p:sp>
          <p:nvSpPr>
            <p:cNvPr id="5" name="Line 3"/>
            <p:cNvSpPr>
              <a:spLocks noChangeShapeType="1"/>
            </p:cNvSpPr>
            <p:nvPr/>
          </p:nvSpPr>
          <p:spPr bwMode="auto">
            <a:xfrm>
              <a:off x="1474" y="1888"/>
              <a:ext cx="0" cy="2432"/>
            </a:xfrm>
            <a:prstGeom prst="line">
              <a:avLst/>
            </a:prstGeom>
            <a:noFill/>
            <a:ln w="28575">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itchFamily="2" charset="-122"/>
              </a:endParaRPr>
            </a:p>
          </p:txBody>
        </p:sp>
        <p:sp>
          <p:nvSpPr>
            <p:cNvPr id="6" name="Line 4"/>
            <p:cNvSpPr>
              <a:spLocks noChangeShapeType="1"/>
            </p:cNvSpPr>
            <p:nvPr/>
          </p:nvSpPr>
          <p:spPr bwMode="auto">
            <a:xfrm>
              <a:off x="4150" y="1888"/>
              <a:ext cx="0" cy="2432"/>
            </a:xfrm>
            <a:prstGeom prst="line">
              <a:avLst/>
            </a:prstGeom>
            <a:noFill/>
            <a:ln w="28575">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itchFamily="2" charset="-122"/>
              </a:endParaRPr>
            </a:p>
          </p:txBody>
        </p:sp>
      </p:grpSp>
      <p:sp>
        <p:nvSpPr>
          <p:cNvPr id="7" name="AutoShape 5"/>
          <p:cNvSpPr>
            <a:spLocks noChangeArrowheads="1"/>
          </p:cNvSpPr>
          <p:nvPr/>
        </p:nvSpPr>
        <p:spPr bwMode="auto">
          <a:xfrm rot="-651552">
            <a:off x="4157538" y="3895725"/>
            <a:ext cx="676275" cy="236538"/>
          </a:xfrm>
          <a:prstGeom prst="leftArrow">
            <a:avLst>
              <a:gd name="adj1" fmla="val 53620"/>
              <a:gd name="adj2" fmla="val 119816"/>
            </a:avLst>
          </a:prstGeom>
          <a:solidFill>
            <a:srgbClr val="FF0000"/>
          </a:solidFill>
          <a:ln w="12700"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itchFamily="2" charset="-122"/>
            </a:endParaRPr>
          </a:p>
        </p:txBody>
      </p:sp>
      <p:sp>
        <p:nvSpPr>
          <p:cNvPr id="8" name="AutoShape 6"/>
          <p:cNvSpPr>
            <a:spLocks noChangeArrowheads="1"/>
          </p:cNvSpPr>
          <p:nvPr/>
        </p:nvSpPr>
        <p:spPr bwMode="auto">
          <a:xfrm>
            <a:off x="3867025" y="1863725"/>
            <a:ext cx="2384425" cy="252413"/>
          </a:xfrm>
          <a:prstGeom prst="leftRightArrow">
            <a:avLst>
              <a:gd name="adj1" fmla="val 55880"/>
              <a:gd name="adj2" fmla="val 108285"/>
            </a:avLst>
          </a:prstGeom>
          <a:solidFill>
            <a:srgbClr val="FF0000"/>
          </a:solidFill>
          <a:ln w="12700"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itchFamily="2" charset="-122"/>
            </a:endParaRPr>
          </a:p>
        </p:txBody>
      </p:sp>
      <p:grpSp>
        <p:nvGrpSpPr>
          <p:cNvPr id="9" name="Group 7"/>
          <p:cNvGrpSpPr>
            <a:grpSpLocks/>
          </p:cNvGrpSpPr>
          <p:nvPr/>
        </p:nvGrpSpPr>
        <p:grpSpPr bwMode="auto">
          <a:xfrm>
            <a:off x="2933575" y="2355850"/>
            <a:ext cx="4133850" cy="768350"/>
            <a:chOff x="1614" y="1484"/>
            <a:chExt cx="2604" cy="484"/>
          </a:xfrm>
        </p:grpSpPr>
        <p:sp>
          <p:nvSpPr>
            <p:cNvPr id="10" name="Rectangle 8"/>
            <p:cNvSpPr>
              <a:spLocks noChangeArrowheads="1"/>
            </p:cNvSpPr>
            <p:nvPr/>
          </p:nvSpPr>
          <p:spPr bwMode="auto">
            <a:xfrm rot="597975">
              <a:off x="2449" y="1520"/>
              <a:ext cx="129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2000" b="1" i="0" u="none" strike="noStrike" kern="0" cap="none" spc="0" normalizeH="0" baseline="0" noProof="0">
                  <a:ln>
                    <a:noFill/>
                  </a:ln>
                  <a:solidFill>
                    <a:srgbClr val="3333CC"/>
                  </a:solidFill>
                  <a:effectLst/>
                  <a:uLnTx/>
                  <a:uFillTx/>
                  <a:latin typeface="+mn-lt"/>
                  <a:ea typeface="黑体" pitchFamily="2" charset="-122"/>
                </a:rPr>
                <a:t>FIN = 1, seq = u</a:t>
              </a:r>
            </a:p>
          </p:txBody>
        </p:sp>
        <p:sp>
          <p:nvSpPr>
            <p:cNvPr id="11" name="Line 9"/>
            <p:cNvSpPr>
              <a:spLocks noChangeShapeType="1"/>
            </p:cNvSpPr>
            <p:nvPr/>
          </p:nvSpPr>
          <p:spPr bwMode="auto">
            <a:xfrm>
              <a:off x="1614" y="1484"/>
              <a:ext cx="2604" cy="484"/>
            </a:xfrm>
            <a:prstGeom prst="line">
              <a:avLst/>
            </a:prstGeom>
            <a:noFill/>
            <a:ln w="3810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itchFamily="2" charset="-122"/>
              </a:endParaRPr>
            </a:p>
          </p:txBody>
        </p:sp>
      </p:grpSp>
      <p:grpSp>
        <p:nvGrpSpPr>
          <p:cNvPr id="12" name="Group 10"/>
          <p:cNvGrpSpPr>
            <a:grpSpLocks/>
          </p:cNvGrpSpPr>
          <p:nvPr/>
        </p:nvGrpSpPr>
        <p:grpSpPr bwMode="auto">
          <a:xfrm>
            <a:off x="2947863" y="3167063"/>
            <a:ext cx="4133850" cy="769937"/>
            <a:chOff x="1623" y="1995"/>
            <a:chExt cx="2604" cy="485"/>
          </a:xfrm>
        </p:grpSpPr>
        <p:sp>
          <p:nvSpPr>
            <p:cNvPr id="13" name="Rectangle 11"/>
            <p:cNvSpPr>
              <a:spLocks noChangeArrowheads="1"/>
            </p:cNvSpPr>
            <p:nvPr/>
          </p:nvSpPr>
          <p:spPr bwMode="auto">
            <a:xfrm rot="20990024" flipH="1">
              <a:off x="1828" y="2020"/>
              <a:ext cx="2033"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tabLst/>
                <a:defRPr/>
              </a:pPr>
              <a:r>
                <a:rPr kumimoji="0" lang="en-US" altLang="zh-CN" sz="1800" b="1" i="0" u="none" strike="noStrike" kern="0" cap="none" spc="0" normalizeH="0" baseline="0" noProof="0">
                  <a:ln>
                    <a:noFill/>
                  </a:ln>
                  <a:solidFill>
                    <a:srgbClr val="3333CC"/>
                  </a:solidFill>
                  <a:effectLst/>
                  <a:uLnTx/>
                  <a:uFillTx/>
                  <a:latin typeface="+mn-lt"/>
                  <a:ea typeface="黑体" pitchFamily="2" charset="-122"/>
                </a:rPr>
                <a:t>ACK = 1, seq = v, ack= u </a:t>
              </a:r>
              <a:r>
                <a:rPr kumimoji="0" lang="en-US" altLang="zh-CN" sz="1800" b="1" i="0" u="none" strike="noStrike" kern="0" cap="none" spc="0" normalizeH="0" baseline="0" noProof="0">
                  <a:ln>
                    <a:noFill/>
                  </a:ln>
                  <a:solidFill>
                    <a:srgbClr val="3333CC"/>
                  </a:solidFill>
                  <a:effectLst/>
                  <a:uLnTx/>
                  <a:uFillTx/>
                  <a:latin typeface="+mn-lt"/>
                  <a:ea typeface="黑体" pitchFamily="2" charset="-122"/>
                  <a:sym typeface="Symbol" pitchFamily="18" charset="2"/>
                </a:rPr>
                <a:t> 1</a:t>
              </a:r>
              <a:endParaRPr kumimoji="0" lang="en-US" altLang="zh-CN" sz="1800" b="1" i="0" u="none" strike="noStrike" kern="0" cap="none" spc="0" normalizeH="0" baseline="0" noProof="0">
                <a:ln>
                  <a:noFill/>
                </a:ln>
                <a:solidFill>
                  <a:srgbClr val="3333CC"/>
                </a:solidFill>
                <a:effectLst/>
                <a:uLnTx/>
                <a:uFillTx/>
                <a:latin typeface="+mn-lt"/>
                <a:ea typeface="黑体" pitchFamily="2" charset="-122"/>
              </a:endParaRPr>
            </a:p>
          </p:txBody>
        </p:sp>
        <p:sp>
          <p:nvSpPr>
            <p:cNvPr id="14" name="Line 12"/>
            <p:cNvSpPr>
              <a:spLocks noChangeShapeType="1"/>
            </p:cNvSpPr>
            <p:nvPr/>
          </p:nvSpPr>
          <p:spPr bwMode="auto">
            <a:xfrm flipH="1">
              <a:off x="1623" y="1995"/>
              <a:ext cx="2604" cy="485"/>
            </a:xfrm>
            <a:prstGeom prst="line">
              <a:avLst/>
            </a:prstGeom>
            <a:noFill/>
            <a:ln w="3810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itchFamily="2" charset="-122"/>
              </a:endParaRPr>
            </a:p>
          </p:txBody>
        </p:sp>
      </p:grpSp>
      <p:grpSp>
        <p:nvGrpSpPr>
          <p:cNvPr id="15" name="Group 13"/>
          <p:cNvGrpSpPr>
            <a:grpSpLocks/>
          </p:cNvGrpSpPr>
          <p:nvPr/>
        </p:nvGrpSpPr>
        <p:grpSpPr bwMode="auto">
          <a:xfrm>
            <a:off x="2912938" y="4086223"/>
            <a:ext cx="4298950" cy="787399"/>
            <a:chOff x="1601" y="2574"/>
            <a:chExt cx="2708" cy="496"/>
          </a:xfrm>
        </p:grpSpPr>
        <p:sp>
          <p:nvSpPr>
            <p:cNvPr id="16" name="Line 14"/>
            <p:cNvSpPr>
              <a:spLocks noChangeShapeType="1"/>
            </p:cNvSpPr>
            <p:nvPr/>
          </p:nvSpPr>
          <p:spPr bwMode="auto">
            <a:xfrm flipH="1">
              <a:off x="1601" y="2585"/>
              <a:ext cx="2604" cy="485"/>
            </a:xfrm>
            <a:prstGeom prst="line">
              <a:avLst/>
            </a:prstGeom>
            <a:noFill/>
            <a:ln w="3810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itchFamily="2" charset="-122"/>
              </a:endParaRPr>
            </a:p>
          </p:txBody>
        </p:sp>
        <p:sp>
          <p:nvSpPr>
            <p:cNvPr id="17" name="Rectangle 15"/>
            <p:cNvSpPr>
              <a:spLocks noChangeArrowheads="1"/>
            </p:cNvSpPr>
            <p:nvPr/>
          </p:nvSpPr>
          <p:spPr bwMode="auto">
            <a:xfrm rot="20943314" flipH="1">
              <a:off x="1683" y="2574"/>
              <a:ext cx="262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tabLst/>
                <a:defRPr/>
              </a:pPr>
              <a:r>
                <a:rPr kumimoji="0" lang="en-US" altLang="zh-CN" sz="1800" b="1" i="0" u="none" strike="noStrike" kern="0" cap="none" spc="0" normalizeH="0" baseline="0" noProof="0">
                  <a:ln>
                    <a:noFill/>
                  </a:ln>
                  <a:solidFill>
                    <a:srgbClr val="3333CC"/>
                  </a:solidFill>
                  <a:effectLst/>
                  <a:uLnTx/>
                  <a:uFillTx/>
                  <a:latin typeface="+mn-lt"/>
                  <a:ea typeface="黑体" pitchFamily="2" charset="-122"/>
                </a:rPr>
                <a:t>FIN = 1, ACK = 1, seq = w, ack= u </a:t>
              </a:r>
              <a:r>
                <a:rPr kumimoji="0" lang="en-US" altLang="zh-CN" sz="1800" b="1" i="0" u="none" strike="noStrike" kern="0" cap="none" spc="0" normalizeH="0" baseline="0" noProof="0">
                  <a:ln>
                    <a:noFill/>
                  </a:ln>
                  <a:solidFill>
                    <a:srgbClr val="3333CC"/>
                  </a:solidFill>
                  <a:effectLst/>
                  <a:uLnTx/>
                  <a:uFillTx/>
                  <a:latin typeface="+mn-lt"/>
                  <a:ea typeface="黑体" pitchFamily="2" charset="-122"/>
                  <a:sym typeface="Symbol" pitchFamily="18" charset="2"/>
                </a:rPr>
                <a:t> 1</a:t>
              </a:r>
              <a:endParaRPr kumimoji="0" lang="en-US" altLang="zh-CN" sz="1800" b="1" i="0" u="none" strike="noStrike" kern="0" cap="none" spc="0" normalizeH="0" baseline="0" noProof="0">
                <a:ln>
                  <a:noFill/>
                </a:ln>
                <a:solidFill>
                  <a:srgbClr val="3333CC"/>
                </a:solidFill>
                <a:effectLst/>
                <a:uLnTx/>
                <a:uFillTx/>
                <a:latin typeface="+mn-lt"/>
                <a:ea typeface="黑体" pitchFamily="2" charset="-122"/>
              </a:endParaRPr>
            </a:p>
          </p:txBody>
        </p:sp>
      </p:grpSp>
      <p:sp>
        <p:nvSpPr>
          <p:cNvPr id="18" name="Rectangle 16"/>
          <p:cNvSpPr>
            <a:spLocks noChangeArrowheads="1"/>
          </p:cNvSpPr>
          <p:nvPr/>
        </p:nvSpPr>
        <p:spPr bwMode="auto">
          <a:xfrm>
            <a:off x="1977900" y="1611313"/>
            <a:ext cx="954088" cy="673100"/>
          </a:xfrm>
          <a:prstGeom prst="rect">
            <a:avLst/>
          </a:prstGeom>
          <a:solidFill>
            <a:srgbClr val="CCFF99"/>
          </a:solidFill>
          <a:ln>
            <a:noFill/>
          </a:ln>
          <a:effectLst>
            <a:outerShdw dist="35921" dir="2700000" algn="ctr" rotWithShape="0">
              <a:srgbClr val="1C1C1C"/>
            </a:outerShdw>
          </a:effectLst>
          <a:extLst>
            <a:ext uri="{91240B29-F687-4F45-9708-019B960494DF}">
              <a14:hiddenLine xmlns:a14="http://schemas.microsoft.com/office/drawing/2010/main" w="12700" algn="ctr">
                <a:solidFill>
                  <a:schemeClr val="tx1"/>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itchFamily="2" charset="-122"/>
            </a:endParaRPr>
          </a:p>
        </p:txBody>
      </p:sp>
      <p:sp>
        <p:nvSpPr>
          <p:cNvPr id="19" name="Rectangle 17"/>
          <p:cNvSpPr>
            <a:spLocks noChangeArrowheads="1"/>
          </p:cNvSpPr>
          <p:nvPr/>
        </p:nvSpPr>
        <p:spPr bwMode="auto">
          <a:xfrm>
            <a:off x="7064250" y="1611313"/>
            <a:ext cx="955675" cy="1479550"/>
          </a:xfrm>
          <a:prstGeom prst="rect">
            <a:avLst/>
          </a:prstGeom>
          <a:solidFill>
            <a:srgbClr val="CCFF99"/>
          </a:solidFill>
          <a:ln>
            <a:noFill/>
          </a:ln>
          <a:effectLst>
            <a:outerShdw dist="35921" dir="2700000" algn="ctr" rotWithShape="0">
              <a:srgbClr val="1C1C1C"/>
            </a:outerShdw>
          </a:effectLst>
          <a:extLst>
            <a:ext uri="{91240B29-F687-4F45-9708-019B960494DF}">
              <a14:hiddenLine xmlns:a14="http://schemas.microsoft.com/office/drawing/2010/main" w="12700" algn="ctr">
                <a:solidFill>
                  <a:schemeClr val="tx1"/>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itchFamily="2" charset="-122"/>
            </a:endParaRPr>
          </a:p>
        </p:txBody>
      </p:sp>
      <p:grpSp>
        <p:nvGrpSpPr>
          <p:cNvPr id="20" name="Group 18"/>
          <p:cNvGrpSpPr>
            <a:grpSpLocks/>
          </p:cNvGrpSpPr>
          <p:nvPr/>
        </p:nvGrpSpPr>
        <p:grpSpPr bwMode="auto">
          <a:xfrm>
            <a:off x="1879475" y="1528763"/>
            <a:ext cx="6278563" cy="82550"/>
            <a:chOff x="1020" y="481"/>
            <a:chExt cx="4037" cy="46"/>
          </a:xfrm>
        </p:grpSpPr>
        <p:sp>
          <p:nvSpPr>
            <p:cNvPr id="21" name="Line 19"/>
            <p:cNvSpPr>
              <a:spLocks noChangeShapeType="1"/>
            </p:cNvSpPr>
            <p:nvPr/>
          </p:nvSpPr>
          <p:spPr bwMode="auto">
            <a:xfrm>
              <a:off x="1020" y="527"/>
              <a:ext cx="4037" cy="0"/>
            </a:xfrm>
            <a:prstGeom prst="line">
              <a:avLst/>
            </a:prstGeom>
            <a:noFill/>
            <a:ln w="12700">
              <a:solidFill>
                <a:srgbClr val="3333CC"/>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itchFamily="2" charset="-122"/>
              </a:endParaRPr>
            </a:p>
          </p:txBody>
        </p:sp>
        <p:sp>
          <p:nvSpPr>
            <p:cNvPr id="22" name="Line 20"/>
            <p:cNvSpPr>
              <a:spLocks noChangeShapeType="1"/>
            </p:cNvSpPr>
            <p:nvPr/>
          </p:nvSpPr>
          <p:spPr bwMode="auto">
            <a:xfrm>
              <a:off x="1020" y="481"/>
              <a:ext cx="4037" cy="0"/>
            </a:xfrm>
            <a:prstGeom prst="line">
              <a:avLst/>
            </a:prstGeom>
            <a:noFill/>
            <a:ln w="12700">
              <a:solidFill>
                <a:srgbClr val="3333CC"/>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itchFamily="2" charset="-122"/>
              </a:endParaRPr>
            </a:p>
          </p:txBody>
        </p:sp>
      </p:grpSp>
      <p:grpSp>
        <p:nvGrpSpPr>
          <p:cNvPr id="23" name="Group 21"/>
          <p:cNvGrpSpPr>
            <a:grpSpLocks/>
          </p:cNvGrpSpPr>
          <p:nvPr/>
        </p:nvGrpSpPr>
        <p:grpSpPr bwMode="auto">
          <a:xfrm>
            <a:off x="869825" y="1257300"/>
            <a:ext cx="1403350" cy="1082675"/>
            <a:chOff x="314" y="792"/>
            <a:chExt cx="884" cy="682"/>
          </a:xfrm>
        </p:grpSpPr>
        <p:sp>
          <p:nvSpPr>
            <p:cNvPr id="24" name="Freeform 22"/>
            <p:cNvSpPr>
              <a:spLocks/>
            </p:cNvSpPr>
            <p:nvPr/>
          </p:nvSpPr>
          <p:spPr bwMode="auto">
            <a:xfrm>
              <a:off x="349" y="792"/>
              <a:ext cx="849" cy="682"/>
            </a:xfrm>
            <a:custGeom>
              <a:avLst/>
              <a:gdLst>
                <a:gd name="T0" fmla="*/ 849 w 769"/>
                <a:gd name="T1" fmla="*/ 0 h 584"/>
                <a:gd name="T2" fmla="*/ 0 w 769"/>
                <a:gd name="T3" fmla="*/ 11 h 584"/>
                <a:gd name="T4" fmla="*/ 0 w 769"/>
                <a:gd name="T5" fmla="*/ 682 h 584"/>
                <a:gd name="T6" fmla="*/ 666 w 769"/>
                <a:gd name="T7" fmla="*/ 682 h 58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69" h="584">
                  <a:moveTo>
                    <a:pt x="769" y="0"/>
                  </a:moveTo>
                  <a:lnTo>
                    <a:pt x="0" y="9"/>
                  </a:lnTo>
                  <a:lnTo>
                    <a:pt x="0" y="584"/>
                  </a:lnTo>
                  <a:lnTo>
                    <a:pt x="603" y="584"/>
                  </a:lnTo>
                </a:path>
              </a:pathLst>
            </a:custGeom>
            <a:noFill/>
            <a:ln w="28575" cap="flat" cmpd="sng">
              <a:solidFill>
                <a:srgbClr val="3333CC"/>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itchFamily="2" charset="-122"/>
              </a:endParaRPr>
            </a:p>
          </p:txBody>
        </p:sp>
        <p:sp>
          <p:nvSpPr>
            <p:cNvPr id="25" name="Rectangle 23"/>
            <p:cNvSpPr>
              <a:spLocks noChangeArrowheads="1"/>
            </p:cNvSpPr>
            <p:nvPr/>
          </p:nvSpPr>
          <p:spPr bwMode="auto">
            <a:xfrm>
              <a:off x="314" y="1227"/>
              <a:ext cx="701"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800" b="1" i="0" u="none" strike="noStrike" kern="0" cap="none" spc="0" normalizeH="0" baseline="0" noProof="0">
                  <a:ln>
                    <a:noFill/>
                  </a:ln>
                  <a:solidFill>
                    <a:srgbClr val="3333CC"/>
                  </a:solidFill>
                  <a:effectLst/>
                  <a:uLnTx/>
                  <a:uFillTx/>
                  <a:latin typeface="+mn-lt"/>
                  <a:ea typeface="黑体" pitchFamily="2" charset="-122"/>
                </a:rPr>
                <a:t>主动关闭</a:t>
              </a:r>
            </a:p>
          </p:txBody>
        </p:sp>
      </p:grpSp>
      <p:grpSp>
        <p:nvGrpSpPr>
          <p:cNvPr id="26" name="Group 24"/>
          <p:cNvGrpSpPr>
            <a:grpSpLocks/>
          </p:cNvGrpSpPr>
          <p:nvPr/>
        </p:nvGrpSpPr>
        <p:grpSpPr bwMode="auto">
          <a:xfrm>
            <a:off x="7783388" y="1190625"/>
            <a:ext cx="1408112" cy="2905125"/>
            <a:chOff x="4669" y="750"/>
            <a:chExt cx="887" cy="1830"/>
          </a:xfrm>
        </p:grpSpPr>
        <p:sp>
          <p:nvSpPr>
            <p:cNvPr id="27" name="Freeform 25"/>
            <p:cNvSpPr>
              <a:spLocks/>
            </p:cNvSpPr>
            <p:nvPr/>
          </p:nvSpPr>
          <p:spPr bwMode="auto">
            <a:xfrm>
              <a:off x="4669" y="750"/>
              <a:ext cx="887" cy="1830"/>
            </a:xfrm>
            <a:custGeom>
              <a:avLst/>
              <a:gdLst>
                <a:gd name="T0" fmla="*/ 0 w 868"/>
                <a:gd name="T1" fmla="*/ 0 h 1493"/>
                <a:gd name="T2" fmla="*/ 887 w 868"/>
                <a:gd name="T3" fmla="*/ 9 h 1493"/>
                <a:gd name="T4" fmla="*/ 887 w 868"/>
                <a:gd name="T5" fmla="*/ 1830 h 1493"/>
                <a:gd name="T6" fmla="*/ 127 w 868"/>
                <a:gd name="T7" fmla="*/ 1830 h 149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68" h="1493">
                  <a:moveTo>
                    <a:pt x="0" y="0"/>
                  </a:moveTo>
                  <a:lnTo>
                    <a:pt x="868" y="7"/>
                  </a:lnTo>
                  <a:lnTo>
                    <a:pt x="868" y="1493"/>
                  </a:lnTo>
                  <a:lnTo>
                    <a:pt x="124" y="1493"/>
                  </a:lnTo>
                </a:path>
              </a:pathLst>
            </a:custGeom>
            <a:noFill/>
            <a:ln w="28575" cap="flat" cmpd="sng">
              <a:solidFill>
                <a:srgbClr val="3333CC"/>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itchFamily="2" charset="-122"/>
              </a:endParaRPr>
            </a:p>
          </p:txBody>
        </p:sp>
        <p:sp>
          <p:nvSpPr>
            <p:cNvPr id="28" name="Rectangle 26"/>
            <p:cNvSpPr>
              <a:spLocks noChangeArrowheads="1"/>
            </p:cNvSpPr>
            <p:nvPr/>
          </p:nvSpPr>
          <p:spPr bwMode="auto">
            <a:xfrm>
              <a:off x="4855" y="2306"/>
              <a:ext cx="701"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800" b="1" i="0" u="none" strike="noStrike" kern="0" cap="none" spc="0" normalizeH="0" baseline="0" noProof="0">
                  <a:ln>
                    <a:noFill/>
                  </a:ln>
                  <a:solidFill>
                    <a:srgbClr val="3333CC"/>
                  </a:solidFill>
                  <a:effectLst/>
                  <a:uLnTx/>
                  <a:uFillTx/>
                  <a:latin typeface="+mn-lt"/>
                  <a:ea typeface="黑体" pitchFamily="2" charset="-122"/>
                </a:rPr>
                <a:t>被动关闭</a:t>
              </a:r>
            </a:p>
          </p:txBody>
        </p:sp>
      </p:grpSp>
      <p:sp>
        <p:nvSpPr>
          <p:cNvPr id="29" name="Rectangle 27"/>
          <p:cNvSpPr>
            <a:spLocks noChangeArrowheads="1"/>
          </p:cNvSpPr>
          <p:nvPr/>
        </p:nvSpPr>
        <p:spPr bwMode="auto">
          <a:xfrm>
            <a:off x="4502025" y="1778000"/>
            <a:ext cx="1215077" cy="397545"/>
          </a:xfrm>
          <a:prstGeom prst="rect">
            <a:avLst/>
          </a:prstGeom>
          <a:solidFill>
            <a:srgbClr val="CCECFF"/>
          </a:solidFill>
          <a:ln w="38100" cmpd="dbl" algn="ctr">
            <a:solidFill>
              <a:srgbClr val="3333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2000" b="1" i="0" u="none" strike="noStrike" kern="0" cap="none" spc="0" normalizeH="0" baseline="0" noProof="0">
                <a:ln>
                  <a:noFill/>
                </a:ln>
                <a:solidFill>
                  <a:srgbClr val="3333CC"/>
                </a:solidFill>
                <a:effectLst/>
                <a:uLnTx/>
                <a:uFillTx/>
                <a:latin typeface="+mn-lt"/>
                <a:ea typeface="黑体" pitchFamily="2" charset="-122"/>
              </a:rPr>
              <a:t>数据传送</a:t>
            </a:r>
          </a:p>
        </p:txBody>
      </p:sp>
      <p:grpSp>
        <p:nvGrpSpPr>
          <p:cNvPr id="30" name="Group 28"/>
          <p:cNvGrpSpPr>
            <a:grpSpLocks/>
          </p:cNvGrpSpPr>
          <p:nvPr/>
        </p:nvGrpSpPr>
        <p:grpSpPr bwMode="auto">
          <a:xfrm>
            <a:off x="7824663" y="1376363"/>
            <a:ext cx="1206500" cy="1789112"/>
            <a:chOff x="4695" y="867"/>
            <a:chExt cx="760" cy="1127"/>
          </a:xfrm>
        </p:grpSpPr>
        <p:sp>
          <p:nvSpPr>
            <p:cNvPr id="31" name="Freeform 29"/>
            <p:cNvSpPr>
              <a:spLocks/>
            </p:cNvSpPr>
            <p:nvPr/>
          </p:nvSpPr>
          <p:spPr bwMode="auto">
            <a:xfrm>
              <a:off x="4695" y="867"/>
              <a:ext cx="361" cy="1127"/>
            </a:xfrm>
            <a:custGeom>
              <a:avLst/>
              <a:gdLst>
                <a:gd name="T0" fmla="*/ 80 w 451"/>
                <a:gd name="T1" fmla="*/ 1127 h 965"/>
                <a:gd name="T2" fmla="*/ 269 w 451"/>
                <a:gd name="T3" fmla="*/ 1044 h 965"/>
                <a:gd name="T4" fmla="*/ 341 w 451"/>
                <a:gd name="T5" fmla="*/ 827 h 965"/>
                <a:gd name="T6" fmla="*/ 361 w 451"/>
                <a:gd name="T7" fmla="*/ 487 h 965"/>
                <a:gd name="T8" fmla="*/ 341 w 451"/>
                <a:gd name="T9" fmla="*/ 242 h 965"/>
                <a:gd name="T10" fmla="*/ 269 w 451"/>
                <a:gd name="T11" fmla="*/ 84 h 965"/>
                <a:gd name="T12" fmla="*/ 0 w 451"/>
                <a:gd name="T13" fmla="*/ 0 h 96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51" h="965">
                  <a:moveTo>
                    <a:pt x="100" y="965"/>
                  </a:moveTo>
                  <a:cubicBezTo>
                    <a:pt x="139" y="951"/>
                    <a:pt x="282" y="937"/>
                    <a:pt x="336" y="894"/>
                  </a:cubicBezTo>
                  <a:cubicBezTo>
                    <a:pt x="390" y="851"/>
                    <a:pt x="407" y="787"/>
                    <a:pt x="426" y="708"/>
                  </a:cubicBezTo>
                  <a:cubicBezTo>
                    <a:pt x="445" y="629"/>
                    <a:pt x="451" y="500"/>
                    <a:pt x="451" y="417"/>
                  </a:cubicBezTo>
                  <a:cubicBezTo>
                    <a:pt x="451" y="334"/>
                    <a:pt x="445" y="264"/>
                    <a:pt x="426" y="207"/>
                  </a:cubicBezTo>
                  <a:cubicBezTo>
                    <a:pt x="407" y="150"/>
                    <a:pt x="407" y="106"/>
                    <a:pt x="336" y="72"/>
                  </a:cubicBezTo>
                  <a:cubicBezTo>
                    <a:pt x="265" y="38"/>
                    <a:pt x="70" y="15"/>
                    <a:pt x="0" y="0"/>
                  </a:cubicBezTo>
                </a:path>
              </a:pathLst>
            </a:custGeom>
            <a:noFill/>
            <a:ln w="28575" cap="flat" cmpd="sng">
              <a:solidFill>
                <a:srgbClr val="3333CC"/>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itchFamily="2" charset="-122"/>
              </a:endParaRPr>
            </a:p>
          </p:txBody>
        </p:sp>
        <p:sp>
          <p:nvSpPr>
            <p:cNvPr id="32" name="Rectangle 30"/>
            <p:cNvSpPr>
              <a:spLocks noChangeArrowheads="1"/>
            </p:cNvSpPr>
            <p:nvPr/>
          </p:nvSpPr>
          <p:spPr bwMode="auto">
            <a:xfrm>
              <a:off x="5047" y="1120"/>
              <a:ext cx="408" cy="5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800" b="1" i="0" u="none" strike="noStrike" kern="0" cap="none" spc="0" normalizeH="0" baseline="0" noProof="0">
                  <a:ln>
                    <a:noFill/>
                  </a:ln>
                  <a:solidFill>
                    <a:srgbClr val="3333CC"/>
                  </a:solidFill>
                  <a:effectLst/>
                  <a:uLnTx/>
                  <a:uFillTx/>
                  <a:latin typeface="+mn-lt"/>
                  <a:ea typeface="黑体" pitchFamily="2" charset="-122"/>
                </a:rPr>
                <a:t>通知</a:t>
              </a:r>
            </a:p>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800" b="1" i="0" u="none" strike="noStrike" kern="0" cap="none" spc="0" normalizeH="0" baseline="0" noProof="0">
                  <a:ln>
                    <a:noFill/>
                  </a:ln>
                  <a:solidFill>
                    <a:srgbClr val="3333CC"/>
                  </a:solidFill>
                  <a:effectLst/>
                  <a:uLnTx/>
                  <a:uFillTx/>
                  <a:latin typeface="+mn-lt"/>
                  <a:ea typeface="黑体" pitchFamily="2" charset="-122"/>
                </a:rPr>
                <a:t>应用</a:t>
              </a:r>
            </a:p>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800" b="1" i="0" u="none" strike="noStrike" kern="0" cap="none" spc="0" normalizeH="0" baseline="0" noProof="0">
                  <a:ln>
                    <a:noFill/>
                  </a:ln>
                  <a:solidFill>
                    <a:srgbClr val="3333CC"/>
                  </a:solidFill>
                  <a:effectLst/>
                  <a:uLnTx/>
                  <a:uFillTx/>
                  <a:latin typeface="+mn-lt"/>
                  <a:ea typeface="黑体" pitchFamily="2" charset="-122"/>
                </a:rPr>
                <a:t>进程</a:t>
              </a:r>
            </a:p>
          </p:txBody>
        </p:sp>
      </p:grpSp>
      <p:sp>
        <p:nvSpPr>
          <p:cNvPr id="33" name="Rectangle 31"/>
          <p:cNvSpPr>
            <a:spLocks noChangeArrowheads="1"/>
          </p:cNvSpPr>
          <p:nvPr/>
        </p:nvSpPr>
        <p:spPr bwMode="auto">
          <a:xfrm>
            <a:off x="1958850" y="1622425"/>
            <a:ext cx="1041953"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800" b="1" i="0" u="none" strike="noStrike" kern="0" cap="none" spc="0" normalizeH="0" baseline="0" noProof="0">
                <a:ln>
                  <a:noFill/>
                </a:ln>
                <a:solidFill>
                  <a:srgbClr val="3333CC"/>
                </a:solidFill>
                <a:effectLst/>
                <a:uLnTx/>
                <a:uFillTx/>
                <a:latin typeface="+mn-lt"/>
                <a:ea typeface="黑体" pitchFamily="2" charset="-122"/>
              </a:rPr>
              <a:t>ESTAB-</a:t>
            </a:r>
          </a:p>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800" b="1" i="0" u="none" strike="noStrike" kern="0" cap="none" spc="0" normalizeH="0" baseline="0" noProof="0">
                <a:ln>
                  <a:noFill/>
                </a:ln>
                <a:solidFill>
                  <a:srgbClr val="3333CC"/>
                </a:solidFill>
                <a:effectLst/>
                <a:uLnTx/>
                <a:uFillTx/>
                <a:latin typeface="+mn-lt"/>
                <a:ea typeface="黑体" pitchFamily="2" charset="-122"/>
              </a:rPr>
              <a:t>LISHED</a:t>
            </a:r>
          </a:p>
        </p:txBody>
      </p:sp>
      <p:sp>
        <p:nvSpPr>
          <p:cNvPr id="34" name="Rectangle 32"/>
          <p:cNvSpPr>
            <a:spLocks noChangeArrowheads="1"/>
          </p:cNvSpPr>
          <p:nvPr/>
        </p:nvSpPr>
        <p:spPr bwMode="auto">
          <a:xfrm>
            <a:off x="7045200" y="2058988"/>
            <a:ext cx="1041953"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800" b="1" i="0" u="none" strike="noStrike" kern="0" cap="none" spc="0" normalizeH="0" baseline="0" noProof="0">
                <a:ln>
                  <a:noFill/>
                </a:ln>
                <a:solidFill>
                  <a:srgbClr val="3333CC"/>
                </a:solidFill>
                <a:effectLst/>
                <a:uLnTx/>
                <a:uFillTx/>
                <a:latin typeface="+mn-lt"/>
                <a:ea typeface="黑体" pitchFamily="2" charset="-122"/>
              </a:rPr>
              <a:t>ESTAB-</a:t>
            </a:r>
          </a:p>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800" b="1" i="0" u="none" strike="noStrike" kern="0" cap="none" spc="0" normalizeH="0" baseline="0" noProof="0">
                <a:ln>
                  <a:noFill/>
                </a:ln>
                <a:solidFill>
                  <a:srgbClr val="3333CC"/>
                </a:solidFill>
                <a:effectLst/>
                <a:uLnTx/>
                <a:uFillTx/>
                <a:latin typeface="+mn-lt"/>
                <a:ea typeface="黑体" pitchFamily="2" charset="-122"/>
              </a:rPr>
              <a:t>LISHED</a:t>
            </a:r>
          </a:p>
        </p:txBody>
      </p:sp>
      <p:pic>
        <p:nvPicPr>
          <p:cNvPr id="35" name="Picture 33"/>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203325" y="969963"/>
            <a:ext cx="504825" cy="496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6" name="Picture 34"/>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289675" y="969963"/>
            <a:ext cx="504825" cy="496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7" name="Rectangle 35"/>
          <p:cNvSpPr>
            <a:spLocks noChangeArrowheads="1"/>
          </p:cNvSpPr>
          <p:nvPr/>
        </p:nvSpPr>
        <p:spPr bwMode="auto">
          <a:xfrm>
            <a:off x="2593850" y="938213"/>
            <a:ext cx="349456"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800" b="1" i="0" u="none" strike="noStrike" kern="0" cap="none" spc="0" normalizeH="0" baseline="0" noProof="0">
                <a:ln>
                  <a:noFill/>
                </a:ln>
                <a:solidFill>
                  <a:srgbClr val="3333CC"/>
                </a:solidFill>
                <a:effectLst/>
                <a:uLnTx/>
                <a:uFillTx/>
                <a:latin typeface="+mn-lt"/>
                <a:ea typeface="黑体" pitchFamily="2" charset="-122"/>
              </a:rPr>
              <a:t>A</a:t>
            </a:r>
          </a:p>
        </p:txBody>
      </p:sp>
      <p:sp>
        <p:nvSpPr>
          <p:cNvPr id="38" name="Rectangle 36"/>
          <p:cNvSpPr>
            <a:spLocks noChangeArrowheads="1"/>
          </p:cNvSpPr>
          <p:nvPr/>
        </p:nvSpPr>
        <p:spPr bwMode="auto">
          <a:xfrm>
            <a:off x="7094413" y="938213"/>
            <a:ext cx="349456"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800" b="1" i="0" u="none" strike="noStrike" kern="0" cap="none" spc="0" normalizeH="0" baseline="0" noProof="0">
                <a:ln>
                  <a:noFill/>
                </a:ln>
                <a:solidFill>
                  <a:srgbClr val="3333CC"/>
                </a:solidFill>
                <a:effectLst/>
                <a:uLnTx/>
                <a:uFillTx/>
                <a:latin typeface="+mn-lt"/>
                <a:ea typeface="黑体" pitchFamily="2" charset="-122"/>
              </a:rPr>
              <a:t>B</a:t>
            </a:r>
          </a:p>
        </p:txBody>
      </p:sp>
      <p:sp>
        <p:nvSpPr>
          <p:cNvPr id="39" name="Rectangle 37"/>
          <p:cNvSpPr>
            <a:spLocks noChangeArrowheads="1"/>
          </p:cNvSpPr>
          <p:nvPr/>
        </p:nvSpPr>
        <p:spPr bwMode="auto">
          <a:xfrm>
            <a:off x="2138238" y="647700"/>
            <a:ext cx="647614"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800" b="1" i="0" u="none" strike="noStrike" kern="0" cap="none" spc="0" normalizeH="0" baseline="0" noProof="0">
                <a:ln>
                  <a:noFill/>
                </a:ln>
                <a:solidFill>
                  <a:srgbClr val="3333CC"/>
                </a:solidFill>
                <a:effectLst/>
                <a:uLnTx/>
                <a:uFillTx/>
                <a:latin typeface="+mn-lt"/>
                <a:ea typeface="黑体" pitchFamily="2" charset="-122"/>
              </a:rPr>
              <a:t>客户</a:t>
            </a:r>
          </a:p>
        </p:txBody>
      </p:sp>
      <p:sp>
        <p:nvSpPr>
          <p:cNvPr id="40" name="Rectangle 38"/>
          <p:cNvSpPr>
            <a:spLocks noChangeArrowheads="1"/>
          </p:cNvSpPr>
          <p:nvPr/>
        </p:nvSpPr>
        <p:spPr bwMode="auto">
          <a:xfrm>
            <a:off x="7105525" y="647700"/>
            <a:ext cx="880050"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800" b="1" i="0" u="none" strike="noStrike" kern="0" cap="none" spc="0" normalizeH="0" baseline="0" noProof="0">
                <a:ln>
                  <a:noFill/>
                </a:ln>
                <a:solidFill>
                  <a:srgbClr val="3333CC"/>
                </a:solidFill>
                <a:effectLst/>
                <a:uLnTx/>
                <a:uFillTx/>
                <a:latin typeface="+mn-lt"/>
                <a:ea typeface="黑体" pitchFamily="2" charset="-122"/>
              </a:rPr>
              <a:t>服务器</a:t>
            </a:r>
          </a:p>
        </p:txBody>
      </p:sp>
      <p:sp>
        <p:nvSpPr>
          <p:cNvPr id="41" name="Rectangle 39"/>
          <p:cNvSpPr>
            <a:spLocks noChangeArrowheads="1"/>
          </p:cNvSpPr>
          <p:nvPr/>
        </p:nvSpPr>
        <p:spPr bwMode="auto">
          <a:xfrm rot="-628888">
            <a:off x="4673949" y="3629484"/>
            <a:ext cx="1215077" cy="397545"/>
          </a:xfrm>
          <a:prstGeom prst="rect">
            <a:avLst/>
          </a:prstGeom>
          <a:solidFill>
            <a:srgbClr val="CCECFF"/>
          </a:solidFill>
          <a:ln w="38100" cmpd="dbl" algn="ctr">
            <a:solidFill>
              <a:srgbClr val="3333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2000" b="1" i="0" u="none" strike="noStrike" kern="0" cap="none" spc="0" normalizeH="0" baseline="0" noProof="0" dirty="0">
                <a:ln>
                  <a:noFill/>
                </a:ln>
                <a:solidFill>
                  <a:srgbClr val="3333CC"/>
                </a:solidFill>
                <a:effectLst/>
                <a:uLnTx/>
                <a:uFillTx/>
                <a:latin typeface="+mn-lt"/>
                <a:ea typeface="黑体" pitchFamily="2" charset="-122"/>
              </a:rPr>
              <a:t>数据传送</a:t>
            </a:r>
          </a:p>
        </p:txBody>
      </p:sp>
      <p:sp>
        <p:nvSpPr>
          <p:cNvPr id="42" name="Text Box 41"/>
          <p:cNvSpPr txBox="1">
            <a:spLocks noChangeArrowheads="1"/>
          </p:cNvSpPr>
          <p:nvPr/>
        </p:nvSpPr>
        <p:spPr bwMode="auto">
          <a:xfrm>
            <a:off x="1136576" y="5786438"/>
            <a:ext cx="8226425" cy="955675"/>
          </a:xfrm>
          <a:prstGeom prst="rect">
            <a:avLst/>
          </a:prstGeom>
          <a:solidFill>
            <a:srgbClr val="FFFF99"/>
          </a:solidFill>
          <a:ln w="9525">
            <a:solidFill>
              <a:srgbClr val="3333CC"/>
            </a:solidFill>
            <a:miter lim="800000"/>
            <a:headEnd/>
            <a:tailEnd/>
          </a:ln>
          <a:effectLst>
            <a:outerShdw dist="35921" dir="2700000" algn="ctr" rotWithShape="0">
              <a:srgbClr val="1C1C1C"/>
            </a:outerShdw>
          </a:effec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Char char="•"/>
              <a:tabLst/>
              <a:defRPr/>
            </a:pPr>
            <a:r>
              <a:rPr kumimoji="0" lang="en-US" altLang="zh-CN" sz="2800" b="1" i="0" u="none" strike="noStrike" kern="0" cap="none" spc="0" normalizeH="0" baseline="0" noProof="0">
                <a:ln>
                  <a:noFill/>
                </a:ln>
                <a:solidFill>
                  <a:srgbClr val="000099"/>
                </a:solidFill>
                <a:effectLst/>
                <a:uLnTx/>
                <a:uFillTx/>
                <a:latin typeface="Arial" pitchFamily="34" charset="0"/>
                <a:ea typeface="黑体" pitchFamily="2" charset="-122"/>
              </a:rPr>
              <a:t>  </a:t>
            </a:r>
            <a:r>
              <a:rPr kumimoji="0" lang="zh-CN" altLang="en-US" sz="2800" b="1" i="0" u="none" strike="noStrike" kern="0" cap="none" spc="0" normalizeH="0" baseline="0" noProof="0">
                <a:ln>
                  <a:noFill/>
                </a:ln>
                <a:solidFill>
                  <a:srgbClr val="000099"/>
                </a:solidFill>
                <a:effectLst/>
                <a:uLnTx/>
                <a:uFillTx/>
                <a:latin typeface="Arial" pitchFamily="34" charset="0"/>
                <a:ea typeface="黑体" pitchFamily="2" charset="-122"/>
              </a:rPr>
              <a:t>在确认报文段中 </a:t>
            </a:r>
            <a:r>
              <a:rPr kumimoji="0" lang="en-US" altLang="zh-CN" sz="2800" b="1" i="0" u="none" strike="noStrike" kern="0" cap="none" spc="0" normalizeH="0" baseline="0" noProof="0">
                <a:ln>
                  <a:noFill/>
                </a:ln>
                <a:solidFill>
                  <a:srgbClr val="000099"/>
                </a:solidFill>
                <a:effectLst/>
                <a:uLnTx/>
                <a:uFillTx/>
                <a:latin typeface="Arial" pitchFamily="34" charset="0"/>
                <a:ea typeface="黑体" pitchFamily="2" charset="-122"/>
              </a:rPr>
              <a:t>ACK = 1</a:t>
            </a:r>
            <a:r>
              <a:rPr kumimoji="0" lang="zh-CN" altLang="en-US" sz="2800" b="1" i="0" u="none" strike="noStrike" kern="0" cap="none" spc="0" normalizeH="0" baseline="0" noProof="0">
                <a:ln>
                  <a:noFill/>
                </a:ln>
                <a:solidFill>
                  <a:srgbClr val="000099"/>
                </a:solidFill>
                <a:effectLst/>
                <a:uLnTx/>
                <a:uFillTx/>
                <a:latin typeface="Arial" pitchFamily="34" charset="0"/>
                <a:ea typeface="黑体" pitchFamily="2" charset="-122"/>
              </a:rPr>
              <a:t>，确认号 </a:t>
            </a:r>
            <a:r>
              <a:rPr kumimoji="0" lang="en-US" altLang="zh-CN" sz="2800" b="1" i="0" u="none" strike="noStrike" kern="0" cap="none" spc="0" normalizeH="0" baseline="0" noProof="0">
                <a:ln>
                  <a:noFill/>
                </a:ln>
                <a:solidFill>
                  <a:srgbClr val="000099"/>
                </a:solidFill>
                <a:effectLst/>
                <a:uLnTx/>
                <a:uFillTx/>
                <a:latin typeface="Arial" pitchFamily="34" charset="0"/>
                <a:ea typeface="黑体" pitchFamily="2" charset="-122"/>
              </a:rPr>
              <a:t>ack </a:t>
            </a:r>
            <a:r>
              <a:rPr kumimoji="0" lang="en-US" altLang="zh-CN" sz="2800" b="1" i="0" u="none" strike="noStrike" kern="0" cap="none" spc="0" normalizeH="0" baseline="0" noProof="0">
                <a:ln>
                  <a:noFill/>
                </a:ln>
                <a:solidFill>
                  <a:srgbClr val="000099"/>
                </a:solidFill>
                <a:effectLst/>
                <a:uLnTx/>
                <a:uFillTx/>
                <a:latin typeface="Arial" pitchFamily="34" charset="0"/>
                <a:ea typeface="黑体" pitchFamily="2" charset="-122"/>
                <a:sym typeface="Symbol" pitchFamily="18" charset="2"/>
              </a:rPr>
              <a:t></a:t>
            </a:r>
            <a:r>
              <a:rPr kumimoji="0" lang="en-US" altLang="zh-CN" sz="2800" b="1" i="0" u="none" strike="noStrike" kern="0" cap="none" spc="0" normalizeH="0" baseline="0" noProof="0">
                <a:ln>
                  <a:noFill/>
                </a:ln>
                <a:solidFill>
                  <a:srgbClr val="000099"/>
                </a:solidFill>
                <a:effectLst/>
                <a:uLnTx/>
                <a:uFillTx/>
                <a:latin typeface="Arial" pitchFamily="34" charset="0"/>
                <a:ea typeface="黑体" pitchFamily="2" charset="-122"/>
              </a:rPr>
              <a:t> w </a:t>
            </a:r>
            <a:r>
              <a:rPr kumimoji="0" lang="en-US" altLang="zh-CN" sz="2800" b="1" i="0" u="none" strike="noStrike" kern="0" cap="none" spc="0" normalizeH="0" baseline="0" noProof="0">
                <a:ln>
                  <a:noFill/>
                </a:ln>
                <a:solidFill>
                  <a:srgbClr val="000099"/>
                </a:solidFill>
                <a:effectLst/>
                <a:uLnTx/>
                <a:uFillTx/>
                <a:latin typeface="Arial" pitchFamily="34" charset="0"/>
                <a:ea typeface="黑体" pitchFamily="2" charset="-122"/>
                <a:sym typeface="Symbol" pitchFamily="18" charset="2"/>
              </a:rPr>
              <a:t></a:t>
            </a:r>
            <a:r>
              <a:rPr kumimoji="0" lang="en-US" altLang="zh-CN" sz="2800" b="1" i="0" u="none" strike="noStrike" kern="0" cap="none" spc="0" normalizeH="0" baseline="0" noProof="0">
                <a:ln>
                  <a:noFill/>
                </a:ln>
                <a:solidFill>
                  <a:srgbClr val="000099"/>
                </a:solidFill>
                <a:effectLst/>
                <a:uLnTx/>
                <a:uFillTx/>
                <a:latin typeface="Arial" pitchFamily="34" charset="0"/>
                <a:ea typeface="黑体" pitchFamily="2" charset="-122"/>
              </a:rPr>
              <a:t> 1</a:t>
            </a:r>
            <a:r>
              <a:rPr kumimoji="0" lang="zh-CN" altLang="en-US" sz="2800" b="1" i="0" u="none" strike="noStrike" kern="0" cap="none" spc="0" normalizeH="0" baseline="0" noProof="0">
                <a:ln>
                  <a:noFill/>
                </a:ln>
                <a:solidFill>
                  <a:srgbClr val="000099"/>
                </a:solidFill>
                <a:effectLst/>
                <a:uLnTx/>
                <a:uFillTx/>
                <a:latin typeface="Arial" pitchFamily="34" charset="0"/>
                <a:ea typeface="黑体" pitchFamily="2" charset="-122"/>
              </a:rPr>
              <a:t>，</a:t>
            </a:r>
          </a:p>
          <a:p>
            <a:pPr marL="0" marR="0" lvl="0" indent="0" algn="l" defTabSz="914400" eaLnBrk="1" fontAlgn="auto" latinLnBrk="0" hangingPunct="1">
              <a:lnSpc>
                <a:spcPct val="100000"/>
              </a:lnSpc>
              <a:spcBef>
                <a:spcPts val="0"/>
              </a:spcBef>
              <a:spcAft>
                <a:spcPts val="0"/>
              </a:spcAft>
              <a:buClrTx/>
              <a:buSzTx/>
              <a:buFontTx/>
              <a:buNone/>
              <a:tabLst/>
              <a:defRPr/>
            </a:pPr>
            <a:r>
              <a:rPr kumimoji="0" lang="zh-CN" altLang="en-US" sz="2800" b="1" i="0" u="none" strike="noStrike" kern="0" cap="none" spc="0" normalizeH="0" baseline="0" noProof="0">
                <a:ln>
                  <a:noFill/>
                </a:ln>
                <a:solidFill>
                  <a:srgbClr val="000099"/>
                </a:solidFill>
                <a:effectLst/>
                <a:uLnTx/>
                <a:uFillTx/>
                <a:latin typeface="Arial" pitchFamily="34" charset="0"/>
                <a:ea typeface="黑体" pitchFamily="2" charset="-122"/>
              </a:rPr>
              <a:t>   自己的序号 </a:t>
            </a:r>
            <a:r>
              <a:rPr kumimoji="0" lang="en-US" altLang="zh-CN" sz="2800" b="1" i="0" u="none" strike="noStrike" kern="0" cap="none" spc="0" normalizeH="0" baseline="0" noProof="0">
                <a:ln>
                  <a:noFill/>
                </a:ln>
                <a:solidFill>
                  <a:srgbClr val="000099"/>
                </a:solidFill>
                <a:effectLst/>
                <a:uLnTx/>
                <a:uFillTx/>
                <a:latin typeface="Arial" pitchFamily="34" charset="0"/>
                <a:ea typeface="黑体" pitchFamily="2" charset="-122"/>
              </a:rPr>
              <a:t>seq = u + 1</a:t>
            </a:r>
            <a:r>
              <a:rPr kumimoji="0" lang="zh-CN" altLang="en-US" sz="2800" b="1" i="0" u="none" strike="noStrike" kern="0" cap="none" spc="0" normalizeH="0" baseline="0" noProof="0">
                <a:ln>
                  <a:noFill/>
                </a:ln>
                <a:solidFill>
                  <a:srgbClr val="000099"/>
                </a:solidFill>
                <a:effectLst/>
                <a:uLnTx/>
                <a:uFillTx/>
                <a:latin typeface="Arial" pitchFamily="34" charset="0"/>
                <a:ea typeface="黑体" pitchFamily="2" charset="-122"/>
              </a:rPr>
              <a:t>。 </a:t>
            </a:r>
          </a:p>
        </p:txBody>
      </p:sp>
      <p:sp>
        <p:nvSpPr>
          <p:cNvPr id="43" name="Rectangle 42"/>
          <p:cNvSpPr>
            <a:spLocks noChangeArrowheads="1"/>
          </p:cNvSpPr>
          <p:nvPr/>
        </p:nvSpPr>
        <p:spPr bwMode="auto">
          <a:xfrm rot="610931">
            <a:off x="3390184" y="4996812"/>
            <a:ext cx="3733395"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tabLst/>
              <a:defRPr/>
            </a:pPr>
            <a:r>
              <a:rPr kumimoji="0" lang="en-US" altLang="zh-CN" sz="1800" b="1" i="0" u="none" strike="noStrike" kern="0" cap="none" spc="0" normalizeH="0" baseline="0" noProof="0" dirty="0">
                <a:ln>
                  <a:noFill/>
                </a:ln>
                <a:solidFill>
                  <a:srgbClr val="3333CC"/>
                </a:solidFill>
                <a:effectLst/>
                <a:uLnTx/>
                <a:uFillTx/>
                <a:latin typeface="+mn-lt"/>
                <a:ea typeface="黑体" pitchFamily="2" charset="-122"/>
              </a:rPr>
              <a:t>ACK = 1, </a:t>
            </a:r>
            <a:r>
              <a:rPr kumimoji="0" lang="en-US" altLang="zh-CN" sz="1800" b="1" i="0" u="none" strike="noStrike" kern="0" cap="none" spc="0" normalizeH="0" baseline="0" noProof="0" dirty="0" err="1">
                <a:ln>
                  <a:noFill/>
                </a:ln>
                <a:solidFill>
                  <a:srgbClr val="3333CC"/>
                </a:solidFill>
                <a:effectLst/>
                <a:uLnTx/>
                <a:uFillTx/>
                <a:latin typeface="+mn-lt"/>
                <a:ea typeface="黑体" pitchFamily="2" charset="-122"/>
              </a:rPr>
              <a:t>seq</a:t>
            </a:r>
            <a:r>
              <a:rPr kumimoji="0" lang="en-US" altLang="zh-CN" sz="1800" b="1" i="0" u="none" strike="noStrike" kern="0" cap="none" spc="0" normalizeH="0" baseline="0" noProof="0" dirty="0">
                <a:ln>
                  <a:noFill/>
                </a:ln>
                <a:solidFill>
                  <a:srgbClr val="3333CC"/>
                </a:solidFill>
                <a:effectLst/>
                <a:uLnTx/>
                <a:uFillTx/>
                <a:latin typeface="+mn-lt"/>
                <a:ea typeface="黑体" pitchFamily="2" charset="-122"/>
              </a:rPr>
              <a:t> = u + 1, </a:t>
            </a:r>
            <a:r>
              <a:rPr kumimoji="0" lang="en-US" altLang="zh-CN" sz="1800" b="1" i="0" u="none" strike="noStrike" kern="0" cap="none" spc="0" normalizeH="0" baseline="0" noProof="0" dirty="0" err="1">
                <a:ln>
                  <a:noFill/>
                </a:ln>
                <a:solidFill>
                  <a:srgbClr val="3333CC"/>
                </a:solidFill>
                <a:effectLst/>
                <a:uLnTx/>
                <a:uFillTx/>
                <a:latin typeface="+mn-lt"/>
                <a:ea typeface="黑体" pitchFamily="2" charset="-122"/>
              </a:rPr>
              <a:t>ack</a:t>
            </a:r>
            <a:r>
              <a:rPr kumimoji="0" lang="en-US" altLang="zh-CN" sz="1800" b="1" i="0" u="none" strike="noStrike" kern="0" cap="none" spc="0" normalizeH="0" baseline="0" noProof="0" dirty="0">
                <a:ln>
                  <a:noFill/>
                </a:ln>
                <a:solidFill>
                  <a:srgbClr val="3333CC"/>
                </a:solidFill>
                <a:effectLst/>
                <a:uLnTx/>
                <a:uFillTx/>
                <a:latin typeface="+mn-lt"/>
                <a:ea typeface="黑体" pitchFamily="2" charset="-122"/>
              </a:rPr>
              <a:t> = w </a:t>
            </a:r>
            <a:r>
              <a:rPr kumimoji="0" lang="en-US" altLang="zh-CN" sz="1800" b="1" i="0" u="none" strike="noStrike" kern="0" cap="none" spc="0" normalizeH="0" baseline="0" noProof="0" dirty="0">
                <a:ln>
                  <a:noFill/>
                </a:ln>
                <a:solidFill>
                  <a:srgbClr val="3333CC"/>
                </a:solidFill>
                <a:effectLst/>
                <a:uLnTx/>
                <a:uFillTx/>
                <a:latin typeface="+mn-lt"/>
                <a:ea typeface="黑体" pitchFamily="2" charset="-122"/>
                <a:sym typeface="Symbol" pitchFamily="18" charset="2"/>
              </a:rPr>
              <a:t> 1</a:t>
            </a:r>
          </a:p>
        </p:txBody>
      </p:sp>
      <p:sp>
        <p:nvSpPr>
          <p:cNvPr id="44" name="Line 43"/>
          <p:cNvSpPr>
            <a:spLocks noChangeShapeType="1"/>
          </p:cNvSpPr>
          <p:nvPr/>
        </p:nvSpPr>
        <p:spPr bwMode="auto">
          <a:xfrm>
            <a:off x="2933575" y="4933339"/>
            <a:ext cx="4133850" cy="769937"/>
          </a:xfrm>
          <a:prstGeom prst="line">
            <a:avLst/>
          </a:prstGeom>
          <a:noFill/>
          <a:ln w="3810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itchFamily="2" charset="-122"/>
            </a:endParaRPr>
          </a:p>
        </p:txBody>
      </p:sp>
      <p:sp>
        <p:nvSpPr>
          <p:cNvPr id="46" name="Text Box 30"/>
          <p:cNvSpPr txBox="1">
            <a:spLocks noChangeArrowheads="1"/>
          </p:cNvSpPr>
          <p:nvPr/>
        </p:nvSpPr>
        <p:spPr bwMode="auto">
          <a:xfrm>
            <a:off x="1132656" y="34925"/>
            <a:ext cx="7924800" cy="650875"/>
          </a:xfrm>
          <a:prstGeom prst="rect">
            <a:avLst/>
          </a:prstGeom>
          <a:solidFill>
            <a:srgbClr val="FFFF99"/>
          </a:solidFill>
          <a:ln w="9525">
            <a:solidFill>
              <a:srgbClr val="3333CC"/>
            </a:solidFill>
            <a:miter lim="800000"/>
            <a:headEnd/>
            <a:tailEnd/>
          </a:ln>
          <a:effectLst>
            <a:outerShdw dist="35921" dir="2700000" algn="ctr" rotWithShape="0">
              <a:srgbClr val="1C1C1C"/>
            </a:outerShdw>
          </a:effectLst>
        </p:spPr>
        <p:txBody>
          <a:bodyPr>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3600" b="1" i="0" u="none" strike="noStrike" kern="0" cap="none" spc="0" normalizeH="0" baseline="0" noProof="0" dirty="0">
                <a:ln>
                  <a:noFill/>
                </a:ln>
                <a:solidFill>
                  <a:srgbClr val="333399"/>
                </a:solidFill>
                <a:effectLst/>
                <a:uLnTx/>
                <a:uFillTx/>
                <a:latin typeface="Arial" pitchFamily="34" charset="0"/>
                <a:ea typeface="黑体" pitchFamily="2" charset="-122"/>
              </a:rPr>
              <a:t>TCP </a:t>
            </a:r>
            <a:r>
              <a:rPr kumimoji="0" lang="zh-CN" altLang="en-US" sz="3600" b="1" i="0" u="none" strike="noStrike" kern="0" cap="none" spc="0" normalizeH="0" baseline="0" noProof="0" dirty="0">
                <a:ln>
                  <a:noFill/>
                </a:ln>
                <a:solidFill>
                  <a:srgbClr val="333399"/>
                </a:solidFill>
                <a:effectLst/>
                <a:uLnTx/>
                <a:uFillTx/>
                <a:latin typeface="Arial" pitchFamily="34" charset="0"/>
                <a:ea typeface="黑体" pitchFamily="2" charset="-122"/>
              </a:rPr>
              <a:t>的连接释放：采用</a:t>
            </a:r>
            <a:r>
              <a:rPr kumimoji="0" lang="zh-CN" altLang="zh-CN" sz="3600" kern="0" dirty="0">
                <a:solidFill>
                  <a:srgbClr val="FF0000"/>
                </a:solidFill>
                <a:latin typeface="Arial" pitchFamily="34" charset="0"/>
                <a:ea typeface="黑体" pitchFamily="2" charset="-122"/>
              </a:rPr>
              <a:t>四报文握手</a:t>
            </a:r>
            <a:endParaRPr kumimoji="0" lang="zh-CN" altLang="en-US" sz="3600" kern="0" dirty="0">
              <a:solidFill>
                <a:srgbClr val="FF0000"/>
              </a:solidFill>
              <a:latin typeface="Arial" pitchFamily="34" charset="0"/>
              <a:ea typeface="黑体" pitchFamily="2" charset="-122"/>
            </a:endParaRPr>
          </a:p>
        </p:txBody>
      </p:sp>
    </p:spTree>
    <p:extLst>
      <p:ext uri="{BB962C8B-B14F-4D97-AF65-F5344CB8AC3E}">
        <p14:creationId xmlns:p14="http://schemas.microsoft.com/office/powerpoint/2010/main" val="13113881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2"/>
          <p:cNvGrpSpPr>
            <a:grpSpLocks/>
          </p:cNvGrpSpPr>
          <p:nvPr/>
        </p:nvGrpSpPr>
        <p:grpSpPr bwMode="auto">
          <a:xfrm>
            <a:off x="1833885" y="6213475"/>
            <a:ext cx="1012825" cy="528638"/>
            <a:chOff x="975" y="3914"/>
            <a:chExt cx="638" cy="333"/>
          </a:xfrm>
        </p:grpSpPr>
        <p:sp>
          <p:nvSpPr>
            <p:cNvPr id="5" name="Rectangle 3"/>
            <p:cNvSpPr>
              <a:spLocks noChangeArrowheads="1"/>
            </p:cNvSpPr>
            <p:nvPr/>
          </p:nvSpPr>
          <p:spPr bwMode="auto">
            <a:xfrm>
              <a:off x="1012" y="3914"/>
              <a:ext cx="601" cy="333"/>
            </a:xfrm>
            <a:prstGeom prst="rect">
              <a:avLst/>
            </a:prstGeom>
            <a:solidFill>
              <a:srgbClr val="663300"/>
            </a:solidFill>
            <a:ln>
              <a:noFill/>
            </a:ln>
            <a:effectLst>
              <a:outerShdw dist="35921" dir="2700000" algn="ctr" rotWithShape="0">
                <a:srgbClr val="1C1C1C"/>
              </a:outerShdw>
            </a:effectLst>
            <a:extLst>
              <a:ext uri="{91240B29-F687-4F45-9708-019B960494DF}">
                <a14:hiddenLine xmlns:a14="http://schemas.microsoft.com/office/drawing/2010/main" w="12700" algn="ctr">
                  <a:solidFill>
                    <a:schemeClr val="tx1"/>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itchFamily="2" charset="-122"/>
              </a:endParaRPr>
            </a:p>
          </p:txBody>
        </p:sp>
        <p:sp>
          <p:nvSpPr>
            <p:cNvPr id="6" name="Text Box 4"/>
            <p:cNvSpPr txBox="1">
              <a:spLocks noChangeArrowheads="1"/>
            </p:cNvSpPr>
            <p:nvPr/>
          </p:nvSpPr>
          <p:spPr bwMode="auto">
            <a:xfrm>
              <a:off x="975" y="3967"/>
              <a:ext cx="612" cy="212"/>
            </a:xfrm>
            <a:prstGeom prst="rect">
              <a:avLst/>
            </a:prstGeom>
            <a:noFill/>
            <a:ln>
              <a:noFill/>
            </a:ln>
            <a:effectLst/>
            <a:extLst>
              <a:ext uri="{909E8E84-426E-40DD-AFC4-6F175D3DCCD1}">
                <a14:hiddenFill xmlns:a14="http://schemas.microsoft.com/office/drawing/2010/main">
                  <a:solidFill>
                    <a:srgbClr val="663300"/>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0" fontAlgn="auto" latinLnBrk="0" hangingPunct="0">
                <a:lnSpc>
                  <a:spcPct val="100000"/>
                </a:lnSpc>
                <a:spcBef>
                  <a:spcPts val="0"/>
                </a:spcBef>
                <a:spcAft>
                  <a:spcPts val="0"/>
                </a:spcAft>
                <a:buClrTx/>
                <a:buSzTx/>
                <a:buFontTx/>
                <a:buNone/>
                <a:tabLst/>
                <a:defRPr/>
              </a:pPr>
              <a:r>
                <a:rPr kumimoji="1" lang="en-US" altLang="zh-CN" sz="1800" i="0" u="none" strike="noStrike" kern="0" cap="none" spc="0" normalizeH="0" baseline="0" noProof="0">
                  <a:ln>
                    <a:noFill/>
                  </a:ln>
                  <a:solidFill>
                    <a:srgbClr val="FFFF99"/>
                  </a:solidFill>
                  <a:effectLst/>
                  <a:uLnTx/>
                  <a:uFillTx/>
                  <a:latin typeface="+mn-lt"/>
                  <a:ea typeface="黑体" pitchFamily="2" charset="-122"/>
                </a:rPr>
                <a:t>CLOSED</a:t>
              </a:r>
            </a:p>
          </p:txBody>
        </p:sp>
      </p:grpSp>
      <p:sp>
        <p:nvSpPr>
          <p:cNvPr id="7" name="AutoShape 5"/>
          <p:cNvSpPr>
            <a:spLocks noChangeArrowheads="1"/>
          </p:cNvSpPr>
          <p:nvPr/>
        </p:nvSpPr>
        <p:spPr bwMode="auto">
          <a:xfrm rot="-651552">
            <a:off x="4072260" y="3895725"/>
            <a:ext cx="676275" cy="236538"/>
          </a:xfrm>
          <a:prstGeom prst="leftArrow">
            <a:avLst>
              <a:gd name="adj1" fmla="val 53620"/>
              <a:gd name="adj2" fmla="val 119816"/>
            </a:avLst>
          </a:prstGeom>
          <a:solidFill>
            <a:srgbClr val="FF0000"/>
          </a:solidFill>
          <a:ln w="12700"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itchFamily="2" charset="-122"/>
            </a:endParaRPr>
          </a:p>
        </p:txBody>
      </p:sp>
      <p:sp>
        <p:nvSpPr>
          <p:cNvPr id="8" name="AutoShape 6"/>
          <p:cNvSpPr>
            <a:spLocks noChangeArrowheads="1"/>
          </p:cNvSpPr>
          <p:nvPr/>
        </p:nvSpPr>
        <p:spPr bwMode="auto">
          <a:xfrm>
            <a:off x="3781747" y="1863725"/>
            <a:ext cx="2384425" cy="252413"/>
          </a:xfrm>
          <a:prstGeom prst="leftRightArrow">
            <a:avLst>
              <a:gd name="adj1" fmla="val 55880"/>
              <a:gd name="adj2" fmla="val 108285"/>
            </a:avLst>
          </a:prstGeom>
          <a:solidFill>
            <a:srgbClr val="FF0000"/>
          </a:solidFill>
          <a:ln w="12700"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itchFamily="2" charset="-122"/>
            </a:endParaRPr>
          </a:p>
        </p:txBody>
      </p:sp>
      <p:sp>
        <p:nvSpPr>
          <p:cNvPr id="9" name="Rectangle 7"/>
          <p:cNvSpPr>
            <a:spLocks noChangeArrowheads="1"/>
          </p:cNvSpPr>
          <p:nvPr/>
        </p:nvSpPr>
        <p:spPr bwMode="auto">
          <a:xfrm rot="610931">
            <a:off x="3304906" y="4996812"/>
            <a:ext cx="3733395"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tabLst/>
              <a:defRPr/>
            </a:pPr>
            <a:r>
              <a:rPr kumimoji="0" lang="en-US" altLang="zh-CN" sz="1800" b="1" i="0" u="none" strike="noStrike" kern="0" cap="none" spc="0" normalizeH="0" baseline="0" noProof="0" dirty="0">
                <a:ln>
                  <a:noFill/>
                </a:ln>
                <a:solidFill>
                  <a:srgbClr val="3333CC"/>
                </a:solidFill>
                <a:effectLst/>
                <a:uLnTx/>
                <a:uFillTx/>
                <a:latin typeface="+mn-lt"/>
                <a:ea typeface="黑体" pitchFamily="2" charset="-122"/>
              </a:rPr>
              <a:t>ACK = 1, </a:t>
            </a:r>
            <a:r>
              <a:rPr kumimoji="0" lang="en-US" altLang="zh-CN" sz="1800" b="1" i="0" u="none" strike="noStrike" kern="0" cap="none" spc="0" normalizeH="0" baseline="0" noProof="0" dirty="0" err="1">
                <a:ln>
                  <a:noFill/>
                </a:ln>
                <a:solidFill>
                  <a:srgbClr val="3333CC"/>
                </a:solidFill>
                <a:effectLst/>
                <a:uLnTx/>
                <a:uFillTx/>
                <a:latin typeface="+mn-lt"/>
                <a:ea typeface="黑体" pitchFamily="2" charset="-122"/>
              </a:rPr>
              <a:t>seq</a:t>
            </a:r>
            <a:r>
              <a:rPr kumimoji="0" lang="en-US" altLang="zh-CN" sz="1800" b="1" i="0" u="none" strike="noStrike" kern="0" cap="none" spc="0" normalizeH="0" baseline="0" noProof="0" dirty="0">
                <a:ln>
                  <a:noFill/>
                </a:ln>
                <a:solidFill>
                  <a:srgbClr val="3333CC"/>
                </a:solidFill>
                <a:effectLst/>
                <a:uLnTx/>
                <a:uFillTx/>
                <a:latin typeface="+mn-lt"/>
                <a:ea typeface="黑体" pitchFamily="2" charset="-122"/>
              </a:rPr>
              <a:t> = u + 1, </a:t>
            </a:r>
            <a:r>
              <a:rPr kumimoji="0" lang="en-US" altLang="zh-CN" sz="1800" b="1" i="0" u="none" strike="noStrike" kern="0" cap="none" spc="0" normalizeH="0" baseline="0" noProof="0" dirty="0" err="1">
                <a:ln>
                  <a:noFill/>
                </a:ln>
                <a:solidFill>
                  <a:srgbClr val="3333CC"/>
                </a:solidFill>
                <a:effectLst/>
                <a:uLnTx/>
                <a:uFillTx/>
                <a:latin typeface="+mn-lt"/>
                <a:ea typeface="黑体" pitchFamily="2" charset="-122"/>
              </a:rPr>
              <a:t>ack</a:t>
            </a:r>
            <a:r>
              <a:rPr kumimoji="0" lang="en-US" altLang="zh-CN" sz="1800" b="1" i="0" u="none" strike="noStrike" kern="0" cap="none" spc="0" normalizeH="0" baseline="0" noProof="0" dirty="0">
                <a:ln>
                  <a:noFill/>
                </a:ln>
                <a:solidFill>
                  <a:srgbClr val="3333CC"/>
                </a:solidFill>
                <a:effectLst/>
                <a:uLnTx/>
                <a:uFillTx/>
                <a:latin typeface="+mn-lt"/>
                <a:ea typeface="黑体" pitchFamily="2" charset="-122"/>
              </a:rPr>
              <a:t> = w </a:t>
            </a:r>
            <a:r>
              <a:rPr kumimoji="0" lang="en-US" altLang="zh-CN" sz="1800" b="1" i="0" u="none" strike="noStrike" kern="0" cap="none" spc="0" normalizeH="0" baseline="0" noProof="0" dirty="0">
                <a:ln>
                  <a:noFill/>
                </a:ln>
                <a:solidFill>
                  <a:srgbClr val="3333CC"/>
                </a:solidFill>
                <a:effectLst/>
                <a:uLnTx/>
                <a:uFillTx/>
                <a:latin typeface="+mn-lt"/>
                <a:ea typeface="黑体" pitchFamily="2" charset="-122"/>
                <a:sym typeface="Symbol" pitchFamily="18" charset="2"/>
              </a:rPr>
              <a:t> 1</a:t>
            </a:r>
          </a:p>
        </p:txBody>
      </p:sp>
      <p:grpSp>
        <p:nvGrpSpPr>
          <p:cNvPr id="10" name="Group 8"/>
          <p:cNvGrpSpPr>
            <a:grpSpLocks/>
          </p:cNvGrpSpPr>
          <p:nvPr/>
        </p:nvGrpSpPr>
        <p:grpSpPr bwMode="auto">
          <a:xfrm>
            <a:off x="2848297" y="2355850"/>
            <a:ext cx="4133850" cy="768350"/>
            <a:chOff x="1614" y="1484"/>
            <a:chExt cx="2604" cy="484"/>
          </a:xfrm>
        </p:grpSpPr>
        <p:sp>
          <p:nvSpPr>
            <p:cNvPr id="11" name="Rectangle 9"/>
            <p:cNvSpPr>
              <a:spLocks noChangeArrowheads="1"/>
            </p:cNvSpPr>
            <p:nvPr/>
          </p:nvSpPr>
          <p:spPr bwMode="auto">
            <a:xfrm rot="597975">
              <a:off x="2449" y="1520"/>
              <a:ext cx="129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2000" b="1" i="0" u="none" strike="noStrike" kern="0" cap="none" spc="0" normalizeH="0" baseline="0" noProof="0">
                  <a:ln>
                    <a:noFill/>
                  </a:ln>
                  <a:solidFill>
                    <a:srgbClr val="3333CC"/>
                  </a:solidFill>
                  <a:effectLst/>
                  <a:uLnTx/>
                  <a:uFillTx/>
                  <a:latin typeface="+mn-lt"/>
                  <a:ea typeface="黑体" pitchFamily="2" charset="-122"/>
                </a:rPr>
                <a:t>FIN = 1, seq = u</a:t>
              </a:r>
            </a:p>
          </p:txBody>
        </p:sp>
        <p:sp>
          <p:nvSpPr>
            <p:cNvPr id="12" name="Line 10"/>
            <p:cNvSpPr>
              <a:spLocks noChangeShapeType="1"/>
            </p:cNvSpPr>
            <p:nvPr/>
          </p:nvSpPr>
          <p:spPr bwMode="auto">
            <a:xfrm>
              <a:off x="1614" y="1484"/>
              <a:ext cx="2604" cy="484"/>
            </a:xfrm>
            <a:prstGeom prst="line">
              <a:avLst/>
            </a:prstGeom>
            <a:noFill/>
            <a:ln w="3810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itchFamily="2" charset="-122"/>
              </a:endParaRPr>
            </a:p>
          </p:txBody>
        </p:sp>
      </p:grpSp>
      <p:grpSp>
        <p:nvGrpSpPr>
          <p:cNvPr id="13" name="Group 11"/>
          <p:cNvGrpSpPr>
            <a:grpSpLocks/>
          </p:cNvGrpSpPr>
          <p:nvPr/>
        </p:nvGrpSpPr>
        <p:grpSpPr bwMode="auto">
          <a:xfrm>
            <a:off x="2862585" y="3167063"/>
            <a:ext cx="4133850" cy="769937"/>
            <a:chOff x="1623" y="1995"/>
            <a:chExt cx="2604" cy="485"/>
          </a:xfrm>
        </p:grpSpPr>
        <p:sp>
          <p:nvSpPr>
            <p:cNvPr id="14" name="Rectangle 12"/>
            <p:cNvSpPr>
              <a:spLocks noChangeArrowheads="1"/>
            </p:cNvSpPr>
            <p:nvPr/>
          </p:nvSpPr>
          <p:spPr bwMode="auto">
            <a:xfrm rot="20990024" flipH="1">
              <a:off x="1829" y="2020"/>
              <a:ext cx="2033"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tabLst/>
                <a:defRPr/>
              </a:pPr>
              <a:r>
                <a:rPr kumimoji="0" lang="en-US" altLang="zh-CN" sz="1800" b="1" i="0" u="none" strike="noStrike" kern="0" cap="none" spc="0" normalizeH="0" baseline="0" noProof="0">
                  <a:ln>
                    <a:noFill/>
                  </a:ln>
                  <a:solidFill>
                    <a:srgbClr val="3333CC"/>
                  </a:solidFill>
                  <a:effectLst/>
                  <a:uLnTx/>
                  <a:uFillTx/>
                  <a:latin typeface="+mn-lt"/>
                  <a:ea typeface="黑体" pitchFamily="2" charset="-122"/>
                </a:rPr>
                <a:t>ACK = 1, seq = v, ack= u </a:t>
              </a:r>
              <a:r>
                <a:rPr kumimoji="0" lang="en-US" altLang="zh-CN" sz="1800" b="1" i="0" u="none" strike="noStrike" kern="0" cap="none" spc="0" normalizeH="0" baseline="0" noProof="0">
                  <a:ln>
                    <a:noFill/>
                  </a:ln>
                  <a:solidFill>
                    <a:srgbClr val="3333CC"/>
                  </a:solidFill>
                  <a:effectLst/>
                  <a:uLnTx/>
                  <a:uFillTx/>
                  <a:latin typeface="+mn-lt"/>
                  <a:ea typeface="黑体" pitchFamily="2" charset="-122"/>
                  <a:sym typeface="Symbol" pitchFamily="18" charset="2"/>
                </a:rPr>
                <a:t> 1</a:t>
              </a:r>
              <a:endParaRPr kumimoji="0" lang="en-US" altLang="zh-CN" sz="1800" b="1" i="0" u="none" strike="noStrike" kern="0" cap="none" spc="0" normalizeH="0" baseline="0" noProof="0">
                <a:ln>
                  <a:noFill/>
                </a:ln>
                <a:solidFill>
                  <a:srgbClr val="3333CC"/>
                </a:solidFill>
                <a:effectLst/>
                <a:uLnTx/>
                <a:uFillTx/>
                <a:latin typeface="+mn-lt"/>
                <a:ea typeface="黑体" pitchFamily="2" charset="-122"/>
              </a:endParaRPr>
            </a:p>
          </p:txBody>
        </p:sp>
        <p:sp>
          <p:nvSpPr>
            <p:cNvPr id="15" name="Line 13"/>
            <p:cNvSpPr>
              <a:spLocks noChangeShapeType="1"/>
            </p:cNvSpPr>
            <p:nvPr/>
          </p:nvSpPr>
          <p:spPr bwMode="auto">
            <a:xfrm flipH="1">
              <a:off x="1623" y="1995"/>
              <a:ext cx="2604" cy="485"/>
            </a:xfrm>
            <a:prstGeom prst="line">
              <a:avLst/>
            </a:prstGeom>
            <a:noFill/>
            <a:ln w="3810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itchFamily="2" charset="-122"/>
              </a:endParaRPr>
            </a:p>
          </p:txBody>
        </p:sp>
      </p:grpSp>
      <p:sp>
        <p:nvSpPr>
          <p:cNvPr id="16" name="Line 14"/>
          <p:cNvSpPr>
            <a:spLocks noChangeShapeType="1"/>
          </p:cNvSpPr>
          <p:nvPr/>
        </p:nvSpPr>
        <p:spPr bwMode="auto">
          <a:xfrm>
            <a:off x="2848297" y="4933339"/>
            <a:ext cx="4133850" cy="769937"/>
          </a:xfrm>
          <a:prstGeom prst="line">
            <a:avLst/>
          </a:prstGeom>
          <a:noFill/>
          <a:ln w="3810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itchFamily="2" charset="-122"/>
            </a:endParaRPr>
          </a:p>
        </p:txBody>
      </p:sp>
      <p:sp>
        <p:nvSpPr>
          <p:cNvPr id="17" name="Line 15"/>
          <p:cNvSpPr>
            <a:spLocks noChangeShapeType="1"/>
          </p:cNvSpPr>
          <p:nvPr/>
        </p:nvSpPr>
        <p:spPr bwMode="auto">
          <a:xfrm flipH="1">
            <a:off x="2827660" y="4103688"/>
            <a:ext cx="4133850" cy="769937"/>
          </a:xfrm>
          <a:prstGeom prst="line">
            <a:avLst/>
          </a:prstGeom>
          <a:noFill/>
          <a:ln w="3810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itchFamily="2" charset="-122"/>
            </a:endParaRPr>
          </a:p>
        </p:txBody>
      </p:sp>
      <p:sp>
        <p:nvSpPr>
          <p:cNvPr id="18" name="Rectangle 16"/>
          <p:cNvSpPr>
            <a:spLocks noChangeArrowheads="1"/>
          </p:cNvSpPr>
          <p:nvPr/>
        </p:nvSpPr>
        <p:spPr bwMode="auto">
          <a:xfrm rot="20943314" flipH="1">
            <a:off x="2958310" y="4086198"/>
            <a:ext cx="4169412"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tabLst/>
              <a:defRPr/>
            </a:pPr>
            <a:r>
              <a:rPr kumimoji="0" lang="en-US" altLang="zh-CN" sz="1800" b="1" i="0" u="none" strike="noStrike" kern="0" cap="none" spc="0" normalizeH="0" baseline="0" noProof="0">
                <a:ln>
                  <a:noFill/>
                </a:ln>
                <a:solidFill>
                  <a:srgbClr val="3333CC"/>
                </a:solidFill>
                <a:effectLst/>
                <a:uLnTx/>
                <a:uFillTx/>
                <a:latin typeface="+mn-lt"/>
                <a:ea typeface="黑体" pitchFamily="2" charset="-122"/>
              </a:rPr>
              <a:t>FIN = 1, ACK = 1, seq = w, ack= u </a:t>
            </a:r>
            <a:r>
              <a:rPr kumimoji="0" lang="en-US" altLang="zh-CN" sz="1800" b="1" i="0" u="none" strike="noStrike" kern="0" cap="none" spc="0" normalizeH="0" baseline="0" noProof="0">
                <a:ln>
                  <a:noFill/>
                </a:ln>
                <a:solidFill>
                  <a:srgbClr val="3333CC"/>
                </a:solidFill>
                <a:effectLst/>
                <a:uLnTx/>
                <a:uFillTx/>
                <a:latin typeface="+mn-lt"/>
                <a:ea typeface="黑体" pitchFamily="2" charset="-122"/>
                <a:sym typeface="Symbol" pitchFamily="18" charset="2"/>
              </a:rPr>
              <a:t> 1</a:t>
            </a:r>
            <a:endParaRPr kumimoji="0" lang="en-US" altLang="zh-CN" sz="1800" b="1" i="0" u="none" strike="noStrike" kern="0" cap="none" spc="0" normalizeH="0" baseline="0" noProof="0">
              <a:ln>
                <a:noFill/>
              </a:ln>
              <a:solidFill>
                <a:srgbClr val="3333CC"/>
              </a:solidFill>
              <a:effectLst/>
              <a:uLnTx/>
              <a:uFillTx/>
              <a:latin typeface="+mn-lt"/>
              <a:ea typeface="黑体" pitchFamily="2" charset="-122"/>
            </a:endParaRPr>
          </a:p>
        </p:txBody>
      </p:sp>
      <p:sp>
        <p:nvSpPr>
          <p:cNvPr id="19" name="Rectangle 17"/>
          <p:cNvSpPr>
            <a:spLocks noChangeArrowheads="1"/>
          </p:cNvSpPr>
          <p:nvPr/>
        </p:nvSpPr>
        <p:spPr bwMode="auto">
          <a:xfrm>
            <a:off x="1892622" y="1611313"/>
            <a:ext cx="954088" cy="673100"/>
          </a:xfrm>
          <a:prstGeom prst="rect">
            <a:avLst/>
          </a:prstGeom>
          <a:solidFill>
            <a:srgbClr val="CCFF99"/>
          </a:solidFill>
          <a:ln>
            <a:noFill/>
          </a:ln>
          <a:effectLst>
            <a:outerShdw dist="35921" dir="2700000" algn="ctr" rotWithShape="0">
              <a:srgbClr val="1C1C1C"/>
            </a:outerShdw>
          </a:effectLst>
          <a:extLst>
            <a:ext uri="{91240B29-F687-4F45-9708-019B960494DF}">
              <a14:hiddenLine xmlns:a14="http://schemas.microsoft.com/office/drawing/2010/main" w="12700" algn="ctr">
                <a:solidFill>
                  <a:schemeClr val="tx1"/>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itchFamily="2" charset="-122"/>
            </a:endParaRPr>
          </a:p>
        </p:txBody>
      </p:sp>
      <p:sp>
        <p:nvSpPr>
          <p:cNvPr id="20" name="Rectangle 18"/>
          <p:cNvSpPr>
            <a:spLocks noChangeArrowheads="1"/>
          </p:cNvSpPr>
          <p:nvPr/>
        </p:nvSpPr>
        <p:spPr bwMode="auto">
          <a:xfrm>
            <a:off x="1892622" y="2368550"/>
            <a:ext cx="954088" cy="1554163"/>
          </a:xfrm>
          <a:prstGeom prst="rect">
            <a:avLst/>
          </a:prstGeom>
          <a:solidFill>
            <a:srgbClr val="FFCCFF"/>
          </a:solidFill>
          <a:ln>
            <a:noFill/>
          </a:ln>
          <a:effectLst>
            <a:outerShdw dist="35921" dir="2700000" algn="ctr" rotWithShape="0">
              <a:srgbClr val="1C1C1C"/>
            </a:outerShdw>
          </a:effectLst>
          <a:extLst>
            <a:ext uri="{91240B29-F687-4F45-9708-019B960494DF}">
              <a14:hiddenLine xmlns:a14="http://schemas.microsoft.com/office/drawing/2010/main" w="12700">
                <a:solidFill>
                  <a:schemeClr val="tx1"/>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itchFamily="2" charset="-122"/>
            </a:endParaRPr>
          </a:p>
        </p:txBody>
      </p:sp>
      <p:sp>
        <p:nvSpPr>
          <p:cNvPr id="21" name="Rectangle 19"/>
          <p:cNvSpPr>
            <a:spLocks noChangeArrowheads="1"/>
          </p:cNvSpPr>
          <p:nvPr/>
        </p:nvSpPr>
        <p:spPr bwMode="auto">
          <a:xfrm>
            <a:off x="6978972" y="1611313"/>
            <a:ext cx="955675" cy="1479550"/>
          </a:xfrm>
          <a:prstGeom prst="rect">
            <a:avLst/>
          </a:prstGeom>
          <a:solidFill>
            <a:srgbClr val="CCFF99"/>
          </a:solidFill>
          <a:ln>
            <a:noFill/>
          </a:ln>
          <a:effectLst>
            <a:outerShdw dist="35921" dir="2700000" algn="ctr" rotWithShape="0">
              <a:srgbClr val="1C1C1C"/>
            </a:outerShdw>
          </a:effectLst>
          <a:extLst>
            <a:ext uri="{91240B29-F687-4F45-9708-019B960494DF}">
              <a14:hiddenLine xmlns:a14="http://schemas.microsoft.com/office/drawing/2010/main" w="12700" algn="ctr">
                <a:solidFill>
                  <a:schemeClr val="tx1"/>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itchFamily="2" charset="-122"/>
            </a:endParaRPr>
          </a:p>
        </p:txBody>
      </p:sp>
      <p:grpSp>
        <p:nvGrpSpPr>
          <p:cNvPr id="22" name="Group 20"/>
          <p:cNvGrpSpPr>
            <a:grpSpLocks/>
          </p:cNvGrpSpPr>
          <p:nvPr/>
        </p:nvGrpSpPr>
        <p:grpSpPr bwMode="auto">
          <a:xfrm>
            <a:off x="1794197" y="1528763"/>
            <a:ext cx="6278563" cy="82550"/>
            <a:chOff x="1020" y="481"/>
            <a:chExt cx="4037" cy="46"/>
          </a:xfrm>
        </p:grpSpPr>
        <p:sp>
          <p:nvSpPr>
            <p:cNvPr id="23" name="Line 21"/>
            <p:cNvSpPr>
              <a:spLocks noChangeShapeType="1"/>
            </p:cNvSpPr>
            <p:nvPr/>
          </p:nvSpPr>
          <p:spPr bwMode="auto">
            <a:xfrm>
              <a:off x="1020" y="527"/>
              <a:ext cx="4037" cy="0"/>
            </a:xfrm>
            <a:prstGeom prst="line">
              <a:avLst/>
            </a:prstGeom>
            <a:noFill/>
            <a:ln w="12700">
              <a:solidFill>
                <a:srgbClr val="3333CC"/>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itchFamily="2" charset="-122"/>
              </a:endParaRPr>
            </a:p>
          </p:txBody>
        </p:sp>
        <p:sp>
          <p:nvSpPr>
            <p:cNvPr id="24" name="Line 22"/>
            <p:cNvSpPr>
              <a:spLocks noChangeShapeType="1"/>
            </p:cNvSpPr>
            <p:nvPr/>
          </p:nvSpPr>
          <p:spPr bwMode="auto">
            <a:xfrm>
              <a:off x="1020" y="481"/>
              <a:ext cx="4037" cy="0"/>
            </a:xfrm>
            <a:prstGeom prst="line">
              <a:avLst/>
            </a:prstGeom>
            <a:noFill/>
            <a:ln w="12700">
              <a:solidFill>
                <a:srgbClr val="3333CC"/>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itchFamily="2" charset="-122"/>
              </a:endParaRPr>
            </a:p>
          </p:txBody>
        </p:sp>
      </p:grpSp>
      <p:sp>
        <p:nvSpPr>
          <p:cNvPr id="25" name="Rectangle 23"/>
          <p:cNvSpPr>
            <a:spLocks noChangeArrowheads="1"/>
          </p:cNvSpPr>
          <p:nvPr/>
        </p:nvSpPr>
        <p:spPr bwMode="auto">
          <a:xfrm>
            <a:off x="1865635" y="2703513"/>
            <a:ext cx="977833"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tabLst/>
              <a:defRPr/>
            </a:pPr>
            <a:r>
              <a:rPr kumimoji="0" lang="en-US" altLang="zh-CN" sz="1800" b="1" i="0" u="none" strike="noStrike" kern="0" cap="none" spc="0" normalizeH="0" baseline="0" noProof="0">
                <a:ln>
                  <a:noFill/>
                </a:ln>
                <a:solidFill>
                  <a:srgbClr val="3333CC"/>
                </a:solidFill>
                <a:effectLst/>
                <a:uLnTx/>
                <a:uFillTx/>
                <a:latin typeface="+mn-lt"/>
                <a:ea typeface="黑体" pitchFamily="2" charset="-122"/>
              </a:rPr>
              <a:t>FIN-</a:t>
            </a:r>
          </a:p>
          <a:p>
            <a:pPr marL="0" marR="0" lvl="0" indent="0" defTabSz="762000" eaLnBrk="0" fontAlgn="auto" latinLnBrk="0" hangingPunct="0">
              <a:lnSpc>
                <a:spcPct val="100000"/>
              </a:lnSpc>
              <a:spcBef>
                <a:spcPts val="0"/>
              </a:spcBef>
              <a:spcAft>
                <a:spcPts val="0"/>
              </a:spcAft>
              <a:buClrTx/>
              <a:buSzTx/>
              <a:buFontTx/>
              <a:buNone/>
              <a:tabLst/>
              <a:defRPr/>
            </a:pPr>
            <a:r>
              <a:rPr kumimoji="0" lang="en-US" altLang="zh-CN" sz="1800" b="1" i="0" u="none" strike="noStrike" kern="0" cap="none" spc="0" normalizeH="0" baseline="0" noProof="0">
                <a:ln>
                  <a:noFill/>
                </a:ln>
                <a:solidFill>
                  <a:srgbClr val="3333CC"/>
                </a:solidFill>
                <a:effectLst/>
                <a:uLnTx/>
                <a:uFillTx/>
                <a:latin typeface="+mn-lt"/>
                <a:ea typeface="黑体" pitchFamily="2" charset="-122"/>
              </a:rPr>
              <a:t>WAIT-1</a:t>
            </a:r>
          </a:p>
        </p:txBody>
      </p:sp>
      <p:sp>
        <p:nvSpPr>
          <p:cNvPr id="26" name="Rectangle 24"/>
          <p:cNvSpPr>
            <a:spLocks noChangeArrowheads="1"/>
          </p:cNvSpPr>
          <p:nvPr/>
        </p:nvSpPr>
        <p:spPr bwMode="auto">
          <a:xfrm>
            <a:off x="6978972" y="3178175"/>
            <a:ext cx="955675" cy="877888"/>
          </a:xfrm>
          <a:prstGeom prst="rect">
            <a:avLst/>
          </a:prstGeom>
          <a:solidFill>
            <a:srgbClr val="FF66FF"/>
          </a:solidFill>
          <a:ln>
            <a:noFill/>
          </a:ln>
          <a:effectLst>
            <a:outerShdw dist="35921" dir="2700000" algn="ctr" rotWithShape="0">
              <a:srgbClr val="1C1C1C"/>
            </a:outerShdw>
          </a:effectLst>
          <a:extLst>
            <a:ext uri="{91240B29-F687-4F45-9708-019B960494DF}">
              <a14:hiddenLine xmlns:a14="http://schemas.microsoft.com/office/drawing/2010/main" w="12700">
                <a:solidFill>
                  <a:schemeClr val="tx1"/>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itchFamily="2" charset="-122"/>
            </a:endParaRPr>
          </a:p>
        </p:txBody>
      </p:sp>
      <p:sp>
        <p:nvSpPr>
          <p:cNvPr id="27" name="Rectangle 25"/>
          <p:cNvSpPr>
            <a:spLocks noChangeArrowheads="1"/>
          </p:cNvSpPr>
          <p:nvPr/>
        </p:nvSpPr>
        <p:spPr bwMode="auto">
          <a:xfrm>
            <a:off x="6920235" y="3290888"/>
            <a:ext cx="1054777"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tabLst/>
              <a:defRPr/>
            </a:pPr>
            <a:r>
              <a:rPr kumimoji="0" lang="en-US" altLang="zh-CN" sz="1800" b="1" i="0" u="none" strike="noStrike" kern="0" cap="none" spc="0" normalizeH="0" baseline="0" noProof="0">
                <a:ln>
                  <a:noFill/>
                </a:ln>
                <a:solidFill>
                  <a:srgbClr val="3333CC"/>
                </a:solidFill>
                <a:effectLst/>
                <a:uLnTx/>
                <a:uFillTx/>
                <a:latin typeface="+mn-lt"/>
                <a:ea typeface="黑体" pitchFamily="2" charset="-122"/>
              </a:rPr>
              <a:t>CLOSE-</a:t>
            </a:r>
          </a:p>
          <a:p>
            <a:pPr marL="0" marR="0" lvl="0" indent="0" defTabSz="762000" eaLnBrk="0" fontAlgn="auto" latinLnBrk="0" hangingPunct="0">
              <a:lnSpc>
                <a:spcPct val="100000"/>
              </a:lnSpc>
              <a:spcBef>
                <a:spcPts val="0"/>
              </a:spcBef>
              <a:spcAft>
                <a:spcPts val="0"/>
              </a:spcAft>
              <a:buClrTx/>
              <a:buSzTx/>
              <a:buFontTx/>
              <a:buNone/>
              <a:tabLst/>
              <a:defRPr/>
            </a:pPr>
            <a:r>
              <a:rPr kumimoji="0" lang="en-US" altLang="zh-CN" sz="1800" b="1" i="0" u="none" strike="noStrike" kern="0" cap="none" spc="0" normalizeH="0" baseline="0" noProof="0">
                <a:ln>
                  <a:noFill/>
                </a:ln>
                <a:solidFill>
                  <a:srgbClr val="3333CC"/>
                </a:solidFill>
                <a:effectLst/>
                <a:uLnTx/>
                <a:uFillTx/>
                <a:latin typeface="+mn-lt"/>
                <a:ea typeface="黑体" pitchFamily="2" charset="-122"/>
              </a:rPr>
              <a:t>WAIT</a:t>
            </a:r>
          </a:p>
        </p:txBody>
      </p:sp>
      <p:sp>
        <p:nvSpPr>
          <p:cNvPr id="28" name="Rectangle 26"/>
          <p:cNvSpPr>
            <a:spLocks noChangeArrowheads="1"/>
          </p:cNvSpPr>
          <p:nvPr/>
        </p:nvSpPr>
        <p:spPr bwMode="auto">
          <a:xfrm>
            <a:off x="1892622" y="3995738"/>
            <a:ext cx="954088" cy="871537"/>
          </a:xfrm>
          <a:prstGeom prst="rect">
            <a:avLst/>
          </a:prstGeom>
          <a:solidFill>
            <a:srgbClr val="CCCC00"/>
          </a:solidFill>
          <a:ln>
            <a:noFill/>
          </a:ln>
          <a:effectLst>
            <a:outerShdw dist="35921" dir="2700000" algn="ctr" rotWithShape="0">
              <a:srgbClr val="1C1C1C"/>
            </a:outerShdw>
          </a:effectLst>
          <a:extLst>
            <a:ext uri="{91240B29-F687-4F45-9708-019B960494DF}">
              <a14:hiddenLine xmlns:a14="http://schemas.microsoft.com/office/drawing/2010/main" w="12700">
                <a:solidFill>
                  <a:schemeClr val="tx1"/>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itchFamily="2" charset="-122"/>
            </a:endParaRPr>
          </a:p>
        </p:txBody>
      </p:sp>
      <p:sp>
        <p:nvSpPr>
          <p:cNvPr id="29" name="Rectangle 27"/>
          <p:cNvSpPr>
            <a:spLocks noChangeArrowheads="1"/>
          </p:cNvSpPr>
          <p:nvPr/>
        </p:nvSpPr>
        <p:spPr bwMode="auto">
          <a:xfrm>
            <a:off x="1865635" y="4049713"/>
            <a:ext cx="977833"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tabLst/>
              <a:defRPr/>
            </a:pPr>
            <a:r>
              <a:rPr kumimoji="0" lang="en-US" altLang="zh-CN" sz="1800" b="1" i="0" u="none" strike="noStrike" kern="0" cap="none" spc="0" normalizeH="0" baseline="0" noProof="0">
                <a:ln>
                  <a:noFill/>
                </a:ln>
                <a:solidFill>
                  <a:srgbClr val="3333CC"/>
                </a:solidFill>
                <a:effectLst/>
                <a:uLnTx/>
                <a:uFillTx/>
                <a:latin typeface="+mn-lt"/>
                <a:ea typeface="黑体" pitchFamily="2" charset="-122"/>
              </a:rPr>
              <a:t>FIN-</a:t>
            </a:r>
          </a:p>
          <a:p>
            <a:pPr marL="0" marR="0" lvl="0" indent="0" defTabSz="762000" eaLnBrk="0" fontAlgn="auto" latinLnBrk="0" hangingPunct="0">
              <a:lnSpc>
                <a:spcPct val="100000"/>
              </a:lnSpc>
              <a:spcBef>
                <a:spcPts val="0"/>
              </a:spcBef>
              <a:spcAft>
                <a:spcPts val="0"/>
              </a:spcAft>
              <a:buClrTx/>
              <a:buSzTx/>
              <a:buFontTx/>
              <a:buNone/>
              <a:tabLst/>
              <a:defRPr/>
            </a:pPr>
            <a:r>
              <a:rPr kumimoji="0" lang="en-US" altLang="zh-CN" sz="1800" b="1" i="0" u="none" strike="noStrike" kern="0" cap="none" spc="0" normalizeH="0" baseline="0" noProof="0">
                <a:ln>
                  <a:noFill/>
                </a:ln>
                <a:solidFill>
                  <a:srgbClr val="3333CC"/>
                </a:solidFill>
                <a:effectLst/>
                <a:uLnTx/>
                <a:uFillTx/>
                <a:latin typeface="+mn-lt"/>
                <a:ea typeface="黑体" pitchFamily="2" charset="-122"/>
              </a:rPr>
              <a:t>WAIT-2</a:t>
            </a:r>
          </a:p>
        </p:txBody>
      </p:sp>
      <p:sp>
        <p:nvSpPr>
          <p:cNvPr id="30" name="Rectangle 28"/>
          <p:cNvSpPr>
            <a:spLocks noChangeArrowheads="1"/>
          </p:cNvSpPr>
          <p:nvPr/>
        </p:nvSpPr>
        <p:spPr bwMode="auto">
          <a:xfrm>
            <a:off x="6978972" y="4135438"/>
            <a:ext cx="955675" cy="1482725"/>
          </a:xfrm>
          <a:prstGeom prst="rect">
            <a:avLst/>
          </a:prstGeom>
          <a:solidFill>
            <a:srgbClr val="00FFFF"/>
          </a:solidFill>
          <a:ln>
            <a:noFill/>
          </a:ln>
          <a:effectLst>
            <a:outerShdw dist="35921" dir="2700000" algn="ctr" rotWithShape="0">
              <a:srgbClr val="1C1C1C"/>
            </a:outerShdw>
          </a:effectLst>
          <a:extLst>
            <a:ext uri="{91240B29-F687-4F45-9708-019B960494DF}">
              <a14:hiddenLine xmlns:a14="http://schemas.microsoft.com/office/drawing/2010/main" w="12700">
                <a:solidFill>
                  <a:schemeClr val="tx1"/>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itchFamily="2" charset="-122"/>
            </a:endParaRPr>
          </a:p>
        </p:txBody>
      </p:sp>
      <p:sp>
        <p:nvSpPr>
          <p:cNvPr id="31" name="Rectangle 29"/>
          <p:cNvSpPr>
            <a:spLocks noChangeArrowheads="1"/>
          </p:cNvSpPr>
          <p:nvPr/>
        </p:nvSpPr>
        <p:spPr bwMode="auto">
          <a:xfrm>
            <a:off x="7007547" y="4556125"/>
            <a:ext cx="862417"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tabLst/>
              <a:defRPr/>
            </a:pPr>
            <a:r>
              <a:rPr kumimoji="0" lang="en-US" altLang="zh-CN" sz="1800" b="1" i="0" u="none" strike="noStrike" kern="0" cap="none" spc="0" normalizeH="0" baseline="0" noProof="0">
                <a:ln>
                  <a:noFill/>
                </a:ln>
                <a:solidFill>
                  <a:srgbClr val="3333CC"/>
                </a:solidFill>
                <a:effectLst/>
                <a:uLnTx/>
                <a:uFillTx/>
                <a:latin typeface="+mn-lt"/>
                <a:ea typeface="黑体" pitchFamily="2" charset="-122"/>
              </a:rPr>
              <a:t>LAST-</a:t>
            </a:r>
          </a:p>
          <a:p>
            <a:pPr marL="0" marR="0" lvl="0" indent="0" defTabSz="762000" eaLnBrk="0" fontAlgn="auto" latinLnBrk="0" hangingPunct="0">
              <a:lnSpc>
                <a:spcPct val="100000"/>
              </a:lnSpc>
              <a:spcBef>
                <a:spcPts val="0"/>
              </a:spcBef>
              <a:spcAft>
                <a:spcPts val="0"/>
              </a:spcAft>
              <a:buClrTx/>
              <a:buSzTx/>
              <a:buFontTx/>
              <a:buNone/>
              <a:tabLst/>
              <a:defRPr/>
            </a:pPr>
            <a:r>
              <a:rPr kumimoji="0" lang="en-US" altLang="zh-CN" sz="1800" b="1" i="0" u="none" strike="noStrike" kern="0" cap="none" spc="0" normalizeH="0" baseline="0" noProof="0">
                <a:ln>
                  <a:noFill/>
                </a:ln>
                <a:solidFill>
                  <a:srgbClr val="3333CC"/>
                </a:solidFill>
                <a:effectLst/>
                <a:uLnTx/>
                <a:uFillTx/>
                <a:latin typeface="+mn-lt"/>
                <a:ea typeface="黑体" pitchFamily="2" charset="-122"/>
              </a:rPr>
              <a:t>ACK</a:t>
            </a:r>
          </a:p>
        </p:txBody>
      </p:sp>
      <p:grpSp>
        <p:nvGrpSpPr>
          <p:cNvPr id="32" name="Group 30"/>
          <p:cNvGrpSpPr>
            <a:grpSpLocks/>
          </p:cNvGrpSpPr>
          <p:nvPr/>
        </p:nvGrpSpPr>
        <p:grpSpPr bwMode="auto">
          <a:xfrm>
            <a:off x="681360" y="4921068"/>
            <a:ext cx="2165350" cy="1268412"/>
            <a:chOff x="249" y="3081"/>
            <a:chExt cx="1364" cy="799"/>
          </a:xfrm>
        </p:grpSpPr>
        <p:sp>
          <p:nvSpPr>
            <p:cNvPr id="33" name="Rectangle 31"/>
            <p:cNvSpPr>
              <a:spLocks noChangeArrowheads="1"/>
            </p:cNvSpPr>
            <p:nvPr/>
          </p:nvSpPr>
          <p:spPr bwMode="auto">
            <a:xfrm>
              <a:off x="249" y="3081"/>
              <a:ext cx="83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800" b="1" i="0" u="none" strike="noStrike" kern="0" cap="none" spc="0" normalizeH="0" baseline="0" noProof="0">
                  <a:ln>
                    <a:noFill/>
                  </a:ln>
                  <a:solidFill>
                    <a:srgbClr val="3333CC"/>
                  </a:solidFill>
                  <a:effectLst/>
                  <a:uLnTx/>
                  <a:uFillTx/>
                  <a:latin typeface="+mn-lt"/>
                  <a:ea typeface="黑体" pitchFamily="2" charset="-122"/>
                </a:rPr>
                <a:t>等待 </a:t>
              </a:r>
              <a:r>
                <a:rPr kumimoji="0" lang="en-US" altLang="zh-CN" sz="1800" b="1" i="0" u="none" strike="noStrike" kern="0" cap="none" spc="0" normalizeH="0" baseline="0" noProof="0">
                  <a:ln>
                    <a:noFill/>
                  </a:ln>
                  <a:solidFill>
                    <a:srgbClr val="3333CC"/>
                  </a:solidFill>
                  <a:effectLst/>
                  <a:uLnTx/>
                  <a:uFillTx/>
                  <a:latin typeface="+mn-lt"/>
                  <a:ea typeface="黑体" pitchFamily="2" charset="-122"/>
                </a:rPr>
                <a:t>2MSL</a:t>
              </a:r>
            </a:p>
          </p:txBody>
        </p:sp>
        <p:sp>
          <p:nvSpPr>
            <p:cNvPr id="34" name="Rectangle 32"/>
            <p:cNvSpPr>
              <a:spLocks noChangeArrowheads="1"/>
            </p:cNvSpPr>
            <p:nvPr/>
          </p:nvSpPr>
          <p:spPr bwMode="auto">
            <a:xfrm>
              <a:off x="1012" y="3097"/>
              <a:ext cx="601" cy="779"/>
            </a:xfrm>
            <a:prstGeom prst="rect">
              <a:avLst/>
            </a:prstGeom>
            <a:solidFill>
              <a:srgbClr val="FFFF99"/>
            </a:solidFill>
            <a:ln>
              <a:noFill/>
            </a:ln>
            <a:effectLst>
              <a:outerShdw dist="35921" dir="2700000" algn="ctr" rotWithShape="0">
                <a:srgbClr val="1C1C1C"/>
              </a:outerShdw>
            </a:effectLst>
            <a:extLst>
              <a:ext uri="{91240B29-F687-4F45-9708-019B960494DF}">
                <a14:hiddenLine xmlns:a14="http://schemas.microsoft.com/office/drawing/2010/main" w="12700">
                  <a:solidFill>
                    <a:schemeClr val="tx1"/>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itchFamily="2" charset="-122"/>
              </a:endParaRPr>
            </a:p>
          </p:txBody>
        </p:sp>
        <p:sp>
          <p:nvSpPr>
            <p:cNvPr id="35" name="Rectangle 33"/>
            <p:cNvSpPr>
              <a:spLocks noChangeArrowheads="1"/>
            </p:cNvSpPr>
            <p:nvPr/>
          </p:nvSpPr>
          <p:spPr bwMode="auto">
            <a:xfrm>
              <a:off x="1039" y="3292"/>
              <a:ext cx="511" cy="4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tabLst/>
                <a:defRPr/>
              </a:pPr>
              <a:r>
                <a:rPr kumimoji="0" lang="en-US" altLang="zh-CN" sz="1800" b="1" i="0" u="none" strike="noStrike" kern="0" cap="none" spc="0" normalizeH="0" baseline="0" noProof="0">
                  <a:ln>
                    <a:noFill/>
                  </a:ln>
                  <a:solidFill>
                    <a:srgbClr val="3333CC"/>
                  </a:solidFill>
                  <a:effectLst/>
                  <a:uLnTx/>
                  <a:uFillTx/>
                  <a:latin typeface="+mn-lt"/>
                  <a:ea typeface="黑体" pitchFamily="2" charset="-122"/>
                </a:rPr>
                <a:t>TIME-</a:t>
              </a:r>
            </a:p>
            <a:p>
              <a:pPr marL="0" marR="0" lvl="0" indent="0" defTabSz="762000" eaLnBrk="0" fontAlgn="auto" latinLnBrk="0" hangingPunct="0">
                <a:lnSpc>
                  <a:spcPct val="100000"/>
                </a:lnSpc>
                <a:spcBef>
                  <a:spcPts val="0"/>
                </a:spcBef>
                <a:spcAft>
                  <a:spcPts val="0"/>
                </a:spcAft>
                <a:buClrTx/>
                <a:buSzTx/>
                <a:buFontTx/>
                <a:buNone/>
                <a:tabLst/>
                <a:defRPr/>
              </a:pPr>
              <a:r>
                <a:rPr kumimoji="0" lang="en-US" altLang="zh-CN" sz="1800" b="1" i="0" u="none" strike="noStrike" kern="0" cap="none" spc="0" normalizeH="0" baseline="0" noProof="0">
                  <a:ln>
                    <a:noFill/>
                  </a:ln>
                  <a:solidFill>
                    <a:srgbClr val="3333CC"/>
                  </a:solidFill>
                  <a:effectLst/>
                  <a:uLnTx/>
                  <a:uFillTx/>
                  <a:latin typeface="+mn-lt"/>
                  <a:ea typeface="黑体" pitchFamily="2" charset="-122"/>
                </a:rPr>
                <a:t>WAIT</a:t>
              </a:r>
            </a:p>
          </p:txBody>
        </p:sp>
        <p:sp>
          <p:nvSpPr>
            <p:cNvPr id="36" name="Freeform 34"/>
            <p:cNvSpPr>
              <a:spLocks/>
            </p:cNvSpPr>
            <p:nvPr/>
          </p:nvSpPr>
          <p:spPr bwMode="auto">
            <a:xfrm>
              <a:off x="255" y="3081"/>
              <a:ext cx="749" cy="799"/>
            </a:xfrm>
            <a:custGeom>
              <a:avLst/>
              <a:gdLst>
                <a:gd name="T0" fmla="*/ 749 w 635"/>
                <a:gd name="T1" fmla="*/ 0 h 499"/>
                <a:gd name="T2" fmla="*/ 0 w 635"/>
                <a:gd name="T3" fmla="*/ 0 h 499"/>
                <a:gd name="T4" fmla="*/ 0 w 635"/>
                <a:gd name="T5" fmla="*/ 799 h 499"/>
                <a:gd name="T6" fmla="*/ 749 w 635"/>
                <a:gd name="T7" fmla="*/ 799 h 49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35" h="499">
                  <a:moveTo>
                    <a:pt x="635" y="0"/>
                  </a:moveTo>
                  <a:lnTo>
                    <a:pt x="0" y="0"/>
                  </a:lnTo>
                  <a:lnTo>
                    <a:pt x="0" y="499"/>
                  </a:lnTo>
                  <a:lnTo>
                    <a:pt x="635" y="499"/>
                  </a:lnTo>
                </a:path>
              </a:pathLst>
            </a:custGeom>
            <a:noFill/>
            <a:ln w="28575" cap="flat" cmpd="sng">
              <a:solidFill>
                <a:srgbClr val="3333CC"/>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itchFamily="2" charset="-122"/>
              </a:endParaRPr>
            </a:p>
          </p:txBody>
        </p:sp>
        <p:sp>
          <p:nvSpPr>
            <p:cNvPr id="37" name="Text Box 35"/>
            <p:cNvSpPr txBox="1">
              <a:spLocks noChangeArrowheads="1"/>
            </p:cNvSpPr>
            <p:nvPr/>
          </p:nvSpPr>
          <p:spPr bwMode="auto">
            <a:xfrm>
              <a:off x="476" y="3208"/>
              <a:ext cx="373" cy="40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altLang="zh-CN" sz="3600" i="0" u="none" strike="noStrike" kern="0" cap="none" spc="0" normalizeH="0" baseline="0" noProof="0">
                  <a:ln>
                    <a:noFill/>
                  </a:ln>
                  <a:solidFill>
                    <a:srgbClr val="3333CC"/>
                  </a:solidFill>
                  <a:effectLst/>
                  <a:uLnTx/>
                  <a:uFillTx/>
                  <a:latin typeface="+mn-lt"/>
                  <a:ea typeface="黑体" pitchFamily="2" charset="-122"/>
                  <a:sym typeface="Wingdings" pitchFamily="2" charset="2"/>
                </a:rPr>
                <a:t></a:t>
              </a:r>
            </a:p>
          </p:txBody>
        </p:sp>
      </p:grpSp>
      <p:sp>
        <p:nvSpPr>
          <p:cNvPr id="38" name="Rectangle 36"/>
          <p:cNvSpPr>
            <a:spLocks noChangeArrowheads="1"/>
          </p:cNvSpPr>
          <p:nvPr/>
        </p:nvSpPr>
        <p:spPr bwMode="auto">
          <a:xfrm>
            <a:off x="6978972" y="5708650"/>
            <a:ext cx="955675" cy="528638"/>
          </a:xfrm>
          <a:prstGeom prst="rect">
            <a:avLst/>
          </a:prstGeom>
          <a:solidFill>
            <a:srgbClr val="663300"/>
          </a:solidFill>
          <a:ln>
            <a:noFill/>
          </a:ln>
          <a:effectLst>
            <a:outerShdw dist="35921" dir="2700000" algn="ctr" rotWithShape="0">
              <a:srgbClr val="1C1C1C"/>
            </a:outerShdw>
          </a:effectLst>
          <a:extLst>
            <a:ext uri="{91240B29-F687-4F45-9708-019B960494DF}">
              <a14:hiddenLine xmlns:a14="http://schemas.microsoft.com/office/drawing/2010/main" w="12700" algn="ctr">
                <a:solidFill>
                  <a:schemeClr val="tx1"/>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itchFamily="2" charset="-122"/>
            </a:endParaRPr>
          </a:p>
        </p:txBody>
      </p:sp>
      <p:grpSp>
        <p:nvGrpSpPr>
          <p:cNvPr id="39" name="Group 37"/>
          <p:cNvGrpSpPr>
            <a:grpSpLocks/>
          </p:cNvGrpSpPr>
          <p:nvPr/>
        </p:nvGrpSpPr>
        <p:grpSpPr bwMode="auto">
          <a:xfrm>
            <a:off x="784547" y="1257300"/>
            <a:ext cx="1403350" cy="1082675"/>
            <a:chOff x="314" y="792"/>
            <a:chExt cx="884" cy="682"/>
          </a:xfrm>
        </p:grpSpPr>
        <p:sp>
          <p:nvSpPr>
            <p:cNvPr id="40" name="Freeform 38"/>
            <p:cNvSpPr>
              <a:spLocks/>
            </p:cNvSpPr>
            <p:nvPr/>
          </p:nvSpPr>
          <p:spPr bwMode="auto">
            <a:xfrm>
              <a:off x="349" y="792"/>
              <a:ext cx="849" cy="682"/>
            </a:xfrm>
            <a:custGeom>
              <a:avLst/>
              <a:gdLst>
                <a:gd name="T0" fmla="*/ 849 w 769"/>
                <a:gd name="T1" fmla="*/ 0 h 584"/>
                <a:gd name="T2" fmla="*/ 0 w 769"/>
                <a:gd name="T3" fmla="*/ 11 h 584"/>
                <a:gd name="T4" fmla="*/ 0 w 769"/>
                <a:gd name="T5" fmla="*/ 682 h 584"/>
                <a:gd name="T6" fmla="*/ 666 w 769"/>
                <a:gd name="T7" fmla="*/ 682 h 58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69" h="584">
                  <a:moveTo>
                    <a:pt x="769" y="0"/>
                  </a:moveTo>
                  <a:lnTo>
                    <a:pt x="0" y="9"/>
                  </a:lnTo>
                  <a:lnTo>
                    <a:pt x="0" y="584"/>
                  </a:lnTo>
                  <a:lnTo>
                    <a:pt x="603" y="584"/>
                  </a:lnTo>
                </a:path>
              </a:pathLst>
            </a:custGeom>
            <a:noFill/>
            <a:ln w="28575" cap="flat" cmpd="sng">
              <a:solidFill>
                <a:srgbClr val="3333CC"/>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itchFamily="2" charset="-122"/>
              </a:endParaRPr>
            </a:p>
          </p:txBody>
        </p:sp>
        <p:sp>
          <p:nvSpPr>
            <p:cNvPr id="41" name="Rectangle 39"/>
            <p:cNvSpPr>
              <a:spLocks noChangeArrowheads="1"/>
            </p:cNvSpPr>
            <p:nvPr/>
          </p:nvSpPr>
          <p:spPr bwMode="auto">
            <a:xfrm>
              <a:off x="314" y="1227"/>
              <a:ext cx="701"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800" b="1" i="0" u="none" strike="noStrike" kern="0" cap="none" spc="0" normalizeH="0" baseline="0" noProof="0">
                  <a:ln>
                    <a:noFill/>
                  </a:ln>
                  <a:solidFill>
                    <a:srgbClr val="3333CC"/>
                  </a:solidFill>
                  <a:effectLst/>
                  <a:uLnTx/>
                  <a:uFillTx/>
                  <a:latin typeface="+mn-lt"/>
                  <a:ea typeface="黑体" pitchFamily="2" charset="-122"/>
                </a:rPr>
                <a:t>主动关闭</a:t>
              </a:r>
            </a:p>
          </p:txBody>
        </p:sp>
      </p:grpSp>
      <p:sp>
        <p:nvSpPr>
          <p:cNvPr id="42" name="Freeform 40"/>
          <p:cNvSpPr>
            <a:spLocks/>
          </p:cNvSpPr>
          <p:nvPr/>
        </p:nvSpPr>
        <p:spPr bwMode="auto">
          <a:xfrm>
            <a:off x="7698110" y="1190625"/>
            <a:ext cx="1408112" cy="2905125"/>
          </a:xfrm>
          <a:custGeom>
            <a:avLst/>
            <a:gdLst>
              <a:gd name="T0" fmla="*/ 0 w 868"/>
              <a:gd name="T1" fmla="*/ 0 h 1493"/>
              <a:gd name="T2" fmla="*/ 1408112 w 868"/>
              <a:gd name="T3" fmla="*/ 13621 h 1493"/>
              <a:gd name="T4" fmla="*/ 1408112 w 868"/>
              <a:gd name="T5" fmla="*/ 2905125 h 1493"/>
              <a:gd name="T6" fmla="*/ 201159 w 868"/>
              <a:gd name="T7" fmla="*/ 2905125 h 149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68" h="1493">
                <a:moveTo>
                  <a:pt x="0" y="0"/>
                </a:moveTo>
                <a:lnTo>
                  <a:pt x="868" y="7"/>
                </a:lnTo>
                <a:lnTo>
                  <a:pt x="868" y="1493"/>
                </a:lnTo>
                <a:lnTo>
                  <a:pt x="124" y="1493"/>
                </a:lnTo>
              </a:path>
            </a:pathLst>
          </a:custGeom>
          <a:noFill/>
          <a:ln w="28575" cap="flat" cmpd="sng">
            <a:solidFill>
              <a:srgbClr val="3333CC"/>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itchFamily="2" charset="-122"/>
            </a:endParaRPr>
          </a:p>
        </p:txBody>
      </p:sp>
      <p:sp>
        <p:nvSpPr>
          <p:cNvPr id="43" name="Rectangle 41"/>
          <p:cNvSpPr>
            <a:spLocks noChangeArrowheads="1"/>
          </p:cNvSpPr>
          <p:nvPr/>
        </p:nvSpPr>
        <p:spPr bwMode="auto">
          <a:xfrm>
            <a:off x="7993385" y="3660775"/>
            <a:ext cx="1112485"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800" b="1" i="0" u="none" strike="noStrike" kern="0" cap="none" spc="0" normalizeH="0" baseline="0" noProof="0">
                <a:ln>
                  <a:noFill/>
                </a:ln>
                <a:solidFill>
                  <a:srgbClr val="3333CC"/>
                </a:solidFill>
                <a:effectLst/>
                <a:uLnTx/>
                <a:uFillTx/>
                <a:latin typeface="+mn-lt"/>
                <a:ea typeface="黑体" pitchFamily="2" charset="-122"/>
              </a:rPr>
              <a:t>被动关闭</a:t>
            </a:r>
          </a:p>
        </p:txBody>
      </p:sp>
      <p:sp>
        <p:nvSpPr>
          <p:cNvPr id="44" name="Rectangle 42"/>
          <p:cNvSpPr>
            <a:spLocks noChangeArrowheads="1"/>
          </p:cNvSpPr>
          <p:nvPr/>
        </p:nvSpPr>
        <p:spPr bwMode="auto">
          <a:xfrm>
            <a:off x="4416747" y="1778000"/>
            <a:ext cx="1215077" cy="397545"/>
          </a:xfrm>
          <a:prstGeom prst="rect">
            <a:avLst/>
          </a:prstGeom>
          <a:solidFill>
            <a:srgbClr val="CCECFF"/>
          </a:solidFill>
          <a:ln w="38100" cmpd="dbl" algn="ctr">
            <a:solidFill>
              <a:srgbClr val="3333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2000" b="1" i="0" u="none" strike="noStrike" kern="0" cap="none" spc="0" normalizeH="0" baseline="0" noProof="0">
                <a:ln>
                  <a:noFill/>
                </a:ln>
                <a:solidFill>
                  <a:srgbClr val="3333CC"/>
                </a:solidFill>
                <a:effectLst/>
                <a:uLnTx/>
                <a:uFillTx/>
                <a:latin typeface="+mn-lt"/>
                <a:ea typeface="黑体" pitchFamily="2" charset="-122"/>
              </a:rPr>
              <a:t>数据传送</a:t>
            </a:r>
          </a:p>
        </p:txBody>
      </p:sp>
      <p:grpSp>
        <p:nvGrpSpPr>
          <p:cNvPr id="45" name="Group 43"/>
          <p:cNvGrpSpPr>
            <a:grpSpLocks/>
          </p:cNvGrpSpPr>
          <p:nvPr/>
        </p:nvGrpSpPr>
        <p:grpSpPr bwMode="auto">
          <a:xfrm>
            <a:off x="7739385" y="1376363"/>
            <a:ext cx="1206500" cy="1789112"/>
            <a:chOff x="4695" y="867"/>
            <a:chExt cx="760" cy="1127"/>
          </a:xfrm>
        </p:grpSpPr>
        <p:sp>
          <p:nvSpPr>
            <p:cNvPr id="46" name="Freeform 44"/>
            <p:cNvSpPr>
              <a:spLocks/>
            </p:cNvSpPr>
            <p:nvPr/>
          </p:nvSpPr>
          <p:spPr bwMode="auto">
            <a:xfrm>
              <a:off x="4695" y="867"/>
              <a:ext cx="361" cy="1127"/>
            </a:xfrm>
            <a:custGeom>
              <a:avLst/>
              <a:gdLst>
                <a:gd name="T0" fmla="*/ 80 w 451"/>
                <a:gd name="T1" fmla="*/ 1127 h 965"/>
                <a:gd name="T2" fmla="*/ 269 w 451"/>
                <a:gd name="T3" fmla="*/ 1044 h 965"/>
                <a:gd name="T4" fmla="*/ 341 w 451"/>
                <a:gd name="T5" fmla="*/ 827 h 965"/>
                <a:gd name="T6" fmla="*/ 361 w 451"/>
                <a:gd name="T7" fmla="*/ 487 h 965"/>
                <a:gd name="T8" fmla="*/ 341 w 451"/>
                <a:gd name="T9" fmla="*/ 242 h 965"/>
                <a:gd name="T10" fmla="*/ 269 w 451"/>
                <a:gd name="T11" fmla="*/ 84 h 965"/>
                <a:gd name="T12" fmla="*/ 0 w 451"/>
                <a:gd name="T13" fmla="*/ 0 h 96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51" h="965">
                  <a:moveTo>
                    <a:pt x="100" y="965"/>
                  </a:moveTo>
                  <a:cubicBezTo>
                    <a:pt x="139" y="951"/>
                    <a:pt x="282" y="937"/>
                    <a:pt x="336" y="894"/>
                  </a:cubicBezTo>
                  <a:cubicBezTo>
                    <a:pt x="390" y="851"/>
                    <a:pt x="407" y="787"/>
                    <a:pt x="426" y="708"/>
                  </a:cubicBezTo>
                  <a:cubicBezTo>
                    <a:pt x="445" y="629"/>
                    <a:pt x="451" y="500"/>
                    <a:pt x="451" y="417"/>
                  </a:cubicBezTo>
                  <a:cubicBezTo>
                    <a:pt x="451" y="334"/>
                    <a:pt x="445" y="264"/>
                    <a:pt x="426" y="207"/>
                  </a:cubicBezTo>
                  <a:cubicBezTo>
                    <a:pt x="407" y="150"/>
                    <a:pt x="407" y="106"/>
                    <a:pt x="336" y="72"/>
                  </a:cubicBezTo>
                  <a:cubicBezTo>
                    <a:pt x="265" y="38"/>
                    <a:pt x="70" y="15"/>
                    <a:pt x="0" y="0"/>
                  </a:cubicBezTo>
                </a:path>
              </a:pathLst>
            </a:custGeom>
            <a:noFill/>
            <a:ln w="28575" cap="flat" cmpd="sng">
              <a:solidFill>
                <a:srgbClr val="3333CC"/>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itchFamily="2" charset="-122"/>
              </a:endParaRPr>
            </a:p>
          </p:txBody>
        </p:sp>
        <p:sp>
          <p:nvSpPr>
            <p:cNvPr id="47" name="Rectangle 45"/>
            <p:cNvSpPr>
              <a:spLocks noChangeArrowheads="1"/>
            </p:cNvSpPr>
            <p:nvPr/>
          </p:nvSpPr>
          <p:spPr bwMode="auto">
            <a:xfrm>
              <a:off x="5047" y="1120"/>
              <a:ext cx="408" cy="5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800" b="1" i="0" u="none" strike="noStrike" kern="0" cap="none" spc="0" normalizeH="0" baseline="0" noProof="0">
                  <a:ln>
                    <a:noFill/>
                  </a:ln>
                  <a:solidFill>
                    <a:srgbClr val="3333CC"/>
                  </a:solidFill>
                  <a:effectLst/>
                  <a:uLnTx/>
                  <a:uFillTx/>
                  <a:latin typeface="+mn-lt"/>
                  <a:ea typeface="黑体" pitchFamily="2" charset="-122"/>
                </a:rPr>
                <a:t>通知</a:t>
              </a:r>
            </a:p>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800" b="1" i="0" u="none" strike="noStrike" kern="0" cap="none" spc="0" normalizeH="0" baseline="0" noProof="0">
                  <a:ln>
                    <a:noFill/>
                  </a:ln>
                  <a:solidFill>
                    <a:srgbClr val="3333CC"/>
                  </a:solidFill>
                  <a:effectLst/>
                  <a:uLnTx/>
                  <a:uFillTx/>
                  <a:latin typeface="+mn-lt"/>
                  <a:ea typeface="黑体" pitchFamily="2" charset="-122"/>
                </a:rPr>
                <a:t>应用</a:t>
              </a:r>
            </a:p>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800" b="1" i="0" u="none" strike="noStrike" kern="0" cap="none" spc="0" normalizeH="0" baseline="0" noProof="0">
                  <a:ln>
                    <a:noFill/>
                  </a:ln>
                  <a:solidFill>
                    <a:srgbClr val="3333CC"/>
                  </a:solidFill>
                  <a:effectLst/>
                  <a:uLnTx/>
                  <a:uFillTx/>
                  <a:latin typeface="+mn-lt"/>
                  <a:ea typeface="黑体" pitchFamily="2" charset="-122"/>
                </a:rPr>
                <a:t>进程</a:t>
              </a:r>
            </a:p>
          </p:txBody>
        </p:sp>
      </p:grpSp>
      <p:sp>
        <p:nvSpPr>
          <p:cNvPr id="48" name="Rectangle 46"/>
          <p:cNvSpPr>
            <a:spLocks noChangeArrowheads="1"/>
          </p:cNvSpPr>
          <p:nvPr/>
        </p:nvSpPr>
        <p:spPr bwMode="auto">
          <a:xfrm>
            <a:off x="1873572" y="1622425"/>
            <a:ext cx="1041953"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800" b="1" i="0" u="none" strike="noStrike" kern="0" cap="none" spc="0" normalizeH="0" baseline="0" noProof="0">
                <a:ln>
                  <a:noFill/>
                </a:ln>
                <a:solidFill>
                  <a:srgbClr val="3333CC"/>
                </a:solidFill>
                <a:effectLst/>
                <a:uLnTx/>
                <a:uFillTx/>
                <a:latin typeface="+mn-lt"/>
                <a:ea typeface="黑体" pitchFamily="2" charset="-122"/>
              </a:rPr>
              <a:t>ESTAB-</a:t>
            </a:r>
          </a:p>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800" b="1" i="0" u="none" strike="noStrike" kern="0" cap="none" spc="0" normalizeH="0" baseline="0" noProof="0">
                <a:ln>
                  <a:noFill/>
                </a:ln>
                <a:solidFill>
                  <a:srgbClr val="3333CC"/>
                </a:solidFill>
                <a:effectLst/>
                <a:uLnTx/>
                <a:uFillTx/>
                <a:latin typeface="+mn-lt"/>
                <a:ea typeface="黑体" pitchFamily="2" charset="-122"/>
              </a:rPr>
              <a:t>LISHED</a:t>
            </a:r>
          </a:p>
        </p:txBody>
      </p:sp>
      <p:sp>
        <p:nvSpPr>
          <p:cNvPr id="49" name="Rectangle 47"/>
          <p:cNvSpPr>
            <a:spLocks noChangeArrowheads="1"/>
          </p:cNvSpPr>
          <p:nvPr/>
        </p:nvSpPr>
        <p:spPr bwMode="auto">
          <a:xfrm>
            <a:off x="6959922" y="2058988"/>
            <a:ext cx="1041953"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800" b="1" i="0" u="none" strike="noStrike" kern="0" cap="none" spc="0" normalizeH="0" baseline="0" noProof="0">
                <a:ln>
                  <a:noFill/>
                </a:ln>
                <a:solidFill>
                  <a:srgbClr val="3333CC"/>
                </a:solidFill>
                <a:effectLst/>
                <a:uLnTx/>
                <a:uFillTx/>
                <a:latin typeface="+mn-lt"/>
                <a:ea typeface="黑体" pitchFamily="2" charset="-122"/>
              </a:rPr>
              <a:t>ESTAB-</a:t>
            </a:r>
          </a:p>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800" b="1" i="0" u="none" strike="noStrike" kern="0" cap="none" spc="0" normalizeH="0" baseline="0" noProof="0">
                <a:ln>
                  <a:noFill/>
                </a:ln>
                <a:solidFill>
                  <a:srgbClr val="3333CC"/>
                </a:solidFill>
                <a:effectLst/>
                <a:uLnTx/>
                <a:uFillTx/>
                <a:latin typeface="+mn-lt"/>
                <a:ea typeface="黑体" pitchFamily="2" charset="-122"/>
              </a:rPr>
              <a:t>LISHED</a:t>
            </a:r>
          </a:p>
        </p:txBody>
      </p:sp>
      <p:pic>
        <p:nvPicPr>
          <p:cNvPr id="50" name="Picture 48"/>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118047" y="969963"/>
            <a:ext cx="504825" cy="496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 name="Picture 49"/>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204397" y="969963"/>
            <a:ext cx="504825" cy="496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2" name="Rectangle 50"/>
          <p:cNvSpPr>
            <a:spLocks noChangeArrowheads="1"/>
          </p:cNvSpPr>
          <p:nvPr/>
        </p:nvSpPr>
        <p:spPr bwMode="auto">
          <a:xfrm>
            <a:off x="2508572" y="938213"/>
            <a:ext cx="349456"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800" b="1" i="0" u="none" strike="noStrike" kern="0" cap="none" spc="0" normalizeH="0" baseline="0" noProof="0">
                <a:ln>
                  <a:noFill/>
                </a:ln>
                <a:solidFill>
                  <a:srgbClr val="3333CC"/>
                </a:solidFill>
                <a:effectLst/>
                <a:uLnTx/>
                <a:uFillTx/>
                <a:latin typeface="+mn-lt"/>
                <a:ea typeface="黑体" pitchFamily="2" charset="-122"/>
              </a:rPr>
              <a:t>A</a:t>
            </a:r>
          </a:p>
        </p:txBody>
      </p:sp>
      <p:sp>
        <p:nvSpPr>
          <p:cNvPr id="53" name="Rectangle 51"/>
          <p:cNvSpPr>
            <a:spLocks noChangeArrowheads="1"/>
          </p:cNvSpPr>
          <p:nvPr/>
        </p:nvSpPr>
        <p:spPr bwMode="auto">
          <a:xfrm>
            <a:off x="7009135" y="938213"/>
            <a:ext cx="349456"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800" b="1" i="0" u="none" strike="noStrike" kern="0" cap="none" spc="0" normalizeH="0" baseline="0" noProof="0">
                <a:ln>
                  <a:noFill/>
                </a:ln>
                <a:solidFill>
                  <a:srgbClr val="3333CC"/>
                </a:solidFill>
                <a:effectLst/>
                <a:uLnTx/>
                <a:uFillTx/>
                <a:latin typeface="+mn-lt"/>
                <a:ea typeface="黑体" pitchFamily="2" charset="-122"/>
              </a:rPr>
              <a:t>B</a:t>
            </a:r>
          </a:p>
        </p:txBody>
      </p:sp>
      <p:sp>
        <p:nvSpPr>
          <p:cNvPr id="54" name="Rectangle 52"/>
          <p:cNvSpPr>
            <a:spLocks noChangeArrowheads="1"/>
          </p:cNvSpPr>
          <p:nvPr/>
        </p:nvSpPr>
        <p:spPr bwMode="auto">
          <a:xfrm>
            <a:off x="2052960" y="647700"/>
            <a:ext cx="647614"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800" b="1" i="0" u="none" strike="noStrike" kern="0" cap="none" spc="0" normalizeH="0" baseline="0" noProof="0">
                <a:ln>
                  <a:noFill/>
                </a:ln>
                <a:solidFill>
                  <a:srgbClr val="3333CC"/>
                </a:solidFill>
                <a:effectLst/>
                <a:uLnTx/>
                <a:uFillTx/>
                <a:latin typeface="+mn-lt"/>
                <a:ea typeface="黑体" pitchFamily="2" charset="-122"/>
              </a:rPr>
              <a:t>客户</a:t>
            </a:r>
          </a:p>
        </p:txBody>
      </p:sp>
      <p:sp>
        <p:nvSpPr>
          <p:cNvPr id="55" name="Rectangle 53"/>
          <p:cNvSpPr>
            <a:spLocks noChangeArrowheads="1"/>
          </p:cNvSpPr>
          <p:nvPr/>
        </p:nvSpPr>
        <p:spPr bwMode="auto">
          <a:xfrm>
            <a:off x="7020247" y="647700"/>
            <a:ext cx="880050"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800" b="1" i="0" u="none" strike="noStrike" kern="0" cap="none" spc="0" normalizeH="0" baseline="0" noProof="0">
                <a:ln>
                  <a:noFill/>
                </a:ln>
                <a:solidFill>
                  <a:srgbClr val="3333CC"/>
                </a:solidFill>
                <a:effectLst/>
                <a:uLnTx/>
                <a:uFillTx/>
                <a:latin typeface="+mn-lt"/>
                <a:ea typeface="黑体" pitchFamily="2" charset="-122"/>
              </a:rPr>
              <a:t>服务器</a:t>
            </a:r>
          </a:p>
        </p:txBody>
      </p:sp>
      <p:sp>
        <p:nvSpPr>
          <p:cNvPr id="56" name="Rectangle 54"/>
          <p:cNvSpPr>
            <a:spLocks noChangeArrowheads="1"/>
          </p:cNvSpPr>
          <p:nvPr/>
        </p:nvSpPr>
        <p:spPr bwMode="auto">
          <a:xfrm rot="-628888">
            <a:off x="4588671" y="3629484"/>
            <a:ext cx="1215077" cy="397545"/>
          </a:xfrm>
          <a:prstGeom prst="rect">
            <a:avLst/>
          </a:prstGeom>
          <a:solidFill>
            <a:srgbClr val="CCECFF"/>
          </a:solidFill>
          <a:ln w="38100" cmpd="dbl" algn="ctr">
            <a:solidFill>
              <a:srgbClr val="3333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2000" b="1" i="0" u="none" strike="noStrike" kern="0" cap="none" spc="0" normalizeH="0" baseline="0" noProof="0">
                <a:ln>
                  <a:noFill/>
                </a:ln>
                <a:solidFill>
                  <a:srgbClr val="3333CC"/>
                </a:solidFill>
                <a:effectLst/>
                <a:uLnTx/>
                <a:uFillTx/>
                <a:latin typeface="+mn-lt"/>
                <a:ea typeface="黑体" pitchFamily="2" charset="-122"/>
              </a:rPr>
              <a:t>数据传送</a:t>
            </a:r>
          </a:p>
        </p:txBody>
      </p:sp>
      <p:sp>
        <p:nvSpPr>
          <p:cNvPr id="57" name="Text Box 55"/>
          <p:cNvSpPr txBox="1">
            <a:spLocks noChangeArrowheads="1"/>
          </p:cNvSpPr>
          <p:nvPr/>
        </p:nvSpPr>
        <p:spPr bwMode="auto">
          <a:xfrm>
            <a:off x="6931347" y="5803900"/>
            <a:ext cx="971550" cy="336550"/>
          </a:xfrm>
          <a:prstGeom prst="rect">
            <a:avLst/>
          </a:prstGeom>
          <a:noFill/>
          <a:ln>
            <a:noFill/>
          </a:ln>
          <a:effectLst/>
          <a:extLst>
            <a:ext uri="{909E8E84-426E-40DD-AFC4-6F175D3DCCD1}">
              <a14:hiddenFill xmlns:a14="http://schemas.microsoft.com/office/drawing/2010/main">
                <a:solidFill>
                  <a:srgbClr val="663300"/>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a:r>
              <a:rPr lang="en-US" altLang="zh-CN" sz="1800">
                <a:solidFill>
                  <a:srgbClr val="FFFF99"/>
                </a:solidFill>
                <a:latin typeface="+mn-lt"/>
                <a:ea typeface="黑体" pitchFamily="2" charset="-122"/>
              </a:rPr>
              <a:t>CLOSED</a:t>
            </a:r>
          </a:p>
        </p:txBody>
      </p:sp>
      <p:sp>
        <p:nvSpPr>
          <p:cNvPr id="58" name="Text Box 56"/>
          <p:cNvSpPr txBox="1">
            <a:spLocks noChangeArrowheads="1"/>
          </p:cNvSpPr>
          <p:nvPr/>
        </p:nvSpPr>
        <p:spPr bwMode="auto">
          <a:xfrm>
            <a:off x="2986410" y="115888"/>
            <a:ext cx="396557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altLang="zh-CN" sz="2800" b="1" i="0" u="none" strike="noStrike" kern="0" cap="none" spc="0" normalizeH="0" baseline="0" noProof="0">
                <a:ln>
                  <a:noFill/>
                </a:ln>
                <a:solidFill>
                  <a:srgbClr val="3333CC"/>
                </a:solidFill>
                <a:effectLst/>
                <a:uLnTx/>
                <a:uFillTx/>
                <a:latin typeface="Arial" pitchFamily="34" charset="0"/>
                <a:ea typeface="黑体" pitchFamily="2" charset="-122"/>
              </a:rPr>
              <a:t>5.9.2   TCP </a:t>
            </a:r>
            <a:r>
              <a:rPr kumimoji="0" lang="zh-CN" altLang="en-US" sz="2800" b="1" i="0" u="none" strike="noStrike" kern="0" cap="none" spc="0" normalizeH="0" baseline="0" noProof="0">
                <a:ln>
                  <a:noFill/>
                </a:ln>
                <a:solidFill>
                  <a:srgbClr val="3333CC"/>
                </a:solidFill>
                <a:effectLst/>
                <a:uLnTx/>
                <a:uFillTx/>
                <a:latin typeface="Arial" pitchFamily="34" charset="0"/>
                <a:ea typeface="黑体" pitchFamily="2" charset="-122"/>
              </a:rPr>
              <a:t>的连接释放 </a:t>
            </a:r>
          </a:p>
        </p:txBody>
      </p:sp>
      <p:sp>
        <p:nvSpPr>
          <p:cNvPr id="59" name="Text Box 57"/>
          <p:cNvSpPr txBox="1">
            <a:spLocks noChangeArrowheads="1"/>
          </p:cNvSpPr>
          <p:nvPr/>
        </p:nvSpPr>
        <p:spPr bwMode="auto">
          <a:xfrm>
            <a:off x="970285" y="92075"/>
            <a:ext cx="7962900" cy="528638"/>
          </a:xfrm>
          <a:prstGeom prst="rect">
            <a:avLst/>
          </a:prstGeom>
          <a:solidFill>
            <a:srgbClr val="FFFF99"/>
          </a:solidFill>
          <a:ln w="9525">
            <a:solidFill>
              <a:srgbClr val="3333CC"/>
            </a:solidFill>
            <a:miter lim="800000"/>
            <a:headEnd/>
            <a:tailEnd/>
          </a:ln>
          <a:effectLst>
            <a:outerShdw dist="35921" dir="2700000" algn="ctr" rotWithShape="0">
              <a:srgbClr val="1C1C1C"/>
            </a:outerShdw>
          </a:effec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altLang="zh-CN" sz="2800" b="1" i="0" u="none" strike="noStrike" kern="0" cap="none" spc="0" normalizeH="0" baseline="0" noProof="0" dirty="0">
                <a:ln>
                  <a:noFill/>
                </a:ln>
                <a:solidFill>
                  <a:srgbClr val="3333CC"/>
                </a:solidFill>
                <a:effectLst/>
                <a:uLnTx/>
                <a:uFillTx/>
                <a:latin typeface="Arial" pitchFamily="34" charset="0"/>
                <a:ea typeface="黑体" pitchFamily="2" charset="-122"/>
              </a:rPr>
              <a:t>TCP </a:t>
            </a:r>
            <a:r>
              <a:rPr kumimoji="0" lang="zh-CN" altLang="en-US" sz="2800" b="1" i="0" u="none" strike="noStrike" kern="0" cap="none" spc="0" normalizeH="0" baseline="0" noProof="0" dirty="0">
                <a:ln>
                  <a:noFill/>
                </a:ln>
                <a:solidFill>
                  <a:srgbClr val="3333CC"/>
                </a:solidFill>
                <a:effectLst/>
                <a:uLnTx/>
                <a:uFillTx/>
                <a:latin typeface="Arial" pitchFamily="34" charset="0"/>
                <a:ea typeface="黑体" pitchFamily="2" charset="-122"/>
              </a:rPr>
              <a:t>连接必须经过时间 </a:t>
            </a:r>
            <a:r>
              <a:rPr kumimoji="0" lang="en-US" altLang="zh-CN" sz="2800" b="1" i="0" u="none" strike="noStrike" kern="0" cap="none" spc="0" normalizeH="0" baseline="0" noProof="0" dirty="0">
                <a:ln>
                  <a:noFill/>
                </a:ln>
                <a:solidFill>
                  <a:srgbClr val="3333CC"/>
                </a:solidFill>
                <a:effectLst/>
                <a:uLnTx/>
                <a:uFillTx/>
                <a:latin typeface="Arial" pitchFamily="34" charset="0"/>
                <a:ea typeface="黑体" pitchFamily="2" charset="-122"/>
              </a:rPr>
              <a:t>2MSL </a:t>
            </a:r>
            <a:r>
              <a:rPr kumimoji="0" lang="zh-CN" altLang="en-US" sz="2800" b="1" i="0" u="none" strike="noStrike" kern="0" cap="none" spc="0" normalizeH="0" baseline="0" noProof="0" dirty="0">
                <a:ln>
                  <a:noFill/>
                </a:ln>
                <a:solidFill>
                  <a:srgbClr val="3333CC"/>
                </a:solidFill>
                <a:effectLst/>
                <a:uLnTx/>
                <a:uFillTx/>
                <a:latin typeface="Arial" pitchFamily="34" charset="0"/>
                <a:ea typeface="黑体" pitchFamily="2" charset="-122"/>
              </a:rPr>
              <a:t>后才真正释放掉。 </a:t>
            </a:r>
          </a:p>
        </p:txBody>
      </p:sp>
    </p:spTree>
    <p:extLst>
      <p:ext uri="{BB962C8B-B14F-4D97-AF65-F5344CB8AC3E}">
        <p14:creationId xmlns:p14="http://schemas.microsoft.com/office/powerpoint/2010/main" val="20101742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500"/>
                                  </p:stCondLst>
                                  <p:childTnLst>
                                    <p:set>
                                      <p:cBhvr>
                                        <p:cTn id="6" dur="1" fill="hold">
                                          <p:stCondLst>
                                            <p:cond delay="0"/>
                                          </p:stCondLst>
                                        </p:cTn>
                                        <p:tgtEl>
                                          <p:spTgt spid="32"/>
                                        </p:tgtEl>
                                        <p:attrNameLst>
                                          <p:attrName>style.visibility</p:attrName>
                                        </p:attrNameLst>
                                      </p:cBhvr>
                                      <p:to>
                                        <p:strVal val="visible"/>
                                      </p:to>
                                    </p:set>
                                    <p:animEffect transition="in" filter="wipe(up)">
                                      <p:cBhvr>
                                        <p:cTn id="7" dur="1000"/>
                                        <p:tgtEl>
                                          <p:spTgt spid="32"/>
                                        </p:tgtEl>
                                      </p:cBhvr>
                                    </p:animEffect>
                                  </p:childTnLst>
                                </p:cTn>
                              </p:par>
                            </p:childTnLst>
                          </p:cTn>
                        </p:par>
                        <p:par>
                          <p:cTn id="8" fill="hold">
                            <p:stCondLst>
                              <p:cond delay="1500"/>
                            </p:stCondLst>
                            <p:childTnLst>
                              <p:par>
                                <p:cTn id="9" presetID="22" presetClass="entr" presetSubtype="1" fill="hold" nodeType="afterEffect">
                                  <p:stCondLst>
                                    <p:cond delay="500"/>
                                  </p:stCondLst>
                                  <p:childTnLst>
                                    <p:set>
                                      <p:cBhvr>
                                        <p:cTn id="10" dur="1" fill="hold">
                                          <p:stCondLst>
                                            <p:cond delay="0"/>
                                          </p:stCondLst>
                                        </p:cTn>
                                        <p:tgtEl>
                                          <p:spTgt spid="4"/>
                                        </p:tgtEl>
                                        <p:attrNameLst>
                                          <p:attrName>style.visibility</p:attrName>
                                        </p:attrNameLst>
                                      </p:cBhvr>
                                      <p:to>
                                        <p:strVal val="visible"/>
                                      </p:to>
                                    </p:set>
                                    <p:animEffect transition="in" filter="wipe(up)">
                                      <p:cBhvr>
                                        <p:cTn id="11"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0770" name="Rectangle 2"/>
          <p:cNvSpPr>
            <a:spLocks noGrp="1" noChangeArrowheads="1"/>
          </p:cNvSpPr>
          <p:nvPr>
            <p:ph type="title"/>
          </p:nvPr>
        </p:nvSpPr>
        <p:spPr/>
        <p:txBody>
          <a:bodyPr/>
          <a:lstStyle/>
          <a:p>
            <a:pPr algn="ctr"/>
            <a:r>
              <a:rPr lang="en-US" altLang="zh-CN"/>
              <a:t>A </a:t>
            </a:r>
            <a:r>
              <a:rPr lang="zh-CN" altLang="en-US"/>
              <a:t>必须等待 </a:t>
            </a:r>
            <a:r>
              <a:rPr lang="en-US" altLang="zh-CN"/>
              <a:t>2MSL </a:t>
            </a:r>
            <a:r>
              <a:rPr lang="zh-CN" altLang="en-US"/>
              <a:t>的时间</a:t>
            </a:r>
          </a:p>
        </p:txBody>
      </p:sp>
      <p:sp>
        <p:nvSpPr>
          <p:cNvPr id="800771" name="Rectangle 3"/>
          <p:cNvSpPr>
            <a:spLocks noGrp="1" noChangeArrowheads="1"/>
          </p:cNvSpPr>
          <p:nvPr>
            <p:ph idx="1"/>
          </p:nvPr>
        </p:nvSpPr>
        <p:spPr/>
        <p:txBody>
          <a:bodyPr/>
          <a:lstStyle/>
          <a:p>
            <a:r>
              <a:rPr lang="zh-CN" altLang="en-US" dirty="0">
                <a:solidFill>
                  <a:srgbClr val="FF0000"/>
                </a:solidFill>
              </a:rPr>
              <a:t>第一，</a:t>
            </a:r>
            <a:r>
              <a:rPr lang="zh-CN" altLang="en-US" dirty="0"/>
              <a:t>为了保证 </a:t>
            </a:r>
            <a:r>
              <a:rPr lang="en-US" altLang="zh-CN" dirty="0"/>
              <a:t>A </a:t>
            </a:r>
            <a:r>
              <a:rPr lang="zh-CN" altLang="en-US" dirty="0"/>
              <a:t>发送的最后一个 </a:t>
            </a:r>
            <a:r>
              <a:rPr lang="en-US" altLang="zh-CN" dirty="0"/>
              <a:t>ACK </a:t>
            </a:r>
            <a:r>
              <a:rPr lang="zh-CN" altLang="en-US" dirty="0"/>
              <a:t>报文段能够到达 </a:t>
            </a:r>
            <a:r>
              <a:rPr lang="en-US" altLang="zh-CN" dirty="0"/>
              <a:t>B</a:t>
            </a:r>
            <a:r>
              <a:rPr lang="zh-CN" altLang="en-US" dirty="0"/>
              <a:t>。</a:t>
            </a:r>
          </a:p>
          <a:p>
            <a:r>
              <a:rPr lang="zh-CN" altLang="en-US" dirty="0">
                <a:solidFill>
                  <a:srgbClr val="FF0000"/>
                </a:solidFill>
              </a:rPr>
              <a:t>第二，</a:t>
            </a:r>
            <a:r>
              <a:rPr lang="zh-CN" altLang="en-US" dirty="0"/>
              <a:t>防止 “已失效的连接请求报文段”出现在本连接中。</a:t>
            </a:r>
            <a:r>
              <a:rPr lang="en-US" altLang="zh-CN" dirty="0"/>
              <a:t>A </a:t>
            </a:r>
            <a:r>
              <a:rPr lang="zh-CN" altLang="en-US" dirty="0"/>
              <a:t>在发送完最后一个 </a:t>
            </a:r>
            <a:r>
              <a:rPr lang="en-US" altLang="zh-CN" dirty="0"/>
              <a:t>ACK </a:t>
            </a:r>
            <a:r>
              <a:rPr lang="zh-CN" altLang="en-US" dirty="0"/>
              <a:t>报文段后，再经过时间 </a:t>
            </a:r>
            <a:r>
              <a:rPr lang="en-US" altLang="zh-CN" dirty="0"/>
              <a:t>2MSL</a:t>
            </a:r>
            <a:r>
              <a:rPr lang="zh-CN" altLang="en-US" dirty="0"/>
              <a:t>，就可以使本连接持续的时间内所产生的所有报文段，都从网络中消失。这样就可以使下一个新的连接中不会出现这种旧的连接请求报文段。</a:t>
            </a:r>
          </a:p>
        </p:txBody>
      </p:sp>
    </p:spTree>
    <p:extLst>
      <p:ext uri="{BB962C8B-B14F-4D97-AF65-F5344CB8AC3E}">
        <p14:creationId xmlns:p14="http://schemas.microsoft.com/office/powerpoint/2010/main" val="5983092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4226" name="Rectangle 2"/>
          <p:cNvSpPr>
            <a:spLocks noGrp="1" noChangeArrowheads="1"/>
          </p:cNvSpPr>
          <p:nvPr>
            <p:ph type="title"/>
          </p:nvPr>
        </p:nvSpPr>
        <p:spPr/>
        <p:txBody>
          <a:bodyPr/>
          <a:lstStyle/>
          <a:p>
            <a:r>
              <a:rPr lang="zh-CN" altLang="zh-CN" dirty="0"/>
              <a:t>连接管理</a:t>
            </a:r>
            <a:r>
              <a:rPr lang="zh-CN" altLang="en-US" dirty="0"/>
              <a:t>：</a:t>
            </a:r>
            <a:r>
              <a:rPr lang="zh-CN" altLang="zh-CN" dirty="0"/>
              <a:t>有限状态机</a:t>
            </a:r>
            <a:endParaRPr lang="zh-CN" altLang="en-US" dirty="0"/>
          </a:p>
        </p:txBody>
      </p:sp>
      <p:sp>
        <p:nvSpPr>
          <p:cNvPr id="564227" name="Rectangle 3"/>
          <p:cNvSpPr>
            <a:spLocks noGrp="1" noChangeArrowheads="1"/>
          </p:cNvSpPr>
          <p:nvPr>
            <p:ph idx="1"/>
          </p:nvPr>
        </p:nvSpPr>
        <p:spPr/>
        <p:txBody>
          <a:bodyPr/>
          <a:lstStyle/>
          <a:p>
            <a:r>
              <a:rPr lang="en-US" altLang="zh-CN" dirty="0"/>
              <a:t>TCP </a:t>
            </a:r>
            <a:r>
              <a:rPr lang="zh-CN" altLang="zh-CN" dirty="0"/>
              <a:t>的有限状态机</a:t>
            </a:r>
            <a:r>
              <a:rPr lang="zh-CN" altLang="en-US" dirty="0"/>
              <a:t>可以</a:t>
            </a:r>
            <a:r>
              <a:rPr lang="zh-CN" altLang="zh-CN" dirty="0"/>
              <a:t>更清晰地看出</a:t>
            </a:r>
            <a:r>
              <a:rPr lang="en-US" altLang="zh-CN" dirty="0"/>
              <a:t> TCP </a:t>
            </a:r>
            <a:r>
              <a:rPr lang="zh-CN" altLang="zh-CN" dirty="0"/>
              <a:t>连接的各种状态之间的关系</a:t>
            </a:r>
            <a:r>
              <a:rPr lang="zh-CN" altLang="en-US" dirty="0"/>
              <a:t>。</a:t>
            </a:r>
            <a:endParaRPr lang="en-US" altLang="zh-CN" dirty="0"/>
          </a:p>
          <a:p>
            <a:r>
              <a:rPr lang="en-US" altLang="zh-CN" dirty="0"/>
              <a:t>TCP </a:t>
            </a:r>
            <a:r>
              <a:rPr lang="zh-CN" altLang="en-US" dirty="0"/>
              <a:t>有限状态机的图中每一个方框都是 </a:t>
            </a:r>
            <a:r>
              <a:rPr lang="en-US" altLang="zh-CN" dirty="0"/>
              <a:t>TCP </a:t>
            </a:r>
            <a:r>
              <a:rPr lang="zh-CN" altLang="en-US" dirty="0"/>
              <a:t>可能具有的状态。</a:t>
            </a:r>
          </a:p>
          <a:p>
            <a:r>
              <a:rPr lang="zh-CN" altLang="en-US" dirty="0"/>
              <a:t>每个方框中的大写英文字符串是 </a:t>
            </a:r>
            <a:r>
              <a:rPr lang="en-US" altLang="zh-CN" dirty="0"/>
              <a:t>TCP </a:t>
            </a:r>
            <a:r>
              <a:rPr lang="zh-CN" altLang="en-US" dirty="0"/>
              <a:t>标准所使用的 </a:t>
            </a:r>
            <a:r>
              <a:rPr lang="en-US" altLang="zh-CN" dirty="0"/>
              <a:t>TCP </a:t>
            </a:r>
            <a:r>
              <a:rPr lang="zh-CN" altLang="en-US" dirty="0"/>
              <a:t>连接状态名。</a:t>
            </a:r>
            <a:endParaRPr lang="en-US" altLang="zh-CN" dirty="0"/>
          </a:p>
          <a:p>
            <a:r>
              <a:rPr lang="zh-CN" altLang="en-US" dirty="0"/>
              <a:t>状态之间的箭头表示可能发生的状态变迁。</a:t>
            </a:r>
          </a:p>
        </p:txBody>
      </p:sp>
    </p:spTree>
    <p:extLst>
      <p:ext uri="{BB962C8B-B14F-4D97-AF65-F5344CB8AC3E}">
        <p14:creationId xmlns:p14="http://schemas.microsoft.com/office/powerpoint/2010/main" val="216316815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4226" name="Rectangle 2"/>
          <p:cNvSpPr>
            <a:spLocks noGrp="1" noChangeArrowheads="1"/>
          </p:cNvSpPr>
          <p:nvPr>
            <p:ph type="title"/>
          </p:nvPr>
        </p:nvSpPr>
        <p:spPr/>
        <p:txBody>
          <a:bodyPr/>
          <a:lstStyle/>
          <a:p>
            <a:r>
              <a:rPr lang="zh-CN" altLang="zh-CN" dirty="0"/>
              <a:t>连接管理</a:t>
            </a:r>
            <a:r>
              <a:rPr lang="zh-CN" altLang="en-US" dirty="0"/>
              <a:t>：</a:t>
            </a:r>
            <a:r>
              <a:rPr lang="zh-CN" altLang="zh-CN" dirty="0"/>
              <a:t>有限状态机</a:t>
            </a:r>
            <a:endParaRPr lang="zh-CN" altLang="en-US" dirty="0"/>
          </a:p>
        </p:txBody>
      </p:sp>
      <p:sp>
        <p:nvSpPr>
          <p:cNvPr id="564227" name="Rectangle 3"/>
          <p:cNvSpPr>
            <a:spLocks noGrp="1" noChangeArrowheads="1"/>
          </p:cNvSpPr>
          <p:nvPr>
            <p:ph idx="1"/>
          </p:nvPr>
        </p:nvSpPr>
        <p:spPr/>
        <p:txBody>
          <a:bodyPr/>
          <a:lstStyle/>
          <a:p>
            <a:r>
              <a:rPr lang="zh-CN" altLang="en-US" dirty="0"/>
              <a:t>箭头旁边的字，表明引起这种变迁的原因，或表明发生状态变迁后又出现什么动作。</a:t>
            </a:r>
          </a:p>
          <a:p>
            <a:r>
              <a:rPr lang="zh-CN" altLang="en-US" dirty="0"/>
              <a:t>图中有三种不同的箭头。</a:t>
            </a:r>
          </a:p>
          <a:p>
            <a:pPr lvl="1"/>
            <a:r>
              <a:rPr lang="zh-CN" altLang="en-US" dirty="0">
                <a:solidFill>
                  <a:srgbClr val="FF0000"/>
                </a:solidFill>
                <a:latin typeface="黑体" pitchFamily="2" charset="-122"/>
              </a:rPr>
              <a:t>粗实线箭头</a:t>
            </a:r>
            <a:r>
              <a:rPr lang="zh-CN" altLang="en-US" dirty="0">
                <a:solidFill>
                  <a:srgbClr val="0000FF"/>
                </a:solidFill>
                <a:latin typeface="黑体" pitchFamily="2" charset="-122"/>
              </a:rPr>
              <a:t>表示对客户进程的正常变迁。</a:t>
            </a:r>
          </a:p>
          <a:p>
            <a:pPr lvl="1"/>
            <a:r>
              <a:rPr lang="zh-CN" altLang="en-US" dirty="0">
                <a:solidFill>
                  <a:srgbClr val="FF0000"/>
                </a:solidFill>
                <a:latin typeface="黑体" pitchFamily="2" charset="-122"/>
              </a:rPr>
              <a:t>粗虚线箭头</a:t>
            </a:r>
            <a:r>
              <a:rPr lang="zh-CN" altLang="en-US" dirty="0">
                <a:solidFill>
                  <a:srgbClr val="0000FF"/>
                </a:solidFill>
                <a:latin typeface="黑体" pitchFamily="2" charset="-122"/>
              </a:rPr>
              <a:t>表示对服务器进程的正常变迁。</a:t>
            </a:r>
          </a:p>
          <a:p>
            <a:pPr lvl="1"/>
            <a:r>
              <a:rPr lang="zh-CN" altLang="en-US" dirty="0">
                <a:solidFill>
                  <a:srgbClr val="FF0000"/>
                </a:solidFill>
                <a:latin typeface="黑体" pitchFamily="2" charset="-122"/>
              </a:rPr>
              <a:t>细线箭头</a:t>
            </a:r>
            <a:r>
              <a:rPr lang="zh-CN" altLang="en-US" dirty="0">
                <a:solidFill>
                  <a:srgbClr val="0000FF"/>
                </a:solidFill>
                <a:latin typeface="黑体" pitchFamily="2" charset="-122"/>
              </a:rPr>
              <a:t>表示异常变迁。 </a:t>
            </a:r>
          </a:p>
          <a:p>
            <a:endParaRPr lang="zh-CN" altLang="en-US" sz="2800" dirty="0">
              <a:solidFill>
                <a:schemeClr val="folHlink"/>
              </a:solidFill>
              <a:latin typeface="黑体" pitchFamily="2" charset="-122"/>
            </a:endParaRPr>
          </a:p>
        </p:txBody>
      </p:sp>
    </p:spTree>
    <p:extLst>
      <p:ext uri="{BB962C8B-B14F-4D97-AF65-F5344CB8AC3E}">
        <p14:creationId xmlns:p14="http://schemas.microsoft.com/office/powerpoint/2010/main" val="185002049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5252" name="Rectangle 4"/>
          <p:cNvSpPr>
            <a:spLocks noGrp="1" noChangeArrowheads="1"/>
          </p:cNvSpPr>
          <p:nvPr>
            <p:ph type="title" idx="4294967295"/>
          </p:nvPr>
        </p:nvSpPr>
        <p:spPr>
          <a:xfrm>
            <a:off x="8337376" y="1365547"/>
            <a:ext cx="1208087" cy="3503613"/>
          </a:xfrm>
        </p:spPr>
        <p:txBody>
          <a:bodyPr/>
          <a:lstStyle/>
          <a:p>
            <a:pPr algn="ctr"/>
            <a:r>
              <a:rPr lang="en-US" altLang="zh-CN" sz="3200" dirty="0"/>
              <a:t>TCP</a:t>
            </a:r>
            <a:br>
              <a:rPr lang="en-US" altLang="zh-CN" sz="3200" dirty="0"/>
            </a:br>
            <a:r>
              <a:rPr lang="zh-CN" altLang="en-US" sz="3200" dirty="0"/>
              <a:t>的</a:t>
            </a:r>
            <a:br>
              <a:rPr lang="zh-CN" altLang="en-US" sz="3200" dirty="0"/>
            </a:br>
            <a:r>
              <a:rPr lang="zh-CN" altLang="en-US" sz="3200" dirty="0"/>
              <a:t>有</a:t>
            </a:r>
            <a:br>
              <a:rPr lang="zh-CN" altLang="en-US" sz="3200" dirty="0"/>
            </a:br>
            <a:r>
              <a:rPr lang="zh-CN" altLang="en-US" sz="3200" dirty="0"/>
              <a:t>限</a:t>
            </a:r>
            <a:br>
              <a:rPr lang="zh-CN" altLang="en-US" sz="3200" dirty="0"/>
            </a:br>
            <a:r>
              <a:rPr lang="zh-CN" altLang="en-US" sz="3200" dirty="0"/>
              <a:t>状</a:t>
            </a:r>
            <a:br>
              <a:rPr lang="zh-CN" altLang="en-US" sz="3200" dirty="0"/>
            </a:br>
            <a:r>
              <a:rPr lang="zh-CN" altLang="en-US" sz="3200" dirty="0"/>
              <a:t>态</a:t>
            </a:r>
            <a:br>
              <a:rPr lang="zh-CN" altLang="en-US" sz="3200" dirty="0"/>
            </a:br>
            <a:r>
              <a:rPr lang="zh-CN" altLang="en-US" sz="3200" dirty="0"/>
              <a:t>机 </a:t>
            </a:r>
          </a:p>
        </p:txBody>
      </p:sp>
      <p:sp>
        <p:nvSpPr>
          <p:cNvPr id="565253" name="Rectangle 5"/>
          <p:cNvSpPr>
            <a:spLocks noChangeArrowheads="1"/>
          </p:cNvSpPr>
          <p:nvPr/>
        </p:nvSpPr>
        <p:spPr bwMode="auto">
          <a:xfrm>
            <a:off x="930233" y="4575176"/>
            <a:ext cx="4541970" cy="2263775"/>
          </a:xfrm>
          <a:prstGeom prst="rect">
            <a:avLst/>
          </a:prstGeom>
          <a:solidFill>
            <a:srgbClr val="66FFFF"/>
          </a:solidFill>
          <a:ln w="9525">
            <a:solidFill>
              <a:schemeClr val="tx1"/>
            </a:solidFill>
            <a:prstDash val="dash"/>
            <a:miter lim="800000"/>
            <a:headEnd/>
            <a:tailEnd/>
          </a:ln>
          <a:effectLst/>
        </p:spPr>
        <p:txBody>
          <a:bodyPr wrap="none" anchor="ctr"/>
          <a:lstStyle/>
          <a:p>
            <a:endParaRPr lang="zh-CN" altLang="en-US" b="1">
              <a:latin typeface="+mn-lt"/>
              <a:ea typeface="黑体" pitchFamily="2" charset="-122"/>
            </a:endParaRPr>
          </a:p>
        </p:txBody>
      </p:sp>
      <p:sp>
        <p:nvSpPr>
          <p:cNvPr id="565254" name="Rectangle 6"/>
          <p:cNvSpPr>
            <a:spLocks noChangeArrowheads="1"/>
          </p:cNvSpPr>
          <p:nvPr/>
        </p:nvSpPr>
        <p:spPr bwMode="auto">
          <a:xfrm>
            <a:off x="5726732" y="3632200"/>
            <a:ext cx="1575329" cy="2012950"/>
          </a:xfrm>
          <a:prstGeom prst="rect">
            <a:avLst/>
          </a:prstGeom>
          <a:solidFill>
            <a:srgbClr val="66FFFF"/>
          </a:solidFill>
          <a:ln w="9525">
            <a:solidFill>
              <a:schemeClr val="tx1"/>
            </a:solidFill>
            <a:prstDash val="dash"/>
            <a:miter lim="800000"/>
            <a:headEnd/>
            <a:tailEnd/>
          </a:ln>
          <a:effectLst/>
        </p:spPr>
        <p:txBody>
          <a:bodyPr wrap="none" anchor="ctr"/>
          <a:lstStyle/>
          <a:p>
            <a:endParaRPr lang="zh-CN" altLang="en-US" b="1">
              <a:latin typeface="+mn-lt"/>
              <a:ea typeface="黑体" pitchFamily="2" charset="-122"/>
            </a:endParaRPr>
          </a:p>
        </p:txBody>
      </p:sp>
      <p:sp>
        <p:nvSpPr>
          <p:cNvPr id="565255" name="Line 7"/>
          <p:cNvSpPr>
            <a:spLocks noChangeShapeType="1"/>
          </p:cNvSpPr>
          <p:nvPr/>
        </p:nvSpPr>
        <p:spPr bwMode="auto">
          <a:xfrm rot="5400000" flipV="1">
            <a:off x="5303663" y="3291285"/>
            <a:ext cx="0" cy="1186656"/>
          </a:xfrm>
          <a:prstGeom prst="line">
            <a:avLst/>
          </a:prstGeom>
          <a:noFill/>
          <a:ln w="57150">
            <a:solidFill>
              <a:srgbClr val="C00000"/>
            </a:solidFill>
            <a:prstDash val="sysDot"/>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黑体" pitchFamily="2" charset="-122"/>
            </a:endParaRPr>
          </a:p>
        </p:txBody>
      </p:sp>
      <p:sp>
        <p:nvSpPr>
          <p:cNvPr id="565256" name="Rectangle 8"/>
          <p:cNvSpPr>
            <a:spLocks noChangeArrowheads="1"/>
          </p:cNvSpPr>
          <p:nvPr/>
        </p:nvSpPr>
        <p:spPr bwMode="auto">
          <a:xfrm>
            <a:off x="3609668" y="236538"/>
            <a:ext cx="846138" cy="252412"/>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400" b="1">
                <a:latin typeface="+mn-lt"/>
                <a:ea typeface="黑体" pitchFamily="2" charset="-122"/>
              </a:rPr>
              <a:t>CLOSED</a:t>
            </a:r>
          </a:p>
        </p:txBody>
      </p:sp>
      <p:sp>
        <p:nvSpPr>
          <p:cNvPr id="565257" name="Rectangle 9"/>
          <p:cNvSpPr>
            <a:spLocks noChangeArrowheads="1"/>
          </p:cNvSpPr>
          <p:nvPr/>
        </p:nvSpPr>
        <p:spPr bwMode="auto">
          <a:xfrm>
            <a:off x="3270870" y="3759201"/>
            <a:ext cx="1439465" cy="250825"/>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400" b="1">
                <a:latin typeface="+mn-lt"/>
                <a:ea typeface="黑体" pitchFamily="2" charset="-122"/>
              </a:rPr>
              <a:t>ESTABLISHED</a:t>
            </a:r>
          </a:p>
        </p:txBody>
      </p:sp>
      <p:sp>
        <p:nvSpPr>
          <p:cNvPr id="565258" name="Rectangle 10"/>
          <p:cNvSpPr>
            <a:spLocks noChangeArrowheads="1"/>
          </p:cNvSpPr>
          <p:nvPr/>
        </p:nvSpPr>
        <p:spPr bwMode="auto">
          <a:xfrm>
            <a:off x="3609668" y="1243013"/>
            <a:ext cx="846138" cy="252412"/>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400" b="1">
                <a:latin typeface="+mn-lt"/>
                <a:ea typeface="黑体" pitchFamily="2" charset="-122"/>
              </a:rPr>
              <a:t>LISTEN</a:t>
            </a:r>
          </a:p>
        </p:txBody>
      </p:sp>
      <p:sp>
        <p:nvSpPr>
          <p:cNvPr id="565259" name="Rectangle 11"/>
          <p:cNvSpPr>
            <a:spLocks noChangeArrowheads="1"/>
          </p:cNvSpPr>
          <p:nvPr/>
        </p:nvSpPr>
        <p:spPr bwMode="auto">
          <a:xfrm>
            <a:off x="5853996" y="3759201"/>
            <a:ext cx="1355196" cy="250825"/>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400" b="1">
                <a:latin typeface="+mn-lt"/>
                <a:ea typeface="黑体" pitchFamily="2" charset="-122"/>
              </a:rPr>
              <a:t>CLOSE_WAIT</a:t>
            </a:r>
          </a:p>
        </p:txBody>
      </p:sp>
      <p:sp>
        <p:nvSpPr>
          <p:cNvPr id="565260" name="Rectangle 12"/>
          <p:cNvSpPr>
            <a:spLocks noChangeArrowheads="1"/>
          </p:cNvSpPr>
          <p:nvPr/>
        </p:nvSpPr>
        <p:spPr bwMode="auto">
          <a:xfrm>
            <a:off x="983547" y="4891089"/>
            <a:ext cx="1184936" cy="250825"/>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400" b="1">
                <a:latin typeface="+mn-lt"/>
                <a:ea typeface="黑体" pitchFamily="2" charset="-122"/>
              </a:rPr>
              <a:t>FIN_WAIT_1</a:t>
            </a:r>
          </a:p>
        </p:txBody>
      </p:sp>
      <p:sp>
        <p:nvSpPr>
          <p:cNvPr id="565261" name="Rectangle 13"/>
          <p:cNvSpPr>
            <a:spLocks noChangeArrowheads="1"/>
          </p:cNvSpPr>
          <p:nvPr/>
        </p:nvSpPr>
        <p:spPr bwMode="auto">
          <a:xfrm>
            <a:off x="983547" y="2312989"/>
            <a:ext cx="1184936" cy="250825"/>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400" b="1">
                <a:latin typeface="+mn-lt"/>
                <a:ea typeface="黑体" pitchFamily="2" charset="-122"/>
              </a:rPr>
              <a:t>SYN_RCVD</a:t>
            </a:r>
          </a:p>
        </p:txBody>
      </p:sp>
      <p:sp>
        <p:nvSpPr>
          <p:cNvPr id="565262" name="Rectangle 14"/>
          <p:cNvSpPr>
            <a:spLocks noChangeArrowheads="1"/>
          </p:cNvSpPr>
          <p:nvPr/>
        </p:nvSpPr>
        <p:spPr bwMode="auto">
          <a:xfrm>
            <a:off x="983547" y="6337301"/>
            <a:ext cx="1184936" cy="250825"/>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400" b="1">
                <a:latin typeface="+mn-lt"/>
                <a:ea typeface="黑体" pitchFamily="2" charset="-122"/>
              </a:rPr>
              <a:t>FIN_WAIT_2</a:t>
            </a:r>
          </a:p>
        </p:txBody>
      </p:sp>
      <p:sp>
        <p:nvSpPr>
          <p:cNvPr id="565263" name="Rectangle 15"/>
          <p:cNvSpPr>
            <a:spLocks noChangeArrowheads="1"/>
          </p:cNvSpPr>
          <p:nvPr/>
        </p:nvSpPr>
        <p:spPr bwMode="auto">
          <a:xfrm>
            <a:off x="3566674" y="4891089"/>
            <a:ext cx="932127" cy="250825"/>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400" b="1">
                <a:latin typeface="+mn-lt"/>
                <a:ea typeface="黑体" pitchFamily="2" charset="-122"/>
              </a:rPr>
              <a:t>CLOSING</a:t>
            </a:r>
          </a:p>
        </p:txBody>
      </p:sp>
      <p:sp>
        <p:nvSpPr>
          <p:cNvPr id="565264" name="Rectangle 16"/>
          <p:cNvSpPr>
            <a:spLocks noChangeArrowheads="1"/>
          </p:cNvSpPr>
          <p:nvPr/>
        </p:nvSpPr>
        <p:spPr bwMode="auto">
          <a:xfrm>
            <a:off x="3439410" y="6337301"/>
            <a:ext cx="1186656" cy="250825"/>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400" b="1">
                <a:latin typeface="+mn-lt"/>
                <a:ea typeface="黑体" pitchFamily="2" charset="-122"/>
              </a:rPr>
              <a:t>TIME_WAIT</a:t>
            </a:r>
          </a:p>
        </p:txBody>
      </p:sp>
      <p:sp>
        <p:nvSpPr>
          <p:cNvPr id="565265" name="Rectangle 17"/>
          <p:cNvSpPr>
            <a:spLocks noChangeArrowheads="1"/>
          </p:cNvSpPr>
          <p:nvPr/>
        </p:nvSpPr>
        <p:spPr bwMode="auto">
          <a:xfrm>
            <a:off x="5981261" y="2312989"/>
            <a:ext cx="1100667" cy="250825"/>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400" b="1">
                <a:latin typeface="+mn-lt"/>
                <a:ea typeface="黑体" pitchFamily="2" charset="-122"/>
              </a:rPr>
              <a:t>SYN_SENT</a:t>
            </a:r>
          </a:p>
        </p:txBody>
      </p:sp>
      <p:sp>
        <p:nvSpPr>
          <p:cNvPr id="565266" name="Rectangle 18"/>
          <p:cNvSpPr>
            <a:spLocks noChangeArrowheads="1"/>
          </p:cNvSpPr>
          <p:nvPr/>
        </p:nvSpPr>
        <p:spPr bwMode="auto">
          <a:xfrm>
            <a:off x="5938266" y="5267326"/>
            <a:ext cx="1186656" cy="252413"/>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400" b="1">
                <a:latin typeface="+mn-lt"/>
                <a:ea typeface="黑体" pitchFamily="2" charset="-122"/>
              </a:rPr>
              <a:t>LAST_ACK</a:t>
            </a:r>
          </a:p>
        </p:txBody>
      </p:sp>
      <p:sp>
        <p:nvSpPr>
          <p:cNvPr id="565267" name="Line 19"/>
          <p:cNvSpPr>
            <a:spLocks noChangeShapeType="1"/>
          </p:cNvSpPr>
          <p:nvPr/>
        </p:nvSpPr>
        <p:spPr bwMode="auto">
          <a:xfrm>
            <a:off x="4287266" y="488950"/>
            <a:ext cx="2244329" cy="1824038"/>
          </a:xfrm>
          <a:prstGeom prst="line">
            <a:avLst/>
          </a:prstGeom>
          <a:noFill/>
          <a:ln w="57150">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黑体" pitchFamily="2" charset="-122"/>
            </a:endParaRPr>
          </a:p>
        </p:txBody>
      </p:sp>
      <p:sp>
        <p:nvSpPr>
          <p:cNvPr id="565268" name="Line 20"/>
          <p:cNvSpPr>
            <a:spLocks noChangeShapeType="1"/>
          </p:cNvSpPr>
          <p:nvPr/>
        </p:nvSpPr>
        <p:spPr bwMode="auto">
          <a:xfrm flipH="1">
            <a:off x="4371536" y="2563814"/>
            <a:ext cx="1736990" cy="1195387"/>
          </a:xfrm>
          <a:prstGeom prst="line">
            <a:avLst/>
          </a:prstGeom>
          <a:noFill/>
          <a:ln w="57150">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黑体" pitchFamily="2" charset="-122"/>
            </a:endParaRPr>
          </a:p>
        </p:txBody>
      </p:sp>
      <p:sp>
        <p:nvSpPr>
          <p:cNvPr id="565269" name="Line 21"/>
          <p:cNvSpPr>
            <a:spLocks noChangeShapeType="1"/>
          </p:cNvSpPr>
          <p:nvPr/>
        </p:nvSpPr>
        <p:spPr bwMode="auto">
          <a:xfrm flipH="1">
            <a:off x="1915674" y="4010026"/>
            <a:ext cx="1693994" cy="881063"/>
          </a:xfrm>
          <a:prstGeom prst="line">
            <a:avLst/>
          </a:prstGeom>
          <a:noFill/>
          <a:ln w="57150">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黑体" pitchFamily="2" charset="-122"/>
            </a:endParaRPr>
          </a:p>
        </p:txBody>
      </p:sp>
      <p:sp>
        <p:nvSpPr>
          <p:cNvPr id="565270" name="Line 22"/>
          <p:cNvSpPr>
            <a:spLocks noChangeShapeType="1"/>
          </p:cNvSpPr>
          <p:nvPr/>
        </p:nvSpPr>
        <p:spPr bwMode="auto">
          <a:xfrm flipH="1">
            <a:off x="1554517" y="5141914"/>
            <a:ext cx="0" cy="1195387"/>
          </a:xfrm>
          <a:prstGeom prst="line">
            <a:avLst/>
          </a:prstGeom>
          <a:noFill/>
          <a:ln w="57150">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黑体" pitchFamily="2" charset="-122"/>
            </a:endParaRPr>
          </a:p>
        </p:txBody>
      </p:sp>
      <p:sp>
        <p:nvSpPr>
          <p:cNvPr id="565271" name="Line 23"/>
          <p:cNvSpPr>
            <a:spLocks noChangeShapeType="1"/>
          </p:cNvSpPr>
          <p:nvPr/>
        </p:nvSpPr>
        <p:spPr bwMode="auto">
          <a:xfrm>
            <a:off x="2166763" y="6462713"/>
            <a:ext cx="1277805" cy="0"/>
          </a:xfrm>
          <a:prstGeom prst="line">
            <a:avLst/>
          </a:prstGeom>
          <a:noFill/>
          <a:ln w="57150">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黑体" pitchFamily="2" charset="-122"/>
            </a:endParaRPr>
          </a:p>
        </p:txBody>
      </p:sp>
      <p:sp>
        <p:nvSpPr>
          <p:cNvPr id="565272" name="Line 24"/>
          <p:cNvSpPr>
            <a:spLocks noChangeShapeType="1"/>
          </p:cNvSpPr>
          <p:nvPr/>
        </p:nvSpPr>
        <p:spPr bwMode="auto">
          <a:xfrm>
            <a:off x="3857318" y="498475"/>
            <a:ext cx="6879" cy="736600"/>
          </a:xfrm>
          <a:prstGeom prst="line">
            <a:avLst/>
          </a:prstGeom>
          <a:noFill/>
          <a:ln w="57150">
            <a:solidFill>
              <a:srgbClr val="C00000"/>
            </a:solidFill>
            <a:prstDash val="sysDot"/>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黑体" pitchFamily="2" charset="-122"/>
            </a:endParaRPr>
          </a:p>
        </p:txBody>
      </p:sp>
      <p:sp>
        <p:nvSpPr>
          <p:cNvPr id="565273" name="Line 25"/>
          <p:cNvSpPr>
            <a:spLocks noChangeShapeType="1"/>
          </p:cNvSpPr>
          <p:nvPr/>
        </p:nvSpPr>
        <p:spPr bwMode="auto">
          <a:xfrm flipH="1">
            <a:off x="1363620" y="1306514"/>
            <a:ext cx="2246048" cy="1006475"/>
          </a:xfrm>
          <a:prstGeom prst="line">
            <a:avLst/>
          </a:prstGeom>
          <a:noFill/>
          <a:ln w="57150">
            <a:solidFill>
              <a:srgbClr val="C00000"/>
            </a:solidFill>
            <a:prstDash val="sysDot"/>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黑体" pitchFamily="2" charset="-122"/>
            </a:endParaRPr>
          </a:p>
        </p:txBody>
      </p:sp>
      <p:sp>
        <p:nvSpPr>
          <p:cNvPr id="565274" name="Line 26"/>
          <p:cNvSpPr>
            <a:spLocks noChangeShapeType="1"/>
          </p:cNvSpPr>
          <p:nvPr/>
        </p:nvSpPr>
        <p:spPr bwMode="auto">
          <a:xfrm>
            <a:off x="1829684" y="2563814"/>
            <a:ext cx="1864254" cy="1195387"/>
          </a:xfrm>
          <a:prstGeom prst="line">
            <a:avLst/>
          </a:prstGeom>
          <a:noFill/>
          <a:ln w="57150">
            <a:solidFill>
              <a:srgbClr val="C00000"/>
            </a:solidFill>
            <a:prstDash val="sysDot"/>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黑体" pitchFamily="2" charset="-122"/>
            </a:endParaRPr>
          </a:p>
        </p:txBody>
      </p:sp>
      <p:sp>
        <p:nvSpPr>
          <p:cNvPr id="565275" name="Line 27"/>
          <p:cNvSpPr>
            <a:spLocks noChangeShapeType="1"/>
          </p:cNvSpPr>
          <p:nvPr/>
        </p:nvSpPr>
        <p:spPr bwMode="auto">
          <a:xfrm>
            <a:off x="6658859" y="4010025"/>
            <a:ext cx="0" cy="1257300"/>
          </a:xfrm>
          <a:prstGeom prst="line">
            <a:avLst/>
          </a:prstGeom>
          <a:noFill/>
          <a:ln w="57150">
            <a:solidFill>
              <a:srgbClr val="C00000"/>
            </a:solidFill>
            <a:prstDash val="sysDot"/>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黑体" pitchFamily="2" charset="-122"/>
            </a:endParaRPr>
          </a:p>
        </p:txBody>
      </p:sp>
      <p:sp>
        <p:nvSpPr>
          <p:cNvPr id="565276" name="Freeform 28"/>
          <p:cNvSpPr>
            <a:spLocks/>
          </p:cNvSpPr>
          <p:nvPr/>
        </p:nvSpPr>
        <p:spPr bwMode="auto">
          <a:xfrm>
            <a:off x="7133522" y="5386388"/>
            <a:ext cx="1203854" cy="6350"/>
          </a:xfrm>
          <a:custGeom>
            <a:avLst/>
            <a:gdLst>
              <a:gd name="T0" fmla="*/ 0 w 682"/>
              <a:gd name="T1" fmla="*/ 5 h 5"/>
              <a:gd name="T2" fmla="*/ 682 w 682"/>
              <a:gd name="T3" fmla="*/ 0 h 5"/>
            </a:gdLst>
            <a:ahLst/>
            <a:cxnLst>
              <a:cxn ang="0">
                <a:pos x="T0" y="T1"/>
              </a:cxn>
              <a:cxn ang="0">
                <a:pos x="T2" y="T3"/>
              </a:cxn>
            </a:cxnLst>
            <a:rect l="0" t="0" r="r" b="b"/>
            <a:pathLst>
              <a:path w="682" h="5">
                <a:moveTo>
                  <a:pt x="0" y="5"/>
                </a:moveTo>
                <a:lnTo>
                  <a:pt x="682" y="0"/>
                </a:lnTo>
              </a:path>
            </a:pathLst>
          </a:custGeom>
          <a:noFill/>
          <a:ln w="57150" cmpd="sng">
            <a:solidFill>
              <a:srgbClr val="C00000"/>
            </a:solidFill>
            <a:prstDash val="sysDot"/>
            <a:round/>
            <a:headEnd/>
            <a:tailEnd type="triangle" w="med"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黑体" pitchFamily="2" charset="-122"/>
            </a:endParaRPr>
          </a:p>
        </p:txBody>
      </p:sp>
      <p:sp>
        <p:nvSpPr>
          <p:cNvPr id="565277" name="Line 29"/>
          <p:cNvSpPr>
            <a:spLocks noChangeShapeType="1"/>
          </p:cNvSpPr>
          <p:nvPr/>
        </p:nvSpPr>
        <p:spPr bwMode="auto">
          <a:xfrm>
            <a:off x="1554517" y="2563814"/>
            <a:ext cx="0" cy="2327275"/>
          </a:xfrm>
          <a:prstGeom prst="line">
            <a:avLst/>
          </a:prstGeom>
          <a:noFill/>
          <a:ln w="19050">
            <a:solidFill>
              <a:srgbClr val="FF00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黑体" pitchFamily="2" charset="-122"/>
            </a:endParaRPr>
          </a:p>
        </p:txBody>
      </p:sp>
      <p:sp>
        <p:nvSpPr>
          <p:cNvPr id="565278" name="Line 30"/>
          <p:cNvSpPr>
            <a:spLocks noChangeShapeType="1"/>
          </p:cNvSpPr>
          <p:nvPr/>
        </p:nvSpPr>
        <p:spPr bwMode="auto">
          <a:xfrm>
            <a:off x="4032737" y="5141914"/>
            <a:ext cx="0" cy="1195387"/>
          </a:xfrm>
          <a:prstGeom prst="line">
            <a:avLst/>
          </a:prstGeom>
          <a:noFill/>
          <a:ln w="19050">
            <a:solidFill>
              <a:srgbClr val="FF00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黑体" pitchFamily="2" charset="-122"/>
            </a:endParaRPr>
          </a:p>
        </p:txBody>
      </p:sp>
      <p:sp>
        <p:nvSpPr>
          <p:cNvPr id="565279" name="Line 31"/>
          <p:cNvSpPr>
            <a:spLocks noChangeShapeType="1"/>
          </p:cNvSpPr>
          <p:nvPr/>
        </p:nvSpPr>
        <p:spPr bwMode="auto">
          <a:xfrm rot="-5400000">
            <a:off x="2864205" y="4319192"/>
            <a:ext cx="1587" cy="1393031"/>
          </a:xfrm>
          <a:prstGeom prst="line">
            <a:avLst/>
          </a:prstGeom>
          <a:noFill/>
          <a:ln w="19050">
            <a:solidFill>
              <a:srgbClr val="FF00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黑体" pitchFamily="2" charset="-122"/>
            </a:endParaRPr>
          </a:p>
        </p:txBody>
      </p:sp>
      <p:sp>
        <p:nvSpPr>
          <p:cNvPr id="565281" name="Line 33"/>
          <p:cNvSpPr>
            <a:spLocks noChangeShapeType="1"/>
          </p:cNvSpPr>
          <p:nvPr/>
        </p:nvSpPr>
        <p:spPr bwMode="auto">
          <a:xfrm rot="5400000" flipH="1">
            <a:off x="4070572" y="529300"/>
            <a:ext cx="0" cy="3821377"/>
          </a:xfrm>
          <a:prstGeom prst="line">
            <a:avLst/>
          </a:prstGeom>
          <a:noFill/>
          <a:ln w="19050">
            <a:solidFill>
              <a:srgbClr val="FF00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黑体" pitchFamily="2" charset="-122"/>
            </a:endParaRPr>
          </a:p>
        </p:txBody>
      </p:sp>
      <p:sp>
        <p:nvSpPr>
          <p:cNvPr id="565282" name="Line 34"/>
          <p:cNvSpPr>
            <a:spLocks noChangeShapeType="1"/>
          </p:cNvSpPr>
          <p:nvPr/>
        </p:nvSpPr>
        <p:spPr bwMode="auto">
          <a:xfrm rot="-5400000">
            <a:off x="2184357" y="882915"/>
            <a:ext cx="876300" cy="1974321"/>
          </a:xfrm>
          <a:prstGeom prst="line">
            <a:avLst/>
          </a:prstGeom>
          <a:noFill/>
          <a:ln w="19050">
            <a:solidFill>
              <a:srgbClr val="FF00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黑体" pitchFamily="2" charset="-122"/>
            </a:endParaRPr>
          </a:p>
        </p:txBody>
      </p:sp>
      <p:sp>
        <p:nvSpPr>
          <p:cNvPr id="565283" name="Line 35"/>
          <p:cNvSpPr>
            <a:spLocks noChangeShapeType="1"/>
          </p:cNvSpPr>
          <p:nvPr/>
        </p:nvSpPr>
        <p:spPr bwMode="auto">
          <a:xfrm>
            <a:off x="1915674" y="5141914"/>
            <a:ext cx="1693994" cy="1195387"/>
          </a:xfrm>
          <a:prstGeom prst="line">
            <a:avLst/>
          </a:prstGeom>
          <a:noFill/>
          <a:ln w="19050">
            <a:solidFill>
              <a:srgbClr val="FF00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黑体" pitchFamily="2" charset="-122"/>
            </a:endParaRPr>
          </a:p>
        </p:txBody>
      </p:sp>
      <p:sp>
        <p:nvSpPr>
          <p:cNvPr id="565284" name="Freeform 36"/>
          <p:cNvSpPr>
            <a:spLocks/>
          </p:cNvSpPr>
          <p:nvPr/>
        </p:nvSpPr>
        <p:spPr bwMode="auto">
          <a:xfrm>
            <a:off x="4455805" y="1368425"/>
            <a:ext cx="1666479" cy="933450"/>
          </a:xfrm>
          <a:custGeom>
            <a:avLst/>
            <a:gdLst>
              <a:gd name="T0" fmla="*/ 0 w 944"/>
              <a:gd name="T1" fmla="*/ 0 h 712"/>
              <a:gd name="T2" fmla="*/ 944 w 944"/>
              <a:gd name="T3" fmla="*/ 712 h 712"/>
            </a:gdLst>
            <a:ahLst/>
            <a:cxnLst>
              <a:cxn ang="0">
                <a:pos x="T0" y="T1"/>
              </a:cxn>
              <a:cxn ang="0">
                <a:pos x="T2" y="T3"/>
              </a:cxn>
            </a:cxnLst>
            <a:rect l="0" t="0" r="r" b="b"/>
            <a:pathLst>
              <a:path w="944" h="712">
                <a:moveTo>
                  <a:pt x="0" y="0"/>
                </a:moveTo>
                <a:lnTo>
                  <a:pt x="944" y="712"/>
                </a:lnTo>
              </a:path>
            </a:pathLst>
          </a:custGeom>
          <a:noFill/>
          <a:ln w="19050">
            <a:solidFill>
              <a:srgbClr val="FF0000"/>
            </a:solidFill>
            <a:round/>
            <a:headEnd/>
            <a:tailEnd type="triangl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黑体" pitchFamily="2" charset="-122"/>
            </a:endParaRPr>
          </a:p>
        </p:txBody>
      </p:sp>
      <p:sp>
        <p:nvSpPr>
          <p:cNvPr id="565285" name="Text Box 37"/>
          <p:cNvSpPr txBox="1">
            <a:spLocks noChangeArrowheads="1"/>
          </p:cNvSpPr>
          <p:nvPr/>
        </p:nvSpPr>
        <p:spPr bwMode="auto">
          <a:xfrm>
            <a:off x="6086168" y="2554289"/>
            <a:ext cx="90281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a:latin typeface="+mn-lt"/>
                <a:ea typeface="黑体" pitchFamily="2" charset="-122"/>
              </a:rPr>
              <a:t>主动打开</a:t>
            </a:r>
          </a:p>
        </p:txBody>
      </p:sp>
      <p:sp>
        <p:nvSpPr>
          <p:cNvPr id="565286" name="Text Box 38"/>
          <p:cNvSpPr txBox="1">
            <a:spLocks noChangeArrowheads="1"/>
          </p:cNvSpPr>
          <p:nvPr/>
        </p:nvSpPr>
        <p:spPr bwMode="auto">
          <a:xfrm>
            <a:off x="3568393" y="1495425"/>
            <a:ext cx="90281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a:latin typeface="+mn-lt"/>
                <a:ea typeface="黑体" pitchFamily="2" charset="-122"/>
              </a:rPr>
              <a:t>被动打开</a:t>
            </a:r>
          </a:p>
        </p:txBody>
      </p:sp>
      <p:sp>
        <p:nvSpPr>
          <p:cNvPr id="565287" name="Text Box 39"/>
          <p:cNvSpPr txBox="1">
            <a:spLocks noChangeArrowheads="1"/>
          </p:cNvSpPr>
          <p:nvPr/>
        </p:nvSpPr>
        <p:spPr bwMode="auto">
          <a:xfrm>
            <a:off x="5981261" y="3359150"/>
            <a:ext cx="90281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a:latin typeface="+mn-lt"/>
                <a:ea typeface="黑体" pitchFamily="2" charset="-122"/>
              </a:rPr>
              <a:t>被动关闭</a:t>
            </a:r>
          </a:p>
        </p:txBody>
      </p:sp>
      <p:sp>
        <p:nvSpPr>
          <p:cNvPr id="565288" name="Text Box 40"/>
          <p:cNvSpPr txBox="1">
            <a:spLocks noChangeArrowheads="1"/>
          </p:cNvSpPr>
          <p:nvPr/>
        </p:nvSpPr>
        <p:spPr bwMode="auto">
          <a:xfrm>
            <a:off x="3461766" y="4260850"/>
            <a:ext cx="90281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a:latin typeface="+mn-lt"/>
                <a:ea typeface="黑体" pitchFamily="2" charset="-122"/>
              </a:rPr>
              <a:t>主动关闭</a:t>
            </a:r>
          </a:p>
        </p:txBody>
      </p:sp>
      <p:sp>
        <p:nvSpPr>
          <p:cNvPr id="565289" name="Text Box 41"/>
          <p:cNvSpPr txBox="1">
            <a:spLocks noChangeArrowheads="1"/>
          </p:cNvSpPr>
          <p:nvPr/>
        </p:nvSpPr>
        <p:spPr bwMode="auto">
          <a:xfrm>
            <a:off x="3767889" y="-26988"/>
            <a:ext cx="543739"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a:latin typeface="+mn-lt"/>
                <a:ea typeface="黑体" pitchFamily="2" charset="-122"/>
              </a:rPr>
              <a:t>起点</a:t>
            </a:r>
          </a:p>
        </p:txBody>
      </p:sp>
      <p:sp>
        <p:nvSpPr>
          <p:cNvPr id="565290" name="Text Box 42"/>
          <p:cNvSpPr txBox="1">
            <a:spLocks noChangeArrowheads="1"/>
          </p:cNvSpPr>
          <p:nvPr/>
        </p:nvSpPr>
        <p:spPr bwMode="auto">
          <a:xfrm>
            <a:off x="2844361" y="592139"/>
            <a:ext cx="90281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a:latin typeface="+mn-lt"/>
                <a:ea typeface="黑体" pitchFamily="2" charset="-122"/>
              </a:rPr>
              <a:t>被动打开</a:t>
            </a:r>
          </a:p>
        </p:txBody>
      </p:sp>
      <p:sp>
        <p:nvSpPr>
          <p:cNvPr id="565291" name="Text Box 43"/>
          <p:cNvSpPr txBox="1">
            <a:spLocks noChangeArrowheads="1"/>
          </p:cNvSpPr>
          <p:nvPr/>
        </p:nvSpPr>
        <p:spPr bwMode="auto">
          <a:xfrm>
            <a:off x="5043974" y="717550"/>
            <a:ext cx="108234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a:latin typeface="+mn-lt"/>
                <a:ea typeface="黑体" pitchFamily="2" charset="-122"/>
              </a:rPr>
              <a:t>主动打开</a:t>
            </a:r>
          </a:p>
          <a:p>
            <a:r>
              <a:rPr kumimoji="1" lang="zh-CN" altLang="en-US" sz="1400" b="1">
                <a:latin typeface="+mn-lt"/>
                <a:ea typeface="黑体" pitchFamily="2" charset="-122"/>
              </a:rPr>
              <a:t>  发送 </a:t>
            </a:r>
            <a:r>
              <a:rPr kumimoji="1" lang="en-US" altLang="zh-CN" sz="1400" b="1">
                <a:latin typeface="+mn-lt"/>
                <a:ea typeface="黑体" pitchFamily="2" charset="-122"/>
              </a:rPr>
              <a:t>SYN</a:t>
            </a:r>
          </a:p>
        </p:txBody>
      </p:sp>
      <p:sp>
        <p:nvSpPr>
          <p:cNvPr id="565292" name="Text Box 44"/>
          <p:cNvSpPr txBox="1">
            <a:spLocks noChangeArrowheads="1"/>
          </p:cNvSpPr>
          <p:nvPr/>
        </p:nvSpPr>
        <p:spPr bwMode="auto">
          <a:xfrm>
            <a:off x="3609668" y="2438400"/>
            <a:ext cx="90281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a:latin typeface="+mn-lt"/>
                <a:ea typeface="黑体" pitchFamily="2" charset="-122"/>
              </a:rPr>
              <a:t>同时打开</a:t>
            </a:r>
          </a:p>
        </p:txBody>
      </p:sp>
      <p:sp>
        <p:nvSpPr>
          <p:cNvPr id="565293" name="Text Box 45"/>
          <p:cNvSpPr txBox="1">
            <a:spLocks noChangeArrowheads="1"/>
          </p:cNvSpPr>
          <p:nvPr/>
        </p:nvSpPr>
        <p:spPr bwMode="auto">
          <a:xfrm>
            <a:off x="2835761" y="2200275"/>
            <a:ext cx="2534412"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latin typeface="+mn-lt"/>
                <a:ea typeface="黑体" pitchFamily="2" charset="-122"/>
              </a:rPr>
              <a:t>收到 </a:t>
            </a:r>
            <a:r>
              <a:rPr kumimoji="1" lang="en-US" altLang="zh-CN" sz="1400" b="1" dirty="0">
                <a:latin typeface="+mn-lt"/>
                <a:ea typeface="黑体" pitchFamily="2" charset="-122"/>
              </a:rPr>
              <a:t>SYN</a:t>
            </a:r>
            <a:r>
              <a:rPr kumimoji="1" lang="zh-CN" altLang="en-US" sz="1400" b="1" dirty="0">
                <a:latin typeface="+mn-lt"/>
                <a:ea typeface="黑体" pitchFamily="2" charset="-122"/>
              </a:rPr>
              <a:t>，发送 </a:t>
            </a:r>
            <a:r>
              <a:rPr kumimoji="1" lang="en-US" altLang="zh-CN" sz="1400" b="1" dirty="0">
                <a:latin typeface="+mn-lt"/>
                <a:ea typeface="黑体" pitchFamily="2" charset="-122"/>
              </a:rPr>
              <a:t>SYN</a:t>
            </a:r>
            <a:r>
              <a:rPr kumimoji="1" lang="zh-CN" altLang="en-US" sz="1400" b="1" dirty="0">
                <a:latin typeface="+mn-lt"/>
                <a:ea typeface="黑体" pitchFamily="2" charset="-122"/>
              </a:rPr>
              <a:t>，</a:t>
            </a:r>
            <a:r>
              <a:rPr kumimoji="1" lang="en-US" altLang="zh-CN" sz="1400" b="1" dirty="0">
                <a:latin typeface="+mn-lt"/>
                <a:ea typeface="黑体" pitchFamily="2" charset="-122"/>
              </a:rPr>
              <a:t> ACK</a:t>
            </a:r>
          </a:p>
        </p:txBody>
      </p:sp>
      <p:sp>
        <p:nvSpPr>
          <p:cNvPr id="565294" name="Text Box 46"/>
          <p:cNvSpPr txBox="1">
            <a:spLocks noChangeArrowheads="1"/>
          </p:cNvSpPr>
          <p:nvPr/>
        </p:nvSpPr>
        <p:spPr bwMode="auto">
          <a:xfrm>
            <a:off x="2309505" y="2670175"/>
            <a:ext cx="976293"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a:latin typeface="+mn-lt"/>
                <a:ea typeface="黑体" pitchFamily="2" charset="-122"/>
              </a:rPr>
              <a:t>收到 </a:t>
            </a:r>
            <a:r>
              <a:rPr kumimoji="1" lang="en-US" altLang="zh-CN" sz="1400" b="1">
                <a:latin typeface="+mn-lt"/>
                <a:ea typeface="黑体" pitchFamily="2" charset="-122"/>
              </a:rPr>
              <a:t>ACK</a:t>
            </a:r>
          </a:p>
        </p:txBody>
      </p:sp>
      <p:sp>
        <p:nvSpPr>
          <p:cNvPr id="565295" name="Text Box 47"/>
          <p:cNvSpPr txBox="1">
            <a:spLocks noChangeArrowheads="1"/>
          </p:cNvSpPr>
          <p:nvPr/>
        </p:nvSpPr>
        <p:spPr bwMode="auto">
          <a:xfrm>
            <a:off x="3484123" y="3284984"/>
            <a:ext cx="90281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solidFill>
                  <a:srgbClr val="FF0000"/>
                </a:solidFill>
                <a:latin typeface="+mn-lt"/>
                <a:ea typeface="黑体" pitchFamily="2" charset="-122"/>
              </a:rPr>
              <a:t>数据传送</a:t>
            </a:r>
          </a:p>
          <a:p>
            <a:r>
              <a:rPr kumimoji="1" lang="zh-CN" altLang="en-US" sz="1400" b="1" dirty="0">
                <a:solidFill>
                  <a:srgbClr val="FF0000"/>
                </a:solidFill>
                <a:latin typeface="+mn-lt"/>
                <a:ea typeface="黑体" pitchFamily="2" charset="-122"/>
              </a:rPr>
              <a:t>    阶段</a:t>
            </a:r>
          </a:p>
        </p:txBody>
      </p:sp>
      <p:sp>
        <p:nvSpPr>
          <p:cNvPr id="565296" name="Text Box 48"/>
          <p:cNvSpPr txBox="1">
            <a:spLocks noChangeArrowheads="1"/>
          </p:cNvSpPr>
          <p:nvPr/>
        </p:nvSpPr>
        <p:spPr bwMode="auto">
          <a:xfrm>
            <a:off x="5702655" y="4314826"/>
            <a:ext cx="898003"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a:latin typeface="+mn-lt"/>
                <a:ea typeface="黑体" pitchFamily="2" charset="-122"/>
              </a:rPr>
              <a:t>   </a:t>
            </a:r>
            <a:r>
              <a:rPr kumimoji="1" lang="zh-CN" altLang="en-US" sz="1400" b="1">
                <a:latin typeface="+mn-lt"/>
                <a:ea typeface="黑体" pitchFamily="2" charset="-122"/>
              </a:rPr>
              <a:t>关闭</a:t>
            </a:r>
          </a:p>
          <a:p>
            <a:r>
              <a:rPr kumimoji="1" lang="zh-CN" altLang="en-US" sz="1400" b="1">
                <a:latin typeface="+mn-lt"/>
                <a:ea typeface="黑体" pitchFamily="2" charset="-122"/>
              </a:rPr>
              <a:t>发送 </a:t>
            </a:r>
            <a:r>
              <a:rPr kumimoji="1" lang="en-US" altLang="zh-CN" sz="1400" b="1">
                <a:latin typeface="+mn-lt"/>
                <a:ea typeface="黑体" pitchFamily="2" charset="-122"/>
              </a:rPr>
              <a:t>FIN</a:t>
            </a:r>
          </a:p>
        </p:txBody>
      </p:sp>
      <p:sp>
        <p:nvSpPr>
          <p:cNvPr id="565297" name="Text Box 49"/>
          <p:cNvSpPr txBox="1">
            <a:spLocks noChangeArrowheads="1"/>
          </p:cNvSpPr>
          <p:nvPr/>
        </p:nvSpPr>
        <p:spPr bwMode="auto">
          <a:xfrm>
            <a:off x="1963828" y="3933826"/>
            <a:ext cx="898003"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a:latin typeface="+mn-lt"/>
                <a:ea typeface="黑体" pitchFamily="2" charset="-122"/>
              </a:rPr>
              <a:t>   </a:t>
            </a:r>
            <a:r>
              <a:rPr kumimoji="1" lang="zh-CN" altLang="en-US" sz="1400" b="1">
                <a:latin typeface="+mn-lt"/>
                <a:ea typeface="黑体" pitchFamily="2" charset="-122"/>
              </a:rPr>
              <a:t>关闭</a:t>
            </a:r>
          </a:p>
          <a:p>
            <a:r>
              <a:rPr kumimoji="1" lang="zh-CN" altLang="en-US" sz="1400" b="1">
                <a:latin typeface="+mn-lt"/>
                <a:ea typeface="黑体" pitchFamily="2" charset="-122"/>
              </a:rPr>
              <a:t>发送 </a:t>
            </a:r>
            <a:r>
              <a:rPr kumimoji="1" lang="en-US" altLang="zh-CN" sz="1400" b="1">
                <a:latin typeface="+mn-lt"/>
                <a:ea typeface="黑体" pitchFamily="2" charset="-122"/>
              </a:rPr>
              <a:t>FIN</a:t>
            </a:r>
          </a:p>
        </p:txBody>
      </p:sp>
      <p:sp>
        <p:nvSpPr>
          <p:cNvPr id="565298" name="Text Box 50"/>
          <p:cNvSpPr txBox="1">
            <a:spLocks noChangeArrowheads="1"/>
          </p:cNvSpPr>
          <p:nvPr/>
        </p:nvSpPr>
        <p:spPr bwMode="auto">
          <a:xfrm>
            <a:off x="1506363" y="3429001"/>
            <a:ext cx="898003"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a:latin typeface="+mn-lt"/>
                <a:ea typeface="黑体" pitchFamily="2" charset="-122"/>
              </a:rPr>
              <a:t>   </a:t>
            </a:r>
            <a:r>
              <a:rPr kumimoji="1" lang="zh-CN" altLang="en-US" sz="1400" b="1">
                <a:latin typeface="+mn-lt"/>
                <a:ea typeface="黑体" pitchFamily="2" charset="-122"/>
              </a:rPr>
              <a:t>关闭</a:t>
            </a:r>
          </a:p>
          <a:p>
            <a:r>
              <a:rPr kumimoji="1" lang="zh-CN" altLang="en-US" sz="1400" b="1">
                <a:latin typeface="+mn-lt"/>
                <a:ea typeface="黑体" pitchFamily="2" charset="-122"/>
              </a:rPr>
              <a:t>发送 </a:t>
            </a:r>
            <a:r>
              <a:rPr kumimoji="1" lang="en-US" altLang="zh-CN" sz="1400" b="1">
                <a:latin typeface="+mn-lt"/>
                <a:ea typeface="黑体" pitchFamily="2" charset="-122"/>
              </a:rPr>
              <a:t>FIN</a:t>
            </a:r>
          </a:p>
        </p:txBody>
      </p:sp>
      <p:sp>
        <p:nvSpPr>
          <p:cNvPr id="565299" name="Text Box 51"/>
          <p:cNvSpPr txBox="1">
            <a:spLocks noChangeArrowheads="1"/>
          </p:cNvSpPr>
          <p:nvPr/>
        </p:nvSpPr>
        <p:spPr bwMode="auto">
          <a:xfrm>
            <a:off x="2591551" y="1787525"/>
            <a:ext cx="95250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a:latin typeface="+mn-lt"/>
                <a:ea typeface="黑体" pitchFamily="2" charset="-122"/>
              </a:rPr>
              <a:t>收到 </a:t>
            </a:r>
            <a:r>
              <a:rPr kumimoji="1" lang="en-US" altLang="zh-CN" sz="1400" b="1">
                <a:latin typeface="+mn-lt"/>
                <a:ea typeface="黑体" pitchFamily="2" charset="-122"/>
              </a:rPr>
              <a:t>RST</a:t>
            </a:r>
          </a:p>
        </p:txBody>
      </p:sp>
      <p:sp>
        <p:nvSpPr>
          <p:cNvPr id="565300" name="Text Box 52"/>
          <p:cNvSpPr txBox="1">
            <a:spLocks noChangeArrowheads="1"/>
          </p:cNvSpPr>
          <p:nvPr/>
        </p:nvSpPr>
        <p:spPr bwMode="auto">
          <a:xfrm>
            <a:off x="1272472" y="1243014"/>
            <a:ext cx="1445973"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a:latin typeface="+mn-lt"/>
                <a:ea typeface="黑体" pitchFamily="2" charset="-122"/>
              </a:rPr>
              <a:t>         </a:t>
            </a:r>
            <a:r>
              <a:rPr kumimoji="1" lang="zh-CN" altLang="en-US" sz="1400" b="1">
                <a:latin typeface="+mn-lt"/>
                <a:ea typeface="黑体" pitchFamily="2" charset="-122"/>
              </a:rPr>
              <a:t>收到 </a:t>
            </a:r>
            <a:r>
              <a:rPr kumimoji="1" lang="en-US" altLang="zh-CN" sz="1400" b="1">
                <a:latin typeface="+mn-lt"/>
                <a:ea typeface="黑体" pitchFamily="2" charset="-122"/>
              </a:rPr>
              <a:t>SYN</a:t>
            </a:r>
          </a:p>
          <a:p>
            <a:r>
              <a:rPr kumimoji="1" lang="zh-CN" altLang="en-US" sz="1400" b="1">
                <a:latin typeface="+mn-lt"/>
                <a:ea typeface="黑体" pitchFamily="2" charset="-122"/>
              </a:rPr>
              <a:t>发送 </a:t>
            </a:r>
            <a:r>
              <a:rPr kumimoji="1" lang="en-US" altLang="zh-CN" sz="1400" b="1">
                <a:latin typeface="+mn-lt"/>
                <a:ea typeface="黑体" pitchFamily="2" charset="-122"/>
              </a:rPr>
              <a:t>SYN, ACK</a:t>
            </a:r>
          </a:p>
        </p:txBody>
      </p:sp>
      <p:sp>
        <p:nvSpPr>
          <p:cNvPr id="565301" name="Text Box 53"/>
          <p:cNvSpPr txBox="1">
            <a:spLocks noChangeArrowheads="1"/>
          </p:cNvSpPr>
          <p:nvPr/>
        </p:nvSpPr>
        <p:spPr bwMode="auto">
          <a:xfrm>
            <a:off x="7222951" y="1916114"/>
            <a:ext cx="723275"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a:latin typeface="+mn-lt"/>
                <a:ea typeface="黑体" pitchFamily="2" charset="-122"/>
              </a:rPr>
              <a:t>  </a:t>
            </a:r>
            <a:r>
              <a:rPr kumimoji="1" lang="zh-CN" altLang="en-US" sz="1400" b="1">
                <a:latin typeface="+mn-lt"/>
                <a:ea typeface="黑体" pitchFamily="2" charset="-122"/>
              </a:rPr>
              <a:t>关闭</a:t>
            </a:r>
          </a:p>
          <a:p>
            <a:r>
              <a:rPr kumimoji="1" lang="zh-CN" altLang="en-US" sz="1400" b="1">
                <a:latin typeface="+mn-lt"/>
                <a:ea typeface="黑体" pitchFamily="2" charset="-122"/>
              </a:rPr>
              <a:t>或超时</a:t>
            </a:r>
          </a:p>
        </p:txBody>
      </p:sp>
      <p:sp>
        <p:nvSpPr>
          <p:cNvPr id="565302" name="Text Box 54"/>
          <p:cNvSpPr txBox="1">
            <a:spLocks noChangeArrowheads="1"/>
          </p:cNvSpPr>
          <p:nvPr/>
        </p:nvSpPr>
        <p:spPr bwMode="auto">
          <a:xfrm>
            <a:off x="7248747" y="5013325"/>
            <a:ext cx="976293"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a:latin typeface="+mn-lt"/>
                <a:ea typeface="黑体" pitchFamily="2" charset="-122"/>
              </a:rPr>
              <a:t>收到 </a:t>
            </a:r>
            <a:r>
              <a:rPr kumimoji="1" lang="en-US" altLang="zh-CN" sz="1400" b="1">
                <a:latin typeface="+mn-lt"/>
                <a:ea typeface="黑体" pitchFamily="2" charset="-122"/>
              </a:rPr>
              <a:t>ACK</a:t>
            </a:r>
          </a:p>
        </p:txBody>
      </p:sp>
      <p:sp>
        <p:nvSpPr>
          <p:cNvPr id="565303" name="Text Box 55"/>
          <p:cNvSpPr txBox="1">
            <a:spLocks noChangeArrowheads="1"/>
          </p:cNvSpPr>
          <p:nvPr/>
        </p:nvSpPr>
        <p:spPr bwMode="auto">
          <a:xfrm>
            <a:off x="5344939" y="2846389"/>
            <a:ext cx="169443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a:latin typeface="+mn-lt"/>
                <a:ea typeface="黑体" pitchFamily="2" charset="-122"/>
              </a:rPr>
              <a:t>     </a:t>
            </a:r>
            <a:r>
              <a:rPr kumimoji="1" lang="zh-CN" altLang="en-US" sz="1400" b="1">
                <a:latin typeface="+mn-lt"/>
                <a:ea typeface="黑体" pitchFamily="2" charset="-122"/>
              </a:rPr>
              <a:t>收到 </a:t>
            </a:r>
            <a:r>
              <a:rPr kumimoji="1" lang="en-US" altLang="zh-CN" sz="1400" b="1">
                <a:latin typeface="+mn-lt"/>
                <a:ea typeface="黑体" pitchFamily="2" charset="-122"/>
              </a:rPr>
              <a:t>SYN, ACK</a:t>
            </a:r>
          </a:p>
          <a:p>
            <a:r>
              <a:rPr kumimoji="1" lang="zh-CN" altLang="en-US" sz="1400" b="1">
                <a:latin typeface="+mn-lt"/>
                <a:ea typeface="黑体" pitchFamily="2" charset="-122"/>
              </a:rPr>
              <a:t>发送 </a:t>
            </a:r>
            <a:r>
              <a:rPr kumimoji="1" lang="en-US" altLang="zh-CN" sz="1400" b="1">
                <a:latin typeface="+mn-lt"/>
                <a:ea typeface="黑体" pitchFamily="2" charset="-122"/>
              </a:rPr>
              <a:t>ACK</a:t>
            </a:r>
          </a:p>
        </p:txBody>
      </p:sp>
      <p:sp>
        <p:nvSpPr>
          <p:cNvPr id="565304" name="Text Box 56"/>
          <p:cNvSpPr txBox="1">
            <a:spLocks noChangeArrowheads="1"/>
          </p:cNvSpPr>
          <p:nvPr/>
        </p:nvSpPr>
        <p:spPr bwMode="auto">
          <a:xfrm>
            <a:off x="4000062" y="5549900"/>
            <a:ext cx="976293"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a:latin typeface="+mn-lt"/>
                <a:ea typeface="黑体" pitchFamily="2" charset="-122"/>
              </a:rPr>
              <a:t>收到 </a:t>
            </a:r>
            <a:r>
              <a:rPr kumimoji="1" lang="en-US" altLang="zh-CN" sz="1400" b="1">
                <a:latin typeface="+mn-lt"/>
                <a:ea typeface="黑体" pitchFamily="2" charset="-122"/>
              </a:rPr>
              <a:t>ACK</a:t>
            </a:r>
          </a:p>
        </p:txBody>
      </p:sp>
      <p:sp>
        <p:nvSpPr>
          <p:cNvPr id="565305" name="Text Box 57"/>
          <p:cNvSpPr txBox="1">
            <a:spLocks noChangeArrowheads="1"/>
          </p:cNvSpPr>
          <p:nvPr/>
        </p:nvSpPr>
        <p:spPr bwMode="auto">
          <a:xfrm>
            <a:off x="1525280" y="5624514"/>
            <a:ext cx="976293"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a:latin typeface="+mn-lt"/>
                <a:ea typeface="黑体" pitchFamily="2" charset="-122"/>
              </a:rPr>
              <a:t>收到 </a:t>
            </a:r>
            <a:r>
              <a:rPr kumimoji="1" lang="en-US" altLang="zh-CN" sz="1400" b="1">
                <a:latin typeface="+mn-lt"/>
                <a:ea typeface="黑体" pitchFamily="2" charset="-122"/>
              </a:rPr>
              <a:t>ACK</a:t>
            </a:r>
          </a:p>
        </p:txBody>
      </p:sp>
      <p:sp>
        <p:nvSpPr>
          <p:cNvPr id="565306" name="Text Box 58"/>
          <p:cNvSpPr txBox="1">
            <a:spLocks noChangeArrowheads="1"/>
          </p:cNvSpPr>
          <p:nvPr/>
        </p:nvSpPr>
        <p:spPr bwMode="auto">
          <a:xfrm>
            <a:off x="2178801" y="5949951"/>
            <a:ext cx="976293"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a:latin typeface="+mn-lt"/>
                <a:ea typeface="黑体" pitchFamily="2" charset="-122"/>
              </a:rPr>
              <a:t>收到 </a:t>
            </a:r>
            <a:r>
              <a:rPr kumimoji="1" lang="en-US" altLang="zh-CN" sz="1400" b="1">
                <a:latin typeface="+mn-lt"/>
                <a:ea typeface="黑体" pitchFamily="2" charset="-122"/>
              </a:rPr>
              <a:t>FIN</a:t>
            </a:r>
          </a:p>
          <a:p>
            <a:r>
              <a:rPr kumimoji="1" lang="zh-CN" altLang="en-US" sz="1400" b="1">
                <a:latin typeface="+mn-lt"/>
                <a:ea typeface="黑体" pitchFamily="2" charset="-122"/>
              </a:rPr>
              <a:t>发送 </a:t>
            </a:r>
            <a:r>
              <a:rPr kumimoji="1" lang="en-US" altLang="zh-CN" sz="1400" b="1">
                <a:latin typeface="+mn-lt"/>
                <a:ea typeface="黑体" pitchFamily="2" charset="-122"/>
              </a:rPr>
              <a:t>ACK</a:t>
            </a:r>
          </a:p>
        </p:txBody>
      </p:sp>
      <p:sp>
        <p:nvSpPr>
          <p:cNvPr id="565307" name="Text Box 59"/>
          <p:cNvSpPr txBox="1">
            <a:spLocks noChangeArrowheads="1"/>
          </p:cNvSpPr>
          <p:nvPr/>
        </p:nvSpPr>
        <p:spPr bwMode="auto">
          <a:xfrm>
            <a:off x="2366260" y="5310188"/>
            <a:ext cx="1377044"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a:latin typeface="+mn-lt"/>
                <a:ea typeface="黑体" pitchFamily="2" charset="-122"/>
              </a:rPr>
              <a:t>收到 </a:t>
            </a:r>
            <a:r>
              <a:rPr kumimoji="1" lang="en-US" altLang="zh-CN" sz="1400" b="1">
                <a:latin typeface="+mn-lt"/>
                <a:ea typeface="黑体" pitchFamily="2" charset="-122"/>
              </a:rPr>
              <a:t>FIN, ACK</a:t>
            </a:r>
          </a:p>
          <a:p>
            <a:r>
              <a:rPr kumimoji="1" lang="en-US" altLang="zh-CN" sz="1400" b="1">
                <a:latin typeface="+mn-lt"/>
                <a:ea typeface="黑体" pitchFamily="2" charset="-122"/>
              </a:rPr>
              <a:t>     </a:t>
            </a:r>
            <a:r>
              <a:rPr kumimoji="1" lang="zh-CN" altLang="en-US" sz="1400" b="1">
                <a:latin typeface="+mn-lt"/>
                <a:ea typeface="黑体" pitchFamily="2" charset="-122"/>
              </a:rPr>
              <a:t>发送 </a:t>
            </a:r>
            <a:r>
              <a:rPr kumimoji="1" lang="en-US" altLang="zh-CN" sz="1400" b="1">
                <a:latin typeface="+mn-lt"/>
                <a:ea typeface="黑体" pitchFamily="2" charset="-122"/>
              </a:rPr>
              <a:t>ACK</a:t>
            </a:r>
          </a:p>
        </p:txBody>
      </p:sp>
      <p:sp>
        <p:nvSpPr>
          <p:cNvPr id="565308" name="Text Box 60"/>
          <p:cNvSpPr txBox="1">
            <a:spLocks noChangeArrowheads="1"/>
          </p:cNvSpPr>
          <p:nvPr/>
        </p:nvSpPr>
        <p:spPr bwMode="auto">
          <a:xfrm>
            <a:off x="2421293" y="4581526"/>
            <a:ext cx="976293"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a:latin typeface="+mn-lt"/>
                <a:ea typeface="黑体" pitchFamily="2" charset="-122"/>
              </a:rPr>
              <a:t>收到 </a:t>
            </a:r>
            <a:r>
              <a:rPr kumimoji="1" lang="en-US" altLang="zh-CN" sz="1400" b="1">
                <a:latin typeface="+mn-lt"/>
                <a:ea typeface="黑体" pitchFamily="2" charset="-122"/>
              </a:rPr>
              <a:t>FIN</a:t>
            </a:r>
          </a:p>
          <a:p>
            <a:r>
              <a:rPr kumimoji="1" lang="zh-CN" altLang="en-US" sz="1400" b="1">
                <a:latin typeface="+mn-lt"/>
                <a:ea typeface="黑体" pitchFamily="2" charset="-122"/>
              </a:rPr>
              <a:t>发送 </a:t>
            </a:r>
            <a:r>
              <a:rPr kumimoji="1" lang="en-US" altLang="zh-CN" sz="1400" b="1">
                <a:latin typeface="+mn-lt"/>
                <a:ea typeface="黑体" pitchFamily="2" charset="-122"/>
              </a:rPr>
              <a:t>ACK</a:t>
            </a:r>
          </a:p>
        </p:txBody>
      </p:sp>
      <p:sp>
        <p:nvSpPr>
          <p:cNvPr id="565309" name="Text Box 61"/>
          <p:cNvSpPr txBox="1">
            <a:spLocks noChangeArrowheads="1"/>
          </p:cNvSpPr>
          <p:nvPr/>
        </p:nvSpPr>
        <p:spPr bwMode="auto">
          <a:xfrm>
            <a:off x="3533997" y="4630739"/>
            <a:ext cx="90281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a:latin typeface="+mn-lt"/>
                <a:ea typeface="黑体" pitchFamily="2" charset="-122"/>
              </a:rPr>
              <a:t>同时关闭</a:t>
            </a:r>
          </a:p>
        </p:txBody>
      </p:sp>
      <p:sp>
        <p:nvSpPr>
          <p:cNvPr id="565310" name="Text Box 62"/>
          <p:cNvSpPr txBox="1">
            <a:spLocks noChangeArrowheads="1"/>
          </p:cNvSpPr>
          <p:nvPr/>
        </p:nvSpPr>
        <p:spPr bwMode="auto">
          <a:xfrm>
            <a:off x="4710334" y="3357563"/>
            <a:ext cx="976293"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a:latin typeface="+mn-lt"/>
                <a:ea typeface="黑体" pitchFamily="2" charset="-122"/>
              </a:rPr>
              <a:t>收到 </a:t>
            </a:r>
            <a:r>
              <a:rPr kumimoji="1" lang="en-US" altLang="zh-CN" sz="1400" b="1">
                <a:latin typeface="+mn-lt"/>
                <a:ea typeface="黑体" pitchFamily="2" charset="-122"/>
              </a:rPr>
              <a:t>FIN</a:t>
            </a:r>
          </a:p>
          <a:p>
            <a:r>
              <a:rPr kumimoji="1" lang="zh-CN" altLang="en-US" sz="1400" b="1">
                <a:latin typeface="+mn-lt"/>
                <a:ea typeface="黑体" pitchFamily="2" charset="-122"/>
              </a:rPr>
              <a:t>发送 </a:t>
            </a:r>
            <a:r>
              <a:rPr kumimoji="1" lang="en-US" altLang="zh-CN" sz="1400" b="1">
                <a:latin typeface="+mn-lt"/>
                <a:ea typeface="黑体" pitchFamily="2" charset="-122"/>
              </a:rPr>
              <a:t>ACK</a:t>
            </a:r>
          </a:p>
        </p:txBody>
      </p:sp>
      <p:sp>
        <p:nvSpPr>
          <p:cNvPr id="565311" name="Text Box 63"/>
          <p:cNvSpPr txBox="1">
            <a:spLocks noChangeArrowheads="1"/>
          </p:cNvSpPr>
          <p:nvPr/>
        </p:nvSpPr>
        <p:spPr bwMode="auto">
          <a:xfrm>
            <a:off x="4287266" y="1808164"/>
            <a:ext cx="96372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a:latin typeface="+mn-lt"/>
                <a:ea typeface="黑体" pitchFamily="2" charset="-122"/>
              </a:rPr>
              <a:t>发送 </a:t>
            </a:r>
            <a:r>
              <a:rPr kumimoji="1" lang="en-US" altLang="zh-CN" sz="1400" b="1">
                <a:latin typeface="+mn-lt"/>
                <a:ea typeface="黑体" pitchFamily="2" charset="-122"/>
              </a:rPr>
              <a:t>SYN</a:t>
            </a:r>
          </a:p>
        </p:txBody>
      </p:sp>
      <p:sp>
        <p:nvSpPr>
          <p:cNvPr id="565312" name="Text Box 64"/>
          <p:cNvSpPr txBox="1">
            <a:spLocks noChangeArrowheads="1"/>
          </p:cNvSpPr>
          <p:nvPr/>
        </p:nvSpPr>
        <p:spPr bwMode="auto">
          <a:xfrm>
            <a:off x="2844361" y="6551614"/>
            <a:ext cx="2339102"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a:latin typeface="+mn-lt"/>
                <a:ea typeface="黑体" pitchFamily="2" charset="-122"/>
              </a:rPr>
              <a:t>定时经过两倍报文段寿命后</a:t>
            </a:r>
          </a:p>
        </p:txBody>
      </p:sp>
      <p:sp>
        <p:nvSpPr>
          <p:cNvPr id="565313" name="Line 65"/>
          <p:cNvSpPr>
            <a:spLocks noChangeShapeType="1"/>
          </p:cNvSpPr>
          <p:nvPr/>
        </p:nvSpPr>
        <p:spPr bwMode="auto">
          <a:xfrm flipV="1">
            <a:off x="4117007" y="488951"/>
            <a:ext cx="0" cy="758825"/>
          </a:xfrm>
          <a:prstGeom prst="line">
            <a:avLst/>
          </a:prstGeom>
          <a:noFill/>
          <a:ln w="19050">
            <a:solidFill>
              <a:srgbClr val="FF00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黑体" pitchFamily="2" charset="-122"/>
            </a:endParaRPr>
          </a:p>
        </p:txBody>
      </p:sp>
      <p:sp>
        <p:nvSpPr>
          <p:cNvPr id="565314" name="Text Box 66"/>
          <p:cNvSpPr txBox="1">
            <a:spLocks noChangeArrowheads="1"/>
          </p:cNvSpPr>
          <p:nvPr/>
        </p:nvSpPr>
        <p:spPr bwMode="auto">
          <a:xfrm>
            <a:off x="4103249" y="846139"/>
            <a:ext cx="543739"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a:latin typeface="+mn-lt"/>
                <a:ea typeface="黑体" pitchFamily="2" charset="-122"/>
              </a:rPr>
              <a:t>关闭</a:t>
            </a:r>
          </a:p>
        </p:txBody>
      </p:sp>
      <p:sp>
        <p:nvSpPr>
          <p:cNvPr id="565315" name="Freeform 67"/>
          <p:cNvSpPr>
            <a:spLocks/>
          </p:cNvSpPr>
          <p:nvPr/>
        </p:nvSpPr>
        <p:spPr bwMode="auto">
          <a:xfrm>
            <a:off x="4455806" y="363538"/>
            <a:ext cx="3876410" cy="6094412"/>
          </a:xfrm>
          <a:custGeom>
            <a:avLst/>
            <a:gdLst>
              <a:gd name="T0" fmla="*/ 103 w 2196"/>
              <a:gd name="T1" fmla="*/ 4653 h 4653"/>
              <a:gd name="T2" fmla="*/ 1518 w 2196"/>
              <a:gd name="T3" fmla="*/ 4650 h 4653"/>
              <a:gd name="T4" fmla="*/ 1926 w 2196"/>
              <a:gd name="T5" fmla="*/ 4650 h 4653"/>
              <a:gd name="T6" fmla="*/ 2004 w 2196"/>
              <a:gd name="T7" fmla="*/ 4620 h 4653"/>
              <a:gd name="T8" fmla="*/ 2082 w 2196"/>
              <a:gd name="T9" fmla="*/ 4584 h 4653"/>
              <a:gd name="T10" fmla="*/ 2148 w 2196"/>
              <a:gd name="T11" fmla="*/ 4500 h 4653"/>
              <a:gd name="T12" fmla="*/ 2190 w 2196"/>
              <a:gd name="T13" fmla="*/ 4386 h 4653"/>
              <a:gd name="T14" fmla="*/ 2195 w 2196"/>
              <a:gd name="T15" fmla="*/ 4300 h 4653"/>
              <a:gd name="T16" fmla="*/ 2196 w 2196"/>
              <a:gd name="T17" fmla="*/ 336 h 4653"/>
              <a:gd name="T18" fmla="*/ 2184 w 2196"/>
              <a:gd name="T19" fmla="*/ 210 h 4653"/>
              <a:gd name="T20" fmla="*/ 2154 w 2196"/>
              <a:gd name="T21" fmla="*/ 126 h 4653"/>
              <a:gd name="T22" fmla="*/ 2070 w 2196"/>
              <a:gd name="T23" fmla="*/ 54 h 4653"/>
              <a:gd name="T24" fmla="*/ 1950 w 2196"/>
              <a:gd name="T25" fmla="*/ 6 h 4653"/>
              <a:gd name="T26" fmla="*/ 1806 w 2196"/>
              <a:gd name="T27" fmla="*/ 0 h 4653"/>
              <a:gd name="T28" fmla="*/ 256 w 2196"/>
              <a:gd name="T29" fmla="*/ 0 h 4653"/>
              <a:gd name="T30" fmla="*/ 0 w 2196"/>
              <a:gd name="T31" fmla="*/ 0 h 46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196" h="4653">
                <a:moveTo>
                  <a:pt x="103" y="4653"/>
                </a:moveTo>
                <a:lnTo>
                  <a:pt x="1518" y="4650"/>
                </a:lnTo>
                <a:lnTo>
                  <a:pt x="1926" y="4650"/>
                </a:lnTo>
                <a:lnTo>
                  <a:pt x="2004" y="4620"/>
                </a:lnTo>
                <a:lnTo>
                  <a:pt x="2082" y="4584"/>
                </a:lnTo>
                <a:lnTo>
                  <a:pt x="2148" y="4500"/>
                </a:lnTo>
                <a:lnTo>
                  <a:pt x="2190" y="4386"/>
                </a:lnTo>
                <a:lnTo>
                  <a:pt x="2195" y="4300"/>
                </a:lnTo>
                <a:lnTo>
                  <a:pt x="2196" y="336"/>
                </a:lnTo>
                <a:lnTo>
                  <a:pt x="2184" y="210"/>
                </a:lnTo>
                <a:lnTo>
                  <a:pt x="2154" y="126"/>
                </a:lnTo>
                <a:lnTo>
                  <a:pt x="2070" y="54"/>
                </a:lnTo>
                <a:lnTo>
                  <a:pt x="1950" y="6"/>
                </a:lnTo>
                <a:lnTo>
                  <a:pt x="1806" y="0"/>
                </a:lnTo>
                <a:lnTo>
                  <a:pt x="256" y="0"/>
                </a:lnTo>
                <a:lnTo>
                  <a:pt x="0" y="0"/>
                </a:lnTo>
              </a:path>
            </a:pathLst>
          </a:custGeom>
          <a:noFill/>
          <a:ln w="57150" cmpd="sng">
            <a:solidFill>
              <a:srgbClr val="0000FF"/>
            </a:solidFill>
            <a:round/>
            <a:headEnd/>
            <a:tailEnd type="triangle" w="med"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黑体" pitchFamily="2" charset="-122"/>
            </a:endParaRPr>
          </a:p>
        </p:txBody>
      </p:sp>
      <p:sp>
        <p:nvSpPr>
          <p:cNvPr id="66" name="Line 31"/>
          <p:cNvSpPr>
            <a:spLocks noChangeShapeType="1"/>
          </p:cNvSpPr>
          <p:nvPr/>
        </p:nvSpPr>
        <p:spPr bwMode="auto">
          <a:xfrm rot="-5400000">
            <a:off x="7722729" y="1828911"/>
            <a:ext cx="0" cy="1218976"/>
          </a:xfrm>
          <a:prstGeom prst="line">
            <a:avLst/>
          </a:prstGeom>
          <a:noFill/>
          <a:ln w="19050">
            <a:solidFill>
              <a:srgbClr val="FF00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黑体" pitchFamily="2" charset="-122"/>
            </a:endParaRPr>
          </a:p>
        </p:txBody>
      </p:sp>
    </p:spTree>
    <p:extLst>
      <p:ext uri="{BB962C8B-B14F-4D97-AF65-F5344CB8AC3E}">
        <p14:creationId xmlns:p14="http://schemas.microsoft.com/office/powerpoint/2010/main" val="347757370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运输</a:t>
            </a:r>
            <a:r>
              <a:rPr lang="zh-CN" altLang="zh-CN" dirty="0"/>
              <a:t>层</a:t>
            </a:r>
            <a:endParaRPr lang="zh-CN" altLang="en-US" dirty="0"/>
          </a:p>
        </p:txBody>
      </p:sp>
      <p:sp>
        <p:nvSpPr>
          <p:cNvPr id="3" name="内容占位符 2"/>
          <p:cNvSpPr>
            <a:spLocks noGrp="1"/>
          </p:cNvSpPr>
          <p:nvPr>
            <p:ph idx="1"/>
          </p:nvPr>
        </p:nvSpPr>
        <p:spPr/>
        <p:txBody>
          <a:bodyPr/>
          <a:lstStyle/>
          <a:p>
            <a:pPr lvl="0"/>
            <a:r>
              <a:rPr lang="en-US" altLang="zh-CN" sz="2800" dirty="0">
                <a:solidFill>
                  <a:srgbClr val="FFFFFF">
                    <a:lumMod val="65000"/>
                  </a:srgbClr>
                </a:solidFill>
              </a:rPr>
              <a:t>TCP </a:t>
            </a:r>
            <a:r>
              <a:rPr lang="zh-CN" altLang="zh-CN" sz="2800" dirty="0">
                <a:solidFill>
                  <a:srgbClr val="FFFFFF">
                    <a:lumMod val="65000"/>
                  </a:srgbClr>
                </a:solidFill>
              </a:rPr>
              <a:t>的运输连接管理</a:t>
            </a:r>
          </a:p>
          <a:p>
            <a:r>
              <a:rPr lang="en-US" altLang="zh-CN" dirty="0">
                <a:solidFill>
                  <a:srgbClr val="FF0000"/>
                </a:solidFill>
              </a:rPr>
              <a:t>TCP </a:t>
            </a:r>
            <a:r>
              <a:rPr lang="zh-CN" altLang="zh-CN" dirty="0">
                <a:solidFill>
                  <a:srgbClr val="FF0000"/>
                </a:solidFill>
              </a:rPr>
              <a:t>可靠传输的实现</a:t>
            </a:r>
          </a:p>
          <a:p>
            <a:r>
              <a:rPr lang="en-US" altLang="zh-CN" sz="2800" dirty="0">
                <a:solidFill>
                  <a:schemeClr val="bg1">
                    <a:lumMod val="65000"/>
                  </a:schemeClr>
                </a:solidFill>
              </a:rPr>
              <a:t>TCP </a:t>
            </a:r>
            <a:r>
              <a:rPr lang="zh-CN" altLang="zh-CN" sz="2800" dirty="0">
                <a:solidFill>
                  <a:schemeClr val="bg1">
                    <a:lumMod val="65000"/>
                  </a:schemeClr>
                </a:solidFill>
              </a:rPr>
              <a:t>的流量控制</a:t>
            </a:r>
          </a:p>
          <a:p>
            <a:r>
              <a:rPr lang="en-US" altLang="zh-CN" sz="2800" dirty="0">
                <a:solidFill>
                  <a:schemeClr val="bg1">
                    <a:lumMod val="65000"/>
                  </a:schemeClr>
                </a:solidFill>
              </a:rPr>
              <a:t>TCP </a:t>
            </a:r>
            <a:r>
              <a:rPr lang="zh-CN" altLang="zh-CN" sz="2800" dirty="0">
                <a:solidFill>
                  <a:schemeClr val="bg1">
                    <a:lumMod val="65000"/>
                  </a:schemeClr>
                </a:solidFill>
              </a:rPr>
              <a:t>的拥塞控制</a:t>
            </a:r>
          </a:p>
        </p:txBody>
      </p:sp>
    </p:spTree>
    <p:extLst>
      <p:ext uri="{BB962C8B-B14F-4D97-AF65-F5344CB8AC3E}">
        <p14:creationId xmlns:p14="http://schemas.microsoft.com/office/powerpoint/2010/main" val="22274224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zh-CN" sz="3600" dirty="0"/>
              <a:t>可靠传输的实现</a:t>
            </a:r>
            <a:r>
              <a:rPr lang="zh-CN" altLang="en-US" sz="3600" dirty="0"/>
              <a:t>：</a:t>
            </a:r>
            <a:r>
              <a:rPr lang="zh-CN" altLang="zh-CN" sz="3600" dirty="0"/>
              <a:t>以字节为单位的滑动窗口</a:t>
            </a:r>
            <a:endParaRPr lang="zh-CN" altLang="en-US" sz="3600" dirty="0"/>
          </a:p>
        </p:txBody>
      </p:sp>
      <p:sp>
        <p:nvSpPr>
          <p:cNvPr id="3" name="内容占位符 2"/>
          <p:cNvSpPr>
            <a:spLocks noGrp="1"/>
          </p:cNvSpPr>
          <p:nvPr>
            <p:ph idx="1"/>
          </p:nvPr>
        </p:nvSpPr>
        <p:spPr/>
        <p:txBody>
          <a:bodyPr/>
          <a:lstStyle/>
          <a:p>
            <a:r>
              <a:rPr lang="en-US" altLang="zh-CN" dirty="0"/>
              <a:t>TCP </a:t>
            </a:r>
            <a:r>
              <a:rPr lang="zh-CN" altLang="zh-CN" dirty="0"/>
              <a:t>的滑动窗口是以字节为单位的。</a:t>
            </a:r>
            <a:endParaRPr lang="en-US" altLang="zh-CN" dirty="0"/>
          </a:p>
          <a:p>
            <a:r>
              <a:rPr lang="zh-CN" altLang="zh-CN" dirty="0"/>
              <a:t>现假定</a:t>
            </a:r>
            <a:r>
              <a:rPr lang="en-US" altLang="zh-CN" dirty="0"/>
              <a:t> A </a:t>
            </a:r>
            <a:r>
              <a:rPr lang="zh-CN" altLang="zh-CN" dirty="0"/>
              <a:t>收到了</a:t>
            </a:r>
            <a:r>
              <a:rPr lang="en-US" altLang="zh-CN" dirty="0"/>
              <a:t> B </a:t>
            </a:r>
            <a:r>
              <a:rPr lang="zh-CN" altLang="zh-CN" dirty="0"/>
              <a:t>发来的确认报文段，其中窗口是</a:t>
            </a:r>
            <a:r>
              <a:rPr lang="en-US" altLang="zh-CN" dirty="0"/>
              <a:t> 20 </a:t>
            </a:r>
            <a:r>
              <a:rPr lang="zh-CN" altLang="zh-CN" dirty="0"/>
              <a:t>字节，而确认号是</a:t>
            </a:r>
            <a:r>
              <a:rPr lang="en-US" altLang="zh-CN" dirty="0"/>
              <a:t> 31</a:t>
            </a:r>
            <a:r>
              <a:rPr lang="zh-CN" altLang="zh-CN" dirty="0"/>
              <a:t>（这表明</a:t>
            </a:r>
            <a:r>
              <a:rPr lang="en-US" altLang="zh-CN" dirty="0"/>
              <a:t> B </a:t>
            </a:r>
            <a:r>
              <a:rPr lang="zh-CN" altLang="zh-CN" dirty="0"/>
              <a:t>期望收到的下一个序号是</a:t>
            </a:r>
            <a:r>
              <a:rPr lang="en-US" altLang="zh-CN" dirty="0"/>
              <a:t> 31</a:t>
            </a:r>
            <a:r>
              <a:rPr lang="zh-CN" altLang="zh-CN" dirty="0"/>
              <a:t>，而序号</a:t>
            </a:r>
            <a:r>
              <a:rPr lang="en-US" altLang="zh-CN" dirty="0"/>
              <a:t> 30 </a:t>
            </a:r>
            <a:r>
              <a:rPr lang="zh-CN" altLang="zh-CN" dirty="0"/>
              <a:t>为止的数据已经收到了）。</a:t>
            </a:r>
            <a:endParaRPr lang="en-US" altLang="zh-CN" dirty="0"/>
          </a:p>
          <a:p>
            <a:r>
              <a:rPr lang="zh-CN" altLang="zh-CN" dirty="0"/>
              <a:t>根据这两个数据，</a:t>
            </a:r>
            <a:r>
              <a:rPr lang="en-US" altLang="zh-CN" dirty="0"/>
              <a:t>A </a:t>
            </a:r>
            <a:r>
              <a:rPr lang="zh-CN" altLang="zh-CN" dirty="0"/>
              <a:t>就构造出自己的发送窗口，</a:t>
            </a:r>
            <a:endParaRPr lang="zh-CN" altLang="en-US" dirty="0"/>
          </a:p>
        </p:txBody>
      </p:sp>
    </p:spTree>
    <p:extLst>
      <p:ext uri="{BB962C8B-B14F-4D97-AF65-F5344CB8AC3E}">
        <p14:creationId xmlns:p14="http://schemas.microsoft.com/office/powerpoint/2010/main" val="25690283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3972" name="Text Box 4"/>
          <p:cNvSpPr txBox="1">
            <a:spLocks noChangeArrowheads="1"/>
          </p:cNvSpPr>
          <p:nvPr/>
        </p:nvSpPr>
        <p:spPr bwMode="auto">
          <a:xfrm>
            <a:off x="8483069" y="3081984"/>
            <a:ext cx="697627" cy="40011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a:solidFill>
                  <a:srgbClr val="000099"/>
                </a:solidFill>
                <a:latin typeface="+mn-lt"/>
                <a:ea typeface="黑体" pitchFamily="2" charset="-122"/>
              </a:rPr>
              <a:t>前移</a:t>
            </a:r>
          </a:p>
        </p:txBody>
      </p:sp>
      <p:sp>
        <p:nvSpPr>
          <p:cNvPr id="723973" name="AutoShape 5"/>
          <p:cNvSpPr>
            <a:spLocks noChangeArrowheads="1"/>
          </p:cNvSpPr>
          <p:nvPr/>
        </p:nvSpPr>
        <p:spPr bwMode="auto">
          <a:xfrm>
            <a:off x="8016701" y="3251845"/>
            <a:ext cx="545175" cy="144463"/>
          </a:xfrm>
          <a:prstGeom prst="rightArrow">
            <a:avLst>
              <a:gd name="adj1" fmla="val 50000"/>
              <a:gd name="adj2" fmla="val 87088"/>
            </a:avLst>
          </a:prstGeom>
          <a:solidFill>
            <a:srgbClr val="C00000"/>
          </a:solidFill>
          <a:ln w="9525">
            <a:solidFill>
              <a:srgbClr val="C00000"/>
            </a:solidFill>
            <a:miter lim="800000"/>
            <a:headEnd/>
            <a:tailEnd/>
          </a:ln>
          <a:effectLst/>
        </p:spPr>
        <p:txBody>
          <a:bodyPr wrap="none" anchor="ctr"/>
          <a:lstStyle/>
          <a:p>
            <a:endParaRPr lang="zh-CN" altLang="en-US" b="1">
              <a:solidFill>
                <a:srgbClr val="000099"/>
              </a:solidFill>
              <a:latin typeface="+mn-lt"/>
              <a:ea typeface="黑体" pitchFamily="2" charset="-122"/>
            </a:endParaRPr>
          </a:p>
        </p:txBody>
      </p:sp>
      <p:sp>
        <p:nvSpPr>
          <p:cNvPr id="723974" name="AutoShape 6"/>
          <p:cNvSpPr>
            <a:spLocks noChangeArrowheads="1"/>
          </p:cNvSpPr>
          <p:nvPr/>
        </p:nvSpPr>
        <p:spPr bwMode="auto">
          <a:xfrm flipH="1">
            <a:off x="7497324" y="3251845"/>
            <a:ext cx="545175" cy="144463"/>
          </a:xfrm>
          <a:prstGeom prst="rightArrow">
            <a:avLst>
              <a:gd name="adj1" fmla="val 50000"/>
              <a:gd name="adj2" fmla="val 87088"/>
            </a:avLst>
          </a:prstGeom>
          <a:solidFill>
            <a:srgbClr val="0000CC"/>
          </a:solidFill>
          <a:ln w="9525">
            <a:solidFill>
              <a:srgbClr val="0000CC"/>
            </a:solidFill>
            <a:miter lim="800000"/>
            <a:headEnd/>
            <a:tailEnd/>
          </a:ln>
          <a:effectLst/>
        </p:spPr>
        <p:txBody>
          <a:bodyPr wrap="none" anchor="ctr"/>
          <a:lstStyle/>
          <a:p>
            <a:endParaRPr lang="zh-CN" altLang="en-US" b="1">
              <a:solidFill>
                <a:srgbClr val="000099"/>
              </a:solidFill>
              <a:latin typeface="+mn-lt"/>
              <a:ea typeface="黑体" pitchFamily="2" charset="-122"/>
            </a:endParaRPr>
          </a:p>
        </p:txBody>
      </p:sp>
      <p:sp>
        <p:nvSpPr>
          <p:cNvPr id="723975" name="AutoShape 7"/>
          <p:cNvSpPr>
            <a:spLocks noChangeArrowheads="1"/>
          </p:cNvSpPr>
          <p:nvPr/>
        </p:nvSpPr>
        <p:spPr bwMode="auto">
          <a:xfrm>
            <a:off x="1784176" y="3251845"/>
            <a:ext cx="545175" cy="144463"/>
          </a:xfrm>
          <a:prstGeom prst="rightArrow">
            <a:avLst>
              <a:gd name="adj1" fmla="val 50000"/>
              <a:gd name="adj2" fmla="val 87088"/>
            </a:avLst>
          </a:prstGeom>
          <a:solidFill>
            <a:srgbClr val="C00000"/>
          </a:solidFill>
          <a:ln w="9525">
            <a:solidFill>
              <a:srgbClr val="C00000"/>
            </a:solidFill>
            <a:miter lim="800000"/>
            <a:headEnd/>
            <a:tailEnd/>
          </a:ln>
          <a:effectLst/>
        </p:spPr>
        <p:txBody>
          <a:bodyPr wrap="none" anchor="ctr"/>
          <a:lstStyle/>
          <a:p>
            <a:endParaRPr lang="zh-CN" altLang="en-US" b="1">
              <a:solidFill>
                <a:srgbClr val="000099"/>
              </a:solidFill>
              <a:latin typeface="+mn-lt"/>
              <a:ea typeface="黑体" pitchFamily="2" charset="-122"/>
            </a:endParaRPr>
          </a:p>
        </p:txBody>
      </p:sp>
      <p:sp>
        <p:nvSpPr>
          <p:cNvPr id="723976" name="Text Box 8"/>
          <p:cNvSpPr txBox="1">
            <a:spLocks noChangeArrowheads="1"/>
          </p:cNvSpPr>
          <p:nvPr/>
        </p:nvSpPr>
        <p:spPr bwMode="auto">
          <a:xfrm>
            <a:off x="8222173" y="4285397"/>
            <a:ext cx="1467068" cy="40011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rgbClr val="FF0000"/>
                </a:solidFill>
                <a:latin typeface="+mn-lt"/>
                <a:ea typeface="黑体" pitchFamily="2" charset="-122"/>
              </a:rPr>
              <a:t>不允许发送</a:t>
            </a:r>
          </a:p>
        </p:txBody>
      </p:sp>
      <p:sp>
        <p:nvSpPr>
          <p:cNvPr id="723977" name="Text Box 9"/>
          <p:cNvSpPr txBox="1">
            <a:spLocks noChangeArrowheads="1"/>
          </p:cNvSpPr>
          <p:nvPr/>
        </p:nvSpPr>
        <p:spPr bwMode="auto">
          <a:xfrm>
            <a:off x="392938" y="4272609"/>
            <a:ext cx="1210588" cy="707886"/>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rgbClr val="C00000"/>
                </a:solidFill>
                <a:latin typeface="+mn-lt"/>
                <a:ea typeface="黑体" pitchFamily="2" charset="-122"/>
              </a:rPr>
              <a:t>已发送并</a:t>
            </a:r>
          </a:p>
          <a:p>
            <a:pPr algn="ctr"/>
            <a:r>
              <a:rPr lang="zh-CN" altLang="en-US" sz="2000" b="1" dirty="0">
                <a:solidFill>
                  <a:srgbClr val="C00000"/>
                </a:solidFill>
                <a:latin typeface="+mn-lt"/>
                <a:ea typeface="黑体" pitchFamily="2" charset="-122"/>
              </a:rPr>
              <a:t>收到确认</a:t>
            </a:r>
          </a:p>
        </p:txBody>
      </p:sp>
      <p:sp>
        <p:nvSpPr>
          <p:cNvPr id="723978" name="Line 10"/>
          <p:cNvSpPr>
            <a:spLocks noChangeShapeType="1"/>
          </p:cNvSpPr>
          <p:nvPr/>
        </p:nvSpPr>
        <p:spPr bwMode="auto">
          <a:xfrm>
            <a:off x="1794495" y="3589983"/>
            <a:ext cx="6241125" cy="0"/>
          </a:xfrm>
          <a:prstGeom prst="line">
            <a:avLst/>
          </a:prstGeom>
          <a:noFill/>
          <a:ln w="9525">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723979" name="Text Box 11"/>
          <p:cNvSpPr txBox="1">
            <a:spLocks noChangeArrowheads="1"/>
          </p:cNvSpPr>
          <p:nvPr/>
        </p:nvSpPr>
        <p:spPr bwMode="auto">
          <a:xfrm>
            <a:off x="3703465" y="3372496"/>
            <a:ext cx="2383986" cy="40011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000" b="1" dirty="0">
                <a:solidFill>
                  <a:srgbClr val="000099"/>
                </a:solidFill>
                <a:latin typeface="+mn-lt"/>
                <a:ea typeface="黑体" pitchFamily="2" charset="-122"/>
              </a:rPr>
              <a:t>A </a:t>
            </a:r>
            <a:r>
              <a:rPr lang="zh-CN" altLang="en-US" sz="2000" b="1" dirty="0">
                <a:solidFill>
                  <a:srgbClr val="000099"/>
                </a:solidFill>
                <a:latin typeface="+mn-lt"/>
                <a:ea typeface="黑体" pitchFamily="2" charset="-122"/>
              </a:rPr>
              <a:t>的</a:t>
            </a:r>
            <a:r>
              <a:rPr lang="zh-CN" altLang="en-US" sz="2000" b="1" dirty="0">
                <a:solidFill>
                  <a:srgbClr val="FF0000"/>
                </a:solidFill>
                <a:latin typeface="+mn-lt"/>
                <a:ea typeface="黑体" pitchFamily="2" charset="-122"/>
              </a:rPr>
              <a:t>发送窗口 </a:t>
            </a:r>
            <a:r>
              <a:rPr lang="en-US" altLang="zh-CN" sz="2000" b="1" dirty="0">
                <a:solidFill>
                  <a:srgbClr val="000099"/>
                </a:solidFill>
                <a:latin typeface="+mn-lt"/>
                <a:ea typeface="黑体" pitchFamily="2" charset="-122"/>
              </a:rPr>
              <a:t>= 20</a:t>
            </a:r>
          </a:p>
        </p:txBody>
      </p:sp>
      <p:sp>
        <p:nvSpPr>
          <p:cNvPr id="723980" name="Text Box 12"/>
          <p:cNvSpPr txBox="1">
            <a:spLocks noChangeArrowheads="1"/>
          </p:cNvSpPr>
          <p:nvPr/>
        </p:nvSpPr>
        <p:spPr bwMode="auto">
          <a:xfrm>
            <a:off x="3744196" y="4439866"/>
            <a:ext cx="2350323" cy="46166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400" b="1" dirty="0">
                <a:solidFill>
                  <a:srgbClr val="0000FF"/>
                </a:solidFill>
                <a:latin typeface="+mn-lt"/>
                <a:ea typeface="黑体" pitchFamily="2" charset="-122"/>
              </a:rPr>
              <a:t>允许发送的序号</a:t>
            </a:r>
          </a:p>
        </p:txBody>
      </p:sp>
      <p:sp>
        <p:nvSpPr>
          <p:cNvPr id="723981" name="Rectangle 13"/>
          <p:cNvSpPr>
            <a:spLocks noChangeArrowheads="1"/>
          </p:cNvSpPr>
          <p:nvPr/>
        </p:nvSpPr>
        <p:spPr bwMode="auto">
          <a:xfrm>
            <a:off x="1794495" y="3758259"/>
            <a:ext cx="6248004" cy="649287"/>
          </a:xfrm>
          <a:prstGeom prst="rect">
            <a:avLst/>
          </a:prstGeom>
          <a:solidFill>
            <a:srgbClr val="3399FF"/>
          </a:solidFill>
          <a:ln>
            <a:noFill/>
          </a:ln>
          <a:effectLst>
            <a:outerShdw dist="35921" dir="2700000" algn="ctr" rotWithShape="0">
              <a:schemeClr val="bg2"/>
            </a:outerShdw>
          </a:effectLst>
        </p:spPr>
        <p:txBody>
          <a:bodyPr wrap="none" anchor="ctr"/>
          <a:lstStyle/>
          <a:p>
            <a:endParaRPr lang="zh-CN" altLang="en-US" b="1">
              <a:solidFill>
                <a:srgbClr val="000099"/>
              </a:solidFill>
              <a:latin typeface="+mn-lt"/>
              <a:ea typeface="黑体" pitchFamily="2" charset="-122"/>
            </a:endParaRPr>
          </a:p>
        </p:txBody>
      </p:sp>
      <p:sp>
        <p:nvSpPr>
          <p:cNvPr id="723982" name="Rectangle 14"/>
          <p:cNvSpPr>
            <a:spLocks noChangeArrowheads="1"/>
          </p:cNvSpPr>
          <p:nvPr/>
        </p:nvSpPr>
        <p:spPr bwMode="auto">
          <a:xfrm>
            <a:off x="272480" y="3974159"/>
            <a:ext cx="233892" cy="287337"/>
          </a:xfrm>
          <a:prstGeom prst="rect">
            <a:avLst/>
          </a:prstGeom>
          <a:solidFill>
            <a:srgbClr val="66FF33"/>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99"/>
                </a:solidFill>
                <a:latin typeface="+mn-lt"/>
                <a:ea typeface="黑体" pitchFamily="2" charset="-122"/>
              </a:rPr>
              <a:t>26</a:t>
            </a:r>
          </a:p>
        </p:txBody>
      </p:sp>
      <p:sp>
        <p:nvSpPr>
          <p:cNvPr id="723983" name="Rectangle 15"/>
          <p:cNvSpPr>
            <a:spLocks noChangeArrowheads="1"/>
          </p:cNvSpPr>
          <p:nvPr/>
        </p:nvSpPr>
        <p:spPr bwMode="auto">
          <a:xfrm>
            <a:off x="585482" y="3972570"/>
            <a:ext cx="233892" cy="287338"/>
          </a:xfrm>
          <a:prstGeom prst="rect">
            <a:avLst/>
          </a:prstGeom>
          <a:solidFill>
            <a:srgbClr val="66FF33"/>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99"/>
                </a:solidFill>
                <a:latin typeface="+mn-lt"/>
                <a:ea typeface="黑体" pitchFamily="2" charset="-122"/>
              </a:rPr>
              <a:t>27</a:t>
            </a:r>
          </a:p>
        </p:txBody>
      </p:sp>
      <p:sp>
        <p:nvSpPr>
          <p:cNvPr id="723984" name="Rectangle 16"/>
          <p:cNvSpPr>
            <a:spLocks noChangeArrowheads="1"/>
          </p:cNvSpPr>
          <p:nvPr/>
        </p:nvSpPr>
        <p:spPr bwMode="auto">
          <a:xfrm>
            <a:off x="898484" y="3970984"/>
            <a:ext cx="233892" cy="287337"/>
          </a:xfrm>
          <a:prstGeom prst="rect">
            <a:avLst/>
          </a:prstGeom>
          <a:solidFill>
            <a:srgbClr val="66FF33"/>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99"/>
                </a:solidFill>
                <a:latin typeface="+mn-lt"/>
                <a:ea typeface="黑体" pitchFamily="2" charset="-122"/>
              </a:rPr>
              <a:t>28</a:t>
            </a:r>
          </a:p>
        </p:txBody>
      </p:sp>
      <p:sp>
        <p:nvSpPr>
          <p:cNvPr id="723985" name="Rectangle 17"/>
          <p:cNvSpPr>
            <a:spLocks noChangeArrowheads="1"/>
          </p:cNvSpPr>
          <p:nvPr/>
        </p:nvSpPr>
        <p:spPr bwMode="auto">
          <a:xfrm>
            <a:off x="1211486" y="3969395"/>
            <a:ext cx="233892" cy="287338"/>
          </a:xfrm>
          <a:prstGeom prst="rect">
            <a:avLst/>
          </a:prstGeom>
          <a:solidFill>
            <a:srgbClr val="66FF33"/>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99"/>
                </a:solidFill>
                <a:latin typeface="+mn-lt"/>
                <a:ea typeface="黑体" pitchFamily="2" charset="-122"/>
              </a:rPr>
              <a:t>29</a:t>
            </a:r>
          </a:p>
        </p:txBody>
      </p:sp>
      <p:sp>
        <p:nvSpPr>
          <p:cNvPr id="723986" name="Rectangle 18"/>
          <p:cNvSpPr>
            <a:spLocks noChangeArrowheads="1"/>
          </p:cNvSpPr>
          <p:nvPr/>
        </p:nvSpPr>
        <p:spPr bwMode="auto">
          <a:xfrm>
            <a:off x="1524488" y="3967809"/>
            <a:ext cx="233892" cy="287337"/>
          </a:xfrm>
          <a:prstGeom prst="rect">
            <a:avLst/>
          </a:prstGeom>
          <a:solidFill>
            <a:srgbClr val="66FF33"/>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99"/>
                </a:solidFill>
                <a:latin typeface="+mn-lt"/>
                <a:ea typeface="黑体" pitchFamily="2" charset="-122"/>
              </a:rPr>
              <a:t>30</a:t>
            </a:r>
          </a:p>
        </p:txBody>
      </p:sp>
      <p:sp>
        <p:nvSpPr>
          <p:cNvPr id="723987" name="Rectangle 19"/>
          <p:cNvSpPr>
            <a:spLocks noChangeArrowheads="1"/>
          </p:cNvSpPr>
          <p:nvPr/>
        </p:nvSpPr>
        <p:spPr bwMode="auto">
          <a:xfrm>
            <a:off x="1837490" y="3966220"/>
            <a:ext cx="233892" cy="287338"/>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99"/>
                </a:solidFill>
                <a:latin typeface="+mn-lt"/>
                <a:ea typeface="黑体" pitchFamily="2" charset="-122"/>
              </a:rPr>
              <a:t>31</a:t>
            </a:r>
          </a:p>
        </p:txBody>
      </p:sp>
      <p:sp>
        <p:nvSpPr>
          <p:cNvPr id="723988" name="Rectangle 20"/>
          <p:cNvSpPr>
            <a:spLocks noChangeArrowheads="1"/>
          </p:cNvSpPr>
          <p:nvPr/>
        </p:nvSpPr>
        <p:spPr bwMode="auto">
          <a:xfrm>
            <a:off x="2150493" y="3964634"/>
            <a:ext cx="233892" cy="287337"/>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99"/>
                </a:solidFill>
                <a:latin typeface="+mn-lt"/>
                <a:ea typeface="黑体" pitchFamily="2" charset="-122"/>
              </a:rPr>
              <a:t>32</a:t>
            </a:r>
          </a:p>
        </p:txBody>
      </p:sp>
      <p:sp>
        <p:nvSpPr>
          <p:cNvPr id="723989" name="Rectangle 21"/>
          <p:cNvSpPr>
            <a:spLocks noChangeArrowheads="1"/>
          </p:cNvSpPr>
          <p:nvPr/>
        </p:nvSpPr>
        <p:spPr bwMode="auto">
          <a:xfrm>
            <a:off x="2463495" y="3963045"/>
            <a:ext cx="233892" cy="287338"/>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99"/>
                </a:solidFill>
                <a:latin typeface="+mn-lt"/>
                <a:ea typeface="黑体" pitchFamily="2" charset="-122"/>
              </a:rPr>
              <a:t>33</a:t>
            </a:r>
          </a:p>
        </p:txBody>
      </p:sp>
      <p:sp>
        <p:nvSpPr>
          <p:cNvPr id="723990" name="Rectangle 22"/>
          <p:cNvSpPr>
            <a:spLocks noChangeArrowheads="1"/>
          </p:cNvSpPr>
          <p:nvPr/>
        </p:nvSpPr>
        <p:spPr bwMode="auto">
          <a:xfrm>
            <a:off x="2776497" y="3961459"/>
            <a:ext cx="233892" cy="287337"/>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99"/>
                </a:solidFill>
                <a:latin typeface="+mn-lt"/>
                <a:ea typeface="黑体" pitchFamily="2" charset="-122"/>
              </a:rPr>
              <a:t>34</a:t>
            </a:r>
          </a:p>
        </p:txBody>
      </p:sp>
      <p:sp>
        <p:nvSpPr>
          <p:cNvPr id="723991" name="Rectangle 23"/>
          <p:cNvSpPr>
            <a:spLocks noChangeArrowheads="1"/>
          </p:cNvSpPr>
          <p:nvPr/>
        </p:nvSpPr>
        <p:spPr bwMode="auto">
          <a:xfrm>
            <a:off x="3089499" y="3959870"/>
            <a:ext cx="233892" cy="287338"/>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99"/>
                </a:solidFill>
                <a:latin typeface="+mn-lt"/>
                <a:ea typeface="黑体" pitchFamily="2" charset="-122"/>
              </a:rPr>
              <a:t>35</a:t>
            </a:r>
          </a:p>
        </p:txBody>
      </p:sp>
      <p:sp>
        <p:nvSpPr>
          <p:cNvPr id="723992" name="Rectangle 24"/>
          <p:cNvSpPr>
            <a:spLocks noChangeArrowheads="1"/>
          </p:cNvSpPr>
          <p:nvPr/>
        </p:nvSpPr>
        <p:spPr bwMode="auto">
          <a:xfrm>
            <a:off x="3402501" y="3958284"/>
            <a:ext cx="233892" cy="287337"/>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99"/>
                </a:solidFill>
                <a:latin typeface="+mn-lt"/>
                <a:ea typeface="黑体" pitchFamily="2" charset="-122"/>
              </a:rPr>
              <a:t>36</a:t>
            </a:r>
          </a:p>
        </p:txBody>
      </p:sp>
      <p:sp>
        <p:nvSpPr>
          <p:cNvPr id="723993" name="Rectangle 25"/>
          <p:cNvSpPr>
            <a:spLocks noChangeArrowheads="1"/>
          </p:cNvSpPr>
          <p:nvPr/>
        </p:nvSpPr>
        <p:spPr bwMode="auto">
          <a:xfrm>
            <a:off x="3715503" y="3956695"/>
            <a:ext cx="233892" cy="287338"/>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99"/>
                </a:solidFill>
                <a:latin typeface="+mn-lt"/>
                <a:ea typeface="黑体" pitchFamily="2" charset="-122"/>
              </a:rPr>
              <a:t>37</a:t>
            </a:r>
          </a:p>
        </p:txBody>
      </p:sp>
      <p:sp>
        <p:nvSpPr>
          <p:cNvPr id="723994" name="Rectangle 26"/>
          <p:cNvSpPr>
            <a:spLocks noChangeArrowheads="1"/>
          </p:cNvSpPr>
          <p:nvPr/>
        </p:nvSpPr>
        <p:spPr bwMode="auto">
          <a:xfrm>
            <a:off x="4028505" y="3955109"/>
            <a:ext cx="233892" cy="287337"/>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99"/>
                </a:solidFill>
                <a:latin typeface="+mn-lt"/>
                <a:ea typeface="黑体" pitchFamily="2" charset="-122"/>
              </a:rPr>
              <a:t>38</a:t>
            </a:r>
          </a:p>
        </p:txBody>
      </p:sp>
      <p:sp>
        <p:nvSpPr>
          <p:cNvPr id="723995" name="Rectangle 27"/>
          <p:cNvSpPr>
            <a:spLocks noChangeArrowheads="1"/>
          </p:cNvSpPr>
          <p:nvPr/>
        </p:nvSpPr>
        <p:spPr bwMode="auto">
          <a:xfrm>
            <a:off x="4341507" y="3953520"/>
            <a:ext cx="233892" cy="287338"/>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99"/>
                </a:solidFill>
                <a:latin typeface="+mn-lt"/>
                <a:ea typeface="黑体" pitchFamily="2" charset="-122"/>
              </a:rPr>
              <a:t>39</a:t>
            </a:r>
          </a:p>
        </p:txBody>
      </p:sp>
      <p:sp>
        <p:nvSpPr>
          <p:cNvPr id="723996" name="Rectangle 28"/>
          <p:cNvSpPr>
            <a:spLocks noChangeArrowheads="1"/>
          </p:cNvSpPr>
          <p:nvPr/>
        </p:nvSpPr>
        <p:spPr bwMode="auto">
          <a:xfrm>
            <a:off x="4654509" y="3951934"/>
            <a:ext cx="233892" cy="287337"/>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99"/>
                </a:solidFill>
                <a:latin typeface="+mn-lt"/>
                <a:ea typeface="黑体" pitchFamily="2" charset="-122"/>
              </a:rPr>
              <a:t>40</a:t>
            </a:r>
          </a:p>
        </p:txBody>
      </p:sp>
      <p:sp>
        <p:nvSpPr>
          <p:cNvPr id="723997" name="Rectangle 29"/>
          <p:cNvSpPr>
            <a:spLocks noChangeArrowheads="1"/>
          </p:cNvSpPr>
          <p:nvPr/>
        </p:nvSpPr>
        <p:spPr bwMode="auto">
          <a:xfrm>
            <a:off x="4967511" y="3950345"/>
            <a:ext cx="233892" cy="287338"/>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99"/>
                </a:solidFill>
                <a:latin typeface="+mn-lt"/>
                <a:ea typeface="黑体" pitchFamily="2" charset="-122"/>
              </a:rPr>
              <a:t>41</a:t>
            </a:r>
          </a:p>
        </p:txBody>
      </p:sp>
      <p:sp>
        <p:nvSpPr>
          <p:cNvPr id="723998" name="Rectangle 30"/>
          <p:cNvSpPr>
            <a:spLocks noChangeArrowheads="1"/>
          </p:cNvSpPr>
          <p:nvPr/>
        </p:nvSpPr>
        <p:spPr bwMode="auto">
          <a:xfrm>
            <a:off x="5280513" y="3948759"/>
            <a:ext cx="233892" cy="287337"/>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99"/>
                </a:solidFill>
                <a:latin typeface="+mn-lt"/>
                <a:ea typeface="黑体" pitchFamily="2" charset="-122"/>
              </a:rPr>
              <a:t>42</a:t>
            </a:r>
          </a:p>
        </p:txBody>
      </p:sp>
      <p:sp>
        <p:nvSpPr>
          <p:cNvPr id="723999" name="Rectangle 31"/>
          <p:cNvSpPr>
            <a:spLocks noChangeArrowheads="1"/>
          </p:cNvSpPr>
          <p:nvPr/>
        </p:nvSpPr>
        <p:spPr bwMode="auto">
          <a:xfrm>
            <a:off x="5593515" y="3947170"/>
            <a:ext cx="233892" cy="287338"/>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99"/>
                </a:solidFill>
                <a:latin typeface="+mn-lt"/>
                <a:ea typeface="黑体" pitchFamily="2" charset="-122"/>
              </a:rPr>
              <a:t>43</a:t>
            </a:r>
          </a:p>
        </p:txBody>
      </p:sp>
      <p:sp>
        <p:nvSpPr>
          <p:cNvPr id="724000" name="Rectangle 32"/>
          <p:cNvSpPr>
            <a:spLocks noChangeArrowheads="1"/>
          </p:cNvSpPr>
          <p:nvPr/>
        </p:nvSpPr>
        <p:spPr bwMode="auto">
          <a:xfrm>
            <a:off x="5906518" y="3945584"/>
            <a:ext cx="233892" cy="287337"/>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99"/>
                </a:solidFill>
                <a:latin typeface="+mn-lt"/>
                <a:ea typeface="黑体" pitchFamily="2" charset="-122"/>
              </a:rPr>
              <a:t>44</a:t>
            </a:r>
          </a:p>
        </p:txBody>
      </p:sp>
      <p:sp>
        <p:nvSpPr>
          <p:cNvPr id="724001" name="Rectangle 33"/>
          <p:cNvSpPr>
            <a:spLocks noChangeArrowheads="1"/>
          </p:cNvSpPr>
          <p:nvPr/>
        </p:nvSpPr>
        <p:spPr bwMode="auto">
          <a:xfrm>
            <a:off x="6219520" y="3943995"/>
            <a:ext cx="233892" cy="287338"/>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99"/>
                </a:solidFill>
                <a:latin typeface="+mn-lt"/>
                <a:ea typeface="黑体" pitchFamily="2" charset="-122"/>
              </a:rPr>
              <a:t>45</a:t>
            </a:r>
          </a:p>
        </p:txBody>
      </p:sp>
      <p:sp>
        <p:nvSpPr>
          <p:cNvPr id="724002" name="Rectangle 34"/>
          <p:cNvSpPr>
            <a:spLocks noChangeArrowheads="1"/>
          </p:cNvSpPr>
          <p:nvPr/>
        </p:nvSpPr>
        <p:spPr bwMode="auto">
          <a:xfrm>
            <a:off x="6532522" y="3942409"/>
            <a:ext cx="233892" cy="287337"/>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99"/>
                </a:solidFill>
                <a:latin typeface="+mn-lt"/>
                <a:ea typeface="黑体" pitchFamily="2" charset="-122"/>
              </a:rPr>
              <a:t>46</a:t>
            </a:r>
          </a:p>
        </p:txBody>
      </p:sp>
      <p:sp>
        <p:nvSpPr>
          <p:cNvPr id="724003" name="Rectangle 35"/>
          <p:cNvSpPr>
            <a:spLocks noChangeArrowheads="1"/>
          </p:cNvSpPr>
          <p:nvPr/>
        </p:nvSpPr>
        <p:spPr bwMode="auto">
          <a:xfrm>
            <a:off x="6845524" y="3940820"/>
            <a:ext cx="233892" cy="287338"/>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99"/>
                </a:solidFill>
                <a:latin typeface="+mn-lt"/>
                <a:ea typeface="黑体" pitchFamily="2" charset="-122"/>
              </a:rPr>
              <a:t>47</a:t>
            </a:r>
          </a:p>
        </p:txBody>
      </p:sp>
      <p:sp>
        <p:nvSpPr>
          <p:cNvPr id="724004" name="Rectangle 36"/>
          <p:cNvSpPr>
            <a:spLocks noChangeArrowheads="1"/>
          </p:cNvSpPr>
          <p:nvPr/>
        </p:nvSpPr>
        <p:spPr bwMode="auto">
          <a:xfrm>
            <a:off x="7158526" y="3939234"/>
            <a:ext cx="233892" cy="287337"/>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99"/>
                </a:solidFill>
                <a:latin typeface="+mn-lt"/>
                <a:ea typeface="黑体" pitchFamily="2" charset="-122"/>
              </a:rPr>
              <a:t>48</a:t>
            </a:r>
          </a:p>
        </p:txBody>
      </p:sp>
      <p:sp>
        <p:nvSpPr>
          <p:cNvPr id="724005" name="Rectangle 37"/>
          <p:cNvSpPr>
            <a:spLocks noChangeArrowheads="1"/>
          </p:cNvSpPr>
          <p:nvPr/>
        </p:nvSpPr>
        <p:spPr bwMode="auto">
          <a:xfrm>
            <a:off x="7471528" y="3937645"/>
            <a:ext cx="233892" cy="287338"/>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99"/>
                </a:solidFill>
                <a:latin typeface="+mn-lt"/>
                <a:ea typeface="黑体" pitchFamily="2" charset="-122"/>
              </a:rPr>
              <a:t>49</a:t>
            </a:r>
          </a:p>
        </p:txBody>
      </p:sp>
      <p:sp>
        <p:nvSpPr>
          <p:cNvPr id="724006" name="Rectangle 38"/>
          <p:cNvSpPr>
            <a:spLocks noChangeArrowheads="1"/>
          </p:cNvSpPr>
          <p:nvPr/>
        </p:nvSpPr>
        <p:spPr bwMode="auto">
          <a:xfrm>
            <a:off x="7784530" y="3936059"/>
            <a:ext cx="233892" cy="287337"/>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99"/>
                </a:solidFill>
                <a:latin typeface="+mn-lt"/>
                <a:ea typeface="黑体" pitchFamily="2" charset="-122"/>
              </a:rPr>
              <a:t>50</a:t>
            </a:r>
          </a:p>
        </p:txBody>
      </p:sp>
      <p:sp>
        <p:nvSpPr>
          <p:cNvPr id="724007" name="Rectangle 39"/>
          <p:cNvSpPr>
            <a:spLocks noChangeArrowheads="1"/>
          </p:cNvSpPr>
          <p:nvPr/>
        </p:nvSpPr>
        <p:spPr bwMode="auto">
          <a:xfrm>
            <a:off x="8097532" y="3934470"/>
            <a:ext cx="233892" cy="287338"/>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99"/>
                </a:solidFill>
                <a:latin typeface="+mn-lt"/>
                <a:ea typeface="黑体" pitchFamily="2" charset="-122"/>
              </a:rPr>
              <a:t>51</a:t>
            </a:r>
          </a:p>
        </p:txBody>
      </p:sp>
      <p:sp>
        <p:nvSpPr>
          <p:cNvPr id="724008" name="Rectangle 40"/>
          <p:cNvSpPr>
            <a:spLocks noChangeArrowheads="1"/>
          </p:cNvSpPr>
          <p:nvPr/>
        </p:nvSpPr>
        <p:spPr bwMode="auto">
          <a:xfrm>
            <a:off x="8410534" y="3932884"/>
            <a:ext cx="233892" cy="287337"/>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99"/>
                </a:solidFill>
                <a:latin typeface="+mn-lt"/>
                <a:ea typeface="黑体" pitchFamily="2" charset="-122"/>
              </a:rPr>
              <a:t>52</a:t>
            </a:r>
          </a:p>
        </p:txBody>
      </p:sp>
      <p:sp>
        <p:nvSpPr>
          <p:cNvPr id="724009" name="Rectangle 41"/>
          <p:cNvSpPr>
            <a:spLocks noChangeArrowheads="1"/>
          </p:cNvSpPr>
          <p:nvPr/>
        </p:nvSpPr>
        <p:spPr bwMode="auto">
          <a:xfrm>
            <a:off x="8723536" y="3931295"/>
            <a:ext cx="233892" cy="287338"/>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99"/>
                </a:solidFill>
                <a:latin typeface="+mn-lt"/>
                <a:ea typeface="黑体" pitchFamily="2" charset="-122"/>
              </a:rPr>
              <a:t>53</a:t>
            </a:r>
          </a:p>
        </p:txBody>
      </p:sp>
      <p:sp>
        <p:nvSpPr>
          <p:cNvPr id="724010" name="Rectangle 42"/>
          <p:cNvSpPr>
            <a:spLocks noChangeArrowheads="1"/>
          </p:cNvSpPr>
          <p:nvPr/>
        </p:nvSpPr>
        <p:spPr bwMode="auto">
          <a:xfrm>
            <a:off x="9036538" y="3929709"/>
            <a:ext cx="233892" cy="287337"/>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99"/>
                </a:solidFill>
                <a:latin typeface="+mn-lt"/>
                <a:ea typeface="黑体" pitchFamily="2" charset="-122"/>
              </a:rPr>
              <a:t>54</a:t>
            </a:r>
          </a:p>
        </p:txBody>
      </p:sp>
      <p:sp>
        <p:nvSpPr>
          <p:cNvPr id="724011" name="Rectangle 43"/>
          <p:cNvSpPr>
            <a:spLocks noChangeArrowheads="1"/>
          </p:cNvSpPr>
          <p:nvPr/>
        </p:nvSpPr>
        <p:spPr bwMode="auto">
          <a:xfrm>
            <a:off x="9349540" y="3928120"/>
            <a:ext cx="233892" cy="287338"/>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99"/>
                </a:solidFill>
                <a:latin typeface="+mn-lt"/>
                <a:ea typeface="黑体" pitchFamily="2" charset="-122"/>
              </a:rPr>
              <a:t>55</a:t>
            </a:r>
          </a:p>
        </p:txBody>
      </p:sp>
      <p:sp>
        <p:nvSpPr>
          <p:cNvPr id="724012" name="Rectangle 44"/>
          <p:cNvSpPr>
            <a:spLocks noChangeArrowheads="1"/>
          </p:cNvSpPr>
          <p:nvPr/>
        </p:nvSpPr>
        <p:spPr bwMode="auto">
          <a:xfrm>
            <a:off x="9653943" y="3928120"/>
            <a:ext cx="233892" cy="287338"/>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99"/>
                </a:solidFill>
                <a:latin typeface="+mn-lt"/>
                <a:ea typeface="黑体" pitchFamily="2" charset="-122"/>
              </a:rPr>
              <a:t>56</a:t>
            </a:r>
          </a:p>
        </p:txBody>
      </p:sp>
      <p:sp>
        <p:nvSpPr>
          <p:cNvPr id="724013" name="Line 45"/>
          <p:cNvSpPr>
            <a:spLocks noChangeShapeType="1"/>
          </p:cNvSpPr>
          <p:nvPr/>
        </p:nvSpPr>
        <p:spPr bwMode="auto">
          <a:xfrm flipH="1" flipV="1">
            <a:off x="1954437" y="4275784"/>
            <a:ext cx="10319" cy="511175"/>
          </a:xfrm>
          <a:prstGeom prst="line">
            <a:avLst/>
          </a:prstGeom>
          <a:noFill/>
          <a:ln w="38100">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724014" name="Text Box 46"/>
          <p:cNvSpPr txBox="1">
            <a:spLocks noChangeArrowheads="1"/>
          </p:cNvSpPr>
          <p:nvPr/>
        </p:nvSpPr>
        <p:spPr bwMode="auto">
          <a:xfrm>
            <a:off x="1401480" y="4764733"/>
            <a:ext cx="1467068" cy="64633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lnSpc>
                <a:spcPct val="90000"/>
              </a:lnSpc>
            </a:pPr>
            <a:r>
              <a:rPr lang="en-US" altLang="zh-CN" sz="2000" b="1" dirty="0">
                <a:solidFill>
                  <a:srgbClr val="9900CC"/>
                </a:solidFill>
                <a:latin typeface="+mn-lt"/>
                <a:ea typeface="黑体" pitchFamily="2" charset="-122"/>
              </a:rPr>
              <a:t>B </a:t>
            </a:r>
            <a:r>
              <a:rPr lang="zh-CN" altLang="en-US" sz="2000" b="1" dirty="0">
                <a:solidFill>
                  <a:srgbClr val="9900CC"/>
                </a:solidFill>
                <a:latin typeface="+mn-lt"/>
                <a:ea typeface="黑体" pitchFamily="2" charset="-122"/>
              </a:rPr>
              <a:t>期望</a:t>
            </a:r>
          </a:p>
          <a:p>
            <a:pPr algn="ctr">
              <a:lnSpc>
                <a:spcPct val="90000"/>
              </a:lnSpc>
            </a:pPr>
            <a:r>
              <a:rPr lang="zh-CN" altLang="en-US" sz="2000" b="1" dirty="0">
                <a:solidFill>
                  <a:srgbClr val="9900CC"/>
                </a:solidFill>
                <a:latin typeface="+mn-lt"/>
                <a:ea typeface="黑体" pitchFamily="2" charset="-122"/>
              </a:rPr>
              <a:t>收到的序号</a:t>
            </a:r>
          </a:p>
        </p:txBody>
      </p:sp>
      <p:sp>
        <p:nvSpPr>
          <p:cNvPr id="724015" name="Line 47"/>
          <p:cNvSpPr>
            <a:spLocks noChangeShapeType="1"/>
          </p:cNvSpPr>
          <p:nvPr/>
        </p:nvSpPr>
        <p:spPr bwMode="auto">
          <a:xfrm>
            <a:off x="1784176" y="3116908"/>
            <a:ext cx="8600" cy="1357312"/>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724016" name="Text Box 48"/>
          <p:cNvSpPr txBox="1">
            <a:spLocks noChangeArrowheads="1"/>
          </p:cNvSpPr>
          <p:nvPr/>
        </p:nvSpPr>
        <p:spPr bwMode="auto">
          <a:xfrm>
            <a:off x="7635510" y="2708920"/>
            <a:ext cx="800219" cy="46166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400" b="1" dirty="0">
                <a:solidFill>
                  <a:srgbClr val="C00000"/>
                </a:solidFill>
                <a:latin typeface="+mn-lt"/>
                <a:ea typeface="黑体" pitchFamily="2" charset="-122"/>
              </a:rPr>
              <a:t>前沿</a:t>
            </a:r>
          </a:p>
        </p:txBody>
      </p:sp>
      <p:sp>
        <p:nvSpPr>
          <p:cNvPr id="724017" name="Text Box 49"/>
          <p:cNvSpPr txBox="1">
            <a:spLocks noChangeArrowheads="1"/>
          </p:cNvSpPr>
          <p:nvPr/>
        </p:nvSpPr>
        <p:spPr bwMode="auto">
          <a:xfrm>
            <a:off x="1402985" y="2708920"/>
            <a:ext cx="800219" cy="46166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400" b="1" dirty="0">
                <a:solidFill>
                  <a:srgbClr val="C00000"/>
                </a:solidFill>
                <a:latin typeface="+mn-lt"/>
                <a:ea typeface="黑体" pitchFamily="2" charset="-122"/>
              </a:rPr>
              <a:t>后沿</a:t>
            </a:r>
          </a:p>
        </p:txBody>
      </p:sp>
      <p:sp>
        <p:nvSpPr>
          <p:cNvPr id="724018" name="Line 50"/>
          <p:cNvSpPr>
            <a:spLocks noChangeShapeType="1"/>
          </p:cNvSpPr>
          <p:nvPr/>
        </p:nvSpPr>
        <p:spPr bwMode="auto">
          <a:xfrm>
            <a:off x="8033899" y="3102621"/>
            <a:ext cx="8600" cy="1357313"/>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724019" name="Text Box 51"/>
          <p:cNvSpPr txBox="1">
            <a:spLocks noChangeArrowheads="1"/>
          </p:cNvSpPr>
          <p:nvPr/>
        </p:nvSpPr>
        <p:spPr bwMode="auto">
          <a:xfrm>
            <a:off x="2276342" y="3083571"/>
            <a:ext cx="697627" cy="40011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a:solidFill>
                  <a:srgbClr val="000099"/>
                </a:solidFill>
                <a:latin typeface="+mn-lt"/>
                <a:ea typeface="黑体" pitchFamily="2" charset="-122"/>
              </a:rPr>
              <a:t>前移</a:t>
            </a:r>
          </a:p>
        </p:txBody>
      </p:sp>
      <p:sp>
        <p:nvSpPr>
          <p:cNvPr id="724020" name="Text Box 52"/>
          <p:cNvSpPr txBox="1">
            <a:spLocks noChangeArrowheads="1"/>
          </p:cNvSpPr>
          <p:nvPr/>
        </p:nvSpPr>
        <p:spPr bwMode="auto">
          <a:xfrm>
            <a:off x="6871625" y="3080396"/>
            <a:ext cx="697627" cy="40011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a:solidFill>
                  <a:srgbClr val="000099"/>
                </a:solidFill>
                <a:latin typeface="+mn-lt"/>
                <a:ea typeface="黑体" pitchFamily="2" charset="-122"/>
              </a:rPr>
              <a:t>收缩</a:t>
            </a:r>
          </a:p>
        </p:txBody>
      </p:sp>
      <p:grpSp>
        <p:nvGrpSpPr>
          <p:cNvPr id="724021" name="Group 53"/>
          <p:cNvGrpSpPr>
            <a:grpSpLocks/>
          </p:cNvGrpSpPr>
          <p:nvPr/>
        </p:nvGrpSpPr>
        <p:grpSpPr bwMode="auto">
          <a:xfrm>
            <a:off x="6666665" y="3158183"/>
            <a:ext cx="233892" cy="288925"/>
            <a:chOff x="3833" y="1298"/>
            <a:chExt cx="136" cy="182"/>
          </a:xfrm>
        </p:grpSpPr>
        <p:sp>
          <p:nvSpPr>
            <p:cNvPr id="724022" name="Line 54"/>
            <p:cNvSpPr>
              <a:spLocks noChangeShapeType="1"/>
            </p:cNvSpPr>
            <p:nvPr/>
          </p:nvSpPr>
          <p:spPr bwMode="auto">
            <a:xfrm flipH="1">
              <a:off x="3833" y="1298"/>
              <a:ext cx="136" cy="182"/>
            </a:xfrm>
            <a:prstGeom prst="line">
              <a:avLst/>
            </a:prstGeom>
            <a:noFill/>
            <a:ln w="571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724023" name="Line 55"/>
            <p:cNvSpPr>
              <a:spLocks noChangeShapeType="1"/>
            </p:cNvSpPr>
            <p:nvPr/>
          </p:nvSpPr>
          <p:spPr bwMode="auto">
            <a:xfrm>
              <a:off x="3833" y="1298"/>
              <a:ext cx="136" cy="182"/>
            </a:xfrm>
            <a:prstGeom prst="line">
              <a:avLst/>
            </a:prstGeom>
            <a:noFill/>
            <a:ln w="571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grpSp>
      <p:sp>
        <p:nvSpPr>
          <p:cNvPr id="724024" name="Text Box 56"/>
          <p:cNvSpPr txBox="1">
            <a:spLocks noChangeArrowheads="1"/>
          </p:cNvSpPr>
          <p:nvPr/>
        </p:nvSpPr>
        <p:spPr bwMode="auto">
          <a:xfrm>
            <a:off x="511596" y="226095"/>
            <a:ext cx="9071836" cy="2308324"/>
          </a:xfrm>
          <a:prstGeom prst="rect">
            <a:avLst/>
          </a:prstGeom>
          <a:solidFill>
            <a:srgbClr val="FFFF99"/>
          </a:solidFill>
          <a:ln w="9525">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179388" indent="-179388">
              <a:buFont typeface="Arial" pitchFamily="34" charset="0"/>
              <a:buChar char="•"/>
            </a:pPr>
            <a:r>
              <a:rPr lang="zh-CN" altLang="en-US" sz="2400" b="1" dirty="0">
                <a:solidFill>
                  <a:srgbClr val="000099"/>
                </a:solidFill>
                <a:latin typeface="+mn-lt"/>
                <a:ea typeface="黑体" pitchFamily="2" charset="-122"/>
              </a:rPr>
              <a:t>根据 </a:t>
            </a:r>
            <a:r>
              <a:rPr lang="en-US" altLang="zh-CN" sz="2400" b="1" dirty="0">
                <a:solidFill>
                  <a:srgbClr val="000099"/>
                </a:solidFill>
                <a:latin typeface="+mn-lt"/>
                <a:ea typeface="黑体" pitchFamily="2" charset="-122"/>
              </a:rPr>
              <a:t>B </a:t>
            </a:r>
            <a:r>
              <a:rPr lang="zh-CN" altLang="en-US" sz="2400" b="1" dirty="0">
                <a:solidFill>
                  <a:srgbClr val="000099"/>
                </a:solidFill>
                <a:latin typeface="+mn-lt"/>
                <a:ea typeface="黑体" pitchFamily="2" charset="-122"/>
              </a:rPr>
              <a:t>给出的窗口值，</a:t>
            </a:r>
            <a:r>
              <a:rPr lang="en-US" altLang="zh-CN" sz="2400" b="1" dirty="0">
                <a:solidFill>
                  <a:srgbClr val="000099"/>
                </a:solidFill>
                <a:latin typeface="+mn-lt"/>
                <a:ea typeface="黑体" pitchFamily="2" charset="-122"/>
              </a:rPr>
              <a:t>A </a:t>
            </a:r>
            <a:r>
              <a:rPr lang="zh-CN" altLang="en-US" sz="2400" b="1" dirty="0">
                <a:solidFill>
                  <a:srgbClr val="000099"/>
                </a:solidFill>
                <a:latin typeface="+mn-lt"/>
                <a:ea typeface="黑体" pitchFamily="2" charset="-122"/>
              </a:rPr>
              <a:t>构造出自己的发送窗口。</a:t>
            </a:r>
            <a:endParaRPr lang="en-US" altLang="zh-CN" sz="2400" b="1" dirty="0">
              <a:solidFill>
                <a:srgbClr val="000099"/>
              </a:solidFill>
              <a:latin typeface="+mn-lt"/>
              <a:ea typeface="黑体" pitchFamily="2" charset="-122"/>
            </a:endParaRPr>
          </a:p>
          <a:p>
            <a:pPr marL="179388" indent="-179388">
              <a:buFont typeface="Arial" pitchFamily="34" charset="0"/>
              <a:buChar char="•"/>
            </a:pPr>
            <a:r>
              <a:rPr lang="zh-CN" altLang="zh-CN" sz="2400" b="1" dirty="0">
                <a:solidFill>
                  <a:srgbClr val="FF0000"/>
                </a:solidFill>
                <a:latin typeface="+mn-lt"/>
                <a:ea typeface="黑体" pitchFamily="2" charset="-122"/>
              </a:rPr>
              <a:t>发送窗口表示：在没有收到</a:t>
            </a:r>
            <a:r>
              <a:rPr lang="en-US" altLang="zh-CN" sz="2400" b="1" dirty="0">
                <a:solidFill>
                  <a:srgbClr val="FF0000"/>
                </a:solidFill>
                <a:latin typeface="+mn-lt"/>
                <a:ea typeface="黑体" pitchFamily="2" charset="-122"/>
              </a:rPr>
              <a:t> B </a:t>
            </a:r>
            <a:r>
              <a:rPr lang="zh-CN" altLang="zh-CN" sz="2400" b="1" dirty="0">
                <a:solidFill>
                  <a:srgbClr val="FF0000"/>
                </a:solidFill>
                <a:latin typeface="+mn-lt"/>
                <a:ea typeface="黑体" pitchFamily="2" charset="-122"/>
              </a:rPr>
              <a:t>的确认的情况下，</a:t>
            </a:r>
            <a:r>
              <a:rPr lang="en-US" altLang="zh-CN" sz="2400" b="1" dirty="0">
                <a:solidFill>
                  <a:srgbClr val="FF0000"/>
                </a:solidFill>
                <a:latin typeface="+mn-lt"/>
                <a:ea typeface="黑体" pitchFamily="2" charset="-122"/>
              </a:rPr>
              <a:t>A </a:t>
            </a:r>
            <a:r>
              <a:rPr lang="zh-CN" altLang="zh-CN" sz="2400" b="1" dirty="0">
                <a:solidFill>
                  <a:srgbClr val="FF0000"/>
                </a:solidFill>
                <a:latin typeface="+mn-lt"/>
                <a:ea typeface="黑体" pitchFamily="2" charset="-122"/>
              </a:rPr>
              <a:t>可以连续把窗口内的数据都发送出去。</a:t>
            </a:r>
            <a:r>
              <a:rPr lang="zh-CN" altLang="en-US" sz="2400" b="1" dirty="0">
                <a:solidFill>
                  <a:srgbClr val="FF0000"/>
                </a:solidFill>
                <a:latin typeface="+mn-lt"/>
                <a:ea typeface="黑体" pitchFamily="2" charset="-122"/>
              </a:rPr>
              <a:t> </a:t>
            </a:r>
            <a:endParaRPr lang="en-US" altLang="zh-CN" sz="2400" b="1" dirty="0">
              <a:solidFill>
                <a:srgbClr val="FF0000"/>
              </a:solidFill>
              <a:latin typeface="+mn-lt"/>
              <a:ea typeface="黑体" pitchFamily="2" charset="-122"/>
            </a:endParaRPr>
          </a:p>
          <a:p>
            <a:pPr marL="179388" indent="-179388">
              <a:buFont typeface="Arial" pitchFamily="34" charset="0"/>
              <a:buChar char="•"/>
            </a:pPr>
            <a:r>
              <a:rPr lang="zh-CN" altLang="zh-CN" sz="2400" b="1" dirty="0">
                <a:solidFill>
                  <a:srgbClr val="FF0000"/>
                </a:solidFill>
                <a:latin typeface="+mn-lt"/>
                <a:ea typeface="黑体" pitchFamily="2" charset="-122"/>
              </a:rPr>
              <a:t>发送窗口里面的序号表示允许发送的序号。</a:t>
            </a:r>
            <a:endParaRPr lang="en-US" altLang="zh-CN" sz="2400" b="1" dirty="0">
              <a:solidFill>
                <a:srgbClr val="FF0000"/>
              </a:solidFill>
              <a:latin typeface="+mn-lt"/>
              <a:ea typeface="黑体" pitchFamily="2" charset="-122"/>
            </a:endParaRPr>
          </a:p>
          <a:p>
            <a:pPr marL="179388" indent="-179388">
              <a:buFont typeface="Arial" pitchFamily="34" charset="0"/>
              <a:buChar char="•"/>
            </a:pPr>
            <a:r>
              <a:rPr lang="zh-CN" altLang="zh-CN" sz="2400" b="1" dirty="0">
                <a:solidFill>
                  <a:srgbClr val="000099"/>
                </a:solidFill>
                <a:latin typeface="+mn-lt"/>
                <a:ea typeface="黑体" pitchFamily="2" charset="-122"/>
              </a:rPr>
              <a:t>显然，窗口越大，发送方就可以在收到对方确认之前连续发送更多的数据，因而可能获得更高的传输效率。</a:t>
            </a:r>
            <a:endParaRPr lang="zh-CN" altLang="en-US" sz="2400" b="1" dirty="0">
              <a:solidFill>
                <a:srgbClr val="000099"/>
              </a:solidFill>
              <a:latin typeface="+mn-lt"/>
              <a:ea typeface="黑体" pitchFamily="2" charset="-122"/>
            </a:endParaRPr>
          </a:p>
        </p:txBody>
      </p:sp>
      <p:sp>
        <p:nvSpPr>
          <p:cNvPr id="724025" name="Text Box 57"/>
          <p:cNvSpPr txBox="1">
            <a:spLocks noChangeArrowheads="1"/>
          </p:cNvSpPr>
          <p:nvPr/>
        </p:nvSpPr>
        <p:spPr bwMode="auto">
          <a:xfrm>
            <a:off x="5006747" y="5045721"/>
            <a:ext cx="3890809" cy="954107"/>
          </a:xfrm>
          <a:prstGeom prst="rect">
            <a:avLst/>
          </a:prstGeom>
          <a:solidFill>
            <a:srgbClr val="000099"/>
          </a:solidFill>
          <a:ln w="9525">
            <a:solidFill>
              <a:schemeClr val="folHlink"/>
            </a:solidFill>
            <a:miter lim="800000"/>
            <a:headEnd/>
            <a:tailEnd/>
          </a:ln>
          <a:effectLst/>
        </p:spPr>
        <p:txBody>
          <a:bodyPr wrap="none">
            <a:spAutoFit/>
          </a:bodyPr>
          <a:lstStyle/>
          <a:p>
            <a:pPr algn="ctr"/>
            <a:r>
              <a:rPr lang="en-US" altLang="zh-CN" sz="2800" b="1" dirty="0">
                <a:solidFill>
                  <a:schemeClr val="bg1"/>
                </a:solidFill>
                <a:latin typeface="+mn-lt"/>
                <a:ea typeface="黑体" pitchFamily="2" charset="-122"/>
              </a:rPr>
              <a:t>TCP </a:t>
            </a:r>
            <a:r>
              <a:rPr lang="zh-CN" altLang="en-US" sz="2800" b="1" dirty="0">
                <a:solidFill>
                  <a:schemeClr val="bg1"/>
                </a:solidFill>
                <a:latin typeface="+mn-lt"/>
                <a:ea typeface="黑体" pitchFamily="2" charset="-122"/>
              </a:rPr>
              <a:t>标准强烈不赞成</a:t>
            </a:r>
          </a:p>
          <a:p>
            <a:pPr algn="ctr"/>
            <a:r>
              <a:rPr lang="zh-CN" altLang="en-US" sz="2800" b="1" dirty="0">
                <a:solidFill>
                  <a:schemeClr val="bg1"/>
                </a:solidFill>
                <a:latin typeface="+mn-lt"/>
                <a:ea typeface="黑体" pitchFamily="2" charset="-122"/>
              </a:rPr>
              <a:t>发送窗口前沿向后收缩 </a:t>
            </a:r>
          </a:p>
        </p:txBody>
      </p:sp>
    </p:spTree>
    <p:extLst>
      <p:ext uri="{BB962C8B-B14F-4D97-AF65-F5344CB8AC3E}">
        <p14:creationId xmlns:p14="http://schemas.microsoft.com/office/powerpoint/2010/main" val="262834538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6020" name="Line 4"/>
          <p:cNvSpPr>
            <a:spLocks noChangeShapeType="1"/>
          </p:cNvSpPr>
          <p:nvPr/>
        </p:nvSpPr>
        <p:spPr bwMode="auto">
          <a:xfrm flipV="1">
            <a:off x="1789337" y="3346451"/>
            <a:ext cx="6249723" cy="11113"/>
          </a:xfrm>
          <a:prstGeom prst="line">
            <a:avLst/>
          </a:prstGeom>
          <a:noFill/>
          <a:ln w="1905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726021" name="Line 5"/>
          <p:cNvSpPr>
            <a:spLocks noChangeShapeType="1"/>
          </p:cNvSpPr>
          <p:nvPr/>
        </p:nvSpPr>
        <p:spPr bwMode="auto">
          <a:xfrm flipV="1">
            <a:off x="1789337" y="1204913"/>
            <a:ext cx="6249723" cy="11112"/>
          </a:xfrm>
          <a:prstGeom prst="line">
            <a:avLst/>
          </a:prstGeom>
          <a:noFill/>
          <a:ln w="1905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726022" name="Text Box 6"/>
          <p:cNvSpPr txBox="1">
            <a:spLocks noChangeArrowheads="1"/>
          </p:cNvSpPr>
          <p:nvPr/>
        </p:nvSpPr>
        <p:spPr bwMode="auto">
          <a:xfrm>
            <a:off x="8223893" y="2201864"/>
            <a:ext cx="1467068" cy="40011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rgbClr val="FF0000"/>
                </a:solidFill>
                <a:latin typeface="+mn-lt"/>
                <a:ea typeface="黑体" pitchFamily="2" charset="-122"/>
              </a:rPr>
              <a:t>不允许发送</a:t>
            </a:r>
          </a:p>
        </p:txBody>
      </p:sp>
      <p:sp>
        <p:nvSpPr>
          <p:cNvPr id="726023" name="Text Box 7"/>
          <p:cNvSpPr txBox="1">
            <a:spLocks noChangeArrowheads="1"/>
          </p:cNvSpPr>
          <p:nvPr/>
        </p:nvSpPr>
        <p:spPr bwMode="auto">
          <a:xfrm>
            <a:off x="408416" y="2201864"/>
            <a:ext cx="1210588" cy="707886"/>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rgbClr val="C00000"/>
                </a:solidFill>
                <a:latin typeface="+mn-lt"/>
                <a:ea typeface="黑体" pitchFamily="2" charset="-122"/>
              </a:rPr>
              <a:t>已发送并</a:t>
            </a:r>
          </a:p>
          <a:p>
            <a:pPr algn="ctr"/>
            <a:r>
              <a:rPr lang="zh-CN" altLang="en-US" sz="2000" b="1" dirty="0">
                <a:solidFill>
                  <a:srgbClr val="C00000"/>
                </a:solidFill>
                <a:latin typeface="+mn-lt"/>
                <a:ea typeface="黑体" pitchFamily="2" charset="-122"/>
              </a:rPr>
              <a:t>收到确认</a:t>
            </a:r>
          </a:p>
        </p:txBody>
      </p:sp>
      <p:sp>
        <p:nvSpPr>
          <p:cNvPr id="726024" name="Text Box 8"/>
          <p:cNvSpPr txBox="1">
            <a:spLocks noChangeArrowheads="1"/>
          </p:cNvSpPr>
          <p:nvPr/>
        </p:nvSpPr>
        <p:spPr bwMode="auto">
          <a:xfrm>
            <a:off x="3158291" y="981076"/>
            <a:ext cx="2754408" cy="40011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000" b="1" dirty="0">
                <a:solidFill>
                  <a:srgbClr val="0000CC"/>
                </a:solidFill>
                <a:latin typeface="+mn-lt"/>
                <a:ea typeface="黑体" pitchFamily="2" charset="-122"/>
              </a:rPr>
              <a:t>A </a:t>
            </a:r>
            <a:r>
              <a:rPr lang="zh-CN" altLang="en-US" sz="2000" b="1" dirty="0">
                <a:solidFill>
                  <a:srgbClr val="0000CC"/>
                </a:solidFill>
                <a:latin typeface="+mn-lt"/>
                <a:ea typeface="黑体" pitchFamily="2" charset="-122"/>
              </a:rPr>
              <a:t>的</a:t>
            </a:r>
            <a:r>
              <a:rPr lang="zh-CN" altLang="en-US" sz="2000" b="1" dirty="0">
                <a:solidFill>
                  <a:srgbClr val="FF0000"/>
                </a:solidFill>
                <a:latin typeface="+mn-lt"/>
                <a:ea typeface="黑体" pitchFamily="2" charset="-122"/>
              </a:rPr>
              <a:t>发送窗口</a:t>
            </a:r>
            <a:r>
              <a:rPr lang="zh-CN" altLang="en-US" sz="2000" b="1" dirty="0">
                <a:solidFill>
                  <a:srgbClr val="0000CC"/>
                </a:solidFill>
                <a:latin typeface="+mn-lt"/>
                <a:ea typeface="黑体" pitchFamily="2" charset="-122"/>
              </a:rPr>
              <a:t>位置不变</a:t>
            </a:r>
          </a:p>
        </p:txBody>
      </p:sp>
      <p:sp>
        <p:nvSpPr>
          <p:cNvPr id="726025" name="Text Box 9"/>
          <p:cNvSpPr txBox="1">
            <a:spLocks noChangeArrowheads="1"/>
          </p:cNvSpPr>
          <p:nvPr/>
        </p:nvSpPr>
        <p:spPr bwMode="auto">
          <a:xfrm>
            <a:off x="5423610" y="2368551"/>
            <a:ext cx="2492990" cy="40011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rgbClr val="0000FF"/>
                </a:solidFill>
                <a:latin typeface="+mn-lt"/>
                <a:ea typeface="黑体" pitchFamily="2" charset="-122"/>
              </a:rPr>
              <a:t>允许发送但尚未发送</a:t>
            </a:r>
          </a:p>
        </p:txBody>
      </p:sp>
      <p:sp>
        <p:nvSpPr>
          <p:cNvPr id="726026" name="Rectangle 10"/>
          <p:cNvSpPr>
            <a:spLocks noChangeArrowheads="1"/>
          </p:cNvSpPr>
          <p:nvPr/>
        </p:nvSpPr>
        <p:spPr bwMode="auto">
          <a:xfrm>
            <a:off x="1796215" y="1708150"/>
            <a:ext cx="6248004" cy="649288"/>
          </a:xfrm>
          <a:prstGeom prst="rect">
            <a:avLst/>
          </a:prstGeom>
          <a:solidFill>
            <a:srgbClr val="3399FF"/>
          </a:solidFill>
          <a:ln>
            <a:noFill/>
          </a:ln>
          <a:effectLst>
            <a:outerShdw dist="35921" dir="2700000" algn="ctr" rotWithShape="0">
              <a:schemeClr val="bg2"/>
            </a:outerShdw>
          </a:effectLst>
        </p:spPr>
        <p:txBody>
          <a:bodyPr wrap="none" anchor="ctr"/>
          <a:lstStyle/>
          <a:p>
            <a:endParaRPr lang="zh-CN" altLang="en-US" b="1">
              <a:solidFill>
                <a:srgbClr val="0000CC"/>
              </a:solidFill>
              <a:latin typeface="+mn-lt"/>
              <a:ea typeface="黑体" pitchFamily="2" charset="-122"/>
            </a:endParaRPr>
          </a:p>
        </p:txBody>
      </p:sp>
      <p:sp>
        <p:nvSpPr>
          <p:cNvPr id="726027" name="Rectangle 11"/>
          <p:cNvSpPr>
            <a:spLocks noChangeArrowheads="1"/>
          </p:cNvSpPr>
          <p:nvPr/>
        </p:nvSpPr>
        <p:spPr bwMode="auto">
          <a:xfrm>
            <a:off x="274200" y="1924050"/>
            <a:ext cx="233892" cy="287338"/>
          </a:xfrm>
          <a:prstGeom prst="rect">
            <a:avLst/>
          </a:prstGeom>
          <a:solidFill>
            <a:srgbClr val="66FF33"/>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itchFamily="2" charset="-122"/>
              </a:rPr>
              <a:t>26</a:t>
            </a:r>
          </a:p>
        </p:txBody>
      </p:sp>
      <p:sp>
        <p:nvSpPr>
          <p:cNvPr id="726028" name="Rectangle 12"/>
          <p:cNvSpPr>
            <a:spLocks noChangeArrowheads="1"/>
          </p:cNvSpPr>
          <p:nvPr/>
        </p:nvSpPr>
        <p:spPr bwMode="auto">
          <a:xfrm>
            <a:off x="587202" y="1922464"/>
            <a:ext cx="233892" cy="287337"/>
          </a:xfrm>
          <a:prstGeom prst="rect">
            <a:avLst/>
          </a:prstGeom>
          <a:solidFill>
            <a:srgbClr val="66FF33"/>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itchFamily="2" charset="-122"/>
              </a:rPr>
              <a:t>27</a:t>
            </a:r>
          </a:p>
        </p:txBody>
      </p:sp>
      <p:sp>
        <p:nvSpPr>
          <p:cNvPr id="726029" name="Rectangle 13"/>
          <p:cNvSpPr>
            <a:spLocks noChangeArrowheads="1"/>
          </p:cNvSpPr>
          <p:nvPr/>
        </p:nvSpPr>
        <p:spPr bwMode="auto">
          <a:xfrm>
            <a:off x="900204" y="1920875"/>
            <a:ext cx="233892" cy="287338"/>
          </a:xfrm>
          <a:prstGeom prst="rect">
            <a:avLst/>
          </a:prstGeom>
          <a:solidFill>
            <a:srgbClr val="66FF33"/>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itchFamily="2" charset="-122"/>
              </a:rPr>
              <a:t>28</a:t>
            </a:r>
          </a:p>
        </p:txBody>
      </p:sp>
      <p:sp>
        <p:nvSpPr>
          <p:cNvPr id="726030" name="Rectangle 14"/>
          <p:cNvSpPr>
            <a:spLocks noChangeArrowheads="1"/>
          </p:cNvSpPr>
          <p:nvPr/>
        </p:nvSpPr>
        <p:spPr bwMode="auto">
          <a:xfrm>
            <a:off x="1213206" y="1919289"/>
            <a:ext cx="233892" cy="287337"/>
          </a:xfrm>
          <a:prstGeom prst="rect">
            <a:avLst/>
          </a:prstGeom>
          <a:solidFill>
            <a:srgbClr val="66FF33"/>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itchFamily="2" charset="-122"/>
              </a:rPr>
              <a:t>29</a:t>
            </a:r>
          </a:p>
        </p:txBody>
      </p:sp>
      <p:sp>
        <p:nvSpPr>
          <p:cNvPr id="726031" name="Rectangle 15"/>
          <p:cNvSpPr>
            <a:spLocks noChangeArrowheads="1"/>
          </p:cNvSpPr>
          <p:nvPr/>
        </p:nvSpPr>
        <p:spPr bwMode="auto">
          <a:xfrm>
            <a:off x="1526208" y="1917700"/>
            <a:ext cx="233892" cy="287338"/>
          </a:xfrm>
          <a:prstGeom prst="rect">
            <a:avLst/>
          </a:prstGeom>
          <a:solidFill>
            <a:srgbClr val="66FF33"/>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itchFamily="2" charset="-122"/>
              </a:rPr>
              <a:t>30</a:t>
            </a:r>
          </a:p>
        </p:txBody>
      </p:sp>
      <p:sp>
        <p:nvSpPr>
          <p:cNvPr id="726032" name="Rectangle 16"/>
          <p:cNvSpPr>
            <a:spLocks noChangeArrowheads="1"/>
          </p:cNvSpPr>
          <p:nvPr/>
        </p:nvSpPr>
        <p:spPr bwMode="auto">
          <a:xfrm>
            <a:off x="1839210" y="1916113"/>
            <a:ext cx="233892" cy="287337"/>
          </a:xfrm>
          <a:prstGeom prst="rect">
            <a:avLst/>
          </a:prstGeom>
          <a:solidFill>
            <a:srgbClr val="FF00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itchFamily="2" charset="-122"/>
              </a:rPr>
              <a:t>31</a:t>
            </a:r>
          </a:p>
        </p:txBody>
      </p:sp>
      <p:sp>
        <p:nvSpPr>
          <p:cNvPr id="726033" name="Rectangle 17"/>
          <p:cNvSpPr>
            <a:spLocks noChangeArrowheads="1"/>
          </p:cNvSpPr>
          <p:nvPr/>
        </p:nvSpPr>
        <p:spPr bwMode="auto">
          <a:xfrm>
            <a:off x="2152213" y="1914525"/>
            <a:ext cx="233892" cy="287338"/>
          </a:xfrm>
          <a:prstGeom prst="rect">
            <a:avLst/>
          </a:prstGeom>
          <a:solidFill>
            <a:srgbClr val="FF00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itchFamily="2" charset="-122"/>
              </a:rPr>
              <a:t>32</a:t>
            </a:r>
          </a:p>
        </p:txBody>
      </p:sp>
      <p:sp>
        <p:nvSpPr>
          <p:cNvPr id="726034" name="Rectangle 18"/>
          <p:cNvSpPr>
            <a:spLocks noChangeArrowheads="1"/>
          </p:cNvSpPr>
          <p:nvPr/>
        </p:nvSpPr>
        <p:spPr bwMode="auto">
          <a:xfrm>
            <a:off x="2465215" y="1912939"/>
            <a:ext cx="233892" cy="287337"/>
          </a:xfrm>
          <a:prstGeom prst="rect">
            <a:avLst/>
          </a:prstGeom>
          <a:solidFill>
            <a:srgbClr val="FF00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itchFamily="2" charset="-122"/>
              </a:rPr>
              <a:t>33</a:t>
            </a:r>
          </a:p>
        </p:txBody>
      </p:sp>
      <p:sp>
        <p:nvSpPr>
          <p:cNvPr id="726035" name="Rectangle 19"/>
          <p:cNvSpPr>
            <a:spLocks noChangeArrowheads="1"/>
          </p:cNvSpPr>
          <p:nvPr/>
        </p:nvSpPr>
        <p:spPr bwMode="auto">
          <a:xfrm>
            <a:off x="2778217" y="1911350"/>
            <a:ext cx="233892" cy="287338"/>
          </a:xfrm>
          <a:prstGeom prst="rect">
            <a:avLst/>
          </a:prstGeom>
          <a:solidFill>
            <a:srgbClr val="FF00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itchFamily="2" charset="-122"/>
              </a:rPr>
              <a:t>34</a:t>
            </a:r>
          </a:p>
        </p:txBody>
      </p:sp>
      <p:sp>
        <p:nvSpPr>
          <p:cNvPr id="726036" name="Rectangle 20"/>
          <p:cNvSpPr>
            <a:spLocks noChangeArrowheads="1"/>
          </p:cNvSpPr>
          <p:nvPr/>
        </p:nvSpPr>
        <p:spPr bwMode="auto">
          <a:xfrm>
            <a:off x="3091219" y="1909764"/>
            <a:ext cx="233892" cy="287337"/>
          </a:xfrm>
          <a:prstGeom prst="rect">
            <a:avLst/>
          </a:prstGeom>
          <a:solidFill>
            <a:srgbClr val="FF00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itchFamily="2" charset="-122"/>
              </a:rPr>
              <a:t>35</a:t>
            </a:r>
          </a:p>
        </p:txBody>
      </p:sp>
      <p:sp>
        <p:nvSpPr>
          <p:cNvPr id="726037" name="Rectangle 21"/>
          <p:cNvSpPr>
            <a:spLocks noChangeArrowheads="1"/>
          </p:cNvSpPr>
          <p:nvPr/>
        </p:nvSpPr>
        <p:spPr bwMode="auto">
          <a:xfrm>
            <a:off x="3404221" y="1908175"/>
            <a:ext cx="233892" cy="287338"/>
          </a:xfrm>
          <a:prstGeom prst="rect">
            <a:avLst/>
          </a:prstGeom>
          <a:solidFill>
            <a:srgbClr val="FF00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itchFamily="2" charset="-122"/>
              </a:rPr>
              <a:t>36</a:t>
            </a:r>
          </a:p>
        </p:txBody>
      </p:sp>
      <p:sp>
        <p:nvSpPr>
          <p:cNvPr id="726038" name="Rectangle 22"/>
          <p:cNvSpPr>
            <a:spLocks noChangeArrowheads="1"/>
          </p:cNvSpPr>
          <p:nvPr/>
        </p:nvSpPr>
        <p:spPr bwMode="auto">
          <a:xfrm>
            <a:off x="3717223" y="1906589"/>
            <a:ext cx="233892" cy="287337"/>
          </a:xfrm>
          <a:prstGeom prst="rect">
            <a:avLst/>
          </a:prstGeom>
          <a:solidFill>
            <a:srgbClr val="FF00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itchFamily="2" charset="-122"/>
              </a:rPr>
              <a:t>37</a:t>
            </a:r>
          </a:p>
        </p:txBody>
      </p:sp>
      <p:sp>
        <p:nvSpPr>
          <p:cNvPr id="726039" name="Rectangle 23"/>
          <p:cNvSpPr>
            <a:spLocks noChangeArrowheads="1"/>
          </p:cNvSpPr>
          <p:nvPr/>
        </p:nvSpPr>
        <p:spPr bwMode="auto">
          <a:xfrm>
            <a:off x="4030225" y="1905000"/>
            <a:ext cx="233892" cy="287338"/>
          </a:xfrm>
          <a:prstGeom prst="rect">
            <a:avLst/>
          </a:prstGeom>
          <a:solidFill>
            <a:srgbClr val="FF00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itchFamily="2" charset="-122"/>
              </a:rPr>
              <a:t>38</a:t>
            </a:r>
          </a:p>
        </p:txBody>
      </p:sp>
      <p:sp>
        <p:nvSpPr>
          <p:cNvPr id="726040" name="Rectangle 24"/>
          <p:cNvSpPr>
            <a:spLocks noChangeArrowheads="1"/>
          </p:cNvSpPr>
          <p:nvPr/>
        </p:nvSpPr>
        <p:spPr bwMode="auto">
          <a:xfrm>
            <a:off x="4343227" y="1903414"/>
            <a:ext cx="233892" cy="287337"/>
          </a:xfrm>
          <a:prstGeom prst="rect">
            <a:avLst/>
          </a:prstGeom>
          <a:solidFill>
            <a:srgbClr val="FF00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itchFamily="2" charset="-122"/>
              </a:rPr>
              <a:t>39</a:t>
            </a:r>
          </a:p>
        </p:txBody>
      </p:sp>
      <p:sp>
        <p:nvSpPr>
          <p:cNvPr id="726041" name="Rectangle 25"/>
          <p:cNvSpPr>
            <a:spLocks noChangeArrowheads="1"/>
          </p:cNvSpPr>
          <p:nvPr/>
        </p:nvSpPr>
        <p:spPr bwMode="auto">
          <a:xfrm>
            <a:off x="4656229" y="1901825"/>
            <a:ext cx="233892" cy="287338"/>
          </a:xfrm>
          <a:prstGeom prst="rect">
            <a:avLst/>
          </a:prstGeom>
          <a:solidFill>
            <a:srgbClr val="FF00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itchFamily="2" charset="-122"/>
              </a:rPr>
              <a:t>40</a:t>
            </a:r>
          </a:p>
        </p:txBody>
      </p:sp>
      <p:sp>
        <p:nvSpPr>
          <p:cNvPr id="726042" name="Rectangle 26"/>
          <p:cNvSpPr>
            <a:spLocks noChangeArrowheads="1"/>
          </p:cNvSpPr>
          <p:nvPr/>
        </p:nvSpPr>
        <p:spPr bwMode="auto">
          <a:xfrm>
            <a:off x="4969231" y="1900239"/>
            <a:ext cx="233892" cy="287337"/>
          </a:xfrm>
          <a:prstGeom prst="rect">
            <a:avLst/>
          </a:prstGeom>
          <a:solidFill>
            <a:srgbClr val="FF00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itchFamily="2" charset="-122"/>
              </a:rPr>
              <a:t>41</a:t>
            </a:r>
          </a:p>
        </p:txBody>
      </p:sp>
      <p:sp>
        <p:nvSpPr>
          <p:cNvPr id="726043" name="Rectangle 27"/>
          <p:cNvSpPr>
            <a:spLocks noChangeArrowheads="1"/>
          </p:cNvSpPr>
          <p:nvPr/>
        </p:nvSpPr>
        <p:spPr bwMode="auto">
          <a:xfrm>
            <a:off x="5282233" y="1898650"/>
            <a:ext cx="233892" cy="287338"/>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itchFamily="2" charset="-122"/>
              </a:rPr>
              <a:t>42</a:t>
            </a:r>
          </a:p>
        </p:txBody>
      </p:sp>
      <p:sp>
        <p:nvSpPr>
          <p:cNvPr id="726044" name="Rectangle 28"/>
          <p:cNvSpPr>
            <a:spLocks noChangeArrowheads="1"/>
          </p:cNvSpPr>
          <p:nvPr/>
        </p:nvSpPr>
        <p:spPr bwMode="auto">
          <a:xfrm>
            <a:off x="5595235" y="1897064"/>
            <a:ext cx="233892" cy="287337"/>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itchFamily="2" charset="-122"/>
              </a:rPr>
              <a:t>43</a:t>
            </a:r>
          </a:p>
        </p:txBody>
      </p:sp>
      <p:sp>
        <p:nvSpPr>
          <p:cNvPr id="726045" name="Rectangle 29"/>
          <p:cNvSpPr>
            <a:spLocks noChangeArrowheads="1"/>
          </p:cNvSpPr>
          <p:nvPr/>
        </p:nvSpPr>
        <p:spPr bwMode="auto">
          <a:xfrm>
            <a:off x="5908238" y="1895475"/>
            <a:ext cx="233892" cy="287338"/>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itchFamily="2" charset="-122"/>
              </a:rPr>
              <a:t>44</a:t>
            </a:r>
          </a:p>
        </p:txBody>
      </p:sp>
      <p:sp>
        <p:nvSpPr>
          <p:cNvPr id="726046" name="Rectangle 30"/>
          <p:cNvSpPr>
            <a:spLocks noChangeArrowheads="1"/>
          </p:cNvSpPr>
          <p:nvPr/>
        </p:nvSpPr>
        <p:spPr bwMode="auto">
          <a:xfrm>
            <a:off x="6221240" y="1893889"/>
            <a:ext cx="233892" cy="287337"/>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itchFamily="2" charset="-122"/>
              </a:rPr>
              <a:t>45</a:t>
            </a:r>
          </a:p>
        </p:txBody>
      </p:sp>
      <p:sp>
        <p:nvSpPr>
          <p:cNvPr id="726047" name="Rectangle 31"/>
          <p:cNvSpPr>
            <a:spLocks noChangeArrowheads="1"/>
          </p:cNvSpPr>
          <p:nvPr/>
        </p:nvSpPr>
        <p:spPr bwMode="auto">
          <a:xfrm>
            <a:off x="6534242" y="1892300"/>
            <a:ext cx="233892" cy="287338"/>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itchFamily="2" charset="-122"/>
              </a:rPr>
              <a:t>46</a:t>
            </a:r>
          </a:p>
        </p:txBody>
      </p:sp>
      <p:sp>
        <p:nvSpPr>
          <p:cNvPr id="726048" name="Rectangle 32"/>
          <p:cNvSpPr>
            <a:spLocks noChangeArrowheads="1"/>
          </p:cNvSpPr>
          <p:nvPr/>
        </p:nvSpPr>
        <p:spPr bwMode="auto">
          <a:xfrm>
            <a:off x="6847244" y="1890713"/>
            <a:ext cx="233892" cy="287337"/>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itchFamily="2" charset="-122"/>
              </a:rPr>
              <a:t>47</a:t>
            </a:r>
          </a:p>
        </p:txBody>
      </p:sp>
      <p:sp>
        <p:nvSpPr>
          <p:cNvPr id="726049" name="Rectangle 33"/>
          <p:cNvSpPr>
            <a:spLocks noChangeArrowheads="1"/>
          </p:cNvSpPr>
          <p:nvPr/>
        </p:nvSpPr>
        <p:spPr bwMode="auto">
          <a:xfrm>
            <a:off x="7160246" y="1889125"/>
            <a:ext cx="233892" cy="287338"/>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itchFamily="2" charset="-122"/>
              </a:rPr>
              <a:t>48</a:t>
            </a:r>
          </a:p>
        </p:txBody>
      </p:sp>
      <p:sp>
        <p:nvSpPr>
          <p:cNvPr id="726050" name="Rectangle 34"/>
          <p:cNvSpPr>
            <a:spLocks noChangeArrowheads="1"/>
          </p:cNvSpPr>
          <p:nvPr/>
        </p:nvSpPr>
        <p:spPr bwMode="auto">
          <a:xfrm>
            <a:off x="7473248" y="1887539"/>
            <a:ext cx="233892" cy="287337"/>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itchFamily="2" charset="-122"/>
              </a:rPr>
              <a:t>49</a:t>
            </a:r>
          </a:p>
        </p:txBody>
      </p:sp>
      <p:sp>
        <p:nvSpPr>
          <p:cNvPr id="726051" name="Rectangle 35"/>
          <p:cNvSpPr>
            <a:spLocks noChangeArrowheads="1"/>
          </p:cNvSpPr>
          <p:nvPr/>
        </p:nvSpPr>
        <p:spPr bwMode="auto">
          <a:xfrm>
            <a:off x="7786250" y="1885950"/>
            <a:ext cx="233892" cy="287338"/>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itchFamily="2" charset="-122"/>
              </a:rPr>
              <a:t>50</a:t>
            </a:r>
          </a:p>
        </p:txBody>
      </p:sp>
      <p:sp>
        <p:nvSpPr>
          <p:cNvPr id="726052" name="Rectangle 36"/>
          <p:cNvSpPr>
            <a:spLocks noChangeArrowheads="1"/>
          </p:cNvSpPr>
          <p:nvPr/>
        </p:nvSpPr>
        <p:spPr bwMode="auto">
          <a:xfrm>
            <a:off x="8099252" y="1884364"/>
            <a:ext cx="233892" cy="287337"/>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itchFamily="2" charset="-122"/>
              </a:rPr>
              <a:t>51</a:t>
            </a:r>
          </a:p>
        </p:txBody>
      </p:sp>
      <p:sp>
        <p:nvSpPr>
          <p:cNvPr id="726053" name="Rectangle 37"/>
          <p:cNvSpPr>
            <a:spLocks noChangeArrowheads="1"/>
          </p:cNvSpPr>
          <p:nvPr/>
        </p:nvSpPr>
        <p:spPr bwMode="auto">
          <a:xfrm>
            <a:off x="8412254" y="1882775"/>
            <a:ext cx="233892" cy="287338"/>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itchFamily="2" charset="-122"/>
              </a:rPr>
              <a:t>52</a:t>
            </a:r>
          </a:p>
        </p:txBody>
      </p:sp>
      <p:sp>
        <p:nvSpPr>
          <p:cNvPr id="726054" name="Rectangle 38"/>
          <p:cNvSpPr>
            <a:spLocks noChangeArrowheads="1"/>
          </p:cNvSpPr>
          <p:nvPr/>
        </p:nvSpPr>
        <p:spPr bwMode="auto">
          <a:xfrm>
            <a:off x="8725256" y="1881188"/>
            <a:ext cx="233892" cy="287337"/>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itchFamily="2" charset="-122"/>
              </a:rPr>
              <a:t>53</a:t>
            </a:r>
          </a:p>
        </p:txBody>
      </p:sp>
      <p:sp>
        <p:nvSpPr>
          <p:cNvPr id="726055" name="Rectangle 39"/>
          <p:cNvSpPr>
            <a:spLocks noChangeArrowheads="1"/>
          </p:cNvSpPr>
          <p:nvPr/>
        </p:nvSpPr>
        <p:spPr bwMode="auto">
          <a:xfrm>
            <a:off x="9038258" y="1879600"/>
            <a:ext cx="233892" cy="287338"/>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itchFamily="2" charset="-122"/>
              </a:rPr>
              <a:t>54</a:t>
            </a:r>
          </a:p>
        </p:txBody>
      </p:sp>
      <p:sp>
        <p:nvSpPr>
          <p:cNvPr id="726056" name="Rectangle 40"/>
          <p:cNvSpPr>
            <a:spLocks noChangeArrowheads="1"/>
          </p:cNvSpPr>
          <p:nvPr/>
        </p:nvSpPr>
        <p:spPr bwMode="auto">
          <a:xfrm>
            <a:off x="9351260" y="1878014"/>
            <a:ext cx="233892" cy="287337"/>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itchFamily="2" charset="-122"/>
              </a:rPr>
              <a:t>55</a:t>
            </a:r>
          </a:p>
        </p:txBody>
      </p:sp>
      <p:sp>
        <p:nvSpPr>
          <p:cNvPr id="726057" name="Text Box 41"/>
          <p:cNvSpPr txBox="1">
            <a:spLocks noChangeArrowheads="1"/>
          </p:cNvSpPr>
          <p:nvPr/>
        </p:nvSpPr>
        <p:spPr bwMode="auto">
          <a:xfrm>
            <a:off x="2355148" y="2386014"/>
            <a:ext cx="2492990" cy="40011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000" b="1" dirty="0">
                <a:solidFill>
                  <a:srgbClr val="0000FF"/>
                </a:solidFill>
                <a:latin typeface="+mn-lt"/>
                <a:ea typeface="黑体" pitchFamily="2" charset="-122"/>
              </a:rPr>
              <a:t>已发送但未收到确认</a:t>
            </a:r>
          </a:p>
        </p:txBody>
      </p:sp>
      <p:sp>
        <p:nvSpPr>
          <p:cNvPr id="726058" name="Rectangle 42"/>
          <p:cNvSpPr>
            <a:spLocks noChangeArrowheads="1"/>
          </p:cNvSpPr>
          <p:nvPr/>
        </p:nvSpPr>
        <p:spPr bwMode="auto">
          <a:xfrm>
            <a:off x="9655663" y="1878014"/>
            <a:ext cx="233892" cy="287337"/>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itchFamily="2" charset="-122"/>
              </a:rPr>
              <a:t>56</a:t>
            </a:r>
          </a:p>
        </p:txBody>
      </p:sp>
      <p:sp>
        <p:nvSpPr>
          <p:cNvPr id="726060" name="Line 44"/>
          <p:cNvSpPr>
            <a:spLocks noChangeShapeType="1"/>
          </p:cNvSpPr>
          <p:nvPr/>
        </p:nvSpPr>
        <p:spPr bwMode="auto">
          <a:xfrm flipV="1">
            <a:off x="1956156" y="2212976"/>
            <a:ext cx="0" cy="576263"/>
          </a:xfrm>
          <a:prstGeom prst="line">
            <a:avLst/>
          </a:prstGeom>
          <a:noFill/>
          <a:ln w="38100">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726061" name="Text Box 45"/>
          <p:cNvSpPr txBox="1">
            <a:spLocks noChangeArrowheads="1"/>
          </p:cNvSpPr>
          <p:nvPr/>
        </p:nvSpPr>
        <p:spPr bwMode="auto">
          <a:xfrm>
            <a:off x="1771189" y="2760664"/>
            <a:ext cx="450764" cy="40011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a:solidFill>
                  <a:srgbClr val="0000CC"/>
                </a:solidFill>
                <a:latin typeface="+mn-lt"/>
                <a:ea typeface="黑体" pitchFamily="2" charset="-122"/>
              </a:rPr>
              <a:t>P</a:t>
            </a:r>
            <a:r>
              <a:rPr lang="en-US" altLang="zh-CN" sz="2000" b="1" baseline="-25000">
                <a:solidFill>
                  <a:srgbClr val="0000CC"/>
                </a:solidFill>
                <a:latin typeface="+mn-lt"/>
                <a:ea typeface="黑体" pitchFamily="2" charset="-122"/>
              </a:rPr>
              <a:t>1</a:t>
            </a:r>
          </a:p>
        </p:txBody>
      </p:sp>
      <p:sp>
        <p:nvSpPr>
          <p:cNvPr id="726063" name="Line 47"/>
          <p:cNvSpPr>
            <a:spLocks noChangeShapeType="1"/>
          </p:cNvSpPr>
          <p:nvPr/>
        </p:nvSpPr>
        <p:spPr bwMode="auto">
          <a:xfrm flipV="1">
            <a:off x="5399179" y="2212976"/>
            <a:ext cx="0" cy="576263"/>
          </a:xfrm>
          <a:prstGeom prst="line">
            <a:avLst/>
          </a:prstGeom>
          <a:noFill/>
          <a:ln w="38100">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726064" name="Text Box 48"/>
          <p:cNvSpPr txBox="1">
            <a:spLocks noChangeArrowheads="1"/>
          </p:cNvSpPr>
          <p:nvPr/>
        </p:nvSpPr>
        <p:spPr bwMode="auto">
          <a:xfrm>
            <a:off x="5233130" y="2760664"/>
            <a:ext cx="450764" cy="40011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a:solidFill>
                  <a:srgbClr val="0000CC"/>
                </a:solidFill>
                <a:latin typeface="+mn-lt"/>
                <a:ea typeface="黑体" pitchFamily="2" charset="-122"/>
              </a:rPr>
              <a:t>P</a:t>
            </a:r>
            <a:r>
              <a:rPr lang="en-US" altLang="zh-CN" sz="2000" b="1" baseline="-25000">
                <a:solidFill>
                  <a:srgbClr val="0000CC"/>
                </a:solidFill>
                <a:latin typeface="+mn-lt"/>
                <a:ea typeface="黑体" pitchFamily="2" charset="-122"/>
              </a:rPr>
              <a:t>2</a:t>
            </a:r>
          </a:p>
        </p:txBody>
      </p:sp>
      <p:sp>
        <p:nvSpPr>
          <p:cNvPr id="726066" name="Line 50"/>
          <p:cNvSpPr>
            <a:spLocks noChangeShapeType="1"/>
          </p:cNvSpPr>
          <p:nvPr/>
        </p:nvSpPr>
        <p:spPr bwMode="auto">
          <a:xfrm flipV="1">
            <a:off x="8228236" y="2212976"/>
            <a:ext cx="0" cy="576263"/>
          </a:xfrm>
          <a:prstGeom prst="line">
            <a:avLst/>
          </a:prstGeom>
          <a:noFill/>
          <a:ln w="38100">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726067" name="Text Box 51"/>
          <p:cNvSpPr txBox="1">
            <a:spLocks noChangeArrowheads="1"/>
          </p:cNvSpPr>
          <p:nvPr/>
        </p:nvSpPr>
        <p:spPr bwMode="auto">
          <a:xfrm>
            <a:off x="8048429" y="2760664"/>
            <a:ext cx="450764" cy="40011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a:solidFill>
                  <a:srgbClr val="0000CC"/>
                </a:solidFill>
                <a:latin typeface="+mn-lt"/>
                <a:ea typeface="黑体" pitchFamily="2" charset="-122"/>
              </a:rPr>
              <a:t>P</a:t>
            </a:r>
            <a:r>
              <a:rPr lang="en-US" altLang="zh-CN" sz="2000" b="1" baseline="-25000">
                <a:solidFill>
                  <a:srgbClr val="0000CC"/>
                </a:solidFill>
                <a:latin typeface="+mn-lt"/>
                <a:ea typeface="黑体" pitchFamily="2" charset="-122"/>
              </a:rPr>
              <a:t>3</a:t>
            </a:r>
          </a:p>
        </p:txBody>
      </p:sp>
      <p:sp>
        <p:nvSpPr>
          <p:cNvPr id="726068" name="Text Box 52"/>
          <p:cNvSpPr txBox="1">
            <a:spLocks noChangeArrowheads="1"/>
          </p:cNvSpPr>
          <p:nvPr/>
        </p:nvSpPr>
        <p:spPr bwMode="auto">
          <a:xfrm>
            <a:off x="8222174" y="3971926"/>
            <a:ext cx="1467068" cy="40011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a:solidFill>
                  <a:srgbClr val="FF0000"/>
                </a:solidFill>
                <a:latin typeface="+mn-lt"/>
                <a:ea typeface="黑体" pitchFamily="2" charset="-122"/>
              </a:rPr>
              <a:t>不允许接收</a:t>
            </a:r>
          </a:p>
        </p:txBody>
      </p:sp>
      <p:sp>
        <p:nvSpPr>
          <p:cNvPr id="726069" name="Text Box 53"/>
          <p:cNvSpPr txBox="1">
            <a:spLocks noChangeArrowheads="1"/>
          </p:cNvSpPr>
          <p:nvPr/>
        </p:nvSpPr>
        <p:spPr bwMode="auto">
          <a:xfrm>
            <a:off x="278456" y="3971926"/>
            <a:ext cx="1467068" cy="707886"/>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rgbClr val="C00000"/>
                </a:solidFill>
                <a:latin typeface="+mn-lt"/>
                <a:ea typeface="黑体" pitchFamily="2" charset="-122"/>
              </a:rPr>
              <a:t>已发送确认</a:t>
            </a:r>
          </a:p>
          <a:p>
            <a:pPr algn="ctr"/>
            <a:r>
              <a:rPr lang="zh-CN" altLang="en-US" sz="2000" b="1" dirty="0">
                <a:solidFill>
                  <a:srgbClr val="C00000"/>
                </a:solidFill>
                <a:latin typeface="+mn-lt"/>
                <a:ea typeface="黑体" pitchFamily="2" charset="-122"/>
              </a:rPr>
              <a:t>并交付主机</a:t>
            </a:r>
          </a:p>
        </p:txBody>
      </p:sp>
      <p:sp>
        <p:nvSpPr>
          <p:cNvPr id="726070" name="Text Box 54"/>
          <p:cNvSpPr txBox="1">
            <a:spLocks noChangeArrowheads="1"/>
          </p:cNvSpPr>
          <p:nvPr/>
        </p:nvSpPr>
        <p:spPr bwMode="auto">
          <a:xfrm>
            <a:off x="3939076" y="3141664"/>
            <a:ext cx="1731564" cy="40011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000" b="1" dirty="0">
                <a:solidFill>
                  <a:srgbClr val="0000CC"/>
                </a:solidFill>
                <a:latin typeface="+mn-lt"/>
                <a:ea typeface="黑体" pitchFamily="2" charset="-122"/>
              </a:rPr>
              <a:t>B </a:t>
            </a:r>
            <a:r>
              <a:rPr lang="zh-CN" altLang="en-US" sz="2000" b="1" dirty="0">
                <a:solidFill>
                  <a:srgbClr val="0000CC"/>
                </a:solidFill>
                <a:latin typeface="+mn-lt"/>
                <a:ea typeface="黑体" pitchFamily="2" charset="-122"/>
              </a:rPr>
              <a:t>的</a:t>
            </a:r>
            <a:r>
              <a:rPr lang="zh-CN" altLang="en-US" sz="2000" b="1" dirty="0">
                <a:solidFill>
                  <a:srgbClr val="FF0000"/>
                </a:solidFill>
                <a:latin typeface="+mn-lt"/>
                <a:ea typeface="黑体" pitchFamily="2" charset="-122"/>
              </a:rPr>
              <a:t>接收窗口</a:t>
            </a:r>
          </a:p>
        </p:txBody>
      </p:sp>
      <p:sp>
        <p:nvSpPr>
          <p:cNvPr id="726071" name="Text Box 55"/>
          <p:cNvSpPr txBox="1">
            <a:spLocks noChangeArrowheads="1"/>
          </p:cNvSpPr>
          <p:nvPr/>
        </p:nvSpPr>
        <p:spPr bwMode="auto">
          <a:xfrm>
            <a:off x="4371645" y="4191471"/>
            <a:ext cx="1422184" cy="46166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400" b="1" dirty="0">
                <a:solidFill>
                  <a:srgbClr val="0000FF"/>
                </a:solidFill>
                <a:latin typeface="+mn-lt"/>
                <a:ea typeface="黑体" pitchFamily="2" charset="-122"/>
              </a:rPr>
              <a:t>允许接收</a:t>
            </a:r>
          </a:p>
        </p:txBody>
      </p:sp>
      <p:sp>
        <p:nvSpPr>
          <p:cNvPr id="726072" name="Rectangle 56"/>
          <p:cNvSpPr>
            <a:spLocks noChangeArrowheads="1"/>
          </p:cNvSpPr>
          <p:nvPr/>
        </p:nvSpPr>
        <p:spPr bwMode="auto">
          <a:xfrm>
            <a:off x="1794496" y="3500439"/>
            <a:ext cx="6248003" cy="649287"/>
          </a:xfrm>
          <a:prstGeom prst="rect">
            <a:avLst/>
          </a:prstGeom>
          <a:solidFill>
            <a:srgbClr val="3399FF"/>
          </a:solidFill>
          <a:ln>
            <a:noFill/>
          </a:ln>
          <a:effectLst>
            <a:outerShdw dist="35921" dir="2700000" algn="ctr" rotWithShape="0">
              <a:schemeClr val="bg2"/>
            </a:outerShdw>
          </a:effectLst>
        </p:spPr>
        <p:txBody>
          <a:bodyPr wrap="none" anchor="ctr"/>
          <a:lstStyle/>
          <a:p>
            <a:endParaRPr lang="zh-CN" altLang="en-US" b="1">
              <a:solidFill>
                <a:srgbClr val="0000CC"/>
              </a:solidFill>
              <a:latin typeface="+mn-lt"/>
              <a:ea typeface="黑体" pitchFamily="2" charset="-122"/>
            </a:endParaRPr>
          </a:p>
        </p:txBody>
      </p:sp>
      <p:sp>
        <p:nvSpPr>
          <p:cNvPr id="726073" name="Rectangle 57"/>
          <p:cNvSpPr>
            <a:spLocks noChangeArrowheads="1"/>
          </p:cNvSpPr>
          <p:nvPr/>
        </p:nvSpPr>
        <p:spPr bwMode="auto">
          <a:xfrm>
            <a:off x="272480" y="3716339"/>
            <a:ext cx="233892" cy="287337"/>
          </a:xfrm>
          <a:prstGeom prst="rect">
            <a:avLst/>
          </a:prstGeom>
          <a:solidFill>
            <a:srgbClr val="66FF33"/>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itchFamily="2" charset="-122"/>
              </a:rPr>
              <a:t>26</a:t>
            </a:r>
          </a:p>
        </p:txBody>
      </p:sp>
      <p:sp>
        <p:nvSpPr>
          <p:cNvPr id="726074" name="Rectangle 58"/>
          <p:cNvSpPr>
            <a:spLocks noChangeArrowheads="1"/>
          </p:cNvSpPr>
          <p:nvPr/>
        </p:nvSpPr>
        <p:spPr bwMode="auto">
          <a:xfrm>
            <a:off x="585482" y="3714750"/>
            <a:ext cx="233892" cy="287338"/>
          </a:xfrm>
          <a:prstGeom prst="rect">
            <a:avLst/>
          </a:prstGeom>
          <a:solidFill>
            <a:srgbClr val="66FF33"/>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itchFamily="2" charset="-122"/>
              </a:rPr>
              <a:t>27</a:t>
            </a:r>
          </a:p>
        </p:txBody>
      </p:sp>
      <p:sp>
        <p:nvSpPr>
          <p:cNvPr id="726075" name="Rectangle 59"/>
          <p:cNvSpPr>
            <a:spLocks noChangeArrowheads="1"/>
          </p:cNvSpPr>
          <p:nvPr/>
        </p:nvSpPr>
        <p:spPr bwMode="auto">
          <a:xfrm>
            <a:off x="898484" y="3713163"/>
            <a:ext cx="233892" cy="287337"/>
          </a:xfrm>
          <a:prstGeom prst="rect">
            <a:avLst/>
          </a:prstGeom>
          <a:solidFill>
            <a:srgbClr val="66FF33"/>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itchFamily="2" charset="-122"/>
              </a:rPr>
              <a:t>28</a:t>
            </a:r>
          </a:p>
        </p:txBody>
      </p:sp>
      <p:sp>
        <p:nvSpPr>
          <p:cNvPr id="726076" name="Rectangle 60"/>
          <p:cNvSpPr>
            <a:spLocks noChangeArrowheads="1"/>
          </p:cNvSpPr>
          <p:nvPr/>
        </p:nvSpPr>
        <p:spPr bwMode="auto">
          <a:xfrm>
            <a:off x="1211486" y="3711575"/>
            <a:ext cx="233892" cy="287338"/>
          </a:xfrm>
          <a:prstGeom prst="rect">
            <a:avLst/>
          </a:prstGeom>
          <a:solidFill>
            <a:srgbClr val="66FF33"/>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itchFamily="2" charset="-122"/>
              </a:rPr>
              <a:t>29</a:t>
            </a:r>
          </a:p>
        </p:txBody>
      </p:sp>
      <p:sp>
        <p:nvSpPr>
          <p:cNvPr id="726077" name="Rectangle 61"/>
          <p:cNvSpPr>
            <a:spLocks noChangeArrowheads="1"/>
          </p:cNvSpPr>
          <p:nvPr/>
        </p:nvSpPr>
        <p:spPr bwMode="auto">
          <a:xfrm>
            <a:off x="1524488" y="3709989"/>
            <a:ext cx="233892" cy="287337"/>
          </a:xfrm>
          <a:prstGeom prst="rect">
            <a:avLst/>
          </a:prstGeom>
          <a:solidFill>
            <a:srgbClr val="66FF33"/>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itchFamily="2" charset="-122"/>
              </a:rPr>
              <a:t>30</a:t>
            </a:r>
          </a:p>
        </p:txBody>
      </p:sp>
      <p:sp>
        <p:nvSpPr>
          <p:cNvPr id="726078" name="Rectangle 62"/>
          <p:cNvSpPr>
            <a:spLocks noChangeArrowheads="1"/>
          </p:cNvSpPr>
          <p:nvPr/>
        </p:nvSpPr>
        <p:spPr bwMode="auto">
          <a:xfrm>
            <a:off x="1837490" y="3708400"/>
            <a:ext cx="233892" cy="287338"/>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itchFamily="2" charset="-122"/>
              </a:rPr>
              <a:t>31</a:t>
            </a:r>
          </a:p>
        </p:txBody>
      </p:sp>
      <p:sp>
        <p:nvSpPr>
          <p:cNvPr id="726079" name="Rectangle 63"/>
          <p:cNvSpPr>
            <a:spLocks noChangeArrowheads="1"/>
          </p:cNvSpPr>
          <p:nvPr/>
        </p:nvSpPr>
        <p:spPr bwMode="auto">
          <a:xfrm>
            <a:off x="2150492" y="3706814"/>
            <a:ext cx="233892" cy="287337"/>
          </a:xfrm>
          <a:prstGeom prst="rect">
            <a:avLst/>
          </a:prstGeom>
          <a:solidFill>
            <a:srgbClr val="CC99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itchFamily="2" charset="-122"/>
              </a:rPr>
              <a:t>32</a:t>
            </a:r>
          </a:p>
        </p:txBody>
      </p:sp>
      <p:sp>
        <p:nvSpPr>
          <p:cNvPr id="726080" name="Rectangle 64"/>
          <p:cNvSpPr>
            <a:spLocks noChangeArrowheads="1"/>
          </p:cNvSpPr>
          <p:nvPr/>
        </p:nvSpPr>
        <p:spPr bwMode="auto">
          <a:xfrm>
            <a:off x="2463494" y="3705225"/>
            <a:ext cx="233892" cy="287338"/>
          </a:xfrm>
          <a:prstGeom prst="rect">
            <a:avLst/>
          </a:prstGeom>
          <a:solidFill>
            <a:srgbClr val="CC99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itchFamily="2" charset="-122"/>
              </a:rPr>
              <a:t>33</a:t>
            </a:r>
          </a:p>
        </p:txBody>
      </p:sp>
      <p:sp>
        <p:nvSpPr>
          <p:cNvPr id="726081" name="Rectangle 65"/>
          <p:cNvSpPr>
            <a:spLocks noChangeArrowheads="1"/>
          </p:cNvSpPr>
          <p:nvPr/>
        </p:nvSpPr>
        <p:spPr bwMode="auto">
          <a:xfrm>
            <a:off x="2776496" y="3703638"/>
            <a:ext cx="233892" cy="287337"/>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itchFamily="2" charset="-122"/>
              </a:rPr>
              <a:t>34</a:t>
            </a:r>
          </a:p>
        </p:txBody>
      </p:sp>
      <p:sp>
        <p:nvSpPr>
          <p:cNvPr id="726082" name="Rectangle 66"/>
          <p:cNvSpPr>
            <a:spLocks noChangeArrowheads="1"/>
          </p:cNvSpPr>
          <p:nvPr/>
        </p:nvSpPr>
        <p:spPr bwMode="auto">
          <a:xfrm>
            <a:off x="3089498" y="3702050"/>
            <a:ext cx="233892" cy="287338"/>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itchFamily="2" charset="-122"/>
              </a:rPr>
              <a:t>35</a:t>
            </a:r>
          </a:p>
        </p:txBody>
      </p:sp>
      <p:sp>
        <p:nvSpPr>
          <p:cNvPr id="726083" name="Rectangle 67"/>
          <p:cNvSpPr>
            <a:spLocks noChangeArrowheads="1"/>
          </p:cNvSpPr>
          <p:nvPr/>
        </p:nvSpPr>
        <p:spPr bwMode="auto">
          <a:xfrm>
            <a:off x="3402501" y="3700464"/>
            <a:ext cx="233892" cy="287337"/>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itchFamily="2" charset="-122"/>
              </a:rPr>
              <a:t>36</a:t>
            </a:r>
          </a:p>
        </p:txBody>
      </p:sp>
      <p:sp>
        <p:nvSpPr>
          <p:cNvPr id="726084" name="Rectangle 68"/>
          <p:cNvSpPr>
            <a:spLocks noChangeArrowheads="1"/>
          </p:cNvSpPr>
          <p:nvPr/>
        </p:nvSpPr>
        <p:spPr bwMode="auto">
          <a:xfrm>
            <a:off x="3715503" y="3698875"/>
            <a:ext cx="233892" cy="287338"/>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itchFamily="2" charset="-122"/>
              </a:rPr>
              <a:t>37</a:t>
            </a:r>
          </a:p>
        </p:txBody>
      </p:sp>
      <p:sp>
        <p:nvSpPr>
          <p:cNvPr id="726085" name="Rectangle 69"/>
          <p:cNvSpPr>
            <a:spLocks noChangeArrowheads="1"/>
          </p:cNvSpPr>
          <p:nvPr/>
        </p:nvSpPr>
        <p:spPr bwMode="auto">
          <a:xfrm>
            <a:off x="4028505" y="3697289"/>
            <a:ext cx="233892" cy="287337"/>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itchFamily="2" charset="-122"/>
              </a:rPr>
              <a:t>38</a:t>
            </a:r>
          </a:p>
        </p:txBody>
      </p:sp>
      <p:sp>
        <p:nvSpPr>
          <p:cNvPr id="726086" name="Rectangle 70"/>
          <p:cNvSpPr>
            <a:spLocks noChangeArrowheads="1"/>
          </p:cNvSpPr>
          <p:nvPr/>
        </p:nvSpPr>
        <p:spPr bwMode="auto">
          <a:xfrm>
            <a:off x="4341507" y="3695700"/>
            <a:ext cx="233892" cy="287338"/>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itchFamily="2" charset="-122"/>
              </a:rPr>
              <a:t>39</a:t>
            </a:r>
          </a:p>
        </p:txBody>
      </p:sp>
      <p:sp>
        <p:nvSpPr>
          <p:cNvPr id="726087" name="Rectangle 71"/>
          <p:cNvSpPr>
            <a:spLocks noChangeArrowheads="1"/>
          </p:cNvSpPr>
          <p:nvPr/>
        </p:nvSpPr>
        <p:spPr bwMode="auto">
          <a:xfrm>
            <a:off x="4654509" y="3694113"/>
            <a:ext cx="233892" cy="287337"/>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itchFamily="2" charset="-122"/>
              </a:rPr>
              <a:t>40</a:t>
            </a:r>
          </a:p>
        </p:txBody>
      </p:sp>
      <p:sp>
        <p:nvSpPr>
          <p:cNvPr id="726088" name="Rectangle 72"/>
          <p:cNvSpPr>
            <a:spLocks noChangeArrowheads="1"/>
          </p:cNvSpPr>
          <p:nvPr/>
        </p:nvSpPr>
        <p:spPr bwMode="auto">
          <a:xfrm>
            <a:off x="4967511" y="3692525"/>
            <a:ext cx="233892" cy="287338"/>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itchFamily="2" charset="-122"/>
              </a:rPr>
              <a:t>41</a:t>
            </a:r>
          </a:p>
        </p:txBody>
      </p:sp>
      <p:sp>
        <p:nvSpPr>
          <p:cNvPr id="726089" name="Rectangle 73"/>
          <p:cNvSpPr>
            <a:spLocks noChangeArrowheads="1"/>
          </p:cNvSpPr>
          <p:nvPr/>
        </p:nvSpPr>
        <p:spPr bwMode="auto">
          <a:xfrm>
            <a:off x="5280513" y="3690939"/>
            <a:ext cx="233892" cy="287337"/>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itchFamily="2" charset="-122"/>
              </a:rPr>
              <a:t>42</a:t>
            </a:r>
          </a:p>
        </p:txBody>
      </p:sp>
      <p:sp>
        <p:nvSpPr>
          <p:cNvPr id="726090" name="Rectangle 74"/>
          <p:cNvSpPr>
            <a:spLocks noChangeArrowheads="1"/>
          </p:cNvSpPr>
          <p:nvPr/>
        </p:nvSpPr>
        <p:spPr bwMode="auto">
          <a:xfrm>
            <a:off x="5593515" y="3689350"/>
            <a:ext cx="233892" cy="287338"/>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itchFamily="2" charset="-122"/>
              </a:rPr>
              <a:t>43</a:t>
            </a:r>
          </a:p>
        </p:txBody>
      </p:sp>
      <p:sp>
        <p:nvSpPr>
          <p:cNvPr id="726091" name="Rectangle 75"/>
          <p:cNvSpPr>
            <a:spLocks noChangeArrowheads="1"/>
          </p:cNvSpPr>
          <p:nvPr/>
        </p:nvSpPr>
        <p:spPr bwMode="auto">
          <a:xfrm>
            <a:off x="5906517" y="3687764"/>
            <a:ext cx="233892" cy="287337"/>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itchFamily="2" charset="-122"/>
              </a:rPr>
              <a:t>44</a:t>
            </a:r>
          </a:p>
        </p:txBody>
      </p:sp>
      <p:sp>
        <p:nvSpPr>
          <p:cNvPr id="726092" name="Rectangle 76"/>
          <p:cNvSpPr>
            <a:spLocks noChangeArrowheads="1"/>
          </p:cNvSpPr>
          <p:nvPr/>
        </p:nvSpPr>
        <p:spPr bwMode="auto">
          <a:xfrm>
            <a:off x="6219519" y="3686175"/>
            <a:ext cx="233892" cy="287338"/>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itchFamily="2" charset="-122"/>
              </a:rPr>
              <a:t>45</a:t>
            </a:r>
          </a:p>
        </p:txBody>
      </p:sp>
      <p:sp>
        <p:nvSpPr>
          <p:cNvPr id="726093" name="Rectangle 77"/>
          <p:cNvSpPr>
            <a:spLocks noChangeArrowheads="1"/>
          </p:cNvSpPr>
          <p:nvPr/>
        </p:nvSpPr>
        <p:spPr bwMode="auto">
          <a:xfrm>
            <a:off x="6532521" y="3684589"/>
            <a:ext cx="233892" cy="287337"/>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itchFamily="2" charset="-122"/>
              </a:rPr>
              <a:t>46</a:t>
            </a:r>
          </a:p>
        </p:txBody>
      </p:sp>
      <p:sp>
        <p:nvSpPr>
          <p:cNvPr id="726094" name="Rectangle 78"/>
          <p:cNvSpPr>
            <a:spLocks noChangeArrowheads="1"/>
          </p:cNvSpPr>
          <p:nvPr/>
        </p:nvSpPr>
        <p:spPr bwMode="auto">
          <a:xfrm>
            <a:off x="6845523" y="3683000"/>
            <a:ext cx="233892" cy="287338"/>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itchFamily="2" charset="-122"/>
              </a:rPr>
              <a:t>47</a:t>
            </a:r>
          </a:p>
        </p:txBody>
      </p:sp>
      <p:sp>
        <p:nvSpPr>
          <p:cNvPr id="726095" name="Rectangle 79"/>
          <p:cNvSpPr>
            <a:spLocks noChangeArrowheads="1"/>
          </p:cNvSpPr>
          <p:nvPr/>
        </p:nvSpPr>
        <p:spPr bwMode="auto">
          <a:xfrm>
            <a:off x="7158526" y="3681414"/>
            <a:ext cx="233892" cy="287337"/>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itchFamily="2" charset="-122"/>
              </a:rPr>
              <a:t>48</a:t>
            </a:r>
          </a:p>
        </p:txBody>
      </p:sp>
      <p:sp>
        <p:nvSpPr>
          <p:cNvPr id="726096" name="Rectangle 80"/>
          <p:cNvSpPr>
            <a:spLocks noChangeArrowheads="1"/>
          </p:cNvSpPr>
          <p:nvPr/>
        </p:nvSpPr>
        <p:spPr bwMode="auto">
          <a:xfrm>
            <a:off x="7471528" y="3679825"/>
            <a:ext cx="233892" cy="287338"/>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itchFamily="2" charset="-122"/>
              </a:rPr>
              <a:t>49</a:t>
            </a:r>
          </a:p>
        </p:txBody>
      </p:sp>
      <p:sp>
        <p:nvSpPr>
          <p:cNvPr id="726097" name="Rectangle 81"/>
          <p:cNvSpPr>
            <a:spLocks noChangeArrowheads="1"/>
          </p:cNvSpPr>
          <p:nvPr/>
        </p:nvSpPr>
        <p:spPr bwMode="auto">
          <a:xfrm>
            <a:off x="7784530" y="3678239"/>
            <a:ext cx="233892" cy="287337"/>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itchFamily="2" charset="-122"/>
              </a:rPr>
              <a:t>50</a:t>
            </a:r>
          </a:p>
        </p:txBody>
      </p:sp>
      <p:sp>
        <p:nvSpPr>
          <p:cNvPr id="726098" name="Rectangle 82"/>
          <p:cNvSpPr>
            <a:spLocks noChangeArrowheads="1"/>
          </p:cNvSpPr>
          <p:nvPr/>
        </p:nvSpPr>
        <p:spPr bwMode="auto">
          <a:xfrm>
            <a:off x="8097532" y="3676650"/>
            <a:ext cx="233892" cy="287338"/>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itchFamily="2" charset="-122"/>
              </a:rPr>
              <a:t>51</a:t>
            </a:r>
          </a:p>
        </p:txBody>
      </p:sp>
      <p:sp>
        <p:nvSpPr>
          <p:cNvPr id="726099" name="Rectangle 83"/>
          <p:cNvSpPr>
            <a:spLocks noChangeArrowheads="1"/>
          </p:cNvSpPr>
          <p:nvPr/>
        </p:nvSpPr>
        <p:spPr bwMode="auto">
          <a:xfrm>
            <a:off x="8410534" y="3675064"/>
            <a:ext cx="233892" cy="287337"/>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itchFamily="2" charset="-122"/>
              </a:rPr>
              <a:t>52</a:t>
            </a:r>
          </a:p>
        </p:txBody>
      </p:sp>
      <p:sp>
        <p:nvSpPr>
          <p:cNvPr id="726100" name="Rectangle 84"/>
          <p:cNvSpPr>
            <a:spLocks noChangeArrowheads="1"/>
          </p:cNvSpPr>
          <p:nvPr/>
        </p:nvSpPr>
        <p:spPr bwMode="auto">
          <a:xfrm>
            <a:off x="8723536" y="3673475"/>
            <a:ext cx="233892" cy="287338"/>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itchFamily="2" charset="-122"/>
              </a:rPr>
              <a:t>53</a:t>
            </a:r>
          </a:p>
        </p:txBody>
      </p:sp>
      <p:sp>
        <p:nvSpPr>
          <p:cNvPr id="726101" name="Rectangle 85"/>
          <p:cNvSpPr>
            <a:spLocks noChangeArrowheads="1"/>
          </p:cNvSpPr>
          <p:nvPr/>
        </p:nvSpPr>
        <p:spPr bwMode="auto">
          <a:xfrm>
            <a:off x="9036538" y="3671889"/>
            <a:ext cx="233892" cy="287337"/>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itchFamily="2" charset="-122"/>
              </a:rPr>
              <a:t>54</a:t>
            </a:r>
          </a:p>
        </p:txBody>
      </p:sp>
      <p:sp>
        <p:nvSpPr>
          <p:cNvPr id="726102" name="Rectangle 86"/>
          <p:cNvSpPr>
            <a:spLocks noChangeArrowheads="1"/>
          </p:cNvSpPr>
          <p:nvPr/>
        </p:nvSpPr>
        <p:spPr bwMode="auto">
          <a:xfrm>
            <a:off x="9349540" y="3670300"/>
            <a:ext cx="233892" cy="287338"/>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itchFamily="2" charset="-122"/>
              </a:rPr>
              <a:t>55</a:t>
            </a:r>
          </a:p>
        </p:txBody>
      </p:sp>
      <p:sp>
        <p:nvSpPr>
          <p:cNvPr id="726103" name="Rectangle 87"/>
          <p:cNvSpPr>
            <a:spLocks noChangeArrowheads="1"/>
          </p:cNvSpPr>
          <p:nvPr/>
        </p:nvSpPr>
        <p:spPr bwMode="auto">
          <a:xfrm>
            <a:off x="9653944" y="3670300"/>
            <a:ext cx="233892" cy="287338"/>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itchFamily="2" charset="-122"/>
              </a:rPr>
              <a:t>56</a:t>
            </a:r>
          </a:p>
        </p:txBody>
      </p:sp>
      <p:grpSp>
        <p:nvGrpSpPr>
          <p:cNvPr id="726109" name="Group 93"/>
          <p:cNvGrpSpPr>
            <a:grpSpLocks/>
          </p:cNvGrpSpPr>
          <p:nvPr/>
        </p:nvGrpSpPr>
        <p:grpSpPr bwMode="auto">
          <a:xfrm>
            <a:off x="2272599" y="3992563"/>
            <a:ext cx="340519" cy="876300"/>
            <a:chOff x="1231" y="3150"/>
            <a:chExt cx="182" cy="272"/>
          </a:xfrm>
        </p:grpSpPr>
        <p:sp>
          <p:nvSpPr>
            <p:cNvPr id="726104" name="Line 88"/>
            <p:cNvSpPr>
              <a:spLocks noChangeShapeType="1"/>
            </p:cNvSpPr>
            <p:nvPr/>
          </p:nvSpPr>
          <p:spPr bwMode="auto">
            <a:xfrm flipV="1">
              <a:off x="1231" y="3150"/>
              <a:ext cx="0" cy="272"/>
            </a:xfrm>
            <a:prstGeom prst="line">
              <a:avLst/>
            </a:prstGeom>
            <a:noFill/>
            <a:ln w="38100">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726105" name="Line 89"/>
            <p:cNvSpPr>
              <a:spLocks noChangeShapeType="1"/>
            </p:cNvSpPr>
            <p:nvPr/>
          </p:nvSpPr>
          <p:spPr bwMode="auto">
            <a:xfrm flipV="1">
              <a:off x="1413" y="3150"/>
              <a:ext cx="0" cy="272"/>
            </a:xfrm>
            <a:prstGeom prst="line">
              <a:avLst/>
            </a:prstGeom>
            <a:noFill/>
            <a:ln w="38100">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grpSp>
      <p:sp>
        <p:nvSpPr>
          <p:cNvPr id="726106" name="Text Box 90"/>
          <p:cNvSpPr txBox="1">
            <a:spLocks noChangeArrowheads="1"/>
          </p:cNvSpPr>
          <p:nvPr/>
        </p:nvSpPr>
        <p:spPr bwMode="auto">
          <a:xfrm>
            <a:off x="1716203" y="4822825"/>
            <a:ext cx="1467068" cy="400110"/>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a:solidFill>
                  <a:srgbClr val="0000CC"/>
                </a:solidFill>
                <a:latin typeface="+mn-lt"/>
                <a:ea typeface="黑体" pitchFamily="2" charset="-122"/>
              </a:rPr>
              <a:t>未按序收到</a:t>
            </a:r>
          </a:p>
        </p:txBody>
      </p:sp>
      <p:sp>
        <p:nvSpPr>
          <p:cNvPr id="726107" name="AutoShape 91"/>
          <p:cNvSpPr>
            <a:spLocks/>
          </p:cNvSpPr>
          <p:nvPr/>
        </p:nvSpPr>
        <p:spPr bwMode="auto">
          <a:xfrm rot="5400000">
            <a:off x="6537615" y="292696"/>
            <a:ext cx="184150" cy="2729309"/>
          </a:xfrm>
          <a:prstGeom prst="leftBrace">
            <a:avLst>
              <a:gd name="adj1" fmla="val 114009"/>
              <a:gd name="adj2" fmla="val 50000"/>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726108" name="Text Box 92"/>
          <p:cNvSpPr txBox="1">
            <a:spLocks noChangeArrowheads="1"/>
          </p:cNvSpPr>
          <p:nvPr/>
        </p:nvSpPr>
        <p:spPr bwMode="auto">
          <a:xfrm>
            <a:off x="5966710" y="1223964"/>
            <a:ext cx="1210588" cy="40011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000" b="1">
                <a:solidFill>
                  <a:srgbClr val="0000CC"/>
                </a:solidFill>
                <a:latin typeface="+mn-lt"/>
                <a:ea typeface="黑体" pitchFamily="2" charset="-122"/>
              </a:rPr>
              <a:t>可用窗口</a:t>
            </a:r>
          </a:p>
        </p:txBody>
      </p:sp>
      <p:sp>
        <p:nvSpPr>
          <p:cNvPr id="726110" name="Text Box 94"/>
          <p:cNvSpPr txBox="1">
            <a:spLocks noChangeArrowheads="1"/>
          </p:cNvSpPr>
          <p:nvPr/>
        </p:nvSpPr>
        <p:spPr bwMode="auto">
          <a:xfrm>
            <a:off x="1988832" y="185739"/>
            <a:ext cx="6084623" cy="650875"/>
          </a:xfrm>
          <a:prstGeom prst="rect">
            <a:avLst/>
          </a:prstGeom>
          <a:solidFill>
            <a:srgbClr val="FFFF99"/>
          </a:solidFill>
          <a:ln w="9525">
            <a:solidFill>
              <a:schemeClr val="folHlink"/>
            </a:solidFill>
            <a:miter lim="800000"/>
            <a:headEnd/>
            <a:tailEnd/>
          </a:ln>
          <a:effectLst>
            <a:outerShdw dist="35921" dir="2700000" algn="ctr" rotWithShape="0">
              <a:schemeClr val="bg2"/>
            </a:outerShdw>
          </a:effectLst>
        </p:spPr>
        <p:txBody>
          <a:bodyPr>
            <a:spAutoFit/>
          </a:bodyPr>
          <a:lstStyle/>
          <a:p>
            <a:pPr algn="ctr"/>
            <a:r>
              <a:rPr lang="en-US" altLang="zh-CN" sz="3600" b="1">
                <a:solidFill>
                  <a:srgbClr val="0000CC"/>
                </a:solidFill>
                <a:latin typeface="+mn-lt"/>
                <a:ea typeface="黑体" pitchFamily="2" charset="-122"/>
              </a:rPr>
              <a:t>A </a:t>
            </a:r>
            <a:r>
              <a:rPr lang="zh-CN" altLang="en-US" sz="3600" b="1">
                <a:solidFill>
                  <a:srgbClr val="0000CC"/>
                </a:solidFill>
                <a:latin typeface="+mn-lt"/>
                <a:ea typeface="黑体" pitchFamily="2" charset="-122"/>
              </a:rPr>
              <a:t>发送了 </a:t>
            </a:r>
            <a:r>
              <a:rPr lang="en-US" altLang="zh-CN" sz="3600" b="1">
                <a:solidFill>
                  <a:srgbClr val="0000CC"/>
                </a:solidFill>
                <a:latin typeface="+mn-lt"/>
                <a:ea typeface="黑体" pitchFamily="2" charset="-122"/>
              </a:rPr>
              <a:t>11 </a:t>
            </a:r>
            <a:r>
              <a:rPr lang="zh-CN" altLang="en-US" sz="3600" b="1">
                <a:solidFill>
                  <a:srgbClr val="0000CC"/>
                </a:solidFill>
                <a:latin typeface="+mn-lt"/>
                <a:ea typeface="黑体" pitchFamily="2" charset="-122"/>
              </a:rPr>
              <a:t>个字节的数据 </a:t>
            </a:r>
          </a:p>
        </p:txBody>
      </p:sp>
      <p:sp>
        <p:nvSpPr>
          <p:cNvPr id="726111" name="Text Box 95"/>
          <p:cNvSpPr txBox="1">
            <a:spLocks noChangeArrowheads="1"/>
          </p:cNvSpPr>
          <p:nvPr/>
        </p:nvSpPr>
        <p:spPr bwMode="auto">
          <a:xfrm>
            <a:off x="652554" y="5373689"/>
            <a:ext cx="8404865" cy="1200329"/>
          </a:xfrm>
          <a:prstGeom prst="rect">
            <a:avLst/>
          </a:prstGeom>
          <a:solidFill>
            <a:srgbClr val="FFFF99"/>
          </a:solidFill>
          <a:ln w="9525">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b="1">
                <a:solidFill>
                  <a:srgbClr val="0000CC"/>
                </a:solidFill>
                <a:latin typeface="+mn-lt"/>
                <a:ea typeface="黑体" pitchFamily="2" charset="-122"/>
              </a:rPr>
              <a:t>P</a:t>
            </a:r>
            <a:r>
              <a:rPr lang="en-US" altLang="zh-CN" sz="2400" b="1" baseline="-25000">
                <a:solidFill>
                  <a:srgbClr val="0000CC"/>
                </a:solidFill>
                <a:latin typeface="+mn-lt"/>
                <a:ea typeface="黑体" pitchFamily="2" charset="-122"/>
              </a:rPr>
              <a:t>3</a:t>
            </a:r>
            <a:r>
              <a:rPr lang="en-US" altLang="zh-CN" sz="2400" b="1">
                <a:solidFill>
                  <a:srgbClr val="0000CC"/>
                </a:solidFill>
                <a:latin typeface="+mn-lt"/>
                <a:ea typeface="黑体" pitchFamily="2" charset="-122"/>
              </a:rPr>
              <a:t> – P</a:t>
            </a:r>
            <a:r>
              <a:rPr lang="en-US" altLang="zh-CN" sz="2400" b="1" baseline="-25000">
                <a:solidFill>
                  <a:srgbClr val="0000CC"/>
                </a:solidFill>
                <a:latin typeface="+mn-lt"/>
                <a:ea typeface="黑体" pitchFamily="2" charset="-122"/>
              </a:rPr>
              <a:t>1</a:t>
            </a:r>
            <a:r>
              <a:rPr lang="en-US" altLang="zh-CN" sz="2400" b="1">
                <a:solidFill>
                  <a:srgbClr val="0000CC"/>
                </a:solidFill>
                <a:latin typeface="+mn-lt"/>
                <a:ea typeface="黑体" pitchFamily="2" charset="-122"/>
              </a:rPr>
              <a:t> = A </a:t>
            </a:r>
            <a:r>
              <a:rPr lang="zh-CN" altLang="en-US" sz="2400" b="1">
                <a:solidFill>
                  <a:srgbClr val="0000CC"/>
                </a:solidFill>
                <a:latin typeface="+mn-lt"/>
                <a:ea typeface="黑体" pitchFamily="2" charset="-122"/>
              </a:rPr>
              <a:t>的发送窗口（又称为通知窗口）</a:t>
            </a:r>
          </a:p>
          <a:p>
            <a:r>
              <a:rPr lang="en-US" altLang="zh-CN" sz="2400" b="1">
                <a:solidFill>
                  <a:srgbClr val="0000CC"/>
                </a:solidFill>
                <a:latin typeface="+mn-lt"/>
                <a:ea typeface="黑体" pitchFamily="2" charset="-122"/>
              </a:rPr>
              <a:t>P</a:t>
            </a:r>
            <a:r>
              <a:rPr lang="en-US" altLang="zh-CN" sz="2400" b="1" baseline="-25000">
                <a:solidFill>
                  <a:srgbClr val="0000CC"/>
                </a:solidFill>
                <a:latin typeface="+mn-lt"/>
                <a:ea typeface="黑体" pitchFamily="2" charset="-122"/>
              </a:rPr>
              <a:t>2</a:t>
            </a:r>
            <a:r>
              <a:rPr lang="en-US" altLang="zh-CN" sz="2400" b="1">
                <a:solidFill>
                  <a:srgbClr val="0000CC"/>
                </a:solidFill>
                <a:latin typeface="+mn-lt"/>
                <a:ea typeface="黑体" pitchFamily="2" charset="-122"/>
              </a:rPr>
              <a:t> – P</a:t>
            </a:r>
            <a:r>
              <a:rPr lang="en-US" altLang="zh-CN" sz="2400" b="1" baseline="-25000">
                <a:solidFill>
                  <a:srgbClr val="0000CC"/>
                </a:solidFill>
                <a:latin typeface="+mn-lt"/>
                <a:ea typeface="黑体" pitchFamily="2" charset="-122"/>
              </a:rPr>
              <a:t>1</a:t>
            </a:r>
            <a:r>
              <a:rPr lang="en-US" altLang="zh-CN" sz="2400" b="1">
                <a:solidFill>
                  <a:srgbClr val="0000CC"/>
                </a:solidFill>
                <a:latin typeface="+mn-lt"/>
                <a:ea typeface="黑体" pitchFamily="2" charset="-122"/>
              </a:rPr>
              <a:t> = </a:t>
            </a:r>
            <a:r>
              <a:rPr lang="zh-CN" altLang="en-US" sz="2400" b="1">
                <a:solidFill>
                  <a:srgbClr val="0000CC"/>
                </a:solidFill>
                <a:latin typeface="+mn-lt"/>
                <a:ea typeface="黑体" pitchFamily="2" charset="-122"/>
              </a:rPr>
              <a:t>已发送但尚未收到确认的字节数</a:t>
            </a:r>
          </a:p>
          <a:p>
            <a:r>
              <a:rPr lang="en-US" altLang="zh-CN" sz="2400" b="1">
                <a:solidFill>
                  <a:srgbClr val="0000CC"/>
                </a:solidFill>
                <a:latin typeface="+mn-lt"/>
                <a:ea typeface="黑体" pitchFamily="2" charset="-122"/>
              </a:rPr>
              <a:t>P</a:t>
            </a:r>
            <a:r>
              <a:rPr lang="en-US" altLang="zh-CN" sz="2400" b="1" baseline="-25000">
                <a:solidFill>
                  <a:srgbClr val="0000CC"/>
                </a:solidFill>
                <a:latin typeface="+mn-lt"/>
                <a:ea typeface="黑体" pitchFamily="2" charset="-122"/>
              </a:rPr>
              <a:t>3</a:t>
            </a:r>
            <a:r>
              <a:rPr lang="en-US" altLang="zh-CN" sz="2400" b="1">
                <a:solidFill>
                  <a:srgbClr val="0000CC"/>
                </a:solidFill>
                <a:latin typeface="+mn-lt"/>
                <a:ea typeface="黑体" pitchFamily="2" charset="-122"/>
              </a:rPr>
              <a:t> – P</a:t>
            </a:r>
            <a:r>
              <a:rPr lang="en-US" altLang="zh-CN" sz="2400" b="1" baseline="-25000">
                <a:solidFill>
                  <a:srgbClr val="0000CC"/>
                </a:solidFill>
                <a:latin typeface="+mn-lt"/>
                <a:ea typeface="黑体" pitchFamily="2" charset="-122"/>
              </a:rPr>
              <a:t>2</a:t>
            </a:r>
            <a:r>
              <a:rPr lang="en-US" altLang="zh-CN" sz="2400" b="1">
                <a:solidFill>
                  <a:srgbClr val="0000CC"/>
                </a:solidFill>
                <a:latin typeface="+mn-lt"/>
                <a:ea typeface="黑体" pitchFamily="2" charset="-122"/>
              </a:rPr>
              <a:t> = </a:t>
            </a:r>
            <a:r>
              <a:rPr lang="zh-CN" altLang="en-US" sz="2400" b="1">
                <a:solidFill>
                  <a:srgbClr val="0000CC"/>
                </a:solidFill>
                <a:latin typeface="+mn-lt"/>
                <a:ea typeface="黑体" pitchFamily="2" charset="-122"/>
              </a:rPr>
              <a:t>允许发送但尚未发送的字节数（又称为可用窗口） </a:t>
            </a:r>
          </a:p>
        </p:txBody>
      </p:sp>
      <p:sp>
        <p:nvSpPr>
          <p:cNvPr id="2" name="矩形 1"/>
          <p:cNvSpPr/>
          <p:nvPr/>
        </p:nvSpPr>
        <p:spPr>
          <a:xfrm>
            <a:off x="6140409" y="4437112"/>
            <a:ext cx="3632201" cy="707886"/>
          </a:xfrm>
          <a:prstGeom prst="rect">
            <a:avLst/>
          </a:prstGeom>
          <a:solidFill>
            <a:srgbClr val="0000CC"/>
          </a:solidFill>
          <a:ln w="9525">
            <a:solidFill>
              <a:schemeClr val="folHlink"/>
            </a:solidFill>
            <a:miter lim="800000"/>
            <a:headEnd/>
            <a:tailEnd/>
          </a:ln>
          <a:effectLst/>
        </p:spPr>
        <p:txBody>
          <a:bodyPr wrap="square">
            <a:spAutoFit/>
          </a:bodyPr>
          <a:lstStyle/>
          <a:p>
            <a:pPr algn="ctr"/>
            <a:r>
              <a:rPr lang="zh-CN" altLang="zh-CN" sz="2000" b="1" dirty="0">
                <a:solidFill>
                  <a:schemeClr val="bg1"/>
                </a:solidFill>
                <a:latin typeface="+mn-lt"/>
                <a:ea typeface="黑体" pitchFamily="2" charset="-122"/>
              </a:rPr>
              <a:t>接收窗口内的序号（</a:t>
            </a:r>
            <a:r>
              <a:rPr lang="en-US" altLang="zh-CN" sz="2000" b="1" dirty="0">
                <a:solidFill>
                  <a:schemeClr val="bg1"/>
                </a:solidFill>
                <a:latin typeface="+mn-lt"/>
                <a:ea typeface="黑体" pitchFamily="2" charset="-122"/>
              </a:rPr>
              <a:t>31 ~ 50</a:t>
            </a:r>
            <a:r>
              <a:rPr lang="zh-CN" altLang="zh-CN" sz="2000" b="1" dirty="0">
                <a:solidFill>
                  <a:schemeClr val="bg1"/>
                </a:solidFill>
                <a:latin typeface="+mn-lt"/>
                <a:ea typeface="黑体" pitchFamily="2" charset="-122"/>
              </a:rPr>
              <a:t>）</a:t>
            </a:r>
            <a:endParaRPr lang="en-US" altLang="zh-CN" sz="2000" b="1" dirty="0">
              <a:solidFill>
                <a:schemeClr val="bg1"/>
              </a:solidFill>
              <a:latin typeface="+mn-lt"/>
              <a:ea typeface="黑体" pitchFamily="2" charset="-122"/>
            </a:endParaRPr>
          </a:p>
          <a:p>
            <a:pPr algn="ctr"/>
            <a:r>
              <a:rPr lang="zh-CN" altLang="zh-CN" sz="2000" b="1" dirty="0">
                <a:solidFill>
                  <a:schemeClr val="bg1"/>
                </a:solidFill>
                <a:latin typeface="+mn-lt"/>
                <a:ea typeface="黑体" pitchFamily="2" charset="-122"/>
              </a:rPr>
              <a:t>是允许接收的</a:t>
            </a:r>
            <a:r>
              <a:rPr lang="zh-CN" altLang="en-US" sz="2000" b="1" dirty="0">
                <a:solidFill>
                  <a:schemeClr val="bg1"/>
                </a:solidFill>
                <a:latin typeface="+mn-lt"/>
                <a:ea typeface="黑体" pitchFamily="2" charset="-122"/>
              </a:rPr>
              <a:t>序号</a:t>
            </a:r>
            <a:r>
              <a:rPr lang="zh-CN" altLang="zh-CN" sz="2000" b="1" dirty="0">
                <a:solidFill>
                  <a:schemeClr val="bg1"/>
                </a:solidFill>
                <a:latin typeface="+mn-lt"/>
                <a:ea typeface="黑体" pitchFamily="2" charset="-122"/>
              </a:rPr>
              <a:t>。</a:t>
            </a:r>
            <a:endParaRPr lang="zh-CN" altLang="en-US" sz="2000" b="1" dirty="0">
              <a:solidFill>
                <a:schemeClr val="bg1"/>
              </a:solidFill>
              <a:latin typeface="+mn-lt"/>
              <a:ea typeface="黑体" pitchFamily="2" charset="-122"/>
            </a:endParaRPr>
          </a:p>
        </p:txBody>
      </p:sp>
    </p:spTree>
    <p:extLst>
      <p:ext uri="{BB962C8B-B14F-4D97-AF65-F5344CB8AC3E}">
        <p14:creationId xmlns:p14="http://schemas.microsoft.com/office/powerpoint/2010/main" val="84259757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8068" name="Text Box 4"/>
          <p:cNvSpPr txBox="1">
            <a:spLocks noChangeArrowheads="1"/>
          </p:cNvSpPr>
          <p:nvPr/>
        </p:nvSpPr>
        <p:spPr bwMode="auto">
          <a:xfrm>
            <a:off x="5882718" y="2131219"/>
            <a:ext cx="2492990" cy="40011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a:solidFill>
                  <a:srgbClr val="0000FF"/>
                </a:solidFill>
                <a:latin typeface="+mn-lt"/>
                <a:ea typeface="黑体" pitchFamily="2" charset="-122"/>
              </a:rPr>
              <a:t>允许发送但尚未发送</a:t>
            </a:r>
          </a:p>
        </p:txBody>
      </p:sp>
      <p:sp>
        <p:nvSpPr>
          <p:cNvPr id="728069" name="Text Box 5"/>
          <p:cNvSpPr txBox="1">
            <a:spLocks noChangeArrowheads="1"/>
          </p:cNvSpPr>
          <p:nvPr/>
        </p:nvSpPr>
        <p:spPr bwMode="auto">
          <a:xfrm>
            <a:off x="4401624" y="1124744"/>
            <a:ext cx="2754408" cy="40011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000" b="1" dirty="0">
                <a:solidFill>
                  <a:srgbClr val="0000CC"/>
                </a:solidFill>
                <a:latin typeface="+mn-lt"/>
                <a:ea typeface="黑体" pitchFamily="2" charset="-122"/>
              </a:rPr>
              <a:t>A </a:t>
            </a:r>
            <a:r>
              <a:rPr lang="zh-CN" altLang="en-US" sz="2000" b="1" dirty="0">
                <a:solidFill>
                  <a:srgbClr val="0000CC"/>
                </a:solidFill>
                <a:latin typeface="+mn-lt"/>
                <a:ea typeface="黑体" pitchFamily="2" charset="-122"/>
              </a:rPr>
              <a:t>的</a:t>
            </a:r>
            <a:r>
              <a:rPr lang="zh-CN" altLang="en-US" sz="2000" b="1" dirty="0">
                <a:solidFill>
                  <a:srgbClr val="FF0000"/>
                </a:solidFill>
                <a:latin typeface="+mn-lt"/>
                <a:ea typeface="黑体" pitchFamily="2" charset="-122"/>
              </a:rPr>
              <a:t>发送窗口</a:t>
            </a:r>
            <a:r>
              <a:rPr lang="zh-CN" altLang="en-US" sz="2000" b="1" dirty="0">
                <a:solidFill>
                  <a:srgbClr val="0000CC"/>
                </a:solidFill>
                <a:latin typeface="+mn-lt"/>
                <a:ea typeface="黑体" pitchFamily="2" charset="-122"/>
              </a:rPr>
              <a:t>向前滑动</a:t>
            </a:r>
          </a:p>
        </p:txBody>
      </p:sp>
      <p:sp>
        <p:nvSpPr>
          <p:cNvPr id="728070" name="Rectangle 6"/>
          <p:cNvSpPr>
            <a:spLocks noChangeArrowheads="1"/>
          </p:cNvSpPr>
          <p:nvPr/>
        </p:nvSpPr>
        <p:spPr bwMode="auto">
          <a:xfrm>
            <a:off x="2723106" y="1512094"/>
            <a:ext cx="6273800" cy="649287"/>
          </a:xfrm>
          <a:prstGeom prst="rect">
            <a:avLst/>
          </a:prstGeom>
          <a:solidFill>
            <a:srgbClr val="3399FF"/>
          </a:solidFill>
          <a:ln>
            <a:noFill/>
          </a:ln>
          <a:effectLst>
            <a:outerShdw dist="35921" dir="2700000" algn="ctr" rotWithShape="0">
              <a:schemeClr val="bg2"/>
            </a:outerShdw>
          </a:effectLst>
        </p:spPr>
        <p:txBody>
          <a:bodyPr wrap="none" anchor="ctr"/>
          <a:lstStyle/>
          <a:p>
            <a:endParaRPr lang="zh-CN" altLang="en-US" b="1">
              <a:solidFill>
                <a:srgbClr val="0000CC"/>
              </a:solidFill>
              <a:latin typeface="+mn-lt"/>
              <a:ea typeface="黑体" pitchFamily="2" charset="-122"/>
            </a:endParaRPr>
          </a:p>
        </p:txBody>
      </p:sp>
      <p:sp>
        <p:nvSpPr>
          <p:cNvPr id="728071" name="Rectangle 7"/>
          <p:cNvSpPr>
            <a:spLocks noChangeArrowheads="1"/>
          </p:cNvSpPr>
          <p:nvPr/>
        </p:nvSpPr>
        <p:spPr bwMode="auto">
          <a:xfrm>
            <a:off x="268964" y="1705769"/>
            <a:ext cx="233892" cy="287337"/>
          </a:xfrm>
          <a:prstGeom prst="rect">
            <a:avLst/>
          </a:prstGeom>
          <a:solidFill>
            <a:srgbClr val="66FF33"/>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itchFamily="2" charset="-122"/>
              </a:rPr>
              <a:t>26</a:t>
            </a:r>
          </a:p>
        </p:txBody>
      </p:sp>
      <p:sp>
        <p:nvSpPr>
          <p:cNvPr id="728072" name="Rectangle 8"/>
          <p:cNvSpPr>
            <a:spLocks noChangeArrowheads="1"/>
          </p:cNvSpPr>
          <p:nvPr/>
        </p:nvSpPr>
        <p:spPr bwMode="auto">
          <a:xfrm>
            <a:off x="581966" y="1705769"/>
            <a:ext cx="233892" cy="287337"/>
          </a:xfrm>
          <a:prstGeom prst="rect">
            <a:avLst/>
          </a:prstGeom>
          <a:solidFill>
            <a:srgbClr val="66FF33"/>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itchFamily="2" charset="-122"/>
              </a:rPr>
              <a:t>27</a:t>
            </a:r>
          </a:p>
        </p:txBody>
      </p:sp>
      <p:sp>
        <p:nvSpPr>
          <p:cNvPr id="728073" name="Rectangle 9"/>
          <p:cNvSpPr>
            <a:spLocks noChangeArrowheads="1"/>
          </p:cNvSpPr>
          <p:nvPr/>
        </p:nvSpPr>
        <p:spPr bwMode="auto">
          <a:xfrm>
            <a:off x="894968" y="1705769"/>
            <a:ext cx="233892" cy="287337"/>
          </a:xfrm>
          <a:prstGeom prst="rect">
            <a:avLst/>
          </a:prstGeom>
          <a:solidFill>
            <a:srgbClr val="66FF33"/>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itchFamily="2" charset="-122"/>
              </a:rPr>
              <a:t>28</a:t>
            </a:r>
          </a:p>
        </p:txBody>
      </p:sp>
      <p:sp>
        <p:nvSpPr>
          <p:cNvPr id="728074" name="Rectangle 10"/>
          <p:cNvSpPr>
            <a:spLocks noChangeArrowheads="1"/>
          </p:cNvSpPr>
          <p:nvPr/>
        </p:nvSpPr>
        <p:spPr bwMode="auto">
          <a:xfrm>
            <a:off x="1207970" y="1705769"/>
            <a:ext cx="233892" cy="287337"/>
          </a:xfrm>
          <a:prstGeom prst="rect">
            <a:avLst/>
          </a:prstGeom>
          <a:solidFill>
            <a:srgbClr val="66FF33"/>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itchFamily="2" charset="-122"/>
              </a:rPr>
              <a:t>29</a:t>
            </a:r>
          </a:p>
        </p:txBody>
      </p:sp>
      <p:sp>
        <p:nvSpPr>
          <p:cNvPr id="728075" name="Rectangle 11"/>
          <p:cNvSpPr>
            <a:spLocks noChangeArrowheads="1"/>
          </p:cNvSpPr>
          <p:nvPr/>
        </p:nvSpPr>
        <p:spPr bwMode="auto">
          <a:xfrm>
            <a:off x="1520972" y="1705769"/>
            <a:ext cx="233892" cy="287337"/>
          </a:xfrm>
          <a:prstGeom prst="rect">
            <a:avLst/>
          </a:prstGeom>
          <a:solidFill>
            <a:srgbClr val="66FF33"/>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itchFamily="2" charset="-122"/>
              </a:rPr>
              <a:t>30</a:t>
            </a:r>
          </a:p>
        </p:txBody>
      </p:sp>
      <p:sp>
        <p:nvSpPr>
          <p:cNvPr id="728076" name="Rectangle 12"/>
          <p:cNvSpPr>
            <a:spLocks noChangeArrowheads="1"/>
          </p:cNvSpPr>
          <p:nvPr/>
        </p:nvSpPr>
        <p:spPr bwMode="auto">
          <a:xfrm>
            <a:off x="1833974" y="1705769"/>
            <a:ext cx="233892" cy="287337"/>
          </a:xfrm>
          <a:prstGeom prst="rect">
            <a:avLst/>
          </a:prstGeom>
          <a:solidFill>
            <a:srgbClr val="66FF33"/>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itchFamily="2" charset="-122"/>
              </a:rPr>
              <a:t>31</a:t>
            </a:r>
          </a:p>
        </p:txBody>
      </p:sp>
      <p:sp>
        <p:nvSpPr>
          <p:cNvPr id="728077" name="Rectangle 13"/>
          <p:cNvSpPr>
            <a:spLocks noChangeArrowheads="1"/>
          </p:cNvSpPr>
          <p:nvPr/>
        </p:nvSpPr>
        <p:spPr bwMode="auto">
          <a:xfrm>
            <a:off x="2146977" y="1705769"/>
            <a:ext cx="233892" cy="287337"/>
          </a:xfrm>
          <a:prstGeom prst="rect">
            <a:avLst/>
          </a:prstGeom>
          <a:solidFill>
            <a:srgbClr val="66FF33"/>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itchFamily="2" charset="-122"/>
              </a:rPr>
              <a:t>32</a:t>
            </a:r>
          </a:p>
        </p:txBody>
      </p:sp>
      <p:sp>
        <p:nvSpPr>
          <p:cNvPr id="728078" name="Rectangle 14"/>
          <p:cNvSpPr>
            <a:spLocks noChangeArrowheads="1"/>
          </p:cNvSpPr>
          <p:nvPr/>
        </p:nvSpPr>
        <p:spPr bwMode="auto">
          <a:xfrm>
            <a:off x="2459979" y="1705769"/>
            <a:ext cx="233892" cy="287337"/>
          </a:xfrm>
          <a:prstGeom prst="rect">
            <a:avLst/>
          </a:prstGeom>
          <a:solidFill>
            <a:srgbClr val="66FF33"/>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itchFamily="2" charset="-122"/>
              </a:rPr>
              <a:t>33</a:t>
            </a:r>
          </a:p>
        </p:txBody>
      </p:sp>
      <p:sp>
        <p:nvSpPr>
          <p:cNvPr id="728079" name="Rectangle 15"/>
          <p:cNvSpPr>
            <a:spLocks noChangeArrowheads="1"/>
          </p:cNvSpPr>
          <p:nvPr/>
        </p:nvSpPr>
        <p:spPr bwMode="auto">
          <a:xfrm>
            <a:off x="2772981" y="1705769"/>
            <a:ext cx="233892" cy="287337"/>
          </a:xfrm>
          <a:prstGeom prst="rect">
            <a:avLst/>
          </a:prstGeom>
          <a:solidFill>
            <a:srgbClr val="FF00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itchFamily="2" charset="-122"/>
              </a:rPr>
              <a:t>34</a:t>
            </a:r>
          </a:p>
        </p:txBody>
      </p:sp>
      <p:sp>
        <p:nvSpPr>
          <p:cNvPr id="728080" name="Rectangle 16"/>
          <p:cNvSpPr>
            <a:spLocks noChangeArrowheads="1"/>
          </p:cNvSpPr>
          <p:nvPr/>
        </p:nvSpPr>
        <p:spPr bwMode="auto">
          <a:xfrm>
            <a:off x="3085983" y="1705769"/>
            <a:ext cx="233892" cy="287337"/>
          </a:xfrm>
          <a:prstGeom prst="rect">
            <a:avLst/>
          </a:prstGeom>
          <a:solidFill>
            <a:srgbClr val="FF00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itchFamily="2" charset="-122"/>
              </a:rPr>
              <a:t>35</a:t>
            </a:r>
          </a:p>
        </p:txBody>
      </p:sp>
      <p:sp>
        <p:nvSpPr>
          <p:cNvPr id="728081" name="Rectangle 17"/>
          <p:cNvSpPr>
            <a:spLocks noChangeArrowheads="1"/>
          </p:cNvSpPr>
          <p:nvPr/>
        </p:nvSpPr>
        <p:spPr bwMode="auto">
          <a:xfrm>
            <a:off x="3398985" y="1705769"/>
            <a:ext cx="233892" cy="287337"/>
          </a:xfrm>
          <a:prstGeom prst="rect">
            <a:avLst/>
          </a:prstGeom>
          <a:solidFill>
            <a:srgbClr val="FF00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itchFamily="2" charset="-122"/>
              </a:rPr>
              <a:t>36</a:t>
            </a:r>
          </a:p>
        </p:txBody>
      </p:sp>
      <p:sp>
        <p:nvSpPr>
          <p:cNvPr id="728082" name="Rectangle 18"/>
          <p:cNvSpPr>
            <a:spLocks noChangeArrowheads="1"/>
          </p:cNvSpPr>
          <p:nvPr/>
        </p:nvSpPr>
        <p:spPr bwMode="auto">
          <a:xfrm>
            <a:off x="3711987" y="1705769"/>
            <a:ext cx="233892" cy="287337"/>
          </a:xfrm>
          <a:prstGeom prst="rect">
            <a:avLst/>
          </a:prstGeom>
          <a:solidFill>
            <a:srgbClr val="FF00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itchFamily="2" charset="-122"/>
              </a:rPr>
              <a:t>37</a:t>
            </a:r>
          </a:p>
        </p:txBody>
      </p:sp>
      <p:sp>
        <p:nvSpPr>
          <p:cNvPr id="728083" name="Rectangle 19"/>
          <p:cNvSpPr>
            <a:spLocks noChangeArrowheads="1"/>
          </p:cNvSpPr>
          <p:nvPr/>
        </p:nvSpPr>
        <p:spPr bwMode="auto">
          <a:xfrm>
            <a:off x="4024989" y="1705769"/>
            <a:ext cx="233892" cy="287337"/>
          </a:xfrm>
          <a:prstGeom prst="rect">
            <a:avLst/>
          </a:prstGeom>
          <a:solidFill>
            <a:srgbClr val="FF00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itchFamily="2" charset="-122"/>
              </a:rPr>
              <a:t>38</a:t>
            </a:r>
          </a:p>
        </p:txBody>
      </p:sp>
      <p:sp>
        <p:nvSpPr>
          <p:cNvPr id="728084" name="Rectangle 20"/>
          <p:cNvSpPr>
            <a:spLocks noChangeArrowheads="1"/>
          </p:cNvSpPr>
          <p:nvPr/>
        </p:nvSpPr>
        <p:spPr bwMode="auto">
          <a:xfrm>
            <a:off x="4337991" y="1705769"/>
            <a:ext cx="233892" cy="287337"/>
          </a:xfrm>
          <a:prstGeom prst="rect">
            <a:avLst/>
          </a:prstGeom>
          <a:solidFill>
            <a:srgbClr val="FF00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itchFamily="2" charset="-122"/>
              </a:rPr>
              <a:t>39</a:t>
            </a:r>
          </a:p>
        </p:txBody>
      </p:sp>
      <p:sp>
        <p:nvSpPr>
          <p:cNvPr id="728085" name="Rectangle 21"/>
          <p:cNvSpPr>
            <a:spLocks noChangeArrowheads="1"/>
          </p:cNvSpPr>
          <p:nvPr/>
        </p:nvSpPr>
        <p:spPr bwMode="auto">
          <a:xfrm>
            <a:off x="4650993" y="1705769"/>
            <a:ext cx="233892" cy="287337"/>
          </a:xfrm>
          <a:prstGeom prst="rect">
            <a:avLst/>
          </a:prstGeom>
          <a:solidFill>
            <a:srgbClr val="FF00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itchFamily="2" charset="-122"/>
              </a:rPr>
              <a:t>40</a:t>
            </a:r>
          </a:p>
        </p:txBody>
      </p:sp>
      <p:sp>
        <p:nvSpPr>
          <p:cNvPr id="728086" name="Rectangle 22"/>
          <p:cNvSpPr>
            <a:spLocks noChangeArrowheads="1"/>
          </p:cNvSpPr>
          <p:nvPr/>
        </p:nvSpPr>
        <p:spPr bwMode="auto">
          <a:xfrm>
            <a:off x="4963995" y="1704180"/>
            <a:ext cx="233892" cy="287338"/>
          </a:xfrm>
          <a:prstGeom prst="rect">
            <a:avLst/>
          </a:prstGeom>
          <a:solidFill>
            <a:srgbClr val="FF00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itchFamily="2" charset="-122"/>
              </a:rPr>
              <a:t>41</a:t>
            </a:r>
          </a:p>
        </p:txBody>
      </p:sp>
      <p:sp>
        <p:nvSpPr>
          <p:cNvPr id="728087" name="Rectangle 23"/>
          <p:cNvSpPr>
            <a:spLocks noChangeArrowheads="1"/>
          </p:cNvSpPr>
          <p:nvPr/>
        </p:nvSpPr>
        <p:spPr bwMode="auto">
          <a:xfrm>
            <a:off x="5276997" y="1704180"/>
            <a:ext cx="233892" cy="287338"/>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itchFamily="2" charset="-122"/>
              </a:rPr>
              <a:t>42</a:t>
            </a:r>
          </a:p>
        </p:txBody>
      </p:sp>
      <p:sp>
        <p:nvSpPr>
          <p:cNvPr id="728088" name="Rectangle 24"/>
          <p:cNvSpPr>
            <a:spLocks noChangeArrowheads="1"/>
          </p:cNvSpPr>
          <p:nvPr/>
        </p:nvSpPr>
        <p:spPr bwMode="auto">
          <a:xfrm>
            <a:off x="5589999" y="1704180"/>
            <a:ext cx="233892" cy="287338"/>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itchFamily="2" charset="-122"/>
              </a:rPr>
              <a:t>43</a:t>
            </a:r>
          </a:p>
        </p:txBody>
      </p:sp>
      <p:sp>
        <p:nvSpPr>
          <p:cNvPr id="728089" name="Rectangle 25"/>
          <p:cNvSpPr>
            <a:spLocks noChangeArrowheads="1"/>
          </p:cNvSpPr>
          <p:nvPr/>
        </p:nvSpPr>
        <p:spPr bwMode="auto">
          <a:xfrm>
            <a:off x="5903002" y="1704180"/>
            <a:ext cx="233892" cy="287338"/>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itchFamily="2" charset="-122"/>
              </a:rPr>
              <a:t>44</a:t>
            </a:r>
          </a:p>
        </p:txBody>
      </p:sp>
      <p:sp>
        <p:nvSpPr>
          <p:cNvPr id="728090" name="Rectangle 26"/>
          <p:cNvSpPr>
            <a:spLocks noChangeArrowheads="1"/>
          </p:cNvSpPr>
          <p:nvPr/>
        </p:nvSpPr>
        <p:spPr bwMode="auto">
          <a:xfrm>
            <a:off x="6216004" y="1704180"/>
            <a:ext cx="233892" cy="287338"/>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itchFamily="2" charset="-122"/>
              </a:rPr>
              <a:t>45</a:t>
            </a:r>
          </a:p>
        </p:txBody>
      </p:sp>
      <p:sp>
        <p:nvSpPr>
          <p:cNvPr id="728091" name="Rectangle 27"/>
          <p:cNvSpPr>
            <a:spLocks noChangeArrowheads="1"/>
          </p:cNvSpPr>
          <p:nvPr/>
        </p:nvSpPr>
        <p:spPr bwMode="auto">
          <a:xfrm>
            <a:off x="6529006" y="1704180"/>
            <a:ext cx="233892" cy="287338"/>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itchFamily="2" charset="-122"/>
              </a:rPr>
              <a:t>46</a:t>
            </a:r>
          </a:p>
        </p:txBody>
      </p:sp>
      <p:sp>
        <p:nvSpPr>
          <p:cNvPr id="728092" name="Rectangle 28"/>
          <p:cNvSpPr>
            <a:spLocks noChangeArrowheads="1"/>
          </p:cNvSpPr>
          <p:nvPr/>
        </p:nvSpPr>
        <p:spPr bwMode="auto">
          <a:xfrm>
            <a:off x="6842008" y="1704180"/>
            <a:ext cx="233892" cy="287338"/>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itchFamily="2" charset="-122"/>
              </a:rPr>
              <a:t>47</a:t>
            </a:r>
          </a:p>
        </p:txBody>
      </p:sp>
      <p:sp>
        <p:nvSpPr>
          <p:cNvPr id="728093" name="Rectangle 29"/>
          <p:cNvSpPr>
            <a:spLocks noChangeArrowheads="1"/>
          </p:cNvSpPr>
          <p:nvPr/>
        </p:nvSpPr>
        <p:spPr bwMode="auto">
          <a:xfrm>
            <a:off x="7155010" y="1704180"/>
            <a:ext cx="233892" cy="287338"/>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itchFamily="2" charset="-122"/>
              </a:rPr>
              <a:t>48</a:t>
            </a:r>
          </a:p>
        </p:txBody>
      </p:sp>
      <p:sp>
        <p:nvSpPr>
          <p:cNvPr id="728094" name="Rectangle 30"/>
          <p:cNvSpPr>
            <a:spLocks noChangeArrowheads="1"/>
          </p:cNvSpPr>
          <p:nvPr/>
        </p:nvSpPr>
        <p:spPr bwMode="auto">
          <a:xfrm>
            <a:off x="7468012" y="1704180"/>
            <a:ext cx="233892" cy="287338"/>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itchFamily="2" charset="-122"/>
              </a:rPr>
              <a:t>49</a:t>
            </a:r>
          </a:p>
        </p:txBody>
      </p:sp>
      <p:sp>
        <p:nvSpPr>
          <p:cNvPr id="728095" name="Rectangle 31"/>
          <p:cNvSpPr>
            <a:spLocks noChangeArrowheads="1"/>
          </p:cNvSpPr>
          <p:nvPr/>
        </p:nvSpPr>
        <p:spPr bwMode="auto">
          <a:xfrm>
            <a:off x="7781014" y="1704180"/>
            <a:ext cx="233892" cy="287338"/>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itchFamily="2" charset="-122"/>
              </a:rPr>
              <a:t>50</a:t>
            </a:r>
          </a:p>
        </p:txBody>
      </p:sp>
      <p:sp>
        <p:nvSpPr>
          <p:cNvPr id="728096" name="Rectangle 32"/>
          <p:cNvSpPr>
            <a:spLocks noChangeArrowheads="1"/>
          </p:cNvSpPr>
          <p:nvPr/>
        </p:nvSpPr>
        <p:spPr bwMode="auto">
          <a:xfrm>
            <a:off x="8094016" y="1704180"/>
            <a:ext cx="233892" cy="287338"/>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itchFamily="2" charset="-122"/>
              </a:rPr>
              <a:t>51</a:t>
            </a:r>
          </a:p>
        </p:txBody>
      </p:sp>
      <p:sp>
        <p:nvSpPr>
          <p:cNvPr id="728097" name="Rectangle 33"/>
          <p:cNvSpPr>
            <a:spLocks noChangeArrowheads="1"/>
          </p:cNvSpPr>
          <p:nvPr/>
        </p:nvSpPr>
        <p:spPr bwMode="auto">
          <a:xfrm>
            <a:off x="8407018" y="1704180"/>
            <a:ext cx="233892" cy="287338"/>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itchFamily="2" charset="-122"/>
              </a:rPr>
              <a:t>52</a:t>
            </a:r>
          </a:p>
        </p:txBody>
      </p:sp>
      <p:sp>
        <p:nvSpPr>
          <p:cNvPr id="728098" name="Rectangle 34"/>
          <p:cNvSpPr>
            <a:spLocks noChangeArrowheads="1"/>
          </p:cNvSpPr>
          <p:nvPr/>
        </p:nvSpPr>
        <p:spPr bwMode="auto">
          <a:xfrm>
            <a:off x="8720020" y="1704180"/>
            <a:ext cx="233892" cy="287338"/>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itchFamily="2" charset="-122"/>
              </a:rPr>
              <a:t>53</a:t>
            </a:r>
          </a:p>
        </p:txBody>
      </p:sp>
      <p:sp>
        <p:nvSpPr>
          <p:cNvPr id="728099" name="Rectangle 35"/>
          <p:cNvSpPr>
            <a:spLocks noChangeArrowheads="1"/>
          </p:cNvSpPr>
          <p:nvPr/>
        </p:nvSpPr>
        <p:spPr bwMode="auto">
          <a:xfrm>
            <a:off x="9033022" y="1704180"/>
            <a:ext cx="233892" cy="287338"/>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itchFamily="2" charset="-122"/>
              </a:rPr>
              <a:t>54</a:t>
            </a:r>
          </a:p>
        </p:txBody>
      </p:sp>
      <p:sp>
        <p:nvSpPr>
          <p:cNvPr id="728100" name="Rectangle 36"/>
          <p:cNvSpPr>
            <a:spLocks noChangeArrowheads="1"/>
          </p:cNvSpPr>
          <p:nvPr/>
        </p:nvSpPr>
        <p:spPr bwMode="auto">
          <a:xfrm>
            <a:off x="9346024" y="1704180"/>
            <a:ext cx="233892" cy="287338"/>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itchFamily="2" charset="-122"/>
              </a:rPr>
              <a:t>55</a:t>
            </a:r>
          </a:p>
        </p:txBody>
      </p:sp>
      <p:sp>
        <p:nvSpPr>
          <p:cNvPr id="728101" name="Text Box 37"/>
          <p:cNvSpPr txBox="1">
            <a:spLocks noChangeArrowheads="1"/>
          </p:cNvSpPr>
          <p:nvPr/>
        </p:nvSpPr>
        <p:spPr bwMode="auto">
          <a:xfrm>
            <a:off x="352843" y="2035969"/>
            <a:ext cx="2236510" cy="40011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rgbClr val="C00000"/>
                </a:solidFill>
                <a:latin typeface="+mn-lt"/>
                <a:ea typeface="黑体" pitchFamily="2" charset="-122"/>
              </a:rPr>
              <a:t>已发送并收到确认</a:t>
            </a:r>
          </a:p>
        </p:txBody>
      </p:sp>
      <p:sp>
        <p:nvSpPr>
          <p:cNvPr id="728102" name="Text Box 38"/>
          <p:cNvSpPr txBox="1">
            <a:spLocks noChangeArrowheads="1"/>
          </p:cNvSpPr>
          <p:nvPr/>
        </p:nvSpPr>
        <p:spPr bwMode="auto">
          <a:xfrm>
            <a:off x="9053021" y="1985169"/>
            <a:ext cx="954107" cy="70788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rgbClr val="FF0000"/>
                </a:solidFill>
                <a:latin typeface="+mn-lt"/>
                <a:ea typeface="黑体" pitchFamily="2" charset="-122"/>
              </a:rPr>
              <a:t>不允许</a:t>
            </a:r>
          </a:p>
          <a:p>
            <a:pPr algn="ctr"/>
            <a:r>
              <a:rPr lang="zh-CN" altLang="en-US" sz="2000" b="1" dirty="0">
                <a:solidFill>
                  <a:srgbClr val="FF0000"/>
                </a:solidFill>
                <a:latin typeface="+mn-lt"/>
                <a:ea typeface="黑体" pitchFamily="2" charset="-122"/>
              </a:rPr>
              <a:t>发送</a:t>
            </a:r>
          </a:p>
        </p:txBody>
      </p:sp>
      <p:sp>
        <p:nvSpPr>
          <p:cNvPr id="728103" name="Text Box 39"/>
          <p:cNvSpPr txBox="1">
            <a:spLocks noChangeArrowheads="1"/>
          </p:cNvSpPr>
          <p:nvPr/>
        </p:nvSpPr>
        <p:spPr bwMode="auto">
          <a:xfrm>
            <a:off x="3238885" y="2167731"/>
            <a:ext cx="1723549" cy="70788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rgbClr val="0000FF"/>
                </a:solidFill>
                <a:latin typeface="+mn-lt"/>
                <a:ea typeface="黑体" pitchFamily="2" charset="-122"/>
              </a:rPr>
              <a:t>已发送</a:t>
            </a:r>
          </a:p>
          <a:p>
            <a:pPr algn="ctr"/>
            <a:r>
              <a:rPr lang="zh-CN" altLang="en-US" sz="2000" b="1" dirty="0">
                <a:solidFill>
                  <a:srgbClr val="0000FF"/>
                </a:solidFill>
                <a:latin typeface="+mn-lt"/>
                <a:ea typeface="黑体" pitchFamily="2" charset="-122"/>
              </a:rPr>
              <a:t>但未收到确认</a:t>
            </a:r>
          </a:p>
        </p:txBody>
      </p:sp>
      <p:sp>
        <p:nvSpPr>
          <p:cNvPr id="728104" name="Rectangle 40"/>
          <p:cNvSpPr>
            <a:spLocks noChangeArrowheads="1"/>
          </p:cNvSpPr>
          <p:nvPr/>
        </p:nvSpPr>
        <p:spPr bwMode="auto">
          <a:xfrm>
            <a:off x="9650427" y="1704180"/>
            <a:ext cx="233892" cy="287338"/>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itchFamily="2" charset="-122"/>
              </a:rPr>
              <a:t>56</a:t>
            </a:r>
          </a:p>
        </p:txBody>
      </p:sp>
      <p:sp>
        <p:nvSpPr>
          <p:cNvPr id="728106" name="Line 42"/>
          <p:cNvSpPr>
            <a:spLocks noChangeShapeType="1"/>
          </p:cNvSpPr>
          <p:nvPr/>
        </p:nvSpPr>
        <p:spPr bwMode="auto">
          <a:xfrm flipV="1">
            <a:off x="2879608" y="2016918"/>
            <a:ext cx="0" cy="576262"/>
          </a:xfrm>
          <a:prstGeom prst="line">
            <a:avLst/>
          </a:prstGeom>
          <a:noFill/>
          <a:ln w="38100">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728107" name="Text Box 43"/>
          <p:cNvSpPr txBox="1">
            <a:spLocks noChangeArrowheads="1"/>
          </p:cNvSpPr>
          <p:nvPr/>
        </p:nvSpPr>
        <p:spPr bwMode="auto">
          <a:xfrm>
            <a:off x="2653366" y="2542381"/>
            <a:ext cx="450764" cy="40011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a:solidFill>
                  <a:srgbClr val="0000CC"/>
                </a:solidFill>
                <a:latin typeface="+mn-lt"/>
                <a:ea typeface="黑体" pitchFamily="2" charset="-122"/>
              </a:rPr>
              <a:t>P</a:t>
            </a:r>
            <a:r>
              <a:rPr lang="en-US" altLang="zh-CN" sz="2000" b="1" baseline="-25000">
                <a:solidFill>
                  <a:srgbClr val="0000CC"/>
                </a:solidFill>
                <a:latin typeface="+mn-lt"/>
                <a:ea typeface="黑体" pitchFamily="2" charset="-122"/>
              </a:rPr>
              <a:t>1</a:t>
            </a:r>
          </a:p>
        </p:txBody>
      </p:sp>
      <p:sp>
        <p:nvSpPr>
          <p:cNvPr id="728109" name="Line 45"/>
          <p:cNvSpPr>
            <a:spLocks noChangeShapeType="1"/>
          </p:cNvSpPr>
          <p:nvPr/>
        </p:nvSpPr>
        <p:spPr bwMode="auto">
          <a:xfrm flipV="1">
            <a:off x="5400823" y="2016918"/>
            <a:ext cx="0" cy="576262"/>
          </a:xfrm>
          <a:prstGeom prst="line">
            <a:avLst/>
          </a:prstGeom>
          <a:noFill/>
          <a:ln w="38100">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728110" name="Text Box 46"/>
          <p:cNvSpPr txBox="1">
            <a:spLocks noChangeArrowheads="1"/>
          </p:cNvSpPr>
          <p:nvPr/>
        </p:nvSpPr>
        <p:spPr bwMode="auto">
          <a:xfrm>
            <a:off x="5234773" y="2542381"/>
            <a:ext cx="450764" cy="40011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a:solidFill>
                  <a:srgbClr val="0000CC"/>
                </a:solidFill>
                <a:latin typeface="+mn-lt"/>
                <a:ea typeface="黑体" pitchFamily="2" charset="-122"/>
              </a:rPr>
              <a:t>P</a:t>
            </a:r>
            <a:r>
              <a:rPr lang="en-US" altLang="zh-CN" sz="2000" b="1" baseline="-25000">
                <a:solidFill>
                  <a:srgbClr val="0000CC"/>
                </a:solidFill>
                <a:latin typeface="+mn-lt"/>
                <a:ea typeface="黑体" pitchFamily="2" charset="-122"/>
              </a:rPr>
              <a:t>2</a:t>
            </a:r>
          </a:p>
        </p:txBody>
      </p:sp>
      <p:sp>
        <p:nvSpPr>
          <p:cNvPr id="728112" name="Line 48"/>
          <p:cNvSpPr>
            <a:spLocks noChangeShapeType="1"/>
          </p:cNvSpPr>
          <p:nvPr/>
        </p:nvSpPr>
        <p:spPr bwMode="auto">
          <a:xfrm flipV="1">
            <a:off x="9093248" y="2016918"/>
            <a:ext cx="0" cy="576262"/>
          </a:xfrm>
          <a:prstGeom prst="line">
            <a:avLst/>
          </a:prstGeom>
          <a:noFill/>
          <a:ln w="38100">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728113" name="Text Box 49"/>
          <p:cNvSpPr txBox="1">
            <a:spLocks noChangeArrowheads="1"/>
          </p:cNvSpPr>
          <p:nvPr/>
        </p:nvSpPr>
        <p:spPr bwMode="auto">
          <a:xfrm>
            <a:off x="8913440" y="2542381"/>
            <a:ext cx="450764" cy="40011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a:solidFill>
                  <a:srgbClr val="0000CC"/>
                </a:solidFill>
                <a:latin typeface="+mn-lt"/>
                <a:ea typeface="黑体" pitchFamily="2" charset="-122"/>
              </a:rPr>
              <a:t>P</a:t>
            </a:r>
            <a:r>
              <a:rPr lang="en-US" altLang="zh-CN" sz="2000" b="1" baseline="-25000">
                <a:solidFill>
                  <a:srgbClr val="0000CC"/>
                </a:solidFill>
                <a:latin typeface="+mn-lt"/>
                <a:ea typeface="黑体" pitchFamily="2" charset="-122"/>
              </a:rPr>
              <a:t>3</a:t>
            </a:r>
          </a:p>
        </p:txBody>
      </p:sp>
      <p:sp>
        <p:nvSpPr>
          <p:cNvPr id="728114" name="Line 50"/>
          <p:cNvSpPr>
            <a:spLocks noChangeShapeType="1"/>
          </p:cNvSpPr>
          <p:nvPr/>
        </p:nvSpPr>
        <p:spPr bwMode="auto">
          <a:xfrm rot="-5400000">
            <a:off x="7863631" y="804134"/>
            <a:ext cx="1587" cy="1030156"/>
          </a:xfrm>
          <a:prstGeom prst="line">
            <a:avLst/>
          </a:prstGeom>
          <a:noFill/>
          <a:ln w="57150">
            <a:solidFill>
              <a:srgbClr val="C00000"/>
            </a:solidFill>
            <a:round/>
            <a:headEnd/>
            <a:tailEnd type="triangl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728115" name="Text Box 51"/>
          <p:cNvSpPr txBox="1">
            <a:spLocks noChangeArrowheads="1"/>
          </p:cNvSpPr>
          <p:nvPr/>
        </p:nvSpPr>
        <p:spPr bwMode="auto">
          <a:xfrm>
            <a:off x="5042287" y="4551511"/>
            <a:ext cx="1422184" cy="46166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400" b="1" dirty="0">
                <a:solidFill>
                  <a:srgbClr val="0000FF"/>
                </a:solidFill>
                <a:latin typeface="+mn-lt"/>
                <a:ea typeface="黑体" pitchFamily="2" charset="-122"/>
              </a:rPr>
              <a:t>允许接收</a:t>
            </a:r>
          </a:p>
        </p:txBody>
      </p:sp>
      <p:sp>
        <p:nvSpPr>
          <p:cNvPr id="728116" name="Text Box 52"/>
          <p:cNvSpPr txBox="1">
            <a:spLocks noChangeArrowheads="1"/>
          </p:cNvSpPr>
          <p:nvPr/>
        </p:nvSpPr>
        <p:spPr bwMode="auto">
          <a:xfrm>
            <a:off x="4401624" y="3429000"/>
            <a:ext cx="2763898" cy="40011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000" b="1" dirty="0">
                <a:solidFill>
                  <a:srgbClr val="0000CC"/>
                </a:solidFill>
                <a:latin typeface="+mn-lt"/>
                <a:ea typeface="黑体" pitchFamily="2" charset="-122"/>
              </a:rPr>
              <a:t>B </a:t>
            </a:r>
            <a:r>
              <a:rPr lang="zh-CN" altLang="en-US" sz="2000" b="1" dirty="0">
                <a:solidFill>
                  <a:srgbClr val="0000CC"/>
                </a:solidFill>
                <a:latin typeface="+mn-lt"/>
                <a:ea typeface="黑体" pitchFamily="2" charset="-122"/>
              </a:rPr>
              <a:t>的</a:t>
            </a:r>
            <a:r>
              <a:rPr lang="zh-CN" altLang="en-US" sz="2000" b="1" dirty="0">
                <a:solidFill>
                  <a:srgbClr val="FF0000"/>
                </a:solidFill>
                <a:latin typeface="+mn-lt"/>
                <a:ea typeface="黑体" pitchFamily="2" charset="-122"/>
              </a:rPr>
              <a:t>接收窗口</a:t>
            </a:r>
            <a:r>
              <a:rPr lang="zh-CN" altLang="en-US" sz="2000" b="1" dirty="0">
                <a:solidFill>
                  <a:srgbClr val="0000CC"/>
                </a:solidFill>
                <a:latin typeface="+mn-lt"/>
                <a:ea typeface="黑体" pitchFamily="2" charset="-122"/>
              </a:rPr>
              <a:t>向前滑动</a:t>
            </a:r>
          </a:p>
        </p:txBody>
      </p:sp>
      <p:sp>
        <p:nvSpPr>
          <p:cNvPr id="728117" name="Rectangle 53"/>
          <p:cNvSpPr>
            <a:spLocks noChangeArrowheads="1"/>
          </p:cNvSpPr>
          <p:nvPr/>
        </p:nvSpPr>
        <p:spPr bwMode="auto">
          <a:xfrm>
            <a:off x="2721387" y="3824857"/>
            <a:ext cx="6273800" cy="649288"/>
          </a:xfrm>
          <a:prstGeom prst="rect">
            <a:avLst/>
          </a:prstGeom>
          <a:solidFill>
            <a:srgbClr val="3399FF"/>
          </a:solidFill>
          <a:ln>
            <a:noFill/>
          </a:ln>
          <a:effectLst>
            <a:outerShdw dist="35921" dir="2700000" algn="ctr" rotWithShape="0">
              <a:schemeClr val="bg2"/>
            </a:outerShdw>
          </a:effectLst>
        </p:spPr>
        <p:txBody>
          <a:bodyPr wrap="none" anchor="ctr"/>
          <a:lstStyle/>
          <a:p>
            <a:endParaRPr lang="zh-CN" altLang="en-US" b="1">
              <a:solidFill>
                <a:srgbClr val="0000CC"/>
              </a:solidFill>
              <a:latin typeface="+mn-lt"/>
              <a:ea typeface="黑体" pitchFamily="2" charset="-122"/>
            </a:endParaRPr>
          </a:p>
        </p:txBody>
      </p:sp>
      <p:sp>
        <p:nvSpPr>
          <p:cNvPr id="728118" name="Rectangle 54"/>
          <p:cNvSpPr>
            <a:spLocks noChangeArrowheads="1"/>
          </p:cNvSpPr>
          <p:nvPr/>
        </p:nvSpPr>
        <p:spPr bwMode="auto">
          <a:xfrm>
            <a:off x="267244" y="4018532"/>
            <a:ext cx="233892" cy="287338"/>
          </a:xfrm>
          <a:prstGeom prst="rect">
            <a:avLst/>
          </a:prstGeom>
          <a:solidFill>
            <a:srgbClr val="66FF33"/>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itchFamily="2" charset="-122"/>
              </a:rPr>
              <a:t>26</a:t>
            </a:r>
          </a:p>
        </p:txBody>
      </p:sp>
      <p:sp>
        <p:nvSpPr>
          <p:cNvPr id="728119" name="Rectangle 55"/>
          <p:cNvSpPr>
            <a:spLocks noChangeArrowheads="1"/>
          </p:cNvSpPr>
          <p:nvPr/>
        </p:nvSpPr>
        <p:spPr bwMode="auto">
          <a:xfrm>
            <a:off x="580246" y="4018532"/>
            <a:ext cx="233892" cy="287338"/>
          </a:xfrm>
          <a:prstGeom prst="rect">
            <a:avLst/>
          </a:prstGeom>
          <a:solidFill>
            <a:srgbClr val="66FF33"/>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itchFamily="2" charset="-122"/>
              </a:rPr>
              <a:t>27</a:t>
            </a:r>
          </a:p>
        </p:txBody>
      </p:sp>
      <p:sp>
        <p:nvSpPr>
          <p:cNvPr id="728120" name="Rectangle 56"/>
          <p:cNvSpPr>
            <a:spLocks noChangeArrowheads="1"/>
          </p:cNvSpPr>
          <p:nvPr/>
        </p:nvSpPr>
        <p:spPr bwMode="auto">
          <a:xfrm>
            <a:off x="893248" y="4018532"/>
            <a:ext cx="233892" cy="287338"/>
          </a:xfrm>
          <a:prstGeom prst="rect">
            <a:avLst/>
          </a:prstGeom>
          <a:solidFill>
            <a:srgbClr val="66FF33"/>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itchFamily="2" charset="-122"/>
              </a:rPr>
              <a:t>28</a:t>
            </a:r>
          </a:p>
        </p:txBody>
      </p:sp>
      <p:sp>
        <p:nvSpPr>
          <p:cNvPr id="728121" name="Rectangle 57"/>
          <p:cNvSpPr>
            <a:spLocks noChangeArrowheads="1"/>
          </p:cNvSpPr>
          <p:nvPr/>
        </p:nvSpPr>
        <p:spPr bwMode="auto">
          <a:xfrm>
            <a:off x="1206250" y="4018532"/>
            <a:ext cx="233892" cy="287338"/>
          </a:xfrm>
          <a:prstGeom prst="rect">
            <a:avLst/>
          </a:prstGeom>
          <a:solidFill>
            <a:srgbClr val="66FF33"/>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itchFamily="2" charset="-122"/>
              </a:rPr>
              <a:t>29</a:t>
            </a:r>
          </a:p>
        </p:txBody>
      </p:sp>
      <p:sp>
        <p:nvSpPr>
          <p:cNvPr id="728122" name="Rectangle 58"/>
          <p:cNvSpPr>
            <a:spLocks noChangeArrowheads="1"/>
          </p:cNvSpPr>
          <p:nvPr/>
        </p:nvSpPr>
        <p:spPr bwMode="auto">
          <a:xfrm>
            <a:off x="1519252" y="4018532"/>
            <a:ext cx="233892" cy="287338"/>
          </a:xfrm>
          <a:prstGeom prst="rect">
            <a:avLst/>
          </a:prstGeom>
          <a:solidFill>
            <a:srgbClr val="66FF33"/>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itchFamily="2" charset="-122"/>
              </a:rPr>
              <a:t>30</a:t>
            </a:r>
          </a:p>
        </p:txBody>
      </p:sp>
      <p:sp>
        <p:nvSpPr>
          <p:cNvPr id="728123" name="Rectangle 59"/>
          <p:cNvSpPr>
            <a:spLocks noChangeArrowheads="1"/>
          </p:cNvSpPr>
          <p:nvPr/>
        </p:nvSpPr>
        <p:spPr bwMode="auto">
          <a:xfrm>
            <a:off x="1832254" y="4018532"/>
            <a:ext cx="233892" cy="287338"/>
          </a:xfrm>
          <a:prstGeom prst="rect">
            <a:avLst/>
          </a:prstGeom>
          <a:solidFill>
            <a:srgbClr val="66FF33"/>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itchFamily="2" charset="-122"/>
              </a:rPr>
              <a:t>31</a:t>
            </a:r>
          </a:p>
        </p:txBody>
      </p:sp>
      <p:sp>
        <p:nvSpPr>
          <p:cNvPr id="728124" name="Rectangle 60"/>
          <p:cNvSpPr>
            <a:spLocks noChangeArrowheads="1"/>
          </p:cNvSpPr>
          <p:nvPr/>
        </p:nvSpPr>
        <p:spPr bwMode="auto">
          <a:xfrm>
            <a:off x="2145256" y="4018532"/>
            <a:ext cx="233892" cy="287338"/>
          </a:xfrm>
          <a:prstGeom prst="rect">
            <a:avLst/>
          </a:prstGeom>
          <a:solidFill>
            <a:srgbClr val="66FF33"/>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itchFamily="2" charset="-122"/>
              </a:rPr>
              <a:t>32</a:t>
            </a:r>
          </a:p>
        </p:txBody>
      </p:sp>
      <p:sp>
        <p:nvSpPr>
          <p:cNvPr id="728125" name="Rectangle 61"/>
          <p:cNvSpPr>
            <a:spLocks noChangeArrowheads="1"/>
          </p:cNvSpPr>
          <p:nvPr/>
        </p:nvSpPr>
        <p:spPr bwMode="auto">
          <a:xfrm>
            <a:off x="2458258" y="4018532"/>
            <a:ext cx="233892" cy="287338"/>
          </a:xfrm>
          <a:prstGeom prst="rect">
            <a:avLst/>
          </a:prstGeom>
          <a:solidFill>
            <a:srgbClr val="66FF33"/>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itchFamily="2" charset="-122"/>
              </a:rPr>
              <a:t>33</a:t>
            </a:r>
          </a:p>
        </p:txBody>
      </p:sp>
      <p:sp>
        <p:nvSpPr>
          <p:cNvPr id="728126" name="Rectangle 62"/>
          <p:cNvSpPr>
            <a:spLocks noChangeArrowheads="1"/>
          </p:cNvSpPr>
          <p:nvPr/>
        </p:nvSpPr>
        <p:spPr bwMode="auto">
          <a:xfrm>
            <a:off x="2771260" y="4018532"/>
            <a:ext cx="233892" cy="287338"/>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itchFamily="2" charset="-122"/>
              </a:rPr>
              <a:t>34</a:t>
            </a:r>
          </a:p>
        </p:txBody>
      </p:sp>
      <p:sp>
        <p:nvSpPr>
          <p:cNvPr id="728127" name="Rectangle 63"/>
          <p:cNvSpPr>
            <a:spLocks noChangeArrowheads="1"/>
          </p:cNvSpPr>
          <p:nvPr/>
        </p:nvSpPr>
        <p:spPr bwMode="auto">
          <a:xfrm>
            <a:off x="3084262" y="4018532"/>
            <a:ext cx="233892" cy="287338"/>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itchFamily="2" charset="-122"/>
              </a:rPr>
              <a:t>35</a:t>
            </a:r>
          </a:p>
        </p:txBody>
      </p:sp>
      <p:sp>
        <p:nvSpPr>
          <p:cNvPr id="728128" name="Rectangle 64"/>
          <p:cNvSpPr>
            <a:spLocks noChangeArrowheads="1"/>
          </p:cNvSpPr>
          <p:nvPr/>
        </p:nvSpPr>
        <p:spPr bwMode="auto">
          <a:xfrm>
            <a:off x="3397265" y="4018532"/>
            <a:ext cx="233892" cy="287338"/>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itchFamily="2" charset="-122"/>
              </a:rPr>
              <a:t>36</a:t>
            </a:r>
          </a:p>
        </p:txBody>
      </p:sp>
      <p:sp>
        <p:nvSpPr>
          <p:cNvPr id="728129" name="Rectangle 65"/>
          <p:cNvSpPr>
            <a:spLocks noChangeArrowheads="1"/>
          </p:cNvSpPr>
          <p:nvPr/>
        </p:nvSpPr>
        <p:spPr bwMode="auto">
          <a:xfrm>
            <a:off x="3710267" y="4018532"/>
            <a:ext cx="233892" cy="287338"/>
          </a:xfrm>
          <a:prstGeom prst="rect">
            <a:avLst/>
          </a:prstGeom>
          <a:solidFill>
            <a:srgbClr val="CC99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itchFamily="2" charset="-122"/>
              </a:rPr>
              <a:t>37</a:t>
            </a:r>
          </a:p>
        </p:txBody>
      </p:sp>
      <p:sp>
        <p:nvSpPr>
          <p:cNvPr id="728130" name="Rectangle 66"/>
          <p:cNvSpPr>
            <a:spLocks noChangeArrowheads="1"/>
          </p:cNvSpPr>
          <p:nvPr/>
        </p:nvSpPr>
        <p:spPr bwMode="auto">
          <a:xfrm>
            <a:off x="4023269" y="4018532"/>
            <a:ext cx="233892" cy="287338"/>
          </a:xfrm>
          <a:prstGeom prst="rect">
            <a:avLst/>
          </a:prstGeom>
          <a:solidFill>
            <a:srgbClr val="CC99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itchFamily="2" charset="-122"/>
              </a:rPr>
              <a:t>38</a:t>
            </a:r>
          </a:p>
        </p:txBody>
      </p:sp>
      <p:sp>
        <p:nvSpPr>
          <p:cNvPr id="728131" name="Rectangle 67"/>
          <p:cNvSpPr>
            <a:spLocks noChangeArrowheads="1"/>
          </p:cNvSpPr>
          <p:nvPr/>
        </p:nvSpPr>
        <p:spPr bwMode="auto">
          <a:xfrm>
            <a:off x="4336271" y="4018532"/>
            <a:ext cx="233892" cy="287338"/>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itchFamily="2" charset="-122"/>
              </a:rPr>
              <a:t>39</a:t>
            </a:r>
          </a:p>
        </p:txBody>
      </p:sp>
      <p:sp>
        <p:nvSpPr>
          <p:cNvPr id="728132" name="Rectangle 68"/>
          <p:cNvSpPr>
            <a:spLocks noChangeArrowheads="1"/>
          </p:cNvSpPr>
          <p:nvPr/>
        </p:nvSpPr>
        <p:spPr bwMode="auto">
          <a:xfrm>
            <a:off x="4649273" y="4018532"/>
            <a:ext cx="233892" cy="287338"/>
          </a:xfrm>
          <a:prstGeom prst="rect">
            <a:avLst/>
          </a:prstGeom>
          <a:solidFill>
            <a:srgbClr val="CC99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itchFamily="2" charset="-122"/>
              </a:rPr>
              <a:t>40</a:t>
            </a:r>
          </a:p>
        </p:txBody>
      </p:sp>
      <p:sp>
        <p:nvSpPr>
          <p:cNvPr id="728133" name="Rectangle 69"/>
          <p:cNvSpPr>
            <a:spLocks noChangeArrowheads="1"/>
          </p:cNvSpPr>
          <p:nvPr/>
        </p:nvSpPr>
        <p:spPr bwMode="auto">
          <a:xfrm>
            <a:off x="4962275" y="4016946"/>
            <a:ext cx="233892" cy="287337"/>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itchFamily="2" charset="-122"/>
              </a:rPr>
              <a:t>41</a:t>
            </a:r>
          </a:p>
        </p:txBody>
      </p:sp>
      <p:sp>
        <p:nvSpPr>
          <p:cNvPr id="728134" name="Rectangle 70"/>
          <p:cNvSpPr>
            <a:spLocks noChangeArrowheads="1"/>
          </p:cNvSpPr>
          <p:nvPr/>
        </p:nvSpPr>
        <p:spPr bwMode="auto">
          <a:xfrm>
            <a:off x="5275277" y="4016946"/>
            <a:ext cx="233892" cy="287337"/>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itchFamily="2" charset="-122"/>
              </a:rPr>
              <a:t>42</a:t>
            </a:r>
          </a:p>
        </p:txBody>
      </p:sp>
      <p:sp>
        <p:nvSpPr>
          <p:cNvPr id="728135" name="Rectangle 71"/>
          <p:cNvSpPr>
            <a:spLocks noChangeArrowheads="1"/>
          </p:cNvSpPr>
          <p:nvPr/>
        </p:nvSpPr>
        <p:spPr bwMode="auto">
          <a:xfrm>
            <a:off x="5588279" y="4016946"/>
            <a:ext cx="233892" cy="287337"/>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itchFamily="2" charset="-122"/>
              </a:rPr>
              <a:t>43</a:t>
            </a:r>
          </a:p>
        </p:txBody>
      </p:sp>
      <p:sp>
        <p:nvSpPr>
          <p:cNvPr id="728136" name="Rectangle 72"/>
          <p:cNvSpPr>
            <a:spLocks noChangeArrowheads="1"/>
          </p:cNvSpPr>
          <p:nvPr/>
        </p:nvSpPr>
        <p:spPr bwMode="auto">
          <a:xfrm>
            <a:off x="5901281" y="4016946"/>
            <a:ext cx="233892" cy="287337"/>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itchFamily="2" charset="-122"/>
              </a:rPr>
              <a:t>44</a:t>
            </a:r>
          </a:p>
        </p:txBody>
      </p:sp>
      <p:sp>
        <p:nvSpPr>
          <p:cNvPr id="728137" name="Rectangle 73"/>
          <p:cNvSpPr>
            <a:spLocks noChangeArrowheads="1"/>
          </p:cNvSpPr>
          <p:nvPr/>
        </p:nvSpPr>
        <p:spPr bwMode="auto">
          <a:xfrm>
            <a:off x="6214283" y="4016946"/>
            <a:ext cx="233892" cy="287337"/>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itchFamily="2" charset="-122"/>
              </a:rPr>
              <a:t>45</a:t>
            </a:r>
          </a:p>
        </p:txBody>
      </p:sp>
      <p:sp>
        <p:nvSpPr>
          <p:cNvPr id="728138" name="Rectangle 74"/>
          <p:cNvSpPr>
            <a:spLocks noChangeArrowheads="1"/>
          </p:cNvSpPr>
          <p:nvPr/>
        </p:nvSpPr>
        <p:spPr bwMode="auto">
          <a:xfrm>
            <a:off x="6527285" y="4016946"/>
            <a:ext cx="233892" cy="287337"/>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itchFamily="2" charset="-122"/>
              </a:rPr>
              <a:t>46</a:t>
            </a:r>
          </a:p>
        </p:txBody>
      </p:sp>
      <p:sp>
        <p:nvSpPr>
          <p:cNvPr id="728139" name="Rectangle 75"/>
          <p:cNvSpPr>
            <a:spLocks noChangeArrowheads="1"/>
          </p:cNvSpPr>
          <p:nvPr/>
        </p:nvSpPr>
        <p:spPr bwMode="auto">
          <a:xfrm>
            <a:off x="6840287" y="4016946"/>
            <a:ext cx="233892" cy="287337"/>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itchFamily="2" charset="-122"/>
              </a:rPr>
              <a:t>47</a:t>
            </a:r>
          </a:p>
        </p:txBody>
      </p:sp>
      <p:sp>
        <p:nvSpPr>
          <p:cNvPr id="728140" name="Rectangle 76"/>
          <p:cNvSpPr>
            <a:spLocks noChangeArrowheads="1"/>
          </p:cNvSpPr>
          <p:nvPr/>
        </p:nvSpPr>
        <p:spPr bwMode="auto">
          <a:xfrm>
            <a:off x="7153290" y="4016946"/>
            <a:ext cx="233892" cy="287337"/>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itchFamily="2" charset="-122"/>
              </a:rPr>
              <a:t>48</a:t>
            </a:r>
          </a:p>
        </p:txBody>
      </p:sp>
      <p:sp>
        <p:nvSpPr>
          <p:cNvPr id="728141" name="Rectangle 77"/>
          <p:cNvSpPr>
            <a:spLocks noChangeArrowheads="1"/>
          </p:cNvSpPr>
          <p:nvPr/>
        </p:nvSpPr>
        <p:spPr bwMode="auto">
          <a:xfrm>
            <a:off x="7466292" y="4016946"/>
            <a:ext cx="233892" cy="287337"/>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itchFamily="2" charset="-122"/>
              </a:rPr>
              <a:t>49</a:t>
            </a:r>
          </a:p>
        </p:txBody>
      </p:sp>
      <p:sp>
        <p:nvSpPr>
          <p:cNvPr id="728142" name="Rectangle 78"/>
          <p:cNvSpPr>
            <a:spLocks noChangeArrowheads="1"/>
          </p:cNvSpPr>
          <p:nvPr/>
        </p:nvSpPr>
        <p:spPr bwMode="auto">
          <a:xfrm>
            <a:off x="7779294" y="4016946"/>
            <a:ext cx="233892" cy="287337"/>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itchFamily="2" charset="-122"/>
              </a:rPr>
              <a:t>50</a:t>
            </a:r>
          </a:p>
        </p:txBody>
      </p:sp>
      <p:sp>
        <p:nvSpPr>
          <p:cNvPr id="728143" name="Rectangle 79"/>
          <p:cNvSpPr>
            <a:spLocks noChangeArrowheads="1"/>
          </p:cNvSpPr>
          <p:nvPr/>
        </p:nvSpPr>
        <p:spPr bwMode="auto">
          <a:xfrm>
            <a:off x="8092296" y="4016946"/>
            <a:ext cx="233892" cy="287337"/>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itchFamily="2" charset="-122"/>
              </a:rPr>
              <a:t>51</a:t>
            </a:r>
          </a:p>
        </p:txBody>
      </p:sp>
      <p:sp>
        <p:nvSpPr>
          <p:cNvPr id="728144" name="Rectangle 80"/>
          <p:cNvSpPr>
            <a:spLocks noChangeArrowheads="1"/>
          </p:cNvSpPr>
          <p:nvPr/>
        </p:nvSpPr>
        <p:spPr bwMode="auto">
          <a:xfrm>
            <a:off x="8405298" y="4016946"/>
            <a:ext cx="233892" cy="287337"/>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itchFamily="2" charset="-122"/>
              </a:rPr>
              <a:t>52</a:t>
            </a:r>
          </a:p>
        </p:txBody>
      </p:sp>
      <p:sp>
        <p:nvSpPr>
          <p:cNvPr id="728145" name="Rectangle 81"/>
          <p:cNvSpPr>
            <a:spLocks noChangeArrowheads="1"/>
          </p:cNvSpPr>
          <p:nvPr/>
        </p:nvSpPr>
        <p:spPr bwMode="auto">
          <a:xfrm>
            <a:off x="8718300" y="4016946"/>
            <a:ext cx="233892" cy="287337"/>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itchFamily="2" charset="-122"/>
              </a:rPr>
              <a:t>53</a:t>
            </a:r>
          </a:p>
        </p:txBody>
      </p:sp>
      <p:sp>
        <p:nvSpPr>
          <p:cNvPr id="728146" name="Rectangle 82"/>
          <p:cNvSpPr>
            <a:spLocks noChangeArrowheads="1"/>
          </p:cNvSpPr>
          <p:nvPr/>
        </p:nvSpPr>
        <p:spPr bwMode="auto">
          <a:xfrm>
            <a:off x="9031302" y="4016946"/>
            <a:ext cx="233892" cy="287337"/>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itchFamily="2" charset="-122"/>
              </a:rPr>
              <a:t>54</a:t>
            </a:r>
          </a:p>
        </p:txBody>
      </p:sp>
      <p:sp>
        <p:nvSpPr>
          <p:cNvPr id="728147" name="Rectangle 83"/>
          <p:cNvSpPr>
            <a:spLocks noChangeArrowheads="1"/>
          </p:cNvSpPr>
          <p:nvPr/>
        </p:nvSpPr>
        <p:spPr bwMode="auto">
          <a:xfrm>
            <a:off x="9344304" y="4016946"/>
            <a:ext cx="233892" cy="287337"/>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itchFamily="2" charset="-122"/>
              </a:rPr>
              <a:t>55</a:t>
            </a:r>
          </a:p>
        </p:txBody>
      </p:sp>
      <p:sp>
        <p:nvSpPr>
          <p:cNvPr id="728148" name="Text Box 84"/>
          <p:cNvSpPr txBox="1">
            <a:spLocks noChangeArrowheads="1"/>
          </p:cNvSpPr>
          <p:nvPr/>
        </p:nvSpPr>
        <p:spPr bwMode="auto">
          <a:xfrm>
            <a:off x="735844" y="4348733"/>
            <a:ext cx="1467068" cy="707886"/>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rgbClr val="C00000"/>
                </a:solidFill>
                <a:latin typeface="+mn-lt"/>
                <a:ea typeface="黑体" pitchFamily="2" charset="-122"/>
              </a:rPr>
              <a:t>已发送确认</a:t>
            </a:r>
          </a:p>
          <a:p>
            <a:pPr algn="ctr"/>
            <a:r>
              <a:rPr lang="zh-CN" altLang="en-US" sz="2000" b="1" dirty="0">
                <a:solidFill>
                  <a:srgbClr val="C00000"/>
                </a:solidFill>
                <a:latin typeface="+mn-lt"/>
                <a:ea typeface="黑体" pitchFamily="2" charset="-122"/>
              </a:rPr>
              <a:t>并交付主机</a:t>
            </a:r>
          </a:p>
        </p:txBody>
      </p:sp>
      <p:sp>
        <p:nvSpPr>
          <p:cNvPr id="728149" name="Text Box 85"/>
          <p:cNvSpPr txBox="1">
            <a:spLocks noChangeArrowheads="1"/>
          </p:cNvSpPr>
          <p:nvPr/>
        </p:nvSpPr>
        <p:spPr bwMode="auto">
          <a:xfrm>
            <a:off x="9039229" y="4348733"/>
            <a:ext cx="954107" cy="70788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a:solidFill>
                  <a:srgbClr val="FF0000"/>
                </a:solidFill>
                <a:latin typeface="+mn-lt"/>
                <a:ea typeface="黑体" pitchFamily="2" charset="-122"/>
              </a:rPr>
              <a:t>不允许</a:t>
            </a:r>
          </a:p>
          <a:p>
            <a:pPr algn="ctr"/>
            <a:r>
              <a:rPr lang="zh-CN" altLang="en-US" sz="2000" b="1">
                <a:solidFill>
                  <a:srgbClr val="FF0000"/>
                </a:solidFill>
                <a:latin typeface="+mn-lt"/>
                <a:ea typeface="黑体" pitchFamily="2" charset="-122"/>
              </a:rPr>
              <a:t>接收</a:t>
            </a:r>
          </a:p>
        </p:txBody>
      </p:sp>
      <p:sp>
        <p:nvSpPr>
          <p:cNvPr id="728150" name="Rectangle 86"/>
          <p:cNvSpPr>
            <a:spLocks noChangeArrowheads="1"/>
          </p:cNvSpPr>
          <p:nvPr/>
        </p:nvSpPr>
        <p:spPr bwMode="auto">
          <a:xfrm>
            <a:off x="9648708" y="4016946"/>
            <a:ext cx="233892" cy="287337"/>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itchFamily="2" charset="-122"/>
              </a:rPr>
              <a:t>56</a:t>
            </a:r>
          </a:p>
        </p:txBody>
      </p:sp>
      <p:sp>
        <p:nvSpPr>
          <p:cNvPr id="728151" name="Line 87"/>
          <p:cNvSpPr>
            <a:spLocks noChangeShapeType="1"/>
          </p:cNvSpPr>
          <p:nvPr/>
        </p:nvSpPr>
        <p:spPr bwMode="auto">
          <a:xfrm rot="-5400000">
            <a:off x="7786240" y="3166112"/>
            <a:ext cx="1587" cy="1030155"/>
          </a:xfrm>
          <a:prstGeom prst="line">
            <a:avLst/>
          </a:prstGeom>
          <a:noFill/>
          <a:ln w="57150">
            <a:solidFill>
              <a:srgbClr val="C0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728152" name="Text Box 88"/>
          <p:cNvSpPr txBox="1">
            <a:spLocks noChangeArrowheads="1"/>
          </p:cNvSpPr>
          <p:nvPr/>
        </p:nvSpPr>
        <p:spPr bwMode="auto">
          <a:xfrm>
            <a:off x="3588980" y="4931345"/>
            <a:ext cx="1467068" cy="400110"/>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rgbClr val="0000CC"/>
                </a:solidFill>
                <a:latin typeface="+mn-lt"/>
                <a:ea typeface="黑体" pitchFamily="2" charset="-122"/>
              </a:rPr>
              <a:t>未按序收到</a:t>
            </a:r>
          </a:p>
        </p:txBody>
      </p:sp>
      <p:grpSp>
        <p:nvGrpSpPr>
          <p:cNvPr id="728153" name="Group 89"/>
          <p:cNvGrpSpPr>
            <a:grpSpLocks/>
          </p:cNvGrpSpPr>
          <p:nvPr/>
        </p:nvGrpSpPr>
        <p:grpSpPr bwMode="auto">
          <a:xfrm>
            <a:off x="3835812" y="4316983"/>
            <a:ext cx="928688" cy="588963"/>
            <a:chOff x="2143" y="3150"/>
            <a:chExt cx="540" cy="272"/>
          </a:xfrm>
        </p:grpSpPr>
        <p:sp>
          <p:nvSpPr>
            <p:cNvPr id="728154" name="Line 90"/>
            <p:cNvSpPr>
              <a:spLocks noChangeShapeType="1"/>
            </p:cNvSpPr>
            <p:nvPr/>
          </p:nvSpPr>
          <p:spPr bwMode="auto">
            <a:xfrm flipV="1">
              <a:off x="2143" y="3150"/>
              <a:ext cx="0" cy="272"/>
            </a:xfrm>
            <a:prstGeom prst="line">
              <a:avLst/>
            </a:prstGeom>
            <a:noFill/>
            <a:ln w="28575">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728155" name="Line 91"/>
            <p:cNvSpPr>
              <a:spLocks noChangeShapeType="1"/>
            </p:cNvSpPr>
            <p:nvPr/>
          </p:nvSpPr>
          <p:spPr bwMode="auto">
            <a:xfrm flipV="1">
              <a:off x="2325" y="3150"/>
              <a:ext cx="0" cy="272"/>
            </a:xfrm>
            <a:prstGeom prst="line">
              <a:avLst/>
            </a:prstGeom>
            <a:noFill/>
            <a:ln w="28575">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728156" name="Line 92"/>
            <p:cNvSpPr>
              <a:spLocks noChangeShapeType="1"/>
            </p:cNvSpPr>
            <p:nvPr/>
          </p:nvSpPr>
          <p:spPr bwMode="auto">
            <a:xfrm flipV="1">
              <a:off x="2683" y="3150"/>
              <a:ext cx="0" cy="272"/>
            </a:xfrm>
            <a:prstGeom prst="line">
              <a:avLst/>
            </a:prstGeom>
            <a:noFill/>
            <a:ln w="28575">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grpSp>
      <p:sp>
        <p:nvSpPr>
          <p:cNvPr id="728157" name="Text Box 93"/>
          <p:cNvSpPr txBox="1">
            <a:spLocks noChangeArrowheads="1"/>
          </p:cNvSpPr>
          <p:nvPr/>
        </p:nvSpPr>
        <p:spPr bwMode="auto">
          <a:xfrm>
            <a:off x="1436703" y="257176"/>
            <a:ext cx="7396577" cy="584775"/>
          </a:xfrm>
          <a:prstGeom prst="rect">
            <a:avLst/>
          </a:prstGeom>
          <a:solidFill>
            <a:srgbClr val="FFFF99"/>
          </a:solidFill>
          <a:ln w="9525">
            <a:solidFill>
              <a:schemeClr val="folHlink"/>
            </a:solidFill>
            <a:miter lim="800000"/>
            <a:headEnd/>
            <a:tailEnd/>
          </a:ln>
          <a:effectLst>
            <a:outerShdw dist="35921" dir="2700000" algn="ctr" rotWithShape="0">
              <a:schemeClr val="bg2"/>
            </a:outerShdw>
          </a:effectLst>
        </p:spPr>
        <p:txBody>
          <a:bodyPr wrap="none">
            <a:spAutoFit/>
          </a:bodyPr>
          <a:lstStyle/>
          <a:p>
            <a:r>
              <a:rPr lang="en-US" altLang="zh-CN" sz="3200" b="1">
                <a:solidFill>
                  <a:srgbClr val="0000CC"/>
                </a:solidFill>
                <a:latin typeface="+mn-lt"/>
                <a:ea typeface="黑体" pitchFamily="2" charset="-122"/>
              </a:rPr>
              <a:t>A </a:t>
            </a:r>
            <a:r>
              <a:rPr lang="zh-CN" altLang="en-US" sz="3200" b="1">
                <a:solidFill>
                  <a:srgbClr val="0000CC"/>
                </a:solidFill>
                <a:latin typeface="+mn-lt"/>
                <a:ea typeface="黑体" pitchFamily="2" charset="-122"/>
              </a:rPr>
              <a:t>收到新的确认号，发送窗口向前滑动 </a:t>
            </a:r>
          </a:p>
        </p:txBody>
      </p:sp>
      <p:sp>
        <p:nvSpPr>
          <p:cNvPr id="728158" name="Text Box 94"/>
          <p:cNvSpPr txBox="1">
            <a:spLocks noChangeArrowheads="1"/>
          </p:cNvSpPr>
          <p:nvPr/>
        </p:nvSpPr>
        <p:spPr bwMode="auto">
          <a:xfrm>
            <a:off x="3143090" y="5409183"/>
            <a:ext cx="2492990" cy="707886"/>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rgbClr val="0000CC"/>
                </a:solidFill>
                <a:latin typeface="+mn-lt"/>
                <a:ea typeface="黑体" pitchFamily="2" charset="-122"/>
              </a:rPr>
              <a:t>先存下，等待缺少的</a:t>
            </a:r>
          </a:p>
          <a:p>
            <a:pPr algn="ctr"/>
            <a:r>
              <a:rPr lang="zh-CN" altLang="en-US" sz="2000" b="1" dirty="0">
                <a:solidFill>
                  <a:srgbClr val="0000CC"/>
                </a:solidFill>
                <a:latin typeface="+mn-lt"/>
                <a:ea typeface="黑体" pitchFamily="2" charset="-122"/>
              </a:rPr>
              <a:t>数据的到达</a:t>
            </a:r>
          </a:p>
        </p:txBody>
      </p:sp>
    </p:spTree>
    <p:extLst>
      <p:ext uri="{BB962C8B-B14F-4D97-AF65-F5344CB8AC3E}">
        <p14:creationId xmlns:p14="http://schemas.microsoft.com/office/powerpoint/2010/main" val="131126716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9092" name="Text Box 4"/>
          <p:cNvSpPr txBox="1">
            <a:spLocks noChangeArrowheads="1"/>
          </p:cNvSpPr>
          <p:nvPr/>
        </p:nvSpPr>
        <p:spPr bwMode="auto">
          <a:xfrm>
            <a:off x="9053021" y="2555876"/>
            <a:ext cx="954107" cy="70788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rgbClr val="FF0000"/>
                </a:solidFill>
                <a:latin typeface="+mn-ea"/>
              </a:rPr>
              <a:t>不允许</a:t>
            </a:r>
          </a:p>
          <a:p>
            <a:pPr algn="ctr"/>
            <a:r>
              <a:rPr lang="zh-CN" altLang="en-US" sz="2000" b="1" dirty="0">
                <a:solidFill>
                  <a:srgbClr val="FF0000"/>
                </a:solidFill>
                <a:latin typeface="+mn-ea"/>
              </a:rPr>
              <a:t>发送</a:t>
            </a:r>
          </a:p>
        </p:txBody>
      </p:sp>
      <p:sp>
        <p:nvSpPr>
          <p:cNvPr id="729093" name="Text Box 5"/>
          <p:cNvSpPr txBox="1">
            <a:spLocks noChangeArrowheads="1"/>
          </p:cNvSpPr>
          <p:nvPr/>
        </p:nvSpPr>
        <p:spPr bwMode="auto">
          <a:xfrm>
            <a:off x="352843" y="2600326"/>
            <a:ext cx="2236510" cy="40011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rgbClr val="C00000"/>
                </a:solidFill>
                <a:latin typeface="+mn-ea"/>
              </a:rPr>
              <a:t>已发送并收到确认</a:t>
            </a:r>
          </a:p>
        </p:txBody>
      </p:sp>
      <p:sp>
        <p:nvSpPr>
          <p:cNvPr id="729094" name="Text Box 6"/>
          <p:cNvSpPr txBox="1">
            <a:spLocks noChangeArrowheads="1"/>
          </p:cNvSpPr>
          <p:nvPr/>
        </p:nvSpPr>
        <p:spPr bwMode="auto">
          <a:xfrm>
            <a:off x="3440832" y="1671191"/>
            <a:ext cx="4812343" cy="46166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b="1" dirty="0">
                <a:solidFill>
                  <a:srgbClr val="0000CC"/>
                </a:solidFill>
                <a:latin typeface="+mn-ea"/>
              </a:rPr>
              <a:t>A </a:t>
            </a:r>
            <a:r>
              <a:rPr lang="zh-CN" altLang="en-US" sz="2400" b="1" dirty="0">
                <a:solidFill>
                  <a:srgbClr val="0000CC"/>
                </a:solidFill>
                <a:latin typeface="+mn-ea"/>
              </a:rPr>
              <a:t>的发送窗口已满，有效窗口为零</a:t>
            </a:r>
          </a:p>
        </p:txBody>
      </p:sp>
      <p:sp>
        <p:nvSpPr>
          <p:cNvPr id="729095" name="Rectangle 7"/>
          <p:cNvSpPr>
            <a:spLocks noChangeArrowheads="1"/>
          </p:cNvSpPr>
          <p:nvPr/>
        </p:nvSpPr>
        <p:spPr bwMode="auto">
          <a:xfrm>
            <a:off x="2723106" y="2108200"/>
            <a:ext cx="6273800" cy="649288"/>
          </a:xfrm>
          <a:prstGeom prst="rect">
            <a:avLst/>
          </a:prstGeom>
          <a:solidFill>
            <a:srgbClr val="3399FF"/>
          </a:solidFill>
          <a:ln>
            <a:noFill/>
          </a:ln>
          <a:effectLst>
            <a:outerShdw dist="35921" dir="2700000" algn="ctr" rotWithShape="0">
              <a:schemeClr val="bg2"/>
            </a:outerShdw>
          </a:effectLst>
        </p:spPr>
        <p:txBody>
          <a:bodyPr wrap="none" anchor="ctr"/>
          <a:lstStyle/>
          <a:p>
            <a:endParaRPr lang="zh-CN" altLang="en-US" b="1">
              <a:solidFill>
                <a:srgbClr val="0000CC"/>
              </a:solidFill>
              <a:latin typeface="+mn-ea"/>
            </a:endParaRPr>
          </a:p>
        </p:txBody>
      </p:sp>
      <p:sp>
        <p:nvSpPr>
          <p:cNvPr id="729096" name="Rectangle 8"/>
          <p:cNvSpPr>
            <a:spLocks noChangeArrowheads="1"/>
          </p:cNvSpPr>
          <p:nvPr/>
        </p:nvSpPr>
        <p:spPr bwMode="auto">
          <a:xfrm>
            <a:off x="268964" y="2324100"/>
            <a:ext cx="233892" cy="287338"/>
          </a:xfrm>
          <a:prstGeom prst="rect">
            <a:avLst/>
          </a:prstGeom>
          <a:solidFill>
            <a:srgbClr val="66FF33"/>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ea"/>
              </a:rPr>
              <a:t>26</a:t>
            </a:r>
          </a:p>
        </p:txBody>
      </p:sp>
      <p:sp>
        <p:nvSpPr>
          <p:cNvPr id="729097" name="Rectangle 9"/>
          <p:cNvSpPr>
            <a:spLocks noChangeArrowheads="1"/>
          </p:cNvSpPr>
          <p:nvPr/>
        </p:nvSpPr>
        <p:spPr bwMode="auto">
          <a:xfrm>
            <a:off x="581966" y="2322514"/>
            <a:ext cx="233892" cy="287337"/>
          </a:xfrm>
          <a:prstGeom prst="rect">
            <a:avLst/>
          </a:prstGeom>
          <a:solidFill>
            <a:srgbClr val="66FF33"/>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ea"/>
              </a:rPr>
              <a:t>27</a:t>
            </a:r>
          </a:p>
        </p:txBody>
      </p:sp>
      <p:sp>
        <p:nvSpPr>
          <p:cNvPr id="729098" name="Rectangle 10"/>
          <p:cNvSpPr>
            <a:spLocks noChangeArrowheads="1"/>
          </p:cNvSpPr>
          <p:nvPr/>
        </p:nvSpPr>
        <p:spPr bwMode="auto">
          <a:xfrm>
            <a:off x="894968" y="2320925"/>
            <a:ext cx="233892" cy="287338"/>
          </a:xfrm>
          <a:prstGeom prst="rect">
            <a:avLst/>
          </a:prstGeom>
          <a:solidFill>
            <a:srgbClr val="66FF33"/>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ea"/>
              </a:rPr>
              <a:t>28</a:t>
            </a:r>
          </a:p>
        </p:txBody>
      </p:sp>
      <p:sp>
        <p:nvSpPr>
          <p:cNvPr id="729099" name="Rectangle 11"/>
          <p:cNvSpPr>
            <a:spLocks noChangeArrowheads="1"/>
          </p:cNvSpPr>
          <p:nvPr/>
        </p:nvSpPr>
        <p:spPr bwMode="auto">
          <a:xfrm>
            <a:off x="1207970" y="2319339"/>
            <a:ext cx="233892" cy="287337"/>
          </a:xfrm>
          <a:prstGeom prst="rect">
            <a:avLst/>
          </a:prstGeom>
          <a:solidFill>
            <a:srgbClr val="66FF33"/>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ea"/>
              </a:rPr>
              <a:t>29</a:t>
            </a:r>
          </a:p>
        </p:txBody>
      </p:sp>
      <p:sp>
        <p:nvSpPr>
          <p:cNvPr id="729100" name="Rectangle 12"/>
          <p:cNvSpPr>
            <a:spLocks noChangeArrowheads="1"/>
          </p:cNvSpPr>
          <p:nvPr/>
        </p:nvSpPr>
        <p:spPr bwMode="auto">
          <a:xfrm>
            <a:off x="1520972" y="2317750"/>
            <a:ext cx="233892" cy="287338"/>
          </a:xfrm>
          <a:prstGeom prst="rect">
            <a:avLst/>
          </a:prstGeom>
          <a:solidFill>
            <a:srgbClr val="66FF33"/>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ea"/>
              </a:rPr>
              <a:t>30</a:t>
            </a:r>
          </a:p>
        </p:txBody>
      </p:sp>
      <p:sp>
        <p:nvSpPr>
          <p:cNvPr id="729101" name="Rectangle 13"/>
          <p:cNvSpPr>
            <a:spLocks noChangeArrowheads="1"/>
          </p:cNvSpPr>
          <p:nvPr/>
        </p:nvSpPr>
        <p:spPr bwMode="auto">
          <a:xfrm>
            <a:off x="1833974" y="2316164"/>
            <a:ext cx="233892" cy="287337"/>
          </a:xfrm>
          <a:prstGeom prst="rect">
            <a:avLst/>
          </a:prstGeom>
          <a:solidFill>
            <a:srgbClr val="66FF33"/>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ea"/>
              </a:rPr>
              <a:t>31</a:t>
            </a:r>
          </a:p>
        </p:txBody>
      </p:sp>
      <p:sp>
        <p:nvSpPr>
          <p:cNvPr id="729102" name="Rectangle 14"/>
          <p:cNvSpPr>
            <a:spLocks noChangeArrowheads="1"/>
          </p:cNvSpPr>
          <p:nvPr/>
        </p:nvSpPr>
        <p:spPr bwMode="auto">
          <a:xfrm>
            <a:off x="2146977" y="2314575"/>
            <a:ext cx="233892" cy="287338"/>
          </a:xfrm>
          <a:prstGeom prst="rect">
            <a:avLst/>
          </a:prstGeom>
          <a:solidFill>
            <a:srgbClr val="66FF33"/>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ea"/>
              </a:rPr>
              <a:t>32</a:t>
            </a:r>
          </a:p>
        </p:txBody>
      </p:sp>
      <p:sp>
        <p:nvSpPr>
          <p:cNvPr id="729103" name="Rectangle 15"/>
          <p:cNvSpPr>
            <a:spLocks noChangeArrowheads="1"/>
          </p:cNvSpPr>
          <p:nvPr/>
        </p:nvSpPr>
        <p:spPr bwMode="auto">
          <a:xfrm>
            <a:off x="2459979" y="2312989"/>
            <a:ext cx="233892" cy="287337"/>
          </a:xfrm>
          <a:prstGeom prst="rect">
            <a:avLst/>
          </a:prstGeom>
          <a:solidFill>
            <a:srgbClr val="66FF33"/>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ea"/>
              </a:rPr>
              <a:t>33</a:t>
            </a:r>
          </a:p>
        </p:txBody>
      </p:sp>
      <p:sp>
        <p:nvSpPr>
          <p:cNvPr id="729104" name="Rectangle 16"/>
          <p:cNvSpPr>
            <a:spLocks noChangeArrowheads="1"/>
          </p:cNvSpPr>
          <p:nvPr/>
        </p:nvSpPr>
        <p:spPr bwMode="auto">
          <a:xfrm>
            <a:off x="2772981" y="2311400"/>
            <a:ext cx="233892" cy="287338"/>
          </a:xfrm>
          <a:prstGeom prst="rect">
            <a:avLst/>
          </a:prstGeom>
          <a:solidFill>
            <a:srgbClr val="FF00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ea"/>
              </a:rPr>
              <a:t>34</a:t>
            </a:r>
          </a:p>
        </p:txBody>
      </p:sp>
      <p:sp>
        <p:nvSpPr>
          <p:cNvPr id="729105" name="Rectangle 17"/>
          <p:cNvSpPr>
            <a:spLocks noChangeArrowheads="1"/>
          </p:cNvSpPr>
          <p:nvPr/>
        </p:nvSpPr>
        <p:spPr bwMode="auto">
          <a:xfrm>
            <a:off x="3085983" y="2309814"/>
            <a:ext cx="233892" cy="287337"/>
          </a:xfrm>
          <a:prstGeom prst="rect">
            <a:avLst/>
          </a:prstGeom>
          <a:solidFill>
            <a:srgbClr val="FF00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ea"/>
              </a:rPr>
              <a:t>35</a:t>
            </a:r>
          </a:p>
        </p:txBody>
      </p:sp>
      <p:sp>
        <p:nvSpPr>
          <p:cNvPr id="729106" name="Rectangle 18"/>
          <p:cNvSpPr>
            <a:spLocks noChangeArrowheads="1"/>
          </p:cNvSpPr>
          <p:nvPr/>
        </p:nvSpPr>
        <p:spPr bwMode="auto">
          <a:xfrm>
            <a:off x="3398985" y="2308225"/>
            <a:ext cx="233892" cy="287338"/>
          </a:xfrm>
          <a:prstGeom prst="rect">
            <a:avLst/>
          </a:prstGeom>
          <a:solidFill>
            <a:srgbClr val="FF00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ea"/>
              </a:rPr>
              <a:t>36</a:t>
            </a:r>
          </a:p>
        </p:txBody>
      </p:sp>
      <p:sp>
        <p:nvSpPr>
          <p:cNvPr id="729107" name="Rectangle 19"/>
          <p:cNvSpPr>
            <a:spLocks noChangeArrowheads="1"/>
          </p:cNvSpPr>
          <p:nvPr/>
        </p:nvSpPr>
        <p:spPr bwMode="auto">
          <a:xfrm>
            <a:off x="3711987" y="2306639"/>
            <a:ext cx="233892" cy="287337"/>
          </a:xfrm>
          <a:prstGeom prst="rect">
            <a:avLst/>
          </a:prstGeom>
          <a:solidFill>
            <a:srgbClr val="FF00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ea"/>
              </a:rPr>
              <a:t>37</a:t>
            </a:r>
          </a:p>
        </p:txBody>
      </p:sp>
      <p:sp>
        <p:nvSpPr>
          <p:cNvPr id="729108" name="Rectangle 20"/>
          <p:cNvSpPr>
            <a:spLocks noChangeArrowheads="1"/>
          </p:cNvSpPr>
          <p:nvPr/>
        </p:nvSpPr>
        <p:spPr bwMode="auto">
          <a:xfrm>
            <a:off x="4024989" y="2305050"/>
            <a:ext cx="233892" cy="287338"/>
          </a:xfrm>
          <a:prstGeom prst="rect">
            <a:avLst/>
          </a:prstGeom>
          <a:solidFill>
            <a:srgbClr val="FF00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ea"/>
              </a:rPr>
              <a:t>38</a:t>
            </a:r>
          </a:p>
        </p:txBody>
      </p:sp>
      <p:sp>
        <p:nvSpPr>
          <p:cNvPr id="729109" name="Rectangle 21"/>
          <p:cNvSpPr>
            <a:spLocks noChangeArrowheads="1"/>
          </p:cNvSpPr>
          <p:nvPr/>
        </p:nvSpPr>
        <p:spPr bwMode="auto">
          <a:xfrm>
            <a:off x="4337991" y="2303464"/>
            <a:ext cx="233892" cy="287337"/>
          </a:xfrm>
          <a:prstGeom prst="rect">
            <a:avLst/>
          </a:prstGeom>
          <a:solidFill>
            <a:srgbClr val="FF00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ea"/>
              </a:rPr>
              <a:t>39</a:t>
            </a:r>
          </a:p>
        </p:txBody>
      </p:sp>
      <p:sp>
        <p:nvSpPr>
          <p:cNvPr id="729110" name="Rectangle 22"/>
          <p:cNvSpPr>
            <a:spLocks noChangeArrowheads="1"/>
          </p:cNvSpPr>
          <p:nvPr/>
        </p:nvSpPr>
        <p:spPr bwMode="auto">
          <a:xfrm>
            <a:off x="4650993" y="2301875"/>
            <a:ext cx="233892" cy="287338"/>
          </a:xfrm>
          <a:prstGeom prst="rect">
            <a:avLst/>
          </a:prstGeom>
          <a:solidFill>
            <a:srgbClr val="FF00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ea"/>
              </a:rPr>
              <a:t>40</a:t>
            </a:r>
          </a:p>
        </p:txBody>
      </p:sp>
      <p:sp>
        <p:nvSpPr>
          <p:cNvPr id="729111" name="Rectangle 23"/>
          <p:cNvSpPr>
            <a:spLocks noChangeArrowheads="1"/>
          </p:cNvSpPr>
          <p:nvPr/>
        </p:nvSpPr>
        <p:spPr bwMode="auto">
          <a:xfrm>
            <a:off x="4963995" y="2300289"/>
            <a:ext cx="233892" cy="287337"/>
          </a:xfrm>
          <a:prstGeom prst="rect">
            <a:avLst/>
          </a:prstGeom>
          <a:solidFill>
            <a:srgbClr val="FF00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ea"/>
              </a:rPr>
              <a:t>41</a:t>
            </a:r>
          </a:p>
        </p:txBody>
      </p:sp>
      <p:sp>
        <p:nvSpPr>
          <p:cNvPr id="729112" name="Rectangle 24"/>
          <p:cNvSpPr>
            <a:spLocks noChangeArrowheads="1"/>
          </p:cNvSpPr>
          <p:nvPr/>
        </p:nvSpPr>
        <p:spPr bwMode="auto">
          <a:xfrm>
            <a:off x="5276997" y="2298700"/>
            <a:ext cx="233892" cy="287338"/>
          </a:xfrm>
          <a:prstGeom prst="rect">
            <a:avLst/>
          </a:prstGeom>
          <a:solidFill>
            <a:srgbClr val="FF00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ea"/>
              </a:rPr>
              <a:t>42</a:t>
            </a:r>
          </a:p>
        </p:txBody>
      </p:sp>
      <p:sp>
        <p:nvSpPr>
          <p:cNvPr id="729113" name="Rectangle 25"/>
          <p:cNvSpPr>
            <a:spLocks noChangeArrowheads="1"/>
          </p:cNvSpPr>
          <p:nvPr/>
        </p:nvSpPr>
        <p:spPr bwMode="auto">
          <a:xfrm>
            <a:off x="5589999" y="2297114"/>
            <a:ext cx="233892" cy="287337"/>
          </a:xfrm>
          <a:prstGeom prst="rect">
            <a:avLst/>
          </a:prstGeom>
          <a:solidFill>
            <a:srgbClr val="FF00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ea"/>
              </a:rPr>
              <a:t>43</a:t>
            </a:r>
          </a:p>
        </p:txBody>
      </p:sp>
      <p:sp>
        <p:nvSpPr>
          <p:cNvPr id="729114" name="Rectangle 26"/>
          <p:cNvSpPr>
            <a:spLocks noChangeArrowheads="1"/>
          </p:cNvSpPr>
          <p:nvPr/>
        </p:nvSpPr>
        <p:spPr bwMode="auto">
          <a:xfrm>
            <a:off x="5903002" y="2295525"/>
            <a:ext cx="233892" cy="287338"/>
          </a:xfrm>
          <a:prstGeom prst="rect">
            <a:avLst/>
          </a:prstGeom>
          <a:solidFill>
            <a:srgbClr val="FF00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ea"/>
              </a:rPr>
              <a:t>44</a:t>
            </a:r>
          </a:p>
        </p:txBody>
      </p:sp>
      <p:sp>
        <p:nvSpPr>
          <p:cNvPr id="729115" name="Rectangle 27"/>
          <p:cNvSpPr>
            <a:spLocks noChangeArrowheads="1"/>
          </p:cNvSpPr>
          <p:nvPr/>
        </p:nvSpPr>
        <p:spPr bwMode="auto">
          <a:xfrm>
            <a:off x="6216004" y="2293939"/>
            <a:ext cx="233892" cy="287337"/>
          </a:xfrm>
          <a:prstGeom prst="rect">
            <a:avLst/>
          </a:prstGeom>
          <a:solidFill>
            <a:srgbClr val="FF00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ea"/>
              </a:rPr>
              <a:t>45</a:t>
            </a:r>
          </a:p>
        </p:txBody>
      </p:sp>
      <p:sp>
        <p:nvSpPr>
          <p:cNvPr id="729116" name="Rectangle 28"/>
          <p:cNvSpPr>
            <a:spLocks noChangeArrowheads="1"/>
          </p:cNvSpPr>
          <p:nvPr/>
        </p:nvSpPr>
        <p:spPr bwMode="auto">
          <a:xfrm>
            <a:off x="6529006" y="2292350"/>
            <a:ext cx="233892" cy="287338"/>
          </a:xfrm>
          <a:prstGeom prst="rect">
            <a:avLst/>
          </a:prstGeom>
          <a:solidFill>
            <a:srgbClr val="FF00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ea"/>
              </a:rPr>
              <a:t>46</a:t>
            </a:r>
          </a:p>
        </p:txBody>
      </p:sp>
      <p:sp>
        <p:nvSpPr>
          <p:cNvPr id="729117" name="Rectangle 29"/>
          <p:cNvSpPr>
            <a:spLocks noChangeArrowheads="1"/>
          </p:cNvSpPr>
          <p:nvPr/>
        </p:nvSpPr>
        <p:spPr bwMode="auto">
          <a:xfrm>
            <a:off x="6842008" y="2290764"/>
            <a:ext cx="233892" cy="287337"/>
          </a:xfrm>
          <a:prstGeom prst="rect">
            <a:avLst/>
          </a:prstGeom>
          <a:solidFill>
            <a:srgbClr val="FF00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ea"/>
              </a:rPr>
              <a:t>47</a:t>
            </a:r>
          </a:p>
        </p:txBody>
      </p:sp>
      <p:sp>
        <p:nvSpPr>
          <p:cNvPr id="729118" name="Rectangle 30"/>
          <p:cNvSpPr>
            <a:spLocks noChangeArrowheads="1"/>
          </p:cNvSpPr>
          <p:nvPr/>
        </p:nvSpPr>
        <p:spPr bwMode="auto">
          <a:xfrm>
            <a:off x="7155010" y="2289175"/>
            <a:ext cx="233892" cy="287338"/>
          </a:xfrm>
          <a:prstGeom prst="rect">
            <a:avLst/>
          </a:prstGeom>
          <a:solidFill>
            <a:srgbClr val="FF00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ea"/>
              </a:rPr>
              <a:t>48</a:t>
            </a:r>
          </a:p>
        </p:txBody>
      </p:sp>
      <p:sp>
        <p:nvSpPr>
          <p:cNvPr id="729119" name="Rectangle 31"/>
          <p:cNvSpPr>
            <a:spLocks noChangeArrowheads="1"/>
          </p:cNvSpPr>
          <p:nvPr/>
        </p:nvSpPr>
        <p:spPr bwMode="auto">
          <a:xfrm>
            <a:off x="7468012" y="2287589"/>
            <a:ext cx="233892" cy="287337"/>
          </a:xfrm>
          <a:prstGeom prst="rect">
            <a:avLst/>
          </a:prstGeom>
          <a:solidFill>
            <a:srgbClr val="FF00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ea"/>
              </a:rPr>
              <a:t>49</a:t>
            </a:r>
          </a:p>
        </p:txBody>
      </p:sp>
      <p:sp>
        <p:nvSpPr>
          <p:cNvPr id="729120" name="Rectangle 32"/>
          <p:cNvSpPr>
            <a:spLocks noChangeArrowheads="1"/>
          </p:cNvSpPr>
          <p:nvPr/>
        </p:nvSpPr>
        <p:spPr bwMode="auto">
          <a:xfrm>
            <a:off x="7781014" y="2286000"/>
            <a:ext cx="233892" cy="287338"/>
          </a:xfrm>
          <a:prstGeom prst="rect">
            <a:avLst/>
          </a:prstGeom>
          <a:solidFill>
            <a:srgbClr val="FF00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ea"/>
              </a:rPr>
              <a:t>50</a:t>
            </a:r>
          </a:p>
        </p:txBody>
      </p:sp>
      <p:sp>
        <p:nvSpPr>
          <p:cNvPr id="729121" name="Rectangle 33"/>
          <p:cNvSpPr>
            <a:spLocks noChangeArrowheads="1"/>
          </p:cNvSpPr>
          <p:nvPr/>
        </p:nvSpPr>
        <p:spPr bwMode="auto">
          <a:xfrm>
            <a:off x="8094016" y="2284414"/>
            <a:ext cx="233892" cy="287337"/>
          </a:xfrm>
          <a:prstGeom prst="rect">
            <a:avLst/>
          </a:prstGeom>
          <a:solidFill>
            <a:srgbClr val="FF00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ea"/>
              </a:rPr>
              <a:t>51</a:t>
            </a:r>
          </a:p>
        </p:txBody>
      </p:sp>
      <p:sp>
        <p:nvSpPr>
          <p:cNvPr id="729122" name="Rectangle 34"/>
          <p:cNvSpPr>
            <a:spLocks noChangeArrowheads="1"/>
          </p:cNvSpPr>
          <p:nvPr/>
        </p:nvSpPr>
        <p:spPr bwMode="auto">
          <a:xfrm>
            <a:off x="8407018" y="2282825"/>
            <a:ext cx="233892" cy="287338"/>
          </a:xfrm>
          <a:prstGeom prst="rect">
            <a:avLst/>
          </a:prstGeom>
          <a:solidFill>
            <a:srgbClr val="FF00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ea"/>
              </a:rPr>
              <a:t>52</a:t>
            </a:r>
          </a:p>
        </p:txBody>
      </p:sp>
      <p:sp>
        <p:nvSpPr>
          <p:cNvPr id="729123" name="Rectangle 35"/>
          <p:cNvSpPr>
            <a:spLocks noChangeArrowheads="1"/>
          </p:cNvSpPr>
          <p:nvPr/>
        </p:nvSpPr>
        <p:spPr bwMode="auto">
          <a:xfrm>
            <a:off x="8720020" y="2281239"/>
            <a:ext cx="233892" cy="287337"/>
          </a:xfrm>
          <a:prstGeom prst="rect">
            <a:avLst/>
          </a:prstGeom>
          <a:solidFill>
            <a:srgbClr val="FF00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ea"/>
              </a:rPr>
              <a:t>53</a:t>
            </a:r>
          </a:p>
        </p:txBody>
      </p:sp>
      <p:sp>
        <p:nvSpPr>
          <p:cNvPr id="729124" name="Rectangle 36"/>
          <p:cNvSpPr>
            <a:spLocks noChangeArrowheads="1"/>
          </p:cNvSpPr>
          <p:nvPr/>
        </p:nvSpPr>
        <p:spPr bwMode="auto">
          <a:xfrm>
            <a:off x="9033022" y="2279650"/>
            <a:ext cx="233892" cy="287338"/>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ea"/>
              </a:rPr>
              <a:t>54</a:t>
            </a:r>
          </a:p>
        </p:txBody>
      </p:sp>
      <p:sp>
        <p:nvSpPr>
          <p:cNvPr id="729125" name="Rectangle 37"/>
          <p:cNvSpPr>
            <a:spLocks noChangeArrowheads="1"/>
          </p:cNvSpPr>
          <p:nvPr/>
        </p:nvSpPr>
        <p:spPr bwMode="auto">
          <a:xfrm>
            <a:off x="9346024" y="2278064"/>
            <a:ext cx="233892" cy="287337"/>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ea"/>
              </a:rPr>
              <a:t>55</a:t>
            </a:r>
          </a:p>
        </p:txBody>
      </p:sp>
      <p:sp>
        <p:nvSpPr>
          <p:cNvPr id="729126" name="Text Box 38"/>
          <p:cNvSpPr txBox="1">
            <a:spLocks noChangeArrowheads="1"/>
          </p:cNvSpPr>
          <p:nvPr/>
        </p:nvSpPr>
        <p:spPr bwMode="auto">
          <a:xfrm>
            <a:off x="4664968" y="2780928"/>
            <a:ext cx="2969083" cy="46166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400" b="1" dirty="0">
                <a:solidFill>
                  <a:srgbClr val="0000FF"/>
                </a:solidFill>
                <a:latin typeface="+mn-ea"/>
              </a:rPr>
              <a:t>已发送但未收到确认</a:t>
            </a:r>
          </a:p>
        </p:txBody>
      </p:sp>
      <p:sp>
        <p:nvSpPr>
          <p:cNvPr id="729127" name="Rectangle 39"/>
          <p:cNvSpPr>
            <a:spLocks noChangeArrowheads="1"/>
          </p:cNvSpPr>
          <p:nvPr/>
        </p:nvSpPr>
        <p:spPr bwMode="auto">
          <a:xfrm>
            <a:off x="9650427" y="2278064"/>
            <a:ext cx="233892" cy="287337"/>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ea"/>
              </a:rPr>
              <a:t>56</a:t>
            </a:r>
          </a:p>
        </p:txBody>
      </p:sp>
      <p:sp>
        <p:nvSpPr>
          <p:cNvPr id="729129" name="Line 41"/>
          <p:cNvSpPr>
            <a:spLocks noChangeShapeType="1"/>
          </p:cNvSpPr>
          <p:nvPr/>
        </p:nvSpPr>
        <p:spPr bwMode="auto">
          <a:xfrm flipV="1">
            <a:off x="2879608" y="2613026"/>
            <a:ext cx="0" cy="576263"/>
          </a:xfrm>
          <a:prstGeom prst="line">
            <a:avLst/>
          </a:prstGeom>
          <a:noFill/>
          <a:ln w="38100">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ea"/>
            </a:endParaRPr>
          </a:p>
        </p:txBody>
      </p:sp>
      <p:sp>
        <p:nvSpPr>
          <p:cNvPr id="729130" name="Text Box 42"/>
          <p:cNvSpPr txBox="1">
            <a:spLocks noChangeArrowheads="1"/>
          </p:cNvSpPr>
          <p:nvPr/>
        </p:nvSpPr>
        <p:spPr bwMode="auto">
          <a:xfrm>
            <a:off x="2686042" y="3176589"/>
            <a:ext cx="450764" cy="40011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a:solidFill>
                  <a:srgbClr val="0000CC"/>
                </a:solidFill>
                <a:latin typeface="+mn-ea"/>
              </a:rPr>
              <a:t>P</a:t>
            </a:r>
            <a:r>
              <a:rPr lang="en-US" altLang="zh-CN" sz="2000" b="1" baseline="-25000">
                <a:solidFill>
                  <a:srgbClr val="0000CC"/>
                </a:solidFill>
                <a:latin typeface="+mn-ea"/>
              </a:rPr>
              <a:t>1</a:t>
            </a:r>
          </a:p>
        </p:txBody>
      </p:sp>
      <p:sp>
        <p:nvSpPr>
          <p:cNvPr id="729131" name="Text Box 43"/>
          <p:cNvSpPr txBox="1">
            <a:spLocks noChangeArrowheads="1"/>
          </p:cNvSpPr>
          <p:nvPr/>
        </p:nvSpPr>
        <p:spPr bwMode="auto">
          <a:xfrm>
            <a:off x="8913440" y="3176589"/>
            <a:ext cx="450764" cy="40011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a:solidFill>
                  <a:srgbClr val="0000CC"/>
                </a:solidFill>
                <a:latin typeface="+mn-ea"/>
              </a:rPr>
              <a:t>P</a:t>
            </a:r>
            <a:r>
              <a:rPr lang="en-US" altLang="zh-CN" sz="2000" b="1" baseline="-25000">
                <a:solidFill>
                  <a:srgbClr val="0000CC"/>
                </a:solidFill>
                <a:latin typeface="+mn-ea"/>
              </a:rPr>
              <a:t>2</a:t>
            </a:r>
          </a:p>
        </p:txBody>
      </p:sp>
      <p:sp>
        <p:nvSpPr>
          <p:cNvPr id="729132" name="Line 44"/>
          <p:cNvSpPr>
            <a:spLocks noChangeShapeType="1"/>
          </p:cNvSpPr>
          <p:nvPr/>
        </p:nvSpPr>
        <p:spPr bwMode="auto">
          <a:xfrm flipV="1">
            <a:off x="9069171" y="2565401"/>
            <a:ext cx="0" cy="576263"/>
          </a:xfrm>
          <a:prstGeom prst="line">
            <a:avLst/>
          </a:prstGeom>
          <a:noFill/>
          <a:ln w="38100">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ea"/>
            </a:endParaRPr>
          </a:p>
        </p:txBody>
      </p:sp>
      <p:sp>
        <p:nvSpPr>
          <p:cNvPr id="729133" name="Text Box 45"/>
          <p:cNvSpPr txBox="1">
            <a:spLocks noChangeArrowheads="1"/>
          </p:cNvSpPr>
          <p:nvPr/>
        </p:nvSpPr>
        <p:spPr bwMode="auto">
          <a:xfrm>
            <a:off x="8913440" y="3463926"/>
            <a:ext cx="450764" cy="40011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a:solidFill>
                  <a:srgbClr val="0000CC"/>
                </a:solidFill>
                <a:latin typeface="+mn-ea"/>
              </a:rPr>
              <a:t>P</a:t>
            </a:r>
            <a:r>
              <a:rPr lang="en-US" altLang="zh-CN" sz="2000" b="1" baseline="-25000">
                <a:solidFill>
                  <a:srgbClr val="0000CC"/>
                </a:solidFill>
                <a:latin typeface="+mn-ea"/>
              </a:rPr>
              <a:t>3</a:t>
            </a:r>
          </a:p>
        </p:txBody>
      </p:sp>
      <p:sp>
        <p:nvSpPr>
          <p:cNvPr id="729134" name="Text Box 46"/>
          <p:cNvSpPr txBox="1">
            <a:spLocks noChangeArrowheads="1"/>
          </p:cNvSpPr>
          <p:nvPr/>
        </p:nvSpPr>
        <p:spPr bwMode="auto">
          <a:xfrm>
            <a:off x="1325841" y="201614"/>
            <a:ext cx="7394974" cy="1077218"/>
          </a:xfrm>
          <a:prstGeom prst="rect">
            <a:avLst/>
          </a:prstGeom>
          <a:solidFill>
            <a:srgbClr val="FFFF99"/>
          </a:solidFill>
          <a:ln w="9525">
            <a:solidFill>
              <a:schemeClr val="folHlink"/>
            </a:solidFill>
            <a:miter lim="800000"/>
            <a:headEnd/>
            <a:tailEnd/>
          </a:ln>
          <a:effectLst>
            <a:outerShdw dist="35921" dir="2700000" algn="ctr" rotWithShape="0">
              <a:schemeClr val="bg2"/>
            </a:outerShdw>
          </a:effectLst>
        </p:spPr>
        <p:txBody>
          <a:bodyPr wrap="none">
            <a:spAutoFit/>
          </a:bodyPr>
          <a:lstStyle/>
          <a:p>
            <a:pPr algn="ctr"/>
            <a:r>
              <a:rPr lang="en-US" altLang="zh-CN" sz="3200" b="1" dirty="0">
                <a:solidFill>
                  <a:srgbClr val="0000CC"/>
                </a:solidFill>
                <a:latin typeface="+mn-lt"/>
                <a:ea typeface="黑体" pitchFamily="2" charset="-122"/>
              </a:rPr>
              <a:t>A </a:t>
            </a:r>
            <a:r>
              <a:rPr lang="zh-CN" altLang="en-US" sz="3200" b="1" dirty="0">
                <a:solidFill>
                  <a:srgbClr val="0000CC"/>
                </a:solidFill>
                <a:latin typeface="+mn-lt"/>
                <a:ea typeface="黑体" pitchFamily="2" charset="-122"/>
              </a:rPr>
              <a:t>的发送窗口内的序号都已用完，</a:t>
            </a:r>
          </a:p>
          <a:p>
            <a:pPr algn="ctr"/>
            <a:r>
              <a:rPr lang="zh-CN" altLang="en-US" sz="3200" b="1" dirty="0">
                <a:solidFill>
                  <a:srgbClr val="0000CC"/>
                </a:solidFill>
                <a:latin typeface="+mn-lt"/>
                <a:ea typeface="黑体" pitchFamily="2" charset="-122"/>
              </a:rPr>
              <a:t>但还没有再收到确认，必须停止发送。 </a:t>
            </a:r>
          </a:p>
        </p:txBody>
      </p:sp>
      <p:sp>
        <p:nvSpPr>
          <p:cNvPr id="2" name="矩形 1"/>
          <p:cNvSpPr/>
          <p:nvPr/>
        </p:nvSpPr>
        <p:spPr>
          <a:xfrm>
            <a:off x="1441863" y="3865072"/>
            <a:ext cx="7614722" cy="461665"/>
          </a:xfrm>
          <a:prstGeom prst="rect">
            <a:avLst/>
          </a:prstGeom>
        </p:spPr>
        <p:txBody>
          <a:bodyPr wrap="square">
            <a:spAutoFit/>
          </a:bodyPr>
          <a:lstStyle/>
          <a:p>
            <a:pPr algn="ctr"/>
            <a:r>
              <a:rPr lang="zh-CN" altLang="zh-CN" sz="2400" b="1" dirty="0">
                <a:latin typeface="+mn-lt"/>
                <a:ea typeface="黑体" pitchFamily="2" charset="-122"/>
              </a:rPr>
              <a:t>发送窗口内的序号都属于已发送但未被确认</a:t>
            </a:r>
            <a:endParaRPr lang="zh-CN" altLang="en-US" sz="2400" b="1" dirty="0">
              <a:latin typeface="+mn-lt"/>
              <a:ea typeface="黑体" pitchFamily="2" charset="-122"/>
            </a:endParaRPr>
          </a:p>
        </p:txBody>
      </p:sp>
    </p:spTree>
    <p:extLst>
      <p:ext uri="{BB962C8B-B14F-4D97-AF65-F5344CB8AC3E}">
        <p14:creationId xmlns:p14="http://schemas.microsoft.com/office/powerpoint/2010/main" val="400099492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2164" name="Rectangle 4"/>
          <p:cNvSpPr>
            <a:spLocks noGrp="1" noChangeArrowheads="1"/>
          </p:cNvSpPr>
          <p:nvPr>
            <p:ph type="title"/>
          </p:nvPr>
        </p:nvSpPr>
        <p:spPr/>
        <p:txBody>
          <a:bodyPr/>
          <a:lstStyle/>
          <a:p>
            <a:pPr algn="ctr"/>
            <a:r>
              <a:rPr lang="zh-CN" altLang="en-US"/>
              <a:t>发送缓存 </a:t>
            </a:r>
          </a:p>
        </p:txBody>
      </p:sp>
      <p:sp>
        <p:nvSpPr>
          <p:cNvPr id="732165" name="Line 5"/>
          <p:cNvSpPr>
            <a:spLocks noChangeShapeType="1"/>
          </p:cNvSpPr>
          <p:nvPr/>
        </p:nvSpPr>
        <p:spPr bwMode="auto">
          <a:xfrm flipV="1">
            <a:off x="2220771" y="3644602"/>
            <a:ext cx="5671873" cy="0"/>
          </a:xfrm>
          <a:prstGeom prst="line">
            <a:avLst/>
          </a:prstGeom>
          <a:noFill/>
          <a:ln w="1905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732166" name="Text Box 6"/>
          <p:cNvSpPr txBox="1">
            <a:spLocks noChangeArrowheads="1"/>
          </p:cNvSpPr>
          <p:nvPr/>
        </p:nvSpPr>
        <p:spPr bwMode="auto">
          <a:xfrm>
            <a:off x="1295364" y="5414665"/>
            <a:ext cx="1723549"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400" b="1">
                <a:solidFill>
                  <a:srgbClr val="000099"/>
                </a:solidFill>
                <a:latin typeface="+mn-lt"/>
                <a:ea typeface="黑体" pitchFamily="2" charset="-122"/>
              </a:rPr>
              <a:t>最后被确认</a:t>
            </a:r>
          </a:p>
          <a:p>
            <a:pPr algn="ctr"/>
            <a:r>
              <a:rPr lang="zh-CN" altLang="en-US" sz="2400" b="1">
                <a:solidFill>
                  <a:srgbClr val="000099"/>
                </a:solidFill>
                <a:latin typeface="+mn-lt"/>
                <a:ea typeface="黑体" pitchFamily="2" charset="-122"/>
              </a:rPr>
              <a:t>的字节</a:t>
            </a:r>
          </a:p>
        </p:txBody>
      </p:sp>
      <p:sp>
        <p:nvSpPr>
          <p:cNvPr id="732167" name="Rectangle 7"/>
          <p:cNvSpPr>
            <a:spLocks noChangeArrowheads="1"/>
          </p:cNvSpPr>
          <p:nvPr/>
        </p:nvSpPr>
        <p:spPr bwMode="auto">
          <a:xfrm>
            <a:off x="5407545" y="4455814"/>
            <a:ext cx="1745588" cy="534988"/>
          </a:xfrm>
          <a:prstGeom prst="rect">
            <a:avLst/>
          </a:prstGeom>
          <a:solidFill>
            <a:schemeClr val="bg1">
              <a:lumMod val="75000"/>
            </a:schemeClr>
          </a:solidFill>
          <a:ln>
            <a:noFill/>
          </a:ln>
          <a:effectLst/>
        </p:spPr>
        <p:txBody>
          <a:bodyPr wrap="none" anchor="ctr"/>
          <a:lstStyle/>
          <a:p>
            <a:endParaRPr lang="zh-CN" altLang="en-US" b="1">
              <a:solidFill>
                <a:srgbClr val="000099"/>
              </a:solidFill>
              <a:latin typeface="+mn-lt"/>
              <a:ea typeface="黑体" pitchFamily="2" charset="-122"/>
            </a:endParaRPr>
          </a:p>
        </p:txBody>
      </p:sp>
      <p:sp>
        <p:nvSpPr>
          <p:cNvPr id="732168" name="Oval 8"/>
          <p:cNvSpPr>
            <a:spLocks noChangeArrowheads="1"/>
          </p:cNvSpPr>
          <p:nvPr/>
        </p:nvSpPr>
        <p:spPr bwMode="auto">
          <a:xfrm>
            <a:off x="3771751" y="1988840"/>
            <a:ext cx="2765425" cy="754063"/>
          </a:xfrm>
          <a:prstGeom prst="ellipse">
            <a:avLst/>
          </a:prstGeom>
          <a:solidFill>
            <a:srgbClr val="FFFF99"/>
          </a:solidFill>
          <a:ln w="9525">
            <a:solidFill>
              <a:schemeClr val="tx1"/>
            </a:solidFill>
            <a:round/>
            <a:headEnd/>
            <a:tailEnd/>
          </a:ln>
          <a:effectLst>
            <a:outerShdw dist="35921" dir="2700000" algn="ctr" rotWithShape="0">
              <a:schemeClr val="bg2"/>
            </a:outerShdw>
          </a:effectLst>
        </p:spPr>
        <p:txBody>
          <a:bodyPr wrap="none" anchor="ctr"/>
          <a:lstStyle/>
          <a:p>
            <a:pPr algn="ctr"/>
            <a:r>
              <a:rPr lang="zh-CN" altLang="en-US" sz="2400" b="1">
                <a:solidFill>
                  <a:srgbClr val="000099"/>
                </a:solidFill>
                <a:latin typeface="+mn-lt"/>
                <a:ea typeface="黑体" pitchFamily="2" charset="-122"/>
              </a:rPr>
              <a:t>发送应用程序</a:t>
            </a:r>
          </a:p>
        </p:txBody>
      </p:sp>
      <p:sp>
        <p:nvSpPr>
          <p:cNvPr id="732169" name="Line 9"/>
          <p:cNvSpPr>
            <a:spLocks noChangeShapeType="1"/>
          </p:cNvSpPr>
          <p:nvPr/>
        </p:nvSpPr>
        <p:spPr bwMode="auto">
          <a:xfrm>
            <a:off x="463144" y="3066753"/>
            <a:ext cx="9314392" cy="31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732190" name="Rectangle 30"/>
          <p:cNvSpPr>
            <a:spLocks noChangeArrowheads="1"/>
          </p:cNvSpPr>
          <p:nvPr/>
        </p:nvSpPr>
        <p:spPr bwMode="auto">
          <a:xfrm>
            <a:off x="2207012" y="4243090"/>
            <a:ext cx="3929725" cy="962025"/>
          </a:xfrm>
          <a:prstGeom prst="rect">
            <a:avLst/>
          </a:prstGeom>
          <a:solidFill>
            <a:srgbClr val="00B0F0"/>
          </a:solidFill>
          <a:ln w="12700">
            <a:solidFill>
              <a:schemeClr val="tx1"/>
            </a:solidFill>
            <a:prstDash val="dash"/>
            <a:miter lim="800000"/>
            <a:headEnd/>
            <a:tailEnd/>
          </a:ln>
          <a:effectLst/>
        </p:spPr>
        <p:txBody>
          <a:bodyPr wrap="none" anchor="ctr"/>
          <a:lstStyle/>
          <a:p>
            <a:endParaRPr lang="zh-CN" altLang="en-US" b="1">
              <a:solidFill>
                <a:srgbClr val="000099"/>
              </a:solidFill>
              <a:latin typeface="+mn-lt"/>
              <a:ea typeface="黑体" pitchFamily="2" charset="-122"/>
            </a:endParaRPr>
          </a:p>
        </p:txBody>
      </p:sp>
      <p:sp>
        <p:nvSpPr>
          <p:cNvPr id="732170" name="Line 10"/>
          <p:cNvSpPr>
            <a:spLocks noChangeShapeType="1"/>
          </p:cNvSpPr>
          <p:nvPr/>
        </p:nvSpPr>
        <p:spPr bwMode="auto">
          <a:xfrm>
            <a:off x="463144" y="4455814"/>
            <a:ext cx="8144933"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732171" name="Line 11"/>
          <p:cNvSpPr>
            <a:spLocks noChangeShapeType="1"/>
          </p:cNvSpPr>
          <p:nvPr/>
        </p:nvSpPr>
        <p:spPr bwMode="auto">
          <a:xfrm>
            <a:off x="463144" y="4990802"/>
            <a:ext cx="8144933"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732172" name="Line 12"/>
          <p:cNvSpPr>
            <a:spLocks noChangeShapeType="1"/>
          </p:cNvSpPr>
          <p:nvPr/>
        </p:nvSpPr>
        <p:spPr bwMode="auto">
          <a:xfrm>
            <a:off x="2207013" y="4455814"/>
            <a:ext cx="0" cy="5349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732173" name="Line 13"/>
          <p:cNvSpPr>
            <a:spLocks noChangeShapeType="1"/>
          </p:cNvSpPr>
          <p:nvPr/>
        </p:nvSpPr>
        <p:spPr bwMode="auto">
          <a:xfrm flipH="1">
            <a:off x="7153133" y="4455814"/>
            <a:ext cx="0" cy="534988"/>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732174" name="Text Box 14"/>
          <p:cNvSpPr txBox="1">
            <a:spLocks noChangeArrowheads="1"/>
          </p:cNvSpPr>
          <p:nvPr/>
        </p:nvSpPr>
        <p:spPr bwMode="auto">
          <a:xfrm>
            <a:off x="3952602" y="3282653"/>
            <a:ext cx="1415772" cy="46166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400" b="1">
                <a:solidFill>
                  <a:srgbClr val="000099"/>
                </a:solidFill>
                <a:latin typeface="+mn-lt"/>
                <a:ea typeface="黑体" pitchFamily="2" charset="-122"/>
              </a:rPr>
              <a:t>发送缓存</a:t>
            </a:r>
          </a:p>
        </p:txBody>
      </p:sp>
      <p:sp>
        <p:nvSpPr>
          <p:cNvPr id="732176" name="Text Box 16"/>
          <p:cNvSpPr txBox="1">
            <a:spLocks noChangeArrowheads="1"/>
          </p:cNvSpPr>
          <p:nvPr/>
        </p:nvSpPr>
        <p:spPr bwMode="auto">
          <a:xfrm>
            <a:off x="4648925" y="5414665"/>
            <a:ext cx="1415772"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400" b="1">
                <a:solidFill>
                  <a:srgbClr val="000099"/>
                </a:solidFill>
                <a:latin typeface="+mn-lt"/>
                <a:ea typeface="黑体" pitchFamily="2" charset="-122"/>
              </a:rPr>
              <a:t>最后发送</a:t>
            </a:r>
          </a:p>
          <a:p>
            <a:pPr algn="ctr"/>
            <a:r>
              <a:rPr lang="zh-CN" altLang="en-US" sz="2400" b="1">
                <a:solidFill>
                  <a:srgbClr val="000099"/>
                </a:solidFill>
                <a:latin typeface="+mn-lt"/>
                <a:ea typeface="黑体" pitchFamily="2" charset="-122"/>
              </a:rPr>
              <a:t>的字节</a:t>
            </a:r>
          </a:p>
        </p:txBody>
      </p:sp>
      <p:sp>
        <p:nvSpPr>
          <p:cNvPr id="732177" name="Line 17"/>
          <p:cNvSpPr>
            <a:spLocks noChangeShapeType="1"/>
          </p:cNvSpPr>
          <p:nvPr/>
        </p:nvSpPr>
        <p:spPr bwMode="auto">
          <a:xfrm>
            <a:off x="5407545" y="4455814"/>
            <a:ext cx="0" cy="5349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732178" name="Text Box 18"/>
          <p:cNvSpPr txBox="1">
            <a:spLocks noChangeArrowheads="1"/>
          </p:cNvSpPr>
          <p:nvPr/>
        </p:nvSpPr>
        <p:spPr bwMode="auto">
          <a:xfrm>
            <a:off x="3343795" y="3763664"/>
            <a:ext cx="141577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400" b="1">
                <a:solidFill>
                  <a:srgbClr val="000099"/>
                </a:solidFill>
                <a:latin typeface="+mn-lt"/>
                <a:ea typeface="黑体" pitchFamily="2" charset="-122"/>
              </a:rPr>
              <a:t>发送窗口</a:t>
            </a:r>
          </a:p>
        </p:txBody>
      </p:sp>
      <p:sp>
        <p:nvSpPr>
          <p:cNvPr id="732179" name="Rectangle 19"/>
          <p:cNvSpPr>
            <a:spLocks noChangeArrowheads="1"/>
          </p:cNvSpPr>
          <p:nvPr/>
        </p:nvSpPr>
        <p:spPr bwMode="auto">
          <a:xfrm>
            <a:off x="2207013" y="4455814"/>
            <a:ext cx="3200533" cy="534988"/>
          </a:xfrm>
          <a:prstGeom prst="rect">
            <a:avLst/>
          </a:prstGeom>
          <a:solidFill>
            <a:srgbClr val="FF66FF"/>
          </a:solidFill>
          <a:ln>
            <a:noFill/>
          </a:ln>
          <a:effectLst/>
        </p:spPr>
        <p:txBody>
          <a:bodyPr wrap="none" anchor="ctr"/>
          <a:lstStyle/>
          <a:p>
            <a:pPr algn="ctr"/>
            <a:r>
              <a:rPr lang="zh-CN" altLang="en-US" sz="2400" b="1" dirty="0">
                <a:solidFill>
                  <a:srgbClr val="000099"/>
                </a:solidFill>
                <a:latin typeface="+mn-lt"/>
                <a:ea typeface="黑体" pitchFamily="2" charset="-122"/>
              </a:rPr>
              <a:t>已发送</a:t>
            </a:r>
          </a:p>
        </p:txBody>
      </p:sp>
      <p:grpSp>
        <p:nvGrpSpPr>
          <p:cNvPr id="732195" name="Group 35"/>
          <p:cNvGrpSpPr>
            <a:grpSpLocks/>
          </p:cNvGrpSpPr>
          <p:nvPr/>
        </p:nvGrpSpPr>
        <p:grpSpPr bwMode="auto">
          <a:xfrm>
            <a:off x="2207013" y="4990802"/>
            <a:ext cx="3200533" cy="500062"/>
            <a:chOff x="1154" y="3189"/>
            <a:chExt cx="1861" cy="270"/>
          </a:xfrm>
        </p:grpSpPr>
        <p:sp>
          <p:nvSpPr>
            <p:cNvPr id="732175" name="Line 15"/>
            <p:cNvSpPr>
              <a:spLocks noChangeShapeType="1"/>
            </p:cNvSpPr>
            <p:nvPr/>
          </p:nvSpPr>
          <p:spPr bwMode="auto">
            <a:xfrm flipV="1">
              <a:off x="1154" y="3189"/>
              <a:ext cx="0" cy="270"/>
            </a:xfrm>
            <a:prstGeom prst="line">
              <a:avLst/>
            </a:prstGeom>
            <a:noFill/>
            <a:ln w="57150">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732183" name="Line 23"/>
            <p:cNvSpPr>
              <a:spLocks noChangeShapeType="1"/>
            </p:cNvSpPr>
            <p:nvPr/>
          </p:nvSpPr>
          <p:spPr bwMode="auto">
            <a:xfrm flipV="1">
              <a:off x="3015" y="3189"/>
              <a:ext cx="0" cy="270"/>
            </a:xfrm>
            <a:prstGeom prst="line">
              <a:avLst/>
            </a:prstGeom>
            <a:noFill/>
            <a:ln w="57150">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grpSp>
      <p:sp>
        <p:nvSpPr>
          <p:cNvPr id="732184" name="Line 24"/>
          <p:cNvSpPr>
            <a:spLocks noChangeShapeType="1"/>
          </p:cNvSpPr>
          <p:nvPr/>
        </p:nvSpPr>
        <p:spPr bwMode="auto">
          <a:xfrm>
            <a:off x="2207013" y="3387427"/>
            <a:ext cx="0" cy="855662"/>
          </a:xfrm>
          <a:prstGeom prst="line">
            <a:avLst/>
          </a:prstGeom>
          <a:noFill/>
          <a:ln w="381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732185" name="Line 25"/>
          <p:cNvSpPr>
            <a:spLocks noChangeShapeType="1"/>
          </p:cNvSpPr>
          <p:nvPr/>
        </p:nvSpPr>
        <p:spPr bwMode="auto">
          <a:xfrm>
            <a:off x="7880606" y="3387428"/>
            <a:ext cx="0" cy="1603375"/>
          </a:xfrm>
          <a:prstGeom prst="line">
            <a:avLst/>
          </a:prstGeom>
          <a:noFill/>
          <a:ln w="381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732186" name="Freeform 26"/>
          <p:cNvSpPr>
            <a:spLocks/>
          </p:cNvSpPr>
          <p:nvPr/>
        </p:nvSpPr>
        <p:spPr bwMode="auto">
          <a:xfrm>
            <a:off x="5154463" y="2741314"/>
            <a:ext cx="1998671" cy="1714500"/>
          </a:xfrm>
          <a:custGeom>
            <a:avLst/>
            <a:gdLst>
              <a:gd name="T0" fmla="*/ 0 w 754"/>
              <a:gd name="T1" fmla="*/ 0 h 727"/>
              <a:gd name="T2" fmla="*/ 68 w 754"/>
              <a:gd name="T3" fmla="*/ 168 h 727"/>
              <a:gd name="T4" fmla="*/ 260 w 754"/>
              <a:gd name="T5" fmla="*/ 252 h 727"/>
              <a:gd name="T6" fmla="*/ 568 w 754"/>
              <a:gd name="T7" fmla="*/ 312 h 727"/>
              <a:gd name="T8" fmla="*/ 704 w 754"/>
              <a:gd name="T9" fmla="*/ 416 h 727"/>
              <a:gd name="T10" fmla="*/ 740 w 754"/>
              <a:gd name="T11" fmla="*/ 572 h 727"/>
              <a:gd name="T12" fmla="*/ 754 w 754"/>
              <a:gd name="T13" fmla="*/ 727 h 727"/>
            </a:gdLst>
            <a:ahLst/>
            <a:cxnLst>
              <a:cxn ang="0">
                <a:pos x="T0" y="T1"/>
              </a:cxn>
              <a:cxn ang="0">
                <a:pos x="T2" y="T3"/>
              </a:cxn>
              <a:cxn ang="0">
                <a:pos x="T4" y="T5"/>
              </a:cxn>
              <a:cxn ang="0">
                <a:pos x="T6" y="T7"/>
              </a:cxn>
              <a:cxn ang="0">
                <a:pos x="T8" y="T9"/>
              </a:cxn>
              <a:cxn ang="0">
                <a:pos x="T10" y="T11"/>
              </a:cxn>
              <a:cxn ang="0">
                <a:pos x="T12" y="T13"/>
              </a:cxn>
            </a:cxnLst>
            <a:rect l="0" t="0" r="r" b="b"/>
            <a:pathLst>
              <a:path w="754" h="727">
                <a:moveTo>
                  <a:pt x="0" y="0"/>
                </a:moveTo>
                <a:cubicBezTo>
                  <a:pt x="11" y="28"/>
                  <a:pt x="25" y="126"/>
                  <a:pt x="68" y="168"/>
                </a:cubicBezTo>
                <a:cubicBezTo>
                  <a:pt x="111" y="210"/>
                  <a:pt x="177" y="228"/>
                  <a:pt x="260" y="252"/>
                </a:cubicBezTo>
                <a:cubicBezTo>
                  <a:pt x="343" y="276"/>
                  <a:pt x="494" y="285"/>
                  <a:pt x="568" y="312"/>
                </a:cubicBezTo>
                <a:cubicBezTo>
                  <a:pt x="642" y="339"/>
                  <a:pt x="675" y="373"/>
                  <a:pt x="704" y="416"/>
                </a:cubicBezTo>
                <a:cubicBezTo>
                  <a:pt x="733" y="459"/>
                  <a:pt x="732" y="520"/>
                  <a:pt x="740" y="572"/>
                </a:cubicBezTo>
                <a:cubicBezTo>
                  <a:pt x="748" y="624"/>
                  <a:pt x="751" y="695"/>
                  <a:pt x="754" y="727"/>
                </a:cubicBezTo>
              </a:path>
            </a:pathLst>
          </a:custGeom>
          <a:noFill/>
          <a:ln w="57150" cmpd="sng">
            <a:solidFill>
              <a:srgbClr val="0000FF"/>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732187" name="Text Box 27"/>
          <p:cNvSpPr txBox="1">
            <a:spLocks noChangeArrowheads="1"/>
          </p:cNvSpPr>
          <p:nvPr/>
        </p:nvSpPr>
        <p:spPr bwMode="auto">
          <a:xfrm>
            <a:off x="914331" y="3042939"/>
            <a:ext cx="80022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rgbClr val="FF0000"/>
                </a:solidFill>
                <a:latin typeface="+mn-lt"/>
                <a:ea typeface="黑体" pitchFamily="2" charset="-122"/>
              </a:rPr>
              <a:t>TCP</a:t>
            </a:r>
          </a:p>
        </p:txBody>
      </p:sp>
      <p:sp>
        <p:nvSpPr>
          <p:cNvPr id="732188" name="Freeform 28"/>
          <p:cNvSpPr>
            <a:spLocks/>
          </p:cNvSpPr>
          <p:nvPr/>
        </p:nvSpPr>
        <p:spPr bwMode="auto">
          <a:xfrm>
            <a:off x="8544446" y="4387553"/>
            <a:ext cx="141023" cy="636587"/>
          </a:xfrm>
          <a:custGeom>
            <a:avLst/>
            <a:gdLst>
              <a:gd name="T0" fmla="*/ 12 w 36"/>
              <a:gd name="T1" fmla="*/ 0 h 286"/>
              <a:gd name="T2" fmla="*/ 36 w 36"/>
              <a:gd name="T3" fmla="*/ 86 h 286"/>
              <a:gd name="T4" fmla="*/ 8 w 36"/>
              <a:gd name="T5" fmla="*/ 102 h 286"/>
              <a:gd name="T6" fmla="*/ 28 w 36"/>
              <a:gd name="T7" fmla="*/ 138 h 286"/>
              <a:gd name="T8" fmla="*/ 0 w 36"/>
              <a:gd name="T9" fmla="*/ 158 h 286"/>
              <a:gd name="T10" fmla="*/ 24 w 36"/>
              <a:gd name="T11" fmla="*/ 210 h 286"/>
              <a:gd name="T12" fmla="*/ 8 w 36"/>
              <a:gd name="T13" fmla="*/ 238 h 286"/>
              <a:gd name="T14" fmla="*/ 32 w 36"/>
              <a:gd name="T15" fmla="*/ 286 h 28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6" h="286">
                <a:moveTo>
                  <a:pt x="12" y="0"/>
                </a:moveTo>
                <a:lnTo>
                  <a:pt x="36" y="86"/>
                </a:lnTo>
                <a:lnTo>
                  <a:pt x="8" y="102"/>
                </a:lnTo>
                <a:lnTo>
                  <a:pt x="28" y="138"/>
                </a:lnTo>
                <a:lnTo>
                  <a:pt x="0" y="158"/>
                </a:lnTo>
                <a:lnTo>
                  <a:pt x="24" y="210"/>
                </a:lnTo>
                <a:lnTo>
                  <a:pt x="8" y="238"/>
                </a:lnTo>
                <a:lnTo>
                  <a:pt x="32" y="286"/>
                </a:ln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732189" name="Freeform 29"/>
          <p:cNvSpPr>
            <a:spLocks/>
          </p:cNvSpPr>
          <p:nvPr/>
        </p:nvSpPr>
        <p:spPr bwMode="auto">
          <a:xfrm>
            <a:off x="366836" y="4411365"/>
            <a:ext cx="211535" cy="646113"/>
          </a:xfrm>
          <a:custGeom>
            <a:avLst/>
            <a:gdLst>
              <a:gd name="T0" fmla="*/ 14 w 66"/>
              <a:gd name="T1" fmla="*/ 0 h 274"/>
              <a:gd name="T2" fmla="*/ 66 w 66"/>
              <a:gd name="T3" fmla="*/ 46 h 274"/>
              <a:gd name="T4" fmla="*/ 6 w 66"/>
              <a:gd name="T5" fmla="*/ 84 h 274"/>
              <a:gd name="T6" fmla="*/ 54 w 66"/>
              <a:gd name="T7" fmla="*/ 136 h 274"/>
              <a:gd name="T8" fmla="*/ 0 w 66"/>
              <a:gd name="T9" fmla="*/ 178 h 274"/>
              <a:gd name="T10" fmla="*/ 54 w 66"/>
              <a:gd name="T11" fmla="*/ 214 h 274"/>
              <a:gd name="T12" fmla="*/ 12 w 66"/>
              <a:gd name="T13" fmla="*/ 274 h 274"/>
            </a:gdLst>
            <a:ahLst/>
            <a:cxnLst>
              <a:cxn ang="0">
                <a:pos x="T0" y="T1"/>
              </a:cxn>
              <a:cxn ang="0">
                <a:pos x="T2" y="T3"/>
              </a:cxn>
              <a:cxn ang="0">
                <a:pos x="T4" y="T5"/>
              </a:cxn>
              <a:cxn ang="0">
                <a:pos x="T6" y="T7"/>
              </a:cxn>
              <a:cxn ang="0">
                <a:pos x="T8" y="T9"/>
              </a:cxn>
              <a:cxn ang="0">
                <a:pos x="T10" y="T11"/>
              </a:cxn>
              <a:cxn ang="0">
                <a:pos x="T12" y="T13"/>
              </a:cxn>
            </a:cxnLst>
            <a:rect l="0" t="0" r="r" b="b"/>
            <a:pathLst>
              <a:path w="66" h="274">
                <a:moveTo>
                  <a:pt x="14" y="0"/>
                </a:moveTo>
                <a:lnTo>
                  <a:pt x="66" y="46"/>
                </a:lnTo>
                <a:lnTo>
                  <a:pt x="6" y="84"/>
                </a:lnTo>
                <a:lnTo>
                  <a:pt x="54" y="136"/>
                </a:lnTo>
                <a:lnTo>
                  <a:pt x="0" y="178"/>
                </a:lnTo>
                <a:lnTo>
                  <a:pt x="54" y="214"/>
                </a:lnTo>
                <a:lnTo>
                  <a:pt x="12" y="274"/>
                </a:ln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732191" name="Line 31"/>
          <p:cNvSpPr>
            <a:spLocks noChangeShapeType="1"/>
          </p:cNvSpPr>
          <p:nvPr/>
        </p:nvSpPr>
        <p:spPr bwMode="auto">
          <a:xfrm>
            <a:off x="7008671" y="5301208"/>
            <a:ext cx="1454944" cy="0"/>
          </a:xfrm>
          <a:prstGeom prst="line">
            <a:avLst/>
          </a:prstGeom>
          <a:noFill/>
          <a:ln w="38100">
            <a:solidFill>
              <a:srgbClr val="C0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732192" name="Text Box 32"/>
          <p:cNvSpPr txBox="1">
            <a:spLocks noChangeArrowheads="1"/>
          </p:cNvSpPr>
          <p:nvPr/>
        </p:nvSpPr>
        <p:spPr bwMode="auto">
          <a:xfrm>
            <a:off x="7035137" y="5343599"/>
            <a:ext cx="141577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400" b="1" dirty="0">
                <a:solidFill>
                  <a:srgbClr val="C00000"/>
                </a:solidFill>
                <a:latin typeface="+mn-lt"/>
                <a:ea typeface="黑体" pitchFamily="2" charset="-122"/>
              </a:rPr>
              <a:t>序号增大</a:t>
            </a:r>
          </a:p>
        </p:txBody>
      </p:sp>
      <p:sp>
        <p:nvSpPr>
          <p:cNvPr id="2" name="矩形 1"/>
          <p:cNvSpPr/>
          <p:nvPr/>
        </p:nvSpPr>
        <p:spPr>
          <a:xfrm>
            <a:off x="848544" y="1136529"/>
            <a:ext cx="8704545" cy="523220"/>
          </a:xfrm>
          <a:prstGeom prst="rect">
            <a:avLst/>
          </a:prstGeom>
          <a:solidFill>
            <a:srgbClr val="66FF66"/>
          </a:solidFill>
          <a:ln w="9525">
            <a:solidFill>
              <a:schemeClr val="folHlink"/>
            </a:solidFill>
            <a:miter lim="800000"/>
            <a:headEnd/>
            <a:tailEnd/>
          </a:ln>
          <a:effectLst>
            <a:outerShdw dist="35921" dir="2700000" algn="ctr" rotWithShape="0">
              <a:schemeClr val="bg2"/>
            </a:outerShdw>
          </a:effectLst>
        </p:spPr>
        <p:txBody>
          <a:bodyPr wrap="square">
            <a:spAutoFit/>
          </a:bodyPr>
          <a:lstStyle/>
          <a:p>
            <a:pPr algn="ctr"/>
            <a:r>
              <a:rPr lang="zh-CN" altLang="zh-CN" sz="2800" b="1" dirty="0">
                <a:solidFill>
                  <a:srgbClr val="0000CC"/>
                </a:solidFill>
                <a:latin typeface="+mn-lt"/>
                <a:ea typeface="黑体" pitchFamily="2" charset="-122"/>
              </a:rPr>
              <a:t>发送方的应用进程把字节流写入</a:t>
            </a:r>
            <a:r>
              <a:rPr lang="en-US" altLang="zh-CN" sz="2800" b="1" dirty="0">
                <a:solidFill>
                  <a:srgbClr val="0000CC"/>
                </a:solidFill>
                <a:latin typeface="+mn-lt"/>
                <a:ea typeface="黑体" pitchFamily="2" charset="-122"/>
              </a:rPr>
              <a:t> TCP </a:t>
            </a:r>
            <a:r>
              <a:rPr lang="zh-CN" altLang="zh-CN" sz="2800" b="1" dirty="0">
                <a:solidFill>
                  <a:srgbClr val="0000CC"/>
                </a:solidFill>
                <a:latin typeface="+mn-lt"/>
                <a:ea typeface="黑体" pitchFamily="2" charset="-122"/>
              </a:rPr>
              <a:t>的发送缓存</a:t>
            </a:r>
            <a:r>
              <a:rPr lang="zh-CN" altLang="en-US" sz="2800" b="1" dirty="0">
                <a:solidFill>
                  <a:srgbClr val="0000CC"/>
                </a:solidFill>
                <a:latin typeface="+mn-lt"/>
                <a:ea typeface="黑体" pitchFamily="2" charset="-122"/>
              </a:rPr>
              <a:t>。</a:t>
            </a:r>
          </a:p>
        </p:txBody>
      </p:sp>
      <p:sp>
        <p:nvSpPr>
          <p:cNvPr id="3" name="矩形 2"/>
          <p:cNvSpPr/>
          <p:nvPr/>
        </p:nvSpPr>
        <p:spPr>
          <a:xfrm>
            <a:off x="535879" y="1916832"/>
            <a:ext cx="3048969" cy="830997"/>
          </a:xfrm>
          <a:prstGeom prst="rect">
            <a:avLst/>
          </a:prstGeom>
          <a:solidFill>
            <a:srgbClr val="000099"/>
          </a:solidFill>
        </p:spPr>
        <p:txBody>
          <a:bodyPr wrap="square">
            <a:spAutoFit/>
          </a:bodyPr>
          <a:lstStyle/>
          <a:p>
            <a:r>
              <a:rPr lang="zh-CN" altLang="zh-CN" sz="2400" b="1" dirty="0">
                <a:solidFill>
                  <a:schemeClr val="bg1"/>
                </a:solidFill>
                <a:latin typeface="+mn-lt"/>
                <a:ea typeface="黑体" pitchFamily="2" charset="-122"/>
              </a:rPr>
              <a:t>发送窗口通常只是发送缓存的一部分。</a:t>
            </a:r>
            <a:endParaRPr lang="zh-CN" altLang="en-US" sz="2400" b="1" dirty="0">
              <a:solidFill>
                <a:schemeClr val="bg1"/>
              </a:solidFill>
              <a:latin typeface="+mn-lt"/>
              <a:ea typeface="黑体" pitchFamily="2" charset="-122"/>
            </a:endParaRPr>
          </a:p>
        </p:txBody>
      </p:sp>
    </p:spTree>
    <p:extLst>
      <p:ext uri="{BB962C8B-B14F-4D97-AF65-F5344CB8AC3E}">
        <p14:creationId xmlns:p14="http://schemas.microsoft.com/office/powerpoint/2010/main" val="371891118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4212" name="Rectangle 4"/>
          <p:cNvSpPr>
            <a:spLocks noGrp="1" noChangeArrowheads="1"/>
          </p:cNvSpPr>
          <p:nvPr>
            <p:ph type="title"/>
          </p:nvPr>
        </p:nvSpPr>
        <p:spPr/>
        <p:txBody>
          <a:bodyPr/>
          <a:lstStyle/>
          <a:p>
            <a:pPr algn="ctr"/>
            <a:r>
              <a:rPr lang="zh-CN" altLang="en-US"/>
              <a:t>接收缓存</a:t>
            </a:r>
          </a:p>
        </p:txBody>
      </p:sp>
      <p:sp>
        <p:nvSpPr>
          <p:cNvPr id="734228" name="Rectangle 20"/>
          <p:cNvSpPr>
            <a:spLocks noChangeArrowheads="1"/>
          </p:cNvSpPr>
          <p:nvPr/>
        </p:nvSpPr>
        <p:spPr bwMode="auto">
          <a:xfrm>
            <a:off x="4427053" y="4260279"/>
            <a:ext cx="3964120" cy="1016000"/>
          </a:xfrm>
          <a:prstGeom prst="rect">
            <a:avLst/>
          </a:prstGeom>
          <a:solidFill>
            <a:srgbClr val="3399FF"/>
          </a:solidFill>
          <a:ln w="9525">
            <a:solidFill>
              <a:schemeClr val="tx1"/>
            </a:solidFill>
            <a:prstDash val="dash"/>
            <a:miter lim="800000"/>
            <a:headEnd/>
            <a:tailEnd/>
          </a:ln>
          <a:effectLst/>
        </p:spPr>
        <p:txBody>
          <a:bodyPr wrap="none" anchor="ctr"/>
          <a:lstStyle/>
          <a:p>
            <a:endParaRPr lang="zh-CN" altLang="en-US" b="1">
              <a:solidFill>
                <a:srgbClr val="000099"/>
              </a:solidFill>
              <a:latin typeface="+mn-lt"/>
              <a:ea typeface="黑体" pitchFamily="2" charset="-122"/>
            </a:endParaRPr>
          </a:p>
        </p:txBody>
      </p:sp>
      <p:sp>
        <p:nvSpPr>
          <p:cNvPr id="734213" name="Oval 5"/>
          <p:cNvSpPr>
            <a:spLocks noChangeArrowheads="1"/>
          </p:cNvSpPr>
          <p:nvPr/>
        </p:nvSpPr>
        <p:spPr bwMode="auto">
          <a:xfrm>
            <a:off x="3988507" y="1979614"/>
            <a:ext cx="2787782" cy="796925"/>
          </a:xfrm>
          <a:prstGeom prst="ellipse">
            <a:avLst/>
          </a:prstGeom>
          <a:solidFill>
            <a:srgbClr val="FFFF99"/>
          </a:solidFill>
          <a:ln w="9525">
            <a:solidFill>
              <a:schemeClr val="tx1"/>
            </a:solidFill>
            <a:round/>
            <a:headEnd/>
            <a:tailEnd/>
          </a:ln>
          <a:effectLst>
            <a:outerShdw dist="35921" dir="2700000" algn="ctr" rotWithShape="0">
              <a:schemeClr val="bg2"/>
            </a:outerShdw>
          </a:effectLst>
        </p:spPr>
        <p:txBody>
          <a:bodyPr wrap="none" anchor="ctr"/>
          <a:lstStyle/>
          <a:p>
            <a:pPr algn="ctr"/>
            <a:r>
              <a:rPr lang="zh-CN" altLang="en-US" sz="2400" b="1">
                <a:solidFill>
                  <a:srgbClr val="000099"/>
                </a:solidFill>
                <a:latin typeface="+mn-lt"/>
                <a:ea typeface="黑体" pitchFamily="2" charset="-122"/>
              </a:rPr>
              <a:t>接收应用程序</a:t>
            </a:r>
          </a:p>
        </p:txBody>
      </p:sp>
      <p:sp>
        <p:nvSpPr>
          <p:cNvPr id="734214" name="Line 6"/>
          <p:cNvSpPr>
            <a:spLocks noChangeShapeType="1"/>
          </p:cNvSpPr>
          <p:nvPr/>
        </p:nvSpPr>
        <p:spPr bwMode="auto">
          <a:xfrm>
            <a:off x="488504" y="3068960"/>
            <a:ext cx="9289032"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734215" name="Line 7"/>
          <p:cNvSpPr>
            <a:spLocks noChangeShapeType="1"/>
          </p:cNvSpPr>
          <p:nvPr/>
        </p:nvSpPr>
        <p:spPr bwMode="auto">
          <a:xfrm>
            <a:off x="1348626" y="4484116"/>
            <a:ext cx="8215445"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734216" name="Line 8"/>
          <p:cNvSpPr>
            <a:spLocks noChangeShapeType="1"/>
          </p:cNvSpPr>
          <p:nvPr/>
        </p:nvSpPr>
        <p:spPr bwMode="auto">
          <a:xfrm>
            <a:off x="1348626" y="5050854"/>
            <a:ext cx="8215445"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734217" name="Rectangle 9"/>
          <p:cNvSpPr>
            <a:spLocks noChangeArrowheads="1"/>
          </p:cNvSpPr>
          <p:nvPr/>
        </p:nvSpPr>
        <p:spPr bwMode="auto">
          <a:xfrm>
            <a:off x="2667707" y="4484116"/>
            <a:ext cx="1759346" cy="566738"/>
          </a:xfrm>
          <a:prstGeom prst="rect">
            <a:avLst/>
          </a:prstGeom>
          <a:solidFill>
            <a:srgbClr val="FF66FF"/>
          </a:solidFill>
          <a:ln>
            <a:noFill/>
          </a:ln>
          <a:effectLst/>
        </p:spPr>
        <p:txBody>
          <a:bodyPr wrap="none" anchor="ctr"/>
          <a:lstStyle/>
          <a:p>
            <a:pPr algn="ctr"/>
            <a:r>
              <a:rPr lang="zh-CN" altLang="en-US" sz="2400" b="1" dirty="0">
                <a:solidFill>
                  <a:srgbClr val="000099"/>
                </a:solidFill>
                <a:latin typeface="+mn-lt"/>
                <a:ea typeface="黑体" pitchFamily="2" charset="-122"/>
              </a:rPr>
              <a:t>已收到</a:t>
            </a:r>
          </a:p>
        </p:txBody>
      </p:sp>
      <p:sp>
        <p:nvSpPr>
          <p:cNvPr id="734218" name="Rectangle 10"/>
          <p:cNvSpPr>
            <a:spLocks noChangeArrowheads="1"/>
          </p:cNvSpPr>
          <p:nvPr/>
        </p:nvSpPr>
        <p:spPr bwMode="auto">
          <a:xfrm>
            <a:off x="5601671" y="4484116"/>
            <a:ext cx="294084" cy="566738"/>
          </a:xfrm>
          <a:prstGeom prst="rect">
            <a:avLst/>
          </a:prstGeom>
          <a:solidFill>
            <a:srgbClr val="FF66FF"/>
          </a:solidFill>
          <a:ln>
            <a:noFill/>
          </a:ln>
          <a:effectLst/>
        </p:spPr>
        <p:txBody>
          <a:bodyPr wrap="none" anchor="ctr"/>
          <a:lstStyle/>
          <a:p>
            <a:endParaRPr lang="zh-CN" altLang="en-US" b="1">
              <a:solidFill>
                <a:srgbClr val="000099"/>
              </a:solidFill>
              <a:latin typeface="+mn-lt"/>
              <a:ea typeface="黑体" pitchFamily="2" charset="-122"/>
            </a:endParaRPr>
          </a:p>
        </p:txBody>
      </p:sp>
      <p:sp>
        <p:nvSpPr>
          <p:cNvPr id="734222" name="Text Box 14"/>
          <p:cNvSpPr txBox="1">
            <a:spLocks noChangeArrowheads="1"/>
          </p:cNvSpPr>
          <p:nvPr/>
        </p:nvSpPr>
        <p:spPr bwMode="auto">
          <a:xfrm>
            <a:off x="5670463" y="3807841"/>
            <a:ext cx="141577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400" b="1">
                <a:solidFill>
                  <a:srgbClr val="000099"/>
                </a:solidFill>
                <a:latin typeface="+mn-lt"/>
                <a:ea typeface="黑体" pitchFamily="2" charset="-122"/>
              </a:rPr>
              <a:t>接收窗口</a:t>
            </a:r>
          </a:p>
        </p:txBody>
      </p:sp>
      <p:sp>
        <p:nvSpPr>
          <p:cNvPr id="734223" name="Line 15"/>
          <p:cNvSpPr>
            <a:spLocks noChangeShapeType="1"/>
          </p:cNvSpPr>
          <p:nvPr/>
        </p:nvSpPr>
        <p:spPr bwMode="auto">
          <a:xfrm>
            <a:off x="2667707" y="3356992"/>
            <a:ext cx="0" cy="1127125"/>
          </a:xfrm>
          <a:prstGeom prst="line">
            <a:avLst/>
          </a:prstGeom>
          <a:noFill/>
          <a:ln w="381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734224" name="Text Box 16"/>
          <p:cNvSpPr txBox="1">
            <a:spLocks noChangeArrowheads="1"/>
          </p:cNvSpPr>
          <p:nvPr/>
        </p:nvSpPr>
        <p:spPr bwMode="auto">
          <a:xfrm>
            <a:off x="776536" y="3114675"/>
            <a:ext cx="80022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rgbClr val="FF0000"/>
                </a:solidFill>
                <a:latin typeface="+mn-lt"/>
                <a:ea typeface="黑体" pitchFamily="2" charset="-122"/>
              </a:rPr>
              <a:t>TCP</a:t>
            </a:r>
          </a:p>
        </p:txBody>
      </p:sp>
      <p:sp>
        <p:nvSpPr>
          <p:cNvPr id="734225" name="Line 17"/>
          <p:cNvSpPr>
            <a:spLocks noChangeShapeType="1"/>
          </p:cNvSpPr>
          <p:nvPr/>
        </p:nvSpPr>
        <p:spPr bwMode="auto">
          <a:xfrm flipV="1">
            <a:off x="2667707" y="3628454"/>
            <a:ext cx="5723467" cy="0"/>
          </a:xfrm>
          <a:prstGeom prst="line">
            <a:avLst/>
          </a:prstGeom>
          <a:noFill/>
          <a:ln w="1905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734226" name="Text Box 18"/>
          <p:cNvSpPr txBox="1">
            <a:spLocks noChangeArrowheads="1"/>
          </p:cNvSpPr>
          <p:nvPr/>
        </p:nvSpPr>
        <p:spPr bwMode="auto">
          <a:xfrm>
            <a:off x="4578395" y="3376041"/>
            <a:ext cx="1415772" cy="46166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400" b="1">
                <a:solidFill>
                  <a:srgbClr val="000099"/>
                </a:solidFill>
                <a:latin typeface="+mn-lt"/>
                <a:ea typeface="黑体" pitchFamily="2" charset="-122"/>
              </a:rPr>
              <a:t>接收缓存</a:t>
            </a:r>
          </a:p>
        </p:txBody>
      </p:sp>
      <p:sp>
        <p:nvSpPr>
          <p:cNvPr id="734227" name="Line 19"/>
          <p:cNvSpPr>
            <a:spLocks noChangeShapeType="1"/>
          </p:cNvSpPr>
          <p:nvPr/>
        </p:nvSpPr>
        <p:spPr bwMode="auto">
          <a:xfrm flipH="1">
            <a:off x="8391172" y="3376041"/>
            <a:ext cx="0" cy="884238"/>
          </a:xfrm>
          <a:prstGeom prst="line">
            <a:avLst/>
          </a:prstGeom>
          <a:noFill/>
          <a:ln w="381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734229" name="Freeform 21"/>
          <p:cNvSpPr>
            <a:spLocks/>
          </p:cNvSpPr>
          <p:nvPr/>
        </p:nvSpPr>
        <p:spPr bwMode="auto">
          <a:xfrm flipH="1">
            <a:off x="2679903" y="2779714"/>
            <a:ext cx="2426468" cy="1811337"/>
          </a:xfrm>
          <a:custGeom>
            <a:avLst/>
            <a:gdLst>
              <a:gd name="T0" fmla="*/ 0 w 754"/>
              <a:gd name="T1" fmla="*/ 0 h 727"/>
              <a:gd name="T2" fmla="*/ 68 w 754"/>
              <a:gd name="T3" fmla="*/ 168 h 727"/>
              <a:gd name="T4" fmla="*/ 260 w 754"/>
              <a:gd name="T5" fmla="*/ 252 h 727"/>
              <a:gd name="T6" fmla="*/ 568 w 754"/>
              <a:gd name="T7" fmla="*/ 312 h 727"/>
              <a:gd name="T8" fmla="*/ 704 w 754"/>
              <a:gd name="T9" fmla="*/ 416 h 727"/>
              <a:gd name="T10" fmla="*/ 740 w 754"/>
              <a:gd name="T11" fmla="*/ 572 h 727"/>
              <a:gd name="T12" fmla="*/ 754 w 754"/>
              <a:gd name="T13" fmla="*/ 727 h 727"/>
            </a:gdLst>
            <a:ahLst/>
            <a:cxnLst>
              <a:cxn ang="0">
                <a:pos x="T0" y="T1"/>
              </a:cxn>
              <a:cxn ang="0">
                <a:pos x="T2" y="T3"/>
              </a:cxn>
              <a:cxn ang="0">
                <a:pos x="T4" y="T5"/>
              </a:cxn>
              <a:cxn ang="0">
                <a:pos x="T6" y="T7"/>
              </a:cxn>
              <a:cxn ang="0">
                <a:pos x="T8" y="T9"/>
              </a:cxn>
              <a:cxn ang="0">
                <a:pos x="T10" y="T11"/>
              </a:cxn>
              <a:cxn ang="0">
                <a:pos x="T12" y="T13"/>
              </a:cxn>
            </a:cxnLst>
            <a:rect l="0" t="0" r="r" b="b"/>
            <a:pathLst>
              <a:path w="754" h="727">
                <a:moveTo>
                  <a:pt x="0" y="0"/>
                </a:moveTo>
                <a:cubicBezTo>
                  <a:pt x="11" y="28"/>
                  <a:pt x="25" y="126"/>
                  <a:pt x="68" y="168"/>
                </a:cubicBezTo>
                <a:cubicBezTo>
                  <a:pt x="111" y="210"/>
                  <a:pt x="177" y="228"/>
                  <a:pt x="260" y="252"/>
                </a:cubicBezTo>
                <a:cubicBezTo>
                  <a:pt x="343" y="276"/>
                  <a:pt x="494" y="285"/>
                  <a:pt x="568" y="312"/>
                </a:cubicBezTo>
                <a:cubicBezTo>
                  <a:pt x="642" y="339"/>
                  <a:pt x="675" y="373"/>
                  <a:pt x="704" y="416"/>
                </a:cubicBezTo>
                <a:cubicBezTo>
                  <a:pt x="733" y="459"/>
                  <a:pt x="732" y="520"/>
                  <a:pt x="740" y="572"/>
                </a:cubicBezTo>
                <a:cubicBezTo>
                  <a:pt x="748" y="624"/>
                  <a:pt x="751" y="695"/>
                  <a:pt x="754" y="727"/>
                </a:cubicBezTo>
              </a:path>
            </a:pathLst>
          </a:custGeom>
          <a:noFill/>
          <a:ln w="38100" cmpd="sng">
            <a:solidFill>
              <a:srgbClr val="CC3300"/>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734230" name="Text Box 22"/>
          <p:cNvSpPr txBox="1">
            <a:spLocks noChangeArrowheads="1"/>
          </p:cNvSpPr>
          <p:nvPr/>
        </p:nvSpPr>
        <p:spPr bwMode="auto">
          <a:xfrm>
            <a:off x="956355" y="3585592"/>
            <a:ext cx="1723549"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400" b="1">
                <a:solidFill>
                  <a:srgbClr val="000099"/>
                </a:solidFill>
                <a:latin typeface="+mn-lt"/>
                <a:ea typeface="黑体" pitchFamily="2" charset="-122"/>
              </a:rPr>
              <a:t>下一个读取</a:t>
            </a:r>
          </a:p>
          <a:p>
            <a:pPr algn="ctr"/>
            <a:r>
              <a:rPr lang="zh-CN" altLang="en-US" sz="2400" b="1">
                <a:solidFill>
                  <a:srgbClr val="000099"/>
                </a:solidFill>
                <a:latin typeface="+mn-lt"/>
                <a:ea typeface="黑体" pitchFamily="2" charset="-122"/>
              </a:rPr>
              <a:t>的字节</a:t>
            </a:r>
          </a:p>
        </p:txBody>
      </p:sp>
      <p:sp>
        <p:nvSpPr>
          <p:cNvPr id="734231" name="Line 23"/>
          <p:cNvSpPr>
            <a:spLocks noChangeShapeType="1"/>
          </p:cNvSpPr>
          <p:nvPr/>
        </p:nvSpPr>
        <p:spPr bwMode="auto">
          <a:xfrm>
            <a:off x="7660262" y="5488656"/>
            <a:ext cx="1468702" cy="0"/>
          </a:xfrm>
          <a:prstGeom prst="line">
            <a:avLst/>
          </a:prstGeom>
          <a:noFill/>
          <a:ln w="38100">
            <a:solidFill>
              <a:srgbClr val="C0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734232" name="Text Box 24"/>
          <p:cNvSpPr txBox="1">
            <a:spLocks noChangeArrowheads="1"/>
          </p:cNvSpPr>
          <p:nvPr/>
        </p:nvSpPr>
        <p:spPr bwMode="auto">
          <a:xfrm>
            <a:off x="7691886" y="5531270"/>
            <a:ext cx="141577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400" b="1" dirty="0">
                <a:solidFill>
                  <a:srgbClr val="C00000"/>
                </a:solidFill>
                <a:latin typeface="+mn-lt"/>
                <a:ea typeface="黑体" pitchFamily="2" charset="-122"/>
              </a:rPr>
              <a:t>序号增大</a:t>
            </a:r>
          </a:p>
        </p:txBody>
      </p:sp>
      <p:sp>
        <p:nvSpPr>
          <p:cNvPr id="734233" name="Text Box 25"/>
          <p:cNvSpPr txBox="1">
            <a:spLocks noChangeArrowheads="1"/>
          </p:cNvSpPr>
          <p:nvPr/>
        </p:nvSpPr>
        <p:spPr bwMode="auto">
          <a:xfrm>
            <a:off x="3055460" y="5449747"/>
            <a:ext cx="2646878"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400" b="1" dirty="0">
                <a:solidFill>
                  <a:srgbClr val="000099"/>
                </a:solidFill>
                <a:latin typeface="+mn-lt"/>
                <a:ea typeface="黑体" pitchFamily="2" charset="-122"/>
              </a:rPr>
              <a:t>下一个期望收到的</a:t>
            </a:r>
          </a:p>
          <a:p>
            <a:pPr algn="ctr"/>
            <a:r>
              <a:rPr lang="zh-CN" altLang="en-US" sz="2400" b="1" dirty="0">
                <a:solidFill>
                  <a:srgbClr val="000099"/>
                </a:solidFill>
                <a:latin typeface="+mn-lt"/>
                <a:ea typeface="黑体" pitchFamily="2" charset="-122"/>
              </a:rPr>
              <a:t>字节（确认号）</a:t>
            </a:r>
          </a:p>
        </p:txBody>
      </p:sp>
      <p:sp>
        <p:nvSpPr>
          <p:cNvPr id="734234" name="Line 26"/>
          <p:cNvSpPr>
            <a:spLocks noChangeShapeType="1"/>
          </p:cNvSpPr>
          <p:nvPr/>
        </p:nvSpPr>
        <p:spPr bwMode="auto">
          <a:xfrm flipV="1">
            <a:off x="4427054" y="5050854"/>
            <a:ext cx="0" cy="437802"/>
          </a:xfrm>
          <a:prstGeom prst="line">
            <a:avLst/>
          </a:prstGeom>
          <a:noFill/>
          <a:ln w="38100">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734235" name="Freeform 27"/>
          <p:cNvSpPr>
            <a:spLocks/>
          </p:cNvSpPr>
          <p:nvPr/>
        </p:nvSpPr>
        <p:spPr bwMode="auto">
          <a:xfrm>
            <a:off x="9515917" y="4412679"/>
            <a:ext cx="142742" cy="673100"/>
          </a:xfrm>
          <a:custGeom>
            <a:avLst/>
            <a:gdLst>
              <a:gd name="T0" fmla="*/ 12 w 36"/>
              <a:gd name="T1" fmla="*/ 0 h 286"/>
              <a:gd name="T2" fmla="*/ 36 w 36"/>
              <a:gd name="T3" fmla="*/ 86 h 286"/>
              <a:gd name="T4" fmla="*/ 8 w 36"/>
              <a:gd name="T5" fmla="*/ 102 h 286"/>
              <a:gd name="T6" fmla="*/ 28 w 36"/>
              <a:gd name="T7" fmla="*/ 138 h 286"/>
              <a:gd name="T8" fmla="*/ 0 w 36"/>
              <a:gd name="T9" fmla="*/ 158 h 286"/>
              <a:gd name="T10" fmla="*/ 24 w 36"/>
              <a:gd name="T11" fmla="*/ 210 h 286"/>
              <a:gd name="T12" fmla="*/ 8 w 36"/>
              <a:gd name="T13" fmla="*/ 238 h 286"/>
              <a:gd name="T14" fmla="*/ 32 w 36"/>
              <a:gd name="T15" fmla="*/ 286 h 28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6" h="286">
                <a:moveTo>
                  <a:pt x="12" y="0"/>
                </a:moveTo>
                <a:lnTo>
                  <a:pt x="36" y="86"/>
                </a:lnTo>
                <a:lnTo>
                  <a:pt x="8" y="102"/>
                </a:lnTo>
                <a:lnTo>
                  <a:pt x="28" y="138"/>
                </a:lnTo>
                <a:lnTo>
                  <a:pt x="0" y="158"/>
                </a:lnTo>
                <a:lnTo>
                  <a:pt x="24" y="210"/>
                </a:lnTo>
                <a:lnTo>
                  <a:pt x="8" y="238"/>
                </a:lnTo>
                <a:lnTo>
                  <a:pt x="32" y="286"/>
                </a:ln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734236" name="Freeform 28"/>
          <p:cNvSpPr>
            <a:spLocks/>
          </p:cNvSpPr>
          <p:nvPr/>
        </p:nvSpPr>
        <p:spPr bwMode="auto">
          <a:xfrm>
            <a:off x="1279835" y="4438080"/>
            <a:ext cx="213254" cy="682625"/>
          </a:xfrm>
          <a:custGeom>
            <a:avLst/>
            <a:gdLst>
              <a:gd name="T0" fmla="*/ 14 w 66"/>
              <a:gd name="T1" fmla="*/ 0 h 274"/>
              <a:gd name="T2" fmla="*/ 66 w 66"/>
              <a:gd name="T3" fmla="*/ 46 h 274"/>
              <a:gd name="T4" fmla="*/ 6 w 66"/>
              <a:gd name="T5" fmla="*/ 84 h 274"/>
              <a:gd name="T6" fmla="*/ 54 w 66"/>
              <a:gd name="T7" fmla="*/ 136 h 274"/>
              <a:gd name="T8" fmla="*/ 0 w 66"/>
              <a:gd name="T9" fmla="*/ 178 h 274"/>
              <a:gd name="T10" fmla="*/ 54 w 66"/>
              <a:gd name="T11" fmla="*/ 214 h 274"/>
              <a:gd name="T12" fmla="*/ 12 w 66"/>
              <a:gd name="T13" fmla="*/ 274 h 274"/>
            </a:gdLst>
            <a:ahLst/>
            <a:cxnLst>
              <a:cxn ang="0">
                <a:pos x="T0" y="T1"/>
              </a:cxn>
              <a:cxn ang="0">
                <a:pos x="T2" y="T3"/>
              </a:cxn>
              <a:cxn ang="0">
                <a:pos x="T4" y="T5"/>
              </a:cxn>
              <a:cxn ang="0">
                <a:pos x="T6" y="T7"/>
              </a:cxn>
              <a:cxn ang="0">
                <a:pos x="T8" y="T9"/>
              </a:cxn>
              <a:cxn ang="0">
                <a:pos x="T10" y="T11"/>
              </a:cxn>
              <a:cxn ang="0">
                <a:pos x="T12" y="T13"/>
              </a:cxn>
            </a:cxnLst>
            <a:rect l="0" t="0" r="r" b="b"/>
            <a:pathLst>
              <a:path w="66" h="274">
                <a:moveTo>
                  <a:pt x="14" y="0"/>
                </a:moveTo>
                <a:lnTo>
                  <a:pt x="66" y="46"/>
                </a:lnTo>
                <a:lnTo>
                  <a:pt x="6" y="84"/>
                </a:lnTo>
                <a:lnTo>
                  <a:pt x="54" y="136"/>
                </a:lnTo>
                <a:lnTo>
                  <a:pt x="0" y="178"/>
                </a:lnTo>
                <a:lnTo>
                  <a:pt x="54" y="214"/>
                </a:lnTo>
                <a:lnTo>
                  <a:pt x="12" y="274"/>
                </a:ln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27" name="矩形 26"/>
          <p:cNvSpPr/>
          <p:nvPr/>
        </p:nvSpPr>
        <p:spPr>
          <a:xfrm>
            <a:off x="704528" y="1136529"/>
            <a:ext cx="8810115" cy="523220"/>
          </a:xfrm>
          <a:prstGeom prst="rect">
            <a:avLst/>
          </a:prstGeom>
          <a:solidFill>
            <a:srgbClr val="66FF66"/>
          </a:solidFill>
          <a:ln w="9525">
            <a:solidFill>
              <a:schemeClr val="folHlink"/>
            </a:solidFill>
            <a:miter lim="800000"/>
            <a:headEnd/>
            <a:tailEnd/>
          </a:ln>
          <a:effectLst>
            <a:outerShdw dist="35921" dir="2700000" algn="ctr" rotWithShape="0">
              <a:schemeClr val="bg2"/>
            </a:outerShdw>
          </a:effectLst>
        </p:spPr>
        <p:txBody>
          <a:bodyPr wrap="square">
            <a:spAutoFit/>
          </a:bodyPr>
          <a:lstStyle/>
          <a:p>
            <a:pPr algn="ctr"/>
            <a:r>
              <a:rPr lang="zh-CN" altLang="zh-CN" sz="2800" b="1" dirty="0">
                <a:solidFill>
                  <a:srgbClr val="0000CC"/>
                </a:solidFill>
                <a:latin typeface="+mn-lt"/>
                <a:ea typeface="黑体" pitchFamily="2" charset="-122"/>
              </a:rPr>
              <a:t>接收方的应用进程从</a:t>
            </a:r>
            <a:r>
              <a:rPr lang="en-US" altLang="zh-CN" sz="2800" b="1" dirty="0">
                <a:solidFill>
                  <a:srgbClr val="0000CC"/>
                </a:solidFill>
                <a:latin typeface="+mn-lt"/>
                <a:ea typeface="黑体" pitchFamily="2" charset="-122"/>
              </a:rPr>
              <a:t> TCP </a:t>
            </a:r>
            <a:r>
              <a:rPr lang="zh-CN" altLang="zh-CN" sz="2800" b="1" dirty="0">
                <a:solidFill>
                  <a:srgbClr val="0000CC"/>
                </a:solidFill>
                <a:latin typeface="+mn-lt"/>
                <a:ea typeface="黑体" pitchFamily="2" charset="-122"/>
              </a:rPr>
              <a:t>的接收缓存中读取字节流。</a:t>
            </a:r>
            <a:endParaRPr lang="zh-CN" altLang="en-US" sz="2800" b="1" dirty="0">
              <a:solidFill>
                <a:srgbClr val="0000CC"/>
              </a:solidFill>
              <a:latin typeface="+mn-lt"/>
              <a:ea typeface="黑体" pitchFamily="2" charset="-122"/>
            </a:endParaRPr>
          </a:p>
        </p:txBody>
      </p:sp>
    </p:spTree>
    <p:extLst>
      <p:ext uri="{BB962C8B-B14F-4D97-AF65-F5344CB8AC3E}">
        <p14:creationId xmlns:p14="http://schemas.microsoft.com/office/powerpoint/2010/main" val="394659439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6258" name="Rectangle 2"/>
          <p:cNvSpPr>
            <a:spLocks noGrp="1" noChangeArrowheads="1"/>
          </p:cNvSpPr>
          <p:nvPr>
            <p:ph type="title"/>
          </p:nvPr>
        </p:nvSpPr>
        <p:spPr/>
        <p:txBody>
          <a:bodyPr/>
          <a:lstStyle/>
          <a:p>
            <a:pPr algn="ctr"/>
            <a:r>
              <a:rPr lang="zh-CN" altLang="en-US" dirty="0"/>
              <a:t>发送缓存与接收缓存的作用</a:t>
            </a:r>
          </a:p>
        </p:txBody>
      </p:sp>
      <p:sp>
        <p:nvSpPr>
          <p:cNvPr id="736259" name="Rectangle 3"/>
          <p:cNvSpPr>
            <a:spLocks noGrp="1" noChangeArrowheads="1"/>
          </p:cNvSpPr>
          <p:nvPr>
            <p:ph idx="1"/>
          </p:nvPr>
        </p:nvSpPr>
        <p:spPr/>
        <p:txBody>
          <a:bodyPr/>
          <a:lstStyle/>
          <a:p>
            <a:r>
              <a:rPr lang="zh-CN" altLang="en-US" dirty="0">
                <a:solidFill>
                  <a:srgbClr val="FF0000"/>
                </a:solidFill>
              </a:rPr>
              <a:t>发送缓存</a:t>
            </a:r>
            <a:r>
              <a:rPr lang="zh-CN" altLang="en-US" dirty="0"/>
              <a:t>用来暂时存放：</a:t>
            </a:r>
          </a:p>
          <a:p>
            <a:pPr lvl="1"/>
            <a:r>
              <a:rPr lang="zh-CN" altLang="en-US" dirty="0">
                <a:solidFill>
                  <a:srgbClr val="0000FF"/>
                </a:solidFill>
                <a:latin typeface="Arial" charset="0"/>
                <a:ea typeface="黑体" pitchFamily="2" charset="-122"/>
              </a:rPr>
              <a:t>发送应用程序传送给发送方 </a:t>
            </a:r>
            <a:r>
              <a:rPr lang="en-US" altLang="zh-CN" dirty="0">
                <a:solidFill>
                  <a:srgbClr val="0000FF"/>
                </a:solidFill>
                <a:latin typeface="Arial" charset="0"/>
                <a:ea typeface="黑体" pitchFamily="2" charset="-122"/>
              </a:rPr>
              <a:t>TCP </a:t>
            </a:r>
            <a:r>
              <a:rPr lang="zh-CN" altLang="en-US" dirty="0">
                <a:solidFill>
                  <a:srgbClr val="0000FF"/>
                </a:solidFill>
                <a:latin typeface="Arial" charset="0"/>
                <a:ea typeface="黑体" pitchFamily="2" charset="-122"/>
              </a:rPr>
              <a:t>准备发送的数据；</a:t>
            </a:r>
          </a:p>
          <a:p>
            <a:pPr lvl="1"/>
            <a:r>
              <a:rPr lang="en-US" altLang="zh-CN" dirty="0">
                <a:solidFill>
                  <a:srgbClr val="0000FF"/>
                </a:solidFill>
                <a:latin typeface="Arial" charset="0"/>
                <a:ea typeface="黑体" pitchFamily="2" charset="-122"/>
              </a:rPr>
              <a:t>TCP </a:t>
            </a:r>
            <a:r>
              <a:rPr lang="zh-CN" altLang="en-US" dirty="0">
                <a:solidFill>
                  <a:srgbClr val="0000FF"/>
                </a:solidFill>
                <a:latin typeface="Arial" charset="0"/>
                <a:ea typeface="黑体" pitchFamily="2" charset="-122"/>
              </a:rPr>
              <a:t>已发送出但尚未收到确认的数据。</a:t>
            </a:r>
          </a:p>
          <a:p>
            <a:r>
              <a:rPr lang="zh-CN" altLang="en-US" dirty="0">
                <a:solidFill>
                  <a:srgbClr val="FF0000"/>
                </a:solidFill>
              </a:rPr>
              <a:t>接收缓存</a:t>
            </a:r>
            <a:r>
              <a:rPr lang="zh-CN" altLang="en-US" dirty="0"/>
              <a:t>用来暂时存放：</a:t>
            </a:r>
          </a:p>
          <a:p>
            <a:pPr lvl="1"/>
            <a:r>
              <a:rPr lang="zh-CN" altLang="en-US" dirty="0">
                <a:solidFill>
                  <a:srgbClr val="0000FF"/>
                </a:solidFill>
                <a:latin typeface="黑体" pitchFamily="2" charset="-122"/>
                <a:ea typeface="黑体" pitchFamily="2" charset="-122"/>
              </a:rPr>
              <a:t>按序到达的、但尚未被接收应用程序读取的数据；</a:t>
            </a:r>
          </a:p>
          <a:p>
            <a:pPr lvl="1"/>
            <a:r>
              <a:rPr lang="zh-CN" altLang="en-US" dirty="0">
                <a:solidFill>
                  <a:srgbClr val="0000FF"/>
                </a:solidFill>
                <a:latin typeface="黑体" pitchFamily="2" charset="-122"/>
                <a:ea typeface="黑体" pitchFamily="2" charset="-122"/>
              </a:rPr>
              <a:t>不按序到达的数据。</a:t>
            </a:r>
            <a:r>
              <a:rPr lang="zh-CN" altLang="en-US" dirty="0">
                <a:solidFill>
                  <a:srgbClr val="0000FF"/>
                </a:solidFill>
              </a:rPr>
              <a:t> </a:t>
            </a:r>
          </a:p>
        </p:txBody>
      </p:sp>
    </p:spTree>
    <p:extLst>
      <p:ext uri="{BB962C8B-B14F-4D97-AF65-F5344CB8AC3E}">
        <p14:creationId xmlns:p14="http://schemas.microsoft.com/office/powerpoint/2010/main" val="167320354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82" name="Rectangle 2"/>
          <p:cNvSpPr>
            <a:spLocks noGrp="1" noChangeArrowheads="1"/>
          </p:cNvSpPr>
          <p:nvPr>
            <p:ph type="title"/>
          </p:nvPr>
        </p:nvSpPr>
        <p:spPr/>
        <p:txBody>
          <a:bodyPr/>
          <a:lstStyle/>
          <a:p>
            <a:pPr algn="ctr"/>
            <a:r>
              <a:rPr lang="zh-CN" altLang="en-US" dirty="0"/>
              <a:t>需要强调三点</a:t>
            </a:r>
          </a:p>
        </p:txBody>
      </p:sp>
      <p:sp>
        <p:nvSpPr>
          <p:cNvPr id="737283" name="Rectangle 3"/>
          <p:cNvSpPr>
            <a:spLocks noGrp="1" noChangeArrowheads="1"/>
          </p:cNvSpPr>
          <p:nvPr>
            <p:ph idx="1"/>
          </p:nvPr>
        </p:nvSpPr>
        <p:spPr/>
        <p:txBody>
          <a:bodyPr/>
          <a:lstStyle/>
          <a:p>
            <a:r>
              <a:rPr lang="zh-CN" altLang="en-US" dirty="0">
                <a:solidFill>
                  <a:srgbClr val="FF0000"/>
                </a:solidFill>
              </a:rPr>
              <a:t>第一，</a:t>
            </a:r>
            <a:r>
              <a:rPr lang="en-US" altLang="zh-CN" dirty="0"/>
              <a:t>A </a:t>
            </a:r>
            <a:r>
              <a:rPr lang="zh-CN" altLang="en-US" dirty="0"/>
              <a:t>的发送窗口并</a:t>
            </a:r>
            <a:r>
              <a:rPr lang="zh-CN" altLang="en-US" dirty="0">
                <a:solidFill>
                  <a:srgbClr val="FF0000"/>
                </a:solidFill>
              </a:rPr>
              <a:t>不总是</a:t>
            </a:r>
            <a:r>
              <a:rPr lang="zh-CN" altLang="en-US" dirty="0"/>
              <a:t>和 </a:t>
            </a:r>
            <a:r>
              <a:rPr lang="en-US" altLang="zh-CN" dirty="0"/>
              <a:t>B </a:t>
            </a:r>
            <a:r>
              <a:rPr lang="zh-CN" altLang="en-US" dirty="0"/>
              <a:t>的接收窗口一样大（因为有一定的时间滞后）。</a:t>
            </a:r>
          </a:p>
          <a:p>
            <a:r>
              <a:rPr lang="zh-CN" altLang="en-US" dirty="0">
                <a:solidFill>
                  <a:srgbClr val="FF0000"/>
                </a:solidFill>
              </a:rPr>
              <a:t>第二，</a:t>
            </a:r>
            <a:r>
              <a:rPr lang="en-US" altLang="zh-CN" dirty="0"/>
              <a:t>TCP </a:t>
            </a:r>
            <a:r>
              <a:rPr lang="zh-CN" altLang="en-US" dirty="0"/>
              <a:t>标准</a:t>
            </a:r>
            <a:r>
              <a:rPr lang="zh-CN" altLang="en-US" dirty="0">
                <a:solidFill>
                  <a:srgbClr val="FF0000"/>
                </a:solidFill>
              </a:rPr>
              <a:t>没有规定</a:t>
            </a:r>
            <a:r>
              <a:rPr lang="zh-CN" altLang="en-US" dirty="0"/>
              <a:t>对不按序到达的数据应如何处理。通常是先临时存放在接收窗口中，等到字节流中所缺少的字节收到后，再按序交付上层的应用进程。</a:t>
            </a:r>
          </a:p>
          <a:p>
            <a:r>
              <a:rPr lang="zh-CN" altLang="en-US" dirty="0">
                <a:solidFill>
                  <a:srgbClr val="FF0000"/>
                </a:solidFill>
              </a:rPr>
              <a:t>第三，</a:t>
            </a:r>
            <a:r>
              <a:rPr lang="en-US" altLang="zh-CN" dirty="0"/>
              <a:t>TCP </a:t>
            </a:r>
            <a:r>
              <a:rPr lang="zh-CN" altLang="en-US" dirty="0"/>
              <a:t>要求接收方必须有</a:t>
            </a:r>
            <a:r>
              <a:rPr lang="zh-CN" altLang="en-US" dirty="0">
                <a:solidFill>
                  <a:srgbClr val="FF0000"/>
                </a:solidFill>
              </a:rPr>
              <a:t>累积确认</a:t>
            </a:r>
            <a:r>
              <a:rPr lang="zh-CN" altLang="en-US" dirty="0"/>
              <a:t>的功能，这样可以减小传输开销。  </a:t>
            </a:r>
          </a:p>
        </p:txBody>
      </p:sp>
    </p:spTree>
    <p:extLst>
      <p:ext uri="{BB962C8B-B14F-4D97-AF65-F5344CB8AC3E}">
        <p14:creationId xmlns:p14="http://schemas.microsoft.com/office/powerpoint/2010/main" val="384214194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82" name="Rectangle 2"/>
          <p:cNvSpPr>
            <a:spLocks noGrp="1" noChangeArrowheads="1"/>
          </p:cNvSpPr>
          <p:nvPr>
            <p:ph type="title"/>
          </p:nvPr>
        </p:nvSpPr>
        <p:spPr/>
        <p:txBody>
          <a:bodyPr/>
          <a:lstStyle/>
          <a:p>
            <a:pPr algn="ctr"/>
            <a:r>
              <a:rPr lang="zh-CN" altLang="en-US" dirty="0"/>
              <a:t>接收方发送确认</a:t>
            </a:r>
          </a:p>
        </p:txBody>
      </p:sp>
      <p:sp>
        <p:nvSpPr>
          <p:cNvPr id="737283" name="Rectangle 3"/>
          <p:cNvSpPr>
            <a:spLocks noGrp="1" noChangeArrowheads="1"/>
          </p:cNvSpPr>
          <p:nvPr>
            <p:ph idx="1"/>
          </p:nvPr>
        </p:nvSpPr>
        <p:spPr/>
        <p:txBody>
          <a:bodyPr/>
          <a:lstStyle/>
          <a:p>
            <a:r>
              <a:rPr lang="zh-CN" altLang="zh-CN" dirty="0"/>
              <a:t>接收方可以在</a:t>
            </a:r>
            <a:r>
              <a:rPr lang="zh-CN" altLang="zh-CN" dirty="0">
                <a:solidFill>
                  <a:srgbClr val="FF0000"/>
                </a:solidFill>
              </a:rPr>
              <a:t>合适的时候发送确认</a:t>
            </a:r>
            <a:r>
              <a:rPr lang="zh-CN" altLang="zh-CN" dirty="0"/>
              <a:t>，也可以在自己有数据要发送时把确认信息</a:t>
            </a:r>
            <a:r>
              <a:rPr lang="zh-CN" altLang="zh-CN" dirty="0">
                <a:solidFill>
                  <a:srgbClr val="FF0000"/>
                </a:solidFill>
              </a:rPr>
              <a:t>顺便捎带上</a:t>
            </a:r>
            <a:r>
              <a:rPr lang="zh-CN" altLang="zh-CN" dirty="0"/>
              <a:t>。</a:t>
            </a:r>
            <a:endParaRPr lang="en-US" altLang="zh-CN" dirty="0"/>
          </a:p>
          <a:p>
            <a:r>
              <a:rPr lang="zh-CN" altLang="zh-CN" dirty="0"/>
              <a:t>但请注意两点</a:t>
            </a:r>
            <a:r>
              <a:rPr lang="zh-CN" altLang="en-US" dirty="0"/>
              <a:t>：</a:t>
            </a:r>
            <a:endParaRPr lang="en-US" altLang="zh-CN" dirty="0"/>
          </a:p>
          <a:p>
            <a:pPr lvl="1"/>
            <a:r>
              <a:rPr lang="zh-CN" altLang="zh-CN" dirty="0"/>
              <a:t>第一，接收方不应过分推迟发送确认，否则会导致发送方不必要的重传，这反而浪费了网络的资源。。 </a:t>
            </a:r>
            <a:endParaRPr lang="en-US" altLang="zh-CN" dirty="0"/>
          </a:p>
          <a:p>
            <a:pPr lvl="1"/>
            <a:r>
              <a:rPr lang="zh-CN" altLang="zh-CN" dirty="0"/>
              <a:t>第二，捎带确认实际上并不经常发生，因为大多数应用程序很少同时在两个方向上发送数据。</a:t>
            </a:r>
          </a:p>
        </p:txBody>
      </p:sp>
    </p:spTree>
    <p:extLst>
      <p:ext uri="{BB962C8B-B14F-4D97-AF65-F5344CB8AC3E}">
        <p14:creationId xmlns:p14="http://schemas.microsoft.com/office/powerpoint/2010/main" val="228343247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5714" name="Rectangle 2"/>
          <p:cNvSpPr>
            <a:spLocks noGrp="1" noChangeArrowheads="1"/>
          </p:cNvSpPr>
          <p:nvPr>
            <p:ph type="title"/>
          </p:nvPr>
        </p:nvSpPr>
        <p:spPr/>
        <p:txBody>
          <a:bodyPr>
            <a:normAutofit fontScale="90000"/>
          </a:bodyPr>
          <a:lstStyle/>
          <a:p>
            <a:r>
              <a:rPr lang="zh-CN" altLang="zh-CN" dirty="0"/>
              <a:t>可靠传输的实现</a:t>
            </a:r>
            <a:r>
              <a:rPr lang="zh-CN" altLang="en-US" dirty="0"/>
              <a:t>：超时重传时间的选择</a:t>
            </a:r>
          </a:p>
        </p:txBody>
      </p:sp>
      <p:sp>
        <p:nvSpPr>
          <p:cNvPr id="755715" name="Rectangle 3"/>
          <p:cNvSpPr>
            <a:spLocks noGrp="1" noChangeArrowheads="1"/>
          </p:cNvSpPr>
          <p:nvPr>
            <p:ph idx="1"/>
          </p:nvPr>
        </p:nvSpPr>
        <p:spPr/>
        <p:txBody>
          <a:bodyPr/>
          <a:lstStyle/>
          <a:p>
            <a:r>
              <a:rPr lang="zh-CN" altLang="en-US" dirty="0"/>
              <a:t>重传机制是 </a:t>
            </a:r>
            <a:r>
              <a:rPr lang="en-US" altLang="zh-CN" dirty="0"/>
              <a:t>TCP </a:t>
            </a:r>
            <a:r>
              <a:rPr lang="zh-CN" altLang="en-US" dirty="0"/>
              <a:t>中最重要和最复杂的问题之一。</a:t>
            </a:r>
          </a:p>
          <a:p>
            <a:r>
              <a:rPr lang="en-US" altLang="zh-CN" dirty="0"/>
              <a:t>TCP </a:t>
            </a:r>
            <a:r>
              <a:rPr lang="zh-CN" altLang="en-US" dirty="0"/>
              <a:t>每发送一个报文段，就对这个报文段设置一次计时器。</a:t>
            </a:r>
            <a:endParaRPr lang="en-US" altLang="zh-CN" dirty="0"/>
          </a:p>
          <a:p>
            <a:r>
              <a:rPr lang="zh-CN" altLang="en-US" dirty="0"/>
              <a:t>只要计时器设置的重传时间到但还没有收到确认，就要重传这一报文段。</a:t>
            </a:r>
            <a:endParaRPr lang="en-US" altLang="zh-CN" dirty="0"/>
          </a:p>
          <a:p>
            <a:r>
              <a:rPr lang="zh-CN" altLang="zh-CN" dirty="0">
                <a:solidFill>
                  <a:srgbClr val="FF0000"/>
                </a:solidFill>
              </a:rPr>
              <a:t>重传时间的选择是</a:t>
            </a:r>
            <a:r>
              <a:rPr lang="en-US" altLang="zh-CN" dirty="0">
                <a:solidFill>
                  <a:srgbClr val="FF0000"/>
                </a:solidFill>
              </a:rPr>
              <a:t> TCP </a:t>
            </a:r>
            <a:r>
              <a:rPr lang="zh-CN" altLang="zh-CN" dirty="0">
                <a:solidFill>
                  <a:srgbClr val="FF0000"/>
                </a:solidFill>
              </a:rPr>
              <a:t>最复杂的问题之一</a:t>
            </a:r>
            <a:r>
              <a:rPr lang="zh-CN" altLang="en-US" dirty="0">
                <a:solidFill>
                  <a:srgbClr val="FF0000"/>
                </a:solidFill>
              </a:rPr>
              <a:t>。</a:t>
            </a:r>
          </a:p>
        </p:txBody>
      </p:sp>
    </p:spTree>
    <p:extLst>
      <p:ext uri="{BB962C8B-B14F-4D97-AF65-F5344CB8AC3E}">
        <p14:creationId xmlns:p14="http://schemas.microsoft.com/office/powerpoint/2010/main" val="193788652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62" name="Rectangle 2"/>
          <p:cNvSpPr>
            <a:spLocks noGrp="1" noChangeArrowheads="1"/>
          </p:cNvSpPr>
          <p:nvPr>
            <p:ph type="title"/>
          </p:nvPr>
        </p:nvSpPr>
        <p:spPr/>
        <p:txBody>
          <a:bodyPr/>
          <a:lstStyle/>
          <a:p>
            <a:pPr algn="ctr"/>
            <a:r>
              <a:rPr lang="zh-CN" altLang="en-US"/>
              <a:t>往返时延的方差很大</a:t>
            </a:r>
          </a:p>
        </p:txBody>
      </p:sp>
      <p:sp>
        <p:nvSpPr>
          <p:cNvPr id="757764" name="Line 4"/>
          <p:cNvSpPr>
            <a:spLocks noChangeShapeType="1"/>
          </p:cNvSpPr>
          <p:nvPr/>
        </p:nvSpPr>
        <p:spPr bwMode="auto">
          <a:xfrm>
            <a:off x="779976" y="5436244"/>
            <a:ext cx="8659152" cy="0"/>
          </a:xfrm>
          <a:prstGeom prst="line">
            <a:avLst/>
          </a:prstGeom>
          <a:noFill/>
          <a:ln w="28575">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757765" name="Line 5"/>
          <p:cNvSpPr>
            <a:spLocks noChangeShapeType="1"/>
          </p:cNvSpPr>
          <p:nvPr/>
        </p:nvSpPr>
        <p:spPr bwMode="auto">
          <a:xfrm rot="5400000" flipH="1">
            <a:off x="-515556" y="4140712"/>
            <a:ext cx="2587625" cy="3440"/>
          </a:xfrm>
          <a:prstGeom prst="line">
            <a:avLst/>
          </a:prstGeom>
          <a:noFill/>
          <a:ln w="28575">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757766" name="Freeform 6"/>
          <p:cNvSpPr>
            <a:spLocks/>
          </p:cNvSpPr>
          <p:nvPr/>
        </p:nvSpPr>
        <p:spPr bwMode="auto">
          <a:xfrm>
            <a:off x="2953793" y="2818458"/>
            <a:ext cx="2005277" cy="2617787"/>
          </a:xfrm>
          <a:custGeom>
            <a:avLst/>
            <a:gdLst>
              <a:gd name="T0" fmla="*/ 0 w 360"/>
              <a:gd name="T1" fmla="*/ 1012 h 1012"/>
              <a:gd name="T2" fmla="*/ 84 w 360"/>
              <a:gd name="T3" fmla="*/ 982 h 1012"/>
              <a:gd name="T4" fmla="*/ 117 w 360"/>
              <a:gd name="T5" fmla="*/ 934 h 1012"/>
              <a:gd name="T6" fmla="*/ 135 w 360"/>
              <a:gd name="T7" fmla="*/ 844 h 1012"/>
              <a:gd name="T8" fmla="*/ 159 w 360"/>
              <a:gd name="T9" fmla="*/ 364 h 1012"/>
              <a:gd name="T10" fmla="*/ 171 w 360"/>
              <a:gd name="T11" fmla="*/ 109 h 1012"/>
              <a:gd name="T12" fmla="*/ 183 w 360"/>
              <a:gd name="T13" fmla="*/ 16 h 1012"/>
              <a:gd name="T14" fmla="*/ 201 w 360"/>
              <a:gd name="T15" fmla="*/ 16 h 1012"/>
              <a:gd name="T16" fmla="*/ 207 w 360"/>
              <a:gd name="T17" fmla="*/ 112 h 1012"/>
              <a:gd name="T18" fmla="*/ 216 w 360"/>
              <a:gd name="T19" fmla="*/ 367 h 1012"/>
              <a:gd name="T20" fmla="*/ 231 w 360"/>
              <a:gd name="T21" fmla="*/ 847 h 1012"/>
              <a:gd name="T22" fmla="*/ 255 w 360"/>
              <a:gd name="T23" fmla="*/ 961 h 1012"/>
              <a:gd name="T24" fmla="*/ 360 w 360"/>
              <a:gd name="T25" fmla="*/ 1009 h 10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60" h="1012">
                <a:moveTo>
                  <a:pt x="0" y="1012"/>
                </a:moveTo>
                <a:cubicBezTo>
                  <a:pt x="14" y="1007"/>
                  <a:pt x="65" y="995"/>
                  <a:pt x="84" y="982"/>
                </a:cubicBezTo>
                <a:cubicBezTo>
                  <a:pt x="110" y="970"/>
                  <a:pt x="105" y="960"/>
                  <a:pt x="117" y="934"/>
                </a:cubicBezTo>
                <a:cubicBezTo>
                  <a:pt x="129" y="908"/>
                  <a:pt x="128" y="939"/>
                  <a:pt x="135" y="844"/>
                </a:cubicBezTo>
                <a:cubicBezTo>
                  <a:pt x="142" y="749"/>
                  <a:pt x="153" y="486"/>
                  <a:pt x="159" y="364"/>
                </a:cubicBezTo>
                <a:cubicBezTo>
                  <a:pt x="165" y="242"/>
                  <a:pt x="167" y="167"/>
                  <a:pt x="171" y="109"/>
                </a:cubicBezTo>
                <a:cubicBezTo>
                  <a:pt x="175" y="51"/>
                  <a:pt x="178" y="31"/>
                  <a:pt x="183" y="16"/>
                </a:cubicBezTo>
                <a:cubicBezTo>
                  <a:pt x="188" y="1"/>
                  <a:pt x="197" y="0"/>
                  <a:pt x="201" y="16"/>
                </a:cubicBezTo>
                <a:cubicBezTo>
                  <a:pt x="205" y="32"/>
                  <a:pt x="205" y="54"/>
                  <a:pt x="207" y="112"/>
                </a:cubicBezTo>
                <a:cubicBezTo>
                  <a:pt x="209" y="170"/>
                  <a:pt x="212" y="245"/>
                  <a:pt x="216" y="367"/>
                </a:cubicBezTo>
                <a:cubicBezTo>
                  <a:pt x="220" y="489"/>
                  <a:pt x="225" y="748"/>
                  <a:pt x="231" y="847"/>
                </a:cubicBezTo>
                <a:cubicBezTo>
                  <a:pt x="237" y="946"/>
                  <a:pt x="234" y="934"/>
                  <a:pt x="255" y="961"/>
                </a:cubicBezTo>
                <a:cubicBezTo>
                  <a:pt x="281" y="988"/>
                  <a:pt x="339" y="998"/>
                  <a:pt x="360" y="1009"/>
                </a:cubicBezTo>
              </a:path>
            </a:pathLst>
          </a:custGeom>
          <a:noFill/>
          <a:ln w="38100" cmpd="sng">
            <a:solidFill>
              <a:srgbClr val="C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757767" name="Freeform 7"/>
          <p:cNvSpPr>
            <a:spLocks/>
          </p:cNvSpPr>
          <p:nvPr/>
        </p:nvSpPr>
        <p:spPr bwMode="auto">
          <a:xfrm>
            <a:off x="2496328" y="4999682"/>
            <a:ext cx="5897166" cy="436562"/>
          </a:xfrm>
          <a:custGeom>
            <a:avLst/>
            <a:gdLst>
              <a:gd name="T0" fmla="*/ 0 w 1608"/>
              <a:gd name="T1" fmla="*/ 160 h 160"/>
              <a:gd name="T2" fmla="*/ 120 w 1608"/>
              <a:gd name="T3" fmla="*/ 94 h 160"/>
              <a:gd name="T4" fmla="*/ 264 w 1608"/>
              <a:gd name="T5" fmla="*/ 13 h 160"/>
              <a:gd name="T6" fmla="*/ 441 w 1608"/>
              <a:gd name="T7" fmla="*/ 13 h 160"/>
              <a:gd name="T8" fmla="*/ 708 w 1608"/>
              <a:gd name="T9" fmla="*/ 70 h 160"/>
              <a:gd name="T10" fmla="*/ 858 w 1608"/>
              <a:gd name="T11" fmla="*/ 112 h 160"/>
              <a:gd name="T12" fmla="*/ 1041 w 1608"/>
              <a:gd name="T13" fmla="*/ 133 h 160"/>
              <a:gd name="T14" fmla="*/ 1230 w 1608"/>
              <a:gd name="T15" fmla="*/ 145 h 160"/>
              <a:gd name="T16" fmla="*/ 1608 w 1608"/>
              <a:gd name="T17" fmla="*/ 160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08" h="160">
                <a:moveTo>
                  <a:pt x="0" y="160"/>
                </a:moveTo>
                <a:cubicBezTo>
                  <a:pt x="20" y="149"/>
                  <a:pt x="76" y="118"/>
                  <a:pt x="120" y="94"/>
                </a:cubicBezTo>
                <a:cubicBezTo>
                  <a:pt x="164" y="70"/>
                  <a:pt x="211" y="26"/>
                  <a:pt x="264" y="13"/>
                </a:cubicBezTo>
                <a:cubicBezTo>
                  <a:pt x="317" y="0"/>
                  <a:pt x="367" y="4"/>
                  <a:pt x="441" y="13"/>
                </a:cubicBezTo>
                <a:cubicBezTo>
                  <a:pt x="515" y="22"/>
                  <a:pt x="639" y="54"/>
                  <a:pt x="708" y="70"/>
                </a:cubicBezTo>
                <a:cubicBezTo>
                  <a:pt x="777" y="86"/>
                  <a:pt x="803" y="102"/>
                  <a:pt x="858" y="112"/>
                </a:cubicBezTo>
                <a:cubicBezTo>
                  <a:pt x="913" y="122"/>
                  <a:pt x="979" y="128"/>
                  <a:pt x="1041" y="133"/>
                </a:cubicBezTo>
                <a:cubicBezTo>
                  <a:pt x="1103" y="138"/>
                  <a:pt x="1136" y="141"/>
                  <a:pt x="1230" y="145"/>
                </a:cubicBezTo>
                <a:cubicBezTo>
                  <a:pt x="1324" y="149"/>
                  <a:pt x="1529" y="157"/>
                  <a:pt x="1608" y="160"/>
                </a:cubicBezTo>
              </a:path>
            </a:pathLst>
          </a:custGeom>
          <a:noFill/>
          <a:ln w="57150" cmpd="sng">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757768" name="Line 8"/>
          <p:cNvSpPr>
            <a:spLocks noChangeShapeType="1"/>
          </p:cNvSpPr>
          <p:nvPr/>
        </p:nvSpPr>
        <p:spPr bwMode="auto">
          <a:xfrm>
            <a:off x="4014905" y="2708920"/>
            <a:ext cx="0" cy="2727325"/>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757769" name="Line 9"/>
          <p:cNvSpPr>
            <a:spLocks noChangeShapeType="1"/>
          </p:cNvSpPr>
          <p:nvPr/>
        </p:nvSpPr>
        <p:spPr bwMode="auto">
          <a:xfrm>
            <a:off x="4959070" y="3255020"/>
            <a:ext cx="0" cy="2181225"/>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757770" name="Line 10"/>
          <p:cNvSpPr>
            <a:spLocks noChangeShapeType="1"/>
          </p:cNvSpPr>
          <p:nvPr/>
        </p:nvSpPr>
        <p:spPr bwMode="auto">
          <a:xfrm>
            <a:off x="7946348" y="3255020"/>
            <a:ext cx="0" cy="2181225"/>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757771" name="Text Box 11"/>
          <p:cNvSpPr txBox="1">
            <a:spLocks noChangeArrowheads="1"/>
          </p:cNvSpPr>
          <p:nvPr/>
        </p:nvSpPr>
        <p:spPr bwMode="auto">
          <a:xfrm>
            <a:off x="8586111" y="4945708"/>
            <a:ext cx="69762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99"/>
                </a:solidFill>
                <a:latin typeface="+mn-lt"/>
                <a:ea typeface="黑体" pitchFamily="2" charset="-122"/>
              </a:rPr>
              <a:t>时间</a:t>
            </a:r>
          </a:p>
        </p:txBody>
      </p:sp>
      <p:sp>
        <p:nvSpPr>
          <p:cNvPr id="757772" name="Line 12"/>
          <p:cNvSpPr>
            <a:spLocks noChangeShapeType="1"/>
          </p:cNvSpPr>
          <p:nvPr/>
        </p:nvSpPr>
        <p:spPr bwMode="auto">
          <a:xfrm>
            <a:off x="2795571" y="4418657"/>
            <a:ext cx="969963" cy="361950"/>
          </a:xfrm>
          <a:prstGeom prst="line">
            <a:avLst/>
          </a:prstGeom>
          <a:noFill/>
          <a:ln w="28575">
            <a:solidFill>
              <a:srgbClr val="333399"/>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757773" name="Text Box 13"/>
          <p:cNvSpPr txBox="1">
            <a:spLocks noChangeArrowheads="1"/>
          </p:cNvSpPr>
          <p:nvPr/>
        </p:nvSpPr>
        <p:spPr bwMode="auto">
          <a:xfrm>
            <a:off x="1715543" y="4010670"/>
            <a:ext cx="146706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99"/>
                </a:solidFill>
                <a:latin typeface="+mn-lt"/>
                <a:ea typeface="黑体" pitchFamily="2" charset="-122"/>
              </a:rPr>
              <a:t>数据链路层</a:t>
            </a:r>
          </a:p>
        </p:txBody>
      </p:sp>
      <p:grpSp>
        <p:nvGrpSpPr>
          <p:cNvPr id="757774" name="Group 14"/>
          <p:cNvGrpSpPr>
            <a:grpSpLocks/>
          </p:cNvGrpSpPr>
          <p:nvPr/>
        </p:nvGrpSpPr>
        <p:grpSpPr bwMode="auto">
          <a:xfrm>
            <a:off x="5082897" y="4515495"/>
            <a:ext cx="1332839" cy="720725"/>
            <a:chOff x="2978" y="3249"/>
            <a:chExt cx="775" cy="454"/>
          </a:xfrm>
        </p:grpSpPr>
        <p:sp>
          <p:nvSpPr>
            <p:cNvPr id="757775" name="Text Box 15"/>
            <p:cNvSpPr txBox="1">
              <a:spLocks noChangeArrowheads="1"/>
            </p:cNvSpPr>
            <p:nvPr/>
          </p:nvSpPr>
          <p:spPr bwMode="auto">
            <a:xfrm>
              <a:off x="3198" y="3249"/>
              <a:ext cx="555"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99"/>
                  </a:solidFill>
                  <a:latin typeface="+mn-lt"/>
                  <a:ea typeface="黑体" pitchFamily="2" charset="-122"/>
                </a:rPr>
                <a:t>运输层</a:t>
              </a:r>
            </a:p>
          </p:txBody>
        </p:sp>
        <p:sp>
          <p:nvSpPr>
            <p:cNvPr id="757776" name="Line 16"/>
            <p:cNvSpPr>
              <a:spLocks noChangeShapeType="1"/>
            </p:cNvSpPr>
            <p:nvPr/>
          </p:nvSpPr>
          <p:spPr bwMode="auto">
            <a:xfrm flipH="1">
              <a:off x="2978" y="3486"/>
              <a:ext cx="276" cy="217"/>
            </a:xfrm>
            <a:prstGeom prst="line">
              <a:avLst/>
            </a:prstGeom>
            <a:noFill/>
            <a:ln w="28575">
              <a:solidFill>
                <a:srgbClr val="333399"/>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grpSp>
      <p:sp>
        <p:nvSpPr>
          <p:cNvPr id="757777" name="Text Box 17"/>
          <p:cNvSpPr txBox="1">
            <a:spLocks noChangeArrowheads="1"/>
          </p:cNvSpPr>
          <p:nvPr/>
        </p:nvSpPr>
        <p:spPr bwMode="auto">
          <a:xfrm>
            <a:off x="3739738" y="5412433"/>
            <a:ext cx="43633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i="1">
                <a:solidFill>
                  <a:srgbClr val="000099"/>
                </a:solidFill>
                <a:latin typeface="+mn-lt"/>
                <a:ea typeface="黑体" pitchFamily="2" charset="-122"/>
              </a:rPr>
              <a:t>T</a:t>
            </a:r>
            <a:r>
              <a:rPr kumimoji="1" lang="en-US" altLang="zh-CN" sz="2000" b="1" baseline="-25000">
                <a:solidFill>
                  <a:srgbClr val="000099"/>
                </a:solidFill>
                <a:latin typeface="+mn-lt"/>
                <a:ea typeface="黑体" pitchFamily="2" charset="-122"/>
              </a:rPr>
              <a:t>1</a:t>
            </a:r>
            <a:endParaRPr kumimoji="1" lang="en-US" altLang="zh-CN" sz="2000" b="1">
              <a:solidFill>
                <a:srgbClr val="000099"/>
              </a:solidFill>
              <a:latin typeface="+mn-lt"/>
              <a:ea typeface="黑体" pitchFamily="2" charset="-122"/>
            </a:endParaRPr>
          </a:p>
        </p:txBody>
      </p:sp>
      <p:sp>
        <p:nvSpPr>
          <p:cNvPr id="757778" name="Text Box 18"/>
          <p:cNvSpPr txBox="1">
            <a:spLocks noChangeArrowheads="1"/>
          </p:cNvSpPr>
          <p:nvPr/>
        </p:nvSpPr>
        <p:spPr bwMode="auto">
          <a:xfrm>
            <a:off x="4666706" y="5412433"/>
            <a:ext cx="43633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i="1">
                <a:solidFill>
                  <a:srgbClr val="000099"/>
                </a:solidFill>
                <a:latin typeface="+mn-lt"/>
                <a:ea typeface="黑体" pitchFamily="2" charset="-122"/>
              </a:rPr>
              <a:t>T</a:t>
            </a:r>
            <a:r>
              <a:rPr kumimoji="1" lang="en-US" altLang="zh-CN" sz="2000" b="1" baseline="-25000">
                <a:solidFill>
                  <a:srgbClr val="000099"/>
                </a:solidFill>
                <a:latin typeface="+mn-lt"/>
                <a:ea typeface="黑体" pitchFamily="2" charset="-122"/>
              </a:rPr>
              <a:t>2</a:t>
            </a:r>
            <a:endParaRPr kumimoji="1" lang="en-US" altLang="zh-CN" sz="2000" b="1">
              <a:solidFill>
                <a:srgbClr val="000099"/>
              </a:solidFill>
              <a:latin typeface="+mn-lt"/>
              <a:ea typeface="黑体" pitchFamily="2" charset="-122"/>
            </a:endParaRPr>
          </a:p>
        </p:txBody>
      </p:sp>
      <p:sp>
        <p:nvSpPr>
          <p:cNvPr id="757779" name="Text Box 19"/>
          <p:cNvSpPr txBox="1">
            <a:spLocks noChangeArrowheads="1"/>
          </p:cNvSpPr>
          <p:nvPr/>
        </p:nvSpPr>
        <p:spPr bwMode="auto">
          <a:xfrm>
            <a:off x="7653984" y="5412432"/>
            <a:ext cx="43633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i="1">
                <a:solidFill>
                  <a:srgbClr val="000099"/>
                </a:solidFill>
                <a:latin typeface="+mn-lt"/>
                <a:ea typeface="黑体" pitchFamily="2" charset="-122"/>
              </a:rPr>
              <a:t>T</a:t>
            </a:r>
            <a:r>
              <a:rPr kumimoji="1" lang="en-US" altLang="zh-CN" sz="2000" b="1" baseline="-25000">
                <a:solidFill>
                  <a:srgbClr val="000099"/>
                </a:solidFill>
                <a:latin typeface="+mn-lt"/>
                <a:ea typeface="黑体" pitchFamily="2" charset="-122"/>
              </a:rPr>
              <a:t>3</a:t>
            </a:r>
            <a:endParaRPr kumimoji="1" lang="en-US" altLang="zh-CN" sz="2000" b="1">
              <a:solidFill>
                <a:srgbClr val="000099"/>
              </a:solidFill>
              <a:latin typeface="+mn-lt"/>
              <a:ea typeface="黑体" pitchFamily="2" charset="-122"/>
            </a:endParaRPr>
          </a:p>
        </p:txBody>
      </p:sp>
      <p:sp>
        <p:nvSpPr>
          <p:cNvPr id="757780" name="Text Box 20"/>
          <p:cNvSpPr txBox="1">
            <a:spLocks noChangeArrowheads="1"/>
          </p:cNvSpPr>
          <p:nvPr/>
        </p:nvSpPr>
        <p:spPr bwMode="auto">
          <a:xfrm>
            <a:off x="857368" y="2713682"/>
            <a:ext cx="1467068"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99"/>
                </a:solidFill>
                <a:latin typeface="+mn-lt"/>
                <a:ea typeface="黑体" pitchFamily="2" charset="-122"/>
              </a:rPr>
              <a:t>往返时间的</a:t>
            </a:r>
          </a:p>
          <a:p>
            <a:r>
              <a:rPr kumimoji="1" lang="zh-CN" altLang="en-US" sz="2000" b="1">
                <a:solidFill>
                  <a:srgbClr val="000099"/>
                </a:solidFill>
                <a:latin typeface="+mn-lt"/>
                <a:ea typeface="黑体" pitchFamily="2" charset="-122"/>
              </a:rPr>
              <a:t>概率分布</a:t>
            </a:r>
          </a:p>
        </p:txBody>
      </p:sp>
      <p:sp>
        <p:nvSpPr>
          <p:cNvPr id="2" name="矩形 1"/>
          <p:cNvSpPr/>
          <p:nvPr/>
        </p:nvSpPr>
        <p:spPr>
          <a:xfrm>
            <a:off x="857368" y="1124744"/>
            <a:ext cx="8426370" cy="1384995"/>
          </a:xfrm>
          <a:prstGeom prst="rect">
            <a:avLst/>
          </a:prstGeom>
          <a:solidFill>
            <a:srgbClr val="FFFF66"/>
          </a:solidFill>
          <a:ln>
            <a:solidFill>
              <a:srgbClr val="000099"/>
            </a:solidFill>
          </a:ln>
        </p:spPr>
        <p:txBody>
          <a:bodyPr wrap="square">
            <a:spAutoFit/>
          </a:bodyPr>
          <a:lstStyle/>
          <a:p>
            <a:r>
              <a:rPr lang="zh-CN" altLang="en-US" sz="2800" b="1" dirty="0">
                <a:solidFill>
                  <a:srgbClr val="000099"/>
                </a:solidFill>
                <a:latin typeface="+mn-lt"/>
                <a:ea typeface="黑体" pitchFamily="2" charset="-122"/>
              </a:rPr>
              <a:t>由于 </a:t>
            </a:r>
            <a:r>
              <a:rPr lang="en-US" altLang="zh-CN" sz="2800" b="1" dirty="0">
                <a:solidFill>
                  <a:srgbClr val="000099"/>
                </a:solidFill>
                <a:latin typeface="+mn-lt"/>
                <a:ea typeface="黑体" pitchFamily="2" charset="-122"/>
              </a:rPr>
              <a:t>TCP </a:t>
            </a:r>
            <a:r>
              <a:rPr lang="zh-CN" altLang="en-US" sz="2800" b="1" dirty="0">
                <a:solidFill>
                  <a:srgbClr val="000099"/>
                </a:solidFill>
                <a:latin typeface="+mn-lt"/>
                <a:ea typeface="黑体" pitchFamily="2" charset="-122"/>
              </a:rPr>
              <a:t>的下层是一个互联网环境，</a:t>
            </a:r>
            <a:r>
              <a:rPr lang="en-US" altLang="zh-CN" sz="2800" b="1" dirty="0">
                <a:solidFill>
                  <a:srgbClr val="000099"/>
                </a:solidFill>
                <a:latin typeface="+mn-lt"/>
                <a:ea typeface="黑体" pitchFamily="2" charset="-122"/>
              </a:rPr>
              <a:t>IP </a:t>
            </a:r>
            <a:r>
              <a:rPr lang="zh-CN" altLang="en-US" sz="2800" b="1" dirty="0">
                <a:solidFill>
                  <a:srgbClr val="000099"/>
                </a:solidFill>
                <a:latin typeface="+mn-lt"/>
                <a:ea typeface="黑体" pitchFamily="2" charset="-122"/>
              </a:rPr>
              <a:t>数据报所选择的路由变化很大。因而运输层的往返时间 </a:t>
            </a:r>
            <a:r>
              <a:rPr lang="en-US" altLang="zh-CN" sz="2800" b="1" dirty="0">
                <a:solidFill>
                  <a:srgbClr val="000099"/>
                </a:solidFill>
                <a:latin typeface="+mn-lt"/>
                <a:ea typeface="黑体" pitchFamily="2" charset="-122"/>
              </a:rPr>
              <a:t>(RTT) </a:t>
            </a:r>
            <a:r>
              <a:rPr lang="zh-CN" altLang="en-US" sz="2800" b="1" dirty="0">
                <a:solidFill>
                  <a:srgbClr val="000099"/>
                </a:solidFill>
                <a:latin typeface="+mn-lt"/>
                <a:ea typeface="黑体" pitchFamily="2" charset="-122"/>
              </a:rPr>
              <a:t>的方差也很大。</a:t>
            </a:r>
          </a:p>
        </p:txBody>
      </p:sp>
    </p:spTree>
    <p:extLst>
      <p:ext uri="{BB962C8B-B14F-4D97-AF65-F5344CB8AC3E}">
        <p14:creationId xmlns:p14="http://schemas.microsoft.com/office/powerpoint/2010/main" val="385666329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62" name="Rectangle 2"/>
          <p:cNvSpPr>
            <a:spLocks noGrp="1" noChangeArrowheads="1"/>
          </p:cNvSpPr>
          <p:nvPr>
            <p:ph type="title"/>
          </p:nvPr>
        </p:nvSpPr>
        <p:spPr/>
        <p:txBody>
          <a:bodyPr/>
          <a:lstStyle/>
          <a:p>
            <a:pPr algn="ctr"/>
            <a:r>
              <a:rPr lang="en-US" altLang="zh-CN" dirty="0"/>
              <a:t>TCP </a:t>
            </a:r>
            <a:r>
              <a:rPr lang="zh-CN" altLang="zh-CN" dirty="0"/>
              <a:t>超时重传时间设置</a:t>
            </a:r>
            <a:endParaRPr lang="zh-CN" altLang="en-US" dirty="0"/>
          </a:p>
        </p:txBody>
      </p:sp>
      <p:sp>
        <p:nvSpPr>
          <p:cNvPr id="3" name="内容占位符 2"/>
          <p:cNvSpPr>
            <a:spLocks noGrp="1"/>
          </p:cNvSpPr>
          <p:nvPr>
            <p:ph idx="1"/>
          </p:nvPr>
        </p:nvSpPr>
        <p:spPr/>
        <p:txBody>
          <a:bodyPr/>
          <a:lstStyle/>
          <a:p>
            <a:r>
              <a:rPr lang="zh-CN" altLang="zh-CN" dirty="0"/>
              <a:t>如果把超时重传时间设置得太短，就会引起很多报文段的不必要的重传，使网络负荷增大。</a:t>
            </a:r>
            <a:endParaRPr lang="en-US" altLang="zh-CN" dirty="0"/>
          </a:p>
          <a:p>
            <a:r>
              <a:rPr lang="zh-CN" altLang="zh-CN" dirty="0"/>
              <a:t>但若把超时重传时间设置得过长，则又使网络的空闲时间增大，降低了传输效率。</a:t>
            </a:r>
            <a:endParaRPr lang="en-US" altLang="zh-CN" dirty="0"/>
          </a:p>
          <a:p>
            <a:r>
              <a:rPr lang="en-US" altLang="zh-CN" dirty="0">
                <a:solidFill>
                  <a:srgbClr val="FF0000"/>
                </a:solidFill>
              </a:rPr>
              <a:t>TCP </a:t>
            </a:r>
            <a:r>
              <a:rPr lang="zh-CN" altLang="zh-CN" dirty="0">
                <a:solidFill>
                  <a:srgbClr val="FF0000"/>
                </a:solidFill>
              </a:rPr>
              <a:t>采用了一种自适应算法，</a:t>
            </a:r>
            <a:r>
              <a:rPr lang="zh-CN" altLang="zh-CN" dirty="0"/>
              <a:t>它记录一个报文段发出的时间，以及收到相应的确认的时间。这两个时间之差就是报文段的往返时间</a:t>
            </a:r>
            <a:r>
              <a:rPr lang="en-US" altLang="zh-CN" dirty="0"/>
              <a:t> RTT</a:t>
            </a:r>
            <a:r>
              <a:rPr lang="zh-CN" altLang="zh-CN" dirty="0"/>
              <a:t>。</a:t>
            </a:r>
          </a:p>
          <a:p>
            <a:endParaRPr lang="zh-CN" altLang="en-US" dirty="0"/>
          </a:p>
        </p:txBody>
      </p:sp>
    </p:spTree>
    <p:extLst>
      <p:ext uri="{BB962C8B-B14F-4D97-AF65-F5344CB8AC3E}">
        <p14:creationId xmlns:p14="http://schemas.microsoft.com/office/powerpoint/2010/main" val="400841054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22" name="Rectangle 2"/>
          <p:cNvSpPr>
            <a:spLocks noGrp="1" noChangeArrowheads="1"/>
          </p:cNvSpPr>
          <p:nvPr>
            <p:ph type="title"/>
          </p:nvPr>
        </p:nvSpPr>
        <p:spPr/>
        <p:txBody>
          <a:bodyPr/>
          <a:lstStyle/>
          <a:p>
            <a:pPr algn="ctr"/>
            <a:r>
              <a:rPr lang="zh-CN" altLang="en-US"/>
              <a:t>加权平均往返时间</a:t>
            </a:r>
          </a:p>
        </p:txBody>
      </p:sp>
      <p:sp>
        <p:nvSpPr>
          <p:cNvPr id="747523" name="Rectangle 3"/>
          <p:cNvSpPr>
            <a:spLocks noGrp="1" noChangeArrowheads="1"/>
          </p:cNvSpPr>
          <p:nvPr>
            <p:ph idx="1"/>
          </p:nvPr>
        </p:nvSpPr>
        <p:spPr/>
        <p:txBody>
          <a:bodyPr/>
          <a:lstStyle/>
          <a:p>
            <a:r>
              <a:rPr lang="en-US" altLang="zh-CN" sz="2400" dirty="0"/>
              <a:t>TCP </a:t>
            </a:r>
            <a:r>
              <a:rPr lang="zh-CN" altLang="en-US" sz="2400" dirty="0"/>
              <a:t>保留了 </a:t>
            </a:r>
            <a:r>
              <a:rPr lang="en-US" altLang="zh-CN" sz="2400" dirty="0"/>
              <a:t>RTT </a:t>
            </a:r>
            <a:r>
              <a:rPr lang="zh-CN" altLang="en-US" sz="2400" dirty="0"/>
              <a:t>的一个</a:t>
            </a:r>
            <a:r>
              <a:rPr lang="zh-CN" altLang="en-US" sz="2400" dirty="0">
                <a:solidFill>
                  <a:srgbClr val="FF0000"/>
                </a:solidFill>
              </a:rPr>
              <a:t>加权平均往返时间 </a:t>
            </a:r>
            <a:r>
              <a:rPr lang="en-US" altLang="zh-CN" sz="2400" dirty="0"/>
              <a:t>RTT</a:t>
            </a:r>
            <a:r>
              <a:rPr lang="en-US" altLang="zh-CN" sz="2400" baseline="-25000" dirty="0"/>
              <a:t>S</a:t>
            </a:r>
            <a:r>
              <a:rPr lang="zh-CN" altLang="en-US" sz="2400" dirty="0"/>
              <a:t>（这又称为</a:t>
            </a:r>
            <a:r>
              <a:rPr lang="zh-CN" altLang="en-US" sz="2400" dirty="0">
                <a:solidFill>
                  <a:srgbClr val="FF0000"/>
                </a:solidFill>
              </a:rPr>
              <a:t>平滑的往返时间</a:t>
            </a:r>
            <a:r>
              <a:rPr lang="zh-CN" altLang="en-US" sz="2400" dirty="0"/>
              <a:t>）。</a:t>
            </a:r>
          </a:p>
          <a:p>
            <a:r>
              <a:rPr lang="zh-CN" altLang="en-US" sz="2400" dirty="0"/>
              <a:t>第一次测量到 </a:t>
            </a:r>
            <a:r>
              <a:rPr lang="en-US" altLang="zh-CN" sz="2400" dirty="0"/>
              <a:t>RTT </a:t>
            </a:r>
            <a:r>
              <a:rPr lang="zh-CN" altLang="en-US" sz="2400" dirty="0"/>
              <a:t>样本时，</a:t>
            </a:r>
            <a:r>
              <a:rPr lang="en-US" altLang="zh-CN" sz="2400" dirty="0"/>
              <a:t>RTT</a:t>
            </a:r>
            <a:r>
              <a:rPr lang="en-US" altLang="zh-CN" sz="2400" baseline="-25000" dirty="0"/>
              <a:t>S </a:t>
            </a:r>
            <a:r>
              <a:rPr lang="zh-CN" altLang="en-US" sz="2400" dirty="0"/>
              <a:t>值就取为所测量到的 </a:t>
            </a:r>
            <a:r>
              <a:rPr lang="en-US" altLang="zh-CN" sz="2400" dirty="0"/>
              <a:t>RTT </a:t>
            </a:r>
            <a:r>
              <a:rPr lang="zh-CN" altLang="en-US" sz="2400" dirty="0"/>
              <a:t>样本值。以后每测量到一个新的 </a:t>
            </a:r>
            <a:r>
              <a:rPr lang="en-US" altLang="zh-CN" sz="2400" dirty="0"/>
              <a:t>RTT </a:t>
            </a:r>
            <a:r>
              <a:rPr lang="zh-CN" altLang="en-US" sz="2400" dirty="0"/>
              <a:t>样本，就按下式重新计算一次 </a:t>
            </a:r>
            <a:r>
              <a:rPr lang="en-US" altLang="zh-CN" sz="2400" dirty="0"/>
              <a:t>RTT</a:t>
            </a:r>
            <a:r>
              <a:rPr lang="en-US" altLang="zh-CN" sz="2400" baseline="-25000" dirty="0"/>
              <a:t>S</a:t>
            </a:r>
            <a:r>
              <a:rPr lang="zh-CN" altLang="en-US" sz="2400" dirty="0"/>
              <a:t>：</a:t>
            </a:r>
          </a:p>
          <a:p>
            <a:endParaRPr lang="en-US" altLang="zh-CN" sz="2400" dirty="0"/>
          </a:p>
          <a:p>
            <a:endParaRPr lang="en-US" altLang="zh-CN" sz="2400" dirty="0"/>
          </a:p>
          <a:p>
            <a:r>
              <a:rPr lang="zh-CN" altLang="en-US" sz="2400" dirty="0"/>
              <a:t>式中，</a:t>
            </a:r>
            <a:r>
              <a:rPr lang="en-US" altLang="zh-CN" sz="2400" dirty="0"/>
              <a:t>0 </a:t>
            </a:r>
            <a:r>
              <a:rPr lang="en-US" altLang="zh-CN" sz="2400" dirty="0">
                <a:sym typeface="Symbol" pitchFamily="18" charset="2"/>
              </a:rPr>
              <a:t></a:t>
            </a:r>
            <a:r>
              <a:rPr lang="en-US" altLang="zh-CN" sz="2400" dirty="0"/>
              <a:t> </a:t>
            </a:r>
            <a:r>
              <a:rPr lang="en-US" altLang="zh-CN" sz="2400" dirty="0">
                <a:sym typeface="Symbol" pitchFamily="18" charset="2"/>
              </a:rPr>
              <a:t></a:t>
            </a:r>
            <a:r>
              <a:rPr lang="en-US" altLang="zh-CN" sz="2400" dirty="0"/>
              <a:t> </a:t>
            </a:r>
            <a:r>
              <a:rPr lang="en-US" altLang="zh-CN" sz="2400" dirty="0">
                <a:sym typeface="Symbol" pitchFamily="18" charset="2"/>
              </a:rPr>
              <a:t></a:t>
            </a:r>
            <a:r>
              <a:rPr lang="en-US" altLang="zh-CN" sz="2400" dirty="0"/>
              <a:t> 1</a:t>
            </a:r>
            <a:r>
              <a:rPr lang="zh-CN" altLang="en-US" sz="2400" dirty="0"/>
              <a:t>。若 </a:t>
            </a:r>
            <a:r>
              <a:rPr lang="zh-CN" altLang="en-US" sz="2400" dirty="0">
                <a:sym typeface="Symbol" pitchFamily="18" charset="2"/>
              </a:rPr>
              <a:t> </a:t>
            </a:r>
            <a:r>
              <a:rPr lang="zh-CN" altLang="en-US" sz="2400" dirty="0"/>
              <a:t>很接近于零，表示 </a:t>
            </a:r>
            <a:r>
              <a:rPr lang="en-US" altLang="zh-CN" sz="2400" dirty="0"/>
              <a:t>RTT </a:t>
            </a:r>
            <a:r>
              <a:rPr lang="zh-CN" altLang="en-US" sz="2400" dirty="0"/>
              <a:t>值更新较慢。若选择 </a:t>
            </a:r>
            <a:r>
              <a:rPr lang="zh-CN" altLang="en-US" sz="2400" dirty="0">
                <a:sym typeface="Symbol" pitchFamily="18" charset="2"/>
              </a:rPr>
              <a:t> </a:t>
            </a:r>
            <a:r>
              <a:rPr lang="zh-CN" altLang="en-US" sz="2400" dirty="0"/>
              <a:t>接近于 </a:t>
            </a:r>
            <a:r>
              <a:rPr lang="en-US" altLang="zh-CN" sz="2400" dirty="0"/>
              <a:t>1</a:t>
            </a:r>
            <a:r>
              <a:rPr lang="zh-CN" altLang="en-US" sz="2400" dirty="0"/>
              <a:t>，则表示 </a:t>
            </a:r>
            <a:r>
              <a:rPr lang="en-US" altLang="zh-CN" sz="2400" dirty="0"/>
              <a:t>RTT </a:t>
            </a:r>
            <a:r>
              <a:rPr lang="zh-CN" altLang="en-US" sz="2400" dirty="0"/>
              <a:t>值更新较快。</a:t>
            </a:r>
          </a:p>
          <a:p>
            <a:r>
              <a:rPr lang="en-US" altLang="zh-CN" sz="2400" dirty="0"/>
              <a:t>RFC 2988 </a:t>
            </a:r>
            <a:r>
              <a:rPr lang="zh-CN" altLang="en-US" sz="2400" dirty="0"/>
              <a:t>推荐的 </a:t>
            </a:r>
            <a:r>
              <a:rPr lang="zh-CN" altLang="en-US" sz="2400" dirty="0">
                <a:sym typeface="Symbol" pitchFamily="18" charset="2"/>
              </a:rPr>
              <a:t> </a:t>
            </a:r>
            <a:r>
              <a:rPr lang="zh-CN" altLang="en-US" sz="2400" dirty="0"/>
              <a:t>值为 </a:t>
            </a:r>
            <a:r>
              <a:rPr lang="en-US" altLang="zh-CN" sz="2400" dirty="0"/>
              <a:t>1/8</a:t>
            </a:r>
            <a:r>
              <a:rPr lang="zh-CN" altLang="en-US" sz="2400" dirty="0"/>
              <a:t>，即 </a:t>
            </a:r>
            <a:r>
              <a:rPr lang="en-US" altLang="zh-CN" sz="2400" dirty="0"/>
              <a:t>0.125</a:t>
            </a:r>
            <a:r>
              <a:rPr lang="zh-CN" altLang="en-US" sz="2400" dirty="0"/>
              <a:t>。 </a:t>
            </a:r>
          </a:p>
        </p:txBody>
      </p:sp>
      <p:sp>
        <p:nvSpPr>
          <p:cNvPr id="747524" name="Rectangle 4"/>
          <p:cNvSpPr>
            <a:spLocks noChangeArrowheads="1"/>
          </p:cNvSpPr>
          <p:nvPr/>
        </p:nvSpPr>
        <p:spPr bwMode="auto">
          <a:xfrm>
            <a:off x="776536" y="3356992"/>
            <a:ext cx="8784976" cy="936104"/>
          </a:xfrm>
          <a:prstGeom prst="rect">
            <a:avLst/>
          </a:prstGeom>
          <a:solidFill>
            <a:srgbClr val="FFFF99"/>
          </a:solidFill>
          <a:ln w="9525">
            <a:solidFill>
              <a:srgbClr val="000066"/>
            </a:solidFill>
            <a:miter lim="800000"/>
            <a:headEnd/>
            <a:tailEnd/>
          </a:ln>
          <a:effectLst>
            <a:outerShdw dist="35921" sx="1000" sy="1000" algn="ctr" rotWithShape="0">
              <a:schemeClr val="bg2"/>
            </a:outerShdw>
          </a:effectLst>
        </p:spPr>
        <p:txBody>
          <a:bodyPr wrap="none" anchor="ctr"/>
          <a:lstStyle/>
          <a:p>
            <a:pPr>
              <a:spcBef>
                <a:spcPct val="30000"/>
              </a:spcBef>
              <a:buFont typeface="Wingdings" pitchFamily="2" charset="2"/>
              <a:buNone/>
            </a:pPr>
            <a:r>
              <a:rPr lang="zh-CN" altLang="zh-CN" sz="2400" b="1" dirty="0">
                <a:solidFill>
                  <a:srgbClr val="000099"/>
                </a:solidFill>
                <a:latin typeface="+mn-lt"/>
                <a:ea typeface="黑体" pitchFamily="2" charset="-122"/>
              </a:rPr>
              <a:t>新的</a:t>
            </a:r>
            <a:r>
              <a:rPr lang="en-US" altLang="zh-CN" sz="2400" b="1" dirty="0">
                <a:solidFill>
                  <a:srgbClr val="000099"/>
                </a:solidFill>
                <a:latin typeface="+mn-lt"/>
                <a:ea typeface="黑体" pitchFamily="2" charset="-122"/>
              </a:rPr>
              <a:t>RTT</a:t>
            </a:r>
            <a:r>
              <a:rPr lang="en-US" altLang="zh-CN" sz="2400" b="1" baseline="-25000" dirty="0">
                <a:solidFill>
                  <a:srgbClr val="000099"/>
                </a:solidFill>
                <a:latin typeface="+mn-lt"/>
                <a:ea typeface="黑体" pitchFamily="2" charset="-122"/>
              </a:rPr>
              <a:t>S</a:t>
            </a:r>
            <a:r>
              <a:rPr lang="en-US" altLang="zh-CN" sz="2400" b="1" dirty="0">
                <a:solidFill>
                  <a:srgbClr val="000099"/>
                </a:solidFill>
                <a:latin typeface="+mn-lt"/>
                <a:ea typeface="黑体" pitchFamily="2" charset="-122"/>
              </a:rPr>
              <a:t>  </a:t>
            </a:r>
            <a:r>
              <a:rPr lang="en-US" altLang="zh-CN" sz="2400" b="1" dirty="0">
                <a:solidFill>
                  <a:srgbClr val="000099"/>
                </a:solidFill>
                <a:latin typeface="+mn-lt"/>
                <a:ea typeface="黑体" pitchFamily="2" charset="-122"/>
                <a:sym typeface="Symbol"/>
              </a:rPr>
              <a:t> </a:t>
            </a:r>
            <a:r>
              <a:rPr lang="en-US" altLang="zh-CN" sz="2400" b="1" dirty="0">
                <a:solidFill>
                  <a:srgbClr val="000099"/>
                </a:solidFill>
                <a:latin typeface="+mn-lt"/>
                <a:ea typeface="黑体" pitchFamily="2" charset="-122"/>
              </a:rPr>
              <a:t> (1 </a:t>
            </a:r>
            <a:r>
              <a:rPr lang="en-US" altLang="zh-CN" sz="2400" b="1" dirty="0">
                <a:solidFill>
                  <a:srgbClr val="000099"/>
                </a:solidFill>
                <a:latin typeface="+mn-lt"/>
                <a:ea typeface="黑体" pitchFamily="2" charset="-122"/>
                <a:sym typeface="Symbol"/>
              </a:rPr>
              <a:t></a:t>
            </a:r>
            <a:r>
              <a:rPr lang="en-US" altLang="zh-CN" sz="2400" b="1" dirty="0">
                <a:solidFill>
                  <a:srgbClr val="000099"/>
                </a:solidFill>
                <a:latin typeface="+mn-lt"/>
                <a:ea typeface="黑体" pitchFamily="2" charset="-122"/>
              </a:rPr>
              <a:t> </a:t>
            </a:r>
            <a:r>
              <a:rPr lang="en-US" altLang="zh-CN" sz="2400" b="1" dirty="0">
                <a:solidFill>
                  <a:srgbClr val="000099"/>
                </a:solidFill>
                <a:latin typeface="+mn-lt"/>
                <a:ea typeface="黑体" pitchFamily="2" charset="-122"/>
                <a:sym typeface="Symbol"/>
              </a:rPr>
              <a:t></a:t>
            </a:r>
            <a:r>
              <a:rPr lang="en-US" altLang="zh-CN" sz="2400" b="1" dirty="0">
                <a:solidFill>
                  <a:srgbClr val="000099"/>
                </a:solidFill>
                <a:latin typeface="+mn-lt"/>
                <a:ea typeface="黑体" pitchFamily="2" charset="-122"/>
              </a:rPr>
              <a:t>) </a:t>
            </a:r>
            <a:r>
              <a:rPr lang="en-US" altLang="zh-CN" sz="2400" b="1" dirty="0">
                <a:solidFill>
                  <a:srgbClr val="000099"/>
                </a:solidFill>
                <a:latin typeface="+mn-lt"/>
                <a:ea typeface="黑体" pitchFamily="2" charset="-122"/>
                <a:sym typeface="Symbol"/>
              </a:rPr>
              <a:t></a:t>
            </a:r>
            <a:r>
              <a:rPr lang="en-US" altLang="zh-CN" sz="2400" b="1" dirty="0">
                <a:solidFill>
                  <a:srgbClr val="000099"/>
                </a:solidFill>
                <a:latin typeface="+mn-lt"/>
                <a:ea typeface="黑体" pitchFamily="2" charset="-122"/>
              </a:rPr>
              <a:t> (</a:t>
            </a:r>
            <a:r>
              <a:rPr lang="zh-CN" altLang="zh-CN" sz="2400" b="1" dirty="0">
                <a:solidFill>
                  <a:srgbClr val="000099"/>
                </a:solidFill>
                <a:latin typeface="+mn-lt"/>
                <a:ea typeface="黑体" pitchFamily="2" charset="-122"/>
              </a:rPr>
              <a:t>旧的</a:t>
            </a:r>
            <a:r>
              <a:rPr lang="en-US" altLang="zh-CN" sz="2400" b="1" dirty="0">
                <a:solidFill>
                  <a:srgbClr val="000099"/>
                </a:solidFill>
                <a:latin typeface="+mn-lt"/>
                <a:ea typeface="黑体" pitchFamily="2" charset="-122"/>
              </a:rPr>
              <a:t>RTT</a:t>
            </a:r>
            <a:r>
              <a:rPr lang="en-US" altLang="zh-CN" sz="2400" b="1" baseline="-25000" dirty="0">
                <a:solidFill>
                  <a:srgbClr val="000099"/>
                </a:solidFill>
                <a:latin typeface="+mn-lt"/>
                <a:ea typeface="黑体" pitchFamily="2" charset="-122"/>
              </a:rPr>
              <a:t>S</a:t>
            </a:r>
            <a:r>
              <a:rPr lang="en-US" altLang="zh-CN" sz="2400" b="1" dirty="0">
                <a:solidFill>
                  <a:srgbClr val="000099"/>
                </a:solidFill>
                <a:latin typeface="+mn-lt"/>
                <a:ea typeface="黑体" pitchFamily="2" charset="-122"/>
              </a:rPr>
              <a:t>) </a:t>
            </a:r>
          </a:p>
          <a:p>
            <a:pPr>
              <a:spcBef>
                <a:spcPct val="30000"/>
              </a:spcBef>
              <a:buFont typeface="Wingdings" pitchFamily="2" charset="2"/>
              <a:buNone/>
            </a:pPr>
            <a:r>
              <a:rPr lang="en-US" altLang="zh-CN" sz="2400" b="1" dirty="0">
                <a:solidFill>
                  <a:srgbClr val="000099"/>
                </a:solidFill>
                <a:latin typeface="+mn-lt"/>
                <a:ea typeface="黑体" pitchFamily="2" charset="-122"/>
                <a:sym typeface="Symbol"/>
              </a:rPr>
              <a:t>		</a:t>
            </a:r>
            <a:r>
              <a:rPr lang="en-US" altLang="zh-CN" sz="2400" b="1" dirty="0">
                <a:solidFill>
                  <a:srgbClr val="000099"/>
                </a:solidFill>
                <a:latin typeface="+mn-lt"/>
                <a:ea typeface="黑体" pitchFamily="2" charset="-122"/>
              </a:rPr>
              <a:t> </a:t>
            </a:r>
            <a:r>
              <a:rPr lang="en-US" altLang="zh-CN" sz="2400" b="1" dirty="0">
                <a:solidFill>
                  <a:srgbClr val="000099"/>
                </a:solidFill>
                <a:latin typeface="+mn-lt"/>
                <a:ea typeface="黑体" pitchFamily="2" charset="-122"/>
                <a:sym typeface="Symbol"/>
              </a:rPr>
              <a:t></a:t>
            </a:r>
            <a:r>
              <a:rPr lang="en-US" altLang="zh-CN" sz="2400" b="1" dirty="0">
                <a:solidFill>
                  <a:srgbClr val="000099"/>
                </a:solidFill>
                <a:latin typeface="+mn-lt"/>
                <a:ea typeface="黑体" pitchFamily="2" charset="-122"/>
              </a:rPr>
              <a:t> </a:t>
            </a:r>
            <a:r>
              <a:rPr lang="en-US" altLang="zh-CN" sz="2400" b="1" dirty="0">
                <a:solidFill>
                  <a:srgbClr val="000099"/>
                </a:solidFill>
                <a:latin typeface="+mn-lt"/>
                <a:ea typeface="黑体" pitchFamily="2" charset="-122"/>
                <a:sym typeface="Symbol"/>
              </a:rPr>
              <a:t></a:t>
            </a:r>
            <a:r>
              <a:rPr lang="en-US" altLang="zh-CN" sz="2400" b="1" dirty="0">
                <a:solidFill>
                  <a:srgbClr val="000099"/>
                </a:solidFill>
                <a:latin typeface="+mn-lt"/>
                <a:ea typeface="黑体" pitchFamily="2" charset="-122"/>
              </a:rPr>
              <a:t> (</a:t>
            </a:r>
            <a:r>
              <a:rPr lang="zh-CN" altLang="zh-CN" sz="2400" b="1" dirty="0">
                <a:solidFill>
                  <a:srgbClr val="000099"/>
                </a:solidFill>
                <a:latin typeface="+mn-lt"/>
                <a:ea typeface="黑体" pitchFamily="2" charset="-122"/>
              </a:rPr>
              <a:t>新的</a:t>
            </a:r>
            <a:r>
              <a:rPr lang="en-US" altLang="zh-CN" sz="2400" b="1" dirty="0">
                <a:solidFill>
                  <a:srgbClr val="000099"/>
                </a:solidFill>
                <a:latin typeface="+mn-lt"/>
                <a:ea typeface="黑体" pitchFamily="2" charset="-122"/>
              </a:rPr>
              <a:t>RTT</a:t>
            </a:r>
            <a:r>
              <a:rPr lang="zh-CN" altLang="zh-CN" sz="2400" b="1" dirty="0">
                <a:solidFill>
                  <a:srgbClr val="000099"/>
                </a:solidFill>
                <a:latin typeface="+mn-lt"/>
                <a:ea typeface="黑体" pitchFamily="2" charset="-122"/>
              </a:rPr>
              <a:t>样本</a:t>
            </a:r>
            <a:r>
              <a:rPr lang="en-US" altLang="zh-CN" sz="2400" b="1" dirty="0">
                <a:solidFill>
                  <a:srgbClr val="000099"/>
                </a:solidFill>
                <a:latin typeface="+mn-lt"/>
                <a:ea typeface="黑体" pitchFamily="2" charset="-122"/>
              </a:rPr>
              <a:t>)                           (5-4)</a:t>
            </a:r>
          </a:p>
        </p:txBody>
      </p:sp>
    </p:spTree>
    <p:extLst>
      <p:ext uri="{BB962C8B-B14F-4D97-AF65-F5344CB8AC3E}">
        <p14:creationId xmlns:p14="http://schemas.microsoft.com/office/powerpoint/2010/main" val="84790120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8546" name="Rectangle 2"/>
          <p:cNvSpPr>
            <a:spLocks noGrp="1" noChangeArrowheads="1"/>
          </p:cNvSpPr>
          <p:nvPr>
            <p:ph type="title"/>
          </p:nvPr>
        </p:nvSpPr>
        <p:spPr/>
        <p:txBody>
          <a:bodyPr/>
          <a:lstStyle/>
          <a:p>
            <a:pPr algn="ctr"/>
            <a:r>
              <a:rPr lang="zh-CN" altLang="en-US" dirty="0"/>
              <a:t>超时重传时间 </a:t>
            </a:r>
            <a:r>
              <a:rPr lang="en-US" altLang="zh-CN" dirty="0"/>
              <a:t>RTO</a:t>
            </a:r>
          </a:p>
        </p:txBody>
      </p:sp>
      <p:sp>
        <p:nvSpPr>
          <p:cNvPr id="748547" name="Rectangle 3"/>
          <p:cNvSpPr>
            <a:spLocks noGrp="1" noChangeArrowheads="1"/>
          </p:cNvSpPr>
          <p:nvPr>
            <p:ph idx="1"/>
          </p:nvPr>
        </p:nvSpPr>
        <p:spPr/>
        <p:txBody>
          <a:bodyPr/>
          <a:lstStyle/>
          <a:p>
            <a:pPr>
              <a:lnSpc>
                <a:spcPct val="100000"/>
              </a:lnSpc>
            </a:pPr>
            <a:r>
              <a:rPr lang="en-US" altLang="zh-CN" sz="2400" dirty="0">
                <a:solidFill>
                  <a:srgbClr val="FF0000"/>
                </a:solidFill>
              </a:rPr>
              <a:t>RTO (Retransmission Time-Out) </a:t>
            </a:r>
            <a:r>
              <a:rPr lang="zh-CN" altLang="en-US" sz="2400" dirty="0">
                <a:solidFill>
                  <a:srgbClr val="FF0000"/>
                </a:solidFill>
              </a:rPr>
              <a:t>应略大于上面得出的加权平均往返时间 </a:t>
            </a:r>
            <a:r>
              <a:rPr lang="en-US" altLang="zh-CN" sz="2400" dirty="0">
                <a:solidFill>
                  <a:srgbClr val="FF0000"/>
                </a:solidFill>
              </a:rPr>
              <a:t>RTT</a:t>
            </a:r>
            <a:r>
              <a:rPr lang="en-US" altLang="zh-CN" sz="2400" baseline="-25000" dirty="0">
                <a:solidFill>
                  <a:srgbClr val="FF0000"/>
                </a:solidFill>
              </a:rPr>
              <a:t>S</a:t>
            </a:r>
            <a:r>
              <a:rPr lang="zh-CN" altLang="en-US" sz="2400" dirty="0">
                <a:solidFill>
                  <a:srgbClr val="FF0000"/>
                </a:solidFill>
              </a:rPr>
              <a:t>。</a:t>
            </a:r>
          </a:p>
          <a:p>
            <a:pPr>
              <a:lnSpc>
                <a:spcPct val="100000"/>
              </a:lnSpc>
            </a:pPr>
            <a:r>
              <a:rPr lang="en-US" altLang="zh-CN" sz="2400" dirty="0"/>
              <a:t>RFC 2988 </a:t>
            </a:r>
            <a:r>
              <a:rPr lang="zh-CN" altLang="en-US" sz="2400" dirty="0"/>
              <a:t>建议使用下式计算 </a:t>
            </a:r>
            <a:r>
              <a:rPr lang="en-US" altLang="zh-CN" sz="2400" dirty="0"/>
              <a:t>RTO</a:t>
            </a:r>
            <a:r>
              <a:rPr lang="zh-CN" altLang="en-US" sz="2400" dirty="0"/>
              <a:t>：</a:t>
            </a:r>
          </a:p>
          <a:p>
            <a:pPr>
              <a:lnSpc>
                <a:spcPct val="100000"/>
              </a:lnSpc>
              <a:spcAft>
                <a:spcPct val="10000"/>
              </a:spcAft>
            </a:pPr>
            <a:endParaRPr lang="en-US" altLang="zh-CN" sz="2400" dirty="0"/>
          </a:p>
          <a:p>
            <a:pPr>
              <a:lnSpc>
                <a:spcPct val="100000"/>
              </a:lnSpc>
              <a:spcAft>
                <a:spcPct val="10000"/>
              </a:spcAft>
            </a:pPr>
            <a:r>
              <a:rPr lang="en-US" altLang="zh-CN" sz="2400" dirty="0"/>
              <a:t>RTT</a:t>
            </a:r>
            <a:r>
              <a:rPr lang="en-US" altLang="zh-CN" sz="2400" baseline="-25000" dirty="0"/>
              <a:t>D </a:t>
            </a:r>
            <a:r>
              <a:rPr lang="zh-CN" altLang="en-US" sz="2400" dirty="0"/>
              <a:t>是 </a:t>
            </a:r>
            <a:r>
              <a:rPr lang="en-US" altLang="zh-CN" sz="2400" dirty="0">
                <a:solidFill>
                  <a:srgbClr val="FF0000"/>
                </a:solidFill>
              </a:rPr>
              <a:t>RTT </a:t>
            </a:r>
            <a:r>
              <a:rPr lang="zh-CN" altLang="en-US" sz="2400" dirty="0">
                <a:solidFill>
                  <a:srgbClr val="FF0000"/>
                </a:solidFill>
              </a:rPr>
              <a:t>的偏差的加权平均值</a:t>
            </a:r>
            <a:r>
              <a:rPr lang="zh-CN" altLang="en-US" sz="2400" dirty="0"/>
              <a:t>。</a:t>
            </a:r>
          </a:p>
          <a:p>
            <a:pPr>
              <a:lnSpc>
                <a:spcPct val="100000"/>
              </a:lnSpc>
            </a:pPr>
            <a:r>
              <a:rPr lang="en-US" altLang="zh-CN" sz="2400" dirty="0"/>
              <a:t>RFC 2988 </a:t>
            </a:r>
            <a:r>
              <a:rPr lang="zh-CN" altLang="en-US" sz="2400" dirty="0"/>
              <a:t>建议这样计算 </a:t>
            </a:r>
            <a:r>
              <a:rPr lang="en-US" altLang="zh-CN" sz="2400" dirty="0"/>
              <a:t>RTT</a:t>
            </a:r>
            <a:r>
              <a:rPr lang="en-US" altLang="zh-CN" sz="2400" baseline="-25000" dirty="0"/>
              <a:t>D</a:t>
            </a:r>
            <a:r>
              <a:rPr lang="zh-CN" altLang="en-US" sz="2400" dirty="0"/>
              <a:t>。第一次测量时，</a:t>
            </a:r>
            <a:r>
              <a:rPr lang="en-US" altLang="zh-CN" sz="2400" dirty="0"/>
              <a:t>RTT</a:t>
            </a:r>
            <a:r>
              <a:rPr lang="en-US" altLang="zh-CN" sz="2400" baseline="-25000" dirty="0"/>
              <a:t>D </a:t>
            </a:r>
            <a:r>
              <a:rPr lang="zh-CN" altLang="en-US" sz="2400" dirty="0"/>
              <a:t>值取为测量到的 </a:t>
            </a:r>
            <a:r>
              <a:rPr lang="en-US" altLang="zh-CN" sz="2400" dirty="0"/>
              <a:t>RTT </a:t>
            </a:r>
            <a:r>
              <a:rPr lang="zh-CN" altLang="en-US" sz="2400" dirty="0"/>
              <a:t>样本值的一半。在以后的测量中，则使用下式计算加权平均的 </a:t>
            </a:r>
            <a:r>
              <a:rPr lang="en-US" altLang="zh-CN" sz="2400" dirty="0"/>
              <a:t>RTT</a:t>
            </a:r>
            <a:r>
              <a:rPr lang="en-US" altLang="zh-CN" sz="2400" baseline="-25000" dirty="0"/>
              <a:t>D</a:t>
            </a:r>
            <a:r>
              <a:rPr lang="zh-CN" altLang="en-US" sz="2400" dirty="0"/>
              <a:t>：</a:t>
            </a:r>
          </a:p>
          <a:p>
            <a:pPr>
              <a:lnSpc>
                <a:spcPct val="100000"/>
              </a:lnSpc>
              <a:spcBef>
                <a:spcPct val="40000"/>
              </a:spcBef>
            </a:pPr>
            <a:endParaRPr lang="en-US" altLang="zh-CN" sz="2400" dirty="0">
              <a:sym typeface="Symbol" pitchFamily="18" charset="2"/>
            </a:endParaRPr>
          </a:p>
          <a:p>
            <a:pPr>
              <a:lnSpc>
                <a:spcPct val="100000"/>
              </a:lnSpc>
              <a:spcBef>
                <a:spcPct val="40000"/>
              </a:spcBef>
            </a:pPr>
            <a:endParaRPr lang="en-US" altLang="zh-CN" sz="2400" dirty="0">
              <a:sym typeface="Symbol" pitchFamily="18" charset="2"/>
            </a:endParaRPr>
          </a:p>
          <a:p>
            <a:pPr>
              <a:lnSpc>
                <a:spcPct val="100000"/>
              </a:lnSpc>
              <a:spcBef>
                <a:spcPct val="40000"/>
              </a:spcBef>
            </a:pPr>
            <a:r>
              <a:rPr lang="en-US" altLang="zh-CN" sz="2400" dirty="0">
                <a:sym typeface="Symbol" pitchFamily="18" charset="2"/>
              </a:rPr>
              <a:t> </a:t>
            </a:r>
            <a:r>
              <a:rPr lang="zh-CN" altLang="en-US" sz="2400" dirty="0"/>
              <a:t>是个小于 </a:t>
            </a:r>
            <a:r>
              <a:rPr lang="en-US" altLang="zh-CN" sz="2400" dirty="0"/>
              <a:t>1 </a:t>
            </a:r>
            <a:r>
              <a:rPr lang="zh-CN" altLang="en-US" sz="2400" dirty="0"/>
              <a:t>的系数，其推荐值是 </a:t>
            </a:r>
            <a:r>
              <a:rPr lang="en-US" altLang="zh-CN" sz="2400" dirty="0"/>
              <a:t>1/4</a:t>
            </a:r>
            <a:r>
              <a:rPr lang="zh-CN" altLang="en-US" sz="2400" dirty="0"/>
              <a:t>，即 </a:t>
            </a:r>
            <a:r>
              <a:rPr lang="en-US" altLang="zh-CN" sz="2400" dirty="0"/>
              <a:t>0.25</a:t>
            </a:r>
            <a:r>
              <a:rPr lang="zh-CN" altLang="en-US" sz="2400" dirty="0"/>
              <a:t>。</a:t>
            </a:r>
          </a:p>
        </p:txBody>
      </p:sp>
      <p:sp>
        <p:nvSpPr>
          <p:cNvPr id="748548" name="Rectangle 4"/>
          <p:cNvSpPr>
            <a:spLocks noChangeArrowheads="1"/>
          </p:cNvSpPr>
          <p:nvPr/>
        </p:nvSpPr>
        <p:spPr bwMode="auto">
          <a:xfrm>
            <a:off x="920552" y="2420888"/>
            <a:ext cx="8640960" cy="504056"/>
          </a:xfrm>
          <a:prstGeom prst="rect">
            <a:avLst/>
          </a:prstGeom>
          <a:solidFill>
            <a:srgbClr val="FFFF99"/>
          </a:solidFill>
          <a:ln w="9525">
            <a:solidFill>
              <a:srgbClr val="000066"/>
            </a:solidFill>
            <a:miter lim="800000"/>
            <a:headEnd/>
            <a:tailEnd/>
          </a:ln>
          <a:effectLst>
            <a:outerShdw dist="35921" sx="1000" sy="1000" algn="ctr" rotWithShape="0">
              <a:schemeClr val="bg2"/>
            </a:outerShdw>
          </a:effectLst>
        </p:spPr>
        <p:txBody>
          <a:bodyPr wrap="none" anchor="ctr"/>
          <a:lstStyle/>
          <a:p>
            <a:pPr>
              <a:spcBef>
                <a:spcPct val="30000"/>
              </a:spcBef>
              <a:spcAft>
                <a:spcPct val="20000"/>
              </a:spcAft>
            </a:pPr>
            <a:r>
              <a:rPr lang="en-US" altLang="zh-CN" sz="2400" b="1" dirty="0">
                <a:solidFill>
                  <a:srgbClr val="000099"/>
                </a:solidFill>
                <a:latin typeface="+mn-lt"/>
                <a:ea typeface="黑体" pitchFamily="2" charset="-122"/>
              </a:rPr>
              <a:t>RTO </a:t>
            </a:r>
            <a:r>
              <a:rPr lang="en-US" altLang="zh-CN" sz="2400" b="1" dirty="0">
                <a:solidFill>
                  <a:srgbClr val="000099"/>
                </a:solidFill>
                <a:latin typeface="+mn-lt"/>
                <a:ea typeface="黑体" pitchFamily="2" charset="-122"/>
                <a:sym typeface="Symbol" pitchFamily="18" charset="2"/>
              </a:rPr>
              <a:t></a:t>
            </a:r>
            <a:r>
              <a:rPr lang="en-US" altLang="zh-CN" sz="2400" b="1" dirty="0">
                <a:solidFill>
                  <a:srgbClr val="000099"/>
                </a:solidFill>
                <a:latin typeface="+mn-lt"/>
                <a:ea typeface="黑体" pitchFamily="2" charset="-122"/>
              </a:rPr>
              <a:t> RTT</a:t>
            </a:r>
            <a:r>
              <a:rPr lang="en-US" altLang="zh-CN" sz="2400" b="1" baseline="-25000" dirty="0">
                <a:solidFill>
                  <a:srgbClr val="000099"/>
                </a:solidFill>
                <a:latin typeface="+mn-lt"/>
                <a:ea typeface="黑体" pitchFamily="2" charset="-122"/>
              </a:rPr>
              <a:t>S</a:t>
            </a:r>
            <a:r>
              <a:rPr lang="en-US" altLang="zh-CN" sz="2400" b="1" dirty="0">
                <a:solidFill>
                  <a:srgbClr val="000099"/>
                </a:solidFill>
                <a:latin typeface="+mn-lt"/>
                <a:ea typeface="黑体" pitchFamily="2" charset="-122"/>
              </a:rPr>
              <a:t> + 4 </a:t>
            </a:r>
            <a:r>
              <a:rPr lang="en-US" altLang="zh-CN" sz="2400" b="1" dirty="0">
                <a:solidFill>
                  <a:srgbClr val="000099"/>
                </a:solidFill>
                <a:latin typeface="+mn-lt"/>
                <a:ea typeface="黑体" pitchFamily="2" charset="-122"/>
                <a:sym typeface="Symbol" pitchFamily="18" charset="2"/>
              </a:rPr>
              <a:t></a:t>
            </a:r>
            <a:r>
              <a:rPr lang="en-US" altLang="zh-CN" sz="2400" b="1" dirty="0">
                <a:solidFill>
                  <a:srgbClr val="000099"/>
                </a:solidFill>
                <a:latin typeface="+mn-lt"/>
                <a:ea typeface="黑体" pitchFamily="2" charset="-122"/>
              </a:rPr>
              <a:t> RTT</a:t>
            </a:r>
            <a:r>
              <a:rPr lang="en-US" altLang="zh-CN" sz="2400" b="1" baseline="-25000" dirty="0">
                <a:solidFill>
                  <a:srgbClr val="000099"/>
                </a:solidFill>
                <a:latin typeface="+mn-lt"/>
                <a:ea typeface="黑体" pitchFamily="2" charset="-122"/>
              </a:rPr>
              <a:t>D</a:t>
            </a:r>
            <a:r>
              <a:rPr lang="en-US" altLang="zh-CN" sz="2400" b="1" dirty="0">
                <a:solidFill>
                  <a:srgbClr val="000099"/>
                </a:solidFill>
                <a:latin typeface="+mn-lt"/>
                <a:ea typeface="黑体" pitchFamily="2" charset="-122"/>
              </a:rPr>
              <a:t>                                         (5-5)</a:t>
            </a:r>
          </a:p>
        </p:txBody>
      </p:sp>
      <p:sp>
        <p:nvSpPr>
          <p:cNvPr id="7" name="Rectangle 4"/>
          <p:cNvSpPr>
            <a:spLocks noChangeArrowheads="1"/>
          </p:cNvSpPr>
          <p:nvPr/>
        </p:nvSpPr>
        <p:spPr bwMode="auto">
          <a:xfrm>
            <a:off x="920552" y="4653136"/>
            <a:ext cx="8640960" cy="1008112"/>
          </a:xfrm>
          <a:prstGeom prst="rect">
            <a:avLst/>
          </a:prstGeom>
          <a:solidFill>
            <a:srgbClr val="FFFF99"/>
          </a:solidFill>
          <a:ln w="9525">
            <a:solidFill>
              <a:srgbClr val="000066"/>
            </a:solidFill>
            <a:miter lim="800000"/>
            <a:headEnd/>
            <a:tailEnd/>
          </a:ln>
          <a:effectLst>
            <a:outerShdw dist="35921" sx="1000" sy="1000" algn="ctr" rotWithShape="0">
              <a:schemeClr val="bg2"/>
            </a:outerShdw>
          </a:effectLst>
        </p:spPr>
        <p:txBody>
          <a:bodyPr wrap="none" anchor="ctr"/>
          <a:lstStyle/>
          <a:p>
            <a:pPr>
              <a:spcBef>
                <a:spcPts val="600"/>
              </a:spcBef>
              <a:spcAft>
                <a:spcPts val="0"/>
              </a:spcAft>
            </a:pPr>
            <a:r>
              <a:rPr lang="zh-CN" altLang="en-US" sz="2400" b="1" dirty="0">
                <a:solidFill>
                  <a:srgbClr val="000099"/>
                </a:solidFill>
                <a:latin typeface="+mn-lt"/>
                <a:ea typeface="黑体" pitchFamily="2" charset="-122"/>
              </a:rPr>
              <a:t>新的 </a:t>
            </a:r>
            <a:r>
              <a:rPr lang="en-US" altLang="zh-CN" sz="2400" b="1" dirty="0">
                <a:solidFill>
                  <a:srgbClr val="000099"/>
                </a:solidFill>
                <a:latin typeface="+mn-lt"/>
                <a:ea typeface="黑体" pitchFamily="2" charset="-122"/>
              </a:rPr>
              <a:t>RTT</a:t>
            </a:r>
            <a:r>
              <a:rPr lang="en-US" altLang="zh-CN" sz="2400" b="1" baseline="-25000" dirty="0">
                <a:solidFill>
                  <a:srgbClr val="000099"/>
                </a:solidFill>
                <a:latin typeface="+mn-lt"/>
                <a:ea typeface="黑体" pitchFamily="2" charset="-122"/>
              </a:rPr>
              <a:t>D</a:t>
            </a:r>
            <a:r>
              <a:rPr lang="en-US" altLang="zh-CN" sz="2400" b="1" dirty="0">
                <a:solidFill>
                  <a:srgbClr val="000099"/>
                </a:solidFill>
                <a:latin typeface="+mn-lt"/>
                <a:ea typeface="黑体" pitchFamily="2" charset="-122"/>
              </a:rPr>
              <a:t> = (1 </a:t>
            </a:r>
            <a:r>
              <a:rPr lang="en-US" altLang="zh-CN" sz="2400" b="1" dirty="0">
                <a:solidFill>
                  <a:srgbClr val="000099"/>
                </a:solidFill>
                <a:latin typeface="+mn-lt"/>
                <a:ea typeface="黑体" pitchFamily="2" charset="-122"/>
                <a:sym typeface="Symbol" pitchFamily="18" charset="2"/>
              </a:rPr>
              <a:t></a:t>
            </a:r>
            <a:r>
              <a:rPr lang="en-US" altLang="zh-CN" sz="2400" b="1" dirty="0">
                <a:solidFill>
                  <a:srgbClr val="000099"/>
                </a:solidFill>
                <a:latin typeface="+mn-lt"/>
                <a:ea typeface="黑体" pitchFamily="2" charset="-122"/>
              </a:rPr>
              <a:t> </a:t>
            </a:r>
            <a:r>
              <a:rPr lang="en-US" altLang="zh-CN" sz="2400" b="1" dirty="0">
                <a:solidFill>
                  <a:srgbClr val="000099"/>
                </a:solidFill>
                <a:latin typeface="+mn-lt"/>
                <a:ea typeface="黑体" pitchFamily="2" charset="-122"/>
                <a:sym typeface="Symbol" pitchFamily="18" charset="2"/>
              </a:rPr>
              <a:t></a:t>
            </a:r>
            <a:r>
              <a:rPr lang="en-US" altLang="zh-CN" sz="2400" b="1" dirty="0">
                <a:solidFill>
                  <a:srgbClr val="000099"/>
                </a:solidFill>
                <a:latin typeface="+mn-lt"/>
                <a:ea typeface="黑体" pitchFamily="2" charset="-122"/>
              </a:rPr>
              <a:t>) </a:t>
            </a:r>
            <a:r>
              <a:rPr lang="en-US" altLang="zh-CN" sz="2400" b="1" dirty="0">
                <a:solidFill>
                  <a:srgbClr val="000099"/>
                </a:solidFill>
                <a:latin typeface="+mn-lt"/>
                <a:ea typeface="黑体" pitchFamily="2" charset="-122"/>
                <a:sym typeface="Symbol" pitchFamily="18" charset="2"/>
              </a:rPr>
              <a:t></a:t>
            </a:r>
            <a:r>
              <a:rPr lang="en-US" altLang="zh-CN" sz="2400" b="1" dirty="0">
                <a:solidFill>
                  <a:srgbClr val="000099"/>
                </a:solidFill>
                <a:latin typeface="+mn-lt"/>
                <a:ea typeface="黑体" pitchFamily="2" charset="-122"/>
              </a:rPr>
              <a:t> (</a:t>
            </a:r>
            <a:r>
              <a:rPr lang="zh-CN" altLang="en-US" sz="2400" b="1" dirty="0">
                <a:solidFill>
                  <a:srgbClr val="000099"/>
                </a:solidFill>
                <a:latin typeface="+mn-lt"/>
                <a:ea typeface="黑体" pitchFamily="2" charset="-122"/>
              </a:rPr>
              <a:t>旧的</a:t>
            </a:r>
            <a:r>
              <a:rPr lang="en-US" altLang="zh-CN" sz="2400" b="1" dirty="0">
                <a:solidFill>
                  <a:srgbClr val="000099"/>
                </a:solidFill>
                <a:latin typeface="+mn-lt"/>
                <a:ea typeface="黑体" pitchFamily="2" charset="-122"/>
              </a:rPr>
              <a:t>RTT</a:t>
            </a:r>
            <a:r>
              <a:rPr lang="en-US" altLang="zh-CN" sz="2400" b="1" baseline="-25000" dirty="0">
                <a:solidFill>
                  <a:srgbClr val="000099"/>
                </a:solidFill>
                <a:latin typeface="+mn-lt"/>
                <a:ea typeface="黑体" pitchFamily="2" charset="-122"/>
              </a:rPr>
              <a:t>D</a:t>
            </a:r>
            <a:r>
              <a:rPr lang="en-US" altLang="zh-CN" sz="2400" b="1" dirty="0">
                <a:solidFill>
                  <a:srgbClr val="000099"/>
                </a:solidFill>
                <a:latin typeface="+mn-lt"/>
                <a:ea typeface="黑体" pitchFamily="2" charset="-122"/>
              </a:rPr>
              <a:t>) </a:t>
            </a:r>
          </a:p>
          <a:p>
            <a:pPr>
              <a:spcBef>
                <a:spcPts val="600"/>
              </a:spcBef>
              <a:spcAft>
                <a:spcPts val="0"/>
              </a:spcAft>
            </a:pPr>
            <a:r>
              <a:rPr lang="en-US" altLang="zh-CN" sz="2400" b="1" dirty="0">
                <a:solidFill>
                  <a:srgbClr val="000099"/>
                </a:solidFill>
                <a:latin typeface="+mn-lt"/>
                <a:ea typeface="黑体" pitchFamily="2" charset="-122"/>
              </a:rPr>
              <a:t>                   + </a:t>
            </a:r>
            <a:r>
              <a:rPr lang="en-US" altLang="zh-CN" sz="2400" b="1" dirty="0">
                <a:solidFill>
                  <a:srgbClr val="000099"/>
                </a:solidFill>
                <a:latin typeface="+mn-lt"/>
                <a:ea typeface="黑体" pitchFamily="2" charset="-122"/>
                <a:sym typeface="Symbol" pitchFamily="18" charset="2"/>
              </a:rPr>
              <a:t></a:t>
            </a:r>
            <a:r>
              <a:rPr lang="en-US" altLang="zh-CN" sz="2400" b="1" dirty="0">
                <a:solidFill>
                  <a:srgbClr val="000099"/>
                </a:solidFill>
                <a:latin typeface="+mn-lt"/>
                <a:ea typeface="黑体" pitchFamily="2" charset="-122"/>
              </a:rPr>
              <a:t> </a:t>
            </a:r>
            <a:r>
              <a:rPr lang="en-US" altLang="zh-CN" sz="2400" b="1" dirty="0">
                <a:solidFill>
                  <a:srgbClr val="000099"/>
                </a:solidFill>
                <a:latin typeface="+mn-lt"/>
                <a:ea typeface="黑体" pitchFamily="2" charset="-122"/>
                <a:sym typeface="Symbol" pitchFamily="18" charset="2"/>
              </a:rPr>
              <a:t></a:t>
            </a:r>
            <a:r>
              <a:rPr lang="en-US" altLang="zh-CN" sz="2400" b="1" dirty="0">
                <a:solidFill>
                  <a:srgbClr val="000099"/>
                </a:solidFill>
                <a:latin typeface="+mn-lt"/>
                <a:ea typeface="黑体" pitchFamily="2" charset="-122"/>
              </a:rPr>
              <a:t> </a:t>
            </a:r>
            <a:r>
              <a:rPr lang="en-US" altLang="zh-CN" sz="2400" b="1" dirty="0">
                <a:solidFill>
                  <a:srgbClr val="000099"/>
                </a:solidFill>
                <a:latin typeface="+mn-lt"/>
                <a:ea typeface="黑体" pitchFamily="2" charset="-122"/>
                <a:sym typeface="Symbol" pitchFamily="18" charset="2"/>
              </a:rPr>
              <a:t></a:t>
            </a:r>
            <a:r>
              <a:rPr lang="en-US" altLang="zh-CN" sz="2400" b="1" dirty="0">
                <a:solidFill>
                  <a:srgbClr val="000099"/>
                </a:solidFill>
                <a:latin typeface="+mn-lt"/>
                <a:ea typeface="黑体" pitchFamily="2" charset="-122"/>
              </a:rPr>
              <a:t>RTT</a:t>
            </a:r>
            <a:r>
              <a:rPr lang="en-US" altLang="zh-CN" sz="2400" b="1" baseline="-25000" dirty="0">
                <a:solidFill>
                  <a:srgbClr val="000099"/>
                </a:solidFill>
                <a:latin typeface="+mn-lt"/>
                <a:ea typeface="黑体" pitchFamily="2" charset="-122"/>
              </a:rPr>
              <a:t>S</a:t>
            </a:r>
            <a:r>
              <a:rPr lang="en-US" altLang="zh-CN" sz="2400" b="1" dirty="0">
                <a:solidFill>
                  <a:srgbClr val="000099"/>
                </a:solidFill>
                <a:latin typeface="+mn-lt"/>
                <a:ea typeface="黑体" pitchFamily="2" charset="-122"/>
              </a:rPr>
              <a:t> </a:t>
            </a:r>
            <a:r>
              <a:rPr lang="en-US" altLang="zh-CN" sz="2400" b="1" dirty="0">
                <a:solidFill>
                  <a:srgbClr val="000099"/>
                </a:solidFill>
                <a:latin typeface="+mn-lt"/>
                <a:ea typeface="黑体" pitchFamily="2" charset="-122"/>
                <a:sym typeface="Symbol" pitchFamily="18" charset="2"/>
              </a:rPr>
              <a:t></a:t>
            </a:r>
            <a:r>
              <a:rPr lang="en-US" altLang="zh-CN" sz="2400" b="1" dirty="0">
                <a:solidFill>
                  <a:srgbClr val="000099"/>
                </a:solidFill>
                <a:latin typeface="+mn-lt"/>
                <a:ea typeface="黑体" pitchFamily="2" charset="-122"/>
              </a:rPr>
              <a:t> </a:t>
            </a:r>
            <a:r>
              <a:rPr lang="zh-CN" altLang="en-US" sz="2400" b="1" dirty="0">
                <a:solidFill>
                  <a:srgbClr val="000099"/>
                </a:solidFill>
                <a:latin typeface="+mn-lt"/>
                <a:ea typeface="黑体" pitchFamily="2" charset="-122"/>
              </a:rPr>
              <a:t>新的 </a:t>
            </a:r>
            <a:r>
              <a:rPr lang="en-US" altLang="zh-CN" sz="2400" b="1" dirty="0">
                <a:solidFill>
                  <a:srgbClr val="000099"/>
                </a:solidFill>
                <a:latin typeface="+mn-lt"/>
                <a:ea typeface="黑体" pitchFamily="2" charset="-122"/>
              </a:rPr>
              <a:t>RTT </a:t>
            </a:r>
            <a:r>
              <a:rPr lang="zh-CN" altLang="en-US" sz="2400" b="1" dirty="0">
                <a:solidFill>
                  <a:srgbClr val="000099"/>
                </a:solidFill>
                <a:latin typeface="+mn-lt"/>
                <a:ea typeface="黑体" pitchFamily="2" charset="-122"/>
              </a:rPr>
              <a:t>样本</a:t>
            </a:r>
            <a:r>
              <a:rPr lang="zh-CN" altLang="en-US" sz="2400" b="1" dirty="0">
                <a:solidFill>
                  <a:srgbClr val="000099"/>
                </a:solidFill>
                <a:latin typeface="+mn-lt"/>
                <a:ea typeface="黑体" pitchFamily="2" charset="-122"/>
                <a:sym typeface="Symbol" pitchFamily="18" charset="2"/>
              </a:rPr>
              <a:t></a:t>
            </a:r>
            <a:r>
              <a:rPr lang="zh-CN" altLang="en-US" sz="2400" b="1" dirty="0">
                <a:solidFill>
                  <a:srgbClr val="000099"/>
                </a:solidFill>
                <a:latin typeface="+mn-lt"/>
                <a:ea typeface="黑体" pitchFamily="2" charset="-122"/>
              </a:rPr>
              <a:t>           </a:t>
            </a:r>
            <a:r>
              <a:rPr lang="en-US" altLang="zh-CN" sz="2400" b="1" dirty="0">
                <a:solidFill>
                  <a:srgbClr val="000099"/>
                </a:solidFill>
                <a:latin typeface="+mn-lt"/>
                <a:ea typeface="黑体" pitchFamily="2" charset="-122"/>
              </a:rPr>
              <a:t>(5-6)</a:t>
            </a:r>
          </a:p>
        </p:txBody>
      </p:sp>
    </p:spTree>
    <p:extLst>
      <p:ext uri="{BB962C8B-B14F-4D97-AF65-F5344CB8AC3E}">
        <p14:creationId xmlns:p14="http://schemas.microsoft.com/office/powerpoint/2010/main" val="352136444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9572" name="Rectangle 4"/>
          <p:cNvSpPr>
            <a:spLocks noGrp="1" noChangeArrowheads="1"/>
          </p:cNvSpPr>
          <p:nvPr>
            <p:ph type="title"/>
          </p:nvPr>
        </p:nvSpPr>
        <p:spPr/>
        <p:txBody>
          <a:bodyPr/>
          <a:lstStyle/>
          <a:p>
            <a:pPr algn="ctr"/>
            <a:r>
              <a:rPr lang="zh-CN" altLang="en-US" sz="4000" dirty="0"/>
              <a:t>往返时间 </a:t>
            </a:r>
            <a:r>
              <a:rPr lang="en-US" altLang="zh-CN" sz="4000" dirty="0"/>
              <a:t>(RTT) </a:t>
            </a:r>
            <a:r>
              <a:rPr lang="zh-CN" altLang="en-US" sz="4000" dirty="0"/>
              <a:t>的测量相当复杂 </a:t>
            </a:r>
          </a:p>
        </p:txBody>
      </p:sp>
      <p:sp>
        <p:nvSpPr>
          <p:cNvPr id="749573" name="Rectangle 5"/>
          <p:cNvSpPr>
            <a:spLocks noGrp="1" noChangeArrowheads="1"/>
          </p:cNvSpPr>
          <p:nvPr>
            <p:ph idx="1"/>
          </p:nvPr>
        </p:nvSpPr>
        <p:spPr/>
        <p:txBody>
          <a:bodyPr/>
          <a:lstStyle/>
          <a:p>
            <a:r>
              <a:rPr lang="en-US" altLang="zh-CN" sz="2800" dirty="0"/>
              <a:t>TCP </a:t>
            </a:r>
            <a:r>
              <a:rPr lang="zh-CN" altLang="en-US" sz="2800" dirty="0"/>
              <a:t>报文段 </a:t>
            </a:r>
            <a:r>
              <a:rPr lang="en-US" altLang="zh-CN" sz="2800" dirty="0"/>
              <a:t>1 </a:t>
            </a:r>
            <a:r>
              <a:rPr lang="zh-CN" altLang="en-US" sz="2800" dirty="0"/>
              <a:t>没有收到确认。重传（即报文段 </a:t>
            </a:r>
            <a:r>
              <a:rPr lang="en-US" altLang="zh-CN" sz="2800" dirty="0"/>
              <a:t>2</a:t>
            </a:r>
            <a:r>
              <a:rPr lang="zh-CN" altLang="en-US" sz="2800" dirty="0"/>
              <a:t>）后，收到了确认报文段 </a:t>
            </a:r>
            <a:r>
              <a:rPr lang="en-US" altLang="zh-CN" sz="2800" dirty="0"/>
              <a:t>ACK</a:t>
            </a:r>
            <a:r>
              <a:rPr lang="zh-CN" altLang="en-US" sz="2800" dirty="0"/>
              <a:t>。</a:t>
            </a:r>
          </a:p>
          <a:p>
            <a:r>
              <a:rPr lang="zh-CN" altLang="en-US" sz="2800" dirty="0">
                <a:solidFill>
                  <a:srgbClr val="FF0000"/>
                </a:solidFill>
              </a:rPr>
              <a:t>如何判定此确认报文段是对原来的报文段 </a:t>
            </a:r>
            <a:r>
              <a:rPr lang="en-US" altLang="zh-CN" sz="2800" dirty="0">
                <a:solidFill>
                  <a:srgbClr val="FF0000"/>
                </a:solidFill>
              </a:rPr>
              <a:t>1 </a:t>
            </a:r>
            <a:r>
              <a:rPr lang="zh-CN" altLang="en-US" sz="2800" dirty="0">
                <a:solidFill>
                  <a:srgbClr val="FF0000"/>
                </a:solidFill>
              </a:rPr>
              <a:t>的确认，还是对重传的报文段 </a:t>
            </a:r>
            <a:r>
              <a:rPr lang="en-US" altLang="zh-CN" sz="2800" dirty="0">
                <a:solidFill>
                  <a:srgbClr val="FF0000"/>
                </a:solidFill>
              </a:rPr>
              <a:t>2 </a:t>
            </a:r>
            <a:r>
              <a:rPr lang="zh-CN" altLang="en-US" sz="2800" dirty="0">
                <a:solidFill>
                  <a:srgbClr val="FF0000"/>
                </a:solidFill>
              </a:rPr>
              <a:t>的确认？ </a:t>
            </a:r>
          </a:p>
        </p:txBody>
      </p:sp>
      <p:sp>
        <p:nvSpPr>
          <p:cNvPr id="749570" name="Line 2"/>
          <p:cNvSpPr>
            <a:spLocks noChangeShapeType="1"/>
          </p:cNvSpPr>
          <p:nvPr/>
        </p:nvSpPr>
        <p:spPr bwMode="auto">
          <a:xfrm>
            <a:off x="4017845" y="5423756"/>
            <a:ext cx="3785261" cy="0"/>
          </a:xfrm>
          <a:prstGeom prst="line">
            <a:avLst/>
          </a:prstGeom>
          <a:noFill/>
          <a:ln w="28575">
            <a:solidFill>
              <a:srgbClr val="3333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749571" name="Text Box 3"/>
          <p:cNvSpPr txBox="1">
            <a:spLocks noChangeArrowheads="1"/>
          </p:cNvSpPr>
          <p:nvPr/>
        </p:nvSpPr>
        <p:spPr bwMode="auto">
          <a:xfrm>
            <a:off x="5027523" y="5188807"/>
            <a:ext cx="1944764" cy="40011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2000" b="1" dirty="0">
                <a:solidFill>
                  <a:srgbClr val="0000FF"/>
                </a:solidFill>
                <a:latin typeface="+mn-lt"/>
                <a:ea typeface="黑体" pitchFamily="2" charset="-122"/>
              </a:rPr>
              <a:t>往返时间 </a:t>
            </a:r>
            <a:r>
              <a:rPr kumimoji="1" lang="en-US" altLang="zh-CN" sz="2000" b="1" dirty="0">
                <a:solidFill>
                  <a:srgbClr val="0000FF"/>
                </a:solidFill>
                <a:latin typeface="+mn-lt"/>
                <a:ea typeface="黑体" pitchFamily="2" charset="-122"/>
              </a:rPr>
              <a:t>RTT?</a:t>
            </a:r>
          </a:p>
        </p:txBody>
      </p:sp>
      <p:sp>
        <p:nvSpPr>
          <p:cNvPr id="749574" name="Line 6"/>
          <p:cNvSpPr>
            <a:spLocks noChangeShapeType="1"/>
          </p:cNvSpPr>
          <p:nvPr/>
        </p:nvSpPr>
        <p:spPr bwMode="auto">
          <a:xfrm>
            <a:off x="863747" y="5123719"/>
            <a:ext cx="8516408" cy="0"/>
          </a:xfrm>
          <a:prstGeom prst="line">
            <a:avLst/>
          </a:prstGeom>
          <a:noFill/>
          <a:ln w="28575">
            <a:solidFill>
              <a:srgbClr val="333399"/>
            </a:solidFill>
            <a:round/>
            <a:headEnd type="non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749575" name="Line 7"/>
          <p:cNvSpPr>
            <a:spLocks noChangeShapeType="1"/>
          </p:cNvSpPr>
          <p:nvPr/>
        </p:nvSpPr>
        <p:spPr bwMode="auto">
          <a:xfrm rot="-5400000">
            <a:off x="888882" y="4832413"/>
            <a:ext cx="582613" cy="0"/>
          </a:xfrm>
          <a:prstGeom prst="line">
            <a:avLst/>
          </a:prstGeom>
          <a:noFill/>
          <a:ln w="76200">
            <a:solidFill>
              <a:srgbClr val="0000FF"/>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749576" name="Text Box 8"/>
          <p:cNvSpPr txBox="1">
            <a:spLocks noChangeArrowheads="1"/>
          </p:cNvSpPr>
          <p:nvPr/>
        </p:nvSpPr>
        <p:spPr bwMode="auto">
          <a:xfrm>
            <a:off x="449011" y="3928074"/>
            <a:ext cx="1534587"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2000" b="1" dirty="0">
                <a:solidFill>
                  <a:srgbClr val="000099"/>
                </a:solidFill>
                <a:latin typeface="+mn-lt"/>
                <a:ea typeface="黑体" pitchFamily="2" charset="-122"/>
              </a:rPr>
              <a:t>发送一个</a:t>
            </a:r>
          </a:p>
          <a:p>
            <a:pPr algn="ctr"/>
            <a:r>
              <a:rPr kumimoji="1" lang="en-US" altLang="zh-CN" sz="2000" b="1" dirty="0">
                <a:solidFill>
                  <a:srgbClr val="000099"/>
                </a:solidFill>
                <a:latin typeface="+mn-lt"/>
                <a:ea typeface="黑体" pitchFamily="2" charset="-122"/>
              </a:rPr>
              <a:t>TCP </a:t>
            </a:r>
            <a:r>
              <a:rPr kumimoji="1" lang="zh-CN" altLang="en-US" sz="2000" b="1" dirty="0">
                <a:solidFill>
                  <a:srgbClr val="000099"/>
                </a:solidFill>
                <a:latin typeface="+mn-lt"/>
                <a:ea typeface="黑体" pitchFamily="2" charset="-122"/>
              </a:rPr>
              <a:t>报文段</a:t>
            </a:r>
          </a:p>
        </p:txBody>
      </p:sp>
      <p:sp>
        <p:nvSpPr>
          <p:cNvPr id="749577" name="Line 9"/>
          <p:cNvSpPr>
            <a:spLocks noChangeShapeType="1"/>
          </p:cNvSpPr>
          <p:nvPr/>
        </p:nvSpPr>
        <p:spPr bwMode="auto">
          <a:xfrm rot="-5400000">
            <a:off x="3726538" y="4832413"/>
            <a:ext cx="582613" cy="0"/>
          </a:xfrm>
          <a:prstGeom prst="line">
            <a:avLst/>
          </a:prstGeom>
          <a:noFill/>
          <a:ln w="76200">
            <a:solidFill>
              <a:srgbClr val="0000FF"/>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749578" name="Text Box 10"/>
          <p:cNvSpPr txBox="1">
            <a:spLocks noChangeArrowheads="1"/>
          </p:cNvSpPr>
          <p:nvPr/>
        </p:nvSpPr>
        <p:spPr bwMode="auto">
          <a:xfrm>
            <a:off x="3214435" y="3928074"/>
            <a:ext cx="1534586"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2000" b="1">
                <a:solidFill>
                  <a:srgbClr val="000099"/>
                </a:solidFill>
                <a:latin typeface="+mn-lt"/>
                <a:ea typeface="黑体" pitchFamily="2" charset="-122"/>
              </a:rPr>
              <a:t>超时重传</a:t>
            </a:r>
          </a:p>
          <a:p>
            <a:pPr algn="ctr"/>
            <a:r>
              <a:rPr kumimoji="1" lang="en-US" altLang="zh-CN" sz="2000" b="1">
                <a:solidFill>
                  <a:srgbClr val="000099"/>
                </a:solidFill>
                <a:latin typeface="+mn-lt"/>
                <a:ea typeface="黑体" pitchFamily="2" charset="-122"/>
              </a:rPr>
              <a:t>TCP </a:t>
            </a:r>
            <a:r>
              <a:rPr kumimoji="1" lang="zh-CN" altLang="en-US" sz="2000" b="1">
                <a:solidFill>
                  <a:srgbClr val="000099"/>
                </a:solidFill>
                <a:latin typeface="+mn-lt"/>
                <a:ea typeface="黑体" pitchFamily="2" charset="-122"/>
              </a:rPr>
              <a:t>报文段</a:t>
            </a:r>
          </a:p>
        </p:txBody>
      </p:sp>
      <p:sp>
        <p:nvSpPr>
          <p:cNvPr id="749579" name="Line 11"/>
          <p:cNvSpPr>
            <a:spLocks noChangeShapeType="1"/>
          </p:cNvSpPr>
          <p:nvPr/>
        </p:nvSpPr>
        <p:spPr bwMode="auto">
          <a:xfrm rot="-5400000">
            <a:off x="7511799" y="4832413"/>
            <a:ext cx="582613" cy="0"/>
          </a:xfrm>
          <a:prstGeom prst="line">
            <a:avLst/>
          </a:prstGeom>
          <a:noFill/>
          <a:ln w="76200">
            <a:solidFill>
              <a:srgbClr val="FF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749580" name="Text Box 12"/>
          <p:cNvSpPr txBox="1">
            <a:spLocks noChangeArrowheads="1"/>
          </p:cNvSpPr>
          <p:nvPr/>
        </p:nvSpPr>
        <p:spPr bwMode="auto">
          <a:xfrm>
            <a:off x="7143246" y="4235850"/>
            <a:ext cx="131972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2000" b="1" dirty="0">
                <a:solidFill>
                  <a:srgbClr val="000099"/>
                </a:solidFill>
                <a:latin typeface="+mn-lt"/>
                <a:ea typeface="黑体" pitchFamily="2" charset="-122"/>
              </a:rPr>
              <a:t>收到 </a:t>
            </a:r>
            <a:r>
              <a:rPr kumimoji="1" lang="en-US" altLang="zh-CN" sz="2000" b="1" dirty="0">
                <a:solidFill>
                  <a:srgbClr val="000099"/>
                </a:solidFill>
                <a:latin typeface="+mn-lt"/>
                <a:ea typeface="黑体" pitchFamily="2" charset="-122"/>
              </a:rPr>
              <a:t>ACK</a:t>
            </a:r>
          </a:p>
        </p:txBody>
      </p:sp>
      <p:sp>
        <p:nvSpPr>
          <p:cNvPr id="749581" name="Text Box 13"/>
          <p:cNvSpPr txBox="1">
            <a:spLocks noChangeArrowheads="1"/>
          </p:cNvSpPr>
          <p:nvPr/>
        </p:nvSpPr>
        <p:spPr bwMode="auto">
          <a:xfrm>
            <a:off x="8985448" y="5140016"/>
            <a:ext cx="69762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2000" b="1">
                <a:solidFill>
                  <a:srgbClr val="000099"/>
                </a:solidFill>
                <a:latin typeface="+mn-lt"/>
                <a:ea typeface="黑体" pitchFamily="2" charset="-122"/>
              </a:rPr>
              <a:t>时间</a:t>
            </a:r>
          </a:p>
        </p:txBody>
      </p:sp>
      <p:sp>
        <p:nvSpPr>
          <p:cNvPr id="749582" name="Text Box 14"/>
          <p:cNvSpPr txBox="1">
            <a:spLocks noChangeArrowheads="1"/>
          </p:cNvSpPr>
          <p:nvPr/>
        </p:nvSpPr>
        <p:spPr bwMode="auto">
          <a:xfrm>
            <a:off x="800687" y="4677632"/>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2000" b="1">
                <a:solidFill>
                  <a:srgbClr val="000099"/>
                </a:solidFill>
                <a:latin typeface="+mn-lt"/>
                <a:ea typeface="黑体" pitchFamily="2" charset="-122"/>
              </a:rPr>
              <a:t>1</a:t>
            </a:r>
          </a:p>
        </p:txBody>
      </p:sp>
      <p:sp>
        <p:nvSpPr>
          <p:cNvPr id="749583" name="Text Box 15"/>
          <p:cNvSpPr txBox="1">
            <a:spLocks noChangeArrowheads="1"/>
          </p:cNvSpPr>
          <p:nvPr/>
        </p:nvSpPr>
        <p:spPr bwMode="auto">
          <a:xfrm>
            <a:off x="3650382" y="4677632"/>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2000" b="1">
                <a:solidFill>
                  <a:srgbClr val="000099"/>
                </a:solidFill>
                <a:latin typeface="+mn-lt"/>
                <a:ea typeface="黑体" pitchFamily="2" charset="-122"/>
              </a:rPr>
              <a:t>2</a:t>
            </a:r>
          </a:p>
        </p:txBody>
      </p:sp>
      <p:sp>
        <p:nvSpPr>
          <p:cNvPr id="749584" name="Line 16"/>
          <p:cNvSpPr>
            <a:spLocks noChangeShapeType="1"/>
          </p:cNvSpPr>
          <p:nvPr/>
        </p:nvSpPr>
        <p:spPr bwMode="auto">
          <a:xfrm>
            <a:off x="4017845" y="5206270"/>
            <a:ext cx="0" cy="25082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749585" name="Line 17"/>
          <p:cNvSpPr>
            <a:spLocks noChangeShapeType="1"/>
          </p:cNvSpPr>
          <p:nvPr/>
        </p:nvSpPr>
        <p:spPr bwMode="auto">
          <a:xfrm>
            <a:off x="7803106" y="5206270"/>
            <a:ext cx="0" cy="73977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749586" name="Line 18"/>
          <p:cNvSpPr>
            <a:spLocks noChangeShapeType="1"/>
          </p:cNvSpPr>
          <p:nvPr/>
        </p:nvSpPr>
        <p:spPr bwMode="auto">
          <a:xfrm>
            <a:off x="1180188" y="5206270"/>
            <a:ext cx="0" cy="73977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749587" name="Line 19"/>
          <p:cNvSpPr>
            <a:spLocks noChangeShapeType="1"/>
          </p:cNvSpPr>
          <p:nvPr/>
        </p:nvSpPr>
        <p:spPr bwMode="auto">
          <a:xfrm>
            <a:off x="1180188" y="5777769"/>
            <a:ext cx="6622917" cy="0"/>
          </a:xfrm>
          <a:prstGeom prst="line">
            <a:avLst/>
          </a:prstGeom>
          <a:noFill/>
          <a:ln w="28575">
            <a:solidFill>
              <a:srgbClr val="3333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749588" name="Text Box 20"/>
          <p:cNvSpPr txBox="1">
            <a:spLocks noChangeArrowheads="1"/>
          </p:cNvSpPr>
          <p:nvPr/>
        </p:nvSpPr>
        <p:spPr bwMode="auto">
          <a:xfrm>
            <a:off x="3366205" y="5549170"/>
            <a:ext cx="1944764" cy="40011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2000" b="1">
                <a:solidFill>
                  <a:srgbClr val="0000FF"/>
                </a:solidFill>
                <a:latin typeface="+mn-lt"/>
                <a:ea typeface="黑体" pitchFamily="2" charset="-122"/>
              </a:rPr>
              <a:t>往返时间 </a:t>
            </a:r>
            <a:r>
              <a:rPr kumimoji="1" lang="en-US" altLang="zh-CN" sz="2000" b="1">
                <a:solidFill>
                  <a:srgbClr val="0000FF"/>
                </a:solidFill>
                <a:latin typeface="+mn-lt"/>
                <a:ea typeface="黑体" pitchFamily="2" charset="-122"/>
              </a:rPr>
              <a:t>RTT?</a:t>
            </a:r>
          </a:p>
        </p:txBody>
      </p:sp>
      <p:sp>
        <p:nvSpPr>
          <p:cNvPr id="749589" name="Freeform 21"/>
          <p:cNvSpPr>
            <a:spLocks/>
          </p:cNvSpPr>
          <p:nvPr/>
        </p:nvSpPr>
        <p:spPr bwMode="auto">
          <a:xfrm>
            <a:off x="4649008" y="3920394"/>
            <a:ext cx="2944283" cy="328612"/>
          </a:xfrm>
          <a:custGeom>
            <a:avLst/>
            <a:gdLst>
              <a:gd name="T0" fmla="*/ 1472 w 1472"/>
              <a:gd name="T1" fmla="*/ 189 h 189"/>
              <a:gd name="T2" fmla="*/ 1240 w 1472"/>
              <a:gd name="T3" fmla="*/ 85 h 189"/>
              <a:gd name="T4" fmla="*/ 948 w 1472"/>
              <a:gd name="T5" fmla="*/ 17 h 189"/>
              <a:gd name="T6" fmla="*/ 684 w 1472"/>
              <a:gd name="T7" fmla="*/ 1 h 189"/>
              <a:gd name="T8" fmla="*/ 480 w 1472"/>
              <a:gd name="T9" fmla="*/ 13 h 189"/>
              <a:gd name="T10" fmla="*/ 268 w 1472"/>
              <a:gd name="T11" fmla="*/ 61 h 189"/>
              <a:gd name="T12" fmla="*/ 96 w 1472"/>
              <a:gd name="T13" fmla="*/ 117 h 189"/>
              <a:gd name="T14" fmla="*/ 0 w 1472"/>
              <a:gd name="T15" fmla="*/ 165 h 18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72" h="189">
                <a:moveTo>
                  <a:pt x="1472" y="189"/>
                </a:moveTo>
                <a:cubicBezTo>
                  <a:pt x="1433" y="172"/>
                  <a:pt x="1327" y="114"/>
                  <a:pt x="1240" y="85"/>
                </a:cubicBezTo>
                <a:cubicBezTo>
                  <a:pt x="1153" y="56"/>
                  <a:pt x="1041" y="31"/>
                  <a:pt x="948" y="17"/>
                </a:cubicBezTo>
                <a:cubicBezTo>
                  <a:pt x="855" y="3"/>
                  <a:pt x="762" y="2"/>
                  <a:pt x="684" y="1"/>
                </a:cubicBezTo>
                <a:cubicBezTo>
                  <a:pt x="606" y="0"/>
                  <a:pt x="549" y="3"/>
                  <a:pt x="480" y="13"/>
                </a:cubicBezTo>
                <a:cubicBezTo>
                  <a:pt x="411" y="23"/>
                  <a:pt x="332" y="44"/>
                  <a:pt x="268" y="61"/>
                </a:cubicBezTo>
                <a:cubicBezTo>
                  <a:pt x="204" y="78"/>
                  <a:pt x="141" y="100"/>
                  <a:pt x="96" y="117"/>
                </a:cubicBezTo>
                <a:cubicBezTo>
                  <a:pt x="51" y="134"/>
                  <a:pt x="28" y="149"/>
                  <a:pt x="0" y="165"/>
                </a:cubicBezTo>
              </a:path>
            </a:pathLst>
          </a:custGeom>
          <a:noFill/>
          <a:ln w="76200" cap="flat" cmpd="sng">
            <a:solidFill>
              <a:srgbClr val="FF0000"/>
            </a:solidFill>
            <a:prstDash val="sysDot"/>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749590" name="Freeform 22"/>
          <p:cNvSpPr>
            <a:spLocks/>
          </p:cNvSpPr>
          <p:nvPr/>
        </p:nvSpPr>
        <p:spPr bwMode="auto">
          <a:xfrm>
            <a:off x="1811352" y="3629881"/>
            <a:ext cx="5781940" cy="577850"/>
          </a:xfrm>
          <a:custGeom>
            <a:avLst/>
            <a:gdLst>
              <a:gd name="T0" fmla="*/ 1472 w 1472"/>
              <a:gd name="T1" fmla="*/ 189 h 189"/>
              <a:gd name="T2" fmla="*/ 1240 w 1472"/>
              <a:gd name="T3" fmla="*/ 85 h 189"/>
              <a:gd name="T4" fmla="*/ 948 w 1472"/>
              <a:gd name="T5" fmla="*/ 17 h 189"/>
              <a:gd name="T6" fmla="*/ 684 w 1472"/>
              <a:gd name="T7" fmla="*/ 1 h 189"/>
              <a:gd name="T8" fmla="*/ 480 w 1472"/>
              <a:gd name="T9" fmla="*/ 13 h 189"/>
              <a:gd name="T10" fmla="*/ 268 w 1472"/>
              <a:gd name="T11" fmla="*/ 61 h 189"/>
              <a:gd name="T12" fmla="*/ 96 w 1472"/>
              <a:gd name="T13" fmla="*/ 117 h 189"/>
              <a:gd name="T14" fmla="*/ 0 w 1472"/>
              <a:gd name="T15" fmla="*/ 165 h 18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72" h="189">
                <a:moveTo>
                  <a:pt x="1472" y="189"/>
                </a:moveTo>
                <a:cubicBezTo>
                  <a:pt x="1433" y="172"/>
                  <a:pt x="1327" y="114"/>
                  <a:pt x="1240" y="85"/>
                </a:cubicBezTo>
                <a:cubicBezTo>
                  <a:pt x="1153" y="56"/>
                  <a:pt x="1041" y="31"/>
                  <a:pt x="948" y="17"/>
                </a:cubicBezTo>
                <a:cubicBezTo>
                  <a:pt x="855" y="3"/>
                  <a:pt x="762" y="2"/>
                  <a:pt x="684" y="1"/>
                </a:cubicBezTo>
                <a:cubicBezTo>
                  <a:pt x="606" y="0"/>
                  <a:pt x="549" y="3"/>
                  <a:pt x="480" y="13"/>
                </a:cubicBezTo>
                <a:cubicBezTo>
                  <a:pt x="411" y="23"/>
                  <a:pt x="332" y="44"/>
                  <a:pt x="268" y="61"/>
                </a:cubicBezTo>
                <a:cubicBezTo>
                  <a:pt x="204" y="78"/>
                  <a:pt x="141" y="100"/>
                  <a:pt x="96" y="117"/>
                </a:cubicBezTo>
                <a:cubicBezTo>
                  <a:pt x="51" y="134"/>
                  <a:pt x="28" y="149"/>
                  <a:pt x="0" y="165"/>
                </a:cubicBezTo>
              </a:path>
            </a:pathLst>
          </a:custGeom>
          <a:noFill/>
          <a:ln w="76200" cap="flat" cmpd="sng">
            <a:solidFill>
              <a:srgbClr val="FF0000"/>
            </a:solidFill>
            <a:prstDash val="sysDot"/>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749591" name="Text Box 23"/>
          <p:cNvSpPr txBox="1">
            <a:spLocks noChangeArrowheads="1"/>
          </p:cNvSpPr>
          <p:nvPr/>
        </p:nvSpPr>
        <p:spPr bwMode="auto">
          <a:xfrm>
            <a:off x="6897216" y="3411824"/>
            <a:ext cx="2236510" cy="70788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2000" b="1" dirty="0">
                <a:solidFill>
                  <a:srgbClr val="0000FF"/>
                </a:solidFill>
                <a:latin typeface="+mn-lt"/>
                <a:ea typeface="黑体" pitchFamily="2" charset="-122"/>
              </a:rPr>
              <a:t>是对哪一个报文段</a:t>
            </a:r>
          </a:p>
          <a:p>
            <a:pPr algn="ctr"/>
            <a:r>
              <a:rPr kumimoji="1" lang="zh-CN" altLang="en-US" sz="2000" b="1" dirty="0">
                <a:solidFill>
                  <a:srgbClr val="0000FF"/>
                </a:solidFill>
                <a:latin typeface="+mn-lt"/>
                <a:ea typeface="黑体" pitchFamily="2" charset="-122"/>
              </a:rPr>
              <a:t>的确认？</a:t>
            </a:r>
          </a:p>
        </p:txBody>
      </p:sp>
    </p:spTree>
    <p:extLst>
      <p:ext uri="{BB962C8B-B14F-4D97-AF65-F5344CB8AC3E}">
        <p14:creationId xmlns:p14="http://schemas.microsoft.com/office/powerpoint/2010/main" val="71752319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1618" name="Rectangle 2"/>
          <p:cNvSpPr>
            <a:spLocks noGrp="1" noChangeArrowheads="1"/>
          </p:cNvSpPr>
          <p:nvPr>
            <p:ph type="title"/>
          </p:nvPr>
        </p:nvSpPr>
        <p:spPr/>
        <p:txBody>
          <a:bodyPr/>
          <a:lstStyle/>
          <a:p>
            <a:pPr algn="ctr"/>
            <a:r>
              <a:rPr lang="en-US" altLang="zh-CN"/>
              <a:t>Karn </a:t>
            </a:r>
            <a:r>
              <a:rPr lang="zh-CN" altLang="en-US"/>
              <a:t>算法 </a:t>
            </a:r>
          </a:p>
        </p:txBody>
      </p:sp>
      <p:sp>
        <p:nvSpPr>
          <p:cNvPr id="751619" name="Rectangle 3"/>
          <p:cNvSpPr>
            <a:spLocks noGrp="1" noChangeArrowheads="1"/>
          </p:cNvSpPr>
          <p:nvPr>
            <p:ph idx="1"/>
          </p:nvPr>
        </p:nvSpPr>
        <p:spPr/>
        <p:txBody>
          <a:bodyPr/>
          <a:lstStyle/>
          <a:p>
            <a:r>
              <a:rPr lang="zh-CN" altLang="en-US" dirty="0">
                <a:solidFill>
                  <a:srgbClr val="0000FF"/>
                </a:solidFill>
              </a:rPr>
              <a:t>在计算平均往返时间 </a:t>
            </a:r>
            <a:r>
              <a:rPr lang="en-US" altLang="zh-CN" dirty="0">
                <a:solidFill>
                  <a:srgbClr val="0000FF"/>
                </a:solidFill>
              </a:rPr>
              <a:t>RTT </a:t>
            </a:r>
            <a:r>
              <a:rPr lang="zh-CN" altLang="en-US" dirty="0">
                <a:solidFill>
                  <a:srgbClr val="0000FF"/>
                </a:solidFill>
              </a:rPr>
              <a:t>时，只要报文段重传了，就不采用其往返时间样本。</a:t>
            </a:r>
          </a:p>
          <a:p>
            <a:r>
              <a:rPr lang="zh-CN" altLang="en-US" dirty="0"/>
              <a:t>这样得出的加权平均平均往返时间 </a:t>
            </a:r>
            <a:r>
              <a:rPr lang="en-US" altLang="zh-CN" dirty="0"/>
              <a:t>RTT</a:t>
            </a:r>
            <a:r>
              <a:rPr lang="en-US" altLang="zh-CN" baseline="-25000" dirty="0"/>
              <a:t>S</a:t>
            </a:r>
            <a:r>
              <a:rPr lang="en-US" altLang="zh-CN" dirty="0"/>
              <a:t> </a:t>
            </a:r>
            <a:r>
              <a:rPr lang="zh-CN" altLang="en-US" dirty="0"/>
              <a:t>和超时重传时间 </a:t>
            </a:r>
            <a:r>
              <a:rPr lang="en-US" altLang="zh-CN" dirty="0"/>
              <a:t>RTO </a:t>
            </a:r>
            <a:r>
              <a:rPr lang="zh-CN" altLang="en-US" dirty="0"/>
              <a:t>就较准确。</a:t>
            </a:r>
            <a:endParaRPr lang="en-US" altLang="zh-CN" dirty="0"/>
          </a:p>
          <a:p>
            <a:r>
              <a:rPr lang="zh-CN" altLang="zh-CN" dirty="0"/>
              <a:t>但是，这又引起</a:t>
            </a:r>
            <a:r>
              <a:rPr lang="zh-CN" altLang="zh-CN" dirty="0">
                <a:solidFill>
                  <a:srgbClr val="FF0000"/>
                </a:solidFill>
              </a:rPr>
              <a:t>新的问题。</a:t>
            </a:r>
            <a:r>
              <a:rPr lang="zh-CN" altLang="en-US" dirty="0"/>
              <a:t>当</a:t>
            </a:r>
            <a:r>
              <a:rPr lang="zh-CN" altLang="zh-CN" dirty="0"/>
              <a:t>报文段的时延突然增大了很多</a:t>
            </a:r>
            <a:r>
              <a:rPr lang="zh-CN" altLang="en-US" dirty="0"/>
              <a:t>时，</a:t>
            </a:r>
            <a:r>
              <a:rPr lang="zh-CN" altLang="zh-CN" dirty="0"/>
              <a:t>在原来得出的重传时间内，不会收到确认报文段。于是就重传报文段。但根据</a:t>
            </a:r>
            <a:r>
              <a:rPr lang="en-US" altLang="zh-CN" dirty="0"/>
              <a:t> </a:t>
            </a:r>
            <a:r>
              <a:rPr lang="en-US" altLang="zh-CN" dirty="0" err="1"/>
              <a:t>Karn</a:t>
            </a:r>
            <a:r>
              <a:rPr lang="en-US" altLang="zh-CN" dirty="0"/>
              <a:t> </a:t>
            </a:r>
            <a:r>
              <a:rPr lang="zh-CN" altLang="zh-CN" dirty="0"/>
              <a:t>算法，不考虑重传的报文段的往返时间样本。这样，</a:t>
            </a:r>
            <a:r>
              <a:rPr lang="zh-CN" altLang="zh-CN" dirty="0">
                <a:solidFill>
                  <a:srgbClr val="FF0000"/>
                </a:solidFill>
              </a:rPr>
              <a:t>超时重传时间就无法更新。</a:t>
            </a:r>
          </a:p>
        </p:txBody>
      </p:sp>
    </p:spTree>
    <p:extLst>
      <p:ext uri="{BB962C8B-B14F-4D97-AF65-F5344CB8AC3E}">
        <p14:creationId xmlns:p14="http://schemas.microsoft.com/office/powerpoint/2010/main" val="145776192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3667" name="Rectangle 3"/>
          <p:cNvSpPr>
            <a:spLocks noGrp="1" noChangeArrowheads="1"/>
          </p:cNvSpPr>
          <p:nvPr>
            <p:ph type="title"/>
          </p:nvPr>
        </p:nvSpPr>
        <p:spPr/>
        <p:txBody>
          <a:bodyPr/>
          <a:lstStyle/>
          <a:p>
            <a:pPr algn="ctr"/>
            <a:r>
              <a:rPr lang="zh-CN" altLang="en-US"/>
              <a:t>修正的 </a:t>
            </a:r>
            <a:r>
              <a:rPr lang="en-US" altLang="zh-CN"/>
              <a:t>Karn </a:t>
            </a:r>
            <a:r>
              <a:rPr lang="zh-CN" altLang="en-US"/>
              <a:t>算法 </a:t>
            </a:r>
          </a:p>
        </p:txBody>
      </p:sp>
      <p:sp>
        <p:nvSpPr>
          <p:cNvPr id="753668" name="Rectangle 4"/>
          <p:cNvSpPr>
            <a:spLocks noGrp="1" noChangeArrowheads="1"/>
          </p:cNvSpPr>
          <p:nvPr>
            <p:ph idx="1"/>
          </p:nvPr>
        </p:nvSpPr>
        <p:spPr/>
        <p:txBody>
          <a:bodyPr/>
          <a:lstStyle/>
          <a:p>
            <a:pPr algn="just">
              <a:lnSpc>
                <a:spcPct val="110000"/>
              </a:lnSpc>
            </a:pPr>
            <a:r>
              <a:rPr lang="zh-CN" altLang="en-US" dirty="0"/>
              <a:t>报文段每重传一次，就把 </a:t>
            </a:r>
            <a:r>
              <a:rPr lang="en-US" altLang="zh-CN" dirty="0"/>
              <a:t>RTO </a:t>
            </a:r>
            <a:r>
              <a:rPr lang="zh-CN" altLang="en-US" dirty="0"/>
              <a:t>增大一些：</a:t>
            </a:r>
          </a:p>
          <a:p>
            <a:pPr>
              <a:lnSpc>
                <a:spcPct val="110000"/>
              </a:lnSpc>
            </a:pPr>
            <a:endParaRPr lang="en-US" altLang="zh-CN" dirty="0"/>
          </a:p>
          <a:p>
            <a:pPr>
              <a:lnSpc>
                <a:spcPct val="110000"/>
              </a:lnSpc>
            </a:pPr>
            <a:endParaRPr lang="en-US" altLang="zh-CN" dirty="0"/>
          </a:p>
          <a:p>
            <a:pPr>
              <a:lnSpc>
                <a:spcPct val="110000"/>
              </a:lnSpc>
            </a:pPr>
            <a:r>
              <a:rPr lang="zh-CN" altLang="en-US" dirty="0"/>
              <a:t>系数 </a:t>
            </a:r>
            <a:r>
              <a:rPr lang="zh-CN" altLang="en-US" dirty="0">
                <a:sym typeface="Symbol" pitchFamily="18" charset="2"/>
              </a:rPr>
              <a:t> </a:t>
            </a:r>
            <a:r>
              <a:rPr lang="zh-CN" altLang="en-US" dirty="0"/>
              <a:t>的典型值是 </a:t>
            </a:r>
            <a:r>
              <a:rPr lang="en-US" altLang="zh-CN" dirty="0"/>
              <a:t>2 </a:t>
            </a:r>
            <a:r>
              <a:rPr lang="zh-CN" altLang="en-US" dirty="0"/>
              <a:t>。</a:t>
            </a:r>
          </a:p>
          <a:p>
            <a:pPr>
              <a:lnSpc>
                <a:spcPct val="110000"/>
              </a:lnSpc>
            </a:pPr>
            <a:r>
              <a:rPr lang="zh-CN" altLang="en-US" dirty="0"/>
              <a:t>当不再发生报文段的重传时，才根据报文段的往返时延更新平均往返时延 </a:t>
            </a:r>
            <a:r>
              <a:rPr lang="en-US" altLang="zh-CN" dirty="0"/>
              <a:t>RTT </a:t>
            </a:r>
            <a:r>
              <a:rPr lang="zh-CN" altLang="en-US" dirty="0"/>
              <a:t>和超时重传时间 </a:t>
            </a:r>
            <a:r>
              <a:rPr lang="en-US" altLang="zh-CN" dirty="0"/>
              <a:t>RTO </a:t>
            </a:r>
            <a:r>
              <a:rPr lang="zh-CN" altLang="en-US" dirty="0"/>
              <a:t>的数值。</a:t>
            </a:r>
          </a:p>
          <a:p>
            <a:pPr>
              <a:lnSpc>
                <a:spcPct val="110000"/>
              </a:lnSpc>
            </a:pPr>
            <a:r>
              <a:rPr lang="zh-CN" altLang="en-US" dirty="0"/>
              <a:t>实践证明，这种策略较为合理。 </a:t>
            </a:r>
          </a:p>
        </p:txBody>
      </p:sp>
      <p:sp>
        <p:nvSpPr>
          <p:cNvPr id="753666" name="Rectangle 2"/>
          <p:cNvSpPr>
            <a:spLocks noChangeArrowheads="1"/>
          </p:cNvSpPr>
          <p:nvPr/>
        </p:nvSpPr>
        <p:spPr bwMode="auto">
          <a:xfrm>
            <a:off x="920553" y="1988840"/>
            <a:ext cx="8496944" cy="841375"/>
          </a:xfrm>
          <a:prstGeom prst="rect">
            <a:avLst/>
          </a:prstGeom>
          <a:solidFill>
            <a:srgbClr val="66FF66"/>
          </a:solidFill>
          <a:ln w="9525">
            <a:solidFill>
              <a:srgbClr val="000066"/>
            </a:solidFill>
            <a:miter lim="800000"/>
            <a:headEnd/>
            <a:tailEnd/>
          </a:ln>
          <a:effectLst>
            <a:outerShdw dist="35921" sx="1000" sy="1000" algn="ctr" rotWithShape="0">
              <a:schemeClr val="bg2"/>
            </a:outerShdw>
          </a:effectLst>
        </p:spPr>
        <p:txBody>
          <a:bodyPr wrap="none" anchor="ctr"/>
          <a:lstStyle/>
          <a:p>
            <a:pPr>
              <a:spcBef>
                <a:spcPct val="30000"/>
              </a:spcBef>
              <a:buFont typeface="Wingdings" pitchFamily="2" charset="2"/>
              <a:buNone/>
            </a:pPr>
            <a:r>
              <a:rPr lang="zh-CN" altLang="en-US" sz="3200" b="1" dirty="0">
                <a:solidFill>
                  <a:srgbClr val="000099"/>
                </a:solidFill>
                <a:latin typeface="+mn-lt"/>
                <a:ea typeface="黑体" pitchFamily="2" charset="-122"/>
              </a:rPr>
              <a:t>新的 </a:t>
            </a:r>
            <a:r>
              <a:rPr lang="en-US" altLang="zh-CN" sz="3200" b="1" dirty="0">
                <a:solidFill>
                  <a:srgbClr val="000099"/>
                </a:solidFill>
                <a:latin typeface="+mn-lt"/>
                <a:ea typeface="黑体" pitchFamily="2" charset="-122"/>
              </a:rPr>
              <a:t>RTO </a:t>
            </a:r>
            <a:r>
              <a:rPr lang="en-US" altLang="zh-CN" sz="3200" b="1" dirty="0">
                <a:solidFill>
                  <a:srgbClr val="000099"/>
                </a:solidFill>
                <a:latin typeface="+mn-lt"/>
                <a:ea typeface="黑体" pitchFamily="2" charset="-122"/>
                <a:sym typeface="Symbol" pitchFamily="18" charset="2"/>
              </a:rPr>
              <a:t></a:t>
            </a:r>
            <a:r>
              <a:rPr lang="en-US" altLang="zh-CN" sz="3200" b="1" dirty="0">
                <a:solidFill>
                  <a:srgbClr val="000099"/>
                </a:solidFill>
                <a:latin typeface="+mn-lt"/>
                <a:ea typeface="黑体" pitchFamily="2" charset="-122"/>
              </a:rPr>
              <a:t> </a:t>
            </a:r>
            <a:r>
              <a:rPr lang="en-US" altLang="zh-CN" sz="3200" b="1" dirty="0">
                <a:solidFill>
                  <a:srgbClr val="000099"/>
                </a:solidFill>
                <a:latin typeface="+mn-lt"/>
                <a:ea typeface="黑体" pitchFamily="2" charset="-122"/>
                <a:sym typeface="Symbol" pitchFamily="18" charset="2"/>
              </a:rPr>
              <a:t></a:t>
            </a:r>
            <a:r>
              <a:rPr lang="en-US" altLang="zh-CN" sz="3200" b="1" dirty="0">
                <a:solidFill>
                  <a:srgbClr val="000099"/>
                </a:solidFill>
                <a:latin typeface="+mn-lt"/>
                <a:ea typeface="黑体" pitchFamily="2" charset="-122"/>
              </a:rPr>
              <a:t> </a:t>
            </a:r>
            <a:r>
              <a:rPr lang="en-US" altLang="zh-CN" sz="3200" b="1" dirty="0">
                <a:solidFill>
                  <a:srgbClr val="000099"/>
                </a:solidFill>
                <a:latin typeface="+mn-lt"/>
                <a:ea typeface="黑体" pitchFamily="2" charset="-122"/>
                <a:sym typeface="Symbol" pitchFamily="18" charset="2"/>
              </a:rPr>
              <a:t></a:t>
            </a:r>
            <a:r>
              <a:rPr lang="en-US" altLang="zh-CN" sz="3200" b="1" dirty="0">
                <a:solidFill>
                  <a:srgbClr val="000099"/>
                </a:solidFill>
                <a:latin typeface="+mn-lt"/>
                <a:ea typeface="黑体" pitchFamily="2" charset="-122"/>
              </a:rPr>
              <a:t> (</a:t>
            </a:r>
            <a:r>
              <a:rPr lang="zh-CN" altLang="en-US" sz="3200" b="1" dirty="0">
                <a:solidFill>
                  <a:srgbClr val="000099"/>
                </a:solidFill>
                <a:latin typeface="+mn-lt"/>
                <a:ea typeface="黑体" pitchFamily="2" charset="-122"/>
              </a:rPr>
              <a:t>旧的 </a:t>
            </a:r>
            <a:r>
              <a:rPr lang="en-US" altLang="zh-CN" sz="3200" b="1" dirty="0">
                <a:solidFill>
                  <a:srgbClr val="000099"/>
                </a:solidFill>
                <a:latin typeface="+mn-lt"/>
                <a:ea typeface="黑体" pitchFamily="2" charset="-122"/>
              </a:rPr>
              <a:t>RTO) </a:t>
            </a:r>
            <a:endParaRPr lang="zh-CN" altLang="en-US" sz="3200" b="1" dirty="0">
              <a:solidFill>
                <a:srgbClr val="000099"/>
              </a:solidFill>
              <a:latin typeface="+mn-lt"/>
              <a:ea typeface="黑体" pitchFamily="2" charset="-122"/>
            </a:endParaRPr>
          </a:p>
        </p:txBody>
      </p:sp>
    </p:spTree>
    <p:extLst>
      <p:ext uri="{BB962C8B-B14F-4D97-AF65-F5344CB8AC3E}">
        <p14:creationId xmlns:p14="http://schemas.microsoft.com/office/powerpoint/2010/main" val="238314917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9810" name="Rectangle 2"/>
          <p:cNvSpPr>
            <a:spLocks noGrp="1" noChangeArrowheads="1"/>
          </p:cNvSpPr>
          <p:nvPr>
            <p:ph type="title"/>
          </p:nvPr>
        </p:nvSpPr>
        <p:spPr/>
        <p:txBody>
          <a:bodyPr/>
          <a:lstStyle/>
          <a:p>
            <a:r>
              <a:rPr lang="zh-CN" altLang="zh-CN" dirty="0"/>
              <a:t>可靠传输的实现</a:t>
            </a:r>
            <a:r>
              <a:rPr lang="zh-CN" altLang="en-US" dirty="0"/>
              <a:t>：选择确认 </a:t>
            </a:r>
            <a:r>
              <a:rPr lang="en-US" altLang="zh-CN" dirty="0"/>
              <a:t>SACK</a:t>
            </a:r>
          </a:p>
        </p:txBody>
      </p:sp>
      <p:sp>
        <p:nvSpPr>
          <p:cNvPr id="759811" name="Rectangle 3"/>
          <p:cNvSpPr>
            <a:spLocks noGrp="1" noChangeArrowheads="1"/>
          </p:cNvSpPr>
          <p:nvPr>
            <p:ph idx="1"/>
          </p:nvPr>
        </p:nvSpPr>
        <p:spPr/>
        <p:txBody>
          <a:bodyPr/>
          <a:lstStyle/>
          <a:p>
            <a:r>
              <a:rPr lang="zh-CN" altLang="en-US" dirty="0">
                <a:solidFill>
                  <a:srgbClr val="FF0000"/>
                </a:solidFill>
              </a:rPr>
              <a:t>问题：</a:t>
            </a:r>
            <a:r>
              <a:rPr lang="zh-CN" altLang="zh-CN" dirty="0"/>
              <a:t>若收到的报文段无差错，只是未按序号，中间还缺少一些序号的数据，那么能否设法只传送缺少的数据而不重传已经正确到达接收方的数据？</a:t>
            </a:r>
            <a:endParaRPr lang="en-US" altLang="zh-CN" dirty="0"/>
          </a:p>
          <a:p>
            <a:r>
              <a:rPr lang="zh-CN" altLang="zh-CN" dirty="0"/>
              <a:t>答案是可以的。</a:t>
            </a:r>
            <a:r>
              <a:rPr lang="zh-CN" altLang="zh-CN" dirty="0">
                <a:solidFill>
                  <a:srgbClr val="FF0000"/>
                </a:solidFill>
              </a:rPr>
              <a:t>选择确认</a:t>
            </a:r>
            <a:r>
              <a:rPr lang="en-US" altLang="zh-CN" dirty="0">
                <a:solidFill>
                  <a:srgbClr val="FF0000"/>
                </a:solidFill>
              </a:rPr>
              <a:t> SACK </a:t>
            </a:r>
            <a:br>
              <a:rPr lang="en-US" altLang="zh-CN" dirty="0"/>
            </a:br>
            <a:r>
              <a:rPr lang="en-US" altLang="zh-CN" dirty="0"/>
              <a:t> (Selective ACK) </a:t>
            </a:r>
            <a:r>
              <a:rPr lang="zh-CN" altLang="zh-CN" dirty="0"/>
              <a:t>就是一种可行的处理方法。</a:t>
            </a:r>
          </a:p>
        </p:txBody>
      </p:sp>
    </p:spTree>
    <p:extLst>
      <p:ext uri="{BB962C8B-B14F-4D97-AF65-F5344CB8AC3E}">
        <p14:creationId xmlns:p14="http://schemas.microsoft.com/office/powerpoint/2010/main" val="258293784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0836" name="Rectangle 4"/>
          <p:cNvSpPr>
            <a:spLocks noGrp="1" noChangeArrowheads="1"/>
          </p:cNvSpPr>
          <p:nvPr>
            <p:ph type="title"/>
          </p:nvPr>
        </p:nvSpPr>
        <p:spPr/>
        <p:txBody>
          <a:bodyPr/>
          <a:lstStyle/>
          <a:p>
            <a:pPr algn="ctr"/>
            <a:r>
              <a:rPr lang="zh-CN" altLang="en-US" dirty="0"/>
              <a:t>接收到的字节流序号不连续 </a:t>
            </a:r>
          </a:p>
        </p:txBody>
      </p:sp>
      <p:sp>
        <p:nvSpPr>
          <p:cNvPr id="760838" name="Rectangle 6"/>
          <p:cNvSpPr>
            <a:spLocks noChangeArrowheads="1"/>
          </p:cNvSpPr>
          <p:nvPr/>
        </p:nvSpPr>
        <p:spPr bwMode="auto">
          <a:xfrm>
            <a:off x="325004" y="2758455"/>
            <a:ext cx="2263246" cy="431800"/>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760839" name="Rectangle 7"/>
          <p:cNvSpPr>
            <a:spLocks noChangeArrowheads="1"/>
          </p:cNvSpPr>
          <p:nvPr/>
        </p:nvSpPr>
        <p:spPr bwMode="auto">
          <a:xfrm>
            <a:off x="3523817" y="2758455"/>
            <a:ext cx="2106744" cy="431800"/>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760840" name="Rectangle 8"/>
          <p:cNvSpPr>
            <a:spLocks noChangeArrowheads="1"/>
          </p:cNvSpPr>
          <p:nvPr/>
        </p:nvSpPr>
        <p:spPr bwMode="auto">
          <a:xfrm>
            <a:off x="6487017" y="2758455"/>
            <a:ext cx="2964921" cy="431800"/>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760847" name="Text Box 15"/>
          <p:cNvSpPr txBox="1">
            <a:spLocks noChangeArrowheads="1"/>
          </p:cNvSpPr>
          <p:nvPr/>
        </p:nvSpPr>
        <p:spPr bwMode="auto">
          <a:xfrm>
            <a:off x="364559" y="2806080"/>
            <a:ext cx="9412977" cy="33855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1600" b="1" dirty="0">
                <a:solidFill>
                  <a:srgbClr val="0000FF"/>
                </a:solidFill>
                <a:latin typeface="+mn-lt"/>
                <a:ea typeface="黑体" pitchFamily="2" charset="-122"/>
              </a:rPr>
              <a:t>1                           1000                 1501                    3000                3501                                  4500</a:t>
            </a:r>
          </a:p>
        </p:txBody>
      </p:sp>
      <p:sp>
        <p:nvSpPr>
          <p:cNvPr id="760851" name="Text Box 19"/>
          <p:cNvSpPr txBox="1">
            <a:spLocks noChangeArrowheads="1"/>
          </p:cNvSpPr>
          <p:nvPr/>
        </p:nvSpPr>
        <p:spPr bwMode="auto">
          <a:xfrm>
            <a:off x="1424608" y="3478163"/>
            <a:ext cx="1657826" cy="3693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b="1" dirty="0">
                <a:solidFill>
                  <a:srgbClr val="FF0000"/>
                </a:solidFill>
                <a:latin typeface="+mn-lt"/>
                <a:ea typeface="黑体" pitchFamily="2" charset="-122"/>
              </a:rPr>
              <a:t>确认号 </a:t>
            </a:r>
            <a:r>
              <a:rPr lang="en-US" altLang="zh-CN" b="1" dirty="0">
                <a:solidFill>
                  <a:srgbClr val="FF0000"/>
                </a:solidFill>
                <a:latin typeface="+mn-lt"/>
                <a:ea typeface="黑体" pitchFamily="2" charset="-122"/>
              </a:rPr>
              <a:t>= 1001</a:t>
            </a:r>
          </a:p>
        </p:txBody>
      </p:sp>
      <p:sp>
        <p:nvSpPr>
          <p:cNvPr id="760858" name="Text Box 26"/>
          <p:cNvSpPr txBox="1">
            <a:spLocks noChangeArrowheads="1"/>
          </p:cNvSpPr>
          <p:nvPr/>
        </p:nvSpPr>
        <p:spPr bwMode="auto">
          <a:xfrm>
            <a:off x="3144177" y="3478163"/>
            <a:ext cx="1186543" cy="3693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solidFill>
                  <a:srgbClr val="000099"/>
                </a:solidFill>
                <a:latin typeface="+mn-lt"/>
                <a:ea typeface="黑体" pitchFamily="2" charset="-122"/>
              </a:rPr>
              <a:t>L</a:t>
            </a:r>
            <a:r>
              <a:rPr lang="en-US" altLang="zh-CN" b="1" baseline="-25000">
                <a:solidFill>
                  <a:srgbClr val="000099"/>
                </a:solidFill>
                <a:latin typeface="+mn-lt"/>
                <a:ea typeface="黑体" pitchFamily="2" charset="-122"/>
              </a:rPr>
              <a:t>1</a:t>
            </a:r>
            <a:r>
              <a:rPr lang="en-US" altLang="zh-CN" b="1">
                <a:solidFill>
                  <a:srgbClr val="000099"/>
                </a:solidFill>
                <a:latin typeface="+mn-lt"/>
                <a:ea typeface="黑体" pitchFamily="2" charset="-122"/>
              </a:rPr>
              <a:t> = 1501</a:t>
            </a:r>
          </a:p>
        </p:txBody>
      </p:sp>
      <p:sp>
        <p:nvSpPr>
          <p:cNvPr id="760859" name="Text Box 27"/>
          <p:cNvSpPr txBox="1">
            <a:spLocks noChangeArrowheads="1"/>
          </p:cNvSpPr>
          <p:nvPr/>
        </p:nvSpPr>
        <p:spPr bwMode="auto">
          <a:xfrm>
            <a:off x="6107378" y="3478163"/>
            <a:ext cx="1186543" cy="3693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solidFill>
                  <a:srgbClr val="000099"/>
                </a:solidFill>
                <a:latin typeface="+mn-lt"/>
                <a:ea typeface="黑体" pitchFamily="2" charset="-122"/>
              </a:rPr>
              <a:t>L</a:t>
            </a:r>
            <a:r>
              <a:rPr lang="en-US" altLang="zh-CN" b="1" baseline="-25000">
                <a:solidFill>
                  <a:srgbClr val="000099"/>
                </a:solidFill>
                <a:latin typeface="+mn-lt"/>
                <a:ea typeface="黑体" pitchFamily="2" charset="-122"/>
              </a:rPr>
              <a:t>2</a:t>
            </a:r>
            <a:r>
              <a:rPr lang="en-US" altLang="zh-CN" b="1">
                <a:solidFill>
                  <a:srgbClr val="000099"/>
                </a:solidFill>
                <a:latin typeface="+mn-lt"/>
                <a:ea typeface="黑体" pitchFamily="2" charset="-122"/>
              </a:rPr>
              <a:t> = 3501</a:t>
            </a:r>
          </a:p>
        </p:txBody>
      </p:sp>
      <p:sp>
        <p:nvSpPr>
          <p:cNvPr id="760860" name="Text Box 28"/>
          <p:cNvSpPr txBox="1">
            <a:spLocks noChangeArrowheads="1"/>
          </p:cNvSpPr>
          <p:nvPr/>
        </p:nvSpPr>
        <p:spPr bwMode="auto">
          <a:xfrm>
            <a:off x="4953000" y="3478163"/>
            <a:ext cx="1212191" cy="3693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dirty="0">
                <a:solidFill>
                  <a:srgbClr val="000099"/>
                </a:solidFill>
                <a:latin typeface="+mn-lt"/>
                <a:ea typeface="黑体" pitchFamily="2" charset="-122"/>
              </a:rPr>
              <a:t>R</a:t>
            </a:r>
            <a:r>
              <a:rPr lang="en-US" altLang="zh-CN" b="1" baseline="-25000" dirty="0">
                <a:solidFill>
                  <a:srgbClr val="000099"/>
                </a:solidFill>
                <a:latin typeface="+mn-lt"/>
                <a:ea typeface="黑体" pitchFamily="2" charset="-122"/>
              </a:rPr>
              <a:t>1</a:t>
            </a:r>
            <a:r>
              <a:rPr lang="en-US" altLang="zh-CN" b="1" dirty="0">
                <a:solidFill>
                  <a:srgbClr val="000099"/>
                </a:solidFill>
                <a:latin typeface="+mn-lt"/>
                <a:ea typeface="黑体" pitchFamily="2" charset="-122"/>
              </a:rPr>
              <a:t> = 3001</a:t>
            </a:r>
          </a:p>
        </p:txBody>
      </p:sp>
      <p:sp>
        <p:nvSpPr>
          <p:cNvPr id="760861" name="Text Box 29"/>
          <p:cNvSpPr txBox="1">
            <a:spLocks noChangeArrowheads="1"/>
          </p:cNvSpPr>
          <p:nvPr/>
        </p:nvSpPr>
        <p:spPr bwMode="auto">
          <a:xfrm>
            <a:off x="8687085" y="3456677"/>
            <a:ext cx="1212191" cy="3693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dirty="0">
                <a:solidFill>
                  <a:srgbClr val="000099"/>
                </a:solidFill>
                <a:latin typeface="+mn-lt"/>
                <a:ea typeface="黑体" pitchFamily="2" charset="-122"/>
              </a:rPr>
              <a:t>R</a:t>
            </a:r>
            <a:r>
              <a:rPr lang="en-US" altLang="zh-CN" b="1" baseline="-25000" dirty="0">
                <a:solidFill>
                  <a:srgbClr val="000099"/>
                </a:solidFill>
                <a:latin typeface="+mn-lt"/>
                <a:ea typeface="黑体" pitchFamily="2" charset="-122"/>
              </a:rPr>
              <a:t>1</a:t>
            </a:r>
            <a:r>
              <a:rPr lang="en-US" altLang="zh-CN" b="1" dirty="0">
                <a:solidFill>
                  <a:srgbClr val="000099"/>
                </a:solidFill>
                <a:latin typeface="+mn-lt"/>
                <a:ea typeface="黑体" pitchFamily="2" charset="-122"/>
              </a:rPr>
              <a:t> = 4501</a:t>
            </a:r>
          </a:p>
        </p:txBody>
      </p:sp>
      <p:sp>
        <p:nvSpPr>
          <p:cNvPr id="760837" name="Line 5"/>
          <p:cNvSpPr>
            <a:spLocks noChangeShapeType="1"/>
          </p:cNvSpPr>
          <p:nvPr/>
        </p:nvSpPr>
        <p:spPr bwMode="auto">
          <a:xfrm>
            <a:off x="325004" y="2566367"/>
            <a:ext cx="2263246" cy="0"/>
          </a:xfrm>
          <a:prstGeom prst="line">
            <a:avLst/>
          </a:prstGeom>
          <a:noFill/>
          <a:ln w="1905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760841" name="Text Box 9"/>
          <p:cNvSpPr txBox="1">
            <a:spLocks noChangeArrowheads="1"/>
          </p:cNvSpPr>
          <p:nvPr/>
        </p:nvSpPr>
        <p:spPr bwMode="auto">
          <a:xfrm>
            <a:off x="2722493" y="2496517"/>
            <a:ext cx="64633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600" b="1" dirty="0">
                <a:solidFill>
                  <a:srgbClr val="000099"/>
                </a:solidFill>
                <a:latin typeface="+mn-lt"/>
                <a:ea typeface="黑体" pitchFamily="2" charset="-122"/>
              </a:rPr>
              <a:t>…</a:t>
            </a:r>
          </a:p>
        </p:txBody>
      </p:sp>
      <p:sp>
        <p:nvSpPr>
          <p:cNvPr id="760842" name="Text Box 10"/>
          <p:cNvSpPr txBox="1">
            <a:spLocks noChangeArrowheads="1"/>
          </p:cNvSpPr>
          <p:nvPr/>
        </p:nvSpPr>
        <p:spPr bwMode="auto">
          <a:xfrm>
            <a:off x="5745088" y="2401267"/>
            <a:ext cx="748923"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4400" b="1" dirty="0">
                <a:solidFill>
                  <a:srgbClr val="000099"/>
                </a:solidFill>
                <a:latin typeface="+mn-lt"/>
                <a:ea typeface="黑体" pitchFamily="2" charset="-122"/>
              </a:rPr>
              <a:t>…</a:t>
            </a:r>
          </a:p>
        </p:txBody>
      </p:sp>
      <p:sp>
        <p:nvSpPr>
          <p:cNvPr id="760843" name="Line 11"/>
          <p:cNvSpPr>
            <a:spLocks noChangeShapeType="1"/>
          </p:cNvSpPr>
          <p:nvPr/>
        </p:nvSpPr>
        <p:spPr bwMode="auto">
          <a:xfrm flipH="1">
            <a:off x="344488" y="2469530"/>
            <a:ext cx="0" cy="26511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760844" name="Text Box 12"/>
          <p:cNvSpPr txBox="1">
            <a:spLocks noChangeArrowheads="1"/>
          </p:cNvSpPr>
          <p:nvPr/>
        </p:nvSpPr>
        <p:spPr bwMode="auto">
          <a:xfrm>
            <a:off x="715396" y="2371105"/>
            <a:ext cx="1425390" cy="338554"/>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600" b="1">
                <a:solidFill>
                  <a:srgbClr val="000099"/>
                </a:solidFill>
                <a:latin typeface="+mn-lt"/>
                <a:ea typeface="黑体" pitchFamily="2" charset="-122"/>
              </a:rPr>
              <a:t>连续的字节流</a:t>
            </a:r>
          </a:p>
        </p:txBody>
      </p:sp>
      <p:sp>
        <p:nvSpPr>
          <p:cNvPr id="760846" name="Line 14"/>
          <p:cNvSpPr>
            <a:spLocks noChangeShapeType="1"/>
          </p:cNvSpPr>
          <p:nvPr/>
        </p:nvSpPr>
        <p:spPr bwMode="auto">
          <a:xfrm flipV="1">
            <a:off x="2638123" y="3045792"/>
            <a:ext cx="0" cy="431800"/>
          </a:xfrm>
          <a:prstGeom prst="line">
            <a:avLst/>
          </a:prstGeom>
          <a:noFill/>
          <a:ln w="28575">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760848" name="Text Box 16"/>
          <p:cNvSpPr txBox="1">
            <a:spLocks noChangeArrowheads="1"/>
          </p:cNvSpPr>
          <p:nvPr/>
        </p:nvSpPr>
        <p:spPr bwMode="auto">
          <a:xfrm>
            <a:off x="1200377" y="2660030"/>
            <a:ext cx="49244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b="1">
                <a:solidFill>
                  <a:srgbClr val="000099"/>
                </a:solidFill>
                <a:latin typeface="+mn-lt"/>
                <a:ea typeface="黑体" pitchFamily="2" charset="-122"/>
              </a:rPr>
              <a:t>…</a:t>
            </a:r>
          </a:p>
        </p:txBody>
      </p:sp>
      <p:sp>
        <p:nvSpPr>
          <p:cNvPr id="760849" name="Text Box 17"/>
          <p:cNvSpPr txBox="1">
            <a:spLocks noChangeArrowheads="1"/>
          </p:cNvSpPr>
          <p:nvPr/>
        </p:nvSpPr>
        <p:spPr bwMode="auto">
          <a:xfrm>
            <a:off x="4320079" y="2660030"/>
            <a:ext cx="49244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b="1">
                <a:solidFill>
                  <a:srgbClr val="000099"/>
                </a:solidFill>
                <a:latin typeface="+mn-lt"/>
                <a:ea typeface="黑体" pitchFamily="2" charset="-122"/>
              </a:rPr>
              <a:t>…</a:t>
            </a:r>
          </a:p>
        </p:txBody>
      </p:sp>
      <p:sp>
        <p:nvSpPr>
          <p:cNvPr id="760850" name="Text Box 18"/>
          <p:cNvSpPr txBox="1">
            <a:spLocks noChangeArrowheads="1"/>
          </p:cNvSpPr>
          <p:nvPr/>
        </p:nvSpPr>
        <p:spPr bwMode="auto">
          <a:xfrm>
            <a:off x="7830175" y="2660030"/>
            <a:ext cx="49244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b="1">
                <a:solidFill>
                  <a:srgbClr val="000099"/>
                </a:solidFill>
                <a:latin typeface="+mn-lt"/>
                <a:ea typeface="黑体" pitchFamily="2" charset="-122"/>
              </a:rPr>
              <a:t>…</a:t>
            </a:r>
          </a:p>
        </p:txBody>
      </p:sp>
      <p:sp>
        <p:nvSpPr>
          <p:cNvPr id="760852" name="Line 20"/>
          <p:cNvSpPr>
            <a:spLocks noChangeShapeType="1"/>
          </p:cNvSpPr>
          <p:nvPr/>
        </p:nvSpPr>
        <p:spPr bwMode="auto">
          <a:xfrm flipV="1">
            <a:off x="3757708" y="3045792"/>
            <a:ext cx="0" cy="431800"/>
          </a:xfrm>
          <a:prstGeom prst="line">
            <a:avLst/>
          </a:prstGeom>
          <a:noFill/>
          <a:ln w="28575">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760853" name="Line 21"/>
          <p:cNvSpPr>
            <a:spLocks noChangeShapeType="1"/>
          </p:cNvSpPr>
          <p:nvPr/>
        </p:nvSpPr>
        <p:spPr bwMode="auto">
          <a:xfrm flipV="1">
            <a:off x="5707952" y="3045792"/>
            <a:ext cx="0" cy="431800"/>
          </a:xfrm>
          <a:prstGeom prst="line">
            <a:avLst/>
          </a:prstGeom>
          <a:noFill/>
          <a:ln w="28575">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760854" name="Line 22"/>
          <p:cNvSpPr>
            <a:spLocks noChangeShapeType="1"/>
          </p:cNvSpPr>
          <p:nvPr/>
        </p:nvSpPr>
        <p:spPr bwMode="auto">
          <a:xfrm flipV="1">
            <a:off x="6722629" y="3045792"/>
            <a:ext cx="0" cy="431800"/>
          </a:xfrm>
          <a:prstGeom prst="line">
            <a:avLst/>
          </a:prstGeom>
          <a:noFill/>
          <a:ln w="28575">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760855" name="Line 23"/>
          <p:cNvSpPr>
            <a:spLocks noChangeShapeType="1"/>
          </p:cNvSpPr>
          <p:nvPr/>
        </p:nvSpPr>
        <p:spPr bwMode="auto">
          <a:xfrm flipV="1">
            <a:off x="9529329" y="3045792"/>
            <a:ext cx="0" cy="431800"/>
          </a:xfrm>
          <a:prstGeom prst="line">
            <a:avLst/>
          </a:prstGeom>
          <a:noFill/>
          <a:ln w="28575">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760856" name="Text Box 24"/>
          <p:cNvSpPr txBox="1">
            <a:spLocks noChangeArrowheads="1"/>
          </p:cNvSpPr>
          <p:nvPr/>
        </p:nvSpPr>
        <p:spPr bwMode="auto">
          <a:xfrm>
            <a:off x="3835098" y="2358405"/>
            <a:ext cx="1425390" cy="33855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600" b="1">
                <a:solidFill>
                  <a:srgbClr val="000099"/>
                </a:solidFill>
                <a:latin typeface="+mn-lt"/>
                <a:ea typeface="黑体" pitchFamily="2" charset="-122"/>
              </a:rPr>
              <a:t>第一个字节块</a:t>
            </a:r>
          </a:p>
        </p:txBody>
      </p:sp>
      <p:sp>
        <p:nvSpPr>
          <p:cNvPr id="760857" name="Text Box 25"/>
          <p:cNvSpPr txBox="1">
            <a:spLocks noChangeArrowheads="1"/>
          </p:cNvSpPr>
          <p:nvPr/>
        </p:nvSpPr>
        <p:spPr bwMode="auto">
          <a:xfrm>
            <a:off x="7307358" y="2348880"/>
            <a:ext cx="1425390" cy="33855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600" b="1">
                <a:solidFill>
                  <a:srgbClr val="000099"/>
                </a:solidFill>
                <a:latin typeface="+mn-lt"/>
                <a:ea typeface="黑体" pitchFamily="2" charset="-122"/>
              </a:rPr>
              <a:t>第二个字节块</a:t>
            </a:r>
          </a:p>
        </p:txBody>
      </p:sp>
      <p:sp>
        <p:nvSpPr>
          <p:cNvPr id="760862" name="Text Box 30"/>
          <p:cNvSpPr txBox="1">
            <a:spLocks noChangeArrowheads="1"/>
          </p:cNvSpPr>
          <p:nvPr/>
        </p:nvSpPr>
        <p:spPr bwMode="auto">
          <a:xfrm>
            <a:off x="488504" y="4098925"/>
            <a:ext cx="9145016" cy="1938992"/>
          </a:xfrm>
          <a:prstGeom prst="rect">
            <a:avLst/>
          </a:prstGeom>
          <a:solidFill>
            <a:srgbClr val="FFFF66"/>
          </a:solidFill>
          <a:ln w="9525">
            <a:solidFill>
              <a:schemeClr val="folHlink"/>
            </a:solidFill>
            <a:miter lim="800000"/>
            <a:headEnd/>
            <a:tailEnd/>
          </a:ln>
          <a:effectLst/>
        </p:spPr>
        <p:txBody>
          <a:bodyPr wrap="square">
            <a:spAutoFit/>
          </a:bodyPr>
          <a:lstStyle/>
          <a:p>
            <a:r>
              <a:rPr lang="zh-CN" altLang="en-US" sz="2400" b="1" dirty="0">
                <a:solidFill>
                  <a:srgbClr val="000099"/>
                </a:solidFill>
                <a:latin typeface="+mn-lt"/>
                <a:ea typeface="黑体" pitchFamily="2" charset="-122"/>
              </a:rPr>
              <a:t>和前后字节不连续的每一个字节块都有</a:t>
            </a:r>
            <a:r>
              <a:rPr lang="zh-CN" altLang="en-US" sz="2400" b="1" dirty="0">
                <a:solidFill>
                  <a:srgbClr val="FF0000"/>
                </a:solidFill>
                <a:latin typeface="+mn-lt"/>
                <a:ea typeface="黑体" pitchFamily="2" charset="-122"/>
              </a:rPr>
              <a:t>两个边界：边界和右边界。</a:t>
            </a:r>
          </a:p>
          <a:p>
            <a:pPr marL="342900" indent="-342900">
              <a:buSzPct val="80000"/>
              <a:buFont typeface="Wingdings" pitchFamily="2" charset="2"/>
              <a:buChar char="l"/>
            </a:pPr>
            <a:r>
              <a:rPr lang="zh-CN" altLang="en-US" sz="2400" b="1" dirty="0">
                <a:solidFill>
                  <a:srgbClr val="000099"/>
                </a:solidFill>
                <a:latin typeface="+mn-lt"/>
                <a:ea typeface="黑体" pitchFamily="2" charset="-122"/>
              </a:rPr>
              <a:t>第一个字节块的左边界 </a:t>
            </a:r>
            <a:r>
              <a:rPr lang="en-US" altLang="zh-CN" sz="2400" b="1" dirty="0">
                <a:solidFill>
                  <a:srgbClr val="000099"/>
                </a:solidFill>
                <a:latin typeface="+mn-lt"/>
                <a:ea typeface="黑体" pitchFamily="2" charset="-122"/>
              </a:rPr>
              <a:t>L</a:t>
            </a:r>
            <a:r>
              <a:rPr lang="en-US" altLang="zh-CN" sz="2400" b="1" baseline="-25000" dirty="0">
                <a:solidFill>
                  <a:srgbClr val="000099"/>
                </a:solidFill>
                <a:latin typeface="+mn-lt"/>
                <a:ea typeface="黑体" pitchFamily="2" charset="-122"/>
              </a:rPr>
              <a:t>1</a:t>
            </a:r>
            <a:r>
              <a:rPr lang="en-US" altLang="zh-CN" sz="2400" b="1" dirty="0">
                <a:solidFill>
                  <a:srgbClr val="000099"/>
                </a:solidFill>
                <a:latin typeface="+mn-lt"/>
                <a:ea typeface="黑体" pitchFamily="2" charset="-122"/>
              </a:rPr>
              <a:t> = 1501</a:t>
            </a:r>
            <a:r>
              <a:rPr lang="zh-CN" altLang="en-US" sz="2400" b="1" dirty="0">
                <a:solidFill>
                  <a:srgbClr val="000099"/>
                </a:solidFill>
                <a:latin typeface="+mn-lt"/>
                <a:ea typeface="黑体" pitchFamily="2" charset="-122"/>
              </a:rPr>
              <a:t>，但右边界 </a:t>
            </a:r>
            <a:r>
              <a:rPr lang="en-US" altLang="zh-CN" sz="2400" b="1" dirty="0">
                <a:solidFill>
                  <a:srgbClr val="000099"/>
                </a:solidFill>
                <a:latin typeface="+mn-lt"/>
                <a:ea typeface="黑体" pitchFamily="2" charset="-122"/>
              </a:rPr>
              <a:t>R</a:t>
            </a:r>
            <a:r>
              <a:rPr lang="en-US" altLang="zh-CN" sz="2400" b="1" baseline="-25000" dirty="0">
                <a:solidFill>
                  <a:srgbClr val="000099"/>
                </a:solidFill>
                <a:latin typeface="+mn-lt"/>
                <a:ea typeface="黑体" pitchFamily="2" charset="-122"/>
              </a:rPr>
              <a:t>1</a:t>
            </a:r>
            <a:r>
              <a:rPr lang="en-US" altLang="zh-CN" sz="2400" b="1" dirty="0">
                <a:solidFill>
                  <a:srgbClr val="000099"/>
                </a:solidFill>
                <a:latin typeface="+mn-lt"/>
                <a:ea typeface="黑体" pitchFamily="2" charset="-122"/>
              </a:rPr>
              <a:t> = 3001</a:t>
            </a:r>
            <a:r>
              <a:rPr lang="zh-CN" altLang="en-US" sz="2400" b="1" dirty="0">
                <a:solidFill>
                  <a:srgbClr val="000099"/>
                </a:solidFill>
                <a:latin typeface="+mn-lt"/>
                <a:ea typeface="黑体" pitchFamily="2" charset="-122"/>
              </a:rPr>
              <a:t>。左边界指出字节块的第一个字节的序号，但右边界减 </a:t>
            </a:r>
            <a:r>
              <a:rPr lang="en-US" altLang="zh-CN" sz="2400" b="1" dirty="0">
                <a:solidFill>
                  <a:srgbClr val="000099"/>
                </a:solidFill>
                <a:latin typeface="+mn-lt"/>
                <a:ea typeface="黑体" pitchFamily="2" charset="-122"/>
              </a:rPr>
              <a:t>1 </a:t>
            </a:r>
            <a:r>
              <a:rPr lang="zh-CN" altLang="en-US" sz="2400" b="1" dirty="0">
                <a:solidFill>
                  <a:srgbClr val="000099"/>
                </a:solidFill>
                <a:latin typeface="+mn-lt"/>
                <a:ea typeface="黑体" pitchFamily="2" charset="-122"/>
              </a:rPr>
              <a:t>才是字节块中的最后一个序号。</a:t>
            </a:r>
            <a:endParaRPr lang="en-US" altLang="zh-CN" sz="2400" b="1" dirty="0">
              <a:solidFill>
                <a:srgbClr val="000099"/>
              </a:solidFill>
              <a:latin typeface="+mn-lt"/>
              <a:ea typeface="黑体" pitchFamily="2" charset="-122"/>
            </a:endParaRPr>
          </a:p>
          <a:p>
            <a:pPr marL="342900" indent="-342900">
              <a:buSzPct val="80000"/>
              <a:buFont typeface="Wingdings" pitchFamily="2" charset="2"/>
              <a:buChar char="l"/>
            </a:pPr>
            <a:r>
              <a:rPr lang="zh-CN" altLang="en-US" sz="2400" b="1" dirty="0">
                <a:solidFill>
                  <a:srgbClr val="000099"/>
                </a:solidFill>
                <a:latin typeface="+mn-lt"/>
                <a:ea typeface="黑体" pitchFamily="2" charset="-122"/>
              </a:rPr>
              <a:t>第二个字节块的左边界 </a:t>
            </a:r>
            <a:r>
              <a:rPr lang="en-US" altLang="zh-CN" sz="2400" b="1" dirty="0">
                <a:solidFill>
                  <a:srgbClr val="000099"/>
                </a:solidFill>
                <a:latin typeface="+mn-lt"/>
                <a:ea typeface="黑体" pitchFamily="2" charset="-122"/>
              </a:rPr>
              <a:t>L</a:t>
            </a:r>
            <a:r>
              <a:rPr lang="en-US" altLang="zh-CN" sz="2400" b="1" baseline="-25000" dirty="0">
                <a:solidFill>
                  <a:srgbClr val="000099"/>
                </a:solidFill>
                <a:latin typeface="+mn-lt"/>
                <a:ea typeface="黑体" pitchFamily="2" charset="-122"/>
              </a:rPr>
              <a:t>2</a:t>
            </a:r>
            <a:r>
              <a:rPr lang="en-US" altLang="zh-CN" sz="2400" b="1" dirty="0">
                <a:solidFill>
                  <a:srgbClr val="000099"/>
                </a:solidFill>
                <a:latin typeface="+mn-lt"/>
                <a:ea typeface="黑体" pitchFamily="2" charset="-122"/>
              </a:rPr>
              <a:t> = 3501</a:t>
            </a:r>
            <a:r>
              <a:rPr lang="zh-CN" altLang="en-US" sz="2400" b="1" dirty="0">
                <a:solidFill>
                  <a:srgbClr val="000099"/>
                </a:solidFill>
                <a:latin typeface="+mn-lt"/>
                <a:ea typeface="黑体" pitchFamily="2" charset="-122"/>
              </a:rPr>
              <a:t>，而右边界 </a:t>
            </a:r>
            <a:r>
              <a:rPr lang="en-US" altLang="zh-CN" sz="2400" b="1" dirty="0">
                <a:solidFill>
                  <a:srgbClr val="000099"/>
                </a:solidFill>
                <a:latin typeface="+mn-lt"/>
                <a:ea typeface="黑体" pitchFamily="2" charset="-122"/>
              </a:rPr>
              <a:t>R</a:t>
            </a:r>
            <a:r>
              <a:rPr lang="en-US" altLang="zh-CN" sz="2400" b="1" baseline="-25000" dirty="0">
                <a:solidFill>
                  <a:srgbClr val="000099"/>
                </a:solidFill>
                <a:latin typeface="+mn-lt"/>
                <a:ea typeface="黑体" pitchFamily="2" charset="-122"/>
              </a:rPr>
              <a:t>2</a:t>
            </a:r>
            <a:r>
              <a:rPr lang="en-US" altLang="zh-CN" sz="2400" b="1" dirty="0">
                <a:solidFill>
                  <a:srgbClr val="000099"/>
                </a:solidFill>
                <a:latin typeface="+mn-lt"/>
                <a:ea typeface="黑体" pitchFamily="2" charset="-122"/>
              </a:rPr>
              <a:t> = 4501</a:t>
            </a:r>
            <a:r>
              <a:rPr lang="zh-CN" altLang="en-US" sz="2400" b="1" dirty="0">
                <a:solidFill>
                  <a:srgbClr val="000099"/>
                </a:solidFill>
                <a:latin typeface="+mn-lt"/>
                <a:ea typeface="黑体" pitchFamily="2" charset="-122"/>
              </a:rPr>
              <a:t>。 </a:t>
            </a:r>
          </a:p>
        </p:txBody>
      </p:sp>
      <p:sp>
        <p:nvSpPr>
          <p:cNvPr id="31" name="Line 11"/>
          <p:cNvSpPr>
            <a:spLocks noChangeShapeType="1"/>
          </p:cNvSpPr>
          <p:nvPr/>
        </p:nvSpPr>
        <p:spPr bwMode="auto">
          <a:xfrm flipH="1">
            <a:off x="2588250" y="2469530"/>
            <a:ext cx="0" cy="26511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2" name="矩形 1"/>
          <p:cNvSpPr/>
          <p:nvPr/>
        </p:nvSpPr>
        <p:spPr>
          <a:xfrm>
            <a:off x="707062" y="1196752"/>
            <a:ext cx="8744875" cy="954107"/>
          </a:xfrm>
          <a:prstGeom prst="rect">
            <a:avLst/>
          </a:prstGeom>
          <a:solidFill>
            <a:srgbClr val="66FF66"/>
          </a:solidFill>
          <a:ln>
            <a:solidFill>
              <a:srgbClr val="003399"/>
            </a:solidFill>
          </a:ln>
        </p:spPr>
        <p:txBody>
          <a:bodyPr wrap="square">
            <a:spAutoFit/>
          </a:bodyPr>
          <a:lstStyle/>
          <a:p>
            <a:r>
              <a:rPr lang="en-US" altLang="zh-CN" sz="2800" b="1" dirty="0">
                <a:solidFill>
                  <a:srgbClr val="000099"/>
                </a:solidFill>
                <a:latin typeface="+mn-lt"/>
                <a:ea typeface="黑体" pitchFamily="2" charset="-122"/>
              </a:rPr>
              <a:t>TCP </a:t>
            </a:r>
            <a:r>
              <a:rPr lang="zh-CN" altLang="zh-CN" sz="2800" b="1" dirty="0">
                <a:solidFill>
                  <a:srgbClr val="000099"/>
                </a:solidFill>
                <a:latin typeface="+mn-lt"/>
                <a:ea typeface="黑体" pitchFamily="2" charset="-122"/>
              </a:rPr>
              <a:t>的接收方在接收对方发送过来的数据字节流的序号不连续，结果就形成了一些不连续的字节块</a:t>
            </a:r>
            <a:r>
              <a:rPr lang="zh-CN" altLang="en-US" sz="2800" b="1" dirty="0">
                <a:solidFill>
                  <a:srgbClr val="000099"/>
                </a:solidFill>
                <a:latin typeface="+mn-lt"/>
                <a:ea typeface="黑体" pitchFamily="2" charset="-122"/>
              </a:rPr>
              <a:t>。</a:t>
            </a:r>
          </a:p>
        </p:txBody>
      </p:sp>
    </p:spTree>
    <p:extLst>
      <p:ext uri="{BB962C8B-B14F-4D97-AF65-F5344CB8AC3E}">
        <p14:creationId xmlns:p14="http://schemas.microsoft.com/office/powerpoint/2010/main" val="238011110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9810" name="Rectangle 2"/>
          <p:cNvSpPr>
            <a:spLocks noGrp="1" noChangeArrowheads="1"/>
          </p:cNvSpPr>
          <p:nvPr>
            <p:ph type="title"/>
          </p:nvPr>
        </p:nvSpPr>
        <p:spPr/>
        <p:txBody>
          <a:bodyPr/>
          <a:lstStyle/>
          <a:p>
            <a:r>
              <a:rPr lang="zh-CN" altLang="zh-CN" dirty="0"/>
              <a:t>可靠传输的实现</a:t>
            </a:r>
            <a:r>
              <a:rPr lang="zh-CN" altLang="en-US" dirty="0"/>
              <a:t>：选择确认 </a:t>
            </a:r>
            <a:r>
              <a:rPr lang="en-US" altLang="zh-CN" dirty="0"/>
              <a:t>SACK</a:t>
            </a:r>
          </a:p>
        </p:txBody>
      </p:sp>
      <p:sp>
        <p:nvSpPr>
          <p:cNvPr id="759811" name="Rectangle 3"/>
          <p:cNvSpPr>
            <a:spLocks noGrp="1" noChangeArrowheads="1"/>
          </p:cNvSpPr>
          <p:nvPr>
            <p:ph idx="1"/>
          </p:nvPr>
        </p:nvSpPr>
        <p:spPr/>
        <p:txBody>
          <a:bodyPr/>
          <a:lstStyle/>
          <a:p>
            <a:r>
              <a:rPr lang="zh-CN" altLang="en-US" dirty="0"/>
              <a:t>接收方收到了和前面的字节流不连续的两个字节块。</a:t>
            </a:r>
          </a:p>
          <a:p>
            <a:r>
              <a:rPr lang="zh-CN" altLang="en-US" dirty="0"/>
              <a:t>如果这些字节的序号都在接收窗口之内，那么接收方就</a:t>
            </a:r>
            <a:r>
              <a:rPr lang="zh-CN" altLang="en-US" dirty="0">
                <a:solidFill>
                  <a:srgbClr val="FF0000"/>
                </a:solidFill>
              </a:rPr>
              <a:t>先收下</a:t>
            </a:r>
            <a:r>
              <a:rPr lang="zh-CN" altLang="en-US" dirty="0"/>
              <a:t>这些数据，</a:t>
            </a:r>
            <a:r>
              <a:rPr lang="zh-CN" altLang="en-US" dirty="0">
                <a:solidFill>
                  <a:srgbClr val="0000FF"/>
                </a:solidFill>
              </a:rPr>
              <a:t>但要把这些信息准确地告诉发送方，使发送方不要再重复发送这些已收到的数据。</a:t>
            </a:r>
          </a:p>
        </p:txBody>
      </p:sp>
    </p:spTree>
    <p:extLst>
      <p:ext uri="{BB962C8B-B14F-4D97-AF65-F5344CB8AC3E}">
        <p14:creationId xmlns:p14="http://schemas.microsoft.com/office/powerpoint/2010/main" val="59203963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2882" name="Rectangle 2"/>
          <p:cNvSpPr>
            <a:spLocks noGrp="1" noChangeArrowheads="1"/>
          </p:cNvSpPr>
          <p:nvPr>
            <p:ph type="title"/>
          </p:nvPr>
        </p:nvSpPr>
        <p:spPr/>
        <p:txBody>
          <a:bodyPr/>
          <a:lstStyle/>
          <a:p>
            <a:pPr algn="ctr"/>
            <a:r>
              <a:rPr lang="en-US" altLang="zh-CN"/>
              <a:t>RFC 2018 </a:t>
            </a:r>
            <a:r>
              <a:rPr lang="zh-CN" altLang="en-US"/>
              <a:t>的规定</a:t>
            </a:r>
          </a:p>
        </p:txBody>
      </p:sp>
      <p:sp>
        <p:nvSpPr>
          <p:cNvPr id="762883" name="Rectangle 3"/>
          <p:cNvSpPr>
            <a:spLocks noGrp="1" noChangeArrowheads="1"/>
          </p:cNvSpPr>
          <p:nvPr>
            <p:ph idx="1"/>
          </p:nvPr>
        </p:nvSpPr>
        <p:spPr/>
        <p:txBody>
          <a:bodyPr/>
          <a:lstStyle/>
          <a:p>
            <a:r>
              <a:rPr lang="zh-CN" altLang="en-US" sz="2800" dirty="0"/>
              <a:t>如果要使用选择确认，那么在建立 </a:t>
            </a:r>
            <a:r>
              <a:rPr lang="en-US" altLang="zh-CN" sz="2800" dirty="0"/>
              <a:t>TCP </a:t>
            </a:r>
            <a:r>
              <a:rPr lang="zh-CN" altLang="en-US" sz="2800" dirty="0"/>
              <a:t>连接时，就要在 </a:t>
            </a:r>
            <a:r>
              <a:rPr lang="en-US" altLang="zh-CN" sz="2800" dirty="0"/>
              <a:t>TCP </a:t>
            </a:r>
            <a:r>
              <a:rPr lang="zh-CN" altLang="en-US" sz="2800" dirty="0"/>
              <a:t>首部的选项中加上“允许 </a:t>
            </a:r>
            <a:r>
              <a:rPr lang="en-US" altLang="zh-CN" sz="2800" dirty="0"/>
              <a:t>SACK”</a:t>
            </a:r>
            <a:r>
              <a:rPr lang="zh-CN" altLang="en-US" sz="2800" dirty="0"/>
              <a:t>的选项，而双方必须都事先商定好。</a:t>
            </a:r>
          </a:p>
          <a:p>
            <a:r>
              <a:rPr lang="zh-CN" altLang="en-US" sz="2800" dirty="0"/>
              <a:t>如果使用选择确认，那么原来首部中的“确认号字段”的用法仍然不变。只是以后在 </a:t>
            </a:r>
            <a:r>
              <a:rPr lang="en-US" altLang="zh-CN" sz="2800" dirty="0"/>
              <a:t>TCP </a:t>
            </a:r>
            <a:r>
              <a:rPr lang="zh-CN" altLang="en-US" sz="2800" dirty="0"/>
              <a:t>报文段的首部中都增加了 </a:t>
            </a:r>
            <a:r>
              <a:rPr lang="en-US" altLang="zh-CN" sz="2800" dirty="0"/>
              <a:t>SACK </a:t>
            </a:r>
            <a:r>
              <a:rPr lang="zh-CN" altLang="en-US" sz="2800" dirty="0"/>
              <a:t>选项，以便报告收到的不连续的字节块的边界。</a:t>
            </a:r>
          </a:p>
          <a:p>
            <a:r>
              <a:rPr lang="zh-CN" altLang="en-US" sz="2800" dirty="0"/>
              <a:t>由于首部选项的长度最多只有 </a:t>
            </a:r>
            <a:r>
              <a:rPr lang="en-US" altLang="zh-CN" sz="2800" dirty="0"/>
              <a:t>40 </a:t>
            </a:r>
            <a:r>
              <a:rPr lang="zh-CN" altLang="en-US" sz="2800" dirty="0"/>
              <a:t>字节，而指明一个边界就要用掉 </a:t>
            </a:r>
            <a:r>
              <a:rPr lang="en-US" altLang="zh-CN" sz="2800" dirty="0"/>
              <a:t>4 </a:t>
            </a:r>
            <a:r>
              <a:rPr lang="zh-CN" altLang="en-US" sz="2800" dirty="0"/>
              <a:t>字节，因此在选项中最多只能指明 </a:t>
            </a:r>
            <a:r>
              <a:rPr lang="en-US" altLang="zh-CN" sz="2800" dirty="0"/>
              <a:t>4 </a:t>
            </a:r>
            <a:r>
              <a:rPr lang="zh-CN" altLang="en-US" sz="2800" dirty="0"/>
              <a:t>个字节块的边界信息。</a:t>
            </a:r>
          </a:p>
        </p:txBody>
      </p:sp>
    </p:spTree>
    <p:extLst>
      <p:ext uri="{BB962C8B-B14F-4D97-AF65-F5344CB8AC3E}">
        <p14:creationId xmlns:p14="http://schemas.microsoft.com/office/powerpoint/2010/main" val="124986956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运输</a:t>
            </a:r>
            <a:r>
              <a:rPr lang="zh-CN" altLang="zh-CN" dirty="0"/>
              <a:t>层</a:t>
            </a:r>
            <a:endParaRPr lang="zh-CN" altLang="en-US" dirty="0"/>
          </a:p>
        </p:txBody>
      </p:sp>
      <p:sp>
        <p:nvSpPr>
          <p:cNvPr id="3" name="内容占位符 2"/>
          <p:cNvSpPr>
            <a:spLocks noGrp="1"/>
          </p:cNvSpPr>
          <p:nvPr>
            <p:ph idx="1"/>
          </p:nvPr>
        </p:nvSpPr>
        <p:spPr/>
        <p:txBody>
          <a:bodyPr/>
          <a:lstStyle/>
          <a:p>
            <a:r>
              <a:rPr lang="en-US" altLang="zh-CN" sz="2800" dirty="0">
                <a:solidFill>
                  <a:schemeClr val="bg1">
                    <a:lumMod val="65000"/>
                  </a:schemeClr>
                </a:solidFill>
              </a:rPr>
              <a:t>TCP </a:t>
            </a:r>
            <a:r>
              <a:rPr lang="zh-CN" altLang="zh-CN" sz="2800" dirty="0">
                <a:solidFill>
                  <a:schemeClr val="bg1">
                    <a:lumMod val="65000"/>
                  </a:schemeClr>
                </a:solidFill>
              </a:rPr>
              <a:t>的运输连接管理</a:t>
            </a:r>
          </a:p>
          <a:p>
            <a:r>
              <a:rPr lang="en-US" altLang="zh-CN" sz="2800" dirty="0">
                <a:solidFill>
                  <a:schemeClr val="bg1">
                    <a:lumMod val="65000"/>
                  </a:schemeClr>
                </a:solidFill>
              </a:rPr>
              <a:t>TCP </a:t>
            </a:r>
            <a:r>
              <a:rPr lang="zh-CN" altLang="zh-CN" sz="2800" dirty="0">
                <a:solidFill>
                  <a:schemeClr val="bg1">
                    <a:lumMod val="65000"/>
                  </a:schemeClr>
                </a:solidFill>
              </a:rPr>
              <a:t>可靠传输的实现</a:t>
            </a:r>
          </a:p>
          <a:p>
            <a:r>
              <a:rPr lang="en-US" altLang="zh-CN" dirty="0">
                <a:solidFill>
                  <a:srgbClr val="FF0000"/>
                </a:solidFill>
              </a:rPr>
              <a:t>TCP </a:t>
            </a:r>
            <a:r>
              <a:rPr lang="zh-CN" altLang="zh-CN" dirty="0">
                <a:solidFill>
                  <a:srgbClr val="FF0000"/>
                </a:solidFill>
              </a:rPr>
              <a:t>的流量控制</a:t>
            </a:r>
          </a:p>
          <a:p>
            <a:r>
              <a:rPr lang="en-US" altLang="zh-CN" sz="2800" dirty="0">
                <a:solidFill>
                  <a:schemeClr val="bg1">
                    <a:lumMod val="65000"/>
                  </a:schemeClr>
                </a:solidFill>
              </a:rPr>
              <a:t>TCP </a:t>
            </a:r>
            <a:r>
              <a:rPr lang="zh-CN" altLang="zh-CN" sz="2800" dirty="0">
                <a:solidFill>
                  <a:schemeClr val="bg1">
                    <a:lumMod val="65000"/>
                  </a:schemeClr>
                </a:solidFill>
              </a:rPr>
              <a:t>的拥塞控制</a:t>
            </a:r>
          </a:p>
        </p:txBody>
      </p:sp>
    </p:spTree>
    <p:extLst>
      <p:ext uri="{BB962C8B-B14F-4D97-AF65-F5344CB8AC3E}">
        <p14:creationId xmlns:p14="http://schemas.microsoft.com/office/powerpoint/2010/main" val="196815208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8306" name="Rectangle 2"/>
          <p:cNvSpPr>
            <a:spLocks noGrp="1" noChangeArrowheads="1"/>
          </p:cNvSpPr>
          <p:nvPr>
            <p:ph type="title"/>
          </p:nvPr>
        </p:nvSpPr>
        <p:spPr/>
        <p:txBody>
          <a:bodyPr/>
          <a:lstStyle/>
          <a:p>
            <a:r>
              <a:rPr lang="zh-CN" altLang="en-US" dirty="0"/>
              <a:t>利用滑动窗口实现流量控制</a:t>
            </a:r>
          </a:p>
        </p:txBody>
      </p:sp>
      <p:sp>
        <p:nvSpPr>
          <p:cNvPr id="738307" name="Rectangle 3"/>
          <p:cNvSpPr>
            <a:spLocks noGrp="1" noChangeArrowheads="1"/>
          </p:cNvSpPr>
          <p:nvPr>
            <p:ph idx="1"/>
          </p:nvPr>
        </p:nvSpPr>
        <p:spPr/>
        <p:txBody>
          <a:bodyPr/>
          <a:lstStyle/>
          <a:p>
            <a:r>
              <a:rPr lang="zh-CN" altLang="en-US" dirty="0"/>
              <a:t>一般说来，我们总是希望数据传输得更快一些。但如果发送方把数据发送得过快，接收方就可能来不及接收，这就会造成数据的丢失。</a:t>
            </a:r>
          </a:p>
          <a:p>
            <a:r>
              <a:rPr lang="zh-CN" altLang="en-US" dirty="0">
                <a:solidFill>
                  <a:srgbClr val="FF0000"/>
                </a:solidFill>
              </a:rPr>
              <a:t>流量控制</a:t>
            </a:r>
            <a:r>
              <a:rPr lang="zh-CN" altLang="en-US" dirty="0">
                <a:solidFill>
                  <a:schemeClr val="hlink"/>
                </a:solidFill>
              </a:rPr>
              <a:t> </a:t>
            </a:r>
            <a:r>
              <a:rPr lang="en-US" altLang="zh-CN" dirty="0"/>
              <a:t>(flow control) </a:t>
            </a:r>
            <a:r>
              <a:rPr lang="zh-CN" altLang="en-US" dirty="0"/>
              <a:t>就是让发送方的发送速率不要太快，既要让接收方来得及接收，也不要使网络发生拥塞。</a:t>
            </a:r>
          </a:p>
          <a:p>
            <a:pPr>
              <a:spcAft>
                <a:spcPct val="10000"/>
              </a:spcAft>
            </a:pPr>
            <a:r>
              <a:rPr lang="zh-CN" altLang="en-US" dirty="0"/>
              <a:t>利用</a:t>
            </a:r>
            <a:r>
              <a:rPr lang="zh-CN" altLang="en-US" dirty="0">
                <a:solidFill>
                  <a:srgbClr val="FF0000"/>
                </a:solidFill>
              </a:rPr>
              <a:t>滑动窗口机制</a:t>
            </a:r>
            <a:r>
              <a:rPr lang="zh-CN" altLang="en-US" dirty="0"/>
              <a:t>可以很方便地在 </a:t>
            </a:r>
            <a:r>
              <a:rPr lang="en-US" altLang="zh-CN" dirty="0"/>
              <a:t>TCP </a:t>
            </a:r>
            <a:r>
              <a:rPr lang="zh-CN" altLang="en-US" dirty="0"/>
              <a:t>连接上实现流量控制。 </a:t>
            </a:r>
          </a:p>
        </p:txBody>
      </p:sp>
    </p:spTree>
    <p:extLst>
      <p:ext uri="{BB962C8B-B14F-4D97-AF65-F5344CB8AC3E}">
        <p14:creationId xmlns:p14="http://schemas.microsoft.com/office/powerpoint/2010/main" val="262308142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4452" name="Line 4"/>
          <p:cNvSpPr>
            <a:spLocks noChangeShapeType="1"/>
          </p:cNvSpPr>
          <p:nvPr/>
        </p:nvSpPr>
        <p:spPr bwMode="auto">
          <a:xfrm>
            <a:off x="3919812" y="2280370"/>
            <a:ext cx="0" cy="4132262"/>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744453" name="Line 5"/>
          <p:cNvSpPr>
            <a:spLocks noChangeShapeType="1"/>
          </p:cNvSpPr>
          <p:nvPr/>
        </p:nvSpPr>
        <p:spPr bwMode="auto">
          <a:xfrm>
            <a:off x="450992" y="2439120"/>
            <a:ext cx="3456781" cy="0"/>
          </a:xfrm>
          <a:prstGeom prst="line">
            <a:avLst/>
          </a:prstGeom>
          <a:noFill/>
          <a:ln w="38100">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744454" name="Rectangle 6"/>
          <p:cNvSpPr>
            <a:spLocks noChangeArrowheads="1"/>
          </p:cNvSpPr>
          <p:nvPr/>
        </p:nvSpPr>
        <p:spPr bwMode="auto">
          <a:xfrm>
            <a:off x="1016803" y="2116857"/>
            <a:ext cx="1703994"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800" b="1">
                <a:solidFill>
                  <a:srgbClr val="000099"/>
                </a:solidFill>
                <a:latin typeface="+mn-lt"/>
                <a:ea typeface="黑体" pitchFamily="2" charset="-122"/>
              </a:rPr>
              <a:t>seq = 1, DATA</a:t>
            </a:r>
          </a:p>
        </p:txBody>
      </p:sp>
      <p:sp>
        <p:nvSpPr>
          <p:cNvPr id="744455" name="Line 7"/>
          <p:cNvSpPr>
            <a:spLocks noChangeShapeType="1"/>
          </p:cNvSpPr>
          <p:nvPr/>
        </p:nvSpPr>
        <p:spPr bwMode="auto">
          <a:xfrm>
            <a:off x="452712" y="4990232"/>
            <a:ext cx="3451621" cy="0"/>
          </a:xfrm>
          <a:prstGeom prst="line">
            <a:avLst/>
          </a:prstGeom>
          <a:noFill/>
          <a:ln w="38100">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744456" name="Rectangle 8"/>
          <p:cNvSpPr>
            <a:spLocks noChangeArrowheads="1"/>
          </p:cNvSpPr>
          <p:nvPr/>
        </p:nvSpPr>
        <p:spPr bwMode="auto">
          <a:xfrm>
            <a:off x="1016803" y="4644157"/>
            <a:ext cx="1963103"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800" b="1">
                <a:solidFill>
                  <a:srgbClr val="000099"/>
                </a:solidFill>
                <a:latin typeface="+mn-lt"/>
                <a:ea typeface="黑体" pitchFamily="2" charset="-122"/>
              </a:rPr>
              <a:t>seq = 201, DATA</a:t>
            </a:r>
          </a:p>
        </p:txBody>
      </p:sp>
      <p:sp>
        <p:nvSpPr>
          <p:cNvPr id="744457" name="Line 9"/>
          <p:cNvSpPr>
            <a:spLocks noChangeShapeType="1"/>
          </p:cNvSpPr>
          <p:nvPr/>
        </p:nvSpPr>
        <p:spPr bwMode="auto">
          <a:xfrm>
            <a:off x="454431" y="4571132"/>
            <a:ext cx="3448183" cy="0"/>
          </a:xfrm>
          <a:prstGeom prst="line">
            <a:avLst/>
          </a:prstGeom>
          <a:noFill/>
          <a:ln w="38100">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744458" name="Rectangle 10"/>
          <p:cNvSpPr>
            <a:spLocks noChangeArrowheads="1"/>
          </p:cNvSpPr>
          <p:nvPr/>
        </p:nvSpPr>
        <p:spPr bwMode="auto">
          <a:xfrm>
            <a:off x="1016803" y="4226646"/>
            <a:ext cx="1963103"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800" b="1">
                <a:solidFill>
                  <a:srgbClr val="000099"/>
                </a:solidFill>
                <a:latin typeface="+mn-lt"/>
                <a:ea typeface="黑体" pitchFamily="2" charset="-122"/>
              </a:rPr>
              <a:t>seq = 401, DATA</a:t>
            </a:r>
          </a:p>
        </p:txBody>
      </p:sp>
      <p:sp>
        <p:nvSpPr>
          <p:cNvPr id="744459" name="Line 11"/>
          <p:cNvSpPr>
            <a:spLocks noChangeShapeType="1"/>
          </p:cNvSpPr>
          <p:nvPr/>
        </p:nvSpPr>
        <p:spPr bwMode="auto">
          <a:xfrm>
            <a:off x="447552" y="4136157"/>
            <a:ext cx="3461941" cy="0"/>
          </a:xfrm>
          <a:prstGeom prst="line">
            <a:avLst/>
          </a:prstGeom>
          <a:noFill/>
          <a:ln w="38100">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744460" name="Rectangle 12"/>
          <p:cNvSpPr>
            <a:spLocks noChangeArrowheads="1"/>
          </p:cNvSpPr>
          <p:nvPr/>
        </p:nvSpPr>
        <p:spPr bwMode="auto">
          <a:xfrm>
            <a:off x="1016803" y="3782146"/>
            <a:ext cx="1963103"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800" b="1">
                <a:solidFill>
                  <a:srgbClr val="000099"/>
                </a:solidFill>
                <a:latin typeface="+mn-lt"/>
                <a:ea typeface="黑体" pitchFamily="2" charset="-122"/>
              </a:rPr>
              <a:t>seq = 301, DATA</a:t>
            </a:r>
          </a:p>
        </p:txBody>
      </p:sp>
      <p:sp>
        <p:nvSpPr>
          <p:cNvPr id="744461" name="Line 13"/>
          <p:cNvSpPr>
            <a:spLocks noChangeShapeType="1"/>
          </p:cNvSpPr>
          <p:nvPr/>
        </p:nvSpPr>
        <p:spPr bwMode="auto">
          <a:xfrm>
            <a:off x="449272" y="2858220"/>
            <a:ext cx="3458501" cy="0"/>
          </a:xfrm>
          <a:prstGeom prst="line">
            <a:avLst/>
          </a:prstGeom>
          <a:noFill/>
          <a:ln w="38100">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744462" name="Rectangle 14"/>
          <p:cNvSpPr>
            <a:spLocks noChangeArrowheads="1"/>
          </p:cNvSpPr>
          <p:nvPr/>
        </p:nvSpPr>
        <p:spPr bwMode="auto">
          <a:xfrm>
            <a:off x="1016803" y="2520082"/>
            <a:ext cx="1963103"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800" b="1">
                <a:solidFill>
                  <a:srgbClr val="000099"/>
                </a:solidFill>
                <a:latin typeface="+mn-lt"/>
                <a:ea typeface="黑体" pitchFamily="2" charset="-122"/>
              </a:rPr>
              <a:t>seq = 101, DATA</a:t>
            </a:r>
          </a:p>
        </p:txBody>
      </p:sp>
      <p:sp>
        <p:nvSpPr>
          <p:cNvPr id="744463" name="Line 15"/>
          <p:cNvSpPr>
            <a:spLocks noChangeShapeType="1"/>
          </p:cNvSpPr>
          <p:nvPr/>
        </p:nvSpPr>
        <p:spPr bwMode="auto">
          <a:xfrm>
            <a:off x="444113" y="3301132"/>
            <a:ext cx="2323439" cy="0"/>
          </a:xfrm>
          <a:prstGeom prst="line">
            <a:avLst/>
          </a:prstGeom>
          <a:noFill/>
          <a:ln w="38100">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744464" name="Rectangle 16"/>
          <p:cNvSpPr>
            <a:spLocks noChangeArrowheads="1"/>
          </p:cNvSpPr>
          <p:nvPr/>
        </p:nvSpPr>
        <p:spPr bwMode="auto">
          <a:xfrm>
            <a:off x="1016803" y="2980457"/>
            <a:ext cx="1963103"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800" b="1">
                <a:solidFill>
                  <a:srgbClr val="000099"/>
                </a:solidFill>
                <a:latin typeface="+mn-lt"/>
                <a:ea typeface="黑体" pitchFamily="2" charset="-122"/>
              </a:rPr>
              <a:t>seq = 201, DATA</a:t>
            </a:r>
          </a:p>
        </p:txBody>
      </p:sp>
      <p:sp>
        <p:nvSpPr>
          <p:cNvPr id="744465" name="Line 17"/>
          <p:cNvSpPr>
            <a:spLocks noChangeShapeType="1"/>
          </p:cNvSpPr>
          <p:nvPr/>
        </p:nvSpPr>
        <p:spPr bwMode="auto">
          <a:xfrm>
            <a:off x="450992" y="5847482"/>
            <a:ext cx="3455062" cy="0"/>
          </a:xfrm>
          <a:prstGeom prst="line">
            <a:avLst/>
          </a:prstGeom>
          <a:noFill/>
          <a:ln w="38100">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744466" name="Rectangle 18"/>
          <p:cNvSpPr>
            <a:spLocks noChangeArrowheads="1"/>
          </p:cNvSpPr>
          <p:nvPr/>
        </p:nvSpPr>
        <p:spPr bwMode="auto">
          <a:xfrm>
            <a:off x="1095914" y="5531571"/>
            <a:ext cx="1963103"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800" b="1">
                <a:solidFill>
                  <a:srgbClr val="000099"/>
                </a:solidFill>
                <a:latin typeface="+mn-lt"/>
                <a:ea typeface="黑体" pitchFamily="2" charset="-122"/>
              </a:rPr>
              <a:t>seq = 501, DATA</a:t>
            </a:r>
          </a:p>
        </p:txBody>
      </p:sp>
      <p:sp>
        <p:nvSpPr>
          <p:cNvPr id="744467" name="Line 19"/>
          <p:cNvSpPr>
            <a:spLocks noChangeShapeType="1"/>
          </p:cNvSpPr>
          <p:nvPr/>
        </p:nvSpPr>
        <p:spPr bwMode="auto">
          <a:xfrm flipH="1">
            <a:off x="418316" y="3726582"/>
            <a:ext cx="3520413" cy="0"/>
          </a:xfrm>
          <a:prstGeom prst="line">
            <a:avLst/>
          </a:prstGeom>
          <a:noFill/>
          <a:ln w="38100">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744468" name="Rectangle 20"/>
          <p:cNvSpPr>
            <a:spLocks noChangeArrowheads="1"/>
          </p:cNvSpPr>
          <p:nvPr/>
        </p:nvSpPr>
        <p:spPr bwMode="auto">
          <a:xfrm flipH="1">
            <a:off x="552461" y="3404320"/>
            <a:ext cx="3693320"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800" b="1" dirty="0">
                <a:solidFill>
                  <a:srgbClr val="000099"/>
                </a:solidFill>
                <a:latin typeface="+mn-lt"/>
                <a:ea typeface="黑体" pitchFamily="2" charset="-122"/>
              </a:rPr>
              <a:t>ACK = 1, </a:t>
            </a:r>
            <a:r>
              <a:rPr kumimoji="1" lang="en-US" altLang="zh-CN" sz="1800" b="1" dirty="0" err="1">
                <a:solidFill>
                  <a:srgbClr val="000099"/>
                </a:solidFill>
                <a:latin typeface="+mn-lt"/>
                <a:ea typeface="黑体" pitchFamily="2" charset="-122"/>
              </a:rPr>
              <a:t>ack</a:t>
            </a:r>
            <a:r>
              <a:rPr kumimoji="1" lang="en-US" altLang="zh-CN" sz="1800" b="1" dirty="0">
                <a:solidFill>
                  <a:srgbClr val="000099"/>
                </a:solidFill>
                <a:latin typeface="+mn-lt"/>
                <a:ea typeface="黑体" pitchFamily="2" charset="-122"/>
              </a:rPr>
              <a:t> = 201, </a:t>
            </a:r>
            <a:r>
              <a:rPr kumimoji="1" lang="en-US" altLang="zh-CN" sz="1800" b="1" dirty="0" err="1">
                <a:solidFill>
                  <a:srgbClr val="FF0000"/>
                </a:solidFill>
                <a:latin typeface="+mn-lt"/>
                <a:ea typeface="黑体" pitchFamily="2" charset="-122"/>
              </a:rPr>
              <a:t>rwnd</a:t>
            </a:r>
            <a:r>
              <a:rPr kumimoji="1" lang="en-US" altLang="zh-CN" sz="1800" b="1" dirty="0">
                <a:solidFill>
                  <a:srgbClr val="FF0000"/>
                </a:solidFill>
                <a:latin typeface="+mn-lt"/>
                <a:ea typeface="黑体" pitchFamily="2" charset="-122"/>
              </a:rPr>
              <a:t> = 300</a:t>
            </a:r>
          </a:p>
        </p:txBody>
      </p:sp>
      <p:sp>
        <p:nvSpPr>
          <p:cNvPr id="744469" name="Line 21"/>
          <p:cNvSpPr>
            <a:spLocks noChangeShapeType="1"/>
          </p:cNvSpPr>
          <p:nvPr/>
        </p:nvSpPr>
        <p:spPr bwMode="auto">
          <a:xfrm flipH="1">
            <a:off x="432074" y="6277695"/>
            <a:ext cx="3494617" cy="0"/>
          </a:xfrm>
          <a:prstGeom prst="line">
            <a:avLst/>
          </a:prstGeom>
          <a:noFill/>
          <a:ln w="38100">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744470" name="Rectangle 22"/>
          <p:cNvSpPr>
            <a:spLocks noChangeArrowheads="1"/>
          </p:cNvSpPr>
          <p:nvPr/>
        </p:nvSpPr>
        <p:spPr bwMode="auto">
          <a:xfrm flipH="1">
            <a:off x="550739" y="5955432"/>
            <a:ext cx="3305393"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800" b="1" dirty="0">
                <a:solidFill>
                  <a:srgbClr val="000099"/>
                </a:solidFill>
                <a:latin typeface="+mn-lt"/>
                <a:ea typeface="黑体" pitchFamily="2" charset="-122"/>
              </a:rPr>
              <a:t>ACK = 1, </a:t>
            </a:r>
            <a:r>
              <a:rPr kumimoji="1" lang="en-US" altLang="zh-CN" sz="1800" b="1" dirty="0" err="1">
                <a:solidFill>
                  <a:srgbClr val="000099"/>
                </a:solidFill>
                <a:latin typeface="+mn-lt"/>
                <a:ea typeface="黑体" pitchFamily="2" charset="-122"/>
              </a:rPr>
              <a:t>ack</a:t>
            </a:r>
            <a:r>
              <a:rPr kumimoji="1" lang="en-US" altLang="zh-CN" sz="1800" b="1" dirty="0">
                <a:solidFill>
                  <a:srgbClr val="000099"/>
                </a:solidFill>
                <a:latin typeface="+mn-lt"/>
                <a:ea typeface="黑体" pitchFamily="2" charset="-122"/>
              </a:rPr>
              <a:t> = 601, </a:t>
            </a:r>
            <a:r>
              <a:rPr kumimoji="1" lang="en-US" altLang="zh-CN" sz="1800" b="1" dirty="0" err="1">
                <a:solidFill>
                  <a:srgbClr val="FF0000"/>
                </a:solidFill>
                <a:latin typeface="+mn-lt"/>
                <a:ea typeface="黑体" pitchFamily="2" charset="-122"/>
              </a:rPr>
              <a:t>rwnd</a:t>
            </a:r>
            <a:r>
              <a:rPr kumimoji="1" lang="en-US" altLang="zh-CN" sz="1800" b="1" dirty="0">
                <a:solidFill>
                  <a:srgbClr val="FF0000"/>
                </a:solidFill>
                <a:latin typeface="+mn-lt"/>
                <a:ea typeface="黑体" pitchFamily="2" charset="-122"/>
              </a:rPr>
              <a:t> = 0</a:t>
            </a:r>
          </a:p>
        </p:txBody>
      </p:sp>
      <p:sp>
        <p:nvSpPr>
          <p:cNvPr id="744471" name="Line 23"/>
          <p:cNvSpPr>
            <a:spLocks noChangeShapeType="1"/>
          </p:cNvSpPr>
          <p:nvPr/>
        </p:nvSpPr>
        <p:spPr bwMode="auto">
          <a:xfrm flipH="1">
            <a:off x="414877" y="5418857"/>
            <a:ext cx="3523853" cy="0"/>
          </a:xfrm>
          <a:prstGeom prst="line">
            <a:avLst/>
          </a:prstGeom>
          <a:noFill/>
          <a:ln w="38100">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744472" name="Rectangle 24"/>
          <p:cNvSpPr>
            <a:spLocks noChangeArrowheads="1"/>
          </p:cNvSpPr>
          <p:nvPr/>
        </p:nvSpPr>
        <p:spPr bwMode="auto">
          <a:xfrm flipH="1">
            <a:off x="471629" y="5104532"/>
            <a:ext cx="3693320"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800" b="1" dirty="0">
                <a:solidFill>
                  <a:srgbClr val="000099"/>
                </a:solidFill>
                <a:latin typeface="+mn-lt"/>
                <a:ea typeface="黑体" pitchFamily="2" charset="-122"/>
              </a:rPr>
              <a:t>ACK = 1, </a:t>
            </a:r>
            <a:r>
              <a:rPr kumimoji="1" lang="en-US" altLang="zh-CN" sz="1800" b="1" dirty="0" err="1">
                <a:solidFill>
                  <a:srgbClr val="000099"/>
                </a:solidFill>
                <a:latin typeface="+mn-lt"/>
                <a:ea typeface="黑体" pitchFamily="2" charset="-122"/>
              </a:rPr>
              <a:t>ack</a:t>
            </a:r>
            <a:r>
              <a:rPr kumimoji="1" lang="en-US" altLang="zh-CN" sz="1800" b="1" dirty="0">
                <a:solidFill>
                  <a:srgbClr val="000099"/>
                </a:solidFill>
                <a:latin typeface="+mn-lt"/>
                <a:ea typeface="黑体" pitchFamily="2" charset="-122"/>
              </a:rPr>
              <a:t> = 501, </a:t>
            </a:r>
            <a:r>
              <a:rPr kumimoji="1" lang="en-US" altLang="zh-CN" sz="1800" b="1" dirty="0" err="1">
                <a:solidFill>
                  <a:srgbClr val="FF0000"/>
                </a:solidFill>
                <a:latin typeface="+mn-lt"/>
                <a:ea typeface="黑体" pitchFamily="2" charset="-122"/>
              </a:rPr>
              <a:t>rwnd</a:t>
            </a:r>
            <a:r>
              <a:rPr kumimoji="1" lang="en-US" altLang="zh-CN" sz="1800" b="1" dirty="0">
                <a:solidFill>
                  <a:srgbClr val="FF0000"/>
                </a:solidFill>
                <a:latin typeface="+mn-lt"/>
                <a:ea typeface="黑体" pitchFamily="2" charset="-122"/>
              </a:rPr>
              <a:t> = 100</a:t>
            </a:r>
          </a:p>
        </p:txBody>
      </p:sp>
      <p:sp>
        <p:nvSpPr>
          <p:cNvPr id="744473" name="Rectangle 25"/>
          <p:cNvSpPr>
            <a:spLocks noChangeArrowheads="1"/>
          </p:cNvSpPr>
          <p:nvPr/>
        </p:nvSpPr>
        <p:spPr bwMode="auto">
          <a:xfrm>
            <a:off x="237738" y="1916832"/>
            <a:ext cx="368692"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dirty="0">
                <a:solidFill>
                  <a:srgbClr val="0000FF"/>
                </a:solidFill>
                <a:latin typeface="+mn-lt"/>
                <a:ea typeface="黑体" pitchFamily="2" charset="-122"/>
              </a:rPr>
              <a:t>A</a:t>
            </a:r>
          </a:p>
        </p:txBody>
      </p:sp>
      <p:sp>
        <p:nvSpPr>
          <p:cNvPr id="744474" name="Rectangle 26"/>
          <p:cNvSpPr>
            <a:spLocks noChangeArrowheads="1"/>
          </p:cNvSpPr>
          <p:nvPr/>
        </p:nvSpPr>
        <p:spPr bwMode="auto">
          <a:xfrm>
            <a:off x="3716877" y="1916832"/>
            <a:ext cx="368692"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FF"/>
                </a:solidFill>
                <a:latin typeface="+mn-lt"/>
                <a:ea typeface="黑体" pitchFamily="2" charset="-122"/>
              </a:rPr>
              <a:t>B</a:t>
            </a:r>
          </a:p>
        </p:txBody>
      </p:sp>
      <p:sp>
        <p:nvSpPr>
          <p:cNvPr id="744475" name="Rectangle 27"/>
          <p:cNvSpPr>
            <a:spLocks noChangeArrowheads="1"/>
          </p:cNvSpPr>
          <p:nvPr/>
        </p:nvSpPr>
        <p:spPr bwMode="auto">
          <a:xfrm>
            <a:off x="4041917" y="3526557"/>
            <a:ext cx="4387869"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b="1">
                <a:solidFill>
                  <a:srgbClr val="0000FF"/>
                </a:solidFill>
                <a:latin typeface="+mn-lt"/>
                <a:ea typeface="黑体" pitchFamily="2" charset="-122"/>
              </a:rPr>
              <a:t>允许 </a:t>
            </a:r>
            <a:r>
              <a:rPr kumimoji="1" lang="en-US" altLang="zh-CN" b="1">
                <a:solidFill>
                  <a:srgbClr val="0000FF"/>
                </a:solidFill>
                <a:latin typeface="+mn-lt"/>
                <a:ea typeface="黑体" pitchFamily="2" charset="-122"/>
              </a:rPr>
              <a:t>A </a:t>
            </a:r>
            <a:r>
              <a:rPr kumimoji="1" lang="zh-CN" altLang="en-US" b="1">
                <a:solidFill>
                  <a:srgbClr val="0000FF"/>
                </a:solidFill>
                <a:latin typeface="+mn-lt"/>
                <a:ea typeface="黑体" pitchFamily="2" charset="-122"/>
              </a:rPr>
              <a:t>发送序号 </a:t>
            </a:r>
            <a:r>
              <a:rPr kumimoji="1" lang="en-US" altLang="zh-CN" b="1">
                <a:solidFill>
                  <a:srgbClr val="0000FF"/>
                </a:solidFill>
                <a:latin typeface="+mn-lt"/>
                <a:ea typeface="黑体" pitchFamily="2" charset="-122"/>
              </a:rPr>
              <a:t>201 </a:t>
            </a:r>
            <a:r>
              <a:rPr kumimoji="1" lang="zh-CN" altLang="en-US" b="1">
                <a:solidFill>
                  <a:srgbClr val="0000FF"/>
                </a:solidFill>
                <a:latin typeface="+mn-lt"/>
                <a:ea typeface="黑体" pitchFamily="2" charset="-122"/>
              </a:rPr>
              <a:t>至 </a:t>
            </a:r>
            <a:r>
              <a:rPr kumimoji="1" lang="en-US" altLang="zh-CN" b="1">
                <a:solidFill>
                  <a:srgbClr val="0000FF"/>
                </a:solidFill>
                <a:latin typeface="+mn-lt"/>
                <a:ea typeface="黑体" pitchFamily="2" charset="-122"/>
              </a:rPr>
              <a:t>500  </a:t>
            </a:r>
            <a:r>
              <a:rPr kumimoji="1" lang="zh-CN" altLang="en-US" b="1">
                <a:solidFill>
                  <a:srgbClr val="0000FF"/>
                </a:solidFill>
                <a:latin typeface="+mn-lt"/>
                <a:ea typeface="黑体" pitchFamily="2" charset="-122"/>
              </a:rPr>
              <a:t>共 </a:t>
            </a:r>
            <a:r>
              <a:rPr kumimoji="1" lang="en-US" altLang="zh-CN" b="1">
                <a:solidFill>
                  <a:srgbClr val="0000FF"/>
                </a:solidFill>
                <a:latin typeface="+mn-lt"/>
                <a:ea typeface="黑体" pitchFamily="2" charset="-122"/>
              </a:rPr>
              <a:t>300 </a:t>
            </a:r>
            <a:r>
              <a:rPr kumimoji="1" lang="zh-CN" altLang="en-US" b="1">
                <a:solidFill>
                  <a:srgbClr val="0000FF"/>
                </a:solidFill>
                <a:latin typeface="+mn-lt"/>
                <a:ea typeface="黑体" pitchFamily="2" charset="-122"/>
              </a:rPr>
              <a:t>字节</a:t>
            </a:r>
          </a:p>
        </p:txBody>
      </p:sp>
      <p:sp>
        <p:nvSpPr>
          <p:cNvPr id="744476" name="Rectangle 28"/>
          <p:cNvSpPr>
            <a:spLocks noChangeArrowheads="1"/>
          </p:cNvSpPr>
          <p:nvPr/>
        </p:nvSpPr>
        <p:spPr bwMode="auto">
          <a:xfrm>
            <a:off x="4041917" y="2651846"/>
            <a:ext cx="4901407"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b="1">
                <a:solidFill>
                  <a:srgbClr val="0000FF"/>
                </a:solidFill>
                <a:latin typeface="+mn-lt"/>
                <a:ea typeface="黑体" pitchFamily="2" charset="-122"/>
              </a:rPr>
              <a:t>A </a:t>
            </a:r>
            <a:r>
              <a:rPr kumimoji="1" lang="zh-CN" altLang="en-US" b="1">
                <a:solidFill>
                  <a:srgbClr val="0000FF"/>
                </a:solidFill>
                <a:latin typeface="+mn-lt"/>
                <a:ea typeface="黑体" pitchFamily="2" charset="-122"/>
              </a:rPr>
              <a:t>发送了序号 </a:t>
            </a:r>
            <a:r>
              <a:rPr kumimoji="1" lang="en-US" altLang="zh-CN" b="1">
                <a:solidFill>
                  <a:srgbClr val="0000FF"/>
                </a:solidFill>
                <a:latin typeface="+mn-lt"/>
                <a:ea typeface="黑体" pitchFamily="2" charset="-122"/>
              </a:rPr>
              <a:t>101 </a:t>
            </a:r>
            <a:r>
              <a:rPr kumimoji="1" lang="zh-CN" altLang="en-US" b="1">
                <a:solidFill>
                  <a:srgbClr val="0000FF"/>
                </a:solidFill>
                <a:latin typeface="+mn-lt"/>
                <a:ea typeface="黑体" pitchFamily="2" charset="-122"/>
              </a:rPr>
              <a:t>至 </a:t>
            </a:r>
            <a:r>
              <a:rPr kumimoji="1" lang="en-US" altLang="zh-CN" b="1">
                <a:solidFill>
                  <a:srgbClr val="0000FF"/>
                </a:solidFill>
                <a:latin typeface="+mn-lt"/>
                <a:ea typeface="黑体" pitchFamily="2" charset="-122"/>
              </a:rPr>
              <a:t>200</a:t>
            </a:r>
            <a:r>
              <a:rPr kumimoji="1" lang="zh-CN" altLang="en-US" b="1">
                <a:solidFill>
                  <a:srgbClr val="0000FF"/>
                </a:solidFill>
                <a:latin typeface="+mn-lt"/>
                <a:ea typeface="黑体" pitchFamily="2" charset="-122"/>
              </a:rPr>
              <a:t>，还能发送 </a:t>
            </a:r>
            <a:r>
              <a:rPr kumimoji="1" lang="en-US" altLang="zh-CN" b="1">
                <a:solidFill>
                  <a:srgbClr val="0000FF"/>
                </a:solidFill>
                <a:latin typeface="+mn-lt"/>
                <a:ea typeface="黑体" pitchFamily="2" charset="-122"/>
              </a:rPr>
              <a:t>200 </a:t>
            </a:r>
            <a:r>
              <a:rPr kumimoji="1" lang="zh-CN" altLang="en-US" b="1">
                <a:solidFill>
                  <a:srgbClr val="0000FF"/>
                </a:solidFill>
                <a:latin typeface="+mn-lt"/>
                <a:ea typeface="黑体" pitchFamily="2" charset="-122"/>
              </a:rPr>
              <a:t>字节</a:t>
            </a:r>
          </a:p>
        </p:txBody>
      </p:sp>
      <p:sp>
        <p:nvSpPr>
          <p:cNvPr id="744477" name="Rectangle 29"/>
          <p:cNvSpPr>
            <a:spLocks noChangeArrowheads="1"/>
          </p:cNvSpPr>
          <p:nvPr/>
        </p:nvSpPr>
        <p:spPr bwMode="auto">
          <a:xfrm>
            <a:off x="4041917" y="3937721"/>
            <a:ext cx="5831149"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b="1">
                <a:solidFill>
                  <a:srgbClr val="0000FF"/>
                </a:solidFill>
                <a:latin typeface="+mn-lt"/>
                <a:ea typeface="黑体" pitchFamily="2" charset="-122"/>
              </a:rPr>
              <a:t>A </a:t>
            </a:r>
            <a:r>
              <a:rPr kumimoji="1" lang="zh-CN" altLang="en-US" b="1">
                <a:solidFill>
                  <a:srgbClr val="0000FF"/>
                </a:solidFill>
                <a:latin typeface="+mn-lt"/>
                <a:ea typeface="黑体" pitchFamily="2" charset="-122"/>
              </a:rPr>
              <a:t>发送了序号 </a:t>
            </a:r>
            <a:r>
              <a:rPr kumimoji="1" lang="en-US" altLang="zh-CN" b="1">
                <a:solidFill>
                  <a:srgbClr val="0000FF"/>
                </a:solidFill>
                <a:latin typeface="+mn-lt"/>
                <a:ea typeface="黑体" pitchFamily="2" charset="-122"/>
              </a:rPr>
              <a:t>301 </a:t>
            </a:r>
            <a:r>
              <a:rPr kumimoji="1" lang="zh-CN" altLang="en-US" b="1">
                <a:solidFill>
                  <a:srgbClr val="0000FF"/>
                </a:solidFill>
                <a:latin typeface="+mn-lt"/>
                <a:ea typeface="黑体" pitchFamily="2" charset="-122"/>
              </a:rPr>
              <a:t>至 </a:t>
            </a:r>
            <a:r>
              <a:rPr kumimoji="1" lang="en-US" altLang="zh-CN" b="1">
                <a:solidFill>
                  <a:srgbClr val="0000FF"/>
                </a:solidFill>
                <a:latin typeface="+mn-lt"/>
                <a:ea typeface="黑体" pitchFamily="2" charset="-122"/>
              </a:rPr>
              <a:t>400</a:t>
            </a:r>
            <a:r>
              <a:rPr kumimoji="1" lang="zh-CN" altLang="en-US" b="1">
                <a:solidFill>
                  <a:srgbClr val="0000FF"/>
                </a:solidFill>
                <a:latin typeface="+mn-lt"/>
                <a:ea typeface="黑体" pitchFamily="2" charset="-122"/>
              </a:rPr>
              <a:t>，还能再发送 </a:t>
            </a:r>
            <a:r>
              <a:rPr kumimoji="1" lang="en-US" altLang="zh-CN" b="1">
                <a:solidFill>
                  <a:srgbClr val="0000FF"/>
                </a:solidFill>
                <a:latin typeface="+mn-lt"/>
                <a:ea typeface="黑体" pitchFamily="2" charset="-122"/>
              </a:rPr>
              <a:t>100 </a:t>
            </a:r>
            <a:r>
              <a:rPr kumimoji="1" lang="zh-CN" altLang="en-US" b="1">
                <a:solidFill>
                  <a:srgbClr val="0000FF"/>
                </a:solidFill>
                <a:latin typeface="+mn-lt"/>
                <a:ea typeface="黑体" pitchFamily="2" charset="-122"/>
              </a:rPr>
              <a:t>字节新数据</a:t>
            </a:r>
          </a:p>
        </p:txBody>
      </p:sp>
      <p:sp>
        <p:nvSpPr>
          <p:cNvPr id="744478" name="Rectangle 30"/>
          <p:cNvSpPr>
            <a:spLocks noChangeArrowheads="1"/>
          </p:cNvSpPr>
          <p:nvPr/>
        </p:nvSpPr>
        <p:spPr bwMode="auto">
          <a:xfrm>
            <a:off x="4041917" y="2237507"/>
            <a:ext cx="4644927"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b="1" dirty="0">
                <a:solidFill>
                  <a:srgbClr val="0000FF"/>
                </a:solidFill>
                <a:latin typeface="+mn-lt"/>
                <a:ea typeface="黑体" pitchFamily="2" charset="-122"/>
              </a:rPr>
              <a:t>A </a:t>
            </a:r>
            <a:r>
              <a:rPr kumimoji="1" lang="zh-CN" altLang="en-US" b="1" dirty="0">
                <a:solidFill>
                  <a:srgbClr val="0000FF"/>
                </a:solidFill>
                <a:latin typeface="+mn-lt"/>
                <a:ea typeface="黑体" pitchFamily="2" charset="-122"/>
              </a:rPr>
              <a:t>发送了序号 </a:t>
            </a:r>
            <a:r>
              <a:rPr kumimoji="1" lang="en-US" altLang="zh-CN" b="1" dirty="0">
                <a:solidFill>
                  <a:srgbClr val="0000FF"/>
                </a:solidFill>
                <a:latin typeface="+mn-lt"/>
                <a:ea typeface="黑体" pitchFamily="2" charset="-122"/>
              </a:rPr>
              <a:t>1 </a:t>
            </a:r>
            <a:r>
              <a:rPr kumimoji="1" lang="zh-CN" altLang="en-US" b="1" dirty="0">
                <a:solidFill>
                  <a:srgbClr val="0000FF"/>
                </a:solidFill>
                <a:latin typeface="+mn-lt"/>
                <a:ea typeface="黑体" pitchFamily="2" charset="-122"/>
              </a:rPr>
              <a:t>至 </a:t>
            </a:r>
            <a:r>
              <a:rPr kumimoji="1" lang="en-US" altLang="zh-CN" b="1" dirty="0">
                <a:solidFill>
                  <a:srgbClr val="0000FF"/>
                </a:solidFill>
                <a:latin typeface="+mn-lt"/>
                <a:ea typeface="黑体" pitchFamily="2" charset="-122"/>
              </a:rPr>
              <a:t>100</a:t>
            </a:r>
            <a:r>
              <a:rPr kumimoji="1" lang="zh-CN" altLang="en-US" b="1" dirty="0">
                <a:solidFill>
                  <a:srgbClr val="0000FF"/>
                </a:solidFill>
                <a:latin typeface="+mn-lt"/>
                <a:ea typeface="黑体" pitchFamily="2" charset="-122"/>
              </a:rPr>
              <a:t>，还能发送 </a:t>
            </a:r>
            <a:r>
              <a:rPr kumimoji="1" lang="en-US" altLang="zh-CN" b="1" dirty="0">
                <a:solidFill>
                  <a:srgbClr val="0000FF"/>
                </a:solidFill>
                <a:latin typeface="+mn-lt"/>
                <a:ea typeface="黑体" pitchFamily="2" charset="-122"/>
              </a:rPr>
              <a:t>300 </a:t>
            </a:r>
            <a:r>
              <a:rPr kumimoji="1" lang="zh-CN" altLang="en-US" b="1" dirty="0">
                <a:solidFill>
                  <a:srgbClr val="0000FF"/>
                </a:solidFill>
                <a:latin typeface="+mn-lt"/>
                <a:ea typeface="黑体" pitchFamily="2" charset="-122"/>
              </a:rPr>
              <a:t>字节</a:t>
            </a:r>
          </a:p>
        </p:txBody>
      </p:sp>
      <p:sp>
        <p:nvSpPr>
          <p:cNvPr id="744479" name="Rectangle 31"/>
          <p:cNvSpPr>
            <a:spLocks noChangeArrowheads="1"/>
          </p:cNvSpPr>
          <p:nvPr/>
        </p:nvSpPr>
        <p:spPr bwMode="auto">
          <a:xfrm>
            <a:off x="4041917" y="4377457"/>
            <a:ext cx="5085752"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b="1">
                <a:solidFill>
                  <a:srgbClr val="0000FF"/>
                </a:solidFill>
                <a:latin typeface="+mn-lt"/>
                <a:ea typeface="黑体" pitchFamily="2" charset="-122"/>
              </a:rPr>
              <a:t>A </a:t>
            </a:r>
            <a:r>
              <a:rPr kumimoji="1" lang="zh-CN" altLang="en-US" b="1">
                <a:solidFill>
                  <a:srgbClr val="0000FF"/>
                </a:solidFill>
                <a:latin typeface="+mn-lt"/>
                <a:ea typeface="黑体" pitchFamily="2" charset="-122"/>
              </a:rPr>
              <a:t>发送了序号 </a:t>
            </a:r>
            <a:r>
              <a:rPr kumimoji="1" lang="en-US" altLang="zh-CN" b="1">
                <a:solidFill>
                  <a:srgbClr val="0000FF"/>
                </a:solidFill>
                <a:latin typeface="+mn-lt"/>
                <a:ea typeface="黑体" pitchFamily="2" charset="-122"/>
              </a:rPr>
              <a:t>401 </a:t>
            </a:r>
            <a:r>
              <a:rPr kumimoji="1" lang="zh-CN" altLang="en-US" b="1">
                <a:solidFill>
                  <a:srgbClr val="0000FF"/>
                </a:solidFill>
                <a:latin typeface="+mn-lt"/>
                <a:ea typeface="黑体" pitchFamily="2" charset="-122"/>
              </a:rPr>
              <a:t>至 </a:t>
            </a:r>
            <a:r>
              <a:rPr kumimoji="1" lang="en-US" altLang="zh-CN" b="1">
                <a:solidFill>
                  <a:srgbClr val="0000FF"/>
                </a:solidFill>
                <a:latin typeface="+mn-lt"/>
                <a:ea typeface="黑体" pitchFamily="2" charset="-122"/>
              </a:rPr>
              <a:t>500</a:t>
            </a:r>
            <a:r>
              <a:rPr kumimoji="1" lang="zh-CN" altLang="en-US" b="1">
                <a:solidFill>
                  <a:srgbClr val="0000FF"/>
                </a:solidFill>
                <a:latin typeface="+mn-lt"/>
                <a:ea typeface="黑体" pitchFamily="2" charset="-122"/>
              </a:rPr>
              <a:t>，不能再发送新数据了</a:t>
            </a:r>
          </a:p>
        </p:txBody>
      </p:sp>
      <p:sp>
        <p:nvSpPr>
          <p:cNvPr id="744480" name="Rectangle 32"/>
          <p:cNvSpPr>
            <a:spLocks noChangeArrowheads="1"/>
          </p:cNvSpPr>
          <p:nvPr/>
        </p:nvSpPr>
        <p:spPr bwMode="auto">
          <a:xfrm>
            <a:off x="4041917" y="4804496"/>
            <a:ext cx="4588821"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b="1">
                <a:solidFill>
                  <a:srgbClr val="0000FF"/>
                </a:solidFill>
                <a:latin typeface="+mn-lt"/>
                <a:ea typeface="黑体" pitchFamily="2" charset="-122"/>
              </a:rPr>
              <a:t>A </a:t>
            </a:r>
            <a:r>
              <a:rPr kumimoji="1" lang="zh-CN" altLang="en-US" b="1">
                <a:solidFill>
                  <a:srgbClr val="0000FF"/>
                </a:solidFill>
                <a:latin typeface="+mn-lt"/>
                <a:ea typeface="黑体" pitchFamily="2" charset="-122"/>
              </a:rPr>
              <a:t>超时重传旧的数据，但不能发送新的数据</a:t>
            </a:r>
          </a:p>
        </p:txBody>
      </p:sp>
      <p:sp>
        <p:nvSpPr>
          <p:cNvPr id="744481" name="Rectangle 33"/>
          <p:cNvSpPr>
            <a:spLocks noChangeArrowheads="1"/>
          </p:cNvSpPr>
          <p:nvPr/>
        </p:nvSpPr>
        <p:spPr bwMode="auto">
          <a:xfrm>
            <a:off x="4041917" y="5218832"/>
            <a:ext cx="4541970"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b="1">
                <a:solidFill>
                  <a:srgbClr val="0000FF"/>
                </a:solidFill>
                <a:latin typeface="+mn-lt"/>
                <a:ea typeface="黑体" pitchFamily="2" charset="-122"/>
              </a:rPr>
              <a:t>允许 </a:t>
            </a:r>
            <a:r>
              <a:rPr kumimoji="1" lang="en-US" altLang="zh-CN" b="1">
                <a:solidFill>
                  <a:srgbClr val="0000FF"/>
                </a:solidFill>
                <a:latin typeface="+mn-lt"/>
                <a:ea typeface="黑体" pitchFamily="2" charset="-122"/>
              </a:rPr>
              <a:t>A </a:t>
            </a:r>
            <a:r>
              <a:rPr kumimoji="1" lang="zh-CN" altLang="en-US" b="1">
                <a:solidFill>
                  <a:srgbClr val="0000FF"/>
                </a:solidFill>
                <a:latin typeface="+mn-lt"/>
                <a:ea typeface="黑体" pitchFamily="2" charset="-122"/>
              </a:rPr>
              <a:t>发送序号 </a:t>
            </a:r>
            <a:r>
              <a:rPr kumimoji="1" lang="en-US" altLang="zh-CN" b="1">
                <a:solidFill>
                  <a:srgbClr val="0000FF"/>
                </a:solidFill>
                <a:latin typeface="+mn-lt"/>
                <a:ea typeface="黑体" pitchFamily="2" charset="-122"/>
              </a:rPr>
              <a:t>501 </a:t>
            </a:r>
            <a:r>
              <a:rPr kumimoji="1" lang="zh-CN" altLang="en-US" b="1">
                <a:solidFill>
                  <a:srgbClr val="0000FF"/>
                </a:solidFill>
                <a:latin typeface="+mn-lt"/>
                <a:ea typeface="黑体" pitchFamily="2" charset="-122"/>
              </a:rPr>
              <a:t>至 </a:t>
            </a:r>
            <a:r>
              <a:rPr kumimoji="1" lang="en-US" altLang="zh-CN" b="1">
                <a:solidFill>
                  <a:srgbClr val="0000FF"/>
                </a:solidFill>
                <a:latin typeface="+mn-lt"/>
                <a:ea typeface="黑体" pitchFamily="2" charset="-122"/>
              </a:rPr>
              <a:t>600 </a:t>
            </a:r>
            <a:r>
              <a:rPr kumimoji="1" lang="zh-CN" altLang="en-US" b="1">
                <a:solidFill>
                  <a:srgbClr val="0000FF"/>
                </a:solidFill>
                <a:latin typeface="+mn-lt"/>
                <a:ea typeface="黑体" pitchFamily="2" charset="-122"/>
              </a:rPr>
              <a:t>共 </a:t>
            </a:r>
            <a:r>
              <a:rPr kumimoji="1" lang="en-US" altLang="zh-CN" b="1">
                <a:solidFill>
                  <a:srgbClr val="0000FF"/>
                </a:solidFill>
                <a:latin typeface="+mn-lt"/>
                <a:ea typeface="黑体" pitchFamily="2" charset="-122"/>
              </a:rPr>
              <a:t>100 </a:t>
            </a:r>
            <a:r>
              <a:rPr kumimoji="1" lang="zh-CN" altLang="en-US" b="1">
                <a:solidFill>
                  <a:srgbClr val="0000FF"/>
                </a:solidFill>
                <a:latin typeface="+mn-lt"/>
                <a:ea typeface="黑体" pitchFamily="2" charset="-122"/>
              </a:rPr>
              <a:t>字节</a:t>
            </a:r>
          </a:p>
        </p:txBody>
      </p:sp>
      <p:sp>
        <p:nvSpPr>
          <p:cNvPr id="744482" name="Rectangle 34"/>
          <p:cNvSpPr>
            <a:spLocks noChangeArrowheads="1"/>
          </p:cNvSpPr>
          <p:nvPr/>
        </p:nvSpPr>
        <p:spPr bwMode="auto">
          <a:xfrm>
            <a:off x="4041917" y="5649046"/>
            <a:ext cx="4388446"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b="1">
                <a:solidFill>
                  <a:srgbClr val="0000FF"/>
                </a:solidFill>
                <a:latin typeface="+mn-lt"/>
                <a:ea typeface="黑体" pitchFamily="2" charset="-122"/>
              </a:rPr>
              <a:t>A </a:t>
            </a:r>
            <a:r>
              <a:rPr kumimoji="1" lang="zh-CN" altLang="en-US" b="1">
                <a:solidFill>
                  <a:srgbClr val="0000FF"/>
                </a:solidFill>
                <a:latin typeface="+mn-lt"/>
                <a:ea typeface="黑体" pitchFamily="2" charset="-122"/>
              </a:rPr>
              <a:t>发送了序号 </a:t>
            </a:r>
            <a:r>
              <a:rPr kumimoji="1" lang="en-US" altLang="zh-CN" b="1">
                <a:solidFill>
                  <a:srgbClr val="0000FF"/>
                </a:solidFill>
                <a:latin typeface="+mn-lt"/>
                <a:ea typeface="黑体" pitchFamily="2" charset="-122"/>
              </a:rPr>
              <a:t>501 </a:t>
            </a:r>
            <a:r>
              <a:rPr kumimoji="1" lang="zh-CN" altLang="en-US" b="1">
                <a:solidFill>
                  <a:srgbClr val="0000FF"/>
                </a:solidFill>
                <a:latin typeface="+mn-lt"/>
                <a:ea typeface="黑体" pitchFamily="2" charset="-122"/>
              </a:rPr>
              <a:t>至 </a:t>
            </a:r>
            <a:r>
              <a:rPr kumimoji="1" lang="en-US" altLang="zh-CN" b="1">
                <a:solidFill>
                  <a:srgbClr val="0000FF"/>
                </a:solidFill>
                <a:latin typeface="+mn-lt"/>
                <a:ea typeface="黑体" pitchFamily="2" charset="-122"/>
              </a:rPr>
              <a:t>600</a:t>
            </a:r>
            <a:r>
              <a:rPr kumimoji="1" lang="zh-CN" altLang="en-US" b="1">
                <a:solidFill>
                  <a:srgbClr val="0000FF"/>
                </a:solidFill>
                <a:latin typeface="+mn-lt"/>
                <a:ea typeface="黑体" pitchFamily="2" charset="-122"/>
              </a:rPr>
              <a:t>，不能再发送了</a:t>
            </a:r>
          </a:p>
        </p:txBody>
      </p:sp>
      <p:sp>
        <p:nvSpPr>
          <p:cNvPr id="744483" name="Rectangle 35"/>
          <p:cNvSpPr>
            <a:spLocks noChangeArrowheads="1"/>
          </p:cNvSpPr>
          <p:nvPr/>
        </p:nvSpPr>
        <p:spPr bwMode="auto">
          <a:xfrm>
            <a:off x="4041917" y="6095132"/>
            <a:ext cx="5622181"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b="1">
                <a:solidFill>
                  <a:srgbClr val="0000FF"/>
                </a:solidFill>
                <a:latin typeface="+mn-lt"/>
                <a:ea typeface="黑体" pitchFamily="2" charset="-122"/>
              </a:rPr>
              <a:t>不允许 </a:t>
            </a:r>
            <a:r>
              <a:rPr kumimoji="1" lang="en-US" altLang="zh-CN" b="1">
                <a:solidFill>
                  <a:srgbClr val="0000FF"/>
                </a:solidFill>
                <a:latin typeface="+mn-lt"/>
                <a:ea typeface="黑体" pitchFamily="2" charset="-122"/>
              </a:rPr>
              <a:t>A </a:t>
            </a:r>
            <a:r>
              <a:rPr kumimoji="1" lang="zh-CN" altLang="en-US" b="1">
                <a:solidFill>
                  <a:srgbClr val="0000FF"/>
                </a:solidFill>
                <a:latin typeface="+mn-lt"/>
                <a:ea typeface="黑体" pitchFamily="2" charset="-122"/>
              </a:rPr>
              <a:t>再发送（到序号 </a:t>
            </a:r>
            <a:r>
              <a:rPr kumimoji="1" lang="en-US" altLang="zh-CN" b="1">
                <a:solidFill>
                  <a:srgbClr val="0000FF"/>
                </a:solidFill>
                <a:latin typeface="+mn-lt"/>
                <a:ea typeface="黑体" pitchFamily="2" charset="-122"/>
              </a:rPr>
              <a:t>600 </a:t>
            </a:r>
            <a:r>
              <a:rPr kumimoji="1" lang="zh-CN" altLang="en-US" b="1">
                <a:solidFill>
                  <a:srgbClr val="0000FF"/>
                </a:solidFill>
                <a:latin typeface="+mn-lt"/>
                <a:ea typeface="黑体" pitchFamily="2" charset="-122"/>
              </a:rPr>
              <a:t>为止的数据都收到了）</a:t>
            </a:r>
          </a:p>
        </p:txBody>
      </p:sp>
      <p:sp>
        <p:nvSpPr>
          <p:cNvPr id="744484" name="AutoShape 36"/>
          <p:cNvSpPr>
            <a:spLocks noChangeArrowheads="1"/>
          </p:cNvSpPr>
          <p:nvPr/>
        </p:nvSpPr>
        <p:spPr bwMode="auto">
          <a:xfrm>
            <a:off x="2956729" y="2924896"/>
            <a:ext cx="1260607" cy="547687"/>
          </a:xfrm>
          <a:prstGeom prst="irregularSeal1">
            <a:avLst/>
          </a:prstGeom>
          <a:solidFill>
            <a:srgbClr val="FF0000"/>
          </a:solidFill>
          <a:ln w="12700">
            <a:solidFill>
              <a:schemeClr val="tx1"/>
            </a:solidFill>
            <a:miter lim="800000"/>
            <a:headEnd/>
            <a:tailEnd/>
          </a:ln>
          <a:effectLst/>
        </p:spPr>
        <p:txBody>
          <a:bodyPr wrap="none" anchor="ctr"/>
          <a:lstStyle/>
          <a:p>
            <a:endParaRPr lang="zh-CN" altLang="en-US" b="1">
              <a:solidFill>
                <a:srgbClr val="000099"/>
              </a:solidFill>
              <a:latin typeface="+mn-lt"/>
              <a:ea typeface="黑体" pitchFamily="2" charset="-122"/>
            </a:endParaRPr>
          </a:p>
        </p:txBody>
      </p:sp>
      <p:sp>
        <p:nvSpPr>
          <p:cNvPr id="744485" name="Rectangle 37"/>
          <p:cNvSpPr>
            <a:spLocks noChangeArrowheads="1"/>
          </p:cNvSpPr>
          <p:nvPr/>
        </p:nvSpPr>
        <p:spPr bwMode="auto">
          <a:xfrm>
            <a:off x="3202659" y="3020146"/>
            <a:ext cx="875241"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800" b="1" dirty="0">
                <a:solidFill>
                  <a:srgbClr val="000099"/>
                </a:solidFill>
                <a:latin typeface="+mn-lt"/>
                <a:ea typeface="黑体" pitchFamily="2" charset="-122"/>
              </a:rPr>
              <a:t>丢失！</a:t>
            </a:r>
          </a:p>
        </p:txBody>
      </p:sp>
      <p:sp>
        <p:nvSpPr>
          <p:cNvPr id="744486" name="Line 38"/>
          <p:cNvSpPr>
            <a:spLocks noChangeShapeType="1"/>
          </p:cNvSpPr>
          <p:nvPr/>
        </p:nvSpPr>
        <p:spPr bwMode="auto">
          <a:xfrm>
            <a:off x="416596" y="2280370"/>
            <a:ext cx="0" cy="4132262"/>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744487" name="Rectangle 39"/>
          <p:cNvSpPr>
            <a:spLocks noGrp="1" noChangeArrowheads="1"/>
          </p:cNvSpPr>
          <p:nvPr>
            <p:ph type="title"/>
          </p:nvPr>
        </p:nvSpPr>
        <p:spPr>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algn="ctr"/>
            <a:r>
              <a:rPr lang="zh-CN" altLang="zh-CN" sz="4000" dirty="0"/>
              <a:t>利用可变窗口进行流量控制举例</a:t>
            </a:r>
            <a:endParaRPr lang="zh-CN" altLang="en-US" sz="4000" dirty="0"/>
          </a:p>
        </p:txBody>
      </p:sp>
      <p:sp>
        <p:nvSpPr>
          <p:cNvPr id="744488" name="Text Box 40"/>
          <p:cNvSpPr txBox="1">
            <a:spLocks noChangeArrowheads="1"/>
          </p:cNvSpPr>
          <p:nvPr/>
        </p:nvSpPr>
        <p:spPr bwMode="auto">
          <a:xfrm>
            <a:off x="611759" y="1126485"/>
            <a:ext cx="9015059" cy="830997"/>
          </a:xfrm>
          <a:prstGeom prst="rect">
            <a:avLst/>
          </a:prstGeom>
          <a:solidFill>
            <a:srgbClr val="FFFF66"/>
          </a:solidFill>
          <a:ln>
            <a:noFill/>
          </a:ln>
          <a:effectLst/>
        </p:spPr>
        <p:txBody>
          <a:bodyPr wrap="square">
            <a:spAutoFit/>
          </a:bodyPr>
          <a:lstStyle/>
          <a:p>
            <a:r>
              <a:rPr lang="en-US" altLang="zh-CN" sz="2400" b="1" dirty="0">
                <a:solidFill>
                  <a:srgbClr val="000099"/>
                </a:solidFill>
                <a:latin typeface="+mn-lt"/>
                <a:ea typeface="黑体" pitchFamily="2" charset="-122"/>
              </a:rPr>
              <a:t>A </a:t>
            </a:r>
            <a:r>
              <a:rPr lang="zh-CN" altLang="en-US" sz="2400" b="1" dirty="0">
                <a:solidFill>
                  <a:srgbClr val="000099"/>
                </a:solidFill>
                <a:latin typeface="+mn-lt"/>
                <a:ea typeface="黑体" pitchFamily="2" charset="-122"/>
              </a:rPr>
              <a:t>向 </a:t>
            </a:r>
            <a:r>
              <a:rPr lang="en-US" altLang="zh-CN" sz="2400" b="1" dirty="0">
                <a:solidFill>
                  <a:srgbClr val="000099"/>
                </a:solidFill>
                <a:latin typeface="+mn-lt"/>
                <a:ea typeface="黑体" pitchFamily="2" charset="-122"/>
              </a:rPr>
              <a:t>B </a:t>
            </a:r>
            <a:r>
              <a:rPr lang="zh-CN" altLang="en-US" sz="2400" b="1" dirty="0">
                <a:solidFill>
                  <a:srgbClr val="000099"/>
                </a:solidFill>
                <a:latin typeface="+mn-lt"/>
                <a:ea typeface="黑体" pitchFamily="2" charset="-122"/>
              </a:rPr>
              <a:t>发送数据。在连接建立时，</a:t>
            </a:r>
            <a:r>
              <a:rPr lang="en-US" altLang="zh-CN" sz="2400" b="1" dirty="0">
                <a:solidFill>
                  <a:srgbClr val="000099"/>
                </a:solidFill>
                <a:latin typeface="+mn-lt"/>
                <a:ea typeface="黑体" pitchFamily="2" charset="-122"/>
              </a:rPr>
              <a:t>B </a:t>
            </a:r>
            <a:r>
              <a:rPr lang="zh-CN" altLang="en-US" sz="2400" b="1" dirty="0">
                <a:solidFill>
                  <a:srgbClr val="000099"/>
                </a:solidFill>
                <a:latin typeface="+mn-lt"/>
                <a:ea typeface="黑体" pitchFamily="2" charset="-122"/>
              </a:rPr>
              <a:t>告诉 </a:t>
            </a:r>
            <a:r>
              <a:rPr lang="en-US" altLang="zh-CN" sz="2400" b="1" dirty="0">
                <a:solidFill>
                  <a:srgbClr val="000099"/>
                </a:solidFill>
                <a:latin typeface="+mn-lt"/>
                <a:ea typeface="黑体" pitchFamily="2" charset="-122"/>
              </a:rPr>
              <a:t>A</a:t>
            </a:r>
            <a:r>
              <a:rPr lang="zh-CN" altLang="en-US" sz="2400" b="1" dirty="0">
                <a:solidFill>
                  <a:srgbClr val="000099"/>
                </a:solidFill>
                <a:latin typeface="+mn-lt"/>
                <a:ea typeface="黑体" pitchFamily="2" charset="-122"/>
              </a:rPr>
              <a:t>：</a:t>
            </a:r>
            <a:endParaRPr lang="en-US" altLang="zh-CN" sz="2400" b="1" dirty="0">
              <a:solidFill>
                <a:srgbClr val="000099"/>
              </a:solidFill>
              <a:latin typeface="+mn-lt"/>
              <a:ea typeface="黑体" pitchFamily="2" charset="-122"/>
            </a:endParaRPr>
          </a:p>
          <a:p>
            <a:r>
              <a:rPr lang="zh-CN" altLang="en-US" sz="2400" b="1" dirty="0">
                <a:solidFill>
                  <a:srgbClr val="000099"/>
                </a:solidFill>
                <a:latin typeface="+mn-lt"/>
                <a:ea typeface="黑体" pitchFamily="2" charset="-122"/>
              </a:rPr>
              <a:t>“我的接收窗口 </a:t>
            </a:r>
            <a:r>
              <a:rPr lang="en-US" altLang="zh-CN" sz="2400" b="1" dirty="0" err="1">
                <a:solidFill>
                  <a:srgbClr val="000099"/>
                </a:solidFill>
                <a:latin typeface="+mn-lt"/>
                <a:ea typeface="黑体" pitchFamily="2" charset="-122"/>
              </a:rPr>
              <a:t>rwnd</a:t>
            </a:r>
            <a:r>
              <a:rPr lang="en-US" altLang="zh-CN" sz="2400" b="1" dirty="0">
                <a:solidFill>
                  <a:srgbClr val="000099"/>
                </a:solidFill>
                <a:latin typeface="+mn-lt"/>
                <a:ea typeface="黑体" pitchFamily="2" charset="-122"/>
              </a:rPr>
              <a:t> = 400</a:t>
            </a:r>
            <a:r>
              <a:rPr lang="zh-CN" altLang="en-US" sz="2400" b="1" dirty="0">
                <a:solidFill>
                  <a:srgbClr val="000099"/>
                </a:solidFill>
                <a:latin typeface="+mn-lt"/>
                <a:ea typeface="黑体" pitchFamily="2" charset="-122"/>
              </a:rPr>
              <a:t>（字节）”。</a:t>
            </a:r>
          </a:p>
        </p:txBody>
      </p:sp>
    </p:spTree>
    <p:extLst>
      <p:ext uri="{BB962C8B-B14F-4D97-AF65-F5344CB8AC3E}">
        <p14:creationId xmlns:p14="http://schemas.microsoft.com/office/powerpoint/2010/main" val="118045380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6498" name="Rectangle 2"/>
          <p:cNvSpPr>
            <a:spLocks noGrp="1" noChangeArrowheads="1"/>
          </p:cNvSpPr>
          <p:nvPr>
            <p:ph type="title"/>
          </p:nvPr>
        </p:nvSpPr>
        <p:spPr/>
        <p:txBody>
          <a:bodyPr/>
          <a:lstStyle/>
          <a:p>
            <a:pPr algn="ctr"/>
            <a:r>
              <a:rPr lang="zh-CN" altLang="en-US" dirty="0"/>
              <a:t>可能发生死锁</a:t>
            </a:r>
          </a:p>
        </p:txBody>
      </p:sp>
      <p:sp>
        <p:nvSpPr>
          <p:cNvPr id="746499" name="Rectangle 3"/>
          <p:cNvSpPr>
            <a:spLocks noGrp="1" noChangeArrowheads="1"/>
          </p:cNvSpPr>
          <p:nvPr>
            <p:ph idx="1"/>
          </p:nvPr>
        </p:nvSpPr>
        <p:spPr/>
        <p:txBody>
          <a:bodyPr/>
          <a:lstStyle/>
          <a:p>
            <a:r>
              <a:rPr lang="en-US" altLang="zh-CN" sz="2800" dirty="0"/>
              <a:t>B </a:t>
            </a:r>
            <a:r>
              <a:rPr lang="zh-CN" altLang="zh-CN" sz="2800" dirty="0"/>
              <a:t>向</a:t>
            </a:r>
            <a:r>
              <a:rPr lang="en-US" altLang="zh-CN" sz="2800" dirty="0"/>
              <a:t> A </a:t>
            </a:r>
            <a:r>
              <a:rPr lang="zh-CN" altLang="zh-CN" sz="2800" dirty="0"/>
              <a:t>发送了零窗口的报文段后不久，</a:t>
            </a:r>
            <a:r>
              <a:rPr lang="en-US" altLang="zh-CN" sz="2800" dirty="0"/>
              <a:t>B </a:t>
            </a:r>
            <a:r>
              <a:rPr lang="zh-CN" altLang="zh-CN" sz="2800" dirty="0"/>
              <a:t>的接收缓存又有了一些存储空间。于是</a:t>
            </a:r>
            <a:r>
              <a:rPr lang="en-US" altLang="zh-CN" sz="2800" dirty="0"/>
              <a:t> B </a:t>
            </a:r>
            <a:r>
              <a:rPr lang="zh-CN" altLang="zh-CN" sz="2800" dirty="0"/>
              <a:t>向</a:t>
            </a:r>
            <a:r>
              <a:rPr lang="en-US" altLang="zh-CN" sz="2800" dirty="0"/>
              <a:t> A </a:t>
            </a:r>
            <a:r>
              <a:rPr lang="zh-CN" altLang="zh-CN" sz="2800" dirty="0"/>
              <a:t>发送了</a:t>
            </a:r>
            <a:r>
              <a:rPr lang="en-US" altLang="zh-CN" sz="2800" dirty="0"/>
              <a:t> </a:t>
            </a:r>
            <a:r>
              <a:rPr lang="en-US" altLang="zh-CN" sz="2800" dirty="0" err="1"/>
              <a:t>rwnd</a:t>
            </a:r>
            <a:r>
              <a:rPr lang="en-US" altLang="zh-CN" sz="2800" dirty="0"/>
              <a:t> = 400 </a:t>
            </a:r>
            <a:r>
              <a:rPr lang="zh-CN" altLang="zh-CN" sz="2800" dirty="0"/>
              <a:t>的报文段。</a:t>
            </a:r>
            <a:endParaRPr lang="en-US" altLang="zh-CN" sz="2800" dirty="0"/>
          </a:p>
          <a:p>
            <a:r>
              <a:rPr lang="zh-CN" altLang="en-US" sz="2800" dirty="0"/>
              <a:t>但</a:t>
            </a:r>
            <a:r>
              <a:rPr lang="zh-CN" altLang="zh-CN" sz="2800" dirty="0"/>
              <a:t>这个报文段在传送过程中</a:t>
            </a:r>
            <a:r>
              <a:rPr lang="zh-CN" altLang="zh-CN" sz="2800" dirty="0">
                <a:solidFill>
                  <a:srgbClr val="FF0000"/>
                </a:solidFill>
              </a:rPr>
              <a:t>丢失</a:t>
            </a:r>
            <a:r>
              <a:rPr lang="zh-CN" altLang="zh-CN" sz="2800" dirty="0"/>
              <a:t>了。</a:t>
            </a:r>
            <a:r>
              <a:rPr lang="en-US" altLang="zh-CN" sz="2800" dirty="0"/>
              <a:t>A </a:t>
            </a:r>
            <a:r>
              <a:rPr lang="zh-CN" altLang="zh-CN" sz="2800" dirty="0"/>
              <a:t>一直等待收到</a:t>
            </a:r>
            <a:r>
              <a:rPr lang="en-US" altLang="zh-CN" sz="2800" dirty="0"/>
              <a:t> B </a:t>
            </a:r>
            <a:r>
              <a:rPr lang="zh-CN" altLang="zh-CN" sz="2800" dirty="0"/>
              <a:t>发送的非零窗口的通知，而</a:t>
            </a:r>
            <a:r>
              <a:rPr lang="en-US" altLang="zh-CN" sz="2800" dirty="0"/>
              <a:t> B </a:t>
            </a:r>
            <a:r>
              <a:rPr lang="zh-CN" altLang="zh-CN" sz="2800" dirty="0"/>
              <a:t>也一直等待</a:t>
            </a:r>
            <a:r>
              <a:rPr lang="en-US" altLang="zh-CN" sz="2800" dirty="0"/>
              <a:t> A </a:t>
            </a:r>
            <a:r>
              <a:rPr lang="zh-CN" altLang="zh-CN" sz="2800" dirty="0"/>
              <a:t>发送的数据。</a:t>
            </a:r>
            <a:endParaRPr lang="en-US" altLang="zh-CN" sz="2800" dirty="0"/>
          </a:p>
          <a:p>
            <a:r>
              <a:rPr lang="zh-CN" altLang="zh-CN" sz="2800" dirty="0"/>
              <a:t>如果没有其他措施，这种</a:t>
            </a:r>
            <a:r>
              <a:rPr lang="zh-CN" altLang="zh-CN" sz="2800" dirty="0">
                <a:solidFill>
                  <a:srgbClr val="FF0000"/>
                </a:solidFill>
              </a:rPr>
              <a:t>互相等待的死锁</a:t>
            </a:r>
            <a:r>
              <a:rPr lang="zh-CN" altLang="zh-CN" sz="2800" dirty="0"/>
              <a:t>局面将一直延续下去。</a:t>
            </a:r>
            <a:endParaRPr lang="en-US" altLang="zh-CN" sz="2800" dirty="0"/>
          </a:p>
          <a:p>
            <a:r>
              <a:rPr lang="zh-CN" altLang="zh-CN" sz="2800" dirty="0"/>
              <a:t>为了解决这个问题，</a:t>
            </a:r>
            <a:r>
              <a:rPr lang="en-US" altLang="zh-CN" sz="2800" dirty="0"/>
              <a:t>TCP </a:t>
            </a:r>
            <a:r>
              <a:rPr lang="zh-CN" altLang="zh-CN" sz="2800" dirty="0"/>
              <a:t>为每一个连接设有一个</a:t>
            </a:r>
            <a:r>
              <a:rPr lang="zh-CN" altLang="zh-CN" sz="2800" dirty="0">
                <a:solidFill>
                  <a:srgbClr val="FF0000"/>
                </a:solidFill>
              </a:rPr>
              <a:t>持续计时器</a:t>
            </a:r>
            <a:r>
              <a:rPr lang="en-US" altLang="zh-CN" sz="2800" dirty="0">
                <a:solidFill>
                  <a:srgbClr val="FF0000"/>
                </a:solidFill>
              </a:rPr>
              <a:t> </a:t>
            </a:r>
            <a:r>
              <a:rPr lang="en-US" altLang="zh-CN" sz="2800" dirty="0"/>
              <a:t>(persistence timer)</a:t>
            </a:r>
            <a:r>
              <a:rPr lang="zh-CN" altLang="en-US" sz="2800" dirty="0"/>
              <a:t>。</a:t>
            </a:r>
          </a:p>
        </p:txBody>
      </p:sp>
    </p:spTree>
    <p:extLst>
      <p:ext uri="{BB962C8B-B14F-4D97-AF65-F5344CB8AC3E}">
        <p14:creationId xmlns:p14="http://schemas.microsoft.com/office/powerpoint/2010/main" val="165082580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6498" name="Rectangle 2"/>
          <p:cNvSpPr>
            <a:spLocks noGrp="1" noChangeArrowheads="1"/>
          </p:cNvSpPr>
          <p:nvPr>
            <p:ph type="title"/>
          </p:nvPr>
        </p:nvSpPr>
        <p:spPr>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algn="ctr"/>
            <a:r>
              <a:rPr lang="zh-CN" altLang="en-US" dirty="0"/>
              <a:t>持续计时器</a:t>
            </a:r>
          </a:p>
        </p:txBody>
      </p:sp>
      <p:sp>
        <p:nvSpPr>
          <p:cNvPr id="746499" name="Rectangle 3"/>
          <p:cNvSpPr>
            <a:spLocks noGrp="1" noChangeArrowheads="1"/>
          </p:cNvSpPr>
          <p:nvPr>
            <p:ph idx="1"/>
          </p:nvPr>
        </p:nvSpPr>
        <p:spPr/>
        <p:txBody>
          <a:bodyPr/>
          <a:lstStyle/>
          <a:p>
            <a:r>
              <a:rPr lang="en-US" altLang="zh-CN" sz="2800" dirty="0"/>
              <a:t>TCP </a:t>
            </a:r>
            <a:r>
              <a:rPr lang="zh-CN" altLang="en-US" sz="2800" dirty="0"/>
              <a:t>为每一个连接设有一个</a:t>
            </a:r>
            <a:r>
              <a:rPr lang="zh-CN" altLang="en-US" sz="2800" dirty="0">
                <a:solidFill>
                  <a:srgbClr val="FF0000"/>
                </a:solidFill>
              </a:rPr>
              <a:t>持续计时器  </a:t>
            </a:r>
            <a:r>
              <a:rPr lang="en-US" altLang="zh-CN" sz="2800" dirty="0"/>
              <a:t>(persistence timer) </a:t>
            </a:r>
            <a:r>
              <a:rPr lang="zh-CN" altLang="en-US" sz="2800" dirty="0"/>
              <a:t>。</a:t>
            </a:r>
          </a:p>
          <a:p>
            <a:r>
              <a:rPr lang="zh-CN" altLang="en-US" sz="2800" dirty="0"/>
              <a:t>只要 </a:t>
            </a:r>
            <a:r>
              <a:rPr lang="en-US" altLang="zh-CN" sz="2800" dirty="0"/>
              <a:t>TCP </a:t>
            </a:r>
            <a:r>
              <a:rPr lang="zh-CN" altLang="en-US" sz="2800" dirty="0"/>
              <a:t>连接的一方收到对方的</a:t>
            </a:r>
            <a:r>
              <a:rPr lang="zh-CN" altLang="en-US" sz="2800" dirty="0">
                <a:solidFill>
                  <a:srgbClr val="FF0000"/>
                </a:solidFill>
              </a:rPr>
              <a:t>零窗口</a:t>
            </a:r>
            <a:r>
              <a:rPr lang="zh-CN" altLang="en-US" sz="2800" dirty="0"/>
              <a:t>通知，就启动该持续计时器。</a:t>
            </a:r>
          </a:p>
          <a:p>
            <a:r>
              <a:rPr lang="zh-CN" altLang="en-US" sz="2800" dirty="0"/>
              <a:t>若持续计时器设置的时间到期，就发送一个零窗口探测报文段（仅携带 </a:t>
            </a:r>
            <a:r>
              <a:rPr lang="en-US" altLang="zh-CN" sz="2800" dirty="0"/>
              <a:t>1 </a:t>
            </a:r>
            <a:r>
              <a:rPr lang="zh-CN" altLang="en-US" sz="2800" dirty="0"/>
              <a:t>字节的数据），而对方就在确认这个探测报文段时给出了现在的窗口值。</a:t>
            </a:r>
          </a:p>
          <a:p>
            <a:r>
              <a:rPr lang="zh-CN" altLang="en-US" sz="2800" dirty="0"/>
              <a:t>若窗口仍然是零，则收到这个报文段的一方就重新设置持续计时器。</a:t>
            </a:r>
          </a:p>
          <a:p>
            <a:r>
              <a:rPr lang="zh-CN" altLang="en-US" sz="2800" dirty="0"/>
              <a:t>若窗口不是零，则死锁的僵局就可以打破了。 </a:t>
            </a:r>
          </a:p>
        </p:txBody>
      </p:sp>
    </p:spTree>
    <p:extLst>
      <p:ext uri="{BB962C8B-B14F-4D97-AF65-F5344CB8AC3E}">
        <p14:creationId xmlns:p14="http://schemas.microsoft.com/office/powerpoint/2010/main" val="48577330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3906" name="Rectangle 2"/>
          <p:cNvSpPr>
            <a:spLocks noGrp="1" noChangeArrowheads="1"/>
          </p:cNvSpPr>
          <p:nvPr>
            <p:ph type="title"/>
          </p:nvPr>
        </p:nvSpPr>
        <p:spPr/>
        <p:txBody>
          <a:bodyPr/>
          <a:lstStyle/>
          <a:p>
            <a:r>
              <a:rPr lang="zh-CN" altLang="zh-CN" dirty="0"/>
              <a:t>流量控制</a:t>
            </a:r>
            <a:r>
              <a:rPr lang="zh-CN" altLang="en-US" dirty="0"/>
              <a:t>：传输效率的考虑</a:t>
            </a:r>
          </a:p>
        </p:txBody>
      </p:sp>
      <p:sp>
        <p:nvSpPr>
          <p:cNvPr id="763907" name="Rectangle 3"/>
          <p:cNvSpPr>
            <a:spLocks noGrp="1" noChangeArrowheads="1"/>
          </p:cNvSpPr>
          <p:nvPr>
            <p:ph idx="1"/>
          </p:nvPr>
        </p:nvSpPr>
        <p:spPr>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r>
              <a:rPr lang="zh-CN" altLang="en-US" sz="2800" dirty="0"/>
              <a:t>可以用不同的机制来控制 </a:t>
            </a:r>
            <a:r>
              <a:rPr lang="en-US" altLang="zh-CN" sz="2800" dirty="0"/>
              <a:t>TCP </a:t>
            </a:r>
            <a:r>
              <a:rPr lang="zh-CN" altLang="en-US" sz="2800" dirty="0"/>
              <a:t>报文段的发送时机</a:t>
            </a:r>
            <a:r>
              <a:rPr lang="en-US" altLang="zh-CN" sz="2800" dirty="0"/>
              <a:t>:</a:t>
            </a:r>
          </a:p>
          <a:p>
            <a:pPr lvl="1"/>
            <a:r>
              <a:rPr lang="zh-CN" altLang="en-US" sz="2400" dirty="0">
                <a:solidFill>
                  <a:srgbClr val="FF0000"/>
                </a:solidFill>
              </a:rPr>
              <a:t>第一种机制</a:t>
            </a:r>
            <a:r>
              <a:rPr lang="zh-CN" altLang="en-US" sz="2400" dirty="0"/>
              <a:t>是 </a:t>
            </a:r>
            <a:r>
              <a:rPr lang="en-US" altLang="zh-CN" sz="2400" dirty="0"/>
              <a:t>TCP </a:t>
            </a:r>
            <a:r>
              <a:rPr lang="zh-CN" altLang="en-US" sz="2400" dirty="0"/>
              <a:t>维持一个变量，它等于最大报文段长度 </a:t>
            </a:r>
            <a:r>
              <a:rPr lang="en-US" altLang="zh-CN" sz="2400" dirty="0"/>
              <a:t>MSS</a:t>
            </a:r>
            <a:r>
              <a:rPr lang="zh-CN" altLang="en-US" sz="2400" dirty="0"/>
              <a:t>。只要缓存中存放的数据达到 </a:t>
            </a:r>
            <a:r>
              <a:rPr lang="en-US" altLang="zh-CN" sz="2400" dirty="0"/>
              <a:t>MSS </a:t>
            </a:r>
            <a:r>
              <a:rPr lang="zh-CN" altLang="en-US" sz="2400" dirty="0"/>
              <a:t>字节时，就组装成一个 </a:t>
            </a:r>
            <a:r>
              <a:rPr lang="en-US" altLang="zh-CN" sz="2400" dirty="0"/>
              <a:t>TCP </a:t>
            </a:r>
            <a:r>
              <a:rPr lang="zh-CN" altLang="en-US" sz="2400" dirty="0"/>
              <a:t>报文段发送出去。</a:t>
            </a:r>
          </a:p>
          <a:p>
            <a:pPr lvl="1"/>
            <a:r>
              <a:rPr lang="zh-CN" altLang="en-US" sz="2400" dirty="0">
                <a:solidFill>
                  <a:srgbClr val="FF0000"/>
                </a:solidFill>
              </a:rPr>
              <a:t>第二种机制</a:t>
            </a:r>
            <a:r>
              <a:rPr lang="zh-CN" altLang="en-US" sz="2400" dirty="0"/>
              <a:t>是由发送方的应用进程指明要求发送报文段，即 </a:t>
            </a:r>
            <a:r>
              <a:rPr lang="en-US" altLang="zh-CN" sz="2400" dirty="0"/>
              <a:t>TCP </a:t>
            </a:r>
            <a:r>
              <a:rPr lang="zh-CN" altLang="en-US" sz="2400" dirty="0"/>
              <a:t>支持的</a:t>
            </a:r>
            <a:r>
              <a:rPr lang="zh-CN" altLang="en-US" sz="2400" dirty="0">
                <a:solidFill>
                  <a:srgbClr val="0000FF"/>
                </a:solidFill>
              </a:rPr>
              <a:t>推送 </a:t>
            </a:r>
            <a:r>
              <a:rPr lang="en-US" altLang="zh-CN" sz="2400" dirty="0"/>
              <a:t>(push)</a:t>
            </a:r>
            <a:r>
              <a:rPr lang="zh-CN" altLang="en-US" sz="2400" dirty="0"/>
              <a:t>操作。</a:t>
            </a:r>
          </a:p>
          <a:p>
            <a:pPr lvl="1"/>
            <a:r>
              <a:rPr lang="zh-CN" altLang="en-US" sz="2400" dirty="0">
                <a:solidFill>
                  <a:srgbClr val="FF0000"/>
                </a:solidFill>
              </a:rPr>
              <a:t>第三种机制</a:t>
            </a:r>
            <a:r>
              <a:rPr lang="zh-CN" altLang="en-US" sz="2400" dirty="0"/>
              <a:t>是发送方的一个计时器期限到了，这时就把当前已有的缓存数据装入报文段（但长度不能超过 </a:t>
            </a:r>
            <a:r>
              <a:rPr lang="en-US" altLang="zh-CN" sz="2400" dirty="0"/>
              <a:t>MSS</a:t>
            </a:r>
            <a:r>
              <a:rPr lang="zh-CN" altLang="en-US" sz="2400" dirty="0"/>
              <a:t>）发送出去。</a:t>
            </a:r>
            <a:endParaRPr lang="en-US" altLang="zh-CN" sz="2400" dirty="0"/>
          </a:p>
          <a:p>
            <a:r>
              <a:rPr lang="zh-CN" altLang="zh-CN" sz="2800" dirty="0"/>
              <a:t>如何控制</a:t>
            </a:r>
            <a:r>
              <a:rPr lang="en-US" altLang="zh-CN" sz="2800" dirty="0"/>
              <a:t> TCP </a:t>
            </a:r>
            <a:r>
              <a:rPr lang="zh-CN" altLang="zh-CN" sz="2800" dirty="0"/>
              <a:t>发送报文段的时机仍然是一个较为复杂的问题。</a:t>
            </a:r>
            <a:endParaRPr lang="zh-CN" altLang="en-US" sz="2800" dirty="0"/>
          </a:p>
        </p:txBody>
      </p:sp>
    </p:spTree>
    <p:extLst>
      <p:ext uri="{BB962C8B-B14F-4D97-AF65-F5344CB8AC3E}">
        <p14:creationId xmlns:p14="http://schemas.microsoft.com/office/powerpoint/2010/main" val="251299817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运输</a:t>
            </a:r>
            <a:r>
              <a:rPr lang="zh-CN" altLang="zh-CN" dirty="0"/>
              <a:t>层</a:t>
            </a:r>
            <a:endParaRPr lang="zh-CN" altLang="en-US" dirty="0"/>
          </a:p>
        </p:txBody>
      </p:sp>
      <p:sp>
        <p:nvSpPr>
          <p:cNvPr id="3" name="内容占位符 2"/>
          <p:cNvSpPr>
            <a:spLocks noGrp="1"/>
          </p:cNvSpPr>
          <p:nvPr>
            <p:ph idx="1"/>
          </p:nvPr>
        </p:nvSpPr>
        <p:spPr/>
        <p:txBody>
          <a:bodyPr/>
          <a:lstStyle/>
          <a:p>
            <a:r>
              <a:rPr lang="en-US" altLang="zh-CN" sz="2800" dirty="0">
                <a:solidFill>
                  <a:schemeClr val="bg1">
                    <a:lumMod val="65000"/>
                  </a:schemeClr>
                </a:solidFill>
              </a:rPr>
              <a:t>TCP </a:t>
            </a:r>
            <a:r>
              <a:rPr lang="zh-CN" altLang="zh-CN" sz="2800" dirty="0">
                <a:solidFill>
                  <a:schemeClr val="bg1">
                    <a:lumMod val="65000"/>
                  </a:schemeClr>
                </a:solidFill>
              </a:rPr>
              <a:t>的运输连接管理</a:t>
            </a:r>
          </a:p>
          <a:p>
            <a:r>
              <a:rPr lang="en-US" altLang="zh-CN" sz="2800" dirty="0">
                <a:solidFill>
                  <a:schemeClr val="bg1">
                    <a:lumMod val="65000"/>
                  </a:schemeClr>
                </a:solidFill>
              </a:rPr>
              <a:t>TCP </a:t>
            </a:r>
            <a:r>
              <a:rPr lang="zh-CN" altLang="zh-CN" sz="2800" dirty="0">
                <a:solidFill>
                  <a:schemeClr val="bg1">
                    <a:lumMod val="65000"/>
                  </a:schemeClr>
                </a:solidFill>
              </a:rPr>
              <a:t>可靠传输的实现</a:t>
            </a:r>
          </a:p>
          <a:p>
            <a:r>
              <a:rPr lang="en-US" altLang="zh-CN" sz="2800" dirty="0">
                <a:solidFill>
                  <a:schemeClr val="bg1">
                    <a:lumMod val="65000"/>
                  </a:schemeClr>
                </a:solidFill>
              </a:rPr>
              <a:t>TCP </a:t>
            </a:r>
            <a:r>
              <a:rPr lang="zh-CN" altLang="zh-CN" sz="2800" dirty="0">
                <a:solidFill>
                  <a:schemeClr val="bg1">
                    <a:lumMod val="65000"/>
                  </a:schemeClr>
                </a:solidFill>
              </a:rPr>
              <a:t>的流量控制</a:t>
            </a:r>
          </a:p>
          <a:p>
            <a:r>
              <a:rPr lang="en-US" altLang="zh-CN" dirty="0">
                <a:solidFill>
                  <a:srgbClr val="FF0000"/>
                </a:solidFill>
              </a:rPr>
              <a:t>TCP </a:t>
            </a:r>
            <a:r>
              <a:rPr lang="zh-CN" altLang="zh-CN" dirty="0">
                <a:solidFill>
                  <a:srgbClr val="FF0000"/>
                </a:solidFill>
              </a:rPr>
              <a:t>的拥塞控制</a:t>
            </a:r>
          </a:p>
        </p:txBody>
      </p:sp>
    </p:spTree>
    <p:extLst>
      <p:ext uri="{BB962C8B-B14F-4D97-AF65-F5344CB8AC3E}">
        <p14:creationId xmlns:p14="http://schemas.microsoft.com/office/powerpoint/2010/main" val="17001455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拥塞控制</a:t>
            </a:r>
            <a:r>
              <a:rPr lang="zh-CN" altLang="en-US" dirty="0"/>
              <a:t>：</a:t>
            </a:r>
            <a:r>
              <a:rPr lang="zh-CN" altLang="zh-CN" dirty="0"/>
              <a:t>一般原理</a:t>
            </a:r>
            <a:endParaRPr lang="zh-CN" altLang="en-US" dirty="0"/>
          </a:p>
        </p:txBody>
      </p:sp>
      <p:sp>
        <p:nvSpPr>
          <p:cNvPr id="3" name="内容占位符 2"/>
          <p:cNvSpPr>
            <a:spLocks noGrp="1"/>
          </p:cNvSpPr>
          <p:nvPr>
            <p:ph idx="1"/>
          </p:nvPr>
        </p:nvSpPr>
        <p:spPr/>
        <p:txBody>
          <a:bodyPr/>
          <a:lstStyle/>
          <a:p>
            <a:r>
              <a:rPr lang="zh-CN" altLang="en-US" dirty="0"/>
              <a:t>在某段时间，若对网络中某资源的需求超过了该资源所能提供的可用部分，网络的性能就要变坏。这种现象称为</a:t>
            </a:r>
            <a:r>
              <a:rPr lang="zh-CN" altLang="en-US" dirty="0">
                <a:solidFill>
                  <a:srgbClr val="FF0000"/>
                </a:solidFill>
              </a:rPr>
              <a:t>拥塞 </a:t>
            </a:r>
            <a:r>
              <a:rPr lang="en-US" altLang="zh-CN" dirty="0">
                <a:solidFill>
                  <a:srgbClr val="FF0000"/>
                </a:solidFill>
              </a:rPr>
              <a:t>(congestion)</a:t>
            </a:r>
            <a:r>
              <a:rPr lang="zh-CN" altLang="en-US" dirty="0">
                <a:solidFill>
                  <a:srgbClr val="FF0000"/>
                </a:solidFill>
              </a:rPr>
              <a:t>。</a:t>
            </a:r>
          </a:p>
          <a:p>
            <a:r>
              <a:rPr lang="zh-CN" altLang="en-US" dirty="0"/>
              <a:t>若网络中有许多资源同时产生拥塞，网络的性能就要明显变坏，整个网络的吞吐量将随输入负荷的增大而下降。</a:t>
            </a:r>
            <a:endParaRPr lang="en-US" altLang="zh-CN" dirty="0"/>
          </a:p>
          <a:p>
            <a:r>
              <a:rPr lang="zh-CN" altLang="en-US" dirty="0"/>
              <a:t>出现拥塞的</a:t>
            </a:r>
            <a:r>
              <a:rPr lang="zh-CN" altLang="en-US" dirty="0">
                <a:solidFill>
                  <a:srgbClr val="FF0000"/>
                </a:solidFill>
              </a:rPr>
              <a:t>原因：</a:t>
            </a:r>
          </a:p>
          <a:p>
            <a:endParaRPr lang="zh-CN" altLang="en-US" dirty="0"/>
          </a:p>
          <a:p>
            <a:endParaRPr lang="zh-CN" altLang="en-US" dirty="0"/>
          </a:p>
        </p:txBody>
      </p:sp>
      <p:sp>
        <p:nvSpPr>
          <p:cNvPr id="4" name="Rectangle 3"/>
          <p:cNvSpPr>
            <a:spLocks noChangeArrowheads="1"/>
          </p:cNvSpPr>
          <p:nvPr/>
        </p:nvSpPr>
        <p:spPr bwMode="auto">
          <a:xfrm>
            <a:off x="938410" y="5251921"/>
            <a:ext cx="8335070" cy="841375"/>
          </a:xfrm>
          <a:prstGeom prst="rect">
            <a:avLst/>
          </a:prstGeom>
          <a:solidFill>
            <a:srgbClr val="FFFF66"/>
          </a:solidFill>
          <a:ln w="9525" algn="ctr">
            <a:solidFill>
              <a:schemeClr val="tx1"/>
            </a:solidFill>
            <a:miter lim="800000"/>
            <a:headEnd/>
            <a:tailEnd/>
          </a:ln>
          <a:effectLst>
            <a:outerShdw dist="35921" sx="1000" sy="1000" algn="ctr" rotWithShape="0">
              <a:schemeClr val="bg2"/>
            </a:outerShdw>
          </a:effectLst>
        </p:spPr>
        <p:txBody>
          <a:bodyPr wrap="none" anchor="ctr"/>
          <a:lstStyle/>
          <a:p>
            <a:r>
              <a:rPr lang="zh-CN" altLang="en-US" sz="3200" b="1" dirty="0">
                <a:solidFill>
                  <a:srgbClr val="000099"/>
                </a:solidFill>
                <a:latin typeface="+mn-lt"/>
                <a:ea typeface="黑体" pitchFamily="2" charset="-122"/>
              </a:rPr>
              <a:t>   ∑对资源需求  </a:t>
            </a:r>
            <a:r>
              <a:rPr lang="en-US" altLang="zh-CN" sz="3200" b="1" dirty="0">
                <a:solidFill>
                  <a:srgbClr val="000099"/>
                </a:solidFill>
                <a:latin typeface="+mn-lt"/>
                <a:ea typeface="黑体" pitchFamily="2" charset="-122"/>
              </a:rPr>
              <a:t>&gt; </a:t>
            </a:r>
            <a:r>
              <a:rPr lang="zh-CN" altLang="en-US" sz="3200" b="1" dirty="0">
                <a:solidFill>
                  <a:srgbClr val="000099"/>
                </a:solidFill>
                <a:latin typeface="+mn-lt"/>
                <a:ea typeface="黑体" pitchFamily="2" charset="-122"/>
              </a:rPr>
              <a:t>可用资源                 </a:t>
            </a:r>
            <a:r>
              <a:rPr lang="en-US" altLang="zh-CN" sz="3200" b="1" dirty="0">
                <a:solidFill>
                  <a:srgbClr val="000099"/>
                </a:solidFill>
                <a:latin typeface="+mn-lt"/>
                <a:ea typeface="黑体" pitchFamily="2" charset="-122"/>
              </a:rPr>
              <a:t>(5-7)</a:t>
            </a:r>
          </a:p>
        </p:txBody>
      </p:sp>
    </p:spTree>
    <p:extLst>
      <p:ext uri="{BB962C8B-B14F-4D97-AF65-F5344CB8AC3E}">
        <p14:creationId xmlns:p14="http://schemas.microsoft.com/office/powerpoint/2010/main" val="276327601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dirty="0">
                <a:solidFill>
                  <a:srgbClr val="FF0000"/>
                </a:solidFill>
              </a:rPr>
              <a:t>增加资源能解决拥塞吗？</a:t>
            </a:r>
          </a:p>
        </p:txBody>
      </p:sp>
      <p:sp>
        <p:nvSpPr>
          <p:cNvPr id="3" name="内容占位符 2"/>
          <p:cNvSpPr>
            <a:spLocks noGrp="1"/>
          </p:cNvSpPr>
          <p:nvPr>
            <p:ph idx="1"/>
          </p:nvPr>
        </p:nvSpPr>
        <p:spPr/>
        <p:txBody>
          <a:bodyPr/>
          <a:lstStyle/>
          <a:p>
            <a:r>
              <a:rPr lang="zh-CN" altLang="en-US" dirty="0">
                <a:solidFill>
                  <a:srgbClr val="FF0000"/>
                </a:solidFill>
              </a:rPr>
              <a:t>不能</a:t>
            </a:r>
            <a:r>
              <a:rPr lang="zh-CN" altLang="zh-CN" dirty="0">
                <a:solidFill>
                  <a:srgbClr val="FF0000"/>
                </a:solidFill>
              </a:rPr>
              <a:t>。</a:t>
            </a:r>
            <a:r>
              <a:rPr lang="zh-CN" altLang="zh-CN" dirty="0"/>
              <a:t>这是因为网络拥塞是一个非常复杂的问题。简单地采用上述做法，在许多情况下，不但不能解决拥塞问题，而且还可能使网络的性能更坏。</a:t>
            </a:r>
            <a:endParaRPr lang="en-US" altLang="zh-CN" dirty="0"/>
          </a:p>
          <a:p>
            <a:r>
              <a:rPr lang="zh-CN" altLang="zh-CN" dirty="0"/>
              <a:t>网络拥塞往往是由许多因素引起的。例如</a:t>
            </a:r>
            <a:r>
              <a:rPr lang="zh-CN" altLang="en-US" dirty="0"/>
              <a:t>：</a:t>
            </a:r>
            <a:endParaRPr lang="en-US" altLang="zh-CN" dirty="0"/>
          </a:p>
          <a:p>
            <a:pPr lvl="1"/>
            <a:r>
              <a:rPr lang="zh-CN" altLang="en-US" dirty="0"/>
              <a:t>增大缓存，但未提高</a:t>
            </a:r>
            <a:r>
              <a:rPr lang="zh-CN" altLang="zh-CN" dirty="0"/>
              <a:t>输出链路的容量和处理机的速度，排队等待时间将会大大增加</a:t>
            </a:r>
            <a:r>
              <a:rPr lang="zh-CN" altLang="en-US" dirty="0"/>
              <a:t>，引起大量超时重传，</a:t>
            </a:r>
            <a:r>
              <a:rPr lang="zh-CN" altLang="zh-CN" dirty="0"/>
              <a:t>解决不了网络拥塞</a:t>
            </a:r>
            <a:r>
              <a:rPr lang="zh-CN" altLang="en-US" dirty="0"/>
              <a:t>；</a:t>
            </a:r>
            <a:endParaRPr lang="en-US" altLang="zh-CN" dirty="0"/>
          </a:p>
          <a:p>
            <a:pPr lvl="1"/>
            <a:r>
              <a:rPr lang="zh-CN" altLang="en-US" dirty="0"/>
              <a:t>提高</a:t>
            </a:r>
            <a:r>
              <a:rPr lang="zh-CN" altLang="zh-CN" dirty="0"/>
              <a:t>处理机处理的速率</a:t>
            </a:r>
            <a:r>
              <a:rPr lang="zh-CN" altLang="en-US" dirty="0"/>
              <a:t>会</a:t>
            </a:r>
            <a:r>
              <a:rPr lang="zh-CN" altLang="zh-CN" dirty="0"/>
              <a:t>会将瓶颈转移到其他地方</a:t>
            </a:r>
            <a:r>
              <a:rPr lang="zh-CN" altLang="en-US" dirty="0"/>
              <a:t>；</a:t>
            </a:r>
            <a:endParaRPr lang="en-US" altLang="zh-CN" dirty="0"/>
          </a:p>
          <a:p>
            <a:pPr lvl="1"/>
            <a:endParaRPr lang="en-US" altLang="zh-CN" dirty="0"/>
          </a:p>
          <a:p>
            <a:pPr lvl="1"/>
            <a:endParaRPr lang="zh-CN" altLang="en-US" dirty="0"/>
          </a:p>
        </p:txBody>
      </p:sp>
    </p:spTree>
    <p:extLst>
      <p:ext uri="{BB962C8B-B14F-4D97-AF65-F5344CB8AC3E}">
        <p14:creationId xmlns:p14="http://schemas.microsoft.com/office/powerpoint/2010/main" val="416206603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zh-CN" dirty="0"/>
              <a:t>拥塞常常趋于恶化</a:t>
            </a:r>
            <a:endParaRPr lang="zh-CN" altLang="en-US" dirty="0"/>
          </a:p>
        </p:txBody>
      </p:sp>
      <p:sp>
        <p:nvSpPr>
          <p:cNvPr id="3" name="内容占位符 2"/>
          <p:cNvSpPr>
            <a:spLocks noGrp="1"/>
          </p:cNvSpPr>
          <p:nvPr>
            <p:ph idx="1"/>
          </p:nvPr>
        </p:nvSpPr>
        <p:spPr/>
        <p:txBody>
          <a:bodyPr/>
          <a:lstStyle/>
          <a:p>
            <a:r>
              <a:rPr lang="zh-CN" altLang="zh-CN" dirty="0"/>
              <a:t>如果一个路由器没有足够的缓存空间，它就会丢弃一些新到的分组。</a:t>
            </a:r>
            <a:endParaRPr lang="en-US" altLang="zh-CN" dirty="0"/>
          </a:p>
          <a:p>
            <a:r>
              <a:rPr lang="zh-CN" altLang="zh-CN" dirty="0"/>
              <a:t>但当分组被丢弃时，发送这一分组的源点就会重传这一分组，甚至可能还要重传多次。这样会引起更多的分组流入网络和被网络中的路由器丢弃。</a:t>
            </a:r>
            <a:endParaRPr lang="en-US" altLang="zh-CN" dirty="0"/>
          </a:p>
          <a:p>
            <a:r>
              <a:rPr lang="zh-CN" altLang="zh-CN" dirty="0">
                <a:solidFill>
                  <a:srgbClr val="0000FF"/>
                </a:solidFill>
              </a:rPr>
              <a:t>可见拥塞引起的重传并不会缓解网络的拥塞，反而会加剧网络的拥塞。</a:t>
            </a:r>
            <a:endParaRPr lang="zh-CN" altLang="en-US" dirty="0">
              <a:solidFill>
                <a:srgbClr val="0000FF"/>
              </a:solidFill>
            </a:endParaRPr>
          </a:p>
        </p:txBody>
      </p:sp>
    </p:spTree>
    <p:extLst>
      <p:ext uri="{BB962C8B-B14F-4D97-AF65-F5344CB8AC3E}">
        <p14:creationId xmlns:p14="http://schemas.microsoft.com/office/powerpoint/2010/main" val="174995760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6" name="Rectangle 2"/>
          <p:cNvSpPr>
            <a:spLocks noGrp="1" noChangeArrowheads="1"/>
          </p:cNvSpPr>
          <p:nvPr>
            <p:ph type="title"/>
          </p:nvPr>
        </p:nvSpPr>
        <p:spPr/>
        <p:txBody>
          <a:bodyPr/>
          <a:lstStyle/>
          <a:p>
            <a:pPr algn="ctr" eaLnBrk="1" hangingPunct="1"/>
            <a:r>
              <a:rPr lang="zh-CN" altLang="en-US"/>
              <a:t>拥塞控制与流量控制的区别 </a:t>
            </a:r>
          </a:p>
        </p:txBody>
      </p:sp>
      <p:sp>
        <p:nvSpPr>
          <p:cNvPr id="2236419" name="Rectangle 3"/>
          <p:cNvSpPr>
            <a:spLocks noGrp="1" noChangeArrowheads="1"/>
          </p:cNvSpPr>
          <p:nvPr>
            <p:ph idx="1"/>
          </p:nvPr>
        </p:nvSpPr>
        <p:spPr/>
        <p:txBody>
          <a:bodyPr/>
          <a:lstStyle/>
          <a:p>
            <a:r>
              <a:rPr lang="zh-CN" altLang="zh-CN" dirty="0">
                <a:solidFill>
                  <a:srgbClr val="FF0000"/>
                </a:solidFill>
              </a:rPr>
              <a:t>拥塞控制</a:t>
            </a:r>
            <a:r>
              <a:rPr lang="zh-CN" altLang="zh-CN" dirty="0"/>
              <a:t>就是防止过多的数据注入到网络中，使网络中的路由器或链路不致过载。</a:t>
            </a:r>
            <a:endParaRPr lang="en-US" altLang="zh-CN" dirty="0"/>
          </a:p>
          <a:p>
            <a:r>
              <a:rPr lang="zh-CN" altLang="zh-CN" dirty="0">
                <a:solidFill>
                  <a:srgbClr val="0000FF"/>
                </a:solidFill>
              </a:rPr>
              <a:t>拥塞控制所要做的都有一个前提，就是网络能够承受现有的网络负荷。</a:t>
            </a:r>
            <a:endParaRPr lang="zh-CN" altLang="en-US" dirty="0">
              <a:solidFill>
                <a:srgbClr val="0000FF"/>
              </a:solidFill>
            </a:endParaRPr>
          </a:p>
          <a:p>
            <a:pPr eaLnBrk="1" hangingPunct="1"/>
            <a:r>
              <a:rPr lang="zh-CN" altLang="en-US" dirty="0">
                <a:solidFill>
                  <a:srgbClr val="FF0000"/>
                </a:solidFill>
              </a:rPr>
              <a:t>拥塞控制</a:t>
            </a:r>
            <a:r>
              <a:rPr lang="zh-CN" altLang="en-US" dirty="0"/>
              <a:t>是一个全局性的过程，涉及到所有的主机、所有的路由器，以及与降低网络传输性能有关的所有因素。 </a:t>
            </a:r>
          </a:p>
        </p:txBody>
      </p:sp>
    </p:spTree>
    <p:extLst>
      <p:ext uri="{BB962C8B-B14F-4D97-AF65-F5344CB8AC3E}">
        <p14:creationId xmlns:p14="http://schemas.microsoft.com/office/powerpoint/2010/main" val="374441952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6" name="Rectangle 2"/>
          <p:cNvSpPr>
            <a:spLocks noGrp="1" noChangeArrowheads="1"/>
          </p:cNvSpPr>
          <p:nvPr>
            <p:ph type="title"/>
          </p:nvPr>
        </p:nvSpPr>
        <p:spPr/>
        <p:txBody>
          <a:bodyPr/>
          <a:lstStyle/>
          <a:p>
            <a:pPr algn="ctr" eaLnBrk="1" hangingPunct="1"/>
            <a:r>
              <a:rPr lang="zh-CN" altLang="en-US"/>
              <a:t>拥塞控制与流量控制的区别 </a:t>
            </a:r>
          </a:p>
        </p:txBody>
      </p:sp>
      <p:sp>
        <p:nvSpPr>
          <p:cNvPr id="2236419" name="Rectangle 3"/>
          <p:cNvSpPr>
            <a:spLocks noGrp="1" noChangeArrowheads="1"/>
          </p:cNvSpPr>
          <p:nvPr>
            <p:ph idx="1"/>
          </p:nvPr>
        </p:nvSpPr>
        <p:spPr/>
        <p:txBody>
          <a:bodyPr/>
          <a:lstStyle/>
          <a:p>
            <a:r>
              <a:rPr lang="zh-CN" altLang="zh-CN" dirty="0">
                <a:solidFill>
                  <a:srgbClr val="0000FF"/>
                </a:solidFill>
              </a:rPr>
              <a:t>流量控制</a:t>
            </a:r>
            <a:r>
              <a:rPr lang="zh-CN" altLang="zh-CN" dirty="0"/>
              <a:t>往往指点对点通信量的控制，是个端到端的问题（接收端控制发送端）。</a:t>
            </a:r>
            <a:endParaRPr lang="en-US" altLang="zh-CN" dirty="0"/>
          </a:p>
          <a:p>
            <a:r>
              <a:rPr lang="zh-CN" altLang="zh-CN" dirty="0">
                <a:solidFill>
                  <a:srgbClr val="0000FF"/>
                </a:solidFill>
              </a:rPr>
              <a:t>流量控制</a:t>
            </a:r>
            <a:r>
              <a:rPr lang="zh-CN" altLang="zh-CN" dirty="0"/>
              <a:t>所要做的就是抑制发送端发送数据的速率，以便使接收端来得及接收。</a:t>
            </a:r>
            <a:r>
              <a:rPr lang="zh-CN" altLang="en-US" dirty="0"/>
              <a:t> </a:t>
            </a:r>
          </a:p>
        </p:txBody>
      </p:sp>
      <p:sp>
        <p:nvSpPr>
          <p:cNvPr id="2" name="矩形 1"/>
          <p:cNvSpPr/>
          <p:nvPr/>
        </p:nvSpPr>
        <p:spPr>
          <a:xfrm>
            <a:off x="848544" y="3717032"/>
            <a:ext cx="8496944" cy="1947649"/>
          </a:xfrm>
          <a:prstGeom prst="rect">
            <a:avLst/>
          </a:prstGeom>
          <a:solidFill>
            <a:srgbClr val="FFFF66"/>
          </a:solidFill>
          <a:ln>
            <a:solidFill>
              <a:schemeClr val="tx1"/>
            </a:solidFill>
          </a:ln>
        </p:spPr>
        <p:txBody>
          <a:bodyPr wrap="square">
            <a:spAutoFit/>
          </a:bodyPr>
          <a:lstStyle/>
          <a:p>
            <a:pPr>
              <a:lnSpc>
                <a:spcPct val="110000"/>
              </a:lnSpc>
            </a:pPr>
            <a:r>
              <a:rPr lang="zh-CN" altLang="zh-CN" sz="2800" b="1" dirty="0">
                <a:solidFill>
                  <a:srgbClr val="000099"/>
                </a:solidFill>
                <a:latin typeface="+mn-lt"/>
                <a:ea typeface="黑体" pitchFamily="2" charset="-122"/>
              </a:rPr>
              <a:t>拥塞控制和流量控制之所以常常被弄混，是因为某些拥塞控制算法是向发送端发送控制报文，并告诉发送端，网络已出现麻烦，必须放慢发送速率。这点又和流量控制是很相似的。</a:t>
            </a:r>
            <a:endParaRPr lang="zh-CN" altLang="en-US" sz="2800" b="1" dirty="0">
              <a:solidFill>
                <a:srgbClr val="000099"/>
              </a:solidFill>
              <a:latin typeface="+mn-lt"/>
              <a:ea typeface="黑体" pitchFamily="2" charset="-122"/>
            </a:endParaRPr>
          </a:p>
        </p:txBody>
      </p:sp>
    </p:spTree>
    <p:extLst>
      <p:ext uri="{BB962C8B-B14F-4D97-AF65-F5344CB8AC3E}">
        <p14:creationId xmlns:p14="http://schemas.microsoft.com/office/powerpoint/2010/main" val="213103316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40" name="Rectangle 2"/>
          <p:cNvSpPr>
            <a:spLocks noGrp="1" noChangeArrowheads="1"/>
          </p:cNvSpPr>
          <p:nvPr>
            <p:ph type="title"/>
          </p:nvPr>
        </p:nvSpPr>
        <p:spPr/>
        <p:txBody>
          <a:bodyPr/>
          <a:lstStyle/>
          <a:p>
            <a:pPr algn="ctr" eaLnBrk="1" hangingPunct="1"/>
            <a:r>
              <a:rPr lang="zh-CN" altLang="en-US"/>
              <a:t>拥塞控制所起的作用 </a:t>
            </a:r>
          </a:p>
        </p:txBody>
      </p:sp>
      <p:sp>
        <p:nvSpPr>
          <p:cNvPr id="91141" name="Line 3"/>
          <p:cNvSpPr>
            <a:spLocks noChangeShapeType="1"/>
          </p:cNvSpPr>
          <p:nvPr/>
        </p:nvSpPr>
        <p:spPr bwMode="auto">
          <a:xfrm rot="-5400000">
            <a:off x="-621109" y="3464719"/>
            <a:ext cx="3481388" cy="0"/>
          </a:xfrm>
          <a:prstGeom prst="line">
            <a:avLst/>
          </a:prstGeom>
          <a:noFill/>
          <a:ln w="1905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1142" name="Text Box 4"/>
          <p:cNvSpPr txBox="1">
            <a:spLocks noChangeArrowheads="1"/>
          </p:cNvSpPr>
          <p:nvPr/>
        </p:nvSpPr>
        <p:spPr bwMode="auto">
          <a:xfrm>
            <a:off x="7757940" y="5241925"/>
            <a:ext cx="173156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zh-CN" altLang="en-US" dirty="0">
                <a:solidFill>
                  <a:srgbClr val="000099"/>
                </a:solidFill>
                <a:ea typeface="黑体" pitchFamily="2" charset="-122"/>
              </a:rPr>
              <a:t>提供的负载</a:t>
            </a:r>
          </a:p>
        </p:txBody>
      </p:sp>
      <p:sp>
        <p:nvSpPr>
          <p:cNvPr id="91143" name="Text Box 5"/>
          <p:cNvSpPr txBox="1">
            <a:spLocks noChangeArrowheads="1"/>
          </p:cNvSpPr>
          <p:nvPr/>
        </p:nvSpPr>
        <p:spPr bwMode="auto">
          <a:xfrm>
            <a:off x="1119585" y="1524000"/>
            <a:ext cx="111280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zh-CN" altLang="en-US">
                <a:solidFill>
                  <a:srgbClr val="000099"/>
                </a:solidFill>
                <a:ea typeface="黑体" pitchFamily="2" charset="-122"/>
              </a:rPr>
              <a:t>吞吐量</a:t>
            </a:r>
          </a:p>
        </p:txBody>
      </p:sp>
      <p:grpSp>
        <p:nvGrpSpPr>
          <p:cNvPr id="2237446" name="Group 6"/>
          <p:cNvGrpSpPr>
            <a:grpSpLocks/>
          </p:cNvGrpSpPr>
          <p:nvPr/>
        </p:nvGrpSpPr>
        <p:grpSpPr bwMode="auto">
          <a:xfrm>
            <a:off x="1119585" y="2355851"/>
            <a:ext cx="7020190" cy="2849563"/>
            <a:chOff x="651" y="1764"/>
            <a:chExt cx="4082" cy="1795"/>
          </a:xfrm>
        </p:grpSpPr>
        <p:sp>
          <p:nvSpPr>
            <p:cNvPr id="91173" name="Line 7"/>
            <p:cNvSpPr>
              <a:spLocks noChangeShapeType="1"/>
            </p:cNvSpPr>
            <p:nvPr/>
          </p:nvSpPr>
          <p:spPr bwMode="auto">
            <a:xfrm flipV="1">
              <a:off x="651" y="2077"/>
              <a:ext cx="1925" cy="1482"/>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1174" name="Line 8"/>
            <p:cNvSpPr>
              <a:spLocks noChangeShapeType="1"/>
            </p:cNvSpPr>
            <p:nvPr/>
          </p:nvSpPr>
          <p:spPr bwMode="auto">
            <a:xfrm>
              <a:off x="2576" y="2077"/>
              <a:ext cx="2157" cy="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1175" name="Text Box 9"/>
            <p:cNvSpPr txBox="1">
              <a:spLocks noChangeArrowheads="1"/>
            </p:cNvSpPr>
            <p:nvPr/>
          </p:nvSpPr>
          <p:spPr bwMode="auto">
            <a:xfrm>
              <a:off x="2901" y="1764"/>
              <a:ext cx="1367"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zh-CN" altLang="en-US" dirty="0">
                  <a:solidFill>
                    <a:srgbClr val="FF0000"/>
                  </a:solidFill>
                  <a:ea typeface="黑体" pitchFamily="2" charset="-122"/>
                </a:rPr>
                <a:t>理想的拥塞控制</a:t>
              </a:r>
            </a:p>
          </p:txBody>
        </p:sp>
      </p:grpSp>
      <p:sp>
        <p:nvSpPr>
          <p:cNvPr id="91145" name="Rectangle 10"/>
          <p:cNvSpPr>
            <a:spLocks noChangeArrowheads="1"/>
          </p:cNvSpPr>
          <p:nvPr/>
        </p:nvSpPr>
        <p:spPr bwMode="auto">
          <a:xfrm>
            <a:off x="4794779" y="5300664"/>
            <a:ext cx="694796" cy="293687"/>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2237451" name="Group 11"/>
          <p:cNvGrpSpPr>
            <a:grpSpLocks/>
          </p:cNvGrpSpPr>
          <p:nvPr/>
        </p:nvGrpSpPr>
        <p:grpSpPr bwMode="auto">
          <a:xfrm>
            <a:off x="1119585" y="2965450"/>
            <a:ext cx="7121657" cy="2239963"/>
            <a:chOff x="651" y="2148"/>
            <a:chExt cx="4141" cy="1411"/>
          </a:xfrm>
        </p:grpSpPr>
        <p:sp>
          <p:nvSpPr>
            <p:cNvPr id="91169" name="Freeform 12"/>
            <p:cNvSpPr>
              <a:spLocks/>
            </p:cNvSpPr>
            <p:nvPr/>
          </p:nvSpPr>
          <p:spPr bwMode="auto">
            <a:xfrm>
              <a:off x="651" y="2422"/>
              <a:ext cx="4141" cy="1137"/>
            </a:xfrm>
            <a:custGeom>
              <a:avLst/>
              <a:gdLst>
                <a:gd name="T0" fmla="*/ 0 w 2581"/>
                <a:gd name="T1" fmla="*/ 1137 h 921"/>
                <a:gd name="T2" fmla="*/ 1405 w 2581"/>
                <a:gd name="T3" fmla="*/ 426 h 921"/>
                <a:gd name="T4" fmla="*/ 2002 w 2581"/>
                <a:gd name="T5" fmla="*/ 226 h 921"/>
                <a:gd name="T6" fmla="*/ 2541 w 2581"/>
                <a:gd name="T7" fmla="*/ 130 h 921"/>
                <a:gd name="T8" fmla="*/ 3032 w 2581"/>
                <a:gd name="T9" fmla="*/ 78 h 921"/>
                <a:gd name="T10" fmla="*/ 3581 w 2581"/>
                <a:gd name="T11" fmla="*/ 26 h 921"/>
                <a:gd name="T12" fmla="*/ 4072 w 2581"/>
                <a:gd name="T13" fmla="*/ 4 h 921"/>
                <a:gd name="T14" fmla="*/ 3995 w 2581"/>
                <a:gd name="T15" fmla="*/ 4 h 92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581" h="921">
                  <a:moveTo>
                    <a:pt x="0" y="921"/>
                  </a:moveTo>
                  <a:cubicBezTo>
                    <a:pt x="334" y="694"/>
                    <a:pt x="668" y="468"/>
                    <a:pt x="876" y="345"/>
                  </a:cubicBezTo>
                  <a:cubicBezTo>
                    <a:pt x="1084" y="222"/>
                    <a:pt x="1130" y="223"/>
                    <a:pt x="1248" y="183"/>
                  </a:cubicBezTo>
                  <a:cubicBezTo>
                    <a:pt x="1366" y="143"/>
                    <a:pt x="1477" y="125"/>
                    <a:pt x="1584" y="105"/>
                  </a:cubicBezTo>
                  <a:cubicBezTo>
                    <a:pt x="1691" y="85"/>
                    <a:pt x="1782" y="77"/>
                    <a:pt x="1890" y="63"/>
                  </a:cubicBezTo>
                  <a:cubicBezTo>
                    <a:pt x="1998" y="49"/>
                    <a:pt x="2124" y="31"/>
                    <a:pt x="2232" y="21"/>
                  </a:cubicBezTo>
                  <a:cubicBezTo>
                    <a:pt x="2340" y="11"/>
                    <a:pt x="2495" y="6"/>
                    <a:pt x="2538" y="3"/>
                  </a:cubicBezTo>
                  <a:cubicBezTo>
                    <a:pt x="2581" y="0"/>
                    <a:pt x="2498" y="3"/>
                    <a:pt x="2490" y="3"/>
                  </a:cubicBezTo>
                </a:path>
              </a:pathLst>
            </a:custGeom>
            <a:noFill/>
            <a:ln w="57150" cmpd="sng">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91170" name="Group 13"/>
            <p:cNvGrpSpPr>
              <a:grpSpLocks/>
            </p:cNvGrpSpPr>
            <p:nvPr/>
          </p:nvGrpSpPr>
          <p:grpSpPr bwMode="auto">
            <a:xfrm>
              <a:off x="2499" y="2148"/>
              <a:ext cx="1367" cy="415"/>
              <a:chOff x="2499" y="2148"/>
              <a:chExt cx="1367" cy="415"/>
            </a:xfrm>
          </p:grpSpPr>
          <p:sp>
            <p:nvSpPr>
              <p:cNvPr id="91171" name="Text Box 14"/>
              <p:cNvSpPr txBox="1">
                <a:spLocks noChangeArrowheads="1"/>
              </p:cNvSpPr>
              <p:nvPr/>
            </p:nvSpPr>
            <p:spPr bwMode="auto">
              <a:xfrm>
                <a:off x="2499" y="2148"/>
                <a:ext cx="1367" cy="291"/>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zh-CN" altLang="en-US" dirty="0">
                    <a:solidFill>
                      <a:srgbClr val="333399"/>
                    </a:solidFill>
                    <a:ea typeface="黑体" pitchFamily="2" charset="-122"/>
                  </a:rPr>
                  <a:t>实际的拥塞控制</a:t>
                </a:r>
              </a:p>
            </p:txBody>
          </p:sp>
          <p:sp>
            <p:nvSpPr>
              <p:cNvPr id="91172" name="Line 15"/>
              <p:cNvSpPr>
                <a:spLocks noChangeShapeType="1"/>
              </p:cNvSpPr>
              <p:nvPr/>
            </p:nvSpPr>
            <p:spPr bwMode="auto">
              <a:xfrm>
                <a:off x="3016" y="2387"/>
                <a:ext cx="100" cy="176"/>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sp>
        <p:nvSpPr>
          <p:cNvPr id="91147" name="Line 16"/>
          <p:cNvSpPr>
            <a:spLocks noChangeShapeType="1"/>
          </p:cNvSpPr>
          <p:nvPr/>
        </p:nvSpPr>
        <p:spPr bwMode="auto">
          <a:xfrm>
            <a:off x="1119585" y="5205413"/>
            <a:ext cx="7551605" cy="0"/>
          </a:xfrm>
          <a:prstGeom prst="line">
            <a:avLst/>
          </a:prstGeom>
          <a:noFill/>
          <a:ln w="1905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1148" name="Text Box 17"/>
          <p:cNvSpPr txBox="1">
            <a:spLocks noChangeArrowheads="1"/>
          </p:cNvSpPr>
          <p:nvPr/>
        </p:nvSpPr>
        <p:spPr bwMode="auto">
          <a:xfrm>
            <a:off x="704528" y="4983559"/>
            <a:ext cx="38023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en-US" altLang="zh-CN" dirty="0">
                <a:solidFill>
                  <a:srgbClr val="333399"/>
                </a:solidFill>
                <a:ea typeface="黑体" pitchFamily="2" charset="-122"/>
              </a:rPr>
              <a:t>0</a:t>
            </a:r>
          </a:p>
        </p:txBody>
      </p:sp>
      <p:grpSp>
        <p:nvGrpSpPr>
          <p:cNvPr id="2237458" name="Group 18"/>
          <p:cNvGrpSpPr>
            <a:grpSpLocks/>
          </p:cNvGrpSpPr>
          <p:nvPr/>
        </p:nvGrpSpPr>
        <p:grpSpPr bwMode="auto">
          <a:xfrm>
            <a:off x="5826654" y="4168775"/>
            <a:ext cx="3742267" cy="1073150"/>
            <a:chOff x="3388" y="2906"/>
            <a:chExt cx="2176" cy="676"/>
          </a:xfrm>
        </p:grpSpPr>
        <p:grpSp>
          <p:nvGrpSpPr>
            <p:cNvPr id="91165" name="Group 19"/>
            <p:cNvGrpSpPr>
              <a:grpSpLocks/>
            </p:cNvGrpSpPr>
            <p:nvPr/>
          </p:nvGrpSpPr>
          <p:grpSpPr bwMode="auto">
            <a:xfrm>
              <a:off x="3429" y="2906"/>
              <a:ext cx="2135" cy="624"/>
              <a:chOff x="3429" y="2906"/>
              <a:chExt cx="2135" cy="624"/>
            </a:xfrm>
          </p:grpSpPr>
          <p:sp>
            <p:nvSpPr>
              <p:cNvPr id="91167" name="Text Box 20"/>
              <p:cNvSpPr txBox="1">
                <a:spLocks noChangeArrowheads="1"/>
              </p:cNvSpPr>
              <p:nvPr/>
            </p:nvSpPr>
            <p:spPr bwMode="auto">
              <a:xfrm>
                <a:off x="3833" y="2906"/>
                <a:ext cx="1731"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zh-CN" altLang="en-US" dirty="0">
                    <a:solidFill>
                      <a:srgbClr val="C00000"/>
                    </a:solidFill>
                    <a:ea typeface="黑体" pitchFamily="2" charset="-122"/>
                  </a:rPr>
                  <a:t>死锁（吞吐量 </a:t>
                </a:r>
                <a:r>
                  <a:rPr lang="en-US" altLang="zh-CN" dirty="0">
                    <a:solidFill>
                      <a:srgbClr val="C00000"/>
                    </a:solidFill>
                    <a:ea typeface="黑体" pitchFamily="2" charset="-122"/>
                  </a:rPr>
                  <a:t>= 0</a:t>
                </a:r>
                <a:r>
                  <a:rPr lang="zh-CN" altLang="en-US" dirty="0">
                    <a:solidFill>
                      <a:srgbClr val="C00000"/>
                    </a:solidFill>
                    <a:ea typeface="黑体" pitchFamily="2" charset="-122"/>
                  </a:rPr>
                  <a:t>）</a:t>
                </a:r>
              </a:p>
            </p:txBody>
          </p:sp>
          <p:sp>
            <p:nvSpPr>
              <p:cNvPr id="91168" name="Line 21"/>
              <p:cNvSpPr>
                <a:spLocks noChangeShapeType="1"/>
              </p:cNvSpPr>
              <p:nvPr/>
            </p:nvSpPr>
            <p:spPr bwMode="auto">
              <a:xfrm flipH="1">
                <a:off x="3429" y="3144"/>
                <a:ext cx="457" cy="386"/>
              </a:xfrm>
              <a:prstGeom prst="line">
                <a:avLst/>
              </a:prstGeom>
              <a:noFill/>
              <a:ln w="28575">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91166" name="Oval 22"/>
            <p:cNvSpPr>
              <a:spLocks noChangeArrowheads="1"/>
            </p:cNvSpPr>
            <p:nvPr/>
          </p:nvSpPr>
          <p:spPr bwMode="auto">
            <a:xfrm>
              <a:off x="3388" y="3522"/>
              <a:ext cx="63" cy="60"/>
            </a:xfrm>
            <a:prstGeom prst="ellipse">
              <a:avLst/>
            </a:prstGeom>
            <a:solidFill>
              <a:srgbClr val="FF0066"/>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237463" name="Group 23"/>
          <p:cNvGrpSpPr>
            <a:grpSpLocks/>
          </p:cNvGrpSpPr>
          <p:nvPr/>
        </p:nvGrpSpPr>
        <p:grpSpPr bwMode="auto">
          <a:xfrm>
            <a:off x="1119586" y="3586162"/>
            <a:ext cx="6631516" cy="2290761"/>
            <a:chOff x="651" y="2544"/>
            <a:chExt cx="3856" cy="1443"/>
          </a:xfrm>
        </p:grpSpPr>
        <p:sp>
          <p:nvSpPr>
            <p:cNvPr id="91151" name="Line 24"/>
            <p:cNvSpPr>
              <a:spLocks noChangeShapeType="1"/>
            </p:cNvSpPr>
            <p:nvPr/>
          </p:nvSpPr>
          <p:spPr bwMode="auto">
            <a:xfrm>
              <a:off x="2585" y="3737"/>
              <a:ext cx="848" cy="0"/>
            </a:xfrm>
            <a:prstGeom prst="line">
              <a:avLst/>
            </a:prstGeom>
            <a:noFill/>
            <a:ln w="1905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99"/>
                </a:solidFill>
              </a:endParaRPr>
            </a:p>
          </p:txBody>
        </p:sp>
        <p:sp>
          <p:nvSpPr>
            <p:cNvPr id="91152" name="Line 25"/>
            <p:cNvSpPr>
              <a:spLocks noChangeShapeType="1"/>
            </p:cNvSpPr>
            <p:nvPr/>
          </p:nvSpPr>
          <p:spPr bwMode="auto">
            <a:xfrm>
              <a:off x="1633" y="3737"/>
              <a:ext cx="943" cy="0"/>
            </a:xfrm>
            <a:prstGeom prst="line">
              <a:avLst/>
            </a:prstGeom>
            <a:noFill/>
            <a:ln w="1905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99"/>
                </a:solidFill>
              </a:endParaRPr>
            </a:p>
          </p:txBody>
        </p:sp>
        <p:grpSp>
          <p:nvGrpSpPr>
            <p:cNvPr id="91153" name="Group 26"/>
            <p:cNvGrpSpPr>
              <a:grpSpLocks/>
            </p:cNvGrpSpPr>
            <p:nvPr/>
          </p:nvGrpSpPr>
          <p:grpSpPr bwMode="auto">
            <a:xfrm>
              <a:off x="651" y="2544"/>
              <a:ext cx="3856" cy="1443"/>
              <a:chOff x="651" y="2544"/>
              <a:chExt cx="3856" cy="1443"/>
            </a:xfrm>
          </p:grpSpPr>
          <p:grpSp>
            <p:nvGrpSpPr>
              <p:cNvPr id="91154" name="Group 27"/>
              <p:cNvGrpSpPr>
                <a:grpSpLocks/>
              </p:cNvGrpSpPr>
              <p:nvPr/>
            </p:nvGrpSpPr>
            <p:grpSpPr bwMode="auto">
              <a:xfrm>
                <a:off x="651" y="2544"/>
                <a:ext cx="3856" cy="1252"/>
                <a:chOff x="651" y="2544"/>
                <a:chExt cx="3856" cy="1252"/>
              </a:xfrm>
            </p:grpSpPr>
            <p:sp>
              <p:nvSpPr>
                <p:cNvPr id="91157" name="Freeform 28"/>
                <p:cNvSpPr>
                  <a:spLocks/>
                </p:cNvSpPr>
                <p:nvPr/>
              </p:nvSpPr>
              <p:spPr bwMode="auto">
                <a:xfrm>
                  <a:off x="651" y="2595"/>
                  <a:ext cx="2773" cy="964"/>
                </a:xfrm>
                <a:custGeom>
                  <a:avLst/>
                  <a:gdLst>
                    <a:gd name="T0" fmla="*/ 0 w 1728"/>
                    <a:gd name="T1" fmla="*/ 964 h 781"/>
                    <a:gd name="T2" fmla="*/ 1204 w 1728"/>
                    <a:gd name="T3" fmla="*/ 186 h 781"/>
                    <a:gd name="T4" fmla="*/ 1733 w 1728"/>
                    <a:gd name="T5" fmla="*/ 23 h 781"/>
                    <a:gd name="T6" fmla="*/ 2109 w 1728"/>
                    <a:gd name="T7" fmla="*/ 46 h 781"/>
                    <a:gd name="T8" fmla="*/ 2388 w 1728"/>
                    <a:gd name="T9" fmla="*/ 216 h 781"/>
                    <a:gd name="T10" fmla="*/ 2571 w 1728"/>
                    <a:gd name="T11" fmla="*/ 453 h 781"/>
                    <a:gd name="T12" fmla="*/ 2706 w 1728"/>
                    <a:gd name="T13" fmla="*/ 727 h 781"/>
                    <a:gd name="T14" fmla="*/ 2773 w 1728"/>
                    <a:gd name="T15" fmla="*/ 964 h 78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728" h="781">
                      <a:moveTo>
                        <a:pt x="0" y="781"/>
                      </a:moveTo>
                      <a:cubicBezTo>
                        <a:pt x="285" y="529"/>
                        <a:pt x="570" y="278"/>
                        <a:pt x="750" y="151"/>
                      </a:cubicBezTo>
                      <a:cubicBezTo>
                        <a:pt x="930" y="24"/>
                        <a:pt x="986" y="38"/>
                        <a:pt x="1080" y="19"/>
                      </a:cubicBezTo>
                      <a:cubicBezTo>
                        <a:pt x="1174" y="0"/>
                        <a:pt x="1246" y="11"/>
                        <a:pt x="1314" y="37"/>
                      </a:cubicBezTo>
                      <a:cubicBezTo>
                        <a:pt x="1382" y="63"/>
                        <a:pt x="1440" y="120"/>
                        <a:pt x="1488" y="175"/>
                      </a:cubicBezTo>
                      <a:cubicBezTo>
                        <a:pt x="1536" y="230"/>
                        <a:pt x="1569" y="298"/>
                        <a:pt x="1602" y="367"/>
                      </a:cubicBezTo>
                      <a:cubicBezTo>
                        <a:pt x="1635" y="436"/>
                        <a:pt x="1665" y="520"/>
                        <a:pt x="1686" y="589"/>
                      </a:cubicBezTo>
                      <a:cubicBezTo>
                        <a:pt x="1707" y="658"/>
                        <a:pt x="1717" y="719"/>
                        <a:pt x="1728" y="781"/>
                      </a:cubicBezTo>
                    </a:path>
                  </a:pathLst>
                </a:custGeom>
                <a:noFill/>
                <a:ln w="38100" cmpd="sng">
                  <a:solidFill>
                    <a:srgbClr val="00CC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99"/>
                    </a:solidFill>
                  </a:endParaRPr>
                </a:p>
              </p:txBody>
            </p:sp>
            <p:sp>
              <p:nvSpPr>
                <p:cNvPr id="91158" name="Line 29"/>
                <p:cNvSpPr>
                  <a:spLocks noChangeShapeType="1"/>
                </p:cNvSpPr>
                <p:nvPr/>
              </p:nvSpPr>
              <p:spPr bwMode="auto">
                <a:xfrm>
                  <a:off x="2576" y="2611"/>
                  <a:ext cx="0" cy="948"/>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99"/>
                    </a:solidFill>
                  </a:endParaRPr>
                </a:p>
              </p:txBody>
            </p:sp>
            <p:sp>
              <p:nvSpPr>
                <p:cNvPr id="91159" name="Text Box 30"/>
                <p:cNvSpPr txBox="1">
                  <a:spLocks noChangeArrowheads="1"/>
                </p:cNvSpPr>
                <p:nvPr/>
              </p:nvSpPr>
              <p:spPr bwMode="auto">
                <a:xfrm>
                  <a:off x="3500" y="2544"/>
                  <a:ext cx="1007"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zh-CN" altLang="en-US" dirty="0">
                      <a:solidFill>
                        <a:srgbClr val="000099"/>
                      </a:solidFill>
                      <a:ea typeface="黑体" pitchFamily="2" charset="-122"/>
                    </a:rPr>
                    <a:t>无拥塞控制</a:t>
                  </a:r>
                </a:p>
              </p:txBody>
            </p:sp>
            <p:sp>
              <p:nvSpPr>
                <p:cNvPr id="91160" name="Line 31"/>
                <p:cNvSpPr>
                  <a:spLocks noChangeShapeType="1"/>
                </p:cNvSpPr>
                <p:nvPr/>
              </p:nvSpPr>
              <p:spPr bwMode="auto">
                <a:xfrm flipH="1">
                  <a:off x="3125" y="2759"/>
                  <a:ext cx="453" cy="148"/>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99"/>
                    </a:solidFill>
                  </a:endParaRPr>
                </a:p>
              </p:txBody>
            </p:sp>
            <p:sp>
              <p:nvSpPr>
                <p:cNvPr id="91161" name="Line 32"/>
                <p:cNvSpPr>
                  <a:spLocks noChangeShapeType="1"/>
                </p:cNvSpPr>
                <p:nvPr/>
              </p:nvSpPr>
              <p:spPr bwMode="auto">
                <a:xfrm>
                  <a:off x="1619" y="2848"/>
                  <a:ext cx="0" cy="713"/>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99"/>
                    </a:solidFill>
                  </a:endParaRPr>
                </a:p>
              </p:txBody>
            </p:sp>
            <p:sp>
              <p:nvSpPr>
                <p:cNvPr id="91162" name="Line 33"/>
                <p:cNvSpPr>
                  <a:spLocks noChangeShapeType="1"/>
                </p:cNvSpPr>
                <p:nvPr/>
              </p:nvSpPr>
              <p:spPr bwMode="auto">
                <a:xfrm>
                  <a:off x="2576" y="3559"/>
                  <a:ext cx="0" cy="23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99"/>
                    </a:solidFill>
                  </a:endParaRPr>
                </a:p>
              </p:txBody>
            </p:sp>
            <p:sp>
              <p:nvSpPr>
                <p:cNvPr id="91163" name="Line 34"/>
                <p:cNvSpPr>
                  <a:spLocks noChangeShapeType="1"/>
                </p:cNvSpPr>
                <p:nvPr/>
              </p:nvSpPr>
              <p:spPr bwMode="auto">
                <a:xfrm>
                  <a:off x="3424" y="3559"/>
                  <a:ext cx="0" cy="23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99"/>
                    </a:solidFill>
                  </a:endParaRPr>
                </a:p>
              </p:txBody>
            </p:sp>
            <p:sp>
              <p:nvSpPr>
                <p:cNvPr id="91164" name="Line 35"/>
                <p:cNvSpPr>
                  <a:spLocks noChangeShapeType="1"/>
                </p:cNvSpPr>
                <p:nvPr/>
              </p:nvSpPr>
              <p:spPr bwMode="auto">
                <a:xfrm>
                  <a:off x="1619" y="3559"/>
                  <a:ext cx="0" cy="23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99"/>
                    </a:solidFill>
                  </a:endParaRPr>
                </a:p>
              </p:txBody>
            </p:sp>
          </p:grpSp>
          <p:sp>
            <p:nvSpPr>
              <p:cNvPr id="91155" name="Text Box 36"/>
              <p:cNvSpPr txBox="1">
                <a:spLocks noChangeArrowheads="1"/>
              </p:cNvSpPr>
              <p:nvPr/>
            </p:nvSpPr>
            <p:spPr bwMode="auto">
              <a:xfrm>
                <a:off x="2748" y="3589"/>
                <a:ext cx="408" cy="25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zh-CN" altLang="en-US" sz="2000">
                    <a:solidFill>
                      <a:srgbClr val="000099"/>
                    </a:solidFill>
                    <a:ea typeface="黑体" pitchFamily="2" charset="-122"/>
                  </a:rPr>
                  <a:t>拥塞</a:t>
                </a:r>
              </a:p>
            </p:txBody>
          </p:sp>
          <p:sp>
            <p:nvSpPr>
              <p:cNvPr id="91156" name="Text Box 37"/>
              <p:cNvSpPr txBox="1">
                <a:spLocks noChangeArrowheads="1"/>
              </p:cNvSpPr>
              <p:nvPr/>
            </p:nvSpPr>
            <p:spPr bwMode="auto">
              <a:xfrm>
                <a:off x="1850" y="3619"/>
                <a:ext cx="408" cy="36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lnSpc>
                    <a:spcPct val="80000"/>
                  </a:lnSpc>
                </a:pPr>
                <a:r>
                  <a:rPr lang="zh-CN" altLang="en-US" sz="2000" dirty="0">
                    <a:solidFill>
                      <a:srgbClr val="000099"/>
                    </a:solidFill>
                    <a:ea typeface="黑体" pitchFamily="2" charset="-122"/>
                  </a:rPr>
                  <a:t>轻度</a:t>
                </a:r>
              </a:p>
              <a:p>
                <a:pPr algn="l" eaLnBrk="1" hangingPunct="1">
                  <a:lnSpc>
                    <a:spcPct val="80000"/>
                  </a:lnSpc>
                </a:pPr>
                <a:r>
                  <a:rPr lang="zh-CN" altLang="en-US" sz="2000" dirty="0">
                    <a:solidFill>
                      <a:srgbClr val="000099"/>
                    </a:solidFill>
                    <a:ea typeface="黑体" pitchFamily="2" charset="-122"/>
                  </a:rPr>
                  <a:t>拥塞</a:t>
                </a:r>
              </a:p>
            </p:txBody>
          </p:sp>
        </p:grpSp>
      </p:grpSp>
    </p:spTree>
    <p:extLst>
      <p:ext uri="{BB962C8B-B14F-4D97-AF65-F5344CB8AC3E}">
        <p14:creationId xmlns:p14="http://schemas.microsoft.com/office/powerpoint/2010/main" val="396382250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23746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237458"/>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2237446"/>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22374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1074" name="Rectangle 2"/>
          <p:cNvSpPr>
            <a:spLocks noGrp="1" noChangeArrowheads="1"/>
          </p:cNvSpPr>
          <p:nvPr>
            <p:ph type="title"/>
          </p:nvPr>
        </p:nvSpPr>
        <p:spPr/>
        <p:txBody>
          <a:bodyPr/>
          <a:lstStyle/>
          <a:p>
            <a:pPr algn="ctr"/>
            <a:r>
              <a:rPr lang="zh-CN" altLang="en-US"/>
              <a:t>拥塞控制的一般原理 </a:t>
            </a:r>
          </a:p>
        </p:txBody>
      </p:sp>
      <p:sp>
        <p:nvSpPr>
          <p:cNvPr id="771075" name="Rectangle 3"/>
          <p:cNvSpPr>
            <a:spLocks noGrp="1" noChangeArrowheads="1"/>
          </p:cNvSpPr>
          <p:nvPr>
            <p:ph idx="1"/>
          </p:nvPr>
        </p:nvSpPr>
        <p:spPr>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r>
              <a:rPr lang="zh-CN" altLang="zh-CN" dirty="0"/>
              <a:t>实践证明，</a:t>
            </a:r>
            <a:r>
              <a:rPr lang="zh-CN" altLang="en-US" dirty="0"/>
              <a:t>拥塞控制是很难设计的，因为它是一个</a:t>
            </a:r>
            <a:r>
              <a:rPr lang="zh-CN" altLang="en-US" dirty="0">
                <a:solidFill>
                  <a:srgbClr val="FF0000"/>
                </a:solidFill>
              </a:rPr>
              <a:t>动态</a:t>
            </a:r>
            <a:r>
              <a:rPr lang="zh-CN" altLang="en-US" dirty="0"/>
              <a:t>的（而不是静态的）</a:t>
            </a:r>
            <a:r>
              <a:rPr lang="zh-CN" altLang="en-US" dirty="0">
                <a:solidFill>
                  <a:srgbClr val="FF0000"/>
                </a:solidFill>
              </a:rPr>
              <a:t>问题</a:t>
            </a:r>
            <a:r>
              <a:rPr lang="zh-CN" altLang="en-US" dirty="0"/>
              <a:t>。</a:t>
            </a:r>
          </a:p>
          <a:p>
            <a:r>
              <a:rPr lang="zh-CN" altLang="en-US" dirty="0"/>
              <a:t>当前网络正朝着高速化的方向发展，这很容易出现缓存不够大而造成分组的丢失。</a:t>
            </a:r>
            <a:r>
              <a:rPr lang="zh-CN" altLang="en-US" dirty="0">
                <a:solidFill>
                  <a:srgbClr val="FF0000"/>
                </a:solidFill>
              </a:rPr>
              <a:t>但分组的丢失是网络发生拥塞的征兆而不是原因。</a:t>
            </a:r>
          </a:p>
          <a:p>
            <a:r>
              <a:rPr lang="zh-CN" altLang="en-US" dirty="0">
                <a:solidFill>
                  <a:srgbClr val="0000FF"/>
                </a:solidFill>
              </a:rPr>
              <a:t>在许多情况下，甚至正是拥塞控制本身成为引起网络性能恶化甚至发生死锁的原因。</a:t>
            </a:r>
            <a:r>
              <a:rPr lang="zh-CN" altLang="en-US" dirty="0"/>
              <a:t>这点应特别引起重视。 </a:t>
            </a:r>
          </a:p>
        </p:txBody>
      </p:sp>
    </p:spTree>
    <p:extLst>
      <p:ext uri="{BB962C8B-B14F-4D97-AF65-F5344CB8AC3E}">
        <p14:creationId xmlns:p14="http://schemas.microsoft.com/office/powerpoint/2010/main" val="155000922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2098" name="Rectangle 2"/>
          <p:cNvSpPr>
            <a:spLocks noGrp="1" noChangeArrowheads="1"/>
          </p:cNvSpPr>
          <p:nvPr>
            <p:ph type="title"/>
          </p:nvPr>
        </p:nvSpPr>
        <p:spPr/>
        <p:txBody>
          <a:bodyPr/>
          <a:lstStyle/>
          <a:p>
            <a:pPr algn="ctr"/>
            <a:r>
              <a:rPr lang="zh-CN" altLang="en-US"/>
              <a:t>开环控制和闭环控制 </a:t>
            </a:r>
          </a:p>
        </p:txBody>
      </p:sp>
      <p:sp>
        <p:nvSpPr>
          <p:cNvPr id="772099" name="Rectangle 3"/>
          <p:cNvSpPr>
            <a:spLocks noGrp="1" noChangeArrowheads="1"/>
          </p:cNvSpPr>
          <p:nvPr>
            <p:ph idx="1"/>
          </p:nvPr>
        </p:nvSpPr>
        <p:spPr>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r>
              <a:rPr lang="zh-CN" altLang="en-US" dirty="0">
                <a:solidFill>
                  <a:srgbClr val="FF0000"/>
                </a:solidFill>
              </a:rPr>
              <a:t>开环控制</a:t>
            </a:r>
            <a:r>
              <a:rPr lang="zh-CN" altLang="en-US" dirty="0"/>
              <a:t>方法就是在设计网络时事先将有关发生拥塞的因素考虑周到，力求网络在工作时不产生拥塞。 </a:t>
            </a:r>
          </a:p>
          <a:p>
            <a:r>
              <a:rPr lang="zh-CN" altLang="en-US" dirty="0">
                <a:solidFill>
                  <a:srgbClr val="FF0000"/>
                </a:solidFill>
              </a:rPr>
              <a:t>闭环控制方法</a:t>
            </a:r>
            <a:r>
              <a:rPr lang="zh-CN" altLang="en-US" dirty="0"/>
              <a:t>是基于反馈环路的概念。属于闭环控制的有以下几种措施： </a:t>
            </a:r>
          </a:p>
          <a:p>
            <a:pPr lvl="1"/>
            <a:r>
              <a:rPr lang="en-US" altLang="zh-CN" dirty="0"/>
              <a:t>(1) </a:t>
            </a:r>
            <a:r>
              <a:rPr lang="zh-CN" altLang="en-US" dirty="0"/>
              <a:t>监测网络系统以便检测到拥塞在何时、何处发生。</a:t>
            </a:r>
          </a:p>
          <a:p>
            <a:pPr lvl="1"/>
            <a:r>
              <a:rPr lang="en-US" altLang="zh-CN" dirty="0"/>
              <a:t>(2) </a:t>
            </a:r>
            <a:r>
              <a:rPr lang="zh-CN" altLang="en-US" dirty="0"/>
              <a:t>将拥塞发生的信息传送到可采取行动的地方。</a:t>
            </a:r>
          </a:p>
          <a:p>
            <a:pPr lvl="1"/>
            <a:r>
              <a:rPr lang="en-US" altLang="zh-CN" dirty="0"/>
              <a:t>(3) </a:t>
            </a:r>
            <a:r>
              <a:rPr lang="zh-CN" altLang="en-US" dirty="0"/>
              <a:t>调整网络系统的运行以解决出现的问题。</a:t>
            </a:r>
          </a:p>
        </p:txBody>
      </p:sp>
    </p:spTree>
    <p:extLst>
      <p:ext uri="{BB962C8B-B14F-4D97-AF65-F5344CB8AC3E}">
        <p14:creationId xmlns:p14="http://schemas.microsoft.com/office/powerpoint/2010/main" val="71011385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zh-CN" dirty="0"/>
              <a:t>监测网络的拥塞</a:t>
            </a:r>
            <a:r>
              <a:rPr lang="zh-CN" altLang="en-US" dirty="0"/>
              <a:t>的指标</a:t>
            </a:r>
          </a:p>
        </p:txBody>
      </p:sp>
      <p:sp>
        <p:nvSpPr>
          <p:cNvPr id="3" name="内容占位符 2"/>
          <p:cNvSpPr>
            <a:spLocks noGrp="1"/>
          </p:cNvSpPr>
          <p:nvPr>
            <p:ph idx="1"/>
          </p:nvPr>
        </p:nvSpPr>
        <p:spPr/>
        <p:txBody>
          <a:bodyPr/>
          <a:lstStyle/>
          <a:p>
            <a:r>
              <a:rPr lang="zh-CN" altLang="zh-CN" dirty="0"/>
              <a:t>主要指标</a:t>
            </a:r>
            <a:r>
              <a:rPr lang="zh-CN" altLang="en-US" dirty="0"/>
              <a:t>有：</a:t>
            </a:r>
            <a:endParaRPr lang="en-US" altLang="zh-CN" dirty="0"/>
          </a:p>
          <a:p>
            <a:pPr lvl="1"/>
            <a:r>
              <a:rPr lang="zh-CN" altLang="zh-CN" dirty="0"/>
              <a:t>由于缺少缓存空间而被丢弃的分组的百分数</a:t>
            </a:r>
            <a:r>
              <a:rPr lang="zh-CN" altLang="en-US" dirty="0"/>
              <a:t>；</a:t>
            </a:r>
            <a:endParaRPr lang="en-US" altLang="zh-CN" dirty="0"/>
          </a:p>
          <a:p>
            <a:pPr lvl="1"/>
            <a:r>
              <a:rPr lang="zh-CN" altLang="zh-CN" dirty="0"/>
              <a:t>平均队列长度</a:t>
            </a:r>
            <a:r>
              <a:rPr lang="zh-CN" altLang="en-US" dirty="0"/>
              <a:t>；</a:t>
            </a:r>
            <a:endParaRPr lang="en-US" altLang="zh-CN" dirty="0"/>
          </a:p>
          <a:p>
            <a:pPr lvl="1"/>
            <a:r>
              <a:rPr lang="zh-CN" altLang="zh-CN" dirty="0"/>
              <a:t>超时重传的分组数</a:t>
            </a:r>
            <a:r>
              <a:rPr lang="zh-CN" altLang="en-US" dirty="0"/>
              <a:t>；</a:t>
            </a:r>
            <a:endParaRPr lang="en-US" altLang="zh-CN" dirty="0"/>
          </a:p>
          <a:p>
            <a:pPr lvl="1"/>
            <a:r>
              <a:rPr lang="zh-CN" altLang="zh-CN" dirty="0"/>
              <a:t>平均分组时延</a:t>
            </a:r>
            <a:r>
              <a:rPr lang="zh-CN" altLang="en-US" dirty="0"/>
              <a:t>；</a:t>
            </a:r>
            <a:endParaRPr lang="en-US" altLang="zh-CN" dirty="0"/>
          </a:p>
          <a:p>
            <a:pPr lvl="1"/>
            <a:r>
              <a:rPr lang="zh-CN" altLang="zh-CN" dirty="0"/>
              <a:t>分组时延的标准差，等等。</a:t>
            </a:r>
            <a:endParaRPr lang="en-US" altLang="zh-CN" dirty="0"/>
          </a:p>
          <a:p>
            <a:r>
              <a:rPr lang="zh-CN" altLang="zh-CN" dirty="0"/>
              <a:t>上述这些指标的上升都标志着拥塞的增长。</a:t>
            </a:r>
            <a:endParaRPr lang="zh-CN" altLang="en-US" dirty="0"/>
          </a:p>
        </p:txBody>
      </p:sp>
    </p:spTree>
    <p:extLst>
      <p:ext uri="{BB962C8B-B14F-4D97-AF65-F5344CB8AC3E}">
        <p14:creationId xmlns:p14="http://schemas.microsoft.com/office/powerpoint/2010/main" val="110646521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2" name="Rectangle 2"/>
          <p:cNvSpPr>
            <a:spLocks noGrp="1" noChangeArrowheads="1"/>
          </p:cNvSpPr>
          <p:nvPr>
            <p:ph type="title"/>
          </p:nvPr>
        </p:nvSpPr>
        <p:spPr/>
        <p:txBody>
          <a:bodyPr/>
          <a:lstStyle/>
          <a:p>
            <a:r>
              <a:rPr lang="zh-CN" altLang="zh-CN" dirty="0"/>
              <a:t>拥塞控制</a:t>
            </a:r>
            <a:r>
              <a:rPr lang="zh-CN" altLang="en-US" dirty="0"/>
              <a:t>：</a:t>
            </a:r>
            <a:r>
              <a:rPr lang="zh-CN" altLang="zh-CN" dirty="0"/>
              <a:t>方法</a:t>
            </a:r>
          </a:p>
        </p:txBody>
      </p:sp>
      <p:sp>
        <p:nvSpPr>
          <p:cNvPr id="94214" name="Rectangle 3"/>
          <p:cNvSpPr>
            <a:spLocks noGrp="1" noChangeArrowheads="1"/>
          </p:cNvSpPr>
          <p:nvPr>
            <p:ph type="body" idx="1"/>
          </p:nvPr>
        </p:nvSpPr>
        <p:spPr/>
        <p:txBody>
          <a:bodyPr/>
          <a:lstStyle/>
          <a:p>
            <a:r>
              <a:rPr lang="en-US" altLang="zh-CN" sz="2800" dirty="0"/>
              <a:t>TCP </a:t>
            </a:r>
            <a:r>
              <a:rPr lang="zh-CN" altLang="en-US" sz="2800" dirty="0"/>
              <a:t>采用</a:t>
            </a:r>
            <a:r>
              <a:rPr lang="zh-CN" altLang="en-US" sz="2800" dirty="0">
                <a:solidFill>
                  <a:srgbClr val="FF0000"/>
                </a:solidFill>
              </a:rPr>
              <a:t>基于窗口的方法</a:t>
            </a:r>
            <a:r>
              <a:rPr lang="zh-CN" altLang="en-US" sz="2800" dirty="0"/>
              <a:t>进行拥塞控制。该方法属于闭环控制方法。</a:t>
            </a:r>
          </a:p>
          <a:p>
            <a:pPr eaLnBrk="1" hangingPunct="1"/>
            <a:r>
              <a:rPr lang="en-US" altLang="zh-CN" sz="2800" dirty="0"/>
              <a:t>TCP</a:t>
            </a:r>
            <a:r>
              <a:rPr lang="zh-CN" altLang="en-US" sz="2800" dirty="0"/>
              <a:t>发送方维持一个</a:t>
            </a:r>
            <a:r>
              <a:rPr lang="zh-CN" altLang="en-US" sz="2800" dirty="0">
                <a:solidFill>
                  <a:srgbClr val="FF0000"/>
                </a:solidFill>
              </a:rPr>
              <a:t>拥塞窗口 </a:t>
            </a:r>
            <a:r>
              <a:rPr lang="en-US" altLang="zh-CN" sz="2800" dirty="0">
                <a:solidFill>
                  <a:srgbClr val="FF0000"/>
                </a:solidFill>
              </a:rPr>
              <a:t>CWND</a:t>
            </a:r>
            <a:r>
              <a:rPr lang="en-US" altLang="zh-CN" sz="2800" dirty="0">
                <a:solidFill>
                  <a:srgbClr val="0000FF"/>
                </a:solidFill>
              </a:rPr>
              <a:t> </a:t>
            </a:r>
            <a:r>
              <a:rPr lang="en-US" altLang="zh-CN" sz="2800" dirty="0"/>
              <a:t>(Congestion Window)</a:t>
            </a:r>
            <a:endParaRPr lang="zh-CN" altLang="en-US" sz="2800" dirty="0"/>
          </a:p>
          <a:p>
            <a:pPr lvl="1"/>
            <a:r>
              <a:rPr lang="zh-CN" altLang="zh-CN" sz="2400" dirty="0"/>
              <a:t>拥塞窗口的大小取决于网络的拥塞程度，并且动态地在变化。</a:t>
            </a:r>
            <a:endParaRPr lang="zh-CN" altLang="en-US" sz="2400" dirty="0"/>
          </a:p>
          <a:p>
            <a:pPr lvl="1" eaLnBrk="1" hangingPunct="1"/>
            <a:r>
              <a:rPr lang="zh-CN" altLang="en-US" sz="2400" dirty="0"/>
              <a:t>发送端利用</a:t>
            </a:r>
            <a:r>
              <a:rPr lang="zh-CN" altLang="en-US" sz="2400" dirty="0">
                <a:solidFill>
                  <a:srgbClr val="FF0000"/>
                </a:solidFill>
              </a:rPr>
              <a:t>拥塞窗口</a:t>
            </a:r>
            <a:r>
              <a:rPr lang="zh-CN" altLang="en-US" sz="2400" dirty="0"/>
              <a:t>根据网络的拥塞情况调整发送的数据量。</a:t>
            </a:r>
            <a:endParaRPr lang="en-US" altLang="zh-CN" sz="2400" dirty="0"/>
          </a:p>
          <a:p>
            <a:pPr lvl="1" eaLnBrk="1" hangingPunct="1"/>
            <a:r>
              <a:rPr lang="zh-CN" altLang="en-US" sz="2400" dirty="0"/>
              <a:t>所以，发送窗口大小不仅取决于接收方公告的接收窗口，还取决于网络的拥塞状况，所以真正的发送窗口值为：</a:t>
            </a:r>
          </a:p>
        </p:txBody>
      </p:sp>
      <p:sp>
        <p:nvSpPr>
          <p:cNvPr id="94213" name="Rectangle 4"/>
          <p:cNvSpPr>
            <a:spLocks noChangeArrowheads="1"/>
          </p:cNvSpPr>
          <p:nvPr/>
        </p:nvSpPr>
        <p:spPr bwMode="auto">
          <a:xfrm>
            <a:off x="488504" y="5234036"/>
            <a:ext cx="9163050" cy="566309"/>
          </a:xfrm>
          <a:prstGeom prst="rect">
            <a:avLst/>
          </a:prstGeom>
          <a:solidFill>
            <a:srgbClr val="FFCC00"/>
          </a:solidFill>
          <a:ln>
            <a:solidFill>
              <a:schemeClr val="tx1"/>
            </a:solidFill>
          </a:ln>
        </p:spPr>
        <p:txBody>
          <a:bodyPr wrap="square" anchor="ctr">
            <a:spAutoFit/>
          </a:bodyPr>
          <a:lstStyle/>
          <a:p>
            <a:pPr algn="ctr">
              <a:lnSpc>
                <a:spcPct val="110000"/>
              </a:lnSpc>
            </a:pPr>
            <a:r>
              <a:rPr lang="zh-CN" altLang="en-US" sz="2800" b="1" dirty="0">
                <a:solidFill>
                  <a:srgbClr val="000099"/>
                </a:solidFill>
                <a:latin typeface="+mn-lt"/>
                <a:ea typeface="黑体" pitchFamily="2" charset="-122"/>
              </a:rPr>
              <a:t>真正的发送窗口值 </a:t>
            </a:r>
            <a:r>
              <a:rPr lang="en-US" altLang="zh-CN" sz="2800" b="1" dirty="0">
                <a:solidFill>
                  <a:srgbClr val="000099"/>
                </a:solidFill>
                <a:latin typeface="+mn-lt"/>
                <a:ea typeface="黑体" pitchFamily="2" charset="-122"/>
              </a:rPr>
              <a:t>=</a:t>
            </a:r>
            <a:r>
              <a:rPr lang="zh-CN" altLang="en-US" sz="2800" b="1" dirty="0">
                <a:solidFill>
                  <a:srgbClr val="000099"/>
                </a:solidFill>
                <a:latin typeface="+mn-lt"/>
                <a:ea typeface="黑体" pitchFamily="2" charset="-122"/>
              </a:rPr>
              <a:t> </a:t>
            </a:r>
            <a:r>
              <a:rPr lang="en-US" altLang="zh-CN" sz="2800" b="1" dirty="0">
                <a:solidFill>
                  <a:srgbClr val="000099"/>
                </a:solidFill>
                <a:latin typeface="+mn-lt"/>
                <a:ea typeface="黑体" pitchFamily="2" charset="-122"/>
              </a:rPr>
              <a:t>Min(</a:t>
            </a:r>
            <a:r>
              <a:rPr lang="zh-CN" altLang="en-US" sz="2800" b="1" dirty="0">
                <a:solidFill>
                  <a:srgbClr val="000099"/>
                </a:solidFill>
                <a:latin typeface="+mn-lt"/>
                <a:ea typeface="黑体" pitchFamily="2" charset="-122"/>
              </a:rPr>
              <a:t>公告窗口值，拥塞窗口值</a:t>
            </a:r>
            <a:r>
              <a:rPr lang="en-US" altLang="zh-CN" sz="2800" b="1" dirty="0">
                <a:solidFill>
                  <a:srgbClr val="000099"/>
                </a:solidFill>
                <a:latin typeface="+mn-lt"/>
                <a:ea typeface="黑体" pitchFamily="2" charset="-122"/>
              </a:rPr>
              <a:t>)</a:t>
            </a:r>
          </a:p>
        </p:txBody>
      </p:sp>
    </p:spTree>
    <p:extLst>
      <p:ext uri="{BB962C8B-B14F-4D97-AF65-F5344CB8AC3E}">
        <p14:creationId xmlns:p14="http://schemas.microsoft.com/office/powerpoint/2010/main" val="53275408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60" name="Rectangle 2"/>
          <p:cNvSpPr>
            <a:spLocks noGrp="1" noChangeArrowheads="1"/>
          </p:cNvSpPr>
          <p:nvPr>
            <p:ph type="title"/>
          </p:nvPr>
        </p:nvSpPr>
        <p:spPr/>
        <p:txBody>
          <a:bodyPr/>
          <a:lstStyle/>
          <a:p>
            <a:pPr algn="ctr"/>
            <a:r>
              <a:rPr lang="zh-CN" altLang="zh-CN" dirty="0"/>
              <a:t>控制拥塞窗口的原则</a:t>
            </a:r>
            <a:endParaRPr lang="zh-CN" altLang="en-US" dirty="0"/>
          </a:p>
        </p:txBody>
      </p:sp>
      <p:sp>
        <p:nvSpPr>
          <p:cNvPr id="96261" name="Rectangle 3"/>
          <p:cNvSpPr>
            <a:spLocks noGrp="1" noChangeArrowheads="1"/>
          </p:cNvSpPr>
          <p:nvPr>
            <p:ph type="body" idx="1"/>
          </p:nvPr>
        </p:nvSpPr>
        <p:spPr/>
        <p:txBody>
          <a:bodyPr/>
          <a:lstStyle/>
          <a:p>
            <a:r>
              <a:rPr lang="zh-CN" altLang="zh-CN" dirty="0"/>
              <a:t>只要网络没有出现拥塞，拥塞窗口就可以再增大一些，以便把更多的分组发送出去，这样就可以提高网络的利用率。</a:t>
            </a:r>
            <a:endParaRPr lang="en-US" altLang="zh-CN" dirty="0"/>
          </a:p>
          <a:p>
            <a:r>
              <a:rPr lang="zh-CN" altLang="zh-CN" dirty="0"/>
              <a:t>但只要网络出现拥塞或有可能出现拥塞，就必须把拥塞窗口减小一些，以减少注入到网络中的分组数，以便缓解网络出现的拥塞。</a:t>
            </a:r>
            <a:endParaRPr lang="zh-CN" altLang="en-US" dirty="0"/>
          </a:p>
        </p:txBody>
      </p:sp>
    </p:spTree>
    <p:extLst>
      <p:ext uri="{BB962C8B-B14F-4D97-AF65-F5344CB8AC3E}">
        <p14:creationId xmlns:p14="http://schemas.microsoft.com/office/powerpoint/2010/main" val="399802673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60" name="Rectangle 2"/>
          <p:cNvSpPr>
            <a:spLocks noGrp="1" noChangeArrowheads="1"/>
          </p:cNvSpPr>
          <p:nvPr>
            <p:ph type="title"/>
          </p:nvPr>
        </p:nvSpPr>
        <p:spPr/>
        <p:txBody>
          <a:bodyPr/>
          <a:lstStyle/>
          <a:p>
            <a:pPr algn="ctr" eaLnBrk="1" hangingPunct="1"/>
            <a:r>
              <a:rPr lang="zh-CN" altLang="en-US" dirty="0"/>
              <a:t>拥塞的判断</a:t>
            </a:r>
          </a:p>
        </p:txBody>
      </p:sp>
      <p:sp>
        <p:nvSpPr>
          <p:cNvPr id="96261" name="Rectangle 3"/>
          <p:cNvSpPr>
            <a:spLocks noGrp="1" noChangeArrowheads="1"/>
          </p:cNvSpPr>
          <p:nvPr>
            <p:ph type="body" idx="1"/>
          </p:nvPr>
        </p:nvSpPr>
        <p:spPr/>
        <p:txBody>
          <a:bodyPr/>
          <a:lstStyle/>
          <a:p>
            <a:r>
              <a:rPr lang="zh-CN" altLang="en-US" dirty="0">
                <a:solidFill>
                  <a:srgbClr val="FF0000"/>
                </a:solidFill>
              </a:rPr>
              <a:t>重传定时器超时</a:t>
            </a:r>
            <a:endParaRPr lang="en-US" altLang="zh-CN" dirty="0">
              <a:solidFill>
                <a:srgbClr val="FF0000"/>
              </a:solidFill>
            </a:endParaRPr>
          </a:p>
          <a:p>
            <a:pPr lvl="1"/>
            <a:r>
              <a:rPr lang="zh-CN" altLang="zh-CN" dirty="0"/>
              <a:t>现在通信线路的传输质量一般都很好，因传输出差错而丢弃分组的概率是很小的（远小于</a:t>
            </a:r>
            <a:r>
              <a:rPr lang="en-US" altLang="zh-CN" dirty="0"/>
              <a:t> 1 %</a:t>
            </a:r>
            <a:r>
              <a:rPr lang="zh-CN" altLang="zh-CN" dirty="0"/>
              <a:t>）。只要出现了超时，就可以猜想网络可能出现了拥塞。</a:t>
            </a:r>
            <a:endParaRPr lang="en-US" altLang="zh-CN" dirty="0"/>
          </a:p>
          <a:p>
            <a:r>
              <a:rPr lang="zh-CN" altLang="en-US" dirty="0">
                <a:solidFill>
                  <a:srgbClr val="FF0000"/>
                </a:solidFill>
              </a:rPr>
              <a:t>收到三个相同（重复）的 </a:t>
            </a:r>
            <a:r>
              <a:rPr lang="en-US" altLang="zh-CN" dirty="0">
                <a:solidFill>
                  <a:srgbClr val="FF0000"/>
                </a:solidFill>
              </a:rPr>
              <a:t>ACK</a:t>
            </a:r>
          </a:p>
          <a:p>
            <a:pPr lvl="1"/>
            <a:r>
              <a:rPr lang="zh-CN" altLang="zh-CN" dirty="0"/>
              <a:t>个别报文段会在网络中丢失，</a:t>
            </a:r>
            <a:r>
              <a:rPr lang="zh-CN" altLang="en-US" dirty="0"/>
              <a:t>预示可能会出现拥塞（</a:t>
            </a:r>
            <a:r>
              <a:rPr lang="zh-CN" altLang="zh-CN" dirty="0"/>
              <a:t>实际未发生拥塞</a:t>
            </a:r>
            <a:r>
              <a:rPr lang="zh-CN" altLang="en-US" dirty="0"/>
              <a:t>），因此可以尽快采取控制措施，避免拥塞。</a:t>
            </a:r>
            <a:endParaRPr lang="en-US" altLang="zh-CN" dirty="0"/>
          </a:p>
        </p:txBody>
      </p:sp>
    </p:spTree>
    <p:extLst>
      <p:ext uri="{BB962C8B-B14F-4D97-AF65-F5344CB8AC3E}">
        <p14:creationId xmlns:p14="http://schemas.microsoft.com/office/powerpoint/2010/main" val="292128017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60" name="Rectangle 2"/>
          <p:cNvSpPr>
            <a:spLocks noGrp="1" noChangeArrowheads="1"/>
          </p:cNvSpPr>
          <p:nvPr>
            <p:ph type="title"/>
          </p:nvPr>
        </p:nvSpPr>
        <p:spPr/>
        <p:txBody>
          <a:bodyPr/>
          <a:lstStyle/>
          <a:p>
            <a:pPr algn="ctr" eaLnBrk="1" hangingPunct="1"/>
            <a:r>
              <a:rPr lang="en-US" altLang="zh-CN" dirty="0"/>
              <a:t>TCP</a:t>
            </a:r>
            <a:r>
              <a:rPr lang="zh-CN" altLang="en-US" dirty="0"/>
              <a:t>拥塞控制算法</a:t>
            </a:r>
          </a:p>
        </p:txBody>
      </p:sp>
      <p:sp>
        <p:nvSpPr>
          <p:cNvPr id="96261" name="Rectangle 3"/>
          <p:cNvSpPr>
            <a:spLocks noGrp="1" noChangeArrowheads="1"/>
          </p:cNvSpPr>
          <p:nvPr>
            <p:ph type="body" idx="1"/>
          </p:nvPr>
        </p:nvSpPr>
        <p:spPr/>
        <p:txBody>
          <a:bodyPr/>
          <a:lstStyle/>
          <a:p>
            <a:r>
              <a:rPr lang="zh-CN" altLang="zh-CN" dirty="0"/>
              <a:t>四种</a:t>
            </a:r>
            <a:r>
              <a:rPr lang="zh-CN" altLang="en-US" dirty="0"/>
              <a:t>（</a:t>
            </a:r>
            <a:r>
              <a:rPr lang="en-US" altLang="zh-CN" dirty="0"/>
              <a:t> RFC 5681</a:t>
            </a:r>
            <a:r>
              <a:rPr lang="zh-CN" altLang="zh-CN" dirty="0"/>
              <a:t>） </a:t>
            </a:r>
            <a:r>
              <a:rPr lang="zh-CN" altLang="en-US" dirty="0"/>
              <a:t>：</a:t>
            </a:r>
            <a:endParaRPr lang="en-US" altLang="zh-CN" dirty="0"/>
          </a:p>
          <a:p>
            <a:pPr lvl="1"/>
            <a:r>
              <a:rPr lang="zh-CN" altLang="zh-CN" dirty="0"/>
              <a:t>慢开始</a:t>
            </a:r>
            <a:r>
              <a:rPr lang="en-US" altLang="zh-CN" dirty="0"/>
              <a:t> (slow-start)</a:t>
            </a:r>
          </a:p>
          <a:p>
            <a:pPr lvl="1"/>
            <a:r>
              <a:rPr lang="zh-CN" altLang="zh-CN" dirty="0"/>
              <a:t>拥塞避免</a:t>
            </a:r>
            <a:r>
              <a:rPr lang="en-US" altLang="zh-CN" dirty="0"/>
              <a:t> (congestion avoidance)</a:t>
            </a:r>
          </a:p>
          <a:p>
            <a:pPr lvl="1"/>
            <a:r>
              <a:rPr lang="zh-CN" altLang="zh-CN" dirty="0"/>
              <a:t>快重传</a:t>
            </a:r>
            <a:r>
              <a:rPr lang="en-US" altLang="zh-CN" dirty="0"/>
              <a:t> (fast retransmit)</a:t>
            </a:r>
          </a:p>
          <a:p>
            <a:pPr lvl="1"/>
            <a:r>
              <a:rPr lang="zh-CN" altLang="zh-CN" dirty="0"/>
              <a:t>快恢复</a:t>
            </a:r>
            <a:r>
              <a:rPr lang="en-US" altLang="zh-CN" dirty="0"/>
              <a:t> (fast recovery)</a:t>
            </a:r>
            <a:endParaRPr lang="zh-CN" altLang="en-US" dirty="0"/>
          </a:p>
        </p:txBody>
      </p:sp>
    </p:spTree>
    <p:extLst>
      <p:ext uri="{BB962C8B-B14F-4D97-AF65-F5344CB8AC3E}">
        <p14:creationId xmlns:p14="http://schemas.microsoft.com/office/powerpoint/2010/main" val="361025802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2" name="Rectangle 2"/>
          <p:cNvSpPr>
            <a:spLocks noGrp="1" noChangeArrowheads="1"/>
          </p:cNvSpPr>
          <p:nvPr>
            <p:ph type="title"/>
          </p:nvPr>
        </p:nvSpPr>
        <p:spPr/>
        <p:txBody>
          <a:bodyPr/>
          <a:lstStyle/>
          <a:p>
            <a:pPr algn="ctr" eaLnBrk="1" hangingPunct="1"/>
            <a:r>
              <a:rPr lang="zh-CN" altLang="en-US" dirty="0"/>
              <a:t>慢开始 </a:t>
            </a:r>
            <a:r>
              <a:rPr lang="en-US" altLang="zh-CN" dirty="0"/>
              <a:t>(Slow start)</a:t>
            </a:r>
          </a:p>
        </p:txBody>
      </p:sp>
      <p:sp>
        <p:nvSpPr>
          <p:cNvPr id="99333" name="Rectangle 3"/>
          <p:cNvSpPr>
            <a:spLocks noGrp="1" noChangeArrowheads="1"/>
          </p:cNvSpPr>
          <p:nvPr>
            <p:ph type="body" idx="1"/>
          </p:nvPr>
        </p:nvSpPr>
        <p:spPr/>
        <p:txBody>
          <a:bodyPr/>
          <a:lstStyle/>
          <a:p>
            <a:pPr eaLnBrk="1" hangingPunct="1"/>
            <a:r>
              <a:rPr lang="zh-CN" altLang="en-US" sz="2800" dirty="0"/>
              <a:t>用来确定网络的负载能力。</a:t>
            </a:r>
            <a:endParaRPr lang="en-US" altLang="zh-CN" sz="2800" dirty="0"/>
          </a:p>
          <a:p>
            <a:r>
              <a:rPr lang="zh-CN" altLang="zh-CN" sz="2800" dirty="0">
                <a:solidFill>
                  <a:srgbClr val="FF0000"/>
                </a:solidFill>
              </a:rPr>
              <a:t>算法的思路</a:t>
            </a:r>
            <a:r>
              <a:rPr lang="zh-CN" altLang="en-US" sz="2800" dirty="0">
                <a:solidFill>
                  <a:srgbClr val="FF0000"/>
                </a:solidFill>
              </a:rPr>
              <a:t>：</a:t>
            </a:r>
            <a:r>
              <a:rPr lang="zh-CN" altLang="zh-CN" sz="2800" dirty="0">
                <a:solidFill>
                  <a:srgbClr val="FF0000"/>
                </a:solidFill>
              </a:rPr>
              <a:t>由小到大逐渐增大拥塞窗口数值</a:t>
            </a:r>
            <a:r>
              <a:rPr lang="zh-CN" altLang="en-US" sz="2800" dirty="0">
                <a:solidFill>
                  <a:srgbClr val="FF0000"/>
                </a:solidFill>
              </a:rPr>
              <a:t>。</a:t>
            </a:r>
            <a:endParaRPr lang="en-US" altLang="zh-CN" sz="2800" dirty="0">
              <a:solidFill>
                <a:srgbClr val="FF0000"/>
              </a:solidFill>
            </a:endParaRPr>
          </a:p>
          <a:p>
            <a:r>
              <a:rPr lang="zh-CN" altLang="zh-CN" sz="2800" dirty="0">
                <a:solidFill>
                  <a:srgbClr val="0000FF"/>
                </a:solidFill>
              </a:rPr>
              <a:t>初始拥塞窗口</a:t>
            </a:r>
            <a:r>
              <a:rPr lang="en-US" altLang="zh-CN" sz="2800" dirty="0">
                <a:solidFill>
                  <a:srgbClr val="0000FF"/>
                </a:solidFill>
              </a:rPr>
              <a:t> </a:t>
            </a:r>
            <a:r>
              <a:rPr lang="en-US" altLang="zh-CN" sz="2800" dirty="0" err="1">
                <a:solidFill>
                  <a:srgbClr val="0000FF"/>
                </a:solidFill>
              </a:rPr>
              <a:t>cwnd</a:t>
            </a:r>
            <a:r>
              <a:rPr lang="en-US" altLang="zh-CN" sz="2800" dirty="0">
                <a:solidFill>
                  <a:srgbClr val="0000FF"/>
                </a:solidFill>
              </a:rPr>
              <a:t> </a:t>
            </a:r>
            <a:r>
              <a:rPr lang="zh-CN" altLang="en-US" sz="2800" dirty="0">
                <a:solidFill>
                  <a:srgbClr val="0000FF"/>
                </a:solidFill>
              </a:rPr>
              <a:t>设置：</a:t>
            </a:r>
            <a:endParaRPr lang="en-US" altLang="zh-CN" sz="2800" dirty="0">
              <a:solidFill>
                <a:srgbClr val="0000FF"/>
              </a:solidFill>
            </a:endParaRPr>
          </a:p>
          <a:p>
            <a:pPr lvl="1"/>
            <a:r>
              <a:rPr lang="zh-CN" altLang="zh-CN" sz="2400" dirty="0"/>
              <a:t>旧的规定</a:t>
            </a:r>
            <a:r>
              <a:rPr lang="zh-CN" altLang="en-US" sz="2400" dirty="0"/>
              <a:t>：</a:t>
            </a:r>
            <a:r>
              <a:rPr lang="zh-CN" altLang="zh-CN" sz="2400" dirty="0"/>
              <a:t>在刚刚开始发送报文段时，先把初始拥塞窗口</a:t>
            </a:r>
            <a:r>
              <a:rPr lang="en-US" altLang="zh-CN" sz="2400" dirty="0" err="1"/>
              <a:t>cwnd</a:t>
            </a:r>
            <a:r>
              <a:rPr lang="en-US" altLang="zh-CN" sz="2400" dirty="0"/>
              <a:t> </a:t>
            </a:r>
            <a:r>
              <a:rPr lang="zh-CN" altLang="zh-CN" sz="2400" dirty="0"/>
              <a:t>设置为</a:t>
            </a:r>
            <a:r>
              <a:rPr lang="en-US" altLang="zh-CN" sz="2400" dirty="0"/>
              <a:t> 1 </a:t>
            </a:r>
            <a:r>
              <a:rPr lang="zh-CN" altLang="zh-CN" sz="2400" dirty="0"/>
              <a:t>至</a:t>
            </a:r>
            <a:r>
              <a:rPr lang="en-US" altLang="zh-CN" sz="2400" dirty="0"/>
              <a:t> 2 </a:t>
            </a:r>
            <a:r>
              <a:rPr lang="zh-CN" altLang="zh-CN" sz="2400" dirty="0"/>
              <a:t>个发送方的最大报文段</a:t>
            </a:r>
            <a:r>
              <a:rPr lang="en-US" altLang="zh-CN" sz="2400" dirty="0"/>
              <a:t> SMSS (Sender Maximum Segment Size) </a:t>
            </a:r>
            <a:r>
              <a:rPr lang="zh-CN" altLang="zh-CN" sz="2400" dirty="0"/>
              <a:t>的数值</a:t>
            </a:r>
            <a:r>
              <a:rPr lang="zh-CN" altLang="en-US" sz="2400" dirty="0"/>
              <a:t>。</a:t>
            </a:r>
            <a:endParaRPr lang="en-US" altLang="zh-CN" sz="2400" dirty="0"/>
          </a:p>
          <a:p>
            <a:pPr lvl="1"/>
            <a:r>
              <a:rPr lang="zh-CN" altLang="zh-CN" sz="2400" dirty="0"/>
              <a:t>新的</a:t>
            </a:r>
            <a:r>
              <a:rPr lang="en-US" altLang="zh-CN" sz="2400" dirty="0"/>
              <a:t> RFC 5681 </a:t>
            </a:r>
            <a:r>
              <a:rPr lang="zh-CN" altLang="zh-CN" sz="2400" dirty="0"/>
              <a:t>把初始拥塞窗口</a:t>
            </a:r>
            <a:r>
              <a:rPr lang="en-US" altLang="zh-CN" sz="2400" dirty="0"/>
              <a:t> </a:t>
            </a:r>
            <a:r>
              <a:rPr lang="en-US" altLang="zh-CN" sz="2400" dirty="0" err="1"/>
              <a:t>cwnd</a:t>
            </a:r>
            <a:r>
              <a:rPr lang="en-US" altLang="zh-CN" sz="2400" dirty="0"/>
              <a:t> </a:t>
            </a:r>
            <a:r>
              <a:rPr lang="zh-CN" altLang="zh-CN" sz="2400" dirty="0"/>
              <a:t>设置为不超过</a:t>
            </a:r>
            <a:r>
              <a:rPr lang="en-US" altLang="zh-CN" sz="2400" dirty="0"/>
              <a:t>2</a:t>
            </a:r>
            <a:r>
              <a:rPr lang="zh-CN" altLang="zh-CN" sz="2400" dirty="0"/>
              <a:t>至</a:t>
            </a:r>
            <a:r>
              <a:rPr lang="en-US" altLang="zh-CN" sz="2400" dirty="0"/>
              <a:t>4</a:t>
            </a:r>
            <a:r>
              <a:rPr lang="zh-CN" altLang="zh-CN" sz="2400" dirty="0"/>
              <a:t>个</a:t>
            </a:r>
            <a:r>
              <a:rPr lang="en-US" altLang="zh-CN" sz="2400" dirty="0"/>
              <a:t>SMSS </a:t>
            </a:r>
            <a:r>
              <a:rPr lang="zh-CN" altLang="zh-CN" sz="2400" dirty="0"/>
              <a:t>的数值。</a:t>
            </a:r>
            <a:endParaRPr lang="en-US" altLang="zh-CN" sz="2400" dirty="0"/>
          </a:p>
          <a:p>
            <a:r>
              <a:rPr lang="zh-CN" altLang="zh-CN" sz="2800" dirty="0">
                <a:solidFill>
                  <a:srgbClr val="0000FF"/>
                </a:solidFill>
              </a:rPr>
              <a:t>慢开始门限</a:t>
            </a:r>
            <a:r>
              <a:rPr lang="en-US" altLang="zh-CN" sz="2800" dirty="0">
                <a:solidFill>
                  <a:srgbClr val="0000FF"/>
                </a:solidFill>
              </a:rPr>
              <a:t> </a:t>
            </a:r>
            <a:r>
              <a:rPr lang="en-US" altLang="zh-CN" sz="2800" dirty="0" err="1">
                <a:solidFill>
                  <a:srgbClr val="0000FF"/>
                </a:solidFill>
              </a:rPr>
              <a:t>ssthresh</a:t>
            </a:r>
            <a:r>
              <a:rPr lang="zh-CN" altLang="en-US" sz="2800" dirty="0">
                <a:solidFill>
                  <a:srgbClr val="0000FF"/>
                </a:solidFill>
              </a:rPr>
              <a:t>（状态变量）</a:t>
            </a:r>
            <a:r>
              <a:rPr lang="zh-CN" altLang="en-US" sz="2800" dirty="0"/>
              <a:t>：</a:t>
            </a:r>
            <a:r>
              <a:rPr lang="zh-CN" altLang="zh-CN" sz="2800" dirty="0"/>
              <a:t>防止拥塞窗口</a:t>
            </a:r>
            <a:r>
              <a:rPr lang="en-US" altLang="zh-CN" sz="2800" dirty="0" err="1"/>
              <a:t>cwnd</a:t>
            </a:r>
            <a:r>
              <a:rPr lang="en-US" altLang="zh-CN" sz="2800" dirty="0"/>
              <a:t> </a:t>
            </a:r>
            <a:r>
              <a:rPr lang="zh-CN" altLang="zh-CN" sz="2800" dirty="0"/>
              <a:t>增长过大引起网络拥塞</a:t>
            </a:r>
            <a:r>
              <a:rPr lang="zh-CN" altLang="en-US" sz="2800" dirty="0"/>
              <a:t>。</a:t>
            </a:r>
          </a:p>
        </p:txBody>
      </p:sp>
    </p:spTree>
    <p:extLst>
      <p:ext uri="{BB962C8B-B14F-4D97-AF65-F5344CB8AC3E}">
        <p14:creationId xmlns:p14="http://schemas.microsoft.com/office/powerpoint/2010/main" val="277750266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2" name="Rectangle 2"/>
          <p:cNvSpPr>
            <a:spLocks noGrp="1" noChangeArrowheads="1"/>
          </p:cNvSpPr>
          <p:nvPr>
            <p:ph type="title"/>
          </p:nvPr>
        </p:nvSpPr>
        <p:spPr/>
        <p:txBody>
          <a:bodyPr/>
          <a:lstStyle/>
          <a:p>
            <a:pPr algn="ctr" eaLnBrk="1" hangingPunct="1"/>
            <a:r>
              <a:rPr lang="zh-CN" altLang="en-US" dirty="0"/>
              <a:t>慢开始 </a:t>
            </a:r>
            <a:r>
              <a:rPr lang="en-US" altLang="zh-CN" dirty="0"/>
              <a:t>(Slow start)</a:t>
            </a:r>
          </a:p>
        </p:txBody>
      </p:sp>
      <p:sp>
        <p:nvSpPr>
          <p:cNvPr id="99333" name="Rectangle 3"/>
          <p:cNvSpPr>
            <a:spLocks noGrp="1" noChangeArrowheads="1"/>
          </p:cNvSpPr>
          <p:nvPr>
            <p:ph type="body" idx="1"/>
          </p:nvPr>
        </p:nvSpPr>
        <p:spPr/>
        <p:txBody>
          <a:bodyPr/>
          <a:lstStyle/>
          <a:p>
            <a:r>
              <a:rPr lang="zh-CN" altLang="zh-CN" sz="2600" dirty="0">
                <a:solidFill>
                  <a:srgbClr val="0000FF"/>
                </a:solidFill>
              </a:rPr>
              <a:t>拥塞窗口</a:t>
            </a:r>
            <a:r>
              <a:rPr lang="en-US" altLang="zh-CN" sz="2600" dirty="0">
                <a:solidFill>
                  <a:srgbClr val="0000FF"/>
                </a:solidFill>
              </a:rPr>
              <a:t> </a:t>
            </a:r>
            <a:r>
              <a:rPr lang="en-US" altLang="zh-CN" sz="2600" dirty="0" err="1">
                <a:solidFill>
                  <a:srgbClr val="0000FF"/>
                </a:solidFill>
              </a:rPr>
              <a:t>cwnd</a:t>
            </a:r>
            <a:r>
              <a:rPr lang="en-US" altLang="zh-CN" sz="2600" dirty="0">
                <a:solidFill>
                  <a:srgbClr val="0000FF"/>
                </a:solidFill>
              </a:rPr>
              <a:t>  </a:t>
            </a:r>
            <a:r>
              <a:rPr lang="zh-CN" altLang="en-US" sz="2600" dirty="0">
                <a:solidFill>
                  <a:srgbClr val="0000FF"/>
                </a:solidFill>
              </a:rPr>
              <a:t>控制方法</a:t>
            </a:r>
            <a:r>
              <a:rPr lang="zh-CN" altLang="en-US" sz="2600" dirty="0"/>
              <a:t>：</a:t>
            </a:r>
            <a:r>
              <a:rPr lang="zh-CN" altLang="zh-CN" sz="2600" dirty="0"/>
              <a:t>在每收到一个</a:t>
            </a:r>
            <a:r>
              <a:rPr lang="zh-CN" altLang="zh-CN" sz="2600" dirty="0">
                <a:solidFill>
                  <a:srgbClr val="FF0000"/>
                </a:solidFill>
              </a:rPr>
              <a:t>对新的报文段的确认</a:t>
            </a:r>
            <a:r>
              <a:rPr lang="zh-CN" altLang="zh-CN" sz="2600" dirty="0"/>
              <a:t>后，可以把拥塞窗口增加最多一个</a:t>
            </a:r>
            <a:r>
              <a:rPr lang="en-US" altLang="zh-CN" sz="2600" dirty="0"/>
              <a:t> SMSS </a:t>
            </a:r>
            <a:r>
              <a:rPr lang="zh-CN" altLang="zh-CN" sz="2600" dirty="0"/>
              <a:t>的数值。</a:t>
            </a:r>
            <a:endParaRPr lang="en-US" altLang="zh-CN" sz="2600" dirty="0"/>
          </a:p>
          <a:p>
            <a:endParaRPr lang="en-US" altLang="zh-CN" sz="2600" dirty="0"/>
          </a:p>
          <a:p>
            <a:endParaRPr lang="en-US" altLang="zh-CN" sz="2600" dirty="0"/>
          </a:p>
          <a:p>
            <a:r>
              <a:rPr lang="zh-CN" altLang="zh-CN" sz="2600" dirty="0"/>
              <a:t>其中</a:t>
            </a:r>
            <a:r>
              <a:rPr lang="en-US" altLang="zh-CN" sz="2600" dirty="0"/>
              <a:t> </a:t>
            </a:r>
            <a:r>
              <a:rPr lang="en-US" altLang="zh-CN" sz="2600" i="1" dirty="0"/>
              <a:t>N </a:t>
            </a:r>
            <a:r>
              <a:rPr lang="zh-CN" altLang="zh-CN" sz="2600" dirty="0"/>
              <a:t>是原先未被确认的、但现在被刚收到的确认报文段所确认的字节数。</a:t>
            </a:r>
            <a:endParaRPr lang="en-US" altLang="zh-CN" sz="2600" dirty="0"/>
          </a:p>
          <a:p>
            <a:r>
              <a:rPr lang="zh-CN" altLang="zh-CN" sz="2600" dirty="0"/>
              <a:t>不难看出，当</a:t>
            </a:r>
            <a:r>
              <a:rPr lang="en-US" altLang="zh-CN" sz="2600" dirty="0"/>
              <a:t> </a:t>
            </a:r>
            <a:r>
              <a:rPr lang="en-US" altLang="zh-CN" sz="2600" i="1" dirty="0"/>
              <a:t>N</a:t>
            </a:r>
            <a:r>
              <a:rPr lang="en-US" altLang="zh-CN" sz="2600" dirty="0"/>
              <a:t> &lt; SMSS </a:t>
            </a:r>
            <a:r>
              <a:rPr lang="zh-CN" altLang="zh-CN" sz="2600" dirty="0"/>
              <a:t>时，拥塞窗口每次的增加量要小于</a:t>
            </a:r>
            <a:r>
              <a:rPr lang="en-US" altLang="zh-CN" sz="2600" dirty="0"/>
              <a:t> SMSS</a:t>
            </a:r>
            <a:r>
              <a:rPr lang="zh-CN" altLang="zh-CN" sz="2600" dirty="0"/>
              <a:t>。</a:t>
            </a:r>
          </a:p>
          <a:p>
            <a:r>
              <a:rPr lang="zh-CN" altLang="zh-CN" sz="2600" dirty="0"/>
              <a:t>用这样的方法逐步增大发送方的拥塞窗口</a:t>
            </a:r>
            <a:r>
              <a:rPr lang="en-US" altLang="zh-CN" sz="2600" dirty="0"/>
              <a:t> </a:t>
            </a:r>
            <a:r>
              <a:rPr lang="en-US" altLang="zh-CN" sz="2600" dirty="0" err="1"/>
              <a:t>cwnd</a:t>
            </a:r>
            <a:r>
              <a:rPr lang="zh-CN" altLang="zh-CN" sz="2600" dirty="0"/>
              <a:t>，可以使分组注入到网络的速率更加合理。</a:t>
            </a:r>
            <a:endParaRPr lang="en-US" altLang="zh-CN" sz="2600" dirty="0"/>
          </a:p>
          <a:p>
            <a:pPr eaLnBrk="1" hangingPunct="1"/>
            <a:endParaRPr lang="en-US" altLang="zh-CN" sz="2600" dirty="0"/>
          </a:p>
        </p:txBody>
      </p:sp>
      <p:sp>
        <p:nvSpPr>
          <p:cNvPr id="2" name="矩形 1"/>
          <p:cNvSpPr/>
          <p:nvPr/>
        </p:nvSpPr>
        <p:spPr bwMode="auto">
          <a:xfrm>
            <a:off x="632520" y="2276872"/>
            <a:ext cx="9001000" cy="648072"/>
          </a:xfrm>
          <a:prstGeom prst="rect">
            <a:avLst/>
          </a:prstGeom>
          <a:solidFill>
            <a:srgbClr val="FFFF66"/>
          </a:solidFill>
          <a:ln w="9525" cap="flat" cmpd="sng" algn="ctr">
            <a:solidFill>
              <a:schemeClr val="tx1"/>
            </a:solidFill>
            <a:prstDash val="solid"/>
            <a:round/>
            <a:headEnd type="none" w="med" len="med"/>
            <a:tailEnd type="none" w="med" len="med"/>
          </a:ln>
          <a:effectLst/>
          <a:extLst/>
        </p:spPr>
        <p:txBody>
          <a:bodyPr vert="horz" wrap="square" lIns="91440" tIns="45720" rIns="91440" bIns="45720" numCol="1" rtlCol="0" anchor="ctr" anchorCtr="0" compatLnSpc="1">
            <a:prstTxWarp prst="textNoShape">
              <a:avLst/>
            </a:prstTxWarp>
          </a:bodyPr>
          <a:lstStyle/>
          <a:p>
            <a:pPr algn="ctr">
              <a:lnSpc>
                <a:spcPct val="110000"/>
              </a:lnSpc>
            </a:pPr>
            <a:r>
              <a:rPr lang="zh-CN" altLang="zh-CN" sz="2800" b="1" dirty="0">
                <a:solidFill>
                  <a:srgbClr val="000099"/>
                </a:solidFill>
                <a:ea typeface="黑体" pitchFamily="2" charset="-122"/>
              </a:rPr>
              <a:t>拥塞窗口</a:t>
            </a:r>
            <a:r>
              <a:rPr lang="en-US" altLang="zh-CN" sz="2800" b="1" dirty="0" err="1">
                <a:solidFill>
                  <a:srgbClr val="000099"/>
                </a:solidFill>
                <a:ea typeface="黑体" pitchFamily="2" charset="-122"/>
              </a:rPr>
              <a:t>cwnd</a:t>
            </a:r>
            <a:r>
              <a:rPr lang="zh-CN" altLang="zh-CN" sz="2800" b="1" dirty="0">
                <a:solidFill>
                  <a:srgbClr val="000099"/>
                </a:solidFill>
                <a:ea typeface="黑体" pitchFamily="2" charset="-122"/>
              </a:rPr>
              <a:t>每次的增加量</a:t>
            </a:r>
            <a:r>
              <a:rPr lang="en-US" altLang="zh-CN" sz="2800" b="1" dirty="0">
                <a:solidFill>
                  <a:srgbClr val="000099"/>
                </a:solidFill>
                <a:ea typeface="黑体" pitchFamily="2" charset="-122"/>
              </a:rPr>
              <a:t> = min (N, SMSS)       (5-8)</a:t>
            </a:r>
            <a:endParaRPr lang="zh-CN" altLang="zh-CN" sz="2800" b="1" dirty="0">
              <a:solidFill>
                <a:srgbClr val="000099"/>
              </a:solidFill>
              <a:ea typeface="黑体" pitchFamily="2" charset="-122"/>
            </a:endParaRPr>
          </a:p>
        </p:txBody>
      </p:sp>
    </p:spTree>
    <p:extLst>
      <p:ext uri="{BB962C8B-B14F-4D97-AF65-F5344CB8AC3E}">
        <p14:creationId xmlns:p14="http://schemas.microsoft.com/office/powerpoint/2010/main" val="166926809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ChangeArrowheads="1"/>
          </p:cNvSpPr>
          <p:nvPr/>
        </p:nvSpPr>
        <p:spPr bwMode="auto">
          <a:xfrm>
            <a:off x="3438971" y="2735263"/>
            <a:ext cx="5969000" cy="1104900"/>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5" name="Rectangle 3"/>
          <p:cNvSpPr>
            <a:spLocks noChangeArrowheads="1"/>
          </p:cNvSpPr>
          <p:nvPr/>
        </p:nvSpPr>
        <p:spPr bwMode="auto">
          <a:xfrm>
            <a:off x="3448496" y="3933825"/>
            <a:ext cx="5969000" cy="1714500"/>
          </a:xfrm>
          <a:prstGeom prst="rect">
            <a:avLst/>
          </a:prstGeom>
          <a:solidFill>
            <a:srgbClr val="99FF3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6" name="Rectangle 4"/>
          <p:cNvSpPr>
            <a:spLocks noChangeArrowheads="1"/>
          </p:cNvSpPr>
          <p:nvPr/>
        </p:nvSpPr>
        <p:spPr bwMode="auto">
          <a:xfrm>
            <a:off x="3435796" y="1739900"/>
            <a:ext cx="5969000" cy="825500"/>
          </a:xfrm>
          <a:prstGeom prst="rect">
            <a:avLst/>
          </a:prstGeom>
          <a:solidFill>
            <a:srgbClr val="FF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7" name="Text Box 5"/>
          <p:cNvSpPr txBox="1">
            <a:spLocks noChangeArrowheads="1"/>
          </p:cNvSpPr>
          <p:nvPr/>
        </p:nvSpPr>
        <p:spPr bwMode="auto">
          <a:xfrm>
            <a:off x="2927796" y="1087438"/>
            <a:ext cx="95091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zh-CN" altLang="en-US" sz="2000" b="1" i="0" u="none" strike="noStrike" kern="0" cap="none" spc="0" normalizeH="0" baseline="0" noProof="0">
                <a:ln>
                  <a:noFill/>
                </a:ln>
                <a:solidFill>
                  <a:srgbClr val="3333CC"/>
                </a:solidFill>
                <a:effectLst/>
                <a:uLnTx/>
                <a:uFillTx/>
                <a:latin typeface="Arial" pitchFamily="34" charset="0"/>
                <a:ea typeface="黑体" pitchFamily="2" charset="-122"/>
              </a:rPr>
              <a:t>发送方</a:t>
            </a:r>
          </a:p>
        </p:txBody>
      </p:sp>
      <p:sp>
        <p:nvSpPr>
          <p:cNvPr id="8" name="Text Box 6"/>
          <p:cNvSpPr txBox="1">
            <a:spLocks noChangeArrowheads="1"/>
          </p:cNvSpPr>
          <p:nvPr/>
        </p:nvSpPr>
        <p:spPr bwMode="auto">
          <a:xfrm>
            <a:off x="6240909" y="1085850"/>
            <a:ext cx="9509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zh-CN" altLang="en-US" sz="2000" b="1" i="0" u="none" strike="noStrike" kern="0" cap="none" spc="0" normalizeH="0" baseline="0" noProof="0">
                <a:ln>
                  <a:noFill/>
                </a:ln>
                <a:solidFill>
                  <a:srgbClr val="3333CC"/>
                </a:solidFill>
                <a:effectLst/>
                <a:uLnTx/>
                <a:uFillTx/>
                <a:latin typeface="Arial" pitchFamily="34" charset="0"/>
                <a:ea typeface="黑体" pitchFamily="2" charset="-122"/>
              </a:rPr>
              <a:t>接收方</a:t>
            </a:r>
          </a:p>
        </p:txBody>
      </p:sp>
      <p:sp>
        <p:nvSpPr>
          <p:cNvPr id="9" name="Text Box 7"/>
          <p:cNvSpPr txBox="1">
            <a:spLocks noChangeArrowheads="1"/>
          </p:cNvSpPr>
          <p:nvPr/>
        </p:nvSpPr>
        <p:spPr bwMode="auto">
          <a:xfrm>
            <a:off x="2353121" y="1501775"/>
            <a:ext cx="10683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zh-CN" altLang="en-US" sz="2000" b="1" i="0" u="none" strike="noStrike" kern="0" cap="none" spc="0" normalizeH="0" baseline="0" noProof="0">
                <a:ln>
                  <a:noFill/>
                </a:ln>
                <a:solidFill>
                  <a:srgbClr val="3333CC"/>
                </a:solidFill>
                <a:effectLst/>
                <a:uLnTx/>
                <a:uFillTx/>
                <a:latin typeface="Arial" pitchFamily="34" charset="0"/>
                <a:ea typeface="黑体" pitchFamily="2" charset="-122"/>
              </a:rPr>
              <a:t>发送 </a:t>
            </a:r>
            <a:r>
              <a:rPr kumimoji="0" lang="en-US" altLang="zh-CN" sz="2000" b="1" i="0" u="none" strike="noStrike" kern="0" cap="none" spc="0" normalizeH="0" baseline="0" noProof="0">
                <a:ln>
                  <a:noFill/>
                </a:ln>
                <a:solidFill>
                  <a:srgbClr val="3333CC"/>
                </a:solidFill>
                <a:effectLst/>
                <a:uLnTx/>
                <a:uFillTx/>
                <a:latin typeface="Arial" pitchFamily="34" charset="0"/>
                <a:ea typeface="黑体" pitchFamily="2" charset="-122"/>
              </a:rPr>
              <a:t>M</a:t>
            </a:r>
            <a:r>
              <a:rPr kumimoji="0" lang="en-US" altLang="zh-CN" sz="2000" b="1" i="0" u="none" strike="noStrike" kern="0" cap="none" spc="0" normalizeH="0" baseline="-25000" noProof="0">
                <a:ln>
                  <a:noFill/>
                </a:ln>
                <a:solidFill>
                  <a:srgbClr val="3333CC"/>
                </a:solidFill>
                <a:effectLst/>
                <a:uLnTx/>
                <a:uFillTx/>
                <a:latin typeface="Arial" pitchFamily="34" charset="0"/>
                <a:ea typeface="黑体" pitchFamily="2" charset="-122"/>
              </a:rPr>
              <a:t>1</a:t>
            </a:r>
          </a:p>
        </p:txBody>
      </p:sp>
      <p:sp>
        <p:nvSpPr>
          <p:cNvPr id="10" name="Line 8"/>
          <p:cNvSpPr>
            <a:spLocks noChangeShapeType="1"/>
          </p:cNvSpPr>
          <p:nvPr/>
        </p:nvSpPr>
        <p:spPr bwMode="auto">
          <a:xfrm>
            <a:off x="3438971" y="1771650"/>
            <a:ext cx="3309938" cy="319088"/>
          </a:xfrm>
          <a:prstGeom prst="line">
            <a:avLst/>
          </a:prstGeom>
          <a:noFill/>
          <a:ln w="28575">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11" name="Line 9"/>
          <p:cNvSpPr>
            <a:spLocks noChangeShapeType="1"/>
          </p:cNvSpPr>
          <p:nvPr/>
        </p:nvSpPr>
        <p:spPr bwMode="auto">
          <a:xfrm>
            <a:off x="3438971" y="2760663"/>
            <a:ext cx="3309938" cy="319087"/>
          </a:xfrm>
          <a:prstGeom prst="line">
            <a:avLst/>
          </a:prstGeom>
          <a:noFill/>
          <a:ln w="28575">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12" name="Line 10"/>
          <p:cNvSpPr>
            <a:spLocks noChangeShapeType="1"/>
          </p:cNvSpPr>
          <p:nvPr/>
        </p:nvSpPr>
        <p:spPr bwMode="auto">
          <a:xfrm flipH="1">
            <a:off x="3438971" y="2227263"/>
            <a:ext cx="3309938" cy="319087"/>
          </a:xfrm>
          <a:prstGeom prst="line">
            <a:avLst/>
          </a:prstGeom>
          <a:noFill/>
          <a:ln w="28575">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13" name="Text Box 11"/>
          <p:cNvSpPr txBox="1">
            <a:spLocks noChangeArrowheads="1"/>
          </p:cNvSpPr>
          <p:nvPr/>
        </p:nvSpPr>
        <p:spPr bwMode="auto">
          <a:xfrm>
            <a:off x="6667946" y="2024063"/>
            <a:ext cx="11382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altLang="zh-CN" sz="2000" b="1" i="0" u="none" strike="noStrike" kern="0" cap="none" spc="0" normalizeH="0" baseline="0" noProof="0">
                <a:ln>
                  <a:noFill/>
                </a:ln>
                <a:solidFill>
                  <a:srgbClr val="3333CC"/>
                </a:solidFill>
                <a:effectLst/>
                <a:uLnTx/>
                <a:uFillTx/>
                <a:latin typeface="Arial" pitchFamily="34" charset="0"/>
                <a:ea typeface="黑体" pitchFamily="2" charset="-122"/>
              </a:rPr>
              <a:t> </a:t>
            </a:r>
            <a:r>
              <a:rPr kumimoji="0" lang="zh-CN" altLang="en-US" sz="2000" b="1" i="0" u="none" strike="noStrike" kern="0" cap="none" spc="0" normalizeH="0" baseline="0" noProof="0">
                <a:ln>
                  <a:noFill/>
                </a:ln>
                <a:solidFill>
                  <a:srgbClr val="3333CC"/>
                </a:solidFill>
                <a:effectLst/>
                <a:uLnTx/>
                <a:uFillTx/>
                <a:latin typeface="Arial" pitchFamily="34" charset="0"/>
                <a:ea typeface="黑体" pitchFamily="2" charset="-122"/>
              </a:rPr>
              <a:t>确认 </a:t>
            </a:r>
            <a:r>
              <a:rPr kumimoji="0" lang="en-US" altLang="zh-CN" sz="2000" b="1" i="0" u="none" strike="noStrike" kern="0" cap="none" spc="0" normalizeH="0" baseline="0" noProof="0">
                <a:ln>
                  <a:noFill/>
                </a:ln>
                <a:solidFill>
                  <a:srgbClr val="3333CC"/>
                </a:solidFill>
                <a:effectLst/>
                <a:uLnTx/>
                <a:uFillTx/>
                <a:latin typeface="Arial" pitchFamily="34" charset="0"/>
                <a:ea typeface="黑体" pitchFamily="2" charset="-122"/>
              </a:rPr>
              <a:t>M</a:t>
            </a:r>
            <a:r>
              <a:rPr kumimoji="0" lang="en-US" altLang="zh-CN" sz="2000" b="1" i="0" u="none" strike="noStrike" kern="0" cap="none" spc="0" normalizeH="0" baseline="-25000" noProof="0">
                <a:ln>
                  <a:noFill/>
                </a:ln>
                <a:solidFill>
                  <a:srgbClr val="3333CC"/>
                </a:solidFill>
                <a:effectLst/>
                <a:uLnTx/>
                <a:uFillTx/>
                <a:latin typeface="Arial" pitchFamily="34" charset="0"/>
                <a:ea typeface="黑体" pitchFamily="2" charset="-122"/>
              </a:rPr>
              <a:t>1</a:t>
            </a:r>
            <a:endParaRPr kumimoji="0" lang="en-US" altLang="zh-CN" sz="2000" b="1" i="0" u="none" strike="noStrike" kern="0" cap="none" spc="0" normalizeH="0" baseline="0" noProof="0">
              <a:ln>
                <a:noFill/>
              </a:ln>
              <a:solidFill>
                <a:srgbClr val="3333CC"/>
              </a:solidFill>
              <a:effectLst/>
              <a:uLnTx/>
              <a:uFillTx/>
              <a:latin typeface="Arial" pitchFamily="34" charset="0"/>
              <a:ea typeface="黑体" pitchFamily="2" charset="-122"/>
            </a:endParaRPr>
          </a:p>
        </p:txBody>
      </p:sp>
      <p:sp>
        <p:nvSpPr>
          <p:cNvPr id="14" name="Line 12"/>
          <p:cNvSpPr>
            <a:spLocks noChangeShapeType="1"/>
          </p:cNvSpPr>
          <p:nvPr/>
        </p:nvSpPr>
        <p:spPr bwMode="auto">
          <a:xfrm>
            <a:off x="3438971" y="5774209"/>
            <a:ext cx="3309938" cy="319087"/>
          </a:xfrm>
          <a:prstGeom prst="line">
            <a:avLst/>
          </a:prstGeom>
          <a:noFill/>
          <a:ln w="28575">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15" name="Line 13"/>
          <p:cNvSpPr>
            <a:spLocks noChangeShapeType="1"/>
          </p:cNvSpPr>
          <p:nvPr/>
        </p:nvSpPr>
        <p:spPr bwMode="auto">
          <a:xfrm flipH="1">
            <a:off x="3438971" y="4356100"/>
            <a:ext cx="3309938" cy="319088"/>
          </a:xfrm>
          <a:prstGeom prst="line">
            <a:avLst/>
          </a:prstGeom>
          <a:noFill/>
          <a:ln w="28575">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grpSp>
        <p:nvGrpSpPr>
          <p:cNvPr id="16" name="Group 14"/>
          <p:cNvGrpSpPr>
            <a:grpSpLocks/>
          </p:cNvGrpSpPr>
          <p:nvPr/>
        </p:nvGrpSpPr>
        <p:grpSpPr bwMode="auto">
          <a:xfrm>
            <a:off x="3438971" y="1614488"/>
            <a:ext cx="3309938" cy="4872037"/>
            <a:chOff x="2042" y="674"/>
            <a:chExt cx="1569" cy="2711"/>
          </a:xfrm>
        </p:grpSpPr>
        <p:sp>
          <p:nvSpPr>
            <p:cNvPr id="17" name="Line 15"/>
            <p:cNvSpPr>
              <a:spLocks noChangeShapeType="1"/>
            </p:cNvSpPr>
            <p:nvPr/>
          </p:nvSpPr>
          <p:spPr bwMode="auto">
            <a:xfrm>
              <a:off x="2042" y="674"/>
              <a:ext cx="0" cy="2711"/>
            </a:xfrm>
            <a:prstGeom prst="line">
              <a:avLst/>
            </a:prstGeom>
            <a:noFill/>
            <a:ln w="1905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18" name="Line 16"/>
            <p:cNvSpPr>
              <a:spLocks noChangeShapeType="1"/>
            </p:cNvSpPr>
            <p:nvPr/>
          </p:nvSpPr>
          <p:spPr bwMode="auto">
            <a:xfrm>
              <a:off x="3611" y="674"/>
              <a:ext cx="0" cy="2711"/>
            </a:xfrm>
            <a:prstGeom prst="line">
              <a:avLst/>
            </a:prstGeom>
            <a:noFill/>
            <a:ln w="1905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grpSp>
      <p:sp>
        <p:nvSpPr>
          <p:cNvPr id="19" name="Text Box 17"/>
          <p:cNvSpPr txBox="1">
            <a:spLocks noChangeArrowheads="1"/>
          </p:cNvSpPr>
          <p:nvPr/>
        </p:nvSpPr>
        <p:spPr bwMode="auto">
          <a:xfrm>
            <a:off x="1949896" y="2565400"/>
            <a:ext cx="15176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zh-CN" altLang="en-US" sz="2000" b="1" i="0" u="none" strike="noStrike" kern="0" cap="none" spc="0" normalizeH="0" baseline="0" noProof="0">
                <a:ln>
                  <a:noFill/>
                </a:ln>
                <a:solidFill>
                  <a:srgbClr val="3333CC"/>
                </a:solidFill>
                <a:effectLst/>
                <a:uLnTx/>
                <a:uFillTx/>
                <a:latin typeface="Arial" pitchFamily="34" charset="0"/>
                <a:ea typeface="黑体" pitchFamily="2" charset="-122"/>
              </a:rPr>
              <a:t>发送 </a:t>
            </a:r>
            <a:r>
              <a:rPr kumimoji="0" lang="en-US" altLang="zh-CN" sz="2000" b="1" i="0" u="none" strike="noStrike" kern="0" cap="none" spc="0" normalizeH="0" baseline="0" noProof="0">
                <a:ln>
                  <a:noFill/>
                </a:ln>
                <a:solidFill>
                  <a:srgbClr val="3333CC"/>
                </a:solidFill>
                <a:effectLst/>
                <a:uLnTx/>
                <a:uFillTx/>
                <a:latin typeface="Arial" pitchFamily="34" charset="0"/>
                <a:ea typeface="黑体" pitchFamily="2" charset="-122"/>
              </a:rPr>
              <a:t>M</a:t>
            </a:r>
            <a:r>
              <a:rPr kumimoji="0" lang="en-US" altLang="zh-CN" sz="2000" b="1" i="0" u="none" strike="noStrike" kern="0" cap="none" spc="0" normalizeH="0" baseline="-25000" noProof="0">
                <a:ln>
                  <a:noFill/>
                </a:ln>
                <a:solidFill>
                  <a:srgbClr val="3333CC"/>
                </a:solidFill>
                <a:effectLst/>
                <a:uLnTx/>
                <a:uFillTx/>
                <a:latin typeface="Arial" pitchFamily="34" charset="0"/>
                <a:ea typeface="黑体" pitchFamily="2" charset="-122"/>
              </a:rPr>
              <a:t>2</a:t>
            </a:r>
            <a:r>
              <a:rPr kumimoji="0" lang="en-US" altLang="zh-CN" sz="2000" b="1" i="0" u="none" strike="noStrike" kern="0" cap="none" spc="0" normalizeH="0" baseline="0" noProof="0">
                <a:ln>
                  <a:noFill/>
                </a:ln>
                <a:solidFill>
                  <a:srgbClr val="3333CC"/>
                </a:solidFill>
                <a:effectLst/>
                <a:uLnTx/>
                <a:uFillTx/>
                <a:latin typeface="Arial" pitchFamily="34" charset="0"/>
                <a:ea typeface="黑体" pitchFamily="2" charset="-122"/>
              </a:rPr>
              <a:t>~M</a:t>
            </a:r>
            <a:r>
              <a:rPr kumimoji="0" lang="en-US" altLang="zh-CN" sz="2000" b="1" i="0" u="none" strike="noStrike" kern="0" cap="none" spc="0" normalizeH="0" baseline="-25000" noProof="0">
                <a:ln>
                  <a:noFill/>
                </a:ln>
                <a:solidFill>
                  <a:srgbClr val="3333CC"/>
                </a:solidFill>
                <a:effectLst/>
                <a:uLnTx/>
                <a:uFillTx/>
                <a:latin typeface="Arial" pitchFamily="34" charset="0"/>
                <a:ea typeface="黑体" pitchFamily="2" charset="-122"/>
              </a:rPr>
              <a:t>3</a:t>
            </a:r>
          </a:p>
        </p:txBody>
      </p:sp>
      <p:sp>
        <p:nvSpPr>
          <p:cNvPr id="20" name="Line 18"/>
          <p:cNvSpPr>
            <a:spLocks noChangeShapeType="1"/>
          </p:cNvSpPr>
          <p:nvPr/>
        </p:nvSpPr>
        <p:spPr bwMode="auto">
          <a:xfrm>
            <a:off x="3438971" y="3079750"/>
            <a:ext cx="3309938" cy="319088"/>
          </a:xfrm>
          <a:prstGeom prst="line">
            <a:avLst/>
          </a:prstGeom>
          <a:noFill/>
          <a:ln w="28575">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21" name="Text Box 19"/>
          <p:cNvSpPr txBox="1">
            <a:spLocks noChangeArrowheads="1"/>
          </p:cNvSpPr>
          <p:nvPr/>
        </p:nvSpPr>
        <p:spPr bwMode="auto">
          <a:xfrm>
            <a:off x="6667946" y="2960688"/>
            <a:ext cx="16351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altLang="zh-CN" sz="2000" b="1" i="0" u="none" strike="noStrike" kern="0" cap="none" spc="0" normalizeH="0" baseline="0" noProof="0">
                <a:ln>
                  <a:noFill/>
                </a:ln>
                <a:solidFill>
                  <a:srgbClr val="3333CC"/>
                </a:solidFill>
                <a:effectLst/>
                <a:uLnTx/>
                <a:uFillTx/>
                <a:latin typeface="Arial" pitchFamily="34" charset="0"/>
                <a:ea typeface="黑体" pitchFamily="2" charset="-122"/>
              </a:rPr>
              <a:t> </a:t>
            </a:r>
            <a:r>
              <a:rPr kumimoji="0" lang="zh-CN" altLang="en-US" sz="2000" b="1" i="0" u="none" strike="noStrike" kern="0" cap="none" spc="0" normalizeH="0" baseline="0" noProof="0">
                <a:ln>
                  <a:noFill/>
                </a:ln>
                <a:solidFill>
                  <a:srgbClr val="3333CC"/>
                </a:solidFill>
                <a:effectLst/>
                <a:uLnTx/>
                <a:uFillTx/>
                <a:latin typeface="Arial" pitchFamily="34" charset="0"/>
                <a:ea typeface="黑体" pitchFamily="2" charset="-122"/>
              </a:rPr>
              <a:t>确认 </a:t>
            </a:r>
            <a:r>
              <a:rPr kumimoji="0" lang="en-US" altLang="zh-CN" sz="2000" b="1" i="0" u="none" strike="noStrike" kern="0" cap="none" spc="0" normalizeH="0" baseline="0" noProof="0">
                <a:ln>
                  <a:noFill/>
                </a:ln>
                <a:solidFill>
                  <a:srgbClr val="3333CC"/>
                </a:solidFill>
                <a:effectLst/>
                <a:uLnTx/>
                <a:uFillTx/>
                <a:latin typeface="Arial" pitchFamily="34" charset="0"/>
                <a:ea typeface="黑体" pitchFamily="2" charset="-122"/>
              </a:rPr>
              <a:t>M</a:t>
            </a:r>
            <a:r>
              <a:rPr kumimoji="0" lang="en-US" altLang="zh-CN" sz="2000" b="1" i="0" u="none" strike="noStrike" kern="0" cap="none" spc="0" normalizeH="0" baseline="-25000" noProof="0">
                <a:ln>
                  <a:noFill/>
                </a:ln>
                <a:solidFill>
                  <a:srgbClr val="3333CC"/>
                </a:solidFill>
                <a:effectLst/>
                <a:uLnTx/>
                <a:uFillTx/>
                <a:latin typeface="Arial" pitchFamily="34" charset="0"/>
                <a:ea typeface="黑体" pitchFamily="2" charset="-122"/>
              </a:rPr>
              <a:t>2</a:t>
            </a:r>
            <a:r>
              <a:rPr kumimoji="0" lang="en-US" altLang="zh-CN" sz="2000" b="1" i="0" u="none" strike="noStrike" kern="0" cap="none" spc="0" normalizeH="0" baseline="0" noProof="0">
                <a:ln>
                  <a:noFill/>
                </a:ln>
                <a:solidFill>
                  <a:srgbClr val="3333CC"/>
                </a:solidFill>
                <a:effectLst/>
                <a:uLnTx/>
                <a:uFillTx/>
                <a:latin typeface="Arial" pitchFamily="34" charset="0"/>
                <a:ea typeface="黑体" pitchFamily="2" charset="-122"/>
              </a:rPr>
              <a:t>~M</a:t>
            </a:r>
            <a:r>
              <a:rPr kumimoji="0" lang="en-US" altLang="zh-CN" sz="2000" b="1" i="0" u="none" strike="noStrike" kern="0" cap="none" spc="0" normalizeH="0" baseline="-25000" noProof="0">
                <a:ln>
                  <a:noFill/>
                </a:ln>
                <a:solidFill>
                  <a:srgbClr val="3333CC"/>
                </a:solidFill>
                <a:effectLst/>
                <a:uLnTx/>
                <a:uFillTx/>
                <a:latin typeface="Arial" pitchFamily="34" charset="0"/>
                <a:ea typeface="黑体" pitchFamily="2" charset="-122"/>
              </a:rPr>
              <a:t>3 </a:t>
            </a:r>
            <a:endParaRPr kumimoji="0" lang="en-US" altLang="zh-CN" sz="2000" b="1" i="0" u="none" strike="noStrike" kern="0" cap="none" spc="0" normalizeH="0" baseline="0" noProof="0">
              <a:ln>
                <a:noFill/>
              </a:ln>
              <a:solidFill>
                <a:srgbClr val="3333CC"/>
              </a:solidFill>
              <a:effectLst/>
              <a:uLnTx/>
              <a:uFillTx/>
              <a:latin typeface="Arial" pitchFamily="34" charset="0"/>
              <a:ea typeface="黑体" pitchFamily="2" charset="-122"/>
            </a:endParaRPr>
          </a:p>
        </p:txBody>
      </p:sp>
      <p:sp>
        <p:nvSpPr>
          <p:cNvPr id="22" name="Line 20"/>
          <p:cNvSpPr>
            <a:spLocks noChangeShapeType="1"/>
          </p:cNvSpPr>
          <p:nvPr/>
        </p:nvSpPr>
        <p:spPr bwMode="auto">
          <a:xfrm flipH="1">
            <a:off x="3438971" y="3187700"/>
            <a:ext cx="3309938" cy="319088"/>
          </a:xfrm>
          <a:prstGeom prst="line">
            <a:avLst/>
          </a:prstGeom>
          <a:noFill/>
          <a:ln w="28575">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23" name="Line 21"/>
          <p:cNvSpPr>
            <a:spLocks noChangeShapeType="1"/>
          </p:cNvSpPr>
          <p:nvPr/>
        </p:nvSpPr>
        <p:spPr bwMode="auto">
          <a:xfrm flipH="1">
            <a:off x="3438971" y="3506788"/>
            <a:ext cx="3309938" cy="319087"/>
          </a:xfrm>
          <a:prstGeom prst="line">
            <a:avLst/>
          </a:prstGeom>
          <a:noFill/>
          <a:ln w="28575">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24" name="Text Box 22"/>
          <p:cNvSpPr txBox="1">
            <a:spLocks noChangeArrowheads="1"/>
          </p:cNvSpPr>
          <p:nvPr/>
        </p:nvSpPr>
        <p:spPr bwMode="auto">
          <a:xfrm>
            <a:off x="1895921" y="3679825"/>
            <a:ext cx="15176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zh-CN" altLang="en-US" sz="2000" b="1" i="0" u="none" strike="noStrike" kern="0" cap="none" spc="0" normalizeH="0" baseline="0" noProof="0">
                <a:ln>
                  <a:noFill/>
                </a:ln>
                <a:solidFill>
                  <a:srgbClr val="3333CC"/>
                </a:solidFill>
                <a:effectLst/>
                <a:uLnTx/>
                <a:uFillTx/>
                <a:latin typeface="Arial" pitchFamily="34" charset="0"/>
                <a:ea typeface="黑体" pitchFamily="2" charset="-122"/>
              </a:rPr>
              <a:t>发送 </a:t>
            </a:r>
            <a:r>
              <a:rPr kumimoji="0" lang="en-US" altLang="zh-CN" sz="2000" b="1" i="0" u="none" strike="noStrike" kern="0" cap="none" spc="0" normalizeH="0" baseline="0" noProof="0">
                <a:ln>
                  <a:noFill/>
                </a:ln>
                <a:solidFill>
                  <a:srgbClr val="3333CC"/>
                </a:solidFill>
                <a:effectLst/>
                <a:uLnTx/>
                <a:uFillTx/>
                <a:latin typeface="Arial" pitchFamily="34" charset="0"/>
                <a:ea typeface="黑体" pitchFamily="2" charset="-122"/>
              </a:rPr>
              <a:t>M</a:t>
            </a:r>
            <a:r>
              <a:rPr kumimoji="0" lang="en-US" altLang="zh-CN" sz="2000" b="1" i="0" u="none" strike="noStrike" kern="0" cap="none" spc="0" normalizeH="0" baseline="-25000" noProof="0">
                <a:ln>
                  <a:noFill/>
                </a:ln>
                <a:solidFill>
                  <a:srgbClr val="3333CC"/>
                </a:solidFill>
                <a:effectLst/>
                <a:uLnTx/>
                <a:uFillTx/>
                <a:latin typeface="Arial" pitchFamily="34" charset="0"/>
                <a:ea typeface="黑体" pitchFamily="2" charset="-122"/>
              </a:rPr>
              <a:t>4</a:t>
            </a:r>
            <a:r>
              <a:rPr kumimoji="0" lang="en-US" altLang="zh-CN" sz="2000" b="1" i="0" u="none" strike="noStrike" kern="0" cap="none" spc="0" normalizeH="0" baseline="0" noProof="0">
                <a:ln>
                  <a:noFill/>
                </a:ln>
                <a:solidFill>
                  <a:srgbClr val="3333CC"/>
                </a:solidFill>
                <a:effectLst/>
                <a:uLnTx/>
                <a:uFillTx/>
                <a:latin typeface="Arial" pitchFamily="34" charset="0"/>
                <a:ea typeface="黑体" pitchFamily="2" charset="-122"/>
              </a:rPr>
              <a:t>~M</a:t>
            </a:r>
            <a:r>
              <a:rPr kumimoji="0" lang="en-US" altLang="zh-CN" sz="2000" b="1" i="0" u="none" strike="noStrike" kern="0" cap="none" spc="0" normalizeH="0" baseline="-25000" noProof="0">
                <a:ln>
                  <a:noFill/>
                </a:ln>
                <a:solidFill>
                  <a:srgbClr val="3333CC"/>
                </a:solidFill>
                <a:effectLst/>
                <a:uLnTx/>
                <a:uFillTx/>
                <a:latin typeface="Arial" pitchFamily="34" charset="0"/>
                <a:ea typeface="黑体" pitchFamily="2" charset="-122"/>
              </a:rPr>
              <a:t>7</a:t>
            </a:r>
          </a:p>
        </p:txBody>
      </p:sp>
      <p:sp>
        <p:nvSpPr>
          <p:cNvPr id="25" name="Text Box 23"/>
          <p:cNvSpPr txBox="1">
            <a:spLocks noChangeArrowheads="1"/>
          </p:cNvSpPr>
          <p:nvPr/>
        </p:nvSpPr>
        <p:spPr bwMode="auto">
          <a:xfrm>
            <a:off x="6667946" y="4149725"/>
            <a:ext cx="16351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altLang="zh-CN" sz="2000" b="1" i="0" u="none" strike="noStrike" kern="0" cap="none" spc="0" normalizeH="0" baseline="0" noProof="0">
                <a:ln>
                  <a:noFill/>
                </a:ln>
                <a:solidFill>
                  <a:srgbClr val="3333CC"/>
                </a:solidFill>
                <a:effectLst/>
                <a:uLnTx/>
                <a:uFillTx/>
                <a:latin typeface="Arial" pitchFamily="34" charset="0"/>
                <a:ea typeface="黑体" pitchFamily="2" charset="-122"/>
              </a:rPr>
              <a:t> </a:t>
            </a:r>
            <a:r>
              <a:rPr kumimoji="0" lang="zh-CN" altLang="en-US" sz="2000" b="1" i="0" u="none" strike="noStrike" kern="0" cap="none" spc="0" normalizeH="0" baseline="0" noProof="0">
                <a:ln>
                  <a:noFill/>
                </a:ln>
                <a:solidFill>
                  <a:srgbClr val="3333CC"/>
                </a:solidFill>
                <a:effectLst/>
                <a:uLnTx/>
                <a:uFillTx/>
                <a:latin typeface="Arial" pitchFamily="34" charset="0"/>
                <a:ea typeface="黑体" pitchFamily="2" charset="-122"/>
              </a:rPr>
              <a:t>确认 </a:t>
            </a:r>
            <a:r>
              <a:rPr kumimoji="0" lang="en-US" altLang="zh-CN" sz="2000" b="1" i="0" u="none" strike="noStrike" kern="0" cap="none" spc="0" normalizeH="0" baseline="0" noProof="0">
                <a:ln>
                  <a:noFill/>
                </a:ln>
                <a:solidFill>
                  <a:srgbClr val="3333CC"/>
                </a:solidFill>
                <a:effectLst/>
                <a:uLnTx/>
                <a:uFillTx/>
                <a:latin typeface="Arial" pitchFamily="34" charset="0"/>
                <a:ea typeface="黑体" pitchFamily="2" charset="-122"/>
              </a:rPr>
              <a:t>M</a:t>
            </a:r>
            <a:r>
              <a:rPr kumimoji="0" lang="en-US" altLang="zh-CN" sz="2000" b="1" i="0" u="none" strike="noStrike" kern="0" cap="none" spc="0" normalizeH="0" baseline="-25000" noProof="0">
                <a:ln>
                  <a:noFill/>
                </a:ln>
                <a:solidFill>
                  <a:srgbClr val="3333CC"/>
                </a:solidFill>
                <a:effectLst/>
                <a:uLnTx/>
                <a:uFillTx/>
                <a:latin typeface="Arial" pitchFamily="34" charset="0"/>
                <a:ea typeface="黑体" pitchFamily="2" charset="-122"/>
              </a:rPr>
              <a:t>4</a:t>
            </a:r>
            <a:r>
              <a:rPr kumimoji="0" lang="en-US" altLang="zh-CN" sz="2000" b="1" i="0" u="none" strike="noStrike" kern="0" cap="none" spc="0" normalizeH="0" baseline="0" noProof="0">
                <a:ln>
                  <a:noFill/>
                </a:ln>
                <a:solidFill>
                  <a:srgbClr val="3333CC"/>
                </a:solidFill>
                <a:effectLst/>
                <a:uLnTx/>
                <a:uFillTx/>
                <a:latin typeface="Arial" pitchFamily="34" charset="0"/>
                <a:ea typeface="黑体" pitchFamily="2" charset="-122"/>
              </a:rPr>
              <a:t>~M</a:t>
            </a:r>
            <a:r>
              <a:rPr kumimoji="0" lang="en-US" altLang="zh-CN" sz="2000" b="1" i="0" u="none" strike="noStrike" kern="0" cap="none" spc="0" normalizeH="0" baseline="-25000" noProof="0">
                <a:ln>
                  <a:noFill/>
                </a:ln>
                <a:solidFill>
                  <a:srgbClr val="3333CC"/>
                </a:solidFill>
                <a:effectLst/>
                <a:uLnTx/>
                <a:uFillTx/>
                <a:latin typeface="Arial" pitchFamily="34" charset="0"/>
                <a:ea typeface="黑体" pitchFamily="2" charset="-122"/>
              </a:rPr>
              <a:t>7 </a:t>
            </a:r>
            <a:endParaRPr kumimoji="0" lang="en-US" altLang="zh-CN" sz="2000" b="1" i="0" u="none" strike="noStrike" kern="0" cap="none" spc="0" normalizeH="0" baseline="0" noProof="0">
              <a:ln>
                <a:noFill/>
              </a:ln>
              <a:solidFill>
                <a:srgbClr val="3333CC"/>
              </a:solidFill>
              <a:effectLst/>
              <a:uLnTx/>
              <a:uFillTx/>
              <a:latin typeface="Arial" pitchFamily="34" charset="0"/>
              <a:ea typeface="黑体" pitchFamily="2" charset="-122"/>
            </a:endParaRPr>
          </a:p>
        </p:txBody>
      </p:sp>
      <p:sp>
        <p:nvSpPr>
          <p:cNvPr id="26" name="Line 24"/>
          <p:cNvSpPr>
            <a:spLocks noChangeShapeType="1"/>
          </p:cNvSpPr>
          <p:nvPr/>
        </p:nvSpPr>
        <p:spPr bwMode="auto">
          <a:xfrm flipH="1">
            <a:off x="3438971" y="4675188"/>
            <a:ext cx="3309938" cy="320675"/>
          </a:xfrm>
          <a:prstGeom prst="line">
            <a:avLst/>
          </a:prstGeom>
          <a:noFill/>
          <a:ln w="28575">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27" name="Line 25"/>
          <p:cNvSpPr>
            <a:spLocks noChangeShapeType="1"/>
          </p:cNvSpPr>
          <p:nvPr/>
        </p:nvSpPr>
        <p:spPr bwMode="auto">
          <a:xfrm flipH="1">
            <a:off x="3438971" y="4995863"/>
            <a:ext cx="3309938" cy="319087"/>
          </a:xfrm>
          <a:prstGeom prst="line">
            <a:avLst/>
          </a:prstGeom>
          <a:noFill/>
          <a:ln w="28575">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28" name="Line 26"/>
          <p:cNvSpPr>
            <a:spLocks noChangeShapeType="1"/>
          </p:cNvSpPr>
          <p:nvPr/>
        </p:nvSpPr>
        <p:spPr bwMode="auto">
          <a:xfrm flipH="1">
            <a:off x="3438971" y="5314950"/>
            <a:ext cx="3309938" cy="319088"/>
          </a:xfrm>
          <a:prstGeom prst="line">
            <a:avLst/>
          </a:prstGeom>
          <a:noFill/>
          <a:ln w="28575">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29" name="Text Box 27"/>
          <p:cNvSpPr txBox="1">
            <a:spLocks noChangeArrowheads="1"/>
          </p:cNvSpPr>
          <p:nvPr/>
        </p:nvSpPr>
        <p:spPr bwMode="auto">
          <a:xfrm>
            <a:off x="516384" y="1509713"/>
            <a:ext cx="1285875" cy="406400"/>
          </a:xfrm>
          <a:prstGeom prst="rect">
            <a:avLst/>
          </a:prstGeom>
          <a:solidFill>
            <a:srgbClr val="FFFF99"/>
          </a:solidFill>
          <a:ln>
            <a:noFill/>
          </a:ln>
          <a:effectLst>
            <a:outerShdw dist="35921" dir="2700000" algn="ctr" rotWithShape="0">
              <a:srgbClr val="1C1C1C"/>
            </a:outerShdw>
          </a:effectLst>
          <a:extLst>
            <a:ext uri="{91240B29-F687-4F45-9708-019B960494DF}">
              <a14:hiddenLine xmlns:a14="http://schemas.microsoft.com/office/drawing/2010/main" w="9525" algn="ctr">
                <a:solidFill>
                  <a:schemeClr val="tx1"/>
                </a:solidFill>
                <a:miter lim="800000"/>
                <a:headEnd/>
                <a:tailEnd/>
              </a14:hiddenLine>
            </a:ext>
          </a:extLst>
        </p:spPr>
        <p:txBody>
          <a:bodyPr wrap="none" anchor="ct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altLang="zh-CN" sz="2000" b="1" i="0" u="none" strike="noStrike" kern="0" cap="none" spc="0" normalizeH="0" baseline="0" noProof="0">
                <a:ln>
                  <a:noFill/>
                </a:ln>
                <a:solidFill>
                  <a:srgbClr val="3333CC"/>
                </a:solidFill>
                <a:effectLst/>
                <a:uLnTx/>
                <a:uFillTx/>
                <a:latin typeface="Arial" pitchFamily="34" charset="0"/>
                <a:ea typeface="黑体" pitchFamily="2" charset="-122"/>
              </a:rPr>
              <a:t>cwnd = 1 </a:t>
            </a:r>
          </a:p>
        </p:txBody>
      </p:sp>
      <p:sp>
        <p:nvSpPr>
          <p:cNvPr id="30" name="Text Box 28"/>
          <p:cNvSpPr txBox="1">
            <a:spLocks noChangeArrowheads="1"/>
          </p:cNvSpPr>
          <p:nvPr/>
        </p:nvSpPr>
        <p:spPr bwMode="auto">
          <a:xfrm>
            <a:off x="516384" y="2586038"/>
            <a:ext cx="1285875" cy="406400"/>
          </a:xfrm>
          <a:prstGeom prst="rect">
            <a:avLst/>
          </a:prstGeom>
          <a:solidFill>
            <a:srgbClr val="FFCCFF"/>
          </a:solidFill>
          <a:ln>
            <a:noFill/>
          </a:ln>
          <a:effectLst>
            <a:outerShdw dist="35921" dir="2700000" algn="ctr" rotWithShape="0">
              <a:srgbClr val="1C1C1C"/>
            </a:outerShdw>
          </a:effectLst>
          <a:extLst>
            <a:ext uri="{91240B29-F687-4F45-9708-019B960494DF}">
              <a14:hiddenLine xmlns:a14="http://schemas.microsoft.com/office/drawing/2010/main" w="9525" algn="ctr">
                <a:solidFill>
                  <a:schemeClr val="tx1"/>
                </a:solidFill>
                <a:miter lim="800000"/>
                <a:headEnd/>
                <a:tailEnd/>
              </a14:hiddenLine>
            </a:ext>
          </a:extLst>
        </p:spPr>
        <p:txBody>
          <a:bodyPr wrap="none" anchor="ct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altLang="zh-CN" sz="2000" b="1" i="0" u="none" strike="noStrike" kern="0" cap="none" spc="0" normalizeH="0" baseline="0" noProof="0">
                <a:ln>
                  <a:noFill/>
                </a:ln>
                <a:solidFill>
                  <a:srgbClr val="3333CC"/>
                </a:solidFill>
                <a:effectLst/>
                <a:uLnTx/>
                <a:uFillTx/>
                <a:latin typeface="Arial" pitchFamily="34" charset="0"/>
                <a:ea typeface="黑体" pitchFamily="2" charset="-122"/>
              </a:rPr>
              <a:t>cwnd = 2 </a:t>
            </a:r>
          </a:p>
        </p:txBody>
      </p:sp>
      <p:sp>
        <p:nvSpPr>
          <p:cNvPr id="31" name="Text Box 29"/>
          <p:cNvSpPr txBox="1">
            <a:spLocks noChangeArrowheads="1"/>
          </p:cNvSpPr>
          <p:nvPr/>
        </p:nvSpPr>
        <p:spPr bwMode="auto">
          <a:xfrm>
            <a:off x="516384" y="3679825"/>
            <a:ext cx="1285875" cy="406400"/>
          </a:xfrm>
          <a:prstGeom prst="rect">
            <a:avLst/>
          </a:prstGeom>
          <a:solidFill>
            <a:srgbClr val="99FF33"/>
          </a:solidFill>
          <a:ln>
            <a:noFill/>
          </a:ln>
          <a:effectLst>
            <a:outerShdw dist="35921" dir="2700000" algn="ctr" rotWithShape="0">
              <a:srgbClr val="1C1C1C"/>
            </a:outerShdw>
          </a:effectLst>
          <a:extLst>
            <a:ext uri="{91240B29-F687-4F45-9708-019B960494DF}">
              <a14:hiddenLine xmlns:a14="http://schemas.microsoft.com/office/drawing/2010/main" w="9525" algn="ctr">
                <a:solidFill>
                  <a:schemeClr val="tx1"/>
                </a:solidFill>
                <a:miter lim="800000"/>
                <a:headEnd/>
                <a:tailEnd/>
              </a14:hiddenLine>
            </a:ext>
          </a:extLst>
        </p:spPr>
        <p:txBody>
          <a:bodyPr wrap="none" anchor="ct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altLang="zh-CN" sz="2000" b="1" i="0" u="none" strike="noStrike" kern="0" cap="none" spc="0" normalizeH="0" baseline="0" noProof="0">
                <a:ln>
                  <a:noFill/>
                </a:ln>
                <a:solidFill>
                  <a:srgbClr val="3333CC"/>
                </a:solidFill>
                <a:effectLst/>
                <a:uLnTx/>
                <a:uFillTx/>
                <a:latin typeface="Arial" pitchFamily="34" charset="0"/>
                <a:ea typeface="黑体" pitchFamily="2" charset="-122"/>
              </a:rPr>
              <a:t>cwnd = 4 </a:t>
            </a:r>
          </a:p>
        </p:txBody>
      </p:sp>
      <p:sp>
        <p:nvSpPr>
          <p:cNvPr id="32" name="Text Box 30"/>
          <p:cNvSpPr txBox="1">
            <a:spLocks noChangeArrowheads="1"/>
          </p:cNvSpPr>
          <p:nvPr/>
        </p:nvSpPr>
        <p:spPr bwMode="auto">
          <a:xfrm>
            <a:off x="1811784" y="5661248"/>
            <a:ext cx="16113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zh-CN" altLang="en-US" sz="2000" b="1" i="0" u="none" strike="noStrike" kern="0" cap="none" spc="0" normalizeH="0" baseline="0" noProof="0">
                <a:ln>
                  <a:noFill/>
                </a:ln>
                <a:solidFill>
                  <a:srgbClr val="3333CC"/>
                </a:solidFill>
                <a:effectLst/>
                <a:uLnTx/>
                <a:uFillTx/>
                <a:latin typeface="Arial" pitchFamily="34" charset="0"/>
                <a:ea typeface="黑体" pitchFamily="2" charset="-122"/>
              </a:rPr>
              <a:t>发送 </a:t>
            </a:r>
            <a:r>
              <a:rPr kumimoji="0" lang="en-US" altLang="zh-CN" sz="2000" b="1" i="0" u="none" strike="noStrike" kern="0" cap="none" spc="0" normalizeH="0" baseline="0" noProof="0">
                <a:ln>
                  <a:noFill/>
                </a:ln>
                <a:solidFill>
                  <a:srgbClr val="3333CC"/>
                </a:solidFill>
                <a:effectLst/>
                <a:uLnTx/>
                <a:uFillTx/>
                <a:latin typeface="Arial" pitchFamily="34" charset="0"/>
                <a:ea typeface="黑体" pitchFamily="2" charset="-122"/>
              </a:rPr>
              <a:t>M</a:t>
            </a:r>
            <a:r>
              <a:rPr kumimoji="0" lang="en-US" altLang="zh-CN" sz="2000" b="1" i="0" u="none" strike="noStrike" kern="0" cap="none" spc="0" normalizeH="0" baseline="-25000" noProof="0">
                <a:ln>
                  <a:noFill/>
                </a:ln>
                <a:solidFill>
                  <a:srgbClr val="3333CC"/>
                </a:solidFill>
                <a:effectLst/>
                <a:uLnTx/>
                <a:uFillTx/>
                <a:latin typeface="Arial" pitchFamily="34" charset="0"/>
                <a:ea typeface="黑体" pitchFamily="2" charset="-122"/>
              </a:rPr>
              <a:t>8</a:t>
            </a:r>
            <a:r>
              <a:rPr kumimoji="0" lang="en-US" altLang="zh-CN" sz="2000" b="1" i="0" u="none" strike="noStrike" kern="0" cap="none" spc="0" normalizeH="0" baseline="0" noProof="0">
                <a:ln>
                  <a:noFill/>
                </a:ln>
                <a:solidFill>
                  <a:srgbClr val="3333CC"/>
                </a:solidFill>
                <a:effectLst/>
                <a:uLnTx/>
                <a:uFillTx/>
                <a:latin typeface="Arial" pitchFamily="34" charset="0"/>
                <a:ea typeface="黑体" pitchFamily="2" charset="-122"/>
              </a:rPr>
              <a:t>~M</a:t>
            </a:r>
            <a:r>
              <a:rPr kumimoji="0" lang="en-US" altLang="zh-CN" sz="2000" b="1" i="0" u="none" strike="noStrike" kern="0" cap="none" spc="0" normalizeH="0" baseline="-25000" noProof="0">
                <a:ln>
                  <a:noFill/>
                </a:ln>
                <a:solidFill>
                  <a:srgbClr val="3333CC"/>
                </a:solidFill>
                <a:effectLst/>
                <a:uLnTx/>
                <a:uFillTx/>
                <a:latin typeface="Arial" pitchFamily="34" charset="0"/>
                <a:ea typeface="黑体" pitchFamily="2" charset="-122"/>
              </a:rPr>
              <a:t>15</a:t>
            </a:r>
          </a:p>
        </p:txBody>
      </p:sp>
      <p:sp>
        <p:nvSpPr>
          <p:cNvPr id="33" name="Text Box 31"/>
          <p:cNvSpPr txBox="1">
            <a:spLocks noChangeArrowheads="1"/>
          </p:cNvSpPr>
          <p:nvPr/>
        </p:nvSpPr>
        <p:spPr bwMode="auto">
          <a:xfrm>
            <a:off x="516384" y="5661248"/>
            <a:ext cx="1331912" cy="396875"/>
          </a:xfrm>
          <a:prstGeom prst="rect">
            <a:avLst/>
          </a:prstGeom>
          <a:solidFill>
            <a:srgbClr val="CCECFF"/>
          </a:solidFill>
          <a:ln>
            <a:noFill/>
          </a:ln>
          <a:effectLst>
            <a:outerShdw dist="35921" dir="2700000" algn="ctr" rotWithShape="0">
              <a:srgbClr val="1C1C1C"/>
            </a:outerShdw>
          </a:effectLst>
          <a:extLst>
            <a:ext uri="{91240B29-F687-4F45-9708-019B960494DF}">
              <a14:hiddenLine xmlns:a14="http://schemas.microsoft.com/office/drawing/2010/main" w="9525">
                <a:solidFill>
                  <a:schemeClr val="folHlink"/>
                </a:solidFill>
                <a:miter lim="800000"/>
                <a:headEnd/>
                <a:tailEnd/>
              </a14:hiddenLine>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altLang="zh-CN" sz="2000" b="1" i="0" u="none" strike="noStrike" kern="0" cap="none" spc="0" normalizeH="0" baseline="0" noProof="0" dirty="0" err="1">
                <a:ln>
                  <a:noFill/>
                </a:ln>
                <a:solidFill>
                  <a:srgbClr val="3333CC"/>
                </a:solidFill>
                <a:effectLst/>
                <a:uLnTx/>
                <a:uFillTx/>
                <a:latin typeface="Arial" pitchFamily="34" charset="0"/>
                <a:ea typeface="黑体" pitchFamily="2" charset="-122"/>
              </a:rPr>
              <a:t>cwnd</a:t>
            </a:r>
            <a:r>
              <a:rPr kumimoji="0" lang="en-US" altLang="zh-CN" sz="2000" b="1" i="0" u="none" strike="noStrike" kern="0" cap="none" spc="0" normalizeH="0" baseline="0" noProof="0" dirty="0">
                <a:ln>
                  <a:noFill/>
                </a:ln>
                <a:solidFill>
                  <a:srgbClr val="3333CC"/>
                </a:solidFill>
                <a:effectLst/>
                <a:uLnTx/>
                <a:uFillTx/>
                <a:latin typeface="Arial" pitchFamily="34" charset="0"/>
                <a:ea typeface="黑体" pitchFamily="2" charset="-122"/>
              </a:rPr>
              <a:t> = 8 </a:t>
            </a:r>
          </a:p>
        </p:txBody>
      </p:sp>
      <p:sp>
        <p:nvSpPr>
          <p:cNvPr id="34" name="Text Box 32"/>
          <p:cNvSpPr txBox="1">
            <a:spLocks noChangeArrowheads="1"/>
          </p:cNvSpPr>
          <p:nvPr/>
        </p:nvSpPr>
        <p:spPr bwMode="auto">
          <a:xfrm rot="5400000">
            <a:off x="4915346" y="5994401"/>
            <a:ext cx="541337"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altLang="zh-CN" sz="2800" b="1" i="0" u="none" strike="noStrike" kern="0" cap="none" spc="0" normalizeH="0" baseline="0" noProof="0">
                <a:ln>
                  <a:noFill/>
                </a:ln>
                <a:solidFill>
                  <a:srgbClr val="3333CC"/>
                </a:solidFill>
                <a:effectLst/>
                <a:uLnTx/>
                <a:uFillTx/>
                <a:latin typeface="Arial" pitchFamily="34" charset="0"/>
                <a:ea typeface="黑体" pitchFamily="2" charset="-122"/>
              </a:rPr>
              <a:t>…</a:t>
            </a:r>
          </a:p>
        </p:txBody>
      </p:sp>
      <p:sp>
        <p:nvSpPr>
          <p:cNvPr id="35" name="Line 33"/>
          <p:cNvSpPr>
            <a:spLocks noChangeShapeType="1"/>
          </p:cNvSpPr>
          <p:nvPr/>
        </p:nvSpPr>
        <p:spPr bwMode="auto">
          <a:xfrm>
            <a:off x="3438971" y="3932238"/>
            <a:ext cx="3309938" cy="319087"/>
          </a:xfrm>
          <a:prstGeom prst="line">
            <a:avLst/>
          </a:prstGeom>
          <a:noFill/>
          <a:ln w="28575">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36" name="Line 34"/>
          <p:cNvSpPr>
            <a:spLocks noChangeShapeType="1"/>
          </p:cNvSpPr>
          <p:nvPr/>
        </p:nvSpPr>
        <p:spPr bwMode="auto">
          <a:xfrm>
            <a:off x="3438971" y="4251325"/>
            <a:ext cx="3309938" cy="319088"/>
          </a:xfrm>
          <a:prstGeom prst="line">
            <a:avLst/>
          </a:prstGeom>
          <a:noFill/>
          <a:ln w="28575">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37" name="Line 35"/>
          <p:cNvSpPr>
            <a:spLocks noChangeShapeType="1"/>
          </p:cNvSpPr>
          <p:nvPr/>
        </p:nvSpPr>
        <p:spPr bwMode="auto">
          <a:xfrm>
            <a:off x="3438971" y="4570413"/>
            <a:ext cx="3309938" cy="319087"/>
          </a:xfrm>
          <a:prstGeom prst="line">
            <a:avLst/>
          </a:prstGeom>
          <a:noFill/>
          <a:ln w="28575">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38" name="Line 36"/>
          <p:cNvSpPr>
            <a:spLocks noChangeShapeType="1"/>
          </p:cNvSpPr>
          <p:nvPr/>
        </p:nvSpPr>
        <p:spPr bwMode="auto">
          <a:xfrm>
            <a:off x="3438971" y="4889500"/>
            <a:ext cx="3309938" cy="319088"/>
          </a:xfrm>
          <a:prstGeom prst="line">
            <a:avLst/>
          </a:prstGeom>
          <a:noFill/>
          <a:ln w="28575">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39" name="Text Box 39"/>
          <p:cNvSpPr txBox="1">
            <a:spLocks noChangeArrowheads="1"/>
          </p:cNvSpPr>
          <p:nvPr/>
        </p:nvSpPr>
        <p:spPr bwMode="auto">
          <a:xfrm>
            <a:off x="1352600" y="106363"/>
            <a:ext cx="6994921" cy="955675"/>
          </a:xfrm>
          <a:prstGeom prst="rect">
            <a:avLst/>
          </a:prstGeom>
          <a:solidFill>
            <a:srgbClr val="FFFF66"/>
          </a:solidFill>
          <a:ln w="9525">
            <a:solidFill>
              <a:srgbClr val="3333CC"/>
            </a:solidFill>
            <a:miter lim="800000"/>
            <a:headEnd/>
            <a:tailEnd/>
          </a:ln>
          <a:effectLst>
            <a:outerShdw dist="35921" dir="2700000" algn="ctr" rotWithShape="0">
              <a:srgbClr val="1C1C1C"/>
            </a:outerShdw>
          </a:effectLst>
        </p:spPr>
        <p:txBody>
          <a:bodyPr wrap="squar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2800" b="1" i="0" u="none" strike="noStrike" kern="0" cap="none" spc="0" normalizeH="0" baseline="0" noProof="0" dirty="0">
                <a:ln>
                  <a:noFill/>
                </a:ln>
                <a:solidFill>
                  <a:srgbClr val="000099"/>
                </a:solidFill>
                <a:effectLst/>
                <a:uLnTx/>
                <a:uFillTx/>
                <a:latin typeface="Arial" pitchFamily="34" charset="0"/>
                <a:ea typeface="黑体" pitchFamily="2" charset="-122"/>
              </a:rPr>
              <a:t>发送方每收到一个对新报文段的确认</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2800" b="1" i="0" u="none" strike="noStrike" kern="0" cap="none" spc="0" normalizeH="0" baseline="0" noProof="0" dirty="0">
                <a:ln>
                  <a:noFill/>
                </a:ln>
                <a:solidFill>
                  <a:srgbClr val="000099"/>
                </a:solidFill>
                <a:effectLst/>
                <a:uLnTx/>
                <a:uFillTx/>
                <a:latin typeface="Arial" pitchFamily="34" charset="0"/>
                <a:ea typeface="黑体" pitchFamily="2" charset="-122"/>
              </a:rPr>
              <a:t>（重传的不算在内）就使 </a:t>
            </a:r>
            <a:r>
              <a:rPr kumimoji="0" lang="en-US" altLang="zh-CN" sz="2800" b="1" i="0" u="none" strike="noStrike" kern="0" cap="none" spc="0" normalizeH="0" baseline="0" noProof="0" dirty="0" err="1">
                <a:ln>
                  <a:noFill/>
                </a:ln>
                <a:solidFill>
                  <a:srgbClr val="000099"/>
                </a:solidFill>
                <a:effectLst/>
                <a:uLnTx/>
                <a:uFillTx/>
                <a:latin typeface="Arial" pitchFamily="34" charset="0"/>
                <a:ea typeface="黑体" pitchFamily="2" charset="-122"/>
              </a:rPr>
              <a:t>cwnd</a:t>
            </a:r>
            <a:r>
              <a:rPr kumimoji="0" lang="en-US" altLang="zh-CN" sz="2800" b="1" i="0" u="none" strike="noStrike" kern="0" cap="none" spc="0" normalizeH="0" baseline="0" noProof="0" dirty="0">
                <a:ln>
                  <a:noFill/>
                </a:ln>
                <a:solidFill>
                  <a:srgbClr val="000099"/>
                </a:solidFill>
                <a:effectLst/>
                <a:uLnTx/>
                <a:uFillTx/>
                <a:latin typeface="Arial" pitchFamily="34" charset="0"/>
                <a:ea typeface="黑体" pitchFamily="2" charset="-122"/>
              </a:rPr>
              <a:t> </a:t>
            </a:r>
            <a:r>
              <a:rPr kumimoji="0" lang="zh-CN" altLang="en-US" sz="2800" b="1" i="0" u="none" strike="noStrike" kern="0" cap="none" spc="0" normalizeH="0" baseline="0" noProof="0" dirty="0">
                <a:ln>
                  <a:noFill/>
                </a:ln>
                <a:solidFill>
                  <a:srgbClr val="000099"/>
                </a:solidFill>
                <a:effectLst/>
                <a:uLnTx/>
                <a:uFillTx/>
                <a:latin typeface="Arial" pitchFamily="34" charset="0"/>
                <a:ea typeface="黑体" pitchFamily="2" charset="-122"/>
              </a:rPr>
              <a:t>加 </a:t>
            </a:r>
            <a:r>
              <a:rPr kumimoji="0" lang="en-US" altLang="zh-CN" sz="2800" b="1" i="0" u="none" strike="noStrike" kern="0" cap="none" spc="0" normalizeH="0" baseline="0" noProof="0" dirty="0">
                <a:ln>
                  <a:noFill/>
                </a:ln>
                <a:solidFill>
                  <a:srgbClr val="000099"/>
                </a:solidFill>
                <a:effectLst/>
                <a:uLnTx/>
                <a:uFillTx/>
                <a:latin typeface="Arial" pitchFamily="34" charset="0"/>
                <a:ea typeface="黑体" pitchFamily="2" charset="-122"/>
              </a:rPr>
              <a:t>1</a:t>
            </a:r>
            <a:r>
              <a:rPr kumimoji="0" lang="zh-CN" altLang="en-US" sz="2800" b="1" i="0" u="none" strike="noStrike" kern="0" cap="none" spc="0" normalizeH="0" baseline="0" noProof="0" dirty="0">
                <a:ln>
                  <a:noFill/>
                </a:ln>
                <a:solidFill>
                  <a:srgbClr val="000099"/>
                </a:solidFill>
                <a:effectLst/>
                <a:uLnTx/>
                <a:uFillTx/>
                <a:latin typeface="Arial" pitchFamily="34" charset="0"/>
                <a:ea typeface="黑体" pitchFamily="2" charset="-122"/>
              </a:rPr>
              <a:t>。 </a:t>
            </a:r>
          </a:p>
        </p:txBody>
      </p:sp>
      <p:sp>
        <p:nvSpPr>
          <p:cNvPr id="40" name="Text Box 40"/>
          <p:cNvSpPr txBox="1">
            <a:spLocks noChangeArrowheads="1"/>
          </p:cNvSpPr>
          <p:nvPr/>
        </p:nvSpPr>
        <p:spPr bwMode="auto">
          <a:xfrm>
            <a:off x="8364984" y="1930400"/>
            <a:ext cx="906462" cy="396875"/>
          </a:xfrm>
          <a:prstGeom prst="rect">
            <a:avLst/>
          </a:prstGeom>
          <a:solidFill>
            <a:srgbClr val="CCECFF"/>
          </a:solidFill>
          <a:ln>
            <a:noFill/>
          </a:ln>
          <a:effectLst>
            <a:outerShdw dist="35921" dir="2700000" algn="ctr" rotWithShape="0">
              <a:srgbClr val="1C1C1C"/>
            </a:outerShdw>
          </a:effectLst>
          <a:extLst>
            <a:ext uri="{91240B29-F687-4F45-9708-019B960494DF}">
              <a14:hiddenLine xmlns:a14="http://schemas.microsoft.com/office/drawing/2010/main" w="9525">
                <a:solidFill>
                  <a:srgbClr val="99CCFF"/>
                </a:solidFill>
                <a:miter lim="800000"/>
                <a:headEnd/>
                <a:tailEnd/>
              </a14:hiddenLine>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zh-CN" altLang="en-US" sz="2000" b="1" i="0" u="none" strike="noStrike" kern="0" cap="none" spc="0" normalizeH="0" baseline="0" noProof="0">
                <a:ln>
                  <a:noFill/>
                </a:ln>
                <a:solidFill>
                  <a:srgbClr val="3333CC"/>
                </a:solidFill>
                <a:effectLst/>
                <a:uLnTx/>
                <a:uFillTx/>
                <a:latin typeface="Arial" pitchFamily="34" charset="0"/>
                <a:ea typeface="黑体" pitchFamily="2" charset="-122"/>
              </a:rPr>
              <a:t>轮次 </a:t>
            </a:r>
            <a:r>
              <a:rPr kumimoji="0" lang="en-US" altLang="zh-CN" sz="2000" b="1" i="0" u="none" strike="noStrike" kern="0" cap="none" spc="0" normalizeH="0" baseline="0" noProof="0">
                <a:ln>
                  <a:noFill/>
                </a:ln>
                <a:solidFill>
                  <a:srgbClr val="3333CC"/>
                </a:solidFill>
                <a:effectLst/>
                <a:uLnTx/>
                <a:uFillTx/>
                <a:latin typeface="Arial" pitchFamily="34" charset="0"/>
                <a:ea typeface="黑体" pitchFamily="2" charset="-122"/>
              </a:rPr>
              <a:t>1</a:t>
            </a:r>
          </a:p>
        </p:txBody>
      </p:sp>
      <p:sp>
        <p:nvSpPr>
          <p:cNvPr id="41" name="Text Box 41"/>
          <p:cNvSpPr txBox="1">
            <a:spLocks noChangeArrowheads="1"/>
          </p:cNvSpPr>
          <p:nvPr/>
        </p:nvSpPr>
        <p:spPr bwMode="auto">
          <a:xfrm>
            <a:off x="8364984" y="2960688"/>
            <a:ext cx="906462" cy="396875"/>
          </a:xfrm>
          <a:prstGeom prst="rect">
            <a:avLst/>
          </a:prstGeom>
          <a:solidFill>
            <a:srgbClr val="CCECFF"/>
          </a:solidFill>
          <a:ln>
            <a:noFill/>
          </a:ln>
          <a:effectLst>
            <a:outerShdw dist="35921" dir="2700000" algn="ctr" rotWithShape="0">
              <a:srgbClr val="1C1C1C"/>
            </a:outerShdw>
          </a:effectLst>
          <a:extLst>
            <a:ext uri="{91240B29-F687-4F45-9708-019B960494DF}">
              <a14:hiddenLine xmlns:a14="http://schemas.microsoft.com/office/drawing/2010/main" w="9525">
                <a:solidFill>
                  <a:srgbClr val="99CCFF"/>
                </a:solidFill>
                <a:miter lim="800000"/>
                <a:headEnd/>
                <a:tailEnd/>
              </a14:hiddenLine>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zh-CN" altLang="en-US" sz="2000" b="1" i="0" u="none" strike="noStrike" kern="0" cap="none" spc="0" normalizeH="0" baseline="0" noProof="0">
                <a:ln>
                  <a:noFill/>
                </a:ln>
                <a:solidFill>
                  <a:srgbClr val="3333CC"/>
                </a:solidFill>
                <a:effectLst/>
                <a:uLnTx/>
                <a:uFillTx/>
                <a:latin typeface="Arial" pitchFamily="34" charset="0"/>
                <a:ea typeface="黑体" pitchFamily="2" charset="-122"/>
              </a:rPr>
              <a:t>轮次 </a:t>
            </a:r>
            <a:r>
              <a:rPr kumimoji="0" lang="en-US" altLang="zh-CN" sz="2000" b="1" i="0" u="none" strike="noStrike" kern="0" cap="none" spc="0" normalizeH="0" baseline="0" noProof="0">
                <a:ln>
                  <a:noFill/>
                </a:ln>
                <a:solidFill>
                  <a:srgbClr val="3333CC"/>
                </a:solidFill>
                <a:effectLst/>
                <a:uLnTx/>
                <a:uFillTx/>
                <a:latin typeface="Arial" pitchFamily="34" charset="0"/>
                <a:ea typeface="黑体" pitchFamily="2" charset="-122"/>
              </a:rPr>
              <a:t>2</a:t>
            </a:r>
          </a:p>
        </p:txBody>
      </p:sp>
      <p:sp>
        <p:nvSpPr>
          <p:cNvPr id="42" name="Text Box 42"/>
          <p:cNvSpPr txBox="1">
            <a:spLocks noChangeArrowheads="1"/>
          </p:cNvSpPr>
          <p:nvPr/>
        </p:nvSpPr>
        <p:spPr bwMode="auto">
          <a:xfrm>
            <a:off x="8364984" y="4616450"/>
            <a:ext cx="906462" cy="396875"/>
          </a:xfrm>
          <a:prstGeom prst="rect">
            <a:avLst/>
          </a:prstGeom>
          <a:solidFill>
            <a:srgbClr val="CCECFF"/>
          </a:solidFill>
          <a:ln>
            <a:noFill/>
          </a:ln>
          <a:effectLst>
            <a:outerShdw dist="35921" dir="2700000" algn="ctr" rotWithShape="0">
              <a:srgbClr val="1C1C1C"/>
            </a:outerShdw>
          </a:effectLst>
          <a:extLst>
            <a:ext uri="{91240B29-F687-4F45-9708-019B960494DF}">
              <a14:hiddenLine xmlns:a14="http://schemas.microsoft.com/office/drawing/2010/main" w="9525">
                <a:solidFill>
                  <a:srgbClr val="99CCFF"/>
                </a:solidFill>
                <a:miter lim="800000"/>
                <a:headEnd/>
                <a:tailEnd/>
              </a14:hiddenLine>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zh-CN" altLang="en-US" sz="2000" b="1" i="0" u="none" strike="noStrike" kern="0" cap="none" spc="0" normalizeH="0" baseline="0" noProof="0">
                <a:ln>
                  <a:noFill/>
                </a:ln>
                <a:solidFill>
                  <a:srgbClr val="3333CC"/>
                </a:solidFill>
                <a:effectLst/>
                <a:uLnTx/>
                <a:uFillTx/>
                <a:latin typeface="Arial" pitchFamily="34" charset="0"/>
                <a:ea typeface="黑体" pitchFamily="2" charset="-122"/>
              </a:rPr>
              <a:t>轮次 </a:t>
            </a:r>
            <a:r>
              <a:rPr kumimoji="0" lang="en-US" altLang="zh-CN" sz="2000" b="1" i="0" u="none" strike="noStrike" kern="0" cap="none" spc="0" normalizeH="0" baseline="0" noProof="0">
                <a:ln>
                  <a:noFill/>
                </a:ln>
                <a:solidFill>
                  <a:srgbClr val="3333CC"/>
                </a:solidFill>
                <a:effectLst/>
                <a:uLnTx/>
                <a:uFillTx/>
                <a:latin typeface="Arial" pitchFamily="34" charset="0"/>
                <a:ea typeface="黑体" pitchFamily="2" charset="-122"/>
              </a:rPr>
              <a:t>3</a:t>
            </a:r>
          </a:p>
        </p:txBody>
      </p:sp>
      <p:sp>
        <p:nvSpPr>
          <p:cNvPr id="43" name="Text Box 43"/>
          <p:cNvSpPr txBox="1">
            <a:spLocks noChangeArrowheads="1"/>
          </p:cNvSpPr>
          <p:nvPr/>
        </p:nvSpPr>
        <p:spPr bwMode="auto">
          <a:xfrm>
            <a:off x="516384" y="4865228"/>
            <a:ext cx="2780432" cy="707886"/>
          </a:xfrm>
          <a:prstGeom prst="rect">
            <a:avLst/>
          </a:prstGeom>
          <a:solidFill>
            <a:srgbClr val="FFCF01"/>
          </a:solidFill>
          <a:ln w="19050">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1" lang="zh-CN" altLang="en-US" sz="2000" b="1" i="0" u="none" strike="noStrike" kern="0" cap="none" spc="0" normalizeH="0" baseline="0" noProof="0" dirty="0">
                <a:ln>
                  <a:noFill/>
                </a:ln>
                <a:solidFill>
                  <a:srgbClr val="000000"/>
                </a:solidFill>
                <a:effectLst/>
                <a:uLnTx/>
                <a:uFillTx/>
                <a:latin typeface="Tahoma" pitchFamily="34" charset="0"/>
                <a:ea typeface="黑体" pitchFamily="2" charset="-122"/>
              </a:rPr>
              <a:t>窗口大小按指数增加，不慢！</a:t>
            </a:r>
          </a:p>
        </p:txBody>
      </p:sp>
      <p:sp>
        <p:nvSpPr>
          <p:cNvPr id="44" name="矩形 43"/>
          <p:cNvSpPr/>
          <p:nvPr/>
        </p:nvSpPr>
        <p:spPr>
          <a:xfrm>
            <a:off x="516384" y="4149080"/>
            <a:ext cx="2780432" cy="707886"/>
          </a:xfrm>
          <a:prstGeom prst="rect">
            <a:avLst/>
          </a:prstGeom>
          <a:solidFill>
            <a:srgbClr val="000099"/>
          </a:solidFill>
          <a:ln w="19050">
            <a:solidFill>
              <a:srgbClr val="333399"/>
            </a:solidFill>
            <a:miter lim="800000"/>
            <a:headEnd/>
            <a:tailEnd/>
          </a:ln>
          <a:effectLst/>
        </p:spPr>
        <p:txBody>
          <a:bodyPr wrap="square">
            <a:spAutoFit/>
          </a:bodyPr>
          <a:lstStyle/>
          <a:p>
            <a:pPr eaLnBrk="1" fontAlgn="auto" hangingPunct="1">
              <a:spcBef>
                <a:spcPts val="0"/>
              </a:spcBef>
              <a:spcAft>
                <a:spcPts val="0"/>
              </a:spcAft>
            </a:pPr>
            <a:r>
              <a:rPr kumimoji="1" lang="zh-CN" altLang="zh-CN" sz="2000" b="1" kern="0" dirty="0">
                <a:solidFill>
                  <a:schemeClr val="bg1"/>
                </a:solidFill>
                <a:latin typeface="Tahoma" pitchFamily="34" charset="0"/>
                <a:ea typeface="黑体" pitchFamily="2" charset="-122"/>
              </a:rPr>
              <a:t>每经过一个传输轮次，拥塞窗口就加倍。</a:t>
            </a:r>
            <a:endParaRPr kumimoji="1" lang="zh-CN" altLang="en-US" sz="2000" b="1" kern="0" dirty="0">
              <a:solidFill>
                <a:schemeClr val="bg1"/>
              </a:solidFill>
              <a:latin typeface="Tahoma" pitchFamily="34" charset="0"/>
              <a:ea typeface="黑体" pitchFamily="2" charset="-122"/>
            </a:endParaRPr>
          </a:p>
        </p:txBody>
      </p:sp>
    </p:spTree>
    <p:extLst>
      <p:ext uri="{BB962C8B-B14F-4D97-AF65-F5344CB8AC3E}">
        <p14:creationId xmlns:p14="http://schemas.microsoft.com/office/powerpoint/2010/main" val="417978211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42" name="Rectangle 2"/>
          <p:cNvSpPr>
            <a:spLocks noGrp="1" noChangeArrowheads="1"/>
          </p:cNvSpPr>
          <p:nvPr>
            <p:ph type="title"/>
          </p:nvPr>
        </p:nvSpPr>
        <p:spPr/>
        <p:txBody>
          <a:bodyPr/>
          <a:lstStyle/>
          <a:p>
            <a:pPr algn="ctr"/>
            <a:r>
              <a:rPr lang="zh-CN" altLang="en-US" dirty="0"/>
              <a:t>传输轮次</a:t>
            </a:r>
            <a:endParaRPr lang="en-US" altLang="zh-CN" dirty="0"/>
          </a:p>
        </p:txBody>
      </p:sp>
      <p:sp>
        <p:nvSpPr>
          <p:cNvPr id="778243" name="Rectangle 3"/>
          <p:cNvSpPr>
            <a:spLocks noGrp="1" noChangeArrowheads="1"/>
          </p:cNvSpPr>
          <p:nvPr>
            <p:ph idx="1"/>
          </p:nvPr>
        </p:nvSpPr>
        <p:spPr/>
        <p:txBody>
          <a:bodyPr/>
          <a:lstStyle/>
          <a:p>
            <a:r>
              <a:rPr lang="zh-CN" altLang="en-US" sz="2800" dirty="0"/>
              <a:t>使用慢开始算法后，每经过一个</a:t>
            </a:r>
            <a:r>
              <a:rPr lang="zh-CN" altLang="en-US" sz="2800" dirty="0">
                <a:solidFill>
                  <a:srgbClr val="FF0000"/>
                </a:solidFill>
              </a:rPr>
              <a:t>传输轮次 </a:t>
            </a:r>
            <a:r>
              <a:rPr lang="en-US" altLang="zh-CN" sz="2800" dirty="0"/>
              <a:t>(transmission round)</a:t>
            </a:r>
            <a:r>
              <a:rPr lang="zh-CN" altLang="en-US" sz="2800" dirty="0"/>
              <a:t>，拥塞窗口 </a:t>
            </a:r>
            <a:r>
              <a:rPr lang="en-US" altLang="zh-CN" sz="2800" dirty="0" err="1"/>
              <a:t>cwnd</a:t>
            </a:r>
            <a:r>
              <a:rPr lang="en-US" altLang="zh-CN" sz="2800" dirty="0"/>
              <a:t> </a:t>
            </a:r>
            <a:r>
              <a:rPr lang="zh-CN" altLang="en-US" sz="2800" dirty="0"/>
              <a:t>就加倍。 </a:t>
            </a:r>
          </a:p>
          <a:p>
            <a:r>
              <a:rPr lang="zh-CN" altLang="en-US" sz="2800" dirty="0"/>
              <a:t>一个传输轮次所经历的时间其实就是往返时间 </a:t>
            </a:r>
            <a:r>
              <a:rPr lang="en-US" altLang="zh-CN" sz="2800" dirty="0"/>
              <a:t>RTT</a:t>
            </a:r>
            <a:r>
              <a:rPr lang="zh-CN" altLang="en-US" sz="2800" dirty="0"/>
              <a:t>。</a:t>
            </a:r>
          </a:p>
          <a:p>
            <a:r>
              <a:rPr lang="zh-CN" altLang="en-US" sz="2800" dirty="0"/>
              <a:t>“</a:t>
            </a:r>
            <a:r>
              <a:rPr lang="zh-CN" altLang="en-US" sz="2800" dirty="0">
                <a:solidFill>
                  <a:srgbClr val="FF0000"/>
                </a:solidFill>
              </a:rPr>
              <a:t>传输轮次</a:t>
            </a:r>
            <a:r>
              <a:rPr lang="zh-CN" altLang="en-US" sz="2800" dirty="0"/>
              <a:t>”更加强调：把拥塞窗口 </a:t>
            </a:r>
            <a:r>
              <a:rPr lang="en-US" altLang="zh-CN" sz="2800" dirty="0" err="1"/>
              <a:t>cwnd</a:t>
            </a:r>
            <a:r>
              <a:rPr lang="en-US" altLang="zh-CN" sz="2800" dirty="0"/>
              <a:t> </a:t>
            </a:r>
            <a:r>
              <a:rPr lang="zh-CN" altLang="en-US" sz="2800" dirty="0"/>
              <a:t>所允许发送的报文段都连续发送出去，并收到了对已发送的最后一个字节的确认。</a:t>
            </a:r>
          </a:p>
          <a:p>
            <a:r>
              <a:rPr lang="zh-CN" altLang="en-US" sz="2800" dirty="0"/>
              <a:t>例如，拥塞窗口 </a:t>
            </a:r>
            <a:r>
              <a:rPr lang="en-US" altLang="zh-CN" sz="2800" dirty="0" err="1"/>
              <a:t>cwnd</a:t>
            </a:r>
            <a:r>
              <a:rPr lang="en-US" altLang="zh-CN" sz="2800" dirty="0"/>
              <a:t> = 4</a:t>
            </a:r>
            <a:r>
              <a:rPr lang="zh-CN" altLang="en-US" sz="2800" dirty="0"/>
              <a:t>，这时的往返时间 </a:t>
            </a:r>
            <a:r>
              <a:rPr lang="en-US" altLang="zh-CN" sz="2800" dirty="0"/>
              <a:t>RTT </a:t>
            </a:r>
            <a:r>
              <a:rPr lang="zh-CN" altLang="en-US" sz="2800" dirty="0"/>
              <a:t>就是发送方连续发送 </a:t>
            </a:r>
            <a:r>
              <a:rPr lang="en-US" altLang="zh-CN" sz="2800" dirty="0"/>
              <a:t>4 </a:t>
            </a:r>
            <a:r>
              <a:rPr lang="zh-CN" altLang="en-US" sz="2800" dirty="0"/>
              <a:t>个报文段，并收到这 </a:t>
            </a:r>
            <a:r>
              <a:rPr lang="en-US" altLang="zh-CN" sz="2800" dirty="0"/>
              <a:t>4 </a:t>
            </a:r>
            <a:r>
              <a:rPr lang="zh-CN" altLang="en-US" sz="2800" dirty="0"/>
              <a:t>个报文段的确认，总共经历的时间。 </a:t>
            </a:r>
          </a:p>
        </p:txBody>
      </p:sp>
    </p:spTree>
    <p:extLst>
      <p:ext uri="{BB962C8B-B14F-4D97-AF65-F5344CB8AC3E}">
        <p14:creationId xmlns:p14="http://schemas.microsoft.com/office/powerpoint/2010/main" val="345417183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9266" name="Rectangle 2"/>
          <p:cNvSpPr>
            <a:spLocks noGrp="1" noChangeArrowheads="1"/>
          </p:cNvSpPr>
          <p:nvPr>
            <p:ph type="title"/>
          </p:nvPr>
        </p:nvSpPr>
        <p:spPr>
          <a:xfrm>
            <a:off x="495300" y="188640"/>
            <a:ext cx="8562156" cy="792088"/>
          </a:xfrm>
        </p:spPr>
        <p:txBody>
          <a:bodyPr/>
          <a:lstStyle/>
          <a:p>
            <a:pPr algn="ctr"/>
            <a:r>
              <a:rPr lang="zh-CN" altLang="en-US" sz="4000" dirty="0"/>
              <a:t>设置慢开始门限状态变量 </a:t>
            </a:r>
            <a:r>
              <a:rPr lang="en-US" altLang="zh-CN" sz="4000" dirty="0" err="1"/>
              <a:t>ssthresh</a:t>
            </a:r>
            <a:endParaRPr lang="en-US" altLang="zh-CN" sz="4000" dirty="0"/>
          </a:p>
        </p:txBody>
      </p:sp>
      <p:sp>
        <p:nvSpPr>
          <p:cNvPr id="779267" name="Rectangle 3"/>
          <p:cNvSpPr>
            <a:spLocks noGrp="1" noChangeArrowheads="1"/>
          </p:cNvSpPr>
          <p:nvPr>
            <p:ph idx="1"/>
          </p:nvPr>
        </p:nvSpPr>
        <p:spPr/>
        <p:txBody>
          <a:bodyPr/>
          <a:lstStyle/>
          <a:p>
            <a:r>
              <a:rPr lang="zh-CN" altLang="en-US" dirty="0"/>
              <a:t>慢开始门限 </a:t>
            </a:r>
            <a:r>
              <a:rPr lang="en-US" altLang="zh-CN" dirty="0" err="1"/>
              <a:t>ssthresh</a:t>
            </a:r>
            <a:r>
              <a:rPr lang="en-US" altLang="zh-CN" dirty="0"/>
              <a:t> </a:t>
            </a:r>
            <a:r>
              <a:rPr lang="zh-CN" altLang="en-US" dirty="0"/>
              <a:t>的用法如下：</a:t>
            </a:r>
          </a:p>
          <a:p>
            <a:pPr lvl="1"/>
            <a:r>
              <a:rPr lang="zh-CN" altLang="en-US" dirty="0"/>
              <a:t>当 </a:t>
            </a:r>
            <a:r>
              <a:rPr lang="en-US" altLang="zh-CN" dirty="0" err="1"/>
              <a:t>cwnd</a:t>
            </a:r>
            <a:r>
              <a:rPr lang="en-US" altLang="zh-CN" dirty="0"/>
              <a:t> &lt; </a:t>
            </a:r>
            <a:r>
              <a:rPr lang="en-US" altLang="zh-CN" dirty="0" err="1"/>
              <a:t>ssthresh</a:t>
            </a:r>
            <a:r>
              <a:rPr lang="en-US" altLang="zh-CN" dirty="0"/>
              <a:t> </a:t>
            </a:r>
            <a:r>
              <a:rPr lang="zh-CN" altLang="en-US" dirty="0"/>
              <a:t>时，使用慢开始算法。</a:t>
            </a:r>
          </a:p>
          <a:p>
            <a:pPr lvl="1"/>
            <a:r>
              <a:rPr lang="zh-CN" altLang="en-US" dirty="0"/>
              <a:t>当 </a:t>
            </a:r>
            <a:r>
              <a:rPr lang="en-US" altLang="zh-CN" dirty="0" err="1"/>
              <a:t>cwnd</a:t>
            </a:r>
            <a:r>
              <a:rPr lang="en-US" altLang="zh-CN" dirty="0"/>
              <a:t> &gt; </a:t>
            </a:r>
            <a:r>
              <a:rPr lang="en-US" altLang="zh-CN" dirty="0" err="1"/>
              <a:t>ssthresh</a:t>
            </a:r>
            <a:r>
              <a:rPr lang="en-US" altLang="zh-CN" dirty="0"/>
              <a:t> </a:t>
            </a:r>
            <a:r>
              <a:rPr lang="zh-CN" altLang="en-US" dirty="0"/>
              <a:t>时，停止使用慢开始算法而改用</a:t>
            </a:r>
            <a:r>
              <a:rPr lang="zh-CN" altLang="en-US" dirty="0">
                <a:solidFill>
                  <a:srgbClr val="FF0000"/>
                </a:solidFill>
              </a:rPr>
              <a:t>拥塞避免算法。</a:t>
            </a:r>
          </a:p>
          <a:p>
            <a:pPr lvl="1"/>
            <a:r>
              <a:rPr lang="zh-CN" altLang="en-US" dirty="0"/>
              <a:t>当 </a:t>
            </a:r>
            <a:r>
              <a:rPr lang="en-US" altLang="zh-CN" dirty="0" err="1"/>
              <a:t>cwnd</a:t>
            </a:r>
            <a:r>
              <a:rPr lang="en-US" altLang="zh-CN" dirty="0"/>
              <a:t> = </a:t>
            </a:r>
            <a:r>
              <a:rPr lang="en-US" altLang="zh-CN" dirty="0" err="1"/>
              <a:t>ssthresh</a:t>
            </a:r>
            <a:r>
              <a:rPr lang="en-US" altLang="zh-CN" dirty="0"/>
              <a:t> </a:t>
            </a:r>
            <a:r>
              <a:rPr lang="zh-CN" altLang="en-US" dirty="0"/>
              <a:t>时，既可使用慢开始算法，也可使用拥塞避免算法。</a:t>
            </a:r>
          </a:p>
        </p:txBody>
      </p:sp>
    </p:spTree>
    <p:extLst>
      <p:ext uri="{BB962C8B-B14F-4D97-AF65-F5344CB8AC3E}">
        <p14:creationId xmlns:p14="http://schemas.microsoft.com/office/powerpoint/2010/main" val="14919844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9266" name="Rectangle 2"/>
          <p:cNvSpPr>
            <a:spLocks noGrp="1" noChangeArrowheads="1"/>
          </p:cNvSpPr>
          <p:nvPr>
            <p:ph type="title"/>
          </p:nvPr>
        </p:nvSpPr>
        <p:spPr/>
        <p:txBody>
          <a:bodyPr/>
          <a:lstStyle/>
          <a:p>
            <a:pPr algn="ctr"/>
            <a:r>
              <a:rPr lang="zh-CN" altLang="en-US" dirty="0"/>
              <a:t>拥塞避免算法</a:t>
            </a:r>
            <a:endParaRPr lang="en-US" altLang="zh-CN" dirty="0"/>
          </a:p>
        </p:txBody>
      </p:sp>
      <p:sp>
        <p:nvSpPr>
          <p:cNvPr id="779267" name="Rectangle 3"/>
          <p:cNvSpPr>
            <a:spLocks noGrp="1" noChangeArrowheads="1"/>
          </p:cNvSpPr>
          <p:nvPr>
            <p:ph idx="1"/>
          </p:nvPr>
        </p:nvSpPr>
        <p:spPr/>
        <p:txBody>
          <a:bodyPr/>
          <a:lstStyle/>
          <a:p>
            <a:r>
              <a:rPr lang="zh-CN" altLang="en-US" dirty="0">
                <a:solidFill>
                  <a:srgbClr val="0000FF"/>
                </a:solidFill>
              </a:rPr>
              <a:t>思路：</a:t>
            </a:r>
            <a:r>
              <a:rPr lang="zh-CN" altLang="en-US" dirty="0"/>
              <a:t>让拥塞窗口 </a:t>
            </a:r>
            <a:r>
              <a:rPr lang="en-US" altLang="zh-CN" dirty="0" err="1"/>
              <a:t>cwnd</a:t>
            </a:r>
            <a:r>
              <a:rPr lang="en-US" altLang="zh-CN" dirty="0"/>
              <a:t> </a:t>
            </a:r>
            <a:r>
              <a:rPr lang="zh-CN" altLang="en-US" dirty="0">
                <a:solidFill>
                  <a:srgbClr val="FF0000"/>
                </a:solidFill>
              </a:rPr>
              <a:t>缓慢地增大，</a:t>
            </a:r>
            <a:r>
              <a:rPr lang="zh-CN" altLang="en-US" dirty="0"/>
              <a:t>即每经过一个往返时间 </a:t>
            </a:r>
            <a:r>
              <a:rPr lang="en-US" altLang="zh-CN" dirty="0"/>
              <a:t>RTT </a:t>
            </a:r>
            <a:r>
              <a:rPr lang="zh-CN" altLang="en-US" dirty="0"/>
              <a:t>就把发送方的拥塞窗口 </a:t>
            </a:r>
            <a:r>
              <a:rPr lang="en-US" altLang="zh-CN" dirty="0" err="1"/>
              <a:t>cwnd</a:t>
            </a:r>
            <a:r>
              <a:rPr lang="en-US" altLang="zh-CN" dirty="0"/>
              <a:t> </a:t>
            </a:r>
            <a:r>
              <a:rPr lang="zh-CN" altLang="en-US" dirty="0"/>
              <a:t>加 </a:t>
            </a:r>
            <a:r>
              <a:rPr lang="en-US" altLang="zh-CN" dirty="0"/>
              <a:t>1</a:t>
            </a:r>
            <a:r>
              <a:rPr lang="zh-CN" altLang="en-US" dirty="0"/>
              <a:t>，而不是加倍，使拥塞窗口 </a:t>
            </a:r>
            <a:r>
              <a:rPr lang="en-US" altLang="zh-CN" dirty="0" err="1"/>
              <a:t>cwnd</a:t>
            </a:r>
            <a:r>
              <a:rPr lang="en-US" altLang="zh-CN" dirty="0"/>
              <a:t> </a:t>
            </a:r>
            <a:r>
              <a:rPr lang="zh-CN" altLang="en-US" dirty="0">
                <a:solidFill>
                  <a:srgbClr val="FF0000"/>
                </a:solidFill>
              </a:rPr>
              <a:t>按线性规律缓慢增长。</a:t>
            </a:r>
            <a:endParaRPr lang="en-US" altLang="zh-CN" dirty="0">
              <a:solidFill>
                <a:srgbClr val="FF0000"/>
              </a:solidFill>
            </a:endParaRPr>
          </a:p>
          <a:p>
            <a:r>
              <a:rPr lang="zh-CN" altLang="zh-CN" dirty="0"/>
              <a:t>因此在拥塞避免阶段就有“</a:t>
            </a:r>
            <a:r>
              <a:rPr lang="zh-CN" altLang="zh-CN" dirty="0">
                <a:solidFill>
                  <a:srgbClr val="FF0000"/>
                </a:solidFill>
              </a:rPr>
              <a:t>加法增大</a:t>
            </a:r>
            <a:r>
              <a:rPr lang="zh-CN" altLang="zh-CN" dirty="0"/>
              <a:t>”</a:t>
            </a:r>
            <a:r>
              <a:rPr lang="en-US" altLang="zh-CN" dirty="0"/>
              <a:t>  (Additive Increase) </a:t>
            </a:r>
            <a:r>
              <a:rPr lang="zh-CN" altLang="zh-CN" dirty="0"/>
              <a:t>的特点。这表明在拥塞避免阶段，拥塞窗口</a:t>
            </a:r>
            <a:r>
              <a:rPr lang="en-US" altLang="zh-CN" dirty="0"/>
              <a:t> </a:t>
            </a:r>
            <a:r>
              <a:rPr lang="en-US" altLang="zh-CN" dirty="0" err="1"/>
              <a:t>cwnd</a:t>
            </a:r>
            <a:r>
              <a:rPr lang="en-US" altLang="zh-CN" dirty="0"/>
              <a:t> </a:t>
            </a:r>
            <a:r>
              <a:rPr lang="zh-CN" altLang="zh-CN" dirty="0"/>
              <a:t>按线性规律缓慢增长，比慢开始算法的拥塞窗口增长速率缓慢得多。</a:t>
            </a:r>
            <a:endParaRPr lang="zh-CN" altLang="en-US" dirty="0">
              <a:solidFill>
                <a:srgbClr val="FF0000"/>
              </a:solidFill>
            </a:endParaRPr>
          </a:p>
        </p:txBody>
      </p:sp>
    </p:spTree>
    <p:extLst>
      <p:ext uri="{BB962C8B-B14F-4D97-AF65-F5344CB8AC3E}">
        <p14:creationId xmlns:p14="http://schemas.microsoft.com/office/powerpoint/2010/main" val="64226973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0290" name="Rectangle 2"/>
          <p:cNvSpPr>
            <a:spLocks noGrp="1" noChangeArrowheads="1"/>
          </p:cNvSpPr>
          <p:nvPr>
            <p:ph type="title"/>
          </p:nvPr>
        </p:nvSpPr>
        <p:spPr/>
        <p:txBody>
          <a:bodyPr/>
          <a:lstStyle/>
          <a:p>
            <a:pPr algn="ctr"/>
            <a:r>
              <a:rPr lang="zh-CN" altLang="en-US"/>
              <a:t>当网络出现拥塞时</a:t>
            </a:r>
          </a:p>
        </p:txBody>
      </p:sp>
      <p:sp>
        <p:nvSpPr>
          <p:cNvPr id="780291" name="Rectangle 3"/>
          <p:cNvSpPr>
            <a:spLocks noGrp="1" noChangeArrowheads="1"/>
          </p:cNvSpPr>
          <p:nvPr>
            <p:ph idx="1"/>
          </p:nvPr>
        </p:nvSpPr>
        <p:spPr>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r>
              <a:rPr lang="zh-CN" altLang="en-US" dirty="0"/>
              <a:t>无论在慢开始阶段还是在拥塞避免阶段，只要发送方判断网络出现拥塞（</a:t>
            </a:r>
            <a:r>
              <a:rPr lang="zh-CN" altLang="en-US" dirty="0">
                <a:solidFill>
                  <a:srgbClr val="FF0000"/>
                </a:solidFill>
              </a:rPr>
              <a:t>重传定时器超时</a:t>
            </a:r>
            <a:r>
              <a:rPr lang="zh-CN" altLang="en-US" dirty="0"/>
              <a:t>）：</a:t>
            </a:r>
            <a:endParaRPr lang="en-US" altLang="zh-CN" dirty="0"/>
          </a:p>
          <a:p>
            <a:pPr lvl="1"/>
            <a:r>
              <a:rPr lang="en-US" altLang="zh-CN" dirty="0" err="1">
                <a:solidFill>
                  <a:srgbClr val="0000FF"/>
                </a:solidFill>
              </a:rPr>
              <a:t>s</a:t>
            </a:r>
            <a:r>
              <a:rPr lang="en-US" altLang="zh-TW" dirty="0" err="1">
                <a:solidFill>
                  <a:srgbClr val="0000FF"/>
                </a:solidFill>
              </a:rPr>
              <a:t>sthresh</a:t>
            </a:r>
            <a:r>
              <a:rPr lang="en-US" altLang="zh-TW" dirty="0">
                <a:solidFill>
                  <a:srgbClr val="0000FF"/>
                </a:solidFill>
              </a:rPr>
              <a:t> = </a:t>
            </a:r>
            <a:r>
              <a:rPr lang="en-US" altLang="zh-CN" dirty="0">
                <a:solidFill>
                  <a:srgbClr val="0000FF"/>
                </a:solidFill>
              </a:rPr>
              <a:t>max(</a:t>
            </a:r>
            <a:r>
              <a:rPr lang="en-US" altLang="zh-TW" dirty="0" err="1">
                <a:solidFill>
                  <a:srgbClr val="0000FF"/>
                </a:solidFill>
              </a:rPr>
              <a:t>cwnd</a:t>
            </a:r>
            <a:r>
              <a:rPr lang="en-US" altLang="zh-TW" dirty="0">
                <a:solidFill>
                  <a:srgbClr val="0000FF"/>
                </a:solidFill>
              </a:rPr>
              <a:t>/2</a:t>
            </a:r>
            <a:r>
              <a:rPr lang="zh-CN" altLang="en-US" dirty="0">
                <a:solidFill>
                  <a:srgbClr val="0000FF"/>
                </a:solidFill>
              </a:rPr>
              <a:t>，</a:t>
            </a:r>
            <a:r>
              <a:rPr lang="en-US" altLang="zh-CN" dirty="0">
                <a:solidFill>
                  <a:srgbClr val="0000FF"/>
                </a:solidFill>
              </a:rPr>
              <a:t>2)</a:t>
            </a:r>
          </a:p>
          <a:p>
            <a:pPr lvl="1"/>
            <a:r>
              <a:rPr lang="en-US" altLang="zh-TW" dirty="0" err="1">
                <a:solidFill>
                  <a:srgbClr val="0000FF"/>
                </a:solidFill>
              </a:rPr>
              <a:t>cwnd</a:t>
            </a:r>
            <a:r>
              <a:rPr lang="en-US" altLang="zh-TW" dirty="0">
                <a:solidFill>
                  <a:srgbClr val="0000FF"/>
                </a:solidFill>
              </a:rPr>
              <a:t> = 1</a:t>
            </a:r>
          </a:p>
          <a:p>
            <a:pPr lvl="1"/>
            <a:r>
              <a:rPr lang="zh-CN" altLang="en-US" dirty="0">
                <a:solidFill>
                  <a:srgbClr val="0000FF"/>
                </a:solidFill>
              </a:rPr>
              <a:t>执行慢开始算法</a:t>
            </a:r>
          </a:p>
          <a:p>
            <a:r>
              <a:rPr lang="zh-CN" altLang="en-US" dirty="0"/>
              <a:t>这样做的目的就是要迅速减少主机发送到网络中的分组数，使得发生拥塞的路由器有足够时间把队列中积压的分组处理完毕。 </a:t>
            </a:r>
          </a:p>
        </p:txBody>
      </p:sp>
    </p:spTree>
    <p:extLst>
      <p:ext uri="{BB962C8B-B14F-4D97-AF65-F5344CB8AC3E}">
        <p14:creationId xmlns:p14="http://schemas.microsoft.com/office/powerpoint/2010/main" val="389880701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 name="Rectangle 5"/>
          <p:cNvSpPr txBox="1">
            <a:spLocks noChangeArrowheads="1"/>
          </p:cNvSpPr>
          <p:nvPr/>
        </p:nvSpPr>
        <p:spPr bwMode="auto">
          <a:xfrm>
            <a:off x="417512" y="152400"/>
            <a:ext cx="91440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kumimoji="1" sz="4400" b="1">
                <a:solidFill>
                  <a:schemeClr val="tx2"/>
                </a:solidFill>
                <a:latin typeface="+mj-lt"/>
                <a:ea typeface="+mj-ea"/>
                <a:cs typeface="+mj-cs"/>
              </a:defRPr>
            </a:lvl1pPr>
            <a:lvl2pPr algn="l" rtl="0" eaLnBrk="0" fontAlgn="base" hangingPunct="0">
              <a:spcBef>
                <a:spcPct val="0"/>
              </a:spcBef>
              <a:spcAft>
                <a:spcPct val="0"/>
              </a:spcAft>
              <a:defRPr kumimoji="1" sz="4400" b="1">
                <a:solidFill>
                  <a:schemeClr val="tx2"/>
                </a:solidFill>
                <a:latin typeface="Tahoma" pitchFamily="34" charset="0"/>
                <a:ea typeface="黑体" pitchFamily="2" charset="-122"/>
              </a:defRPr>
            </a:lvl2pPr>
            <a:lvl3pPr algn="l" rtl="0" eaLnBrk="0" fontAlgn="base" hangingPunct="0">
              <a:spcBef>
                <a:spcPct val="0"/>
              </a:spcBef>
              <a:spcAft>
                <a:spcPct val="0"/>
              </a:spcAft>
              <a:defRPr kumimoji="1" sz="4400" b="1">
                <a:solidFill>
                  <a:schemeClr val="tx2"/>
                </a:solidFill>
                <a:latin typeface="Tahoma" pitchFamily="34" charset="0"/>
                <a:ea typeface="黑体" pitchFamily="2" charset="-122"/>
              </a:defRPr>
            </a:lvl3pPr>
            <a:lvl4pPr algn="l" rtl="0" eaLnBrk="0" fontAlgn="base" hangingPunct="0">
              <a:spcBef>
                <a:spcPct val="0"/>
              </a:spcBef>
              <a:spcAft>
                <a:spcPct val="0"/>
              </a:spcAft>
              <a:defRPr kumimoji="1" sz="4400" b="1">
                <a:solidFill>
                  <a:schemeClr val="tx2"/>
                </a:solidFill>
                <a:latin typeface="Tahoma" pitchFamily="34" charset="0"/>
                <a:ea typeface="黑体" pitchFamily="2" charset="-122"/>
              </a:defRPr>
            </a:lvl4pPr>
            <a:lvl5pPr algn="l" rtl="0" eaLnBrk="0" fontAlgn="base" hangingPunct="0">
              <a:spcBef>
                <a:spcPct val="0"/>
              </a:spcBef>
              <a:spcAft>
                <a:spcPct val="0"/>
              </a:spcAft>
              <a:defRPr kumimoji="1" sz="4400" b="1">
                <a:solidFill>
                  <a:schemeClr val="tx2"/>
                </a:solidFill>
                <a:latin typeface="Tahoma" pitchFamily="34" charset="0"/>
                <a:ea typeface="黑体" pitchFamily="2" charset="-122"/>
              </a:defRPr>
            </a:lvl5pPr>
            <a:lvl6pPr marL="457200" algn="l" rtl="0" fontAlgn="base">
              <a:spcBef>
                <a:spcPct val="0"/>
              </a:spcBef>
              <a:spcAft>
                <a:spcPct val="0"/>
              </a:spcAft>
              <a:defRPr kumimoji="1" sz="4400" b="1">
                <a:solidFill>
                  <a:schemeClr val="tx2"/>
                </a:solidFill>
                <a:latin typeface="Tahoma" pitchFamily="34" charset="0"/>
                <a:ea typeface="黑体" pitchFamily="2" charset="-122"/>
              </a:defRPr>
            </a:lvl6pPr>
            <a:lvl7pPr marL="914400" algn="l" rtl="0" fontAlgn="base">
              <a:spcBef>
                <a:spcPct val="0"/>
              </a:spcBef>
              <a:spcAft>
                <a:spcPct val="0"/>
              </a:spcAft>
              <a:defRPr kumimoji="1" sz="4400" b="1">
                <a:solidFill>
                  <a:schemeClr val="tx2"/>
                </a:solidFill>
                <a:latin typeface="Tahoma" pitchFamily="34" charset="0"/>
                <a:ea typeface="黑体" pitchFamily="2" charset="-122"/>
              </a:defRPr>
            </a:lvl7pPr>
            <a:lvl8pPr marL="1371600" algn="l" rtl="0" fontAlgn="base">
              <a:spcBef>
                <a:spcPct val="0"/>
              </a:spcBef>
              <a:spcAft>
                <a:spcPct val="0"/>
              </a:spcAft>
              <a:defRPr kumimoji="1" sz="4400" b="1">
                <a:solidFill>
                  <a:schemeClr val="tx2"/>
                </a:solidFill>
                <a:latin typeface="Tahoma" pitchFamily="34" charset="0"/>
                <a:ea typeface="黑体" pitchFamily="2" charset="-122"/>
              </a:defRPr>
            </a:lvl8pPr>
            <a:lvl9pPr marL="1828800" algn="l" rtl="0" fontAlgn="base">
              <a:spcBef>
                <a:spcPct val="0"/>
              </a:spcBef>
              <a:spcAft>
                <a:spcPct val="0"/>
              </a:spcAft>
              <a:defRPr kumimoji="1" sz="4400" b="1">
                <a:solidFill>
                  <a:schemeClr val="tx2"/>
                </a:solidFill>
                <a:latin typeface="Tahoma" pitchFamily="34" charset="0"/>
                <a:ea typeface="黑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3200" b="1" i="0" u="none" strike="noStrike" kern="0" cap="none" spc="0" normalizeH="0" baseline="0" noProof="0">
                <a:ln>
                  <a:noFill/>
                </a:ln>
                <a:solidFill>
                  <a:srgbClr val="333399"/>
                </a:solidFill>
                <a:effectLst/>
                <a:uLnTx/>
                <a:uFillTx/>
                <a:latin typeface="Tahoma"/>
                <a:ea typeface="黑体"/>
                <a:cs typeface="+mj-cs"/>
              </a:rPr>
              <a:t>慢开始和拥塞避免算法的实现举例 </a:t>
            </a:r>
          </a:p>
        </p:txBody>
      </p:sp>
      <p:sp>
        <p:nvSpPr>
          <p:cNvPr id="111" name="Text Box 6"/>
          <p:cNvSpPr txBox="1">
            <a:spLocks noChangeArrowheads="1"/>
          </p:cNvSpPr>
          <p:nvPr/>
        </p:nvSpPr>
        <p:spPr bwMode="auto">
          <a:xfrm>
            <a:off x="740345" y="4242842"/>
            <a:ext cx="8767763"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zh-CN" altLang="en-US" sz="2800" b="1" i="0" u="none" strike="noStrike" kern="0" cap="none" spc="0" normalizeH="0" baseline="0" noProof="0" dirty="0">
                <a:ln>
                  <a:noFill/>
                </a:ln>
                <a:solidFill>
                  <a:srgbClr val="000099"/>
                </a:solidFill>
                <a:effectLst/>
                <a:uLnTx/>
                <a:uFillTx/>
                <a:latin typeface="Arial" pitchFamily="34" charset="0"/>
                <a:ea typeface="黑体" pitchFamily="2" charset="-122"/>
              </a:rPr>
              <a:t>当 </a:t>
            </a:r>
            <a:r>
              <a:rPr kumimoji="0" lang="en-US" altLang="zh-CN" sz="2800" b="1" i="0" u="none" strike="noStrike" kern="0" cap="none" spc="0" normalizeH="0" baseline="0" noProof="0" dirty="0">
                <a:ln>
                  <a:noFill/>
                </a:ln>
                <a:solidFill>
                  <a:srgbClr val="000099"/>
                </a:solidFill>
                <a:effectLst/>
                <a:uLnTx/>
                <a:uFillTx/>
                <a:latin typeface="Arial" pitchFamily="34" charset="0"/>
                <a:ea typeface="黑体" pitchFamily="2" charset="-122"/>
              </a:rPr>
              <a:t>TCP </a:t>
            </a:r>
            <a:r>
              <a:rPr kumimoji="0" lang="zh-CN" altLang="en-US" sz="2800" b="1" i="0" u="none" strike="noStrike" kern="0" cap="none" spc="0" normalizeH="0" baseline="0" noProof="0" dirty="0">
                <a:ln>
                  <a:noFill/>
                </a:ln>
                <a:solidFill>
                  <a:srgbClr val="000099"/>
                </a:solidFill>
                <a:effectLst/>
                <a:uLnTx/>
                <a:uFillTx/>
                <a:latin typeface="Arial" pitchFamily="34" charset="0"/>
                <a:ea typeface="黑体" pitchFamily="2" charset="-122"/>
              </a:rPr>
              <a:t>连接进行初始化时，将拥塞窗口置为 </a:t>
            </a:r>
            <a:r>
              <a:rPr kumimoji="0" lang="en-US" altLang="zh-CN" sz="2800" b="1" i="0" u="none" strike="noStrike" kern="0" cap="none" spc="0" normalizeH="0" baseline="0" noProof="0" dirty="0">
                <a:ln>
                  <a:noFill/>
                </a:ln>
                <a:solidFill>
                  <a:srgbClr val="000099"/>
                </a:solidFill>
                <a:effectLst/>
                <a:uLnTx/>
                <a:uFillTx/>
                <a:latin typeface="Arial" pitchFamily="34" charset="0"/>
                <a:ea typeface="黑体" pitchFamily="2" charset="-122"/>
              </a:rPr>
              <a:t>1</a:t>
            </a:r>
            <a:r>
              <a:rPr kumimoji="0" lang="zh-CN" altLang="en-US" sz="2800" b="1" i="0" u="none" strike="noStrike" kern="0" cap="none" spc="0" normalizeH="0" baseline="0" noProof="0" dirty="0">
                <a:ln>
                  <a:noFill/>
                </a:ln>
                <a:solidFill>
                  <a:srgbClr val="000099"/>
                </a:solidFill>
                <a:effectLst/>
                <a:uLnTx/>
                <a:uFillTx/>
                <a:latin typeface="Arial" pitchFamily="34" charset="0"/>
                <a:ea typeface="黑体" pitchFamily="2" charset="-122"/>
              </a:rPr>
              <a:t>。图中的窗口单位不使用字节而使用报文段。</a:t>
            </a:r>
          </a:p>
        </p:txBody>
      </p:sp>
      <p:sp>
        <p:nvSpPr>
          <p:cNvPr id="112" name="Text Box 7"/>
          <p:cNvSpPr txBox="1">
            <a:spLocks noChangeArrowheads="1"/>
          </p:cNvSpPr>
          <p:nvPr/>
        </p:nvSpPr>
        <p:spPr bwMode="auto">
          <a:xfrm>
            <a:off x="740345" y="5219154"/>
            <a:ext cx="9037191"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kumimoji="0" lang="zh-CN" altLang="en-US" sz="2800" dirty="0">
                <a:solidFill>
                  <a:srgbClr val="000099"/>
                </a:solidFill>
                <a:latin typeface="Arial" pitchFamily="34" charset="0"/>
                <a:ea typeface="黑体" pitchFamily="2" charset="-122"/>
              </a:rPr>
              <a:t>慢开始门限的初始值设置为 </a:t>
            </a:r>
            <a:r>
              <a:rPr kumimoji="0" lang="en-US" altLang="zh-CN" sz="2800" dirty="0">
                <a:solidFill>
                  <a:srgbClr val="000099"/>
                </a:solidFill>
                <a:latin typeface="Arial" pitchFamily="34" charset="0"/>
                <a:ea typeface="黑体" pitchFamily="2" charset="-122"/>
              </a:rPr>
              <a:t>16 </a:t>
            </a:r>
            <a:r>
              <a:rPr kumimoji="0" lang="zh-CN" altLang="en-US" sz="2800" dirty="0">
                <a:solidFill>
                  <a:srgbClr val="000099"/>
                </a:solidFill>
                <a:latin typeface="Arial" pitchFamily="34" charset="0"/>
                <a:ea typeface="黑体" pitchFamily="2" charset="-122"/>
              </a:rPr>
              <a:t>个报文段，即 </a:t>
            </a:r>
            <a:endParaRPr kumimoji="0" lang="en-US" altLang="zh-CN" sz="2800" dirty="0">
              <a:solidFill>
                <a:srgbClr val="000099"/>
              </a:solidFill>
              <a:latin typeface="Arial" pitchFamily="34" charset="0"/>
              <a:ea typeface="黑体" pitchFamily="2" charset="-122"/>
            </a:endParaRPr>
          </a:p>
          <a:p>
            <a:pPr algn="l" eaLnBrk="1" hangingPunct="1"/>
            <a:r>
              <a:rPr kumimoji="0" lang="en-US" altLang="zh-CN" sz="2800" dirty="0" err="1">
                <a:solidFill>
                  <a:srgbClr val="000099"/>
                </a:solidFill>
                <a:latin typeface="Arial" pitchFamily="34" charset="0"/>
                <a:ea typeface="黑体" pitchFamily="2" charset="-122"/>
              </a:rPr>
              <a:t>ssthresh</a:t>
            </a:r>
            <a:r>
              <a:rPr kumimoji="0" lang="en-US" altLang="zh-CN" sz="2800" dirty="0">
                <a:solidFill>
                  <a:srgbClr val="000099"/>
                </a:solidFill>
                <a:latin typeface="Arial" pitchFamily="34" charset="0"/>
                <a:ea typeface="黑体" pitchFamily="2" charset="-122"/>
              </a:rPr>
              <a:t> = 16</a:t>
            </a:r>
            <a:r>
              <a:rPr kumimoji="0" lang="zh-CN" altLang="en-US" sz="2800" dirty="0">
                <a:solidFill>
                  <a:srgbClr val="000099"/>
                </a:solidFill>
                <a:latin typeface="Arial" pitchFamily="34" charset="0"/>
                <a:ea typeface="黑体" pitchFamily="2" charset="-122"/>
              </a:rPr>
              <a:t>。</a:t>
            </a:r>
          </a:p>
        </p:txBody>
      </p:sp>
      <p:grpSp>
        <p:nvGrpSpPr>
          <p:cNvPr id="2" name="组合 1"/>
          <p:cNvGrpSpPr/>
          <p:nvPr/>
        </p:nvGrpSpPr>
        <p:grpSpPr>
          <a:xfrm>
            <a:off x="272479" y="836711"/>
            <a:ext cx="9536759" cy="3321087"/>
            <a:chOff x="274141" y="840152"/>
            <a:chExt cx="9316681" cy="3133914"/>
          </a:xfrm>
        </p:grpSpPr>
        <p:sp>
          <p:nvSpPr>
            <p:cNvPr id="103" name="Text Box 140"/>
            <p:cNvSpPr txBox="1">
              <a:spLocks noChangeArrowheads="1"/>
            </p:cNvSpPr>
            <p:nvPr/>
          </p:nvSpPr>
          <p:spPr bwMode="auto">
            <a:xfrm>
              <a:off x="4758804" y="980728"/>
              <a:ext cx="1130300" cy="377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2000" b="1" i="0" u="none" strike="noStrike" kern="0" cap="none" spc="0" normalizeH="0" baseline="0" noProof="0" dirty="0">
                  <a:ln>
                    <a:noFill/>
                  </a:ln>
                  <a:solidFill>
                    <a:srgbClr val="FF0000"/>
                  </a:solidFill>
                  <a:effectLst/>
                  <a:uLnTx/>
                  <a:uFillTx/>
                  <a:latin typeface="Times New Roman" pitchFamily="18" charset="0"/>
                  <a:ea typeface="宋体" charset="-122"/>
                </a:rPr>
                <a:t>超时</a:t>
              </a:r>
            </a:p>
          </p:txBody>
        </p:sp>
        <p:sp>
          <p:nvSpPr>
            <p:cNvPr id="104" name="Line 2"/>
            <p:cNvSpPr>
              <a:spLocks noChangeShapeType="1"/>
            </p:cNvSpPr>
            <p:nvPr/>
          </p:nvSpPr>
          <p:spPr bwMode="auto">
            <a:xfrm flipV="1">
              <a:off x="1883792" y="3639369"/>
              <a:ext cx="6211887" cy="4762"/>
            </a:xfrm>
            <a:prstGeom prst="line">
              <a:avLst/>
            </a:prstGeom>
            <a:noFill/>
            <a:ln w="19050">
              <a:solidFill>
                <a:srgbClr val="000000"/>
              </a:solidFill>
              <a:round/>
              <a:headEnd/>
              <a:tail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105" name="Line 3"/>
            <p:cNvSpPr>
              <a:spLocks noChangeShapeType="1"/>
            </p:cNvSpPr>
            <p:nvPr/>
          </p:nvSpPr>
          <p:spPr bwMode="auto">
            <a:xfrm>
              <a:off x="1882204" y="1161281"/>
              <a:ext cx="1588" cy="2482850"/>
            </a:xfrm>
            <a:prstGeom prst="line">
              <a:avLst/>
            </a:prstGeom>
            <a:noFill/>
            <a:ln w="19050">
              <a:solidFill>
                <a:srgbClr val="000000"/>
              </a:solidFill>
              <a:round/>
              <a:headEnd type="triangle" w="sm" len="lg"/>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106" name="Line 4"/>
            <p:cNvSpPr>
              <a:spLocks noChangeShapeType="1"/>
            </p:cNvSpPr>
            <p:nvPr/>
          </p:nvSpPr>
          <p:spPr bwMode="auto">
            <a:xfrm>
              <a:off x="2112392" y="3567931"/>
              <a:ext cx="0" cy="762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08" name="Line 5"/>
            <p:cNvSpPr>
              <a:spLocks noChangeShapeType="1"/>
            </p:cNvSpPr>
            <p:nvPr/>
          </p:nvSpPr>
          <p:spPr bwMode="auto">
            <a:xfrm>
              <a:off x="2340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09" name="Line 6"/>
            <p:cNvSpPr>
              <a:spLocks noChangeShapeType="1"/>
            </p:cNvSpPr>
            <p:nvPr/>
          </p:nvSpPr>
          <p:spPr bwMode="auto">
            <a:xfrm>
              <a:off x="2569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0" name="Line 7"/>
            <p:cNvSpPr>
              <a:spLocks noChangeShapeType="1"/>
            </p:cNvSpPr>
            <p:nvPr/>
          </p:nvSpPr>
          <p:spPr bwMode="auto">
            <a:xfrm>
              <a:off x="27981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1" name="Line 8"/>
            <p:cNvSpPr>
              <a:spLocks noChangeShapeType="1"/>
            </p:cNvSpPr>
            <p:nvPr/>
          </p:nvSpPr>
          <p:spPr bwMode="auto">
            <a:xfrm>
              <a:off x="3026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2" name="Line 9"/>
            <p:cNvSpPr>
              <a:spLocks noChangeShapeType="1"/>
            </p:cNvSpPr>
            <p:nvPr/>
          </p:nvSpPr>
          <p:spPr bwMode="auto">
            <a:xfrm>
              <a:off x="3255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3" name="Line 10"/>
            <p:cNvSpPr>
              <a:spLocks noChangeShapeType="1"/>
            </p:cNvSpPr>
            <p:nvPr/>
          </p:nvSpPr>
          <p:spPr bwMode="auto">
            <a:xfrm>
              <a:off x="3483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4" name="Line 11"/>
            <p:cNvSpPr>
              <a:spLocks noChangeShapeType="1"/>
            </p:cNvSpPr>
            <p:nvPr/>
          </p:nvSpPr>
          <p:spPr bwMode="auto">
            <a:xfrm>
              <a:off x="3712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5" name="Line 12"/>
            <p:cNvSpPr>
              <a:spLocks noChangeShapeType="1"/>
            </p:cNvSpPr>
            <p:nvPr/>
          </p:nvSpPr>
          <p:spPr bwMode="auto">
            <a:xfrm>
              <a:off x="39411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6" name="Line 13"/>
            <p:cNvSpPr>
              <a:spLocks noChangeShapeType="1"/>
            </p:cNvSpPr>
            <p:nvPr/>
          </p:nvSpPr>
          <p:spPr bwMode="auto">
            <a:xfrm>
              <a:off x="4169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7" name="Line 14"/>
            <p:cNvSpPr>
              <a:spLocks noChangeShapeType="1"/>
            </p:cNvSpPr>
            <p:nvPr/>
          </p:nvSpPr>
          <p:spPr bwMode="auto">
            <a:xfrm>
              <a:off x="4398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8" name="Line 15"/>
            <p:cNvSpPr>
              <a:spLocks noChangeShapeType="1"/>
            </p:cNvSpPr>
            <p:nvPr/>
          </p:nvSpPr>
          <p:spPr bwMode="auto">
            <a:xfrm>
              <a:off x="4626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9" name="Line 16"/>
            <p:cNvSpPr>
              <a:spLocks noChangeShapeType="1"/>
            </p:cNvSpPr>
            <p:nvPr/>
          </p:nvSpPr>
          <p:spPr bwMode="auto">
            <a:xfrm>
              <a:off x="4855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0" name="Line 17"/>
            <p:cNvSpPr>
              <a:spLocks noChangeShapeType="1"/>
            </p:cNvSpPr>
            <p:nvPr/>
          </p:nvSpPr>
          <p:spPr bwMode="auto">
            <a:xfrm>
              <a:off x="5084192" y="3567931"/>
              <a:ext cx="0" cy="762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1" name="Line 18"/>
            <p:cNvSpPr>
              <a:spLocks noChangeShapeType="1"/>
            </p:cNvSpPr>
            <p:nvPr/>
          </p:nvSpPr>
          <p:spPr bwMode="auto">
            <a:xfrm>
              <a:off x="5312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2" name="Line 19"/>
            <p:cNvSpPr>
              <a:spLocks noChangeShapeType="1"/>
            </p:cNvSpPr>
            <p:nvPr/>
          </p:nvSpPr>
          <p:spPr bwMode="auto">
            <a:xfrm>
              <a:off x="5541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3" name="Line 20"/>
            <p:cNvSpPr>
              <a:spLocks noChangeShapeType="1"/>
            </p:cNvSpPr>
            <p:nvPr/>
          </p:nvSpPr>
          <p:spPr bwMode="auto">
            <a:xfrm>
              <a:off x="5769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4" name="Line 21"/>
            <p:cNvSpPr>
              <a:spLocks noChangeShapeType="1"/>
            </p:cNvSpPr>
            <p:nvPr/>
          </p:nvSpPr>
          <p:spPr bwMode="auto">
            <a:xfrm>
              <a:off x="5998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5" name="Line 22"/>
            <p:cNvSpPr>
              <a:spLocks noChangeShapeType="1"/>
            </p:cNvSpPr>
            <p:nvPr/>
          </p:nvSpPr>
          <p:spPr bwMode="auto">
            <a:xfrm>
              <a:off x="62271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6" name="Line 23"/>
            <p:cNvSpPr>
              <a:spLocks noChangeShapeType="1"/>
            </p:cNvSpPr>
            <p:nvPr/>
          </p:nvSpPr>
          <p:spPr bwMode="auto">
            <a:xfrm>
              <a:off x="6455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7" name="Line 24"/>
            <p:cNvSpPr>
              <a:spLocks noChangeShapeType="1"/>
            </p:cNvSpPr>
            <p:nvPr/>
          </p:nvSpPr>
          <p:spPr bwMode="auto">
            <a:xfrm>
              <a:off x="6684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8" name="Line 25"/>
            <p:cNvSpPr>
              <a:spLocks noChangeShapeType="1"/>
            </p:cNvSpPr>
            <p:nvPr/>
          </p:nvSpPr>
          <p:spPr bwMode="auto">
            <a:xfrm>
              <a:off x="6912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30" name="Line 40"/>
            <p:cNvSpPr>
              <a:spLocks noChangeShapeType="1"/>
            </p:cNvSpPr>
            <p:nvPr/>
          </p:nvSpPr>
          <p:spPr bwMode="auto">
            <a:xfrm>
              <a:off x="1883792" y="3263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31" name="Line 41"/>
            <p:cNvSpPr>
              <a:spLocks noChangeShapeType="1"/>
            </p:cNvSpPr>
            <p:nvPr/>
          </p:nvSpPr>
          <p:spPr bwMode="auto">
            <a:xfrm>
              <a:off x="1883792" y="2882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32" name="Line 42"/>
            <p:cNvSpPr>
              <a:spLocks noChangeShapeType="1"/>
            </p:cNvSpPr>
            <p:nvPr/>
          </p:nvSpPr>
          <p:spPr bwMode="auto">
            <a:xfrm>
              <a:off x="1883792" y="2501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33" name="Line 43"/>
            <p:cNvSpPr>
              <a:spLocks noChangeShapeType="1"/>
            </p:cNvSpPr>
            <p:nvPr/>
          </p:nvSpPr>
          <p:spPr bwMode="auto">
            <a:xfrm>
              <a:off x="1883792" y="2120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34" name="Line 44"/>
            <p:cNvSpPr>
              <a:spLocks noChangeShapeType="1"/>
            </p:cNvSpPr>
            <p:nvPr/>
          </p:nvSpPr>
          <p:spPr bwMode="auto">
            <a:xfrm>
              <a:off x="1883792" y="1739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35" name="Line 45"/>
            <p:cNvSpPr>
              <a:spLocks noChangeShapeType="1"/>
            </p:cNvSpPr>
            <p:nvPr/>
          </p:nvSpPr>
          <p:spPr bwMode="auto">
            <a:xfrm>
              <a:off x="1883792" y="1358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36" name="Text Box 77"/>
            <p:cNvSpPr txBox="1">
              <a:spLocks noChangeArrowheads="1"/>
            </p:cNvSpPr>
            <p:nvPr/>
          </p:nvSpPr>
          <p:spPr bwMode="auto">
            <a:xfrm>
              <a:off x="2198117" y="3588569"/>
              <a:ext cx="305685" cy="377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2</a:t>
              </a:r>
            </a:p>
          </p:txBody>
        </p:sp>
        <p:sp>
          <p:nvSpPr>
            <p:cNvPr id="237" name="Text Box 78"/>
            <p:cNvSpPr txBox="1">
              <a:spLocks noChangeArrowheads="1"/>
            </p:cNvSpPr>
            <p:nvPr/>
          </p:nvSpPr>
          <p:spPr bwMode="auto">
            <a:xfrm>
              <a:off x="2655317" y="3588569"/>
              <a:ext cx="305685" cy="377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4</a:t>
              </a:r>
            </a:p>
          </p:txBody>
        </p:sp>
        <p:sp>
          <p:nvSpPr>
            <p:cNvPr id="238" name="Text Box 79"/>
            <p:cNvSpPr txBox="1">
              <a:spLocks noChangeArrowheads="1"/>
            </p:cNvSpPr>
            <p:nvPr/>
          </p:nvSpPr>
          <p:spPr bwMode="auto">
            <a:xfrm>
              <a:off x="3112517" y="3588569"/>
              <a:ext cx="305685" cy="377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6</a:t>
              </a:r>
            </a:p>
          </p:txBody>
        </p:sp>
        <p:sp>
          <p:nvSpPr>
            <p:cNvPr id="239" name="Text Box 80"/>
            <p:cNvSpPr txBox="1">
              <a:spLocks noChangeArrowheads="1"/>
            </p:cNvSpPr>
            <p:nvPr/>
          </p:nvSpPr>
          <p:spPr bwMode="auto">
            <a:xfrm>
              <a:off x="3582417" y="3588569"/>
              <a:ext cx="305685" cy="377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8</a:t>
              </a:r>
            </a:p>
          </p:txBody>
        </p:sp>
        <p:sp>
          <p:nvSpPr>
            <p:cNvPr id="240" name="Text Box 81"/>
            <p:cNvSpPr txBox="1">
              <a:spLocks noChangeArrowheads="1"/>
            </p:cNvSpPr>
            <p:nvPr/>
          </p:nvSpPr>
          <p:spPr bwMode="auto">
            <a:xfrm>
              <a:off x="3963417" y="3588569"/>
              <a:ext cx="430966" cy="377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10</a:t>
              </a:r>
            </a:p>
          </p:txBody>
        </p:sp>
        <p:sp>
          <p:nvSpPr>
            <p:cNvPr id="241" name="Text Box 82"/>
            <p:cNvSpPr txBox="1">
              <a:spLocks noChangeArrowheads="1"/>
            </p:cNvSpPr>
            <p:nvPr/>
          </p:nvSpPr>
          <p:spPr bwMode="auto">
            <a:xfrm>
              <a:off x="4458717" y="3588569"/>
              <a:ext cx="430966" cy="377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12</a:t>
              </a:r>
            </a:p>
          </p:txBody>
        </p:sp>
        <p:sp>
          <p:nvSpPr>
            <p:cNvPr id="242" name="Text Box 83"/>
            <p:cNvSpPr txBox="1">
              <a:spLocks noChangeArrowheads="1"/>
            </p:cNvSpPr>
            <p:nvPr/>
          </p:nvSpPr>
          <p:spPr bwMode="auto">
            <a:xfrm>
              <a:off x="4890517" y="3588569"/>
              <a:ext cx="430966" cy="377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14</a:t>
              </a:r>
            </a:p>
          </p:txBody>
        </p:sp>
        <p:sp>
          <p:nvSpPr>
            <p:cNvPr id="243" name="Text Box 84"/>
            <p:cNvSpPr txBox="1">
              <a:spLocks noChangeArrowheads="1"/>
            </p:cNvSpPr>
            <p:nvPr/>
          </p:nvSpPr>
          <p:spPr bwMode="auto">
            <a:xfrm>
              <a:off x="5347717" y="3588569"/>
              <a:ext cx="430966" cy="377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16</a:t>
              </a:r>
            </a:p>
          </p:txBody>
        </p:sp>
        <p:sp>
          <p:nvSpPr>
            <p:cNvPr id="244" name="Text Box 85"/>
            <p:cNvSpPr txBox="1">
              <a:spLocks noChangeArrowheads="1"/>
            </p:cNvSpPr>
            <p:nvPr/>
          </p:nvSpPr>
          <p:spPr bwMode="auto">
            <a:xfrm>
              <a:off x="5820792" y="3588569"/>
              <a:ext cx="430966" cy="377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18</a:t>
              </a:r>
            </a:p>
          </p:txBody>
        </p:sp>
        <p:sp>
          <p:nvSpPr>
            <p:cNvPr id="245" name="Text Box 86"/>
            <p:cNvSpPr txBox="1">
              <a:spLocks noChangeArrowheads="1"/>
            </p:cNvSpPr>
            <p:nvPr/>
          </p:nvSpPr>
          <p:spPr bwMode="auto">
            <a:xfrm>
              <a:off x="6277992" y="3588569"/>
              <a:ext cx="430966" cy="377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20</a:t>
              </a:r>
            </a:p>
          </p:txBody>
        </p:sp>
        <p:sp>
          <p:nvSpPr>
            <p:cNvPr id="246" name="Text Box 87"/>
            <p:cNvSpPr txBox="1">
              <a:spLocks noChangeArrowheads="1"/>
            </p:cNvSpPr>
            <p:nvPr/>
          </p:nvSpPr>
          <p:spPr bwMode="auto">
            <a:xfrm>
              <a:off x="6722492" y="3596506"/>
              <a:ext cx="430966" cy="377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22</a:t>
              </a:r>
            </a:p>
          </p:txBody>
        </p:sp>
        <p:sp>
          <p:nvSpPr>
            <p:cNvPr id="247" name="Text Box 89"/>
            <p:cNvSpPr txBox="1">
              <a:spLocks noChangeArrowheads="1"/>
            </p:cNvSpPr>
            <p:nvPr/>
          </p:nvSpPr>
          <p:spPr bwMode="auto">
            <a:xfrm>
              <a:off x="1779017" y="3588569"/>
              <a:ext cx="305685" cy="377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0</a:t>
              </a:r>
            </a:p>
          </p:txBody>
        </p:sp>
        <p:sp>
          <p:nvSpPr>
            <p:cNvPr id="248" name="Text Box 90"/>
            <p:cNvSpPr txBox="1">
              <a:spLocks noChangeArrowheads="1"/>
            </p:cNvSpPr>
            <p:nvPr/>
          </p:nvSpPr>
          <p:spPr bwMode="auto">
            <a:xfrm>
              <a:off x="1617092" y="3439344"/>
              <a:ext cx="305685" cy="377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0</a:t>
              </a:r>
            </a:p>
          </p:txBody>
        </p:sp>
        <p:sp>
          <p:nvSpPr>
            <p:cNvPr id="249" name="Text Box 91"/>
            <p:cNvSpPr txBox="1">
              <a:spLocks noChangeArrowheads="1"/>
            </p:cNvSpPr>
            <p:nvPr/>
          </p:nvSpPr>
          <p:spPr bwMode="auto">
            <a:xfrm>
              <a:off x="1617092" y="3058344"/>
              <a:ext cx="305685" cy="377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4</a:t>
              </a:r>
            </a:p>
          </p:txBody>
        </p:sp>
        <p:sp>
          <p:nvSpPr>
            <p:cNvPr id="250" name="Text Box 92"/>
            <p:cNvSpPr txBox="1">
              <a:spLocks noChangeArrowheads="1"/>
            </p:cNvSpPr>
            <p:nvPr/>
          </p:nvSpPr>
          <p:spPr bwMode="auto">
            <a:xfrm>
              <a:off x="1617092" y="2690044"/>
              <a:ext cx="305685" cy="377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8</a:t>
              </a:r>
            </a:p>
          </p:txBody>
        </p:sp>
        <p:sp>
          <p:nvSpPr>
            <p:cNvPr id="251" name="Text Box 93"/>
            <p:cNvSpPr txBox="1">
              <a:spLocks noChangeArrowheads="1"/>
            </p:cNvSpPr>
            <p:nvPr/>
          </p:nvSpPr>
          <p:spPr bwMode="auto">
            <a:xfrm>
              <a:off x="1502792" y="2321744"/>
              <a:ext cx="430966" cy="377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12</a:t>
              </a:r>
            </a:p>
          </p:txBody>
        </p:sp>
        <p:sp>
          <p:nvSpPr>
            <p:cNvPr id="252" name="Text Box 94"/>
            <p:cNvSpPr txBox="1">
              <a:spLocks noChangeArrowheads="1"/>
            </p:cNvSpPr>
            <p:nvPr/>
          </p:nvSpPr>
          <p:spPr bwMode="auto">
            <a:xfrm>
              <a:off x="1502792" y="1953444"/>
              <a:ext cx="430966" cy="377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16</a:t>
              </a:r>
            </a:p>
          </p:txBody>
        </p:sp>
        <p:sp>
          <p:nvSpPr>
            <p:cNvPr id="253" name="Text Box 95"/>
            <p:cNvSpPr txBox="1">
              <a:spLocks noChangeArrowheads="1"/>
            </p:cNvSpPr>
            <p:nvPr/>
          </p:nvSpPr>
          <p:spPr bwMode="auto">
            <a:xfrm>
              <a:off x="1502792" y="1572444"/>
              <a:ext cx="430966" cy="377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20</a:t>
              </a:r>
            </a:p>
          </p:txBody>
        </p:sp>
        <p:sp>
          <p:nvSpPr>
            <p:cNvPr id="254" name="Text Box 96"/>
            <p:cNvSpPr txBox="1">
              <a:spLocks noChangeArrowheads="1"/>
            </p:cNvSpPr>
            <p:nvPr/>
          </p:nvSpPr>
          <p:spPr bwMode="auto">
            <a:xfrm>
              <a:off x="1502792" y="1191444"/>
              <a:ext cx="430966" cy="377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24</a:t>
              </a:r>
            </a:p>
          </p:txBody>
        </p:sp>
        <p:sp>
          <p:nvSpPr>
            <p:cNvPr id="255" name="Oval 102"/>
            <p:cNvSpPr>
              <a:spLocks noChangeArrowheads="1"/>
            </p:cNvSpPr>
            <p:nvPr/>
          </p:nvSpPr>
          <p:spPr bwMode="auto">
            <a:xfrm>
              <a:off x="2521967" y="284403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56" name="Oval 103"/>
            <p:cNvSpPr>
              <a:spLocks noChangeArrowheads="1"/>
            </p:cNvSpPr>
            <p:nvPr/>
          </p:nvSpPr>
          <p:spPr bwMode="auto">
            <a:xfrm>
              <a:off x="2293367" y="322503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57" name="Oval 104"/>
            <p:cNvSpPr>
              <a:spLocks noChangeArrowheads="1"/>
            </p:cNvSpPr>
            <p:nvPr/>
          </p:nvSpPr>
          <p:spPr bwMode="auto">
            <a:xfrm>
              <a:off x="1845692" y="34726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58" name="Oval 105"/>
            <p:cNvSpPr>
              <a:spLocks noChangeArrowheads="1"/>
            </p:cNvSpPr>
            <p:nvPr/>
          </p:nvSpPr>
          <p:spPr bwMode="auto">
            <a:xfrm>
              <a:off x="2055242" y="340600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59" name="Oval 106"/>
            <p:cNvSpPr>
              <a:spLocks noChangeArrowheads="1"/>
            </p:cNvSpPr>
            <p:nvPr/>
          </p:nvSpPr>
          <p:spPr bwMode="auto">
            <a:xfrm>
              <a:off x="2750567" y="207885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0" name="Oval 107"/>
            <p:cNvSpPr>
              <a:spLocks noChangeArrowheads="1"/>
            </p:cNvSpPr>
            <p:nvPr/>
          </p:nvSpPr>
          <p:spPr bwMode="auto">
            <a:xfrm>
              <a:off x="2979167" y="197725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1" name="Oval 108"/>
            <p:cNvSpPr>
              <a:spLocks noChangeArrowheads="1"/>
            </p:cNvSpPr>
            <p:nvPr/>
          </p:nvSpPr>
          <p:spPr bwMode="auto">
            <a:xfrm>
              <a:off x="3207767" y="188676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2" name="Oval 109"/>
            <p:cNvSpPr>
              <a:spLocks noChangeArrowheads="1"/>
            </p:cNvSpPr>
            <p:nvPr/>
          </p:nvSpPr>
          <p:spPr bwMode="auto">
            <a:xfrm>
              <a:off x="3669729" y="169626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3" name="Oval 110"/>
            <p:cNvSpPr>
              <a:spLocks noChangeArrowheads="1"/>
            </p:cNvSpPr>
            <p:nvPr/>
          </p:nvSpPr>
          <p:spPr bwMode="auto">
            <a:xfrm>
              <a:off x="3436367" y="17915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4" name="Oval 113"/>
            <p:cNvSpPr>
              <a:spLocks noChangeArrowheads="1"/>
            </p:cNvSpPr>
            <p:nvPr/>
          </p:nvSpPr>
          <p:spPr bwMode="auto">
            <a:xfrm>
              <a:off x="3898329" y="16010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5" name="Oval 114"/>
            <p:cNvSpPr>
              <a:spLocks noChangeArrowheads="1"/>
            </p:cNvSpPr>
            <p:nvPr/>
          </p:nvSpPr>
          <p:spPr bwMode="auto">
            <a:xfrm>
              <a:off x="4122167" y="151053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6" name="Oval 116"/>
            <p:cNvSpPr>
              <a:spLocks noChangeArrowheads="1"/>
            </p:cNvSpPr>
            <p:nvPr/>
          </p:nvSpPr>
          <p:spPr bwMode="auto">
            <a:xfrm>
              <a:off x="4574604" y="1305744"/>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7" name="Oval 117"/>
            <p:cNvSpPr>
              <a:spLocks noChangeArrowheads="1"/>
            </p:cNvSpPr>
            <p:nvPr/>
          </p:nvSpPr>
          <p:spPr bwMode="auto">
            <a:xfrm>
              <a:off x="4350767" y="1400994"/>
              <a:ext cx="88900" cy="88900"/>
            </a:xfrm>
            <a:prstGeom prst="ellipse">
              <a:avLst/>
            </a:prstGeom>
            <a:solidFill>
              <a:srgbClr val="0000FF"/>
            </a:solidFill>
            <a:ln w="2857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8" name="Freeform 118"/>
            <p:cNvSpPr>
              <a:spLocks/>
            </p:cNvSpPr>
            <p:nvPr/>
          </p:nvSpPr>
          <p:spPr bwMode="auto">
            <a:xfrm>
              <a:off x="1807592" y="1358131"/>
              <a:ext cx="2814637" cy="2174875"/>
            </a:xfrm>
            <a:custGeom>
              <a:avLst/>
              <a:gdLst>
                <a:gd name="T0" fmla="*/ 2147483647 w 1773"/>
                <a:gd name="T1" fmla="*/ 0 h 1370"/>
                <a:gd name="T2" fmla="*/ 2147483647 w 1773"/>
                <a:gd name="T3" fmla="*/ 2147483647 h 1370"/>
                <a:gd name="T4" fmla="*/ 2147483647 w 1773"/>
                <a:gd name="T5" fmla="*/ 2147483647 h 1370"/>
                <a:gd name="T6" fmla="*/ 2147483647 w 1773"/>
                <a:gd name="T7" fmla="*/ 2147483647 h 1370"/>
                <a:gd name="T8" fmla="*/ 2147483647 w 1773"/>
                <a:gd name="T9" fmla="*/ 2147483647 h 1370"/>
                <a:gd name="T10" fmla="*/ 2147483647 w 1773"/>
                <a:gd name="T11" fmla="*/ 2147483647 h 1370"/>
                <a:gd name="T12" fmla="*/ 0 60000 65536"/>
                <a:gd name="T13" fmla="*/ 0 60000 65536"/>
                <a:gd name="T14" fmla="*/ 0 60000 65536"/>
                <a:gd name="T15" fmla="*/ 0 60000 65536"/>
                <a:gd name="T16" fmla="*/ 0 60000 65536"/>
                <a:gd name="T17" fmla="*/ 0 60000 65536"/>
                <a:gd name="T18" fmla="*/ 0 w 1773"/>
                <a:gd name="T19" fmla="*/ 0 h 1370"/>
                <a:gd name="T20" fmla="*/ 1773 w 1773"/>
                <a:gd name="T21" fmla="*/ 1370 h 1370"/>
              </a:gdLst>
              <a:ahLst/>
              <a:cxnLst>
                <a:cxn ang="T12">
                  <a:pos x="T0" y="T1"/>
                </a:cxn>
                <a:cxn ang="T13">
                  <a:pos x="T2" y="T3"/>
                </a:cxn>
                <a:cxn ang="T14">
                  <a:pos x="T4" y="T5"/>
                </a:cxn>
                <a:cxn ang="T15">
                  <a:pos x="T6" y="T7"/>
                </a:cxn>
                <a:cxn ang="T16">
                  <a:pos x="T8" y="T9"/>
                </a:cxn>
                <a:cxn ang="T17">
                  <a:pos x="T10" y="T11"/>
                </a:cxn>
              </a:cxnLst>
              <a:rect l="T18" t="T19" r="T20" b="T21"/>
              <a:pathLst>
                <a:path w="1773" h="1370">
                  <a:moveTo>
                    <a:pt x="1773" y="0"/>
                  </a:moveTo>
                  <a:lnTo>
                    <a:pt x="618" y="487"/>
                  </a:lnTo>
                  <a:lnTo>
                    <a:pt x="480" y="961"/>
                  </a:lnTo>
                  <a:lnTo>
                    <a:pt x="331" y="1201"/>
                  </a:lnTo>
                  <a:lnTo>
                    <a:pt x="187" y="1321"/>
                  </a:lnTo>
                  <a:cubicBezTo>
                    <a:pt x="47" y="1370"/>
                    <a:pt x="0" y="1369"/>
                    <a:pt x="55" y="1369"/>
                  </a:cubicBezTo>
                </a:path>
              </a:pathLst>
            </a:custGeom>
            <a:noFill/>
            <a:ln w="28575" cmpd="sng">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9" name="Text Box 134"/>
            <p:cNvSpPr txBox="1">
              <a:spLocks noChangeArrowheads="1"/>
            </p:cNvSpPr>
            <p:nvPr/>
          </p:nvSpPr>
          <p:spPr bwMode="auto">
            <a:xfrm>
              <a:off x="8097267" y="3444106"/>
              <a:ext cx="1188915" cy="377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2000" b="1" i="0" u="none" strike="noStrike" kern="0" cap="none" spc="0" normalizeH="0" baseline="0" noProof="0">
                  <a:ln>
                    <a:noFill/>
                  </a:ln>
                  <a:solidFill>
                    <a:srgbClr val="000000"/>
                  </a:solidFill>
                  <a:effectLst/>
                  <a:uLnTx/>
                  <a:uFillTx/>
                  <a:latin typeface="Times New Roman" pitchFamily="18" charset="0"/>
                  <a:ea typeface="宋体" charset="-122"/>
                </a:rPr>
                <a:t>传输轮次</a:t>
              </a:r>
            </a:p>
          </p:txBody>
        </p:sp>
        <p:sp>
          <p:nvSpPr>
            <p:cNvPr id="270" name="Text Box 135"/>
            <p:cNvSpPr txBox="1">
              <a:spLocks noChangeArrowheads="1"/>
            </p:cNvSpPr>
            <p:nvPr/>
          </p:nvSpPr>
          <p:spPr bwMode="auto">
            <a:xfrm>
              <a:off x="951929" y="840152"/>
              <a:ext cx="1885791" cy="377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2000" b="1" i="0" u="none" strike="noStrike" kern="0" cap="none" spc="0" normalizeH="0" baseline="0" noProof="0" dirty="0">
                  <a:ln>
                    <a:noFill/>
                  </a:ln>
                  <a:solidFill>
                    <a:srgbClr val="000000"/>
                  </a:solidFill>
                  <a:effectLst/>
                  <a:uLnTx/>
                  <a:uFillTx/>
                  <a:latin typeface="Times New Roman" pitchFamily="18" charset="0"/>
                  <a:ea typeface="宋体" charset="-122"/>
                </a:rPr>
                <a:t>拥塞窗口  </a:t>
              </a:r>
              <a:r>
                <a:rPr kumimoji="1" lang="en-US" altLang="zh-CN" sz="2000" b="1" i="0" u="none" strike="noStrike" kern="0" cap="none" spc="0" normalizeH="0" baseline="0" noProof="0" dirty="0" err="1">
                  <a:ln>
                    <a:noFill/>
                  </a:ln>
                  <a:solidFill>
                    <a:srgbClr val="000000"/>
                  </a:solidFill>
                  <a:effectLst/>
                  <a:uLnTx/>
                  <a:uFillTx/>
                  <a:latin typeface="Times New Roman" pitchFamily="18" charset="0"/>
                  <a:ea typeface="宋体" charset="-122"/>
                </a:rPr>
                <a:t>cwnd</a:t>
              </a:r>
              <a:endParaRPr kumimoji="1" lang="en-US" altLang="zh-CN" sz="2000" b="1" i="0" u="none" strike="noStrike" kern="0" cap="none" spc="0" normalizeH="0" baseline="0" noProof="0" dirty="0">
                <a:ln>
                  <a:noFill/>
                </a:ln>
                <a:solidFill>
                  <a:srgbClr val="000000"/>
                </a:solidFill>
                <a:effectLst/>
                <a:uLnTx/>
                <a:uFillTx/>
                <a:latin typeface="Times New Roman" pitchFamily="18" charset="0"/>
                <a:ea typeface="宋体" charset="-122"/>
              </a:endParaRPr>
            </a:p>
          </p:txBody>
        </p:sp>
        <p:sp>
          <p:nvSpPr>
            <p:cNvPr id="271" name="Text Box 140"/>
            <p:cNvSpPr txBox="1">
              <a:spLocks noChangeArrowheads="1"/>
            </p:cNvSpPr>
            <p:nvPr/>
          </p:nvSpPr>
          <p:spPr bwMode="auto">
            <a:xfrm>
              <a:off x="6895232" y="1763524"/>
              <a:ext cx="1154112" cy="377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dirty="0">
                  <a:ln>
                    <a:noFill/>
                  </a:ln>
                  <a:solidFill>
                    <a:srgbClr val="FF0000"/>
                  </a:solidFill>
                  <a:effectLst/>
                  <a:uLnTx/>
                  <a:uFillTx/>
                  <a:latin typeface="Times New Roman" pitchFamily="18" charset="0"/>
                  <a:ea typeface="宋体" charset="-122"/>
                </a:rPr>
                <a:t>3-ACK</a:t>
              </a:r>
              <a:endParaRPr kumimoji="1" lang="zh-CN" altLang="en-US" sz="2000" b="1" i="0" u="none" strike="noStrike" kern="0" cap="none" spc="0" normalizeH="0" baseline="0" noProof="0" dirty="0">
                <a:ln>
                  <a:noFill/>
                </a:ln>
                <a:solidFill>
                  <a:srgbClr val="FF0000"/>
                </a:solidFill>
                <a:effectLst/>
                <a:uLnTx/>
                <a:uFillTx/>
                <a:latin typeface="Times New Roman" pitchFamily="18" charset="0"/>
                <a:ea typeface="宋体" charset="-122"/>
              </a:endParaRPr>
            </a:p>
          </p:txBody>
        </p:sp>
        <p:sp>
          <p:nvSpPr>
            <p:cNvPr id="272" name="Rectangle 160"/>
            <p:cNvSpPr>
              <a:spLocks noChangeArrowheads="1"/>
            </p:cNvSpPr>
            <p:nvPr/>
          </p:nvSpPr>
          <p:spPr bwMode="auto">
            <a:xfrm>
              <a:off x="1959992" y="1281931"/>
              <a:ext cx="190500" cy="20320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73" name="Line 156"/>
            <p:cNvSpPr>
              <a:spLocks noChangeShapeType="1"/>
            </p:cNvSpPr>
            <p:nvPr/>
          </p:nvSpPr>
          <p:spPr bwMode="auto">
            <a:xfrm>
              <a:off x="1959992" y="2120131"/>
              <a:ext cx="838200" cy="0"/>
            </a:xfrm>
            <a:prstGeom prst="line">
              <a:avLst/>
            </a:prstGeom>
            <a:noFill/>
            <a:ln w="1905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74" name="Line 146"/>
            <p:cNvSpPr>
              <a:spLocks noChangeShapeType="1"/>
            </p:cNvSpPr>
            <p:nvPr/>
          </p:nvSpPr>
          <p:spPr bwMode="auto">
            <a:xfrm flipV="1">
              <a:off x="1959992" y="1351781"/>
              <a:ext cx="2679700" cy="6350"/>
            </a:xfrm>
            <a:prstGeom prst="line">
              <a:avLst/>
            </a:prstGeom>
            <a:noFill/>
            <a:ln w="1905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75" name="Rectangle 162"/>
            <p:cNvSpPr>
              <a:spLocks noChangeArrowheads="1"/>
            </p:cNvSpPr>
            <p:nvPr/>
          </p:nvSpPr>
          <p:spPr bwMode="auto">
            <a:xfrm>
              <a:off x="5236592" y="3415531"/>
              <a:ext cx="1446212" cy="1524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76" name="Line 167"/>
            <p:cNvSpPr>
              <a:spLocks noChangeShapeType="1"/>
            </p:cNvSpPr>
            <p:nvPr/>
          </p:nvSpPr>
          <p:spPr bwMode="auto">
            <a:xfrm>
              <a:off x="1350294" y="3375646"/>
              <a:ext cx="533400" cy="152400"/>
            </a:xfrm>
            <a:prstGeom prst="line">
              <a:avLst/>
            </a:prstGeom>
            <a:noFill/>
            <a:ln w="19050">
              <a:solidFill>
                <a:srgbClr val="000000"/>
              </a:solidFill>
              <a:round/>
              <a:headEnd/>
              <a:tail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77" name="Text Box 203"/>
            <p:cNvSpPr txBox="1">
              <a:spLocks noChangeArrowheads="1"/>
            </p:cNvSpPr>
            <p:nvPr/>
          </p:nvSpPr>
          <p:spPr bwMode="auto">
            <a:xfrm>
              <a:off x="7990046" y="1916832"/>
              <a:ext cx="1600776" cy="784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b="1" i="0" u="none" strike="noStrike" kern="0" cap="none" spc="0" normalizeH="0" baseline="0" noProof="0" dirty="0">
                  <a:ln>
                    <a:noFill/>
                  </a:ln>
                  <a:solidFill>
                    <a:srgbClr val="0000FF"/>
                  </a:solidFill>
                  <a:effectLst/>
                  <a:uLnTx/>
                  <a:uFillTx/>
                  <a:latin typeface="Times New Roman" pitchFamily="18" charset="0"/>
                  <a:ea typeface="宋体" charset="-122"/>
                </a:rPr>
                <a:t>TCP Reno </a:t>
              </a:r>
            </a:p>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b="1" i="0" u="none" strike="noStrike" kern="0" cap="none" spc="0" normalizeH="0" baseline="0" noProof="0" dirty="0">
                  <a:ln>
                    <a:noFill/>
                  </a:ln>
                  <a:solidFill>
                    <a:srgbClr val="0000FF"/>
                  </a:solidFill>
                  <a:effectLst/>
                  <a:uLnTx/>
                  <a:uFillTx/>
                  <a:latin typeface="Times New Roman" pitchFamily="18" charset="0"/>
                  <a:ea typeface="宋体" charset="-122"/>
                </a:rPr>
                <a:t>版本</a:t>
              </a:r>
            </a:p>
          </p:txBody>
        </p:sp>
        <p:sp>
          <p:nvSpPr>
            <p:cNvPr id="278" name="Text Box 205"/>
            <p:cNvSpPr txBox="1">
              <a:spLocks noChangeArrowheads="1"/>
            </p:cNvSpPr>
            <p:nvPr/>
          </p:nvSpPr>
          <p:spPr bwMode="auto">
            <a:xfrm>
              <a:off x="274141" y="1861369"/>
              <a:ext cx="1251556" cy="6679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dirty="0" err="1">
                  <a:ln>
                    <a:noFill/>
                  </a:ln>
                  <a:solidFill>
                    <a:srgbClr val="C00000"/>
                  </a:solidFill>
                  <a:effectLst/>
                  <a:uLnTx/>
                  <a:uFillTx/>
                  <a:latin typeface="Times New Roman" pitchFamily="18" charset="0"/>
                  <a:ea typeface="宋体" charset="-122"/>
                </a:rPr>
                <a:t>ssthresh</a:t>
              </a:r>
              <a:endParaRPr kumimoji="1" lang="en-US" altLang="zh-CN" sz="2000" b="1" i="0" u="none" strike="noStrike" kern="0" cap="none" spc="0" normalizeH="0" baseline="0" noProof="0" dirty="0">
                <a:ln>
                  <a:noFill/>
                </a:ln>
                <a:solidFill>
                  <a:srgbClr val="C00000"/>
                </a:solidFill>
                <a:effectLst/>
                <a:uLnTx/>
                <a:uFillTx/>
                <a:latin typeface="Times New Roman" pitchFamily="18" charset="0"/>
                <a:ea typeface="宋体" charset="-122"/>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2000" b="1" i="0" u="none" strike="noStrike" kern="0" cap="none" spc="0" normalizeH="0" baseline="0" noProof="0" dirty="0">
                  <a:ln>
                    <a:noFill/>
                  </a:ln>
                  <a:solidFill>
                    <a:srgbClr val="C00000"/>
                  </a:solidFill>
                  <a:effectLst/>
                  <a:uLnTx/>
                  <a:uFillTx/>
                  <a:latin typeface="Times New Roman" pitchFamily="18" charset="0"/>
                  <a:ea typeface="宋体" charset="-122"/>
                </a:rPr>
                <a:t> 的初始值</a:t>
              </a:r>
            </a:p>
          </p:txBody>
        </p:sp>
        <p:sp>
          <p:nvSpPr>
            <p:cNvPr id="280" name="Line 215"/>
            <p:cNvSpPr>
              <a:spLocks noChangeShapeType="1"/>
            </p:cNvSpPr>
            <p:nvPr/>
          </p:nvSpPr>
          <p:spPr bwMode="auto">
            <a:xfrm flipV="1">
              <a:off x="1388492" y="2148706"/>
              <a:ext cx="214312" cy="0"/>
            </a:xfrm>
            <a:prstGeom prst="line">
              <a:avLst/>
            </a:prstGeom>
            <a:noFill/>
            <a:ln w="19050">
              <a:solidFill>
                <a:srgbClr val="C00000"/>
              </a:solidFill>
              <a:round/>
              <a:headEnd/>
              <a:tailEnd type="triangle" w="sm"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81" name="Text Box 206"/>
            <p:cNvSpPr txBox="1">
              <a:spLocks noChangeArrowheads="1"/>
            </p:cNvSpPr>
            <p:nvPr/>
          </p:nvSpPr>
          <p:spPr bwMode="auto">
            <a:xfrm rot="20245475">
              <a:off x="6796372" y="2309177"/>
              <a:ext cx="1188915" cy="377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2000" b="1" i="0" u="none" strike="noStrike" kern="0" cap="none" spc="0" normalizeH="0" baseline="0" noProof="0">
                  <a:ln>
                    <a:noFill/>
                  </a:ln>
                  <a:solidFill>
                    <a:srgbClr val="000000"/>
                  </a:solidFill>
                  <a:effectLst/>
                  <a:uLnTx/>
                  <a:uFillTx/>
                  <a:latin typeface="Times New Roman" pitchFamily="18" charset="0"/>
                  <a:ea typeface="宋体" charset="-122"/>
                </a:rPr>
                <a:t>拥塞避免</a:t>
              </a:r>
            </a:p>
          </p:txBody>
        </p:sp>
        <p:sp>
          <p:nvSpPr>
            <p:cNvPr id="282" name="Oval 125"/>
            <p:cNvSpPr>
              <a:spLocks noChangeArrowheads="1"/>
            </p:cNvSpPr>
            <p:nvPr/>
          </p:nvSpPr>
          <p:spPr bwMode="auto">
            <a:xfrm>
              <a:off x="5036567" y="33917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83" name="Oval 126"/>
            <p:cNvSpPr>
              <a:spLocks noChangeArrowheads="1"/>
            </p:cNvSpPr>
            <p:nvPr/>
          </p:nvSpPr>
          <p:spPr bwMode="auto">
            <a:xfrm>
              <a:off x="5266754" y="32059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84" name="Oval 127"/>
            <p:cNvSpPr>
              <a:spLocks noChangeArrowheads="1"/>
            </p:cNvSpPr>
            <p:nvPr/>
          </p:nvSpPr>
          <p:spPr bwMode="auto">
            <a:xfrm>
              <a:off x="4798442" y="346315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85" name="Oval 128"/>
            <p:cNvSpPr>
              <a:spLocks noChangeArrowheads="1"/>
            </p:cNvSpPr>
            <p:nvPr/>
          </p:nvSpPr>
          <p:spPr bwMode="auto">
            <a:xfrm>
              <a:off x="5501704" y="28376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86" name="Oval 129"/>
            <p:cNvSpPr>
              <a:spLocks noChangeArrowheads="1"/>
            </p:cNvSpPr>
            <p:nvPr/>
          </p:nvSpPr>
          <p:spPr bwMode="auto">
            <a:xfrm>
              <a:off x="5973192" y="2353494"/>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87" name="Oval 130"/>
            <p:cNvSpPr>
              <a:spLocks noChangeArrowheads="1"/>
            </p:cNvSpPr>
            <p:nvPr/>
          </p:nvSpPr>
          <p:spPr bwMode="auto">
            <a:xfrm>
              <a:off x="6646292" y="207726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88" name="Oval 131"/>
            <p:cNvSpPr>
              <a:spLocks noChangeArrowheads="1"/>
            </p:cNvSpPr>
            <p:nvPr/>
          </p:nvSpPr>
          <p:spPr bwMode="auto">
            <a:xfrm>
              <a:off x="6197029" y="22534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89" name="Oval 132"/>
            <p:cNvSpPr>
              <a:spLocks noChangeArrowheads="1"/>
            </p:cNvSpPr>
            <p:nvPr/>
          </p:nvSpPr>
          <p:spPr bwMode="auto">
            <a:xfrm>
              <a:off x="6425629" y="2162994"/>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90" name="Line 147"/>
            <p:cNvSpPr>
              <a:spLocks noChangeShapeType="1"/>
            </p:cNvSpPr>
            <p:nvPr/>
          </p:nvSpPr>
          <p:spPr bwMode="auto">
            <a:xfrm rot="10800000">
              <a:off x="1977454" y="2499544"/>
              <a:ext cx="4038600" cy="0"/>
            </a:xfrm>
            <a:prstGeom prst="line">
              <a:avLst/>
            </a:prstGeom>
            <a:noFill/>
            <a:ln w="1905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cxnSp>
          <p:nvCxnSpPr>
            <p:cNvPr id="291" name="直接连接符 115"/>
            <p:cNvCxnSpPr>
              <a:cxnSpLocks noChangeShapeType="1"/>
            </p:cNvCxnSpPr>
            <p:nvPr/>
          </p:nvCxnSpPr>
          <p:spPr bwMode="auto">
            <a:xfrm>
              <a:off x="4626992" y="1348606"/>
              <a:ext cx="228600" cy="2138363"/>
            </a:xfrm>
            <a:prstGeom prst="line">
              <a:avLst/>
            </a:prstGeom>
            <a:noFill/>
            <a:ln w="28575" algn="ctr">
              <a:solidFill>
                <a:srgbClr val="0000FF"/>
              </a:solidFill>
              <a:round/>
              <a:headEnd/>
              <a:tailEnd/>
            </a:ln>
            <a:extLst>
              <a:ext uri="{909E8E84-426E-40DD-AFC4-6F175D3DCCD1}">
                <a14:hiddenFill xmlns:a14="http://schemas.microsoft.com/office/drawing/2010/main">
                  <a:noFill/>
                </a14:hiddenFill>
              </a:ext>
            </a:extLst>
          </p:spPr>
        </p:cxnSp>
        <p:sp>
          <p:nvSpPr>
            <p:cNvPr id="293" name="Rectangle 161"/>
            <p:cNvSpPr>
              <a:spLocks noChangeArrowheads="1"/>
            </p:cNvSpPr>
            <p:nvPr/>
          </p:nvSpPr>
          <p:spPr bwMode="auto">
            <a:xfrm>
              <a:off x="2504728" y="1750244"/>
              <a:ext cx="431800" cy="34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800" b="1" i="0" u="none" strike="noStrike" kern="0" cap="none" spc="0" normalizeH="0" baseline="0" noProof="0" dirty="0">
                  <a:ln>
                    <a:noFill/>
                  </a:ln>
                  <a:solidFill>
                    <a:sysClr val="windowText" lastClr="000000"/>
                  </a:solidFill>
                  <a:effectLst/>
                  <a:uLnTx/>
                  <a:uFillTx/>
                  <a:sym typeface="Wingdings" pitchFamily="2" charset="2"/>
                </a:rPr>
                <a:t></a:t>
              </a:r>
              <a:endParaRPr kumimoji="0" lang="zh-CN" altLang="en-US" sz="2800" b="1" i="0" u="none" strike="noStrike" kern="0" cap="none" spc="0" normalizeH="0" baseline="0" noProof="0" dirty="0">
                <a:ln>
                  <a:noFill/>
                </a:ln>
                <a:solidFill>
                  <a:sysClr val="windowText" lastClr="000000"/>
                </a:solidFill>
                <a:effectLst/>
                <a:uLnTx/>
                <a:uFillTx/>
              </a:endParaRPr>
            </a:p>
          </p:txBody>
        </p:sp>
        <p:sp>
          <p:nvSpPr>
            <p:cNvPr id="294" name="Oval 129"/>
            <p:cNvSpPr>
              <a:spLocks noChangeArrowheads="1"/>
            </p:cNvSpPr>
            <p:nvPr/>
          </p:nvSpPr>
          <p:spPr bwMode="auto">
            <a:xfrm>
              <a:off x="5741417" y="24566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95" name="任意多边形 134"/>
            <p:cNvSpPr>
              <a:spLocks/>
            </p:cNvSpPr>
            <p:nvPr/>
          </p:nvSpPr>
          <p:spPr bwMode="auto">
            <a:xfrm>
              <a:off x="4846067" y="2109019"/>
              <a:ext cx="1862137" cy="1401762"/>
            </a:xfrm>
            <a:custGeom>
              <a:avLst/>
              <a:gdLst>
                <a:gd name="T0" fmla="*/ 0 w 1929384"/>
                <a:gd name="T1" fmla="*/ 1404281 h 1426464"/>
                <a:gd name="T2" fmla="*/ 224888 w 1929384"/>
                <a:gd name="T3" fmla="*/ 1336767 h 1426464"/>
                <a:gd name="T4" fmla="*/ 445365 w 1929384"/>
                <a:gd name="T5" fmla="*/ 1152231 h 1426464"/>
                <a:gd name="T6" fmla="*/ 903959 w 1929384"/>
                <a:gd name="T7" fmla="*/ 409583 h 1426464"/>
                <a:gd name="T8" fmla="*/ 1860836 w 1929384"/>
                <a:gd name="T9" fmla="*/ 0 h 1426464"/>
                <a:gd name="T10" fmla="*/ 0 60000 65536"/>
                <a:gd name="T11" fmla="*/ 0 60000 65536"/>
                <a:gd name="T12" fmla="*/ 0 60000 65536"/>
                <a:gd name="T13" fmla="*/ 0 60000 65536"/>
                <a:gd name="T14" fmla="*/ 0 60000 65536"/>
                <a:gd name="T15" fmla="*/ 0 w 1929384"/>
                <a:gd name="T16" fmla="*/ 0 h 1426464"/>
                <a:gd name="T17" fmla="*/ 1929384 w 1929384"/>
                <a:gd name="T18" fmla="*/ 1426464 h 1426464"/>
              </a:gdLst>
              <a:ahLst/>
              <a:cxnLst>
                <a:cxn ang="T10">
                  <a:pos x="T0" y="T1"/>
                </a:cxn>
                <a:cxn ang="T11">
                  <a:pos x="T2" y="T3"/>
                </a:cxn>
                <a:cxn ang="T12">
                  <a:pos x="T4" y="T5"/>
                </a:cxn>
                <a:cxn ang="T13">
                  <a:pos x="T6" y="T7"/>
                </a:cxn>
                <a:cxn ang="T14">
                  <a:pos x="T8" y="T9"/>
                </a:cxn>
              </a:cxnLst>
              <a:rect l="T15" t="T16" r="T17" b="T18"/>
              <a:pathLst>
                <a:path w="1929384" h="1426464">
                  <a:moveTo>
                    <a:pt x="0" y="1426464"/>
                  </a:moveTo>
                  <a:lnTo>
                    <a:pt x="233172" y="1357884"/>
                  </a:lnTo>
                  <a:lnTo>
                    <a:pt x="461772" y="1170432"/>
                  </a:lnTo>
                  <a:lnTo>
                    <a:pt x="937260" y="416052"/>
                  </a:lnTo>
                  <a:lnTo>
                    <a:pt x="1929384" y="0"/>
                  </a:lnTo>
                </a:path>
              </a:pathLst>
            </a:custGeom>
            <a:noFill/>
            <a:ln w="28575" cap="flat" cmpd="sng" algn="ctr">
              <a:solidFill>
                <a:srgbClr val="0000FF"/>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96" name="Rectangle 161"/>
            <p:cNvSpPr>
              <a:spLocks noChangeArrowheads="1"/>
            </p:cNvSpPr>
            <p:nvPr/>
          </p:nvSpPr>
          <p:spPr bwMode="auto">
            <a:xfrm>
              <a:off x="4448944" y="1014165"/>
              <a:ext cx="358775" cy="28892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800" b="1" i="0" u="none" strike="noStrike" kern="0" cap="none" spc="0" normalizeH="0" baseline="0" noProof="0" dirty="0">
                  <a:ln>
                    <a:noFill/>
                  </a:ln>
                  <a:solidFill>
                    <a:sysClr val="windowText" lastClr="000000"/>
                  </a:solidFill>
                  <a:effectLst/>
                  <a:uLnTx/>
                  <a:uFillTx/>
                  <a:sym typeface="Wingdings" pitchFamily="2" charset="2"/>
                </a:rPr>
                <a:t></a:t>
              </a:r>
              <a:endParaRPr kumimoji="0" lang="zh-CN" altLang="en-US" sz="2800" b="1" i="0" u="none" strike="noStrike" kern="0" cap="none" spc="0" normalizeH="0" baseline="0" noProof="0" dirty="0">
                <a:ln>
                  <a:noFill/>
                </a:ln>
                <a:solidFill>
                  <a:sysClr val="windowText" lastClr="000000"/>
                </a:solidFill>
                <a:effectLst/>
                <a:uLnTx/>
                <a:uFillTx/>
              </a:endParaRPr>
            </a:p>
          </p:txBody>
        </p:sp>
        <p:cxnSp>
          <p:nvCxnSpPr>
            <p:cNvPr id="297" name="直接连接符 119"/>
            <p:cNvCxnSpPr>
              <a:cxnSpLocks noChangeShapeType="1"/>
            </p:cNvCxnSpPr>
            <p:nvPr/>
          </p:nvCxnSpPr>
          <p:spPr bwMode="auto">
            <a:xfrm flipH="1">
              <a:off x="6909817" y="2902769"/>
              <a:ext cx="1587" cy="655637"/>
            </a:xfrm>
            <a:prstGeom prst="line">
              <a:avLst/>
            </a:prstGeom>
            <a:noFill/>
            <a:ln w="19050" algn="ctr">
              <a:solidFill>
                <a:srgbClr val="000000"/>
              </a:solidFill>
              <a:prstDash val="dash"/>
              <a:round/>
              <a:headEnd/>
              <a:tailEnd/>
            </a:ln>
          </p:spPr>
        </p:cxnSp>
        <p:cxnSp>
          <p:nvCxnSpPr>
            <p:cNvPr id="298" name="直接连接符 121"/>
            <p:cNvCxnSpPr>
              <a:cxnSpLocks noChangeShapeType="1"/>
            </p:cNvCxnSpPr>
            <p:nvPr/>
          </p:nvCxnSpPr>
          <p:spPr bwMode="auto">
            <a:xfrm>
              <a:off x="1993329" y="2886894"/>
              <a:ext cx="5545138" cy="0"/>
            </a:xfrm>
            <a:prstGeom prst="line">
              <a:avLst/>
            </a:prstGeom>
            <a:noFill/>
            <a:ln w="19050" algn="ctr">
              <a:solidFill>
                <a:srgbClr val="000000"/>
              </a:solidFill>
              <a:prstDash val="dash"/>
              <a:round/>
              <a:headEnd/>
              <a:tailEnd/>
            </a:ln>
          </p:spPr>
        </p:cxnSp>
        <p:sp>
          <p:nvSpPr>
            <p:cNvPr id="299" name="Oval 130"/>
            <p:cNvSpPr>
              <a:spLocks noChangeArrowheads="1"/>
            </p:cNvSpPr>
            <p:nvPr/>
          </p:nvSpPr>
          <p:spPr bwMode="auto">
            <a:xfrm>
              <a:off x="6866954" y="28456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300" name="Line 24"/>
            <p:cNvSpPr>
              <a:spLocks noChangeShapeType="1"/>
            </p:cNvSpPr>
            <p:nvPr/>
          </p:nvSpPr>
          <p:spPr bwMode="auto">
            <a:xfrm>
              <a:off x="7367017" y="348538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301" name="Line 22"/>
            <p:cNvSpPr>
              <a:spLocks noChangeShapeType="1"/>
            </p:cNvSpPr>
            <p:nvPr/>
          </p:nvSpPr>
          <p:spPr bwMode="auto">
            <a:xfrm>
              <a:off x="7135242" y="3490144"/>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302" name="Text Box 87"/>
            <p:cNvSpPr txBox="1">
              <a:spLocks noChangeArrowheads="1"/>
            </p:cNvSpPr>
            <p:nvPr/>
          </p:nvSpPr>
          <p:spPr bwMode="auto">
            <a:xfrm>
              <a:off x="7151117" y="3593331"/>
              <a:ext cx="430966" cy="377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24</a:t>
              </a:r>
            </a:p>
          </p:txBody>
        </p:sp>
        <p:sp>
          <p:nvSpPr>
            <p:cNvPr id="303" name="Line 22"/>
            <p:cNvSpPr>
              <a:spLocks noChangeShapeType="1"/>
            </p:cNvSpPr>
            <p:nvPr/>
          </p:nvSpPr>
          <p:spPr bwMode="auto">
            <a:xfrm>
              <a:off x="7605142" y="349808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cxnSp>
          <p:nvCxnSpPr>
            <p:cNvPr id="304" name="直接连接符 134"/>
            <p:cNvCxnSpPr>
              <a:cxnSpLocks noChangeShapeType="1"/>
              <a:stCxn id="295" idx="4"/>
              <a:endCxn id="299" idx="3"/>
            </p:cNvCxnSpPr>
            <p:nvPr/>
          </p:nvCxnSpPr>
          <p:spPr bwMode="auto">
            <a:xfrm>
              <a:off x="6706617" y="2109019"/>
              <a:ext cx="200025" cy="785812"/>
            </a:xfrm>
            <a:prstGeom prst="line">
              <a:avLst/>
            </a:prstGeom>
            <a:noFill/>
            <a:ln w="28575" algn="ctr">
              <a:solidFill>
                <a:srgbClr val="0000FF"/>
              </a:solidFill>
              <a:round/>
              <a:headEnd/>
              <a:tailEnd/>
            </a:ln>
          </p:spPr>
        </p:cxnSp>
        <p:sp>
          <p:nvSpPr>
            <p:cNvPr id="305" name="Text Box 206"/>
            <p:cNvSpPr txBox="1">
              <a:spLocks noChangeArrowheads="1"/>
            </p:cNvSpPr>
            <p:nvPr/>
          </p:nvSpPr>
          <p:spPr bwMode="auto">
            <a:xfrm rot="20070649">
              <a:off x="5683433" y="1948020"/>
              <a:ext cx="1088691" cy="3485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800" b="1" i="0" u="none" strike="noStrike" kern="0" cap="none" spc="0" normalizeH="0" baseline="0" noProof="0" dirty="0">
                  <a:ln>
                    <a:noFill/>
                  </a:ln>
                  <a:solidFill>
                    <a:srgbClr val="000000"/>
                  </a:solidFill>
                  <a:effectLst/>
                  <a:uLnTx/>
                  <a:uFillTx/>
                  <a:latin typeface="Times New Roman" pitchFamily="18" charset="0"/>
                  <a:ea typeface="宋体" charset="-122"/>
                </a:rPr>
                <a:t>拥塞避免</a:t>
              </a:r>
            </a:p>
          </p:txBody>
        </p:sp>
        <p:sp>
          <p:nvSpPr>
            <p:cNvPr id="306" name="Text Box 206"/>
            <p:cNvSpPr txBox="1">
              <a:spLocks noChangeArrowheads="1"/>
            </p:cNvSpPr>
            <p:nvPr/>
          </p:nvSpPr>
          <p:spPr bwMode="auto">
            <a:xfrm rot="20205303">
              <a:off x="2929222" y="1439227"/>
              <a:ext cx="1188915" cy="377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2000" b="1" i="0" u="none" strike="noStrike" kern="0" cap="none" spc="0" normalizeH="0" baseline="0" noProof="0">
                  <a:ln>
                    <a:noFill/>
                  </a:ln>
                  <a:solidFill>
                    <a:srgbClr val="000000"/>
                  </a:solidFill>
                  <a:effectLst/>
                  <a:uLnTx/>
                  <a:uFillTx/>
                  <a:latin typeface="Times New Roman" pitchFamily="18" charset="0"/>
                  <a:ea typeface="宋体" charset="-122"/>
                </a:rPr>
                <a:t>拥塞避免</a:t>
              </a:r>
            </a:p>
          </p:txBody>
        </p:sp>
        <p:sp>
          <p:nvSpPr>
            <p:cNvPr id="307" name="TextBox 147"/>
            <p:cNvSpPr txBox="1">
              <a:spLocks noChangeArrowheads="1"/>
            </p:cNvSpPr>
            <p:nvPr/>
          </p:nvSpPr>
          <p:spPr bwMode="auto">
            <a:xfrm>
              <a:off x="5422329" y="2118544"/>
              <a:ext cx="493607" cy="4937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2800" b="1" i="0" u="none" strike="noStrike" kern="0" cap="none" spc="0" normalizeH="0" baseline="0" noProof="0" dirty="0">
                  <a:ln>
                    <a:noFill/>
                  </a:ln>
                  <a:solidFill>
                    <a:srgbClr val="000000"/>
                  </a:solidFill>
                  <a:effectLst/>
                  <a:uLnTx/>
                  <a:uFillTx/>
                  <a:latin typeface="Times New Roman" pitchFamily="18" charset="0"/>
                  <a:ea typeface="宋体" charset="-122"/>
                  <a:sym typeface="Wingdings" pitchFamily="2" charset="2"/>
                </a:rPr>
                <a:t></a:t>
              </a:r>
              <a:endParaRPr kumimoji="1" lang="zh-CN" altLang="en-US" sz="2800" b="1" i="0" u="none" strike="noStrike" kern="0" cap="none" spc="0" normalizeH="0" baseline="0" noProof="0" dirty="0">
                <a:ln>
                  <a:noFill/>
                </a:ln>
                <a:solidFill>
                  <a:srgbClr val="000000"/>
                </a:solidFill>
                <a:effectLst/>
                <a:uLnTx/>
                <a:uFillTx/>
                <a:latin typeface="Times New Roman" pitchFamily="18" charset="0"/>
                <a:ea typeface="宋体" charset="-122"/>
              </a:endParaRPr>
            </a:p>
          </p:txBody>
        </p:sp>
        <p:sp>
          <p:nvSpPr>
            <p:cNvPr id="308" name="矩形 150"/>
            <p:cNvSpPr>
              <a:spLocks noChangeArrowheads="1"/>
            </p:cNvSpPr>
            <p:nvPr/>
          </p:nvSpPr>
          <p:spPr bwMode="auto">
            <a:xfrm>
              <a:off x="2253679" y="3444106"/>
              <a:ext cx="2516188" cy="119063"/>
            </a:xfrm>
            <a:prstGeom prst="rect">
              <a:avLst/>
            </a:prstGeom>
            <a:solidFill>
              <a:srgbClr val="FFFFFF"/>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309" name="TextBox 148"/>
            <p:cNvSpPr txBox="1">
              <a:spLocks noChangeArrowheads="1"/>
            </p:cNvSpPr>
            <p:nvPr/>
          </p:nvSpPr>
          <p:spPr bwMode="auto">
            <a:xfrm>
              <a:off x="6573267" y="1716906"/>
              <a:ext cx="493607" cy="4937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2800" b="1" i="0" u="none" strike="noStrike" kern="0" cap="none" spc="0" normalizeH="0" baseline="0" noProof="0">
                  <a:ln>
                    <a:noFill/>
                  </a:ln>
                  <a:solidFill>
                    <a:srgbClr val="000000"/>
                  </a:solidFill>
                  <a:effectLst/>
                  <a:uLnTx/>
                  <a:uFillTx/>
                  <a:latin typeface="Times New Roman" pitchFamily="18" charset="0"/>
                  <a:ea typeface="宋体" charset="-122"/>
                  <a:sym typeface="Wingdings" pitchFamily="2" charset="2"/>
                </a:rPr>
                <a:t></a:t>
              </a:r>
              <a:endParaRPr kumimoji="1" lang="zh-CN" altLang="en-US" sz="2800" b="1" i="0" u="none" strike="noStrike" kern="0" cap="none" spc="0" normalizeH="0" baseline="0" noProof="0">
                <a:ln>
                  <a:noFill/>
                </a:ln>
                <a:solidFill>
                  <a:srgbClr val="000000"/>
                </a:solidFill>
                <a:effectLst/>
                <a:uLnTx/>
                <a:uFillTx/>
                <a:latin typeface="Times New Roman" pitchFamily="18" charset="0"/>
                <a:ea typeface="宋体" charset="-122"/>
              </a:endParaRPr>
            </a:p>
          </p:txBody>
        </p:sp>
        <p:sp>
          <p:nvSpPr>
            <p:cNvPr id="310" name="Line 167"/>
            <p:cNvSpPr>
              <a:spLocks noChangeShapeType="1"/>
            </p:cNvSpPr>
            <p:nvPr/>
          </p:nvSpPr>
          <p:spPr bwMode="auto">
            <a:xfrm>
              <a:off x="4473054" y="3366071"/>
              <a:ext cx="371475" cy="134937"/>
            </a:xfrm>
            <a:prstGeom prst="line">
              <a:avLst/>
            </a:prstGeom>
            <a:noFill/>
            <a:ln w="19050">
              <a:solidFill>
                <a:srgbClr val="000000"/>
              </a:solidFill>
              <a:round/>
              <a:headEnd/>
              <a:tail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311" name="矩形 151"/>
            <p:cNvSpPr>
              <a:spLocks noChangeArrowheads="1"/>
            </p:cNvSpPr>
            <p:nvPr/>
          </p:nvSpPr>
          <p:spPr bwMode="auto">
            <a:xfrm>
              <a:off x="7078092" y="3444106"/>
              <a:ext cx="593725" cy="107950"/>
            </a:xfrm>
            <a:prstGeom prst="rect">
              <a:avLst/>
            </a:prstGeom>
            <a:solidFill>
              <a:srgbClr val="FFFFFF"/>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cxnSp>
          <p:nvCxnSpPr>
            <p:cNvPr id="312" name="直接连接符 153"/>
            <p:cNvCxnSpPr>
              <a:cxnSpLocks noChangeShapeType="1"/>
            </p:cNvCxnSpPr>
            <p:nvPr/>
          </p:nvCxnSpPr>
          <p:spPr bwMode="auto">
            <a:xfrm flipV="1">
              <a:off x="5774754" y="2532881"/>
              <a:ext cx="11113" cy="984250"/>
            </a:xfrm>
            <a:prstGeom prst="line">
              <a:avLst/>
            </a:prstGeom>
            <a:noFill/>
            <a:ln w="19050" algn="ctr">
              <a:solidFill>
                <a:srgbClr val="000000"/>
              </a:solidFill>
              <a:prstDash val="dash"/>
              <a:round/>
              <a:headEnd/>
              <a:tailEnd/>
            </a:ln>
          </p:spPr>
        </p:cxnSp>
        <p:cxnSp>
          <p:nvCxnSpPr>
            <p:cNvPr id="313" name="直接连接符 157"/>
            <p:cNvCxnSpPr>
              <a:cxnSpLocks noChangeShapeType="1"/>
            </p:cNvCxnSpPr>
            <p:nvPr/>
          </p:nvCxnSpPr>
          <p:spPr bwMode="auto">
            <a:xfrm flipV="1">
              <a:off x="6682804" y="2177281"/>
              <a:ext cx="11113" cy="1435100"/>
            </a:xfrm>
            <a:prstGeom prst="line">
              <a:avLst/>
            </a:prstGeom>
            <a:noFill/>
            <a:ln w="19050" algn="ctr">
              <a:solidFill>
                <a:srgbClr val="000000"/>
              </a:solidFill>
              <a:prstDash val="dash"/>
              <a:round/>
              <a:headEnd/>
              <a:tailEnd/>
            </a:ln>
          </p:spPr>
        </p:cxnSp>
        <p:cxnSp>
          <p:nvCxnSpPr>
            <p:cNvPr id="314" name="直接连接符 141"/>
            <p:cNvCxnSpPr>
              <a:cxnSpLocks noChangeShapeType="1"/>
            </p:cNvCxnSpPr>
            <p:nvPr/>
          </p:nvCxnSpPr>
          <p:spPr bwMode="auto">
            <a:xfrm flipV="1">
              <a:off x="6847904" y="2386831"/>
              <a:ext cx="1219200" cy="528638"/>
            </a:xfrm>
            <a:prstGeom prst="line">
              <a:avLst/>
            </a:prstGeom>
            <a:noFill/>
            <a:ln w="28575" algn="ctr">
              <a:solidFill>
                <a:srgbClr val="0000FF"/>
              </a:solidFill>
              <a:round/>
              <a:headEnd/>
              <a:tailEnd/>
            </a:ln>
          </p:spPr>
        </p:cxnSp>
        <p:sp>
          <p:nvSpPr>
            <p:cNvPr id="315" name="Oval 202"/>
            <p:cNvSpPr>
              <a:spLocks noChangeArrowheads="1"/>
            </p:cNvSpPr>
            <p:nvPr/>
          </p:nvSpPr>
          <p:spPr bwMode="auto">
            <a:xfrm>
              <a:off x="7554342" y="2556694"/>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316" name="Oval 130"/>
            <p:cNvSpPr>
              <a:spLocks noChangeArrowheads="1"/>
            </p:cNvSpPr>
            <p:nvPr/>
          </p:nvSpPr>
          <p:spPr bwMode="auto">
            <a:xfrm>
              <a:off x="7092379" y="274560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317" name="Oval 130"/>
            <p:cNvSpPr>
              <a:spLocks noChangeArrowheads="1"/>
            </p:cNvSpPr>
            <p:nvPr/>
          </p:nvSpPr>
          <p:spPr bwMode="auto">
            <a:xfrm>
              <a:off x="7325742" y="265353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318" name="TextBox 149"/>
            <p:cNvSpPr txBox="1">
              <a:spLocks noChangeArrowheads="1"/>
            </p:cNvSpPr>
            <p:nvPr/>
          </p:nvSpPr>
          <p:spPr bwMode="auto">
            <a:xfrm>
              <a:off x="6646292" y="2869431"/>
              <a:ext cx="493607" cy="4937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2800" b="1" i="0" u="none" strike="noStrike" kern="0" cap="none" spc="0" normalizeH="0" baseline="0" noProof="0" dirty="0">
                  <a:ln>
                    <a:noFill/>
                  </a:ln>
                  <a:solidFill>
                    <a:srgbClr val="000000"/>
                  </a:solidFill>
                  <a:effectLst/>
                  <a:uLnTx/>
                  <a:uFillTx/>
                  <a:latin typeface="Times New Roman" pitchFamily="18" charset="0"/>
                  <a:ea typeface="宋体" charset="-122"/>
                  <a:sym typeface="Wingdings" pitchFamily="2" charset="2"/>
                </a:rPr>
                <a:t></a:t>
              </a:r>
              <a:endParaRPr kumimoji="1" lang="zh-CN" altLang="en-US" sz="2800" b="1" i="0" u="none" strike="noStrike" kern="0" cap="none" spc="0" normalizeH="0" baseline="0" noProof="0" dirty="0">
                <a:ln>
                  <a:noFill/>
                </a:ln>
                <a:solidFill>
                  <a:srgbClr val="000000"/>
                </a:solidFill>
                <a:effectLst/>
                <a:uLnTx/>
                <a:uFillTx/>
                <a:latin typeface="Times New Roman" pitchFamily="18" charset="0"/>
                <a:ea typeface="宋体" charset="-122"/>
              </a:endParaRPr>
            </a:p>
          </p:txBody>
        </p:sp>
        <p:sp>
          <p:nvSpPr>
            <p:cNvPr id="319" name="Oval 202"/>
            <p:cNvSpPr>
              <a:spLocks noChangeArrowheads="1"/>
            </p:cNvSpPr>
            <p:nvPr/>
          </p:nvSpPr>
          <p:spPr bwMode="auto">
            <a:xfrm>
              <a:off x="7790879" y="24392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cxnSp>
          <p:nvCxnSpPr>
            <p:cNvPr id="320" name="直接连接符 117"/>
            <p:cNvCxnSpPr>
              <a:cxnSpLocks noChangeShapeType="1"/>
            </p:cNvCxnSpPr>
            <p:nvPr/>
          </p:nvCxnSpPr>
          <p:spPr bwMode="auto">
            <a:xfrm flipH="1">
              <a:off x="4625404" y="1472431"/>
              <a:ext cx="4763" cy="2076450"/>
            </a:xfrm>
            <a:prstGeom prst="line">
              <a:avLst/>
            </a:prstGeom>
            <a:noFill/>
            <a:ln w="19050" algn="ctr">
              <a:solidFill>
                <a:srgbClr val="000000"/>
              </a:solidFill>
              <a:prstDash val="dash"/>
              <a:round/>
              <a:headEnd/>
              <a:tailEnd/>
            </a:ln>
            <a:extLst>
              <a:ext uri="{909E8E84-426E-40DD-AFC4-6F175D3DCCD1}">
                <a14:hiddenFill xmlns:a14="http://schemas.microsoft.com/office/drawing/2010/main">
                  <a:noFill/>
                </a14:hiddenFill>
              </a:ext>
            </a:extLst>
          </p:spPr>
        </p:cxnSp>
        <p:cxnSp>
          <p:nvCxnSpPr>
            <p:cNvPr id="321" name="直接连接符 119"/>
            <p:cNvCxnSpPr>
              <a:cxnSpLocks noChangeShapeType="1"/>
            </p:cNvCxnSpPr>
            <p:nvPr/>
          </p:nvCxnSpPr>
          <p:spPr bwMode="auto">
            <a:xfrm>
              <a:off x="2796604" y="2229669"/>
              <a:ext cx="0" cy="1306512"/>
            </a:xfrm>
            <a:prstGeom prst="line">
              <a:avLst/>
            </a:prstGeom>
            <a:noFill/>
            <a:ln w="19050" algn="ctr">
              <a:solidFill>
                <a:srgbClr val="000000"/>
              </a:solidFill>
              <a:prstDash val="dash"/>
              <a:round/>
              <a:headEnd/>
              <a:tailEnd/>
            </a:ln>
            <a:extLst>
              <a:ext uri="{909E8E84-426E-40DD-AFC4-6F175D3DCCD1}">
                <a14:hiddenFill xmlns:a14="http://schemas.microsoft.com/office/drawing/2010/main">
                  <a:noFill/>
                </a14:hiddenFill>
              </a:ext>
            </a:extLst>
          </p:spPr>
        </p:cxnSp>
        <p:sp>
          <p:nvSpPr>
            <p:cNvPr id="279" name="Text Box 209"/>
            <p:cNvSpPr txBox="1">
              <a:spLocks noChangeArrowheads="1"/>
            </p:cNvSpPr>
            <p:nvPr/>
          </p:nvSpPr>
          <p:spPr bwMode="auto">
            <a:xfrm>
              <a:off x="408856" y="3033515"/>
              <a:ext cx="1066799" cy="377560"/>
            </a:xfrm>
            <a:prstGeom prst="rect">
              <a:avLst/>
            </a:prstGeom>
            <a:solidFill>
              <a:srgbClr val="FFFF66"/>
            </a:solidFill>
            <a:ln w="9525">
              <a:solidFill>
                <a:srgbClr val="000000"/>
              </a:solidFill>
              <a:miter lim="800000"/>
              <a:headEnd/>
              <a:tailEnd/>
            </a:ln>
            <a:effectLst>
              <a:outerShdw dist="53882" dir="2700000" algn="ctr" rotWithShape="0">
                <a:srgbClr val="808080"/>
              </a:outerShdw>
            </a:effectLst>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2000" b="1" i="0" u="none" strike="noStrike" kern="0" cap="none" spc="0" normalizeH="0" baseline="0" noProof="0" dirty="0">
                  <a:ln>
                    <a:noFill/>
                  </a:ln>
                  <a:solidFill>
                    <a:sysClr val="windowText" lastClr="000000"/>
                  </a:solidFill>
                  <a:effectLst/>
                  <a:uLnTx/>
                  <a:uFillTx/>
                  <a:ea typeface="宋体" pitchFamily="2" charset="-122"/>
                </a:rPr>
                <a:t>慢开始</a:t>
              </a:r>
            </a:p>
          </p:txBody>
        </p:sp>
        <p:sp>
          <p:nvSpPr>
            <p:cNvPr id="292" name="Text Box 209"/>
            <p:cNvSpPr txBox="1">
              <a:spLocks noChangeArrowheads="1"/>
            </p:cNvSpPr>
            <p:nvPr/>
          </p:nvSpPr>
          <p:spPr bwMode="auto">
            <a:xfrm>
              <a:off x="3436367" y="3012306"/>
              <a:ext cx="1066800" cy="377560"/>
            </a:xfrm>
            <a:prstGeom prst="rect">
              <a:avLst/>
            </a:prstGeom>
            <a:solidFill>
              <a:srgbClr val="FFFF66"/>
            </a:solidFill>
            <a:ln w="9525">
              <a:solidFill>
                <a:srgbClr val="000000"/>
              </a:solidFill>
              <a:miter lim="800000"/>
              <a:headEnd/>
              <a:tailEnd/>
            </a:ln>
            <a:effectLst>
              <a:outerShdw dist="53882" dir="2700000" algn="ctr" rotWithShape="0">
                <a:srgbClr val="808080"/>
              </a:outerShdw>
            </a:effectLst>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2000" b="1" i="0" u="none" strike="noStrike" kern="0" cap="none" spc="0" normalizeH="0" baseline="0" noProof="0" dirty="0">
                  <a:ln>
                    <a:noFill/>
                  </a:ln>
                  <a:solidFill>
                    <a:sysClr val="windowText" lastClr="000000"/>
                  </a:solidFill>
                  <a:effectLst/>
                  <a:uLnTx/>
                  <a:uFillTx/>
                  <a:ea typeface="宋体" pitchFamily="2" charset="-122"/>
                </a:rPr>
                <a:t>慢开始</a:t>
              </a:r>
            </a:p>
          </p:txBody>
        </p:sp>
      </p:grpSp>
    </p:spTree>
    <p:extLst>
      <p:ext uri="{BB962C8B-B14F-4D97-AF65-F5344CB8AC3E}">
        <p14:creationId xmlns:p14="http://schemas.microsoft.com/office/powerpoint/2010/main" val="166151106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 name="Rectangle 5"/>
          <p:cNvSpPr txBox="1">
            <a:spLocks noChangeArrowheads="1"/>
          </p:cNvSpPr>
          <p:nvPr/>
        </p:nvSpPr>
        <p:spPr bwMode="auto">
          <a:xfrm>
            <a:off x="417512" y="152400"/>
            <a:ext cx="91440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kumimoji="1" sz="4400" b="1">
                <a:solidFill>
                  <a:schemeClr val="tx2"/>
                </a:solidFill>
                <a:latin typeface="+mj-lt"/>
                <a:ea typeface="+mj-ea"/>
                <a:cs typeface="+mj-cs"/>
              </a:defRPr>
            </a:lvl1pPr>
            <a:lvl2pPr algn="l" rtl="0" eaLnBrk="0" fontAlgn="base" hangingPunct="0">
              <a:spcBef>
                <a:spcPct val="0"/>
              </a:spcBef>
              <a:spcAft>
                <a:spcPct val="0"/>
              </a:spcAft>
              <a:defRPr kumimoji="1" sz="4400" b="1">
                <a:solidFill>
                  <a:schemeClr val="tx2"/>
                </a:solidFill>
                <a:latin typeface="Tahoma" pitchFamily="34" charset="0"/>
                <a:ea typeface="黑体" pitchFamily="2" charset="-122"/>
              </a:defRPr>
            </a:lvl2pPr>
            <a:lvl3pPr algn="l" rtl="0" eaLnBrk="0" fontAlgn="base" hangingPunct="0">
              <a:spcBef>
                <a:spcPct val="0"/>
              </a:spcBef>
              <a:spcAft>
                <a:spcPct val="0"/>
              </a:spcAft>
              <a:defRPr kumimoji="1" sz="4400" b="1">
                <a:solidFill>
                  <a:schemeClr val="tx2"/>
                </a:solidFill>
                <a:latin typeface="Tahoma" pitchFamily="34" charset="0"/>
                <a:ea typeface="黑体" pitchFamily="2" charset="-122"/>
              </a:defRPr>
            </a:lvl3pPr>
            <a:lvl4pPr algn="l" rtl="0" eaLnBrk="0" fontAlgn="base" hangingPunct="0">
              <a:spcBef>
                <a:spcPct val="0"/>
              </a:spcBef>
              <a:spcAft>
                <a:spcPct val="0"/>
              </a:spcAft>
              <a:defRPr kumimoji="1" sz="4400" b="1">
                <a:solidFill>
                  <a:schemeClr val="tx2"/>
                </a:solidFill>
                <a:latin typeface="Tahoma" pitchFamily="34" charset="0"/>
                <a:ea typeface="黑体" pitchFamily="2" charset="-122"/>
              </a:defRPr>
            </a:lvl4pPr>
            <a:lvl5pPr algn="l" rtl="0" eaLnBrk="0" fontAlgn="base" hangingPunct="0">
              <a:spcBef>
                <a:spcPct val="0"/>
              </a:spcBef>
              <a:spcAft>
                <a:spcPct val="0"/>
              </a:spcAft>
              <a:defRPr kumimoji="1" sz="4400" b="1">
                <a:solidFill>
                  <a:schemeClr val="tx2"/>
                </a:solidFill>
                <a:latin typeface="Tahoma" pitchFamily="34" charset="0"/>
                <a:ea typeface="黑体" pitchFamily="2" charset="-122"/>
              </a:defRPr>
            </a:lvl5pPr>
            <a:lvl6pPr marL="457200" algn="l" rtl="0" fontAlgn="base">
              <a:spcBef>
                <a:spcPct val="0"/>
              </a:spcBef>
              <a:spcAft>
                <a:spcPct val="0"/>
              </a:spcAft>
              <a:defRPr kumimoji="1" sz="4400" b="1">
                <a:solidFill>
                  <a:schemeClr val="tx2"/>
                </a:solidFill>
                <a:latin typeface="Tahoma" pitchFamily="34" charset="0"/>
                <a:ea typeface="黑体" pitchFamily="2" charset="-122"/>
              </a:defRPr>
            </a:lvl6pPr>
            <a:lvl7pPr marL="914400" algn="l" rtl="0" fontAlgn="base">
              <a:spcBef>
                <a:spcPct val="0"/>
              </a:spcBef>
              <a:spcAft>
                <a:spcPct val="0"/>
              </a:spcAft>
              <a:defRPr kumimoji="1" sz="4400" b="1">
                <a:solidFill>
                  <a:schemeClr val="tx2"/>
                </a:solidFill>
                <a:latin typeface="Tahoma" pitchFamily="34" charset="0"/>
                <a:ea typeface="黑体" pitchFamily="2" charset="-122"/>
              </a:defRPr>
            </a:lvl7pPr>
            <a:lvl8pPr marL="1371600" algn="l" rtl="0" fontAlgn="base">
              <a:spcBef>
                <a:spcPct val="0"/>
              </a:spcBef>
              <a:spcAft>
                <a:spcPct val="0"/>
              </a:spcAft>
              <a:defRPr kumimoji="1" sz="4400" b="1">
                <a:solidFill>
                  <a:schemeClr val="tx2"/>
                </a:solidFill>
                <a:latin typeface="Tahoma" pitchFamily="34" charset="0"/>
                <a:ea typeface="黑体" pitchFamily="2" charset="-122"/>
              </a:defRPr>
            </a:lvl8pPr>
            <a:lvl9pPr marL="1828800" algn="l" rtl="0" fontAlgn="base">
              <a:spcBef>
                <a:spcPct val="0"/>
              </a:spcBef>
              <a:spcAft>
                <a:spcPct val="0"/>
              </a:spcAft>
              <a:defRPr kumimoji="1" sz="4400" b="1">
                <a:solidFill>
                  <a:schemeClr val="tx2"/>
                </a:solidFill>
                <a:latin typeface="Tahoma" pitchFamily="34" charset="0"/>
                <a:ea typeface="黑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3200" b="1" i="0" u="none" strike="noStrike" kern="0" cap="none" spc="0" normalizeH="0" baseline="0" noProof="0">
                <a:ln>
                  <a:noFill/>
                </a:ln>
                <a:solidFill>
                  <a:srgbClr val="333399"/>
                </a:solidFill>
                <a:effectLst/>
                <a:uLnTx/>
                <a:uFillTx/>
                <a:latin typeface="Tahoma"/>
                <a:ea typeface="黑体"/>
                <a:cs typeface="+mj-cs"/>
              </a:rPr>
              <a:t>慢开始和拥塞避免算法的实现举例 </a:t>
            </a:r>
          </a:p>
        </p:txBody>
      </p:sp>
      <p:grpSp>
        <p:nvGrpSpPr>
          <p:cNvPr id="2" name="组合 1"/>
          <p:cNvGrpSpPr/>
          <p:nvPr/>
        </p:nvGrpSpPr>
        <p:grpSpPr>
          <a:xfrm>
            <a:off x="272479" y="836711"/>
            <a:ext cx="9536759" cy="3321087"/>
            <a:chOff x="274141" y="840152"/>
            <a:chExt cx="9316681" cy="3133914"/>
          </a:xfrm>
        </p:grpSpPr>
        <p:sp>
          <p:nvSpPr>
            <p:cNvPr id="103" name="Text Box 140"/>
            <p:cNvSpPr txBox="1">
              <a:spLocks noChangeArrowheads="1"/>
            </p:cNvSpPr>
            <p:nvPr/>
          </p:nvSpPr>
          <p:spPr bwMode="auto">
            <a:xfrm>
              <a:off x="4758804" y="980728"/>
              <a:ext cx="1130300" cy="377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2000" b="1" i="0" u="none" strike="noStrike" kern="0" cap="none" spc="0" normalizeH="0" baseline="0" noProof="0" dirty="0">
                  <a:ln>
                    <a:noFill/>
                  </a:ln>
                  <a:solidFill>
                    <a:srgbClr val="FF0000"/>
                  </a:solidFill>
                  <a:effectLst/>
                  <a:uLnTx/>
                  <a:uFillTx/>
                  <a:latin typeface="Times New Roman" pitchFamily="18" charset="0"/>
                  <a:ea typeface="宋体" charset="-122"/>
                </a:rPr>
                <a:t>超时</a:t>
              </a:r>
            </a:p>
          </p:txBody>
        </p:sp>
        <p:sp>
          <p:nvSpPr>
            <p:cNvPr id="104" name="Line 2"/>
            <p:cNvSpPr>
              <a:spLocks noChangeShapeType="1"/>
            </p:cNvSpPr>
            <p:nvPr/>
          </p:nvSpPr>
          <p:spPr bwMode="auto">
            <a:xfrm flipV="1">
              <a:off x="1883792" y="3639369"/>
              <a:ext cx="6211887" cy="4762"/>
            </a:xfrm>
            <a:prstGeom prst="line">
              <a:avLst/>
            </a:prstGeom>
            <a:noFill/>
            <a:ln w="19050">
              <a:solidFill>
                <a:srgbClr val="000000"/>
              </a:solidFill>
              <a:round/>
              <a:headEnd/>
              <a:tail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105" name="Line 3"/>
            <p:cNvSpPr>
              <a:spLocks noChangeShapeType="1"/>
            </p:cNvSpPr>
            <p:nvPr/>
          </p:nvSpPr>
          <p:spPr bwMode="auto">
            <a:xfrm>
              <a:off x="1882204" y="1161281"/>
              <a:ext cx="1588" cy="2482850"/>
            </a:xfrm>
            <a:prstGeom prst="line">
              <a:avLst/>
            </a:prstGeom>
            <a:noFill/>
            <a:ln w="19050">
              <a:solidFill>
                <a:srgbClr val="000000"/>
              </a:solidFill>
              <a:round/>
              <a:headEnd type="triangle" w="sm" len="lg"/>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106" name="Line 4"/>
            <p:cNvSpPr>
              <a:spLocks noChangeShapeType="1"/>
            </p:cNvSpPr>
            <p:nvPr/>
          </p:nvSpPr>
          <p:spPr bwMode="auto">
            <a:xfrm>
              <a:off x="2112392" y="3567931"/>
              <a:ext cx="0" cy="762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08" name="Line 5"/>
            <p:cNvSpPr>
              <a:spLocks noChangeShapeType="1"/>
            </p:cNvSpPr>
            <p:nvPr/>
          </p:nvSpPr>
          <p:spPr bwMode="auto">
            <a:xfrm>
              <a:off x="2340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09" name="Line 6"/>
            <p:cNvSpPr>
              <a:spLocks noChangeShapeType="1"/>
            </p:cNvSpPr>
            <p:nvPr/>
          </p:nvSpPr>
          <p:spPr bwMode="auto">
            <a:xfrm>
              <a:off x="2569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0" name="Line 7"/>
            <p:cNvSpPr>
              <a:spLocks noChangeShapeType="1"/>
            </p:cNvSpPr>
            <p:nvPr/>
          </p:nvSpPr>
          <p:spPr bwMode="auto">
            <a:xfrm>
              <a:off x="27981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1" name="Line 8"/>
            <p:cNvSpPr>
              <a:spLocks noChangeShapeType="1"/>
            </p:cNvSpPr>
            <p:nvPr/>
          </p:nvSpPr>
          <p:spPr bwMode="auto">
            <a:xfrm>
              <a:off x="3026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2" name="Line 9"/>
            <p:cNvSpPr>
              <a:spLocks noChangeShapeType="1"/>
            </p:cNvSpPr>
            <p:nvPr/>
          </p:nvSpPr>
          <p:spPr bwMode="auto">
            <a:xfrm>
              <a:off x="3255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3" name="Line 10"/>
            <p:cNvSpPr>
              <a:spLocks noChangeShapeType="1"/>
            </p:cNvSpPr>
            <p:nvPr/>
          </p:nvSpPr>
          <p:spPr bwMode="auto">
            <a:xfrm>
              <a:off x="3483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4" name="Line 11"/>
            <p:cNvSpPr>
              <a:spLocks noChangeShapeType="1"/>
            </p:cNvSpPr>
            <p:nvPr/>
          </p:nvSpPr>
          <p:spPr bwMode="auto">
            <a:xfrm>
              <a:off x="3712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5" name="Line 12"/>
            <p:cNvSpPr>
              <a:spLocks noChangeShapeType="1"/>
            </p:cNvSpPr>
            <p:nvPr/>
          </p:nvSpPr>
          <p:spPr bwMode="auto">
            <a:xfrm>
              <a:off x="39411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6" name="Line 13"/>
            <p:cNvSpPr>
              <a:spLocks noChangeShapeType="1"/>
            </p:cNvSpPr>
            <p:nvPr/>
          </p:nvSpPr>
          <p:spPr bwMode="auto">
            <a:xfrm>
              <a:off x="4169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7" name="Line 14"/>
            <p:cNvSpPr>
              <a:spLocks noChangeShapeType="1"/>
            </p:cNvSpPr>
            <p:nvPr/>
          </p:nvSpPr>
          <p:spPr bwMode="auto">
            <a:xfrm>
              <a:off x="4398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8" name="Line 15"/>
            <p:cNvSpPr>
              <a:spLocks noChangeShapeType="1"/>
            </p:cNvSpPr>
            <p:nvPr/>
          </p:nvSpPr>
          <p:spPr bwMode="auto">
            <a:xfrm>
              <a:off x="4626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9" name="Line 16"/>
            <p:cNvSpPr>
              <a:spLocks noChangeShapeType="1"/>
            </p:cNvSpPr>
            <p:nvPr/>
          </p:nvSpPr>
          <p:spPr bwMode="auto">
            <a:xfrm>
              <a:off x="4855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0" name="Line 17"/>
            <p:cNvSpPr>
              <a:spLocks noChangeShapeType="1"/>
            </p:cNvSpPr>
            <p:nvPr/>
          </p:nvSpPr>
          <p:spPr bwMode="auto">
            <a:xfrm>
              <a:off x="5084192" y="3567931"/>
              <a:ext cx="0" cy="762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1" name="Line 18"/>
            <p:cNvSpPr>
              <a:spLocks noChangeShapeType="1"/>
            </p:cNvSpPr>
            <p:nvPr/>
          </p:nvSpPr>
          <p:spPr bwMode="auto">
            <a:xfrm>
              <a:off x="5312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2" name="Line 19"/>
            <p:cNvSpPr>
              <a:spLocks noChangeShapeType="1"/>
            </p:cNvSpPr>
            <p:nvPr/>
          </p:nvSpPr>
          <p:spPr bwMode="auto">
            <a:xfrm>
              <a:off x="5541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3" name="Line 20"/>
            <p:cNvSpPr>
              <a:spLocks noChangeShapeType="1"/>
            </p:cNvSpPr>
            <p:nvPr/>
          </p:nvSpPr>
          <p:spPr bwMode="auto">
            <a:xfrm>
              <a:off x="5769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4" name="Line 21"/>
            <p:cNvSpPr>
              <a:spLocks noChangeShapeType="1"/>
            </p:cNvSpPr>
            <p:nvPr/>
          </p:nvSpPr>
          <p:spPr bwMode="auto">
            <a:xfrm>
              <a:off x="5998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5" name="Line 22"/>
            <p:cNvSpPr>
              <a:spLocks noChangeShapeType="1"/>
            </p:cNvSpPr>
            <p:nvPr/>
          </p:nvSpPr>
          <p:spPr bwMode="auto">
            <a:xfrm>
              <a:off x="62271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6" name="Line 23"/>
            <p:cNvSpPr>
              <a:spLocks noChangeShapeType="1"/>
            </p:cNvSpPr>
            <p:nvPr/>
          </p:nvSpPr>
          <p:spPr bwMode="auto">
            <a:xfrm>
              <a:off x="6455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7" name="Line 24"/>
            <p:cNvSpPr>
              <a:spLocks noChangeShapeType="1"/>
            </p:cNvSpPr>
            <p:nvPr/>
          </p:nvSpPr>
          <p:spPr bwMode="auto">
            <a:xfrm>
              <a:off x="6684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8" name="Line 25"/>
            <p:cNvSpPr>
              <a:spLocks noChangeShapeType="1"/>
            </p:cNvSpPr>
            <p:nvPr/>
          </p:nvSpPr>
          <p:spPr bwMode="auto">
            <a:xfrm>
              <a:off x="6912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30" name="Line 40"/>
            <p:cNvSpPr>
              <a:spLocks noChangeShapeType="1"/>
            </p:cNvSpPr>
            <p:nvPr/>
          </p:nvSpPr>
          <p:spPr bwMode="auto">
            <a:xfrm>
              <a:off x="1883792" y="3263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31" name="Line 41"/>
            <p:cNvSpPr>
              <a:spLocks noChangeShapeType="1"/>
            </p:cNvSpPr>
            <p:nvPr/>
          </p:nvSpPr>
          <p:spPr bwMode="auto">
            <a:xfrm>
              <a:off x="1883792" y="2882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32" name="Line 42"/>
            <p:cNvSpPr>
              <a:spLocks noChangeShapeType="1"/>
            </p:cNvSpPr>
            <p:nvPr/>
          </p:nvSpPr>
          <p:spPr bwMode="auto">
            <a:xfrm>
              <a:off x="1883792" y="2501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33" name="Line 43"/>
            <p:cNvSpPr>
              <a:spLocks noChangeShapeType="1"/>
            </p:cNvSpPr>
            <p:nvPr/>
          </p:nvSpPr>
          <p:spPr bwMode="auto">
            <a:xfrm>
              <a:off x="1883792" y="2120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34" name="Line 44"/>
            <p:cNvSpPr>
              <a:spLocks noChangeShapeType="1"/>
            </p:cNvSpPr>
            <p:nvPr/>
          </p:nvSpPr>
          <p:spPr bwMode="auto">
            <a:xfrm>
              <a:off x="1883792" y="1739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35" name="Line 45"/>
            <p:cNvSpPr>
              <a:spLocks noChangeShapeType="1"/>
            </p:cNvSpPr>
            <p:nvPr/>
          </p:nvSpPr>
          <p:spPr bwMode="auto">
            <a:xfrm>
              <a:off x="1883792" y="1358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36" name="Text Box 77"/>
            <p:cNvSpPr txBox="1">
              <a:spLocks noChangeArrowheads="1"/>
            </p:cNvSpPr>
            <p:nvPr/>
          </p:nvSpPr>
          <p:spPr bwMode="auto">
            <a:xfrm>
              <a:off x="2198117" y="3588569"/>
              <a:ext cx="305685" cy="377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2</a:t>
              </a:r>
            </a:p>
          </p:txBody>
        </p:sp>
        <p:sp>
          <p:nvSpPr>
            <p:cNvPr id="237" name="Text Box 78"/>
            <p:cNvSpPr txBox="1">
              <a:spLocks noChangeArrowheads="1"/>
            </p:cNvSpPr>
            <p:nvPr/>
          </p:nvSpPr>
          <p:spPr bwMode="auto">
            <a:xfrm>
              <a:off x="2655317" y="3588569"/>
              <a:ext cx="305685" cy="377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4</a:t>
              </a:r>
            </a:p>
          </p:txBody>
        </p:sp>
        <p:sp>
          <p:nvSpPr>
            <p:cNvPr id="238" name="Text Box 79"/>
            <p:cNvSpPr txBox="1">
              <a:spLocks noChangeArrowheads="1"/>
            </p:cNvSpPr>
            <p:nvPr/>
          </p:nvSpPr>
          <p:spPr bwMode="auto">
            <a:xfrm>
              <a:off x="3112517" y="3588569"/>
              <a:ext cx="305685" cy="377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6</a:t>
              </a:r>
            </a:p>
          </p:txBody>
        </p:sp>
        <p:sp>
          <p:nvSpPr>
            <p:cNvPr id="239" name="Text Box 80"/>
            <p:cNvSpPr txBox="1">
              <a:spLocks noChangeArrowheads="1"/>
            </p:cNvSpPr>
            <p:nvPr/>
          </p:nvSpPr>
          <p:spPr bwMode="auto">
            <a:xfrm>
              <a:off x="3582417" y="3588569"/>
              <a:ext cx="305685" cy="377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8</a:t>
              </a:r>
            </a:p>
          </p:txBody>
        </p:sp>
        <p:sp>
          <p:nvSpPr>
            <p:cNvPr id="240" name="Text Box 81"/>
            <p:cNvSpPr txBox="1">
              <a:spLocks noChangeArrowheads="1"/>
            </p:cNvSpPr>
            <p:nvPr/>
          </p:nvSpPr>
          <p:spPr bwMode="auto">
            <a:xfrm>
              <a:off x="3963417" y="3588569"/>
              <a:ext cx="430966" cy="377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10</a:t>
              </a:r>
            </a:p>
          </p:txBody>
        </p:sp>
        <p:sp>
          <p:nvSpPr>
            <p:cNvPr id="241" name="Text Box 82"/>
            <p:cNvSpPr txBox="1">
              <a:spLocks noChangeArrowheads="1"/>
            </p:cNvSpPr>
            <p:nvPr/>
          </p:nvSpPr>
          <p:spPr bwMode="auto">
            <a:xfrm>
              <a:off x="4458717" y="3588569"/>
              <a:ext cx="430966" cy="377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12</a:t>
              </a:r>
            </a:p>
          </p:txBody>
        </p:sp>
        <p:sp>
          <p:nvSpPr>
            <p:cNvPr id="242" name="Text Box 83"/>
            <p:cNvSpPr txBox="1">
              <a:spLocks noChangeArrowheads="1"/>
            </p:cNvSpPr>
            <p:nvPr/>
          </p:nvSpPr>
          <p:spPr bwMode="auto">
            <a:xfrm>
              <a:off x="4890517" y="3588569"/>
              <a:ext cx="430966" cy="377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14</a:t>
              </a:r>
            </a:p>
          </p:txBody>
        </p:sp>
        <p:sp>
          <p:nvSpPr>
            <p:cNvPr id="243" name="Text Box 84"/>
            <p:cNvSpPr txBox="1">
              <a:spLocks noChangeArrowheads="1"/>
            </p:cNvSpPr>
            <p:nvPr/>
          </p:nvSpPr>
          <p:spPr bwMode="auto">
            <a:xfrm>
              <a:off x="5347717" y="3588569"/>
              <a:ext cx="430966" cy="377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16</a:t>
              </a:r>
            </a:p>
          </p:txBody>
        </p:sp>
        <p:sp>
          <p:nvSpPr>
            <p:cNvPr id="244" name="Text Box 85"/>
            <p:cNvSpPr txBox="1">
              <a:spLocks noChangeArrowheads="1"/>
            </p:cNvSpPr>
            <p:nvPr/>
          </p:nvSpPr>
          <p:spPr bwMode="auto">
            <a:xfrm>
              <a:off x="5820792" y="3588569"/>
              <a:ext cx="430966" cy="377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18</a:t>
              </a:r>
            </a:p>
          </p:txBody>
        </p:sp>
        <p:sp>
          <p:nvSpPr>
            <p:cNvPr id="245" name="Text Box 86"/>
            <p:cNvSpPr txBox="1">
              <a:spLocks noChangeArrowheads="1"/>
            </p:cNvSpPr>
            <p:nvPr/>
          </p:nvSpPr>
          <p:spPr bwMode="auto">
            <a:xfrm>
              <a:off x="6277992" y="3588569"/>
              <a:ext cx="430966" cy="377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20</a:t>
              </a:r>
            </a:p>
          </p:txBody>
        </p:sp>
        <p:sp>
          <p:nvSpPr>
            <p:cNvPr id="246" name="Text Box 87"/>
            <p:cNvSpPr txBox="1">
              <a:spLocks noChangeArrowheads="1"/>
            </p:cNvSpPr>
            <p:nvPr/>
          </p:nvSpPr>
          <p:spPr bwMode="auto">
            <a:xfrm>
              <a:off x="6722492" y="3596506"/>
              <a:ext cx="430966" cy="377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22</a:t>
              </a:r>
            </a:p>
          </p:txBody>
        </p:sp>
        <p:sp>
          <p:nvSpPr>
            <p:cNvPr id="247" name="Text Box 89"/>
            <p:cNvSpPr txBox="1">
              <a:spLocks noChangeArrowheads="1"/>
            </p:cNvSpPr>
            <p:nvPr/>
          </p:nvSpPr>
          <p:spPr bwMode="auto">
            <a:xfrm>
              <a:off x="1779017" y="3588569"/>
              <a:ext cx="305685" cy="377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0</a:t>
              </a:r>
            </a:p>
          </p:txBody>
        </p:sp>
        <p:sp>
          <p:nvSpPr>
            <p:cNvPr id="248" name="Text Box 90"/>
            <p:cNvSpPr txBox="1">
              <a:spLocks noChangeArrowheads="1"/>
            </p:cNvSpPr>
            <p:nvPr/>
          </p:nvSpPr>
          <p:spPr bwMode="auto">
            <a:xfrm>
              <a:off x="1617092" y="3439344"/>
              <a:ext cx="305685" cy="377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0</a:t>
              </a:r>
            </a:p>
          </p:txBody>
        </p:sp>
        <p:sp>
          <p:nvSpPr>
            <p:cNvPr id="249" name="Text Box 91"/>
            <p:cNvSpPr txBox="1">
              <a:spLocks noChangeArrowheads="1"/>
            </p:cNvSpPr>
            <p:nvPr/>
          </p:nvSpPr>
          <p:spPr bwMode="auto">
            <a:xfrm>
              <a:off x="1617092" y="3058344"/>
              <a:ext cx="305685" cy="377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4</a:t>
              </a:r>
            </a:p>
          </p:txBody>
        </p:sp>
        <p:sp>
          <p:nvSpPr>
            <p:cNvPr id="250" name="Text Box 92"/>
            <p:cNvSpPr txBox="1">
              <a:spLocks noChangeArrowheads="1"/>
            </p:cNvSpPr>
            <p:nvPr/>
          </p:nvSpPr>
          <p:spPr bwMode="auto">
            <a:xfrm>
              <a:off x="1617092" y="2690044"/>
              <a:ext cx="305685" cy="377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8</a:t>
              </a:r>
            </a:p>
          </p:txBody>
        </p:sp>
        <p:sp>
          <p:nvSpPr>
            <p:cNvPr id="251" name="Text Box 93"/>
            <p:cNvSpPr txBox="1">
              <a:spLocks noChangeArrowheads="1"/>
            </p:cNvSpPr>
            <p:nvPr/>
          </p:nvSpPr>
          <p:spPr bwMode="auto">
            <a:xfrm>
              <a:off x="1502792" y="2321744"/>
              <a:ext cx="430966" cy="377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12</a:t>
              </a:r>
            </a:p>
          </p:txBody>
        </p:sp>
        <p:sp>
          <p:nvSpPr>
            <p:cNvPr id="252" name="Text Box 94"/>
            <p:cNvSpPr txBox="1">
              <a:spLocks noChangeArrowheads="1"/>
            </p:cNvSpPr>
            <p:nvPr/>
          </p:nvSpPr>
          <p:spPr bwMode="auto">
            <a:xfrm>
              <a:off x="1502792" y="1953444"/>
              <a:ext cx="430966" cy="377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16</a:t>
              </a:r>
            </a:p>
          </p:txBody>
        </p:sp>
        <p:sp>
          <p:nvSpPr>
            <p:cNvPr id="253" name="Text Box 95"/>
            <p:cNvSpPr txBox="1">
              <a:spLocks noChangeArrowheads="1"/>
            </p:cNvSpPr>
            <p:nvPr/>
          </p:nvSpPr>
          <p:spPr bwMode="auto">
            <a:xfrm>
              <a:off x="1502792" y="1572444"/>
              <a:ext cx="430966" cy="377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20</a:t>
              </a:r>
            </a:p>
          </p:txBody>
        </p:sp>
        <p:sp>
          <p:nvSpPr>
            <p:cNvPr id="254" name="Text Box 96"/>
            <p:cNvSpPr txBox="1">
              <a:spLocks noChangeArrowheads="1"/>
            </p:cNvSpPr>
            <p:nvPr/>
          </p:nvSpPr>
          <p:spPr bwMode="auto">
            <a:xfrm>
              <a:off x="1502792" y="1191444"/>
              <a:ext cx="430966" cy="377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24</a:t>
              </a:r>
            </a:p>
          </p:txBody>
        </p:sp>
        <p:sp>
          <p:nvSpPr>
            <p:cNvPr id="255" name="Oval 102"/>
            <p:cNvSpPr>
              <a:spLocks noChangeArrowheads="1"/>
            </p:cNvSpPr>
            <p:nvPr/>
          </p:nvSpPr>
          <p:spPr bwMode="auto">
            <a:xfrm>
              <a:off x="2521967" y="284403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56" name="Oval 103"/>
            <p:cNvSpPr>
              <a:spLocks noChangeArrowheads="1"/>
            </p:cNvSpPr>
            <p:nvPr/>
          </p:nvSpPr>
          <p:spPr bwMode="auto">
            <a:xfrm>
              <a:off x="2293367" y="322503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57" name="Oval 104"/>
            <p:cNvSpPr>
              <a:spLocks noChangeArrowheads="1"/>
            </p:cNvSpPr>
            <p:nvPr/>
          </p:nvSpPr>
          <p:spPr bwMode="auto">
            <a:xfrm>
              <a:off x="1845692" y="34726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58" name="Oval 105"/>
            <p:cNvSpPr>
              <a:spLocks noChangeArrowheads="1"/>
            </p:cNvSpPr>
            <p:nvPr/>
          </p:nvSpPr>
          <p:spPr bwMode="auto">
            <a:xfrm>
              <a:off x="2055242" y="340600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59" name="Oval 106"/>
            <p:cNvSpPr>
              <a:spLocks noChangeArrowheads="1"/>
            </p:cNvSpPr>
            <p:nvPr/>
          </p:nvSpPr>
          <p:spPr bwMode="auto">
            <a:xfrm>
              <a:off x="2750567" y="207885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0" name="Oval 107"/>
            <p:cNvSpPr>
              <a:spLocks noChangeArrowheads="1"/>
            </p:cNvSpPr>
            <p:nvPr/>
          </p:nvSpPr>
          <p:spPr bwMode="auto">
            <a:xfrm>
              <a:off x="2979167" y="197725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1" name="Oval 108"/>
            <p:cNvSpPr>
              <a:spLocks noChangeArrowheads="1"/>
            </p:cNvSpPr>
            <p:nvPr/>
          </p:nvSpPr>
          <p:spPr bwMode="auto">
            <a:xfrm>
              <a:off x="3207767" y="188676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2" name="Oval 109"/>
            <p:cNvSpPr>
              <a:spLocks noChangeArrowheads="1"/>
            </p:cNvSpPr>
            <p:nvPr/>
          </p:nvSpPr>
          <p:spPr bwMode="auto">
            <a:xfrm>
              <a:off x="3669729" y="169626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3" name="Oval 110"/>
            <p:cNvSpPr>
              <a:spLocks noChangeArrowheads="1"/>
            </p:cNvSpPr>
            <p:nvPr/>
          </p:nvSpPr>
          <p:spPr bwMode="auto">
            <a:xfrm>
              <a:off x="3436367" y="17915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4" name="Oval 113"/>
            <p:cNvSpPr>
              <a:spLocks noChangeArrowheads="1"/>
            </p:cNvSpPr>
            <p:nvPr/>
          </p:nvSpPr>
          <p:spPr bwMode="auto">
            <a:xfrm>
              <a:off x="3898329" y="16010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5" name="Oval 114"/>
            <p:cNvSpPr>
              <a:spLocks noChangeArrowheads="1"/>
            </p:cNvSpPr>
            <p:nvPr/>
          </p:nvSpPr>
          <p:spPr bwMode="auto">
            <a:xfrm>
              <a:off x="4122167" y="151053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6" name="Oval 116"/>
            <p:cNvSpPr>
              <a:spLocks noChangeArrowheads="1"/>
            </p:cNvSpPr>
            <p:nvPr/>
          </p:nvSpPr>
          <p:spPr bwMode="auto">
            <a:xfrm>
              <a:off x="4574604" y="1305744"/>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7" name="Oval 117"/>
            <p:cNvSpPr>
              <a:spLocks noChangeArrowheads="1"/>
            </p:cNvSpPr>
            <p:nvPr/>
          </p:nvSpPr>
          <p:spPr bwMode="auto">
            <a:xfrm>
              <a:off x="4350767" y="1400994"/>
              <a:ext cx="88900" cy="88900"/>
            </a:xfrm>
            <a:prstGeom prst="ellipse">
              <a:avLst/>
            </a:prstGeom>
            <a:solidFill>
              <a:srgbClr val="0000FF"/>
            </a:solidFill>
            <a:ln w="2857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8" name="Freeform 118"/>
            <p:cNvSpPr>
              <a:spLocks/>
            </p:cNvSpPr>
            <p:nvPr/>
          </p:nvSpPr>
          <p:spPr bwMode="auto">
            <a:xfrm>
              <a:off x="1807592" y="1358131"/>
              <a:ext cx="2814637" cy="2174875"/>
            </a:xfrm>
            <a:custGeom>
              <a:avLst/>
              <a:gdLst>
                <a:gd name="T0" fmla="*/ 2147483647 w 1773"/>
                <a:gd name="T1" fmla="*/ 0 h 1370"/>
                <a:gd name="T2" fmla="*/ 2147483647 w 1773"/>
                <a:gd name="T3" fmla="*/ 2147483647 h 1370"/>
                <a:gd name="T4" fmla="*/ 2147483647 w 1773"/>
                <a:gd name="T5" fmla="*/ 2147483647 h 1370"/>
                <a:gd name="T6" fmla="*/ 2147483647 w 1773"/>
                <a:gd name="T7" fmla="*/ 2147483647 h 1370"/>
                <a:gd name="T8" fmla="*/ 2147483647 w 1773"/>
                <a:gd name="T9" fmla="*/ 2147483647 h 1370"/>
                <a:gd name="T10" fmla="*/ 2147483647 w 1773"/>
                <a:gd name="T11" fmla="*/ 2147483647 h 1370"/>
                <a:gd name="T12" fmla="*/ 0 60000 65536"/>
                <a:gd name="T13" fmla="*/ 0 60000 65536"/>
                <a:gd name="T14" fmla="*/ 0 60000 65536"/>
                <a:gd name="T15" fmla="*/ 0 60000 65536"/>
                <a:gd name="T16" fmla="*/ 0 60000 65536"/>
                <a:gd name="T17" fmla="*/ 0 60000 65536"/>
                <a:gd name="T18" fmla="*/ 0 w 1773"/>
                <a:gd name="T19" fmla="*/ 0 h 1370"/>
                <a:gd name="T20" fmla="*/ 1773 w 1773"/>
                <a:gd name="T21" fmla="*/ 1370 h 1370"/>
              </a:gdLst>
              <a:ahLst/>
              <a:cxnLst>
                <a:cxn ang="T12">
                  <a:pos x="T0" y="T1"/>
                </a:cxn>
                <a:cxn ang="T13">
                  <a:pos x="T2" y="T3"/>
                </a:cxn>
                <a:cxn ang="T14">
                  <a:pos x="T4" y="T5"/>
                </a:cxn>
                <a:cxn ang="T15">
                  <a:pos x="T6" y="T7"/>
                </a:cxn>
                <a:cxn ang="T16">
                  <a:pos x="T8" y="T9"/>
                </a:cxn>
                <a:cxn ang="T17">
                  <a:pos x="T10" y="T11"/>
                </a:cxn>
              </a:cxnLst>
              <a:rect l="T18" t="T19" r="T20" b="T21"/>
              <a:pathLst>
                <a:path w="1773" h="1370">
                  <a:moveTo>
                    <a:pt x="1773" y="0"/>
                  </a:moveTo>
                  <a:lnTo>
                    <a:pt x="618" y="487"/>
                  </a:lnTo>
                  <a:lnTo>
                    <a:pt x="480" y="961"/>
                  </a:lnTo>
                  <a:lnTo>
                    <a:pt x="331" y="1201"/>
                  </a:lnTo>
                  <a:lnTo>
                    <a:pt x="187" y="1321"/>
                  </a:lnTo>
                  <a:cubicBezTo>
                    <a:pt x="47" y="1370"/>
                    <a:pt x="0" y="1369"/>
                    <a:pt x="55" y="1369"/>
                  </a:cubicBezTo>
                </a:path>
              </a:pathLst>
            </a:custGeom>
            <a:noFill/>
            <a:ln w="28575" cmpd="sng">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9" name="Text Box 134"/>
            <p:cNvSpPr txBox="1">
              <a:spLocks noChangeArrowheads="1"/>
            </p:cNvSpPr>
            <p:nvPr/>
          </p:nvSpPr>
          <p:spPr bwMode="auto">
            <a:xfrm>
              <a:off x="8097267" y="3444106"/>
              <a:ext cx="1188915" cy="377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2000" b="1" i="0" u="none" strike="noStrike" kern="0" cap="none" spc="0" normalizeH="0" baseline="0" noProof="0">
                  <a:ln>
                    <a:noFill/>
                  </a:ln>
                  <a:solidFill>
                    <a:srgbClr val="000000"/>
                  </a:solidFill>
                  <a:effectLst/>
                  <a:uLnTx/>
                  <a:uFillTx/>
                  <a:latin typeface="Times New Roman" pitchFamily="18" charset="0"/>
                  <a:ea typeface="宋体" charset="-122"/>
                </a:rPr>
                <a:t>传输轮次</a:t>
              </a:r>
            </a:p>
          </p:txBody>
        </p:sp>
        <p:sp>
          <p:nvSpPr>
            <p:cNvPr id="270" name="Text Box 135"/>
            <p:cNvSpPr txBox="1">
              <a:spLocks noChangeArrowheads="1"/>
            </p:cNvSpPr>
            <p:nvPr/>
          </p:nvSpPr>
          <p:spPr bwMode="auto">
            <a:xfrm>
              <a:off x="951929" y="840152"/>
              <a:ext cx="1885791" cy="377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2000" b="1" i="0" u="none" strike="noStrike" kern="0" cap="none" spc="0" normalizeH="0" baseline="0" noProof="0" dirty="0">
                  <a:ln>
                    <a:noFill/>
                  </a:ln>
                  <a:solidFill>
                    <a:srgbClr val="000000"/>
                  </a:solidFill>
                  <a:effectLst/>
                  <a:uLnTx/>
                  <a:uFillTx/>
                  <a:latin typeface="Times New Roman" pitchFamily="18" charset="0"/>
                  <a:ea typeface="宋体" charset="-122"/>
                </a:rPr>
                <a:t>拥塞窗口  </a:t>
              </a:r>
              <a:r>
                <a:rPr kumimoji="1" lang="en-US" altLang="zh-CN" sz="2000" b="1" i="0" u="none" strike="noStrike" kern="0" cap="none" spc="0" normalizeH="0" baseline="0" noProof="0" dirty="0" err="1">
                  <a:ln>
                    <a:noFill/>
                  </a:ln>
                  <a:solidFill>
                    <a:srgbClr val="000000"/>
                  </a:solidFill>
                  <a:effectLst/>
                  <a:uLnTx/>
                  <a:uFillTx/>
                  <a:latin typeface="Times New Roman" pitchFamily="18" charset="0"/>
                  <a:ea typeface="宋体" charset="-122"/>
                </a:rPr>
                <a:t>cwnd</a:t>
              </a:r>
              <a:endParaRPr kumimoji="1" lang="en-US" altLang="zh-CN" sz="2000" b="1" i="0" u="none" strike="noStrike" kern="0" cap="none" spc="0" normalizeH="0" baseline="0" noProof="0" dirty="0">
                <a:ln>
                  <a:noFill/>
                </a:ln>
                <a:solidFill>
                  <a:srgbClr val="000000"/>
                </a:solidFill>
                <a:effectLst/>
                <a:uLnTx/>
                <a:uFillTx/>
                <a:latin typeface="Times New Roman" pitchFamily="18" charset="0"/>
                <a:ea typeface="宋体" charset="-122"/>
              </a:endParaRPr>
            </a:p>
          </p:txBody>
        </p:sp>
        <p:sp>
          <p:nvSpPr>
            <p:cNvPr id="271" name="Text Box 140"/>
            <p:cNvSpPr txBox="1">
              <a:spLocks noChangeArrowheads="1"/>
            </p:cNvSpPr>
            <p:nvPr/>
          </p:nvSpPr>
          <p:spPr bwMode="auto">
            <a:xfrm>
              <a:off x="6895232" y="1763524"/>
              <a:ext cx="1154112" cy="377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dirty="0">
                  <a:ln>
                    <a:noFill/>
                  </a:ln>
                  <a:solidFill>
                    <a:srgbClr val="FF0000"/>
                  </a:solidFill>
                  <a:effectLst/>
                  <a:uLnTx/>
                  <a:uFillTx/>
                  <a:latin typeface="Times New Roman" pitchFamily="18" charset="0"/>
                  <a:ea typeface="宋体" charset="-122"/>
                </a:rPr>
                <a:t>3-ACK</a:t>
              </a:r>
              <a:endParaRPr kumimoji="1" lang="zh-CN" altLang="en-US" sz="2000" b="1" i="0" u="none" strike="noStrike" kern="0" cap="none" spc="0" normalizeH="0" baseline="0" noProof="0" dirty="0">
                <a:ln>
                  <a:noFill/>
                </a:ln>
                <a:solidFill>
                  <a:srgbClr val="FF0000"/>
                </a:solidFill>
                <a:effectLst/>
                <a:uLnTx/>
                <a:uFillTx/>
                <a:latin typeface="Times New Roman" pitchFamily="18" charset="0"/>
                <a:ea typeface="宋体" charset="-122"/>
              </a:endParaRPr>
            </a:p>
          </p:txBody>
        </p:sp>
        <p:sp>
          <p:nvSpPr>
            <p:cNvPr id="272" name="Rectangle 160"/>
            <p:cNvSpPr>
              <a:spLocks noChangeArrowheads="1"/>
            </p:cNvSpPr>
            <p:nvPr/>
          </p:nvSpPr>
          <p:spPr bwMode="auto">
            <a:xfrm>
              <a:off x="1959992" y="1281931"/>
              <a:ext cx="190500" cy="20320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73" name="Line 156"/>
            <p:cNvSpPr>
              <a:spLocks noChangeShapeType="1"/>
            </p:cNvSpPr>
            <p:nvPr/>
          </p:nvSpPr>
          <p:spPr bwMode="auto">
            <a:xfrm>
              <a:off x="1959992" y="2120131"/>
              <a:ext cx="838200" cy="0"/>
            </a:xfrm>
            <a:prstGeom prst="line">
              <a:avLst/>
            </a:prstGeom>
            <a:noFill/>
            <a:ln w="1905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74" name="Line 146"/>
            <p:cNvSpPr>
              <a:spLocks noChangeShapeType="1"/>
            </p:cNvSpPr>
            <p:nvPr/>
          </p:nvSpPr>
          <p:spPr bwMode="auto">
            <a:xfrm flipV="1">
              <a:off x="1959992" y="1351781"/>
              <a:ext cx="2679700" cy="6350"/>
            </a:xfrm>
            <a:prstGeom prst="line">
              <a:avLst/>
            </a:prstGeom>
            <a:noFill/>
            <a:ln w="1905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75" name="Rectangle 162"/>
            <p:cNvSpPr>
              <a:spLocks noChangeArrowheads="1"/>
            </p:cNvSpPr>
            <p:nvPr/>
          </p:nvSpPr>
          <p:spPr bwMode="auto">
            <a:xfrm>
              <a:off x="5236592" y="3415531"/>
              <a:ext cx="1446212" cy="1524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76" name="Line 167"/>
            <p:cNvSpPr>
              <a:spLocks noChangeShapeType="1"/>
            </p:cNvSpPr>
            <p:nvPr/>
          </p:nvSpPr>
          <p:spPr bwMode="auto">
            <a:xfrm>
              <a:off x="1350294" y="3375646"/>
              <a:ext cx="533400" cy="152400"/>
            </a:xfrm>
            <a:prstGeom prst="line">
              <a:avLst/>
            </a:prstGeom>
            <a:noFill/>
            <a:ln w="19050">
              <a:solidFill>
                <a:srgbClr val="000000"/>
              </a:solidFill>
              <a:round/>
              <a:headEnd/>
              <a:tail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77" name="Text Box 203"/>
            <p:cNvSpPr txBox="1">
              <a:spLocks noChangeArrowheads="1"/>
            </p:cNvSpPr>
            <p:nvPr/>
          </p:nvSpPr>
          <p:spPr bwMode="auto">
            <a:xfrm>
              <a:off x="7990046" y="1916832"/>
              <a:ext cx="1600776" cy="784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b="1" i="0" u="none" strike="noStrike" kern="0" cap="none" spc="0" normalizeH="0" baseline="0" noProof="0" dirty="0">
                  <a:ln>
                    <a:noFill/>
                  </a:ln>
                  <a:solidFill>
                    <a:srgbClr val="0000FF"/>
                  </a:solidFill>
                  <a:effectLst/>
                  <a:uLnTx/>
                  <a:uFillTx/>
                  <a:latin typeface="Times New Roman" pitchFamily="18" charset="0"/>
                  <a:ea typeface="宋体" charset="-122"/>
                </a:rPr>
                <a:t>TCP Reno </a:t>
              </a:r>
            </a:p>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b="1" i="0" u="none" strike="noStrike" kern="0" cap="none" spc="0" normalizeH="0" baseline="0" noProof="0" dirty="0">
                  <a:ln>
                    <a:noFill/>
                  </a:ln>
                  <a:solidFill>
                    <a:srgbClr val="0000FF"/>
                  </a:solidFill>
                  <a:effectLst/>
                  <a:uLnTx/>
                  <a:uFillTx/>
                  <a:latin typeface="Times New Roman" pitchFamily="18" charset="0"/>
                  <a:ea typeface="宋体" charset="-122"/>
                </a:rPr>
                <a:t>版本</a:t>
              </a:r>
            </a:p>
          </p:txBody>
        </p:sp>
        <p:sp>
          <p:nvSpPr>
            <p:cNvPr id="278" name="Text Box 205"/>
            <p:cNvSpPr txBox="1">
              <a:spLocks noChangeArrowheads="1"/>
            </p:cNvSpPr>
            <p:nvPr/>
          </p:nvSpPr>
          <p:spPr bwMode="auto">
            <a:xfrm>
              <a:off x="274141" y="1861369"/>
              <a:ext cx="1251556" cy="6679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dirty="0" err="1">
                  <a:ln>
                    <a:noFill/>
                  </a:ln>
                  <a:solidFill>
                    <a:srgbClr val="C00000"/>
                  </a:solidFill>
                  <a:effectLst/>
                  <a:uLnTx/>
                  <a:uFillTx/>
                  <a:latin typeface="Times New Roman" pitchFamily="18" charset="0"/>
                  <a:ea typeface="宋体" charset="-122"/>
                </a:rPr>
                <a:t>ssthresh</a:t>
              </a:r>
              <a:endParaRPr kumimoji="1" lang="en-US" altLang="zh-CN" sz="2000" b="1" i="0" u="none" strike="noStrike" kern="0" cap="none" spc="0" normalizeH="0" baseline="0" noProof="0" dirty="0">
                <a:ln>
                  <a:noFill/>
                </a:ln>
                <a:solidFill>
                  <a:srgbClr val="C00000"/>
                </a:solidFill>
                <a:effectLst/>
                <a:uLnTx/>
                <a:uFillTx/>
                <a:latin typeface="Times New Roman" pitchFamily="18" charset="0"/>
                <a:ea typeface="宋体" charset="-122"/>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2000" b="1" i="0" u="none" strike="noStrike" kern="0" cap="none" spc="0" normalizeH="0" baseline="0" noProof="0" dirty="0">
                  <a:ln>
                    <a:noFill/>
                  </a:ln>
                  <a:solidFill>
                    <a:srgbClr val="C00000"/>
                  </a:solidFill>
                  <a:effectLst/>
                  <a:uLnTx/>
                  <a:uFillTx/>
                  <a:latin typeface="Times New Roman" pitchFamily="18" charset="0"/>
                  <a:ea typeface="宋体" charset="-122"/>
                </a:rPr>
                <a:t> 的初始值</a:t>
              </a:r>
            </a:p>
          </p:txBody>
        </p:sp>
        <p:sp>
          <p:nvSpPr>
            <p:cNvPr id="280" name="Line 215"/>
            <p:cNvSpPr>
              <a:spLocks noChangeShapeType="1"/>
            </p:cNvSpPr>
            <p:nvPr/>
          </p:nvSpPr>
          <p:spPr bwMode="auto">
            <a:xfrm flipV="1">
              <a:off x="1388492" y="2148706"/>
              <a:ext cx="214312" cy="0"/>
            </a:xfrm>
            <a:prstGeom prst="line">
              <a:avLst/>
            </a:prstGeom>
            <a:noFill/>
            <a:ln w="19050">
              <a:solidFill>
                <a:srgbClr val="C00000"/>
              </a:solidFill>
              <a:round/>
              <a:headEnd/>
              <a:tailEnd type="triangle" w="sm"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81" name="Text Box 206"/>
            <p:cNvSpPr txBox="1">
              <a:spLocks noChangeArrowheads="1"/>
            </p:cNvSpPr>
            <p:nvPr/>
          </p:nvSpPr>
          <p:spPr bwMode="auto">
            <a:xfrm rot="20245475">
              <a:off x="6796372" y="2309177"/>
              <a:ext cx="1188915" cy="377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2000" b="1" i="0" u="none" strike="noStrike" kern="0" cap="none" spc="0" normalizeH="0" baseline="0" noProof="0">
                  <a:ln>
                    <a:noFill/>
                  </a:ln>
                  <a:solidFill>
                    <a:srgbClr val="000000"/>
                  </a:solidFill>
                  <a:effectLst/>
                  <a:uLnTx/>
                  <a:uFillTx/>
                  <a:latin typeface="Times New Roman" pitchFamily="18" charset="0"/>
                  <a:ea typeface="宋体" charset="-122"/>
                </a:rPr>
                <a:t>拥塞避免</a:t>
              </a:r>
            </a:p>
          </p:txBody>
        </p:sp>
        <p:sp>
          <p:nvSpPr>
            <p:cNvPr id="282" name="Oval 125"/>
            <p:cNvSpPr>
              <a:spLocks noChangeArrowheads="1"/>
            </p:cNvSpPr>
            <p:nvPr/>
          </p:nvSpPr>
          <p:spPr bwMode="auto">
            <a:xfrm>
              <a:off x="5036567" y="33917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83" name="Oval 126"/>
            <p:cNvSpPr>
              <a:spLocks noChangeArrowheads="1"/>
            </p:cNvSpPr>
            <p:nvPr/>
          </p:nvSpPr>
          <p:spPr bwMode="auto">
            <a:xfrm>
              <a:off x="5266754" y="32059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84" name="Oval 127"/>
            <p:cNvSpPr>
              <a:spLocks noChangeArrowheads="1"/>
            </p:cNvSpPr>
            <p:nvPr/>
          </p:nvSpPr>
          <p:spPr bwMode="auto">
            <a:xfrm>
              <a:off x="4798442" y="346315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85" name="Oval 128"/>
            <p:cNvSpPr>
              <a:spLocks noChangeArrowheads="1"/>
            </p:cNvSpPr>
            <p:nvPr/>
          </p:nvSpPr>
          <p:spPr bwMode="auto">
            <a:xfrm>
              <a:off x="5501704" y="28376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86" name="Oval 129"/>
            <p:cNvSpPr>
              <a:spLocks noChangeArrowheads="1"/>
            </p:cNvSpPr>
            <p:nvPr/>
          </p:nvSpPr>
          <p:spPr bwMode="auto">
            <a:xfrm>
              <a:off x="5973192" y="2353494"/>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87" name="Oval 130"/>
            <p:cNvSpPr>
              <a:spLocks noChangeArrowheads="1"/>
            </p:cNvSpPr>
            <p:nvPr/>
          </p:nvSpPr>
          <p:spPr bwMode="auto">
            <a:xfrm>
              <a:off x="6646292" y="207726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88" name="Oval 131"/>
            <p:cNvSpPr>
              <a:spLocks noChangeArrowheads="1"/>
            </p:cNvSpPr>
            <p:nvPr/>
          </p:nvSpPr>
          <p:spPr bwMode="auto">
            <a:xfrm>
              <a:off x="6197029" y="22534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89" name="Oval 132"/>
            <p:cNvSpPr>
              <a:spLocks noChangeArrowheads="1"/>
            </p:cNvSpPr>
            <p:nvPr/>
          </p:nvSpPr>
          <p:spPr bwMode="auto">
            <a:xfrm>
              <a:off x="6425629" y="2162994"/>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90" name="Line 147"/>
            <p:cNvSpPr>
              <a:spLocks noChangeShapeType="1"/>
            </p:cNvSpPr>
            <p:nvPr/>
          </p:nvSpPr>
          <p:spPr bwMode="auto">
            <a:xfrm rot="10800000">
              <a:off x="1977454" y="2499544"/>
              <a:ext cx="4038600" cy="0"/>
            </a:xfrm>
            <a:prstGeom prst="line">
              <a:avLst/>
            </a:prstGeom>
            <a:noFill/>
            <a:ln w="1905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cxnSp>
          <p:nvCxnSpPr>
            <p:cNvPr id="291" name="直接连接符 115"/>
            <p:cNvCxnSpPr>
              <a:cxnSpLocks noChangeShapeType="1"/>
            </p:cNvCxnSpPr>
            <p:nvPr/>
          </p:nvCxnSpPr>
          <p:spPr bwMode="auto">
            <a:xfrm>
              <a:off x="4626992" y="1348606"/>
              <a:ext cx="228600" cy="2138363"/>
            </a:xfrm>
            <a:prstGeom prst="line">
              <a:avLst/>
            </a:prstGeom>
            <a:noFill/>
            <a:ln w="28575" algn="ctr">
              <a:solidFill>
                <a:srgbClr val="0000FF"/>
              </a:solidFill>
              <a:round/>
              <a:headEnd/>
              <a:tailEnd/>
            </a:ln>
            <a:extLst>
              <a:ext uri="{909E8E84-426E-40DD-AFC4-6F175D3DCCD1}">
                <a14:hiddenFill xmlns:a14="http://schemas.microsoft.com/office/drawing/2010/main">
                  <a:noFill/>
                </a14:hiddenFill>
              </a:ext>
            </a:extLst>
          </p:spPr>
        </p:cxnSp>
        <p:sp>
          <p:nvSpPr>
            <p:cNvPr id="293" name="Rectangle 161"/>
            <p:cNvSpPr>
              <a:spLocks noChangeArrowheads="1"/>
            </p:cNvSpPr>
            <p:nvPr/>
          </p:nvSpPr>
          <p:spPr bwMode="auto">
            <a:xfrm>
              <a:off x="2504728" y="1750244"/>
              <a:ext cx="431800" cy="34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800" b="1" i="0" u="none" strike="noStrike" kern="0" cap="none" spc="0" normalizeH="0" baseline="0" noProof="0" dirty="0">
                  <a:ln>
                    <a:noFill/>
                  </a:ln>
                  <a:solidFill>
                    <a:sysClr val="windowText" lastClr="000000"/>
                  </a:solidFill>
                  <a:effectLst/>
                  <a:uLnTx/>
                  <a:uFillTx/>
                  <a:sym typeface="Wingdings" pitchFamily="2" charset="2"/>
                </a:rPr>
                <a:t></a:t>
              </a:r>
              <a:endParaRPr kumimoji="0" lang="zh-CN" altLang="en-US" sz="2800" b="1" i="0" u="none" strike="noStrike" kern="0" cap="none" spc="0" normalizeH="0" baseline="0" noProof="0" dirty="0">
                <a:ln>
                  <a:noFill/>
                </a:ln>
                <a:solidFill>
                  <a:sysClr val="windowText" lastClr="000000"/>
                </a:solidFill>
                <a:effectLst/>
                <a:uLnTx/>
                <a:uFillTx/>
              </a:endParaRPr>
            </a:p>
          </p:txBody>
        </p:sp>
        <p:sp>
          <p:nvSpPr>
            <p:cNvPr id="294" name="Oval 129"/>
            <p:cNvSpPr>
              <a:spLocks noChangeArrowheads="1"/>
            </p:cNvSpPr>
            <p:nvPr/>
          </p:nvSpPr>
          <p:spPr bwMode="auto">
            <a:xfrm>
              <a:off x="5741417" y="24566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95" name="任意多边形 134"/>
            <p:cNvSpPr>
              <a:spLocks/>
            </p:cNvSpPr>
            <p:nvPr/>
          </p:nvSpPr>
          <p:spPr bwMode="auto">
            <a:xfrm>
              <a:off x="4846067" y="2109019"/>
              <a:ext cx="1862137" cy="1401762"/>
            </a:xfrm>
            <a:custGeom>
              <a:avLst/>
              <a:gdLst>
                <a:gd name="T0" fmla="*/ 0 w 1929384"/>
                <a:gd name="T1" fmla="*/ 1404281 h 1426464"/>
                <a:gd name="T2" fmla="*/ 224888 w 1929384"/>
                <a:gd name="T3" fmla="*/ 1336767 h 1426464"/>
                <a:gd name="T4" fmla="*/ 445365 w 1929384"/>
                <a:gd name="T5" fmla="*/ 1152231 h 1426464"/>
                <a:gd name="T6" fmla="*/ 903959 w 1929384"/>
                <a:gd name="T7" fmla="*/ 409583 h 1426464"/>
                <a:gd name="T8" fmla="*/ 1860836 w 1929384"/>
                <a:gd name="T9" fmla="*/ 0 h 1426464"/>
                <a:gd name="T10" fmla="*/ 0 60000 65536"/>
                <a:gd name="T11" fmla="*/ 0 60000 65536"/>
                <a:gd name="T12" fmla="*/ 0 60000 65536"/>
                <a:gd name="T13" fmla="*/ 0 60000 65536"/>
                <a:gd name="T14" fmla="*/ 0 60000 65536"/>
                <a:gd name="T15" fmla="*/ 0 w 1929384"/>
                <a:gd name="T16" fmla="*/ 0 h 1426464"/>
                <a:gd name="T17" fmla="*/ 1929384 w 1929384"/>
                <a:gd name="T18" fmla="*/ 1426464 h 1426464"/>
              </a:gdLst>
              <a:ahLst/>
              <a:cxnLst>
                <a:cxn ang="T10">
                  <a:pos x="T0" y="T1"/>
                </a:cxn>
                <a:cxn ang="T11">
                  <a:pos x="T2" y="T3"/>
                </a:cxn>
                <a:cxn ang="T12">
                  <a:pos x="T4" y="T5"/>
                </a:cxn>
                <a:cxn ang="T13">
                  <a:pos x="T6" y="T7"/>
                </a:cxn>
                <a:cxn ang="T14">
                  <a:pos x="T8" y="T9"/>
                </a:cxn>
              </a:cxnLst>
              <a:rect l="T15" t="T16" r="T17" b="T18"/>
              <a:pathLst>
                <a:path w="1929384" h="1426464">
                  <a:moveTo>
                    <a:pt x="0" y="1426464"/>
                  </a:moveTo>
                  <a:lnTo>
                    <a:pt x="233172" y="1357884"/>
                  </a:lnTo>
                  <a:lnTo>
                    <a:pt x="461772" y="1170432"/>
                  </a:lnTo>
                  <a:lnTo>
                    <a:pt x="937260" y="416052"/>
                  </a:lnTo>
                  <a:lnTo>
                    <a:pt x="1929384" y="0"/>
                  </a:lnTo>
                </a:path>
              </a:pathLst>
            </a:custGeom>
            <a:noFill/>
            <a:ln w="28575" cap="flat" cmpd="sng" algn="ctr">
              <a:solidFill>
                <a:srgbClr val="0000FF"/>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96" name="Rectangle 161"/>
            <p:cNvSpPr>
              <a:spLocks noChangeArrowheads="1"/>
            </p:cNvSpPr>
            <p:nvPr/>
          </p:nvSpPr>
          <p:spPr bwMode="auto">
            <a:xfrm>
              <a:off x="4448944" y="1014165"/>
              <a:ext cx="358775" cy="28892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800" b="1" i="0" u="none" strike="noStrike" kern="0" cap="none" spc="0" normalizeH="0" baseline="0" noProof="0" dirty="0">
                  <a:ln>
                    <a:noFill/>
                  </a:ln>
                  <a:solidFill>
                    <a:sysClr val="windowText" lastClr="000000"/>
                  </a:solidFill>
                  <a:effectLst/>
                  <a:uLnTx/>
                  <a:uFillTx/>
                  <a:sym typeface="Wingdings" pitchFamily="2" charset="2"/>
                </a:rPr>
                <a:t></a:t>
              </a:r>
              <a:endParaRPr kumimoji="0" lang="zh-CN" altLang="en-US" sz="2800" b="1" i="0" u="none" strike="noStrike" kern="0" cap="none" spc="0" normalizeH="0" baseline="0" noProof="0" dirty="0">
                <a:ln>
                  <a:noFill/>
                </a:ln>
                <a:solidFill>
                  <a:sysClr val="windowText" lastClr="000000"/>
                </a:solidFill>
                <a:effectLst/>
                <a:uLnTx/>
                <a:uFillTx/>
              </a:endParaRPr>
            </a:p>
          </p:txBody>
        </p:sp>
        <p:cxnSp>
          <p:nvCxnSpPr>
            <p:cNvPr id="297" name="直接连接符 119"/>
            <p:cNvCxnSpPr>
              <a:cxnSpLocks noChangeShapeType="1"/>
            </p:cNvCxnSpPr>
            <p:nvPr/>
          </p:nvCxnSpPr>
          <p:spPr bwMode="auto">
            <a:xfrm flipH="1">
              <a:off x="6909817" y="2902769"/>
              <a:ext cx="1587" cy="655637"/>
            </a:xfrm>
            <a:prstGeom prst="line">
              <a:avLst/>
            </a:prstGeom>
            <a:noFill/>
            <a:ln w="19050" algn="ctr">
              <a:solidFill>
                <a:srgbClr val="000000"/>
              </a:solidFill>
              <a:prstDash val="dash"/>
              <a:round/>
              <a:headEnd/>
              <a:tailEnd/>
            </a:ln>
          </p:spPr>
        </p:cxnSp>
        <p:cxnSp>
          <p:nvCxnSpPr>
            <p:cNvPr id="298" name="直接连接符 121"/>
            <p:cNvCxnSpPr>
              <a:cxnSpLocks noChangeShapeType="1"/>
            </p:cNvCxnSpPr>
            <p:nvPr/>
          </p:nvCxnSpPr>
          <p:spPr bwMode="auto">
            <a:xfrm>
              <a:off x="1993329" y="2886894"/>
              <a:ext cx="5545138" cy="0"/>
            </a:xfrm>
            <a:prstGeom prst="line">
              <a:avLst/>
            </a:prstGeom>
            <a:noFill/>
            <a:ln w="19050" algn="ctr">
              <a:solidFill>
                <a:srgbClr val="000000"/>
              </a:solidFill>
              <a:prstDash val="dash"/>
              <a:round/>
              <a:headEnd/>
              <a:tailEnd/>
            </a:ln>
          </p:spPr>
        </p:cxnSp>
        <p:sp>
          <p:nvSpPr>
            <p:cNvPr id="299" name="Oval 130"/>
            <p:cNvSpPr>
              <a:spLocks noChangeArrowheads="1"/>
            </p:cNvSpPr>
            <p:nvPr/>
          </p:nvSpPr>
          <p:spPr bwMode="auto">
            <a:xfrm>
              <a:off x="6866954" y="28456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300" name="Line 24"/>
            <p:cNvSpPr>
              <a:spLocks noChangeShapeType="1"/>
            </p:cNvSpPr>
            <p:nvPr/>
          </p:nvSpPr>
          <p:spPr bwMode="auto">
            <a:xfrm>
              <a:off x="7367017" y="348538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301" name="Line 22"/>
            <p:cNvSpPr>
              <a:spLocks noChangeShapeType="1"/>
            </p:cNvSpPr>
            <p:nvPr/>
          </p:nvSpPr>
          <p:spPr bwMode="auto">
            <a:xfrm>
              <a:off x="7135242" y="3490144"/>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302" name="Text Box 87"/>
            <p:cNvSpPr txBox="1">
              <a:spLocks noChangeArrowheads="1"/>
            </p:cNvSpPr>
            <p:nvPr/>
          </p:nvSpPr>
          <p:spPr bwMode="auto">
            <a:xfrm>
              <a:off x="7151117" y="3593331"/>
              <a:ext cx="430966" cy="377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24</a:t>
              </a:r>
            </a:p>
          </p:txBody>
        </p:sp>
        <p:sp>
          <p:nvSpPr>
            <p:cNvPr id="303" name="Line 22"/>
            <p:cNvSpPr>
              <a:spLocks noChangeShapeType="1"/>
            </p:cNvSpPr>
            <p:nvPr/>
          </p:nvSpPr>
          <p:spPr bwMode="auto">
            <a:xfrm>
              <a:off x="7605142" y="349808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cxnSp>
          <p:nvCxnSpPr>
            <p:cNvPr id="304" name="直接连接符 134"/>
            <p:cNvCxnSpPr>
              <a:cxnSpLocks noChangeShapeType="1"/>
              <a:stCxn id="295" idx="4"/>
              <a:endCxn id="299" idx="3"/>
            </p:cNvCxnSpPr>
            <p:nvPr/>
          </p:nvCxnSpPr>
          <p:spPr bwMode="auto">
            <a:xfrm>
              <a:off x="6706617" y="2109019"/>
              <a:ext cx="200025" cy="785812"/>
            </a:xfrm>
            <a:prstGeom prst="line">
              <a:avLst/>
            </a:prstGeom>
            <a:noFill/>
            <a:ln w="28575" algn="ctr">
              <a:solidFill>
                <a:srgbClr val="0000FF"/>
              </a:solidFill>
              <a:round/>
              <a:headEnd/>
              <a:tailEnd/>
            </a:ln>
          </p:spPr>
        </p:cxnSp>
        <p:sp>
          <p:nvSpPr>
            <p:cNvPr id="305" name="Text Box 206"/>
            <p:cNvSpPr txBox="1">
              <a:spLocks noChangeArrowheads="1"/>
            </p:cNvSpPr>
            <p:nvPr/>
          </p:nvSpPr>
          <p:spPr bwMode="auto">
            <a:xfrm rot="20070649">
              <a:off x="5683433" y="1948020"/>
              <a:ext cx="1088691" cy="3485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800" b="1" i="0" u="none" strike="noStrike" kern="0" cap="none" spc="0" normalizeH="0" baseline="0" noProof="0" dirty="0">
                  <a:ln>
                    <a:noFill/>
                  </a:ln>
                  <a:solidFill>
                    <a:srgbClr val="000000"/>
                  </a:solidFill>
                  <a:effectLst/>
                  <a:uLnTx/>
                  <a:uFillTx/>
                  <a:latin typeface="Times New Roman" pitchFamily="18" charset="0"/>
                  <a:ea typeface="宋体" charset="-122"/>
                </a:rPr>
                <a:t>拥塞避免</a:t>
              </a:r>
            </a:p>
          </p:txBody>
        </p:sp>
        <p:sp>
          <p:nvSpPr>
            <p:cNvPr id="306" name="Text Box 206"/>
            <p:cNvSpPr txBox="1">
              <a:spLocks noChangeArrowheads="1"/>
            </p:cNvSpPr>
            <p:nvPr/>
          </p:nvSpPr>
          <p:spPr bwMode="auto">
            <a:xfrm rot="20205303">
              <a:off x="2929222" y="1439227"/>
              <a:ext cx="1188915" cy="377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2000" b="1" i="0" u="none" strike="noStrike" kern="0" cap="none" spc="0" normalizeH="0" baseline="0" noProof="0">
                  <a:ln>
                    <a:noFill/>
                  </a:ln>
                  <a:solidFill>
                    <a:srgbClr val="000000"/>
                  </a:solidFill>
                  <a:effectLst/>
                  <a:uLnTx/>
                  <a:uFillTx/>
                  <a:latin typeface="Times New Roman" pitchFamily="18" charset="0"/>
                  <a:ea typeface="宋体" charset="-122"/>
                </a:rPr>
                <a:t>拥塞避免</a:t>
              </a:r>
            </a:p>
          </p:txBody>
        </p:sp>
        <p:sp>
          <p:nvSpPr>
            <p:cNvPr id="307" name="TextBox 147"/>
            <p:cNvSpPr txBox="1">
              <a:spLocks noChangeArrowheads="1"/>
            </p:cNvSpPr>
            <p:nvPr/>
          </p:nvSpPr>
          <p:spPr bwMode="auto">
            <a:xfrm>
              <a:off x="5422329" y="2118544"/>
              <a:ext cx="493607" cy="4937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2800" b="1" i="0" u="none" strike="noStrike" kern="0" cap="none" spc="0" normalizeH="0" baseline="0" noProof="0" dirty="0">
                  <a:ln>
                    <a:noFill/>
                  </a:ln>
                  <a:solidFill>
                    <a:srgbClr val="000000"/>
                  </a:solidFill>
                  <a:effectLst/>
                  <a:uLnTx/>
                  <a:uFillTx/>
                  <a:latin typeface="Times New Roman" pitchFamily="18" charset="0"/>
                  <a:ea typeface="宋体" charset="-122"/>
                  <a:sym typeface="Wingdings" pitchFamily="2" charset="2"/>
                </a:rPr>
                <a:t></a:t>
              </a:r>
              <a:endParaRPr kumimoji="1" lang="zh-CN" altLang="en-US" sz="2800" b="1" i="0" u="none" strike="noStrike" kern="0" cap="none" spc="0" normalizeH="0" baseline="0" noProof="0" dirty="0">
                <a:ln>
                  <a:noFill/>
                </a:ln>
                <a:solidFill>
                  <a:srgbClr val="000000"/>
                </a:solidFill>
                <a:effectLst/>
                <a:uLnTx/>
                <a:uFillTx/>
                <a:latin typeface="Times New Roman" pitchFamily="18" charset="0"/>
                <a:ea typeface="宋体" charset="-122"/>
              </a:endParaRPr>
            </a:p>
          </p:txBody>
        </p:sp>
        <p:sp>
          <p:nvSpPr>
            <p:cNvPr id="308" name="矩形 150"/>
            <p:cNvSpPr>
              <a:spLocks noChangeArrowheads="1"/>
            </p:cNvSpPr>
            <p:nvPr/>
          </p:nvSpPr>
          <p:spPr bwMode="auto">
            <a:xfrm>
              <a:off x="2253679" y="3444106"/>
              <a:ext cx="2516188" cy="119063"/>
            </a:xfrm>
            <a:prstGeom prst="rect">
              <a:avLst/>
            </a:prstGeom>
            <a:solidFill>
              <a:srgbClr val="FFFFFF"/>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309" name="TextBox 148"/>
            <p:cNvSpPr txBox="1">
              <a:spLocks noChangeArrowheads="1"/>
            </p:cNvSpPr>
            <p:nvPr/>
          </p:nvSpPr>
          <p:spPr bwMode="auto">
            <a:xfrm>
              <a:off x="6573267" y="1716906"/>
              <a:ext cx="493607" cy="4937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2800" b="1" i="0" u="none" strike="noStrike" kern="0" cap="none" spc="0" normalizeH="0" baseline="0" noProof="0">
                  <a:ln>
                    <a:noFill/>
                  </a:ln>
                  <a:solidFill>
                    <a:srgbClr val="000000"/>
                  </a:solidFill>
                  <a:effectLst/>
                  <a:uLnTx/>
                  <a:uFillTx/>
                  <a:latin typeface="Times New Roman" pitchFamily="18" charset="0"/>
                  <a:ea typeface="宋体" charset="-122"/>
                  <a:sym typeface="Wingdings" pitchFamily="2" charset="2"/>
                </a:rPr>
                <a:t></a:t>
              </a:r>
              <a:endParaRPr kumimoji="1" lang="zh-CN" altLang="en-US" sz="2800" b="1" i="0" u="none" strike="noStrike" kern="0" cap="none" spc="0" normalizeH="0" baseline="0" noProof="0">
                <a:ln>
                  <a:noFill/>
                </a:ln>
                <a:solidFill>
                  <a:srgbClr val="000000"/>
                </a:solidFill>
                <a:effectLst/>
                <a:uLnTx/>
                <a:uFillTx/>
                <a:latin typeface="Times New Roman" pitchFamily="18" charset="0"/>
                <a:ea typeface="宋体" charset="-122"/>
              </a:endParaRPr>
            </a:p>
          </p:txBody>
        </p:sp>
        <p:sp>
          <p:nvSpPr>
            <p:cNvPr id="310" name="Line 167"/>
            <p:cNvSpPr>
              <a:spLocks noChangeShapeType="1"/>
            </p:cNvSpPr>
            <p:nvPr/>
          </p:nvSpPr>
          <p:spPr bwMode="auto">
            <a:xfrm>
              <a:off x="4473054" y="3366071"/>
              <a:ext cx="371475" cy="134937"/>
            </a:xfrm>
            <a:prstGeom prst="line">
              <a:avLst/>
            </a:prstGeom>
            <a:noFill/>
            <a:ln w="19050">
              <a:solidFill>
                <a:srgbClr val="000000"/>
              </a:solidFill>
              <a:round/>
              <a:headEnd/>
              <a:tail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311" name="矩形 151"/>
            <p:cNvSpPr>
              <a:spLocks noChangeArrowheads="1"/>
            </p:cNvSpPr>
            <p:nvPr/>
          </p:nvSpPr>
          <p:spPr bwMode="auto">
            <a:xfrm>
              <a:off x="7078092" y="3444106"/>
              <a:ext cx="593725" cy="107950"/>
            </a:xfrm>
            <a:prstGeom prst="rect">
              <a:avLst/>
            </a:prstGeom>
            <a:solidFill>
              <a:srgbClr val="FFFFFF"/>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cxnSp>
          <p:nvCxnSpPr>
            <p:cNvPr id="312" name="直接连接符 153"/>
            <p:cNvCxnSpPr>
              <a:cxnSpLocks noChangeShapeType="1"/>
            </p:cNvCxnSpPr>
            <p:nvPr/>
          </p:nvCxnSpPr>
          <p:spPr bwMode="auto">
            <a:xfrm flipV="1">
              <a:off x="5774754" y="2532881"/>
              <a:ext cx="11113" cy="984250"/>
            </a:xfrm>
            <a:prstGeom prst="line">
              <a:avLst/>
            </a:prstGeom>
            <a:noFill/>
            <a:ln w="19050" algn="ctr">
              <a:solidFill>
                <a:srgbClr val="000000"/>
              </a:solidFill>
              <a:prstDash val="dash"/>
              <a:round/>
              <a:headEnd/>
              <a:tailEnd/>
            </a:ln>
          </p:spPr>
        </p:cxnSp>
        <p:cxnSp>
          <p:nvCxnSpPr>
            <p:cNvPr id="313" name="直接连接符 157"/>
            <p:cNvCxnSpPr>
              <a:cxnSpLocks noChangeShapeType="1"/>
            </p:cNvCxnSpPr>
            <p:nvPr/>
          </p:nvCxnSpPr>
          <p:spPr bwMode="auto">
            <a:xfrm flipV="1">
              <a:off x="6682804" y="2177281"/>
              <a:ext cx="11113" cy="1435100"/>
            </a:xfrm>
            <a:prstGeom prst="line">
              <a:avLst/>
            </a:prstGeom>
            <a:noFill/>
            <a:ln w="19050" algn="ctr">
              <a:solidFill>
                <a:srgbClr val="000000"/>
              </a:solidFill>
              <a:prstDash val="dash"/>
              <a:round/>
              <a:headEnd/>
              <a:tailEnd/>
            </a:ln>
          </p:spPr>
        </p:cxnSp>
        <p:cxnSp>
          <p:nvCxnSpPr>
            <p:cNvPr id="314" name="直接连接符 141"/>
            <p:cNvCxnSpPr>
              <a:cxnSpLocks noChangeShapeType="1"/>
            </p:cNvCxnSpPr>
            <p:nvPr/>
          </p:nvCxnSpPr>
          <p:spPr bwMode="auto">
            <a:xfrm flipV="1">
              <a:off x="6847904" y="2386831"/>
              <a:ext cx="1219200" cy="528638"/>
            </a:xfrm>
            <a:prstGeom prst="line">
              <a:avLst/>
            </a:prstGeom>
            <a:noFill/>
            <a:ln w="28575" algn="ctr">
              <a:solidFill>
                <a:srgbClr val="0000FF"/>
              </a:solidFill>
              <a:round/>
              <a:headEnd/>
              <a:tailEnd/>
            </a:ln>
          </p:spPr>
        </p:cxnSp>
        <p:sp>
          <p:nvSpPr>
            <p:cNvPr id="315" name="Oval 202"/>
            <p:cNvSpPr>
              <a:spLocks noChangeArrowheads="1"/>
            </p:cNvSpPr>
            <p:nvPr/>
          </p:nvSpPr>
          <p:spPr bwMode="auto">
            <a:xfrm>
              <a:off x="7554342" y="2556694"/>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316" name="Oval 130"/>
            <p:cNvSpPr>
              <a:spLocks noChangeArrowheads="1"/>
            </p:cNvSpPr>
            <p:nvPr/>
          </p:nvSpPr>
          <p:spPr bwMode="auto">
            <a:xfrm>
              <a:off x="7092379" y="274560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317" name="Oval 130"/>
            <p:cNvSpPr>
              <a:spLocks noChangeArrowheads="1"/>
            </p:cNvSpPr>
            <p:nvPr/>
          </p:nvSpPr>
          <p:spPr bwMode="auto">
            <a:xfrm>
              <a:off x="7325742" y="265353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318" name="TextBox 149"/>
            <p:cNvSpPr txBox="1">
              <a:spLocks noChangeArrowheads="1"/>
            </p:cNvSpPr>
            <p:nvPr/>
          </p:nvSpPr>
          <p:spPr bwMode="auto">
            <a:xfrm>
              <a:off x="6646292" y="2869431"/>
              <a:ext cx="493607" cy="4937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2800" b="1" i="0" u="none" strike="noStrike" kern="0" cap="none" spc="0" normalizeH="0" baseline="0" noProof="0" dirty="0">
                  <a:ln>
                    <a:noFill/>
                  </a:ln>
                  <a:solidFill>
                    <a:srgbClr val="000000"/>
                  </a:solidFill>
                  <a:effectLst/>
                  <a:uLnTx/>
                  <a:uFillTx/>
                  <a:latin typeface="Times New Roman" pitchFamily="18" charset="0"/>
                  <a:ea typeface="宋体" charset="-122"/>
                  <a:sym typeface="Wingdings" pitchFamily="2" charset="2"/>
                </a:rPr>
                <a:t></a:t>
              </a:r>
              <a:endParaRPr kumimoji="1" lang="zh-CN" altLang="en-US" sz="2800" b="1" i="0" u="none" strike="noStrike" kern="0" cap="none" spc="0" normalizeH="0" baseline="0" noProof="0" dirty="0">
                <a:ln>
                  <a:noFill/>
                </a:ln>
                <a:solidFill>
                  <a:srgbClr val="000000"/>
                </a:solidFill>
                <a:effectLst/>
                <a:uLnTx/>
                <a:uFillTx/>
                <a:latin typeface="Times New Roman" pitchFamily="18" charset="0"/>
                <a:ea typeface="宋体" charset="-122"/>
              </a:endParaRPr>
            </a:p>
          </p:txBody>
        </p:sp>
        <p:sp>
          <p:nvSpPr>
            <p:cNvPr id="319" name="Oval 202"/>
            <p:cNvSpPr>
              <a:spLocks noChangeArrowheads="1"/>
            </p:cNvSpPr>
            <p:nvPr/>
          </p:nvSpPr>
          <p:spPr bwMode="auto">
            <a:xfrm>
              <a:off x="7790879" y="24392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cxnSp>
          <p:nvCxnSpPr>
            <p:cNvPr id="320" name="直接连接符 117"/>
            <p:cNvCxnSpPr>
              <a:cxnSpLocks noChangeShapeType="1"/>
            </p:cNvCxnSpPr>
            <p:nvPr/>
          </p:nvCxnSpPr>
          <p:spPr bwMode="auto">
            <a:xfrm flipH="1">
              <a:off x="4625404" y="1472431"/>
              <a:ext cx="4763" cy="2076450"/>
            </a:xfrm>
            <a:prstGeom prst="line">
              <a:avLst/>
            </a:prstGeom>
            <a:noFill/>
            <a:ln w="19050" algn="ctr">
              <a:solidFill>
                <a:srgbClr val="000000"/>
              </a:solidFill>
              <a:prstDash val="dash"/>
              <a:round/>
              <a:headEnd/>
              <a:tailEnd/>
            </a:ln>
            <a:extLst>
              <a:ext uri="{909E8E84-426E-40DD-AFC4-6F175D3DCCD1}">
                <a14:hiddenFill xmlns:a14="http://schemas.microsoft.com/office/drawing/2010/main">
                  <a:noFill/>
                </a14:hiddenFill>
              </a:ext>
            </a:extLst>
          </p:spPr>
        </p:cxnSp>
        <p:cxnSp>
          <p:nvCxnSpPr>
            <p:cNvPr id="321" name="直接连接符 119"/>
            <p:cNvCxnSpPr>
              <a:cxnSpLocks noChangeShapeType="1"/>
            </p:cNvCxnSpPr>
            <p:nvPr/>
          </p:nvCxnSpPr>
          <p:spPr bwMode="auto">
            <a:xfrm>
              <a:off x="2796604" y="2229669"/>
              <a:ext cx="0" cy="1306512"/>
            </a:xfrm>
            <a:prstGeom prst="line">
              <a:avLst/>
            </a:prstGeom>
            <a:noFill/>
            <a:ln w="19050" algn="ctr">
              <a:solidFill>
                <a:srgbClr val="000000"/>
              </a:solidFill>
              <a:prstDash val="dash"/>
              <a:round/>
              <a:headEnd/>
              <a:tailEnd/>
            </a:ln>
            <a:extLst>
              <a:ext uri="{909E8E84-426E-40DD-AFC4-6F175D3DCCD1}">
                <a14:hiddenFill xmlns:a14="http://schemas.microsoft.com/office/drawing/2010/main">
                  <a:noFill/>
                </a14:hiddenFill>
              </a:ext>
            </a:extLst>
          </p:spPr>
        </p:cxnSp>
        <p:sp>
          <p:nvSpPr>
            <p:cNvPr id="279" name="Text Box 209"/>
            <p:cNvSpPr txBox="1">
              <a:spLocks noChangeArrowheads="1"/>
            </p:cNvSpPr>
            <p:nvPr/>
          </p:nvSpPr>
          <p:spPr bwMode="auto">
            <a:xfrm>
              <a:off x="408856" y="3033515"/>
              <a:ext cx="1066799" cy="377560"/>
            </a:xfrm>
            <a:prstGeom prst="rect">
              <a:avLst/>
            </a:prstGeom>
            <a:solidFill>
              <a:srgbClr val="FFFF66"/>
            </a:solidFill>
            <a:ln w="9525">
              <a:solidFill>
                <a:srgbClr val="000000"/>
              </a:solidFill>
              <a:miter lim="800000"/>
              <a:headEnd/>
              <a:tailEnd/>
            </a:ln>
            <a:effectLst>
              <a:outerShdw dist="53882" dir="2700000" algn="ctr" rotWithShape="0">
                <a:srgbClr val="808080"/>
              </a:outerShdw>
            </a:effectLst>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2000" b="1" i="0" u="none" strike="noStrike" kern="0" cap="none" spc="0" normalizeH="0" baseline="0" noProof="0" dirty="0">
                  <a:ln>
                    <a:noFill/>
                  </a:ln>
                  <a:solidFill>
                    <a:sysClr val="windowText" lastClr="000000"/>
                  </a:solidFill>
                  <a:effectLst/>
                  <a:uLnTx/>
                  <a:uFillTx/>
                  <a:ea typeface="宋体" pitchFamily="2" charset="-122"/>
                </a:rPr>
                <a:t>慢开始</a:t>
              </a:r>
            </a:p>
          </p:txBody>
        </p:sp>
        <p:sp>
          <p:nvSpPr>
            <p:cNvPr id="292" name="Text Box 209"/>
            <p:cNvSpPr txBox="1">
              <a:spLocks noChangeArrowheads="1"/>
            </p:cNvSpPr>
            <p:nvPr/>
          </p:nvSpPr>
          <p:spPr bwMode="auto">
            <a:xfrm>
              <a:off x="3436367" y="3012306"/>
              <a:ext cx="1066800" cy="377560"/>
            </a:xfrm>
            <a:prstGeom prst="rect">
              <a:avLst/>
            </a:prstGeom>
            <a:solidFill>
              <a:srgbClr val="FFFF66"/>
            </a:solidFill>
            <a:ln w="9525">
              <a:solidFill>
                <a:srgbClr val="000000"/>
              </a:solidFill>
              <a:miter lim="800000"/>
              <a:headEnd/>
              <a:tailEnd/>
            </a:ln>
            <a:effectLst>
              <a:outerShdw dist="53882" dir="2700000" algn="ctr" rotWithShape="0">
                <a:srgbClr val="808080"/>
              </a:outerShdw>
            </a:effectLst>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2000" b="1" i="0" u="none" strike="noStrike" kern="0" cap="none" spc="0" normalizeH="0" baseline="0" noProof="0" dirty="0">
                  <a:ln>
                    <a:noFill/>
                  </a:ln>
                  <a:solidFill>
                    <a:sysClr val="windowText" lastClr="000000"/>
                  </a:solidFill>
                  <a:effectLst/>
                  <a:uLnTx/>
                  <a:uFillTx/>
                  <a:ea typeface="宋体" pitchFamily="2" charset="-122"/>
                </a:rPr>
                <a:t>慢开始</a:t>
              </a:r>
            </a:p>
          </p:txBody>
        </p:sp>
      </p:grpSp>
      <p:sp>
        <p:nvSpPr>
          <p:cNvPr id="124" name="Text Box 4"/>
          <p:cNvSpPr txBox="1">
            <a:spLocks noChangeArrowheads="1"/>
          </p:cNvSpPr>
          <p:nvPr/>
        </p:nvSpPr>
        <p:spPr bwMode="auto">
          <a:xfrm>
            <a:off x="842392" y="4360069"/>
            <a:ext cx="8647112" cy="1373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kumimoji="0" lang="zh-CN" altLang="en-US" sz="2800" dirty="0">
                <a:solidFill>
                  <a:srgbClr val="000099"/>
                </a:solidFill>
                <a:latin typeface="Arial" pitchFamily="34" charset="0"/>
                <a:ea typeface="黑体" pitchFamily="2" charset="-122"/>
              </a:rPr>
              <a:t>发送端的发送窗口不能超过拥塞窗口 </a:t>
            </a:r>
            <a:r>
              <a:rPr kumimoji="0" lang="en-US" altLang="zh-CN" sz="2800" dirty="0" err="1">
                <a:solidFill>
                  <a:srgbClr val="000099"/>
                </a:solidFill>
                <a:latin typeface="Arial" pitchFamily="34" charset="0"/>
                <a:ea typeface="黑体" pitchFamily="2" charset="-122"/>
              </a:rPr>
              <a:t>cwnd</a:t>
            </a:r>
            <a:r>
              <a:rPr kumimoji="0" lang="en-US" altLang="zh-CN" sz="2800" dirty="0">
                <a:solidFill>
                  <a:srgbClr val="000099"/>
                </a:solidFill>
                <a:latin typeface="Arial" pitchFamily="34" charset="0"/>
                <a:ea typeface="黑体" pitchFamily="2" charset="-122"/>
              </a:rPr>
              <a:t> </a:t>
            </a:r>
            <a:r>
              <a:rPr kumimoji="0" lang="zh-CN" altLang="en-US" sz="2800" dirty="0">
                <a:solidFill>
                  <a:srgbClr val="000099"/>
                </a:solidFill>
                <a:latin typeface="Arial" pitchFamily="34" charset="0"/>
                <a:ea typeface="黑体" pitchFamily="2" charset="-122"/>
              </a:rPr>
              <a:t>和接收端窗口 </a:t>
            </a:r>
            <a:r>
              <a:rPr kumimoji="0" lang="en-US" altLang="zh-CN" sz="2800" dirty="0" err="1">
                <a:solidFill>
                  <a:srgbClr val="000099"/>
                </a:solidFill>
                <a:latin typeface="Arial" pitchFamily="34" charset="0"/>
                <a:ea typeface="黑体" pitchFamily="2" charset="-122"/>
              </a:rPr>
              <a:t>rwnd</a:t>
            </a:r>
            <a:r>
              <a:rPr kumimoji="0" lang="en-US" altLang="zh-CN" sz="2800" dirty="0">
                <a:solidFill>
                  <a:srgbClr val="000099"/>
                </a:solidFill>
                <a:latin typeface="Arial" pitchFamily="34" charset="0"/>
                <a:ea typeface="黑体" pitchFamily="2" charset="-122"/>
              </a:rPr>
              <a:t> </a:t>
            </a:r>
            <a:r>
              <a:rPr kumimoji="0" lang="zh-CN" altLang="en-US" sz="2800" dirty="0">
                <a:solidFill>
                  <a:srgbClr val="000099"/>
                </a:solidFill>
                <a:latin typeface="Arial" pitchFamily="34" charset="0"/>
                <a:ea typeface="黑体" pitchFamily="2" charset="-122"/>
              </a:rPr>
              <a:t>中的最小值。我们假定接收端窗口足够大，因此现在发送窗口的数值等于拥塞窗口的数值。</a:t>
            </a:r>
          </a:p>
        </p:txBody>
      </p:sp>
    </p:spTree>
    <p:extLst>
      <p:ext uri="{BB962C8B-B14F-4D97-AF65-F5344CB8AC3E}">
        <p14:creationId xmlns:p14="http://schemas.microsoft.com/office/powerpoint/2010/main" val="420860550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 name="Rectangle 5"/>
          <p:cNvSpPr txBox="1">
            <a:spLocks noChangeArrowheads="1"/>
          </p:cNvSpPr>
          <p:nvPr/>
        </p:nvSpPr>
        <p:spPr bwMode="auto">
          <a:xfrm>
            <a:off x="417512" y="152400"/>
            <a:ext cx="91440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kumimoji="1" sz="4400" b="1">
                <a:solidFill>
                  <a:schemeClr val="tx2"/>
                </a:solidFill>
                <a:latin typeface="+mj-lt"/>
                <a:ea typeface="+mj-ea"/>
                <a:cs typeface="+mj-cs"/>
              </a:defRPr>
            </a:lvl1pPr>
            <a:lvl2pPr algn="l" rtl="0" eaLnBrk="0" fontAlgn="base" hangingPunct="0">
              <a:spcBef>
                <a:spcPct val="0"/>
              </a:spcBef>
              <a:spcAft>
                <a:spcPct val="0"/>
              </a:spcAft>
              <a:defRPr kumimoji="1" sz="4400" b="1">
                <a:solidFill>
                  <a:schemeClr val="tx2"/>
                </a:solidFill>
                <a:latin typeface="Tahoma" pitchFamily="34" charset="0"/>
                <a:ea typeface="黑体" pitchFamily="2" charset="-122"/>
              </a:defRPr>
            </a:lvl2pPr>
            <a:lvl3pPr algn="l" rtl="0" eaLnBrk="0" fontAlgn="base" hangingPunct="0">
              <a:spcBef>
                <a:spcPct val="0"/>
              </a:spcBef>
              <a:spcAft>
                <a:spcPct val="0"/>
              </a:spcAft>
              <a:defRPr kumimoji="1" sz="4400" b="1">
                <a:solidFill>
                  <a:schemeClr val="tx2"/>
                </a:solidFill>
                <a:latin typeface="Tahoma" pitchFamily="34" charset="0"/>
                <a:ea typeface="黑体" pitchFamily="2" charset="-122"/>
              </a:defRPr>
            </a:lvl3pPr>
            <a:lvl4pPr algn="l" rtl="0" eaLnBrk="0" fontAlgn="base" hangingPunct="0">
              <a:spcBef>
                <a:spcPct val="0"/>
              </a:spcBef>
              <a:spcAft>
                <a:spcPct val="0"/>
              </a:spcAft>
              <a:defRPr kumimoji="1" sz="4400" b="1">
                <a:solidFill>
                  <a:schemeClr val="tx2"/>
                </a:solidFill>
                <a:latin typeface="Tahoma" pitchFamily="34" charset="0"/>
                <a:ea typeface="黑体" pitchFamily="2" charset="-122"/>
              </a:defRPr>
            </a:lvl4pPr>
            <a:lvl5pPr algn="l" rtl="0" eaLnBrk="0" fontAlgn="base" hangingPunct="0">
              <a:spcBef>
                <a:spcPct val="0"/>
              </a:spcBef>
              <a:spcAft>
                <a:spcPct val="0"/>
              </a:spcAft>
              <a:defRPr kumimoji="1" sz="4400" b="1">
                <a:solidFill>
                  <a:schemeClr val="tx2"/>
                </a:solidFill>
                <a:latin typeface="Tahoma" pitchFamily="34" charset="0"/>
                <a:ea typeface="黑体" pitchFamily="2" charset="-122"/>
              </a:defRPr>
            </a:lvl5pPr>
            <a:lvl6pPr marL="457200" algn="l" rtl="0" fontAlgn="base">
              <a:spcBef>
                <a:spcPct val="0"/>
              </a:spcBef>
              <a:spcAft>
                <a:spcPct val="0"/>
              </a:spcAft>
              <a:defRPr kumimoji="1" sz="4400" b="1">
                <a:solidFill>
                  <a:schemeClr val="tx2"/>
                </a:solidFill>
                <a:latin typeface="Tahoma" pitchFamily="34" charset="0"/>
                <a:ea typeface="黑体" pitchFamily="2" charset="-122"/>
              </a:defRPr>
            </a:lvl6pPr>
            <a:lvl7pPr marL="914400" algn="l" rtl="0" fontAlgn="base">
              <a:spcBef>
                <a:spcPct val="0"/>
              </a:spcBef>
              <a:spcAft>
                <a:spcPct val="0"/>
              </a:spcAft>
              <a:defRPr kumimoji="1" sz="4400" b="1">
                <a:solidFill>
                  <a:schemeClr val="tx2"/>
                </a:solidFill>
                <a:latin typeface="Tahoma" pitchFamily="34" charset="0"/>
                <a:ea typeface="黑体" pitchFamily="2" charset="-122"/>
              </a:defRPr>
            </a:lvl7pPr>
            <a:lvl8pPr marL="1371600" algn="l" rtl="0" fontAlgn="base">
              <a:spcBef>
                <a:spcPct val="0"/>
              </a:spcBef>
              <a:spcAft>
                <a:spcPct val="0"/>
              </a:spcAft>
              <a:defRPr kumimoji="1" sz="4400" b="1">
                <a:solidFill>
                  <a:schemeClr val="tx2"/>
                </a:solidFill>
                <a:latin typeface="Tahoma" pitchFamily="34" charset="0"/>
                <a:ea typeface="黑体" pitchFamily="2" charset="-122"/>
              </a:defRPr>
            </a:lvl8pPr>
            <a:lvl9pPr marL="1828800" algn="l" rtl="0" fontAlgn="base">
              <a:spcBef>
                <a:spcPct val="0"/>
              </a:spcBef>
              <a:spcAft>
                <a:spcPct val="0"/>
              </a:spcAft>
              <a:defRPr kumimoji="1" sz="4400" b="1">
                <a:solidFill>
                  <a:schemeClr val="tx2"/>
                </a:solidFill>
                <a:latin typeface="Tahoma" pitchFamily="34" charset="0"/>
                <a:ea typeface="黑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3200" b="1" i="0" u="none" strike="noStrike" kern="0" cap="none" spc="0" normalizeH="0" baseline="0" noProof="0">
                <a:ln>
                  <a:noFill/>
                </a:ln>
                <a:solidFill>
                  <a:srgbClr val="333399"/>
                </a:solidFill>
                <a:effectLst/>
                <a:uLnTx/>
                <a:uFillTx/>
                <a:latin typeface="Tahoma"/>
                <a:ea typeface="黑体"/>
                <a:cs typeface="+mj-cs"/>
              </a:rPr>
              <a:t>慢开始和拥塞避免算法的实现举例 </a:t>
            </a:r>
          </a:p>
        </p:txBody>
      </p:sp>
      <p:sp>
        <p:nvSpPr>
          <p:cNvPr id="123" name="Text Box 4"/>
          <p:cNvSpPr txBox="1">
            <a:spLocks noChangeArrowheads="1"/>
          </p:cNvSpPr>
          <p:nvPr/>
        </p:nvSpPr>
        <p:spPr bwMode="auto">
          <a:xfrm>
            <a:off x="842391" y="4365104"/>
            <a:ext cx="8647113"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zh-CN" altLang="en-US" sz="2800" b="1" i="0" u="none" strike="noStrike" kern="0" cap="none" spc="0" normalizeH="0" baseline="0" noProof="0" dirty="0">
                <a:ln>
                  <a:noFill/>
                </a:ln>
                <a:solidFill>
                  <a:srgbClr val="000099"/>
                </a:solidFill>
                <a:effectLst/>
                <a:uLnTx/>
                <a:uFillTx/>
                <a:latin typeface="Arial" pitchFamily="34" charset="0"/>
                <a:ea typeface="黑体" pitchFamily="2" charset="-122"/>
              </a:rPr>
              <a:t>在执行</a:t>
            </a:r>
            <a:r>
              <a:rPr kumimoji="0" lang="zh-CN" altLang="en-US" sz="2800" b="1" i="0" u="none" strike="noStrike" kern="0" cap="none" spc="0" normalizeH="0" baseline="0" noProof="0" dirty="0">
                <a:ln>
                  <a:noFill/>
                </a:ln>
                <a:solidFill>
                  <a:srgbClr val="FF0000"/>
                </a:solidFill>
                <a:effectLst/>
                <a:uLnTx/>
                <a:uFillTx/>
                <a:latin typeface="Arial" pitchFamily="34" charset="0"/>
                <a:ea typeface="黑体" pitchFamily="2" charset="-122"/>
              </a:rPr>
              <a:t>慢开始</a:t>
            </a:r>
            <a:r>
              <a:rPr kumimoji="0" lang="zh-CN" altLang="en-US" sz="2800" b="1" i="0" u="none" strike="noStrike" kern="0" cap="none" spc="0" normalizeH="0" baseline="0" noProof="0" dirty="0">
                <a:ln>
                  <a:noFill/>
                </a:ln>
                <a:solidFill>
                  <a:srgbClr val="000099"/>
                </a:solidFill>
                <a:effectLst/>
                <a:uLnTx/>
                <a:uFillTx/>
                <a:latin typeface="Arial" pitchFamily="34" charset="0"/>
                <a:ea typeface="黑体" pitchFamily="2" charset="-122"/>
              </a:rPr>
              <a:t>算法时，拥塞窗口 </a:t>
            </a:r>
            <a:r>
              <a:rPr kumimoji="0" lang="en-US" altLang="zh-CN" sz="2800" b="1" i="0" u="none" strike="noStrike" kern="0" cap="none" spc="0" normalizeH="0" baseline="0" noProof="0" dirty="0" err="1">
                <a:ln>
                  <a:noFill/>
                </a:ln>
                <a:solidFill>
                  <a:srgbClr val="000099"/>
                </a:solidFill>
                <a:effectLst/>
                <a:uLnTx/>
                <a:uFillTx/>
                <a:latin typeface="Arial" pitchFamily="34" charset="0"/>
                <a:ea typeface="黑体" pitchFamily="2" charset="-122"/>
              </a:rPr>
              <a:t>cwnd</a:t>
            </a:r>
            <a:r>
              <a:rPr kumimoji="0" lang="en-US" altLang="zh-CN" sz="2800" b="1" i="0" u="none" strike="noStrike" kern="0" cap="none" spc="0" normalizeH="0" baseline="0" noProof="0" dirty="0">
                <a:ln>
                  <a:noFill/>
                </a:ln>
                <a:solidFill>
                  <a:srgbClr val="000099"/>
                </a:solidFill>
                <a:effectLst/>
                <a:uLnTx/>
                <a:uFillTx/>
                <a:latin typeface="Arial" pitchFamily="34" charset="0"/>
                <a:ea typeface="黑体" pitchFamily="2" charset="-122"/>
              </a:rPr>
              <a:t>=1</a:t>
            </a:r>
            <a:r>
              <a:rPr kumimoji="0" lang="zh-CN" altLang="en-US" sz="2800" b="1" i="0" u="none" strike="noStrike" kern="0" cap="none" spc="0" normalizeH="0" baseline="0" noProof="0" dirty="0">
                <a:ln>
                  <a:noFill/>
                </a:ln>
                <a:solidFill>
                  <a:srgbClr val="000099"/>
                </a:solidFill>
                <a:effectLst/>
                <a:uLnTx/>
                <a:uFillTx/>
                <a:latin typeface="Arial" pitchFamily="34" charset="0"/>
                <a:ea typeface="黑体" pitchFamily="2" charset="-122"/>
              </a:rPr>
              <a:t>，发送第一个报文段</a:t>
            </a:r>
            <a:r>
              <a:rPr kumimoji="0" lang="zh-CN" altLang="en-US" sz="2800" kern="0" dirty="0">
                <a:solidFill>
                  <a:srgbClr val="000099"/>
                </a:solidFill>
                <a:latin typeface="Arial" pitchFamily="34" charset="0"/>
                <a:ea typeface="黑体" pitchFamily="2" charset="-122"/>
              </a:rPr>
              <a:t>。</a:t>
            </a:r>
            <a:endParaRPr kumimoji="0" lang="zh-CN" altLang="en-US" sz="2800" b="1" i="0" u="none" strike="noStrike" kern="0" cap="none" spc="0" normalizeH="0" baseline="0" noProof="0" dirty="0">
              <a:ln>
                <a:noFill/>
              </a:ln>
              <a:solidFill>
                <a:srgbClr val="000099"/>
              </a:solidFill>
              <a:effectLst/>
              <a:uLnTx/>
              <a:uFillTx/>
              <a:latin typeface="Arial" pitchFamily="34" charset="0"/>
              <a:ea typeface="黑体" pitchFamily="2" charset="-122"/>
            </a:endParaRPr>
          </a:p>
        </p:txBody>
      </p:sp>
      <p:grpSp>
        <p:nvGrpSpPr>
          <p:cNvPr id="126" name="组合 125"/>
          <p:cNvGrpSpPr/>
          <p:nvPr/>
        </p:nvGrpSpPr>
        <p:grpSpPr>
          <a:xfrm>
            <a:off x="272479" y="836711"/>
            <a:ext cx="9536759" cy="3321087"/>
            <a:chOff x="272479" y="836711"/>
            <a:chExt cx="9536759" cy="3321087"/>
          </a:xfrm>
        </p:grpSpPr>
        <p:sp>
          <p:nvSpPr>
            <p:cNvPr id="127" name="Text Box 140"/>
            <p:cNvSpPr txBox="1">
              <a:spLocks noChangeArrowheads="1"/>
            </p:cNvSpPr>
            <p:nvPr/>
          </p:nvSpPr>
          <p:spPr bwMode="auto">
            <a:xfrm>
              <a:off x="4863078" y="985683"/>
              <a:ext cx="11570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2000" b="1" i="0" u="none" strike="noStrike" kern="0" cap="none" spc="0" normalizeH="0" baseline="0" noProof="0" dirty="0">
                  <a:ln>
                    <a:noFill/>
                  </a:ln>
                  <a:solidFill>
                    <a:srgbClr val="FF0000"/>
                  </a:solidFill>
                  <a:effectLst/>
                  <a:uLnTx/>
                  <a:uFillTx/>
                  <a:latin typeface="Times New Roman" pitchFamily="18" charset="0"/>
                  <a:ea typeface="宋体" charset="-122"/>
                </a:rPr>
                <a:t>超时</a:t>
              </a:r>
            </a:p>
          </p:txBody>
        </p:sp>
        <p:sp>
          <p:nvSpPr>
            <p:cNvPr id="128" name="Line 2"/>
            <p:cNvSpPr>
              <a:spLocks noChangeShapeType="1"/>
            </p:cNvSpPr>
            <p:nvPr/>
          </p:nvSpPr>
          <p:spPr bwMode="auto">
            <a:xfrm flipV="1">
              <a:off x="1920153" y="3803111"/>
              <a:ext cx="6358624" cy="5046"/>
            </a:xfrm>
            <a:prstGeom prst="line">
              <a:avLst/>
            </a:prstGeom>
            <a:noFill/>
            <a:ln w="19050">
              <a:solidFill>
                <a:srgbClr val="000000"/>
              </a:solidFill>
              <a:round/>
              <a:headEnd/>
              <a:tail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129" name="Line 3"/>
            <p:cNvSpPr>
              <a:spLocks noChangeShapeType="1"/>
            </p:cNvSpPr>
            <p:nvPr/>
          </p:nvSpPr>
          <p:spPr bwMode="auto">
            <a:xfrm>
              <a:off x="1918528" y="1177019"/>
              <a:ext cx="1626" cy="2631138"/>
            </a:xfrm>
            <a:prstGeom prst="line">
              <a:avLst/>
            </a:prstGeom>
            <a:noFill/>
            <a:ln w="19050">
              <a:solidFill>
                <a:srgbClr val="000000"/>
              </a:solidFill>
              <a:round/>
              <a:headEnd type="triangle" w="sm" len="lg"/>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130" name="Line 4"/>
            <p:cNvSpPr>
              <a:spLocks noChangeShapeType="1"/>
            </p:cNvSpPr>
            <p:nvPr/>
          </p:nvSpPr>
          <p:spPr bwMode="auto">
            <a:xfrm>
              <a:off x="2154153" y="3727407"/>
              <a:ext cx="0" cy="8075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131" name="Line 5"/>
            <p:cNvSpPr>
              <a:spLocks noChangeShapeType="1"/>
            </p:cNvSpPr>
            <p:nvPr/>
          </p:nvSpPr>
          <p:spPr bwMode="auto">
            <a:xfrm>
              <a:off x="2388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132" name="Line 6"/>
            <p:cNvSpPr>
              <a:spLocks noChangeShapeType="1"/>
            </p:cNvSpPr>
            <p:nvPr/>
          </p:nvSpPr>
          <p:spPr bwMode="auto">
            <a:xfrm>
              <a:off x="2622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133" name="Line 7"/>
            <p:cNvSpPr>
              <a:spLocks noChangeShapeType="1"/>
            </p:cNvSpPr>
            <p:nvPr/>
          </p:nvSpPr>
          <p:spPr bwMode="auto">
            <a:xfrm>
              <a:off x="2856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134" name="Line 8"/>
            <p:cNvSpPr>
              <a:spLocks noChangeShapeType="1"/>
            </p:cNvSpPr>
            <p:nvPr/>
          </p:nvSpPr>
          <p:spPr bwMode="auto">
            <a:xfrm>
              <a:off x="3090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135" name="Line 9"/>
            <p:cNvSpPr>
              <a:spLocks noChangeShapeType="1"/>
            </p:cNvSpPr>
            <p:nvPr/>
          </p:nvSpPr>
          <p:spPr bwMode="auto">
            <a:xfrm>
              <a:off x="3324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136" name="Line 10"/>
            <p:cNvSpPr>
              <a:spLocks noChangeShapeType="1"/>
            </p:cNvSpPr>
            <p:nvPr/>
          </p:nvSpPr>
          <p:spPr bwMode="auto">
            <a:xfrm>
              <a:off x="3558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137" name="Line 11"/>
            <p:cNvSpPr>
              <a:spLocks noChangeShapeType="1"/>
            </p:cNvSpPr>
            <p:nvPr/>
          </p:nvSpPr>
          <p:spPr bwMode="auto">
            <a:xfrm>
              <a:off x="3792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138" name="Line 12"/>
            <p:cNvSpPr>
              <a:spLocks noChangeShapeType="1"/>
            </p:cNvSpPr>
            <p:nvPr/>
          </p:nvSpPr>
          <p:spPr bwMode="auto">
            <a:xfrm>
              <a:off x="4026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139" name="Line 13"/>
            <p:cNvSpPr>
              <a:spLocks noChangeShapeType="1"/>
            </p:cNvSpPr>
            <p:nvPr/>
          </p:nvSpPr>
          <p:spPr bwMode="auto">
            <a:xfrm>
              <a:off x="4260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140" name="Line 14"/>
            <p:cNvSpPr>
              <a:spLocks noChangeShapeType="1"/>
            </p:cNvSpPr>
            <p:nvPr/>
          </p:nvSpPr>
          <p:spPr bwMode="auto">
            <a:xfrm>
              <a:off x="4494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141" name="Line 15"/>
            <p:cNvSpPr>
              <a:spLocks noChangeShapeType="1"/>
            </p:cNvSpPr>
            <p:nvPr/>
          </p:nvSpPr>
          <p:spPr bwMode="auto">
            <a:xfrm>
              <a:off x="4728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142" name="Line 16"/>
            <p:cNvSpPr>
              <a:spLocks noChangeShapeType="1"/>
            </p:cNvSpPr>
            <p:nvPr/>
          </p:nvSpPr>
          <p:spPr bwMode="auto">
            <a:xfrm>
              <a:off x="4962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143" name="Line 17"/>
            <p:cNvSpPr>
              <a:spLocks noChangeShapeType="1"/>
            </p:cNvSpPr>
            <p:nvPr/>
          </p:nvSpPr>
          <p:spPr bwMode="auto">
            <a:xfrm>
              <a:off x="5196153" y="3727407"/>
              <a:ext cx="0" cy="8075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144" name="Line 18"/>
            <p:cNvSpPr>
              <a:spLocks noChangeShapeType="1"/>
            </p:cNvSpPr>
            <p:nvPr/>
          </p:nvSpPr>
          <p:spPr bwMode="auto">
            <a:xfrm>
              <a:off x="5430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145" name="Line 19"/>
            <p:cNvSpPr>
              <a:spLocks noChangeShapeType="1"/>
            </p:cNvSpPr>
            <p:nvPr/>
          </p:nvSpPr>
          <p:spPr bwMode="auto">
            <a:xfrm>
              <a:off x="5664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146" name="Line 20"/>
            <p:cNvSpPr>
              <a:spLocks noChangeShapeType="1"/>
            </p:cNvSpPr>
            <p:nvPr/>
          </p:nvSpPr>
          <p:spPr bwMode="auto">
            <a:xfrm>
              <a:off x="5898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147" name="Line 21"/>
            <p:cNvSpPr>
              <a:spLocks noChangeShapeType="1"/>
            </p:cNvSpPr>
            <p:nvPr/>
          </p:nvSpPr>
          <p:spPr bwMode="auto">
            <a:xfrm>
              <a:off x="6132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148" name="Line 22"/>
            <p:cNvSpPr>
              <a:spLocks noChangeShapeType="1"/>
            </p:cNvSpPr>
            <p:nvPr/>
          </p:nvSpPr>
          <p:spPr bwMode="auto">
            <a:xfrm>
              <a:off x="6366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149" name="Line 23"/>
            <p:cNvSpPr>
              <a:spLocks noChangeShapeType="1"/>
            </p:cNvSpPr>
            <p:nvPr/>
          </p:nvSpPr>
          <p:spPr bwMode="auto">
            <a:xfrm>
              <a:off x="6600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150" name="Line 24"/>
            <p:cNvSpPr>
              <a:spLocks noChangeShapeType="1"/>
            </p:cNvSpPr>
            <p:nvPr/>
          </p:nvSpPr>
          <p:spPr bwMode="auto">
            <a:xfrm>
              <a:off x="6834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151" name="Line 25"/>
            <p:cNvSpPr>
              <a:spLocks noChangeShapeType="1"/>
            </p:cNvSpPr>
            <p:nvPr/>
          </p:nvSpPr>
          <p:spPr bwMode="auto">
            <a:xfrm>
              <a:off x="7068152"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152" name="Line 40"/>
            <p:cNvSpPr>
              <a:spLocks noChangeShapeType="1"/>
            </p:cNvSpPr>
            <p:nvPr/>
          </p:nvSpPr>
          <p:spPr bwMode="auto">
            <a:xfrm>
              <a:off x="1920153" y="3404402"/>
              <a:ext cx="2340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153" name="Line 41"/>
            <p:cNvSpPr>
              <a:spLocks noChangeShapeType="1"/>
            </p:cNvSpPr>
            <p:nvPr/>
          </p:nvSpPr>
          <p:spPr bwMode="auto">
            <a:xfrm>
              <a:off x="1920153" y="3000647"/>
              <a:ext cx="2340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154" name="Line 42"/>
            <p:cNvSpPr>
              <a:spLocks noChangeShapeType="1"/>
            </p:cNvSpPr>
            <p:nvPr/>
          </p:nvSpPr>
          <p:spPr bwMode="auto">
            <a:xfrm>
              <a:off x="1920153" y="2596892"/>
              <a:ext cx="2340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155" name="Line 43"/>
            <p:cNvSpPr>
              <a:spLocks noChangeShapeType="1"/>
            </p:cNvSpPr>
            <p:nvPr/>
          </p:nvSpPr>
          <p:spPr bwMode="auto">
            <a:xfrm>
              <a:off x="1920153" y="2193137"/>
              <a:ext cx="2340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156" name="Line 44"/>
            <p:cNvSpPr>
              <a:spLocks noChangeShapeType="1"/>
            </p:cNvSpPr>
            <p:nvPr/>
          </p:nvSpPr>
          <p:spPr bwMode="auto">
            <a:xfrm>
              <a:off x="1920153" y="1789382"/>
              <a:ext cx="2340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157" name="Line 45"/>
            <p:cNvSpPr>
              <a:spLocks noChangeShapeType="1"/>
            </p:cNvSpPr>
            <p:nvPr/>
          </p:nvSpPr>
          <p:spPr bwMode="auto">
            <a:xfrm>
              <a:off x="1920153" y="1385626"/>
              <a:ext cx="2340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158" name="Text Box 77"/>
            <p:cNvSpPr txBox="1">
              <a:spLocks noChangeArrowheads="1"/>
            </p:cNvSpPr>
            <p:nvPr/>
          </p:nvSpPr>
          <p:spPr bwMode="auto">
            <a:xfrm>
              <a:off x="2241903" y="3749277"/>
              <a:ext cx="3129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2</a:t>
              </a:r>
            </a:p>
          </p:txBody>
        </p:sp>
        <p:sp>
          <p:nvSpPr>
            <p:cNvPr id="159" name="Text Box 78"/>
            <p:cNvSpPr txBox="1">
              <a:spLocks noChangeArrowheads="1"/>
            </p:cNvSpPr>
            <p:nvPr/>
          </p:nvSpPr>
          <p:spPr bwMode="auto">
            <a:xfrm>
              <a:off x="2709903" y="3749277"/>
              <a:ext cx="3129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4</a:t>
              </a:r>
            </a:p>
          </p:txBody>
        </p:sp>
        <p:sp>
          <p:nvSpPr>
            <p:cNvPr id="160" name="Text Box 79"/>
            <p:cNvSpPr txBox="1">
              <a:spLocks noChangeArrowheads="1"/>
            </p:cNvSpPr>
            <p:nvPr/>
          </p:nvSpPr>
          <p:spPr bwMode="auto">
            <a:xfrm>
              <a:off x="3177903" y="3749277"/>
              <a:ext cx="3129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6</a:t>
              </a:r>
            </a:p>
          </p:txBody>
        </p:sp>
        <p:sp>
          <p:nvSpPr>
            <p:cNvPr id="161" name="Text Box 80"/>
            <p:cNvSpPr txBox="1">
              <a:spLocks noChangeArrowheads="1"/>
            </p:cNvSpPr>
            <p:nvPr/>
          </p:nvSpPr>
          <p:spPr bwMode="auto">
            <a:xfrm>
              <a:off x="3658903" y="3749277"/>
              <a:ext cx="3129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8</a:t>
              </a:r>
            </a:p>
          </p:txBody>
        </p:sp>
        <p:sp>
          <p:nvSpPr>
            <p:cNvPr id="162" name="Text Box 81"/>
            <p:cNvSpPr txBox="1">
              <a:spLocks noChangeArrowheads="1"/>
            </p:cNvSpPr>
            <p:nvPr/>
          </p:nvSpPr>
          <p:spPr bwMode="auto">
            <a:xfrm>
              <a:off x="4048903" y="3749277"/>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10</a:t>
              </a:r>
            </a:p>
          </p:txBody>
        </p:sp>
        <p:sp>
          <p:nvSpPr>
            <p:cNvPr id="163" name="Text Box 82"/>
            <p:cNvSpPr txBox="1">
              <a:spLocks noChangeArrowheads="1"/>
            </p:cNvSpPr>
            <p:nvPr/>
          </p:nvSpPr>
          <p:spPr bwMode="auto">
            <a:xfrm>
              <a:off x="4555903" y="3749277"/>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12</a:t>
              </a:r>
            </a:p>
          </p:txBody>
        </p:sp>
        <p:sp>
          <p:nvSpPr>
            <p:cNvPr id="164" name="Text Box 83"/>
            <p:cNvSpPr txBox="1">
              <a:spLocks noChangeArrowheads="1"/>
            </p:cNvSpPr>
            <p:nvPr/>
          </p:nvSpPr>
          <p:spPr bwMode="auto">
            <a:xfrm>
              <a:off x="4997903" y="3749277"/>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14</a:t>
              </a:r>
            </a:p>
          </p:txBody>
        </p:sp>
        <p:sp>
          <p:nvSpPr>
            <p:cNvPr id="165" name="Text Box 84"/>
            <p:cNvSpPr txBox="1">
              <a:spLocks noChangeArrowheads="1"/>
            </p:cNvSpPr>
            <p:nvPr/>
          </p:nvSpPr>
          <p:spPr bwMode="auto">
            <a:xfrm>
              <a:off x="5465903" y="3749277"/>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16</a:t>
              </a:r>
            </a:p>
          </p:txBody>
        </p:sp>
        <p:sp>
          <p:nvSpPr>
            <p:cNvPr id="166" name="Text Box 85"/>
            <p:cNvSpPr txBox="1">
              <a:spLocks noChangeArrowheads="1"/>
            </p:cNvSpPr>
            <p:nvPr/>
          </p:nvSpPr>
          <p:spPr bwMode="auto">
            <a:xfrm>
              <a:off x="5950153" y="3749277"/>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18</a:t>
              </a:r>
            </a:p>
          </p:txBody>
        </p:sp>
        <p:sp>
          <p:nvSpPr>
            <p:cNvPr id="167" name="Text Box 86"/>
            <p:cNvSpPr txBox="1">
              <a:spLocks noChangeArrowheads="1"/>
            </p:cNvSpPr>
            <p:nvPr/>
          </p:nvSpPr>
          <p:spPr bwMode="auto">
            <a:xfrm>
              <a:off x="6418153" y="3749277"/>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20</a:t>
              </a:r>
            </a:p>
          </p:txBody>
        </p:sp>
        <p:sp>
          <p:nvSpPr>
            <p:cNvPr id="168" name="Text Box 87"/>
            <p:cNvSpPr txBox="1">
              <a:spLocks noChangeArrowheads="1"/>
            </p:cNvSpPr>
            <p:nvPr/>
          </p:nvSpPr>
          <p:spPr bwMode="auto">
            <a:xfrm>
              <a:off x="6873153" y="3757688"/>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22</a:t>
              </a:r>
            </a:p>
          </p:txBody>
        </p:sp>
        <p:sp>
          <p:nvSpPr>
            <p:cNvPr id="169" name="Text Box 89"/>
            <p:cNvSpPr txBox="1">
              <a:spLocks noChangeArrowheads="1"/>
            </p:cNvSpPr>
            <p:nvPr/>
          </p:nvSpPr>
          <p:spPr bwMode="auto">
            <a:xfrm>
              <a:off x="1812903" y="3749277"/>
              <a:ext cx="3129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0</a:t>
              </a:r>
            </a:p>
          </p:txBody>
        </p:sp>
        <p:sp>
          <p:nvSpPr>
            <p:cNvPr id="170" name="Text Box 90"/>
            <p:cNvSpPr txBox="1">
              <a:spLocks noChangeArrowheads="1"/>
            </p:cNvSpPr>
            <p:nvPr/>
          </p:nvSpPr>
          <p:spPr bwMode="auto">
            <a:xfrm>
              <a:off x="1647153" y="3591140"/>
              <a:ext cx="3129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0</a:t>
              </a:r>
            </a:p>
          </p:txBody>
        </p:sp>
        <p:sp>
          <p:nvSpPr>
            <p:cNvPr id="171" name="Text Box 91"/>
            <p:cNvSpPr txBox="1">
              <a:spLocks noChangeArrowheads="1"/>
            </p:cNvSpPr>
            <p:nvPr/>
          </p:nvSpPr>
          <p:spPr bwMode="auto">
            <a:xfrm>
              <a:off x="1647153" y="3187385"/>
              <a:ext cx="3129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4</a:t>
              </a:r>
            </a:p>
          </p:txBody>
        </p:sp>
        <p:sp>
          <p:nvSpPr>
            <p:cNvPr id="172" name="Text Box 92"/>
            <p:cNvSpPr txBox="1">
              <a:spLocks noChangeArrowheads="1"/>
            </p:cNvSpPr>
            <p:nvPr/>
          </p:nvSpPr>
          <p:spPr bwMode="auto">
            <a:xfrm>
              <a:off x="1647153" y="2797088"/>
              <a:ext cx="3129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8</a:t>
              </a:r>
            </a:p>
          </p:txBody>
        </p:sp>
        <p:sp>
          <p:nvSpPr>
            <p:cNvPr id="173" name="Text Box 93"/>
            <p:cNvSpPr txBox="1">
              <a:spLocks noChangeArrowheads="1"/>
            </p:cNvSpPr>
            <p:nvPr/>
          </p:nvSpPr>
          <p:spPr bwMode="auto">
            <a:xfrm>
              <a:off x="1530153" y="2406791"/>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12</a:t>
              </a:r>
            </a:p>
          </p:txBody>
        </p:sp>
        <p:sp>
          <p:nvSpPr>
            <p:cNvPr id="174" name="Text Box 94"/>
            <p:cNvSpPr txBox="1">
              <a:spLocks noChangeArrowheads="1"/>
            </p:cNvSpPr>
            <p:nvPr/>
          </p:nvSpPr>
          <p:spPr bwMode="auto">
            <a:xfrm>
              <a:off x="1530153" y="2016494"/>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16</a:t>
              </a:r>
            </a:p>
          </p:txBody>
        </p:sp>
        <p:sp>
          <p:nvSpPr>
            <p:cNvPr id="175" name="Text Box 95"/>
            <p:cNvSpPr txBox="1">
              <a:spLocks noChangeArrowheads="1"/>
            </p:cNvSpPr>
            <p:nvPr/>
          </p:nvSpPr>
          <p:spPr bwMode="auto">
            <a:xfrm>
              <a:off x="1530153" y="1612739"/>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20</a:t>
              </a:r>
            </a:p>
          </p:txBody>
        </p:sp>
        <p:sp>
          <p:nvSpPr>
            <p:cNvPr id="176" name="Text Box 96"/>
            <p:cNvSpPr txBox="1">
              <a:spLocks noChangeArrowheads="1"/>
            </p:cNvSpPr>
            <p:nvPr/>
          </p:nvSpPr>
          <p:spPr bwMode="auto">
            <a:xfrm>
              <a:off x="1530153" y="1208984"/>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24</a:t>
              </a:r>
            </a:p>
          </p:txBody>
        </p:sp>
        <p:sp>
          <p:nvSpPr>
            <p:cNvPr id="177" name="Oval 102"/>
            <p:cNvSpPr>
              <a:spLocks noChangeArrowheads="1"/>
            </p:cNvSpPr>
            <p:nvPr/>
          </p:nvSpPr>
          <p:spPr bwMode="auto">
            <a:xfrm>
              <a:off x="2573403" y="2960272"/>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178" name="Oval 103"/>
            <p:cNvSpPr>
              <a:spLocks noChangeArrowheads="1"/>
            </p:cNvSpPr>
            <p:nvPr/>
          </p:nvSpPr>
          <p:spPr bwMode="auto">
            <a:xfrm>
              <a:off x="2339403" y="3364027"/>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179" name="Oval 104"/>
            <p:cNvSpPr>
              <a:spLocks noChangeArrowheads="1"/>
            </p:cNvSpPr>
            <p:nvPr/>
          </p:nvSpPr>
          <p:spPr bwMode="auto">
            <a:xfrm>
              <a:off x="1881153" y="3626468"/>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180" name="Oval 105"/>
            <p:cNvSpPr>
              <a:spLocks noChangeArrowheads="1"/>
            </p:cNvSpPr>
            <p:nvPr/>
          </p:nvSpPr>
          <p:spPr bwMode="auto">
            <a:xfrm>
              <a:off x="2095653" y="3555811"/>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181" name="Oval 106"/>
            <p:cNvSpPr>
              <a:spLocks noChangeArrowheads="1"/>
            </p:cNvSpPr>
            <p:nvPr/>
          </p:nvSpPr>
          <p:spPr bwMode="auto">
            <a:xfrm>
              <a:off x="2807403" y="2149397"/>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182" name="Oval 107"/>
            <p:cNvSpPr>
              <a:spLocks noChangeArrowheads="1"/>
            </p:cNvSpPr>
            <p:nvPr/>
          </p:nvSpPr>
          <p:spPr bwMode="auto">
            <a:xfrm>
              <a:off x="3041403" y="2041729"/>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183" name="Oval 108"/>
            <p:cNvSpPr>
              <a:spLocks noChangeArrowheads="1"/>
            </p:cNvSpPr>
            <p:nvPr/>
          </p:nvSpPr>
          <p:spPr bwMode="auto">
            <a:xfrm>
              <a:off x="3275403" y="1945837"/>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184" name="Oval 109"/>
            <p:cNvSpPr>
              <a:spLocks noChangeArrowheads="1"/>
            </p:cNvSpPr>
            <p:nvPr/>
          </p:nvSpPr>
          <p:spPr bwMode="auto">
            <a:xfrm>
              <a:off x="3748277" y="1743960"/>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185" name="Oval 110"/>
            <p:cNvSpPr>
              <a:spLocks noChangeArrowheads="1"/>
            </p:cNvSpPr>
            <p:nvPr/>
          </p:nvSpPr>
          <p:spPr bwMode="auto">
            <a:xfrm>
              <a:off x="3509403" y="1844898"/>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186" name="Oval 113"/>
            <p:cNvSpPr>
              <a:spLocks noChangeArrowheads="1"/>
            </p:cNvSpPr>
            <p:nvPr/>
          </p:nvSpPr>
          <p:spPr bwMode="auto">
            <a:xfrm>
              <a:off x="3982277" y="1643021"/>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187" name="Oval 114"/>
            <p:cNvSpPr>
              <a:spLocks noChangeArrowheads="1"/>
            </p:cNvSpPr>
            <p:nvPr/>
          </p:nvSpPr>
          <p:spPr bwMode="auto">
            <a:xfrm>
              <a:off x="4211403" y="1547128"/>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188" name="Oval 116"/>
            <p:cNvSpPr>
              <a:spLocks noChangeArrowheads="1"/>
            </p:cNvSpPr>
            <p:nvPr/>
          </p:nvSpPr>
          <p:spPr bwMode="auto">
            <a:xfrm>
              <a:off x="4674527" y="1330110"/>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189" name="Oval 117"/>
            <p:cNvSpPr>
              <a:spLocks noChangeArrowheads="1"/>
            </p:cNvSpPr>
            <p:nvPr/>
          </p:nvSpPr>
          <p:spPr bwMode="auto">
            <a:xfrm>
              <a:off x="4445403" y="1431049"/>
              <a:ext cx="91000" cy="94210"/>
            </a:xfrm>
            <a:prstGeom prst="ellipse">
              <a:avLst/>
            </a:prstGeom>
            <a:solidFill>
              <a:srgbClr val="0000FF"/>
            </a:solidFill>
            <a:ln w="2857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190" name="Freeform 118"/>
            <p:cNvSpPr>
              <a:spLocks/>
            </p:cNvSpPr>
            <p:nvPr/>
          </p:nvSpPr>
          <p:spPr bwMode="auto">
            <a:xfrm>
              <a:off x="1842153" y="1385626"/>
              <a:ext cx="2881124" cy="2304769"/>
            </a:xfrm>
            <a:custGeom>
              <a:avLst/>
              <a:gdLst>
                <a:gd name="T0" fmla="*/ 2147483647 w 1773"/>
                <a:gd name="T1" fmla="*/ 0 h 1370"/>
                <a:gd name="T2" fmla="*/ 2147483647 w 1773"/>
                <a:gd name="T3" fmla="*/ 2147483647 h 1370"/>
                <a:gd name="T4" fmla="*/ 2147483647 w 1773"/>
                <a:gd name="T5" fmla="*/ 2147483647 h 1370"/>
                <a:gd name="T6" fmla="*/ 2147483647 w 1773"/>
                <a:gd name="T7" fmla="*/ 2147483647 h 1370"/>
                <a:gd name="T8" fmla="*/ 2147483647 w 1773"/>
                <a:gd name="T9" fmla="*/ 2147483647 h 1370"/>
                <a:gd name="T10" fmla="*/ 2147483647 w 1773"/>
                <a:gd name="T11" fmla="*/ 2147483647 h 1370"/>
                <a:gd name="T12" fmla="*/ 0 60000 65536"/>
                <a:gd name="T13" fmla="*/ 0 60000 65536"/>
                <a:gd name="T14" fmla="*/ 0 60000 65536"/>
                <a:gd name="T15" fmla="*/ 0 60000 65536"/>
                <a:gd name="T16" fmla="*/ 0 60000 65536"/>
                <a:gd name="T17" fmla="*/ 0 60000 65536"/>
                <a:gd name="T18" fmla="*/ 0 w 1773"/>
                <a:gd name="T19" fmla="*/ 0 h 1370"/>
                <a:gd name="T20" fmla="*/ 1773 w 1773"/>
                <a:gd name="T21" fmla="*/ 1370 h 1370"/>
              </a:gdLst>
              <a:ahLst/>
              <a:cxnLst>
                <a:cxn ang="T12">
                  <a:pos x="T0" y="T1"/>
                </a:cxn>
                <a:cxn ang="T13">
                  <a:pos x="T2" y="T3"/>
                </a:cxn>
                <a:cxn ang="T14">
                  <a:pos x="T4" y="T5"/>
                </a:cxn>
                <a:cxn ang="T15">
                  <a:pos x="T6" y="T7"/>
                </a:cxn>
                <a:cxn ang="T16">
                  <a:pos x="T8" y="T9"/>
                </a:cxn>
                <a:cxn ang="T17">
                  <a:pos x="T10" y="T11"/>
                </a:cxn>
              </a:cxnLst>
              <a:rect l="T18" t="T19" r="T20" b="T21"/>
              <a:pathLst>
                <a:path w="1773" h="1370">
                  <a:moveTo>
                    <a:pt x="1773" y="0"/>
                  </a:moveTo>
                  <a:lnTo>
                    <a:pt x="618" y="487"/>
                  </a:lnTo>
                  <a:lnTo>
                    <a:pt x="480" y="961"/>
                  </a:lnTo>
                  <a:lnTo>
                    <a:pt x="331" y="1201"/>
                  </a:lnTo>
                  <a:lnTo>
                    <a:pt x="187" y="1321"/>
                  </a:lnTo>
                  <a:cubicBezTo>
                    <a:pt x="47" y="1370"/>
                    <a:pt x="0" y="1369"/>
                    <a:pt x="55" y="1369"/>
                  </a:cubicBezTo>
                </a:path>
              </a:pathLst>
            </a:custGeom>
            <a:noFill/>
            <a:ln w="28575" cmpd="sng">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191" name="Text Box 134"/>
            <p:cNvSpPr txBox="1">
              <a:spLocks noChangeArrowheads="1"/>
            </p:cNvSpPr>
            <p:nvPr/>
          </p:nvSpPr>
          <p:spPr bwMode="auto">
            <a:xfrm>
              <a:off x="8280402" y="3596186"/>
              <a:ext cx="121699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2000" b="1" i="0" u="none" strike="noStrike" kern="0" cap="none" spc="0" normalizeH="0" baseline="0" noProof="0">
                  <a:ln>
                    <a:noFill/>
                  </a:ln>
                  <a:solidFill>
                    <a:srgbClr val="000000"/>
                  </a:solidFill>
                  <a:effectLst/>
                  <a:uLnTx/>
                  <a:uFillTx/>
                  <a:latin typeface="Times New Roman" pitchFamily="18" charset="0"/>
                  <a:ea typeface="宋体" charset="-122"/>
                </a:rPr>
                <a:t>传输轮次</a:t>
              </a:r>
            </a:p>
          </p:txBody>
        </p:sp>
        <p:sp>
          <p:nvSpPr>
            <p:cNvPr id="192" name="Text Box 135"/>
            <p:cNvSpPr txBox="1">
              <a:spLocks noChangeArrowheads="1"/>
            </p:cNvSpPr>
            <p:nvPr/>
          </p:nvSpPr>
          <p:spPr bwMode="auto">
            <a:xfrm>
              <a:off x="966278" y="836711"/>
              <a:ext cx="193033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2000" b="1" i="0" u="none" strike="noStrike" kern="0" cap="none" spc="0" normalizeH="0" baseline="0" noProof="0" dirty="0">
                  <a:ln>
                    <a:noFill/>
                  </a:ln>
                  <a:solidFill>
                    <a:srgbClr val="000000"/>
                  </a:solidFill>
                  <a:effectLst/>
                  <a:uLnTx/>
                  <a:uFillTx/>
                  <a:latin typeface="Times New Roman" pitchFamily="18" charset="0"/>
                  <a:ea typeface="宋体" charset="-122"/>
                </a:rPr>
                <a:t>拥塞窗口  </a:t>
              </a:r>
              <a:r>
                <a:rPr kumimoji="1" lang="en-US" altLang="zh-CN" sz="2000" b="1" i="0" u="none" strike="noStrike" kern="0" cap="none" spc="0" normalizeH="0" baseline="0" noProof="0" dirty="0" err="1">
                  <a:ln>
                    <a:noFill/>
                  </a:ln>
                  <a:solidFill>
                    <a:srgbClr val="000000"/>
                  </a:solidFill>
                  <a:effectLst/>
                  <a:uLnTx/>
                  <a:uFillTx/>
                  <a:latin typeface="Times New Roman" pitchFamily="18" charset="0"/>
                  <a:ea typeface="宋体" charset="-122"/>
                </a:rPr>
                <a:t>cwnd</a:t>
              </a:r>
              <a:endParaRPr kumimoji="1" lang="en-US" altLang="zh-CN" sz="2000" b="1" i="0" u="none" strike="noStrike" kern="0" cap="none" spc="0" normalizeH="0" baseline="0" noProof="0" dirty="0">
                <a:ln>
                  <a:noFill/>
                </a:ln>
                <a:solidFill>
                  <a:srgbClr val="000000"/>
                </a:solidFill>
                <a:effectLst/>
                <a:uLnTx/>
                <a:uFillTx/>
                <a:latin typeface="Times New Roman" pitchFamily="18" charset="0"/>
                <a:ea typeface="宋体" charset="-122"/>
              </a:endParaRPr>
            </a:p>
          </p:txBody>
        </p:sp>
        <p:sp>
          <p:nvSpPr>
            <p:cNvPr id="193" name="Text Box 140"/>
            <p:cNvSpPr txBox="1">
              <a:spLocks noChangeArrowheads="1"/>
            </p:cNvSpPr>
            <p:nvPr/>
          </p:nvSpPr>
          <p:spPr bwMode="auto">
            <a:xfrm>
              <a:off x="7049973" y="1815231"/>
              <a:ext cx="118137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dirty="0">
                  <a:ln>
                    <a:noFill/>
                  </a:ln>
                  <a:solidFill>
                    <a:srgbClr val="FF0000"/>
                  </a:solidFill>
                  <a:effectLst/>
                  <a:uLnTx/>
                  <a:uFillTx/>
                  <a:latin typeface="Times New Roman" pitchFamily="18" charset="0"/>
                  <a:ea typeface="宋体" charset="-122"/>
                </a:rPr>
                <a:t>3-ACK</a:t>
              </a:r>
              <a:endParaRPr kumimoji="1" lang="zh-CN" altLang="en-US" sz="2000" b="1" i="0" u="none" strike="noStrike" kern="0" cap="none" spc="0" normalizeH="0" baseline="0" noProof="0" dirty="0">
                <a:ln>
                  <a:noFill/>
                </a:ln>
                <a:solidFill>
                  <a:srgbClr val="FF0000"/>
                </a:solidFill>
                <a:effectLst/>
                <a:uLnTx/>
                <a:uFillTx/>
                <a:latin typeface="Times New Roman" pitchFamily="18" charset="0"/>
                <a:ea typeface="宋体" charset="-122"/>
              </a:endParaRPr>
            </a:p>
          </p:txBody>
        </p:sp>
        <p:sp>
          <p:nvSpPr>
            <p:cNvPr id="194" name="Rectangle 160"/>
            <p:cNvSpPr>
              <a:spLocks noChangeArrowheads="1"/>
            </p:cNvSpPr>
            <p:nvPr/>
          </p:nvSpPr>
          <p:spPr bwMode="auto">
            <a:xfrm>
              <a:off x="1998153" y="1304875"/>
              <a:ext cx="195000" cy="215336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195" name="Line 156"/>
            <p:cNvSpPr>
              <a:spLocks noChangeShapeType="1"/>
            </p:cNvSpPr>
            <p:nvPr/>
          </p:nvSpPr>
          <p:spPr bwMode="auto">
            <a:xfrm>
              <a:off x="1998153" y="2193137"/>
              <a:ext cx="858000" cy="0"/>
            </a:xfrm>
            <a:prstGeom prst="line">
              <a:avLst/>
            </a:prstGeom>
            <a:noFill/>
            <a:ln w="1905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196" name="Line 146"/>
            <p:cNvSpPr>
              <a:spLocks noChangeShapeType="1"/>
            </p:cNvSpPr>
            <p:nvPr/>
          </p:nvSpPr>
          <p:spPr bwMode="auto">
            <a:xfrm flipV="1">
              <a:off x="1998153" y="1378897"/>
              <a:ext cx="2743000" cy="6729"/>
            </a:xfrm>
            <a:prstGeom prst="line">
              <a:avLst/>
            </a:prstGeom>
            <a:noFill/>
            <a:ln w="1905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197" name="Rectangle 162"/>
            <p:cNvSpPr>
              <a:spLocks noChangeArrowheads="1"/>
            </p:cNvSpPr>
            <p:nvPr/>
          </p:nvSpPr>
          <p:spPr bwMode="auto">
            <a:xfrm>
              <a:off x="5352153" y="3565904"/>
              <a:ext cx="1480374" cy="1615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198" name="Text Box 203"/>
            <p:cNvSpPr txBox="1">
              <a:spLocks noChangeArrowheads="1"/>
            </p:cNvSpPr>
            <p:nvPr/>
          </p:nvSpPr>
          <p:spPr bwMode="auto">
            <a:xfrm>
              <a:off x="8170649" y="1977696"/>
              <a:ext cx="1638589"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b="1" i="0" u="none" strike="noStrike" kern="0" cap="none" spc="0" normalizeH="0" baseline="0" noProof="0" dirty="0">
                  <a:ln>
                    <a:noFill/>
                  </a:ln>
                  <a:solidFill>
                    <a:srgbClr val="0000FF"/>
                  </a:solidFill>
                  <a:effectLst/>
                  <a:uLnTx/>
                  <a:uFillTx/>
                  <a:latin typeface="Times New Roman" pitchFamily="18" charset="0"/>
                  <a:ea typeface="宋体" charset="-122"/>
                </a:rPr>
                <a:t>TCP Reno </a:t>
              </a:r>
            </a:p>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b="1" i="0" u="none" strike="noStrike" kern="0" cap="none" spc="0" normalizeH="0" baseline="0" noProof="0" dirty="0">
                  <a:ln>
                    <a:noFill/>
                  </a:ln>
                  <a:solidFill>
                    <a:srgbClr val="0000FF"/>
                  </a:solidFill>
                  <a:effectLst/>
                  <a:uLnTx/>
                  <a:uFillTx/>
                  <a:latin typeface="Times New Roman" pitchFamily="18" charset="0"/>
                  <a:ea typeface="宋体" charset="-122"/>
                </a:rPr>
                <a:t>版本</a:t>
              </a:r>
            </a:p>
          </p:txBody>
        </p:sp>
        <p:sp>
          <p:nvSpPr>
            <p:cNvPr id="199" name="Text Box 205"/>
            <p:cNvSpPr txBox="1">
              <a:spLocks noChangeArrowheads="1"/>
            </p:cNvSpPr>
            <p:nvPr/>
          </p:nvSpPr>
          <p:spPr bwMode="auto">
            <a:xfrm>
              <a:off x="272479" y="1918920"/>
              <a:ext cx="128112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dirty="0" err="1">
                  <a:ln>
                    <a:noFill/>
                  </a:ln>
                  <a:solidFill>
                    <a:srgbClr val="C00000"/>
                  </a:solidFill>
                  <a:effectLst/>
                  <a:uLnTx/>
                  <a:uFillTx/>
                  <a:latin typeface="Times New Roman" pitchFamily="18" charset="0"/>
                  <a:ea typeface="宋体" charset="-122"/>
                </a:rPr>
                <a:t>ssthresh</a:t>
              </a:r>
              <a:endParaRPr kumimoji="1" lang="en-US" altLang="zh-CN" sz="2000" b="1" i="0" u="none" strike="noStrike" kern="0" cap="none" spc="0" normalizeH="0" baseline="0" noProof="0" dirty="0">
                <a:ln>
                  <a:noFill/>
                </a:ln>
                <a:solidFill>
                  <a:srgbClr val="C00000"/>
                </a:solidFill>
                <a:effectLst/>
                <a:uLnTx/>
                <a:uFillTx/>
                <a:latin typeface="Times New Roman" pitchFamily="18" charset="0"/>
                <a:ea typeface="宋体" charset="-122"/>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2000" b="1" i="0" u="none" strike="noStrike" kern="0" cap="none" spc="0" normalizeH="0" baseline="0" noProof="0" dirty="0">
                  <a:ln>
                    <a:noFill/>
                  </a:ln>
                  <a:solidFill>
                    <a:srgbClr val="C00000"/>
                  </a:solidFill>
                  <a:effectLst/>
                  <a:uLnTx/>
                  <a:uFillTx/>
                  <a:latin typeface="Times New Roman" pitchFamily="18" charset="0"/>
                  <a:ea typeface="宋体" charset="-122"/>
                </a:rPr>
                <a:t> 的初始值</a:t>
              </a:r>
            </a:p>
          </p:txBody>
        </p:sp>
        <p:sp>
          <p:nvSpPr>
            <p:cNvPr id="200" name="Line 215"/>
            <p:cNvSpPr>
              <a:spLocks noChangeShapeType="1"/>
            </p:cNvSpPr>
            <p:nvPr/>
          </p:nvSpPr>
          <p:spPr bwMode="auto">
            <a:xfrm flipV="1">
              <a:off x="1413153" y="2223418"/>
              <a:ext cx="219374" cy="0"/>
            </a:xfrm>
            <a:prstGeom prst="line">
              <a:avLst/>
            </a:prstGeom>
            <a:noFill/>
            <a:ln w="19050">
              <a:solidFill>
                <a:srgbClr val="C00000"/>
              </a:solidFill>
              <a:round/>
              <a:headEnd/>
              <a:tailEnd type="triangle" w="sm"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01" name="Text Box 206"/>
            <p:cNvSpPr txBox="1">
              <a:spLocks noChangeArrowheads="1"/>
            </p:cNvSpPr>
            <p:nvPr/>
          </p:nvSpPr>
          <p:spPr bwMode="auto">
            <a:xfrm rot="20245475">
              <a:off x="6948778" y="2393474"/>
              <a:ext cx="121699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2000" b="1" i="0" u="none" strike="noStrike" kern="0" cap="none" spc="0" normalizeH="0" baseline="0" noProof="0">
                  <a:ln>
                    <a:noFill/>
                  </a:ln>
                  <a:solidFill>
                    <a:srgbClr val="000000"/>
                  </a:solidFill>
                  <a:effectLst/>
                  <a:uLnTx/>
                  <a:uFillTx/>
                  <a:latin typeface="Times New Roman" pitchFamily="18" charset="0"/>
                  <a:ea typeface="宋体" charset="-122"/>
                </a:rPr>
                <a:t>拥塞避免</a:t>
              </a:r>
            </a:p>
          </p:txBody>
        </p:sp>
        <p:sp>
          <p:nvSpPr>
            <p:cNvPr id="202" name="Oval 125"/>
            <p:cNvSpPr>
              <a:spLocks noChangeArrowheads="1"/>
            </p:cNvSpPr>
            <p:nvPr/>
          </p:nvSpPr>
          <p:spPr bwMode="auto">
            <a:xfrm>
              <a:off x="5147403" y="3540670"/>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03" name="Oval 126"/>
            <p:cNvSpPr>
              <a:spLocks noChangeArrowheads="1"/>
            </p:cNvSpPr>
            <p:nvPr/>
          </p:nvSpPr>
          <p:spPr bwMode="auto">
            <a:xfrm>
              <a:off x="5383027" y="3343839"/>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04" name="Oval 127"/>
            <p:cNvSpPr>
              <a:spLocks noChangeArrowheads="1"/>
            </p:cNvSpPr>
            <p:nvPr/>
          </p:nvSpPr>
          <p:spPr bwMode="auto">
            <a:xfrm>
              <a:off x="4903653" y="3616374"/>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05" name="Oval 128"/>
            <p:cNvSpPr>
              <a:spLocks noChangeArrowheads="1"/>
            </p:cNvSpPr>
            <p:nvPr/>
          </p:nvSpPr>
          <p:spPr bwMode="auto">
            <a:xfrm>
              <a:off x="5623527" y="2953542"/>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06" name="Oval 129"/>
            <p:cNvSpPr>
              <a:spLocks noChangeArrowheads="1"/>
            </p:cNvSpPr>
            <p:nvPr/>
          </p:nvSpPr>
          <p:spPr bwMode="auto">
            <a:xfrm>
              <a:off x="6106153" y="2440437"/>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07" name="Oval 130"/>
            <p:cNvSpPr>
              <a:spLocks noChangeArrowheads="1"/>
            </p:cNvSpPr>
            <p:nvPr/>
          </p:nvSpPr>
          <p:spPr bwMode="auto">
            <a:xfrm>
              <a:off x="6795153" y="2147715"/>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322" name="Oval 131"/>
            <p:cNvSpPr>
              <a:spLocks noChangeArrowheads="1"/>
            </p:cNvSpPr>
            <p:nvPr/>
          </p:nvSpPr>
          <p:spPr bwMode="auto">
            <a:xfrm>
              <a:off x="6335277" y="2334451"/>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323" name="Oval 132"/>
            <p:cNvSpPr>
              <a:spLocks noChangeArrowheads="1"/>
            </p:cNvSpPr>
            <p:nvPr/>
          </p:nvSpPr>
          <p:spPr bwMode="auto">
            <a:xfrm>
              <a:off x="6569277" y="2238560"/>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324" name="Line 147"/>
            <p:cNvSpPr>
              <a:spLocks noChangeShapeType="1"/>
            </p:cNvSpPr>
            <p:nvPr/>
          </p:nvSpPr>
          <p:spPr bwMode="auto">
            <a:xfrm rot="10800000">
              <a:off x="2016028" y="2595210"/>
              <a:ext cx="4134000" cy="0"/>
            </a:xfrm>
            <a:prstGeom prst="line">
              <a:avLst/>
            </a:prstGeom>
            <a:noFill/>
            <a:ln w="1905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cxnSp>
          <p:nvCxnSpPr>
            <p:cNvPr id="325" name="直接连接符 115"/>
            <p:cNvCxnSpPr>
              <a:cxnSpLocks noChangeShapeType="1"/>
            </p:cNvCxnSpPr>
            <p:nvPr/>
          </p:nvCxnSpPr>
          <p:spPr bwMode="auto">
            <a:xfrm>
              <a:off x="4728153" y="1375532"/>
              <a:ext cx="234000" cy="2266077"/>
            </a:xfrm>
            <a:prstGeom prst="line">
              <a:avLst/>
            </a:prstGeom>
            <a:noFill/>
            <a:ln w="28575" algn="ctr">
              <a:solidFill>
                <a:srgbClr val="0000FF"/>
              </a:solidFill>
              <a:round/>
              <a:headEnd/>
              <a:tailEnd/>
            </a:ln>
            <a:extLst>
              <a:ext uri="{909E8E84-426E-40DD-AFC4-6F175D3DCCD1}">
                <a14:hiddenFill xmlns:a14="http://schemas.microsoft.com/office/drawing/2010/main">
                  <a:noFill/>
                </a14:hiddenFill>
              </a:ext>
            </a:extLst>
          </p:spPr>
        </p:cxnSp>
        <p:sp>
          <p:nvSpPr>
            <p:cNvPr id="326" name="Rectangle 161"/>
            <p:cNvSpPr>
              <a:spLocks noChangeArrowheads="1"/>
            </p:cNvSpPr>
            <p:nvPr/>
          </p:nvSpPr>
          <p:spPr bwMode="auto">
            <a:xfrm>
              <a:off x="2555757" y="1801158"/>
              <a:ext cx="442000" cy="3684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800" b="1" i="0" u="none" strike="noStrike" kern="0" cap="none" spc="0" normalizeH="0" baseline="0" noProof="0" dirty="0">
                  <a:ln>
                    <a:noFill/>
                  </a:ln>
                  <a:solidFill>
                    <a:sysClr val="windowText" lastClr="000000"/>
                  </a:solidFill>
                  <a:effectLst/>
                  <a:uLnTx/>
                  <a:uFillTx/>
                  <a:sym typeface="Wingdings" pitchFamily="2" charset="2"/>
                </a:rPr>
                <a:t></a:t>
              </a:r>
              <a:endParaRPr kumimoji="0" lang="zh-CN" altLang="en-US" sz="2800" b="1" i="0" u="none" strike="noStrike" kern="0" cap="none" spc="0" normalizeH="0" baseline="0" noProof="0" dirty="0">
                <a:ln>
                  <a:noFill/>
                </a:ln>
                <a:solidFill>
                  <a:sysClr val="windowText" lastClr="000000"/>
                </a:solidFill>
                <a:effectLst/>
                <a:uLnTx/>
                <a:uFillTx/>
              </a:endParaRPr>
            </a:p>
          </p:txBody>
        </p:sp>
        <p:sp>
          <p:nvSpPr>
            <p:cNvPr id="327" name="Oval 129"/>
            <p:cNvSpPr>
              <a:spLocks noChangeArrowheads="1"/>
            </p:cNvSpPr>
            <p:nvPr/>
          </p:nvSpPr>
          <p:spPr bwMode="auto">
            <a:xfrm>
              <a:off x="5868903" y="2549787"/>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328" name="任意多边形 134"/>
            <p:cNvSpPr>
              <a:spLocks/>
            </p:cNvSpPr>
            <p:nvPr/>
          </p:nvSpPr>
          <p:spPr bwMode="auto">
            <a:xfrm>
              <a:off x="4952403" y="2181361"/>
              <a:ext cx="1906124" cy="1485482"/>
            </a:xfrm>
            <a:custGeom>
              <a:avLst/>
              <a:gdLst>
                <a:gd name="T0" fmla="*/ 0 w 1929384"/>
                <a:gd name="T1" fmla="*/ 1404281 h 1426464"/>
                <a:gd name="T2" fmla="*/ 224888 w 1929384"/>
                <a:gd name="T3" fmla="*/ 1336767 h 1426464"/>
                <a:gd name="T4" fmla="*/ 445365 w 1929384"/>
                <a:gd name="T5" fmla="*/ 1152231 h 1426464"/>
                <a:gd name="T6" fmla="*/ 903959 w 1929384"/>
                <a:gd name="T7" fmla="*/ 409583 h 1426464"/>
                <a:gd name="T8" fmla="*/ 1860836 w 1929384"/>
                <a:gd name="T9" fmla="*/ 0 h 1426464"/>
                <a:gd name="T10" fmla="*/ 0 60000 65536"/>
                <a:gd name="T11" fmla="*/ 0 60000 65536"/>
                <a:gd name="T12" fmla="*/ 0 60000 65536"/>
                <a:gd name="T13" fmla="*/ 0 60000 65536"/>
                <a:gd name="T14" fmla="*/ 0 60000 65536"/>
                <a:gd name="T15" fmla="*/ 0 w 1929384"/>
                <a:gd name="T16" fmla="*/ 0 h 1426464"/>
                <a:gd name="T17" fmla="*/ 1929384 w 1929384"/>
                <a:gd name="T18" fmla="*/ 1426464 h 1426464"/>
              </a:gdLst>
              <a:ahLst/>
              <a:cxnLst>
                <a:cxn ang="T10">
                  <a:pos x="T0" y="T1"/>
                </a:cxn>
                <a:cxn ang="T11">
                  <a:pos x="T2" y="T3"/>
                </a:cxn>
                <a:cxn ang="T12">
                  <a:pos x="T4" y="T5"/>
                </a:cxn>
                <a:cxn ang="T13">
                  <a:pos x="T6" y="T7"/>
                </a:cxn>
                <a:cxn ang="T14">
                  <a:pos x="T8" y="T9"/>
                </a:cxn>
              </a:cxnLst>
              <a:rect l="T15" t="T16" r="T17" b="T18"/>
              <a:pathLst>
                <a:path w="1929384" h="1426464">
                  <a:moveTo>
                    <a:pt x="0" y="1426464"/>
                  </a:moveTo>
                  <a:lnTo>
                    <a:pt x="233172" y="1357884"/>
                  </a:lnTo>
                  <a:lnTo>
                    <a:pt x="461772" y="1170432"/>
                  </a:lnTo>
                  <a:lnTo>
                    <a:pt x="937260" y="416052"/>
                  </a:lnTo>
                  <a:lnTo>
                    <a:pt x="1929384" y="0"/>
                  </a:lnTo>
                </a:path>
              </a:pathLst>
            </a:custGeom>
            <a:noFill/>
            <a:ln w="28575" cap="flat" cmpd="sng" algn="ctr">
              <a:solidFill>
                <a:srgbClr val="0000FF"/>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329" name="Rectangle 161"/>
            <p:cNvSpPr>
              <a:spLocks noChangeArrowheads="1"/>
            </p:cNvSpPr>
            <p:nvPr/>
          </p:nvSpPr>
          <p:spPr bwMode="auto">
            <a:xfrm>
              <a:off x="4545899" y="1021117"/>
              <a:ext cx="367250" cy="30618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800" b="1" i="0" u="none" strike="noStrike" kern="0" cap="none" spc="0" normalizeH="0" baseline="0" noProof="0" dirty="0">
                  <a:ln>
                    <a:noFill/>
                  </a:ln>
                  <a:solidFill>
                    <a:sysClr val="windowText" lastClr="000000"/>
                  </a:solidFill>
                  <a:effectLst/>
                  <a:uLnTx/>
                  <a:uFillTx/>
                  <a:sym typeface="Wingdings" pitchFamily="2" charset="2"/>
                </a:rPr>
                <a:t></a:t>
              </a:r>
              <a:endParaRPr kumimoji="0" lang="zh-CN" altLang="en-US" sz="2800" b="1" i="0" u="none" strike="noStrike" kern="0" cap="none" spc="0" normalizeH="0" baseline="0" noProof="0" dirty="0">
                <a:ln>
                  <a:noFill/>
                </a:ln>
                <a:solidFill>
                  <a:sysClr val="windowText" lastClr="000000"/>
                </a:solidFill>
                <a:effectLst/>
                <a:uLnTx/>
                <a:uFillTx/>
              </a:endParaRPr>
            </a:p>
          </p:txBody>
        </p:sp>
        <p:cxnSp>
          <p:nvCxnSpPr>
            <p:cNvPr id="330" name="直接连接符 119"/>
            <p:cNvCxnSpPr>
              <a:cxnSpLocks noChangeShapeType="1"/>
            </p:cNvCxnSpPr>
            <p:nvPr/>
          </p:nvCxnSpPr>
          <p:spPr bwMode="auto">
            <a:xfrm flipH="1">
              <a:off x="7064902" y="3022518"/>
              <a:ext cx="1624" cy="694795"/>
            </a:xfrm>
            <a:prstGeom prst="line">
              <a:avLst/>
            </a:prstGeom>
            <a:noFill/>
            <a:ln w="19050" algn="ctr">
              <a:solidFill>
                <a:srgbClr val="000000"/>
              </a:solidFill>
              <a:prstDash val="dash"/>
              <a:round/>
              <a:headEnd/>
              <a:tailEnd/>
            </a:ln>
          </p:spPr>
        </p:cxnSp>
        <p:cxnSp>
          <p:nvCxnSpPr>
            <p:cNvPr id="331" name="直接连接符 121"/>
            <p:cNvCxnSpPr>
              <a:cxnSpLocks noChangeShapeType="1"/>
            </p:cNvCxnSpPr>
            <p:nvPr/>
          </p:nvCxnSpPr>
          <p:spPr bwMode="auto">
            <a:xfrm>
              <a:off x="2032278" y="3005695"/>
              <a:ext cx="5676125" cy="0"/>
            </a:xfrm>
            <a:prstGeom prst="line">
              <a:avLst/>
            </a:prstGeom>
            <a:noFill/>
            <a:ln w="19050" algn="ctr">
              <a:solidFill>
                <a:srgbClr val="000000"/>
              </a:solidFill>
              <a:prstDash val="dash"/>
              <a:round/>
              <a:headEnd/>
              <a:tailEnd/>
            </a:ln>
          </p:spPr>
        </p:cxnSp>
        <p:sp>
          <p:nvSpPr>
            <p:cNvPr id="332" name="Oval 130"/>
            <p:cNvSpPr>
              <a:spLocks noChangeArrowheads="1"/>
            </p:cNvSpPr>
            <p:nvPr/>
          </p:nvSpPr>
          <p:spPr bwMode="auto">
            <a:xfrm>
              <a:off x="7021027" y="2961955"/>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333" name="Line 24"/>
            <p:cNvSpPr>
              <a:spLocks noChangeShapeType="1"/>
            </p:cNvSpPr>
            <p:nvPr/>
          </p:nvSpPr>
          <p:spPr bwMode="auto">
            <a:xfrm>
              <a:off x="7532902" y="363992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334" name="Line 22"/>
            <p:cNvSpPr>
              <a:spLocks noChangeShapeType="1"/>
            </p:cNvSpPr>
            <p:nvPr/>
          </p:nvSpPr>
          <p:spPr bwMode="auto">
            <a:xfrm>
              <a:off x="7295652" y="3644974"/>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335" name="Text Box 87"/>
            <p:cNvSpPr txBox="1">
              <a:spLocks noChangeArrowheads="1"/>
            </p:cNvSpPr>
            <p:nvPr/>
          </p:nvSpPr>
          <p:spPr bwMode="auto">
            <a:xfrm>
              <a:off x="7311902" y="3754324"/>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24</a:t>
              </a:r>
            </a:p>
          </p:txBody>
        </p:sp>
        <p:sp>
          <p:nvSpPr>
            <p:cNvPr id="336" name="Line 22"/>
            <p:cNvSpPr>
              <a:spLocks noChangeShapeType="1"/>
            </p:cNvSpPr>
            <p:nvPr/>
          </p:nvSpPr>
          <p:spPr bwMode="auto">
            <a:xfrm>
              <a:off x="7776652" y="3653385"/>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cxnSp>
          <p:nvCxnSpPr>
            <p:cNvPr id="337" name="直接连接符 134"/>
            <p:cNvCxnSpPr>
              <a:cxnSpLocks noChangeShapeType="1"/>
              <a:stCxn id="328" idx="4"/>
              <a:endCxn id="332" idx="3"/>
            </p:cNvCxnSpPr>
            <p:nvPr/>
          </p:nvCxnSpPr>
          <p:spPr bwMode="auto">
            <a:xfrm>
              <a:off x="6856903" y="2181361"/>
              <a:ext cx="204750" cy="832745"/>
            </a:xfrm>
            <a:prstGeom prst="line">
              <a:avLst/>
            </a:prstGeom>
            <a:noFill/>
            <a:ln w="28575" algn="ctr">
              <a:solidFill>
                <a:srgbClr val="0000FF"/>
              </a:solidFill>
              <a:round/>
              <a:headEnd/>
              <a:tailEnd/>
            </a:ln>
          </p:spPr>
        </p:cxnSp>
        <p:sp>
          <p:nvSpPr>
            <p:cNvPr id="338" name="Text Box 206"/>
            <p:cNvSpPr txBox="1">
              <a:spLocks noChangeArrowheads="1"/>
            </p:cNvSpPr>
            <p:nvPr/>
          </p:nvSpPr>
          <p:spPr bwMode="auto">
            <a:xfrm rot="20070649">
              <a:off x="5809549" y="2010746"/>
              <a:ext cx="111440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800" b="1" i="0" u="none" strike="noStrike" kern="0" cap="none" spc="0" normalizeH="0" baseline="0" noProof="0" dirty="0">
                  <a:ln>
                    <a:noFill/>
                  </a:ln>
                  <a:solidFill>
                    <a:srgbClr val="000000"/>
                  </a:solidFill>
                  <a:effectLst/>
                  <a:uLnTx/>
                  <a:uFillTx/>
                  <a:latin typeface="Times New Roman" pitchFamily="18" charset="0"/>
                  <a:ea typeface="宋体" charset="-122"/>
                </a:rPr>
                <a:t>拥塞避免</a:t>
              </a:r>
            </a:p>
          </p:txBody>
        </p:sp>
        <p:sp>
          <p:nvSpPr>
            <p:cNvPr id="339" name="Text Box 206"/>
            <p:cNvSpPr txBox="1">
              <a:spLocks noChangeArrowheads="1"/>
            </p:cNvSpPr>
            <p:nvPr/>
          </p:nvSpPr>
          <p:spPr bwMode="auto">
            <a:xfrm rot="20205303">
              <a:off x="2990278" y="1471566"/>
              <a:ext cx="121699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2000" b="1" i="0" u="none" strike="noStrike" kern="0" cap="none" spc="0" normalizeH="0" baseline="0" noProof="0">
                  <a:ln>
                    <a:noFill/>
                  </a:ln>
                  <a:solidFill>
                    <a:srgbClr val="000000"/>
                  </a:solidFill>
                  <a:effectLst/>
                  <a:uLnTx/>
                  <a:uFillTx/>
                  <a:latin typeface="Times New Roman" pitchFamily="18" charset="0"/>
                  <a:ea typeface="宋体" charset="-122"/>
                </a:rPr>
                <a:t>拥塞避免</a:t>
              </a:r>
            </a:p>
          </p:txBody>
        </p:sp>
        <p:sp>
          <p:nvSpPr>
            <p:cNvPr id="340" name="TextBox 147"/>
            <p:cNvSpPr txBox="1">
              <a:spLocks noChangeArrowheads="1"/>
            </p:cNvSpPr>
            <p:nvPr/>
          </p:nvSpPr>
          <p:spPr bwMode="auto">
            <a:xfrm>
              <a:off x="5542277" y="2191455"/>
              <a:ext cx="50526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2800" b="1" i="0" u="none" strike="noStrike" kern="0" cap="none" spc="0" normalizeH="0" baseline="0" noProof="0" dirty="0">
                  <a:ln>
                    <a:noFill/>
                  </a:ln>
                  <a:solidFill>
                    <a:srgbClr val="000000"/>
                  </a:solidFill>
                  <a:effectLst/>
                  <a:uLnTx/>
                  <a:uFillTx/>
                  <a:latin typeface="Times New Roman" pitchFamily="18" charset="0"/>
                  <a:ea typeface="宋体" charset="-122"/>
                  <a:sym typeface="Wingdings" pitchFamily="2" charset="2"/>
                </a:rPr>
                <a:t></a:t>
              </a:r>
              <a:endParaRPr kumimoji="1" lang="zh-CN" altLang="en-US" sz="2800" b="1" i="0" u="none" strike="noStrike" kern="0" cap="none" spc="0" normalizeH="0" baseline="0" noProof="0" dirty="0">
                <a:ln>
                  <a:noFill/>
                </a:ln>
                <a:solidFill>
                  <a:srgbClr val="000000"/>
                </a:solidFill>
                <a:effectLst/>
                <a:uLnTx/>
                <a:uFillTx/>
                <a:latin typeface="Times New Roman" pitchFamily="18" charset="0"/>
                <a:ea typeface="宋体" charset="-122"/>
              </a:endParaRPr>
            </a:p>
          </p:txBody>
        </p:sp>
        <p:sp>
          <p:nvSpPr>
            <p:cNvPr id="341" name="矩形 150"/>
            <p:cNvSpPr>
              <a:spLocks noChangeArrowheads="1"/>
            </p:cNvSpPr>
            <p:nvPr/>
          </p:nvSpPr>
          <p:spPr bwMode="auto">
            <a:xfrm>
              <a:off x="2298778" y="3596186"/>
              <a:ext cx="2575625" cy="126174"/>
            </a:xfrm>
            <a:prstGeom prst="rect">
              <a:avLst/>
            </a:prstGeom>
            <a:solidFill>
              <a:srgbClr val="FFFFFF"/>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342" name="TextBox 148"/>
            <p:cNvSpPr txBox="1">
              <a:spLocks noChangeArrowheads="1"/>
            </p:cNvSpPr>
            <p:nvPr/>
          </p:nvSpPr>
          <p:spPr bwMode="auto">
            <a:xfrm>
              <a:off x="6720403" y="1765829"/>
              <a:ext cx="50526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2800" b="1" i="0" u="none" strike="noStrike" kern="0" cap="none" spc="0" normalizeH="0" baseline="0" noProof="0">
                  <a:ln>
                    <a:noFill/>
                  </a:ln>
                  <a:solidFill>
                    <a:srgbClr val="000000"/>
                  </a:solidFill>
                  <a:effectLst/>
                  <a:uLnTx/>
                  <a:uFillTx/>
                  <a:latin typeface="Times New Roman" pitchFamily="18" charset="0"/>
                  <a:ea typeface="宋体" charset="-122"/>
                  <a:sym typeface="Wingdings" pitchFamily="2" charset="2"/>
                </a:rPr>
                <a:t></a:t>
              </a:r>
              <a:endParaRPr kumimoji="1" lang="zh-CN" altLang="en-US" sz="2800" b="1" i="0" u="none" strike="noStrike" kern="0" cap="none" spc="0" normalizeH="0" baseline="0" noProof="0">
                <a:ln>
                  <a:noFill/>
                </a:ln>
                <a:solidFill>
                  <a:srgbClr val="000000"/>
                </a:solidFill>
                <a:effectLst/>
                <a:uLnTx/>
                <a:uFillTx/>
                <a:latin typeface="Times New Roman" pitchFamily="18" charset="0"/>
                <a:ea typeface="宋体" charset="-122"/>
              </a:endParaRPr>
            </a:p>
          </p:txBody>
        </p:sp>
        <p:sp>
          <p:nvSpPr>
            <p:cNvPr id="344" name="矩形 151"/>
            <p:cNvSpPr>
              <a:spLocks noChangeArrowheads="1"/>
            </p:cNvSpPr>
            <p:nvPr/>
          </p:nvSpPr>
          <p:spPr bwMode="auto">
            <a:xfrm>
              <a:off x="7237152" y="3596186"/>
              <a:ext cx="607750" cy="114397"/>
            </a:xfrm>
            <a:prstGeom prst="rect">
              <a:avLst/>
            </a:prstGeom>
            <a:solidFill>
              <a:srgbClr val="FFFFFF"/>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cxnSp>
          <p:nvCxnSpPr>
            <p:cNvPr id="345" name="直接连接符 153"/>
            <p:cNvCxnSpPr>
              <a:cxnSpLocks noChangeShapeType="1"/>
            </p:cNvCxnSpPr>
            <p:nvPr/>
          </p:nvCxnSpPr>
          <p:spPr bwMode="auto">
            <a:xfrm flipV="1">
              <a:off x="5903027" y="2630538"/>
              <a:ext cx="11376" cy="1043034"/>
            </a:xfrm>
            <a:prstGeom prst="line">
              <a:avLst/>
            </a:prstGeom>
            <a:noFill/>
            <a:ln w="19050" algn="ctr">
              <a:solidFill>
                <a:srgbClr val="000000"/>
              </a:solidFill>
              <a:prstDash val="dash"/>
              <a:round/>
              <a:headEnd/>
              <a:tailEnd/>
            </a:ln>
          </p:spPr>
        </p:cxnSp>
        <p:cxnSp>
          <p:nvCxnSpPr>
            <p:cNvPr id="346" name="直接连接符 157"/>
            <p:cNvCxnSpPr>
              <a:cxnSpLocks noChangeShapeType="1"/>
            </p:cNvCxnSpPr>
            <p:nvPr/>
          </p:nvCxnSpPr>
          <p:spPr bwMode="auto">
            <a:xfrm flipV="1">
              <a:off x="6832527" y="2253700"/>
              <a:ext cx="11376" cy="1520811"/>
            </a:xfrm>
            <a:prstGeom prst="line">
              <a:avLst/>
            </a:prstGeom>
            <a:noFill/>
            <a:ln w="19050" algn="ctr">
              <a:solidFill>
                <a:srgbClr val="000000"/>
              </a:solidFill>
              <a:prstDash val="dash"/>
              <a:round/>
              <a:headEnd/>
              <a:tailEnd/>
            </a:ln>
          </p:spPr>
        </p:cxnSp>
        <p:cxnSp>
          <p:nvCxnSpPr>
            <p:cNvPr id="347" name="直接连接符 141"/>
            <p:cNvCxnSpPr>
              <a:cxnSpLocks noChangeShapeType="1"/>
            </p:cNvCxnSpPr>
            <p:nvPr/>
          </p:nvCxnSpPr>
          <p:spPr bwMode="auto">
            <a:xfrm flipV="1">
              <a:off x="7001527" y="2475765"/>
              <a:ext cx="1248000" cy="560211"/>
            </a:xfrm>
            <a:prstGeom prst="line">
              <a:avLst/>
            </a:prstGeom>
            <a:noFill/>
            <a:ln w="28575" algn="ctr">
              <a:solidFill>
                <a:srgbClr val="0000FF"/>
              </a:solidFill>
              <a:round/>
              <a:headEnd/>
              <a:tailEnd/>
            </a:ln>
          </p:spPr>
        </p:cxnSp>
        <p:sp>
          <p:nvSpPr>
            <p:cNvPr id="348" name="Oval 202"/>
            <p:cNvSpPr>
              <a:spLocks noChangeArrowheads="1"/>
            </p:cNvSpPr>
            <p:nvPr/>
          </p:nvSpPr>
          <p:spPr bwMode="auto">
            <a:xfrm>
              <a:off x="7724652" y="2655773"/>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349" name="Oval 130"/>
            <p:cNvSpPr>
              <a:spLocks noChangeArrowheads="1"/>
            </p:cNvSpPr>
            <p:nvPr/>
          </p:nvSpPr>
          <p:spPr bwMode="auto">
            <a:xfrm>
              <a:off x="7251777" y="2855968"/>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350" name="Oval 130"/>
            <p:cNvSpPr>
              <a:spLocks noChangeArrowheads="1"/>
            </p:cNvSpPr>
            <p:nvPr/>
          </p:nvSpPr>
          <p:spPr bwMode="auto">
            <a:xfrm>
              <a:off x="7490652" y="2758394"/>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351" name="TextBox 149"/>
            <p:cNvSpPr txBox="1">
              <a:spLocks noChangeArrowheads="1"/>
            </p:cNvSpPr>
            <p:nvPr/>
          </p:nvSpPr>
          <p:spPr bwMode="auto">
            <a:xfrm>
              <a:off x="6795153" y="2987189"/>
              <a:ext cx="50526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2800" b="1" i="0" u="none" strike="noStrike" kern="0" cap="none" spc="0" normalizeH="0" baseline="0" noProof="0" dirty="0">
                  <a:ln>
                    <a:noFill/>
                  </a:ln>
                  <a:solidFill>
                    <a:srgbClr val="000000"/>
                  </a:solidFill>
                  <a:effectLst/>
                  <a:uLnTx/>
                  <a:uFillTx/>
                  <a:latin typeface="Times New Roman" pitchFamily="18" charset="0"/>
                  <a:ea typeface="宋体" charset="-122"/>
                  <a:sym typeface="Wingdings" pitchFamily="2" charset="2"/>
                </a:rPr>
                <a:t></a:t>
              </a:r>
              <a:endParaRPr kumimoji="1" lang="zh-CN" altLang="en-US" sz="2800" b="1" i="0" u="none" strike="noStrike" kern="0" cap="none" spc="0" normalizeH="0" baseline="0" noProof="0" dirty="0">
                <a:ln>
                  <a:noFill/>
                </a:ln>
                <a:solidFill>
                  <a:srgbClr val="000000"/>
                </a:solidFill>
                <a:effectLst/>
                <a:uLnTx/>
                <a:uFillTx/>
                <a:latin typeface="Times New Roman" pitchFamily="18" charset="0"/>
                <a:ea typeface="宋体" charset="-122"/>
              </a:endParaRPr>
            </a:p>
          </p:txBody>
        </p:sp>
        <p:sp>
          <p:nvSpPr>
            <p:cNvPr id="352" name="Oval 202"/>
            <p:cNvSpPr>
              <a:spLocks noChangeArrowheads="1"/>
            </p:cNvSpPr>
            <p:nvPr/>
          </p:nvSpPr>
          <p:spPr bwMode="auto">
            <a:xfrm>
              <a:off x="7966777" y="2531282"/>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cxnSp>
          <p:nvCxnSpPr>
            <p:cNvPr id="353" name="直接连接符 117"/>
            <p:cNvCxnSpPr>
              <a:cxnSpLocks noChangeShapeType="1"/>
            </p:cNvCxnSpPr>
            <p:nvPr/>
          </p:nvCxnSpPr>
          <p:spPr bwMode="auto">
            <a:xfrm flipH="1">
              <a:off x="4726527" y="1506753"/>
              <a:ext cx="4876" cy="2200466"/>
            </a:xfrm>
            <a:prstGeom prst="line">
              <a:avLst/>
            </a:prstGeom>
            <a:noFill/>
            <a:ln w="19050" algn="ctr">
              <a:solidFill>
                <a:srgbClr val="000000"/>
              </a:solidFill>
              <a:prstDash val="dash"/>
              <a:round/>
              <a:headEnd/>
              <a:tailEnd/>
            </a:ln>
            <a:extLst>
              <a:ext uri="{909E8E84-426E-40DD-AFC4-6F175D3DCCD1}">
                <a14:hiddenFill xmlns:a14="http://schemas.microsoft.com/office/drawing/2010/main">
                  <a:noFill/>
                </a14:hiddenFill>
              </a:ext>
            </a:extLst>
          </p:spPr>
        </p:cxnSp>
        <p:cxnSp>
          <p:nvCxnSpPr>
            <p:cNvPr id="354" name="直接连接符 119"/>
            <p:cNvCxnSpPr>
              <a:cxnSpLocks noChangeShapeType="1"/>
            </p:cNvCxnSpPr>
            <p:nvPr/>
          </p:nvCxnSpPr>
          <p:spPr bwMode="auto">
            <a:xfrm>
              <a:off x="2854527" y="2309217"/>
              <a:ext cx="0" cy="1384543"/>
            </a:xfrm>
            <a:prstGeom prst="line">
              <a:avLst/>
            </a:prstGeom>
            <a:noFill/>
            <a:ln w="19050" algn="ctr">
              <a:solidFill>
                <a:srgbClr val="000000"/>
              </a:solidFill>
              <a:prstDash val="dash"/>
              <a:round/>
              <a:headEnd/>
              <a:tailEnd/>
            </a:ln>
            <a:extLst>
              <a:ext uri="{909E8E84-426E-40DD-AFC4-6F175D3DCCD1}">
                <a14:hiddenFill xmlns:a14="http://schemas.microsoft.com/office/drawing/2010/main">
                  <a:noFill/>
                </a14:hiddenFill>
              </a:ext>
            </a:extLst>
          </p:spPr>
        </p:cxnSp>
      </p:grpSp>
      <p:sp>
        <p:nvSpPr>
          <p:cNvPr id="125" name="Line 167"/>
          <p:cNvSpPr>
            <a:spLocks noChangeShapeType="1"/>
          </p:cNvSpPr>
          <p:nvPr/>
        </p:nvSpPr>
        <p:spPr bwMode="auto">
          <a:xfrm>
            <a:off x="1443217" y="3343839"/>
            <a:ext cx="413439" cy="301185"/>
          </a:xfrm>
          <a:prstGeom prst="line">
            <a:avLst/>
          </a:prstGeom>
          <a:noFill/>
          <a:ln w="76200">
            <a:solidFill>
              <a:srgbClr val="FF0000">
                <a:alpha val="80000"/>
              </a:srgbClr>
            </a:solidFill>
            <a:round/>
            <a:headEnd type="none"/>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Tree>
    <p:extLst>
      <p:ext uri="{BB962C8B-B14F-4D97-AF65-F5344CB8AC3E}">
        <p14:creationId xmlns:p14="http://schemas.microsoft.com/office/powerpoint/2010/main" val="139181419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 name="Rectangle 5"/>
          <p:cNvSpPr txBox="1">
            <a:spLocks noChangeArrowheads="1"/>
          </p:cNvSpPr>
          <p:nvPr/>
        </p:nvSpPr>
        <p:spPr bwMode="auto">
          <a:xfrm>
            <a:off x="417512" y="152400"/>
            <a:ext cx="91440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kumimoji="1" sz="4400" b="1">
                <a:solidFill>
                  <a:schemeClr val="tx2"/>
                </a:solidFill>
                <a:latin typeface="+mj-lt"/>
                <a:ea typeface="+mj-ea"/>
                <a:cs typeface="+mj-cs"/>
              </a:defRPr>
            </a:lvl1pPr>
            <a:lvl2pPr algn="l" rtl="0" eaLnBrk="0" fontAlgn="base" hangingPunct="0">
              <a:spcBef>
                <a:spcPct val="0"/>
              </a:spcBef>
              <a:spcAft>
                <a:spcPct val="0"/>
              </a:spcAft>
              <a:defRPr kumimoji="1" sz="4400" b="1">
                <a:solidFill>
                  <a:schemeClr val="tx2"/>
                </a:solidFill>
                <a:latin typeface="Tahoma" pitchFamily="34" charset="0"/>
                <a:ea typeface="黑体" pitchFamily="2" charset="-122"/>
              </a:defRPr>
            </a:lvl2pPr>
            <a:lvl3pPr algn="l" rtl="0" eaLnBrk="0" fontAlgn="base" hangingPunct="0">
              <a:spcBef>
                <a:spcPct val="0"/>
              </a:spcBef>
              <a:spcAft>
                <a:spcPct val="0"/>
              </a:spcAft>
              <a:defRPr kumimoji="1" sz="4400" b="1">
                <a:solidFill>
                  <a:schemeClr val="tx2"/>
                </a:solidFill>
                <a:latin typeface="Tahoma" pitchFamily="34" charset="0"/>
                <a:ea typeface="黑体" pitchFamily="2" charset="-122"/>
              </a:defRPr>
            </a:lvl3pPr>
            <a:lvl4pPr algn="l" rtl="0" eaLnBrk="0" fontAlgn="base" hangingPunct="0">
              <a:spcBef>
                <a:spcPct val="0"/>
              </a:spcBef>
              <a:spcAft>
                <a:spcPct val="0"/>
              </a:spcAft>
              <a:defRPr kumimoji="1" sz="4400" b="1">
                <a:solidFill>
                  <a:schemeClr val="tx2"/>
                </a:solidFill>
                <a:latin typeface="Tahoma" pitchFamily="34" charset="0"/>
                <a:ea typeface="黑体" pitchFamily="2" charset="-122"/>
              </a:defRPr>
            </a:lvl4pPr>
            <a:lvl5pPr algn="l" rtl="0" eaLnBrk="0" fontAlgn="base" hangingPunct="0">
              <a:spcBef>
                <a:spcPct val="0"/>
              </a:spcBef>
              <a:spcAft>
                <a:spcPct val="0"/>
              </a:spcAft>
              <a:defRPr kumimoji="1" sz="4400" b="1">
                <a:solidFill>
                  <a:schemeClr val="tx2"/>
                </a:solidFill>
                <a:latin typeface="Tahoma" pitchFamily="34" charset="0"/>
                <a:ea typeface="黑体" pitchFamily="2" charset="-122"/>
              </a:defRPr>
            </a:lvl5pPr>
            <a:lvl6pPr marL="457200" algn="l" rtl="0" fontAlgn="base">
              <a:spcBef>
                <a:spcPct val="0"/>
              </a:spcBef>
              <a:spcAft>
                <a:spcPct val="0"/>
              </a:spcAft>
              <a:defRPr kumimoji="1" sz="4400" b="1">
                <a:solidFill>
                  <a:schemeClr val="tx2"/>
                </a:solidFill>
                <a:latin typeface="Tahoma" pitchFamily="34" charset="0"/>
                <a:ea typeface="黑体" pitchFamily="2" charset="-122"/>
              </a:defRPr>
            </a:lvl6pPr>
            <a:lvl7pPr marL="914400" algn="l" rtl="0" fontAlgn="base">
              <a:spcBef>
                <a:spcPct val="0"/>
              </a:spcBef>
              <a:spcAft>
                <a:spcPct val="0"/>
              </a:spcAft>
              <a:defRPr kumimoji="1" sz="4400" b="1">
                <a:solidFill>
                  <a:schemeClr val="tx2"/>
                </a:solidFill>
                <a:latin typeface="Tahoma" pitchFamily="34" charset="0"/>
                <a:ea typeface="黑体" pitchFamily="2" charset="-122"/>
              </a:defRPr>
            </a:lvl7pPr>
            <a:lvl8pPr marL="1371600" algn="l" rtl="0" fontAlgn="base">
              <a:spcBef>
                <a:spcPct val="0"/>
              </a:spcBef>
              <a:spcAft>
                <a:spcPct val="0"/>
              </a:spcAft>
              <a:defRPr kumimoji="1" sz="4400" b="1">
                <a:solidFill>
                  <a:schemeClr val="tx2"/>
                </a:solidFill>
                <a:latin typeface="Tahoma" pitchFamily="34" charset="0"/>
                <a:ea typeface="黑体" pitchFamily="2" charset="-122"/>
              </a:defRPr>
            </a:lvl8pPr>
            <a:lvl9pPr marL="1828800" algn="l" rtl="0" fontAlgn="base">
              <a:spcBef>
                <a:spcPct val="0"/>
              </a:spcBef>
              <a:spcAft>
                <a:spcPct val="0"/>
              </a:spcAft>
              <a:defRPr kumimoji="1" sz="4400" b="1">
                <a:solidFill>
                  <a:schemeClr val="tx2"/>
                </a:solidFill>
                <a:latin typeface="Tahoma" pitchFamily="34" charset="0"/>
                <a:ea typeface="黑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3200" b="1" i="0" u="none" strike="noStrike" kern="0" cap="none" spc="0" normalizeH="0" baseline="0" noProof="0">
                <a:ln>
                  <a:noFill/>
                </a:ln>
                <a:solidFill>
                  <a:srgbClr val="333399"/>
                </a:solidFill>
                <a:effectLst/>
                <a:uLnTx/>
                <a:uFillTx/>
                <a:latin typeface="Tahoma"/>
                <a:ea typeface="黑体"/>
                <a:cs typeface="+mj-cs"/>
              </a:rPr>
              <a:t>慢开始和拥塞避免算法的实现举例 </a:t>
            </a:r>
          </a:p>
        </p:txBody>
      </p:sp>
      <p:grpSp>
        <p:nvGrpSpPr>
          <p:cNvPr id="3" name="组合 2"/>
          <p:cNvGrpSpPr/>
          <p:nvPr/>
        </p:nvGrpSpPr>
        <p:grpSpPr>
          <a:xfrm>
            <a:off x="272479" y="836711"/>
            <a:ext cx="9536759" cy="3321087"/>
            <a:chOff x="272479" y="836711"/>
            <a:chExt cx="9536759" cy="3321087"/>
          </a:xfrm>
        </p:grpSpPr>
        <p:sp>
          <p:nvSpPr>
            <p:cNvPr id="103" name="Text Box 140"/>
            <p:cNvSpPr txBox="1">
              <a:spLocks noChangeArrowheads="1"/>
            </p:cNvSpPr>
            <p:nvPr/>
          </p:nvSpPr>
          <p:spPr bwMode="auto">
            <a:xfrm>
              <a:off x="4863078" y="985683"/>
              <a:ext cx="11570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2000" b="1" i="0" u="none" strike="noStrike" kern="0" cap="none" spc="0" normalizeH="0" baseline="0" noProof="0" dirty="0">
                  <a:ln>
                    <a:noFill/>
                  </a:ln>
                  <a:solidFill>
                    <a:srgbClr val="FF0000"/>
                  </a:solidFill>
                  <a:effectLst/>
                  <a:uLnTx/>
                  <a:uFillTx/>
                  <a:latin typeface="Times New Roman" pitchFamily="18" charset="0"/>
                  <a:ea typeface="宋体" charset="-122"/>
                </a:rPr>
                <a:t>超时</a:t>
              </a:r>
            </a:p>
          </p:txBody>
        </p:sp>
        <p:sp>
          <p:nvSpPr>
            <p:cNvPr id="104" name="Line 2"/>
            <p:cNvSpPr>
              <a:spLocks noChangeShapeType="1"/>
            </p:cNvSpPr>
            <p:nvPr/>
          </p:nvSpPr>
          <p:spPr bwMode="auto">
            <a:xfrm flipV="1">
              <a:off x="1920153" y="3803111"/>
              <a:ext cx="6358624" cy="5046"/>
            </a:xfrm>
            <a:prstGeom prst="line">
              <a:avLst/>
            </a:prstGeom>
            <a:noFill/>
            <a:ln w="19050">
              <a:solidFill>
                <a:srgbClr val="000000"/>
              </a:solidFill>
              <a:round/>
              <a:headEnd/>
              <a:tail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105" name="Line 3"/>
            <p:cNvSpPr>
              <a:spLocks noChangeShapeType="1"/>
            </p:cNvSpPr>
            <p:nvPr/>
          </p:nvSpPr>
          <p:spPr bwMode="auto">
            <a:xfrm>
              <a:off x="1918528" y="1177019"/>
              <a:ext cx="1626" cy="2631138"/>
            </a:xfrm>
            <a:prstGeom prst="line">
              <a:avLst/>
            </a:prstGeom>
            <a:noFill/>
            <a:ln w="19050">
              <a:solidFill>
                <a:srgbClr val="000000"/>
              </a:solidFill>
              <a:round/>
              <a:headEnd type="triangle" w="sm" len="lg"/>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106" name="Line 4"/>
            <p:cNvSpPr>
              <a:spLocks noChangeShapeType="1"/>
            </p:cNvSpPr>
            <p:nvPr/>
          </p:nvSpPr>
          <p:spPr bwMode="auto">
            <a:xfrm>
              <a:off x="2154153" y="3727407"/>
              <a:ext cx="0" cy="8075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08" name="Line 5"/>
            <p:cNvSpPr>
              <a:spLocks noChangeShapeType="1"/>
            </p:cNvSpPr>
            <p:nvPr/>
          </p:nvSpPr>
          <p:spPr bwMode="auto">
            <a:xfrm>
              <a:off x="2388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09" name="Line 6"/>
            <p:cNvSpPr>
              <a:spLocks noChangeShapeType="1"/>
            </p:cNvSpPr>
            <p:nvPr/>
          </p:nvSpPr>
          <p:spPr bwMode="auto">
            <a:xfrm>
              <a:off x="2622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0" name="Line 7"/>
            <p:cNvSpPr>
              <a:spLocks noChangeShapeType="1"/>
            </p:cNvSpPr>
            <p:nvPr/>
          </p:nvSpPr>
          <p:spPr bwMode="auto">
            <a:xfrm>
              <a:off x="2856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1" name="Line 8"/>
            <p:cNvSpPr>
              <a:spLocks noChangeShapeType="1"/>
            </p:cNvSpPr>
            <p:nvPr/>
          </p:nvSpPr>
          <p:spPr bwMode="auto">
            <a:xfrm>
              <a:off x="3090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2" name="Line 9"/>
            <p:cNvSpPr>
              <a:spLocks noChangeShapeType="1"/>
            </p:cNvSpPr>
            <p:nvPr/>
          </p:nvSpPr>
          <p:spPr bwMode="auto">
            <a:xfrm>
              <a:off x="3324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3" name="Line 10"/>
            <p:cNvSpPr>
              <a:spLocks noChangeShapeType="1"/>
            </p:cNvSpPr>
            <p:nvPr/>
          </p:nvSpPr>
          <p:spPr bwMode="auto">
            <a:xfrm>
              <a:off x="3558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4" name="Line 11"/>
            <p:cNvSpPr>
              <a:spLocks noChangeShapeType="1"/>
            </p:cNvSpPr>
            <p:nvPr/>
          </p:nvSpPr>
          <p:spPr bwMode="auto">
            <a:xfrm>
              <a:off x="3792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5" name="Line 12"/>
            <p:cNvSpPr>
              <a:spLocks noChangeShapeType="1"/>
            </p:cNvSpPr>
            <p:nvPr/>
          </p:nvSpPr>
          <p:spPr bwMode="auto">
            <a:xfrm>
              <a:off x="4026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6" name="Line 13"/>
            <p:cNvSpPr>
              <a:spLocks noChangeShapeType="1"/>
            </p:cNvSpPr>
            <p:nvPr/>
          </p:nvSpPr>
          <p:spPr bwMode="auto">
            <a:xfrm>
              <a:off x="4260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7" name="Line 14"/>
            <p:cNvSpPr>
              <a:spLocks noChangeShapeType="1"/>
            </p:cNvSpPr>
            <p:nvPr/>
          </p:nvSpPr>
          <p:spPr bwMode="auto">
            <a:xfrm>
              <a:off x="4494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8" name="Line 15"/>
            <p:cNvSpPr>
              <a:spLocks noChangeShapeType="1"/>
            </p:cNvSpPr>
            <p:nvPr/>
          </p:nvSpPr>
          <p:spPr bwMode="auto">
            <a:xfrm>
              <a:off x="4728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9" name="Line 16"/>
            <p:cNvSpPr>
              <a:spLocks noChangeShapeType="1"/>
            </p:cNvSpPr>
            <p:nvPr/>
          </p:nvSpPr>
          <p:spPr bwMode="auto">
            <a:xfrm>
              <a:off x="4962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0" name="Line 17"/>
            <p:cNvSpPr>
              <a:spLocks noChangeShapeType="1"/>
            </p:cNvSpPr>
            <p:nvPr/>
          </p:nvSpPr>
          <p:spPr bwMode="auto">
            <a:xfrm>
              <a:off x="5196153" y="3727407"/>
              <a:ext cx="0" cy="8075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1" name="Line 18"/>
            <p:cNvSpPr>
              <a:spLocks noChangeShapeType="1"/>
            </p:cNvSpPr>
            <p:nvPr/>
          </p:nvSpPr>
          <p:spPr bwMode="auto">
            <a:xfrm>
              <a:off x="5430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2" name="Line 19"/>
            <p:cNvSpPr>
              <a:spLocks noChangeShapeType="1"/>
            </p:cNvSpPr>
            <p:nvPr/>
          </p:nvSpPr>
          <p:spPr bwMode="auto">
            <a:xfrm>
              <a:off x="5664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3" name="Line 20"/>
            <p:cNvSpPr>
              <a:spLocks noChangeShapeType="1"/>
            </p:cNvSpPr>
            <p:nvPr/>
          </p:nvSpPr>
          <p:spPr bwMode="auto">
            <a:xfrm>
              <a:off x="5898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4" name="Line 21"/>
            <p:cNvSpPr>
              <a:spLocks noChangeShapeType="1"/>
            </p:cNvSpPr>
            <p:nvPr/>
          </p:nvSpPr>
          <p:spPr bwMode="auto">
            <a:xfrm>
              <a:off x="6132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5" name="Line 22"/>
            <p:cNvSpPr>
              <a:spLocks noChangeShapeType="1"/>
            </p:cNvSpPr>
            <p:nvPr/>
          </p:nvSpPr>
          <p:spPr bwMode="auto">
            <a:xfrm>
              <a:off x="6366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6" name="Line 23"/>
            <p:cNvSpPr>
              <a:spLocks noChangeShapeType="1"/>
            </p:cNvSpPr>
            <p:nvPr/>
          </p:nvSpPr>
          <p:spPr bwMode="auto">
            <a:xfrm>
              <a:off x="6600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7" name="Line 24"/>
            <p:cNvSpPr>
              <a:spLocks noChangeShapeType="1"/>
            </p:cNvSpPr>
            <p:nvPr/>
          </p:nvSpPr>
          <p:spPr bwMode="auto">
            <a:xfrm>
              <a:off x="6834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8" name="Line 25"/>
            <p:cNvSpPr>
              <a:spLocks noChangeShapeType="1"/>
            </p:cNvSpPr>
            <p:nvPr/>
          </p:nvSpPr>
          <p:spPr bwMode="auto">
            <a:xfrm>
              <a:off x="7068152"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30" name="Line 40"/>
            <p:cNvSpPr>
              <a:spLocks noChangeShapeType="1"/>
            </p:cNvSpPr>
            <p:nvPr/>
          </p:nvSpPr>
          <p:spPr bwMode="auto">
            <a:xfrm>
              <a:off x="1920153" y="3404402"/>
              <a:ext cx="2340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31" name="Line 41"/>
            <p:cNvSpPr>
              <a:spLocks noChangeShapeType="1"/>
            </p:cNvSpPr>
            <p:nvPr/>
          </p:nvSpPr>
          <p:spPr bwMode="auto">
            <a:xfrm>
              <a:off x="1920153" y="3000647"/>
              <a:ext cx="2340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32" name="Line 42"/>
            <p:cNvSpPr>
              <a:spLocks noChangeShapeType="1"/>
            </p:cNvSpPr>
            <p:nvPr/>
          </p:nvSpPr>
          <p:spPr bwMode="auto">
            <a:xfrm>
              <a:off x="1920153" y="2596892"/>
              <a:ext cx="2340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33" name="Line 43"/>
            <p:cNvSpPr>
              <a:spLocks noChangeShapeType="1"/>
            </p:cNvSpPr>
            <p:nvPr/>
          </p:nvSpPr>
          <p:spPr bwMode="auto">
            <a:xfrm>
              <a:off x="1920153" y="2193137"/>
              <a:ext cx="2340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34" name="Line 44"/>
            <p:cNvSpPr>
              <a:spLocks noChangeShapeType="1"/>
            </p:cNvSpPr>
            <p:nvPr/>
          </p:nvSpPr>
          <p:spPr bwMode="auto">
            <a:xfrm>
              <a:off x="1920153" y="1789382"/>
              <a:ext cx="2340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35" name="Line 45"/>
            <p:cNvSpPr>
              <a:spLocks noChangeShapeType="1"/>
            </p:cNvSpPr>
            <p:nvPr/>
          </p:nvSpPr>
          <p:spPr bwMode="auto">
            <a:xfrm>
              <a:off x="1920153" y="1385626"/>
              <a:ext cx="2340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36" name="Text Box 77"/>
            <p:cNvSpPr txBox="1">
              <a:spLocks noChangeArrowheads="1"/>
            </p:cNvSpPr>
            <p:nvPr/>
          </p:nvSpPr>
          <p:spPr bwMode="auto">
            <a:xfrm>
              <a:off x="2241903" y="3749277"/>
              <a:ext cx="3129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2</a:t>
              </a:r>
            </a:p>
          </p:txBody>
        </p:sp>
        <p:sp>
          <p:nvSpPr>
            <p:cNvPr id="237" name="Text Box 78"/>
            <p:cNvSpPr txBox="1">
              <a:spLocks noChangeArrowheads="1"/>
            </p:cNvSpPr>
            <p:nvPr/>
          </p:nvSpPr>
          <p:spPr bwMode="auto">
            <a:xfrm>
              <a:off x="2709903" y="3749277"/>
              <a:ext cx="3129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4</a:t>
              </a:r>
            </a:p>
          </p:txBody>
        </p:sp>
        <p:sp>
          <p:nvSpPr>
            <p:cNvPr id="238" name="Text Box 79"/>
            <p:cNvSpPr txBox="1">
              <a:spLocks noChangeArrowheads="1"/>
            </p:cNvSpPr>
            <p:nvPr/>
          </p:nvSpPr>
          <p:spPr bwMode="auto">
            <a:xfrm>
              <a:off x="3177903" y="3749277"/>
              <a:ext cx="3129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6</a:t>
              </a:r>
            </a:p>
          </p:txBody>
        </p:sp>
        <p:sp>
          <p:nvSpPr>
            <p:cNvPr id="239" name="Text Box 80"/>
            <p:cNvSpPr txBox="1">
              <a:spLocks noChangeArrowheads="1"/>
            </p:cNvSpPr>
            <p:nvPr/>
          </p:nvSpPr>
          <p:spPr bwMode="auto">
            <a:xfrm>
              <a:off x="3658903" y="3749277"/>
              <a:ext cx="3129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8</a:t>
              </a:r>
            </a:p>
          </p:txBody>
        </p:sp>
        <p:sp>
          <p:nvSpPr>
            <p:cNvPr id="240" name="Text Box 81"/>
            <p:cNvSpPr txBox="1">
              <a:spLocks noChangeArrowheads="1"/>
            </p:cNvSpPr>
            <p:nvPr/>
          </p:nvSpPr>
          <p:spPr bwMode="auto">
            <a:xfrm>
              <a:off x="4048903" y="3749277"/>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10</a:t>
              </a:r>
            </a:p>
          </p:txBody>
        </p:sp>
        <p:sp>
          <p:nvSpPr>
            <p:cNvPr id="241" name="Text Box 82"/>
            <p:cNvSpPr txBox="1">
              <a:spLocks noChangeArrowheads="1"/>
            </p:cNvSpPr>
            <p:nvPr/>
          </p:nvSpPr>
          <p:spPr bwMode="auto">
            <a:xfrm>
              <a:off x="4555903" y="3749277"/>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12</a:t>
              </a:r>
            </a:p>
          </p:txBody>
        </p:sp>
        <p:sp>
          <p:nvSpPr>
            <p:cNvPr id="242" name="Text Box 83"/>
            <p:cNvSpPr txBox="1">
              <a:spLocks noChangeArrowheads="1"/>
            </p:cNvSpPr>
            <p:nvPr/>
          </p:nvSpPr>
          <p:spPr bwMode="auto">
            <a:xfrm>
              <a:off x="4997903" y="3749277"/>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14</a:t>
              </a:r>
            </a:p>
          </p:txBody>
        </p:sp>
        <p:sp>
          <p:nvSpPr>
            <p:cNvPr id="243" name="Text Box 84"/>
            <p:cNvSpPr txBox="1">
              <a:spLocks noChangeArrowheads="1"/>
            </p:cNvSpPr>
            <p:nvPr/>
          </p:nvSpPr>
          <p:spPr bwMode="auto">
            <a:xfrm>
              <a:off x="5465903" y="3749277"/>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16</a:t>
              </a:r>
            </a:p>
          </p:txBody>
        </p:sp>
        <p:sp>
          <p:nvSpPr>
            <p:cNvPr id="244" name="Text Box 85"/>
            <p:cNvSpPr txBox="1">
              <a:spLocks noChangeArrowheads="1"/>
            </p:cNvSpPr>
            <p:nvPr/>
          </p:nvSpPr>
          <p:spPr bwMode="auto">
            <a:xfrm>
              <a:off x="5950153" y="3749277"/>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18</a:t>
              </a:r>
            </a:p>
          </p:txBody>
        </p:sp>
        <p:sp>
          <p:nvSpPr>
            <p:cNvPr id="245" name="Text Box 86"/>
            <p:cNvSpPr txBox="1">
              <a:spLocks noChangeArrowheads="1"/>
            </p:cNvSpPr>
            <p:nvPr/>
          </p:nvSpPr>
          <p:spPr bwMode="auto">
            <a:xfrm>
              <a:off x="6418153" y="3749277"/>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20</a:t>
              </a:r>
            </a:p>
          </p:txBody>
        </p:sp>
        <p:sp>
          <p:nvSpPr>
            <p:cNvPr id="246" name="Text Box 87"/>
            <p:cNvSpPr txBox="1">
              <a:spLocks noChangeArrowheads="1"/>
            </p:cNvSpPr>
            <p:nvPr/>
          </p:nvSpPr>
          <p:spPr bwMode="auto">
            <a:xfrm>
              <a:off x="6873153" y="3757688"/>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22</a:t>
              </a:r>
            </a:p>
          </p:txBody>
        </p:sp>
        <p:sp>
          <p:nvSpPr>
            <p:cNvPr id="247" name="Text Box 89"/>
            <p:cNvSpPr txBox="1">
              <a:spLocks noChangeArrowheads="1"/>
            </p:cNvSpPr>
            <p:nvPr/>
          </p:nvSpPr>
          <p:spPr bwMode="auto">
            <a:xfrm>
              <a:off x="1812903" y="3749277"/>
              <a:ext cx="3129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0</a:t>
              </a:r>
            </a:p>
          </p:txBody>
        </p:sp>
        <p:sp>
          <p:nvSpPr>
            <p:cNvPr id="248" name="Text Box 90"/>
            <p:cNvSpPr txBox="1">
              <a:spLocks noChangeArrowheads="1"/>
            </p:cNvSpPr>
            <p:nvPr/>
          </p:nvSpPr>
          <p:spPr bwMode="auto">
            <a:xfrm>
              <a:off x="1647153" y="3591140"/>
              <a:ext cx="3129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0</a:t>
              </a:r>
            </a:p>
          </p:txBody>
        </p:sp>
        <p:sp>
          <p:nvSpPr>
            <p:cNvPr id="250" name="Text Box 92"/>
            <p:cNvSpPr txBox="1">
              <a:spLocks noChangeArrowheads="1"/>
            </p:cNvSpPr>
            <p:nvPr/>
          </p:nvSpPr>
          <p:spPr bwMode="auto">
            <a:xfrm>
              <a:off x="1647153" y="2797088"/>
              <a:ext cx="3129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8</a:t>
              </a:r>
            </a:p>
          </p:txBody>
        </p:sp>
        <p:sp>
          <p:nvSpPr>
            <p:cNvPr id="251" name="Text Box 93"/>
            <p:cNvSpPr txBox="1">
              <a:spLocks noChangeArrowheads="1"/>
            </p:cNvSpPr>
            <p:nvPr/>
          </p:nvSpPr>
          <p:spPr bwMode="auto">
            <a:xfrm>
              <a:off x="1530153" y="2406791"/>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12</a:t>
              </a:r>
            </a:p>
          </p:txBody>
        </p:sp>
        <p:sp>
          <p:nvSpPr>
            <p:cNvPr id="252" name="Text Box 94"/>
            <p:cNvSpPr txBox="1">
              <a:spLocks noChangeArrowheads="1"/>
            </p:cNvSpPr>
            <p:nvPr/>
          </p:nvSpPr>
          <p:spPr bwMode="auto">
            <a:xfrm>
              <a:off x="1530153" y="2016494"/>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16</a:t>
              </a:r>
            </a:p>
          </p:txBody>
        </p:sp>
        <p:sp>
          <p:nvSpPr>
            <p:cNvPr id="253" name="Text Box 95"/>
            <p:cNvSpPr txBox="1">
              <a:spLocks noChangeArrowheads="1"/>
            </p:cNvSpPr>
            <p:nvPr/>
          </p:nvSpPr>
          <p:spPr bwMode="auto">
            <a:xfrm>
              <a:off x="1530153" y="1612739"/>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20</a:t>
              </a:r>
            </a:p>
          </p:txBody>
        </p:sp>
        <p:sp>
          <p:nvSpPr>
            <p:cNvPr id="254" name="Text Box 96"/>
            <p:cNvSpPr txBox="1">
              <a:spLocks noChangeArrowheads="1"/>
            </p:cNvSpPr>
            <p:nvPr/>
          </p:nvSpPr>
          <p:spPr bwMode="auto">
            <a:xfrm>
              <a:off x="1530153" y="1208984"/>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24</a:t>
              </a:r>
            </a:p>
          </p:txBody>
        </p:sp>
        <p:sp>
          <p:nvSpPr>
            <p:cNvPr id="255" name="Oval 102"/>
            <p:cNvSpPr>
              <a:spLocks noChangeArrowheads="1"/>
            </p:cNvSpPr>
            <p:nvPr/>
          </p:nvSpPr>
          <p:spPr bwMode="auto">
            <a:xfrm>
              <a:off x="2573403" y="2960272"/>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56" name="Oval 103"/>
            <p:cNvSpPr>
              <a:spLocks noChangeArrowheads="1"/>
            </p:cNvSpPr>
            <p:nvPr/>
          </p:nvSpPr>
          <p:spPr bwMode="auto">
            <a:xfrm>
              <a:off x="2339403" y="3364027"/>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57" name="Oval 104"/>
            <p:cNvSpPr>
              <a:spLocks noChangeArrowheads="1"/>
            </p:cNvSpPr>
            <p:nvPr/>
          </p:nvSpPr>
          <p:spPr bwMode="auto">
            <a:xfrm>
              <a:off x="1881153" y="3626468"/>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58" name="Oval 105"/>
            <p:cNvSpPr>
              <a:spLocks noChangeArrowheads="1"/>
            </p:cNvSpPr>
            <p:nvPr/>
          </p:nvSpPr>
          <p:spPr bwMode="auto">
            <a:xfrm>
              <a:off x="2095653" y="3555811"/>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59" name="Oval 106"/>
            <p:cNvSpPr>
              <a:spLocks noChangeArrowheads="1"/>
            </p:cNvSpPr>
            <p:nvPr/>
          </p:nvSpPr>
          <p:spPr bwMode="auto">
            <a:xfrm>
              <a:off x="2807403" y="2149397"/>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0" name="Oval 107"/>
            <p:cNvSpPr>
              <a:spLocks noChangeArrowheads="1"/>
            </p:cNvSpPr>
            <p:nvPr/>
          </p:nvSpPr>
          <p:spPr bwMode="auto">
            <a:xfrm>
              <a:off x="3041403" y="2041729"/>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1" name="Oval 108"/>
            <p:cNvSpPr>
              <a:spLocks noChangeArrowheads="1"/>
            </p:cNvSpPr>
            <p:nvPr/>
          </p:nvSpPr>
          <p:spPr bwMode="auto">
            <a:xfrm>
              <a:off x="3275403" y="1945837"/>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2" name="Oval 109"/>
            <p:cNvSpPr>
              <a:spLocks noChangeArrowheads="1"/>
            </p:cNvSpPr>
            <p:nvPr/>
          </p:nvSpPr>
          <p:spPr bwMode="auto">
            <a:xfrm>
              <a:off x="3748277" y="1743960"/>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3" name="Oval 110"/>
            <p:cNvSpPr>
              <a:spLocks noChangeArrowheads="1"/>
            </p:cNvSpPr>
            <p:nvPr/>
          </p:nvSpPr>
          <p:spPr bwMode="auto">
            <a:xfrm>
              <a:off x="3509403" y="1844898"/>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4" name="Oval 113"/>
            <p:cNvSpPr>
              <a:spLocks noChangeArrowheads="1"/>
            </p:cNvSpPr>
            <p:nvPr/>
          </p:nvSpPr>
          <p:spPr bwMode="auto">
            <a:xfrm>
              <a:off x="3982277" y="1643021"/>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5" name="Oval 114"/>
            <p:cNvSpPr>
              <a:spLocks noChangeArrowheads="1"/>
            </p:cNvSpPr>
            <p:nvPr/>
          </p:nvSpPr>
          <p:spPr bwMode="auto">
            <a:xfrm>
              <a:off x="4211403" y="1547128"/>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6" name="Oval 116"/>
            <p:cNvSpPr>
              <a:spLocks noChangeArrowheads="1"/>
            </p:cNvSpPr>
            <p:nvPr/>
          </p:nvSpPr>
          <p:spPr bwMode="auto">
            <a:xfrm>
              <a:off x="4674527" y="1330110"/>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7" name="Oval 117"/>
            <p:cNvSpPr>
              <a:spLocks noChangeArrowheads="1"/>
            </p:cNvSpPr>
            <p:nvPr/>
          </p:nvSpPr>
          <p:spPr bwMode="auto">
            <a:xfrm>
              <a:off x="4445403" y="1431049"/>
              <a:ext cx="91000" cy="94210"/>
            </a:xfrm>
            <a:prstGeom prst="ellipse">
              <a:avLst/>
            </a:prstGeom>
            <a:solidFill>
              <a:srgbClr val="0000FF"/>
            </a:solidFill>
            <a:ln w="2857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8" name="Freeform 118"/>
            <p:cNvSpPr>
              <a:spLocks/>
            </p:cNvSpPr>
            <p:nvPr/>
          </p:nvSpPr>
          <p:spPr bwMode="auto">
            <a:xfrm>
              <a:off x="1842153" y="1385626"/>
              <a:ext cx="2881124" cy="2304769"/>
            </a:xfrm>
            <a:custGeom>
              <a:avLst/>
              <a:gdLst>
                <a:gd name="T0" fmla="*/ 2147483647 w 1773"/>
                <a:gd name="T1" fmla="*/ 0 h 1370"/>
                <a:gd name="T2" fmla="*/ 2147483647 w 1773"/>
                <a:gd name="T3" fmla="*/ 2147483647 h 1370"/>
                <a:gd name="T4" fmla="*/ 2147483647 w 1773"/>
                <a:gd name="T5" fmla="*/ 2147483647 h 1370"/>
                <a:gd name="T6" fmla="*/ 2147483647 w 1773"/>
                <a:gd name="T7" fmla="*/ 2147483647 h 1370"/>
                <a:gd name="T8" fmla="*/ 2147483647 w 1773"/>
                <a:gd name="T9" fmla="*/ 2147483647 h 1370"/>
                <a:gd name="T10" fmla="*/ 2147483647 w 1773"/>
                <a:gd name="T11" fmla="*/ 2147483647 h 1370"/>
                <a:gd name="T12" fmla="*/ 0 60000 65536"/>
                <a:gd name="T13" fmla="*/ 0 60000 65536"/>
                <a:gd name="T14" fmla="*/ 0 60000 65536"/>
                <a:gd name="T15" fmla="*/ 0 60000 65536"/>
                <a:gd name="T16" fmla="*/ 0 60000 65536"/>
                <a:gd name="T17" fmla="*/ 0 60000 65536"/>
                <a:gd name="T18" fmla="*/ 0 w 1773"/>
                <a:gd name="T19" fmla="*/ 0 h 1370"/>
                <a:gd name="T20" fmla="*/ 1773 w 1773"/>
                <a:gd name="T21" fmla="*/ 1370 h 1370"/>
              </a:gdLst>
              <a:ahLst/>
              <a:cxnLst>
                <a:cxn ang="T12">
                  <a:pos x="T0" y="T1"/>
                </a:cxn>
                <a:cxn ang="T13">
                  <a:pos x="T2" y="T3"/>
                </a:cxn>
                <a:cxn ang="T14">
                  <a:pos x="T4" y="T5"/>
                </a:cxn>
                <a:cxn ang="T15">
                  <a:pos x="T6" y="T7"/>
                </a:cxn>
                <a:cxn ang="T16">
                  <a:pos x="T8" y="T9"/>
                </a:cxn>
                <a:cxn ang="T17">
                  <a:pos x="T10" y="T11"/>
                </a:cxn>
              </a:cxnLst>
              <a:rect l="T18" t="T19" r="T20" b="T21"/>
              <a:pathLst>
                <a:path w="1773" h="1370">
                  <a:moveTo>
                    <a:pt x="1773" y="0"/>
                  </a:moveTo>
                  <a:lnTo>
                    <a:pt x="618" y="487"/>
                  </a:lnTo>
                  <a:lnTo>
                    <a:pt x="480" y="961"/>
                  </a:lnTo>
                  <a:lnTo>
                    <a:pt x="331" y="1201"/>
                  </a:lnTo>
                  <a:lnTo>
                    <a:pt x="187" y="1321"/>
                  </a:lnTo>
                  <a:cubicBezTo>
                    <a:pt x="47" y="1370"/>
                    <a:pt x="0" y="1369"/>
                    <a:pt x="55" y="1369"/>
                  </a:cubicBezTo>
                </a:path>
              </a:pathLst>
            </a:custGeom>
            <a:noFill/>
            <a:ln w="28575" cmpd="sng">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9" name="Text Box 134"/>
            <p:cNvSpPr txBox="1">
              <a:spLocks noChangeArrowheads="1"/>
            </p:cNvSpPr>
            <p:nvPr/>
          </p:nvSpPr>
          <p:spPr bwMode="auto">
            <a:xfrm>
              <a:off x="8280402" y="3596186"/>
              <a:ext cx="121699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2000" b="1" i="0" u="none" strike="noStrike" kern="0" cap="none" spc="0" normalizeH="0" baseline="0" noProof="0">
                  <a:ln>
                    <a:noFill/>
                  </a:ln>
                  <a:solidFill>
                    <a:srgbClr val="000000"/>
                  </a:solidFill>
                  <a:effectLst/>
                  <a:uLnTx/>
                  <a:uFillTx/>
                  <a:latin typeface="Times New Roman" pitchFamily="18" charset="0"/>
                  <a:ea typeface="宋体" charset="-122"/>
                </a:rPr>
                <a:t>传输轮次</a:t>
              </a:r>
            </a:p>
          </p:txBody>
        </p:sp>
        <p:sp>
          <p:nvSpPr>
            <p:cNvPr id="270" name="Text Box 135"/>
            <p:cNvSpPr txBox="1">
              <a:spLocks noChangeArrowheads="1"/>
            </p:cNvSpPr>
            <p:nvPr/>
          </p:nvSpPr>
          <p:spPr bwMode="auto">
            <a:xfrm>
              <a:off x="966278" y="836711"/>
              <a:ext cx="193033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2000" b="1" i="0" u="none" strike="noStrike" kern="0" cap="none" spc="0" normalizeH="0" baseline="0" noProof="0" dirty="0">
                  <a:ln>
                    <a:noFill/>
                  </a:ln>
                  <a:solidFill>
                    <a:srgbClr val="000000"/>
                  </a:solidFill>
                  <a:effectLst/>
                  <a:uLnTx/>
                  <a:uFillTx/>
                  <a:latin typeface="Times New Roman" pitchFamily="18" charset="0"/>
                  <a:ea typeface="宋体" charset="-122"/>
                </a:rPr>
                <a:t>拥塞窗口  </a:t>
              </a:r>
              <a:r>
                <a:rPr kumimoji="1" lang="en-US" altLang="zh-CN" sz="2000" b="1" i="0" u="none" strike="noStrike" kern="0" cap="none" spc="0" normalizeH="0" baseline="0" noProof="0" dirty="0" err="1">
                  <a:ln>
                    <a:noFill/>
                  </a:ln>
                  <a:solidFill>
                    <a:srgbClr val="000000"/>
                  </a:solidFill>
                  <a:effectLst/>
                  <a:uLnTx/>
                  <a:uFillTx/>
                  <a:latin typeface="Times New Roman" pitchFamily="18" charset="0"/>
                  <a:ea typeface="宋体" charset="-122"/>
                </a:rPr>
                <a:t>cwnd</a:t>
              </a:r>
              <a:endParaRPr kumimoji="1" lang="en-US" altLang="zh-CN" sz="2000" b="1" i="0" u="none" strike="noStrike" kern="0" cap="none" spc="0" normalizeH="0" baseline="0" noProof="0" dirty="0">
                <a:ln>
                  <a:noFill/>
                </a:ln>
                <a:solidFill>
                  <a:srgbClr val="000000"/>
                </a:solidFill>
                <a:effectLst/>
                <a:uLnTx/>
                <a:uFillTx/>
                <a:latin typeface="Times New Roman" pitchFamily="18" charset="0"/>
                <a:ea typeface="宋体" charset="-122"/>
              </a:endParaRPr>
            </a:p>
          </p:txBody>
        </p:sp>
        <p:sp>
          <p:nvSpPr>
            <p:cNvPr id="271" name="Text Box 140"/>
            <p:cNvSpPr txBox="1">
              <a:spLocks noChangeArrowheads="1"/>
            </p:cNvSpPr>
            <p:nvPr/>
          </p:nvSpPr>
          <p:spPr bwMode="auto">
            <a:xfrm>
              <a:off x="7049973" y="1815231"/>
              <a:ext cx="118137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dirty="0">
                  <a:ln>
                    <a:noFill/>
                  </a:ln>
                  <a:solidFill>
                    <a:srgbClr val="FF0000"/>
                  </a:solidFill>
                  <a:effectLst/>
                  <a:uLnTx/>
                  <a:uFillTx/>
                  <a:latin typeface="Times New Roman" pitchFamily="18" charset="0"/>
                  <a:ea typeface="宋体" charset="-122"/>
                </a:rPr>
                <a:t>3-ACK</a:t>
              </a:r>
              <a:endParaRPr kumimoji="1" lang="zh-CN" altLang="en-US" sz="2000" b="1" i="0" u="none" strike="noStrike" kern="0" cap="none" spc="0" normalizeH="0" baseline="0" noProof="0" dirty="0">
                <a:ln>
                  <a:noFill/>
                </a:ln>
                <a:solidFill>
                  <a:srgbClr val="FF0000"/>
                </a:solidFill>
                <a:effectLst/>
                <a:uLnTx/>
                <a:uFillTx/>
                <a:latin typeface="Times New Roman" pitchFamily="18" charset="0"/>
                <a:ea typeface="宋体" charset="-122"/>
              </a:endParaRPr>
            </a:p>
          </p:txBody>
        </p:sp>
        <p:sp>
          <p:nvSpPr>
            <p:cNvPr id="272" name="Rectangle 160"/>
            <p:cNvSpPr>
              <a:spLocks noChangeArrowheads="1"/>
            </p:cNvSpPr>
            <p:nvPr/>
          </p:nvSpPr>
          <p:spPr bwMode="auto">
            <a:xfrm>
              <a:off x="1998153" y="1304875"/>
              <a:ext cx="195000" cy="215336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73" name="Line 156"/>
            <p:cNvSpPr>
              <a:spLocks noChangeShapeType="1"/>
            </p:cNvSpPr>
            <p:nvPr/>
          </p:nvSpPr>
          <p:spPr bwMode="auto">
            <a:xfrm>
              <a:off x="1998153" y="2193137"/>
              <a:ext cx="858000" cy="0"/>
            </a:xfrm>
            <a:prstGeom prst="line">
              <a:avLst/>
            </a:prstGeom>
            <a:noFill/>
            <a:ln w="1905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74" name="Line 146"/>
            <p:cNvSpPr>
              <a:spLocks noChangeShapeType="1"/>
            </p:cNvSpPr>
            <p:nvPr/>
          </p:nvSpPr>
          <p:spPr bwMode="auto">
            <a:xfrm flipV="1">
              <a:off x="1998153" y="1378897"/>
              <a:ext cx="2743000" cy="6729"/>
            </a:xfrm>
            <a:prstGeom prst="line">
              <a:avLst/>
            </a:prstGeom>
            <a:noFill/>
            <a:ln w="1905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75" name="Rectangle 162"/>
            <p:cNvSpPr>
              <a:spLocks noChangeArrowheads="1"/>
            </p:cNvSpPr>
            <p:nvPr/>
          </p:nvSpPr>
          <p:spPr bwMode="auto">
            <a:xfrm>
              <a:off x="5352153" y="3565904"/>
              <a:ext cx="1480374" cy="1615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77" name="Text Box 203"/>
            <p:cNvSpPr txBox="1">
              <a:spLocks noChangeArrowheads="1"/>
            </p:cNvSpPr>
            <p:nvPr/>
          </p:nvSpPr>
          <p:spPr bwMode="auto">
            <a:xfrm>
              <a:off x="8170649" y="1977696"/>
              <a:ext cx="1638589"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b="1" i="0" u="none" strike="noStrike" kern="0" cap="none" spc="0" normalizeH="0" baseline="0" noProof="0" dirty="0">
                  <a:ln>
                    <a:noFill/>
                  </a:ln>
                  <a:solidFill>
                    <a:srgbClr val="0000FF"/>
                  </a:solidFill>
                  <a:effectLst/>
                  <a:uLnTx/>
                  <a:uFillTx/>
                  <a:latin typeface="Times New Roman" pitchFamily="18" charset="0"/>
                  <a:ea typeface="宋体" charset="-122"/>
                </a:rPr>
                <a:t>TCP Reno </a:t>
              </a:r>
            </a:p>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b="1" i="0" u="none" strike="noStrike" kern="0" cap="none" spc="0" normalizeH="0" baseline="0" noProof="0" dirty="0">
                  <a:ln>
                    <a:noFill/>
                  </a:ln>
                  <a:solidFill>
                    <a:srgbClr val="0000FF"/>
                  </a:solidFill>
                  <a:effectLst/>
                  <a:uLnTx/>
                  <a:uFillTx/>
                  <a:latin typeface="Times New Roman" pitchFamily="18" charset="0"/>
                  <a:ea typeface="宋体" charset="-122"/>
                </a:rPr>
                <a:t>版本</a:t>
              </a:r>
            </a:p>
          </p:txBody>
        </p:sp>
        <p:sp>
          <p:nvSpPr>
            <p:cNvPr id="278" name="Text Box 205"/>
            <p:cNvSpPr txBox="1">
              <a:spLocks noChangeArrowheads="1"/>
            </p:cNvSpPr>
            <p:nvPr/>
          </p:nvSpPr>
          <p:spPr bwMode="auto">
            <a:xfrm>
              <a:off x="272479" y="1918920"/>
              <a:ext cx="128112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dirty="0" err="1">
                  <a:ln>
                    <a:noFill/>
                  </a:ln>
                  <a:solidFill>
                    <a:srgbClr val="C00000"/>
                  </a:solidFill>
                  <a:effectLst/>
                  <a:uLnTx/>
                  <a:uFillTx/>
                  <a:latin typeface="Times New Roman" pitchFamily="18" charset="0"/>
                  <a:ea typeface="宋体" charset="-122"/>
                </a:rPr>
                <a:t>ssthresh</a:t>
              </a:r>
              <a:endParaRPr kumimoji="1" lang="en-US" altLang="zh-CN" sz="2000" b="1" i="0" u="none" strike="noStrike" kern="0" cap="none" spc="0" normalizeH="0" baseline="0" noProof="0" dirty="0">
                <a:ln>
                  <a:noFill/>
                </a:ln>
                <a:solidFill>
                  <a:srgbClr val="C00000"/>
                </a:solidFill>
                <a:effectLst/>
                <a:uLnTx/>
                <a:uFillTx/>
                <a:latin typeface="Times New Roman" pitchFamily="18" charset="0"/>
                <a:ea typeface="宋体" charset="-122"/>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2000" b="1" i="0" u="none" strike="noStrike" kern="0" cap="none" spc="0" normalizeH="0" baseline="0" noProof="0" dirty="0">
                  <a:ln>
                    <a:noFill/>
                  </a:ln>
                  <a:solidFill>
                    <a:srgbClr val="C00000"/>
                  </a:solidFill>
                  <a:effectLst/>
                  <a:uLnTx/>
                  <a:uFillTx/>
                  <a:latin typeface="Times New Roman" pitchFamily="18" charset="0"/>
                  <a:ea typeface="宋体" charset="-122"/>
                </a:rPr>
                <a:t> 的初始值</a:t>
              </a:r>
            </a:p>
          </p:txBody>
        </p:sp>
        <p:sp>
          <p:nvSpPr>
            <p:cNvPr id="280" name="Line 215"/>
            <p:cNvSpPr>
              <a:spLocks noChangeShapeType="1"/>
            </p:cNvSpPr>
            <p:nvPr/>
          </p:nvSpPr>
          <p:spPr bwMode="auto">
            <a:xfrm flipV="1">
              <a:off x="1413153" y="2223418"/>
              <a:ext cx="219374" cy="0"/>
            </a:xfrm>
            <a:prstGeom prst="line">
              <a:avLst/>
            </a:prstGeom>
            <a:noFill/>
            <a:ln w="19050">
              <a:solidFill>
                <a:srgbClr val="C00000"/>
              </a:solidFill>
              <a:round/>
              <a:headEnd/>
              <a:tailEnd type="triangle" w="sm"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81" name="Text Box 206"/>
            <p:cNvSpPr txBox="1">
              <a:spLocks noChangeArrowheads="1"/>
            </p:cNvSpPr>
            <p:nvPr/>
          </p:nvSpPr>
          <p:spPr bwMode="auto">
            <a:xfrm rot="20245475">
              <a:off x="6948778" y="2393474"/>
              <a:ext cx="121699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2000" b="1" i="0" u="none" strike="noStrike" kern="0" cap="none" spc="0" normalizeH="0" baseline="0" noProof="0">
                  <a:ln>
                    <a:noFill/>
                  </a:ln>
                  <a:solidFill>
                    <a:srgbClr val="000000"/>
                  </a:solidFill>
                  <a:effectLst/>
                  <a:uLnTx/>
                  <a:uFillTx/>
                  <a:latin typeface="Times New Roman" pitchFamily="18" charset="0"/>
                  <a:ea typeface="宋体" charset="-122"/>
                </a:rPr>
                <a:t>拥塞避免</a:t>
              </a:r>
            </a:p>
          </p:txBody>
        </p:sp>
        <p:sp>
          <p:nvSpPr>
            <p:cNvPr id="282" name="Oval 125"/>
            <p:cNvSpPr>
              <a:spLocks noChangeArrowheads="1"/>
            </p:cNvSpPr>
            <p:nvPr/>
          </p:nvSpPr>
          <p:spPr bwMode="auto">
            <a:xfrm>
              <a:off x="5147403" y="3540670"/>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83" name="Oval 126"/>
            <p:cNvSpPr>
              <a:spLocks noChangeArrowheads="1"/>
            </p:cNvSpPr>
            <p:nvPr/>
          </p:nvSpPr>
          <p:spPr bwMode="auto">
            <a:xfrm>
              <a:off x="5383027" y="3343839"/>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84" name="Oval 127"/>
            <p:cNvSpPr>
              <a:spLocks noChangeArrowheads="1"/>
            </p:cNvSpPr>
            <p:nvPr/>
          </p:nvSpPr>
          <p:spPr bwMode="auto">
            <a:xfrm>
              <a:off x="4903653" y="3616374"/>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85" name="Oval 128"/>
            <p:cNvSpPr>
              <a:spLocks noChangeArrowheads="1"/>
            </p:cNvSpPr>
            <p:nvPr/>
          </p:nvSpPr>
          <p:spPr bwMode="auto">
            <a:xfrm>
              <a:off x="5623527" y="2953542"/>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86" name="Oval 129"/>
            <p:cNvSpPr>
              <a:spLocks noChangeArrowheads="1"/>
            </p:cNvSpPr>
            <p:nvPr/>
          </p:nvSpPr>
          <p:spPr bwMode="auto">
            <a:xfrm>
              <a:off x="6106153" y="2440437"/>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87" name="Oval 130"/>
            <p:cNvSpPr>
              <a:spLocks noChangeArrowheads="1"/>
            </p:cNvSpPr>
            <p:nvPr/>
          </p:nvSpPr>
          <p:spPr bwMode="auto">
            <a:xfrm>
              <a:off x="6795153" y="2147715"/>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88" name="Oval 131"/>
            <p:cNvSpPr>
              <a:spLocks noChangeArrowheads="1"/>
            </p:cNvSpPr>
            <p:nvPr/>
          </p:nvSpPr>
          <p:spPr bwMode="auto">
            <a:xfrm>
              <a:off x="6335277" y="2334451"/>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89" name="Oval 132"/>
            <p:cNvSpPr>
              <a:spLocks noChangeArrowheads="1"/>
            </p:cNvSpPr>
            <p:nvPr/>
          </p:nvSpPr>
          <p:spPr bwMode="auto">
            <a:xfrm>
              <a:off x="6569277" y="2238560"/>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90" name="Line 147"/>
            <p:cNvSpPr>
              <a:spLocks noChangeShapeType="1"/>
            </p:cNvSpPr>
            <p:nvPr/>
          </p:nvSpPr>
          <p:spPr bwMode="auto">
            <a:xfrm rot="10800000">
              <a:off x="2016028" y="2595210"/>
              <a:ext cx="4134000" cy="0"/>
            </a:xfrm>
            <a:prstGeom prst="line">
              <a:avLst/>
            </a:prstGeom>
            <a:noFill/>
            <a:ln w="1905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cxnSp>
          <p:nvCxnSpPr>
            <p:cNvPr id="291" name="直接连接符 115"/>
            <p:cNvCxnSpPr>
              <a:cxnSpLocks noChangeShapeType="1"/>
            </p:cNvCxnSpPr>
            <p:nvPr/>
          </p:nvCxnSpPr>
          <p:spPr bwMode="auto">
            <a:xfrm>
              <a:off x="4728153" y="1375532"/>
              <a:ext cx="234000" cy="2266077"/>
            </a:xfrm>
            <a:prstGeom prst="line">
              <a:avLst/>
            </a:prstGeom>
            <a:noFill/>
            <a:ln w="28575" algn="ctr">
              <a:solidFill>
                <a:srgbClr val="0000FF"/>
              </a:solidFill>
              <a:round/>
              <a:headEnd/>
              <a:tailEnd/>
            </a:ln>
            <a:extLst>
              <a:ext uri="{909E8E84-426E-40DD-AFC4-6F175D3DCCD1}">
                <a14:hiddenFill xmlns:a14="http://schemas.microsoft.com/office/drawing/2010/main">
                  <a:noFill/>
                </a14:hiddenFill>
              </a:ext>
            </a:extLst>
          </p:spPr>
        </p:cxnSp>
        <p:sp>
          <p:nvSpPr>
            <p:cNvPr id="293" name="Rectangle 161"/>
            <p:cNvSpPr>
              <a:spLocks noChangeArrowheads="1"/>
            </p:cNvSpPr>
            <p:nvPr/>
          </p:nvSpPr>
          <p:spPr bwMode="auto">
            <a:xfrm>
              <a:off x="2555757" y="1801158"/>
              <a:ext cx="442000" cy="3684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800" b="1" i="0" u="none" strike="noStrike" kern="0" cap="none" spc="0" normalizeH="0" baseline="0" noProof="0" dirty="0">
                  <a:ln>
                    <a:noFill/>
                  </a:ln>
                  <a:solidFill>
                    <a:sysClr val="windowText" lastClr="000000"/>
                  </a:solidFill>
                  <a:effectLst/>
                  <a:uLnTx/>
                  <a:uFillTx/>
                  <a:sym typeface="Wingdings" pitchFamily="2" charset="2"/>
                </a:rPr>
                <a:t></a:t>
              </a:r>
              <a:endParaRPr kumimoji="0" lang="zh-CN" altLang="en-US" sz="2800" b="1" i="0" u="none" strike="noStrike" kern="0" cap="none" spc="0" normalizeH="0" baseline="0" noProof="0" dirty="0">
                <a:ln>
                  <a:noFill/>
                </a:ln>
                <a:solidFill>
                  <a:sysClr val="windowText" lastClr="000000"/>
                </a:solidFill>
                <a:effectLst/>
                <a:uLnTx/>
                <a:uFillTx/>
              </a:endParaRPr>
            </a:p>
          </p:txBody>
        </p:sp>
        <p:sp>
          <p:nvSpPr>
            <p:cNvPr id="294" name="Oval 129"/>
            <p:cNvSpPr>
              <a:spLocks noChangeArrowheads="1"/>
            </p:cNvSpPr>
            <p:nvPr/>
          </p:nvSpPr>
          <p:spPr bwMode="auto">
            <a:xfrm>
              <a:off x="5868903" y="2549787"/>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95" name="任意多边形 134"/>
            <p:cNvSpPr>
              <a:spLocks/>
            </p:cNvSpPr>
            <p:nvPr/>
          </p:nvSpPr>
          <p:spPr bwMode="auto">
            <a:xfrm>
              <a:off x="4952403" y="2181361"/>
              <a:ext cx="1906124" cy="1485482"/>
            </a:xfrm>
            <a:custGeom>
              <a:avLst/>
              <a:gdLst>
                <a:gd name="T0" fmla="*/ 0 w 1929384"/>
                <a:gd name="T1" fmla="*/ 1404281 h 1426464"/>
                <a:gd name="T2" fmla="*/ 224888 w 1929384"/>
                <a:gd name="T3" fmla="*/ 1336767 h 1426464"/>
                <a:gd name="T4" fmla="*/ 445365 w 1929384"/>
                <a:gd name="T5" fmla="*/ 1152231 h 1426464"/>
                <a:gd name="T6" fmla="*/ 903959 w 1929384"/>
                <a:gd name="T7" fmla="*/ 409583 h 1426464"/>
                <a:gd name="T8" fmla="*/ 1860836 w 1929384"/>
                <a:gd name="T9" fmla="*/ 0 h 1426464"/>
                <a:gd name="T10" fmla="*/ 0 60000 65536"/>
                <a:gd name="T11" fmla="*/ 0 60000 65536"/>
                <a:gd name="T12" fmla="*/ 0 60000 65536"/>
                <a:gd name="T13" fmla="*/ 0 60000 65536"/>
                <a:gd name="T14" fmla="*/ 0 60000 65536"/>
                <a:gd name="T15" fmla="*/ 0 w 1929384"/>
                <a:gd name="T16" fmla="*/ 0 h 1426464"/>
                <a:gd name="T17" fmla="*/ 1929384 w 1929384"/>
                <a:gd name="T18" fmla="*/ 1426464 h 1426464"/>
              </a:gdLst>
              <a:ahLst/>
              <a:cxnLst>
                <a:cxn ang="T10">
                  <a:pos x="T0" y="T1"/>
                </a:cxn>
                <a:cxn ang="T11">
                  <a:pos x="T2" y="T3"/>
                </a:cxn>
                <a:cxn ang="T12">
                  <a:pos x="T4" y="T5"/>
                </a:cxn>
                <a:cxn ang="T13">
                  <a:pos x="T6" y="T7"/>
                </a:cxn>
                <a:cxn ang="T14">
                  <a:pos x="T8" y="T9"/>
                </a:cxn>
              </a:cxnLst>
              <a:rect l="T15" t="T16" r="T17" b="T18"/>
              <a:pathLst>
                <a:path w="1929384" h="1426464">
                  <a:moveTo>
                    <a:pt x="0" y="1426464"/>
                  </a:moveTo>
                  <a:lnTo>
                    <a:pt x="233172" y="1357884"/>
                  </a:lnTo>
                  <a:lnTo>
                    <a:pt x="461772" y="1170432"/>
                  </a:lnTo>
                  <a:lnTo>
                    <a:pt x="937260" y="416052"/>
                  </a:lnTo>
                  <a:lnTo>
                    <a:pt x="1929384" y="0"/>
                  </a:lnTo>
                </a:path>
              </a:pathLst>
            </a:custGeom>
            <a:noFill/>
            <a:ln w="28575" cap="flat" cmpd="sng" algn="ctr">
              <a:solidFill>
                <a:srgbClr val="0000FF"/>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96" name="Rectangle 161"/>
            <p:cNvSpPr>
              <a:spLocks noChangeArrowheads="1"/>
            </p:cNvSpPr>
            <p:nvPr/>
          </p:nvSpPr>
          <p:spPr bwMode="auto">
            <a:xfrm>
              <a:off x="4545899" y="1021117"/>
              <a:ext cx="367250" cy="30618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800" b="1" i="0" u="none" strike="noStrike" kern="0" cap="none" spc="0" normalizeH="0" baseline="0" noProof="0" dirty="0">
                  <a:ln>
                    <a:noFill/>
                  </a:ln>
                  <a:solidFill>
                    <a:sysClr val="windowText" lastClr="000000"/>
                  </a:solidFill>
                  <a:effectLst/>
                  <a:uLnTx/>
                  <a:uFillTx/>
                  <a:sym typeface="Wingdings" pitchFamily="2" charset="2"/>
                </a:rPr>
                <a:t></a:t>
              </a:r>
              <a:endParaRPr kumimoji="0" lang="zh-CN" altLang="en-US" sz="2800" b="1" i="0" u="none" strike="noStrike" kern="0" cap="none" spc="0" normalizeH="0" baseline="0" noProof="0" dirty="0">
                <a:ln>
                  <a:noFill/>
                </a:ln>
                <a:solidFill>
                  <a:sysClr val="windowText" lastClr="000000"/>
                </a:solidFill>
                <a:effectLst/>
                <a:uLnTx/>
                <a:uFillTx/>
              </a:endParaRPr>
            </a:p>
          </p:txBody>
        </p:sp>
        <p:cxnSp>
          <p:nvCxnSpPr>
            <p:cNvPr id="297" name="直接连接符 119"/>
            <p:cNvCxnSpPr>
              <a:cxnSpLocks noChangeShapeType="1"/>
            </p:cNvCxnSpPr>
            <p:nvPr/>
          </p:nvCxnSpPr>
          <p:spPr bwMode="auto">
            <a:xfrm flipH="1">
              <a:off x="7064902" y="3022518"/>
              <a:ext cx="1624" cy="694795"/>
            </a:xfrm>
            <a:prstGeom prst="line">
              <a:avLst/>
            </a:prstGeom>
            <a:noFill/>
            <a:ln w="19050" algn="ctr">
              <a:solidFill>
                <a:srgbClr val="000000"/>
              </a:solidFill>
              <a:prstDash val="dash"/>
              <a:round/>
              <a:headEnd/>
              <a:tailEnd/>
            </a:ln>
          </p:spPr>
        </p:cxnSp>
        <p:cxnSp>
          <p:nvCxnSpPr>
            <p:cNvPr id="298" name="直接连接符 121"/>
            <p:cNvCxnSpPr>
              <a:cxnSpLocks noChangeShapeType="1"/>
            </p:cNvCxnSpPr>
            <p:nvPr/>
          </p:nvCxnSpPr>
          <p:spPr bwMode="auto">
            <a:xfrm>
              <a:off x="2032278" y="3005695"/>
              <a:ext cx="5676125" cy="0"/>
            </a:xfrm>
            <a:prstGeom prst="line">
              <a:avLst/>
            </a:prstGeom>
            <a:noFill/>
            <a:ln w="19050" algn="ctr">
              <a:solidFill>
                <a:srgbClr val="000000"/>
              </a:solidFill>
              <a:prstDash val="dash"/>
              <a:round/>
              <a:headEnd/>
              <a:tailEnd/>
            </a:ln>
          </p:spPr>
        </p:cxnSp>
        <p:sp>
          <p:nvSpPr>
            <p:cNvPr id="299" name="Oval 130"/>
            <p:cNvSpPr>
              <a:spLocks noChangeArrowheads="1"/>
            </p:cNvSpPr>
            <p:nvPr/>
          </p:nvSpPr>
          <p:spPr bwMode="auto">
            <a:xfrm>
              <a:off x="7021027" y="2961955"/>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300" name="Line 24"/>
            <p:cNvSpPr>
              <a:spLocks noChangeShapeType="1"/>
            </p:cNvSpPr>
            <p:nvPr/>
          </p:nvSpPr>
          <p:spPr bwMode="auto">
            <a:xfrm>
              <a:off x="7532902" y="363992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301" name="Line 22"/>
            <p:cNvSpPr>
              <a:spLocks noChangeShapeType="1"/>
            </p:cNvSpPr>
            <p:nvPr/>
          </p:nvSpPr>
          <p:spPr bwMode="auto">
            <a:xfrm>
              <a:off x="7295652" y="3644974"/>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302" name="Text Box 87"/>
            <p:cNvSpPr txBox="1">
              <a:spLocks noChangeArrowheads="1"/>
            </p:cNvSpPr>
            <p:nvPr/>
          </p:nvSpPr>
          <p:spPr bwMode="auto">
            <a:xfrm>
              <a:off x="7311902" y="3754324"/>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24</a:t>
              </a:r>
            </a:p>
          </p:txBody>
        </p:sp>
        <p:sp>
          <p:nvSpPr>
            <p:cNvPr id="303" name="Line 22"/>
            <p:cNvSpPr>
              <a:spLocks noChangeShapeType="1"/>
            </p:cNvSpPr>
            <p:nvPr/>
          </p:nvSpPr>
          <p:spPr bwMode="auto">
            <a:xfrm>
              <a:off x="7776652" y="3653385"/>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cxnSp>
          <p:nvCxnSpPr>
            <p:cNvPr id="304" name="直接连接符 134"/>
            <p:cNvCxnSpPr>
              <a:cxnSpLocks noChangeShapeType="1"/>
              <a:stCxn id="295" idx="4"/>
              <a:endCxn id="299" idx="3"/>
            </p:cNvCxnSpPr>
            <p:nvPr/>
          </p:nvCxnSpPr>
          <p:spPr bwMode="auto">
            <a:xfrm>
              <a:off x="6856903" y="2181361"/>
              <a:ext cx="204750" cy="832745"/>
            </a:xfrm>
            <a:prstGeom prst="line">
              <a:avLst/>
            </a:prstGeom>
            <a:noFill/>
            <a:ln w="28575" algn="ctr">
              <a:solidFill>
                <a:srgbClr val="0000FF"/>
              </a:solidFill>
              <a:round/>
              <a:headEnd/>
              <a:tailEnd/>
            </a:ln>
          </p:spPr>
        </p:cxnSp>
        <p:sp>
          <p:nvSpPr>
            <p:cNvPr id="305" name="Text Box 206"/>
            <p:cNvSpPr txBox="1">
              <a:spLocks noChangeArrowheads="1"/>
            </p:cNvSpPr>
            <p:nvPr/>
          </p:nvSpPr>
          <p:spPr bwMode="auto">
            <a:xfrm rot="20070649">
              <a:off x="5809549" y="2010746"/>
              <a:ext cx="111440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800" b="1" i="0" u="none" strike="noStrike" kern="0" cap="none" spc="0" normalizeH="0" baseline="0" noProof="0" dirty="0">
                  <a:ln>
                    <a:noFill/>
                  </a:ln>
                  <a:solidFill>
                    <a:srgbClr val="000000"/>
                  </a:solidFill>
                  <a:effectLst/>
                  <a:uLnTx/>
                  <a:uFillTx/>
                  <a:latin typeface="Times New Roman" pitchFamily="18" charset="0"/>
                  <a:ea typeface="宋体" charset="-122"/>
                </a:rPr>
                <a:t>拥塞避免</a:t>
              </a:r>
            </a:p>
          </p:txBody>
        </p:sp>
        <p:sp>
          <p:nvSpPr>
            <p:cNvPr id="306" name="Text Box 206"/>
            <p:cNvSpPr txBox="1">
              <a:spLocks noChangeArrowheads="1"/>
            </p:cNvSpPr>
            <p:nvPr/>
          </p:nvSpPr>
          <p:spPr bwMode="auto">
            <a:xfrm rot="20205303">
              <a:off x="2990278" y="1471566"/>
              <a:ext cx="121699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2000" b="1" i="0" u="none" strike="noStrike" kern="0" cap="none" spc="0" normalizeH="0" baseline="0" noProof="0">
                  <a:ln>
                    <a:noFill/>
                  </a:ln>
                  <a:solidFill>
                    <a:srgbClr val="000000"/>
                  </a:solidFill>
                  <a:effectLst/>
                  <a:uLnTx/>
                  <a:uFillTx/>
                  <a:latin typeface="Times New Roman" pitchFamily="18" charset="0"/>
                  <a:ea typeface="宋体" charset="-122"/>
                </a:rPr>
                <a:t>拥塞避免</a:t>
              </a:r>
            </a:p>
          </p:txBody>
        </p:sp>
        <p:sp>
          <p:nvSpPr>
            <p:cNvPr id="307" name="TextBox 147"/>
            <p:cNvSpPr txBox="1">
              <a:spLocks noChangeArrowheads="1"/>
            </p:cNvSpPr>
            <p:nvPr/>
          </p:nvSpPr>
          <p:spPr bwMode="auto">
            <a:xfrm>
              <a:off x="5542277" y="2191455"/>
              <a:ext cx="50526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2800" b="1" i="0" u="none" strike="noStrike" kern="0" cap="none" spc="0" normalizeH="0" baseline="0" noProof="0" dirty="0">
                  <a:ln>
                    <a:noFill/>
                  </a:ln>
                  <a:solidFill>
                    <a:srgbClr val="000000"/>
                  </a:solidFill>
                  <a:effectLst/>
                  <a:uLnTx/>
                  <a:uFillTx/>
                  <a:latin typeface="Times New Roman" pitchFamily="18" charset="0"/>
                  <a:ea typeface="宋体" charset="-122"/>
                  <a:sym typeface="Wingdings" pitchFamily="2" charset="2"/>
                </a:rPr>
                <a:t></a:t>
              </a:r>
              <a:endParaRPr kumimoji="1" lang="zh-CN" altLang="en-US" sz="2800" b="1" i="0" u="none" strike="noStrike" kern="0" cap="none" spc="0" normalizeH="0" baseline="0" noProof="0" dirty="0">
                <a:ln>
                  <a:noFill/>
                </a:ln>
                <a:solidFill>
                  <a:srgbClr val="000000"/>
                </a:solidFill>
                <a:effectLst/>
                <a:uLnTx/>
                <a:uFillTx/>
                <a:latin typeface="Times New Roman" pitchFamily="18" charset="0"/>
                <a:ea typeface="宋体" charset="-122"/>
              </a:endParaRPr>
            </a:p>
          </p:txBody>
        </p:sp>
        <p:sp>
          <p:nvSpPr>
            <p:cNvPr id="308" name="矩形 150"/>
            <p:cNvSpPr>
              <a:spLocks noChangeArrowheads="1"/>
            </p:cNvSpPr>
            <p:nvPr/>
          </p:nvSpPr>
          <p:spPr bwMode="auto">
            <a:xfrm>
              <a:off x="2298778" y="3596186"/>
              <a:ext cx="2575625" cy="126174"/>
            </a:xfrm>
            <a:prstGeom prst="rect">
              <a:avLst/>
            </a:prstGeom>
            <a:solidFill>
              <a:srgbClr val="FFFFFF"/>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309" name="TextBox 148"/>
            <p:cNvSpPr txBox="1">
              <a:spLocks noChangeArrowheads="1"/>
            </p:cNvSpPr>
            <p:nvPr/>
          </p:nvSpPr>
          <p:spPr bwMode="auto">
            <a:xfrm>
              <a:off x="6720403" y="1765829"/>
              <a:ext cx="50526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2800" b="1" i="0" u="none" strike="noStrike" kern="0" cap="none" spc="0" normalizeH="0" baseline="0" noProof="0">
                  <a:ln>
                    <a:noFill/>
                  </a:ln>
                  <a:solidFill>
                    <a:srgbClr val="000000"/>
                  </a:solidFill>
                  <a:effectLst/>
                  <a:uLnTx/>
                  <a:uFillTx/>
                  <a:latin typeface="Times New Roman" pitchFamily="18" charset="0"/>
                  <a:ea typeface="宋体" charset="-122"/>
                  <a:sym typeface="Wingdings" pitchFamily="2" charset="2"/>
                </a:rPr>
                <a:t></a:t>
              </a:r>
              <a:endParaRPr kumimoji="1" lang="zh-CN" altLang="en-US" sz="2800" b="1" i="0" u="none" strike="noStrike" kern="0" cap="none" spc="0" normalizeH="0" baseline="0" noProof="0">
                <a:ln>
                  <a:noFill/>
                </a:ln>
                <a:solidFill>
                  <a:srgbClr val="000000"/>
                </a:solidFill>
                <a:effectLst/>
                <a:uLnTx/>
                <a:uFillTx/>
                <a:latin typeface="Times New Roman" pitchFamily="18" charset="0"/>
                <a:ea typeface="宋体" charset="-122"/>
              </a:endParaRPr>
            </a:p>
          </p:txBody>
        </p:sp>
        <p:sp>
          <p:nvSpPr>
            <p:cNvPr id="311" name="矩形 151"/>
            <p:cNvSpPr>
              <a:spLocks noChangeArrowheads="1"/>
            </p:cNvSpPr>
            <p:nvPr/>
          </p:nvSpPr>
          <p:spPr bwMode="auto">
            <a:xfrm>
              <a:off x="7237152" y="3596186"/>
              <a:ext cx="607750" cy="114397"/>
            </a:xfrm>
            <a:prstGeom prst="rect">
              <a:avLst/>
            </a:prstGeom>
            <a:solidFill>
              <a:srgbClr val="FFFFFF"/>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cxnSp>
          <p:nvCxnSpPr>
            <p:cNvPr id="312" name="直接连接符 153"/>
            <p:cNvCxnSpPr>
              <a:cxnSpLocks noChangeShapeType="1"/>
            </p:cNvCxnSpPr>
            <p:nvPr/>
          </p:nvCxnSpPr>
          <p:spPr bwMode="auto">
            <a:xfrm flipV="1">
              <a:off x="5903027" y="2630538"/>
              <a:ext cx="11376" cy="1043034"/>
            </a:xfrm>
            <a:prstGeom prst="line">
              <a:avLst/>
            </a:prstGeom>
            <a:noFill/>
            <a:ln w="19050" algn="ctr">
              <a:solidFill>
                <a:srgbClr val="000000"/>
              </a:solidFill>
              <a:prstDash val="dash"/>
              <a:round/>
              <a:headEnd/>
              <a:tailEnd/>
            </a:ln>
          </p:spPr>
        </p:cxnSp>
        <p:cxnSp>
          <p:nvCxnSpPr>
            <p:cNvPr id="313" name="直接连接符 157"/>
            <p:cNvCxnSpPr>
              <a:cxnSpLocks noChangeShapeType="1"/>
            </p:cNvCxnSpPr>
            <p:nvPr/>
          </p:nvCxnSpPr>
          <p:spPr bwMode="auto">
            <a:xfrm flipV="1">
              <a:off x="6832527" y="2253700"/>
              <a:ext cx="11376" cy="1520811"/>
            </a:xfrm>
            <a:prstGeom prst="line">
              <a:avLst/>
            </a:prstGeom>
            <a:noFill/>
            <a:ln w="19050" algn="ctr">
              <a:solidFill>
                <a:srgbClr val="000000"/>
              </a:solidFill>
              <a:prstDash val="dash"/>
              <a:round/>
              <a:headEnd/>
              <a:tailEnd/>
            </a:ln>
          </p:spPr>
        </p:cxnSp>
        <p:cxnSp>
          <p:nvCxnSpPr>
            <p:cNvPr id="314" name="直接连接符 141"/>
            <p:cNvCxnSpPr>
              <a:cxnSpLocks noChangeShapeType="1"/>
            </p:cNvCxnSpPr>
            <p:nvPr/>
          </p:nvCxnSpPr>
          <p:spPr bwMode="auto">
            <a:xfrm flipV="1">
              <a:off x="7001527" y="2475765"/>
              <a:ext cx="1248000" cy="560211"/>
            </a:xfrm>
            <a:prstGeom prst="line">
              <a:avLst/>
            </a:prstGeom>
            <a:noFill/>
            <a:ln w="28575" algn="ctr">
              <a:solidFill>
                <a:srgbClr val="0000FF"/>
              </a:solidFill>
              <a:round/>
              <a:headEnd/>
              <a:tailEnd/>
            </a:ln>
          </p:spPr>
        </p:cxnSp>
        <p:sp>
          <p:nvSpPr>
            <p:cNvPr id="315" name="Oval 202"/>
            <p:cNvSpPr>
              <a:spLocks noChangeArrowheads="1"/>
            </p:cNvSpPr>
            <p:nvPr/>
          </p:nvSpPr>
          <p:spPr bwMode="auto">
            <a:xfrm>
              <a:off x="7724652" y="2655773"/>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316" name="Oval 130"/>
            <p:cNvSpPr>
              <a:spLocks noChangeArrowheads="1"/>
            </p:cNvSpPr>
            <p:nvPr/>
          </p:nvSpPr>
          <p:spPr bwMode="auto">
            <a:xfrm>
              <a:off x="7251777" y="2855968"/>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317" name="Oval 130"/>
            <p:cNvSpPr>
              <a:spLocks noChangeArrowheads="1"/>
            </p:cNvSpPr>
            <p:nvPr/>
          </p:nvSpPr>
          <p:spPr bwMode="auto">
            <a:xfrm>
              <a:off x="7490652" y="2758394"/>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318" name="TextBox 149"/>
            <p:cNvSpPr txBox="1">
              <a:spLocks noChangeArrowheads="1"/>
            </p:cNvSpPr>
            <p:nvPr/>
          </p:nvSpPr>
          <p:spPr bwMode="auto">
            <a:xfrm>
              <a:off x="6795153" y="2987189"/>
              <a:ext cx="50526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2800" b="1" i="0" u="none" strike="noStrike" kern="0" cap="none" spc="0" normalizeH="0" baseline="0" noProof="0" dirty="0">
                  <a:ln>
                    <a:noFill/>
                  </a:ln>
                  <a:solidFill>
                    <a:srgbClr val="000000"/>
                  </a:solidFill>
                  <a:effectLst/>
                  <a:uLnTx/>
                  <a:uFillTx/>
                  <a:latin typeface="Times New Roman" pitchFamily="18" charset="0"/>
                  <a:ea typeface="宋体" charset="-122"/>
                  <a:sym typeface="Wingdings" pitchFamily="2" charset="2"/>
                </a:rPr>
                <a:t></a:t>
              </a:r>
              <a:endParaRPr kumimoji="1" lang="zh-CN" altLang="en-US" sz="2800" b="1" i="0" u="none" strike="noStrike" kern="0" cap="none" spc="0" normalizeH="0" baseline="0" noProof="0" dirty="0">
                <a:ln>
                  <a:noFill/>
                </a:ln>
                <a:solidFill>
                  <a:srgbClr val="000000"/>
                </a:solidFill>
                <a:effectLst/>
                <a:uLnTx/>
                <a:uFillTx/>
                <a:latin typeface="Times New Roman" pitchFamily="18" charset="0"/>
                <a:ea typeface="宋体" charset="-122"/>
              </a:endParaRPr>
            </a:p>
          </p:txBody>
        </p:sp>
        <p:sp>
          <p:nvSpPr>
            <p:cNvPr id="319" name="Oval 202"/>
            <p:cNvSpPr>
              <a:spLocks noChangeArrowheads="1"/>
            </p:cNvSpPr>
            <p:nvPr/>
          </p:nvSpPr>
          <p:spPr bwMode="auto">
            <a:xfrm>
              <a:off x="7966777" y="2531282"/>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cxnSp>
          <p:nvCxnSpPr>
            <p:cNvPr id="320" name="直接连接符 117"/>
            <p:cNvCxnSpPr>
              <a:cxnSpLocks noChangeShapeType="1"/>
            </p:cNvCxnSpPr>
            <p:nvPr/>
          </p:nvCxnSpPr>
          <p:spPr bwMode="auto">
            <a:xfrm flipH="1">
              <a:off x="4726527" y="1506753"/>
              <a:ext cx="4876" cy="2200466"/>
            </a:xfrm>
            <a:prstGeom prst="line">
              <a:avLst/>
            </a:prstGeom>
            <a:noFill/>
            <a:ln w="19050" algn="ctr">
              <a:solidFill>
                <a:srgbClr val="000000"/>
              </a:solidFill>
              <a:prstDash val="dash"/>
              <a:round/>
              <a:headEnd/>
              <a:tailEnd/>
            </a:ln>
            <a:extLst>
              <a:ext uri="{909E8E84-426E-40DD-AFC4-6F175D3DCCD1}">
                <a14:hiddenFill xmlns:a14="http://schemas.microsoft.com/office/drawing/2010/main">
                  <a:noFill/>
                </a14:hiddenFill>
              </a:ext>
            </a:extLst>
          </p:spPr>
        </p:cxnSp>
        <p:cxnSp>
          <p:nvCxnSpPr>
            <p:cNvPr id="321" name="直接连接符 119"/>
            <p:cNvCxnSpPr>
              <a:cxnSpLocks noChangeShapeType="1"/>
            </p:cNvCxnSpPr>
            <p:nvPr/>
          </p:nvCxnSpPr>
          <p:spPr bwMode="auto">
            <a:xfrm>
              <a:off x="2854527" y="2309217"/>
              <a:ext cx="0" cy="1384543"/>
            </a:xfrm>
            <a:prstGeom prst="line">
              <a:avLst/>
            </a:prstGeom>
            <a:noFill/>
            <a:ln w="19050" algn="ctr">
              <a:solidFill>
                <a:srgbClr val="000000"/>
              </a:solidFill>
              <a:prstDash val="dash"/>
              <a:round/>
              <a:headEnd/>
              <a:tailEnd/>
            </a:ln>
            <a:extLst>
              <a:ext uri="{909E8E84-426E-40DD-AFC4-6F175D3DCCD1}">
                <a14:hiddenFill xmlns:a14="http://schemas.microsoft.com/office/drawing/2010/main">
                  <a:noFill/>
                </a14:hiddenFill>
              </a:ext>
            </a:extLst>
          </p:spPr>
        </p:cxnSp>
        <p:sp>
          <p:nvSpPr>
            <p:cNvPr id="249" name="Text Box 91"/>
            <p:cNvSpPr txBox="1">
              <a:spLocks noChangeArrowheads="1"/>
            </p:cNvSpPr>
            <p:nvPr/>
          </p:nvSpPr>
          <p:spPr bwMode="auto">
            <a:xfrm>
              <a:off x="1647153" y="3187385"/>
              <a:ext cx="3129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dirty="0">
                  <a:ln>
                    <a:noFill/>
                  </a:ln>
                  <a:solidFill>
                    <a:srgbClr val="000000"/>
                  </a:solidFill>
                  <a:effectLst/>
                  <a:uLnTx/>
                  <a:uFillTx/>
                  <a:latin typeface="Times New Roman" pitchFamily="18" charset="0"/>
                  <a:ea typeface="宋体" charset="-122"/>
                </a:rPr>
                <a:t>4</a:t>
              </a:r>
            </a:p>
          </p:txBody>
        </p:sp>
      </p:grpSp>
      <p:sp>
        <p:nvSpPr>
          <p:cNvPr id="276" name="Line 167"/>
          <p:cNvSpPr>
            <a:spLocks noChangeShapeType="1"/>
          </p:cNvSpPr>
          <p:nvPr/>
        </p:nvSpPr>
        <p:spPr bwMode="auto">
          <a:xfrm>
            <a:off x="1632527" y="3187386"/>
            <a:ext cx="440153" cy="326776"/>
          </a:xfrm>
          <a:prstGeom prst="line">
            <a:avLst/>
          </a:prstGeom>
          <a:noFill/>
          <a:ln w="76200">
            <a:solidFill>
              <a:srgbClr val="FF0000">
                <a:alpha val="80000"/>
              </a:srgbClr>
            </a:solidFill>
            <a:round/>
            <a:headEnd type="none"/>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121" name="Text Box 5"/>
          <p:cNvSpPr txBox="1">
            <a:spLocks noChangeArrowheads="1"/>
          </p:cNvSpPr>
          <p:nvPr/>
        </p:nvSpPr>
        <p:spPr bwMode="auto">
          <a:xfrm>
            <a:off x="842391" y="4365104"/>
            <a:ext cx="8647113" cy="1815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eaLnBrk="1" hangingPunct="1"/>
            <a:r>
              <a:rPr kumimoji="0" lang="zh-CN" altLang="zh-CN" sz="2800" dirty="0">
                <a:solidFill>
                  <a:srgbClr val="000099"/>
                </a:solidFill>
                <a:latin typeface="Arial" pitchFamily="34" charset="0"/>
                <a:ea typeface="黑体" pitchFamily="2" charset="-122"/>
              </a:rPr>
              <a:t>发送方每收到一个对新报文段的确认</a:t>
            </a:r>
            <a:r>
              <a:rPr kumimoji="0" lang="en-US" altLang="zh-CN" sz="2800" dirty="0">
                <a:solidFill>
                  <a:srgbClr val="000099"/>
                </a:solidFill>
                <a:latin typeface="Arial" pitchFamily="34" charset="0"/>
                <a:ea typeface="黑体" pitchFamily="2" charset="-122"/>
              </a:rPr>
              <a:t> ACK</a:t>
            </a:r>
            <a:r>
              <a:rPr kumimoji="0" lang="zh-CN" altLang="zh-CN" sz="2800" dirty="0">
                <a:solidFill>
                  <a:srgbClr val="000099"/>
                </a:solidFill>
                <a:latin typeface="Arial" pitchFamily="34" charset="0"/>
                <a:ea typeface="黑体" pitchFamily="2" charset="-122"/>
              </a:rPr>
              <a:t>，就把拥塞窗口值加</a:t>
            </a:r>
            <a:r>
              <a:rPr kumimoji="0" lang="en-US" altLang="zh-CN" sz="2800" dirty="0">
                <a:solidFill>
                  <a:srgbClr val="000099"/>
                </a:solidFill>
                <a:latin typeface="Arial" pitchFamily="34" charset="0"/>
                <a:ea typeface="黑体" pitchFamily="2" charset="-122"/>
              </a:rPr>
              <a:t> 1</a:t>
            </a:r>
            <a:r>
              <a:rPr kumimoji="0" lang="zh-CN" altLang="zh-CN" sz="2800" dirty="0">
                <a:solidFill>
                  <a:srgbClr val="000099"/>
                </a:solidFill>
                <a:latin typeface="Arial" pitchFamily="34" charset="0"/>
                <a:ea typeface="黑体" pitchFamily="2" charset="-122"/>
              </a:rPr>
              <a:t>，然后开始下一轮的传输（请注意，横坐标是传输轮次，不是时间）。因此拥塞窗口</a:t>
            </a:r>
            <a:r>
              <a:rPr kumimoji="0" lang="en-US" altLang="zh-CN" sz="2800" dirty="0">
                <a:solidFill>
                  <a:srgbClr val="000099"/>
                </a:solidFill>
                <a:latin typeface="Arial" pitchFamily="34" charset="0"/>
                <a:ea typeface="黑体" pitchFamily="2" charset="-122"/>
              </a:rPr>
              <a:t> </a:t>
            </a:r>
            <a:r>
              <a:rPr kumimoji="0" lang="en-US" altLang="zh-CN" sz="2800" dirty="0" err="1">
                <a:solidFill>
                  <a:srgbClr val="000099"/>
                </a:solidFill>
                <a:latin typeface="Arial" pitchFamily="34" charset="0"/>
                <a:ea typeface="黑体" pitchFamily="2" charset="-122"/>
              </a:rPr>
              <a:t>cwnd</a:t>
            </a:r>
            <a:r>
              <a:rPr kumimoji="0" lang="en-US" altLang="zh-CN" sz="2800" dirty="0">
                <a:solidFill>
                  <a:srgbClr val="000099"/>
                </a:solidFill>
                <a:latin typeface="Arial" pitchFamily="34" charset="0"/>
                <a:ea typeface="黑体" pitchFamily="2" charset="-122"/>
              </a:rPr>
              <a:t> </a:t>
            </a:r>
            <a:r>
              <a:rPr kumimoji="0" lang="zh-CN" altLang="zh-CN" sz="2800" dirty="0">
                <a:solidFill>
                  <a:srgbClr val="000099"/>
                </a:solidFill>
                <a:latin typeface="Arial" pitchFamily="34" charset="0"/>
                <a:ea typeface="黑体" pitchFamily="2" charset="-122"/>
              </a:rPr>
              <a:t>随着传输轮次按指数规律增长。</a:t>
            </a:r>
            <a:endParaRPr kumimoji="0" lang="zh-CN" altLang="en-US" sz="2800" dirty="0">
              <a:solidFill>
                <a:srgbClr val="000099"/>
              </a:solidFill>
              <a:latin typeface="Arial" pitchFamily="34" charset="0"/>
              <a:ea typeface="黑体" pitchFamily="2" charset="-122"/>
            </a:endParaRPr>
          </a:p>
        </p:txBody>
      </p:sp>
    </p:spTree>
    <p:extLst>
      <p:ext uri="{BB962C8B-B14F-4D97-AF65-F5344CB8AC3E}">
        <p14:creationId xmlns:p14="http://schemas.microsoft.com/office/powerpoint/2010/main" val="318940396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 name="Rectangle 5"/>
          <p:cNvSpPr txBox="1">
            <a:spLocks noChangeArrowheads="1"/>
          </p:cNvSpPr>
          <p:nvPr/>
        </p:nvSpPr>
        <p:spPr bwMode="auto">
          <a:xfrm>
            <a:off x="417512" y="152400"/>
            <a:ext cx="91440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kumimoji="1" sz="4400" b="1">
                <a:solidFill>
                  <a:schemeClr val="tx2"/>
                </a:solidFill>
                <a:latin typeface="+mj-lt"/>
                <a:ea typeface="+mj-ea"/>
                <a:cs typeface="+mj-cs"/>
              </a:defRPr>
            </a:lvl1pPr>
            <a:lvl2pPr algn="l" rtl="0" eaLnBrk="0" fontAlgn="base" hangingPunct="0">
              <a:spcBef>
                <a:spcPct val="0"/>
              </a:spcBef>
              <a:spcAft>
                <a:spcPct val="0"/>
              </a:spcAft>
              <a:defRPr kumimoji="1" sz="4400" b="1">
                <a:solidFill>
                  <a:schemeClr val="tx2"/>
                </a:solidFill>
                <a:latin typeface="Tahoma" pitchFamily="34" charset="0"/>
                <a:ea typeface="黑体" pitchFamily="2" charset="-122"/>
              </a:defRPr>
            </a:lvl2pPr>
            <a:lvl3pPr algn="l" rtl="0" eaLnBrk="0" fontAlgn="base" hangingPunct="0">
              <a:spcBef>
                <a:spcPct val="0"/>
              </a:spcBef>
              <a:spcAft>
                <a:spcPct val="0"/>
              </a:spcAft>
              <a:defRPr kumimoji="1" sz="4400" b="1">
                <a:solidFill>
                  <a:schemeClr val="tx2"/>
                </a:solidFill>
                <a:latin typeface="Tahoma" pitchFamily="34" charset="0"/>
                <a:ea typeface="黑体" pitchFamily="2" charset="-122"/>
              </a:defRPr>
            </a:lvl3pPr>
            <a:lvl4pPr algn="l" rtl="0" eaLnBrk="0" fontAlgn="base" hangingPunct="0">
              <a:spcBef>
                <a:spcPct val="0"/>
              </a:spcBef>
              <a:spcAft>
                <a:spcPct val="0"/>
              </a:spcAft>
              <a:defRPr kumimoji="1" sz="4400" b="1">
                <a:solidFill>
                  <a:schemeClr val="tx2"/>
                </a:solidFill>
                <a:latin typeface="Tahoma" pitchFamily="34" charset="0"/>
                <a:ea typeface="黑体" pitchFamily="2" charset="-122"/>
              </a:defRPr>
            </a:lvl4pPr>
            <a:lvl5pPr algn="l" rtl="0" eaLnBrk="0" fontAlgn="base" hangingPunct="0">
              <a:spcBef>
                <a:spcPct val="0"/>
              </a:spcBef>
              <a:spcAft>
                <a:spcPct val="0"/>
              </a:spcAft>
              <a:defRPr kumimoji="1" sz="4400" b="1">
                <a:solidFill>
                  <a:schemeClr val="tx2"/>
                </a:solidFill>
                <a:latin typeface="Tahoma" pitchFamily="34" charset="0"/>
                <a:ea typeface="黑体" pitchFamily="2" charset="-122"/>
              </a:defRPr>
            </a:lvl5pPr>
            <a:lvl6pPr marL="457200" algn="l" rtl="0" fontAlgn="base">
              <a:spcBef>
                <a:spcPct val="0"/>
              </a:spcBef>
              <a:spcAft>
                <a:spcPct val="0"/>
              </a:spcAft>
              <a:defRPr kumimoji="1" sz="4400" b="1">
                <a:solidFill>
                  <a:schemeClr val="tx2"/>
                </a:solidFill>
                <a:latin typeface="Tahoma" pitchFamily="34" charset="0"/>
                <a:ea typeface="黑体" pitchFamily="2" charset="-122"/>
              </a:defRPr>
            </a:lvl6pPr>
            <a:lvl7pPr marL="914400" algn="l" rtl="0" fontAlgn="base">
              <a:spcBef>
                <a:spcPct val="0"/>
              </a:spcBef>
              <a:spcAft>
                <a:spcPct val="0"/>
              </a:spcAft>
              <a:defRPr kumimoji="1" sz="4400" b="1">
                <a:solidFill>
                  <a:schemeClr val="tx2"/>
                </a:solidFill>
                <a:latin typeface="Tahoma" pitchFamily="34" charset="0"/>
                <a:ea typeface="黑体" pitchFamily="2" charset="-122"/>
              </a:defRPr>
            </a:lvl7pPr>
            <a:lvl8pPr marL="1371600" algn="l" rtl="0" fontAlgn="base">
              <a:spcBef>
                <a:spcPct val="0"/>
              </a:spcBef>
              <a:spcAft>
                <a:spcPct val="0"/>
              </a:spcAft>
              <a:defRPr kumimoji="1" sz="4400" b="1">
                <a:solidFill>
                  <a:schemeClr val="tx2"/>
                </a:solidFill>
                <a:latin typeface="Tahoma" pitchFamily="34" charset="0"/>
                <a:ea typeface="黑体" pitchFamily="2" charset="-122"/>
              </a:defRPr>
            </a:lvl8pPr>
            <a:lvl9pPr marL="1828800" algn="l" rtl="0" fontAlgn="base">
              <a:spcBef>
                <a:spcPct val="0"/>
              </a:spcBef>
              <a:spcAft>
                <a:spcPct val="0"/>
              </a:spcAft>
              <a:defRPr kumimoji="1" sz="4400" b="1">
                <a:solidFill>
                  <a:schemeClr val="tx2"/>
                </a:solidFill>
                <a:latin typeface="Tahoma" pitchFamily="34" charset="0"/>
                <a:ea typeface="黑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3200" b="1" i="0" u="none" strike="noStrike" kern="0" cap="none" spc="0" normalizeH="0" baseline="0" noProof="0">
                <a:ln>
                  <a:noFill/>
                </a:ln>
                <a:solidFill>
                  <a:srgbClr val="333399"/>
                </a:solidFill>
                <a:effectLst/>
                <a:uLnTx/>
                <a:uFillTx/>
                <a:latin typeface="Tahoma"/>
                <a:ea typeface="黑体"/>
                <a:cs typeface="+mj-cs"/>
              </a:rPr>
              <a:t>慢开始和拥塞避免算法的实现举例 </a:t>
            </a:r>
          </a:p>
        </p:txBody>
      </p:sp>
      <p:grpSp>
        <p:nvGrpSpPr>
          <p:cNvPr id="3" name="组合 2"/>
          <p:cNvGrpSpPr/>
          <p:nvPr/>
        </p:nvGrpSpPr>
        <p:grpSpPr>
          <a:xfrm>
            <a:off x="272479" y="836711"/>
            <a:ext cx="9536759" cy="3321087"/>
            <a:chOff x="272479" y="836711"/>
            <a:chExt cx="9536759" cy="3321087"/>
          </a:xfrm>
        </p:grpSpPr>
        <p:sp>
          <p:nvSpPr>
            <p:cNvPr id="103" name="Text Box 140"/>
            <p:cNvSpPr txBox="1">
              <a:spLocks noChangeArrowheads="1"/>
            </p:cNvSpPr>
            <p:nvPr/>
          </p:nvSpPr>
          <p:spPr bwMode="auto">
            <a:xfrm>
              <a:off x="4863078" y="985683"/>
              <a:ext cx="11570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2000" b="1" i="0" u="none" strike="noStrike" kern="0" cap="none" spc="0" normalizeH="0" baseline="0" noProof="0" dirty="0">
                  <a:ln>
                    <a:noFill/>
                  </a:ln>
                  <a:solidFill>
                    <a:srgbClr val="FF0000"/>
                  </a:solidFill>
                  <a:effectLst/>
                  <a:uLnTx/>
                  <a:uFillTx/>
                  <a:latin typeface="Times New Roman" pitchFamily="18" charset="0"/>
                  <a:ea typeface="宋体" charset="-122"/>
                </a:rPr>
                <a:t>超时</a:t>
              </a:r>
            </a:p>
          </p:txBody>
        </p:sp>
        <p:sp>
          <p:nvSpPr>
            <p:cNvPr id="104" name="Line 2"/>
            <p:cNvSpPr>
              <a:spLocks noChangeShapeType="1"/>
            </p:cNvSpPr>
            <p:nvPr/>
          </p:nvSpPr>
          <p:spPr bwMode="auto">
            <a:xfrm flipV="1">
              <a:off x="1920153" y="3803111"/>
              <a:ext cx="6358624" cy="5046"/>
            </a:xfrm>
            <a:prstGeom prst="line">
              <a:avLst/>
            </a:prstGeom>
            <a:noFill/>
            <a:ln w="19050">
              <a:solidFill>
                <a:srgbClr val="000000"/>
              </a:solidFill>
              <a:round/>
              <a:headEnd/>
              <a:tail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105" name="Line 3"/>
            <p:cNvSpPr>
              <a:spLocks noChangeShapeType="1"/>
            </p:cNvSpPr>
            <p:nvPr/>
          </p:nvSpPr>
          <p:spPr bwMode="auto">
            <a:xfrm>
              <a:off x="1918528" y="1177019"/>
              <a:ext cx="1626" cy="2631138"/>
            </a:xfrm>
            <a:prstGeom prst="line">
              <a:avLst/>
            </a:prstGeom>
            <a:noFill/>
            <a:ln w="19050">
              <a:solidFill>
                <a:srgbClr val="000000"/>
              </a:solidFill>
              <a:round/>
              <a:headEnd type="triangle" w="sm" len="lg"/>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106" name="Line 4"/>
            <p:cNvSpPr>
              <a:spLocks noChangeShapeType="1"/>
            </p:cNvSpPr>
            <p:nvPr/>
          </p:nvSpPr>
          <p:spPr bwMode="auto">
            <a:xfrm>
              <a:off x="2154153" y="3727407"/>
              <a:ext cx="0" cy="8075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08" name="Line 5"/>
            <p:cNvSpPr>
              <a:spLocks noChangeShapeType="1"/>
            </p:cNvSpPr>
            <p:nvPr/>
          </p:nvSpPr>
          <p:spPr bwMode="auto">
            <a:xfrm>
              <a:off x="2388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09" name="Line 6"/>
            <p:cNvSpPr>
              <a:spLocks noChangeShapeType="1"/>
            </p:cNvSpPr>
            <p:nvPr/>
          </p:nvSpPr>
          <p:spPr bwMode="auto">
            <a:xfrm>
              <a:off x="2622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0" name="Line 7"/>
            <p:cNvSpPr>
              <a:spLocks noChangeShapeType="1"/>
            </p:cNvSpPr>
            <p:nvPr/>
          </p:nvSpPr>
          <p:spPr bwMode="auto">
            <a:xfrm>
              <a:off x="2856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1" name="Line 8"/>
            <p:cNvSpPr>
              <a:spLocks noChangeShapeType="1"/>
            </p:cNvSpPr>
            <p:nvPr/>
          </p:nvSpPr>
          <p:spPr bwMode="auto">
            <a:xfrm>
              <a:off x="3090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2" name="Line 9"/>
            <p:cNvSpPr>
              <a:spLocks noChangeShapeType="1"/>
            </p:cNvSpPr>
            <p:nvPr/>
          </p:nvSpPr>
          <p:spPr bwMode="auto">
            <a:xfrm>
              <a:off x="3324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3" name="Line 10"/>
            <p:cNvSpPr>
              <a:spLocks noChangeShapeType="1"/>
            </p:cNvSpPr>
            <p:nvPr/>
          </p:nvSpPr>
          <p:spPr bwMode="auto">
            <a:xfrm>
              <a:off x="3558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4" name="Line 11"/>
            <p:cNvSpPr>
              <a:spLocks noChangeShapeType="1"/>
            </p:cNvSpPr>
            <p:nvPr/>
          </p:nvSpPr>
          <p:spPr bwMode="auto">
            <a:xfrm>
              <a:off x="3792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5" name="Line 12"/>
            <p:cNvSpPr>
              <a:spLocks noChangeShapeType="1"/>
            </p:cNvSpPr>
            <p:nvPr/>
          </p:nvSpPr>
          <p:spPr bwMode="auto">
            <a:xfrm>
              <a:off x="4026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6" name="Line 13"/>
            <p:cNvSpPr>
              <a:spLocks noChangeShapeType="1"/>
            </p:cNvSpPr>
            <p:nvPr/>
          </p:nvSpPr>
          <p:spPr bwMode="auto">
            <a:xfrm>
              <a:off x="4260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7" name="Line 14"/>
            <p:cNvSpPr>
              <a:spLocks noChangeShapeType="1"/>
            </p:cNvSpPr>
            <p:nvPr/>
          </p:nvSpPr>
          <p:spPr bwMode="auto">
            <a:xfrm>
              <a:off x="4494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8" name="Line 15"/>
            <p:cNvSpPr>
              <a:spLocks noChangeShapeType="1"/>
            </p:cNvSpPr>
            <p:nvPr/>
          </p:nvSpPr>
          <p:spPr bwMode="auto">
            <a:xfrm>
              <a:off x="4728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9" name="Line 16"/>
            <p:cNvSpPr>
              <a:spLocks noChangeShapeType="1"/>
            </p:cNvSpPr>
            <p:nvPr/>
          </p:nvSpPr>
          <p:spPr bwMode="auto">
            <a:xfrm>
              <a:off x="4962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0" name="Line 17"/>
            <p:cNvSpPr>
              <a:spLocks noChangeShapeType="1"/>
            </p:cNvSpPr>
            <p:nvPr/>
          </p:nvSpPr>
          <p:spPr bwMode="auto">
            <a:xfrm>
              <a:off x="5196153" y="3727407"/>
              <a:ext cx="0" cy="8075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1" name="Line 18"/>
            <p:cNvSpPr>
              <a:spLocks noChangeShapeType="1"/>
            </p:cNvSpPr>
            <p:nvPr/>
          </p:nvSpPr>
          <p:spPr bwMode="auto">
            <a:xfrm>
              <a:off x="5430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2" name="Line 19"/>
            <p:cNvSpPr>
              <a:spLocks noChangeShapeType="1"/>
            </p:cNvSpPr>
            <p:nvPr/>
          </p:nvSpPr>
          <p:spPr bwMode="auto">
            <a:xfrm>
              <a:off x="5664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3" name="Line 20"/>
            <p:cNvSpPr>
              <a:spLocks noChangeShapeType="1"/>
            </p:cNvSpPr>
            <p:nvPr/>
          </p:nvSpPr>
          <p:spPr bwMode="auto">
            <a:xfrm>
              <a:off x="5898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4" name="Line 21"/>
            <p:cNvSpPr>
              <a:spLocks noChangeShapeType="1"/>
            </p:cNvSpPr>
            <p:nvPr/>
          </p:nvSpPr>
          <p:spPr bwMode="auto">
            <a:xfrm>
              <a:off x="6132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5" name="Line 22"/>
            <p:cNvSpPr>
              <a:spLocks noChangeShapeType="1"/>
            </p:cNvSpPr>
            <p:nvPr/>
          </p:nvSpPr>
          <p:spPr bwMode="auto">
            <a:xfrm>
              <a:off x="6366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6" name="Line 23"/>
            <p:cNvSpPr>
              <a:spLocks noChangeShapeType="1"/>
            </p:cNvSpPr>
            <p:nvPr/>
          </p:nvSpPr>
          <p:spPr bwMode="auto">
            <a:xfrm>
              <a:off x="6600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7" name="Line 24"/>
            <p:cNvSpPr>
              <a:spLocks noChangeShapeType="1"/>
            </p:cNvSpPr>
            <p:nvPr/>
          </p:nvSpPr>
          <p:spPr bwMode="auto">
            <a:xfrm>
              <a:off x="6834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8" name="Line 25"/>
            <p:cNvSpPr>
              <a:spLocks noChangeShapeType="1"/>
            </p:cNvSpPr>
            <p:nvPr/>
          </p:nvSpPr>
          <p:spPr bwMode="auto">
            <a:xfrm>
              <a:off x="7068152"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30" name="Line 40"/>
            <p:cNvSpPr>
              <a:spLocks noChangeShapeType="1"/>
            </p:cNvSpPr>
            <p:nvPr/>
          </p:nvSpPr>
          <p:spPr bwMode="auto">
            <a:xfrm>
              <a:off x="1920153" y="3404402"/>
              <a:ext cx="2340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31" name="Line 41"/>
            <p:cNvSpPr>
              <a:spLocks noChangeShapeType="1"/>
            </p:cNvSpPr>
            <p:nvPr/>
          </p:nvSpPr>
          <p:spPr bwMode="auto">
            <a:xfrm>
              <a:off x="1920153" y="3000647"/>
              <a:ext cx="2340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32" name="Line 42"/>
            <p:cNvSpPr>
              <a:spLocks noChangeShapeType="1"/>
            </p:cNvSpPr>
            <p:nvPr/>
          </p:nvSpPr>
          <p:spPr bwMode="auto">
            <a:xfrm>
              <a:off x="1920153" y="2596892"/>
              <a:ext cx="2340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33" name="Line 43"/>
            <p:cNvSpPr>
              <a:spLocks noChangeShapeType="1"/>
            </p:cNvSpPr>
            <p:nvPr/>
          </p:nvSpPr>
          <p:spPr bwMode="auto">
            <a:xfrm>
              <a:off x="1920153" y="2193137"/>
              <a:ext cx="2340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34" name="Line 44"/>
            <p:cNvSpPr>
              <a:spLocks noChangeShapeType="1"/>
            </p:cNvSpPr>
            <p:nvPr/>
          </p:nvSpPr>
          <p:spPr bwMode="auto">
            <a:xfrm>
              <a:off x="1920153" y="1789382"/>
              <a:ext cx="2340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35" name="Line 45"/>
            <p:cNvSpPr>
              <a:spLocks noChangeShapeType="1"/>
            </p:cNvSpPr>
            <p:nvPr/>
          </p:nvSpPr>
          <p:spPr bwMode="auto">
            <a:xfrm>
              <a:off x="1920153" y="1385626"/>
              <a:ext cx="2340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36" name="Text Box 77"/>
            <p:cNvSpPr txBox="1">
              <a:spLocks noChangeArrowheads="1"/>
            </p:cNvSpPr>
            <p:nvPr/>
          </p:nvSpPr>
          <p:spPr bwMode="auto">
            <a:xfrm>
              <a:off x="2241903" y="3749277"/>
              <a:ext cx="3129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2</a:t>
              </a:r>
            </a:p>
          </p:txBody>
        </p:sp>
        <p:sp>
          <p:nvSpPr>
            <p:cNvPr id="237" name="Text Box 78"/>
            <p:cNvSpPr txBox="1">
              <a:spLocks noChangeArrowheads="1"/>
            </p:cNvSpPr>
            <p:nvPr/>
          </p:nvSpPr>
          <p:spPr bwMode="auto">
            <a:xfrm>
              <a:off x="2709903" y="3749277"/>
              <a:ext cx="3129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4</a:t>
              </a:r>
            </a:p>
          </p:txBody>
        </p:sp>
        <p:sp>
          <p:nvSpPr>
            <p:cNvPr id="238" name="Text Box 79"/>
            <p:cNvSpPr txBox="1">
              <a:spLocks noChangeArrowheads="1"/>
            </p:cNvSpPr>
            <p:nvPr/>
          </p:nvSpPr>
          <p:spPr bwMode="auto">
            <a:xfrm>
              <a:off x="3177903" y="3749277"/>
              <a:ext cx="3129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6</a:t>
              </a:r>
            </a:p>
          </p:txBody>
        </p:sp>
        <p:sp>
          <p:nvSpPr>
            <p:cNvPr id="239" name="Text Box 80"/>
            <p:cNvSpPr txBox="1">
              <a:spLocks noChangeArrowheads="1"/>
            </p:cNvSpPr>
            <p:nvPr/>
          </p:nvSpPr>
          <p:spPr bwMode="auto">
            <a:xfrm>
              <a:off x="3658903" y="3749277"/>
              <a:ext cx="3129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8</a:t>
              </a:r>
            </a:p>
          </p:txBody>
        </p:sp>
        <p:sp>
          <p:nvSpPr>
            <p:cNvPr id="240" name="Text Box 81"/>
            <p:cNvSpPr txBox="1">
              <a:spLocks noChangeArrowheads="1"/>
            </p:cNvSpPr>
            <p:nvPr/>
          </p:nvSpPr>
          <p:spPr bwMode="auto">
            <a:xfrm>
              <a:off x="4048903" y="3749277"/>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10</a:t>
              </a:r>
            </a:p>
          </p:txBody>
        </p:sp>
        <p:sp>
          <p:nvSpPr>
            <p:cNvPr id="241" name="Text Box 82"/>
            <p:cNvSpPr txBox="1">
              <a:spLocks noChangeArrowheads="1"/>
            </p:cNvSpPr>
            <p:nvPr/>
          </p:nvSpPr>
          <p:spPr bwMode="auto">
            <a:xfrm>
              <a:off x="4555903" y="3749277"/>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12</a:t>
              </a:r>
            </a:p>
          </p:txBody>
        </p:sp>
        <p:sp>
          <p:nvSpPr>
            <p:cNvPr id="242" name="Text Box 83"/>
            <p:cNvSpPr txBox="1">
              <a:spLocks noChangeArrowheads="1"/>
            </p:cNvSpPr>
            <p:nvPr/>
          </p:nvSpPr>
          <p:spPr bwMode="auto">
            <a:xfrm>
              <a:off x="4997903" y="3749277"/>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14</a:t>
              </a:r>
            </a:p>
          </p:txBody>
        </p:sp>
        <p:sp>
          <p:nvSpPr>
            <p:cNvPr id="243" name="Text Box 84"/>
            <p:cNvSpPr txBox="1">
              <a:spLocks noChangeArrowheads="1"/>
            </p:cNvSpPr>
            <p:nvPr/>
          </p:nvSpPr>
          <p:spPr bwMode="auto">
            <a:xfrm>
              <a:off x="5465903" y="3749277"/>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16</a:t>
              </a:r>
            </a:p>
          </p:txBody>
        </p:sp>
        <p:sp>
          <p:nvSpPr>
            <p:cNvPr id="244" name="Text Box 85"/>
            <p:cNvSpPr txBox="1">
              <a:spLocks noChangeArrowheads="1"/>
            </p:cNvSpPr>
            <p:nvPr/>
          </p:nvSpPr>
          <p:spPr bwMode="auto">
            <a:xfrm>
              <a:off x="5950153" y="3749277"/>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18</a:t>
              </a:r>
            </a:p>
          </p:txBody>
        </p:sp>
        <p:sp>
          <p:nvSpPr>
            <p:cNvPr id="245" name="Text Box 86"/>
            <p:cNvSpPr txBox="1">
              <a:spLocks noChangeArrowheads="1"/>
            </p:cNvSpPr>
            <p:nvPr/>
          </p:nvSpPr>
          <p:spPr bwMode="auto">
            <a:xfrm>
              <a:off x="6418153" y="3749277"/>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20</a:t>
              </a:r>
            </a:p>
          </p:txBody>
        </p:sp>
        <p:sp>
          <p:nvSpPr>
            <p:cNvPr id="246" name="Text Box 87"/>
            <p:cNvSpPr txBox="1">
              <a:spLocks noChangeArrowheads="1"/>
            </p:cNvSpPr>
            <p:nvPr/>
          </p:nvSpPr>
          <p:spPr bwMode="auto">
            <a:xfrm>
              <a:off x="6873153" y="3757688"/>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22</a:t>
              </a:r>
            </a:p>
          </p:txBody>
        </p:sp>
        <p:sp>
          <p:nvSpPr>
            <p:cNvPr id="247" name="Text Box 89"/>
            <p:cNvSpPr txBox="1">
              <a:spLocks noChangeArrowheads="1"/>
            </p:cNvSpPr>
            <p:nvPr/>
          </p:nvSpPr>
          <p:spPr bwMode="auto">
            <a:xfrm>
              <a:off x="1812903" y="3749277"/>
              <a:ext cx="3129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0</a:t>
              </a:r>
            </a:p>
          </p:txBody>
        </p:sp>
        <p:sp>
          <p:nvSpPr>
            <p:cNvPr id="248" name="Text Box 90"/>
            <p:cNvSpPr txBox="1">
              <a:spLocks noChangeArrowheads="1"/>
            </p:cNvSpPr>
            <p:nvPr/>
          </p:nvSpPr>
          <p:spPr bwMode="auto">
            <a:xfrm>
              <a:off x="1647153" y="3591140"/>
              <a:ext cx="3129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0</a:t>
              </a:r>
            </a:p>
          </p:txBody>
        </p:sp>
        <p:sp>
          <p:nvSpPr>
            <p:cNvPr id="250" name="Text Box 92"/>
            <p:cNvSpPr txBox="1">
              <a:spLocks noChangeArrowheads="1"/>
            </p:cNvSpPr>
            <p:nvPr/>
          </p:nvSpPr>
          <p:spPr bwMode="auto">
            <a:xfrm>
              <a:off x="1647153" y="2797088"/>
              <a:ext cx="3129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8</a:t>
              </a:r>
            </a:p>
          </p:txBody>
        </p:sp>
        <p:sp>
          <p:nvSpPr>
            <p:cNvPr id="251" name="Text Box 93"/>
            <p:cNvSpPr txBox="1">
              <a:spLocks noChangeArrowheads="1"/>
            </p:cNvSpPr>
            <p:nvPr/>
          </p:nvSpPr>
          <p:spPr bwMode="auto">
            <a:xfrm>
              <a:off x="1530153" y="2406791"/>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12</a:t>
              </a:r>
            </a:p>
          </p:txBody>
        </p:sp>
        <p:sp>
          <p:nvSpPr>
            <p:cNvPr id="252" name="Text Box 94"/>
            <p:cNvSpPr txBox="1">
              <a:spLocks noChangeArrowheads="1"/>
            </p:cNvSpPr>
            <p:nvPr/>
          </p:nvSpPr>
          <p:spPr bwMode="auto">
            <a:xfrm>
              <a:off x="1530153" y="2016494"/>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16</a:t>
              </a:r>
            </a:p>
          </p:txBody>
        </p:sp>
        <p:sp>
          <p:nvSpPr>
            <p:cNvPr id="253" name="Text Box 95"/>
            <p:cNvSpPr txBox="1">
              <a:spLocks noChangeArrowheads="1"/>
            </p:cNvSpPr>
            <p:nvPr/>
          </p:nvSpPr>
          <p:spPr bwMode="auto">
            <a:xfrm>
              <a:off x="1530153" y="1612739"/>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20</a:t>
              </a:r>
            </a:p>
          </p:txBody>
        </p:sp>
        <p:sp>
          <p:nvSpPr>
            <p:cNvPr id="254" name="Text Box 96"/>
            <p:cNvSpPr txBox="1">
              <a:spLocks noChangeArrowheads="1"/>
            </p:cNvSpPr>
            <p:nvPr/>
          </p:nvSpPr>
          <p:spPr bwMode="auto">
            <a:xfrm>
              <a:off x="1530153" y="1208984"/>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24</a:t>
              </a:r>
            </a:p>
          </p:txBody>
        </p:sp>
        <p:sp>
          <p:nvSpPr>
            <p:cNvPr id="255" name="Oval 102"/>
            <p:cNvSpPr>
              <a:spLocks noChangeArrowheads="1"/>
            </p:cNvSpPr>
            <p:nvPr/>
          </p:nvSpPr>
          <p:spPr bwMode="auto">
            <a:xfrm>
              <a:off x="2573403" y="2960272"/>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56" name="Oval 103"/>
            <p:cNvSpPr>
              <a:spLocks noChangeArrowheads="1"/>
            </p:cNvSpPr>
            <p:nvPr/>
          </p:nvSpPr>
          <p:spPr bwMode="auto">
            <a:xfrm>
              <a:off x="2339403" y="3364027"/>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57" name="Oval 104"/>
            <p:cNvSpPr>
              <a:spLocks noChangeArrowheads="1"/>
            </p:cNvSpPr>
            <p:nvPr/>
          </p:nvSpPr>
          <p:spPr bwMode="auto">
            <a:xfrm>
              <a:off x="1881153" y="3626468"/>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58" name="Oval 105"/>
            <p:cNvSpPr>
              <a:spLocks noChangeArrowheads="1"/>
            </p:cNvSpPr>
            <p:nvPr/>
          </p:nvSpPr>
          <p:spPr bwMode="auto">
            <a:xfrm>
              <a:off x="2095653" y="3555811"/>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59" name="Oval 106"/>
            <p:cNvSpPr>
              <a:spLocks noChangeArrowheads="1"/>
            </p:cNvSpPr>
            <p:nvPr/>
          </p:nvSpPr>
          <p:spPr bwMode="auto">
            <a:xfrm>
              <a:off x="2807403" y="2149397"/>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0" name="Oval 107"/>
            <p:cNvSpPr>
              <a:spLocks noChangeArrowheads="1"/>
            </p:cNvSpPr>
            <p:nvPr/>
          </p:nvSpPr>
          <p:spPr bwMode="auto">
            <a:xfrm>
              <a:off x="3041403" y="2041729"/>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1" name="Oval 108"/>
            <p:cNvSpPr>
              <a:spLocks noChangeArrowheads="1"/>
            </p:cNvSpPr>
            <p:nvPr/>
          </p:nvSpPr>
          <p:spPr bwMode="auto">
            <a:xfrm>
              <a:off x="3275403" y="1945837"/>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2" name="Oval 109"/>
            <p:cNvSpPr>
              <a:spLocks noChangeArrowheads="1"/>
            </p:cNvSpPr>
            <p:nvPr/>
          </p:nvSpPr>
          <p:spPr bwMode="auto">
            <a:xfrm>
              <a:off x="3748277" y="1743960"/>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3" name="Oval 110"/>
            <p:cNvSpPr>
              <a:spLocks noChangeArrowheads="1"/>
            </p:cNvSpPr>
            <p:nvPr/>
          </p:nvSpPr>
          <p:spPr bwMode="auto">
            <a:xfrm>
              <a:off x="3509403" y="1844898"/>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4" name="Oval 113"/>
            <p:cNvSpPr>
              <a:spLocks noChangeArrowheads="1"/>
            </p:cNvSpPr>
            <p:nvPr/>
          </p:nvSpPr>
          <p:spPr bwMode="auto">
            <a:xfrm>
              <a:off x="3982277" y="1643021"/>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5" name="Oval 114"/>
            <p:cNvSpPr>
              <a:spLocks noChangeArrowheads="1"/>
            </p:cNvSpPr>
            <p:nvPr/>
          </p:nvSpPr>
          <p:spPr bwMode="auto">
            <a:xfrm>
              <a:off x="4211403" y="1547128"/>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6" name="Oval 116"/>
            <p:cNvSpPr>
              <a:spLocks noChangeArrowheads="1"/>
            </p:cNvSpPr>
            <p:nvPr/>
          </p:nvSpPr>
          <p:spPr bwMode="auto">
            <a:xfrm>
              <a:off x="4674527" y="1330110"/>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7" name="Oval 117"/>
            <p:cNvSpPr>
              <a:spLocks noChangeArrowheads="1"/>
            </p:cNvSpPr>
            <p:nvPr/>
          </p:nvSpPr>
          <p:spPr bwMode="auto">
            <a:xfrm>
              <a:off x="4445403" y="1431049"/>
              <a:ext cx="91000" cy="94210"/>
            </a:xfrm>
            <a:prstGeom prst="ellipse">
              <a:avLst/>
            </a:prstGeom>
            <a:solidFill>
              <a:srgbClr val="0000FF"/>
            </a:solidFill>
            <a:ln w="2857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8" name="Freeform 118"/>
            <p:cNvSpPr>
              <a:spLocks/>
            </p:cNvSpPr>
            <p:nvPr/>
          </p:nvSpPr>
          <p:spPr bwMode="auto">
            <a:xfrm>
              <a:off x="1842153" y="1385626"/>
              <a:ext cx="2881124" cy="2304769"/>
            </a:xfrm>
            <a:custGeom>
              <a:avLst/>
              <a:gdLst>
                <a:gd name="T0" fmla="*/ 2147483647 w 1773"/>
                <a:gd name="T1" fmla="*/ 0 h 1370"/>
                <a:gd name="T2" fmla="*/ 2147483647 w 1773"/>
                <a:gd name="T3" fmla="*/ 2147483647 h 1370"/>
                <a:gd name="T4" fmla="*/ 2147483647 w 1773"/>
                <a:gd name="T5" fmla="*/ 2147483647 h 1370"/>
                <a:gd name="T6" fmla="*/ 2147483647 w 1773"/>
                <a:gd name="T7" fmla="*/ 2147483647 h 1370"/>
                <a:gd name="T8" fmla="*/ 2147483647 w 1773"/>
                <a:gd name="T9" fmla="*/ 2147483647 h 1370"/>
                <a:gd name="T10" fmla="*/ 2147483647 w 1773"/>
                <a:gd name="T11" fmla="*/ 2147483647 h 1370"/>
                <a:gd name="T12" fmla="*/ 0 60000 65536"/>
                <a:gd name="T13" fmla="*/ 0 60000 65536"/>
                <a:gd name="T14" fmla="*/ 0 60000 65536"/>
                <a:gd name="T15" fmla="*/ 0 60000 65536"/>
                <a:gd name="T16" fmla="*/ 0 60000 65536"/>
                <a:gd name="T17" fmla="*/ 0 60000 65536"/>
                <a:gd name="T18" fmla="*/ 0 w 1773"/>
                <a:gd name="T19" fmla="*/ 0 h 1370"/>
                <a:gd name="T20" fmla="*/ 1773 w 1773"/>
                <a:gd name="T21" fmla="*/ 1370 h 1370"/>
              </a:gdLst>
              <a:ahLst/>
              <a:cxnLst>
                <a:cxn ang="T12">
                  <a:pos x="T0" y="T1"/>
                </a:cxn>
                <a:cxn ang="T13">
                  <a:pos x="T2" y="T3"/>
                </a:cxn>
                <a:cxn ang="T14">
                  <a:pos x="T4" y="T5"/>
                </a:cxn>
                <a:cxn ang="T15">
                  <a:pos x="T6" y="T7"/>
                </a:cxn>
                <a:cxn ang="T16">
                  <a:pos x="T8" y="T9"/>
                </a:cxn>
                <a:cxn ang="T17">
                  <a:pos x="T10" y="T11"/>
                </a:cxn>
              </a:cxnLst>
              <a:rect l="T18" t="T19" r="T20" b="T21"/>
              <a:pathLst>
                <a:path w="1773" h="1370">
                  <a:moveTo>
                    <a:pt x="1773" y="0"/>
                  </a:moveTo>
                  <a:lnTo>
                    <a:pt x="618" y="487"/>
                  </a:lnTo>
                  <a:lnTo>
                    <a:pt x="480" y="961"/>
                  </a:lnTo>
                  <a:lnTo>
                    <a:pt x="331" y="1201"/>
                  </a:lnTo>
                  <a:lnTo>
                    <a:pt x="187" y="1321"/>
                  </a:lnTo>
                  <a:cubicBezTo>
                    <a:pt x="47" y="1370"/>
                    <a:pt x="0" y="1369"/>
                    <a:pt x="55" y="1369"/>
                  </a:cubicBezTo>
                </a:path>
              </a:pathLst>
            </a:custGeom>
            <a:noFill/>
            <a:ln w="28575" cmpd="sng">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9" name="Text Box 134"/>
            <p:cNvSpPr txBox="1">
              <a:spLocks noChangeArrowheads="1"/>
            </p:cNvSpPr>
            <p:nvPr/>
          </p:nvSpPr>
          <p:spPr bwMode="auto">
            <a:xfrm>
              <a:off x="8280402" y="3596186"/>
              <a:ext cx="121699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2000" b="1" i="0" u="none" strike="noStrike" kern="0" cap="none" spc="0" normalizeH="0" baseline="0" noProof="0">
                  <a:ln>
                    <a:noFill/>
                  </a:ln>
                  <a:solidFill>
                    <a:srgbClr val="000000"/>
                  </a:solidFill>
                  <a:effectLst/>
                  <a:uLnTx/>
                  <a:uFillTx/>
                  <a:latin typeface="Times New Roman" pitchFamily="18" charset="0"/>
                  <a:ea typeface="宋体" charset="-122"/>
                </a:rPr>
                <a:t>传输轮次</a:t>
              </a:r>
            </a:p>
          </p:txBody>
        </p:sp>
        <p:sp>
          <p:nvSpPr>
            <p:cNvPr id="270" name="Text Box 135"/>
            <p:cNvSpPr txBox="1">
              <a:spLocks noChangeArrowheads="1"/>
            </p:cNvSpPr>
            <p:nvPr/>
          </p:nvSpPr>
          <p:spPr bwMode="auto">
            <a:xfrm>
              <a:off x="966278" y="836711"/>
              <a:ext cx="193033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2000" b="1" i="0" u="none" strike="noStrike" kern="0" cap="none" spc="0" normalizeH="0" baseline="0" noProof="0" dirty="0">
                  <a:ln>
                    <a:noFill/>
                  </a:ln>
                  <a:solidFill>
                    <a:srgbClr val="000000"/>
                  </a:solidFill>
                  <a:effectLst/>
                  <a:uLnTx/>
                  <a:uFillTx/>
                  <a:latin typeface="Times New Roman" pitchFamily="18" charset="0"/>
                  <a:ea typeface="宋体" charset="-122"/>
                </a:rPr>
                <a:t>拥塞窗口  </a:t>
              </a:r>
              <a:r>
                <a:rPr kumimoji="1" lang="en-US" altLang="zh-CN" sz="2000" b="1" i="0" u="none" strike="noStrike" kern="0" cap="none" spc="0" normalizeH="0" baseline="0" noProof="0" dirty="0" err="1">
                  <a:ln>
                    <a:noFill/>
                  </a:ln>
                  <a:solidFill>
                    <a:srgbClr val="000000"/>
                  </a:solidFill>
                  <a:effectLst/>
                  <a:uLnTx/>
                  <a:uFillTx/>
                  <a:latin typeface="Times New Roman" pitchFamily="18" charset="0"/>
                  <a:ea typeface="宋体" charset="-122"/>
                </a:rPr>
                <a:t>cwnd</a:t>
              </a:r>
              <a:endParaRPr kumimoji="1" lang="en-US" altLang="zh-CN" sz="2000" b="1" i="0" u="none" strike="noStrike" kern="0" cap="none" spc="0" normalizeH="0" baseline="0" noProof="0" dirty="0">
                <a:ln>
                  <a:noFill/>
                </a:ln>
                <a:solidFill>
                  <a:srgbClr val="000000"/>
                </a:solidFill>
                <a:effectLst/>
                <a:uLnTx/>
                <a:uFillTx/>
                <a:latin typeface="Times New Roman" pitchFamily="18" charset="0"/>
                <a:ea typeface="宋体" charset="-122"/>
              </a:endParaRPr>
            </a:p>
          </p:txBody>
        </p:sp>
        <p:sp>
          <p:nvSpPr>
            <p:cNvPr id="271" name="Text Box 140"/>
            <p:cNvSpPr txBox="1">
              <a:spLocks noChangeArrowheads="1"/>
            </p:cNvSpPr>
            <p:nvPr/>
          </p:nvSpPr>
          <p:spPr bwMode="auto">
            <a:xfrm>
              <a:off x="7049973" y="1815231"/>
              <a:ext cx="118137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dirty="0">
                  <a:ln>
                    <a:noFill/>
                  </a:ln>
                  <a:solidFill>
                    <a:srgbClr val="FF0000"/>
                  </a:solidFill>
                  <a:effectLst/>
                  <a:uLnTx/>
                  <a:uFillTx/>
                  <a:latin typeface="Times New Roman" pitchFamily="18" charset="0"/>
                  <a:ea typeface="宋体" charset="-122"/>
                </a:rPr>
                <a:t>3-ACK</a:t>
              </a:r>
              <a:endParaRPr kumimoji="1" lang="zh-CN" altLang="en-US" sz="2000" b="1" i="0" u="none" strike="noStrike" kern="0" cap="none" spc="0" normalizeH="0" baseline="0" noProof="0" dirty="0">
                <a:ln>
                  <a:noFill/>
                </a:ln>
                <a:solidFill>
                  <a:srgbClr val="FF0000"/>
                </a:solidFill>
                <a:effectLst/>
                <a:uLnTx/>
                <a:uFillTx/>
                <a:latin typeface="Times New Roman" pitchFamily="18" charset="0"/>
                <a:ea typeface="宋体" charset="-122"/>
              </a:endParaRPr>
            </a:p>
          </p:txBody>
        </p:sp>
        <p:sp>
          <p:nvSpPr>
            <p:cNvPr id="272" name="Rectangle 160"/>
            <p:cNvSpPr>
              <a:spLocks noChangeArrowheads="1"/>
            </p:cNvSpPr>
            <p:nvPr/>
          </p:nvSpPr>
          <p:spPr bwMode="auto">
            <a:xfrm>
              <a:off x="1998153" y="1304875"/>
              <a:ext cx="195000" cy="215336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73" name="Line 156"/>
            <p:cNvSpPr>
              <a:spLocks noChangeShapeType="1"/>
            </p:cNvSpPr>
            <p:nvPr/>
          </p:nvSpPr>
          <p:spPr bwMode="auto">
            <a:xfrm>
              <a:off x="1998153" y="2193137"/>
              <a:ext cx="858000" cy="0"/>
            </a:xfrm>
            <a:prstGeom prst="line">
              <a:avLst/>
            </a:prstGeom>
            <a:noFill/>
            <a:ln w="1905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74" name="Line 146"/>
            <p:cNvSpPr>
              <a:spLocks noChangeShapeType="1"/>
            </p:cNvSpPr>
            <p:nvPr/>
          </p:nvSpPr>
          <p:spPr bwMode="auto">
            <a:xfrm flipV="1">
              <a:off x="1998153" y="1378897"/>
              <a:ext cx="2743000" cy="6729"/>
            </a:xfrm>
            <a:prstGeom prst="line">
              <a:avLst/>
            </a:prstGeom>
            <a:noFill/>
            <a:ln w="1905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75" name="Rectangle 162"/>
            <p:cNvSpPr>
              <a:spLocks noChangeArrowheads="1"/>
            </p:cNvSpPr>
            <p:nvPr/>
          </p:nvSpPr>
          <p:spPr bwMode="auto">
            <a:xfrm>
              <a:off x="5352153" y="3565904"/>
              <a:ext cx="1480374" cy="1615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77" name="Text Box 203"/>
            <p:cNvSpPr txBox="1">
              <a:spLocks noChangeArrowheads="1"/>
            </p:cNvSpPr>
            <p:nvPr/>
          </p:nvSpPr>
          <p:spPr bwMode="auto">
            <a:xfrm>
              <a:off x="8170649" y="1977696"/>
              <a:ext cx="1638589"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b="1" i="0" u="none" strike="noStrike" kern="0" cap="none" spc="0" normalizeH="0" baseline="0" noProof="0" dirty="0">
                  <a:ln>
                    <a:noFill/>
                  </a:ln>
                  <a:solidFill>
                    <a:srgbClr val="0000FF"/>
                  </a:solidFill>
                  <a:effectLst/>
                  <a:uLnTx/>
                  <a:uFillTx/>
                  <a:latin typeface="Times New Roman" pitchFamily="18" charset="0"/>
                  <a:ea typeface="宋体" charset="-122"/>
                </a:rPr>
                <a:t>TCP Reno </a:t>
              </a:r>
            </a:p>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b="1" i="0" u="none" strike="noStrike" kern="0" cap="none" spc="0" normalizeH="0" baseline="0" noProof="0" dirty="0">
                  <a:ln>
                    <a:noFill/>
                  </a:ln>
                  <a:solidFill>
                    <a:srgbClr val="0000FF"/>
                  </a:solidFill>
                  <a:effectLst/>
                  <a:uLnTx/>
                  <a:uFillTx/>
                  <a:latin typeface="Times New Roman" pitchFamily="18" charset="0"/>
                  <a:ea typeface="宋体" charset="-122"/>
                </a:rPr>
                <a:t>版本</a:t>
              </a:r>
            </a:p>
          </p:txBody>
        </p:sp>
        <p:sp>
          <p:nvSpPr>
            <p:cNvPr id="278" name="Text Box 205"/>
            <p:cNvSpPr txBox="1">
              <a:spLocks noChangeArrowheads="1"/>
            </p:cNvSpPr>
            <p:nvPr/>
          </p:nvSpPr>
          <p:spPr bwMode="auto">
            <a:xfrm>
              <a:off x="272479" y="1918920"/>
              <a:ext cx="128112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dirty="0" err="1">
                  <a:ln>
                    <a:noFill/>
                  </a:ln>
                  <a:solidFill>
                    <a:srgbClr val="C00000"/>
                  </a:solidFill>
                  <a:effectLst/>
                  <a:uLnTx/>
                  <a:uFillTx/>
                  <a:latin typeface="Times New Roman" pitchFamily="18" charset="0"/>
                  <a:ea typeface="宋体" charset="-122"/>
                </a:rPr>
                <a:t>ssthresh</a:t>
              </a:r>
              <a:endParaRPr kumimoji="1" lang="en-US" altLang="zh-CN" sz="2000" b="1" i="0" u="none" strike="noStrike" kern="0" cap="none" spc="0" normalizeH="0" baseline="0" noProof="0" dirty="0">
                <a:ln>
                  <a:noFill/>
                </a:ln>
                <a:solidFill>
                  <a:srgbClr val="C00000"/>
                </a:solidFill>
                <a:effectLst/>
                <a:uLnTx/>
                <a:uFillTx/>
                <a:latin typeface="Times New Roman" pitchFamily="18" charset="0"/>
                <a:ea typeface="宋体" charset="-122"/>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2000" b="1" i="0" u="none" strike="noStrike" kern="0" cap="none" spc="0" normalizeH="0" baseline="0" noProof="0" dirty="0">
                  <a:ln>
                    <a:noFill/>
                  </a:ln>
                  <a:solidFill>
                    <a:srgbClr val="C00000"/>
                  </a:solidFill>
                  <a:effectLst/>
                  <a:uLnTx/>
                  <a:uFillTx/>
                  <a:latin typeface="Times New Roman" pitchFamily="18" charset="0"/>
                  <a:ea typeface="宋体" charset="-122"/>
                </a:rPr>
                <a:t> 的初始值</a:t>
              </a:r>
            </a:p>
          </p:txBody>
        </p:sp>
        <p:sp>
          <p:nvSpPr>
            <p:cNvPr id="280" name="Line 215"/>
            <p:cNvSpPr>
              <a:spLocks noChangeShapeType="1"/>
            </p:cNvSpPr>
            <p:nvPr/>
          </p:nvSpPr>
          <p:spPr bwMode="auto">
            <a:xfrm flipV="1">
              <a:off x="1413153" y="2223418"/>
              <a:ext cx="219374" cy="0"/>
            </a:xfrm>
            <a:prstGeom prst="line">
              <a:avLst/>
            </a:prstGeom>
            <a:noFill/>
            <a:ln w="19050">
              <a:solidFill>
                <a:srgbClr val="C00000"/>
              </a:solidFill>
              <a:round/>
              <a:headEnd/>
              <a:tailEnd type="triangle" w="sm"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81" name="Text Box 206"/>
            <p:cNvSpPr txBox="1">
              <a:spLocks noChangeArrowheads="1"/>
            </p:cNvSpPr>
            <p:nvPr/>
          </p:nvSpPr>
          <p:spPr bwMode="auto">
            <a:xfrm rot="20245475">
              <a:off x="6948778" y="2393474"/>
              <a:ext cx="121699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2000" b="1" i="0" u="none" strike="noStrike" kern="0" cap="none" spc="0" normalizeH="0" baseline="0" noProof="0">
                  <a:ln>
                    <a:noFill/>
                  </a:ln>
                  <a:solidFill>
                    <a:srgbClr val="000000"/>
                  </a:solidFill>
                  <a:effectLst/>
                  <a:uLnTx/>
                  <a:uFillTx/>
                  <a:latin typeface="Times New Roman" pitchFamily="18" charset="0"/>
                  <a:ea typeface="宋体" charset="-122"/>
                </a:rPr>
                <a:t>拥塞避免</a:t>
              </a:r>
            </a:p>
          </p:txBody>
        </p:sp>
        <p:sp>
          <p:nvSpPr>
            <p:cNvPr id="282" name="Oval 125"/>
            <p:cNvSpPr>
              <a:spLocks noChangeArrowheads="1"/>
            </p:cNvSpPr>
            <p:nvPr/>
          </p:nvSpPr>
          <p:spPr bwMode="auto">
            <a:xfrm>
              <a:off x="5147403" y="3540670"/>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83" name="Oval 126"/>
            <p:cNvSpPr>
              <a:spLocks noChangeArrowheads="1"/>
            </p:cNvSpPr>
            <p:nvPr/>
          </p:nvSpPr>
          <p:spPr bwMode="auto">
            <a:xfrm>
              <a:off x="5383027" y="3343839"/>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84" name="Oval 127"/>
            <p:cNvSpPr>
              <a:spLocks noChangeArrowheads="1"/>
            </p:cNvSpPr>
            <p:nvPr/>
          </p:nvSpPr>
          <p:spPr bwMode="auto">
            <a:xfrm>
              <a:off x="4903653" y="3616374"/>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85" name="Oval 128"/>
            <p:cNvSpPr>
              <a:spLocks noChangeArrowheads="1"/>
            </p:cNvSpPr>
            <p:nvPr/>
          </p:nvSpPr>
          <p:spPr bwMode="auto">
            <a:xfrm>
              <a:off x="5623527" y="2953542"/>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86" name="Oval 129"/>
            <p:cNvSpPr>
              <a:spLocks noChangeArrowheads="1"/>
            </p:cNvSpPr>
            <p:nvPr/>
          </p:nvSpPr>
          <p:spPr bwMode="auto">
            <a:xfrm>
              <a:off x="6106153" y="2440437"/>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87" name="Oval 130"/>
            <p:cNvSpPr>
              <a:spLocks noChangeArrowheads="1"/>
            </p:cNvSpPr>
            <p:nvPr/>
          </p:nvSpPr>
          <p:spPr bwMode="auto">
            <a:xfrm>
              <a:off x="6795153" y="2147715"/>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88" name="Oval 131"/>
            <p:cNvSpPr>
              <a:spLocks noChangeArrowheads="1"/>
            </p:cNvSpPr>
            <p:nvPr/>
          </p:nvSpPr>
          <p:spPr bwMode="auto">
            <a:xfrm>
              <a:off x="6335277" y="2334451"/>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89" name="Oval 132"/>
            <p:cNvSpPr>
              <a:spLocks noChangeArrowheads="1"/>
            </p:cNvSpPr>
            <p:nvPr/>
          </p:nvSpPr>
          <p:spPr bwMode="auto">
            <a:xfrm>
              <a:off x="6569277" y="2238560"/>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90" name="Line 147"/>
            <p:cNvSpPr>
              <a:spLocks noChangeShapeType="1"/>
            </p:cNvSpPr>
            <p:nvPr/>
          </p:nvSpPr>
          <p:spPr bwMode="auto">
            <a:xfrm rot="10800000">
              <a:off x="2016028" y="2595210"/>
              <a:ext cx="4134000" cy="0"/>
            </a:xfrm>
            <a:prstGeom prst="line">
              <a:avLst/>
            </a:prstGeom>
            <a:noFill/>
            <a:ln w="1905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cxnSp>
          <p:nvCxnSpPr>
            <p:cNvPr id="291" name="直接连接符 115"/>
            <p:cNvCxnSpPr>
              <a:cxnSpLocks noChangeShapeType="1"/>
            </p:cNvCxnSpPr>
            <p:nvPr/>
          </p:nvCxnSpPr>
          <p:spPr bwMode="auto">
            <a:xfrm>
              <a:off x="4728153" y="1375532"/>
              <a:ext cx="234000" cy="2266077"/>
            </a:xfrm>
            <a:prstGeom prst="line">
              <a:avLst/>
            </a:prstGeom>
            <a:noFill/>
            <a:ln w="28575" algn="ctr">
              <a:solidFill>
                <a:srgbClr val="0000FF"/>
              </a:solidFill>
              <a:round/>
              <a:headEnd/>
              <a:tailEnd/>
            </a:ln>
            <a:extLst>
              <a:ext uri="{909E8E84-426E-40DD-AFC4-6F175D3DCCD1}">
                <a14:hiddenFill xmlns:a14="http://schemas.microsoft.com/office/drawing/2010/main">
                  <a:noFill/>
                </a14:hiddenFill>
              </a:ext>
            </a:extLst>
          </p:spPr>
        </p:cxnSp>
        <p:sp>
          <p:nvSpPr>
            <p:cNvPr id="293" name="Rectangle 161"/>
            <p:cNvSpPr>
              <a:spLocks noChangeArrowheads="1"/>
            </p:cNvSpPr>
            <p:nvPr/>
          </p:nvSpPr>
          <p:spPr bwMode="auto">
            <a:xfrm>
              <a:off x="2555757" y="1801158"/>
              <a:ext cx="442000" cy="3684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800" b="1" i="0" u="none" strike="noStrike" kern="0" cap="none" spc="0" normalizeH="0" baseline="0" noProof="0" dirty="0">
                  <a:ln>
                    <a:noFill/>
                  </a:ln>
                  <a:solidFill>
                    <a:sysClr val="windowText" lastClr="000000"/>
                  </a:solidFill>
                  <a:effectLst/>
                  <a:uLnTx/>
                  <a:uFillTx/>
                  <a:sym typeface="Wingdings" pitchFamily="2" charset="2"/>
                </a:rPr>
                <a:t></a:t>
              </a:r>
              <a:endParaRPr kumimoji="0" lang="zh-CN" altLang="en-US" sz="2800" b="1" i="0" u="none" strike="noStrike" kern="0" cap="none" spc="0" normalizeH="0" baseline="0" noProof="0" dirty="0">
                <a:ln>
                  <a:noFill/>
                </a:ln>
                <a:solidFill>
                  <a:sysClr val="windowText" lastClr="000000"/>
                </a:solidFill>
                <a:effectLst/>
                <a:uLnTx/>
                <a:uFillTx/>
              </a:endParaRPr>
            </a:p>
          </p:txBody>
        </p:sp>
        <p:sp>
          <p:nvSpPr>
            <p:cNvPr id="294" name="Oval 129"/>
            <p:cNvSpPr>
              <a:spLocks noChangeArrowheads="1"/>
            </p:cNvSpPr>
            <p:nvPr/>
          </p:nvSpPr>
          <p:spPr bwMode="auto">
            <a:xfrm>
              <a:off x="5868903" y="2549787"/>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95" name="任意多边形 134"/>
            <p:cNvSpPr>
              <a:spLocks/>
            </p:cNvSpPr>
            <p:nvPr/>
          </p:nvSpPr>
          <p:spPr bwMode="auto">
            <a:xfrm>
              <a:off x="4952403" y="2181361"/>
              <a:ext cx="1906124" cy="1485482"/>
            </a:xfrm>
            <a:custGeom>
              <a:avLst/>
              <a:gdLst>
                <a:gd name="T0" fmla="*/ 0 w 1929384"/>
                <a:gd name="T1" fmla="*/ 1404281 h 1426464"/>
                <a:gd name="T2" fmla="*/ 224888 w 1929384"/>
                <a:gd name="T3" fmla="*/ 1336767 h 1426464"/>
                <a:gd name="T4" fmla="*/ 445365 w 1929384"/>
                <a:gd name="T5" fmla="*/ 1152231 h 1426464"/>
                <a:gd name="T6" fmla="*/ 903959 w 1929384"/>
                <a:gd name="T7" fmla="*/ 409583 h 1426464"/>
                <a:gd name="T8" fmla="*/ 1860836 w 1929384"/>
                <a:gd name="T9" fmla="*/ 0 h 1426464"/>
                <a:gd name="T10" fmla="*/ 0 60000 65536"/>
                <a:gd name="T11" fmla="*/ 0 60000 65536"/>
                <a:gd name="T12" fmla="*/ 0 60000 65536"/>
                <a:gd name="T13" fmla="*/ 0 60000 65536"/>
                <a:gd name="T14" fmla="*/ 0 60000 65536"/>
                <a:gd name="T15" fmla="*/ 0 w 1929384"/>
                <a:gd name="T16" fmla="*/ 0 h 1426464"/>
                <a:gd name="T17" fmla="*/ 1929384 w 1929384"/>
                <a:gd name="T18" fmla="*/ 1426464 h 1426464"/>
              </a:gdLst>
              <a:ahLst/>
              <a:cxnLst>
                <a:cxn ang="T10">
                  <a:pos x="T0" y="T1"/>
                </a:cxn>
                <a:cxn ang="T11">
                  <a:pos x="T2" y="T3"/>
                </a:cxn>
                <a:cxn ang="T12">
                  <a:pos x="T4" y="T5"/>
                </a:cxn>
                <a:cxn ang="T13">
                  <a:pos x="T6" y="T7"/>
                </a:cxn>
                <a:cxn ang="T14">
                  <a:pos x="T8" y="T9"/>
                </a:cxn>
              </a:cxnLst>
              <a:rect l="T15" t="T16" r="T17" b="T18"/>
              <a:pathLst>
                <a:path w="1929384" h="1426464">
                  <a:moveTo>
                    <a:pt x="0" y="1426464"/>
                  </a:moveTo>
                  <a:lnTo>
                    <a:pt x="233172" y="1357884"/>
                  </a:lnTo>
                  <a:lnTo>
                    <a:pt x="461772" y="1170432"/>
                  </a:lnTo>
                  <a:lnTo>
                    <a:pt x="937260" y="416052"/>
                  </a:lnTo>
                  <a:lnTo>
                    <a:pt x="1929384" y="0"/>
                  </a:lnTo>
                </a:path>
              </a:pathLst>
            </a:custGeom>
            <a:noFill/>
            <a:ln w="28575" cap="flat" cmpd="sng" algn="ctr">
              <a:solidFill>
                <a:srgbClr val="0000FF"/>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96" name="Rectangle 161"/>
            <p:cNvSpPr>
              <a:spLocks noChangeArrowheads="1"/>
            </p:cNvSpPr>
            <p:nvPr/>
          </p:nvSpPr>
          <p:spPr bwMode="auto">
            <a:xfrm>
              <a:off x="4545899" y="1021117"/>
              <a:ext cx="367250" cy="30618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800" b="1" i="0" u="none" strike="noStrike" kern="0" cap="none" spc="0" normalizeH="0" baseline="0" noProof="0" dirty="0">
                  <a:ln>
                    <a:noFill/>
                  </a:ln>
                  <a:solidFill>
                    <a:sysClr val="windowText" lastClr="000000"/>
                  </a:solidFill>
                  <a:effectLst/>
                  <a:uLnTx/>
                  <a:uFillTx/>
                  <a:sym typeface="Wingdings" pitchFamily="2" charset="2"/>
                </a:rPr>
                <a:t></a:t>
              </a:r>
              <a:endParaRPr kumimoji="0" lang="zh-CN" altLang="en-US" sz="2800" b="1" i="0" u="none" strike="noStrike" kern="0" cap="none" spc="0" normalizeH="0" baseline="0" noProof="0" dirty="0">
                <a:ln>
                  <a:noFill/>
                </a:ln>
                <a:solidFill>
                  <a:sysClr val="windowText" lastClr="000000"/>
                </a:solidFill>
                <a:effectLst/>
                <a:uLnTx/>
                <a:uFillTx/>
              </a:endParaRPr>
            </a:p>
          </p:txBody>
        </p:sp>
        <p:cxnSp>
          <p:nvCxnSpPr>
            <p:cNvPr id="297" name="直接连接符 119"/>
            <p:cNvCxnSpPr>
              <a:cxnSpLocks noChangeShapeType="1"/>
            </p:cNvCxnSpPr>
            <p:nvPr/>
          </p:nvCxnSpPr>
          <p:spPr bwMode="auto">
            <a:xfrm flipH="1">
              <a:off x="7064902" y="3022518"/>
              <a:ext cx="1624" cy="694795"/>
            </a:xfrm>
            <a:prstGeom prst="line">
              <a:avLst/>
            </a:prstGeom>
            <a:noFill/>
            <a:ln w="19050" algn="ctr">
              <a:solidFill>
                <a:srgbClr val="000000"/>
              </a:solidFill>
              <a:prstDash val="dash"/>
              <a:round/>
              <a:headEnd/>
              <a:tailEnd/>
            </a:ln>
          </p:spPr>
        </p:cxnSp>
        <p:cxnSp>
          <p:nvCxnSpPr>
            <p:cNvPr id="298" name="直接连接符 121"/>
            <p:cNvCxnSpPr>
              <a:cxnSpLocks noChangeShapeType="1"/>
            </p:cNvCxnSpPr>
            <p:nvPr/>
          </p:nvCxnSpPr>
          <p:spPr bwMode="auto">
            <a:xfrm>
              <a:off x="2032278" y="3005695"/>
              <a:ext cx="5676125" cy="0"/>
            </a:xfrm>
            <a:prstGeom prst="line">
              <a:avLst/>
            </a:prstGeom>
            <a:noFill/>
            <a:ln w="19050" algn="ctr">
              <a:solidFill>
                <a:srgbClr val="000000"/>
              </a:solidFill>
              <a:prstDash val="dash"/>
              <a:round/>
              <a:headEnd/>
              <a:tailEnd/>
            </a:ln>
          </p:spPr>
        </p:cxnSp>
        <p:sp>
          <p:nvSpPr>
            <p:cNvPr id="299" name="Oval 130"/>
            <p:cNvSpPr>
              <a:spLocks noChangeArrowheads="1"/>
            </p:cNvSpPr>
            <p:nvPr/>
          </p:nvSpPr>
          <p:spPr bwMode="auto">
            <a:xfrm>
              <a:off x="7021027" y="2961955"/>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300" name="Line 24"/>
            <p:cNvSpPr>
              <a:spLocks noChangeShapeType="1"/>
            </p:cNvSpPr>
            <p:nvPr/>
          </p:nvSpPr>
          <p:spPr bwMode="auto">
            <a:xfrm>
              <a:off x="7532902" y="363992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301" name="Line 22"/>
            <p:cNvSpPr>
              <a:spLocks noChangeShapeType="1"/>
            </p:cNvSpPr>
            <p:nvPr/>
          </p:nvSpPr>
          <p:spPr bwMode="auto">
            <a:xfrm>
              <a:off x="7295652" y="3644974"/>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302" name="Text Box 87"/>
            <p:cNvSpPr txBox="1">
              <a:spLocks noChangeArrowheads="1"/>
            </p:cNvSpPr>
            <p:nvPr/>
          </p:nvSpPr>
          <p:spPr bwMode="auto">
            <a:xfrm>
              <a:off x="7311902" y="3754324"/>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24</a:t>
              </a:r>
            </a:p>
          </p:txBody>
        </p:sp>
        <p:sp>
          <p:nvSpPr>
            <p:cNvPr id="303" name="Line 22"/>
            <p:cNvSpPr>
              <a:spLocks noChangeShapeType="1"/>
            </p:cNvSpPr>
            <p:nvPr/>
          </p:nvSpPr>
          <p:spPr bwMode="auto">
            <a:xfrm>
              <a:off x="7776652" y="3653385"/>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cxnSp>
          <p:nvCxnSpPr>
            <p:cNvPr id="304" name="直接连接符 134"/>
            <p:cNvCxnSpPr>
              <a:cxnSpLocks noChangeShapeType="1"/>
              <a:stCxn id="295" idx="4"/>
              <a:endCxn id="299" idx="3"/>
            </p:cNvCxnSpPr>
            <p:nvPr/>
          </p:nvCxnSpPr>
          <p:spPr bwMode="auto">
            <a:xfrm>
              <a:off x="6856903" y="2181361"/>
              <a:ext cx="204750" cy="832745"/>
            </a:xfrm>
            <a:prstGeom prst="line">
              <a:avLst/>
            </a:prstGeom>
            <a:noFill/>
            <a:ln w="28575" algn="ctr">
              <a:solidFill>
                <a:srgbClr val="0000FF"/>
              </a:solidFill>
              <a:round/>
              <a:headEnd/>
              <a:tailEnd/>
            </a:ln>
          </p:spPr>
        </p:cxnSp>
        <p:sp>
          <p:nvSpPr>
            <p:cNvPr id="305" name="Text Box 206"/>
            <p:cNvSpPr txBox="1">
              <a:spLocks noChangeArrowheads="1"/>
            </p:cNvSpPr>
            <p:nvPr/>
          </p:nvSpPr>
          <p:spPr bwMode="auto">
            <a:xfrm rot="20070649">
              <a:off x="5809549" y="2010746"/>
              <a:ext cx="111440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800" b="1" i="0" u="none" strike="noStrike" kern="0" cap="none" spc="0" normalizeH="0" baseline="0" noProof="0" dirty="0">
                  <a:ln>
                    <a:noFill/>
                  </a:ln>
                  <a:solidFill>
                    <a:srgbClr val="000000"/>
                  </a:solidFill>
                  <a:effectLst/>
                  <a:uLnTx/>
                  <a:uFillTx/>
                  <a:latin typeface="Times New Roman" pitchFamily="18" charset="0"/>
                  <a:ea typeface="宋体" charset="-122"/>
                </a:rPr>
                <a:t>拥塞避免</a:t>
              </a:r>
            </a:p>
          </p:txBody>
        </p:sp>
        <p:sp>
          <p:nvSpPr>
            <p:cNvPr id="306" name="Text Box 206"/>
            <p:cNvSpPr txBox="1">
              <a:spLocks noChangeArrowheads="1"/>
            </p:cNvSpPr>
            <p:nvPr/>
          </p:nvSpPr>
          <p:spPr bwMode="auto">
            <a:xfrm rot="20205303">
              <a:off x="2990278" y="1471566"/>
              <a:ext cx="121699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2000" b="1" i="0" u="none" strike="noStrike" kern="0" cap="none" spc="0" normalizeH="0" baseline="0" noProof="0">
                  <a:ln>
                    <a:noFill/>
                  </a:ln>
                  <a:solidFill>
                    <a:srgbClr val="000000"/>
                  </a:solidFill>
                  <a:effectLst/>
                  <a:uLnTx/>
                  <a:uFillTx/>
                  <a:latin typeface="Times New Roman" pitchFamily="18" charset="0"/>
                  <a:ea typeface="宋体" charset="-122"/>
                </a:rPr>
                <a:t>拥塞避免</a:t>
              </a:r>
            </a:p>
          </p:txBody>
        </p:sp>
        <p:sp>
          <p:nvSpPr>
            <p:cNvPr id="307" name="TextBox 147"/>
            <p:cNvSpPr txBox="1">
              <a:spLocks noChangeArrowheads="1"/>
            </p:cNvSpPr>
            <p:nvPr/>
          </p:nvSpPr>
          <p:spPr bwMode="auto">
            <a:xfrm>
              <a:off x="5542277" y="2191455"/>
              <a:ext cx="50526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2800" b="1" i="0" u="none" strike="noStrike" kern="0" cap="none" spc="0" normalizeH="0" baseline="0" noProof="0" dirty="0">
                  <a:ln>
                    <a:noFill/>
                  </a:ln>
                  <a:solidFill>
                    <a:srgbClr val="000000"/>
                  </a:solidFill>
                  <a:effectLst/>
                  <a:uLnTx/>
                  <a:uFillTx/>
                  <a:latin typeface="Times New Roman" pitchFamily="18" charset="0"/>
                  <a:ea typeface="宋体" charset="-122"/>
                  <a:sym typeface="Wingdings" pitchFamily="2" charset="2"/>
                </a:rPr>
                <a:t></a:t>
              </a:r>
              <a:endParaRPr kumimoji="1" lang="zh-CN" altLang="en-US" sz="2800" b="1" i="0" u="none" strike="noStrike" kern="0" cap="none" spc="0" normalizeH="0" baseline="0" noProof="0" dirty="0">
                <a:ln>
                  <a:noFill/>
                </a:ln>
                <a:solidFill>
                  <a:srgbClr val="000000"/>
                </a:solidFill>
                <a:effectLst/>
                <a:uLnTx/>
                <a:uFillTx/>
                <a:latin typeface="Times New Roman" pitchFamily="18" charset="0"/>
                <a:ea typeface="宋体" charset="-122"/>
              </a:endParaRPr>
            </a:p>
          </p:txBody>
        </p:sp>
        <p:sp>
          <p:nvSpPr>
            <p:cNvPr id="308" name="矩形 150"/>
            <p:cNvSpPr>
              <a:spLocks noChangeArrowheads="1"/>
            </p:cNvSpPr>
            <p:nvPr/>
          </p:nvSpPr>
          <p:spPr bwMode="auto">
            <a:xfrm>
              <a:off x="2298778" y="3596186"/>
              <a:ext cx="2575625" cy="126174"/>
            </a:xfrm>
            <a:prstGeom prst="rect">
              <a:avLst/>
            </a:prstGeom>
            <a:solidFill>
              <a:srgbClr val="FFFFFF"/>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309" name="TextBox 148"/>
            <p:cNvSpPr txBox="1">
              <a:spLocks noChangeArrowheads="1"/>
            </p:cNvSpPr>
            <p:nvPr/>
          </p:nvSpPr>
          <p:spPr bwMode="auto">
            <a:xfrm>
              <a:off x="6720403" y="1765829"/>
              <a:ext cx="50526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2800" b="1" i="0" u="none" strike="noStrike" kern="0" cap="none" spc="0" normalizeH="0" baseline="0" noProof="0">
                  <a:ln>
                    <a:noFill/>
                  </a:ln>
                  <a:solidFill>
                    <a:srgbClr val="000000"/>
                  </a:solidFill>
                  <a:effectLst/>
                  <a:uLnTx/>
                  <a:uFillTx/>
                  <a:latin typeface="Times New Roman" pitchFamily="18" charset="0"/>
                  <a:ea typeface="宋体" charset="-122"/>
                  <a:sym typeface="Wingdings" pitchFamily="2" charset="2"/>
                </a:rPr>
                <a:t></a:t>
              </a:r>
              <a:endParaRPr kumimoji="1" lang="zh-CN" altLang="en-US" sz="2800" b="1" i="0" u="none" strike="noStrike" kern="0" cap="none" spc="0" normalizeH="0" baseline="0" noProof="0">
                <a:ln>
                  <a:noFill/>
                </a:ln>
                <a:solidFill>
                  <a:srgbClr val="000000"/>
                </a:solidFill>
                <a:effectLst/>
                <a:uLnTx/>
                <a:uFillTx/>
                <a:latin typeface="Times New Roman" pitchFamily="18" charset="0"/>
                <a:ea typeface="宋体" charset="-122"/>
              </a:endParaRPr>
            </a:p>
          </p:txBody>
        </p:sp>
        <p:sp>
          <p:nvSpPr>
            <p:cNvPr id="311" name="矩形 151"/>
            <p:cNvSpPr>
              <a:spLocks noChangeArrowheads="1"/>
            </p:cNvSpPr>
            <p:nvPr/>
          </p:nvSpPr>
          <p:spPr bwMode="auto">
            <a:xfrm>
              <a:off x="7237152" y="3596186"/>
              <a:ext cx="607750" cy="114397"/>
            </a:xfrm>
            <a:prstGeom prst="rect">
              <a:avLst/>
            </a:prstGeom>
            <a:solidFill>
              <a:srgbClr val="FFFFFF"/>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cxnSp>
          <p:nvCxnSpPr>
            <p:cNvPr id="312" name="直接连接符 153"/>
            <p:cNvCxnSpPr>
              <a:cxnSpLocks noChangeShapeType="1"/>
            </p:cNvCxnSpPr>
            <p:nvPr/>
          </p:nvCxnSpPr>
          <p:spPr bwMode="auto">
            <a:xfrm flipV="1">
              <a:off x="5903027" y="2630538"/>
              <a:ext cx="11376" cy="1043034"/>
            </a:xfrm>
            <a:prstGeom prst="line">
              <a:avLst/>
            </a:prstGeom>
            <a:noFill/>
            <a:ln w="19050" algn="ctr">
              <a:solidFill>
                <a:srgbClr val="000000"/>
              </a:solidFill>
              <a:prstDash val="dash"/>
              <a:round/>
              <a:headEnd/>
              <a:tailEnd/>
            </a:ln>
          </p:spPr>
        </p:cxnSp>
        <p:cxnSp>
          <p:nvCxnSpPr>
            <p:cNvPr id="313" name="直接连接符 157"/>
            <p:cNvCxnSpPr>
              <a:cxnSpLocks noChangeShapeType="1"/>
            </p:cNvCxnSpPr>
            <p:nvPr/>
          </p:nvCxnSpPr>
          <p:spPr bwMode="auto">
            <a:xfrm flipV="1">
              <a:off x="6832527" y="2253700"/>
              <a:ext cx="11376" cy="1520811"/>
            </a:xfrm>
            <a:prstGeom prst="line">
              <a:avLst/>
            </a:prstGeom>
            <a:noFill/>
            <a:ln w="19050" algn="ctr">
              <a:solidFill>
                <a:srgbClr val="000000"/>
              </a:solidFill>
              <a:prstDash val="dash"/>
              <a:round/>
              <a:headEnd/>
              <a:tailEnd/>
            </a:ln>
          </p:spPr>
        </p:cxnSp>
        <p:cxnSp>
          <p:nvCxnSpPr>
            <p:cNvPr id="314" name="直接连接符 141"/>
            <p:cNvCxnSpPr>
              <a:cxnSpLocks noChangeShapeType="1"/>
            </p:cNvCxnSpPr>
            <p:nvPr/>
          </p:nvCxnSpPr>
          <p:spPr bwMode="auto">
            <a:xfrm flipV="1">
              <a:off x="7001527" y="2475765"/>
              <a:ext cx="1248000" cy="560211"/>
            </a:xfrm>
            <a:prstGeom prst="line">
              <a:avLst/>
            </a:prstGeom>
            <a:noFill/>
            <a:ln w="28575" algn="ctr">
              <a:solidFill>
                <a:srgbClr val="0000FF"/>
              </a:solidFill>
              <a:round/>
              <a:headEnd/>
              <a:tailEnd/>
            </a:ln>
          </p:spPr>
        </p:cxnSp>
        <p:sp>
          <p:nvSpPr>
            <p:cNvPr id="315" name="Oval 202"/>
            <p:cNvSpPr>
              <a:spLocks noChangeArrowheads="1"/>
            </p:cNvSpPr>
            <p:nvPr/>
          </p:nvSpPr>
          <p:spPr bwMode="auto">
            <a:xfrm>
              <a:off x="7724652" y="2655773"/>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316" name="Oval 130"/>
            <p:cNvSpPr>
              <a:spLocks noChangeArrowheads="1"/>
            </p:cNvSpPr>
            <p:nvPr/>
          </p:nvSpPr>
          <p:spPr bwMode="auto">
            <a:xfrm>
              <a:off x="7251777" y="2855968"/>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317" name="Oval 130"/>
            <p:cNvSpPr>
              <a:spLocks noChangeArrowheads="1"/>
            </p:cNvSpPr>
            <p:nvPr/>
          </p:nvSpPr>
          <p:spPr bwMode="auto">
            <a:xfrm>
              <a:off x="7490652" y="2758394"/>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318" name="TextBox 149"/>
            <p:cNvSpPr txBox="1">
              <a:spLocks noChangeArrowheads="1"/>
            </p:cNvSpPr>
            <p:nvPr/>
          </p:nvSpPr>
          <p:spPr bwMode="auto">
            <a:xfrm>
              <a:off x="6795153" y="2987189"/>
              <a:ext cx="50526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2800" b="1" i="0" u="none" strike="noStrike" kern="0" cap="none" spc="0" normalizeH="0" baseline="0" noProof="0" dirty="0">
                  <a:ln>
                    <a:noFill/>
                  </a:ln>
                  <a:solidFill>
                    <a:srgbClr val="000000"/>
                  </a:solidFill>
                  <a:effectLst/>
                  <a:uLnTx/>
                  <a:uFillTx/>
                  <a:latin typeface="Times New Roman" pitchFamily="18" charset="0"/>
                  <a:ea typeface="宋体" charset="-122"/>
                  <a:sym typeface="Wingdings" pitchFamily="2" charset="2"/>
                </a:rPr>
                <a:t></a:t>
              </a:r>
              <a:endParaRPr kumimoji="1" lang="zh-CN" altLang="en-US" sz="2800" b="1" i="0" u="none" strike="noStrike" kern="0" cap="none" spc="0" normalizeH="0" baseline="0" noProof="0" dirty="0">
                <a:ln>
                  <a:noFill/>
                </a:ln>
                <a:solidFill>
                  <a:srgbClr val="000000"/>
                </a:solidFill>
                <a:effectLst/>
                <a:uLnTx/>
                <a:uFillTx/>
                <a:latin typeface="Times New Roman" pitchFamily="18" charset="0"/>
                <a:ea typeface="宋体" charset="-122"/>
              </a:endParaRPr>
            </a:p>
          </p:txBody>
        </p:sp>
        <p:sp>
          <p:nvSpPr>
            <p:cNvPr id="319" name="Oval 202"/>
            <p:cNvSpPr>
              <a:spLocks noChangeArrowheads="1"/>
            </p:cNvSpPr>
            <p:nvPr/>
          </p:nvSpPr>
          <p:spPr bwMode="auto">
            <a:xfrm>
              <a:off x="7966777" y="2531282"/>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cxnSp>
          <p:nvCxnSpPr>
            <p:cNvPr id="320" name="直接连接符 117"/>
            <p:cNvCxnSpPr>
              <a:cxnSpLocks noChangeShapeType="1"/>
            </p:cNvCxnSpPr>
            <p:nvPr/>
          </p:nvCxnSpPr>
          <p:spPr bwMode="auto">
            <a:xfrm flipH="1">
              <a:off x="4726527" y="1506753"/>
              <a:ext cx="4876" cy="2200466"/>
            </a:xfrm>
            <a:prstGeom prst="line">
              <a:avLst/>
            </a:prstGeom>
            <a:noFill/>
            <a:ln w="19050" algn="ctr">
              <a:solidFill>
                <a:srgbClr val="000000"/>
              </a:solidFill>
              <a:prstDash val="dash"/>
              <a:round/>
              <a:headEnd/>
              <a:tailEnd/>
            </a:ln>
            <a:extLst>
              <a:ext uri="{909E8E84-426E-40DD-AFC4-6F175D3DCCD1}">
                <a14:hiddenFill xmlns:a14="http://schemas.microsoft.com/office/drawing/2010/main">
                  <a:noFill/>
                </a14:hiddenFill>
              </a:ext>
            </a:extLst>
          </p:spPr>
        </p:cxnSp>
        <p:cxnSp>
          <p:nvCxnSpPr>
            <p:cNvPr id="321" name="直接连接符 119"/>
            <p:cNvCxnSpPr>
              <a:cxnSpLocks noChangeShapeType="1"/>
            </p:cNvCxnSpPr>
            <p:nvPr/>
          </p:nvCxnSpPr>
          <p:spPr bwMode="auto">
            <a:xfrm>
              <a:off x="2854527" y="2309217"/>
              <a:ext cx="0" cy="1384543"/>
            </a:xfrm>
            <a:prstGeom prst="line">
              <a:avLst/>
            </a:prstGeom>
            <a:noFill/>
            <a:ln w="19050" algn="ctr">
              <a:solidFill>
                <a:srgbClr val="000000"/>
              </a:solidFill>
              <a:prstDash val="dash"/>
              <a:round/>
              <a:headEnd/>
              <a:tailEnd/>
            </a:ln>
            <a:extLst>
              <a:ext uri="{909E8E84-426E-40DD-AFC4-6F175D3DCCD1}">
                <a14:hiddenFill xmlns:a14="http://schemas.microsoft.com/office/drawing/2010/main">
                  <a:noFill/>
                </a14:hiddenFill>
              </a:ext>
            </a:extLst>
          </p:spPr>
        </p:cxnSp>
        <p:sp>
          <p:nvSpPr>
            <p:cNvPr id="249" name="Text Box 91"/>
            <p:cNvSpPr txBox="1">
              <a:spLocks noChangeArrowheads="1"/>
            </p:cNvSpPr>
            <p:nvPr/>
          </p:nvSpPr>
          <p:spPr bwMode="auto">
            <a:xfrm>
              <a:off x="1647153" y="3187385"/>
              <a:ext cx="3129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dirty="0">
                  <a:ln>
                    <a:noFill/>
                  </a:ln>
                  <a:solidFill>
                    <a:srgbClr val="000000"/>
                  </a:solidFill>
                  <a:effectLst/>
                  <a:uLnTx/>
                  <a:uFillTx/>
                  <a:latin typeface="Times New Roman" pitchFamily="18" charset="0"/>
                  <a:ea typeface="宋体" charset="-122"/>
                </a:rPr>
                <a:t>4</a:t>
              </a:r>
            </a:p>
          </p:txBody>
        </p:sp>
      </p:grpSp>
      <p:sp>
        <p:nvSpPr>
          <p:cNvPr id="276" name="Line 167"/>
          <p:cNvSpPr>
            <a:spLocks noChangeShapeType="1"/>
          </p:cNvSpPr>
          <p:nvPr/>
        </p:nvSpPr>
        <p:spPr bwMode="auto">
          <a:xfrm>
            <a:off x="1903934" y="3030216"/>
            <a:ext cx="440153" cy="326776"/>
          </a:xfrm>
          <a:prstGeom prst="line">
            <a:avLst/>
          </a:prstGeom>
          <a:noFill/>
          <a:ln w="76200">
            <a:solidFill>
              <a:srgbClr val="FF0000">
                <a:alpha val="80000"/>
              </a:srgbClr>
            </a:solidFill>
            <a:round/>
            <a:headEnd type="none"/>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121" name="Text Box 5"/>
          <p:cNvSpPr txBox="1">
            <a:spLocks noChangeArrowheads="1"/>
          </p:cNvSpPr>
          <p:nvPr/>
        </p:nvSpPr>
        <p:spPr bwMode="auto">
          <a:xfrm>
            <a:off x="842391" y="4365104"/>
            <a:ext cx="8647113" cy="1815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eaLnBrk="1" hangingPunct="1"/>
            <a:r>
              <a:rPr kumimoji="0" lang="zh-CN" altLang="zh-CN" sz="2800" dirty="0">
                <a:solidFill>
                  <a:srgbClr val="000099"/>
                </a:solidFill>
                <a:latin typeface="Arial" pitchFamily="34" charset="0"/>
                <a:ea typeface="黑体" pitchFamily="2" charset="-122"/>
              </a:rPr>
              <a:t>发送方每收到一个对新报文段的确认</a:t>
            </a:r>
            <a:r>
              <a:rPr kumimoji="0" lang="en-US" altLang="zh-CN" sz="2800" dirty="0">
                <a:solidFill>
                  <a:srgbClr val="000099"/>
                </a:solidFill>
                <a:latin typeface="Arial" pitchFamily="34" charset="0"/>
                <a:ea typeface="黑体" pitchFamily="2" charset="-122"/>
              </a:rPr>
              <a:t> ACK</a:t>
            </a:r>
            <a:r>
              <a:rPr kumimoji="0" lang="zh-CN" altLang="zh-CN" sz="2800" dirty="0">
                <a:solidFill>
                  <a:srgbClr val="000099"/>
                </a:solidFill>
                <a:latin typeface="Arial" pitchFamily="34" charset="0"/>
                <a:ea typeface="黑体" pitchFamily="2" charset="-122"/>
              </a:rPr>
              <a:t>，就把拥塞窗口值加</a:t>
            </a:r>
            <a:r>
              <a:rPr kumimoji="0" lang="en-US" altLang="zh-CN" sz="2800" dirty="0">
                <a:solidFill>
                  <a:srgbClr val="000099"/>
                </a:solidFill>
                <a:latin typeface="Arial" pitchFamily="34" charset="0"/>
                <a:ea typeface="黑体" pitchFamily="2" charset="-122"/>
              </a:rPr>
              <a:t> 1</a:t>
            </a:r>
            <a:r>
              <a:rPr kumimoji="0" lang="zh-CN" altLang="zh-CN" sz="2800" dirty="0">
                <a:solidFill>
                  <a:srgbClr val="000099"/>
                </a:solidFill>
                <a:latin typeface="Arial" pitchFamily="34" charset="0"/>
                <a:ea typeface="黑体" pitchFamily="2" charset="-122"/>
              </a:rPr>
              <a:t>，然后开始下一轮的传输（请注意，横坐标是传输轮次，不是时间）。因此拥塞窗口</a:t>
            </a:r>
            <a:r>
              <a:rPr kumimoji="0" lang="en-US" altLang="zh-CN" sz="2800" dirty="0">
                <a:solidFill>
                  <a:srgbClr val="000099"/>
                </a:solidFill>
                <a:latin typeface="Arial" pitchFamily="34" charset="0"/>
                <a:ea typeface="黑体" pitchFamily="2" charset="-122"/>
              </a:rPr>
              <a:t> </a:t>
            </a:r>
            <a:r>
              <a:rPr kumimoji="0" lang="en-US" altLang="zh-CN" sz="2800" dirty="0" err="1">
                <a:solidFill>
                  <a:srgbClr val="000099"/>
                </a:solidFill>
                <a:latin typeface="Arial" pitchFamily="34" charset="0"/>
                <a:ea typeface="黑体" pitchFamily="2" charset="-122"/>
              </a:rPr>
              <a:t>cwnd</a:t>
            </a:r>
            <a:r>
              <a:rPr kumimoji="0" lang="en-US" altLang="zh-CN" sz="2800" dirty="0">
                <a:solidFill>
                  <a:srgbClr val="000099"/>
                </a:solidFill>
                <a:latin typeface="Arial" pitchFamily="34" charset="0"/>
                <a:ea typeface="黑体" pitchFamily="2" charset="-122"/>
              </a:rPr>
              <a:t> </a:t>
            </a:r>
            <a:r>
              <a:rPr kumimoji="0" lang="zh-CN" altLang="zh-CN" sz="2800" dirty="0">
                <a:solidFill>
                  <a:srgbClr val="000099"/>
                </a:solidFill>
                <a:latin typeface="Arial" pitchFamily="34" charset="0"/>
                <a:ea typeface="黑体" pitchFamily="2" charset="-122"/>
              </a:rPr>
              <a:t>随着传输轮次按指数规律增长。</a:t>
            </a:r>
            <a:endParaRPr kumimoji="0" lang="zh-CN" altLang="en-US" sz="2800" dirty="0">
              <a:solidFill>
                <a:srgbClr val="000099"/>
              </a:solidFill>
              <a:latin typeface="Arial" pitchFamily="34" charset="0"/>
              <a:ea typeface="黑体" pitchFamily="2" charset="-122"/>
            </a:endParaRPr>
          </a:p>
        </p:txBody>
      </p:sp>
    </p:spTree>
    <p:extLst>
      <p:ext uri="{BB962C8B-B14F-4D97-AF65-F5344CB8AC3E}">
        <p14:creationId xmlns:p14="http://schemas.microsoft.com/office/powerpoint/2010/main" val="190467488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 name="Rectangle 5"/>
          <p:cNvSpPr txBox="1">
            <a:spLocks noChangeArrowheads="1"/>
          </p:cNvSpPr>
          <p:nvPr/>
        </p:nvSpPr>
        <p:spPr bwMode="auto">
          <a:xfrm>
            <a:off x="417512" y="152400"/>
            <a:ext cx="91440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kumimoji="1" sz="4400" b="1">
                <a:solidFill>
                  <a:schemeClr val="tx2"/>
                </a:solidFill>
                <a:latin typeface="+mj-lt"/>
                <a:ea typeface="+mj-ea"/>
                <a:cs typeface="+mj-cs"/>
              </a:defRPr>
            </a:lvl1pPr>
            <a:lvl2pPr algn="l" rtl="0" eaLnBrk="0" fontAlgn="base" hangingPunct="0">
              <a:spcBef>
                <a:spcPct val="0"/>
              </a:spcBef>
              <a:spcAft>
                <a:spcPct val="0"/>
              </a:spcAft>
              <a:defRPr kumimoji="1" sz="4400" b="1">
                <a:solidFill>
                  <a:schemeClr val="tx2"/>
                </a:solidFill>
                <a:latin typeface="Tahoma" pitchFamily="34" charset="0"/>
                <a:ea typeface="黑体" pitchFamily="2" charset="-122"/>
              </a:defRPr>
            </a:lvl2pPr>
            <a:lvl3pPr algn="l" rtl="0" eaLnBrk="0" fontAlgn="base" hangingPunct="0">
              <a:spcBef>
                <a:spcPct val="0"/>
              </a:spcBef>
              <a:spcAft>
                <a:spcPct val="0"/>
              </a:spcAft>
              <a:defRPr kumimoji="1" sz="4400" b="1">
                <a:solidFill>
                  <a:schemeClr val="tx2"/>
                </a:solidFill>
                <a:latin typeface="Tahoma" pitchFamily="34" charset="0"/>
                <a:ea typeface="黑体" pitchFamily="2" charset="-122"/>
              </a:defRPr>
            </a:lvl3pPr>
            <a:lvl4pPr algn="l" rtl="0" eaLnBrk="0" fontAlgn="base" hangingPunct="0">
              <a:spcBef>
                <a:spcPct val="0"/>
              </a:spcBef>
              <a:spcAft>
                <a:spcPct val="0"/>
              </a:spcAft>
              <a:defRPr kumimoji="1" sz="4400" b="1">
                <a:solidFill>
                  <a:schemeClr val="tx2"/>
                </a:solidFill>
                <a:latin typeface="Tahoma" pitchFamily="34" charset="0"/>
                <a:ea typeface="黑体" pitchFamily="2" charset="-122"/>
              </a:defRPr>
            </a:lvl4pPr>
            <a:lvl5pPr algn="l" rtl="0" eaLnBrk="0" fontAlgn="base" hangingPunct="0">
              <a:spcBef>
                <a:spcPct val="0"/>
              </a:spcBef>
              <a:spcAft>
                <a:spcPct val="0"/>
              </a:spcAft>
              <a:defRPr kumimoji="1" sz="4400" b="1">
                <a:solidFill>
                  <a:schemeClr val="tx2"/>
                </a:solidFill>
                <a:latin typeface="Tahoma" pitchFamily="34" charset="0"/>
                <a:ea typeface="黑体" pitchFamily="2" charset="-122"/>
              </a:defRPr>
            </a:lvl5pPr>
            <a:lvl6pPr marL="457200" algn="l" rtl="0" fontAlgn="base">
              <a:spcBef>
                <a:spcPct val="0"/>
              </a:spcBef>
              <a:spcAft>
                <a:spcPct val="0"/>
              </a:spcAft>
              <a:defRPr kumimoji="1" sz="4400" b="1">
                <a:solidFill>
                  <a:schemeClr val="tx2"/>
                </a:solidFill>
                <a:latin typeface="Tahoma" pitchFamily="34" charset="0"/>
                <a:ea typeface="黑体" pitchFamily="2" charset="-122"/>
              </a:defRPr>
            </a:lvl6pPr>
            <a:lvl7pPr marL="914400" algn="l" rtl="0" fontAlgn="base">
              <a:spcBef>
                <a:spcPct val="0"/>
              </a:spcBef>
              <a:spcAft>
                <a:spcPct val="0"/>
              </a:spcAft>
              <a:defRPr kumimoji="1" sz="4400" b="1">
                <a:solidFill>
                  <a:schemeClr val="tx2"/>
                </a:solidFill>
                <a:latin typeface="Tahoma" pitchFamily="34" charset="0"/>
                <a:ea typeface="黑体" pitchFamily="2" charset="-122"/>
              </a:defRPr>
            </a:lvl7pPr>
            <a:lvl8pPr marL="1371600" algn="l" rtl="0" fontAlgn="base">
              <a:spcBef>
                <a:spcPct val="0"/>
              </a:spcBef>
              <a:spcAft>
                <a:spcPct val="0"/>
              </a:spcAft>
              <a:defRPr kumimoji="1" sz="4400" b="1">
                <a:solidFill>
                  <a:schemeClr val="tx2"/>
                </a:solidFill>
                <a:latin typeface="Tahoma" pitchFamily="34" charset="0"/>
                <a:ea typeface="黑体" pitchFamily="2" charset="-122"/>
              </a:defRPr>
            </a:lvl8pPr>
            <a:lvl9pPr marL="1828800" algn="l" rtl="0" fontAlgn="base">
              <a:spcBef>
                <a:spcPct val="0"/>
              </a:spcBef>
              <a:spcAft>
                <a:spcPct val="0"/>
              </a:spcAft>
              <a:defRPr kumimoji="1" sz="4400" b="1">
                <a:solidFill>
                  <a:schemeClr val="tx2"/>
                </a:solidFill>
                <a:latin typeface="Tahoma" pitchFamily="34" charset="0"/>
                <a:ea typeface="黑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3200" b="1" i="0" u="none" strike="noStrike" kern="0" cap="none" spc="0" normalizeH="0" baseline="0" noProof="0">
                <a:ln>
                  <a:noFill/>
                </a:ln>
                <a:solidFill>
                  <a:srgbClr val="333399"/>
                </a:solidFill>
                <a:effectLst/>
                <a:uLnTx/>
                <a:uFillTx/>
                <a:latin typeface="Tahoma"/>
                <a:ea typeface="黑体"/>
                <a:cs typeface="+mj-cs"/>
              </a:rPr>
              <a:t>慢开始和拥塞避免算法的实现举例 </a:t>
            </a:r>
          </a:p>
        </p:txBody>
      </p:sp>
      <p:grpSp>
        <p:nvGrpSpPr>
          <p:cNvPr id="3" name="组合 2"/>
          <p:cNvGrpSpPr/>
          <p:nvPr/>
        </p:nvGrpSpPr>
        <p:grpSpPr>
          <a:xfrm>
            <a:off x="272479" y="836711"/>
            <a:ext cx="9536759" cy="3321087"/>
            <a:chOff x="272479" y="836711"/>
            <a:chExt cx="9536759" cy="3321087"/>
          </a:xfrm>
        </p:grpSpPr>
        <p:sp>
          <p:nvSpPr>
            <p:cNvPr id="103" name="Text Box 140"/>
            <p:cNvSpPr txBox="1">
              <a:spLocks noChangeArrowheads="1"/>
            </p:cNvSpPr>
            <p:nvPr/>
          </p:nvSpPr>
          <p:spPr bwMode="auto">
            <a:xfrm>
              <a:off x="4863078" y="985683"/>
              <a:ext cx="11570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2000" b="1" i="0" u="none" strike="noStrike" kern="0" cap="none" spc="0" normalizeH="0" baseline="0" noProof="0" dirty="0">
                  <a:ln>
                    <a:noFill/>
                  </a:ln>
                  <a:solidFill>
                    <a:srgbClr val="FF0000"/>
                  </a:solidFill>
                  <a:effectLst/>
                  <a:uLnTx/>
                  <a:uFillTx/>
                  <a:latin typeface="Times New Roman" pitchFamily="18" charset="0"/>
                  <a:ea typeface="宋体" charset="-122"/>
                </a:rPr>
                <a:t>超时</a:t>
              </a:r>
            </a:p>
          </p:txBody>
        </p:sp>
        <p:sp>
          <p:nvSpPr>
            <p:cNvPr id="104" name="Line 2"/>
            <p:cNvSpPr>
              <a:spLocks noChangeShapeType="1"/>
            </p:cNvSpPr>
            <p:nvPr/>
          </p:nvSpPr>
          <p:spPr bwMode="auto">
            <a:xfrm flipV="1">
              <a:off x="1920153" y="3803111"/>
              <a:ext cx="6358624" cy="5046"/>
            </a:xfrm>
            <a:prstGeom prst="line">
              <a:avLst/>
            </a:prstGeom>
            <a:noFill/>
            <a:ln w="19050">
              <a:solidFill>
                <a:srgbClr val="000000"/>
              </a:solidFill>
              <a:round/>
              <a:headEnd/>
              <a:tail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105" name="Line 3"/>
            <p:cNvSpPr>
              <a:spLocks noChangeShapeType="1"/>
            </p:cNvSpPr>
            <p:nvPr/>
          </p:nvSpPr>
          <p:spPr bwMode="auto">
            <a:xfrm>
              <a:off x="1918528" y="1177019"/>
              <a:ext cx="1626" cy="2631138"/>
            </a:xfrm>
            <a:prstGeom prst="line">
              <a:avLst/>
            </a:prstGeom>
            <a:noFill/>
            <a:ln w="19050">
              <a:solidFill>
                <a:srgbClr val="000000"/>
              </a:solidFill>
              <a:round/>
              <a:headEnd type="triangle" w="sm" len="lg"/>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106" name="Line 4"/>
            <p:cNvSpPr>
              <a:spLocks noChangeShapeType="1"/>
            </p:cNvSpPr>
            <p:nvPr/>
          </p:nvSpPr>
          <p:spPr bwMode="auto">
            <a:xfrm>
              <a:off x="2154153" y="3727407"/>
              <a:ext cx="0" cy="8075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08" name="Line 5"/>
            <p:cNvSpPr>
              <a:spLocks noChangeShapeType="1"/>
            </p:cNvSpPr>
            <p:nvPr/>
          </p:nvSpPr>
          <p:spPr bwMode="auto">
            <a:xfrm>
              <a:off x="2388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09" name="Line 6"/>
            <p:cNvSpPr>
              <a:spLocks noChangeShapeType="1"/>
            </p:cNvSpPr>
            <p:nvPr/>
          </p:nvSpPr>
          <p:spPr bwMode="auto">
            <a:xfrm>
              <a:off x="2622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0" name="Line 7"/>
            <p:cNvSpPr>
              <a:spLocks noChangeShapeType="1"/>
            </p:cNvSpPr>
            <p:nvPr/>
          </p:nvSpPr>
          <p:spPr bwMode="auto">
            <a:xfrm>
              <a:off x="2856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1" name="Line 8"/>
            <p:cNvSpPr>
              <a:spLocks noChangeShapeType="1"/>
            </p:cNvSpPr>
            <p:nvPr/>
          </p:nvSpPr>
          <p:spPr bwMode="auto">
            <a:xfrm>
              <a:off x="3090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2" name="Line 9"/>
            <p:cNvSpPr>
              <a:spLocks noChangeShapeType="1"/>
            </p:cNvSpPr>
            <p:nvPr/>
          </p:nvSpPr>
          <p:spPr bwMode="auto">
            <a:xfrm>
              <a:off x="3324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3" name="Line 10"/>
            <p:cNvSpPr>
              <a:spLocks noChangeShapeType="1"/>
            </p:cNvSpPr>
            <p:nvPr/>
          </p:nvSpPr>
          <p:spPr bwMode="auto">
            <a:xfrm>
              <a:off x="3558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4" name="Line 11"/>
            <p:cNvSpPr>
              <a:spLocks noChangeShapeType="1"/>
            </p:cNvSpPr>
            <p:nvPr/>
          </p:nvSpPr>
          <p:spPr bwMode="auto">
            <a:xfrm>
              <a:off x="3792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5" name="Line 12"/>
            <p:cNvSpPr>
              <a:spLocks noChangeShapeType="1"/>
            </p:cNvSpPr>
            <p:nvPr/>
          </p:nvSpPr>
          <p:spPr bwMode="auto">
            <a:xfrm>
              <a:off x="4026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6" name="Line 13"/>
            <p:cNvSpPr>
              <a:spLocks noChangeShapeType="1"/>
            </p:cNvSpPr>
            <p:nvPr/>
          </p:nvSpPr>
          <p:spPr bwMode="auto">
            <a:xfrm>
              <a:off x="4260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7" name="Line 14"/>
            <p:cNvSpPr>
              <a:spLocks noChangeShapeType="1"/>
            </p:cNvSpPr>
            <p:nvPr/>
          </p:nvSpPr>
          <p:spPr bwMode="auto">
            <a:xfrm>
              <a:off x="4494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8" name="Line 15"/>
            <p:cNvSpPr>
              <a:spLocks noChangeShapeType="1"/>
            </p:cNvSpPr>
            <p:nvPr/>
          </p:nvSpPr>
          <p:spPr bwMode="auto">
            <a:xfrm>
              <a:off x="4728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9" name="Line 16"/>
            <p:cNvSpPr>
              <a:spLocks noChangeShapeType="1"/>
            </p:cNvSpPr>
            <p:nvPr/>
          </p:nvSpPr>
          <p:spPr bwMode="auto">
            <a:xfrm>
              <a:off x="4962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0" name="Line 17"/>
            <p:cNvSpPr>
              <a:spLocks noChangeShapeType="1"/>
            </p:cNvSpPr>
            <p:nvPr/>
          </p:nvSpPr>
          <p:spPr bwMode="auto">
            <a:xfrm>
              <a:off x="5196153" y="3727407"/>
              <a:ext cx="0" cy="8075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1" name="Line 18"/>
            <p:cNvSpPr>
              <a:spLocks noChangeShapeType="1"/>
            </p:cNvSpPr>
            <p:nvPr/>
          </p:nvSpPr>
          <p:spPr bwMode="auto">
            <a:xfrm>
              <a:off x="5430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2" name="Line 19"/>
            <p:cNvSpPr>
              <a:spLocks noChangeShapeType="1"/>
            </p:cNvSpPr>
            <p:nvPr/>
          </p:nvSpPr>
          <p:spPr bwMode="auto">
            <a:xfrm>
              <a:off x="5664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3" name="Line 20"/>
            <p:cNvSpPr>
              <a:spLocks noChangeShapeType="1"/>
            </p:cNvSpPr>
            <p:nvPr/>
          </p:nvSpPr>
          <p:spPr bwMode="auto">
            <a:xfrm>
              <a:off x="5898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4" name="Line 21"/>
            <p:cNvSpPr>
              <a:spLocks noChangeShapeType="1"/>
            </p:cNvSpPr>
            <p:nvPr/>
          </p:nvSpPr>
          <p:spPr bwMode="auto">
            <a:xfrm>
              <a:off x="6132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5" name="Line 22"/>
            <p:cNvSpPr>
              <a:spLocks noChangeShapeType="1"/>
            </p:cNvSpPr>
            <p:nvPr/>
          </p:nvSpPr>
          <p:spPr bwMode="auto">
            <a:xfrm>
              <a:off x="6366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6" name="Line 23"/>
            <p:cNvSpPr>
              <a:spLocks noChangeShapeType="1"/>
            </p:cNvSpPr>
            <p:nvPr/>
          </p:nvSpPr>
          <p:spPr bwMode="auto">
            <a:xfrm>
              <a:off x="6600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7" name="Line 24"/>
            <p:cNvSpPr>
              <a:spLocks noChangeShapeType="1"/>
            </p:cNvSpPr>
            <p:nvPr/>
          </p:nvSpPr>
          <p:spPr bwMode="auto">
            <a:xfrm>
              <a:off x="6834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8" name="Line 25"/>
            <p:cNvSpPr>
              <a:spLocks noChangeShapeType="1"/>
            </p:cNvSpPr>
            <p:nvPr/>
          </p:nvSpPr>
          <p:spPr bwMode="auto">
            <a:xfrm>
              <a:off x="7068152"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30" name="Line 40"/>
            <p:cNvSpPr>
              <a:spLocks noChangeShapeType="1"/>
            </p:cNvSpPr>
            <p:nvPr/>
          </p:nvSpPr>
          <p:spPr bwMode="auto">
            <a:xfrm>
              <a:off x="1920153" y="3404402"/>
              <a:ext cx="2340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31" name="Line 41"/>
            <p:cNvSpPr>
              <a:spLocks noChangeShapeType="1"/>
            </p:cNvSpPr>
            <p:nvPr/>
          </p:nvSpPr>
          <p:spPr bwMode="auto">
            <a:xfrm>
              <a:off x="1920153" y="3000647"/>
              <a:ext cx="2340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32" name="Line 42"/>
            <p:cNvSpPr>
              <a:spLocks noChangeShapeType="1"/>
            </p:cNvSpPr>
            <p:nvPr/>
          </p:nvSpPr>
          <p:spPr bwMode="auto">
            <a:xfrm>
              <a:off x="1920153" y="2596892"/>
              <a:ext cx="2340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33" name="Line 43"/>
            <p:cNvSpPr>
              <a:spLocks noChangeShapeType="1"/>
            </p:cNvSpPr>
            <p:nvPr/>
          </p:nvSpPr>
          <p:spPr bwMode="auto">
            <a:xfrm>
              <a:off x="1920153" y="2193137"/>
              <a:ext cx="2340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34" name="Line 44"/>
            <p:cNvSpPr>
              <a:spLocks noChangeShapeType="1"/>
            </p:cNvSpPr>
            <p:nvPr/>
          </p:nvSpPr>
          <p:spPr bwMode="auto">
            <a:xfrm>
              <a:off x="1920153" y="1789382"/>
              <a:ext cx="2340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35" name="Line 45"/>
            <p:cNvSpPr>
              <a:spLocks noChangeShapeType="1"/>
            </p:cNvSpPr>
            <p:nvPr/>
          </p:nvSpPr>
          <p:spPr bwMode="auto">
            <a:xfrm>
              <a:off x="1920153" y="1385626"/>
              <a:ext cx="2340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36" name="Text Box 77"/>
            <p:cNvSpPr txBox="1">
              <a:spLocks noChangeArrowheads="1"/>
            </p:cNvSpPr>
            <p:nvPr/>
          </p:nvSpPr>
          <p:spPr bwMode="auto">
            <a:xfrm>
              <a:off x="2241903" y="3749277"/>
              <a:ext cx="3129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2</a:t>
              </a:r>
            </a:p>
          </p:txBody>
        </p:sp>
        <p:sp>
          <p:nvSpPr>
            <p:cNvPr id="237" name="Text Box 78"/>
            <p:cNvSpPr txBox="1">
              <a:spLocks noChangeArrowheads="1"/>
            </p:cNvSpPr>
            <p:nvPr/>
          </p:nvSpPr>
          <p:spPr bwMode="auto">
            <a:xfrm>
              <a:off x="2709903" y="3749277"/>
              <a:ext cx="3129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4</a:t>
              </a:r>
            </a:p>
          </p:txBody>
        </p:sp>
        <p:sp>
          <p:nvSpPr>
            <p:cNvPr id="238" name="Text Box 79"/>
            <p:cNvSpPr txBox="1">
              <a:spLocks noChangeArrowheads="1"/>
            </p:cNvSpPr>
            <p:nvPr/>
          </p:nvSpPr>
          <p:spPr bwMode="auto">
            <a:xfrm>
              <a:off x="3177903" y="3749277"/>
              <a:ext cx="3129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6</a:t>
              </a:r>
            </a:p>
          </p:txBody>
        </p:sp>
        <p:sp>
          <p:nvSpPr>
            <p:cNvPr id="239" name="Text Box 80"/>
            <p:cNvSpPr txBox="1">
              <a:spLocks noChangeArrowheads="1"/>
            </p:cNvSpPr>
            <p:nvPr/>
          </p:nvSpPr>
          <p:spPr bwMode="auto">
            <a:xfrm>
              <a:off x="3658903" y="3749277"/>
              <a:ext cx="3129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8</a:t>
              </a:r>
            </a:p>
          </p:txBody>
        </p:sp>
        <p:sp>
          <p:nvSpPr>
            <p:cNvPr id="240" name="Text Box 81"/>
            <p:cNvSpPr txBox="1">
              <a:spLocks noChangeArrowheads="1"/>
            </p:cNvSpPr>
            <p:nvPr/>
          </p:nvSpPr>
          <p:spPr bwMode="auto">
            <a:xfrm>
              <a:off x="4048903" y="3749277"/>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10</a:t>
              </a:r>
            </a:p>
          </p:txBody>
        </p:sp>
        <p:sp>
          <p:nvSpPr>
            <p:cNvPr id="241" name="Text Box 82"/>
            <p:cNvSpPr txBox="1">
              <a:spLocks noChangeArrowheads="1"/>
            </p:cNvSpPr>
            <p:nvPr/>
          </p:nvSpPr>
          <p:spPr bwMode="auto">
            <a:xfrm>
              <a:off x="4555903" y="3749277"/>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12</a:t>
              </a:r>
            </a:p>
          </p:txBody>
        </p:sp>
        <p:sp>
          <p:nvSpPr>
            <p:cNvPr id="242" name="Text Box 83"/>
            <p:cNvSpPr txBox="1">
              <a:spLocks noChangeArrowheads="1"/>
            </p:cNvSpPr>
            <p:nvPr/>
          </p:nvSpPr>
          <p:spPr bwMode="auto">
            <a:xfrm>
              <a:off x="4997903" y="3749277"/>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14</a:t>
              </a:r>
            </a:p>
          </p:txBody>
        </p:sp>
        <p:sp>
          <p:nvSpPr>
            <p:cNvPr id="243" name="Text Box 84"/>
            <p:cNvSpPr txBox="1">
              <a:spLocks noChangeArrowheads="1"/>
            </p:cNvSpPr>
            <p:nvPr/>
          </p:nvSpPr>
          <p:spPr bwMode="auto">
            <a:xfrm>
              <a:off x="5465903" y="3749277"/>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16</a:t>
              </a:r>
            </a:p>
          </p:txBody>
        </p:sp>
        <p:sp>
          <p:nvSpPr>
            <p:cNvPr id="244" name="Text Box 85"/>
            <p:cNvSpPr txBox="1">
              <a:spLocks noChangeArrowheads="1"/>
            </p:cNvSpPr>
            <p:nvPr/>
          </p:nvSpPr>
          <p:spPr bwMode="auto">
            <a:xfrm>
              <a:off x="5950153" y="3749277"/>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18</a:t>
              </a:r>
            </a:p>
          </p:txBody>
        </p:sp>
        <p:sp>
          <p:nvSpPr>
            <p:cNvPr id="245" name="Text Box 86"/>
            <p:cNvSpPr txBox="1">
              <a:spLocks noChangeArrowheads="1"/>
            </p:cNvSpPr>
            <p:nvPr/>
          </p:nvSpPr>
          <p:spPr bwMode="auto">
            <a:xfrm>
              <a:off x="6418153" y="3749277"/>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20</a:t>
              </a:r>
            </a:p>
          </p:txBody>
        </p:sp>
        <p:sp>
          <p:nvSpPr>
            <p:cNvPr id="246" name="Text Box 87"/>
            <p:cNvSpPr txBox="1">
              <a:spLocks noChangeArrowheads="1"/>
            </p:cNvSpPr>
            <p:nvPr/>
          </p:nvSpPr>
          <p:spPr bwMode="auto">
            <a:xfrm>
              <a:off x="6873153" y="3757688"/>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22</a:t>
              </a:r>
            </a:p>
          </p:txBody>
        </p:sp>
        <p:sp>
          <p:nvSpPr>
            <p:cNvPr id="247" name="Text Box 89"/>
            <p:cNvSpPr txBox="1">
              <a:spLocks noChangeArrowheads="1"/>
            </p:cNvSpPr>
            <p:nvPr/>
          </p:nvSpPr>
          <p:spPr bwMode="auto">
            <a:xfrm>
              <a:off x="1812903" y="3749277"/>
              <a:ext cx="3129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0</a:t>
              </a:r>
            </a:p>
          </p:txBody>
        </p:sp>
        <p:sp>
          <p:nvSpPr>
            <p:cNvPr id="248" name="Text Box 90"/>
            <p:cNvSpPr txBox="1">
              <a:spLocks noChangeArrowheads="1"/>
            </p:cNvSpPr>
            <p:nvPr/>
          </p:nvSpPr>
          <p:spPr bwMode="auto">
            <a:xfrm>
              <a:off x="1647153" y="3591140"/>
              <a:ext cx="3129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0</a:t>
              </a:r>
            </a:p>
          </p:txBody>
        </p:sp>
        <p:sp>
          <p:nvSpPr>
            <p:cNvPr id="250" name="Text Box 92"/>
            <p:cNvSpPr txBox="1">
              <a:spLocks noChangeArrowheads="1"/>
            </p:cNvSpPr>
            <p:nvPr/>
          </p:nvSpPr>
          <p:spPr bwMode="auto">
            <a:xfrm>
              <a:off x="1647153" y="2797088"/>
              <a:ext cx="3129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8</a:t>
              </a:r>
            </a:p>
          </p:txBody>
        </p:sp>
        <p:sp>
          <p:nvSpPr>
            <p:cNvPr id="251" name="Text Box 93"/>
            <p:cNvSpPr txBox="1">
              <a:spLocks noChangeArrowheads="1"/>
            </p:cNvSpPr>
            <p:nvPr/>
          </p:nvSpPr>
          <p:spPr bwMode="auto">
            <a:xfrm>
              <a:off x="1530153" y="2406791"/>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12</a:t>
              </a:r>
            </a:p>
          </p:txBody>
        </p:sp>
        <p:sp>
          <p:nvSpPr>
            <p:cNvPr id="252" name="Text Box 94"/>
            <p:cNvSpPr txBox="1">
              <a:spLocks noChangeArrowheads="1"/>
            </p:cNvSpPr>
            <p:nvPr/>
          </p:nvSpPr>
          <p:spPr bwMode="auto">
            <a:xfrm>
              <a:off x="1530153" y="2016494"/>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16</a:t>
              </a:r>
            </a:p>
          </p:txBody>
        </p:sp>
        <p:sp>
          <p:nvSpPr>
            <p:cNvPr id="253" name="Text Box 95"/>
            <p:cNvSpPr txBox="1">
              <a:spLocks noChangeArrowheads="1"/>
            </p:cNvSpPr>
            <p:nvPr/>
          </p:nvSpPr>
          <p:spPr bwMode="auto">
            <a:xfrm>
              <a:off x="1530153" y="1612739"/>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20</a:t>
              </a:r>
            </a:p>
          </p:txBody>
        </p:sp>
        <p:sp>
          <p:nvSpPr>
            <p:cNvPr id="254" name="Text Box 96"/>
            <p:cNvSpPr txBox="1">
              <a:spLocks noChangeArrowheads="1"/>
            </p:cNvSpPr>
            <p:nvPr/>
          </p:nvSpPr>
          <p:spPr bwMode="auto">
            <a:xfrm>
              <a:off x="1530153" y="1208984"/>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24</a:t>
              </a:r>
            </a:p>
          </p:txBody>
        </p:sp>
        <p:sp>
          <p:nvSpPr>
            <p:cNvPr id="255" name="Oval 102"/>
            <p:cNvSpPr>
              <a:spLocks noChangeArrowheads="1"/>
            </p:cNvSpPr>
            <p:nvPr/>
          </p:nvSpPr>
          <p:spPr bwMode="auto">
            <a:xfrm>
              <a:off x="2573403" y="2960272"/>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56" name="Oval 103"/>
            <p:cNvSpPr>
              <a:spLocks noChangeArrowheads="1"/>
            </p:cNvSpPr>
            <p:nvPr/>
          </p:nvSpPr>
          <p:spPr bwMode="auto">
            <a:xfrm>
              <a:off x="2339403" y="3364027"/>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57" name="Oval 104"/>
            <p:cNvSpPr>
              <a:spLocks noChangeArrowheads="1"/>
            </p:cNvSpPr>
            <p:nvPr/>
          </p:nvSpPr>
          <p:spPr bwMode="auto">
            <a:xfrm>
              <a:off x="1881153" y="3626468"/>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58" name="Oval 105"/>
            <p:cNvSpPr>
              <a:spLocks noChangeArrowheads="1"/>
            </p:cNvSpPr>
            <p:nvPr/>
          </p:nvSpPr>
          <p:spPr bwMode="auto">
            <a:xfrm>
              <a:off x="2095653" y="3555811"/>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59" name="Oval 106"/>
            <p:cNvSpPr>
              <a:spLocks noChangeArrowheads="1"/>
            </p:cNvSpPr>
            <p:nvPr/>
          </p:nvSpPr>
          <p:spPr bwMode="auto">
            <a:xfrm>
              <a:off x="2807403" y="2149397"/>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0" name="Oval 107"/>
            <p:cNvSpPr>
              <a:spLocks noChangeArrowheads="1"/>
            </p:cNvSpPr>
            <p:nvPr/>
          </p:nvSpPr>
          <p:spPr bwMode="auto">
            <a:xfrm>
              <a:off x="3041403" y="2041729"/>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1" name="Oval 108"/>
            <p:cNvSpPr>
              <a:spLocks noChangeArrowheads="1"/>
            </p:cNvSpPr>
            <p:nvPr/>
          </p:nvSpPr>
          <p:spPr bwMode="auto">
            <a:xfrm>
              <a:off x="3275403" y="1945837"/>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2" name="Oval 109"/>
            <p:cNvSpPr>
              <a:spLocks noChangeArrowheads="1"/>
            </p:cNvSpPr>
            <p:nvPr/>
          </p:nvSpPr>
          <p:spPr bwMode="auto">
            <a:xfrm>
              <a:off x="3748277" y="1743960"/>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3" name="Oval 110"/>
            <p:cNvSpPr>
              <a:spLocks noChangeArrowheads="1"/>
            </p:cNvSpPr>
            <p:nvPr/>
          </p:nvSpPr>
          <p:spPr bwMode="auto">
            <a:xfrm>
              <a:off x="3509403" y="1844898"/>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4" name="Oval 113"/>
            <p:cNvSpPr>
              <a:spLocks noChangeArrowheads="1"/>
            </p:cNvSpPr>
            <p:nvPr/>
          </p:nvSpPr>
          <p:spPr bwMode="auto">
            <a:xfrm>
              <a:off x="3982277" y="1643021"/>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5" name="Oval 114"/>
            <p:cNvSpPr>
              <a:spLocks noChangeArrowheads="1"/>
            </p:cNvSpPr>
            <p:nvPr/>
          </p:nvSpPr>
          <p:spPr bwMode="auto">
            <a:xfrm>
              <a:off x="4211403" y="1547128"/>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6" name="Oval 116"/>
            <p:cNvSpPr>
              <a:spLocks noChangeArrowheads="1"/>
            </p:cNvSpPr>
            <p:nvPr/>
          </p:nvSpPr>
          <p:spPr bwMode="auto">
            <a:xfrm>
              <a:off x="4674527" y="1330110"/>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7" name="Oval 117"/>
            <p:cNvSpPr>
              <a:spLocks noChangeArrowheads="1"/>
            </p:cNvSpPr>
            <p:nvPr/>
          </p:nvSpPr>
          <p:spPr bwMode="auto">
            <a:xfrm>
              <a:off x="4445403" y="1431049"/>
              <a:ext cx="91000" cy="94210"/>
            </a:xfrm>
            <a:prstGeom prst="ellipse">
              <a:avLst/>
            </a:prstGeom>
            <a:solidFill>
              <a:srgbClr val="0000FF"/>
            </a:solidFill>
            <a:ln w="2857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8" name="Freeform 118"/>
            <p:cNvSpPr>
              <a:spLocks/>
            </p:cNvSpPr>
            <p:nvPr/>
          </p:nvSpPr>
          <p:spPr bwMode="auto">
            <a:xfrm>
              <a:off x="1842153" y="1385626"/>
              <a:ext cx="2881124" cy="2304769"/>
            </a:xfrm>
            <a:custGeom>
              <a:avLst/>
              <a:gdLst>
                <a:gd name="T0" fmla="*/ 2147483647 w 1773"/>
                <a:gd name="T1" fmla="*/ 0 h 1370"/>
                <a:gd name="T2" fmla="*/ 2147483647 w 1773"/>
                <a:gd name="T3" fmla="*/ 2147483647 h 1370"/>
                <a:gd name="T4" fmla="*/ 2147483647 w 1773"/>
                <a:gd name="T5" fmla="*/ 2147483647 h 1370"/>
                <a:gd name="T6" fmla="*/ 2147483647 w 1773"/>
                <a:gd name="T7" fmla="*/ 2147483647 h 1370"/>
                <a:gd name="T8" fmla="*/ 2147483647 w 1773"/>
                <a:gd name="T9" fmla="*/ 2147483647 h 1370"/>
                <a:gd name="T10" fmla="*/ 2147483647 w 1773"/>
                <a:gd name="T11" fmla="*/ 2147483647 h 1370"/>
                <a:gd name="T12" fmla="*/ 0 60000 65536"/>
                <a:gd name="T13" fmla="*/ 0 60000 65536"/>
                <a:gd name="T14" fmla="*/ 0 60000 65536"/>
                <a:gd name="T15" fmla="*/ 0 60000 65536"/>
                <a:gd name="T16" fmla="*/ 0 60000 65536"/>
                <a:gd name="T17" fmla="*/ 0 60000 65536"/>
                <a:gd name="T18" fmla="*/ 0 w 1773"/>
                <a:gd name="T19" fmla="*/ 0 h 1370"/>
                <a:gd name="T20" fmla="*/ 1773 w 1773"/>
                <a:gd name="T21" fmla="*/ 1370 h 1370"/>
              </a:gdLst>
              <a:ahLst/>
              <a:cxnLst>
                <a:cxn ang="T12">
                  <a:pos x="T0" y="T1"/>
                </a:cxn>
                <a:cxn ang="T13">
                  <a:pos x="T2" y="T3"/>
                </a:cxn>
                <a:cxn ang="T14">
                  <a:pos x="T4" y="T5"/>
                </a:cxn>
                <a:cxn ang="T15">
                  <a:pos x="T6" y="T7"/>
                </a:cxn>
                <a:cxn ang="T16">
                  <a:pos x="T8" y="T9"/>
                </a:cxn>
                <a:cxn ang="T17">
                  <a:pos x="T10" y="T11"/>
                </a:cxn>
              </a:cxnLst>
              <a:rect l="T18" t="T19" r="T20" b="T21"/>
              <a:pathLst>
                <a:path w="1773" h="1370">
                  <a:moveTo>
                    <a:pt x="1773" y="0"/>
                  </a:moveTo>
                  <a:lnTo>
                    <a:pt x="618" y="487"/>
                  </a:lnTo>
                  <a:lnTo>
                    <a:pt x="480" y="961"/>
                  </a:lnTo>
                  <a:lnTo>
                    <a:pt x="331" y="1201"/>
                  </a:lnTo>
                  <a:lnTo>
                    <a:pt x="187" y="1321"/>
                  </a:lnTo>
                  <a:cubicBezTo>
                    <a:pt x="47" y="1370"/>
                    <a:pt x="0" y="1369"/>
                    <a:pt x="55" y="1369"/>
                  </a:cubicBezTo>
                </a:path>
              </a:pathLst>
            </a:custGeom>
            <a:noFill/>
            <a:ln w="28575" cmpd="sng">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9" name="Text Box 134"/>
            <p:cNvSpPr txBox="1">
              <a:spLocks noChangeArrowheads="1"/>
            </p:cNvSpPr>
            <p:nvPr/>
          </p:nvSpPr>
          <p:spPr bwMode="auto">
            <a:xfrm>
              <a:off x="8280402" y="3596186"/>
              <a:ext cx="121699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2000" b="1" i="0" u="none" strike="noStrike" kern="0" cap="none" spc="0" normalizeH="0" baseline="0" noProof="0">
                  <a:ln>
                    <a:noFill/>
                  </a:ln>
                  <a:solidFill>
                    <a:srgbClr val="000000"/>
                  </a:solidFill>
                  <a:effectLst/>
                  <a:uLnTx/>
                  <a:uFillTx/>
                  <a:latin typeface="Times New Roman" pitchFamily="18" charset="0"/>
                  <a:ea typeface="宋体" charset="-122"/>
                </a:rPr>
                <a:t>传输轮次</a:t>
              </a:r>
            </a:p>
          </p:txBody>
        </p:sp>
        <p:sp>
          <p:nvSpPr>
            <p:cNvPr id="270" name="Text Box 135"/>
            <p:cNvSpPr txBox="1">
              <a:spLocks noChangeArrowheads="1"/>
            </p:cNvSpPr>
            <p:nvPr/>
          </p:nvSpPr>
          <p:spPr bwMode="auto">
            <a:xfrm>
              <a:off x="966278" y="836711"/>
              <a:ext cx="193033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2000" b="1" i="0" u="none" strike="noStrike" kern="0" cap="none" spc="0" normalizeH="0" baseline="0" noProof="0" dirty="0">
                  <a:ln>
                    <a:noFill/>
                  </a:ln>
                  <a:solidFill>
                    <a:srgbClr val="000000"/>
                  </a:solidFill>
                  <a:effectLst/>
                  <a:uLnTx/>
                  <a:uFillTx/>
                  <a:latin typeface="Times New Roman" pitchFamily="18" charset="0"/>
                  <a:ea typeface="宋体" charset="-122"/>
                </a:rPr>
                <a:t>拥塞窗口  </a:t>
              </a:r>
              <a:r>
                <a:rPr kumimoji="1" lang="en-US" altLang="zh-CN" sz="2000" b="1" i="0" u="none" strike="noStrike" kern="0" cap="none" spc="0" normalizeH="0" baseline="0" noProof="0" dirty="0" err="1">
                  <a:ln>
                    <a:noFill/>
                  </a:ln>
                  <a:solidFill>
                    <a:srgbClr val="000000"/>
                  </a:solidFill>
                  <a:effectLst/>
                  <a:uLnTx/>
                  <a:uFillTx/>
                  <a:latin typeface="Times New Roman" pitchFamily="18" charset="0"/>
                  <a:ea typeface="宋体" charset="-122"/>
                </a:rPr>
                <a:t>cwnd</a:t>
              </a:r>
              <a:endParaRPr kumimoji="1" lang="en-US" altLang="zh-CN" sz="2000" b="1" i="0" u="none" strike="noStrike" kern="0" cap="none" spc="0" normalizeH="0" baseline="0" noProof="0" dirty="0">
                <a:ln>
                  <a:noFill/>
                </a:ln>
                <a:solidFill>
                  <a:srgbClr val="000000"/>
                </a:solidFill>
                <a:effectLst/>
                <a:uLnTx/>
                <a:uFillTx/>
                <a:latin typeface="Times New Roman" pitchFamily="18" charset="0"/>
                <a:ea typeface="宋体" charset="-122"/>
              </a:endParaRPr>
            </a:p>
          </p:txBody>
        </p:sp>
        <p:sp>
          <p:nvSpPr>
            <p:cNvPr id="271" name="Text Box 140"/>
            <p:cNvSpPr txBox="1">
              <a:spLocks noChangeArrowheads="1"/>
            </p:cNvSpPr>
            <p:nvPr/>
          </p:nvSpPr>
          <p:spPr bwMode="auto">
            <a:xfrm>
              <a:off x="7049973" y="1815231"/>
              <a:ext cx="118137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dirty="0">
                  <a:ln>
                    <a:noFill/>
                  </a:ln>
                  <a:solidFill>
                    <a:srgbClr val="FF0000"/>
                  </a:solidFill>
                  <a:effectLst/>
                  <a:uLnTx/>
                  <a:uFillTx/>
                  <a:latin typeface="Times New Roman" pitchFamily="18" charset="0"/>
                  <a:ea typeface="宋体" charset="-122"/>
                </a:rPr>
                <a:t>3-ACK</a:t>
              </a:r>
              <a:endParaRPr kumimoji="1" lang="zh-CN" altLang="en-US" sz="2000" b="1" i="0" u="none" strike="noStrike" kern="0" cap="none" spc="0" normalizeH="0" baseline="0" noProof="0" dirty="0">
                <a:ln>
                  <a:noFill/>
                </a:ln>
                <a:solidFill>
                  <a:srgbClr val="FF0000"/>
                </a:solidFill>
                <a:effectLst/>
                <a:uLnTx/>
                <a:uFillTx/>
                <a:latin typeface="Times New Roman" pitchFamily="18" charset="0"/>
                <a:ea typeface="宋体" charset="-122"/>
              </a:endParaRPr>
            </a:p>
          </p:txBody>
        </p:sp>
        <p:sp>
          <p:nvSpPr>
            <p:cNvPr id="272" name="Rectangle 160"/>
            <p:cNvSpPr>
              <a:spLocks noChangeArrowheads="1"/>
            </p:cNvSpPr>
            <p:nvPr/>
          </p:nvSpPr>
          <p:spPr bwMode="auto">
            <a:xfrm>
              <a:off x="1998153" y="1304875"/>
              <a:ext cx="195000" cy="215336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73" name="Line 156"/>
            <p:cNvSpPr>
              <a:spLocks noChangeShapeType="1"/>
            </p:cNvSpPr>
            <p:nvPr/>
          </p:nvSpPr>
          <p:spPr bwMode="auto">
            <a:xfrm>
              <a:off x="1998153" y="2193137"/>
              <a:ext cx="858000" cy="0"/>
            </a:xfrm>
            <a:prstGeom prst="line">
              <a:avLst/>
            </a:prstGeom>
            <a:noFill/>
            <a:ln w="1905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74" name="Line 146"/>
            <p:cNvSpPr>
              <a:spLocks noChangeShapeType="1"/>
            </p:cNvSpPr>
            <p:nvPr/>
          </p:nvSpPr>
          <p:spPr bwMode="auto">
            <a:xfrm flipV="1">
              <a:off x="1998153" y="1378897"/>
              <a:ext cx="2743000" cy="6729"/>
            </a:xfrm>
            <a:prstGeom prst="line">
              <a:avLst/>
            </a:prstGeom>
            <a:noFill/>
            <a:ln w="1905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75" name="Rectangle 162"/>
            <p:cNvSpPr>
              <a:spLocks noChangeArrowheads="1"/>
            </p:cNvSpPr>
            <p:nvPr/>
          </p:nvSpPr>
          <p:spPr bwMode="auto">
            <a:xfrm>
              <a:off x="5352153" y="3565904"/>
              <a:ext cx="1480374" cy="1615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77" name="Text Box 203"/>
            <p:cNvSpPr txBox="1">
              <a:spLocks noChangeArrowheads="1"/>
            </p:cNvSpPr>
            <p:nvPr/>
          </p:nvSpPr>
          <p:spPr bwMode="auto">
            <a:xfrm>
              <a:off x="8170649" y="1977696"/>
              <a:ext cx="1638589"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b="1" i="0" u="none" strike="noStrike" kern="0" cap="none" spc="0" normalizeH="0" baseline="0" noProof="0" dirty="0">
                  <a:ln>
                    <a:noFill/>
                  </a:ln>
                  <a:solidFill>
                    <a:srgbClr val="0000FF"/>
                  </a:solidFill>
                  <a:effectLst/>
                  <a:uLnTx/>
                  <a:uFillTx/>
                  <a:latin typeface="Times New Roman" pitchFamily="18" charset="0"/>
                  <a:ea typeface="宋体" charset="-122"/>
                </a:rPr>
                <a:t>TCP Reno </a:t>
              </a:r>
            </a:p>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b="1" i="0" u="none" strike="noStrike" kern="0" cap="none" spc="0" normalizeH="0" baseline="0" noProof="0" dirty="0">
                  <a:ln>
                    <a:noFill/>
                  </a:ln>
                  <a:solidFill>
                    <a:srgbClr val="0000FF"/>
                  </a:solidFill>
                  <a:effectLst/>
                  <a:uLnTx/>
                  <a:uFillTx/>
                  <a:latin typeface="Times New Roman" pitchFamily="18" charset="0"/>
                  <a:ea typeface="宋体" charset="-122"/>
                </a:rPr>
                <a:t>版本</a:t>
              </a:r>
            </a:p>
          </p:txBody>
        </p:sp>
        <p:sp>
          <p:nvSpPr>
            <p:cNvPr id="278" name="Text Box 205"/>
            <p:cNvSpPr txBox="1">
              <a:spLocks noChangeArrowheads="1"/>
            </p:cNvSpPr>
            <p:nvPr/>
          </p:nvSpPr>
          <p:spPr bwMode="auto">
            <a:xfrm>
              <a:off x="272479" y="1918920"/>
              <a:ext cx="128112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dirty="0" err="1">
                  <a:ln>
                    <a:noFill/>
                  </a:ln>
                  <a:solidFill>
                    <a:srgbClr val="C00000"/>
                  </a:solidFill>
                  <a:effectLst/>
                  <a:uLnTx/>
                  <a:uFillTx/>
                  <a:latin typeface="Times New Roman" pitchFamily="18" charset="0"/>
                  <a:ea typeface="宋体" charset="-122"/>
                </a:rPr>
                <a:t>ssthresh</a:t>
              </a:r>
              <a:endParaRPr kumimoji="1" lang="en-US" altLang="zh-CN" sz="2000" b="1" i="0" u="none" strike="noStrike" kern="0" cap="none" spc="0" normalizeH="0" baseline="0" noProof="0" dirty="0">
                <a:ln>
                  <a:noFill/>
                </a:ln>
                <a:solidFill>
                  <a:srgbClr val="C00000"/>
                </a:solidFill>
                <a:effectLst/>
                <a:uLnTx/>
                <a:uFillTx/>
                <a:latin typeface="Times New Roman" pitchFamily="18" charset="0"/>
                <a:ea typeface="宋体" charset="-122"/>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2000" b="1" i="0" u="none" strike="noStrike" kern="0" cap="none" spc="0" normalizeH="0" baseline="0" noProof="0" dirty="0">
                  <a:ln>
                    <a:noFill/>
                  </a:ln>
                  <a:solidFill>
                    <a:srgbClr val="C00000"/>
                  </a:solidFill>
                  <a:effectLst/>
                  <a:uLnTx/>
                  <a:uFillTx/>
                  <a:latin typeface="Times New Roman" pitchFamily="18" charset="0"/>
                  <a:ea typeface="宋体" charset="-122"/>
                </a:rPr>
                <a:t> 的初始值</a:t>
              </a:r>
            </a:p>
          </p:txBody>
        </p:sp>
        <p:sp>
          <p:nvSpPr>
            <p:cNvPr id="280" name="Line 215"/>
            <p:cNvSpPr>
              <a:spLocks noChangeShapeType="1"/>
            </p:cNvSpPr>
            <p:nvPr/>
          </p:nvSpPr>
          <p:spPr bwMode="auto">
            <a:xfrm flipV="1">
              <a:off x="1413153" y="2223418"/>
              <a:ext cx="219374" cy="0"/>
            </a:xfrm>
            <a:prstGeom prst="line">
              <a:avLst/>
            </a:prstGeom>
            <a:noFill/>
            <a:ln w="19050">
              <a:solidFill>
                <a:srgbClr val="C00000"/>
              </a:solidFill>
              <a:round/>
              <a:headEnd/>
              <a:tailEnd type="triangle" w="sm"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81" name="Text Box 206"/>
            <p:cNvSpPr txBox="1">
              <a:spLocks noChangeArrowheads="1"/>
            </p:cNvSpPr>
            <p:nvPr/>
          </p:nvSpPr>
          <p:spPr bwMode="auto">
            <a:xfrm rot="20245475">
              <a:off x="6948778" y="2393474"/>
              <a:ext cx="121699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2000" b="1" i="0" u="none" strike="noStrike" kern="0" cap="none" spc="0" normalizeH="0" baseline="0" noProof="0">
                  <a:ln>
                    <a:noFill/>
                  </a:ln>
                  <a:solidFill>
                    <a:srgbClr val="000000"/>
                  </a:solidFill>
                  <a:effectLst/>
                  <a:uLnTx/>
                  <a:uFillTx/>
                  <a:latin typeface="Times New Roman" pitchFamily="18" charset="0"/>
                  <a:ea typeface="宋体" charset="-122"/>
                </a:rPr>
                <a:t>拥塞避免</a:t>
              </a:r>
            </a:p>
          </p:txBody>
        </p:sp>
        <p:sp>
          <p:nvSpPr>
            <p:cNvPr id="282" name="Oval 125"/>
            <p:cNvSpPr>
              <a:spLocks noChangeArrowheads="1"/>
            </p:cNvSpPr>
            <p:nvPr/>
          </p:nvSpPr>
          <p:spPr bwMode="auto">
            <a:xfrm>
              <a:off x="5147403" y="3540670"/>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83" name="Oval 126"/>
            <p:cNvSpPr>
              <a:spLocks noChangeArrowheads="1"/>
            </p:cNvSpPr>
            <p:nvPr/>
          </p:nvSpPr>
          <p:spPr bwMode="auto">
            <a:xfrm>
              <a:off x="5383027" y="3343839"/>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84" name="Oval 127"/>
            <p:cNvSpPr>
              <a:spLocks noChangeArrowheads="1"/>
            </p:cNvSpPr>
            <p:nvPr/>
          </p:nvSpPr>
          <p:spPr bwMode="auto">
            <a:xfrm>
              <a:off x="4903653" y="3616374"/>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85" name="Oval 128"/>
            <p:cNvSpPr>
              <a:spLocks noChangeArrowheads="1"/>
            </p:cNvSpPr>
            <p:nvPr/>
          </p:nvSpPr>
          <p:spPr bwMode="auto">
            <a:xfrm>
              <a:off x="5623527" y="2953542"/>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86" name="Oval 129"/>
            <p:cNvSpPr>
              <a:spLocks noChangeArrowheads="1"/>
            </p:cNvSpPr>
            <p:nvPr/>
          </p:nvSpPr>
          <p:spPr bwMode="auto">
            <a:xfrm>
              <a:off x="6106153" y="2440437"/>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87" name="Oval 130"/>
            <p:cNvSpPr>
              <a:spLocks noChangeArrowheads="1"/>
            </p:cNvSpPr>
            <p:nvPr/>
          </p:nvSpPr>
          <p:spPr bwMode="auto">
            <a:xfrm>
              <a:off x="6795153" y="2147715"/>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88" name="Oval 131"/>
            <p:cNvSpPr>
              <a:spLocks noChangeArrowheads="1"/>
            </p:cNvSpPr>
            <p:nvPr/>
          </p:nvSpPr>
          <p:spPr bwMode="auto">
            <a:xfrm>
              <a:off x="6335277" y="2334451"/>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89" name="Oval 132"/>
            <p:cNvSpPr>
              <a:spLocks noChangeArrowheads="1"/>
            </p:cNvSpPr>
            <p:nvPr/>
          </p:nvSpPr>
          <p:spPr bwMode="auto">
            <a:xfrm>
              <a:off x="6569277" y="2238560"/>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90" name="Line 147"/>
            <p:cNvSpPr>
              <a:spLocks noChangeShapeType="1"/>
            </p:cNvSpPr>
            <p:nvPr/>
          </p:nvSpPr>
          <p:spPr bwMode="auto">
            <a:xfrm rot="10800000">
              <a:off x="2016028" y="2595210"/>
              <a:ext cx="4134000" cy="0"/>
            </a:xfrm>
            <a:prstGeom prst="line">
              <a:avLst/>
            </a:prstGeom>
            <a:noFill/>
            <a:ln w="1905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cxnSp>
          <p:nvCxnSpPr>
            <p:cNvPr id="291" name="直接连接符 115"/>
            <p:cNvCxnSpPr>
              <a:cxnSpLocks noChangeShapeType="1"/>
            </p:cNvCxnSpPr>
            <p:nvPr/>
          </p:nvCxnSpPr>
          <p:spPr bwMode="auto">
            <a:xfrm>
              <a:off x="4728153" y="1375532"/>
              <a:ext cx="234000" cy="2266077"/>
            </a:xfrm>
            <a:prstGeom prst="line">
              <a:avLst/>
            </a:prstGeom>
            <a:noFill/>
            <a:ln w="28575" algn="ctr">
              <a:solidFill>
                <a:srgbClr val="0000FF"/>
              </a:solidFill>
              <a:round/>
              <a:headEnd/>
              <a:tailEnd/>
            </a:ln>
            <a:extLst>
              <a:ext uri="{909E8E84-426E-40DD-AFC4-6F175D3DCCD1}">
                <a14:hiddenFill xmlns:a14="http://schemas.microsoft.com/office/drawing/2010/main">
                  <a:noFill/>
                </a14:hiddenFill>
              </a:ext>
            </a:extLst>
          </p:spPr>
        </p:cxnSp>
        <p:sp>
          <p:nvSpPr>
            <p:cNvPr id="293" name="Rectangle 161"/>
            <p:cNvSpPr>
              <a:spLocks noChangeArrowheads="1"/>
            </p:cNvSpPr>
            <p:nvPr/>
          </p:nvSpPr>
          <p:spPr bwMode="auto">
            <a:xfrm>
              <a:off x="2555757" y="1801158"/>
              <a:ext cx="442000" cy="3684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800" b="1" i="0" u="none" strike="noStrike" kern="0" cap="none" spc="0" normalizeH="0" baseline="0" noProof="0" dirty="0">
                  <a:ln>
                    <a:noFill/>
                  </a:ln>
                  <a:solidFill>
                    <a:sysClr val="windowText" lastClr="000000"/>
                  </a:solidFill>
                  <a:effectLst/>
                  <a:uLnTx/>
                  <a:uFillTx/>
                  <a:sym typeface="Wingdings" pitchFamily="2" charset="2"/>
                </a:rPr>
                <a:t></a:t>
              </a:r>
              <a:endParaRPr kumimoji="0" lang="zh-CN" altLang="en-US" sz="2800" b="1" i="0" u="none" strike="noStrike" kern="0" cap="none" spc="0" normalizeH="0" baseline="0" noProof="0" dirty="0">
                <a:ln>
                  <a:noFill/>
                </a:ln>
                <a:solidFill>
                  <a:sysClr val="windowText" lastClr="000000"/>
                </a:solidFill>
                <a:effectLst/>
                <a:uLnTx/>
                <a:uFillTx/>
              </a:endParaRPr>
            </a:p>
          </p:txBody>
        </p:sp>
        <p:sp>
          <p:nvSpPr>
            <p:cNvPr id="294" name="Oval 129"/>
            <p:cNvSpPr>
              <a:spLocks noChangeArrowheads="1"/>
            </p:cNvSpPr>
            <p:nvPr/>
          </p:nvSpPr>
          <p:spPr bwMode="auto">
            <a:xfrm>
              <a:off x="5868903" y="2549787"/>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95" name="任意多边形 134"/>
            <p:cNvSpPr>
              <a:spLocks/>
            </p:cNvSpPr>
            <p:nvPr/>
          </p:nvSpPr>
          <p:spPr bwMode="auto">
            <a:xfrm>
              <a:off x="4952403" y="2181361"/>
              <a:ext cx="1906124" cy="1485482"/>
            </a:xfrm>
            <a:custGeom>
              <a:avLst/>
              <a:gdLst>
                <a:gd name="T0" fmla="*/ 0 w 1929384"/>
                <a:gd name="T1" fmla="*/ 1404281 h 1426464"/>
                <a:gd name="T2" fmla="*/ 224888 w 1929384"/>
                <a:gd name="T3" fmla="*/ 1336767 h 1426464"/>
                <a:gd name="T4" fmla="*/ 445365 w 1929384"/>
                <a:gd name="T5" fmla="*/ 1152231 h 1426464"/>
                <a:gd name="T6" fmla="*/ 903959 w 1929384"/>
                <a:gd name="T7" fmla="*/ 409583 h 1426464"/>
                <a:gd name="T8" fmla="*/ 1860836 w 1929384"/>
                <a:gd name="T9" fmla="*/ 0 h 1426464"/>
                <a:gd name="T10" fmla="*/ 0 60000 65536"/>
                <a:gd name="T11" fmla="*/ 0 60000 65536"/>
                <a:gd name="T12" fmla="*/ 0 60000 65536"/>
                <a:gd name="T13" fmla="*/ 0 60000 65536"/>
                <a:gd name="T14" fmla="*/ 0 60000 65536"/>
                <a:gd name="T15" fmla="*/ 0 w 1929384"/>
                <a:gd name="T16" fmla="*/ 0 h 1426464"/>
                <a:gd name="T17" fmla="*/ 1929384 w 1929384"/>
                <a:gd name="T18" fmla="*/ 1426464 h 1426464"/>
              </a:gdLst>
              <a:ahLst/>
              <a:cxnLst>
                <a:cxn ang="T10">
                  <a:pos x="T0" y="T1"/>
                </a:cxn>
                <a:cxn ang="T11">
                  <a:pos x="T2" y="T3"/>
                </a:cxn>
                <a:cxn ang="T12">
                  <a:pos x="T4" y="T5"/>
                </a:cxn>
                <a:cxn ang="T13">
                  <a:pos x="T6" y="T7"/>
                </a:cxn>
                <a:cxn ang="T14">
                  <a:pos x="T8" y="T9"/>
                </a:cxn>
              </a:cxnLst>
              <a:rect l="T15" t="T16" r="T17" b="T18"/>
              <a:pathLst>
                <a:path w="1929384" h="1426464">
                  <a:moveTo>
                    <a:pt x="0" y="1426464"/>
                  </a:moveTo>
                  <a:lnTo>
                    <a:pt x="233172" y="1357884"/>
                  </a:lnTo>
                  <a:lnTo>
                    <a:pt x="461772" y="1170432"/>
                  </a:lnTo>
                  <a:lnTo>
                    <a:pt x="937260" y="416052"/>
                  </a:lnTo>
                  <a:lnTo>
                    <a:pt x="1929384" y="0"/>
                  </a:lnTo>
                </a:path>
              </a:pathLst>
            </a:custGeom>
            <a:noFill/>
            <a:ln w="28575" cap="flat" cmpd="sng" algn="ctr">
              <a:solidFill>
                <a:srgbClr val="0000FF"/>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96" name="Rectangle 161"/>
            <p:cNvSpPr>
              <a:spLocks noChangeArrowheads="1"/>
            </p:cNvSpPr>
            <p:nvPr/>
          </p:nvSpPr>
          <p:spPr bwMode="auto">
            <a:xfrm>
              <a:off x="4545899" y="1021117"/>
              <a:ext cx="367250" cy="30618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800" b="1" i="0" u="none" strike="noStrike" kern="0" cap="none" spc="0" normalizeH="0" baseline="0" noProof="0" dirty="0">
                  <a:ln>
                    <a:noFill/>
                  </a:ln>
                  <a:solidFill>
                    <a:sysClr val="windowText" lastClr="000000"/>
                  </a:solidFill>
                  <a:effectLst/>
                  <a:uLnTx/>
                  <a:uFillTx/>
                  <a:sym typeface="Wingdings" pitchFamily="2" charset="2"/>
                </a:rPr>
                <a:t></a:t>
              </a:r>
              <a:endParaRPr kumimoji="0" lang="zh-CN" altLang="en-US" sz="2800" b="1" i="0" u="none" strike="noStrike" kern="0" cap="none" spc="0" normalizeH="0" baseline="0" noProof="0" dirty="0">
                <a:ln>
                  <a:noFill/>
                </a:ln>
                <a:solidFill>
                  <a:sysClr val="windowText" lastClr="000000"/>
                </a:solidFill>
                <a:effectLst/>
                <a:uLnTx/>
                <a:uFillTx/>
              </a:endParaRPr>
            </a:p>
          </p:txBody>
        </p:sp>
        <p:cxnSp>
          <p:nvCxnSpPr>
            <p:cNvPr id="297" name="直接连接符 119"/>
            <p:cNvCxnSpPr>
              <a:cxnSpLocks noChangeShapeType="1"/>
            </p:cNvCxnSpPr>
            <p:nvPr/>
          </p:nvCxnSpPr>
          <p:spPr bwMode="auto">
            <a:xfrm flipH="1">
              <a:off x="7064902" y="3022518"/>
              <a:ext cx="1624" cy="694795"/>
            </a:xfrm>
            <a:prstGeom prst="line">
              <a:avLst/>
            </a:prstGeom>
            <a:noFill/>
            <a:ln w="19050" algn="ctr">
              <a:solidFill>
                <a:srgbClr val="000000"/>
              </a:solidFill>
              <a:prstDash val="dash"/>
              <a:round/>
              <a:headEnd/>
              <a:tailEnd/>
            </a:ln>
          </p:spPr>
        </p:cxnSp>
        <p:cxnSp>
          <p:nvCxnSpPr>
            <p:cNvPr id="298" name="直接连接符 121"/>
            <p:cNvCxnSpPr>
              <a:cxnSpLocks noChangeShapeType="1"/>
            </p:cNvCxnSpPr>
            <p:nvPr/>
          </p:nvCxnSpPr>
          <p:spPr bwMode="auto">
            <a:xfrm>
              <a:off x="2032278" y="3005695"/>
              <a:ext cx="5676125" cy="0"/>
            </a:xfrm>
            <a:prstGeom prst="line">
              <a:avLst/>
            </a:prstGeom>
            <a:noFill/>
            <a:ln w="19050" algn="ctr">
              <a:solidFill>
                <a:srgbClr val="000000"/>
              </a:solidFill>
              <a:prstDash val="dash"/>
              <a:round/>
              <a:headEnd/>
              <a:tailEnd/>
            </a:ln>
          </p:spPr>
        </p:cxnSp>
        <p:sp>
          <p:nvSpPr>
            <p:cNvPr id="299" name="Oval 130"/>
            <p:cNvSpPr>
              <a:spLocks noChangeArrowheads="1"/>
            </p:cNvSpPr>
            <p:nvPr/>
          </p:nvSpPr>
          <p:spPr bwMode="auto">
            <a:xfrm>
              <a:off x="7021027" y="2961955"/>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300" name="Line 24"/>
            <p:cNvSpPr>
              <a:spLocks noChangeShapeType="1"/>
            </p:cNvSpPr>
            <p:nvPr/>
          </p:nvSpPr>
          <p:spPr bwMode="auto">
            <a:xfrm>
              <a:off x="7532902" y="363992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301" name="Line 22"/>
            <p:cNvSpPr>
              <a:spLocks noChangeShapeType="1"/>
            </p:cNvSpPr>
            <p:nvPr/>
          </p:nvSpPr>
          <p:spPr bwMode="auto">
            <a:xfrm>
              <a:off x="7295652" y="3644974"/>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302" name="Text Box 87"/>
            <p:cNvSpPr txBox="1">
              <a:spLocks noChangeArrowheads="1"/>
            </p:cNvSpPr>
            <p:nvPr/>
          </p:nvSpPr>
          <p:spPr bwMode="auto">
            <a:xfrm>
              <a:off x="7311902" y="3754324"/>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24</a:t>
              </a:r>
            </a:p>
          </p:txBody>
        </p:sp>
        <p:sp>
          <p:nvSpPr>
            <p:cNvPr id="303" name="Line 22"/>
            <p:cNvSpPr>
              <a:spLocks noChangeShapeType="1"/>
            </p:cNvSpPr>
            <p:nvPr/>
          </p:nvSpPr>
          <p:spPr bwMode="auto">
            <a:xfrm>
              <a:off x="7776652" y="3653385"/>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cxnSp>
          <p:nvCxnSpPr>
            <p:cNvPr id="304" name="直接连接符 134"/>
            <p:cNvCxnSpPr>
              <a:cxnSpLocks noChangeShapeType="1"/>
              <a:stCxn id="295" idx="4"/>
              <a:endCxn id="299" idx="3"/>
            </p:cNvCxnSpPr>
            <p:nvPr/>
          </p:nvCxnSpPr>
          <p:spPr bwMode="auto">
            <a:xfrm>
              <a:off x="6856903" y="2181361"/>
              <a:ext cx="204750" cy="832745"/>
            </a:xfrm>
            <a:prstGeom prst="line">
              <a:avLst/>
            </a:prstGeom>
            <a:noFill/>
            <a:ln w="28575" algn="ctr">
              <a:solidFill>
                <a:srgbClr val="0000FF"/>
              </a:solidFill>
              <a:round/>
              <a:headEnd/>
              <a:tailEnd/>
            </a:ln>
          </p:spPr>
        </p:cxnSp>
        <p:sp>
          <p:nvSpPr>
            <p:cNvPr id="305" name="Text Box 206"/>
            <p:cNvSpPr txBox="1">
              <a:spLocks noChangeArrowheads="1"/>
            </p:cNvSpPr>
            <p:nvPr/>
          </p:nvSpPr>
          <p:spPr bwMode="auto">
            <a:xfrm rot="20070649">
              <a:off x="5809549" y="2010746"/>
              <a:ext cx="111440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800" b="1" i="0" u="none" strike="noStrike" kern="0" cap="none" spc="0" normalizeH="0" baseline="0" noProof="0" dirty="0">
                  <a:ln>
                    <a:noFill/>
                  </a:ln>
                  <a:solidFill>
                    <a:srgbClr val="000000"/>
                  </a:solidFill>
                  <a:effectLst/>
                  <a:uLnTx/>
                  <a:uFillTx/>
                  <a:latin typeface="Times New Roman" pitchFamily="18" charset="0"/>
                  <a:ea typeface="宋体" charset="-122"/>
                </a:rPr>
                <a:t>拥塞避免</a:t>
              </a:r>
            </a:p>
          </p:txBody>
        </p:sp>
        <p:sp>
          <p:nvSpPr>
            <p:cNvPr id="306" name="Text Box 206"/>
            <p:cNvSpPr txBox="1">
              <a:spLocks noChangeArrowheads="1"/>
            </p:cNvSpPr>
            <p:nvPr/>
          </p:nvSpPr>
          <p:spPr bwMode="auto">
            <a:xfrm rot="20205303">
              <a:off x="2990278" y="1471566"/>
              <a:ext cx="121699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2000" b="1" i="0" u="none" strike="noStrike" kern="0" cap="none" spc="0" normalizeH="0" baseline="0" noProof="0">
                  <a:ln>
                    <a:noFill/>
                  </a:ln>
                  <a:solidFill>
                    <a:srgbClr val="000000"/>
                  </a:solidFill>
                  <a:effectLst/>
                  <a:uLnTx/>
                  <a:uFillTx/>
                  <a:latin typeface="Times New Roman" pitchFamily="18" charset="0"/>
                  <a:ea typeface="宋体" charset="-122"/>
                </a:rPr>
                <a:t>拥塞避免</a:t>
              </a:r>
            </a:p>
          </p:txBody>
        </p:sp>
        <p:sp>
          <p:nvSpPr>
            <p:cNvPr id="307" name="TextBox 147"/>
            <p:cNvSpPr txBox="1">
              <a:spLocks noChangeArrowheads="1"/>
            </p:cNvSpPr>
            <p:nvPr/>
          </p:nvSpPr>
          <p:spPr bwMode="auto">
            <a:xfrm>
              <a:off x="5542277" y="2191455"/>
              <a:ext cx="50526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2800" b="1" i="0" u="none" strike="noStrike" kern="0" cap="none" spc="0" normalizeH="0" baseline="0" noProof="0" dirty="0">
                  <a:ln>
                    <a:noFill/>
                  </a:ln>
                  <a:solidFill>
                    <a:srgbClr val="000000"/>
                  </a:solidFill>
                  <a:effectLst/>
                  <a:uLnTx/>
                  <a:uFillTx/>
                  <a:latin typeface="Times New Roman" pitchFamily="18" charset="0"/>
                  <a:ea typeface="宋体" charset="-122"/>
                  <a:sym typeface="Wingdings" pitchFamily="2" charset="2"/>
                </a:rPr>
                <a:t></a:t>
              </a:r>
              <a:endParaRPr kumimoji="1" lang="zh-CN" altLang="en-US" sz="2800" b="1" i="0" u="none" strike="noStrike" kern="0" cap="none" spc="0" normalizeH="0" baseline="0" noProof="0" dirty="0">
                <a:ln>
                  <a:noFill/>
                </a:ln>
                <a:solidFill>
                  <a:srgbClr val="000000"/>
                </a:solidFill>
                <a:effectLst/>
                <a:uLnTx/>
                <a:uFillTx/>
                <a:latin typeface="Times New Roman" pitchFamily="18" charset="0"/>
                <a:ea typeface="宋体" charset="-122"/>
              </a:endParaRPr>
            </a:p>
          </p:txBody>
        </p:sp>
        <p:sp>
          <p:nvSpPr>
            <p:cNvPr id="308" name="矩形 150"/>
            <p:cNvSpPr>
              <a:spLocks noChangeArrowheads="1"/>
            </p:cNvSpPr>
            <p:nvPr/>
          </p:nvSpPr>
          <p:spPr bwMode="auto">
            <a:xfrm>
              <a:off x="2298778" y="3596186"/>
              <a:ext cx="2575625" cy="126174"/>
            </a:xfrm>
            <a:prstGeom prst="rect">
              <a:avLst/>
            </a:prstGeom>
            <a:solidFill>
              <a:srgbClr val="FFFFFF"/>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309" name="TextBox 148"/>
            <p:cNvSpPr txBox="1">
              <a:spLocks noChangeArrowheads="1"/>
            </p:cNvSpPr>
            <p:nvPr/>
          </p:nvSpPr>
          <p:spPr bwMode="auto">
            <a:xfrm>
              <a:off x="6720403" y="1765829"/>
              <a:ext cx="50526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2800" b="1" i="0" u="none" strike="noStrike" kern="0" cap="none" spc="0" normalizeH="0" baseline="0" noProof="0">
                  <a:ln>
                    <a:noFill/>
                  </a:ln>
                  <a:solidFill>
                    <a:srgbClr val="000000"/>
                  </a:solidFill>
                  <a:effectLst/>
                  <a:uLnTx/>
                  <a:uFillTx/>
                  <a:latin typeface="Times New Roman" pitchFamily="18" charset="0"/>
                  <a:ea typeface="宋体" charset="-122"/>
                  <a:sym typeface="Wingdings" pitchFamily="2" charset="2"/>
                </a:rPr>
                <a:t></a:t>
              </a:r>
              <a:endParaRPr kumimoji="1" lang="zh-CN" altLang="en-US" sz="2800" b="1" i="0" u="none" strike="noStrike" kern="0" cap="none" spc="0" normalizeH="0" baseline="0" noProof="0">
                <a:ln>
                  <a:noFill/>
                </a:ln>
                <a:solidFill>
                  <a:srgbClr val="000000"/>
                </a:solidFill>
                <a:effectLst/>
                <a:uLnTx/>
                <a:uFillTx/>
                <a:latin typeface="Times New Roman" pitchFamily="18" charset="0"/>
                <a:ea typeface="宋体" charset="-122"/>
              </a:endParaRPr>
            </a:p>
          </p:txBody>
        </p:sp>
        <p:sp>
          <p:nvSpPr>
            <p:cNvPr id="311" name="矩形 151"/>
            <p:cNvSpPr>
              <a:spLocks noChangeArrowheads="1"/>
            </p:cNvSpPr>
            <p:nvPr/>
          </p:nvSpPr>
          <p:spPr bwMode="auto">
            <a:xfrm>
              <a:off x="7237152" y="3596186"/>
              <a:ext cx="607750" cy="114397"/>
            </a:xfrm>
            <a:prstGeom prst="rect">
              <a:avLst/>
            </a:prstGeom>
            <a:solidFill>
              <a:srgbClr val="FFFFFF"/>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cxnSp>
          <p:nvCxnSpPr>
            <p:cNvPr id="312" name="直接连接符 153"/>
            <p:cNvCxnSpPr>
              <a:cxnSpLocks noChangeShapeType="1"/>
            </p:cNvCxnSpPr>
            <p:nvPr/>
          </p:nvCxnSpPr>
          <p:spPr bwMode="auto">
            <a:xfrm flipV="1">
              <a:off x="5903027" y="2630538"/>
              <a:ext cx="11376" cy="1043034"/>
            </a:xfrm>
            <a:prstGeom prst="line">
              <a:avLst/>
            </a:prstGeom>
            <a:noFill/>
            <a:ln w="19050" algn="ctr">
              <a:solidFill>
                <a:srgbClr val="000000"/>
              </a:solidFill>
              <a:prstDash val="dash"/>
              <a:round/>
              <a:headEnd/>
              <a:tailEnd/>
            </a:ln>
          </p:spPr>
        </p:cxnSp>
        <p:cxnSp>
          <p:nvCxnSpPr>
            <p:cNvPr id="313" name="直接连接符 157"/>
            <p:cNvCxnSpPr>
              <a:cxnSpLocks noChangeShapeType="1"/>
            </p:cNvCxnSpPr>
            <p:nvPr/>
          </p:nvCxnSpPr>
          <p:spPr bwMode="auto">
            <a:xfrm flipV="1">
              <a:off x="6832527" y="2253700"/>
              <a:ext cx="11376" cy="1520811"/>
            </a:xfrm>
            <a:prstGeom prst="line">
              <a:avLst/>
            </a:prstGeom>
            <a:noFill/>
            <a:ln w="19050" algn="ctr">
              <a:solidFill>
                <a:srgbClr val="000000"/>
              </a:solidFill>
              <a:prstDash val="dash"/>
              <a:round/>
              <a:headEnd/>
              <a:tailEnd/>
            </a:ln>
          </p:spPr>
        </p:cxnSp>
        <p:cxnSp>
          <p:nvCxnSpPr>
            <p:cNvPr id="314" name="直接连接符 141"/>
            <p:cNvCxnSpPr>
              <a:cxnSpLocks noChangeShapeType="1"/>
            </p:cNvCxnSpPr>
            <p:nvPr/>
          </p:nvCxnSpPr>
          <p:spPr bwMode="auto">
            <a:xfrm flipV="1">
              <a:off x="7001527" y="2475765"/>
              <a:ext cx="1248000" cy="560211"/>
            </a:xfrm>
            <a:prstGeom prst="line">
              <a:avLst/>
            </a:prstGeom>
            <a:noFill/>
            <a:ln w="28575" algn="ctr">
              <a:solidFill>
                <a:srgbClr val="0000FF"/>
              </a:solidFill>
              <a:round/>
              <a:headEnd/>
              <a:tailEnd/>
            </a:ln>
          </p:spPr>
        </p:cxnSp>
        <p:sp>
          <p:nvSpPr>
            <p:cNvPr id="315" name="Oval 202"/>
            <p:cNvSpPr>
              <a:spLocks noChangeArrowheads="1"/>
            </p:cNvSpPr>
            <p:nvPr/>
          </p:nvSpPr>
          <p:spPr bwMode="auto">
            <a:xfrm>
              <a:off x="7724652" y="2655773"/>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316" name="Oval 130"/>
            <p:cNvSpPr>
              <a:spLocks noChangeArrowheads="1"/>
            </p:cNvSpPr>
            <p:nvPr/>
          </p:nvSpPr>
          <p:spPr bwMode="auto">
            <a:xfrm>
              <a:off x="7251777" y="2855968"/>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317" name="Oval 130"/>
            <p:cNvSpPr>
              <a:spLocks noChangeArrowheads="1"/>
            </p:cNvSpPr>
            <p:nvPr/>
          </p:nvSpPr>
          <p:spPr bwMode="auto">
            <a:xfrm>
              <a:off x="7490652" y="2758394"/>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318" name="TextBox 149"/>
            <p:cNvSpPr txBox="1">
              <a:spLocks noChangeArrowheads="1"/>
            </p:cNvSpPr>
            <p:nvPr/>
          </p:nvSpPr>
          <p:spPr bwMode="auto">
            <a:xfrm>
              <a:off x="6795153" y="2987189"/>
              <a:ext cx="50526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2800" b="1" i="0" u="none" strike="noStrike" kern="0" cap="none" spc="0" normalizeH="0" baseline="0" noProof="0" dirty="0">
                  <a:ln>
                    <a:noFill/>
                  </a:ln>
                  <a:solidFill>
                    <a:srgbClr val="000000"/>
                  </a:solidFill>
                  <a:effectLst/>
                  <a:uLnTx/>
                  <a:uFillTx/>
                  <a:latin typeface="Times New Roman" pitchFamily="18" charset="0"/>
                  <a:ea typeface="宋体" charset="-122"/>
                  <a:sym typeface="Wingdings" pitchFamily="2" charset="2"/>
                </a:rPr>
                <a:t></a:t>
              </a:r>
              <a:endParaRPr kumimoji="1" lang="zh-CN" altLang="en-US" sz="2800" b="1" i="0" u="none" strike="noStrike" kern="0" cap="none" spc="0" normalizeH="0" baseline="0" noProof="0" dirty="0">
                <a:ln>
                  <a:noFill/>
                </a:ln>
                <a:solidFill>
                  <a:srgbClr val="000000"/>
                </a:solidFill>
                <a:effectLst/>
                <a:uLnTx/>
                <a:uFillTx/>
                <a:latin typeface="Times New Roman" pitchFamily="18" charset="0"/>
                <a:ea typeface="宋体" charset="-122"/>
              </a:endParaRPr>
            </a:p>
          </p:txBody>
        </p:sp>
        <p:sp>
          <p:nvSpPr>
            <p:cNvPr id="319" name="Oval 202"/>
            <p:cNvSpPr>
              <a:spLocks noChangeArrowheads="1"/>
            </p:cNvSpPr>
            <p:nvPr/>
          </p:nvSpPr>
          <p:spPr bwMode="auto">
            <a:xfrm>
              <a:off x="7966777" y="2531282"/>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cxnSp>
          <p:nvCxnSpPr>
            <p:cNvPr id="320" name="直接连接符 117"/>
            <p:cNvCxnSpPr>
              <a:cxnSpLocks noChangeShapeType="1"/>
            </p:cNvCxnSpPr>
            <p:nvPr/>
          </p:nvCxnSpPr>
          <p:spPr bwMode="auto">
            <a:xfrm flipH="1">
              <a:off x="4726527" y="1506753"/>
              <a:ext cx="4876" cy="2200466"/>
            </a:xfrm>
            <a:prstGeom prst="line">
              <a:avLst/>
            </a:prstGeom>
            <a:noFill/>
            <a:ln w="19050" algn="ctr">
              <a:solidFill>
                <a:srgbClr val="000000"/>
              </a:solidFill>
              <a:prstDash val="dash"/>
              <a:round/>
              <a:headEnd/>
              <a:tailEnd/>
            </a:ln>
            <a:extLst>
              <a:ext uri="{909E8E84-426E-40DD-AFC4-6F175D3DCCD1}">
                <a14:hiddenFill xmlns:a14="http://schemas.microsoft.com/office/drawing/2010/main">
                  <a:noFill/>
                </a14:hiddenFill>
              </a:ext>
            </a:extLst>
          </p:spPr>
        </p:cxnSp>
        <p:cxnSp>
          <p:nvCxnSpPr>
            <p:cNvPr id="321" name="直接连接符 119"/>
            <p:cNvCxnSpPr>
              <a:cxnSpLocks noChangeShapeType="1"/>
            </p:cNvCxnSpPr>
            <p:nvPr/>
          </p:nvCxnSpPr>
          <p:spPr bwMode="auto">
            <a:xfrm>
              <a:off x="2854527" y="2309217"/>
              <a:ext cx="0" cy="1384543"/>
            </a:xfrm>
            <a:prstGeom prst="line">
              <a:avLst/>
            </a:prstGeom>
            <a:noFill/>
            <a:ln w="19050" algn="ctr">
              <a:solidFill>
                <a:srgbClr val="000000"/>
              </a:solidFill>
              <a:prstDash val="dash"/>
              <a:round/>
              <a:headEnd/>
              <a:tailEnd/>
            </a:ln>
            <a:extLst>
              <a:ext uri="{909E8E84-426E-40DD-AFC4-6F175D3DCCD1}">
                <a14:hiddenFill xmlns:a14="http://schemas.microsoft.com/office/drawing/2010/main">
                  <a:noFill/>
                </a14:hiddenFill>
              </a:ext>
            </a:extLst>
          </p:spPr>
        </p:cxnSp>
        <p:sp>
          <p:nvSpPr>
            <p:cNvPr id="249" name="Text Box 91"/>
            <p:cNvSpPr txBox="1">
              <a:spLocks noChangeArrowheads="1"/>
            </p:cNvSpPr>
            <p:nvPr/>
          </p:nvSpPr>
          <p:spPr bwMode="auto">
            <a:xfrm>
              <a:off x="1647153" y="3187385"/>
              <a:ext cx="3129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dirty="0">
                  <a:ln>
                    <a:noFill/>
                  </a:ln>
                  <a:solidFill>
                    <a:srgbClr val="000000"/>
                  </a:solidFill>
                  <a:effectLst/>
                  <a:uLnTx/>
                  <a:uFillTx/>
                  <a:latin typeface="Times New Roman" pitchFamily="18" charset="0"/>
                  <a:ea typeface="宋体" charset="-122"/>
                </a:rPr>
                <a:t>4</a:t>
              </a:r>
            </a:p>
          </p:txBody>
        </p:sp>
      </p:grpSp>
      <p:sp>
        <p:nvSpPr>
          <p:cNvPr id="276" name="Line 167"/>
          <p:cNvSpPr>
            <a:spLocks noChangeShapeType="1"/>
          </p:cNvSpPr>
          <p:nvPr/>
        </p:nvSpPr>
        <p:spPr bwMode="auto">
          <a:xfrm>
            <a:off x="2136583" y="2670176"/>
            <a:ext cx="440153" cy="326776"/>
          </a:xfrm>
          <a:prstGeom prst="line">
            <a:avLst/>
          </a:prstGeom>
          <a:noFill/>
          <a:ln w="76200">
            <a:solidFill>
              <a:srgbClr val="FF0000">
                <a:alpha val="80000"/>
              </a:srgbClr>
            </a:solidFill>
            <a:round/>
            <a:headEnd type="none"/>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121" name="Text Box 5"/>
          <p:cNvSpPr txBox="1">
            <a:spLocks noChangeArrowheads="1"/>
          </p:cNvSpPr>
          <p:nvPr/>
        </p:nvSpPr>
        <p:spPr bwMode="auto">
          <a:xfrm>
            <a:off x="842391" y="4365104"/>
            <a:ext cx="8647113" cy="1815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eaLnBrk="1" hangingPunct="1"/>
            <a:r>
              <a:rPr kumimoji="0" lang="zh-CN" altLang="zh-CN" sz="2800" dirty="0">
                <a:solidFill>
                  <a:srgbClr val="000099"/>
                </a:solidFill>
                <a:latin typeface="Arial" pitchFamily="34" charset="0"/>
                <a:ea typeface="黑体" pitchFamily="2" charset="-122"/>
              </a:rPr>
              <a:t>发送方每收到一个对新报文段的确认</a:t>
            </a:r>
            <a:r>
              <a:rPr kumimoji="0" lang="en-US" altLang="zh-CN" sz="2800" dirty="0">
                <a:solidFill>
                  <a:srgbClr val="000099"/>
                </a:solidFill>
                <a:latin typeface="Arial" pitchFamily="34" charset="0"/>
                <a:ea typeface="黑体" pitchFamily="2" charset="-122"/>
              </a:rPr>
              <a:t> ACK</a:t>
            </a:r>
            <a:r>
              <a:rPr kumimoji="0" lang="zh-CN" altLang="zh-CN" sz="2800" dirty="0">
                <a:solidFill>
                  <a:srgbClr val="000099"/>
                </a:solidFill>
                <a:latin typeface="Arial" pitchFamily="34" charset="0"/>
                <a:ea typeface="黑体" pitchFamily="2" charset="-122"/>
              </a:rPr>
              <a:t>，就把拥塞窗口值加</a:t>
            </a:r>
            <a:r>
              <a:rPr kumimoji="0" lang="en-US" altLang="zh-CN" sz="2800" dirty="0">
                <a:solidFill>
                  <a:srgbClr val="000099"/>
                </a:solidFill>
                <a:latin typeface="Arial" pitchFamily="34" charset="0"/>
                <a:ea typeface="黑体" pitchFamily="2" charset="-122"/>
              </a:rPr>
              <a:t> 1</a:t>
            </a:r>
            <a:r>
              <a:rPr kumimoji="0" lang="zh-CN" altLang="zh-CN" sz="2800" dirty="0">
                <a:solidFill>
                  <a:srgbClr val="000099"/>
                </a:solidFill>
                <a:latin typeface="Arial" pitchFamily="34" charset="0"/>
                <a:ea typeface="黑体" pitchFamily="2" charset="-122"/>
              </a:rPr>
              <a:t>，然后开始下一轮的传输（请注意，横坐标是传输轮次，不是时间）。因此拥塞窗口</a:t>
            </a:r>
            <a:r>
              <a:rPr kumimoji="0" lang="en-US" altLang="zh-CN" sz="2800" dirty="0">
                <a:solidFill>
                  <a:srgbClr val="000099"/>
                </a:solidFill>
                <a:latin typeface="Arial" pitchFamily="34" charset="0"/>
                <a:ea typeface="黑体" pitchFamily="2" charset="-122"/>
              </a:rPr>
              <a:t> </a:t>
            </a:r>
            <a:r>
              <a:rPr kumimoji="0" lang="en-US" altLang="zh-CN" sz="2800" dirty="0" err="1">
                <a:solidFill>
                  <a:srgbClr val="000099"/>
                </a:solidFill>
                <a:latin typeface="Arial" pitchFamily="34" charset="0"/>
                <a:ea typeface="黑体" pitchFamily="2" charset="-122"/>
              </a:rPr>
              <a:t>cwnd</a:t>
            </a:r>
            <a:r>
              <a:rPr kumimoji="0" lang="en-US" altLang="zh-CN" sz="2800" dirty="0">
                <a:solidFill>
                  <a:srgbClr val="000099"/>
                </a:solidFill>
                <a:latin typeface="Arial" pitchFamily="34" charset="0"/>
                <a:ea typeface="黑体" pitchFamily="2" charset="-122"/>
              </a:rPr>
              <a:t> </a:t>
            </a:r>
            <a:r>
              <a:rPr kumimoji="0" lang="zh-CN" altLang="zh-CN" sz="2800" dirty="0">
                <a:solidFill>
                  <a:srgbClr val="000099"/>
                </a:solidFill>
                <a:latin typeface="Arial" pitchFamily="34" charset="0"/>
                <a:ea typeface="黑体" pitchFamily="2" charset="-122"/>
              </a:rPr>
              <a:t>随着传输轮次按指数规律增长。</a:t>
            </a:r>
            <a:endParaRPr kumimoji="0" lang="zh-CN" altLang="en-US" sz="2800" dirty="0">
              <a:solidFill>
                <a:srgbClr val="000099"/>
              </a:solidFill>
              <a:latin typeface="Arial" pitchFamily="34" charset="0"/>
              <a:ea typeface="黑体" pitchFamily="2" charset="-122"/>
            </a:endParaRPr>
          </a:p>
        </p:txBody>
      </p:sp>
    </p:spTree>
    <p:extLst>
      <p:ext uri="{BB962C8B-B14F-4D97-AF65-F5344CB8AC3E}">
        <p14:creationId xmlns:p14="http://schemas.microsoft.com/office/powerpoint/2010/main" val="29220561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 name="Rectangle 5"/>
          <p:cNvSpPr txBox="1">
            <a:spLocks noChangeArrowheads="1"/>
          </p:cNvSpPr>
          <p:nvPr/>
        </p:nvSpPr>
        <p:spPr bwMode="auto">
          <a:xfrm>
            <a:off x="417512" y="152400"/>
            <a:ext cx="91440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kumimoji="1" sz="4400" b="1">
                <a:solidFill>
                  <a:schemeClr val="tx2"/>
                </a:solidFill>
                <a:latin typeface="+mj-lt"/>
                <a:ea typeface="+mj-ea"/>
                <a:cs typeface="+mj-cs"/>
              </a:defRPr>
            </a:lvl1pPr>
            <a:lvl2pPr algn="l" rtl="0" eaLnBrk="0" fontAlgn="base" hangingPunct="0">
              <a:spcBef>
                <a:spcPct val="0"/>
              </a:spcBef>
              <a:spcAft>
                <a:spcPct val="0"/>
              </a:spcAft>
              <a:defRPr kumimoji="1" sz="4400" b="1">
                <a:solidFill>
                  <a:schemeClr val="tx2"/>
                </a:solidFill>
                <a:latin typeface="Tahoma" pitchFamily="34" charset="0"/>
                <a:ea typeface="黑体" pitchFamily="2" charset="-122"/>
              </a:defRPr>
            </a:lvl2pPr>
            <a:lvl3pPr algn="l" rtl="0" eaLnBrk="0" fontAlgn="base" hangingPunct="0">
              <a:spcBef>
                <a:spcPct val="0"/>
              </a:spcBef>
              <a:spcAft>
                <a:spcPct val="0"/>
              </a:spcAft>
              <a:defRPr kumimoji="1" sz="4400" b="1">
                <a:solidFill>
                  <a:schemeClr val="tx2"/>
                </a:solidFill>
                <a:latin typeface="Tahoma" pitchFamily="34" charset="0"/>
                <a:ea typeface="黑体" pitchFamily="2" charset="-122"/>
              </a:defRPr>
            </a:lvl3pPr>
            <a:lvl4pPr algn="l" rtl="0" eaLnBrk="0" fontAlgn="base" hangingPunct="0">
              <a:spcBef>
                <a:spcPct val="0"/>
              </a:spcBef>
              <a:spcAft>
                <a:spcPct val="0"/>
              </a:spcAft>
              <a:defRPr kumimoji="1" sz="4400" b="1">
                <a:solidFill>
                  <a:schemeClr val="tx2"/>
                </a:solidFill>
                <a:latin typeface="Tahoma" pitchFamily="34" charset="0"/>
                <a:ea typeface="黑体" pitchFamily="2" charset="-122"/>
              </a:defRPr>
            </a:lvl4pPr>
            <a:lvl5pPr algn="l" rtl="0" eaLnBrk="0" fontAlgn="base" hangingPunct="0">
              <a:spcBef>
                <a:spcPct val="0"/>
              </a:spcBef>
              <a:spcAft>
                <a:spcPct val="0"/>
              </a:spcAft>
              <a:defRPr kumimoji="1" sz="4400" b="1">
                <a:solidFill>
                  <a:schemeClr val="tx2"/>
                </a:solidFill>
                <a:latin typeface="Tahoma" pitchFamily="34" charset="0"/>
                <a:ea typeface="黑体" pitchFamily="2" charset="-122"/>
              </a:defRPr>
            </a:lvl5pPr>
            <a:lvl6pPr marL="457200" algn="l" rtl="0" fontAlgn="base">
              <a:spcBef>
                <a:spcPct val="0"/>
              </a:spcBef>
              <a:spcAft>
                <a:spcPct val="0"/>
              </a:spcAft>
              <a:defRPr kumimoji="1" sz="4400" b="1">
                <a:solidFill>
                  <a:schemeClr val="tx2"/>
                </a:solidFill>
                <a:latin typeface="Tahoma" pitchFamily="34" charset="0"/>
                <a:ea typeface="黑体" pitchFamily="2" charset="-122"/>
              </a:defRPr>
            </a:lvl6pPr>
            <a:lvl7pPr marL="914400" algn="l" rtl="0" fontAlgn="base">
              <a:spcBef>
                <a:spcPct val="0"/>
              </a:spcBef>
              <a:spcAft>
                <a:spcPct val="0"/>
              </a:spcAft>
              <a:defRPr kumimoji="1" sz="4400" b="1">
                <a:solidFill>
                  <a:schemeClr val="tx2"/>
                </a:solidFill>
                <a:latin typeface="Tahoma" pitchFamily="34" charset="0"/>
                <a:ea typeface="黑体" pitchFamily="2" charset="-122"/>
              </a:defRPr>
            </a:lvl7pPr>
            <a:lvl8pPr marL="1371600" algn="l" rtl="0" fontAlgn="base">
              <a:spcBef>
                <a:spcPct val="0"/>
              </a:spcBef>
              <a:spcAft>
                <a:spcPct val="0"/>
              </a:spcAft>
              <a:defRPr kumimoji="1" sz="4400" b="1">
                <a:solidFill>
                  <a:schemeClr val="tx2"/>
                </a:solidFill>
                <a:latin typeface="Tahoma" pitchFamily="34" charset="0"/>
                <a:ea typeface="黑体" pitchFamily="2" charset="-122"/>
              </a:defRPr>
            </a:lvl8pPr>
            <a:lvl9pPr marL="1828800" algn="l" rtl="0" fontAlgn="base">
              <a:spcBef>
                <a:spcPct val="0"/>
              </a:spcBef>
              <a:spcAft>
                <a:spcPct val="0"/>
              </a:spcAft>
              <a:defRPr kumimoji="1" sz="4400" b="1">
                <a:solidFill>
                  <a:schemeClr val="tx2"/>
                </a:solidFill>
                <a:latin typeface="Tahoma" pitchFamily="34" charset="0"/>
                <a:ea typeface="黑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3200" b="1" i="0" u="none" strike="noStrike" kern="0" cap="none" spc="0" normalizeH="0" baseline="0" noProof="0">
                <a:ln>
                  <a:noFill/>
                </a:ln>
                <a:solidFill>
                  <a:srgbClr val="333399"/>
                </a:solidFill>
                <a:effectLst/>
                <a:uLnTx/>
                <a:uFillTx/>
                <a:latin typeface="Tahoma"/>
                <a:ea typeface="黑体"/>
                <a:cs typeface="+mj-cs"/>
              </a:rPr>
              <a:t>慢开始和拥塞避免算法的实现举例 </a:t>
            </a:r>
          </a:p>
        </p:txBody>
      </p:sp>
      <p:grpSp>
        <p:nvGrpSpPr>
          <p:cNvPr id="3" name="组合 2"/>
          <p:cNvGrpSpPr/>
          <p:nvPr/>
        </p:nvGrpSpPr>
        <p:grpSpPr>
          <a:xfrm>
            <a:off x="272479" y="836711"/>
            <a:ext cx="9536759" cy="3321087"/>
            <a:chOff x="272479" y="836711"/>
            <a:chExt cx="9536759" cy="3321087"/>
          </a:xfrm>
        </p:grpSpPr>
        <p:sp>
          <p:nvSpPr>
            <p:cNvPr id="103" name="Text Box 140"/>
            <p:cNvSpPr txBox="1">
              <a:spLocks noChangeArrowheads="1"/>
            </p:cNvSpPr>
            <p:nvPr/>
          </p:nvSpPr>
          <p:spPr bwMode="auto">
            <a:xfrm>
              <a:off x="4863078" y="985683"/>
              <a:ext cx="11570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2000" b="1" i="0" u="none" strike="noStrike" kern="0" cap="none" spc="0" normalizeH="0" baseline="0" noProof="0" dirty="0">
                  <a:ln>
                    <a:noFill/>
                  </a:ln>
                  <a:solidFill>
                    <a:srgbClr val="FF0000"/>
                  </a:solidFill>
                  <a:effectLst/>
                  <a:uLnTx/>
                  <a:uFillTx/>
                  <a:latin typeface="Times New Roman" pitchFamily="18" charset="0"/>
                  <a:ea typeface="宋体" charset="-122"/>
                </a:rPr>
                <a:t>超时</a:t>
              </a:r>
            </a:p>
          </p:txBody>
        </p:sp>
        <p:sp>
          <p:nvSpPr>
            <p:cNvPr id="104" name="Line 2"/>
            <p:cNvSpPr>
              <a:spLocks noChangeShapeType="1"/>
            </p:cNvSpPr>
            <p:nvPr/>
          </p:nvSpPr>
          <p:spPr bwMode="auto">
            <a:xfrm flipV="1">
              <a:off x="1920153" y="3803111"/>
              <a:ext cx="6358624" cy="5046"/>
            </a:xfrm>
            <a:prstGeom prst="line">
              <a:avLst/>
            </a:prstGeom>
            <a:noFill/>
            <a:ln w="19050">
              <a:solidFill>
                <a:srgbClr val="000000"/>
              </a:solidFill>
              <a:round/>
              <a:headEnd/>
              <a:tail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105" name="Line 3"/>
            <p:cNvSpPr>
              <a:spLocks noChangeShapeType="1"/>
            </p:cNvSpPr>
            <p:nvPr/>
          </p:nvSpPr>
          <p:spPr bwMode="auto">
            <a:xfrm>
              <a:off x="1918528" y="1177019"/>
              <a:ext cx="1626" cy="2631138"/>
            </a:xfrm>
            <a:prstGeom prst="line">
              <a:avLst/>
            </a:prstGeom>
            <a:noFill/>
            <a:ln w="19050">
              <a:solidFill>
                <a:srgbClr val="000000"/>
              </a:solidFill>
              <a:round/>
              <a:headEnd type="triangle" w="sm" len="lg"/>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106" name="Line 4"/>
            <p:cNvSpPr>
              <a:spLocks noChangeShapeType="1"/>
            </p:cNvSpPr>
            <p:nvPr/>
          </p:nvSpPr>
          <p:spPr bwMode="auto">
            <a:xfrm>
              <a:off x="2154153" y="3727407"/>
              <a:ext cx="0" cy="8075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08" name="Line 5"/>
            <p:cNvSpPr>
              <a:spLocks noChangeShapeType="1"/>
            </p:cNvSpPr>
            <p:nvPr/>
          </p:nvSpPr>
          <p:spPr bwMode="auto">
            <a:xfrm>
              <a:off x="2388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09" name="Line 6"/>
            <p:cNvSpPr>
              <a:spLocks noChangeShapeType="1"/>
            </p:cNvSpPr>
            <p:nvPr/>
          </p:nvSpPr>
          <p:spPr bwMode="auto">
            <a:xfrm>
              <a:off x="2622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0" name="Line 7"/>
            <p:cNvSpPr>
              <a:spLocks noChangeShapeType="1"/>
            </p:cNvSpPr>
            <p:nvPr/>
          </p:nvSpPr>
          <p:spPr bwMode="auto">
            <a:xfrm>
              <a:off x="2856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1" name="Line 8"/>
            <p:cNvSpPr>
              <a:spLocks noChangeShapeType="1"/>
            </p:cNvSpPr>
            <p:nvPr/>
          </p:nvSpPr>
          <p:spPr bwMode="auto">
            <a:xfrm>
              <a:off x="3090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2" name="Line 9"/>
            <p:cNvSpPr>
              <a:spLocks noChangeShapeType="1"/>
            </p:cNvSpPr>
            <p:nvPr/>
          </p:nvSpPr>
          <p:spPr bwMode="auto">
            <a:xfrm>
              <a:off x="3324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3" name="Line 10"/>
            <p:cNvSpPr>
              <a:spLocks noChangeShapeType="1"/>
            </p:cNvSpPr>
            <p:nvPr/>
          </p:nvSpPr>
          <p:spPr bwMode="auto">
            <a:xfrm>
              <a:off x="3558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4" name="Line 11"/>
            <p:cNvSpPr>
              <a:spLocks noChangeShapeType="1"/>
            </p:cNvSpPr>
            <p:nvPr/>
          </p:nvSpPr>
          <p:spPr bwMode="auto">
            <a:xfrm>
              <a:off x="3792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5" name="Line 12"/>
            <p:cNvSpPr>
              <a:spLocks noChangeShapeType="1"/>
            </p:cNvSpPr>
            <p:nvPr/>
          </p:nvSpPr>
          <p:spPr bwMode="auto">
            <a:xfrm>
              <a:off x="4026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6" name="Line 13"/>
            <p:cNvSpPr>
              <a:spLocks noChangeShapeType="1"/>
            </p:cNvSpPr>
            <p:nvPr/>
          </p:nvSpPr>
          <p:spPr bwMode="auto">
            <a:xfrm>
              <a:off x="4260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7" name="Line 14"/>
            <p:cNvSpPr>
              <a:spLocks noChangeShapeType="1"/>
            </p:cNvSpPr>
            <p:nvPr/>
          </p:nvSpPr>
          <p:spPr bwMode="auto">
            <a:xfrm>
              <a:off x="4494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8" name="Line 15"/>
            <p:cNvSpPr>
              <a:spLocks noChangeShapeType="1"/>
            </p:cNvSpPr>
            <p:nvPr/>
          </p:nvSpPr>
          <p:spPr bwMode="auto">
            <a:xfrm>
              <a:off x="4728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9" name="Line 16"/>
            <p:cNvSpPr>
              <a:spLocks noChangeShapeType="1"/>
            </p:cNvSpPr>
            <p:nvPr/>
          </p:nvSpPr>
          <p:spPr bwMode="auto">
            <a:xfrm>
              <a:off x="4962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0" name="Line 17"/>
            <p:cNvSpPr>
              <a:spLocks noChangeShapeType="1"/>
            </p:cNvSpPr>
            <p:nvPr/>
          </p:nvSpPr>
          <p:spPr bwMode="auto">
            <a:xfrm>
              <a:off x="5196153" y="3727407"/>
              <a:ext cx="0" cy="8075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1" name="Line 18"/>
            <p:cNvSpPr>
              <a:spLocks noChangeShapeType="1"/>
            </p:cNvSpPr>
            <p:nvPr/>
          </p:nvSpPr>
          <p:spPr bwMode="auto">
            <a:xfrm>
              <a:off x="5430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2" name="Line 19"/>
            <p:cNvSpPr>
              <a:spLocks noChangeShapeType="1"/>
            </p:cNvSpPr>
            <p:nvPr/>
          </p:nvSpPr>
          <p:spPr bwMode="auto">
            <a:xfrm>
              <a:off x="5664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3" name="Line 20"/>
            <p:cNvSpPr>
              <a:spLocks noChangeShapeType="1"/>
            </p:cNvSpPr>
            <p:nvPr/>
          </p:nvSpPr>
          <p:spPr bwMode="auto">
            <a:xfrm>
              <a:off x="5898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4" name="Line 21"/>
            <p:cNvSpPr>
              <a:spLocks noChangeShapeType="1"/>
            </p:cNvSpPr>
            <p:nvPr/>
          </p:nvSpPr>
          <p:spPr bwMode="auto">
            <a:xfrm>
              <a:off x="6132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5" name="Line 22"/>
            <p:cNvSpPr>
              <a:spLocks noChangeShapeType="1"/>
            </p:cNvSpPr>
            <p:nvPr/>
          </p:nvSpPr>
          <p:spPr bwMode="auto">
            <a:xfrm>
              <a:off x="6366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6" name="Line 23"/>
            <p:cNvSpPr>
              <a:spLocks noChangeShapeType="1"/>
            </p:cNvSpPr>
            <p:nvPr/>
          </p:nvSpPr>
          <p:spPr bwMode="auto">
            <a:xfrm>
              <a:off x="6600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7" name="Line 24"/>
            <p:cNvSpPr>
              <a:spLocks noChangeShapeType="1"/>
            </p:cNvSpPr>
            <p:nvPr/>
          </p:nvSpPr>
          <p:spPr bwMode="auto">
            <a:xfrm>
              <a:off x="6834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8" name="Line 25"/>
            <p:cNvSpPr>
              <a:spLocks noChangeShapeType="1"/>
            </p:cNvSpPr>
            <p:nvPr/>
          </p:nvSpPr>
          <p:spPr bwMode="auto">
            <a:xfrm>
              <a:off x="7068152"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30" name="Line 40"/>
            <p:cNvSpPr>
              <a:spLocks noChangeShapeType="1"/>
            </p:cNvSpPr>
            <p:nvPr/>
          </p:nvSpPr>
          <p:spPr bwMode="auto">
            <a:xfrm>
              <a:off x="1920153" y="3404402"/>
              <a:ext cx="2340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31" name="Line 41"/>
            <p:cNvSpPr>
              <a:spLocks noChangeShapeType="1"/>
            </p:cNvSpPr>
            <p:nvPr/>
          </p:nvSpPr>
          <p:spPr bwMode="auto">
            <a:xfrm>
              <a:off x="1920153" y="3000647"/>
              <a:ext cx="2340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32" name="Line 42"/>
            <p:cNvSpPr>
              <a:spLocks noChangeShapeType="1"/>
            </p:cNvSpPr>
            <p:nvPr/>
          </p:nvSpPr>
          <p:spPr bwMode="auto">
            <a:xfrm>
              <a:off x="1920153" y="2596892"/>
              <a:ext cx="2340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33" name="Line 43"/>
            <p:cNvSpPr>
              <a:spLocks noChangeShapeType="1"/>
            </p:cNvSpPr>
            <p:nvPr/>
          </p:nvSpPr>
          <p:spPr bwMode="auto">
            <a:xfrm>
              <a:off x="1920153" y="2193137"/>
              <a:ext cx="2340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34" name="Line 44"/>
            <p:cNvSpPr>
              <a:spLocks noChangeShapeType="1"/>
            </p:cNvSpPr>
            <p:nvPr/>
          </p:nvSpPr>
          <p:spPr bwMode="auto">
            <a:xfrm>
              <a:off x="1920153" y="1789382"/>
              <a:ext cx="2340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35" name="Line 45"/>
            <p:cNvSpPr>
              <a:spLocks noChangeShapeType="1"/>
            </p:cNvSpPr>
            <p:nvPr/>
          </p:nvSpPr>
          <p:spPr bwMode="auto">
            <a:xfrm>
              <a:off x="1920153" y="1385626"/>
              <a:ext cx="2340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36" name="Text Box 77"/>
            <p:cNvSpPr txBox="1">
              <a:spLocks noChangeArrowheads="1"/>
            </p:cNvSpPr>
            <p:nvPr/>
          </p:nvSpPr>
          <p:spPr bwMode="auto">
            <a:xfrm>
              <a:off x="2241903" y="3749277"/>
              <a:ext cx="3129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2</a:t>
              </a:r>
            </a:p>
          </p:txBody>
        </p:sp>
        <p:sp>
          <p:nvSpPr>
            <p:cNvPr id="237" name="Text Box 78"/>
            <p:cNvSpPr txBox="1">
              <a:spLocks noChangeArrowheads="1"/>
            </p:cNvSpPr>
            <p:nvPr/>
          </p:nvSpPr>
          <p:spPr bwMode="auto">
            <a:xfrm>
              <a:off x="2709903" y="3749277"/>
              <a:ext cx="3129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4</a:t>
              </a:r>
            </a:p>
          </p:txBody>
        </p:sp>
        <p:sp>
          <p:nvSpPr>
            <p:cNvPr id="238" name="Text Box 79"/>
            <p:cNvSpPr txBox="1">
              <a:spLocks noChangeArrowheads="1"/>
            </p:cNvSpPr>
            <p:nvPr/>
          </p:nvSpPr>
          <p:spPr bwMode="auto">
            <a:xfrm>
              <a:off x="3177903" y="3749277"/>
              <a:ext cx="3129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6</a:t>
              </a:r>
            </a:p>
          </p:txBody>
        </p:sp>
        <p:sp>
          <p:nvSpPr>
            <p:cNvPr id="239" name="Text Box 80"/>
            <p:cNvSpPr txBox="1">
              <a:spLocks noChangeArrowheads="1"/>
            </p:cNvSpPr>
            <p:nvPr/>
          </p:nvSpPr>
          <p:spPr bwMode="auto">
            <a:xfrm>
              <a:off x="3658903" y="3749277"/>
              <a:ext cx="3129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8</a:t>
              </a:r>
            </a:p>
          </p:txBody>
        </p:sp>
        <p:sp>
          <p:nvSpPr>
            <p:cNvPr id="240" name="Text Box 81"/>
            <p:cNvSpPr txBox="1">
              <a:spLocks noChangeArrowheads="1"/>
            </p:cNvSpPr>
            <p:nvPr/>
          </p:nvSpPr>
          <p:spPr bwMode="auto">
            <a:xfrm>
              <a:off x="4048903" y="3749277"/>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10</a:t>
              </a:r>
            </a:p>
          </p:txBody>
        </p:sp>
        <p:sp>
          <p:nvSpPr>
            <p:cNvPr id="241" name="Text Box 82"/>
            <p:cNvSpPr txBox="1">
              <a:spLocks noChangeArrowheads="1"/>
            </p:cNvSpPr>
            <p:nvPr/>
          </p:nvSpPr>
          <p:spPr bwMode="auto">
            <a:xfrm>
              <a:off x="4555903" y="3749277"/>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12</a:t>
              </a:r>
            </a:p>
          </p:txBody>
        </p:sp>
        <p:sp>
          <p:nvSpPr>
            <p:cNvPr id="242" name="Text Box 83"/>
            <p:cNvSpPr txBox="1">
              <a:spLocks noChangeArrowheads="1"/>
            </p:cNvSpPr>
            <p:nvPr/>
          </p:nvSpPr>
          <p:spPr bwMode="auto">
            <a:xfrm>
              <a:off x="4997903" y="3749277"/>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14</a:t>
              </a:r>
            </a:p>
          </p:txBody>
        </p:sp>
        <p:sp>
          <p:nvSpPr>
            <p:cNvPr id="243" name="Text Box 84"/>
            <p:cNvSpPr txBox="1">
              <a:spLocks noChangeArrowheads="1"/>
            </p:cNvSpPr>
            <p:nvPr/>
          </p:nvSpPr>
          <p:spPr bwMode="auto">
            <a:xfrm>
              <a:off x="5465903" y="3749277"/>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16</a:t>
              </a:r>
            </a:p>
          </p:txBody>
        </p:sp>
        <p:sp>
          <p:nvSpPr>
            <p:cNvPr id="244" name="Text Box 85"/>
            <p:cNvSpPr txBox="1">
              <a:spLocks noChangeArrowheads="1"/>
            </p:cNvSpPr>
            <p:nvPr/>
          </p:nvSpPr>
          <p:spPr bwMode="auto">
            <a:xfrm>
              <a:off x="5950153" y="3749277"/>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18</a:t>
              </a:r>
            </a:p>
          </p:txBody>
        </p:sp>
        <p:sp>
          <p:nvSpPr>
            <p:cNvPr id="245" name="Text Box 86"/>
            <p:cNvSpPr txBox="1">
              <a:spLocks noChangeArrowheads="1"/>
            </p:cNvSpPr>
            <p:nvPr/>
          </p:nvSpPr>
          <p:spPr bwMode="auto">
            <a:xfrm>
              <a:off x="6418153" y="3749277"/>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20</a:t>
              </a:r>
            </a:p>
          </p:txBody>
        </p:sp>
        <p:sp>
          <p:nvSpPr>
            <p:cNvPr id="246" name="Text Box 87"/>
            <p:cNvSpPr txBox="1">
              <a:spLocks noChangeArrowheads="1"/>
            </p:cNvSpPr>
            <p:nvPr/>
          </p:nvSpPr>
          <p:spPr bwMode="auto">
            <a:xfrm>
              <a:off x="6873153" y="3757688"/>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22</a:t>
              </a:r>
            </a:p>
          </p:txBody>
        </p:sp>
        <p:sp>
          <p:nvSpPr>
            <p:cNvPr id="247" name="Text Box 89"/>
            <p:cNvSpPr txBox="1">
              <a:spLocks noChangeArrowheads="1"/>
            </p:cNvSpPr>
            <p:nvPr/>
          </p:nvSpPr>
          <p:spPr bwMode="auto">
            <a:xfrm>
              <a:off x="1812903" y="3749277"/>
              <a:ext cx="3129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0</a:t>
              </a:r>
            </a:p>
          </p:txBody>
        </p:sp>
        <p:sp>
          <p:nvSpPr>
            <p:cNvPr id="248" name="Text Box 90"/>
            <p:cNvSpPr txBox="1">
              <a:spLocks noChangeArrowheads="1"/>
            </p:cNvSpPr>
            <p:nvPr/>
          </p:nvSpPr>
          <p:spPr bwMode="auto">
            <a:xfrm>
              <a:off x="1647153" y="3591140"/>
              <a:ext cx="3129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0</a:t>
              </a:r>
            </a:p>
          </p:txBody>
        </p:sp>
        <p:sp>
          <p:nvSpPr>
            <p:cNvPr id="250" name="Text Box 92"/>
            <p:cNvSpPr txBox="1">
              <a:spLocks noChangeArrowheads="1"/>
            </p:cNvSpPr>
            <p:nvPr/>
          </p:nvSpPr>
          <p:spPr bwMode="auto">
            <a:xfrm>
              <a:off x="1647153" y="2797088"/>
              <a:ext cx="3129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8</a:t>
              </a:r>
            </a:p>
          </p:txBody>
        </p:sp>
        <p:sp>
          <p:nvSpPr>
            <p:cNvPr id="251" name="Text Box 93"/>
            <p:cNvSpPr txBox="1">
              <a:spLocks noChangeArrowheads="1"/>
            </p:cNvSpPr>
            <p:nvPr/>
          </p:nvSpPr>
          <p:spPr bwMode="auto">
            <a:xfrm>
              <a:off x="1530153" y="2406791"/>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12</a:t>
              </a:r>
            </a:p>
          </p:txBody>
        </p:sp>
        <p:sp>
          <p:nvSpPr>
            <p:cNvPr id="252" name="Text Box 94"/>
            <p:cNvSpPr txBox="1">
              <a:spLocks noChangeArrowheads="1"/>
            </p:cNvSpPr>
            <p:nvPr/>
          </p:nvSpPr>
          <p:spPr bwMode="auto">
            <a:xfrm>
              <a:off x="1530153" y="2016494"/>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16</a:t>
              </a:r>
            </a:p>
          </p:txBody>
        </p:sp>
        <p:sp>
          <p:nvSpPr>
            <p:cNvPr id="253" name="Text Box 95"/>
            <p:cNvSpPr txBox="1">
              <a:spLocks noChangeArrowheads="1"/>
            </p:cNvSpPr>
            <p:nvPr/>
          </p:nvSpPr>
          <p:spPr bwMode="auto">
            <a:xfrm>
              <a:off x="1530153" y="1612739"/>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20</a:t>
              </a:r>
            </a:p>
          </p:txBody>
        </p:sp>
        <p:sp>
          <p:nvSpPr>
            <p:cNvPr id="254" name="Text Box 96"/>
            <p:cNvSpPr txBox="1">
              <a:spLocks noChangeArrowheads="1"/>
            </p:cNvSpPr>
            <p:nvPr/>
          </p:nvSpPr>
          <p:spPr bwMode="auto">
            <a:xfrm>
              <a:off x="1530153" y="1208984"/>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24</a:t>
              </a:r>
            </a:p>
          </p:txBody>
        </p:sp>
        <p:sp>
          <p:nvSpPr>
            <p:cNvPr id="255" name="Oval 102"/>
            <p:cNvSpPr>
              <a:spLocks noChangeArrowheads="1"/>
            </p:cNvSpPr>
            <p:nvPr/>
          </p:nvSpPr>
          <p:spPr bwMode="auto">
            <a:xfrm>
              <a:off x="2573403" y="2960272"/>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56" name="Oval 103"/>
            <p:cNvSpPr>
              <a:spLocks noChangeArrowheads="1"/>
            </p:cNvSpPr>
            <p:nvPr/>
          </p:nvSpPr>
          <p:spPr bwMode="auto">
            <a:xfrm>
              <a:off x="2339403" y="3364027"/>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57" name="Oval 104"/>
            <p:cNvSpPr>
              <a:spLocks noChangeArrowheads="1"/>
            </p:cNvSpPr>
            <p:nvPr/>
          </p:nvSpPr>
          <p:spPr bwMode="auto">
            <a:xfrm>
              <a:off x="1881153" y="3626468"/>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58" name="Oval 105"/>
            <p:cNvSpPr>
              <a:spLocks noChangeArrowheads="1"/>
            </p:cNvSpPr>
            <p:nvPr/>
          </p:nvSpPr>
          <p:spPr bwMode="auto">
            <a:xfrm>
              <a:off x="2095653" y="3555811"/>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59" name="Oval 106"/>
            <p:cNvSpPr>
              <a:spLocks noChangeArrowheads="1"/>
            </p:cNvSpPr>
            <p:nvPr/>
          </p:nvSpPr>
          <p:spPr bwMode="auto">
            <a:xfrm>
              <a:off x="2807403" y="2149397"/>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0" name="Oval 107"/>
            <p:cNvSpPr>
              <a:spLocks noChangeArrowheads="1"/>
            </p:cNvSpPr>
            <p:nvPr/>
          </p:nvSpPr>
          <p:spPr bwMode="auto">
            <a:xfrm>
              <a:off x="3041403" y="2041729"/>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1" name="Oval 108"/>
            <p:cNvSpPr>
              <a:spLocks noChangeArrowheads="1"/>
            </p:cNvSpPr>
            <p:nvPr/>
          </p:nvSpPr>
          <p:spPr bwMode="auto">
            <a:xfrm>
              <a:off x="3275403" y="1945837"/>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2" name="Oval 109"/>
            <p:cNvSpPr>
              <a:spLocks noChangeArrowheads="1"/>
            </p:cNvSpPr>
            <p:nvPr/>
          </p:nvSpPr>
          <p:spPr bwMode="auto">
            <a:xfrm>
              <a:off x="3748277" y="1743960"/>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3" name="Oval 110"/>
            <p:cNvSpPr>
              <a:spLocks noChangeArrowheads="1"/>
            </p:cNvSpPr>
            <p:nvPr/>
          </p:nvSpPr>
          <p:spPr bwMode="auto">
            <a:xfrm>
              <a:off x="3509403" y="1844898"/>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4" name="Oval 113"/>
            <p:cNvSpPr>
              <a:spLocks noChangeArrowheads="1"/>
            </p:cNvSpPr>
            <p:nvPr/>
          </p:nvSpPr>
          <p:spPr bwMode="auto">
            <a:xfrm>
              <a:off x="3982277" y="1643021"/>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5" name="Oval 114"/>
            <p:cNvSpPr>
              <a:spLocks noChangeArrowheads="1"/>
            </p:cNvSpPr>
            <p:nvPr/>
          </p:nvSpPr>
          <p:spPr bwMode="auto">
            <a:xfrm>
              <a:off x="4211403" y="1547128"/>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6" name="Oval 116"/>
            <p:cNvSpPr>
              <a:spLocks noChangeArrowheads="1"/>
            </p:cNvSpPr>
            <p:nvPr/>
          </p:nvSpPr>
          <p:spPr bwMode="auto">
            <a:xfrm>
              <a:off x="4674527" y="1330110"/>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7" name="Oval 117"/>
            <p:cNvSpPr>
              <a:spLocks noChangeArrowheads="1"/>
            </p:cNvSpPr>
            <p:nvPr/>
          </p:nvSpPr>
          <p:spPr bwMode="auto">
            <a:xfrm>
              <a:off x="4445403" y="1431049"/>
              <a:ext cx="91000" cy="94210"/>
            </a:xfrm>
            <a:prstGeom prst="ellipse">
              <a:avLst/>
            </a:prstGeom>
            <a:solidFill>
              <a:srgbClr val="0000FF"/>
            </a:solidFill>
            <a:ln w="2857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8" name="Freeform 118"/>
            <p:cNvSpPr>
              <a:spLocks/>
            </p:cNvSpPr>
            <p:nvPr/>
          </p:nvSpPr>
          <p:spPr bwMode="auto">
            <a:xfrm>
              <a:off x="1842153" y="1385626"/>
              <a:ext cx="2881124" cy="2304769"/>
            </a:xfrm>
            <a:custGeom>
              <a:avLst/>
              <a:gdLst>
                <a:gd name="T0" fmla="*/ 2147483647 w 1773"/>
                <a:gd name="T1" fmla="*/ 0 h 1370"/>
                <a:gd name="T2" fmla="*/ 2147483647 w 1773"/>
                <a:gd name="T3" fmla="*/ 2147483647 h 1370"/>
                <a:gd name="T4" fmla="*/ 2147483647 w 1773"/>
                <a:gd name="T5" fmla="*/ 2147483647 h 1370"/>
                <a:gd name="T6" fmla="*/ 2147483647 w 1773"/>
                <a:gd name="T7" fmla="*/ 2147483647 h 1370"/>
                <a:gd name="T8" fmla="*/ 2147483647 w 1773"/>
                <a:gd name="T9" fmla="*/ 2147483647 h 1370"/>
                <a:gd name="T10" fmla="*/ 2147483647 w 1773"/>
                <a:gd name="T11" fmla="*/ 2147483647 h 1370"/>
                <a:gd name="T12" fmla="*/ 0 60000 65536"/>
                <a:gd name="T13" fmla="*/ 0 60000 65536"/>
                <a:gd name="T14" fmla="*/ 0 60000 65536"/>
                <a:gd name="T15" fmla="*/ 0 60000 65536"/>
                <a:gd name="T16" fmla="*/ 0 60000 65536"/>
                <a:gd name="T17" fmla="*/ 0 60000 65536"/>
                <a:gd name="T18" fmla="*/ 0 w 1773"/>
                <a:gd name="T19" fmla="*/ 0 h 1370"/>
                <a:gd name="T20" fmla="*/ 1773 w 1773"/>
                <a:gd name="T21" fmla="*/ 1370 h 1370"/>
              </a:gdLst>
              <a:ahLst/>
              <a:cxnLst>
                <a:cxn ang="T12">
                  <a:pos x="T0" y="T1"/>
                </a:cxn>
                <a:cxn ang="T13">
                  <a:pos x="T2" y="T3"/>
                </a:cxn>
                <a:cxn ang="T14">
                  <a:pos x="T4" y="T5"/>
                </a:cxn>
                <a:cxn ang="T15">
                  <a:pos x="T6" y="T7"/>
                </a:cxn>
                <a:cxn ang="T16">
                  <a:pos x="T8" y="T9"/>
                </a:cxn>
                <a:cxn ang="T17">
                  <a:pos x="T10" y="T11"/>
                </a:cxn>
              </a:cxnLst>
              <a:rect l="T18" t="T19" r="T20" b="T21"/>
              <a:pathLst>
                <a:path w="1773" h="1370">
                  <a:moveTo>
                    <a:pt x="1773" y="0"/>
                  </a:moveTo>
                  <a:lnTo>
                    <a:pt x="618" y="487"/>
                  </a:lnTo>
                  <a:lnTo>
                    <a:pt x="480" y="961"/>
                  </a:lnTo>
                  <a:lnTo>
                    <a:pt x="331" y="1201"/>
                  </a:lnTo>
                  <a:lnTo>
                    <a:pt x="187" y="1321"/>
                  </a:lnTo>
                  <a:cubicBezTo>
                    <a:pt x="47" y="1370"/>
                    <a:pt x="0" y="1369"/>
                    <a:pt x="55" y="1369"/>
                  </a:cubicBezTo>
                </a:path>
              </a:pathLst>
            </a:custGeom>
            <a:noFill/>
            <a:ln w="28575" cmpd="sng">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9" name="Text Box 134"/>
            <p:cNvSpPr txBox="1">
              <a:spLocks noChangeArrowheads="1"/>
            </p:cNvSpPr>
            <p:nvPr/>
          </p:nvSpPr>
          <p:spPr bwMode="auto">
            <a:xfrm>
              <a:off x="8280402" y="3596186"/>
              <a:ext cx="121699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2000" b="1" i="0" u="none" strike="noStrike" kern="0" cap="none" spc="0" normalizeH="0" baseline="0" noProof="0">
                  <a:ln>
                    <a:noFill/>
                  </a:ln>
                  <a:solidFill>
                    <a:srgbClr val="000000"/>
                  </a:solidFill>
                  <a:effectLst/>
                  <a:uLnTx/>
                  <a:uFillTx/>
                  <a:latin typeface="Times New Roman" pitchFamily="18" charset="0"/>
                  <a:ea typeface="宋体" charset="-122"/>
                </a:rPr>
                <a:t>传输轮次</a:t>
              </a:r>
            </a:p>
          </p:txBody>
        </p:sp>
        <p:sp>
          <p:nvSpPr>
            <p:cNvPr id="270" name="Text Box 135"/>
            <p:cNvSpPr txBox="1">
              <a:spLocks noChangeArrowheads="1"/>
            </p:cNvSpPr>
            <p:nvPr/>
          </p:nvSpPr>
          <p:spPr bwMode="auto">
            <a:xfrm>
              <a:off x="966278" y="836711"/>
              <a:ext cx="193033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2000" b="1" i="0" u="none" strike="noStrike" kern="0" cap="none" spc="0" normalizeH="0" baseline="0" noProof="0" dirty="0">
                  <a:ln>
                    <a:noFill/>
                  </a:ln>
                  <a:solidFill>
                    <a:srgbClr val="000000"/>
                  </a:solidFill>
                  <a:effectLst/>
                  <a:uLnTx/>
                  <a:uFillTx/>
                  <a:latin typeface="Times New Roman" pitchFamily="18" charset="0"/>
                  <a:ea typeface="宋体" charset="-122"/>
                </a:rPr>
                <a:t>拥塞窗口  </a:t>
              </a:r>
              <a:r>
                <a:rPr kumimoji="1" lang="en-US" altLang="zh-CN" sz="2000" b="1" i="0" u="none" strike="noStrike" kern="0" cap="none" spc="0" normalizeH="0" baseline="0" noProof="0" dirty="0" err="1">
                  <a:ln>
                    <a:noFill/>
                  </a:ln>
                  <a:solidFill>
                    <a:srgbClr val="000000"/>
                  </a:solidFill>
                  <a:effectLst/>
                  <a:uLnTx/>
                  <a:uFillTx/>
                  <a:latin typeface="Times New Roman" pitchFamily="18" charset="0"/>
                  <a:ea typeface="宋体" charset="-122"/>
                </a:rPr>
                <a:t>cwnd</a:t>
              </a:r>
              <a:endParaRPr kumimoji="1" lang="en-US" altLang="zh-CN" sz="2000" b="1" i="0" u="none" strike="noStrike" kern="0" cap="none" spc="0" normalizeH="0" baseline="0" noProof="0" dirty="0">
                <a:ln>
                  <a:noFill/>
                </a:ln>
                <a:solidFill>
                  <a:srgbClr val="000000"/>
                </a:solidFill>
                <a:effectLst/>
                <a:uLnTx/>
                <a:uFillTx/>
                <a:latin typeface="Times New Roman" pitchFamily="18" charset="0"/>
                <a:ea typeface="宋体" charset="-122"/>
              </a:endParaRPr>
            </a:p>
          </p:txBody>
        </p:sp>
        <p:sp>
          <p:nvSpPr>
            <p:cNvPr id="271" name="Text Box 140"/>
            <p:cNvSpPr txBox="1">
              <a:spLocks noChangeArrowheads="1"/>
            </p:cNvSpPr>
            <p:nvPr/>
          </p:nvSpPr>
          <p:spPr bwMode="auto">
            <a:xfrm>
              <a:off x="7049973" y="1815231"/>
              <a:ext cx="118137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dirty="0">
                  <a:ln>
                    <a:noFill/>
                  </a:ln>
                  <a:solidFill>
                    <a:srgbClr val="FF0000"/>
                  </a:solidFill>
                  <a:effectLst/>
                  <a:uLnTx/>
                  <a:uFillTx/>
                  <a:latin typeface="Times New Roman" pitchFamily="18" charset="0"/>
                  <a:ea typeface="宋体" charset="-122"/>
                </a:rPr>
                <a:t>3-ACK</a:t>
              </a:r>
              <a:endParaRPr kumimoji="1" lang="zh-CN" altLang="en-US" sz="2000" b="1" i="0" u="none" strike="noStrike" kern="0" cap="none" spc="0" normalizeH="0" baseline="0" noProof="0" dirty="0">
                <a:ln>
                  <a:noFill/>
                </a:ln>
                <a:solidFill>
                  <a:srgbClr val="FF0000"/>
                </a:solidFill>
                <a:effectLst/>
                <a:uLnTx/>
                <a:uFillTx/>
                <a:latin typeface="Times New Roman" pitchFamily="18" charset="0"/>
                <a:ea typeface="宋体" charset="-122"/>
              </a:endParaRPr>
            </a:p>
          </p:txBody>
        </p:sp>
        <p:sp>
          <p:nvSpPr>
            <p:cNvPr id="272" name="Rectangle 160"/>
            <p:cNvSpPr>
              <a:spLocks noChangeArrowheads="1"/>
            </p:cNvSpPr>
            <p:nvPr/>
          </p:nvSpPr>
          <p:spPr bwMode="auto">
            <a:xfrm>
              <a:off x="1998153" y="1304875"/>
              <a:ext cx="195000" cy="215336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73" name="Line 156"/>
            <p:cNvSpPr>
              <a:spLocks noChangeShapeType="1"/>
            </p:cNvSpPr>
            <p:nvPr/>
          </p:nvSpPr>
          <p:spPr bwMode="auto">
            <a:xfrm>
              <a:off x="1998153" y="2193137"/>
              <a:ext cx="858000" cy="0"/>
            </a:xfrm>
            <a:prstGeom prst="line">
              <a:avLst/>
            </a:prstGeom>
            <a:noFill/>
            <a:ln w="1905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74" name="Line 146"/>
            <p:cNvSpPr>
              <a:spLocks noChangeShapeType="1"/>
            </p:cNvSpPr>
            <p:nvPr/>
          </p:nvSpPr>
          <p:spPr bwMode="auto">
            <a:xfrm flipV="1">
              <a:off x="1998153" y="1378897"/>
              <a:ext cx="2743000" cy="6729"/>
            </a:xfrm>
            <a:prstGeom prst="line">
              <a:avLst/>
            </a:prstGeom>
            <a:noFill/>
            <a:ln w="1905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75" name="Rectangle 162"/>
            <p:cNvSpPr>
              <a:spLocks noChangeArrowheads="1"/>
            </p:cNvSpPr>
            <p:nvPr/>
          </p:nvSpPr>
          <p:spPr bwMode="auto">
            <a:xfrm>
              <a:off x="5352153" y="3565904"/>
              <a:ext cx="1480374" cy="1615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77" name="Text Box 203"/>
            <p:cNvSpPr txBox="1">
              <a:spLocks noChangeArrowheads="1"/>
            </p:cNvSpPr>
            <p:nvPr/>
          </p:nvSpPr>
          <p:spPr bwMode="auto">
            <a:xfrm>
              <a:off x="8170649" y="1977696"/>
              <a:ext cx="1638589"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b="1" i="0" u="none" strike="noStrike" kern="0" cap="none" spc="0" normalizeH="0" baseline="0" noProof="0" dirty="0">
                  <a:ln>
                    <a:noFill/>
                  </a:ln>
                  <a:solidFill>
                    <a:srgbClr val="0000FF"/>
                  </a:solidFill>
                  <a:effectLst/>
                  <a:uLnTx/>
                  <a:uFillTx/>
                  <a:latin typeface="Times New Roman" pitchFamily="18" charset="0"/>
                  <a:ea typeface="宋体" charset="-122"/>
                </a:rPr>
                <a:t>TCP Reno </a:t>
              </a:r>
            </a:p>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b="1" i="0" u="none" strike="noStrike" kern="0" cap="none" spc="0" normalizeH="0" baseline="0" noProof="0" dirty="0">
                  <a:ln>
                    <a:noFill/>
                  </a:ln>
                  <a:solidFill>
                    <a:srgbClr val="0000FF"/>
                  </a:solidFill>
                  <a:effectLst/>
                  <a:uLnTx/>
                  <a:uFillTx/>
                  <a:latin typeface="Times New Roman" pitchFamily="18" charset="0"/>
                  <a:ea typeface="宋体" charset="-122"/>
                </a:rPr>
                <a:t>版本</a:t>
              </a:r>
            </a:p>
          </p:txBody>
        </p:sp>
        <p:sp>
          <p:nvSpPr>
            <p:cNvPr id="278" name="Text Box 205"/>
            <p:cNvSpPr txBox="1">
              <a:spLocks noChangeArrowheads="1"/>
            </p:cNvSpPr>
            <p:nvPr/>
          </p:nvSpPr>
          <p:spPr bwMode="auto">
            <a:xfrm>
              <a:off x="272479" y="1918920"/>
              <a:ext cx="128112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dirty="0" err="1">
                  <a:ln>
                    <a:noFill/>
                  </a:ln>
                  <a:solidFill>
                    <a:srgbClr val="C00000"/>
                  </a:solidFill>
                  <a:effectLst/>
                  <a:uLnTx/>
                  <a:uFillTx/>
                  <a:latin typeface="Times New Roman" pitchFamily="18" charset="0"/>
                  <a:ea typeface="宋体" charset="-122"/>
                </a:rPr>
                <a:t>ssthresh</a:t>
              </a:r>
              <a:endParaRPr kumimoji="1" lang="en-US" altLang="zh-CN" sz="2000" b="1" i="0" u="none" strike="noStrike" kern="0" cap="none" spc="0" normalizeH="0" baseline="0" noProof="0" dirty="0">
                <a:ln>
                  <a:noFill/>
                </a:ln>
                <a:solidFill>
                  <a:srgbClr val="C00000"/>
                </a:solidFill>
                <a:effectLst/>
                <a:uLnTx/>
                <a:uFillTx/>
                <a:latin typeface="Times New Roman" pitchFamily="18" charset="0"/>
                <a:ea typeface="宋体" charset="-122"/>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2000" b="1" i="0" u="none" strike="noStrike" kern="0" cap="none" spc="0" normalizeH="0" baseline="0" noProof="0" dirty="0">
                  <a:ln>
                    <a:noFill/>
                  </a:ln>
                  <a:solidFill>
                    <a:srgbClr val="C00000"/>
                  </a:solidFill>
                  <a:effectLst/>
                  <a:uLnTx/>
                  <a:uFillTx/>
                  <a:latin typeface="Times New Roman" pitchFamily="18" charset="0"/>
                  <a:ea typeface="宋体" charset="-122"/>
                </a:rPr>
                <a:t> 的初始值</a:t>
              </a:r>
            </a:p>
          </p:txBody>
        </p:sp>
        <p:sp>
          <p:nvSpPr>
            <p:cNvPr id="280" name="Line 215"/>
            <p:cNvSpPr>
              <a:spLocks noChangeShapeType="1"/>
            </p:cNvSpPr>
            <p:nvPr/>
          </p:nvSpPr>
          <p:spPr bwMode="auto">
            <a:xfrm flipV="1">
              <a:off x="1413153" y="2223418"/>
              <a:ext cx="219374" cy="0"/>
            </a:xfrm>
            <a:prstGeom prst="line">
              <a:avLst/>
            </a:prstGeom>
            <a:noFill/>
            <a:ln w="19050">
              <a:solidFill>
                <a:srgbClr val="C00000"/>
              </a:solidFill>
              <a:round/>
              <a:headEnd/>
              <a:tailEnd type="triangle" w="sm"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81" name="Text Box 206"/>
            <p:cNvSpPr txBox="1">
              <a:spLocks noChangeArrowheads="1"/>
            </p:cNvSpPr>
            <p:nvPr/>
          </p:nvSpPr>
          <p:spPr bwMode="auto">
            <a:xfrm rot="20245475">
              <a:off x="6948778" y="2393474"/>
              <a:ext cx="121699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2000" b="1" i="0" u="none" strike="noStrike" kern="0" cap="none" spc="0" normalizeH="0" baseline="0" noProof="0">
                  <a:ln>
                    <a:noFill/>
                  </a:ln>
                  <a:solidFill>
                    <a:srgbClr val="000000"/>
                  </a:solidFill>
                  <a:effectLst/>
                  <a:uLnTx/>
                  <a:uFillTx/>
                  <a:latin typeface="Times New Roman" pitchFamily="18" charset="0"/>
                  <a:ea typeface="宋体" charset="-122"/>
                </a:rPr>
                <a:t>拥塞避免</a:t>
              </a:r>
            </a:p>
          </p:txBody>
        </p:sp>
        <p:sp>
          <p:nvSpPr>
            <p:cNvPr id="282" name="Oval 125"/>
            <p:cNvSpPr>
              <a:spLocks noChangeArrowheads="1"/>
            </p:cNvSpPr>
            <p:nvPr/>
          </p:nvSpPr>
          <p:spPr bwMode="auto">
            <a:xfrm>
              <a:off x="5147403" y="3540670"/>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83" name="Oval 126"/>
            <p:cNvSpPr>
              <a:spLocks noChangeArrowheads="1"/>
            </p:cNvSpPr>
            <p:nvPr/>
          </p:nvSpPr>
          <p:spPr bwMode="auto">
            <a:xfrm>
              <a:off x="5383027" y="3343839"/>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84" name="Oval 127"/>
            <p:cNvSpPr>
              <a:spLocks noChangeArrowheads="1"/>
            </p:cNvSpPr>
            <p:nvPr/>
          </p:nvSpPr>
          <p:spPr bwMode="auto">
            <a:xfrm>
              <a:off x="4903653" y="3616374"/>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85" name="Oval 128"/>
            <p:cNvSpPr>
              <a:spLocks noChangeArrowheads="1"/>
            </p:cNvSpPr>
            <p:nvPr/>
          </p:nvSpPr>
          <p:spPr bwMode="auto">
            <a:xfrm>
              <a:off x="5623527" y="2953542"/>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86" name="Oval 129"/>
            <p:cNvSpPr>
              <a:spLocks noChangeArrowheads="1"/>
            </p:cNvSpPr>
            <p:nvPr/>
          </p:nvSpPr>
          <p:spPr bwMode="auto">
            <a:xfrm>
              <a:off x="6106153" y="2440437"/>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87" name="Oval 130"/>
            <p:cNvSpPr>
              <a:spLocks noChangeArrowheads="1"/>
            </p:cNvSpPr>
            <p:nvPr/>
          </p:nvSpPr>
          <p:spPr bwMode="auto">
            <a:xfrm>
              <a:off x="6795153" y="2147715"/>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88" name="Oval 131"/>
            <p:cNvSpPr>
              <a:spLocks noChangeArrowheads="1"/>
            </p:cNvSpPr>
            <p:nvPr/>
          </p:nvSpPr>
          <p:spPr bwMode="auto">
            <a:xfrm>
              <a:off x="6335277" y="2334451"/>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89" name="Oval 132"/>
            <p:cNvSpPr>
              <a:spLocks noChangeArrowheads="1"/>
            </p:cNvSpPr>
            <p:nvPr/>
          </p:nvSpPr>
          <p:spPr bwMode="auto">
            <a:xfrm>
              <a:off x="6569277" y="2238560"/>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90" name="Line 147"/>
            <p:cNvSpPr>
              <a:spLocks noChangeShapeType="1"/>
            </p:cNvSpPr>
            <p:nvPr/>
          </p:nvSpPr>
          <p:spPr bwMode="auto">
            <a:xfrm rot="10800000">
              <a:off x="2016028" y="2595210"/>
              <a:ext cx="4134000" cy="0"/>
            </a:xfrm>
            <a:prstGeom prst="line">
              <a:avLst/>
            </a:prstGeom>
            <a:noFill/>
            <a:ln w="1905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cxnSp>
          <p:nvCxnSpPr>
            <p:cNvPr id="291" name="直接连接符 115"/>
            <p:cNvCxnSpPr>
              <a:cxnSpLocks noChangeShapeType="1"/>
            </p:cNvCxnSpPr>
            <p:nvPr/>
          </p:nvCxnSpPr>
          <p:spPr bwMode="auto">
            <a:xfrm>
              <a:off x="4728153" y="1375532"/>
              <a:ext cx="234000" cy="2266077"/>
            </a:xfrm>
            <a:prstGeom prst="line">
              <a:avLst/>
            </a:prstGeom>
            <a:noFill/>
            <a:ln w="28575" algn="ctr">
              <a:solidFill>
                <a:srgbClr val="0000FF"/>
              </a:solidFill>
              <a:round/>
              <a:headEnd/>
              <a:tailEnd/>
            </a:ln>
            <a:extLst>
              <a:ext uri="{909E8E84-426E-40DD-AFC4-6F175D3DCCD1}">
                <a14:hiddenFill xmlns:a14="http://schemas.microsoft.com/office/drawing/2010/main">
                  <a:noFill/>
                </a14:hiddenFill>
              </a:ext>
            </a:extLst>
          </p:spPr>
        </p:cxnSp>
        <p:sp>
          <p:nvSpPr>
            <p:cNvPr id="293" name="Rectangle 161"/>
            <p:cNvSpPr>
              <a:spLocks noChangeArrowheads="1"/>
            </p:cNvSpPr>
            <p:nvPr/>
          </p:nvSpPr>
          <p:spPr bwMode="auto">
            <a:xfrm>
              <a:off x="2555757" y="1801158"/>
              <a:ext cx="442000" cy="3684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800" b="1" i="0" u="none" strike="noStrike" kern="0" cap="none" spc="0" normalizeH="0" baseline="0" noProof="0" dirty="0">
                  <a:ln>
                    <a:noFill/>
                  </a:ln>
                  <a:solidFill>
                    <a:sysClr val="windowText" lastClr="000000"/>
                  </a:solidFill>
                  <a:effectLst/>
                  <a:uLnTx/>
                  <a:uFillTx/>
                  <a:sym typeface="Wingdings" pitchFamily="2" charset="2"/>
                </a:rPr>
                <a:t></a:t>
              </a:r>
              <a:endParaRPr kumimoji="0" lang="zh-CN" altLang="en-US" sz="2800" b="1" i="0" u="none" strike="noStrike" kern="0" cap="none" spc="0" normalizeH="0" baseline="0" noProof="0" dirty="0">
                <a:ln>
                  <a:noFill/>
                </a:ln>
                <a:solidFill>
                  <a:sysClr val="windowText" lastClr="000000"/>
                </a:solidFill>
                <a:effectLst/>
                <a:uLnTx/>
                <a:uFillTx/>
              </a:endParaRPr>
            </a:p>
          </p:txBody>
        </p:sp>
        <p:sp>
          <p:nvSpPr>
            <p:cNvPr id="294" name="Oval 129"/>
            <p:cNvSpPr>
              <a:spLocks noChangeArrowheads="1"/>
            </p:cNvSpPr>
            <p:nvPr/>
          </p:nvSpPr>
          <p:spPr bwMode="auto">
            <a:xfrm>
              <a:off x="5868903" y="2549787"/>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95" name="任意多边形 134"/>
            <p:cNvSpPr>
              <a:spLocks/>
            </p:cNvSpPr>
            <p:nvPr/>
          </p:nvSpPr>
          <p:spPr bwMode="auto">
            <a:xfrm>
              <a:off x="4952403" y="2181361"/>
              <a:ext cx="1906124" cy="1485482"/>
            </a:xfrm>
            <a:custGeom>
              <a:avLst/>
              <a:gdLst>
                <a:gd name="T0" fmla="*/ 0 w 1929384"/>
                <a:gd name="T1" fmla="*/ 1404281 h 1426464"/>
                <a:gd name="T2" fmla="*/ 224888 w 1929384"/>
                <a:gd name="T3" fmla="*/ 1336767 h 1426464"/>
                <a:gd name="T4" fmla="*/ 445365 w 1929384"/>
                <a:gd name="T5" fmla="*/ 1152231 h 1426464"/>
                <a:gd name="T6" fmla="*/ 903959 w 1929384"/>
                <a:gd name="T7" fmla="*/ 409583 h 1426464"/>
                <a:gd name="T8" fmla="*/ 1860836 w 1929384"/>
                <a:gd name="T9" fmla="*/ 0 h 1426464"/>
                <a:gd name="T10" fmla="*/ 0 60000 65536"/>
                <a:gd name="T11" fmla="*/ 0 60000 65536"/>
                <a:gd name="T12" fmla="*/ 0 60000 65536"/>
                <a:gd name="T13" fmla="*/ 0 60000 65536"/>
                <a:gd name="T14" fmla="*/ 0 60000 65536"/>
                <a:gd name="T15" fmla="*/ 0 w 1929384"/>
                <a:gd name="T16" fmla="*/ 0 h 1426464"/>
                <a:gd name="T17" fmla="*/ 1929384 w 1929384"/>
                <a:gd name="T18" fmla="*/ 1426464 h 1426464"/>
              </a:gdLst>
              <a:ahLst/>
              <a:cxnLst>
                <a:cxn ang="T10">
                  <a:pos x="T0" y="T1"/>
                </a:cxn>
                <a:cxn ang="T11">
                  <a:pos x="T2" y="T3"/>
                </a:cxn>
                <a:cxn ang="T12">
                  <a:pos x="T4" y="T5"/>
                </a:cxn>
                <a:cxn ang="T13">
                  <a:pos x="T6" y="T7"/>
                </a:cxn>
                <a:cxn ang="T14">
                  <a:pos x="T8" y="T9"/>
                </a:cxn>
              </a:cxnLst>
              <a:rect l="T15" t="T16" r="T17" b="T18"/>
              <a:pathLst>
                <a:path w="1929384" h="1426464">
                  <a:moveTo>
                    <a:pt x="0" y="1426464"/>
                  </a:moveTo>
                  <a:lnTo>
                    <a:pt x="233172" y="1357884"/>
                  </a:lnTo>
                  <a:lnTo>
                    <a:pt x="461772" y="1170432"/>
                  </a:lnTo>
                  <a:lnTo>
                    <a:pt x="937260" y="416052"/>
                  </a:lnTo>
                  <a:lnTo>
                    <a:pt x="1929384" y="0"/>
                  </a:lnTo>
                </a:path>
              </a:pathLst>
            </a:custGeom>
            <a:noFill/>
            <a:ln w="28575" cap="flat" cmpd="sng" algn="ctr">
              <a:solidFill>
                <a:srgbClr val="0000FF"/>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96" name="Rectangle 161"/>
            <p:cNvSpPr>
              <a:spLocks noChangeArrowheads="1"/>
            </p:cNvSpPr>
            <p:nvPr/>
          </p:nvSpPr>
          <p:spPr bwMode="auto">
            <a:xfrm>
              <a:off x="4545899" y="1021117"/>
              <a:ext cx="367250" cy="30618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800" b="1" i="0" u="none" strike="noStrike" kern="0" cap="none" spc="0" normalizeH="0" baseline="0" noProof="0" dirty="0">
                  <a:ln>
                    <a:noFill/>
                  </a:ln>
                  <a:solidFill>
                    <a:sysClr val="windowText" lastClr="000000"/>
                  </a:solidFill>
                  <a:effectLst/>
                  <a:uLnTx/>
                  <a:uFillTx/>
                  <a:sym typeface="Wingdings" pitchFamily="2" charset="2"/>
                </a:rPr>
                <a:t></a:t>
              </a:r>
              <a:endParaRPr kumimoji="0" lang="zh-CN" altLang="en-US" sz="2800" b="1" i="0" u="none" strike="noStrike" kern="0" cap="none" spc="0" normalizeH="0" baseline="0" noProof="0" dirty="0">
                <a:ln>
                  <a:noFill/>
                </a:ln>
                <a:solidFill>
                  <a:sysClr val="windowText" lastClr="000000"/>
                </a:solidFill>
                <a:effectLst/>
                <a:uLnTx/>
                <a:uFillTx/>
              </a:endParaRPr>
            </a:p>
          </p:txBody>
        </p:sp>
        <p:cxnSp>
          <p:nvCxnSpPr>
            <p:cNvPr id="297" name="直接连接符 119"/>
            <p:cNvCxnSpPr>
              <a:cxnSpLocks noChangeShapeType="1"/>
            </p:cNvCxnSpPr>
            <p:nvPr/>
          </p:nvCxnSpPr>
          <p:spPr bwMode="auto">
            <a:xfrm flipH="1">
              <a:off x="7064902" y="3022518"/>
              <a:ext cx="1624" cy="694795"/>
            </a:xfrm>
            <a:prstGeom prst="line">
              <a:avLst/>
            </a:prstGeom>
            <a:noFill/>
            <a:ln w="19050" algn="ctr">
              <a:solidFill>
                <a:srgbClr val="000000"/>
              </a:solidFill>
              <a:prstDash val="dash"/>
              <a:round/>
              <a:headEnd/>
              <a:tailEnd/>
            </a:ln>
          </p:spPr>
        </p:cxnSp>
        <p:cxnSp>
          <p:nvCxnSpPr>
            <p:cNvPr id="298" name="直接连接符 121"/>
            <p:cNvCxnSpPr>
              <a:cxnSpLocks noChangeShapeType="1"/>
            </p:cNvCxnSpPr>
            <p:nvPr/>
          </p:nvCxnSpPr>
          <p:spPr bwMode="auto">
            <a:xfrm>
              <a:off x="2032278" y="3005695"/>
              <a:ext cx="5676125" cy="0"/>
            </a:xfrm>
            <a:prstGeom prst="line">
              <a:avLst/>
            </a:prstGeom>
            <a:noFill/>
            <a:ln w="19050" algn="ctr">
              <a:solidFill>
                <a:srgbClr val="000000"/>
              </a:solidFill>
              <a:prstDash val="dash"/>
              <a:round/>
              <a:headEnd/>
              <a:tailEnd/>
            </a:ln>
          </p:spPr>
        </p:cxnSp>
        <p:sp>
          <p:nvSpPr>
            <p:cNvPr id="299" name="Oval 130"/>
            <p:cNvSpPr>
              <a:spLocks noChangeArrowheads="1"/>
            </p:cNvSpPr>
            <p:nvPr/>
          </p:nvSpPr>
          <p:spPr bwMode="auto">
            <a:xfrm>
              <a:off x="7021027" y="2961955"/>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300" name="Line 24"/>
            <p:cNvSpPr>
              <a:spLocks noChangeShapeType="1"/>
            </p:cNvSpPr>
            <p:nvPr/>
          </p:nvSpPr>
          <p:spPr bwMode="auto">
            <a:xfrm>
              <a:off x="7532902" y="363992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301" name="Line 22"/>
            <p:cNvSpPr>
              <a:spLocks noChangeShapeType="1"/>
            </p:cNvSpPr>
            <p:nvPr/>
          </p:nvSpPr>
          <p:spPr bwMode="auto">
            <a:xfrm>
              <a:off x="7295652" y="3644974"/>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302" name="Text Box 87"/>
            <p:cNvSpPr txBox="1">
              <a:spLocks noChangeArrowheads="1"/>
            </p:cNvSpPr>
            <p:nvPr/>
          </p:nvSpPr>
          <p:spPr bwMode="auto">
            <a:xfrm>
              <a:off x="7311902" y="3754324"/>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24</a:t>
              </a:r>
            </a:p>
          </p:txBody>
        </p:sp>
        <p:sp>
          <p:nvSpPr>
            <p:cNvPr id="303" name="Line 22"/>
            <p:cNvSpPr>
              <a:spLocks noChangeShapeType="1"/>
            </p:cNvSpPr>
            <p:nvPr/>
          </p:nvSpPr>
          <p:spPr bwMode="auto">
            <a:xfrm>
              <a:off x="7776652" y="3653385"/>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cxnSp>
          <p:nvCxnSpPr>
            <p:cNvPr id="304" name="直接连接符 134"/>
            <p:cNvCxnSpPr>
              <a:cxnSpLocks noChangeShapeType="1"/>
              <a:stCxn id="295" idx="4"/>
              <a:endCxn id="299" idx="3"/>
            </p:cNvCxnSpPr>
            <p:nvPr/>
          </p:nvCxnSpPr>
          <p:spPr bwMode="auto">
            <a:xfrm>
              <a:off x="6856903" y="2181361"/>
              <a:ext cx="204750" cy="832745"/>
            </a:xfrm>
            <a:prstGeom prst="line">
              <a:avLst/>
            </a:prstGeom>
            <a:noFill/>
            <a:ln w="28575" algn="ctr">
              <a:solidFill>
                <a:srgbClr val="0000FF"/>
              </a:solidFill>
              <a:round/>
              <a:headEnd/>
              <a:tailEnd/>
            </a:ln>
          </p:spPr>
        </p:cxnSp>
        <p:sp>
          <p:nvSpPr>
            <p:cNvPr id="305" name="Text Box 206"/>
            <p:cNvSpPr txBox="1">
              <a:spLocks noChangeArrowheads="1"/>
            </p:cNvSpPr>
            <p:nvPr/>
          </p:nvSpPr>
          <p:spPr bwMode="auto">
            <a:xfrm rot="20070649">
              <a:off x="5809549" y="2010746"/>
              <a:ext cx="111440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800" b="1" i="0" u="none" strike="noStrike" kern="0" cap="none" spc="0" normalizeH="0" baseline="0" noProof="0" dirty="0">
                  <a:ln>
                    <a:noFill/>
                  </a:ln>
                  <a:solidFill>
                    <a:srgbClr val="000000"/>
                  </a:solidFill>
                  <a:effectLst/>
                  <a:uLnTx/>
                  <a:uFillTx/>
                  <a:latin typeface="Times New Roman" pitchFamily="18" charset="0"/>
                  <a:ea typeface="宋体" charset="-122"/>
                </a:rPr>
                <a:t>拥塞避免</a:t>
              </a:r>
            </a:p>
          </p:txBody>
        </p:sp>
        <p:sp>
          <p:nvSpPr>
            <p:cNvPr id="306" name="Text Box 206"/>
            <p:cNvSpPr txBox="1">
              <a:spLocks noChangeArrowheads="1"/>
            </p:cNvSpPr>
            <p:nvPr/>
          </p:nvSpPr>
          <p:spPr bwMode="auto">
            <a:xfrm rot="20205303">
              <a:off x="2990278" y="1471566"/>
              <a:ext cx="121699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2000" b="1" i="0" u="none" strike="noStrike" kern="0" cap="none" spc="0" normalizeH="0" baseline="0" noProof="0">
                  <a:ln>
                    <a:noFill/>
                  </a:ln>
                  <a:solidFill>
                    <a:srgbClr val="000000"/>
                  </a:solidFill>
                  <a:effectLst/>
                  <a:uLnTx/>
                  <a:uFillTx/>
                  <a:latin typeface="Times New Roman" pitchFamily="18" charset="0"/>
                  <a:ea typeface="宋体" charset="-122"/>
                </a:rPr>
                <a:t>拥塞避免</a:t>
              </a:r>
            </a:p>
          </p:txBody>
        </p:sp>
        <p:sp>
          <p:nvSpPr>
            <p:cNvPr id="307" name="TextBox 147"/>
            <p:cNvSpPr txBox="1">
              <a:spLocks noChangeArrowheads="1"/>
            </p:cNvSpPr>
            <p:nvPr/>
          </p:nvSpPr>
          <p:spPr bwMode="auto">
            <a:xfrm>
              <a:off x="5542277" y="2191455"/>
              <a:ext cx="50526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2800" b="1" i="0" u="none" strike="noStrike" kern="0" cap="none" spc="0" normalizeH="0" baseline="0" noProof="0" dirty="0">
                  <a:ln>
                    <a:noFill/>
                  </a:ln>
                  <a:solidFill>
                    <a:srgbClr val="000000"/>
                  </a:solidFill>
                  <a:effectLst/>
                  <a:uLnTx/>
                  <a:uFillTx/>
                  <a:latin typeface="Times New Roman" pitchFamily="18" charset="0"/>
                  <a:ea typeface="宋体" charset="-122"/>
                  <a:sym typeface="Wingdings" pitchFamily="2" charset="2"/>
                </a:rPr>
                <a:t></a:t>
              </a:r>
              <a:endParaRPr kumimoji="1" lang="zh-CN" altLang="en-US" sz="2800" b="1" i="0" u="none" strike="noStrike" kern="0" cap="none" spc="0" normalizeH="0" baseline="0" noProof="0" dirty="0">
                <a:ln>
                  <a:noFill/>
                </a:ln>
                <a:solidFill>
                  <a:srgbClr val="000000"/>
                </a:solidFill>
                <a:effectLst/>
                <a:uLnTx/>
                <a:uFillTx/>
                <a:latin typeface="Times New Roman" pitchFamily="18" charset="0"/>
                <a:ea typeface="宋体" charset="-122"/>
              </a:endParaRPr>
            </a:p>
          </p:txBody>
        </p:sp>
        <p:sp>
          <p:nvSpPr>
            <p:cNvPr id="308" name="矩形 150"/>
            <p:cNvSpPr>
              <a:spLocks noChangeArrowheads="1"/>
            </p:cNvSpPr>
            <p:nvPr/>
          </p:nvSpPr>
          <p:spPr bwMode="auto">
            <a:xfrm>
              <a:off x="2298778" y="3596186"/>
              <a:ext cx="2575625" cy="126174"/>
            </a:xfrm>
            <a:prstGeom prst="rect">
              <a:avLst/>
            </a:prstGeom>
            <a:solidFill>
              <a:srgbClr val="FFFFFF"/>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309" name="TextBox 148"/>
            <p:cNvSpPr txBox="1">
              <a:spLocks noChangeArrowheads="1"/>
            </p:cNvSpPr>
            <p:nvPr/>
          </p:nvSpPr>
          <p:spPr bwMode="auto">
            <a:xfrm>
              <a:off x="6720403" y="1765829"/>
              <a:ext cx="50526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2800" b="1" i="0" u="none" strike="noStrike" kern="0" cap="none" spc="0" normalizeH="0" baseline="0" noProof="0">
                  <a:ln>
                    <a:noFill/>
                  </a:ln>
                  <a:solidFill>
                    <a:srgbClr val="000000"/>
                  </a:solidFill>
                  <a:effectLst/>
                  <a:uLnTx/>
                  <a:uFillTx/>
                  <a:latin typeface="Times New Roman" pitchFamily="18" charset="0"/>
                  <a:ea typeface="宋体" charset="-122"/>
                  <a:sym typeface="Wingdings" pitchFamily="2" charset="2"/>
                </a:rPr>
                <a:t></a:t>
              </a:r>
              <a:endParaRPr kumimoji="1" lang="zh-CN" altLang="en-US" sz="2800" b="1" i="0" u="none" strike="noStrike" kern="0" cap="none" spc="0" normalizeH="0" baseline="0" noProof="0">
                <a:ln>
                  <a:noFill/>
                </a:ln>
                <a:solidFill>
                  <a:srgbClr val="000000"/>
                </a:solidFill>
                <a:effectLst/>
                <a:uLnTx/>
                <a:uFillTx/>
                <a:latin typeface="Times New Roman" pitchFamily="18" charset="0"/>
                <a:ea typeface="宋体" charset="-122"/>
              </a:endParaRPr>
            </a:p>
          </p:txBody>
        </p:sp>
        <p:sp>
          <p:nvSpPr>
            <p:cNvPr id="311" name="矩形 151"/>
            <p:cNvSpPr>
              <a:spLocks noChangeArrowheads="1"/>
            </p:cNvSpPr>
            <p:nvPr/>
          </p:nvSpPr>
          <p:spPr bwMode="auto">
            <a:xfrm>
              <a:off x="7237152" y="3596186"/>
              <a:ext cx="607750" cy="114397"/>
            </a:xfrm>
            <a:prstGeom prst="rect">
              <a:avLst/>
            </a:prstGeom>
            <a:solidFill>
              <a:srgbClr val="FFFFFF"/>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cxnSp>
          <p:nvCxnSpPr>
            <p:cNvPr id="312" name="直接连接符 153"/>
            <p:cNvCxnSpPr>
              <a:cxnSpLocks noChangeShapeType="1"/>
            </p:cNvCxnSpPr>
            <p:nvPr/>
          </p:nvCxnSpPr>
          <p:spPr bwMode="auto">
            <a:xfrm flipV="1">
              <a:off x="5903027" y="2630538"/>
              <a:ext cx="11376" cy="1043034"/>
            </a:xfrm>
            <a:prstGeom prst="line">
              <a:avLst/>
            </a:prstGeom>
            <a:noFill/>
            <a:ln w="19050" algn="ctr">
              <a:solidFill>
                <a:srgbClr val="000000"/>
              </a:solidFill>
              <a:prstDash val="dash"/>
              <a:round/>
              <a:headEnd/>
              <a:tailEnd/>
            </a:ln>
          </p:spPr>
        </p:cxnSp>
        <p:cxnSp>
          <p:nvCxnSpPr>
            <p:cNvPr id="313" name="直接连接符 157"/>
            <p:cNvCxnSpPr>
              <a:cxnSpLocks noChangeShapeType="1"/>
            </p:cNvCxnSpPr>
            <p:nvPr/>
          </p:nvCxnSpPr>
          <p:spPr bwMode="auto">
            <a:xfrm flipV="1">
              <a:off x="6832527" y="2253700"/>
              <a:ext cx="11376" cy="1520811"/>
            </a:xfrm>
            <a:prstGeom prst="line">
              <a:avLst/>
            </a:prstGeom>
            <a:noFill/>
            <a:ln w="19050" algn="ctr">
              <a:solidFill>
                <a:srgbClr val="000000"/>
              </a:solidFill>
              <a:prstDash val="dash"/>
              <a:round/>
              <a:headEnd/>
              <a:tailEnd/>
            </a:ln>
          </p:spPr>
        </p:cxnSp>
        <p:cxnSp>
          <p:nvCxnSpPr>
            <p:cNvPr id="314" name="直接连接符 141"/>
            <p:cNvCxnSpPr>
              <a:cxnSpLocks noChangeShapeType="1"/>
            </p:cNvCxnSpPr>
            <p:nvPr/>
          </p:nvCxnSpPr>
          <p:spPr bwMode="auto">
            <a:xfrm flipV="1">
              <a:off x="7001527" y="2475765"/>
              <a:ext cx="1248000" cy="560211"/>
            </a:xfrm>
            <a:prstGeom prst="line">
              <a:avLst/>
            </a:prstGeom>
            <a:noFill/>
            <a:ln w="28575" algn="ctr">
              <a:solidFill>
                <a:srgbClr val="0000FF"/>
              </a:solidFill>
              <a:round/>
              <a:headEnd/>
              <a:tailEnd/>
            </a:ln>
          </p:spPr>
        </p:cxnSp>
        <p:sp>
          <p:nvSpPr>
            <p:cNvPr id="315" name="Oval 202"/>
            <p:cNvSpPr>
              <a:spLocks noChangeArrowheads="1"/>
            </p:cNvSpPr>
            <p:nvPr/>
          </p:nvSpPr>
          <p:spPr bwMode="auto">
            <a:xfrm>
              <a:off x="7724652" y="2655773"/>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316" name="Oval 130"/>
            <p:cNvSpPr>
              <a:spLocks noChangeArrowheads="1"/>
            </p:cNvSpPr>
            <p:nvPr/>
          </p:nvSpPr>
          <p:spPr bwMode="auto">
            <a:xfrm>
              <a:off x="7251777" y="2855968"/>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317" name="Oval 130"/>
            <p:cNvSpPr>
              <a:spLocks noChangeArrowheads="1"/>
            </p:cNvSpPr>
            <p:nvPr/>
          </p:nvSpPr>
          <p:spPr bwMode="auto">
            <a:xfrm>
              <a:off x="7490652" y="2758394"/>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318" name="TextBox 149"/>
            <p:cNvSpPr txBox="1">
              <a:spLocks noChangeArrowheads="1"/>
            </p:cNvSpPr>
            <p:nvPr/>
          </p:nvSpPr>
          <p:spPr bwMode="auto">
            <a:xfrm>
              <a:off x="6795153" y="2987189"/>
              <a:ext cx="50526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2800" b="1" i="0" u="none" strike="noStrike" kern="0" cap="none" spc="0" normalizeH="0" baseline="0" noProof="0" dirty="0">
                  <a:ln>
                    <a:noFill/>
                  </a:ln>
                  <a:solidFill>
                    <a:srgbClr val="000000"/>
                  </a:solidFill>
                  <a:effectLst/>
                  <a:uLnTx/>
                  <a:uFillTx/>
                  <a:latin typeface="Times New Roman" pitchFamily="18" charset="0"/>
                  <a:ea typeface="宋体" charset="-122"/>
                  <a:sym typeface="Wingdings" pitchFamily="2" charset="2"/>
                </a:rPr>
                <a:t></a:t>
              </a:r>
              <a:endParaRPr kumimoji="1" lang="zh-CN" altLang="en-US" sz="2800" b="1" i="0" u="none" strike="noStrike" kern="0" cap="none" spc="0" normalizeH="0" baseline="0" noProof="0" dirty="0">
                <a:ln>
                  <a:noFill/>
                </a:ln>
                <a:solidFill>
                  <a:srgbClr val="000000"/>
                </a:solidFill>
                <a:effectLst/>
                <a:uLnTx/>
                <a:uFillTx/>
                <a:latin typeface="Times New Roman" pitchFamily="18" charset="0"/>
                <a:ea typeface="宋体" charset="-122"/>
              </a:endParaRPr>
            </a:p>
          </p:txBody>
        </p:sp>
        <p:sp>
          <p:nvSpPr>
            <p:cNvPr id="319" name="Oval 202"/>
            <p:cNvSpPr>
              <a:spLocks noChangeArrowheads="1"/>
            </p:cNvSpPr>
            <p:nvPr/>
          </p:nvSpPr>
          <p:spPr bwMode="auto">
            <a:xfrm>
              <a:off x="7966777" y="2531282"/>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cxnSp>
          <p:nvCxnSpPr>
            <p:cNvPr id="320" name="直接连接符 117"/>
            <p:cNvCxnSpPr>
              <a:cxnSpLocks noChangeShapeType="1"/>
            </p:cNvCxnSpPr>
            <p:nvPr/>
          </p:nvCxnSpPr>
          <p:spPr bwMode="auto">
            <a:xfrm flipH="1">
              <a:off x="4726527" y="1506753"/>
              <a:ext cx="4876" cy="2200466"/>
            </a:xfrm>
            <a:prstGeom prst="line">
              <a:avLst/>
            </a:prstGeom>
            <a:noFill/>
            <a:ln w="19050" algn="ctr">
              <a:solidFill>
                <a:srgbClr val="000000"/>
              </a:solidFill>
              <a:prstDash val="dash"/>
              <a:round/>
              <a:headEnd/>
              <a:tailEnd/>
            </a:ln>
            <a:extLst>
              <a:ext uri="{909E8E84-426E-40DD-AFC4-6F175D3DCCD1}">
                <a14:hiddenFill xmlns:a14="http://schemas.microsoft.com/office/drawing/2010/main">
                  <a:noFill/>
                </a14:hiddenFill>
              </a:ext>
            </a:extLst>
          </p:spPr>
        </p:cxnSp>
        <p:cxnSp>
          <p:nvCxnSpPr>
            <p:cNvPr id="321" name="直接连接符 119"/>
            <p:cNvCxnSpPr>
              <a:cxnSpLocks noChangeShapeType="1"/>
            </p:cNvCxnSpPr>
            <p:nvPr/>
          </p:nvCxnSpPr>
          <p:spPr bwMode="auto">
            <a:xfrm>
              <a:off x="2854527" y="2309217"/>
              <a:ext cx="0" cy="1384543"/>
            </a:xfrm>
            <a:prstGeom prst="line">
              <a:avLst/>
            </a:prstGeom>
            <a:noFill/>
            <a:ln w="19050" algn="ctr">
              <a:solidFill>
                <a:srgbClr val="000000"/>
              </a:solidFill>
              <a:prstDash val="dash"/>
              <a:round/>
              <a:headEnd/>
              <a:tailEnd/>
            </a:ln>
            <a:extLst>
              <a:ext uri="{909E8E84-426E-40DD-AFC4-6F175D3DCCD1}">
                <a14:hiddenFill xmlns:a14="http://schemas.microsoft.com/office/drawing/2010/main">
                  <a:noFill/>
                </a14:hiddenFill>
              </a:ext>
            </a:extLst>
          </p:spPr>
        </p:cxnSp>
        <p:sp>
          <p:nvSpPr>
            <p:cNvPr id="249" name="Text Box 91"/>
            <p:cNvSpPr txBox="1">
              <a:spLocks noChangeArrowheads="1"/>
            </p:cNvSpPr>
            <p:nvPr/>
          </p:nvSpPr>
          <p:spPr bwMode="auto">
            <a:xfrm>
              <a:off x="1647153" y="3187385"/>
              <a:ext cx="3129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dirty="0">
                  <a:ln>
                    <a:noFill/>
                  </a:ln>
                  <a:solidFill>
                    <a:srgbClr val="000000"/>
                  </a:solidFill>
                  <a:effectLst/>
                  <a:uLnTx/>
                  <a:uFillTx/>
                  <a:latin typeface="Times New Roman" pitchFamily="18" charset="0"/>
                  <a:ea typeface="宋体" charset="-122"/>
                </a:rPr>
                <a:t>4</a:t>
              </a:r>
            </a:p>
          </p:txBody>
        </p:sp>
      </p:grpSp>
      <p:sp>
        <p:nvSpPr>
          <p:cNvPr id="276" name="Line 167"/>
          <p:cNvSpPr>
            <a:spLocks noChangeShapeType="1"/>
          </p:cNvSpPr>
          <p:nvPr/>
        </p:nvSpPr>
        <p:spPr bwMode="auto">
          <a:xfrm>
            <a:off x="2352607" y="1878088"/>
            <a:ext cx="440153" cy="326776"/>
          </a:xfrm>
          <a:prstGeom prst="line">
            <a:avLst/>
          </a:prstGeom>
          <a:noFill/>
          <a:ln w="76200">
            <a:solidFill>
              <a:srgbClr val="FF0000">
                <a:alpha val="80000"/>
              </a:srgbClr>
            </a:solidFill>
            <a:round/>
            <a:headEnd type="none"/>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120" name="Text Box 4"/>
          <p:cNvSpPr txBox="1">
            <a:spLocks noChangeArrowheads="1"/>
          </p:cNvSpPr>
          <p:nvPr/>
        </p:nvSpPr>
        <p:spPr bwMode="auto">
          <a:xfrm>
            <a:off x="842391" y="4293096"/>
            <a:ext cx="8647113"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eaLnBrk="1" hangingPunct="1"/>
            <a:r>
              <a:rPr kumimoji="0" lang="zh-CN" altLang="zh-CN" sz="2800" dirty="0">
                <a:solidFill>
                  <a:srgbClr val="000099"/>
                </a:solidFill>
                <a:latin typeface="Arial" pitchFamily="34" charset="0"/>
                <a:ea typeface="黑体" pitchFamily="2" charset="-122"/>
              </a:rPr>
              <a:t>当拥塞窗口</a:t>
            </a:r>
            <a:r>
              <a:rPr kumimoji="0" lang="en-US" altLang="zh-CN" sz="2800" dirty="0">
                <a:solidFill>
                  <a:srgbClr val="000099"/>
                </a:solidFill>
                <a:latin typeface="Arial" pitchFamily="34" charset="0"/>
                <a:ea typeface="黑体" pitchFamily="2" charset="-122"/>
              </a:rPr>
              <a:t> </a:t>
            </a:r>
            <a:r>
              <a:rPr kumimoji="0" lang="en-US" altLang="zh-CN" sz="2800" dirty="0" err="1">
                <a:solidFill>
                  <a:srgbClr val="000099"/>
                </a:solidFill>
                <a:latin typeface="Arial" pitchFamily="34" charset="0"/>
                <a:ea typeface="黑体" pitchFamily="2" charset="-122"/>
              </a:rPr>
              <a:t>cwnd</a:t>
            </a:r>
            <a:r>
              <a:rPr kumimoji="0" lang="en-US" altLang="zh-CN" sz="2800" dirty="0">
                <a:solidFill>
                  <a:srgbClr val="000099"/>
                </a:solidFill>
                <a:latin typeface="Arial" pitchFamily="34" charset="0"/>
                <a:ea typeface="黑体" pitchFamily="2" charset="-122"/>
              </a:rPr>
              <a:t> </a:t>
            </a:r>
            <a:r>
              <a:rPr kumimoji="0" lang="zh-CN" altLang="zh-CN" sz="2800" dirty="0">
                <a:solidFill>
                  <a:srgbClr val="000099"/>
                </a:solidFill>
                <a:latin typeface="Arial" pitchFamily="34" charset="0"/>
                <a:ea typeface="黑体" pitchFamily="2" charset="-122"/>
              </a:rPr>
              <a:t>增长到慢开始门限值</a:t>
            </a:r>
            <a:r>
              <a:rPr kumimoji="0" lang="en-US" altLang="zh-CN" sz="2800" dirty="0">
                <a:solidFill>
                  <a:srgbClr val="000099"/>
                </a:solidFill>
                <a:latin typeface="Arial" pitchFamily="34" charset="0"/>
                <a:ea typeface="黑体" pitchFamily="2" charset="-122"/>
              </a:rPr>
              <a:t>s </a:t>
            </a:r>
            <a:r>
              <a:rPr kumimoji="0" lang="en-US" altLang="zh-CN" sz="2800" dirty="0" err="1">
                <a:solidFill>
                  <a:srgbClr val="000099"/>
                </a:solidFill>
                <a:latin typeface="Arial" pitchFamily="34" charset="0"/>
                <a:ea typeface="黑体" pitchFamily="2" charset="-122"/>
              </a:rPr>
              <a:t>sthresh</a:t>
            </a:r>
            <a:r>
              <a:rPr kumimoji="0" lang="en-US" altLang="zh-CN" sz="2800" dirty="0">
                <a:solidFill>
                  <a:srgbClr val="000099"/>
                </a:solidFill>
                <a:latin typeface="Arial" pitchFamily="34" charset="0"/>
                <a:ea typeface="黑体" pitchFamily="2" charset="-122"/>
              </a:rPr>
              <a:t> </a:t>
            </a:r>
            <a:r>
              <a:rPr kumimoji="0" lang="zh-CN" altLang="zh-CN" sz="2800" dirty="0">
                <a:solidFill>
                  <a:srgbClr val="000099"/>
                </a:solidFill>
                <a:latin typeface="Arial" pitchFamily="34" charset="0"/>
                <a:ea typeface="黑体" pitchFamily="2" charset="-122"/>
              </a:rPr>
              <a:t>时（图中的点</a:t>
            </a:r>
            <a:r>
              <a:rPr kumimoji="0" lang="en-US" altLang="zh-CN" sz="2800" dirty="0">
                <a:solidFill>
                  <a:srgbClr val="000099"/>
                </a:solidFill>
                <a:latin typeface="Arial" pitchFamily="34" charset="0"/>
                <a:ea typeface="黑体" pitchFamily="2" charset="-122"/>
                <a:sym typeface="Wingdings"/>
              </a:rPr>
              <a:t></a:t>
            </a:r>
            <a:r>
              <a:rPr kumimoji="0" lang="zh-CN" altLang="zh-CN" sz="2800" dirty="0">
                <a:solidFill>
                  <a:srgbClr val="000099"/>
                </a:solidFill>
                <a:latin typeface="Arial" pitchFamily="34" charset="0"/>
                <a:ea typeface="黑体" pitchFamily="2" charset="-122"/>
              </a:rPr>
              <a:t>，此时拥塞窗口</a:t>
            </a:r>
            <a:r>
              <a:rPr kumimoji="0" lang="en-US" altLang="zh-CN" sz="2800" dirty="0" err="1">
                <a:solidFill>
                  <a:srgbClr val="000099"/>
                </a:solidFill>
                <a:latin typeface="Arial" pitchFamily="34" charset="0"/>
                <a:ea typeface="黑体" pitchFamily="2" charset="-122"/>
              </a:rPr>
              <a:t>cwnd</a:t>
            </a:r>
            <a:r>
              <a:rPr kumimoji="0" lang="en-US" altLang="zh-CN" sz="2800" dirty="0">
                <a:solidFill>
                  <a:srgbClr val="000099"/>
                </a:solidFill>
                <a:latin typeface="Arial" pitchFamily="34" charset="0"/>
                <a:ea typeface="黑体" pitchFamily="2" charset="-122"/>
              </a:rPr>
              <a:t> = 16</a:t>
            </a:r>
            <a:r>
              <a:rPr kumimoji="0" lang="zh-CN" altLang="zh-CN" sz="2800" dirty="0">
                <a:solidFill>
                  <a:srgbClr val="000099"/>
                </a:solidFill>
                <a:latin typeface="Arial" pitchFamily="34" charset="0"/>
                <a:ea typeface="黑体" pitchFamily="2" charset="-122"/>
              </a:rPr>
              <a:t>），就改为执行</a:t>
            </a:r>
            <a:r>
              <a:rPr kumimoji="0" lang="zh-CN" altLang="zh-CN" sz="2800" dirty="0">
                <a:solidFill>
                  <a:srgbClr val="FF0000"/>
                </a:solidFill>
                <a:latin typeface="Arial" pitchFamily="34" charset="0"/>
                <a:ea typeface="黑体" pitchFamily="2" charset="-122"/>
              </a:rPr>
              <a:t>拥塞避免</a:t>
            </a:r>
            <a:r>
              <a:rPr kumimoji="0" lang="zh-CN" altLang="zh-CN" sz="2800" dirty="0">
                <a:solidFill>
                  <a:srgbClr val="000099"/>
                </a:solidFill>
                <a:latin typeface="Arial" pitchFamily="34" charset="0"/>
                <a:ea typeface="黑体" pitchFamily="2" charset="-122"/>
              </a:rPr>
              <a:t>算法，拥塞窗口</a:t>
            </a:r>
            <a:r>
              <a:rPr kumimoji="0" lang="zh-CN" altLang="zh-CN" sz="2800" dirty="0">
                <a:solidFill>
                  <a:srgbClr val="FF0000"/>
                </a:solidFill>
                <a:latin typeface="Arial" pitchFamily="34" charset="0"/>
                <a:ea typeface="黑体" pitchFamily="2" charset="-122"/>
              </a:rPr>
              <a:t>按线性规律增长。</a:t>
            </a:r>
            <a:endParaRPr kumimoji="0" lang="zh-CN" altLang="en-US" sz="2800" dirty="0">
              <a:solidFill>
                <a:srgbClr val="FF0000"/>
              </a:solidFill>
              <a:latin typeface="Arial" pitchFamily="34" charset="0"/>
              <a:ea typeface="黑体" pitchFamily="2" charset="-122"/>
            </a:endParaRPr>
          </a:p>
        </p:txBody>
      </p:sp>
    </p:spTree>
    <p:extLst>
      <p:ext uri="{BB962C8B-B14F-4D97-AF65-F5344CB8AC3E}">
        <p14:creationId xmlns:p14="http://schemas.microsoft.com/office/powerpoint/2010/main" val="169789109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2" name="Rectangle 2"/>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14693" name="Rectangle 3"/>
          <p:cNvSpPr>
            <a:spLocks noChangeArrowheads="1"/>
          </p:cNvSpPr>
          <p:nvPr/>
        </p:nvSpPr>
        <p:spPr bwMode="auto">
          <a:xfrm>
            <a:off x="0" y="30538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14694" name="Rectangle 4"/>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14695" name="Rectangle 5"/>
          <p:cNvSpPr>
            <a:spLocks noChangeArrowheads="1"/>
          </p:cNvSpPr>
          <p:nvPr/>
        </p:nvSpPr>
        <p:spPr bwMode="auto">
          <a:xfrm>
            <a:off x="0" y="305859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14696" name="Rectangle 6"/>
          <p:cNvSpPr>
            <a:spLocks noGrp="1" noChangeArrowheads="1"/>
          </p:cNvSpPr>
          <p:nvPr>
            <p:ph type="title"/>
          </p:nvPr>
        </p:nvSpPr>
        <p:spPr/>
        <p:txBody>
          <a:bodyPr/>
          <a:lstStyle/>
          <a:p>
            <a:pPr algn="ctr" eaLnBrk="1" hangingPunct="1"/>
            <a:r>
              <a:rPr lang="zh-CN" altLang="en-US"/>
              <a:t>必须强调指出 </a:t>
            </a:r>
          </a:p>
        </p:txBody>
      </p:sp>
      <p:sp>
        <p:nvSpPr>
          <p:cNvPr id="2295815" name="Rectangle 7"/>
          <p:cNvSpPr>
            <a:spLocks noGrp="1" noChangeArrowheads="1"/>
          </p:cNvSpPr>
          <p:nvPr>
            <p:ph type="body" idx="1"/>
          </p:nvPr>
        </p:nvSpPr>
        <p:spPr/>
        <p:txBody>
          <a:bodyPr/>
          <a:lstStyle/>
          <a:p>
            <a:pPr algn="just" eaLnBrk="1" hangingPunct="1">
              <a:spcBef>
                <a:spcPts val="1200"/>
              </a:spcBef>
            </a:pPr>
            <a:r>
              <a:rPr lang="en-US" altLang="zh-CN" dirty="0"/>
              <a:t>“</a:t>
            </a:r>
            <a:r>
              <a:rPr lang="zh-CN" altLang="en-US" dirty="0"/>
              <a:t>拥塞避免”并非指完全能够避免了拥塞。利用以上的措施要完全避免网络拥塞还是不可能的。</a:t>
            </a:r>
          </a:p>
          <a:p>
            <a:pPr algn="just" eaLnBrk="1" hangingPunct="1">
              <a:spcBef>
                <a:spcPts val="1200"/>
              </a:spcBef>
            </a:pPr>
            <a:r>
              <a:rPr lang="zh-CN" altLang="en-US" dirty="0"/>
              <a:t>“拥塞避免”是说在拥塞避免阶段把拥塞窗口控制为按线性规律增长，</a:t>
            </a:r>
            <a:r>
              <a:rPr lang="zh-CN" altLang="en-US" dirty="0">
                <a:solidFill>
                  <a:srgbClr val="FF0000"/>
                </a:solidFill>
              </a:rPr>
              <a:t>使网络比较不容易出现拥塞。</a:t>
            </a:r>
            <a:r>
              <a:rPr lang="zh-CN" altLang="en-US" dirty="0"/>
              <a:t> </a:t>
            </a:r>
          </a:p>
        </p:txBody>
      </p:sp>
      <p:sp>
        <p:nvSpPr>
          <p:cNvPr id="114698" name="Rectangle 8"/>
          <p:cNvSpPr>
            <a:spLocks noChangeArrowheads="1"/>
          </p:cNvSpPr>
          <p:nvPr/>
        </p:nvSpPr>
        <p:spPr bwMode="auto">
          <a:xfrm>
            <a:off x="0" y="307764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14699" name="Rectangle 9"/>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Tree>
    <p:extLst>
      <p:ext uri="{BB962C8B-B14F-4D97-AF65-F5344CB8AC3E}">
        <p14:creationId xmlns:p14="http://schemas.microsoft.com/office/powerpoint/2010/main" val="403121990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 name="Rectangle 5"/>
          <p:cNvSpPr txBox="1">
            <a:spLocks noChangeArrowheads="1"/>
          </p:cNvSpPr>
          <p:nvPr/>
        </p:nvSpPr>
        <p:spPr bwMode="auto">
          <a:xfrm>
            <a:off x="417512" y="152400"/>
            <a:ext cx="91440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kumimoji="1" sz="4400" b="1">
                <a:solidFill>
                  <a:schemeClr val="tx2"/>
                </a:solidFill>
                <a:latin typeface="+mj-lt"/>
                <a:ea typeface="+mj-ea"/>
                <a:cs typeface="+mj-cs"/>
              </a:defRPr>
            </a:lvl1pPr>
            <a:lvl2pPr algn="l" rtl="0" eaLnBrk="0" fontAlgn="base" hangingPunct="0">
              <a:spcBef>
                <a:spcPct val="0"/>
              </a:spcBef>
              <a:spcAft>
                <a:spcPct val="0"/>
              </a:spcAft>
              <a:defRPr kumimoji="1" sz="4400" b="1">
                <a:solidFill>
                  <a:schemeClr val="tx2"/>
                </a:solidFill>
                <a:latin typeface="Tahoma" pitchFamily="34" charset="0"/>
                <a:ea typeface="黑体" pitchFamily="2" charset="-122"/>
              </a:defRPr>
            </a:lvl2pPr>
            <a:lvl3pPr algn="l" rtl="0" eaLnBrk="0" fontAlgn="base" hangingPunct="0">
              <a:spcBef>
                <a:spcPct val="0"/>
              </a:spcBef>
              <a:spcAft>
                <a:spcPct val="0"/>
              </a:spcAft>
              <a:defRPr kumimoji="1" sz="4400" b="1">
                <a:solidFill>
                  <a:schemeClr val="tx2"/>
                </a:solidFill>
                <a:latin typeface="Tahoma" pitchFamily="34" charset="0"/>
                <a:ea typeface="黑体" pitchFamily="2" charset="-122"/>
              </a:defRPr>
            </a:lvl3pPr>
            <a:lvl4pPr algn="l" rtl="0" eaLnBrk="0" fontAlgn="base" hangingPunct="0">
              <a:spcBef>
                <a:spcPct val="0"/>
              </a:spcBef>
              <a:spcAft>
                <a:spcPct val="0"/>
              </a:spcAft>
              <a:defRPr kumimoji="1" sz="4400" b="1">
                <a:solidFill>
                  <a:schemeClr val="tx2"/>
                </a:solidFill>
                <a:latin typeface="Tahoma" pitchFamily="34" charset="0"/>
                <a:ea typeface="黑体" pitchFamily="2" charset="-122"/>
              </a:defRPr>
            </a:lvl4pPr>
            <a:lvl5pPr algn="l" rtl="0" eaLnBrk="0" fontAlgn="base" hangingPunct="0">
              <a:spcBef>
                <a:spcPct val="0"/>
              </a:spcBef>
              <a:spcAft>
                <a:spcPct val="0"/>
              </a:spcAft>
              <a:defRPr kumimoji="1" sz="4400" b="1">
                <a:solidFill>
                  <a:schemeClr val="tx2"/>
                </a:solidFill>
                <a:latin typeface="Tahoma" pitchFamily="34" charset="0"/>
                <a:ea typeface="黑体" pitchFamily="2" charset="-122"/>
              </a:defRPr>
            </a:lvl5pPr>
            <a:lvl6pPr marL="457200" algn="l" rtl="0" fontAlgn="base">
              <a:spcBef>
                <a:spcPct val="0"/>
              </a:spcBef>
              <a:spcAft>
                <a:spcPct val="0"/>
              </a:spcAft>
              <a:defRPr kumimoji="1" sz="4400" b="1">
                <a:solidFill>
                  <a:schemeClr val="tx2"/>
                </a:solidFill>
                <a:latin typeface="Tahoma" pitchFamily="34" charset="0"/>
                <a:ea typeface="黑体" pitchFamily="2" charset="-122"/>
              </a:defRPr>
            </a:lvl6pPr>
            <a:lvl7pPr marL="914400" algn="l" rtl="0" fontAlgn="base">
              <a:spcBef>
                <a:spcPct val="0"/>
              </a:spcBef>
              <a:spcAft>
                <a:spcPct val="0"/>
              </a:spcAft>
              <a:defRPr kumimoji="1" sz="4400" b="1">
                <a:solidFill>
                  <a:schemeClr val="tx2"/>
                </a:solidFill>
                <a:latin typeface="Tahoma" pitchFamily="34" charset="0"/>
                <a:ea typeface="黑体" pitchFamily="2" charset="-122"/>
              </a:defRPr>
            </a:lvl7pPr>
            <a:lvl8pPr marL="1371600" algn="l" rtl="0" fontAlgn="base">
              <a:spcBef>
                <a:spcPct val="0"/>
              </a:spcBef>
              <a:spcAft>
                <a:spcPct val="0"/>
              </a:spcAft>
              <a:defRPr kumimoji="1" sz="4400" b="1">
                <a:solidFill>
                  <a:schemeClr val="tx2"/>
                </a:solidFill>
                <a:latin typeface="Tahoma" pitchFamily="34" charset="0"/>
                <a:ea typeface="黑体" pitchFamily="2" charset="-122"/>
              </a:defRPr>
            </a:lvl8pPr>
            <a:lvl9pPr marL="1828800" algn="l" rtl="0" fontAlgn="base">
              <a:spcBef>
                <a:spcPct val="0"/>
              </a:spcBef>
              <a:spcAft>
                <a:spcPct val="0"/>
              </a:spcAft>
              <a:defRPr kumimoji="1" sz="4400" b="1">
                <a:solidFill>
                  <a:schemeClr val="tx2"/>
                </a:solidFill>
                <a:latin typeface="Tahoma" pitchFamily="34" charset="0"/>
                <a:ea typeface="黑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3200" b="1" i="0" u="none" strike="noStrike" kern="0" cap="none" spc="0" normalizeH="0" baseline="0" noProof="0">
                <a:ln>
                  <a:noFill/>
                </a:ln>
                <a:solidFill>
                  <a:srgbClr val="333399"/>
                </a:solidFill>
                <a:effectLst/>
                <a:uLnTx/>
                <a:uFillTx/>
                <a:latin typeface="Tahoma"/>
                <a:ea typeface="黑体"/>
                <a:cs typeface="+mj-cs"/>
              </a:rPr>
              <a:t>慢开始和拥塞避免算法的实现举例 </a:t>
            </a:r>
          </a:p>
        </p:txBody>
      </p:sp>
      <p:grpSp>
        <p:nvGrpSpPr>
          <p:cNvPr id="3" name="组合 2"/>
          <p:cNvGrpSpPr/>
          <p:nvPr/>
        </p:nvGrpSpPr>
        <p:grpSpPr>
          <a:xfrm>
            <a:off x="272479" y="836711"/>
            <a:ext cx="9536759" cy="3321087"/>
            <a:chOff x="272479" y="836711"/>
            <a:chExt cx="9536759" cy="3321087"/>
          </a:xfrm>
        </p:grpSpPr>
        <p:sp>
          <p:nvSpPr>
            <p:cNvPr id="103" name="Text Box 140"/>
            <p:cNvSpPr txBox="1">
              <a:spLocks noChangeArrowheads="1"/>
            </p:cNvSpPr>
            <p:nvPr/>
          </p:nvSpPr>
          <p:spPr bwMode="auto">
            <a:xfrm>
              <a:off x="4863078" y="985683"/>
              <a:ext cx="11570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2000" b="1" i="0" u="none" strike="noStrike" kern="0" cap="none" spc="0" normalizeH="0" baseline="0" noProof="0" dirty="0">
                  <a:ln>
                    <a:noFill/>
                  </a:ln>
                  <a:solidFill>
                    <a:srgbClr val="FF0000"/>
                  </a:solidFill>
                  <a:effectLst/>
                  <a:uLnTx/>
                  <a:uFillTx/>
                  <a:latin typeface="Times New Roman" pitchFamily="18" charset="0"/>
                  <a:ea typeface="宋体" charset="-122"/>
                </a:rPr>
                <a:t>超时</a:t>
              </a:r>
            </a:p>
          </p:txBody>
        </p:sp>
        <p:sp>
          <p:nvSpPr>
            <p:cNvPr id="104" name="Line 2"/>
            <p:cNvSpPr>
              <a:spLocks noChangeShapeType="1"/>
            </p:cNvSpPr>
            <p:nvPr/>
          </p:nvSpPr>
          <p:spPr bwMode="auto">
            <a:xfrm flipV="1">
              <a:off x="1920153" y="3803111"/>
              <a:ext cx="6358624" cy="5046"/>
            </a:xfrm>
            <a:prstGeom prst="line">
              <a:avLst/>
            </a:prstGeom>
            <a:noFill/>
            <a:ln w="19050">
              <a:solidFill>
                <a:srgbClr val="000000"/>
              </a:solidFill>
              <a:round/>
              <a:headEnd/>
              <a:tail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105" name="Line 3"/>
            <p:cNvSpPr>
              <a:spLocks noChangeShapeType="1"/>
            </p:cNvSpPr>
            <p:nvPr/>
          </p:nvSpPr>
          <p:spPr bwMode="auto">
            <a:xfrm>
              <a:off x="1918528" y="1177019"/>
              <a:ext cx="1626" cy="2631138"/>
            </a:xfrm>
            <a:prstGeom prst="line">
              <a:avLst/>
            </a:prstGeom>
            <a:noFill/>
            <a:ln w="19050">
              <a:solidFill>
                <a:srgbClr val="000000"/>
              </a:solidFill>
              <a:round/>
              <a:headEnd type="triangle" w="sm" len="lg"/>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106" name="Line 4"/>
            <p:cNvSpPr>
              <a:spLocks noChangeShapeType="1"/>
            </p:cNvSpPr>
            <p:nvPr/>
          </p:nvSpPr>
          <p:spPr bwMode="auto">
            <a:xfrm>
              <a:off x="2154153" y="3727407"/>
              <a:ext cx="0" cy="8075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08" name="Line 5"/>
            <p:cNvSpPr>
              <a:spLocks noChangeShapeType="1"/>
            </p:cNvSpPr>
            <p:nvPr/>
          </p:nvSpPr>
          <p:spPr bwMode="auto">
            <a:xfrm>
              <a:off x="2388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09" name="Line 6"/>
            <p:cNvSpPr>
              <a:spLocks noChangeShapeType="1"/>
            </p:cNvSpPr>
            <p:nvPr/>
          </p:nvSpPr>
          <p:spPr bwMode="auto">
            <a:xfrm>
              <a:off x="2622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0" name="Line 7"/>
            <p:cNvSpPr>
              <a:spLocks noChangeShapeType="1"/>
            </p:cNvSpPr>
            <p:nvPr/>
          </p:nvSpPr>
          <p:spPr bwMode="auto">
            <a:xfrm>
              <a:off x="2856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1" name="Line 8"/>
            <p:cNvSpPr>
              <a:spLocks noChangeShapeType="1"/>
            </p:cNvSpPr>
            <p:nvPr/>
          </p:nvSpPr>
          <p:spPr bwMode="auto">
            <a:xfrm>
              <a:off x="3090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2" name="Line 9"/>
            <p:cNvSpPr>
              <a:spLocks noChangeShapeType="1"/>
            </p:cNvSpPr>
            <p:nvPr/>
          </p:nvSpPr>
          <p:spPr bwMode="auto">
            <a:xfrm>
              <a:off x="3324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3" name="Line 10"/>
            <p:cNvSpPr>
              <a:spLocks noChangeShapeType="1"/>
            </p:cNvSpPr>
            <p:nvPr/>
          </p:nvSpPr>
          <p:spPr bwMode="auto">
            <a:xfrm>
              <a:off x="3558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4" name="Line 11"/>
            <p:cNvSpPr>
              <a:spLocks noChangeShapeType="1"/>
            </p:cNvSpPr>
            <p:nvPr/>
          </p:nvSpPr>
          <p:spPr bwMode="auto">
            <a:xfrm>
              <a:off x="3792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5" name="Line 12"/>
            <p:cNvSpPr>
              <a:spLocks noChangeShapeType="1"/>
            </p:cNvSpPr>
            <p:nvPr/>
          </p:nvSpPr>
          <p:spPr bwMode="auto">
            <a:xfrm>
              <a:off x="4026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6" name="Line 13"/>
            <p:cNvSpPr>
              <a:spLocks noChangeShapeType="1"/>
            </p:cNvSpPr>
            <p:nvPr/>
          </p:nvSpPr>
          <p:spPr bwMode="auto">
            <a:xfrm>
              <a:off x="4260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7" name="Line 14"/>
            <p:cNvSpPr>
              <a:spLocks noChangeShapeType="1"/>
            </p:cNvSpPr>
            <p:nvPr/>
          </p:nvSpPr>
          <p:spPr bwMode="auto">
            <a:xfrm>
              <a:off x="4494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8" name="Line 15"/>
            <p:cNvSpPr>
              <a:spLocks noChangeShapeType="1"/>
            </p:cNvSpPr>
            <p:nvPr/>
          </p:nvSpPr>
          <p:spPr bwMode="auto">
            <a:xfrm>
              <a:off x="4728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9" name="Line 16"/>
            <p:cNvSpPr>
              <a:spLocks noChangeShapeType="1"/>
            </p:cNvSpPr>
            <p:nvPr/>
          </p:nvSpPr>
          <p:spPr bwMode="auto">
            <a:xfrm>
              <a:off x="4962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0" name="Line 17"/>
            <p:cNvSpPr>
              <a:spLocks noChangeShapeType="1"/>
            </p:cNvSpPr>
            <p:nvPr/>
          </p:nvSpPr>
          <p:spPr bwMode="auto">
            <a:xfrm>
              <a:off x="5196153" y="3727407"/>
              <a:ext cx="0" cy="8075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1" name="Line 18"/>
            <p:cNvSpPr>
              <a:spLocks noChangeShapeType="1"/>
            </p:cNvSpPr>
            <p:nvPr/>
          </p:nvSpPr>
          <p:spPr bwMode="auto">
            <a:xfrm>
              <a:off x="5430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2" name="Line 19"/>
            <p:cNvSpPr>
              <a:spLocks noChangeShapeType="1"/>
            </p:cNvSpPr>
            <p:nvPr/>
          </p:nvSpPr>
          <p:spPr bwMode="auto">
            <a:xfrm>
              <a:off x="5664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3" name="Line 20"/>
            <p:cNvSpPr>
              <a:spLocks noChangeShapeType="1"/>
            </p:cNvSpPr>
            <p:nvPr/>
          </p:nvSpPr>
          <p:spPr bwMode="auto">
            <a:xfrm>
              <a:off x="5898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4" name="Line 21"/>
            <p:cNvSpPr>
              <a:spLocks noChangeShapeType="1"/>
            </p:cNvSpPr>
            <p:nvPr/>
          </p:nvSpPr>
          <p:spPr bwMode="auto">
            <a:xfrm>
              <a:off x="6132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5" name="Line 22"/>
            <p:cNvSpPr>
              <a:spLocks noChangeShapeType="1"/>
            </p:cNvSpPr>
            <p:nvPr/>
          </p:nvSpPr>
          <p:spPr bwMode="auto">
            <a:xfrm>
              <a:off x="6366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6" name="Line 23"/>
            <p:cNvSpPr>
              <a:spLocks noChangeShapeType="1"/>
            </p:cNvSpPr>
            <p:nvPr/>
          </p:nvSpPr>
          <p:spPr bwMode="auto">
            <a:xfrm>
              <a:off x="6600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7" name="Line 24"/>
            <p:cNvSpPr>
              <a:spLocks noChangeShapeType="1"/>
            </p:cNvSpPr>
            <p:nvPr/>
          </p:nvSpPr>
          <p:spPr bwMode="auto">
            <a:xfrm>
              <a:off x="6834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8" name="Line 25"/>
            <p:cNvSpPr>
              <a:spLocks noChangeShapeType="1"/>
            </p:cNvSpPr>
            <p:nvPr/>
          </p:nvSpPr>
          <p:spPr bwMode="auto">
            <a:xfrm>
              <a:off x="7068152"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30" name="Line 40"/>
            <p:cNvSpPr>
              <a:spLocks noChangeShapeType="1"/>
            </p:cNvSpPr>
            <p:nvPr/>
          </p:nvSpPr>
          <p:spPr bwMode="auto">
            <a:xfrm>
              <a:off x="1920153" y="3404402"/>
              <a:ext cx="2340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31" name="Line 41"/>
            <p:cNvSpPr>
              <a:spLocks noChangeShapeType="1"/>
            </p:cNvSpPr>
            <p:nvPr/>
          </p:nvSpPr>
          <p:spPr bwMode="auto">
            <a:xfrm>
              <a:off x="1920153" y="3000647"/>
              <a:ext cx="2340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32" name="Line 42"/>
            <p:cNvSpPr>
              <a:spLocks noChangeShapeType="1"/>
            </p:cNvSpPr>
            <p:nvPr/>
          </p:nvSpPr>
          <p:spPr bwMode="auto">
            <a:xfrm>
              <a:off x="1920153" y="2596892"/>
              <a:ext cx="2340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33" name="Line 43"/>
            <p:cNvSpPr>
              <a:spLocks noChangeShapeType="1"/>
            </p:cNvSpPr>
            <p:nvPr/>
          </p:nvSpPr>
          <p:spPr bwMode="auto">
            <a:xfrm>
              <a:off x="1920153" y="2193137"/>
              <a:ext cx="2340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34" name="Line 44"/>
            <p:cNvSpPr>
              <a:spLocks noChangeShapeType="1"/>
            </p:cNvSpPr>
            <p:nvPr/>
          </p:nvSpPr>
          <p:spPr bwMode="auto">
            <a:xfrm>
              <a:off x="1920153" y="1789382"/>
              <a:ext cx="2340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35" name="Line 45"/>
            <p:cNvSpPr>
              <a:spLocks noChangeShapeType="1"/>
            </p:cNvSpPr>
            <p:nvPr/>
          </p:nvSpPr>
          <p:spPr bwMode="auto">
            <a:xfrm>
              <a:off x="1920153" y="1385626"/>
              <a:ext cx="2340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36" name="Text Box 77"/>
            <p:cNvSpPr txBox="1">
              <a:spLocks noChangeArrowheads="1"/>
            </p:cNvSpPr>
            <p:nvPr/>
          </p:nvSpPr>
          <p:spPr bwMode="auto">
            <a:xfrm>
              <a:off x="2241903" y="3749277"/>
              <a:ext cx="3129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2</a:t>
              </a:r>
            </a:p>
          </p:txBody>
        </p:sp>
        <p:sp>
          <p:nvSpPr>
            <p:cNvPr id="237" name="Text Box 78"/>
            <p:cNvSpPr txBox="1">
              <a:spLocks noChangeArrowheads="1"/>
            </p:cNvSpPr>
            <p:nvPr/>
          </p:nvSpPr>
          <p:spPr bwMode="auto">
            <a:xfrm>
              <a:off x="2709903" y="3749277"/>
              <a:ext cx="3129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4</a:t>
              </a:r>
            </a:p>
          </p:txBody>
        </p:sp>
        <p:sp>
          <p:nvSpPr>
            <p:cNvPr id="238" name="Text Box 79"/>
            <p:cNvSpPr txBox="1">
              <a:spLocks noChangeArrowheads="1"/>
            </p:cNvSpPr>
            <p:nvPr/>
          </p:nvSpPr>
          <p:spPr bwMode="auto">
            <a:xfrm>
              <a:off x="3177903" y="3749277"/>
              <a:ext cx="3129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6</a:t>
              </a:r>
            </a:p>
          </p:txBody>
        </p:sp>
        <p:sp>
          <p:nvSpPr>
            <p:cNvPr id="239" name="Text Box 80"/>
            <p:cNvSpPr txBox="1">
              <a:spLocks noChangeArrowheads="1"/>
            </p:cNvSpPr>
            <p:nvPr/>
          </p:nvSpPr>
          <p:spPr bwMode="auto">
            <a:xfrm>
              <a:off x="3658903" y="3749277"/>
              <a:ext cx="3129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8</a:t>
              </a:r>
            </a:p>
          </p:txBody>
        </p:sp>
        <p:sp>
          <p:nvSpPr>
            <p:cNvPr id="240" name="Text Box 81"/>
            <p:cNvSpPr txBox="1">
              <a:spLocks noChangeArrowheads="1"/>
            </p:cNvSpPr>
            <p:nvPr/>
          </p:nvSpPr>
          <p:spPr bwMode="auto">
            <a:xfrm>
              <a:off x="4048903" y="3749277"/>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10</a:t>
              </a:r>
            </a:p>
          </p:txBody>
        </p:sp>
        <p:sp>
          <p:nvSpPr>
            <p:cNvPr id="241" name="Text Box 82"/>
            <p:cNvSpPr txBox="1">
              <a:spLocks noChangeArrowheads="1"/>
            </p:cNvSpPr>
            <p:nvPr/>
          </p:nvSpPr>
          <p:spPr bwMode="auto">
            <a:xfrm>
              <a:off x="4555903" y="3749277"/>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12</a:t>
              </a:r>
            </a:p>
          </p:txBody>
        </p:sp>
        <p:sp>
          <p:nvSpPr>
            <p:cNvPr id="242" name="Text Box 83"/>
            <p:cNvSpPr txBox="1">
              <a:spLocks noChangeArrowheads="1"/>
            </p:cNvSpPr>
            <p:nvPr/>
          </p:nvSpPr>
          <p:spPr bwMode="auto">
            <a:xfrm>
              <a:off x="4997903" y="3749277"/>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14</a:t>
              </a:r>
            </a:p>
          </p:txBody>
        </p:sp>
        <p:sp>
          <p:nvSpPr>
            <p:cNvPr id="243" name="Text Box 84"/>
            <p:cNvSpPr txBox="1">
              <a:spLocks noChangeArrowheads="1"/>
            </p:cNvSpPr>
            <p:nvPr/>
          </p:nvSpPr>
          <p:spPr bwMode="auto">
            <a:xfrm>
              <a:off x="5465903" y="3749277"/>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16</a:t>
              </a:r>
            </a:p>
          </p:txBody>
        </p:sp>
        <p:sp>
          <p:nvSpPr>
            <p:cNvPr id="244" name="Text Box 85"/>
            <p:cNvSpPr txBox="1">
              <a:spLocks noChangeArrowheads="1"/>
            </p:cNvSpPr>
            <p:nvPr/>
          </p:nvSpPr>
          <p:spPr bwMode="auto">
            <a:xfrm>
              <a:off x="5950153" y="3749277"/>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18</a:t>
              </a:r>
            </a:p>
          </p:txBody>
        </p:sp>
        <p:sp>
          <p:nvSpPr>
            <p:cNvPr id="245" name="Text Box 86"/>
            <p:cNvSpPr txBox="1">
              <a:spLocks noChangeArrowheads="1"/>
            </p:cNvSpPr>
            <p:nvPr/>
          </p:nvSpPr>
          <p:spPr bwMode="auto">
            <a:xfrm>
              <a:off x="6418153" y="3749277"/>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20</a:t>
              </a:r>
            </a:p>
          </p:txBody>
        </p:sp>
        <p:sp>
          <p:nvSpPr>
            <p:cNvPr id="246" name="Text Box 87"/>
            <p:cNvSpPr txBox="1">
              <a:spLocks noChangeArrowheads="1"/>
            </p:cNvSpPr>
            <p:nvPr/>
          </p:nvSpPr>
          <p:spPr bwMode="auto">
            <a:xfrm>
              <a:off x="6873153" y="3757688"/>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22</a:t>
              </a:r>
            </a:p>
          </p:txBody>
        </p:sp>
        <p:sp>
          <p:nvSpPr>
            <p:cNvPr id="247" name="Text Box 89"/>
            <p:cNvSpPr txBox="1">
              <a:spLocks noChangeArrowheads="1"/>
            </p:cNvSpPr>
            <p:nvPr/>
          </p:nvSpPr>
          <p:spPr bwMode="auto">
            <a:xfrm>
              <a:off x="1812903" y="3749277"/>
              <a:ext cx="3129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0</a:t>
              </a:r>
            </a:p>
          </p:txBody>
        </p:sp>
        <p:sp>
          <p:nvSpPr>
            <p:cNvPr id="248" name="Text Box 90"/>
            <p:cNvSpPr txBox="1">
              <a:spLocks noChangeArrowheads="1"/>
            </p:cNvSpPr>
            <p:nvPr/>
          </p:nvSpPr>
          <p:spPr bwMode="auto">
            <a:xfrm>
              <a:off x="1647153" y="3591140"/>
              <a:ext cx="3129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0</a:t>
              </a:r>
            </a:p>
          </p:txBody>
        </p:sp>
        <p:sp>
          <p:nvSpPr>
            <p:cNvPr id="250" name="Text Box 92"/>
            <p:cNvSpPr txBox="1">
              <a:spLocks noChangeArrowheads="1"/>
            </p:cNvSpPr>
            <p:nvPr/>
          </p:nvSpPr>
          <p:spPr bwMode="auto">
            <a:xfrm>
              <a:off x="1647153" y="2797088"/>
              <a:ext cx="3129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8</a:t>
              </a:r>
            </a:p>
          </p:txBody>
        </p:sp>
        <p:sp>
          <p:nvSpPr>
            <p:cNvPr id="251" name="Text Box 93"/>
            <p:cNvSpPr txBox="1">
              <a:spLocks noChangeArrowheads="1"/>
            </p:cNvSpPr>
            <p:nvPr/>
          </p:nvSpPr>
          <p:spPr bwMode="auto">
            <a:xfrm>
              <a:off x="1530153" y="2406791"/>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12</a:t>
              </a:r>
            </a:p>
          </p:txBody>
        </p:sp>
        <p:sp>
          <p:nvSpPr>
            <p:cNvPr id="252" name="Text Box 94"/>
            <p:cNvSpPr txBox="1">
              <a:spLocks noChangeArrowheads="1"/>
            </p:cNvSpPr>
            <p:nvPr/>
          </p:nvSpPr>
          <p:spPr bwMode="auto">
            <a:xfrm>
              <a:off x="1530153" y="2016494"/>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16</a:t>
              </a:r>
            </a:p>
          </p:txBody>
        </p:sp>
        <p:sp>
          <p:nvSpPr>
            <p:cNvPr id="253" name="Text Box 95"/>
            <p:cNvSpPr txBox="1">
              <a:spLocks noChangeArrowheads="1"/>
            </p:cNvSpPr>
            <p:nvPr/>
          </p:nvSpPr>
          <p:spPr bwMode="auto">
            <a:xfrm>
              <a:off x="1530153" y="1612739"/>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20</a:t>
              </a:r>
            </a:p>
          </p:txBody>
        </p:sp>
        <p:sp>
          <p:nvSpPr>
            <p:cNvPr id="254" name="Text Box 96"/>
            <p:cNvSpPr txBox="1">
              <a:spLocks noChangeArrowheads="1"/>
            </p:cNvSpPr>
            <p:nvPr/>
          </p:nvSpPr>
          <p:spPr bwMode="auto">
            <a:xfrm>
              <a:off x="1530153" y="1208984"/>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24</a:t>
              </a:r>
            </a:p>
          </p:txBody>
        </p:sp>
        <p:sp>
          <p:nvSpPr>
            <p:cNvPr id="255" name="Oval 102"/>
            <p:cNvSpPr>
              <a:spLocks noChangeArrowheads="1"/>
            </p:cNvSpPr>
            <p:nvPr/>
          </p:nvSpPr>
          <p:spPr bwMode="auto">
            <a:xfrm>
              <a:off x="2573403" y="2960272"/>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56" name="Oval 103"/>
            <p:cNvSpPr>
              <a:spLocks noChangeArrowheads="1"/>
            </p:cNvSpPr>
            <p:nvPr/>
          </p:nvSpPr>
          <p:spPr bwMode="auto">
            <a:xfrm>
              <a:off x="2339403" y="3364027"/>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57" name="Oval 104"/>
            <p:cNvSpPr>
              <a:spLocks noChangeArrowheads="1"/>
            </p:cNvSpPr>
            <p:nvPr/>
          </p:nvSpPr>
          <p:spPr bwMode="auto">
            <a:xfrm>
              <a:off x="1881153" y="3626468"/>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58" name="Oval 105"/>
            <p:cNvSpPr>
              <a:spLocks noChangeArrowheads="1"/>
            </p:cNvSpPr>
            <p:nvPr/>
          </p:nvSpPr>
          <p:spPr bwMode="auto">
            <a:xfrm>
              <a:off x="2095653" y="3555811"/>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59" name="Oval 106"/>
            <p:cNvSpPr>
              <a:spLocks noChangeArrowheads="1"/>
            </p:cNvSpPr>
            <p:nvPr/>
          </p:nvSpPr>
          <p:spPr bwMode="auto">
            <a:xfrm>
              <a:off x="2807403" y="2149397"/>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0" name="Oval 107"/>
            <p:cNvSpPr>
              <a:spLocks noChangeArrowheads="1"/>
            </p:cNvSpPr>
            <p:nvPr/>
          </p:nvSpPr>
          <p:spPr bwMode="auto">
            <a:xfrm>
              <a:off x="3041403" y="2041729"/>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1" name="Oval 108"/>
            <p:cNvSpPr>
              <a:spLocks noChangeArrowheads="1"/>
            </p:cNvSpPr>
            <p:nvPr/>
          </p:nvSpPr>
          <p:spPr bwMode="auto">
            <a:xfrm>
              <a:off x="3275403" y="1945837"/>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2" name="Oval 109"/>
            <p:cNvSpPr>
              <a:spLocks noChangeArrowheads="1"/>
            </p:cNvSpPr>
            <p:nvPr/>
          </p:nvSpPr>
          <p:spPr bwMode="auto">
            <a:xfrm>
              <a:off x="3748277" y="1743960"/>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3" name="Oval 110"/>
            <p:cNvSpPr>
              <a:spLocks noChangeArrowheads="1"/>
            </p:cNvSpPr>
            <p:nvPr/>
          </p:nvSpPr>
          <p:spPr bwMode="auto">
            <a:xfrm>
              <a:off x="3509403" y="1844898"/>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4" name="Oval 113"/>
            <p:cNvSpPr>
              <a:spLocks noChangeArrowheads="1"/>
            </p:cNvSpPr>
            <p:nvPr/>
          </p:nvSpPr>
          <p:spPr bwMode="auto">
            <a:xfrm>
              <a:off x="3982277" y="1643021"/>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5" name="Oval 114"/>
            <p:cNvSpPr>
              <a:spLocks noChangeArrowheads="1"/>
            </p:cNvSpPr>
            <p:nvPr/>
          </p:nvSpPr>
          <p:spPr bwMode="auto">
            <a:xfrm>
              <a:off x="4211403" y="1547128"/>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6" name="Oval 116"/>
            <p:cNvSpPr>
              <a:spLocks noChangeArrowheads="1"/>
            </p:cNvSpPr>
            <p:nvPr/>
          </p:nvSpPr>
          <p:spPr bwMode="auto">
            <a:xfrm>
              <a:off x="4674527" y="1330110"/>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7" name="Oval 117"/>
            <p:cNvSpPr>
              <a:spLocks noChangeArrowheads="1"/>
            </p:cNvSpPr>
            <p:nvPr/>
          </p:nvSpPr>
          <p:spPr bwMode="auto">
            <a:xfrm>
              <a:off x="4445403" y="1431049"/>
              <a:ext cx="91000" cy="94210"/>
            </a:xfrm>
            <a:prstGeom prst="ellipse">
              <a:avLst/>
            </a:prstGeom>
            <a:solidFill>
              <a:srgbClr val="0000FF"/>
            </a:solidFill>
            <a:ln w="2857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8" name="Freeform 118"/>
            <p:cNvSpPr>
              <a:spLocks/>
            </p:cNvSpPr>
            <p:nvPr/>
          </p:nvSpPr>
          <p:spPr bwMode="auto">
            <a:xfrm>
              <a:off x="1842153" y="1385626"/>
              <a:ext cx="2881124" cy="2304769"/>
            </a:xfrm>
            <a:custGeom>
              <a:avLst/>
              <a:gdLst>
                <a:gd name="T0" fmla="*/ 2147483647 w 1773"/>
                <a:gd name="T1" fmla="*/ 0 h 1370"/>
                <a:gd name="T2" fmla="*/ 2147483647 w 1773"/>
                <a:gd name="T3" fmla="*/ 2147483647 h 1370"/>
                <a:gd name="T4" fmla="*/ 2147483647 w 1773"/>
                <a:gd name="T5" fmla="*/ 2147483647 h 1370"/>
                <a:gd name="T6" fmla="*/ 2147483647 w 1773"/>
                <a:gd name="T7" fmla="*/ 2147483647 h 1370"/>
                <a:gd name="T8" fmla="*/ 2147483647 w 1773"/>
                <a:gd name="T9" fmla="*/ 2147483647 h 1370"/>
                <a:gd name="T10" fmla="*/ 2147483647 w 1773"/>
                <a:gd name="T11" fmla="*/ 2147483647 h 1370"/>
                <a:gd name="T12" fmla="*/ 0 60000 65536"/>
                <a:gd name="T13" fmla="*/ 0 60000 65536"/>
                <a:gd name="T14" fmla="*/ 0 60000 65536"/>
                <a:gd name="T15" fmla="*/ 0 60000 65536"/>
                <a:gd name="T16" fmla="*/ 0 60000 65536"/>
                <a:gd name="T17" fmla="*/ 0 60000 65536"/>
                <a:gd name="T18" fmla="*/ 0 w 1773"/>
                <a:gd name="T19" fmla="*/ 0 h 1370"/>
                <a:gd name="T20" fmla="*/ 1773 w 1773"/>
                <a:gd name="T21" fmla="*/ 1370 h 1370"/>
              </a:gdLst>
              <a:ahLst/>
              <a:cxnLst>
                <a:cxn ang="T12">
                  <a:pos x="T0" y="T1"/>
                </a:cxn>
                <a:cxn ang="T13">
                  <a:pos x="T2" y="T3"/>
                </a:cxn>
                <a:cxn ang="T14">
                  <a:pos x="T4" y="T5"/>
                </a:cxn>
                <a:cxn ang="T15">
                  <a:pos x="T6" y="T7"/>
                </a:cxn>
                <a:cxn ang="T16">
                  <a:pos x="T8" y="T9"/>
                </a:cxn>
                <a:cxn ang="T17">
                  <a:pos x="T10" y="T11"/>
                </a:cxn>
              </a:cxnLst>
              <a:rect l="T18" t="T19" r="T20" b="T21"/>
              <a:pathLst>
                <a:path w="1773" h="1370">
                  <a:moveTo>
                    <a:pt x="1773" y="0"/>
                  </a:moveTo>
                  <a:lnTo>
                    <a:pt x="618" y="487"/>
                  </a:lnTo>
                  <a:lnTo>
                    <a:pt x="480" y="961"/>
                  </a:lnTo>
                  <a:lnTo>
                    <a:pt x="331" y="1201"/>
                  </a:lnTo>
                  <a:lnTo>
                    <a:pt x="187" y="1321"/>
                  </a:lnTo>
                  <a:cubicBezTo>
                    <a:pt x="47" y="1370"/>
                    <a:pt x="0" y="1369"/>
                    <a:pt x="55" y="1369"/>
                  </a:cubicBezTo>
                </a:path>
              </a:pathLst>
            </a:custGeom>
            <a:noFill/>
            <a:ln w="28575" cmpd="sng">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9" name="Text Box 134"/>
            <p:cNvSpPr txBox="1">
              <a:spLocks noChangeArrowheads="1"/>
            </p:cNvSpPr>
            <p:nvPr/>
          </p:nvSpPr>
          <p:spPr bwMode="auto">
            <a:xfrm>
              <a:off x="8280402" y="3596186"/>
              <a:ext cx="121699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2000" b="1" i="0" u="none" strike="noStrike" kern="0" cap="none" spc="0" normalizeH="0" baseline="0" noProof="0">
                  <a:ln>
                    <a:noFill/>
                  </a:ln>
                  <a:solidFill>
                    <a:srgbClr val="000000"/>
                  </a:solidFill>
                  <a:effectLst/>
                  <a:uLnTx/>
                  <a:uFillTx/>
                  <a:latin typeface="Times New Roman" pitchFamily="18" charset="0"/>
                  <a:ea typeface="宋体" charset="-122"/>
                </a:rPr>
                <a:t>传输轮次</a:t>
              </a:r>
            </a:p>
          </p:txBody>
        </p:sp>
        <p:sp>
          <p:nvSpPr>
            <p:cNvPr id="270" name="Text Box 135"/>
            <p:cNvSpPr txBox="1">
              <a:spLocks noChangeArrowheads="1"/>
            </p:cNvSpPr>
            <p:nvPr/>
          </p:nvSpPr>
          <p:spPr bwMode="auto">
            <a:xfrm>
              <a:off x="966278" y="836711"/>
              <a:ext cx="193033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2000" b="1" i="0" u="none" strike="noStrike" kern="0" cap="none" spc="0" normalizeH="0" baseline="0" noProof="0" dirty="0">
                  <a:ln>
                    <a:noFill/>
                  </a:ln>
                  <a:solidFill>
                    <a:srgbClr val="000000"/>
                  </a:solidFill>
                  <a:effectLst/>
                  <a:uLnTx/>
                  <a:uFillTx/>
                  <a:latin typeface="Times New Roman" pitchFamily="18" charset="0"/>
                  <a:ea typeface="宋体" charset="-122"/>
                </a:rPr>
                <a:t>拥塞窗口  </a:t>
              </a:r>
              <a:r>
                <a:rPr kumimoji="1" lang="en-US" altLang="zh-CN" sz="2000" b="1" i="0" u="none" strike="noStrike" kern="0" cap="none" spc="0" normalizeH="0" baseline="0" noProof="0" dirty="0" err="1">
                  <a:ln>
                    <a:noFill/>
                  </a:ln>
                  <a:solidFill>
                    <a:srgbClr val="000000"/>
                  </a:solidFill>
                  <a:effectLst/>
                  <a:uLnTx/>
                  <a:uFillTx/>
                  <a:latin typeface="Times New Roman" pitchFamily="18" charset="0"/>
                  <a:ea typeface="宋体" charset="-122"/>
                </a:rPr>
                <a:t>cwnd</a:t>
              </a:r>
              <a:endParaRPr kumimoji="1" lang="en-US" altLang="zh-CN" sz="2000" b="1" i="0" u="none" strike="noStrike" kern="0" cap="none" spc="0" normalizeH="0" baseline="0" noProof="0" dirty="0">
                <a:ln>
                  <a:noFill/>
                </a:ln>
                <a:solidFill>
                  <a:srgbClr val="000000"/>
                </a:solidFill>
                <a:effectLst/>
                <a:uLnTx/>
                <a:uFillTx/>
                <a:latin typeface="Times New Roman" pitchFamily="18" charset="0"/>
                <a:ea typeface="宋体" charset="-122"/>
              </a:endParaRPr>
            </a:p>
          </p:txBody>
        </p:sp>
        <p:sp>
          <p:nvSpPr>
            <p:cNvPr id="271" name="Text Box 140"/>
            <p:cNvSpPr txBox="1">
              <a:spLocks noChangeArrowheads="1"/>
            </p:cNvSpPr>
            <p:nvPr/>
          </p:nvSpPr>
          <p:spPr bwMode="auto">
            <a:xfrm>
              <a:off x="7049973" y="1815231"/>
              <a:ext cx="118137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dirty="0">
                  <a:ln>
                    <a:noFill/>
                  </a:ln>
                  <a:solidFill>
                    <a:srgbClr val="FF0000"/>
                  </a:solidFill>
                  <a:effectLst/>
                  <a:uLnTx/>
                  <a:uFillTx/>
                  <a:latin typeface="Times New Roman" pitchFamily="18" charset="0"/>
                  <a:ea typeface="宋体" charset="-122"/>
                </a:rPr>
                <a:t>3-ACK</a:t>
              </a:r>
              <a:endParaRPr kumimoji="1" lang="zh-CN" altLang="en-US" sz="2000" b="1" i="0" u="none" strike="noStrike" kern="0" cap="none" spc="0" normalizeH="0" baseline="0" noProof="0" dirty="0">
                <a:ln>
                  <a:noFill/>
                </a:ln>
                <a:solidFill>
                  <a:srgbClr val="FF0000"/>
                </a:solidFill>
                <a:effectLst/>
                <a:uLnTx/>
                <a:uFillTx/>
                <a:latin typeface="Times New Roman" pitchFamily="18" charset="0"/>
                <a:ea typeface="宋体" charset="-122"/>
              </a:endParaRPr>
            </a:p>
          </p:txBody>
        </p:sp>
        <p:sp>
          <p:nvSpPr>
            <p:cNvPr id="272" name="Rectangle 160"/>
            <p:cNvSpPr>
              <a:spLocks noChangeArrowheads="1"/>
            </p:cNvSpPr>
            <p:nvPr/>
          </p:nvSpPr>
          <p:spPr bwMode="auto">
            <a:xfrm>
              <a:off x="1998153" y="1304875"/>
              <a:ext cx="195000" cy="215336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73" name="Line 156"/>
            <p:cNvSpPr>
              <a:spLocks noChangeShapeType="1"/>
            </p:cNvSpPr>
            <p:nvPr/>
          </p:nvSpPr>
          <p:spPr bwMode="auto">
            <a:xfrm>
              <a:off x="1998153" y="2193137"/>
              <a:ext cx="858000" cy="0"/>
            </a:xfrm>
            <a:prstGeom prst="line">
              <a:avLst/>
            </a:prstGeom>
            <a:noFill/>
            <a:ln w="1905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74" name="Line 146"/>
            <p:cNvSpPr>
              <a:spLocks noChangeShapeType="1"/>
            </p:cNvSpPr>
            <p:nvPr/>
          </p:nvSpPr>
          <p:spPr bwMode="auto">
            <a:xfrm flipV="1">
              <a:off x="1998153" y="1378897"/>
              <a:ext cx="2743000" cy="6729"/>
            </a:xfrm>
            <a:prstGeom prst="line">
              <a:avLst/>
            </a:prstGeom>
            <a:noFill/>
            <a:ln w="1905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75" name="Rectangle 162"/>
            <p:cNvSpPr>
              <a:spLocks noChangeArrowheads="1"/>
            </p:cNvSpPr>
            <p:nvPr/>
          </p:nvSpPr>
          <p:spPr bwMode="auto">
            <a:xfrm>
              <a:off x="5352153" y="3565904"/>
              <a:ext cx="1480374" cy="1615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77" name="Text Box 203"/>
            <p:cNvSpPr txBox="1">
              <a:spLocks noChangeArrowheads="1"/>
            </p:cNvSpPr>
            <p:nvPr/>
          </p:nvSpPr>
          <p:spPr bwMode="auto">
            <a:xfrm>
              <a:off x="8170649" y="1977696"/>
              <a:ext cx="1638589"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b="1" i="0" u="none" strike="noStrike" kern="0" cap="none" spc="0" normalizeH="0" baseline="0" noProof="0" dirty="0">
                  <a:ln>
                    <a:noFill/>
                  </a:ln>
                  <a:solidFill>
                    <a:srgbClr val="0000FF"/>
                  </a:solidFill>
                  <a:effectLst/>
                  <a:uLnTx/>
                  <a:uFillTx/>
                  <a:latin typeface="Times New Roman" pitchFamily="18" charset="0"/>
                  <a:ea typeface="宋体" charset="-122"/>
                </a:rPr>
                <a:t>TCP Reno </a:t>
              </a:r>
            </a:p>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b="1" i="0" u="none" strike="noStrike" kern="0" cap="none" spc="0" normalizeH="0" baseline="0" noProof="0" dirty="0">
                  <a:ln>
                    <a:noFill/>
                  </a:ln>
                  <a:solidFill>
                    <a:srgbClr val="0000FF"/>
                  </a:solidFill>
                  <a:effectLst/>
                  <a:uLnTx/>
                  <a:uFillTx/>
                  <a:latin typeface="Times New Roman" pitchFamily="18" charset="0"/>
                  <a:ea typeface="宋体" charset="-122"/>
                </a:rPr>
                <a:t>版本</a:t>
              </a:r>
            </a:p>
          </p:txBody>
        </p:sp>
        <p:sp>
          <p:nvSpPr>
            <p:cNvPr id="278" name="Text Box 205"/>
            <p:cNvSpPr txBox="1">
              <a:spLocks noChangeArrowheads="1"/>
            </p:cNvSpPr>
            <p:nvPr/>
          </p:nvSpPr>
          <p:spPr bwMode="auto">
            <a:xfrm>
              <a:off x="272479" y="1918920"/>
              <a:ext cx="128112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dirty="0" err="1">
                  <a:ln>
                    <a:noFill/>
                  </a:ln>
                  <a:solidFill>
                    <a:srgbClr val="C00000"/>
                  </a:solidFill>
                  <a:effectLst/>
                  <a:uLnTx/>
                  <a:uFillTx/>
                  <a:latin typeface="Times New Roman" pitchFamily="18" charset="0"/>
                  <a:ea typeface="宋体" charset="-122"/>
                </a:rPr>
                <a:t>ssthresh</a:t>
              </a:r>
              <a:endParaRPr kumimoji="1" lang="en-US" altLang="zh-CN" sz="2000" b="1" i="0" u="none" strike="noStrike" kern="0" cap="none" spc="0" normalizeH="0" baseline="0" noProof="0" dirty="0">
                <a:ln>
                  <a:noFill/>
                </a:ln>
                <a:solidFill>
                  <a:srgbClr val="C00000"/>
                </a:solidFill>
                <a:effectLst/>
                <a:uLnTx/>
                <a:uFillTx/>
                <a:latin typeface="Times New Roman" pitchFamily="18" charset="0"/>
                <a:ea typeface="宋体" charset="-122"/>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2000" b="1" i="0" u="none" strike="noStrike" kern="0" cap="none" spc="0" normalizeH="0" baseline="0" noProof="0" dirty="0">
                  <a:ln>
                    <a:noFill/>
                  </a:ln>
                  <a:solidFill>
                    <a:srgbClr val="C00000"/>
                  </a:solidFill>
                  <a:effectLst/>
                  <a:uLnTx/>
                  <a:uFillTx/>
                  <a:latin typeface="Times New Roman" pitchFamily="18" charset="0"/>
                  <a:ea typeface="宋体" charset="-122"/>
                </a:rPr>
                <a:t> 的初始值</a:t>
              </a:r>
            </a:p>
          </p:txBody>
        </p:sp>
        <p:sp>
          <p:nvSpPr>
            <p:cNvPr id="280" name="Line 215"/>
            <p:cNvSpPr>
              <a:spLocks noChangeShapeType="1"/>
            </p:cNvSpPr>
            <p:nvPr/>
          </p:nvSpPr>
          <p:spPr bwMode="auto">
            <a:xfrm flipV="1">
              <a:off x="1413153" y="2223418"/>
              <a:ext cx="219374" cy="0"/>
            </a:xfrm>
            <a:prstGeom prst="line">
              <a:avLst/>
            </a:prstGeom>
            <a:noFill/>
            <a:ln w="19050">
              <a:solidFill>
                <a:srgbClr val="C00000"/>
              </a:solidFill>
              <a:round/>
              <a:headEnd/>
              <a:tailEnd type="triangle" w="sm"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81" name="Text Box 206"/>
            <p:cNvSpPr txBox="1">
              <a:spLocks noChangeArrowheads="1"/>
            </p:cNvSpPr>
            <p:nvPr/>
          </p:nvSpPr>
          <p:spPr bwMode="auto">
            <a:xfrm rot="20245475">
              <a:off x="6948778" y="2393474"/>
              <a:ext cx="121699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2000" b="1" i="0" u="none" strike="noStrike" kern="0" cap="none" spc="0" normalizeH="0" baseline="0" noProof="0">
                  <a:ln>
                    <a:noFill/>
                  </a:ln>
                  <a:solidFill>
                    <a:srgbClr val="000000"/>
                  </a:solidFill>
                  <a:effectLst/>
                  <a:uLnTx/>
                  <a:uFillTx/>
                  <a:latin typeface="Times New Roman" pitchFamily="18" charset="0"/>
                  <a:ea typeface="宋体" charset="-122"/>
                </a:rPr>
                <a:t>拥塞避免</a:t>
              </a:r>
            </a:p>
          </p:txBody>
        </p:sp>
        <p:sp>
          <p:nvSpPr>
            <p:cNvPr id="282" name="Oval 125"/>
            <p:cNvSpPr>
              <a:spLocks noChangeArrowheads="1"/>
            </p:cNvSpPr>
            <p:nvPr/>
          </p:nvSpPr>
          <p:spPr bwMode="auto">
            <a:xfrm>
              <a:off x="5147403" y="3540670"/>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83" name="Oval 126"/>
            <p:cNvSpPr>
              <a:spLocks noChangeArrowheads="1"/>
            </p:cNvSpPr>
            <p:nvPr/>
          </p:nvSpPr>
          <p:spPr bwMode="auto">
            <a:xfrm>
              <a:off x="5383027" y="3343839"/>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84" name="Oval 127"/>
            <p:cNvSpPr>
              <a:spLocks noChangeArrowheads="1"/>
            </p:cNvSpPr>
            <p:nvPr/>
          </p:nvSpPr>
          <p:spPr bwMode="auto">
            <a:xfrm>
              <a:off x="4903653" y="3616374"/>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85" name="Oval 128"/>
            <p:cNvSpPr>
              <a:spLocks noChangeArrowheads="1"/>
            </p:cNvSpPr>
            <p:nvPr/>
          </p:nvSpPr>
          <p:spPr bwMode="auto">
            <a:xfrm>
              <a:off x="5623527" y="2953542"/>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86" name="Oval 129"/>
            <p:cNvSpPr>
              <a:spLocks noChangeArrowheads="1"/>
            </p:cNvSpPr>
            <p:nvPr/>
          </p:nvSpPr>
          <p:spPr bwMode="auto">
            <a:xfrm>
              <a:off x="6106153" y="2440437"/>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87" name="Oval 130"/>
            <p:cNvSpPr>
              <a:spLocks noChangeArrowheads="1"/>
            </p:cNvSpPr>
            <p:nvPr/>
          </p:nvSpPr>
          <p:spPr bwMode="auto">
            <a:xfrm>
              <a:off x="6795153" y="2147715"/>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88" name="Oval 131"/>
            <p:cNvSpPr>
              <a:spLocks noChangeArrowheads="1"/>
            </p:cNvSpPr>
            <p:nvPr/>
          </p:nvSpPr>
          <p:spPr bwMode="auto">
            <a:xfrm>
              <a:off x="6335277" y="2334451"/>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89" name="Oval 132"/>
            <p:cNvSpPr>
              <a:spLocks noChangeArrowheads="1"/>
            </p:cNvSpPr>
            <p:nvPr/>
          </p:nvSpPr>
          <p:spPr bwMode="auto">
            <a:xfrm>
              <a:off x="6569277" y="2238560"/>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90" name="Line 147"/>
            <p:cNvSpPr>
              <a:spLocks noChangeShapeType="1"/>
            </p:cNvSpPr>
            <p:nvPr/>
          </p:nvSpPr>
          <p:spPr bwMode="auto">
            <a:xfrm rot="10800000">
              <a:off x="2016028" y="2595210"/>
              <a:ext cx="4134000" cy="0"/>
            </a:xfrm>
            <a:prstGeom prst="line">
              <a:avLst/>
            </a:prstGeom>
            <a:noFill/>
            <a:ln w="1905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cxnSp>
          <p:nvCxnSpPr>
            <p:cNvPr id="291" name="直接连接符 115"/>
            <p:cNvCxnSpPr>
              <a:cxnSpLocks noChangeShapeType="1"/>
            </p:cNvCxnSpPr>
            <p:nvPr/>
          </p:nvCxnSpPr>
          <p:spPr bwMode="auto">
            <a:xfrm>
              <a:off x="4728153" y="1375532"/>
              <a:ext cx="234000" cy="2266077"/>
            </a:xfrm>
            <a:prstGeom prst="line">
              <a:avLst/>
            </a:prstGeom>
            <a:noFill/>
            <a:ln w="28575" algn="ctr">
              <a:solidFill>
                <a:srgbClr val="0000FF"/>
              </a:solidFill>
              <a:round/>
              <a:headEnd/>
              <a:tailEnd/>
            </a:ln>
            <a:extLst>
              <a:ext uri="{909E8E84-426E-40DD-AFC4-6F175D3DCCD1}">
                <a14:hiddenFill xmlns:a14="http://schemas.microsoft.com/office/drawing/2010/main">
                  <a:noFill/>
                </a14:hiddenFill>
              </a:ext>
            </a:extLst>
          </p:spPr>
        </p:cxnSp>
        <p:sp>
          <p:nvSpPr>
            <p:cNvPr id="293" name="Rectangle 161"/>
            <p:cNvSpPr>
              <a:spLocks noChangeArrowheads="1"/>
            </p:cNvSpPr>
            <p:nvPr/>
          </p:nvSpPr>
          <p:spPr bwMode="auto">
            <a:xfrm>
              <a:off x="2555757" y="1801158"/>
              <a:ext cx="442000" cy="3684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800" b="1" i="0" u="none" strike="noStrike" kern="0" cap="none" spc="0" normalizeH="0" baseline="0" noProof="0" dirty="0">
                  <a:ln>
                    <a:noFill/>
                  </a:ln>
                  <a:solidFill>
                    <a:sysClr val="windowText" lastClr="000000"/>
                  </a:solidFill>
                  <a:effectLst/>
                  <a:uLnTx/>
                  <a:uFillTx/>
                  <a:sym typeface="Wingdings" pitchFamily="2" charset="2"/>
                </a:rPr>
                <a:t></a:t>
              </a:r>
              <a:endParaRPr kumimoji="0" lang="zh-CN" altLang="en-US" sz="2800" b="1" i="0" u="none" strike="noStrike" kern="0" cap="none" spc="0" normalizeH="0" baseline="0" noProof="0" dirty="0">
                <a:ln>
                  <a:noFill/>
                </a:ln>
                <a:solidFill>
                  <a:sysClr val="windowText" lastClr="000000"/>
                </a:solidFill>
                <a:effectLst/>
                <a:uLnTx/>
                <a:uFillTx/>
              </a:endParaRPr>
            </a:p>
          </p:txBody>
        </p:sp>
        <p:sp>
          <p:nvSpPr>
            <p:cNvPr id="294" name="Oval 129"/>
            <p:cNvSpPr>
              <a:spLocks noChangeArrowheads="1"/>
            </p:cNvSpPr>
            <p:nvPr/>
          </p:nvSpPr>
          <p:spPr bwMode="auto">
            <a:xfrm>
              <a:off x="5868903" y="2549787"/>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95" name="任意多边形 134"/>
            <p:cNvSpPr>
              <a:spLocks/>
            </p:cNvSpPr>
            <p:nvPr/>
          </p:nvSpPr>
          <p:spPr bwMode="auto">
            <a:xfrm>
              <a:off x="4952403" y="2181361"/>
              <a:ext cx="1906124" cy="1485482"/>
            </a:xfrm>
            <a:custGeom>
              <a:avLst/>
              <a:gdLst>
                <a:gd name="T0" fmla="*/ 0 w 1929384"/>
                <a:gd name="T1" fmla="*/ 1404281 h 1426464"/>
                <a:gd name="T2" fmla="*/ 224888 w 1929384"/>
                <a:gd name="T3" fmla="*/ 1336767 h 1426464"/>
                <a:gd name="T4" fmla="*/ 445365 w 1929384"/>
                <a:gd name="T5" fmla="*/ 1152231 h 1426464"/>
                <a:gd name="T6" fmla="*/ 903959 w 1929384"/>
                <a:gd name="T7" fmla="*/ 409583 h 1426464"/>
                <a:gd name="T8" fmla="*/ 1860836 w 1929384"/>
                <a:gd name="T9" fmla="*/ 0 h 1426464"/>
                <a:gd name="T10" fmla="*/ 0 60000 65536"/>
                <a:gd name="T11" fmla="*/ 0 60000 65536"/>
                <a:gd name="T12" fmla="*/ 0 60000 65536"/>
                <a:gd name="T13" fmla="*/ 0 60000 65536"/>
                <a:gd name="T14" fmla="*/ 0 60000 65536"/>
                <a:gd name="T15" fmla="*/ 0 w 1929384"/>
                <a:gd name="T16" fmla="*/ 0 h 1426464"/>
                <a:gd name="T17" fmla="*/ 1929384 w 1929384"/>
                <a:gd name="T18" fmla="*/ 1426464 h 1426464"/>
              </a:gdLst>
              <a:ahLst/>
              <a:cxnLst>
                <a:cxn ang="T10">
                  <a:pos x="T0" y="T1"/>
                </a:cxn>
                <a:cxn ang="T11">
                  <a:pos x="T2" y="T3"/>
                </a:cxn>
                <a:cxn ang="T12">
                  <a:pos x="T4" y="T5"/>
                </a:cxn>
                <a:cxn ang="T13">
                  <a:pos x="T6" y="T7"/>
                </a:cxn>
                <a:cxn ang="T14">
                  <a:pos x="T8" y="T9"/>
                </a:cxn>
              </a:cxnLst>
              <a:rect l="T15" t="T16" r="T17" b="T18"/>
              <a:pathLst>
                <a:path w="1929384" h="1426464">
                  <a:moveTo>
                    <a:pt x="0" y="1426464"/>
                  </a:moveTo>
                  <a:lnTo>
                    <a:pt x="233172" y="1357884"/>
                  </a:lnTo>
                  <a:lnTo>
                    <a:pt x="461772" y="1170432"/>
                  </a:lnTo>
                  <a:lnTo>
                    <a:pt x="937260" y="416052"/>
                  </a:lnTo>
                  <a:lnTo>
                    <a:pt x="1929384" y="0"/>
                  </a:lnTo>
                </a:path>
              </a:pathLst>
            </a:custGeom>
            <a:noFill/>
            <a:ln w="28575" cap="flat" cmpd="sng" algn="ctr">
              <a:solidFill>
                <a:srgbClr val="0000FF"/>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96" name="Rectangle 161"/>
            <p:cNvSpPr>
              <a:spLocks noChangeArrowheads="1"/>
            </p:cNvSpPr>
            <p:nvPr/>
          </p:nvSpPr>
          <p:spPr bwMode="auto">
            <a:xfrm>
              <a:off x="4545899" y="1021117"/>
              <a:ext cx="367250" cy="30618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800" b="1" i="0" u="none" strike="noStrike" kern="0" cap="none" spc="0" normalizeH="0" baseline="0" noProof="0" dirty="0">
                  <a:ln>
                    <a:noFill/>
                  </a:ln>
                  <a:solidFill>
                    <a:sysClr val="windowText" lastClr="000000"/>
                  </a:solidFill>
                  <a:effectLst/>
                  <a:uLnTx/>
                  <a:uFillTx/>
                  <a:sym typeface="Wingdings" pitchFamily="2" charset="2"/>
                </a:rPr>
                <a:t></a:t>
              </a:r>
              <a:endParaRPr kumimoji="0" lang="zh-CN" altLang="en-US" sz="2800" b="1" i="0" u="none" strike="noStrike" kern="0" cap="none" spc="0" normalizeH="0" baseline="0" noProof="0" dirty="0">
                <a:ln>
                  <a:noFill/>
                </a:ln>
                <a:solidFill>
                  <a:sysClr val="windowText" lastClr="000000"/>
                </a:solidFill>
                <a:effectLst/>
                <a:uLnTx/>
                <a:uFillTx/>
              </a:endParaRPr>
            </a:p>
          </p:txBody>
        </p:sp>
        <p:cxnSp>
          <p:nvCxnSpPr>
            <p:cNvPr id="297" name="直接连接符 119"/>
            <p:cNvCxnSpPr>
              <a:cxnSpLocks noChangeShapeType="1"/>
            </p:cNvCxnSpPr>
            <p:nvPr/>
          </p:nvCxnSpPr>
          <p:spPr bwMode="auto">
            <a:xfrm flipH="1">
              <a:off x="7064902" y="3022518"/>
              <a:ext cx="1624" cy="694795"/>
            </a:xfrm>
            <a:prstGeom prst="line">
              <a:avLst/>
            </a:prstGeom>
            <a:noFill/>
            <a:ln w="19050" algn="ctr">
              <a:solidFill>
                <a:srgbClr val="000000"/>
              </a:solidFill>
              <a:prstDash val="dash"/>
              <a:round/>
              <a:headEnd/>
              <a:tailEnd/>
            </a:ln>
          </p:spPr>
        </p:cxnSp>
        <p:cxnSp>
          <p:nvCxnSpPr>
            <p:cNvPr id="298" name="直接连接符 121"/>
            <p:cNvCxnSpPr>
              <a:cxnSpLocks noChangeShapeType="1"/>
            </p:cNvCxnSpPr>
            <p:nvPr/>
          </p:nvCxnSpPr>
          <p:spPr bwMode="auto">
            <a:xfrm>
              <a:off x="2032278" y="3005695"/>
              <a:ext cx="5676125" cy="0"/>
            </a:xfrm>
            <a:prstGeom prst="line">
              <a:avLst/>
            </a:prstGeom>
            <a:noFill/>
            <a:ln w="19050" algn="ctr">
              <a:solidFill>
                <a:srgbClr val="000000"/>
              </a:solidFill>
              <a:prstDash val="dash"/>
              <a:round/>
              <a:headEnd/>
              <a:tailEnd/>
            </a:ln>
          </p:spPr>
        </p:cxnSp>
        <p:sp>
          <p:nvSpPr>
            <p:cNvPr id="299" name="Oval 130"/>
            <p:cNvSpPr>
              <a:spLocks noChangeArrowheads="1"/>
            </p:cNvSpPr>
            <p:nvPr/>
          </p:nvSpPr>
          <p:spPr bwMode="auto">
            <a:xfrm>
              <a:off x="7021027" y="2961955"/>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300" name="Line 24"/>
            <p:cNvSpPr>
              <a:spLocks noChangeShapeType="1"/>
            </p:cNvSpPr>
            <p:nvPr/>
          </p:nvSpPr>
          <p:spPr bwMode="auto">
            <a:xfrm>
              <a:off x="7532902" y="363992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301" name="Line 22"/>
            <p:cNvSpPr>
              <a:spLocks noChangeShapeType="1"/>
            </p:cNvSpPr>
            <p:nvPr/>
          </p:nvSpPr>
          <p:spPr bwMode="auto">
            <a:xfrm>
              <a:off x="7295652" y="3644974"/>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302" name="Text Box 87"/>
            <p:cNvSpPr txBox="1">
              <a:spLocks noChangeArrowheads="1"/>
            </p:cNvSpPr>
            <p:nvPr/>
          </p:nvSpPr>
          <p:spPr bwMode="auto">
            <a:xfrm>
              <a:off x="7311902" y="3754324"/>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24</a:t>
              </a:r>
            </a:p>
          </p:txBody>
        </p:sp>
        <p:sp>
          <p:nvSpPr>
            <p:cNvPr id="303" name="Line 22"/>
            <p:cNvSpPr>
              <a:spLocks noChangeShapeType="1"/>
            </p:cNvSpPr>
            <p:nvPr/>
          </p:nvSpPr>
          <p:spPr bwMode="auto">
            <a:xfrm>
              <a:off x="7776652" y="3653385"/>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cxnSp>
          <p:nvCxnSpPr>
            <p:cNvPr id="304" name="直接连接符 134"/>
            <p:cNvCxnSpPr>
              <a:cxnSpLocks noChangeShapeType="1"/>
              <a:stCxn id="295" idx="4"/>
              <a:endCxn id="299" idx="3"/>
            </p:cNvCxnSpPr>
            <p:nvPr/>
          </p:nvCxnSpPr>
          <p:spPr bwMode="auto">
            <a:xfrm>
              <a:off x="6856903" y="2181361"/>
              <a:ext cx="204750" cy="832745"/>
            </a:xfrm>
            <a:prstGeom prst="line">
              <a:avLst/>
            </a:prstGeom>
            <a:noFill/>
            <a:ln w="28575" algn="ctr">
              <a:solidFill>
                <a:srgbClr val="0000FF"/>
              </a:solidFill>
              <a:round/>
              <a:headEnd/>
              <a:tailEnd/>
            </a:ln>
          </p:spPr>
        </p:cxnSp>
        <p:sp>
          <p:nvSpPr>
            <p:cNvPr id="305" name="Text Box 206"/>
            <p:cNvSpPr txBox="1">
              <a:spLocks noChangeArrowheads="1"/>
            </p:cNvSpPr>
            <p:nvPr/>
          </p:nvSpPr>
          <p:spPr bwMode="auto">
            <a:xfrm rot="20070649">
              <a:off x="5809549" y="2010746"/>
              <a:ext cx="111440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800" b="1" i="0" u="none" strike="noStrike" kern="0" cap="none" spc="0" normalizeH="0" baseline="0" noProof="0" dirty="0">
                  <a:ln>
                    <a:noFill/>
                  </a:ln>
                  <a:solidFill>
                    <a:srgbClr val="000000"/>
                  </a:solidFill>
                  <a:effectLst/>
                  <a:uLnTx/>
                  <a:uFillTx/>
                  <a:latin typeface="Times New Roman" pitchFamily="18" charset="0"/>
                  <a:ea typeface="宋体" charset="-122"/>
                </a:rPr>
                <a:t>拥塞避免</a:t>
              </a:r>
            </a:p>
          </p:txBody>
        </p:sp>
        <p:sp>
          <p:nvSpPr>
            <p:cNvPr id="306" name="Text Box 206"/>
            <p:cNvSpPr txBox="1">
              <a:spLocks noChangeArrowheads="1"/>
            </p:cNvSpPr>
            <p:nvPr/>
          </p:nvSpPr>
          <p:spPr bwMode="auto">
            <a:xfrm rot="20205303">
              <a:off x="2990278" y="1471566"/>
              <a:ext cx="121699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2000" b="1" i="0" u="none" strike="noStrike" kern="0" cap="none" spc="0" normalizeH="0" baseline="0" noProof="0">
                  <a:ln>
                    <a:noFill/>
                  </a:ln>
                  <a:solidFill>
                    <a:srgbClr val="000000"/>
                  </a:solidFill>
                  <a:effectLst/>
                  <a:uLnTx/>
                  <a:uFillTx/>
                  <a:latin typeface="Times New Roman" pitchFamily="18" charset="0"/>
                  <a:ea typeface="宋体" charset="-122"/>
                </a:rPr>
                <a:t>拥塞避免</a:t>
              </a:r>
            </a:p>
          </p:txBody>
        </p:sp>
        <p:sp>
          <p:nvSpPr>
            <p:cNvPr id="307" name="TextBox 147"/>
            <p:cNvSpPr txBox="1">
              <a:spLocks noChangeArrowheads="1"/>
            </p:cNvSpPr>
            <p:nvPr/>
          </p:nvSpPr>
          <p:spPr bwMode="auto">
            <a:xfrm>
              <a:off x="5542277" y="2191455"/>
              <a:ext cx="50526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2800" b="1" i="0" u="none" strike="noStrike" kern="0" cap="none" spc="0" normalizeH="0" baseline="0" noProof="0" dirty="0">
                  <a:ln>
                    <a:noFill/>
                  </a:ln>
                  <a:solidFill>
                    <a:srgbClr val="000000"/>
                  </a:solidFill>
                  <a:effectLst/>
                  <a:uLnTx/>
                  <a:uFillTx/>
                  <a:latin typeface="Times New Roman" pitchFamily="18" charset="0"/>
                  <a:ea typeface="宋体" charset="-122"/>
                  <a:sym typeface="Wingdings" pitchFamily="2" charset="2"/>
                </a:rPr>
                <a:t></a:t>
              </a:r>
              <a:endParaRPr kumimoji="1" lang="zh-CN" altLang="en-US" sz="2800" b="1" i="0" u="none" strike="noStrike" kern="0" cap="none" spc="0" normalizeH="0" baseline="0" noProof="0" dirty="0">
                <a:ln>
                  <a:noFill/>
                </a:ln>
                <a:solidFill>
                  <a:srgbClr val="000000"/>
                </a:solidFill>
                <a:effectLst/>
                <a:uLnTx/>
                <a:uFillTx/>
                <a:latin typeface="Times New Roman" pitchFamily="18" charset="0"/>
                <a:ea typeface="宋体" charset="-122"/>
              </a:endParaRPr>
            </a:p>
          </p:txBody>
        </p:sp>
        <p:sp>
          <p:nvSpPr>
            <p:cNvPr id="308" name="矩形 150"/>
            <p:cNvSpPr>
              <a:spLocks noChangeArrowheads="1"/>
            </p:cNvSpPr>
            <p:nvPr/>
          </p:nvSpPr>
          <p:spPr bwMode="auto">
            <a:xfrm>
              <a:off x="2298778" y="3596186"/>
              <a:ext cx="2575625" cy="126174"/>
            </a:xfrm>
            <a:prstGeom prst="rect">
              <a:avLst/>
            </a:prstGeom>
            <a:solidFill>
              <a:srgbClr val="FFFFFF"/>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309" name="TextBox 148"/>
            <p:cNvSpPr txBox="1">
              <a:spLocks noChangeArrowheads="1"/>
            </p:cNvSpPr>
            <p:nvPr/>
          </p:nvSpPr>
          <p:spPr bwMode="auto">
            <a:xfrm>
              <a:off x="6720403" y="1765829"/>
              <a:ext cx="50526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2800" b="1" i="0" u="none" strike="noStrike" kern="0" cap="none" spc="0" normalizeH="0" baseline="0" noProof="0">
                  <a:ln>
                    <a:noFill/>
                  </a:ln>
                  <a:solidFill>
                    <a:srgbClr val="000000"/>
                  </a:solidFill>
                  <a:effectLst/>
                  <a:uLnTx/>
                  <a:uFillTx/>
                  <a:latin typeface="Times New Roman" pitchFamily="18" charset="0"/>
                  <a:ea typeface="宋体" charset="-122"/>
                  <a:sym typeface="Wingdings" pitchFamily="2" charset="2"/>
                </a:rPr>
                <a:t></a:t>
              </a:r>
              <a:endParaRPr kumimoji="1" lang="zh-CN" altLang="en-US" sz="2800" b="1" i="0" u="none" strike="noStrike" kern="0" cap="none" spc="0" normalizeH="0" baseline="0" noProof="0">
                <a:ln>
                  <a:noFill/>
                </a:ln>
                <a:solidFill>
                  <a:srgbClr val="000000"/>
                </a:solidFill>
                <a:effectLst/>
                <a:uLnTx/>
                <a:uFillTx/>
                <a:latin typeface="Times New Roman" pitchFamily="18" charset="0"/>
                <a:ea typeface="宋体" charset="-122"/>
              </a:endParaRPr>
            </a:p>
          </p:txBody>
        </p:sp>
        <p:sp>
          <p:nvSpPr>
            <p:cNvPr id="311" name="矩形 151"/>
            <p:cNvSpPr>
              <a:spLocks noChangeArrowheads="1"/>
            </p:cNvSpPr>
            <p:nvPr/>
          </p:nvSpPr>
          <p:spPr bwMode="auto">
            <a:xfrm>
              <a:off x="7237152" y="3596186"/>
              <a:ext cx="607750" cy="114397"/>
            </a:xfrm>
            <a:prstGeom prst="rect">
              <a:avLst/>
            </a:prstGeom>
            <a:solidFill>
              <a:srgbClr val="FFFFFF"/>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cxnSp>
          <p:nvCxnSpPr>
            <p:cNvPr id="312" name="直接连接符 153"/>
            <p:cNvCxnSpPr>
              <a:cxnSpLocks noChangeShapeType="1"/>
            </p:cNvCxnSpPr>
            <p:nvPr/>
          </p:nvCxnSpPr>
          <p:spPr bwMode="auto">
            <a:xfrm flipV="1">
              <a:off x="5903027" y="2630538"/>
              <a:ext cx="11376" cy="1043034"/>
            </a:xfrm>
            <a:prstGeom prst="line">
              <a:avLst/>
            </a:prstGeom>
            <a:noFill/>
            <a:ln w="19050" algn="ctr">
              <a:solidFill>
                <a:srgbClr val="000000"/>
              </a:solidFill>
              <a:prstDash val="dash"/>
              <a:round/>
              <a:headEnd/>
              <a:tailEnd/>
            </a:ln>
          </p:spPr>
        </p:cxnSp>
        <p:cxnSp>
          <p:nvCxnSpPr>
            <p:cNvPr id="313" name="直接连接符 157"/>
            <p:cNvCxnSpPr>
              <a:cxnSpLocks noChangeShapeType="1"/>
            </p:cNvCxnSpPr>
            <p:nvPr/>
          </p:nvCxnSpPr>
          <p:spPr bwMode="auto">
            <a:xfrm flipV="1">
              <a:off x="6832527" y="2253700"/>
              <a:ext cx="11376" cy="1520811"/>
            </a:xfrm>
            <a:prstGeom prst="line">
              <a:avLst/>
            </a:prstGeom>
            <a:noFill/>
            <a:ln w="19050" algn="ctr">
              <a:solidFill>
                <a:srgbClr val="000000"/>
              </a:solidFill>
              <a:prstDash val="dash"/>
              <a:round/>
              <a:headEnd/>
              <a:tailEnd/>
            </a:ln>
          </p:spPr>
        </p:cxnSp>
        <p:cxnSp>
          <p:nvCxnSpPr>
            <p:cNvPr id="314" name="直接连接符 141"/>
            <p:cNvCxnSpPr>
              <a:cxnSpLocks noChangeShapeType="1"/>
            </p:cNvCxnSpPr>
            <p:nvPr/>
          </p:nvCxnSpPr>
          <p:spPr bwMode="auto">
            <a:xfrm flipV="1">
              <a:off x="7001527" y="2475765"/>
              <a:ext cx="1248000" cy="560211"/>
            </a:xfrm>
            <a:prstGeom prst="line">
              <a:avLst/>
            </a:prstGeom>
            <a:noFill/>
            <a:ln w="28575" algn="ctr">
              <a:solidFill>
                <a:srgbClr val="0000FF"/>
              </a:solidFill>
              <a:round/>
              <a:headEnd/>
              <a:tailEnd/>
            </a:ln>
          </p:spPr>
        </p:cxnSp>
        <p:sp>
          <p:nvSpPr>
            <p:cNvPr id="315" name="Oval 202"/>
            <p:cNvSpPr>
              <a:spLocks noChangeArrowheads="1"/>
            </p:cNvSpPr>
            <p:nvPr/>
          </p:nvSpPr>
          <p:spPr bwMode="auto">
            <a:xfrm>
              <a:off x="7724652" y="2655773"/>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316" name="Oval 130"/>
            <p:cNvSpPr>
              <a:spLocks noChangeArrowheads="1"/>
            </p:cNvSpPr>
            <p:nvPr/>
          </p:nvSpPr>
          <p:spPr bwMode="auto">
            <a:xfrm>
              <a:off x="7251777" y="2855968"/>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317" name="Oval 130"/>
            <p:cNvSpPr>
              <a:spLocks noChangeArrowheads="1"/>
            </p:cNvSpPr>
            <p:nvPr/>
          </p:nvSpPr>
          <p:spPr bwMode="auto">
            <a:xfrm>
              <a:off x="7490652" y="2758394"/>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318" name="TextBox 149"/>
            <p:cNvSpPr txBox="1">
              <a:spLocks noChangeArrowheads="1"/>
            </p:cNvSpPr>
            <p:nvPr/>
          </p:nvSpPr>
          <p:spPr bwMode="auto">
            <a:xfrm>
              <a:off x="6795153" y="2987189"/>
              <a:ext cx="50526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2800" b="1" i="0" u="none" strike="noStrike" kern="0" cap="none" spc="0" normalizeH="0" baseline="0" noProof="0" dirty="0">
                  <a:ln>
                    <a:noFill/>
                  </a:ln>
                  <a:solidFill>
                    <a:srgbClr val="000000"/>
                  </a:solidFill>
                  <a:effectLst/>
                  <a:uLnTx/>
                  <a:uFillTx/>
                  <a:latin typeface="Times New Roman" pitchFamily="18" charset="0"/>
                  <a:ea typeface="宋体" charset="-122"/>
                  <a:sym typeface="Wingdings" pitchFamily="2" charset="2"/>
                </a:rPr>
                <a:t></a:t>
              </a:r>
              <a:endParaRPr kumimoji="1" lang="zh-CN" altLang="en-US" sz="2800" b="1" i="0" u="none" strike="noStrike" kern="0" cap="none" spc="0" normalizeH="0" baseline="0" noProof="0" dirty="0">
                <a:ln>
                  <a:noFill/>
                </a:ln>
                <a:solidFill>
                  <a:srgbClr val="000000"/>
                </a:solidFill>
                <a:effectLst/>
                <a:uLnTx/>
                <a:uFillTx/>
                <a:latin typeface="Times New Roman" pitchFamily="18" charset="0"/>
                <a:ea typeface="宋体" charset="-122"/>
              </a:endParaRPr>
            </a:p>
          </p:txBody>
        </p:sp>
        <p:sp>
          <p:nvSpPr>
            <p:cNvPr id="319" name="Oval 202"/>
            <p:cNvSpPr>
              <a:spLocks noChangeArrowheads="1"/>
            </p:cNvSpPr>
            <p:nvPr/>
          </p:nvSpPr>
          <p:spPr bwMode="auto">
            <a:xfrm>
              <a:off x="7966777" y="2531282"/>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cxnSp>
          <p:nvCxnSpPr>
            <p:cNvPr id="320" name="直接连接符 117"/>
            <p:cNvCxnSpPr>
              <a:cxnSpLocks noChangeShapeType="1"/>
            </p:cNvCxnSpPr>
            <p:nvPr/>
          </p:nvCxnSpPr>
          <p:spPr bwMode="auto">
            <a:xfrm flipH="1">
              <a:off x="4726527" y="1506753"/>
              <a:ext cx="4876" cy="2200466"/>
            </a:xfrm>
            <a:prstGeom prst="line">
              <a:avLst/>
            </a:prstGeom>
            <a:noFill/>
            <a:ln w="19050" algn="ctr">
              <a:solidFill>
                <a:srgbClr val="000000"/>
              </a:solidFill>
              <a:prstDash val="dash"/>
              <a:round/>
              <a:headEnd/>
              <a:tailEnd/>
            </a:ln>
            <a:extLst>
              <a:ext uri="{909E8E84-426E-40DD-AFC4-6F175D3DCCD1}">
                <a14:hiddenFill xmlns:a14="http://schemas.microsoft.com/office/drawing/2010/main">
                  <a:noFill/>
                </a14:hiddenFill>
              </a:ext>
            </a:extLst>
          </p:spPr>
        </p:cxnSp>
        <p:cxnSp>
          <p:nvCxnSpPr>
            <p:cNvPr id="321" name="直接连接符 119"/>
            <p:cNvCxnSpPr>
              <a:cxnSpLocks noChangeShapeType="1"/>
            </p:cNvCxnSpPr>
            <p:nvPr/>
          </p:nvCxnSpPr>
          <p:spPr bwMode="auto">
            <a:xfrm>
              <a:off x="2854527" y="2309217"/>
              <a:ext cx="0" cy="1384543"/>
            </a:xfrm>
            <a:prstGeom prst="line">
              <a:avLst/>
            </a:prstGeom>
            <a:noFill/>
            <a:ln w="19050" algn="ctr">
              <a:solidFill>
                <a:srgbClr val="000000"/>
              </a:solidFill>
              <a:prstDash val="dash"/>
              <a:round/>
              <a:headEnd/>
              <a:tailEnd/>
            </a:ln>
            <a:extLst>
              <a:ext uri="{909E8E84-426E-40DD-AFC4-6F175D3DCCD1}">
                <a14:hiddenFill xmlns:a14="http://schemas.microsoft.com/office/drawing/2010/main">
                  <a:noFill/>
                </a14:hiddenFill>
              </a:ext>
            </a:extLst>
          </p:spPr>
        </p:cxnSp>
        <p:sp>
          <p:nvSpPr>
            <p:cNvPr id="249" name="Text Box 91"/>
            <p:cNvSpPr txBox="1">
              <a:spLocks noChangeArrowheads="1"/>
            </p:cNvSpPr>
            <p:nvPr/>
          </p:nvSpPr>
          <p:spPr bwMode="auto">
            <a:xfrm>
              <a:off x="1647153" y="3187385"/>
              <a:ext cx="3129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dirty="0">
                  <a:ln>
                    <a:noFill/>
                  </a:ln>
                  <a:solidFill>
                    <a:srgbClr val="000000"/>
                  </a:solidFill>
                  <a:effectLst/>
                  <a:uLnTx/>
                  <a:uFillTx/>
                  <a:latin typeface="Times New Roman" pitchFamily="18" charset="0"/>
                  <a:ea typeface="宋体" charset="-122"/>
                </a:rPr>
                <a:t>4</a:t>
              </a:r>
            </a:p>
          </p:txBody>
        </p:sp>
      </p:grpSp>
      <p:sp>
        <p:nvSpPr>
          <p:cNvPr id="276" name="Line 167"/>
          <p:cNvSpPr>
            <a:spLocks noChangeShapeType="1"/>
          </p:cNvSpPr>
          <p:nvPr/>
        </p:nvSpPr>
        <p:spPr bwMode="auto">
          <a:xfrm>
            <a:off x="4224815" y="1013992"/>
            <a:ext cx="440153" cy="326776"/>
          </a:xfrm>
          <a:prstGeom prst="line">
            <a:avLst/>
          </a:prstGeom>
          <a:noFill/>
          <a:ln w="76200">
            <a:solidFill>
              <a:srgbClr val="FF0000">
                <a:alpha val="80000"/>
              </a:srgbClr>
            </a:solidFill>
            <a:round/>
            <a:headEnd type="none"/>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121" name="Text Box 101"/>
          <p:cNvSpPr txBox="1">
            <a:spLocks noChangeArrowheads="1"/>
          </p:cNvSpPr>
          <p:nvPr/>
        </p:nvSpPr>
        <p:spPr bwMode="auto">
          <a:xfrm>
            <a:off x="842392" y="4293096"/>
            <a:ext cx="8655010" cy="1815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eaLnBrk="1" hangingPunct="1"/>
            <a:r>
              <a:rPr kumimoji="0" lang="zh-CN" altLang="zh-CN" sz="2800" dirty="0">
                <a:solidFill>
                  <a:srgbClr val="000099"/>
                </a:solidFill>
                <a:latin typeface="Arial" pitchFamily="34" charset="0"/>
                <a:ea typeface="黑体" pitchFamily="2" charset="-122"/>
              </a:rPr>
              <a:t>当拥塞窗口</a:t>
            </a:r>
            <a:r>
              <a:rPr kumimoji="0" lang="en-US" altLang="zh-CN" sz="2800" dirty="0">
                <a:solidFill>
                  <a:srgbClr val="000099"/>
                </a:solidFill>
                <a:latin typeface="Arial" pitchFamily="34" charset="0"/>
                <a:ea typeface="黑体" pitchFamily="2" charset="-122"/>
              </a:rPr>
              <a:t> </a:t>
            </a:r>
            <a:r>
              <a:rPr kumimoji="0" lang="en-US" altLang="zh-CN" sz="2800" dirty="0" err="1">
                <a:solidFill>
                  <a:srgbClr val="000099"/>
                </a:solidFill>
                <a:latin typeface="Arial" pitchFamily="34" charset="0"/>
                <a:ea typeface="黑体" pitchFamily="2" charset="-122"/>
              </a:rPr>
              <a:t>cwnd</a:t>
            </a:r>
            <a:r>
              <a:rPr kumimoji="0" lang="en-US" altLang="zh-CN" sz="2800" dirty="0">
                <a:solidFill>
                  <a:srgbClr val="000099"/>
                </a:solidFill>
                <a:latin typeface="Arial" pitchFamily="34" charset="0"/>
                <a:ea typeface="黑体" pitchFamily="2" charset="-122"/>
              </a:rPr>
              <a:t> = 24 </a:t>
            </a:r>
            <a:r>
              <a:rPr kumimoji="0" lang="zh-CN" altLang="zh-CN" sz="2800" dirty="0">
                <a:solidFill>
                  <a:srgbClr val="000099"/>
                </a:solidFill>
                <a:latin typeface="Arial" pitchFamily="34" charset="0"/>
                <a:ea typeface="黑体" pitchFamily="2" charset="-122"/>
              </a:rPr>
              <a:t>时，网络出现了</a:t>
            </a:r>
            <a:r>
              <a:rPr kumimoji="0" lang="zh-CN" altLang="zh-CN" sz="2800" dirty="0">
                <a:solidFill>
                  <a:srgbClr val="FF0000"/>
                </a:solidFill>
                <a:latin typeface="Arial" pitchFamily="34" charset="0"/>
                <a:ea typeface="黑体" pitchFamily="2" charset="-122"/>
              </a:rPr>
              <a:t>超时</a:t>
            </a:r>
            <a:r>
              <a:rPr kumimoji="0" lang="zh-CN" altLang="zh-CN" sz="2800" dirty="0">
                <a:solidFill>
                  <a:srgbClr val="000099"/>
                </a:solidFill>
                <a:latin typeface="Arial" pitchFamily="34" charset="0"/>
                <a:ea typeface="黑体" pitchFamily="2" charset="-122"/>
              </a:rPr>
              <a:t>（图中的点</a:t>
            </a:r>
            <a:r>
              <a:rPr kumimoji="0" lang="en-US" altLang="zh-CN" sz="2800" dirty="0">
                <a:solidFill>
                  <a:srgbClr val="000099"/>
                </a:solidFill>
                <a:latin typeface="Arial" pitchFamily="34" charset="0"/>
                <a:ea typeface="黑体" pitchFamily="2" charset="-122"/>
                <a:sym typeface="Wingdings"/>
              </a:rPr>
              <a:t></a:t>
            </a:r>
            <a:r>
              <a:rPr kumimoji="0" lang="zh-CN" altLang="zh-CN" sz="2800" dirty="0">
                <a:solidFill>
                  <a:srgbClr val="000099"/>
                </a:solidFill>
                <a:latin typeface="Arial" pitchFamily="34" charset="0"/>
                <a:ea typeface="黑体" pitchFamily="2" charset="-122"/>
              </a:rPr>
              <a:t>），发送方判断为网络拥塞。于是</a:t>
            </a:r>
            <a:r>
              <a:rPr kumimoji="0" lang="zh-CN" altLang="zh-CN" sz="2800" dirty="0">
                <a:solidFill>
                  <a:srgbClr val="FF0000"/>
                </a:solidFill>
                <a:latin typeface="Arial" pitchFamily="34" charset="0"/>
                <a:ea typeface="黑体" pitchFamily="2" charset="-122"/>
              </a:rPr>
              <a:t>调整门限值</a:t>
            </a:r>
            <a:r>
              <a:rPr kumimoji="0" lang="en-US" altLang="zh-CN" sz="2800" dirty="0">
                <a:solidFill>
                  <a:srgbClr val="FF0000"/>
                </a:solidFill>
                <a:latin typeface="Arial" pitchFamily="34" charset="0"/>
                <a:ea typeface="黑体" pitchFamily="2" charset="-122"/>
              </a:rPr>
              <a:t> </a:t>
            </a:r>
            <a:r>
              <a:rPr kumimoji="0" lang="en-US" altLang="zh-CN" sz="2800" dirty="0" err="1">
                <a:solidFill>
                  <a:srgbClr val="000099"/>
                </a:solidFill>
                <a:latin typeface="Arial" pitchFamily="34" charset="0"/>
                <a:ea typeface="黑体" pitchFamily="2" charset="-122"/>
              </a:rPr>
              <a:t>ssthresh</a:t>
            </a:r>
            <a:r>
              <a:rPr kumimoji="0" lang="en-US" altLang="zh-CN" sz="2800" dirty="0">
                <a:solidFill>
                  <a:srgbClr val="000099"/>
                </a:solidFill>
                <a:latin typeface="Arial" pitchFamily="34" charset="0"/>
                <a:ea typeface="黑体" pitchFamily="2" charset="-122"/>
              </a:rPr>
              <a:t> = </a:t>
            </a:r>
            <a:r>
              <a:rPr kumimoji="0" lang="en-US" altLang="zh-CN" sz="2800" dirty="0" err="1">
                <a:solidFill>
                  <a:srgbClr val="000099"/>
                </a:solidFill>
                <a:latin typeface="Arial" pitchFamily="34" charset="0"/>
                <a:ea typeface="黑体" pitchFamily="2" charset="-122"/>
              </a:rPr>
              <a:t>cwnd</a:t>
            </a:r>
            <a:r>
              <a:rPr kumimoji="0" lang="en-US" altLang="zh-CN" sz="2800" dirty="0">
                <a:solidFill>
                  <a:srgbClr val="000099"/>
                </a:solidFill>
                <a:latin typeface="Arial" pitchFamily="34" charset="0"/>
                <a:ea typeface="黑体" pitchFamily="2" charset="-122"/>
              </a:rPr>
              <a:t> / 2 = 12</a:t>
            </a:r>
            <a:r>
              <a:rPr kumimoji="0" lang="zh-CN" altLang="zh-CN" sz="2800" dirty="0">
                <a:solidFill>
                  <a:srgbClr val="000099"/>
                </a:solidFill>
                <a:latin typeface="Arial" pitchFamily="34" charset="0"/>
                <a:ea typeface="黑体" pitchFamily="2" charset="-122"/>
              </a:rPr>
              <a:t>，同时设置拥塞窗口</a:t>
            </a:r>
            <a:r>
              <a:rPr kumimoji="0" lang="en-US" altLang="zh-CN" sz="2800" dirty="0">
                <a:solidFill>
                  <a:srgbClr val="000099"/>
                </a:solidFill>
                <a:latin typeface="Arial" pitchFamily="34" charset="0"/>
                <a:ea typeface="黑体" pitchFamily="2" charset="-122"/>
              </a:rPr>
              <a:t> </a:t>
            </a:r>
            <a:r>
              <a:rPr kumimoji="0" lang="en-US" altLang="zh-CN" sz="2800" dirty="0" err="1">
                <a:solidFill>
                  <a:srgbClr val="000099"/>
                </a:solidFill>
                <a:latin typeface="Arial" pitchFamily="34" charset="0"/>
                <a:ea typeface="黑体" pitchFamily="2" charset="-122"/>
              </a:rPr>
              <a:t>cwnd</a:t>
            </a:r>
            <a:r>
              <a:rPr kumimoji="0" lang="en-US" altLang="zh-CN" sz="2800" dirty="0">
                <a:solidFill>
                  <a:srgbClr val="000099"/>
                </a:solidFill>
                <a:latin typeface="Arial" pitchFamily="34" charset="0"/>
                <a:ea typeface="黑体" pitchFamily="2" charset="-122"/>
              </a:rPr>
              <a:t> = 1</a:t>
            </a:r>
            <a:r>
              <a:rPr kumimoji="0" lang="zh-CN" altLang="zh-CN" sz="2800" dirty="0">
                <a:solidFill>
                  <a:srgbClr val="000099"/>
                </a:solidFill>
                <a:latin typeface="Arial" pitchFamily="34" charset="0"/>
                <a:ea typeface="黑体" pitchFamily="2" charset="-122"/>
              </a:rPr>
              <a:t>，进入</a:t>
            </a:r>
            <a:r>
              <a:rPr kumimoji="0" lang="zh-CN" altLang="zh-CN" sz="2800" dirty="0">
                <a:solidFill>
                  <a:srgbClr val="FF0000"/>
                </a:solidFill>
                <a:latin typeface="Arial" pitchFamily="34" charset="0"/>
                <a:ea typeface="黑体" pitchFamily="2" charset="-122"/>
              </a:rPr>
              <a:t>慢开始</a:t>
            </a:r>
            <a:r>
              <a:rPr kumimoji="0" lang="zh-CN" altLang="zh-CN" sz="2800" dirty="0">
                <a:solidFill>
                  <a:srgbClr val="000099"/>
                </a:solidFill>
                <a:latin typeface="Arial" pitchFamily="34" charset="0"/>
                <a:ea typeface="黑体" pitchFamily="2" charset="-122"/>
              </a:rPr>
              <a:t>阶段。</a:t>
            </a:r>
          </a:p>
        </p:txBody>
      </p:sp>
    </p:spTree>
    <p:extLst>
      <p:ext uri="{BB962C8B-B14F-4D97-AF65-F5344CB8AC3E}">
        <p14:creationId xmlns:p14="http://schemas.microsoft.com/office/powerpoint/2010/main" val="1988137880"/>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 name="Rectangle 5"/>
          <p:cNvSpPr txBox="1">
            <a:spLocks noChangeArrowheads="1"/>
          </p:cNvSpPr>
          <p:nvPr/>
        </p:nvSpPr>
        <p:spPr bwMode="auto">
          <a:xfrm>
            <a:off x="417512" y="152400"/>
            <a:ext cx="91440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kumimoji="1" sz="4400" b="1">
                <a:solidFill>
                  <a:schemeClr val="tx2"/>
                </a:solidFill>
                <a:latin typeface="+mj-lt"/>
                <a:ea typeface="+mj-ea"/>
                <a:cs typeface="+mj-cs"/>
              </a:defRPr>
            </a:lvl1pPr>
            <a:lvl2pPr algn="l" rtl="0" eaLnBrk="0" fontAlgn="base" hangingPunct="0">
              <a:spcBef>
                <a:spcPct val="0"/>
              </a:spcBef>
              <a:spcAft>
                <a:spcPct val="0"/>
              </a:spcAft>
              <a:defRPr kumimoji="1" sz="4400" b="1">
                <a:solidFill>
                  <a:schemeClr val="tx2"/>
                </a:solidFill>
                <a:latin typeface="Tahoma" pitchFamily="34" charset="0"/>
                <a:ea typeface="黑体" pitchFamily="2" charset="-122"/>
              </a:defRPr>
            </a:lvl2pPr>
            <a:lvl3pPr algn="l" rtl="0" eaLnBrk="0" fontAlgn="base" hangingPunct="0">
              <a:spcBef>
                <a:spcPct val="0"/>
              </a:spcBef>
              <a:spcAft>
                <a:spcPct val="0"/>
              </a:spcAft>
              <a:defRPr kumimoji="1" sz="4400" b="1">
                <a:solidFill>
                  <a:schemeClr val="tx2"/>
                </a:solidFill>
                <a:latin typeface="Tahoma" pitchFamily="34" charset="0"/>
                <a:ea typeface="黑体" pitchFamily="2" charset="-122"/>
              </a:defRPr>
            </a:lvl3pPr>
            <a:lvl4pPr algn="l" rtl="0" eaLnBrk="0" fontAlgn="base" hangingPunct="0">
              <a:spcBef>
                <a:spcPct val="0"/>
              </a:spcBef>
              <a:spcAft>
                <a:spcPct val="0"/>
              </a:spcAft>
              <a:defRPr kumimoji="1" sz="4400" b="1">
                <a:solidFill>
                  <a:schemeClr val="tx2"/>
                </a:solidFill>
                <a:latin typeface="Tahoma" pitchFamily="34" charset="0"/>
                <a:ea typeface="黑体" pitchFamily="2" charset="-122"/>
              </a:defRPr>
            </a:lvl4pPr>
            <a:lvl5pPr algn="l" rtl="0" eaLnBrk="0" fontAlgn="base" hangingPunct="0">
              <a:spcBef>
                <a:spcPct val="0"/>
              </a:spcBef>
              <a:spcAft>
                <a:spcPct val="0"/>
              </a:spcAft>
              <a:defRPr kumimoji="1" sz="4400" b="1">
                <a:solidFill>
                  <a:schemeClr val="tx2"/>
                </a:solidFill>
                <a:latin typeface="Tahoma" pitchFamily="34" charset="0"/>
                <a:ea typeface="黑体" pitchFamily="2" charset="-122"/>
              </a:defRPr>
            </a:lvl5pPr>
            <a:lvl6pPr marL="457200" algn="l" rtl="0" fontAlgn="base">
              <a:spcBef>
                <a:spcPct val="0"/>
              </a:spcBef>
              <a:spcAft>
                <a:spcPct val="0"/>
              </a:spcAft>
              <a:defRPr kumimoji="1" sz="4400" b="1">
                <a:solidFill>
                  <a:schemeClr val="tx2"/>
                </a:solidFill>
                <a:latin typeface="Tahoma" pitchFamily="34" charset="0"/>
                <a:ea typeface="黑体" pitchFamily="2" charset="-122"/>
              </a:defRPr>
            </a:lvl6pPr>
            <a:lvl7pPr marL="914400" algn="l" rtl="0" fontAlgn="base">
              <a:spcBef>
                <a:spcPct val="0"/>
              </a:spcBef>
              <a:spcAft>
                <a:spcPct val="0"/>
              </a:spcAft>
              <a:defRPr kumimoji="1" sz="4400" b="1">
                <a:solidFill>
                  <a:schemeClr val="tx2"/>
                </a:solidFill>
                <a:latin typeface="Tahoma" pitchFamily="34" charset="0"/>
                <a:ea typeface="黑体" pitchFamily="2" charset="-122"/>
              </a:defRPr>
            </a:lvl7pPr>
            <a:lvl8pPr marL="1371600" algn="l" rtl="0" fontAlgn="base">
              <a:spcBef>
                <a:spcPct val="0"/>
              </a:spcBef>
              <a:spcAft>
                <a:spcPct val="0"/>
              </a:spcAft>
              <a:defRPr kumimoji="1" sz="4400" b="1">
                <a:solidFill>
                  <a:schemeClr val="tx2"/>
                </a:solidFill>
                <a:latin typeface="Tahoma" pitchFamily="34" charset="0"/>
                <a:ea typeface="黑体" pitchFamily="2" charset="-122"/>
              </a:defRPr>
            </a:lvl8pPr>
            <a:lvl9pPr marL="1828800" algn="l" rtl="0" fontAlgn="base">
              <a:spcBef>
                <a:spcPct val="0"/>
              </a:spcBef>
              <a:spcAft>
                <a:spcPct val="0"/>
              </a:spcAft>
              <a:defRPr kumimoji="1" sz="4400" b="1">
                <a:solidFill>
                  <a:schemeClr val="tx2"/>
                </a:solidFill>
                <a:latin typeface="Tahoma" pitchFamily="34" charset="0"/>
                <a:ea typeface="黑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3200" b="1" i="0" u="none" strike="noStrike" kern="0" cap="none" spc="0" normalizeH="0" baseline="0" noProof="0">
                <a:ln>
                  <a:noFill/>
                </a:ln>
                <a:solidFill>
                  <a:srgbClr val="333399"/>
                </a:solidFill>
                <a:effectLst/>
                <a:uLnTx/>
                <a:uFillTx/>
                <a:latin typeface="Tahoma"/>
                <a:ea typeface="黑体"/>
                <a:cs typeface="+mj-cs"/>
              </a:rPr>
              <a:t>慢开始和拥塞避免算法的实现举例 </a:t>
            </a:r>
          </a:p>
        </p:txBody>
      </p:sp>
      <p:grpSp>
        <p:nvGrpSpPr>
          <p:cNvPr id="3" name="组合 2"/>
          <p:cNvGrpSpPr/>
          <p:nvPr/>
        </p:nvGrpSpPr>
        <p:grpSpPr>
          <a:xfrm>
            <a:off x="272479" y="836711"/>
            <a:ext cx="9536759" cy="3321087"/>
            <a:chOff x="272479" y="836711"/>
            <a:chExt cx="9536759" cy="3321087"/>
          </a:xfrm>
        </p:grpSpPr>
        <p:sp>
          <p:nvSpPr>
            <p:cNvPr id="103" name="Text Box 140"/>
            <p:cNvSpPr txBox="1">
              <a:spLocks noChangeArrowheads="1"/>
            </p:cNvSpPr>
            <p:nvPr/>
          </p:nvSpPr>
          <p:spPr bwMode="auto">
            <a:xfrm>
              <a:off x="4863078" y="985683"/>
              <a:ext cx="11570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2000" b="1" i="0" u="none" strike="noStrike" kern="0" cap="none" spc="0" normalizeH="0" baseline="0" noProof="0" dirty="0">
                  <a:ln>
                    <a:noFill/>
                  </a:ln>
                  <a:solidFill>
                    <a:srgbClr val="FF0000"/>
                  </a:solidFill>
                  <a:effectLst/>
                  <a:uLnTx/>
                  <a:uFillTx/>
                  <a:latin typeface="Times New Roman" pitchFamily="18" charset="0"/>
                  <a:ea typeface="宋体" charset="-122"/>
                </a:rPr>
                <a:t>超时</a:t>
              </a:r>
            </a:p>
          </p:txBody>
        </p:sp>
        <p:sp>
          <p:nvSpPr>
            <p:cNvPr id="104" name="Line 2"/>
            <p:cNvSpPr>
              <a:spLocks noChangeShapeType="1"/>
            </p:cNvSpPr>
            <p:nvPr/>
          </p:nvSpPr>
          <p:spPr bwMode="auto">
            <a:xfrm flipV="1">
              <a:off x="1920153" y="3803111"/>
              <a:ext cx="6358624" cy="5046"/>
            </a:xfrm>
            <a:prstGeom prst="line">
              <a:avLst/>
            </a:prstGeom>
            <a:noFill/>
            <a:ln w="19050">
              <a:solidFill>
                <a:srgbClr val="000000"/>
              </a:solidFill>
              <a:round/>
              <a:headEnd/>
              <a:tail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105" name="Line 3"/>
            <p:cNvSpPr>
              <a:spLocks noChangeShapeType="1"/>
            </p:cNvSpPr>
            <p:nvPr/>
          </p:nvSpPr>
          <p:spPr bwMode="auto">
            <a:xfrm>
              <a:off x="1918528" y="1177019"/>
              <a:ext cx="1626" cy="2631138"/>
            </a:xfrm>
            <a:prstGeom prst="line">
              <a:avLst/>
            </a:prstGeom>
            <a:noFill/>
            <a:ln w="19050">
              <a:solidFill>
                <a:srgbClr val="000000"/>
              </a:solidFill>
              <a:round/>
              <a:headEnd type="triangle" w="sm" len="lg"/>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106" name="Line 4"/>
            <p:cNvSpPr>
              <a:spLocks noChangeShapeType="1"/>
            </p:cNvSpPr>
            <p:nvPr/>
          </p:nvSpPr>
          <p:spPr bwMode="auto">
            <a:xfrm>
              <a:off x="2154153" y="3727407"/>
              <a:ext cx="0" cy="8075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08" name="Line 5"/>
            <p:cNvSpPr>
              <a:spLocks noChangeShapeType="1"/>
            </p:cNvSpPr>
            <p:nvPr/>
          </p:nvSpPr>
          <p:spPr bwMode="auto">
            <a:xfrm>
              <a:off x="2388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09" name="Line 6"/>
            <p:cNvSpPr>
              <a:spLocks noChangeShapeType="1"/>
            </p:cNvSpPr>
            <p:nvPr/>
          </p:nvSpPr>
          <p:spPr bwMode="auto">
            <a:xfrm>
              <a:off x="2622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0" name="Line 7"/>
            <p:cNvSpPr>
              <a:spLocks noChangeShapeType="1"/>
            </p:cNvSpPr>
            <p:nvPr/>
          </p:nvSpPr>
          <p:spPr bwMode="auto">
            <a:xfrm>
              <a:off x="2856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1" name="Line 8"/>
            <p:cNvSpPr>
              <a:spLocks noChangeShapeType="1"/>
            </p:cNvSpPr>
            <p:nvPr/>
          </p:nvSpPr>
          <p:spPr bwMode="auto">
            <a:xfrm>
              <a:off x="3090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2" name="Line 9"/>
            <p:cNvSpPr>
              <a:spLocks noChangeShapeType="1"/>
            </p:cNvSpPr>
            <p:nvPr/>
          </p:nvSpPr>
          <p:spPr bwMode="auto">
            <a:xfrm>
              <a:off x="3324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3" name="Line 10"/>
            <p:cNvSpPr>
              <a:spLocks noChangeShapeType="1"/>
            </p:cNvSpPr>
            <p:nvPr/>
          </p:nvSpPr>
          <p:spPr bwMode="auto">
            <a:xfrm>
              <a:off x="3558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4" name="Line 11"/>
            <p:cNvSpPr>
              <a:spLocks noChangeShapeType="1"/>
            </p:cNvSpPr>
            <p:nvPr/>
          </p:nvSpPr>
          <p:spPr bwMode="auto">
            <a:xfrm>
              <a:off x="3792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5" name="Line 12"/>
            <p:cNvSpPr>
              <a:spLocks noChangeShapeType="1"/>
            </p:cNvSpPr>
            <p:nvPr/>
          </p:nvSpPr>
          <p:spPr bwMode="auto">
            <a:xfrm>
              <a:off x="4026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6" name="Line 13"/>
            <p:cNvSpPr>
              <a:spLocks noChangeShapeType="1"/>
            </p:cNvSpPr>
            <p:nvPr/>
          </p:nvSpPr>
          <p:spPr bwMode="auto">
            <a:xfrm>
              <a:off x="4260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7" name="Line 14"/>
            <p:cNvSpPr>
              <a:spLocks noChangeShapeType="1"/>
            </p:cNvSpPr>
            <p:nvPr/>
          </p:nvSpPr>
          <p:spPr bwMode="auto">
            <a:xfrm>
              <a:off x="4494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8" name="Line 15"/>
            <p:cNvSpPr>
              <a:spLocks noChangeShapeType="1"/>
            </p:cNvSpPr>
            <p:nvPr/>
          </p:nvSpPr>
          <p:spPr bwMode="auto">
            <a:xfrm>
              <a:off x="4728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9" name="Line 16"/>
            <p:cNvSpPr>
              <a:spLocks noChangeShapeType="1"/>
            </p:cNvSpPr>
            <p:nvPr/>
          </p:nvSpPr>
          <p:spPr bwMode="auto">
            <a:xfrm>
              <a:off x="4962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0" name="Line 17"/>
            <p:cNvSpPr>
              <a:spLocks noChangeShapeType="1"/>
            </p:cNvSpPr>
            <p:nvPr/>
          </p:nvSpPr>
          <p:spPr bwMode="auto">
            <a:xfrm>
              <a:off x="5196153" y="3727407"/>
              <a:ext cx="0" cy="8075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1" name="Line 18"/>
            <p:cNvSpPr>
              <a:spLocks noChangeShapeType="1"/>
            </p:cNvSpPr>
            <p:nvPr/>
          </p:nvSpPr>
          <p:spPr bwMode="auto">
            <a:xfrm>
              <a:off x="5430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2" name="Line 19"/>
            <p:cNvSpPr>
              <a:spLocks noChangeShapeType="1"/>
            </p:cNvSpPr>
            <p:nvPr/>
          </p:nvSpPr>
          <p:spPr bwMode="auto">
            <a:xfrm>
              <a:off x="5664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3" name="Line 20"/>
            <p:cNvSpPr>
              <a:spLocks noChangeShapeType="1"/>
            </p:cNvSpPr>
            <p:nvPr/>
          </p:nvSpPr>
          <p:spPr bwMode="auto">
            <a:xfrm>
              <a:off x="5898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4" name="Line 21"/>
            <p:cNvSpPr>
              <a:spLocks noChangeShapeType="1"/>
            </p:cNvSpPr>
            <p:nvPr/>
          </p:nvSpPr>
          <p:spPr bwMode="auto">
            <a:xfrm>
              <a:off x="6132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5" name="Line 22"/>
            <p:cNvSpPr>
              <a:spLocks noChangeShapeType="1"/>
            </p:cNvSpPr>
            <p:nvPr/>
          </p:nvSpPr>
          <p:spPr bwMode="auto">
            <a:xfrm>
              <a:off x="6366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6" name="Line 23"/>
            <p:cNvSpPr>
              <a:spLocks noChangeShapeType="1"/>
            </p:cNvSpPr>
            <p:nvPr/>
          </p:nvSpPr>
          <p:spPr bwMode="auto">
            <a:xfrm>
              <a:off x="6600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7" name="Line 24"/>
            <p:cNvSpPr>
              <a:spLocks noChangeShapeType="1"/>
            </p:cNvSpPr>
            <p:nvPr/>
          </p:nvSpPr>
          <p:spPr bwMode="auto">
            <a:xfrm>
              <a:off x="6834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8" name="Line 25"/>
            <p:cNvSpPr>
              <a:spLocks noChangeShapeType="1"/>
            </p:cNvSpPr>
            <p:nvPr/>
          </p:nvSpPr>
          <p:spPr bwMode="auto">
            <a:xfrm>
              <a:off x="7068152"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30" name="Line 40"/>
            <p:cNvSpPr>
              <a:spLocks noChangeShapeType="1"/>
            </p:cNvSpPr>
            <p:nvPr/>
          </p:nvSpPr>
          <p:spPr bwMode="auto">
            <a:xfrm>
              <a:off x="1920153" y="3404402"/>
              <a:ext cx="2340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31" name="Line 41"/>
            <p:cNvSpPr>
              <a:spLocks noChangeShapeType="1"/>
            </p:cNvSpPr>
            <p:nvPr/>
          </p:nvSpPr>
          <p:spPr bwMode="auto">
            <a:xfrm>
              <a:off x="1920153" y="3000647"/>
              <a:ext cx="2340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32" name="Line 42"/>
            <p:cNvSpPr>
              <a:spLocks noChangeShapeType="1"/>
            </p:cNvSpPr>
            <p:nvPr/>
          </p:nvSpPr>
          <p:spPr bwMode="auto">
            <a:xfrm>
              <a:off x="1920153" y="2596892"/>
              <a:ext cx="2340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33" name="Line 43"/>
            <p:cNvSpPr>
              <a:spLocks noChangeShapeType="1"/>
            </p:cNvSpPr>
            <p:nvPr/>
          </p:nvSpPr>
          <p:spPr bwMode="auto">
            <a:xfrm>
              <a:off x="1920153" y="2193137"/>
              <a:ext cx="2340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34" name="Line 44"/>
            <p:cNvSpPr>
              <a:spLocks noChangeShapeType="1"/>
            </p:cNvSpPr>
            <p:nvPr/>
          </p:nvSpPr>
          <p:spPr bwMode="auto">
            <a:xfrm>
              <a:off x="1920153" y="1789382"/>
              <a:ext cx="2340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35" name="Line 45"/>
            <p:cNvSpPr>
              <a:spLocks noChangeShapeType="1"/>
            </p:cNvSpPr>
            <p:nvPr/>
          </p:nvSpPr>
          <p:spPr bwMode="auto">
            <a:xfrm>
              <a:off x="1920153" y="1385626"/>
              <a:ext cx="2340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36" name="Text Box 77"/>
            <p:cNvSpPr txBox="1">
              <a:spLocks noChangeArrowheads="1"/>
            </p:cNvSpPr>
            <p:nvPr/>
          </p:nvSpPr>
          <p:spPr bwMode="auto">
            <a:xfrm>
              <a:off x="2241903" y="3749277"/>
              <a:ext cx="3129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2</a:t>
              </a:r>
            </a:p>
          </p:txBody>
        </p:sp>
        <p:sp>
          <p:nvSpPr>
            <p:cNvPr id="237" name="Text Box 78"/>
            <p:cNvSpPr txBox="1">
              <a:spLocks noChangeArrowheads="1"/>
            </p:cNvSpPr>
            <p:nvPr/>
          </p:nvSpPr>
          <p:spPr bwMode="auto">
            <a:xfrm>
              <a:off x="2709903" y="3749277"/>
              <a:ext cx="3129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4</a:t>
              </a:r>
            </a:p>
          </p:txBody>
        </p:sp>
        <p:sp>
          <p:nvSpPr>
            <p:cNvPr id="238" name="Text Box 79"/>
            <p:cNvSpPr txBox="1">
              <a:spLocks noChangeArrowheads="1"/>
            </p:cNvSpPr>
            <p:nvPr/>
          </p:nvSpPr>
          <p:spPr bwMode="auto">
            <a:xfrm>
              <a:off x="3177903" y="3749277"/>
              <a:ext cx="3129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6</a:t>
              </a:r>
            </a:p>
          </p:txBody>
        </p:sp>
        <p:sp>
          <p:nvSpPr>
            <p:cNvPr id="239" name="Text Box 80"/>
            <p:cNvSpPr txBox="1">
              <a:spLocks noChangeArrowheads="1"/>
            </p:cNvSpPr>
            <p:nvPr/>
          </p:nvSpPr>
          <p:spPr bwMode="auto">
            <a:xfrm>
              <a:off x="3658903" y="3749277"/>
              <a:ext cx="3129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8</a:t>
              </a:r>
            </a:p>
          </p:txBody>
        </p:sp>
        <p:sp>
          <p:nvSpPr>
            <p:cNvPr id="240" name="Text Box 81"/>
            <p:cNvSpPr txBox="1">
              <a:spLocks noChangeArrowheads="1"/>
            </p:cNvSpPr>
            <p:nvPr/>
          </p:nvSpPr>
          <p:spPr bwMode="auto">
            <a:xfrm>
              <a:off x="4048903" y="3749277"/>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10</a:t>
              </a:r>
            </a:p>
          </p:txBody>
        </p:sp>
        <p:sp>
          <p:nvSpPr>
            <p:cNvPr id="241" name="Text Box 82"/>
            <p:cNvSpPr txBox="1">
              <a:spLocks noChangeArrowheads="1"/>
            </p:cNvSpPr>
            <p:nvPr/>
          </p:nvSpPr>
          <p:spPr bwMode="auto">
            <a:xfrm>
              <a:off x="4555903" y="3749277"/>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12</a:t>
              </a:r>
            </a:p>
          </p:txBody>
        </p:sp>
        <p:sp>
          <p:nvSpPr>
            <p:cNvPr id="242" name="Text Box 83"/>
            <p:cNvSpPr txBox="1">
              <a:spLocks noChangeArrowheads="1"/>
            </p:cNvSpPr>
            <p:nvPr/>
          </p:nvSpPr>
          <p:spPr bwMode="auto">
            <a:xfrm>
              <a:off x="4997903" y="3749277"/>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14</a:t>
              </a:r>
            </a:p>
          </p:txBody>
        </p:sp>
        <p:sp>
          <p:nvSpPr>
            <p:cNvPr id="243" name="Text Box 84"/>
            <p:cNvSpPr txBox="1">
              <a:spLocks noChangeArrowheads="1"/>
            </p:cNvSpPr>
            <p:nvPr/>
          </p:nvSpPr>
          <p:spPr bwMode="auto">
            <a:xfrm>
              <a:off x="5465903" y="3749277"/>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16</a:t>
              </a:r>
            </a:p>
          </p:txBody>
        </p:sp>
        <p:sp>
          <p:nvSpPr>
            <p:cNvPr id="244" name="Text Box 85"/>
            <p:cNvSpPr txBox="1">
              <a:spLocks noChangeArrowheads="1"/>
            </p:cNvSpPr>
            <p:nvPr/>
          </p:nvSpPr>
          <p:spPr bwMode="auto">
            <a:xfrm>
              <a:off x="5950153" y="3749277"/>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18</a:t>
              </a:r>
            </a:p>
          </p:txBody>
        </p:sp>
        <p:sp>
          <p:nvSpPr>
            <p:cNvPr id="245" name="Text Box 86"/>
            <p:cNvSpPr txBox="1">
              <a:spLocks noChangeArrowheads="1"/>
            </p:cNvSpPr>
            <p:nvPr/>
          </p:nvSpPr>
          <p:spPr bwMode="auto">
            <a:xfrm>
              <a:off x="6418153" y="3749277"/>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20</a:t>
              </a:r>
            </a:p>
          </p:txBody>
        </p:sp>
        <p:sp>
          <p:nvSpPr>
            <p:cNvPr id="246" name="Text Box 87"/>
            <p:cNvSpPr txBox="1">
              <a:spLocks noChangeArrowheads="1"/>
            </p:cNvSpPr>
            <p:nvPr/>
          </p:nvSpPr>
          <p:spPr bwMode="auto">
            <a:xfrm>
              <a:off x="6873153" y="3757688"/>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22</a:t>
              </a:r>
            </a:p>
          </p:txBody>
        </p:sp>
        <p:sp>
          <p:nvSpPr>
            <p:cNvPr id="247" name="Text Box 89"/>
            <p:cNvSpPr txBox="1">
              <a:spLocks noChangeArrowheads="1"/>
            </p:cNvSpPr>
            <p:nvPr/>
          </p:nvSpPr>
          <p:spPr bwMode="auto">
            <a:xfrm>
              <a:off x="1812903" y="3749277"/>
              <a:ext cx="3129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0</a:t>
              </a:r>
            </a:p>
          </p:txBody>
        </p:sp>
        <p:sp>
          <p:nvSpPr>
            <p:cNvPr id="248" name="Text Box 90"/>
            <p:cNvSpPr txBox="1">
              <a:spLocks noChangeArrowheads="1"/>
            </p:cNvSpPr>
            <p:nvPr/>
          </p:nvSpPr>
          <p:spPr bwMode="auto">
            <a:xfrm>
              <a:off x="1647153" y="3591140"/>
              <a:ext cx="3129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0</a:t>
              </a:r>
            </a:p>
          </p:txBody>
        </p:sp>
        <p:sp>
          <p:nvSpPr>
            <p:cNvPr id="250" name="Text Box 92"/>
            <p:cNvSpPr txBox="1">
              <a:spLocks noChangeArrowheads="1"/>
            </p:cNvSpPr>
            <p:nvPr/>
          </p:nvSpPr>
          <p:spPr bwMode="auto">
            <a:xfrm>
              <a:off x="1647153" y="2797088"/>
              <a:ext cx="3129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8</a:t>
              </a:r>
            </a:p>
          </p:txBody>
        </p:sp>
        <p:sp>
          <p:nvSpPr>
            <p:cNvPr id="251" name="Text Box 93"/>
            <p:cNvSpPr txBox="1">
              <a:spLocks noChangeArrowheads="1"/>
            </p:cNvSpPr>
            <p:nvPr/>
          </p:nvSpPr>
          <p:spPr bwMode="auto">
            <a:xfrm>
              <a:off x="1530153" y="2406791"/>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12</a:t>
              </a:r>
            </a:p>
          </p:txBody>
        </p:sp>
        <p:sp>
          <p:nvSpPr>
            <p:cNvPr id="252" name="Text Box 94"/>
            <p:cNvSpPr txBox="1">
              <a:spLocks noChangeArrowheads="1"/>
            </p:cNvSpPr>
            <p:nvPr/>
          </p:nvSpPr>
          <p:spPr bwMode="auto">
            <a:xfrm>
              <a:off x="1530153" y="2016494"/>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16</a:t>
              </a:r>
            </a:p>
          </p:txBody>
        </p:sp>
        <p:sp>
          <p:nvSpPr>
            <p:cNvPr id="253" name="Text Box 95"/>
            <p:cNvSpPr txBox="1">
              <a:spLocks noChangeArrowheads="1"/>
            </p:cNvSpPr>
            <p:nvPr/>
          </p:nvSpPr>
          <p:spPr bwMode="auto">
            <a:xfrm>
              <a:off x="1530153" y="1612739"/>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20</a:t>
              </a:r>
            </a:p>
          </p:txBody>
        </p:sp>
        <p:sp>
          <p:nvSpPr>
            <p:cNvPr id="254" name="Text Box 96"/>
            <p:cNvSpPr txBox="1">
              <a:spLocks noChangeArrowheads="1"/>
            </p:cNvSpPr>
            <p:nvPr/>
          </p:nvSpPr>
          <p:spPr bwMode="auto">
            <a:xfrm>
              <a:off x="1530153" y="1208984"/>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24</a:t>
              </a:r>
            </a:p>
          </p:txBody>
        </p:sp>
        <p:sp>
          <p:nvSpPr>
            <p:cNvPr id="255" name="Oval 102"/>
            <p:cNvSpPr>
              <a:spLocks noChangeArrowheads="1"/>
            </p:cNvSpPr>
            <p:nvPr/>
          </p:nvSpPr>
          <p:spPr bwMode="auto">
            <a:xfrm>
              <a:off x="2573403" y="2960272"/>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56" name="Oval 103"/>
            <p:cNvSpPr>
              <a:spLocks noChangeArrowheads="1"/>
            </p:cNvSpPr>
            <p:nvPr/>
          </p:nvSpPr>
          <p:spPr bwMode="auto">
            <a:xfrm>
              <a:off x="2339403" y="3364027"/>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57" name="Oval 104"/>
            <p:cNvSpPr>
              <a:spLocks noChangeArrowheads="1"/>
            </p:cNvSpPr>
            <p:nvPr/>
          </p:nvSpPr>
          <p:spPr bwMode="auto">
            <a:xfrm>
              <a:off x="1881153" y="3626468"/>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58" name="Oval 105"/>
            <p:cNvSpPr>
              <a:spLocks noChangeArrowheads="1"/>
            </p:cNvSpPr>
            <p:nvPr/>
          </p:nvSpPr>
          <p:spPr bwMode="auto">
            <a:xfrm>
              <a:off x="2095653" y="3555811"/>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59" name="Oval 106"/>
            <p:cNvSpPr>
              <a:spLocks noChangeArrowheads="1"/>
            </p:cNvSpPr>
            <p:nvPr/>
          </p:nvSpPr>
          <p:spPr bwMode="auto">
            <a:xfrm>
              <a:off x="2807403" y="2149397"/>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0" name="Oval 107"/>
            <p:cNvSpPr>
              <a:spLocks noChangeArrowheads="1"/>
            </p:cNvSpPr>
            <p:nvPr/>
          </p:nvSpPr>
          <p:spPr bwMode="auto">
            <a:xfrm>
              <a:off x="3041403" y="2041729"/>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1" name="Oval 108"/>
            <p:cNvSpPr>
              <a:spLocks noChangeArrowheads="1"/>
            </p:cNvSpPr>
            <p:nvPr/>
          </p:nvSpPr>
          <p:spPr bwMode="auto">
            <a:xfrm>
              <a:off x="3275403" y="1945837"/>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2" name="Oval 109"/>
            <p:cNvSpPr>
              <a:spLocks noChangeArrowheads="1"/>
            </p:cNvSpPr>
            <p:nvPr/>
          </p:nvSpPr>
          <p:spPr bwMode="auto">
            <a:xfrm>
              <a:off x="3748277" y="1743960"/>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3" name="Oval 110"/>
            <p:cNvSpPr>
              <a:spLocks noChangeArrowheads="1"/>
            </p:cNvSpPr>
            <p:nvPr/>
          </p:nvSpPr>
          <p:spPr bwMode="auto">
            <a:xfrm>
              <a:off x="3509403" y="1844898"/>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4" name="Oval 113"/>
            <p:cNvSpPr>
              <a:spLocks noChangeArrowheads="1"/>
            </p:cNvSpPr>
            <p:nvPr/>
          </p:nvSpPr>
          <p:spPr bwMode="auto">
            <a:xfrm>
              <a:off x="3982277" y="1643021"/>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5" name="Oval 114"/>
            <p:cNvSpPr>
              <a:spLocks noChangeArrowheads="1"/>
            </p:cNvSpPr>
            <p:nvPr/>
          </p:nvSpPr>
          <p:spPr bwMode="auto">
            <a:xfrm>
              <a:off x="4211403" y="1547128"/>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6" name="Oval 116"/>
            <p:cNvSpPr>
              <a:spLocks noChangeArrowheads="1"/>
            </p:cNvSpPr>
            <p:nvPr/>
          </p:nvSpPr>
          <p:spPr bwMode="auto">
            <a:xfrm>
              <a:off x="4674527" y="1330110"/>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7" name="Oval 117"/>
            <p:cNvSpPr>
              <a:spLocks noChangeArrowheads="1"/>
            </p:cNvSpPr>
            <p:nvPr/>
          </p:nvSpPr>
          <p:spPr bwMode="auto">
            <a:xfrm>
              <a:off x="4445403" y="1431049"/>
              <a:ext cx="91000" cy="94210"/>
            </a:xfrm>
            <a:prstGeom prst="ellipse">
              <a:avLst/>
            </a:prstGeom>
            <a:solidFill>
              <a:srgbClr val="0000FF"/>
            </a:solidFill>
            <a:ln w="2857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8" name="Freeform 118"/>
            <p:cNvSpPr>
              <a:spLocks/>
            </p:cNvSpPr>
            <p:nvPr/>
          </p:nvSpPr>
          <p:spPr bwMode="auto">
            <a:xfrm>
              <a:off x="1842153" y="1385626"/>
              <a:ext cx="2881124" cy="2304769"/>
            </a:xfrm>
            <a:custGeom>
              <a:avLst/>
              <a:gdLst>
                <a:gd name="T0" fmla="*/ 2147483647 w 1773"/>
                <a:gd name="T1" fmla="*/ 0 h 1370"/>
                <a:gd name="T2" fmla="*/ 2147483647 w 1773"/>
                <a:gd name="T3" fmla="*/ 2147483647 h 1370"/>
                <a:gd name="T4" fmla="*/ 2147483647 w 1773"/>
                <a:gd name="T5" fmla="*/ 2147483647 h 1370"/>
                <a:gd name="T6" fmla="*/ 2147483647 w 1773"/>
                <a:gd name="T7" fmla="*/ 2147483647 h 1370"/>
                <a:gd name="T8" fmla="*/ 2147483647 w 1773"/>
                <a:gd name="T9" fmla="*/ 2147483647 h 1370"/>
                <a:gd name="T10" fmla="*/ 2147483647 w 1773"/>
                <a:gd name="T11" fmla="*/ 2147483647 h 1370"/>
                <a:gd name="T12" fmla="*/ 0 60000 65536"/>
                <a:gd name="T13" fmla="*/ 0 60000 65536"/>
                <a:gd name="T14" fmla="*/ 0 60000 65536"/>
                <a:gd name="T15" fmla="*/ 0 60000 65536"/>
                <a:gd name="T16" fmla="*/ 0 60000 65536"/>
                <a:gd name="T17" fmla="*/ 0 60000 65536"/>
                <a:gd name="T18" fmla="*/ 0 w 1773"/>
                <a:gd name="T19" fmla="*/ 0 h 1370"/>
                <a:gd name="T20" fmla="*/ 1773 w 1773"/>
                <a:gd name="T21" fmla="*/ 1370 h 1370"/>
              </a:gdLst>
              <a:ahLst/>
              <a:cxnLst>
                <a:cxn ang="T12">
                  <a:pos x="T0" y="T1"/>
                </a:cxn>
                <a:cxn ang="T13">
                  <a:pos x="T2" y="T3"/>
                </a:cxn>
                <a:cxn ang="T14">
                  <a:pos x="T4" y="T5"/>
                </a:cxn>
                <a:cxn ang="T15">
                  <a:pos x="T6" y="T7"/>
                </a:cxn>
                <a:cxn ang="T16">
                  <a:pos x="T8" y="T9"/>
                </a:cxn>
                <a:cxn ang="T17">
                  <a:pos x="T10" y="T11"/>
                </a:cxn>
              </a:cxnLst>
              <a:rect l="T18" t="T19" r="T20" b="T21"/>
              <a:pathLst>
                <a:path w="1773" h="1370">
                  <a:moveTo>
                    <a:pt x="1773" y="0"/>
                  </a:moveTo>
                  <a:lnTo>
                    <a:pt x="618" y="487"/>
                  </a:lnTo>
                  <a:lnTo>
                    <a:pt x="480" y="961"/>
                  </a:lnTo>
                  <a:lnTo>
                    <a:pt x="331" y="1201"/>
                  </a:lnTo>
                  <a:lnTo>
                    <a:pt x="187" y="1321"/>
                  </a:lnTo>
                  <a:cubicBezTo>
                    <a:pt x="47" y="1370"/>
                    <a:pt x="0" y="1369"/>
                    <a:pt x="55" y="1369"/>
                  </a:cubicBezTo>
                </a:path>
              </a:pathLst>
            </a:custGeom>
            <a:noFill/>
            <a:ln w="28575" cmpd="sng">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9" name="Text Box 134"/>
            <p:cNvSpPr txBox="1">
              <a:spLocks noChangeArrowheads="1"/>
            </p:cNvSpPr>
            <p:nvPr/>
          </p:nvSpPr>
          <p:spPr bwMode="auto">
            <a:xfrm>
              <a:off x="8280402" y="3596186"/>
              <a:ext cx="121699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2000" b="1" i="0" u="none" strike="noStrike" kern="0" cap="none" spc="0" normalizeH="0" baseline="0" noProof="0">
                  <a:ln>
                    <a:noFill/>
                  </a:ln>
                  <a:solidFill>
                    <a:srgbClr val="000000"/>
                  </a:solidFill>
                  <a:effectLst/>
                  <a:uLnTx/>
                  <a:uFillTx/>
                  <a:latin typeface="Times New Roman" pitchFamily="18" charset="0"/>
                  <a:ea typeface="宋体" charset="-122"/>
                </a:rPr>
                <a:t>传输轮次</a:t>
              </a:r>
            </a:p>
          </p:txBody>
        </p:sp>
        <p:sp>
          <p:nvSpPr>
            <p:cNvPr id="270" name="Text Box 135"/>
            <p:cNvSpPr txBox="1">
              <a:spLocks noChangeArrowheads="1"/>
            </p:cNvSpPr>
            <p:nvPr/>
          </p:nvSpPr>
          <p:spPr bwMode="auto">
            <a:xfrm>
              <a:off x="966278" y="836711"/>
              <a:ext cx="193033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2000" b="1" i="0" u="none" strike="noStrike" kern="0" cap="none" spc="0" normalizeH="0" baseline="0" noProof="0" dirty="0">
                  <a:ln>
                    <a:noFill/>
                  </a:ln>
                  <a:solidFill>
                    <a:srgbClr val="000000"/>
                  </a:solidFill>
                  <a:effectLst/>
                  <a:uLnTx/>
                  <a:uFillTx/>
                  <a:latin typeface="Times New Roman" pitchFamily="18" charset="0"/>
                  <a:ea typeface="宋体" charset="-122"/>
                </a:rPr>
                <a:t>拥塞窗口  </a:t>
              </a:r>
              <a:r>
                <a:rPr kumimoji="1" lang="en-US" altLang="zh-CN" sz="2000" b="1" i="0" u="none" strike="noStrike" kern="0" cap="none" spc="0" normalizeH="0" baseline="0" noProof="0" dirty="0" err="1">
                  <a:ln>
                    <a:noFill/>
                  </a:ln>
                  <a:solidFill>
                    <a:srgbClr val="000000"/>
                  </a:solidFill>
                  <a:effectLst/>
                  <a:uLnTx/>
                  <a:uFillTx/>
                  <a:latin typeface="Times New Roman" pitchFamily="18" charset="0"/>
                  <a:ea typeface="宋体" charset="-122"/>
                </a:rPr>
                <a:t>cwnd</a:t>
              </a:r>
              <a:endParaRPr kumimoji="1" lang="en-US" altLang="zh-CN" sz="2000" b="1" i="0" u="none" strike="noStrike" kern="0" cap="none" spc="0" normalizeH="0" baseline="0" noProof="0" dirty="0">
                <a:ln>
                  <a:noFill/>
                </a:ln>
                <a:solidFill>
                  <a:srgbClr val="000000"/>
                </a:solidFill>
                <a:effectLst/>
                <a:uLnTx/>
                <a:uFillTx/>
                <a:latin typeface="Times New Roman" pitchFamily="18" charset="0"/>
                <a:ea typeface="宋体" charset="-122"/>
              </a:endParaRPr>
            </a:p>
          </p:txBody>
        </p:sp>
        <p:sp>
          <p:nvSpPr>
            <p:cNvPr id="271" name="Text Box 140"/>
            <p:cNvSpPr txBox="1">
              <a:spLocks noChangeArrowheads="1"/>
            </p:cNvSpPr>
            <p:nvPr/>
          </p:nvSpPr>
          <p:spPr bwMode="auto">
            <a:xfrm>
              <a:off x="7049973" y="1815231"/>
              <a:ext cx="118137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dirty="0">
                  <a:ln>
                    <a:noFill/>
                  </a:ln>
                  <a:solidFill>
                    <a:srgbClr val="FF0000"/>
                  </a:solidFill>
                  <a:effectLst/>
                  <a:uLnTx/>
                  <a:uFillTx/>
                  <a:latin typeface="Times New Roman" pitchFamily="18" charset="0"/>
                  <a:ea typeface="宋体" charset="-122"/>
                </a:rPr>
                <a:t>3-ACK</a:t>
              </a:r>
              <a:endParaRPr kumimoji="1" lang="zh-CN" altLang="en-US" sz="2000" b="1" i="0" u="none" strike="noStrike" kern="0" cap="none" spc="0" normalizeH="0" baseline="0" noProof="0" dirty="0">
                <a:ln>
                  <a:noFill/>
                </a:ln>
                <a:solidFill>
                  <a:srgbClr val="FF0000"/>
                </a:solidFill>
                <a:effectLst/>
                <a:uLnTx/>
                <a:uFillTx/>
                <a:latin typeface="Times New Roman" pitchFamily="18" charset="0"/>
                <a:ea typeface="宋体" charset="-122"/>
              </a:endParaRPr>
            </a:p>
          </p:txBody>
        </p:sp>
        <p:sp>
          <p:nvSpPr>
            <p:cNvPr id="272" name="Rectangle 160"/>
            <p:cNvSpPr>
              <a:spLocks noChangeArrowheads="1"/>
            </p:cNvSpPr>
            <p:nvPr/>
          </p:nvSpPr>
          <p:spPr bwMode="auto">
            <a:xfrm>
              <a:off x="1998153" y="1304875"/>
              <a:ext cx="195000" cy="215336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73" name="Line 156"/>
            <p:cNvSpPr>
              <a:spLocks noChangeShapeType="1"/>
            </p:cNvSpPr>
            <p:nvPr/>
          </p:nvSpPr>
          <p:spPr bwMode="auto">
            <a:xfrm>
              <a:off x="1998153" y="2193137"/>
              <a:ext cx="858000" cy="0"/>
            </a:xfrm>
            <a:prstGeom prst="line">
              <a:avLst/>
            </a:prstGeom>
            <a:noFill/>
            <a:ln w="1905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74" name="Line 146"/>
            <p:cNvSpPr>
              <a:spLocks noChangeShapeType="1"/>
            </p:cNvSpPr>
            <p:nvPr/>
          </p:nvSpPr>
          <p:spPr bwMode="auto">
            <a:xfrm flipV="1">
              <a:off x="1998153" y="1378897"/>
              <a:ext cx="2743000" cy="6729"/>
            </a:xfrm>
            <a:prstGeom prst="line">
              <a:avLst/>
            </a:prstGeom>
            <a:noFill/>
            <a:ln w="1905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75" name="Rectangle 162"/>
            <p:cNvSpPr>
              <a:spLocks noChangeArrowheads="1"/>
            </p:cNvSpPr>
            <p:nvPr/>
          </p:nvSpPr>
          <p:spPr bwMode="auto">
            <a:xfrm>
              <a:off x="5352153" y="3565904"/>
              <a:ext cx="1480374" cy="1615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77" name="Text Box 203"/>
            <p:cNvSpPr txBox="1">
              <a:spLocks noChangeArrowheads="1"/>
            </p:cNvSpPr>
            <p:nvPr/>
          </p:nvSpPr>
          <p:spPr bwMode="auto">
            <a:xfrm>
              <a:off x="8170649" y="1977696"/>
              <a:ext cx="1638589"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b="1" i="0" u="none" strike="noStrike" kern="0" cap="none" spc="0" normalizeH="0" baseline="0" noProof="0" dirty="0">
                  <a:ln>
                    <a:noFill/>
                  </a:ln>
                  <a:solidFill>
                    <a:srgbClr val="0000FF"/>
                  </a:solidFill>
                  <a:effectLst/>
                  <a:uLnTx/>
                  <a:uFillTx/>
                  <a:latin typeface="Times New Roman" pitchFamily="18" charset="0"/>
                  <a:ea typeface="宋体" charset="-122"/>
                </a:rPr>
                <a:t>TCP Reno </a:t>
              </a:r>
            </a:p>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b="1" i="0" u="none" strike="noStrike" kern="0" cap="none" spc="0" normalizeH="0" baseline="0" noProof="0" dirty="0">
                  <a:ln>
                    <a:noFill/>
                  </a:ln>
                  <a:solidFill>
                    <a:srgbClr val="0000FF"/>
                  </a:solidFill>
                  <a:effectLst/>
                  <a:uLnTx/>
                  <a:uFillTx/>
                  <a:latin typeface="Times New Roman" pitchFamily="18" charset="0"/>
                  <a:ea typeface="宋体" charset="-122"/>
                </a:rPr>
                <a:t>版本</a:t>
              </a:r>
            </a:p>
          </p:txBody>
        </p:sp>
        <p:sp>
          <p:nvSpPr>
            <p:cNvPr id="278" name="Text Box 205"/>
            <p:cNvSpPr txBox="1">
              <a:spLocks noChangeArrowheads="1"/>
            </p:cNvSpPr>
            <p:nvPr/>
          </p:nvSpPr>
          <p:spPr bwMode="auto">
            <a:xfrm>
              <a:off x="272479" y="1918920"/>
              <a:ext cx="128112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dirty="0" err="1">
                  <a:ln>
                    <a:noFill/>
                  </a:ln>
                  <a:solidFill>
                    <a:srgbClr val="C00000"/>
                  </a:solidFill>
                  <a:effectLst/>
                  <a:uLnTx/>
                  <a:uFillTx/>
                  <a:latin typeface="Times New Roman" pitchFamily="18" charset="0"/>
                  <a:ea typeface="宋体" charset="-122"/>
                </a:rPr>
                <a:t>ssthresh</a:t>
              </a:r>
              <a:endParaRPr kumimoji="1" lang="en-US" altLang="zh-CN" sz="2000" b="1" i="0" u="none" strike="noStrike" kern="0" cap="none" spc="0" normalizeH="0" baseline="0" noProof="0" dirty="0">
                <a:ln>
                  <a:noFill/>
                </a:ln>
                <a:solidFill>
                  <a:srgbClr val="C00000"/>
                </a:solidFill>
                <a:effectLst/>
                <a:uLnTx/>
                <a:uFillTx/>
                <a:latin typeface="Times New Roman" pitchFamily="18" charset="0"/>
                <a:ea typeface="宋体" charset="-122"/>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2000" b="1" i="0" u="none" strike="noStrike" kern="0" cap="none" spc="0" normalizeH="0" baseline="0" noProof="0" dirty="0">
                  <a:ln>
                    <a:noFill/>
                  </a:ln>
                  <a:solidFill>
                    <a:srgbClr val="C00000"/>
                  </a:solidFill>
                  <a:effectLst/>
                  <a:uLnTx/>
                  <a:uFillTx/>
                  <a:latin typeface="Times New Roman" pitchFamily="18" charset="0"/>
                  <a:ea typeface="宋体" charset="-122"/>
                </a:rPr>
                <a:t> 的初始值</a:t>
              </a:r>
            </a:p>
          </p:txBody>
        </p:sp>
        <p:sp>
          <p:nvSpPr>
            <p:cNvPr id="280" name="Line 215"/>
            <p:cNvSpPr>
              <a:spLocks noChangeShapeType="1"/>
            </p:cNvSpPr>
            <p:nvPr/>
          </p:nvSpPr>
          <p:spPr bwMode="auto">
            <a:xfrm flipV="1">
              <a:off x="1413153" y="2223418"/>
              <a:ext cx="219374" cy="0"/>
            </a:xfrm>
            <a:prstGeom prst="line">
              <a:avLst/>
            </a:prstGeom>
            <a:noFill/>
            <a:ln w="19050">
              <a:solidFill>
                <a:srgbClr val="C00000"/>
              </a:solidFill>
              <a:round/>
              <a:headEnd/>
              <a:tailEnd type="triangle" w="sm"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81" name="Text Box 206"/>
            <p:cNvSpPr txBox="1">
              <a:spLocks noChangeArrowheads="1"/>
            </p:cNvSpPr>
            <p:nvPr/>
          </p:nvSpPr>
          <p:spPr bwMode="auto">
            <a:xfrm rot="20245475">
              <a:off x="6948778" y="2393474"/>
              <a:ext cx="121699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2000" b="1" i="0" u="none" strike="noStrike" kern="0" cap="none" spc="0" normalizeH="0" baseline="0" noProof="0">
                  <a:ln>
                    <a:noFill/>
                  </a:ln>
                  <a:solidFill>
                    <a:srgbClr val="000000"/>
                  </a:solidFill>
                  <a:effectLst/>
                  <a:uLnTx/>
                  <a:uFillTx/>
                  <a:latin typeface="Times New Roman" pitchFamily="18" charset="0"/>
                  <a:ea typeface="宋体" charset="-122"/>
                </a:rPr>
                <a:t>拥塞避免</a:t>
              </a:r>
            </a:p>
          </p:txBody>
        </p:sp>
        <p:sp>
          <p:nvSpPr>
            <p:cNvPr id="282" name="Oval 125"/>
            <p:cNvSpPr>
              <a:spLocks noChangeArrowheads="1"/>
            </p:cNvSpPr>
            <p:nvPr/>
          </p:nvSpPr>
          <p:spPr bwMode="auto">
            <a:xfrm>
              <a:off x="5147403" y="3540670"/>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83" name="Oval 126"/>
            <p:cNvSpPr>
              <a:spLocks noChangeArrowheads="1"/>
            </p:cNvSpPr>
            <p:nvPr/>
          </p:nvSpPr>
          <p:spPr bwMode="auto">
            <a:xfrm>
              <a:off x="5383027" y="3343839"/>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84" name="Oval 127"/>
            <p:cNvSpPr>
              <a:spLocks noChangeArrowheads="1"/>
            </p:cNvSpPr>
            <p:nvPr/>
          </p:nvSpPr>
          <p:spPr bwMode="auto">
            <a:xfrm>
              <a:off x="4903653" y="3616374"/>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85" name="Oval 128"/>
            <p:cNvSpPr>
              <a:spLocks noChangeArrowheads="1"/>
            </p:cNvSpPr>
            <p:nvPr/>
          </p:nvSpPr>
          <p:spPr bwMode="auto">
            <a:xfrm>
              <a:off x="5623527" y="2953542"/>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86" name="Oval 129"/>
            <p:cNvSpPr>
              <a:spLocks noChangeArrowheads="1"/>
            </p:cNvSpPr>
            <p:nvPr/>
          </p:nvSpPr>
          <p:spPr bwMode="auto">
            <a:xfrm>
              <a:off x="6106153" y="2440437"/>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87" name="Oval 130"/>
            <p:cNvSpPr>
              <a:spLocks noChangeArrowheads="1"/>
            </p:cNvSpPr>
            <p:nvPr/>
          </p:nvSpPr>
          <p:spPr bwMode="auto">
            <a:xfrm>
              <a:off x="6795153" y="2147715"/>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88" name="Oval 131"/>
            <p:cNvSpPr>
              <a:spLocks noChangeArrowheads="1"/>
            </p:cNvSpPr>
            <p:nvPr/>
          </p:nvSpPr>
          <p:spPr bwMode="auto">
            <a:xfrm>
              <a:off x="6335277" y="2334451"/>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89" name="Oval 132"/>
            <p:cNvSpPr>
              <a:spLocks noChangeArrowheads="1"/>
            </p:cNvSpPr>
            <p:nvPr/>
          </p:nvSpPr>
          <p:spPr bwMode="auto">
            <a:xfrm>
              <a:off x="6569277" y="2238560"/>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90" name="Line 147"/>
            <p:cNvSpPr>
              <a:spLocks noChangeShapeType="1"/>
            </p:cNvSpPr>
            <p:nvPr/>
          </p:nvSpPr>
          <p:spPr bwMode="auto">
            <a:xfrm rot="10800000">
              <a:off x="2016028" y="2595210"/>
              <a:ext cx="4134000" cy="0"/>
            </a:xfrm>
            <a:prstGeom prst="line">
              <a:avLst/>
            </a:prstGeom>
            <a:noFill/>
            <a:ln w="1905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cxnSp>
          <p:nvCxnSpPr>
            <p:cNvPr id="291" name="直接连接符 115"/>
            <p:cNvCxnSpPr>
              <a:cxnSpLocks noChangeShapeType="1"/>
            </p:cNvCxnSpPr>
            <p:nvPr/>
          </p:nvCxnSpPr>
          <p:spPr bwMode="auto">
            <a:xfrm>
              <a:off x="4728153" y="1375532"/>
              <a:ext cx="234000" cy="2266077"/>
            </a:xfrm>
            <a:prstGeom prst="line">
              <a:avLst/>
            </a:prstGeom>
            <a:noFill/>
            <a:ln w="28575" algn="ctr">
              <a:solidFill>
                <a:srgbClr val="0000FF"/>
              </a:solidFill>
              <a:round/>
              <a:headEnd/>
              <a:tailEnd/>
            </a:ln>
            <a:extLst>
              <a:ext uri="{909E8E84-426E-40DD-AFC4-6F175D3DCCD1}">
                <a14:hiddenFill xmlns:a14="http://schemas.microsoft.com/office/drawing/2010/main">
                  <a:noFill/>
                </a14:hiddenFill>
              </a:ext>
            </a:extLst>
          </p:spPr>
        </p:cxnSp>
        <p:sp>
          <p:nvSpPr>
            <p:cNvPr id="293" name="Rectangle 161"/>
            <p:cNvSpPr>
              <a:spLocks noChangeArrowheads="1"/>
            </p:cNvSpPr>
            <p:nvPr/>
          </p:nvSpPr>
          <p:spPr bwMode="auto">
            <a:xfrm>
              <a:off x="2555757" y="1801158"/>
              <a:ext cx="442000" cy="3684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800" b="1" i="0" u="none" strike="noStrike" kern="0" cap="none" spc="0" normalizeH="0" baseline="0" noProof="0" dirty="0">
                  <a:ln>
                    <a:noFill/>
                  </a:ln>
                  <a:solidFill>
                    <a:sysClr val="windowText" lastClr="000000"/>
                  </a:solidFill>
                  <a:effectLst/>
                  <a:uLnTx/>
                  <a:uFillTx/>
                  <a:sym typeface="Wingdings" pitchFamily="2" charset="2"/>
                </a:rPr>
                <a:t></a:t>
              </a:r>
              <a:endParaRPr kumimoji="0" lang="zh-CN" altLang="en-US" sz="2800" b="1" i="0" u="none" strike="noStrike" kern="0" cap="none" spc="0" normalizeH="0" baseline="0" noProof="0" dirty="0">
                <a:ln>
                  <a:noFill/>
                </a:ln>
                <a:solidFill>
                  <a:sysClr val="windowText" lastClr="000000"/>
                </a:solidFill>
                <a:effectLst/>
                <a:uLnTx/>
                <a:uFillTx/>
              </a:endParaRPr>
            </a:p>
          </p:txBody>
        </p:sp>
        <p:sp>
          <p:nvSpPr>
            <p:cNvPr id="294" name="Oval 129"/>
            <p:cNvSpPr>
              <a:spLocks noChangeArrowheads="1"/>
            </p:cNvSpPr>
            <p:nvPr/>
          </p:nvSpPr>
          <p:spPr bwMode="auto">
            <a:xfrm>
              <a:off x="5868903" y="2549787"/>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95" name="任意多边形 134"/>
            <p:cNvSpPr>
              <a:spLocks/>
            </p:cNvSpPr>
            <p:nvPr/>
          </p:nvSpPr>
          <p:spPr bwMode="auto">
            <a:xfrm>
              <a:off x="4952403" y="2181361"/>
              <a:ext cx="1906124" cy="1485482"/>
            </a:xfrm>
            <a:custGeom>
              <a:avLst/>
              <a:gdLst>
                <a:gd name="T0" fmla="*/ 0 w 1929384"/>
                <a:gd name="T1" fmla="*/ 1404281 h 1426464"/>
                <a:gd name="T2" fmla="*/ 224888 w 1929384"/>
                <a:gd name="T3" fmla="*/ 1336767 h 1426464"/>
                <a:gd name="T4" fmla="*/ 445365 w 1929384"/>
                <a:gd name="T5" fmla="*/ 1152231 h 1426464"/>
                <a:gd name="T6" fmla="*/ 903959 w 1929384"/>
                <a:gd name="T7" fmla="*/ 409583 h 1426464"/>
                <a:gd name="T8" fmla="*/ 1860836 w 1929384"/>
                <a:gd name="T9" fmla="*/ 0 h 1426464"/>
                <a:gd name="T10" fmla="*/ 0 60000 65536"/>
                <a:gd name="T11" fmla="*/ 0 60000 65536"/>
                <a:gd name="T12" fmla="*/ 0 60000 65536"/>
                <a:gd name="T13" fmla="*/ 0 60000 65536"/>
                <a:gd name="T14" fmla="*/ 0 60000 65536"/>
                <a:gd name="T15" fmla="*/ 0 w 1929384"/>
                <a:gd name="T16" fmla="*/ 0 h 1426464"/>
                <a:gd name="T17" fmla="*/ 1929384 w 1929384"/>
                <a:gd name="T18" fmla="*/ 1426464 h 1426464"/>
              </a:gdLst>
              <a:ahLst/>
              <a:cxnLst>
                <a:cxn ang="T10">
                  <a:pos x="T0" y="T1"/>
                </a:cxn>
                <a:cxn ang="T11">
                  <a:pos x="T2" y="T3"/>
                </a:cxn>
                <a:cxn ang="T12">
                  <a:pos x="T4" y="T5"/>
                </a:cxn>
                <a:cxn ang="T13">
                  <a:pos x="T6" y="T7"/>
                </a:cxn>
                <a:cxn ang="T14">
                  <a:pos x="T8" y="T9"/>
                </a:cxn>
              </a:cxnLst>
              <a:rect l="T15" t="T16" r="T17" b="T18"/>
              <a:pathLst>
                <a:path w="1929384" h="1426464">
                  <a:moveTo>
                    <a:pt x="0" y="1426464"/>
                  </a:moveTo>
                  <a:lnTo>
                    <a:pt x="233172" y="1357884"/>
                  </a:lnTo>
                  <a:lnTo>
                    <a:pt x="461772" y="1170432"/>
                  </a:lnTo>
                  <a:lnTo>
                    <a:pt x="937260" y="416052"/>
                  </a:lnTo>
                  <a:lnTo>
                    <a:pt x="1929384" y="0"/>
                  </a:lnTo>
                </a:path>
              </a:pathLst>
            </a:custGeom>
            <a:noFill/>
            <a:ln w="28575" cap="flat" cmpd="sng" algn="ctr">
              <a:solidFill>
                <a:srgbClr val="0000FF"/>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96" name="Rectangle 161"/>
            <p:cNvSpPr>
              <a:spLocks noChangeArrowheads="1"/>
            </p:cNvSpPr>
            <p:nvPr/>
          </p:nvSpPr>
          <p:spPr bwMode="auto">
            <a:xfrm>
              <a:off x="4545899" y="1021117"/>
              <a:ext cx="367250" cy="30618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800" b="1" i="0" u="none" strike="noStrike" kern="0" cap="none" spc="0" normalizeH="0" baseline="0" noProof="0" dirty="0">
                  <a:ln>
                    <a:noFill/>
                  </a:ln>
                  <a:solidFill>
                    <a:sysClr val="windowText" lastClr="000000"/>
                  </a:solidFill>
                  <a:effectLst/>
                  <a:uLnTx/>
                  <a:uFillTx/>
                  <a:sym typeface="Wingdings" pitchFamily="2" charset="2"/>
                </a:rPr>
                <a:t></a:t>
              </a:r>
              <a:endParaRPr kumimoji="0" lang="zh-CN" altLang="en-US" sz="2800" b="1" i="0" u="none" strike="noStrike" kern="0" cap="none" spc="0" normalizeH="0" baseline="0" noProof="0" dirty="0">
                <a:ln>
                  <a:noFill/>
                </a:ln>
                <a:solidFill>
                  <a:sysClr val="windowText" lastClr="000000"/>
                </a:solidFill>
                <a:effectLst/>
                <a:uLnTx/>
                <a:uFillTx/>
              </a:endParaRPr>
            </a:p>
          </p:txBody>
        </p:sp>
        <p:cxnSp>
          <p:nvCxnSpPr>
            <p:cNvPr id="297" name="直接连接符 119"/>
            <p:cNvCxnSpPr>
              <a:cxnSpLocks noChangeShapeType="1"/>
            </p:cNvCxnSpPr>
            <p:nvPr/>
          </p:nvCxnSpPr>
          <p:spPr bwMode="auto">
            <a:xfrm flipH="1">
              <a:off x="7064902" y="3022518"/>
              <a:ext cx="1624" cy="694795"/>
            </a:xfrm>
            <a:prstGeom prst="line">
              <a:avLst/>
            </a:prstGeom>
            <a:noFill/>
            <a:ln w="19050" algn="ctr">
              <a:solidFill>
                <a:srgbClr val="000000"/>
              </a:solidFill>
              <a:prstDash val="dash"/>
              <a:round/>
              <a:headEnd/>
              <a:tailEnd/>
            </a:ln>
          </p:spPr>
        </p:cxnSp>
        <p:cxnSp>
          <p:nvCxnSpPr>
            <p:cNvPr id="298" name="直接连接符 121"/>
            <p:cNvCxnSpPr>
              <a:cxnSpLocks noChangeShapeType="1"/>
            </p:cNvCxnSpPr>
            <p:nvPr/>
          </p:nvCxnSpPr>
          <p:spPr bwMode="auto">
            <a:xfrm>
              <a:off x="2032278" y="3005695"/>
              <a:ext cx="5676125" cy="0"/>
            </a:xfrm>
            <a:prstGeom prst="line">
              <a:avLst/>
            </a:prstGeom>
            <a:noFill/>
            <a:ln w="19050" algn="ctr">
              <a:solidFill>
                <a:srgbClr val="000000"/>
              </a:solidFill>
              <a:prstDash val="dash"/>
              <a:round/>
              <a:headEnd/>
              <a:tailEnd/>
            </a:ln>
          </p:spPr>
        </p:cxnSp>
        <p:sp>
          <p:nvSpPr>
            <p:cNvPr id="299" name="Oval 130"/>
            <p:cNvSpPr>
              <a:spLocks noChangeArrowheads="1"/>
            </p:cNvSpPr>
            <p:nvPr/>
          </p:nvSpPr>
          <p:spPr bwMode="auto">
            <a:xfrm>
              <a:off x="7021027" y="2961955"/>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300" name="Line 24"/>
            <p:cNvSpPr>
              <a:spLocks noChangeShapeType="1"/>
            </p:cNvSpPr>
            <p:nvPr/>
          </p:nvSpPr>
          <p:spPr bwMode="auto">
            <a:xfrm>
              <a:off x="7532902" y="363992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301" name="Line 22"/>
            <p:cNvSpPr>
              <a:spLocks noChangeShapeType="1"/>
            </p:cNvSpPr>
            <p:nvPr/>
          </p:nvSpPr>
          <p:spPr bwMode="auto">
            <a:xfrm>
              <a:off x="7295652" y="3644974"/>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302" name="Text Box 87"/>
            <p:cNvSpPr txBox="1">
              <a:spLocks noChangeArrowheads="1"/>
            </p:cNvSpPr>
            <p:nvPr/>
          </p:nvSpPr>
          <p:spPr bwMode="auto">
            <a:xfrm>
              <a:off x="7311902" y="3754324"/>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24</a:t>
              </a:r>
            </a:p>
          </p:txBody>
        </p:sp>
        <p:sp>
          <p:nvSpPr>
            <p:cNvPr id="303" name="Line 22"/>
            <p:cNvSpPr>
              <a:spLocks noChangeShapeType="1"/>
            </p:cNvSpPr>
            <p:nvPr/>
          </p:nvSpPr>
          <p:spPr bwMode="auto">
            <a:xfrm>
              <a:off x="7776652" y="3653385"/>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cxnSp>
          <p:nvCxnSpPr>
            <p:cNvPr id="304" name="直接连接符 134"/>
            <p:cNvCxnSpPr>
              <a:cxnSpLocks noChangeShapeType="1"/>
              <a:stCxn id="295" idx="4"/>
              <a:endCxn id="299" idx="3"/>
            </p:cNvCxnSpPr>
            <p:nvPr/>
          </p:nvCxnSpPr>
          <p:spPr bwMode="auto">
            <a:xfrm>
              <a:off x="6856903" y="2181361"/>
              <a:ext cx="204750" cy="832745"/>
            </a:xfrm>
            <a:prstGeom prst="line">
              <a:avLst/>
            </a:prstGeom>
            <a:noFill/>
            <a:ln w="28575" algn="ctr">
              <a:solidFill>
                <a:srgbClr val="0000FF"/>
              </a:solidFill>
              <a:round/>
              <a:headEnd/>
              <a:tailEnd/>
            </a:ln>
          </p:spPr>
        </p:cxnSp>
        <p:sp>
          <p:nvSpPr>
            <p:cNvPr id="305" name="Text Box 206"/>
            <p:cNvSpPr txBox="1">
              <a:spLocks noChangeArrowheads="1"/>
            </p:cNvSpPr>
            <p:nvPr/>
          </p:nvSpPr>
          <p:spPr bwMode="auto">
            <a:xfrm rot="20070649">
              <a:off x="5809549" y="2010746"/>
              <a:ext cx="111440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800" b="1" i="0" u="none" strike="noStrike" kern="0" cap="none" spc="0" normalizeH="0" baseline="0" noProof="0" dirty="0">
                  <a:ln>
                    <a:noFill/>
                  </a:ln>
                  <a:solidFill>
                    <a:srgbClr val="000000"/>
                  </a:solidFill>
                  <a:effectLst/>
                  <a:uLnTx/>
                  <a:uFillTx/>
                  <a:latin typeface="Times New Roman" pitchFamily="18" charset="0"/>
                  <a:ea typeface="宋体" charset="-122"/>
                </a:rPr>
                <a:t>拥塞避免</a:t>
              </a:r>
            </a:p>
          </p:txBody>
        </p:sp>
        <p:sp>
          <p:nvSpPr>
            <p:cNvPr id="306" name="Text Box 206"/>
            <p:cNvSpPr txBox="1">
              <a:spLocks noChangeArrowheads="1"/>
            </p:cNvSpPr>
            <p:nvPr/>
          </p:nvSpPr>
          <p:spPr bwMode="auto">
            <a:xfrm rot="20205303">
              <a:off x="2990278" y="1471566"/>
              <a:ext cx="121699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2000" b="1" i="0" u="none" strike="noStrike" kern="0" cap="none" spc="0" normalizeH="0" baseline="0" noProof="0">
                  <a:ln>
                    <a:noFill/>
                  </a:ln>
                  <a:solidFill>
                    <a:srgbClr val="000000"/>
                  </a:solidFill>
                  <a:effectLst/>
                  <a:uLnTx/>
                  <a:uFillTx/>
                  <a:latin typeface="Times New Roman" pitchFamily="18" charset="0"/>
                  <a:ea typeface="宋体" charset="-122"/>
                </a:rPr>
                <a:t>拥塞避免</a:t>
              </a:r>
            </a:p>
          </p:txBody>
        </p:sp>
        <p:sp>
          <p:nvSpPr>
            <p:cNvPr id="307" name="TextBox 147"/>
            <p:cNvSpPr txBox="1">
              <a:spLocks noChangeArrowheads="1"/>
            </p:cNvSpPr>
            <p:nvPr/>
          </p:nvSpPr>
          <p:spPr bwMode="auto">
            <a:xfrm>
              <a:off x="5542277" y="2191455"/>
              <a:ext cx="50526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2800" b="1" i="0" u="none" strike="noStrike" kern="0" cap="none" spc="0" normalizeH="0" baseline="0" noProof="0" dirty="0">
                  <a:ln>
                    <a:noFill/>
                  </a:ln>
                  <a:solidFill>
                    <a:srgbClr val="000000"/>
                  </a:solidFill>
                  <a:effectLst/>
                  <a:uLnTx/>
                  <a:uFillTx/>
                  <a:latin typeface="Times New Roman" pitchFamily="18" charset="0"/>
                  <a:ea typeface="宋体" charset="-122"/>
                  <a:sym typeface="Wingdings" pitchFamily="2" charset="2"/>
                </a:rPr>
                <a:t></a:t>
              </a:r>
              <a:endParaRPr kumimoji="1" lang="zh-CN" altLang="en-US" sz="2800" b="1" i="0" u="none" strike="noStrike" kern="0" cap="none" spc="0" normalizeH="0" baseline="0" noProof="0" dirty="0">
                <a:ln>
                  <a:noFill/>
                </a:ln>
                <a:solidFill>
                  <a:srgbClr val="000000"/>
                </a:solidFill>
                <a:effectLst/>
                <a:uLnTx/>
                <a:uFillTx/>
                <a:latin typeface="Times New Roman" pitchFamily="18" charset="0"/>
                <a:ea typeface="宋体" charset="-122"/>
              </a:endParaRPr>
            </a:p>
          </p:txBody>
        </p:sp>
        <p:sp>
          <p:nvSpPr>
            <p:cNvPr id="308" name="矩形 150"/>
            <p:cNvSpPr>
              <a:spLocks noChangeArrowheads="1"/>
            </p:cNvSpPr>
            <p:nvPr/>
          </p:nvSpPr>
          <p:spPr bwMode="auto">
            <a:xfrm>
              <a:off x="2298778" y="3596186"/>
              <a:ext cx="2575625" cy="126174"/>
            </a:xfrm>
            <a:prstGeom prst="rect">
              <a:avLst/>
            </a:prstGeom>
            <a:solidFill>
              <a:srgbClr val="FFFFFF"/>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309" name="TextBox 148"/>
            <p:cNvSpPr txBox="1">
              <a:spLocks noChangeArrowheads="1"/>
            </p:cNvSpPr>
            <p:nvPr/>
          </p:nvSpPr>
          <p:spPr bwMode="auto">
            <a:xfrm>
              <a:off x="6720403" y="1765829"/>
              <a:ext cx="50526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2800" b="1" i="0" u="none" strike="noStrike" kern="0" cap="none" spc="0" normalizeH="0" baseline="0" noProof="0">
                  <a:ln>
                    <a:noFill/>
                  </a:ln>
                  <a:solidFill>
                    <a:srgbClr val="000000"/>
                  </a:solidFill>
                  <a:effectLst/>
                  <a:uLnTx/>
                  <a:uFillTx/>
                  <a:latin typeface="Times New Roman" pitchFamily="18" charset="0"/>
                  <a:ea typeface="宋体" charset="-122"/>
                  <a:sym typeface="Wingdings" pitchFamily="2" charset="2"/>
                </a:rPr>
                <a:t></a:t>
              </a:r>
              <a:endParaRPr kumimoji="1" lang="zh-CN" altLang="en-US" sz="2800" b="1" i="0" u="none" strike="noStrike" kern="0" cap="none" spc="0" normalizeH="0" baseline="0" noProof="0">
                <a:ln>
                  <a:noFill/>
                </a:ln>
                <a:solidFill>
                  <a:srgbClr val="000000"/>
                </a:solidFill>
                <a:effectLst/>
                <a:uLnTx/>
                <a:uFillTx/>
                <a:latin typeface="Times New Roman" pitchFamily="18" charset="0"/>
                <a:ea typeface="宋体" charset="-122"/>
              </a:endParaRPr>
            </a:p>
          </p:txBody>
        </p:sp>
        <p:sp>
          <p:nvSpPr>
            <p:cNvPr id="311" name="矩形 151"/>
            <p:cNvSpPr>
              <a:spLocks noChangeArrowheads="1"/>
            </p:cNvSpPr>
            <p:nvPr/>
          </p:nvSpPr>
          <p:spPr bwMode="auto">
            <a:xfrm>
              <a:off x="7237152" y="3596186"/>
              <a:ext cx="607750" cy="114397"/>
            </a:xfrm>
            <a:prstGeom prst="rect">
              <a:avLst/>
            </a:prstGeom>
            <a:solidFill>
              <a:srgbClr val="FFFFFF"/>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cxnSp>
          <p:nvCxnSpPr>
            <p:cNvPr id="312" name="直接连接符 153"/>
            <p:cNvCxnSpPr>
              <a:cxnSpLocks noChangeShapeType="1"/>
            </p:cNvCxnSpPr>
            <p:nvPr/>
          </p:nvCxnSpPr>
          <p:spPr bwMode="auto">
            <a:xfrm flipV="1">
              <a:off x="5903027" y="2630538"/>
              <a:ext cx="11376" cy="1043034"/>
            </a:xfrm>
            <a:prstGeom prst="line">
              <a:avLst/>
            </a:prstGeom>
            <a:noFill/>
            <a:ln w="19050" algn="ctr">
              <a:solidFill>
                <a:srgbClr val="000000"/>
              </a:solidFill>
              <a:prstDash val="dash"/>
              <a:round/>
              <a:headEnd/>
              <a:tailEnd/>
            </a:ln>
          </p:spPr>
        </p:cxnSp>
        <p:cxnSp>
          <p:nvCxnSpPr>
            <p:cNvPr id="313" name="直接连接符 157"/>
            <p:cNvCxnSpPr>
              <a:cxnSpLocks noChangeShapeType="1"/>
            </p:cNvCxnSpPr>
            <p:nvPr/>
          </p:nvCxnSpPr>
          <p:spPr bwMode="auto">
            <a:xfrm flipV="1">
              <a:off x="6832527" y="2253700"/>
              <a:ext cx="11376" cy="1520811"/>
            </a:xfrm>
            <a:prstGeom prst="line">
              <a:avLst/>
            </a:prstGeom>
            <a:noFill/>
            <a:ln w="19050" algn="ctr">
              <a:solidFill>
                <a:srgbClr val="000000"/>
              </a:solidFill>
              <a:prstDash val="dash"/>
              <a:round/>
              <a:headEnd/>
              <a:tailEnd/>
            </a:ln>
          </p:spPr>
        </p:cxnSp>
        <p:cxnSp>
          <p:nvCxnSpPr>
            <p:cNvPr id="314" name="直接连接符 141"/>
            <p:cNvCxnSpPr>
              <a:cxnSpLocks noChangeShapeType="1"/>
            </p:cNvCxnSpPr>
            <p:nvPr/>
          </p:nvCxnSpPr>
          <p:spPr bwMode="auto">
            <a:xfrm flipV="1">
              <a:off x="7001527" y="2475765"/>
              <a:ext cx="1248000" cy="560211"/>
            </a:xfrm>
            <a:prstGeom prst="line">
              <a:avLst/>
            </a:prstGeom>
            <a:noFill/>
            <a:ln w="28575" algn="ctr">
              <a:solidFill>
                <a:srgbClr val="0000FF"/>
              </a:solidFill>
              <a:round/>
              <a:headEnd/>
              <a:tailEnd/>
            </a:ln>
          </p:spPr>
        </p:cxnSp>
        <p:sp>
          <p:nvSpPr>
            <p:cNvPr id="315" name="Oval 202"/>
            <p:cNvSpPr>
              <a:spLocks noChangeArrowheads="1"/>
            </p:cNvSpPr>
            <p:nvPr/>
          </p:nvSpPr>
          <p:spPr bwMode="auto">
            <a:xfrm>
              <a:off x="7724652" y="2655773"/>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316" name="Oval 130"/>
            <p:cNvSpPr>
              <a:spLocks noChangeArrowheads="1"/>
            </p:cNvSpPr>
            <p:nvPr/>
          </p:nvSpPr>
          <p:spPr bwMode="auto">
            <a:xfrm>
              <a:off x="7251777" y="2855968"/>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317" name="Oval 130"/>
            <p:cNvSpPr>
              <a:spLocks noChangeArrowheads="1"/>
            </p:cNvSpPr>
            <p:nvPr/>
          </p:nvSpPr>
          <p:spPr bwMode="auto">
            <a:xfrm>
              <a:off x="7490652" y="2758394"/>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318" name="TextBox 149"/>
            <p:cNvSpPr txBox="1">
              <a:spLocks noChangeArrowheads="1"/>
            </p:cNvSpPr>
            <p:nvPr/>
          </p:nvSpPr>
          <p:spPr bwMode="auto">
            <a:xfrm>
              <a:off x="6795153" y="2987189"/>
              <a:ext cx="50526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2800" b="1" i="0" u="none" strike="noStrike" kern="0" cap="none" spc="0" normalizeH="0" baseline="0" noProof="0" dirty="0">
                  <a:ln>
                    <a:noFill/>
                  </a:ln>
                  <a:solidFill>
                    <a:srgbClr val="000000"/>
                  </a:solidFill>
                  <a:effectLst/>
                  <a:uLnTx/>
                  <a:uFillTx/>
                  <a:latin typeface="Times New Roman" pitchFamily="18" charset="0"/>
                  <a:ea typeface="宋体" charset="-122"/>
                  <a:sym typeface="Wingdings" pitchFamily="2" charset="2"/>
                </a:rPr>
                <a:t></a:t>
              </a:r>
              <a:endParaRPr kumimoji="1" lang="zh-CN" altLang="en-US" sz="2800" b="1" i="0" u="none" strike="noStrike" kern="0" cap="none" spc="0" normalizeH="0" baseline="0" noProof="0" dirty="0">
                <a:ln>
                  <a:noFill/>
                </a:ln>
                <a:solidFill>
                  <a:srgbClr val="000000"/>
                </a:solidFill>
                <a:effectLst/>
                <a:uLnTx/>
                <a:uFillTx/>
                <a:latin typeface="Times New Roman" pitchFamily="18" charset="0"/>
                <a:ea typeface="宋体" charset="-122"/>
              </a:endParaRPr>
            </a:p>
          </p:txBody>
        </p:sp>
        <p:sp>
          <p:nvSpPr>
            <p:cNvPr id="319" name="Oval 202"/>
            <p:cNvSpPr>
              <a:spLocks noChangeArrowheads="1"/>
            </p:cNvSpPr>
            <p:nvPr/>
          </p:nvSpPr>
          <p:spPr bwMode="auto">
            <a:xfrm>
              <a:off x="7966777" y="2531282"/>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cxnSp>
          <p:nvCxnSpPr>
            <p:cNvPr id="320" name="直接连接符 117"/>
            <p:cNvCxnSpPr>
              <a:cxnSpLocks noChangeShapeType="1"/>
            </p:cNvCxnSpPr>
            <p:nvPr/>
          </p:nvCxnSpPr>
          <p:spPr bwMode="auto">
            <a:xfrm flipH="1">
              <a:off x="4726527" y="1506753"/>
              <a:ext cx="4876" cy="2200466"/>
            </a:xfrm>
            <a:prstGeom prst="line">
              <a:avLst/>
            </a:prstGeom>
            <a:noFill/>
            <a:ln w="19050" algn="ctr">
              <a:solidFill>
                <a:srgbClr val="000000"/>
              </a:solidFill>
              <a:prstDash val="dash"/>
              <a:round/>
              <a:headEnd/>
              <a:tailEnd/>
            </a:ln>
            <a:extLst>
              <a:ext uri="{909E8E84-426E-40DD-AFC4-6F175D3DCCD1}">
                <a14:hiddenFill xmlns:a14="http://schemas.microsoft.com/office/drawing/2010/main">
                  <a:noFill/>
                </a14:hiddenFill>
              </a:ext>
            </a:extLst>
          </p:spPr>
        </p:cxnSp>
        <p:cxnSp>
          <p:nvCxnSpPr>
            <p:cNvPr id="321" name="直接连接符 119"/>
            <p:cNvCxnSpPr>
              <a:cxnSpLocks noChangeShapeType="1"/>
            </p:cNvCxnSpPr>
            <p:nvPr/>
          </p:nvCxnSpPr>
          <p:spPr bwMode="auto">
            <a:xfrm>
              <a:off x="2854527" y="2309217"/>
              <a:ext cx="0" cy="1384543"/>
            </a:xfrm>
            <a:prstGeom prst="line">
              <a:avLst/>
            </a:prstGeom>
            <a:noFill/>
            <a:ln w="19050" algn="ctr">
              <a:solidFill>
                <a:srgbClr val="000000"/>
              </a:solidFill>
              <a:prstDash val="dash"/>
              <a:round/>
              <a:headEnd/>
              <a:tailEnd/>
            </a:ln>
            <a:extLst>
              <a:ext uri="{909E8E84-426E-40DD-AFC4-6F175D3DCCD1}">
                <a14:hiddenFill xmlns:a14="http://schemas.microsoft.com/office/drawing/2010/main">
                  <a:noFill/>
                </a14:hiddenFill>
              </a:ext>
            </a:extLst>
          </p:spPr>
        </p:cxnSp>
        <p:sp>
          <p:nvSpPr>
            <p:cNvPr id="249" name="Text Box 91"/>
            <p:cNvSpPr txBox="1">
              <a:spLocks noChangeArrowheads="1"/>
            </p:cNvSpPr>
            <p:nvPr/>
          </p:nvSpPr>
          <p:spPr bwMode="auto">
            <a:xfrm>
              <a:off x="1647153" y="3187385"/>
              <a:ext cx="3129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dirty="0">
                  <a:ln>
                    <a:noFill/>
                  </a:ln>
                  <a:solidFill>
                    <a:srgbClr val="000000"/>
                  </a:solidFill>
                  <a:effectLst/>
                  <a:uLnTx/>
                  <a:uFillTx/>
                  <a:latin typeface="Times New Roman" pitchFamily="18" charset="0"/>
                  <a:ea typeface="宋体" charset="-122"/>
                </a:rPr>
                <a:t>4</a:t>
              </a:r>
            </a:p>
          </p:txBody>
        </p:sp>
      </p:grpSp>
      <p:sp>
        <p:nvSpPr>
          <p:cNvPr id="276" name="Line 167"/>
          <p:cNvSpPr>
            <a:spLocks noChangeShapeType="1"/>
          </p:cNvSpPr>
          <p:nvPr/>
        </p:nvSpPr>
        <p:spPr bwMode="auto">
          <a:xfrm>
            <a:off x="4448944" y="3318248"/>
            <a:ext cx="440153" cy="326776"/>
          </a:xfrm>
          <a:prstGeom prst="line">
            <a:avLst/>
          </a:prstGeom>
          <a:noFill/>
          <a:ln w="76200">
            <a:solidFill>
              <a:srgbClr val="FF0000">
                <a:alpha val="80000"/>
              </a:srgbClr>
            </a:solidFill>
            <a:round/>
            <a:headEnd type="none"/>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119" name="Text Box 101"/>
          <p:cNvSpPr txBox="1">
            <a:spLocks noChangeArrowheads="1"/>
          </p:cNvSpPr>
          <p:nvPr/>
        </p:nvSpPr>
        <p:spPr bwMode="auto">
          <a:xfrm>
            <a:off x="842392" y="4293096"/>
            <a:ext cx="8655010" cy="1815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eaLnBrk="1" hangingPunct="1"/>
            <a:r>
              <a:rPr kumimoji="0" lang="zh-CN" altLang="zh-CN" sz="2800" dirty="0">
                <a:solidFill>
                  <a:srgbClr val="000099"/>
                </a:solidFill>
                <a:latin typeface="Arial" pitchFamily="34" charset="0"/>
                <a:ea typeface="黑体" pitchFamily="2" charset="-122"/>
              </a:rPr>
              <a:t>当拥塞窗口</a:t>
            </a:r>
            <a:r>
              <a:rPr kumimoji="0" lang="en-US" altLang="zh-CN" sz="2800" dirty="0">
                <a:solidFill>
                  <a:srgbClr val="000099"/>
                </a:solidFill>
                <a:latin typeface="Arial" pitchFamily="34" charset="0"/>
                <a:ea typeface="黑体" pitchFamily="2" charset="-122"/>
              </a:rPr>
              <a:t> </a:t>
            </a:r>
            <a:r>
              <a:rPr kumimoji="0" lang="en-US" altLang="zh-CN" sz="2800" dirty="0" err="1">
                <a:solidFill>
                  <a:srgbClr val="000099"/>
                </a:solidFill>
                <a:latin typeface="Arial" pitchFamily="34" charset="0"/>
                <a:ea typeface="黑体" pitchFamily="2" charset="-122"/>
              </a:rPr>
              <a:t>cwnd</a:t>
            </a:r>
            <a:r>
              <a:rPr kumimoji="0" lang="en-US" altLang="zh-CN" sz="2800" dirty="0">
                <a:solidFill>
                  <a:srgbClr val="000099"/>
                </a:solidFill>
                <a:latin typeface="Arial" pitchFamily="34" charset="0"/>
                <a:ea typeface="黑体" pitchFamily="2" charset="-122"/>
              </a:rPr>
              <a:t> = 24 </a:t>
            </a:r>
            <a:r>
              <a:rPr kumimoji="0" lang="zh-CN" altLang="zh-CN" sz="2800" dirty="0">
                <a:solidFill>
                  <a:srgbClr val="000099"/>
                </a:solidFill>
                <a:latin typeface="Arial" pitchFamily="34" charset="0"/>
                <a:ea typeface="黑体" pitchFamily="2" charset="-122"/>
              </a:rPr>
              <a:t>时，网络出现了</a:t>
            </a:r>
            <a:r>
              <a:rPr kumimoji="0" lang="zh-CN" altLang="zh-CN" sz="2800" dirty="0">
                <a:solidFill>
                  <a:srgbClr val="FF0000"/>
                </a:solidFill>
                <a:latin typeface="Arial" pitchFamily="34" charset="0"/>
                <a:ea typeface="黑体" pitchFamily="2" charset="-122"/>
              </a:rPr>
              <a:t>超时</a:t>
            </a:r>
            <a:r>
              <a:rPr kumimoji="0" lang="zh-CN" altLang="zh-CN" sz="2800" dirty="0">
                <a:solidFill>
                  <a:srgbClr val="000099"/>
                </a:solidFill>
                <a:latin typeface="Arial" pitchFamily="34" charset="0"/>
                <a:ea typeface="黑体" pitchFamily="2" charset="-122"/>
              </a:rPr>
              <a:t>（图中的点</a:t>
            </a:r>
            <a:r>
              <a:rPr kumimoji="0" lang="en-US" altLang="zh-CN" sz="2800" dirty="0">
                <a:solidFill>
                  <a:srgbClr val="000099"/>
                </a:solidFill>
                <a:latin typeface="Arial" pitchFamily="34" charset="0"/>
                <a:ea typeface="黑体" pitchFamily="2" charset="-122"/>
                <a:sym typeface="Wingdings"/>
              </a:rPr>
              <a:t></a:t>
            </a:r>
            <a:r>
              <a:rPr kumimoji="0" lang="zh-CN" altLang="zh-CN" sz="2800" dirty="0">
                <a:solidFill>
                  <a:srgbClr val="000099"/>
                </a:solidFill>
                <a:latin typeface="Arial" pitchFamily="34" charset="0"/>
                <a:ea typeface="黑体" pitchFamily="2" charset="-122"/>
              </a:rPr>
              <a:t>），发送方判断为网络拥塞。于是</a:t>
            </a:r>
            <a:r>
              <a:rPr kumimoji="0" lang="zh-CN" altLang="zh-CN" sz="2800" dirty="0">
                <a:solidFill>
                  <a:srgbClr val="FF0000"/>
                </a:solidFill>
                <a:latin typeface="Arial" pitchFamily="34" charset="0"/>
                <a:ea typeface="黑体" pitchFamily="2" charset="-122"/>
              </a:rPr>
              <a:t>调整门限值</a:t>
            </a:r>
            <a:r>
              <a:rPr kumimoji="0" lang="en-US" altLang="zh-CN" sz="2800" dirty="0">
                <a:solidFill>
                  <a:srgbClr val="FF0000"/>
                </a:solidFill>
                <a:latin typeface="Arial" pitchFamily="34" charset="0"/>
                <a:ea typeface="黑体" pitchFamily="2" charset="-122"/>
              </a:rPr>
              <a:t> </a:t>
            </a:r>
            <a:r>
              <a:rPr kumimoji="0" lang="en-US" altLang="zh-CN" sz="2800" dirty="0" err="1">
                <a:solidFill>
                  <a:srgbClr val="000099"/>
                </a:solidFill>
                <a:latin typeface="Arial" pitchFamily="34" charset="0"/>
                <a:ea typeface="黑体" pitchFamily="2" charset="-122"/>
              </a:rPr>
              <a:t>ssthresh</a:t>
            </a:r>
            <a:r>
              <a:rPr kumimoji="0" lang="en-US" altLang="zh-CN" sz="2800" dirty="0">
                <a:solidFill>
                  <a:srgbClr val="000099"/>
                </a:solidFill>
                <a:latin typeface="Arial" pitchFamily="34" charset="0"/>
                <a:ea typeface="黑体" pitchFamily="2" charset="-122"/>
              </a:rPr>
              <a:t> = </a:t>
            </a:r>
            <a:r>
              <a:rPr kumimoji="0" lang="en-US" altLang="zh-CN" sz="2800" dirty="0" err="1">
                <a:solidFill>
                  <a:srgbClr val="000099"/>
                </a:solidFill>
                <a:latin typeface="Arial" pitchFamily="34" charset="0"/>
                <a:ea typeface="黑体" pitchFamily="2" charset="-122"/>
              </a:rPr>
              <a:t>cwnd</a:t>
            </a:r>
            <a:r>
              <a:rPr kumimoji="0" lang="en-US" altLang="zh-CN" sz="2800" dirty="0">
                <a:solidFill>
                  <a:srgbClr val="000099"/>
                </a:solidFill>
                <a:latin typeface="Arial" pitchFamily="34" charset="0"/>
                <a:ea typeface="黑体" pitchFamily="2" charset="-122"/>
              </a:rPr>
              <a:t> / 2 = 12</a:t>
            </a:r>
            <a:r>
              <a:rPr kumimoji="0" lang="zh-CN" altLang="zh-CN" sz="2800" dirty="0">
                <a:solidFill>
                  <a:srgbClr val="000099"/>
                </a:solidFill>
                <a:latin typeface="Arial" pitchFamily="34" charset="0"/>
                <a:ea typeface="黑体" pitchFamily="2" charset="-122"/>
              </a:rPr>
              <a:t>，同时设置拥塞窗口</a:t>
            </a:r>
            <a:r>
              <a:rPr kumimoji="0" lang="en-US" altLang="zh-CN" sz="2800" dirty="0">
                <a:solidFill>
                  <a:srgbClr val="000099"/>
                </a:solidFill>
                <a:latin typeface="Arial" pitchFamily="34" charset="0"/>
                <a:ea typeface="黑体" pitchFamily="2" charset="-122"/>
              </a:rPr>
              <a:t> </a:t>
            </a:r>
            <a:r>
              <a:rPr kumimoji="0" lang="en-US" altLang="zh-CN" sz="2800" dirty="0" err="1">
                <a:solidFill>
                  <a:srgbClr val="000099"/>
                </a:solidFill>
                <a:latin typeface="Arial" pitchFamily="34" charset="0"/>
                <a:ea typeface="黑体" pitchFamily="2" charset="-122"/>
              </a:rPr>
              <a:t>cwnd</a:t>
            </a:r>
            <a:r>
              <a:rPr kumimoji="0" lang="en-US" altLang="zh-CN" sz="2800" dirty="0">
                <a:solidFill>
                  <a:srgbClr val="000099"/>
                </a:solidFill>
                <a:latin typeface="Arial" pitchFamily="34" charset="0"/>
                <a:ea typeface="黑体" pitchFamily="2" charset="-122"/>
              </a:rPr>
              <a:t> = 1</a:t>
            </a:r>
            <a:r>
              <a:rPr kumimoji="0" lang="zh-CN" altLang="zh-CN" sz="2800" dirty="0">
                <a:solidFill>
                  <a:srgbClr val="000099"/>
                </a:solidFill>
                <a:latin typeface="Arial" pitchFamily="34" charset="0"/>
                <a:ea typeface="黑体" pitchFamily="2" charset="-122"/>
              </a:rPr>
              <a:t>，进入</a:t>
            </a:r>
            <a:r>
              <a:rPr kumimoji="0" lang="zh-CN" altLang="zh-CN" sz="2800" dirty="0">
                <a:solidFill>
                  <a:srgbClr val="FF0000"/>
                </a:solidFill>
                <a:latin typeface="Arial" pitchFamily="34" charset="0"/>
                <a:ea typeface="黑体" pitchFamily="2" charset="-122"/>
              </a:rPr>
              <a:t>慢开始</a:t>
            </a:r>
            <a:r>
              <a:rPr kumimoji="0" lang="zh-CN" altLang="zh-CN" sz="2800" dirty="0">
                <a:solidFill>
                  <a:srgbClr val="000099"/>
                </a:solidFill>
                <a:latin typeface="Arial" pitchFamily="34" charset="0"/>
                <a:ea typeface="黑体" pitchFamily="2" charset="-122"/>
              </a:rPr>
              <a:t>阶段。</a:t>
            </a:r>
          </a:p>
        </p:txBody>
      </p:sp>
    </p:spTree>
    <p:extLst>
      <p:ext uri="{BB962C8B-B14F-4D97-AF65-F5344CB8AC3E}">
        <p14:creationId xmlns:p14="http://schemas.microsoft.com/office/powerpoint/2010/main" val="3094912668"/>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 name="Rectangle 5"/>
          <p:cNvSpPr txBox="1">
            <a:spLocks noChangeArrowheads="1"/>
          </p:cNvSpPr>
          <p:nvPr/>
        </p:nvSpPr>
        <p:spPr bwMode="auto">
          <a:xfrm>
            <a:off x="417512" y="152400"/>
            <a:ext cx="91440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kumimoji="1" sz="4400" b="1">
                <a:solidFill>
                  <a:schemeClr val="tx2"/>
                </a:solidFill>
                <a:latin typeface="+mj-lt"/>
                <a:ea typeface="+mj-ea"/>
                <a:cs typeface="+mj-cs"/>
              </a:defRPr>
            </a:lvl1pPr>
            <a:lvl2pPr algn="l" rtl="0" eaLnBrk="0" fontAlgn="base" hangingPunct="0">
              <a:spcBef>
                <a:spcPct val="0"/>
              </a:spcBef>
              <a:spcAft>
                <a:spcPct val="0"/>
              </a:spcAft>
              <a:defRPr kumimoji="1" sz="4400" b="1">
                <a:solidFill>
                  <a:schemeClr val="tx2"/>
                </a:solidFill>
                <a:latin typeface="Tahoma" pitchFamily="34" charset="0"/>
                <a:ea typeface="黑体" pitchFamily="2" charset="-122"/>
              </a:defRPr>
            </a:lvl2pPr>
            <a:lvl3pPr algn="l" rtl="0" eaLnBrk="0" fontAlgn="base" hangingPunct="0">
              <a:spcBef>
                <a:spcPct val="0"/>
              </a:spcBef>
              <a:spcAft>
                <a:spcPct val="0"/>
              </a:spcAft>
              <a:defRPr kumimoji="1" sz="4400" b="1">
                <a:solidFill>
                  <a:schemeClr val="tx2"/>
                </a:solidFill>
                <a:latin typeface="Tahoma" pitchFamily="34" charset="0"/>
                <a:ea typeface="黑体" pitchFamily="2" charset="-122"/>
              </a:defRPr>
            </a:lvl3pPr>
            <a:lvl4pPr algn="l" rtl="0" eaLnBrk="0" fontAlgn="base" hangingPunct="0">
              <a:spcBef>
                <a:spcPct val="0"/>
              </a:spcBef>
              <a:spcAft>
                <a:spcPct val="0"/>
              </a:spcAft>
              <a:defRPr kumimoji="1" sz="4400" b="1">
                <a:solidFill>
                  <a:schemeClr val="tx2"/>
                </a:solidFill>
                <a:latin typeface="Tahoma" pitchFamily="34" charset="0"/>
                <a:ea typeface="黑体" pitchFamily="2" charset="-122"/>
              </a:defRPr>
            </a:lvl4pPr>
            <a:lvl5pPr algn="l" rtl="0" eaLnBrk="0" fontAlgn="base" hangingPunct="0">
              <a:spcBef>
                <a:spcPct val="0"/>
              </a:spcBef>
              <a:spcAft>
                <a:spcPct val="0"/>
              </a:spcAft>
              <a:defRPr kumimoji="1" sz="4400" b="1">
                <a:solidFill>
                  <a:schemeClr val="tx2"/>
                </a:solidFill>
                <a:latin typeface="Tahoma" pitchFamily="34" charset="0"/>
                <a:ea typeface="黑体" pitchFamily="2" charset="-122"/>
              </a:defRPr>
            </a:lvl5pPr>
            <a:lvl6pPr marL="457200" algn="l" rtl="0" fontAlgn="base">
              <a:spcBef>
                <a:spcPct val="0"/>
              </a:spcBef>
              <a:spcAft>
                <a:spcPct val="0"/>
              </a:spcAft>
              <a:defRPr kumimoji="1" sz="4400" b="1">
                <a:solidFill>
                  <a:schemeClr val="tx2"/>
                </a:solidFill>
                <a:latin typeface="Tahoma" pitchFamily="34" charset="0"/>
                <a:ea typeface="黑体" pitchFamily="2" charset="-122"/>
              </a:defRPr>
            </a:lvl6pPr>
            <a:lvl7pPr marL="914400" algn="l" rtl="0" fontAlgn="base">
              <a:spcBef>
                <a:spcPct val="0"/>
              </a:spcBef>
              <a:spcAft>
                <a:spcPct val="0"/>
              </a:spcAft>
              <a:defRPr kumimoji="1" sz="4400" b="1">
                <a:solidFill>
                  <a:schemeClr val="tx2"/>
                </a:solidFill>
                <a:latin typeface="Tahoma" pitchFamily="34" charset="0"/>
                <a:ea typeface="黑体" pitchFamily="2" charset="-122"/>
              </a:defRPr>
            </a:lvl7pPr>
            <a:lvl8pPr marL="1371600" algn="l" rtl="0" fontAlgn="base">
              <a:spcBef>
                <a:spcPct val="0"/>
              </a:spcBef>
              <a:spcAft>
                <a:spcPct val="0"/>
              </a:spcAft>
              <a:defRPr kumimoji="1" sz="4400" b="1">
                <a:solidFill>
                  <a:schemeClr val="tx2"/>
                </a:solidFill>
                <a:latin typeface="Tahoma" pitchFamily="34" charset="0"/>
                <a:ea typeface="黑体" pitchFamily="2" charset="-122"/>
              </a:defRPr>
            </a:lvl8pPr>
            <a:lvl9pPr marL="1828800" algn="l" rtl="0" fontAlgn="base">
              <a:spcBef>
                <a:spcPct val="0"/>
              </a:spcBef>
              <a:spcAft>
                <a:spcPct val="0"/>
              </a:spcAft>
              <a:defRPr kumimoji="1" sz="4400" b="1">
                <a:solidFill>
                  <a:schemeClr val="tx2"/>
                </a:solidFill>
                <a:latin typeface="Tahoma" pitchFamily="34" charset="0"/>
                <a:ea typeface="黑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3200" b="1" i="0" u="none" strike="noStrike" kern="0" cap="none" spc="0" normalizeH="0" baseline="0" noProof="0">
                <a:ln>
                  <a:noFill/>
                </a:ln>
                <a:solidFill>
                  <a:srgbClr val="333399"/>
                </a:solidFill>
                <a:effectLst/>
                <a:uLnTx/>
                <a:uFillTx/>
                <a:latin typeface="Tahoma"/>
                <a:ea typeface="黑体"/>
                <a:cs typeface="+mj-cs"/>
              </a:rPr>
              <a:t>慢开始和拥塞避免算法的实现举例 </a:t>
            </a:r>
          </a:p>
        </p:txBody>
      </p:sp>
      <p:grpSp>
        <p:nvGrpSpPr>
          <p:cNvPr id="3" name="组合 2"/>
          <p:cNvGrpSpPr/>
          <p:nvPr/>
        </p:nvGrpSpPr>
        <p:grpSpPr>
          <a:xfrm>
            <a:off x="272479" y="836711"/>
            <a:ext cx="9536759" cy="3321087"/>
            <a:chOff x="272479" y="836711"/>
            <a:chExt cx="9536759" cy="3321087"/>
          </a:xfrm>
        </p:grpSpPr>
        <p:sp>
          <p:nvSpPr>
            <p:cNvPr id="103" name="Text Box 140"/>
            <p:cNvSpPr txBox="1">
              <a:spLocks noChangeArrowheads="1"/>
            </p:cNvSpPr>
            <p:nvPr/>
          </p:nvSpPr>
          <p:spPr bwMode="auto">
            <a:xfrm>
              <a:off x="4863078" y="985683"/>
              <a:ext cx="11570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2000" b="1" i="0" u="none" strike="noStrike" kern="0" cap="none" spc="0" normalizeH="0" baseline="0" noProof="0" dirty="0">
                  <a:ln>
                    <a:noFill/>
                  </a:ln>
                  <a:solidFill>
                    <a:srgbClr val="FF0000"/>
                  </a:solidFill>
                  <a:effectLst/>
                  <a:uLnTx/>
                  <a:uFillTx/>
                  <a:latin typeface="Times New Roman" pitchFamily="18" charset="0"/>
                  <a:ea typeface="宋体" charset="-122"/>
                </a:rPr>
                <a:t>超时</a:t>
              </a:r>
            </a:p>
          </p:txBody>
        </p:sp>
        <p:sp>
          <p:nvSpPr>
            <p:cNvPr id="104" name="Line 2"/>
            <p:cNvSpPr>
              <a:spLocks noChangeShapeType="1"/>
            </p:cNvSpPr>
            <p:nvPr/>
          </p:nvSpPr>
          <p:spPr bwMode="auto">
            <a:xfrm flipV="1">
              <a:off x="1920153" y="3803111"/>
              <a:ext cx="6358624" cy="5046"/>
            </a:xfrm>
            <a:prstGeom prst="line">
              <a:avLst/>
            </a:prstGeom>
            <a:noFill/>
            <a:ln w="19050">
              <a:solidFill>
                <a:srgbClr val="000000"/>
              </a:solidFill>
              <a:round/>
              <a:headEnd/>
              <a:tail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105" name="Line 3"/>
            <p:cNvSpPr>
              <a:spLocks noChangeShapeType="1"/>
            </p:cNvSpPr>
            <p:nvPr/>
          </p:nvSpPr>
          <p:spPr bwMode="auto">
            <a:xfrm>
              <a:off x="1918528" y="1177019"/>
              <a:ext cx="1626" cy="2631138"/>
            </a:xfrm>
            <a:prstGeom prst="line">
              <a:avLst/>
            </a:prstGeom>
            <a:noFill/>
            <a:ln w="19050">
              <a:solidFill>
                <a:srgbClr val="000000"/>
              </a:solidFill>
              <a:round/>
              <a:headEnd type="triangle" w="sm" len="lg"/>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106" name="Line 4"/>
            <p:cNvSpPr>
              <a:spLocks noChangeShapeType="1"/>
            </p:cNvSpPr>
            <p:nvPr/>
          </p:nvSpPr>
          <p:spPr bwMode="auto">
            <a:xfrm>
              <a:off x="2154153" y="3727407"/>
              <a:ext cx="0" cy="8075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08" name="Line 5"/>
            <p:cNvSpPr>
              <a:spLocks noChangeShapeType="1"/>
            </p:cNvSpPr>
            <p:nvPr/>
          </p:nvSpPr>
          <p:spPr bwMode="auto">
            <a:xfrm>
              <a:off x="2388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09" name="Line 6"/>
            <p:cNvSpPr>
              <a:spLocks noChangeShapeType="1"/>
            </p:cNvSpPr>
            <p:nvPr/>
          </p:nvSpPr>
          <p:spPr bwMode="auto">
            <a:xfrm>
              <a:off x="2622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0" name="Line 7"/>
            <p:cNvSpPr>
              <a:spLocks noChangeShapeType="1"/>
            </p:cNvSpPr>
            <p:nvPr/>
          </p:nvSpPr>
          <p:spPr bwMode="auto">
            <a:xfrm>
              <a:off x="2856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1" name="Line 8"/>
            <p:cNvSpPr>
              <a:spLocks noChangeShapeType="1"/>
            </p:cNvSpPr>
            <p:nvPr/>
          </p:nvSpPr>
          <p:spPr bwMode="auto">
            <a:xfrm>
              <a:off x="3090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2" name="Line 9"/>
            <p:cNvSpPr>
              <a:spLocks noChangeShapeType="1"/>
            </p:cNvSpPr>
            <p:nvPr/>
          </p:nvSpPr>
          <p:spPr bwMode="auto">
            <a:xfrm>
              <a:off x="3324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3" name="Line 10"/>
            <p:cNvSpPr>
              <a:spLocks noChangeShapeType="1"/>
            </p:cNvSpPr>
            <p:nvPr/>
          </p:nvSpPr>
          <p:spPr bwMode="auto">
            <a:xfrm>
              <a:off x="3558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4" name="Line 11"/>
            <p:cNvSpPr>
              <a:spLocks noChangeShapeType="1"/>
            </p:cNvSpPr>
            <p:nvPr/>
          </p:nvSpPr>
          <p:spPr bwMode="auto">
            <a:xfrm>
              <a:off x="3792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5" name="Line 12"/>
            <p:cNvSpPr>
              <a:spLocks noChangeShapeType="1"/>
            </p:cNvSpPr>
            <p:nvPr/>
          </p:nvSpPr>
          <p:spPr bwMode="auto">
            <a:xfrm>
              <a:off x="4026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6" name="Line 13"/>
            <p:cNvSpPr>
              <a:spLocks noChangeShapeType="1"/>
            </p:cNvSpPr>
            <p:nvPr/>
          </p:nvSpPr>
          <p:spPr bwMode="auto">
            <a:xfrm>
              <a:off x="4260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7" name="Line 14"/>
            <p:cNvSpPr>
              <a:spLocks noChangeShapeType="1"/>
            </p:cNvSpPr>
            <p:nvPr/>
          </p:nvSpPr>
          <p:spPr bwMode="auto">
            <a:xfrm>
              <a:off x="4494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8" name="Line 15"/>
            <p:cNvSpPr>
              <a:spLocks noChangeShapeType="1"/>
            </p:cNvSpPr>
            <p:nvPr/>
          </p:nvSpPr>
          <p:spPr bwMode="auto">
            <a:xfrm>
              <a:off x="4728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9" name="Line 16"/>
            <p:cNvSpPr>
              <a:spLocks noChangeShapeType="1"/>
            </p:cNvSpPr>
            <p:nvPr/>
          </p:nvSpPr>
          <p:spPr bwMode="auto">
            <a:xfrm>
              <a:off x="4962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0" name="Line 17"/>
            <p:cNvSpPr>
              <a:spLocks noChangeShapeType="1"/>
            </p:cNvSpPr>
            <p:nvPr/>
          </p:nvSpPr>
          <p:spPr bwMode="auto">
            <a:xfrm>
              <a:off x="5196153" y="3727407"/>
              <a:ext cx="0" cy="8075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1" name="Line 18"/>
            <p:cNvSpPr>
              <a:spLocks noChangeShapeType="1"/>
            </p:cNvSpPr>
            <p:nvPr/>
          </p:nvSpPr>
          <p:spPr bwMode="auto">
            <a:xfrm>
              <a:off x="5430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2" name="Line 19"/>
            <p:cNvSpPr>
              <a:spLocks noChangeShapeType="1"/>
            </p:cNvSpPr>
            <p:nvPr/>
          </p:nvSpPr>
          <p:spPr bwMode="auto">
            <a:xfrm>
              <a:off x="5664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3" name="Line 20"/>
            <p:cNvSpPr>
              <a:spLocks noChangeShapeType="1"/>
            </p:cNvSpPr>
            <p:nvPr/>
          </p:nvSpPr>
          <p:spPr bwMode="auto">
            <a:xfrm>
              <a:off x="5898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4" name="Line 21"/>
            <p:cNvSpPr>
              <a:spLocks noChangeShapeType="1"/>
            </p:cNvSpPr>
            <p:nvPr/>
          </p:nvSpPr>
          <p:spPr bwMode="auto">
            <a:xfrm>
              <a:off x="6132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5" name="Line 22"/>
            <p:cNvSpPr>
              <a:spLocks noChangeShapeType="1"/>
            </p:cNvSpPr>
            <p:nvPr/>
          </p:nvSpPr>
          <p:spPr bwMode="auto">
            <a:xfrm>
              <a:off x="6366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6" name="Line 23"/>
            <p:cNvSpPr>
              <a:spLocks noChangeShapeType="1"/>
            </p:cNvSpPr>
            <p:nvPr/>
          </p:nvSpPr>
          <p:spPr bwMode="auto">
            <a:xfrm>
              <a:off x="6600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7" name="Line 24"/>
            <p:cNvSpPr>
              <a:spLocks noChangeShapeType="1"/>
            </p:cNvSpPr>
            <p:nvPr/>
          </p:nvSpPr>
          <p:spPr bwMode="auto">
            <a:xfrm>
              <a:off x="6834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8" name="Line 25"/>
            <p:cNvSpPr>
              <a:spLocks noChangeShapeType="1"/>
            </p:cNvSpPr>
            <p:nvPr/>
          </p:nvSpPr>
          <p:spPr bwMode="auto">
            <a:xfrm>
              <a:off x="7068152"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30" name="Line 40"/>
            <p:cNvSpPr>
              <a:spLocks noChangeShapeType="1"/>
            </p:cNvSpPr>
            <p:nvPr/>
          </p:nvSpPr>
          <p:spPr bwMode="auto">
            <a:xfrm>
              <a:off x="1920153" y="3404402"/>
              <a:ext cx="2340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31" name="Line 41"/>
            <p:cNvSpPr>
              <a:spLocks noChangeShapeType="1"/>
            </p:cNvSpPr>
            <p:nvPr/>
          </p:nvSpPr>
          <p:spPr bwMode="auto">
            <a:xfrm>
              <a:off x="1920153" y="3000647"/>
              <a:ext cx="2340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32" name="Line 42"/>
            <p:cNvSpPr>
              <a:spLocks noChangeShapeType="1"/>
            </p:cNvSpPr>
            <p:nvPr/>
          </p:nvSpPr>
          <p:spPr bwMode="auto">
            <a:xfrm>
              <a:off x="1920153" y="2596892"/>
              <a:ext cx="2340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33" name="Line 43"/>
            <p:cNvSpPr>
              <a:spLocks noChangeShapeType="1"/>
            </p:cNvSpPr>
            <p:nvPr/>
          </p:nvSpPr>
          <p:spPr bwMode="auto">
            <a:xfrm>
              <a:off x="1920153" y="2193137"/>
              <a:ext cx="2340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34" name="Line 44"/>
            <p:cNvSpPr>
              <a:spLocks noChangeShapeType="1"/>
            </p:cNvSpPr>
            <p:nvPr/>
          </p:nvSpPr>
          <p:spPr bwMode="auto">
            <a:xfrm>
              <a:off x="1920153" y="1789382"/>
              <a:ext cx="2340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35" name="Line 45"/>
            <p:cNvSpPr>
              <a:spLocks noChangeShapeType="1"/>
            </p:cNvSpPr>
            <p:nvPr/>
          </p:nvSpPr>
          <p:spPr bwMode="auto">
            <a:xfrm>
              <a:off x="1920153" y="1385626"/>
              <a:ext cx="2340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36" name="Text Box 77"/>
            <p:cNvSpPr txBox="1">
              <a:spLocks noChangeArrowheads="1"/>
            </p:cNvSpPr>
            <p:nvPr/>
          </p:nvSpPr>
          <p:spPr bwMode="auto">
            <a:xfrm>
              <a:off x="2241903" y="3749277"/>
              <a:ext cx="3129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2</a:t>
              </a:r>
            </a:p>
          </p:txBody>
        </p:sp>
        <p:sp>
          <p:nvSpPr>
            <p:cNvPr id="237" name="Text Box 78"/>
            <p:cNvSpPr txBox="1">
              <a:spLocks noChangeArrowheads="1"/>
            </p:cNvSpPr>
            <p:nvPr/>
          </p:nvSpPr>
          <p:spPr bwMode="auto">
            <a:xfrm>
              <a:off x="2709903" y="3749277"/>
              <a:ext cx="3129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4</a:t>
              </a:r>
            </a:p>
          </p:txBody>
        </p:sp>
        <p:sp>
          <p:nvSpPr>
            <p:cNvPr id="238" name="Text Box 79"/>
            <p:cNvSpPr txBox="1">
              <a:spLocks noChangeArrowheads="1"/>
            </p:cNvSpPr>
            <p:nvPr/>
          </p:nvSpPr>
          <p:spPr bwMode="auto">
            <a:xfrm>
              <a:off x="3177903" y="3749277"/>
              <a:ext cx="3129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6</a:t>
              </a:r>
            </a:p>
          </p:txBody>
        </p:sp>
        <p:sp>
          <p:nvSpPr>
            <p:cNvPr id="239" name="Text Box 80"/>
            <p:cNvSpPr txBox="1">
              <a:spLocks noChangeArrowheads="1"/>
            </p:cNvSpPr>
            <p:nvPr/>
          </p:nvSpPr>
          <p:spPr bwMode="auto">
            <a:xfrm>
              <a:off x="3658903" y="3749277"/>
              <a:ext cx="3129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8</a:t>
              </a:r>
            </a:p>
          </p:txBody>
        </p:sp>
        <p:sp>
          <p:nvSpPr>
            <p:cNvPr id="240" name="Text Box 81"/>
            <p:cNvSpPr txBox="1">
              <a:spLocks noChangeArrowheads="1"/>
            </p:cNvSpPr>
            <p:nvPr/>
          </p:nvSpPr>
          <p:spPr bwMode="auto">
            <a:xfrm>
              <a:off x="4048903" y="3749277"/>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10</a:t>
              </a:r>
            </a:p>
          </p:txBody>
        </p:sp>
        <p:sp>
          <p:nvSpPr>
            <p:cNvPr id="241" name="Text Box 82"/>
            <p:cNvSpPr txBox="1">
              <a:spLocks noChangeArrowheads="1"/>
            </p:cNvSpPr>
            <p:nvPr/>
          </p:nvSpPr>
          <p:spPr bwMode="auto">
            <a:xfrm>
              <a:off x="4555903" y="3749277"/>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12</a:t>
              </a:r>
            </a:p>
          </p:txBody>
        </p:sp>
        <p:sp>
          <p:nvSpPr>
            <p:cNvPr id="242" name="Text Box 83"/>
            <p:cNvSpPr txBox="1">
              <a:spLocks noChangeArrowheads="1"/>
            </p:cNvSpPr>
            <p:nvPr/>
          </p:nvSpPr>
          <p:spPr bwMode="auto">
            <a:xfrm>
              <a:off x="4997903" y="3749277"/>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14</a:t>
              </a:r>
            </a:p>
          </p:txBody>
        </p:sp>
        <p:sp>
          <p:nvSpPr>
            <p:cNvPr id="243" name="Text Box 84"/>
            <p:cNvSpPr txBox="1">
              <a:spLocks noChangeArrowheads="1"/>
            </p:cNvSpPr>
            <p:nvPr/>
          </p:nvSpPr>
          <p:spPr bwMode="auto">
            <a:xfrm>
              <a:off x="5465903" y="3749277"/>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16</a:t>
              </a:r>
            </a:p>
          </p:txBody>
        </p:sp>
        <p:sp>
          <p:nvSpPr>
            <p:cNvPr id="244" name="Text Box 85"/>
            <p:cNvSpPr txBox="1">
              <a:spLocks noChangeArrowheads="1"/>
            </p:cNvSpPr>
            <p:nvPr/>
          </p:nvSpPr>
          <p:spPr bwMode="auto">
            <a:xfrm>
              <a:off x="5950153" y="3749277"/>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18</a:t>
              </a:r>
            </a:p>
          </p:txBody>
        </p:sp>
        <p:sp>
          <p:nvSpPr>
            <p:cNvPr id="245" name="Text Box 86"/>
            <p:cNvSpPr txBox="1">
              <a:spLocks noChangeArrowheads="1"/>
            </p:cNvSpPr>
            <p:nvPr/>
          </p:nvSpPr>
          <p:spPr bwMode="auto">
            <a:xfrm>
              <a:off x="6418153" y="3749277"/>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20</a:t>
              </a:r>
            </a:p>
          </p:txBody>
        </p:sp>
        <p:sp>
          <p:nvSpPr>
            <p:cNvPr id="246" name="Text Box 87"/>
            <p:cNvSpPr txBox="1">
              <a:spLocks noChangeArrowheads="1"/>
            </p:cNvSpPr>
            <p:nvPr/>
          </p:nvSpPr>
          <p:spPr bwMode="auto">
            <a:xfrm>
              <a:off x="6873153" y="3757688"/>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22</a:t>
              </a:r>
            </a:p>
          </p:txBody>
        </p:sp>
        <p:sp>
          <p:nvSpPr>
            <p:cNvPr id="247" name="Text Box 89"/>
            <p:cNvSpPr txBox="1">
              <a:spLocks noChangeArrowheads="1"/>
            </p:cNvSpPr>
            <p:nvPr/>
          </p:nvSpPr>
          <p:spPr bwMode="auto">
            <a:xfrm>
              <a:off x="1812903" y="3749277"/>
              <a:ext cx="3129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0</a:t>
              </a:r>
            </a:p>
          </p:txBody>
        </p:sp>
        <p:sp>
          <p:nvSpPr>
            <p:cNvPr id="248" name="Text Box 90"/>
            <p:cNvSpPr txBox="1">
              <a:spLocks noChangeArrowheads="1"/>
            </p:cNvSpPr>
            <p:nvPr/>
          </p:nvSpPr>
          <p:spPr bwMode="auto">
            <a:xfrm>
              <a:off x="1647153" y="3591140"/>
              <a:ext cx="3129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0</a:t>
              </a:r>
            </a:p>
          </p:txBody>
        </p:sp>
        <p:sp>
          <p:nvSpPr>
            <p:cNvPr id="250" name="Text Box 92"/>
            <p:cNvSpPr txBox="1">
              <a:spLocks noChangeArrowheads="1"/>
            </p:cNvSpPr>
            <p:nvPr/>
          </p:nvSpPr>
          <p:spPr bwMode="auto">
            <a:xfrm>
              <a:off x="1647153" y="2797088"/>
              <a:ext cx="3129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8</a:t>
              </a:r>
            </a:p>
          </p:txBody>
        </p:sp>
        <p:sp>
          <p:nvSpPr>
            <p:cNvPr id="251" name="Text Box 93"/>
            <p:cNvSpPr txBox="1">
              <a:spLocks noChangeArrowheads="1"/>
            </p:cNvSpPr>
            <p:nvPr/>
          </p:nvSpPr>
          <p:spPr bwMode="auto">
            <a:xfrm>
              <a:off x="1530153" y="2406791"/>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12</a:t>
              </a:r>
            </a:p>
          </p:txBody>
        </p:sp>
        <p:sp>
          <p:nvSpPr>
            <p:cNvPr id="252" name="Text Box 94"/>
            <p:cNvSpPr txBox="1">
              <a:spLocks noChangeArrowheads="1"/>
            </p:cNvSpPr>
            <p:nvPr/>
          </p:nvSpPr>
          <p:spPr bwMode="auto">
            <a:xfrm>
              <a:off x="1530153" y="2016494"/>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16</a:t>
              </a:r>
            </a:p>
          </p:txBody>
        </p:sp>
        <p:sp>
          <p:nvSpPr>
            <p:cNvPr id="253" name="Text Box 95"/>
            <p:cNvSpPr txBox="1">
              <a:spLocks noChangeArrowheads="1"/>
            </p:cNvSpPr>
            <p:nvPr/>
          </p:nvSpPr>
          <p:spPr bwMode="auto">
            <a:xfrm>
              <a:off x="1530153" y="1612739"/>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20</a:t>
              </a:r>
            </a:p>
          </p:txBody>
        </p:sp>
        <p:sp>
          <p:nvSpPr>
            <p:cNvPr id="254" name="Text Box 96"/>
            <p:cNvSpPr txBox="1">
              <a:spLocks noChangeArrowheads="1"/>
            </p:cNvSpPr>
            <p:nvPr/>
          </p:nvSpPr>
          <p:spPr bwMode="auto">
            <a:xfrm>
              <a:off x="1530153" y="1208984"/>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24</a:t>
              </a:r>
            </a:p>
          </p:txBody>
        </p:sp>
        <p:sp>
          <p:nvSpPr>
            <p:cNvPr id="255" name="Oval 102"/>
            <p:cNvSpPr>
              <a:spLocks noChangeArrowheads="1"/>
            </p:cNvSpPr>
            <p:nvPr/>
          </p:nvSpPr>
          <p:spPr bwMode="auto">
            <a:xfrm>
              <a:off x="2573403" y="2960272"/>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56" name="Oval 103"/>
            <p:cNvSpPr>
              <a:spLocks noChangeArrowheads="1"/>
            </p:cNvSpPr>
            <p:nvPr/>
          </p:nvSpPr>
          <p:spPr bwMode="auto">
            <a:xfrm>
              <a:off x="2339403" y="3364027"/>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57" name="Oval 104"/>
            <p:cNvSpPr>
              <a:spLocks noChangeArrowheads="1"/>
            </p:cNvSpPr>
            <p:nvPr/>
          </p:nvSpPr>
          <p:spPr bwMode="auto">
            <a:xfrm>
              <a:off x="1881153" y="3626468"/>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58" name="Oval 105"/>
            <p:cNvSpPr>
              <a:spLocks noChangeArrowheads="1"/>
            </p:cNvSpPr>
            <p:nvPr/>
          </p:nvSpPr>
          <p:spPr bwMode="auto">
            <a:xfrm>
              <a:off x="2095653" y="3555811"/>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59" name="Oval 106"/>
            <p:cNvSpPr>
              <a:spLocks noChangeArrowheads="1"/>
            </p:cNvSpPr>
            <p:nvPr/>
          </p:nvSpPr>
          <p:spPr bwMode="auto">
            <a:xfrm>
              <a:off x="2807403" y="2149397"/>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0" name="Oval 107"/>
            <p:cNvSpPr>
              <a:spLocks noChangeArrowheads="1"/>
            </p:cNvSpPr>
            <p:nvPr/>
          </p:nvSpPr>
          <p:spPr bwMode="auto">
            <a:xfrm>
              <a:off x="3041403" y="2041729"/>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1" name="Oval 108"/>
            <p:cNvSpPr>
              <a:spLocks noChangeArrowheads="1"/>
            </p:cNvSpPr>
            <p:nvPr/>
          </p:nvSpPr>
          <p:spPr bwMode="auto">
            <a:xfrm>
              <a:off x="3275403" y="1945837"/>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2" name="Oval 109"/>
            <p:cNvSpPr>
              <a:spLocks noChangeArrowheads="1"/>
            </p:cNvSpPr>
            <p:nvPr/>
          </p:nvSpPr>
          <p:spPr bwMode="auto">
            <a:xfrm>
              <a:off x="3748277" y="1743960"/>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3" name="Oval 110"/>
            <p:cNvSpPr>
              <a:spLocks noChangeArrowheads="1"/>
            </p:cNvSpPr>
            <p:nvPr/>
          </p:nvSpPr>
          <p:spPr bwMode="auto">
            <a:xfrm>
              <a:off x="3509403" y="1844898"/>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4" name="Oval 113"/>
            <p:cNvSpPr>
              <a:spLocks noChangeArrowheads="1"/>
            </p:cNvSpPr>
            <p:nvPr/>
          </p:nvSpPr>
          <p:spPr bwMode="auto">
            <a:xfrm>
              <a:off x="3982277" y="1643021"/>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5" name="Oval 114"/>
            <p:cNvSpPr>
              <a:spLocks noChangeArrowheads="1"/>
            </p:cNvSpPr>
            <p:nvPr/>
          </p:nvSpPr>
          <p:spPr bwMode="auto">
            <a:xfrm>
              <a:off x="4211403" y="1547128"/>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6" name="Oval 116"/>
            <p:cNvSpPr>
              <a:spLocks noChangeArrowheads="1"/>
            </p:cNvSpPr>
            <p:nvPr/>
          </p:nvSpPr>
          <p:spPr bwMode="auto">
            <a:xfrm>
              <a:off x="4674527" y="1330110"/>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7" name="Oval 117"/>
            <p:cNvSpPr>
              <a:spLocks noChangeArrowheads="1"/>
            </p:cNvSpPr>
            <p:nvPr/>
          </p:nvSpPr>
          <p:spPr bwMode="auto">
            <a:xfrm>
              <a:off x="4445403" y="1431049"/>
              <a:ext cx="91000" cy="94210"/>
            </a:xfrm>
            <a:prstGeom prst="ellipse">
              <a:avLst/>
            </a:prstGeom>
            <a:solidFill>
              <a:srgbClr val="0000FF"/>
            </a:solidFill>
            <a:ln w="2857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8" name="Freeform 118"/>
            <p:cNvSpPr>
              <a:spLocks/>
            </p:cNvSpPr>
            <p:nvPr/>
          </p:nvSpPr>
          <p:spPr bwMode="auto">
            <a:xfrm>
              <a:off x="1842153" y="1385626"/>
              <a:ext cx="2881124" cy="2304769"/>
            </a:xfrm>
            <a:custGeom>
              <a:avLst/>
              <a:gdLst>
                <a:gd name="T0" fmla="*/ 2147483647 w 1773"/>
                <a:gd name="T1" fmla="*/ 0 h 1370"/>
                <a:gd name="T2" fmla="*/ 2147483647 w 1773"/>
                <a:gd name="T3" fmla="*/ 2147483647 h 1370"/>
                <a:gd name="T4" fmla="*/ 2147483647 w 1773"/>
                <a:gd name="T5" fmla="*/ 2147483647 h 1370"/>
                <a:gd name="T6" fmla="*/ 2147483647 w 1773"/>
                <a:gd name="T7" fmla="*/ 2147483647 h 1370"/>
                <a:gd name="T8" fmla="*/ 2147483647 w 1773"/>
                <a:gd name="T9" fmla="*/ 2147483647 h 1370"/>
                <a:gd name="T10" fmla="*/ 2147483647 w 1773"/>
                <a:gd name="T11" fmla="*/ 2147483647 h 1370"/>
                <a:gd name="T12" fmla="*/ 0 60000 65536"/>
                <a:gd name="T13" fmla="*/ 0 60000 65536"/>
                <a:gd name="T14" fmla="*/ 0 60000 65536"/>
                <a:gd name="T15" fmla="*/ 0 60000 65536"/>
                <a:gd name="T16" fmla="*/ 0 60000 65536"/>
                <a:gd name="T17" fmla="*/ 0 60000 65536"/>
                <a:gd name="T18" fmla="*/ 0 w 1773"/>
                <a:gd name="T19" fmla="*/ 0 h 1370"/>
                <a:gd name="T20" fmla="*/ 1773 w 1773"/>
                <a:gd name="T21" fmla="*/ 1370 h 1370"/>
              </a:gdLst>
              <a:ahLst/>
              <a:cxnLst>
                <a:cxn ang="T12">
                  <a:pos x="T0" y="T1"/>
                </a:cxn>
                <a:cxn ang="T13">
                  <a:pos x="T2" y="T3"/>
                </a:cxn>
                <a:cxn ang="T14">
                  <a:pos x="T4" y="T5"/>
                </a:cxn>
                <a:cxn ang="T15">
                  <a:pos x="T6" y="T7"/>
                </a:cxn>
                <a:cxn ang="T16">
                  <a:pos x="T8" y="T9"/>
                </a:cxn>
                <a:cxn ang="T17">
                  <a:pos x="T10" y="T11"/>
                </a:cxn>
              </a:cxnLst>
              <a:rect l="T18" t="T19" r="T20" b="T21"/>
              <a:pathLst>
                <a:path w="1773" h="1370">
                  <a:moveTo>
                    <a:pt x="1773" y="0"/>
                  </a:moveTo>
                  <a:lnTo>
                    <a:pt x="618" y="487"/>
                  </a:lnTo>
                  <a:lnTo>
                    <a:pt x="480" y="961"/>
                  </a:lnTo>
                  <a:lnTo>
                    <a:pt x="331" y="1201"/>
                  </a:lnTo>
                  <a:lnTo>
                    <a:pt x="187" y="1321"/>
                  </a:lnTo>
                  <a:cubicBezTo>
                    <a:pt x="47" y="1370"/>
                    <a:pt x="0" y="1369"/>
                    <a:pt x="55" y="1369"/>
                  </a:cubicBezTo>
                </a:path>
              </a:pathLst>
            </a:custGeom>
            <a:noFill/>
            <a:ln w="28575" cmpd="sng">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9" name="Text Box 134"/>
            <p:cNvSpPr txBox="1">
              <a:spLocks noChangeArrowheads="1"/>
            </p:cNvSpPr>
            <p:nvPr/>
          </p:nvSpPr>
          <p:spPr bwMode="auto">
            <a:xfrm>
              <a:off x="8280402" y="3596186"/>
              <a:ext cx="121699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2000" b="1" i="0" u="none" strike="noStrike" kern="0" cap="none" spc="0" normalizeH="0" baseline="0" noProof="0">
                  <a:ln>
                    <a:noFill/>
                  </a:ln>
                  <a:solidFill>
                    <a:srgbClr val="000000"/>
                  </a:solidFill>
                  <a:effectLst/>
                  <a:uLnTx/>
                  <a:uFillTx/>
                  <a:latin typeface="Times New Roman" pitchFamily="18" charset="0"/>
                  <a:ea typeface="宋体" charset="-122"/>
                </a:rPr>
                <a:t>传输轮次</a:t>
              </a:r>
            </a:p>
          </p:txBody>
        </p:sp>
        <p:sp>
          <p:nvSpPr>
            <p:cNvPr id="270" name="Text Box 135"/>
            <p:cNvSpPr txBox="1">
              <a:spLocks noChangeArrowheads="1"/>
            </p:cNvSpPr>
            <p:nvPr/>
          </p:nvSpPr>
          <p:spPr bwMode="auto">
            <a:xfrm>
              <a:off x="966278" y="836711"/>
              <a:ext cx="193033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2000" b="1" i="0" u="none" strike="noStrike" kern="0" cap="none" spc="0" normalizeH="0" baseline="0" noProof="0" dirty="0">
                  <a:ln>
                    <a:noFill/>
                  </a:ln>
                  <a:solidFill>
                    <a:srgbClr val="000000"/>
                  </a:solidFill>
                  <a:effectLst/>
                  <a:uLnTx/>
                  <a:uFillTx/>
                  <a:latin typeface="Times New Roman" pitchFamily="18" charset="0"/>
                  <a:ea typeface="宋体" charset="-122"/>
                </a:rPr>
                <a:t>拥塞窗口  </a:t>
              </a:r>
              <a:r>
                <a:rPr kumimoji="1" lang="en-US" altLang="zh-CN" sz="2000" b="1" i="0" u="none" strike="noStrike" kern="0" cap="none" spc="0" normalizeH="0" baseline="0" noProof="0" dirty="0" err="1">
                  <a:ln>
                    <a:noFill/>
                  </a:ln>
                  <a:solidFill>
                    <a:srgbClr val="000000"/>
                  </a:solidFill>
                  <a:effectLst/>
                  <a:uLnTx/>
                  <a:uFillTx/>
                  <a:latin typeface="Times New Roman" pitchFamily="18" charset="0"/>
                  <a:ea typeface="宋体" charset="-122"/>
                </a:rPr>
                <a:t>cwnd</a:t>
              </a:r>
              <a:endParaRPr kumimoji="1" lang="en-US" altLang="zh-CN" sz="2000" b="1" i="0" u="none" strike="noStrike" kern="0" cap="none" spc="0" normalizeH="0" baseline="0" noProof="0" dirty="0">
                <a:ln>
                  <a:noFill/>
                </a:ln>
                <a:solidFill>
                  <a:srgbClr val="000000"/>
                </a:solidFill>
                <a:effectLst/>
                <a:uLnTx/>
                <a:uFillTx/>
                <a:latin typeface="Times New Roman" pitchFamily="18" charset="0"/>
                <a:ea typeface="宋体" charset="-122"/>
              </a:endParaRPr>
            </a:p>
          </p:txBody>
        </p:sp>
        <p:sp>
          <p:nvSpPr>
            <p:cNvPr id="271" name="Text Box 140"/>
            <p:cNvSpPr txBox="1">
              <a:spLocks noChangeArrowheads="1"/>
            </p:cNvSpPr>
            <p:nvPr/>
          </p:nvSpPr>
          <p:spPr bwMode="auto">
            <a:xfrm>
              <a:off x="7049973" y="1815231"/>
              <a:ext cx="118137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dirty="0">
                  <a:ln>
                    <a:noFill/>
                  </a:ln>
                  <a:solidFill>
                    <a:srgbClr val="FF0000"/>
                  </a:solidFill>
                  <a:effectLst/>
                  <a:uLnTx/>
                  <a:uFillTx/>
                  <a:latin typeface="Times New Roman" pitchFamily="18" charset="0"/>
                  <a:ea typeface="宋体" charset="-122"/>
                </a:rPr>
                <a:t>3-ACK</a:t>
              </a:r>
              <a:endParaRPr kumimoji="1" lang="zh-CN" altLang="en-US" sz="2000" b="1" i="0" u="none" strike="noStrike" kern="0" cap="none" spc="0" normalizeH="0" baseline="0" noProof="0" dirty="0">
                <a:ln>
                  <a:noFill/>
                </a:ln>
                <a:solidFill>
                  <a:srgbClr val="FF0000"/>
                </a:solidFill>
                <a:effectLst/>
                <a:uLnTx/>
                <a:uFillTx/>
                <a:latin typeface="Times New Roman" pitchFamily="18" charset="0"/>
                <a:ea typeface="宋体" charset="-122"/>
              </a:endParaRPr>
            </a:p>
          </p:txBody>
        </p:sp>
        <p:sp>
          <p:nvSpPr>
            <p:cNvPr id="272" name="Rectangle 160"/>
            <p:cNvSpPr>
              <a:spLocks noChangeArrowheads="1"/>
            </p:cNvSpPr>
            <p:nvPr/>
          </p:nvSpPr>
          <p:spPr bwMode="auto">
            <a:xfrm>
              <a:off x="1998153" y="1304875"/>
              <a:ext cx="195000" cy="215336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73" name="Line 156"/>
            <p:cNvSpPr>
              <a:spLocks noChangeShapeType="1"/>
            </p:cNvSpPr>
            <p:nvPr/>
          </p:nvSpPr>
          <p:spPr bwMode="auto">
            <a:xfrm>
              <a:off x="1998153" y="2193137"/>
              <a:ext cx="858000" cy="0"/>
            </a:xfrm>
            <a:prstGeom prst="line">
              <a:avLst/>
            </a:prstGeom>
            <a:noFill/>
            <a:ln w="1905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74" name="Line 146"/>
            <p:cNvSpPr>
              <a:spLocks noChangeShapeType="1"/>
            </p:cNvSpPr>
            <p:nvPr/>
          </p:nvSpPr>
          <p:spPr bwMode="auto">
            <a:xfrm flipV="1">
              <a:off x="1998153" y="1378897"/>
              <a:ext cx="2743000" cy="6729"/>
            </a:xfrm>
            <a:prstGeom prst="line">
              <a:avLst/>
            </a:prstGeom>
            <a:noFill/>
            <a:ln w="1905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75" name="Rectangle 162"/>
            <p:cNvSpPr>
              <a:spLocks noChangeArrowheads="1"/>
            </p:cNvSpPr>
            <p:nvPr/>
          </p:nvSpPr>
          <p:spPr bwMode="auto">
            <a:xfrm>
              <a:off x="5352153" y="3565904"/>
              <a:ext cx="1480374" cy="1615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77" name="Text Box 203"/>
            <p:cNvSpPr txBox="1">
              <a:spLocks noChangeArrowheads="1"/>
            </p:cNvSpPr>
            <p:nvPr/>
          </p:nvSpPr>
          <p:spPr bwMode="auto">
            <a:xfrm>
              <a:off x="8170649" y="1977696"/>
              <a:ext cx="1638589"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b="1" i="0" u="none" strike="noStrike" kern="0" cap="none" spc="0" normalizeH="0" baseline="0" noProof="0" dirty="0">
                  <a:ln>
                    <a:noFill/>
                  </a:ln>
                  <a:solidFill>
                    <a:srgbClr val="0000FF"/>
                  </a:solidFill>
                  <a:effectLst/>
                  <a:uLnTx/>
                  <a:uFillTx/>
                  <a:latin typeface="Times New Roman" pitchFamily="18" charset="0"/>
                  <a:ea typeface="宋体" charset="-122"/>
                </a:rPr>
                <a:t>TCP Reno </a:t>
              </a:r>
            </a:p>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b="1" i="0" u="none" strike="noStrike" kern="0" cap="none" spc="0" normalizeH="0" baseline="0" noProof="0" dirty="0">
                  <a:ln>
                    <a:noFill/>
                  </a:ln>
                  <a:solidFill>
                    <a:srgbClr val="0000FF"/>
                  </a:solidFill>
                  <a:effectLst/>
                  <a:uLnTx/>
                  <a:uFillTx/>
                  <a:latin typeface="Times New Roman" pitchFamily="18" charset="0"/>
                  <a:ea typeface="宋体" charset="-122"/>
                </a:rPr>
                <a:t>版本</a:t>
              </a:r>
            </a:p>
          </p:txBody>
        </p:sp>
        <p:sp>
          <p:nvSpPr>
            <p:cNvPr id="278" name="Text Box 205"/>
            <p:cNvSpPr txBox="1">
              <a:spLocks noChangeArrowheads="1"/>
            </p:cNvSpPr>
            <p:nvPr/>
          </p:nvSpPr>
          <p:spPr bwMode="auto">
            <a:xfrm>
              <a:off x="272479" y="1918920"/>
              <a:ext cx="128112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dirty="0" err="1">
                  <a:ln>
                    <a:noFill/>
                  </a:ln>
                  <a:solidFill>
                    <a:srgbClr val="C00000"/>
                  </a:solidFill>
                  <a:effectLst/>
                  <a:uLnTx/>
                  <a:uFillTx/>
                  <a:latin typeface="Times New Roman" pitchFamily="18" charset="0"/>
                  <a:ea typeface="宋体" charset="-122"/>
                </a:rPr>
                <a:t>ssthresh</a:t>
              </a:r>
              <a:endParaRPr kumimoji="1" lang="en-US" altLang="zh-CN" sz="2000" b="1" i="0" u="none" strike="noStrike" kern="0" cap="none" spc="0" normalizeH="0" baseline="0" noProof="0" dirty="0">
                <a:ln>
                  <a:noFill/>
                </a:ln>
                <a:solidFill>
                  <a:srgbClr val="C00000"/>
                </a:solidFill>
                <a:effectLst/>
                <a:uLnTx/>
                <a:uFillTx/>
                <a:latin typeface="Times New Roman" pitchFamily="18" charset="0"/>
                <a:ea typeface="宋体" charset="-122"/>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2000" b="1" i="0" u="none" strike="noStrike" kern="0" cap="none" spc="0" normalizeH="0" baseline="0" noProof="0" dirty="0">
                  <a:ln>
                    <a:noFill/>
                  </a:ln>
                  <a:solidFill>
                    <a:srgbClr val="C00000"/>
                  </a:solidFill>
                  <a:effectLst/>
                  <a:uLnTx/>
                  <a:uFillTx/>
                  <a:latin typeface="Times New Roman" pitchFamily="18" charset="0"/>
                  <a:ea typeface="宋体" charset="-122"/>
                </a:rPr>
                <a:t> 的初始值</a:t>
              </a:r>
            </a:p>
          </p:txBody>
        </p:sp>
        <p:sp>
          <p:nvSpPr>
            <p:cNvPr id="280" name="Line 215"/>
            <p:cNvSpPr>
              <a:spLocks noChangeShapeType="1"/>
            </p:cNvSpPr>
            <p:nvPr/>
          </p:nvSpPr>
          <p:spPr bwMode="auto">
            <a:xfrm flipV="1">
              <a:off x="1413153" y="2223418"/>
              <a:ext cx="219374" cy="0"/>
            </a:xfrm>
            <a:prstGeom prst="line">
              <a:avLst/>
            </a:prstGeom>
            <a:noFill/>
            <a:ln w="19050">
              <a:solidFill>
                <a:srgbClr val="C00000"/>
              </a:solidFill>
              <a:round/>
              <a:headEnd/>
              <a:tailEnd type="triangle" w="sm"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81" name="Text Box 206"/>
            <p:cNvSpPr txBox="1">
              <a:spLocks noChangeArrowheads="1"/>
            </p:cNvSpPr>
            <p:nvPr/>
          </p:nvSpPr>
          <p:spPr bwMode="auto">
            <a:xfrm rot="20245475">
              <a:off x="6948778" y="2393474"/>
              <a:ext cx="121699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2000" b="1" i="0" u="none" strike="noStrike" kern="0" cap="none" spc="0" normalizeH="0" baseline="0" noProof="0">
                  <a:ln>
                    <a:noFill/>
                  </a:ln>
                  <a:solidFill>
                    <a:srgbClr val="000000"/>
                  </a:solidFill>
                  <a:effectLst/>
                  <a:uLnTx/>
                  <a:uFillTx/>
                  <a:latin typeface="Times New Roman" pitchFamily="18" charset="0"/>
                  <a:ea typeface="宋体" charset="-122"/>
                </a:rPr>
                <a:t>拥塞避免</a:t>
              </a:r>
            </a:p>
          </p:txBody>
        </p:sp>
        <p:sp>
          <p:nvSpPr>
            <p:cNvPr id="282" name="Oval 125"/>
            <p:cNvSpPr>
              <a:spLocks noChangeArrowheads="1"/>
            </p:cNvSpPr>
            <p:nvPr/>
          </p:nvSpPr>
          <p:spPr bwMode="auto">
            <a:xfrm>
              <a:off x="5147403" y="3540670"/>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83" name="Oval 126"/>
            <p:cNvSpPr>
              <a:spLocks noChangeArrowheads="1"/>
            </p:cNvSpPr>
            <p:nvPr/>
          </p:nvSpPr>
          <p:spPr bwMode="auto">
            <a:xfrm>
              <a:off x="5383027" y="3343839"/>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84" name="Oval 127"/>
            <p:cNvSpPr>
              <a:spLocks noChangeArrowheads="1"/>
            </p:cNvSpPr>
            <p:nvPr/>
          </p:nvSpPr>
          <p:spPr bwMode="auto">
            <a:xfrm>
              <a:off x="4903653" y="3616374"/>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85" name="Oval 128"/>
            <p:cNvSpPr>
              <a:spLocks noChangeArrowheads="1"/>
            </p:cNvSpPr>
            <p:nvPr/>
          </p:nvSpPr>
          <p:spPr bwMode="auto">
            <a:xfrm>
              <a:off x="5623527" y="2953542"/>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86" name="Oval 129"/>
            <p:cNvSpPr>
              <a:spLocks noChangeArrowheads="1"/>
            </p:cNvSpPr>
            <p:nvPr/>
          </p:nvSpPr>
          <p:spPr bwMode="auto">
            <a:xfrm>
              <a:off x="6106153" y="2440437"/>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87" name="Oval 130"/>
            <p:cNvSpPr>
              <a:spLocks noChangeArrowheads="1"/>
            </p:cNvSpPr>
            <p:nvPr/>
          </p:nvSpPr>
          <p:spPr bwMode="auto">
            <a:xfrm>
              <a:off x="6795153" y="2147715"/>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88" name="Oval 131"/>
            <p:cNvSpPr>
              <a:spLocks noChangeArrowheads="1"/>
            </p:cNvSpPr>
            <p:nvPr/>
          </p:nvSpPr>
          <p:spPr bwMode="auto">
            <a:xfrm>
              <a:off x="6335277" y="2334451"/>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89" name="Oval 132"/>
            <p:cNvSpPr>
              <a:spLocks noChangeArrowheads="1"/>
            </p:cNvSpPr>
            <p:nvPr/>
          </p:nvSpPr>
          <p:spPr bwMode="auto">
            <a:xfrm>
              <a:off x="6569277" y="2238560"/>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90" name="Line 147"/>
            <p:cNvSpPr>
              <a:spLocks noChangeShapeType="1"/>
            </p:cNvSpPr>
            <p:nvPr/>
          </p:nvSpPr>
          <p:spPr bwMode="auto">
            <a:xfrm rot="10800000">
              <a:off x="2016028" y="2595210"/>
              <a:ext cx="4134000" cy="0"/>
            </a:xfrm>
            <a:prstGeom prst="line">
              <a:avLst/>
            </a:prstGeom>
            <a:noFill/>
            <a:ln w="1905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cxnSp>
          <p:nvCxnSpPr>
            <p:cNvPr id="291" name="直接连接符 115"/>
            <p:cNvCxnSpPr>
              <a:cxnSpLocks noChangeShapeType="1"/>
            </p:cNvCxnSpPr>
            <p:nvPr/>
          </p:nvCxnSpPr>
          <p:spPr bwMode="auto">
            <a:xfrm>
              <a:off x="4728153" y="1375532"/>
              <a:ext cx="234000" cy="2266077"/>
            </a:xfrm>
            <a:prstGeom prst="line">
              <a:avLst/>
            </a:prstGeom>
            <a:noFill/>
            <a:ln w="28575" algn="ctr">
              <a:solidFill>
                <a:srgbClr val="0000FF"/>
              </a:solidFill>
              <a:round/>
              <a:headEnd/>
              <a:tailEnd/>
            </a:ln>
            <a:extLst>
              <a:ext uri="{909E8E84-426E-40DD-AFC4-6F175D3DCCD1}">
                <a14:hiddenFill xmlns:a14="http://schemas.microsoft.com/office/drawing/2010/main">
                  <a:noFill/>
                </a14:hiddenFill>
              </a:ext>
            </a:extLst>
          </p:spPr>
        </p:cxnSp>
        <p:sp>
          <p:nvSpPr>
            <p:cNvPr id="293" name="Rectangle 161"/>
            <p:cNvSpPr>
              <a:spLocks noChangeArrowheads="1"/>
            </p:cNvSpPr>
            <p:nvPr/>
          </p:nvSpPr>
          <p:spPr bwMode="auto">
            <a:xfrm>
              <a:off x="2555757" y="1801158"/>
              <a:ext cx="442000" cy="3684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800" b="1" i="0" u="none" strike="noStrike" kern="0" cap="none" spc="0" normalizeH="0" baseline="0" noProof="0" dirty="0">
                  <a:ln>
                    <a:noFill/>
                  </a:ln>
                  <a:solidFill>
                    <a:sysClr val="windowText" lastClr="000000"/>
                  </a:solidFill>
                  <a:effectLst/>
                  <a:uLnTx/>
                  <a:uFillTx/>
                  <a:sym typeface="Wingdings" pitchFamily="2" charset="2"/>
                </a:rPr>
                <a:t></a:t>
              </a:r>
              <a:endParaRPr kumimoji="0" lang="zh-CN" altLang="en-US" sz="2800" b="1" i="0" u="none" strike="noStrike" kern="0" cap="none" spc="0" normalizeH="0" baseline="0" noProof="0" dirty="0">
                <a:ln>
                  <a:noFill/>
                </a:ln>
                <a:solidFill>
                  <a:sysClr val="windowText" lastClr="000000"/>
                </a:solidFill>
                <a:effectLst/>
                <a:uLnTx/>
                <a:uFillTx/>
              </a:endParaRPr>
            </a:p>
          </p:txBody>
        </p:sp>
        <p:sp>
          <p:nvSpPr>
            <p:cNvPr id="294" name="Oval 129"/>
            <p:cNvSpPr>
              <a:spLocks noChangeArrowheads="1"/>
            </p:cNvSpPr>
            <p:nvPr/>
          </p:nvSpPr>
          <p:spPr bwMode="auto">
            <a:xfrm>
              <a:off x="5868903" y="2549787"/>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95" name="任意多边形 134"/>
            <p:cNvSpPr>
              <a:spLocks/>
            </p:cNvSpPr>
            <p:nvPr/>
          </p:nvSpPr>
          <p:spPr bwMode="auto">
            <a:xfrm>
              <a:off x="4952403" y="2181361"/>
              <a:ext cx="1906124" cy="1485482"/>
            </a:xfrm>
            <a:custGeom>
              <a:avLst/>
              <a:gdLst>
                <a:gd name="T0" fmla="*/ 0 w 1929384"/>
                <a:gd name="T1" fmla="*/ 1404281 h 1426464"/>
                <a:gd name="T2" fmla="*/ 224888 w 1929384"/>
                <a:gd name="T3" fmla="*/ 1336767 h 1426464"/>
                <a:gd name="T4" fmla="*/ 445365 w 1929384"/>
                <a:gd name="T5" fmla="*/ 1152231 h 1426464"/>
                <a:gd name="T6" fmla="*/ 903959 w 1929384"/>
                <a:gd name="T7" fmla="*/ 409583 h 1426464"/>
                <a:gd name="T8" fmla="*/ 1860836 w 1929384"/>
                <a:gd name="T9" fmla="*/ 0 h 1426464"/>
                <a:gd name="T10" fmla="*/ 0 60000 65536"/>
                <a:gd name="T11" fmla="*/ 0 60000 65536"/>
                <a:gd name="T12" fmla="*/ 0 60000 65536"/>
                <a:gd name="T13" fmla="*/ 0 60000 65536"/>
                <a:gd name="T14" fmla="*/ 0 60000 65536"/>
                <a:gd name="T15" fmla="*/ 0 w 1929384"/>
                <a:gd name="T16" fmla="*/ 0 h 1426464"/>
                <a:gd name="T17" fmla="*/ 1929384 w 1929384"/>
                <a:gd name="T18" fmla="*/ 1426464 h 1426464"/>
              </a:gdLst>
              <a:ahLst/>
              <a:cxnLst>
                <a:cxn ang="T10">
                  <a:pos x="T0" y="T1"/>
                </a:cxn>
                <a:cxn ang="T11">
                  <a:pos x="T2" y="T3"/>
                </a:cxn>
                <a:cxn ang="T12">
                  <a:pos x="T4" y="T5"/>
                </a:cxn>
                <a:cxn ang="T13">
                  <a:pos x="T6" y="T7"/>
                </a:cxn>
                <a:cxn ang="T14">
                  <a:pos x="T8" y="T9"/>
                </a:cxn>
              </a:cxnLst>
              <a:rect l="T15" t="T16" r="T17" b="T18"/>
              <a:pathLst>
                <a:path w="1929384" h="1426464">
                  <a:moveTo>
                    <a:pt x="0" y="1426464"/>
                  </a:moveTo>
                  <a:lnTo>
                    <a:pt x="233172" y="1357884"/>
                  </a:lnTo>
                  <a:lnTo>
                    <a:pt x="461772" y="1170432"/>
                  </a:lnTo>
                  <a:lnTo>
                    <a:pt x="937260" y="416052"/>
                  </a:lnTo>
                  <a:lnTo>
                    <a:pt x="1929384" y="0"/>
                  </a:lnTo>
                </a:path>
              </a:pathLst>
            </a:custGeom>
            <a:noFill/>
            <a:ln w="28575" cap="flat" cmpd="sng" algn="ctr">
              <a:solidFill>
                <a:srgbClr val="0000FF"/>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96" name="Rectangle 161"/>
            <p:cNvSpPr>
              <a:spLocks noChangeArrowheads="1"/>
            </p:cNvSpPr>
            <p:nvPr/>
          </p:nvSpPr>
          <p:spPr bwMode="auto">
            <a:xfrm>
              <a:off x="4545899" y="1021117"/>
              <a:ext cx="367250" cy="30618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800" b="1" i="0" u="none" strike="noStrike" kern="0" cap="none" spc="0" normalizeH="0" baseline="0" noProof="0" dirty="0">
                  <a:ln>
                    <a:noFill/>
                  </a:ln>
                  <a:solidFill>
                    <a:sysClr val="windowText" lastClr="000000"/>
                  </a:solidFill>
                  <a:effectLst/>
                  <a:uLnTx/>
                  <a:uFillTx/>
                  <a:sym typeface="Wingdings" pitchFamily="2" charset="2"/>
                </a:rPr>
                <a:t></a:t>
              </a:r>
              <a:endParaRPr kumimoji="0" lang="zh-CN" altLang="en-US" sz="2800" b="1" i="0" u="none" strike="noStrike" kern="0" cap="none" spc="0" normalizeH="0" baseline="0" noProof="0" dirty="0">
                <a:ln>
                  <a:noFill/>
                </a:ln>
                <a:solidFill>
                  <a:sysClr val="windowText" lastClr="000000"/>
                </a:solidFill>
                <a:effectLst/>
                <a:uLnTx/>
                <a:uFillTx/>
              </a:endParaRPr>
            </a:p>
          </p:txBody>
        </p:sp>
        <p:cxnSp>
          <p:nvCxnSpPr>
            <p:cNvPr id="297" name="直接连接符 119"/>
            <p:cNvCxnSpPr>
              <a:cxnSpLocks noChangeShapeType="1"/>
            </p:cNvCxnSpPr>
            <p:nvPr/>
          </p:nvCxnSpPr>
          <p:spPr bwMode="auto">
            <a:xfrm flipH="1">
              <a:off x="7064902" y="3022518"/>
              <a:ext cx="1624" cy="694795"/>
            </a:xfrm>
            <a:prstGeom prst="line">
              <a:avLst/>
            </a:prstGeom>
            <a:noFill/>
            <a:ln w="19050" algn="ctr">
              <a:solidFill>
                <a:srgbClr val="000000"/>
              </a:solidFill>
              <a:prstDash val="dash"/>
              <a:round/>
              <a:headEnd/>
              <a:tailEnd/>
            </a:ln>
          </p:spPr>
        </p:cxnSp>
        <p:cxnSp>
          <p:nvCxnSpPr>
            <p:cNvPr id="298" name="直接连接符 121"/>
            <p:cNvCxnSpPr>
              <a:cxnSpLocks noChangeShapeType="1"/>
            </p:cNvCxnSpPr>
            <p:nvPr/>
          </p:nvCxnSpPr>
          <p:spPr bwMode="auto">
            <a:xfrm>
              <a:off x="2032278" y="3005695"/>
              <a:ext cx="5676125" cy="0"/>
            </a:xfrm>
            <a:prstGeom prst="line">
              <a:avLst/>
            </a:prstGeom>
            <a:noFill/>
            <a:ln w="19050" algn="ctr">
              <a:solidFill>
                <a:srgbClr val="000000"/>
              </a:solidFill>
              <a:prstDash val="dash"/>
              <a:round/>
              <a:headEnd/>
              <a:tailEnd/>
            </a:ln>
          </p:spPr>
        </p:cxnSp>
        <p:sp>
          <p:nvSpPr>
            <p:cNvPr id="299" name="Oval 130"/>
            <p:cNvSpPr>
              <a:spLocks noChangeArrowheads="1"/>
            </p:cNvSpPr>
            <p:nvPr/>
          </p:nvSpPr>
          <p:spPr bwMode="auto">
            <a:xfrm>
              <a:off x="7021027" y="2961955"/>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300" name="Line 24"/>
            <p:cNvSpPr>
              <a:spLocks noChangeShapeType="1"/>
            </p:cNvSpPr>
            <p:nvPr/>
          </p:nvSpPr>
          <p:spPr bwMode="auto">
            <a:xfrm>
              <a:off x="7532902" y="363992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301" name="Line 22"/>
            <p:cNvSpPr>
              <a:spLocks noChangeShapeType="1"/>
            </p:cNvSpPr>
            <p:nvPr/>
          </p:nvSpPr>
          <p:spPr bwMode="auto">
            <a:xfrm>
              <a:off x="7295652" y="3644974"/>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302" name="Text Box 87"/>
            <p:cNvSpPr txBox="1">
              <a:spLocks noChangeArrowheads="1"/>
            </p:cNvSpPr>
            <p:nvPr/>
          </p:nvSpPr>
          <p:spPr bwMode="auto">
            <a:xfrm>
              <a:off x="7311902" y="3754324"/>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24</a:t>
              </a:r>
            </a:p>
          </p:txBody>
        </p:sp>
        <p:sp>
          <p:nvSpPr>
            <p:cNvPr id="303" name="Line 22"/>
            <p:cNvSpPr>
              <a:spLocks noChangeShapeType="1"/>
            </p:cNvSpPr>
            <p:nvPr/>
          </p:nvSpPr>
          <p:spPr bwMode="auto">
            <a:xfrm>
              <a:off x="7776652" y="3653385"/>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cxnSp>
          <p:nvCxnSpPr>
            <p:cNvPr id="304" name="直接连接符 134"/>
            <p:cNvCxnSpPr>
              <a:cxnSpLocks noChangeShapeType="1"/>
              <a:stCxn id="295" idx="4"/>
              <a:endCxn id="299" idx="3"/>
            </p:cNvCxnSpPr>
            <p:nvPr/>
          </p:nvCxnSpPr>
          <p:spPr bwMode="auto">
            <a:xfrm>
              <a:off x="6856903" y="2181361"/>
              <a:ext cx="204750" cy="832745"/>
            </a:xfrm>
            <a:prstGeom prst="line">
              <a:avLst/>
            </a:prstGeom>
            <a:noFill/>
            <a:ln w="28575" algn="ctr">
              <a:solidFill>
                <a:srgbClr val="0000FF"/>
              </a:solidFill>
              <a:round/>
              <a:headEnd/>
              <a:tailEnd/>
            </a:ln>
          </p:spPr>
        </p:cxnSp>
        <p:sp>
          <p:nvSpPr>
            <p:cNvPr id="305" name="Text Box 206"/>
            <p:cNvSpPr txBox="1">
              <a:spLocks noChangeArrowheads="1"/>
            </p:cNvSpPr>
            <p:nvPr/>
          </p:nvSpPr>
          <p:spPr bwMode="auto">
            <a:xfrm rot="20070649">
              <a:off x="5809549" y="2010746"/>
              <a:ext cx="111440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800" b="1" i="0" u="none" strike="noStrike" kern="0" cap="none" spc="0" normalizeH="0" baseline="0" noProof="0" dirty="0">
                  <a:ln>
                    <a:noFill/>
                  </a:ln>
                  <a:solidFill>
                    <a:srgbClr val="000000"/>
                  </a:solidFill>
                  <a:effectLst/>
                  <a:uLnTx/>
                  <a:uFillTx/>
                  <a:latin typeface="Times New Roman" pitchFamily="18" charset="0"/>
                  <a:ea typeface="宋体" charset="-122"/>
                </a:rPr>
                <a:t>拥塞避免</a:t>
              </a:r>
            </a:p>
          </p:txBody>
        </p:sp>
        <p:sp>
          <p:nvSpPr>
            <p:cNvPr id="306" name="Text Box 206"/>
            <p:cNvSpPr txBox="1">
              <a:spLocks noChangeArrowheads="1"/>
            </p:cNvSpPr>
            <p:nvPr/>
          </p:nvSpPr>
          <p:spPr bwMode="auto">
            <a:xfrm rot="20205303">
              <a:off x="2990278" y="1471566"/>
              <a:ext cx="121699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2000" b="1" i="0" u="none" strike="noStrike" kern="0" cap="none" spc="0" normalizeH="0" baseline="0" noProof="0">
                  <a:ln>
                    <a:noFill/>
                  </a:ln>
                  <a:solidFill>
                    <a:srgbClr val="000000"/>
                  </a:solidFill>
                  <a:effectLst/>
                  <a:uLnTx/>
                  <a:uFillTx/>
                  <a:latin typeface="Times New Roman" pitchFamily="18" charset="0"/>
                  <a:ea typeface="宋体" charset="-122"/>
                </a:rPr>
                <a:t>拥塞避免</a:t>
              </a:r>
            </a:p>
          </p:txBody>
        </p:sp>
        <p:sp>
          <p:nvSpPr>
            <p:cNvPr id="307" name="TextBox 147"/>
            <p:cNvSpPr txBox="1">
              <a:spLocks noChangeArrowheads="1"/>
            </p:cNvSpPr>
            <p:nvPr/>
          </p:nvSpPr>
          <p:spPr bwMode="auto">
            <a:xfrm>
              <a:off x="5542277" y="2191455"/>
              <a:ext cx="50526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2800" b="1" i="0" u="none" strike="noStrike" kern="0" cap="none" spc="0" normalizeH="0" baseline="0" noProof="0" dirty="0">
                  <a:ln>
                    <a:noFill/>
                  </a:ln>
                  <a:solidFill>
                    <a:srgbClr val="000000"/>
                  </a:solidFill>
                  <a:effectLst/>
                  <a:uLnTx/>
                  <a:uFillTx/>
                  <a:latin typeface="Times New Roman" pitchFamily="18" charset="0"/>
                  <a:ea typeface="宋体" charset="-122"/>
                  <a:sym typeface="Wingdings" pitchFamily="2" charset="2"/>
                </a:rPr>
                <a:t></a:t>
              </a:r>
              <a:endParaRPr kumimoji="1" lang="zh-CN" altLang="en-US" sz="2800" b="1" i="0" u="none" strike="noStrike" kern="0" cap="none" spc="0" normalizeH="0" baseline="0" noProof="0" dirty="0">
                <a:ln>
                  <a:noFill/>
                </a:ln>
                <a:solidFill>
                  <a:srgbClr val="000000"/>
                </a:solidFill>
                <a:effectLst/>
                <a:uLnTx/>
                <a:uFillTx/>
                <a:latin typeface="Times New Roman" pitchFamily="18" charset="0"/>
                <a:ea typeface="宋体" charset="-122"/>
              </a:endParaRPr>
            </a:p>
          </p:txBody>
        </p:sp>
        <p:sp>
          <p:nvSpPr>
            <p:cNvPr id="308" name="矩形 150"/>
            <p:cNvSpPr>
              <a:spLocks noChangeArrowheads="1"/>
            </p:cNvSpPr>
            <p:nvPr/>
          </p:nvSpPr>
          <p:spPr bwMode="auto">
            <a:xfrm>
              <a:off x="2298778" y="3596186"/>
              <a:ext cx="2575625" cy="126174"/>
            </a:xfrm>
            <a:prstGeom prst="rect">
              <a:avLst/>
            </a:prstGeom>
            <a:solidFill>
              <a:srgbClr val="FFFFFF"/>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309" name="TextBox 148"/>
            <p:cNvSpPr txBox="1">
              <a:spLocks noChangeArrowheads="1"/>
            </p:cNvSpPr>
            <p:nvPr/>
          </p:nvSpPr>
          <p:spPr bwMode="auto">
            <a:xfrm>
              <a:off x="6720403" y="1765829"/>
              <a:ext cx="50526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2800" b="1" i="0" u="none" strike="noStrike" kern="0" cap="none" spc="0" normalizeH="0" baseline="0" noProof="0">
                  <a:ln>
                    <a:noFill/>
                  </a:ln>
                  <a:solidFill>
                    <a:srgbClr val="000000"/>
                  </a:solidFill>
                  <a:effectLst/>
                  <a:uLnTx/>
                  <a:uFillTx/>
                  <a:latin typeface="Times New Roman" pitchFamily="18" charset="0"/>
                  <a:ea typeface="宋体" charset="-122"/>
                  <a:sym typeface="Wingdings" pitchFamily="2" charset="2"/>
                </a:rPr>
                <a:t></a:t>
              </a:r>
              <a:endParaRPr kumimoji="1" lang="zh-CN" altLang="en-US" sz="2800" b="1" i="0" u="none" strike="noStrike" kern="0" cap="none" spc="0" normalizeH="0" baseline="0" noProof="0">
                <a:ln>
                  <a:noFill/>
                </a:ln>
                <a:solidFill>
                  <a:srgbClr val="000000"/>
                </a:solidFill>
                <a:effectLst/>
                <a:uLnTx/>
                <a:uFillTx/>
                <a:latin typeface="Times New Roman" pitchFamily="18" charset="0"/>
                <a:ea typeface="宋体" charset="-122"/>
              </a:endParaRPr>
            </a:p>
          </p:txBody>
        </p:sp>
        <p:sp>
          <p:nvSpPr>
            <p:cNvPr id="311" name="矩形 151"/>
            <p:cNvSpPr>
              <a:spLocks noChangeArrowheads="1"/>
            </p:cNvSpPr>
            <p:nvPr/>
          </p:nvSpPr>
          <p:spPr bwMode="auto">
            <a:xfrm>
              <a:off x="7237152" y="3596186"/>
              <a:ext cx="607750" cy="114397"/>
            </a:xfrm>
            <a:prstGeom prst="rect">
              <a:avLst/>
            </a:prstGeom>
            <a:solidFill>
              <a:srgbClr val="FFFFFF"/>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cxnSp>
          <p:nvCxnSpPr>
            <p:cNvPr id="312" name="直接连接符 153"/>
            <p:cNvCxnSpPr>
              <a:cxnSpLocks noChangeShapeType="1"/>
            </p:cNvCxnSpPr>
            <p:nvPr/>
          </p:nvCxnSpPr>
          <p:spPr bwMode="auto">
            <a:xfrm flipV="1">
              <a:off x="5903027" y="2630538"/>
              <a:ext cx="11376" cy="1043034"/>
            </a:xfrm>
            <a:prstGeom prst="line">
              <a:avLst/>
            </a:prstGeom>
            <a:noFill/>
            <a:ln w="19050" algn="ctr">
              <a:solidFill>
                <a:srgbClr val="000000"/>
              </a:solidFill>
              <a:prstDash val="dash"/>
              <a:round/>
              <a:headEnd/>
              <a:tailEnd/>
            </a:ln>
          </p:spPr>
        </p:cxnSp>
        <p:cxnSp>
          <p:nvCxnSpPr>
            <p:cNvPr id="313" name="直接连接符 157"/>
            <p:cNvCxnSpPr>
              <a:cxnSpLocks noChangeShapeType="1"/>
            </p:cNvCxnSpPr>
            <p:nvPr/>
          </p:nvCxnSpPr>
          <p:spPr bwMode="auto">
            <a:xfrm flipV="1">
              <a:off x="6832527" y="2253700"/>
              <a:ext cx="11376" cy="1520811"/>
            </a:xfrm>
            <a:prstGeom prst="line">
              <a:avLst/>
            </a:prstGeom>
            <a:noFill/>
            <a:ln w="19050" algn="ctr">
              <a:solidFill>
                <a:srgbClr val="000000"/>
              </a:solidFill>
              <a:prstDash val="dash"/>
              <a:round/>
              <a:headEnd/>
              <a:tailEnd/>
            </a:ln>
          </p:spPr>
        </p:cxnSp>
        <p:cxnSp>
          <p:nvCxnSpPr>
            <p:cNvPr id="314" name="直接连接符 141"/>
            <p:cNvCxnSpPr>
              <a:cxnSpLocks noChangeShapeType="1"/>
            </p:cNvCxnSpPr>
            <p:nvPr/>
          </p:nvCxnSpPr>
          <p:spPr bwMode="auto">
            <a:xfrm flipV="1">
              <a:off x="7001527" y="2475765"/>
              <a:ext cx="1248000" cy="560211"/>
            </a:xfrm>
            <a:prstGeom prst="line">
              <a:avLst/>
            </a:prstGeom>
            <a:noFill/>
            <a:ln w="28575" algn="ctr">
              <a:solidFill>
                <a:srgbClr val="0000FF"/>
              </a:solidFill>
              <a:round/>
              <a:headEnd/>
              <a:tailEnd/>
            </a:ln>
          </p:spPr>
        </p:cxnSp>
        <p:sp>
          <p:nvSpPr>
            <p:cNvPr id="315" name="Oval 202"/>
            <p:cNvSpPr>
              <a:spLocks noChangeArrowheads="1"/>
            </p:cNvSpPr>
            <p:nvPr/>
          </p:nvSpPr>
          <p:spPr bwMode="auto">
            <a:xfrm>
              <a:off x="7724652" y="2655773"/>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316" name="Oval 130"/>
            <p:cNvSpPr>
              <a:spLocks noChangeArrowheads="1"/>
            </p:cNvSpPr>
            <p:nvPr/>
          </p:nvSpPr>
          <p:spPr bwMode="auto">
            <a:xfrm>
              <a:off x="7251777" y="2855968"/>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317" name="Oval 130"/>
            <p:cNvSpPr>
              <a:spLocks noChangeArrowheads="1"/>
            </p:cNvSpPr>
            <p:nvPr/>
          </p:nvSpPr>
          <p:spPr bwMode="auto">
            <a:xfrm>
              <a:off x="7490652" y="2758394"/>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318" name="TextBox 149"/>
            <p:cNvSpPr txBox="1">
              <a:spLocks noChangeArrowheads="1"/>
            </p:cNvSpPr>
            <p:nvPr/>
          </p:nvSpPr>
          <p:spPr bwMode="auto">
            <a:xfrm>
              <a:off x="6795153" y="2987189"/>
              <a:ext cx="50526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2800" b="1" i="0" u="none" strike="noStrike" kern="0" cap="none" spc="0" normalizeH="0" baseline="0" noProof="0" dirty="0">
                  <a:ln>
                    <a:noFill/>
                  </a:ln>
                  <a:solidFill>
                    <a:srgbClr val="000000"/>
                  </a:solidFill>
                  <a:effectLst/>
                  <a:uLnTx/>
                  <a:uFillTx/>
                  <a:latin typeface="Times New Roman" pitchFamily="18" charset="0"/>
                  <a:ea typeface="宋体" charset="-122"/>
                  <a:sym typeface="Wingdings" pitchFamily="2" charset="2"/>
                </a:rPr>
                <a:t></a:t>
              </a:r>
              <a:endParaRPr kumimoji="1" lang="zh-CN" altLang="en-US" sz="2800" b="1" i="0" u="none" strike="noStrike" kern="0" cap="none" spc="0" normalizeH="0" baseline="0" noProof="0" dirty="0">
                <a:ln>
                  <a:noFill/>
                </a:ln>
                <a:solidFill>
                  <a:srgbClr val="000000"/>
                </a:solidFill>
                <a:effectLst/>
                <a:uLnTx/>
                <a:uFillTx/>
                <a:latin typeface="Times New Roman" pitchFamily="18" charset="0"/>
                <a:ea typeface="宋体" charset="-122"/>
              </a:endParaRPr>
            </a:p>
          </p:txBody>
        </p:sp>
        <p:sp>
          <p:nvSpPr>
            <p:cNvPr id="319" name="Oval 202"/>
            <p:cNvSpPr>
              <a:spLocks noChangeArrowheads="1"/>
            </p:cNvSpPr>
            <p:nvPr/>
          </p:nvSpPr>
          <p:spPr bwMode="auto">
            <a:xfrm>
              <a:off x="7966777" y="2531282"/>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cxnSp>
          <p:nvCxnSpPr>
            <p:cNvPr id="320" name="直接连接符 117"/>
            <p:cNvCxnSpPr>
              <a:cxnSpLocks noChangeShapeType="1"/>
            </p:cNvCxnSpPr>
            <p:nvPr/>
          </p:nvCxnSpPr>
          <p:spPr bwMode="auto">
            <a:xfrm flipH="1">
              <a:off x="4726527" y="1506753"/>
              <a:ext cx="4876" cy="2200466"/>
            </a:xfrm>
            <a:prstGeom prst="line">
              <a:avLst/>
            </a:prstGeom>
            <a:noFill/>
            <a:ln w="19050" algn="ctr">
              <a:solidFill>
                <a:srgbClr val="000000"/>
              </a:solidFill>
              <a:prstDash val="dash"/>
              <a:round/>
              <a:headEnd/>
              <a:tailEnd/>
            </a:ln>
            <a:extLst>
              <a:ext uri="{909E8E84-426E-40DD-AFC4-6F175D3DCCD1}">
                <a14:hiddenFill xmlns:a14="http://schemas.microsoft.com/office/drawing/2010/main">
                  <a:noFill/>
                </a14:hiddenFill>
              </a:ext>
            </a:extLst>
          </p:spPr>
        </p:cxnSp>
        <p:cxnSp>
          <p:nvCxnSpPr>
            <p:cNvPr id="321" name="直接连接符 119"/>
            <p:cNvCxnSpPr>
              <a:cxnSpLocks noChangeShapeType="1"/>
            </p:cNvCxnSpPr>
            <p:nvPr/>
          </p:nvCxnSpPr>
          <p:spPr bwMode="auto">
            <a:xfrm>
              <a:off x="2854527" y="2309217"/>
              <a:ext cx="0" cy="1384543"/>
            </a:xfrm>
            <a:prstGeom prst="line">
              <a:avLst/>
            </a:prstGeom>
            <a:noFill/>
            <a:ln w="19050" algn="ctr">
              <a:solidFill>
                <a:srgbClr val="000000"/>
              </a:solidFill>
              <a:prstDash val="dash"/>
              <a:round/>
              <a:headEnd/>
              <a:tailEnd/>
            </a:ln>
            <a:extLst>
              <a:ext uri="{909E8E84-426E-40DD-AFC4-6F175D3DCCD1}">
                <a14:hiddenFill xmlns:a14="http://schemas.microsoft.com/office/drawing/2010/main">
                  <a:noFill/>
                </a14:hiddenFill>
              </a:ext>
            </a:extLst>
          </p:spPr>
        </p:cxnSp>
        <p:sp>
          <p:nvSpPr>
            <p:cNvPr id="249" name="Text Box 91"/>
            <p:cNvSpPr txBox="1">
              <a:spLocks noChangeArrowheads="1"/>
            </p:cNvSpPr>
            <p:nvPr/>
          </p:nvSpPr>
          <p:spPr bwMode="auto">
            <a:xfrm>
              <a:off x="1647153" y="3187385"/>
              <a:ext cx="3129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dirty="0">
                  <a:ln>
                    <a:noFill/>
                  </a:ln>
                  <a:solidFill>
                    <a:srgbClr val="000000"/>
                  </a:solidFill>
                  <a:effectLst/>
                  <a:uLnTx/>
                  <a:uFillTx/>
                  <a:latin typeface="Times New Roman" pitchFamily="18" charset="0"/>
                  <a:ea typeface="宋体" charset="-122"/>
                </a:rPr>
                <a:t>4</a:t>
              </a:r>
            </a:p>
          </p:txBody>
        </p:sp>
      </p:grpSp>
      <p:sp>
        <p:nvSpPr>
          <p:cNvPr id="276" name="Line 167"/>
          <p:cNvSpPr>
            <a:spLocks noChangeShapeType="1"/>
          </p:cNvSpPr>
          <p:nvPr/>
        </p:nvSpPr>
        <p:spPr bwMode="auto">
          <a:xfrm flipH="1" flipV="1">
            <a:off x="5941095" y="2586774"/>
            <a:ext cx="308049" cy="469390"/>
          </a:xfrm>
          <a:prstGeom prst="line">
            <a:avLst/>
          </a:prstGeom>
          <a:noFill/>
          <a:ln w="76200">
            <a:solidFill>
              <a:srgbClr val="FF0000">
                <a:alpha val="80000"/>
              </a:srgbClr>
            </a:solidFill>
            <a:round/>
            <a:headEnd type="none"/>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121" name="Text Box 101"/>
          <p:cNvSpPr txBox="1">
            <a:spLocks noChangeArrowheads="1"/>
          </p:cNvSpPr>
          <p:nvPr/>
        </p:nvSpPr>
        <p:spPr bwMode="auto">
          <a:xfrm>
            <a:off x="842392" y="4293096"/>
            <a:ext cx="8655010"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eaLnBrk="1" hangingPunct="1"/>
            <a:r>
              <a:rPr kumimoji="0" lang="zh-CN" altLang="zh-CN" sz="2800" dirty="0">
                <a:solidFill>
                  <a:srgbClr val="000099"/>
                </a:solidFill>
                <a:latin typeface="Arial" pitchFamily="34" charset="0"/>
                <a:ea typeface="黑体" pitchFamily="2" charset="-122"/>
              </a:rPr>
              <a:t>按照慢开始算法，发送方每收到一个对新报文段的确认</a:t>
            </a:r>
            <a:r>
              <a:rPr kumimoji="0" lang="en-US" altLang="zh-CN" sz="2800" dirty="0">
                <a:solidFill>
                  <a:srgbClr val="000099"/>
                </a:solidFill>
                <a:latin typeface="Arial" pitchFamily="34" charset="0"/>
                <a:ea typeface="黑体" pitchFamily="2" charset="-122"/>
              </a:rPr>
              <a:t>ACK</a:t>
            </a:r>
            <a:r>
              <a:rPr kumimoji="0" lang="zh-CN" altLang="zh-CN" sz="2800" dirty="0">
                <a:solidFill>
                  <a:srgbClr val="000099"/>
                </a:solidFill>
                <a:latin typeface="Arial" pitchFamily="34" charset="0"/>
                <a:ea typeface="黑体" pitchFamily="2" charset="-122"/>
              </a:rPr>
              <a:t>，就把拥塞窗口值加</a:t>
            </a:r>
            <a:r>
              <a:rPr kumimoji="0" lang="en-US" altLang="zh-CN" sz="2800" dirty="0">
                <a:solidFill>
                  <a:srgbClr val="000099"/>
                </a:solidFill>
                <a:latin typeface="Arial" pitchFamily="34" charset="0"/>
                <a:ea typeface="黑体" pitchFamily="2" charset="-122"/>
              </a:rPr>
              <a:t>1</a:t>
            </a:r>
            <a:r>
              <a:rPr kumimoji="0" lang="zh-CN" altLang="zh-CN" sz="2800" dirty="0">
                <a:solidFill>
                  <a:srgbClr val="000099"/>
                </a:solidFill>
                <a:latin typeface="Arial" pitchFamily="34" charset="0"/>
                <a:ea typeface="黑体" pitchFamily="2" charset="-122"/>
              </a:rPr>
              <a:t>。</a:t>
            </a:r>
            <a:endParaRPr kumimoji="0" lang="en-US" altLang="zh-CN" sz="2800" dirty="0">
              <a:solidFill>
                <a:srgbClr val="000099"/>
              </a:solidFill>
              <a:latin typeface="Arial" pitchFamily="34" charset="0"/>
              <a:ea typeface="黑体" pitchFamily="2" charset="-122"/>
            </a:endParaRPr>
          </a:p>
          <a:p>
            <a:pPr eaLnBrk="1" hangingPunct="1"/>
            <a:r>
              <a:rPr kumimoji="0" lang="zh-CN" altLang="zh-CN" sz="2800" dirty="0">
                <a:solidFill>
                  <a:srgbClr val="000099"/>
                </a:solidFill>
                <a:latin typeface="Arial" pitchFamily="34" charset="0"/>
                <a:ea typeface="黑体" pitchFamily="2" charset="-122"/>
              </a:rPr>
              <a:t>当拥塞窗口</a:t>
            </a:r>
            <a:r>
              <a:rPr kumimoji="0" lang="en-US" altLang="zh-CN" sz="2800" dirty="0" err="1">
                <a:solidFill>
                  <a:srgbClr val="000099"/>
                </a:solidFill>
                <a:latin typeface="Arial" pitchFamily="34" charset="0"/>
                <a:ea typeface="黑体" pitchFamily="2" charset="-122"/>
              </a:rPr>
              <a:t>cwnd</a:t>
            </a:r>
            <a:r>
              <a:rPr kumimoji="0" lang="en-US" altLang="zh-CN" sz="2800" dirty="0">
                <a:solidFill>
                  <a:srgbClr val="000099"/>
                </a:solidFill>
                <a:latin typeface="Arial" pitchFamily="34" charset="0"/>
                <a:ea typeface="黑体" pitchFamily="2" charset="-122"/>
              </a:rPr>
              <a:t> = </a:t>
            </a:r>
            <a:r>
              <a:rPr kumimoji="0" lang="en-US" altLang="zh-CN" sz="2800" dirty="0" err="1">
                <a:solidFill>
                  <a:srgbClr val="000099"/>
                </a:solidFill>
                <a:latin typeface="Arial" pitchFamily="34" charset="0"/>
                <a:ea typeface="黑体" pitchFamily="2" charset="-122"/>
              </a:rPr>
              <a:t>ssthresh</a:t>
            </a:r>
            <a:r>
              <a:rPr kumimoji="0" lang="en-US" altLang="zh-CN" sz="2800" dirty="0">
                <a:solidFill>
                  <a:srgbClr val="000099"/>
                </a:solidFill>
                <a:latin typeface="Arial" pitchFamily="34" charset="0"/>
                <a:ea typeface="黑体" pitchFamily="2" charset="-122"/>
              </a:rPr>
              <a:t> = 12</a:t>
            </a:r>
            <a:r>
              <a:rPr kumimoji="0" lang="zh-CN" altLang="zh-CN" sz="2800" dirty="0">
                <a:solidFill>
                  <a:srgbClr val="000099"/>
                </a:solidFill>
                <a:latin typeface="Arial" pitchFamily="34" charset="0"/>
                <a:ea typeface="黑体" pitchFamily="2" charset="-122"/>
              </a:rPr>
              <a:t>时（图中的点</a:t>
            </a:r>
            <a:r>
              <a:rPr kumimoji="0" lang="en-US" altLang="zh-CN" sz="2800" dirty="0">
                <a:solidFill>
                  <a:srgbClr val="000099"/>
                </a:solidFill>
                <a:latin typeface="Arial" pitchFamily="34" charset="0"/>
                <a:ea typeface="黑体" pitchFamily="2" charset="-122"/>
                <a:sym typeface="Wingdings"/>
              </a:rPr>
              <a:t></a:t>
            </a:r>
            <a:r>
              <a:rPr kumimoji="0" lang="zh-CN" altLang="zh-CN" sz="2800" dirty="0">
                <a:solidFill>
                  <a:srgbClr val="000099"/>
                </a:solidFill>
                <a:latin typeface="Arial" pitchFamily="34" charset="0"/>
                <a:ea typeface="黑体" pitchFamily="2" charset="-122"/>
              </a:rPr>
              <a:t>，这是新的</a:t>
            </a:r>
            <a:r>
              <a:rPr kumimoji="0" lang="en-US" altLang="zh-CN" sz="2800" dirty="0" err="1">
                <a:solidFill>
                  <a:srgbClr val="000099"/>
                </a:solidFill>
                <a:latin typeface="Arial" pitchFamily="34" charset="0"/>
                <a:ea typeface="黑体" pitchFamily="2" charset="-122"/>
              </a:rPr>
              <a:t>ssthresh</a:t>
            </a:r>
            <a:r>
              <a:rPr kumimoji="0" lang="zh-CN" altLang="zh-CN" sz="2800" dirty="0">
                <a:solidFill>
                  <a:srgbClr val="000099"/>
                </a:solidFill>
                <a:latin typeface="Arial" pitchFamily="34" charset="0"/>
                <a:ea typeface="黑体" pitchFamily="2" charset="-122"/>
              </a:rPr>
              <a:t>值），改为执行</a:t>
            </a:r>
            <a:r>
              <a:rPr kumimoji="0" lang="zh-CN" altLang="zh-CN" sz="2800" dirty="0">
                <a:solidFill>
                  <a:srgbClr val="FF0000"/>
                </a:solidFill>
                <a:latin typeface="Arial" pitchFamily="34" charset="0"/>
                <a:ea typeface="黑体" pitchFamily="2" charset="-122"/>
              </a:rPr>
              <a:t>拥塞避免</a:t>
            </a:r>
            <a:r>
              <a:rPr kumimoji="0" lang="zh-CN" altLang="zh-CN" sz="2800" dirty="0">
                <a:solidFill>
                  <a:srgbClr val="000099"/>
                </a:solidFill>
                <a:latin typeface="Arial" pitchFamily="34" charset="0"/>
                <a:ea typeface="黑体" pitchFamily="2" charset="-122"/>
              </a:rPr>
              <a:t>算法，拥塞窗口</a:t>
            </a:r>
            <a:r>
              <a:rPr kumimoji="0" lang="zh-CN" altLang="zh-CN" sz="2800" dirty="0">
                <a:solidFill>
                  <a:srgbClr val="FF0000"/>
                </a:solidFill>
                <a:latin typeface="Arial" pitchFamily="34" charset="0"/>
                <a:ea typeface="黑体" pitchFamily="2" charset="-122"/>
              </a:rPr>
              <a:t>按线性规律增大。</a:t>
            </a:r>
          </a:p>
        </p:txBody>
      </p:sp>
    </p:spTree>
    <p:extLst>
      <p:ext uri="{BB962C8B-B14F-4D97-AF65-F5344CB8AC3E}">
        <p14:creationId xmlns:p14="http://schemas.microsoft.com/office/powerpoint/2010/main" val="1509927872"/>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 name="Rectangle 5"/>
          <p:cNvSpPr txBox="1">
            <a:spLocks noChangeArrowheads="1"/>
          </p:cNvSpPr>
          <p:nvPr/>
        </p:nvSpPr>
        <p:spPr bwMode="auto">
          <a:xfrm>
            <a:off x="417512" y="152400"/>
            <a:ext cx="91440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kumimoji="1" sz="4400" b="1">
                <a:solidFill>
                  <a:schemeClr val="tx2"/>
                </a:solidFill>
                <a:latin typeface="+mj-lt"/>
                <a:ea typeface="+mj-ea"/>
                <a:cs typeface="+mj-cs"/>
              </a:defRPr>
            </a:lvl1pPr>
            <a:lvl2pPr algn="l" rtl="0" eaLnBrk="0" fontAlgn="base" hangingPunct="0">
              <a:spcBef>
                <a:spcPct val="0"/>
              </a:spcBef>
              <a:spcAft>
                <a:spcPct val="0"/>
              </a:spcAft>
              <a:defRPr kumimoji="1" sz="4400" b="1">
                <a:solidFill>
                  <a:schemeClr val="tx2"/>
                </a:solidFill>
                <a:latin typeface="Tahoma" pitchFamily="34" charset="0"/>
                <a:ea typeface="黑体" pitchFamily="2" charset="-122"/>
              </a:defRPr>
            </a:lvl2pPr>
            <a:lvl3pPr algn="l" rtl="0" eaLnBrk="0" fontAlgn="base" hangingPunct="0">
              <a:spcBef>
                <a:spcPct val="0"/>
              </a:spcBef>
              <a:spcAft>
                <a:spcPct val="0"/>
              </a:spcAft>
              <a:defRPr kumimoji="1" sz="4400" b="1">
                <a:solidFill>
                  <a:schemeClr val="tx2"/>
                </a:solidFill>
                <a:latin typeface="Tahoma" pitchFamily="34" charset="0"/>
                <a:ea typeface="黑体" pitchFamily="2" charset="-122"/>
              </a:defRPr>
            </a:lvl3pPr>
            <a:lvl4pPr algn="l" rtl="0" eaLnBrk="0" fontAlgn="base" hangingPunct="0">
              <a:spcBef>
                <a:spcPct val="0"/>
              </a:spcBef>
              <a:spcAft>
                <a:spcPct val="0"/>
              </a:spcAft>
              <a:defRPr kumimoji="1" sz="4400" b="1">
                <a:solidFill>
                  <a:schemeClr val="tx2"/>
                </a:solidFill>
                <a:latin typeface="Tahoma" pitchFamily="34" charset="0"/>
                <a:ea typeface="黑体" pitchFamily="2" charset="-122"/>
              </a:defRPr>
            </a:lvl4pPr>
            <a:lvl5pPr algn="l" rtl="0" eaLnBrk="0" fontAlgn="base" hangingPunct="0">
              <a:spcBef>
                <a:spcPct val="0"/>
              </a:spcBef>
              <a:spcAft>
                <a:spcPct val="0"/>
              </a:spcAft>
              <a:defRPr kumimoji="1" sz="4400" b="1">
                <a:solidFill>
                  <a:schemeClr val="tx2"/>
                </a:solidFill>
                <a:latin typeface="Tahoma" pitchFamily="34" charset="0"/>
                <a:ea typeface="黑体" pitchFamily="2" charset="-122"/>
              </a:defRPr>
            </a:lvl5pPr>
            <a:lvl6pPr marL="457200" algn="l" rtl="0" fontAlgn="base">
              <a:spcBef>
                <a:spcPct val="0"/>
              </a:spcBef>
              <a:spcAft>
                <a:spcPct val="0"/>
              </a:spcAft>
              <a:defRPr kumimoji="1" sz="4400" b="1">
                <a:solidFill>
                  <a:schemeClr val="tx2"/>
                </a:solidFill>
                <a:latin typeface="Tahoma" pitchFamily="34" charset="0"/>
                <a:ea typeface="黑体" pitchFamily="2" charset="-122"/>
              </a:defRPr>
            </a:lvl6pPr>
            <a:lvl7pPr marL="914400" algn="l" rtl="0" fontAlgn="base">
              <a:spcBef>
                <a:spcPct val="0"/>
              </a:spcBef>
              <a:spcAft>
                <a:spcPct val="0"/>
              </a:spcAft>
              <a:defRPr kumimoji="1" sz="4400" b="1">
                <a:solidFill>
                  <a:schemeClr val="tx2"/>
                </a:solidFill>
                <a:latin typeface="Tahoma" pitchFamily="34" charset="0"/>
                <a:ea typeface="黑体" pitchFamily="2" charset="-122"/>
              </a:defRPr>
            </a:lvl7pPr>
            <a:lvl8pPr marL="1371600" algn="l" rtl="0" fontAlgn="base">
              <a:spcBef>
                <a:spcPct val="0"/>
              </a:spcBef>
              <a:spcAft>
                <a:spcPct val="0"/>
              </a:spcAft>
              <a:defRPr kumimoji="1" sz="4400" b="1">
                <a:solidFill>
                  <a:schemeClr val="tx2"/>
                </a:solidFill>
                <a:latin typeface="Tahoma" pitchFamily="34" charset="0"/>
                <a:ea typeface="黑体" pitchFamily="2" charset="-122"/>
              </a:defRPr>
            </a:lvl8pPr>
            <a:lvl9pPr marL="1828800" algn="l" rtl="0" fontAlgn="base">
              <a:spcBef>
                <a:spcPct val="0"/>
              </a:spcBef>
              <a:spcAft>
                <a:spcPct val="0"/>
              </a:spcAft>
              <a:defRPr kumimoji="1" sz="4400" b="1">
                <a:solidFill>
                  <a:schemeClr val="tx2"/>
                </a:solidFill>
                <a:latin typeface="Tahoma" pitchFamily="34" charset="0"/>
                <a:ea typeface="黑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3200" b="1" i="0" u="none" strike="noStrike" kern="0" cap="none" spc="0" normalizeH="0" baseline="0" noProof="0">
                <a:ln>
                  <a:noFill/>
                </a:ln>
                <a:solidFill>
                  <a:srgbClr val="333399"/>
                </a:solidFill>
                <a:effectLst/>
                <a:uLnTx/>
                <a:uFillTx/>
                <a:latin typeface="Tahoma"/>
                <a:ea typeface="黑体"/>
                <a:cs typeface="+mj-cs"/>
              </a:rPr>
              <a:t>慢开始和拥塞避免算法的实现举例 </a:t>
            </a:r>
          </a:p>
        </p:txBody>
      </p:sp>
      <p:grpSp>
        <p:nvGrpSpPr>
          <p:cNvPr id="3" name="组合 2"/>
          <p:cNvGrpSpPr/>
          <p:nvPr/>
        </p:nvGrpSpPr>
        <p:grpSpPr>
          <a:xfrm>
            <a:off x="272479" y="836711"/>
            <a:ext cx="9536759" cy="3321087"/>
            <a:chOff x="272479" y="836711"/>
            <a:chExt cx="9536759" cy="3321087"/>
          </a:xfrm>
        </p:grpSpPr>
        <p:sp>
          <p:nvSpPr>
            <p:cNvPr id="103" name="Text Box 140"/>
            <p:cNvSpPr txBox="1">
              <a:spLocks noChangeArrowheads="1"/>
            </p:cNvSpPr>
            <p:nvPr/>
          </p:nvSpPr>
          <p:spPr bwMode="auto">
            <a:xfrm>
              <a:off x="4863078" y="985683"/>
              <a:ext cx="11570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2000" b="1" i="0" u="none" strike="noStrike" kern="0" cap="none" spc="0" normalizeH="0" baseline="0" noProof="0" dirty="0">
                  <a:ln>
                    <a:noFill/>
                  </a:ln>
                  <a:solidFill>
                    <a:srgbClr val="FF0000"/>
                  </a:solidFill>
                  <a:effectLst/>
                  <a:uLnTx/>
                  <a:uFillTx/>
                  <a:latin typeface="Times New Roman" pitchFamily="18" charset="0"/>
                  <a:ea typeface="宋体" charset="-122"/>
                </a:rPr>
                <a:t>超时</a:t>
              </a:r>
            </a:p>
          </p:txBody>
        </p:sp>
        <p:sp>
          <p:nvSpPr>
            <p:cNvPr id="104" name="Line 2"/>
            <p:cNvSpPr>
              <a:spLocks noChangeShapeType="1"/>
            </p:cNvSpPr>
            <p:nvPr/>
          </p:nvSpPr>
          <p:spPr bwMode="auto">
            <a:xfrm flipV="1">
              <a:off x="1920153" y="3803111"/>
              <a:ext cx="6358624" cy="5046"/>
            </a:xfrm>
            <a:prstGeom prst="line">
              <a:avLst/>
            </a:prstGeom>
            <a:noFill/>
            <a:ln w="19050">
              <a:solidFill>
                <a:srgbClr val="000000"/>
              </a:solidFill>
              <a:round/>
              <a:headEnd/>
              <a:tail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105" name="Line 3"/>
            <p:cNvSpPr>
              <a:spLocks noChangeShapeType="1"/>
            </p:cNvSpPr>
            <p:nvPr/>
          </p:nvSpPr>
          <p:spPr bwMode="auto">
            <a:xfrm>
              <a:off x="1918528" y="1177019"/>
              <a:ext cx="1626" cy="2631138"/>
            </a:xfrm>
            <a:prstGeom prst="line">
              <a:avLst/>
            </a:prstGeom>
            <a:noFill/>
            <a:ln w="19050">
              <a:solidFill>
                <a:srgbClr val="000000"/>
              </a:solidFill>
              <a:round/>
              <a:headEnd type="triangle" w="sm" len="lg"/>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106" name="Line 4"/>
            <p:cNvSpPr>
              <a:spLocks noChangeShapeType="1"/>
            </p:cNvSpPr>
            <p:nvPr/>
          </p:nvSpPr>
          <p:spPr bwMode="auto">
            <a:xfrm>
              <a:off x="2154153" y="3727407"/>
              <a:ext cx="0" cy="8075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08" name="Line 5"/>
            <p:cNvSpPr>
              <a:spLocks noChangeShapeType="1"/>
            </p:cNvSpPr>
            <p:nvPr/>
          </p:nvSpPr>
          <p:spPr bwMode="auto">
            <a:xfrm>
              <a:off x="2388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09" name="Line 6"/>
            <p:cNvSpPr>
              <a:spLocks noChangeShapeType="1"/>
            </p:cNvSpPr>
            <p:nvPr/>
          </p:nvSpPr>
          <p:spPr bwMode="auto">
            <a:xfrm>
              <a:off x="2622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0" name="Line 7"/>
            <p:cNvSpPr>
              <a:spLocks noChangeShapeType="1"/>
            </p:cNvSpPr>
            <p:nvPr/>
          </p:nvSpPr>
          <p:spPr bwMode="auto">
            <a:xfrm>
              <a:off x="2856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1" name="Line 8"/>
            <p:cNvSpPr>
              <a:spLocks noChangeShapeType="1"/>
            </p:cNvSpPr>
            <p:nvPr/>
          </p:nvSpPr>
          <p:spPr bwMode="auto">
            <a:xfrm>
              <a:off x="3090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2" name="Line 9"/>
            <p:cNvSpPr>
              <a:spLocks noChangeShapeType="1"/>
            </p:cNvSpPr>
            <p:nvPr/>
          </p:nvSpPr>
          <p:spPr bwMode="auto">
            <a:xfrm>
              <a:off x="3324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3" name="Line 10"/>
            <p:cNvSpPr>
              <a:spLocks noChangeShapeType="1"/>
            </p:cNvSpPr>
            <p:nvPr/>
          </p:nvSpPr>
          <p:spPr bwMode="auto">
            <a:xfrm>
              <a:off x="3558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4" name="Line 11"/>
            <p:cNvSpPr>
              <a:spLocks noChangeShapeType="1"/>
            </p:cNvSpPr>
            <p:nvPr/>
          </p:nvSpPr>
          <p:spPr bwMode="auto">
            <a:xfrm>
              <a:off x="3792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5" name="Line 12"/>
            <p:cNvSpPr>
              <a:spLocks noChangeShapeType="1"/>
            </p:cNvSpPr>
            <p:nvPr/>
          </p:nvSpPr>
          <p:spPr bwMode="auto">
            <a:xfrm>
              <a:off x="4026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6" name="Line 13"/>
            <p:cNvSpPr>
              <a:spLocks noChangeShapeType="1"/>
            </p:cNvSpPr>
            <p:nvPr/>
          </p:nvSpPr>
          <p:spPr bwMode="auto">
            <a:xfrm>
              <a:off x="4260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7" name="Line 14"/>
            <p:cNvSpPr>
              <a:spLocks noChangeShapeType="1"/>
            </p:cNvSpPr>
            <p:nvPr/>
          </p:nvSpPr>
          <p:spPr bwMode="auto">
            <a:xfrm>
              <a:off x="4494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8" name="Line 15"/>
            <p:cNvSpPr>
              <a:spLocks noChangeShapeType="1"/>
            </p:cNvSpPr>
            <p:nvPr/>
          </p:nvSpPr>
          <p:spPr bwMode="auto">
            <a:xfrm>
              <a:off x="4728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9" name="Line 16"/>
            <p:cNvSpPr>
              <a:spLocks noChangeShapeType="1"/>
            </p:cNvSpPr>
            <p:nvPr/>
          </p:nvSpPr>
          <p:spPr bwMode="auto">
            <a:xfrm>
              <a:off x="4962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0" name="Line 17"/>
            <p:cNvSpPr>
              <a:spLocks noChangeShapeType="1"/>
            </p:cNvSpPr>
            <p:nvPr/>
          </p:nvSpPr>
          <p:spPr bwMode="auto">
            <a:xfrm>
              <a:off x="5196153" y="3727407"/>
              <a:ext cx="0" cy="8075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1" name="Line 18"/>
            <p:cNvSpPr>
              <a:spLocks noChangeShapeType="1"/>
            </p:cNvSpPr>
            <p:nvPr/>
          </p:nvSpPr>
          <p:spPr bwMode="auto">
            <a:xfrm>
              <a:off x="5430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2" name="Line 19"/>
            <p:cNvSpPr>
              <a:spLocks noChangeShapeType="1"/>
            </p:cNvSpPr>
            <p:nvPr/>
          </p:nvSpPr>
          <p:spPr bwMode="auto">
            <a:xfrm>
              <a:off x="5664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3" name="Line 20"/>
            <p:cNvSpPr>
              <a:spLocks noChangeShapeType="1"/>
            </p:cNvSpPr>
            <p:nvPr/>
          </p:nvSpPr>
          <p:spPr bwMode="auto">
            <a:xfrm>
              <a:off x="5898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4" name="Line 21"/>
            <p:cNvSpPr>
              <a:spLocks noChangeShapeType="1"/>
            </p:cNvSpPr>
            <p:nvPr/>
          </p:nvSpPr>
          <p:spPr bwMode="auto">
            <a:xfrm>
              <a:off x="6132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5" name="Line 22"/>
            <p:cNvSpPr>
              <a:spLocks noChangeShapeType="1"/>
            </p:cNvSpPr>
            <p:nvPr/>
          </p:nvSpPr>
          <p:spPr bwMode="auto">
            <a:xfrm>
              <a:off x="6366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6" name="Line 23"/>
            <p:cNvSpPr>
              <a:spLocks noChangeShapeType="1"/>
            </p:cNvSpPr>
            <p:nvPr/>
          </p:nvSpPr>
          <p:spPr bwMode="auto">
            <a:xfrm>
              <a:off x="6600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7" name="Line 24"/>
            <p:cNvSpPr>
              <a:spLocks noChangeShapeType="1"/>
            </p:cNvSpPr>
            <p:nvPr/>
          </p:nvSpPr>
          <p:spPr bwMode="auto">
            <a:xfrm>
              <a:off x="6834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8" name="Line 25"/>
            <p:cNvSpPr>
              <a:spLocks noChangeShapeType="1"/>
            </p:cNvSpPr>
            <p:nvPr/>
          </p:nvSpPr>
          <p:spPr bwMode="auto">
            <a:xfrm>
              <a:off x="7068152"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30" name="Line 40"/>
            <p:cNvSpPr>
              <a:spLocks noChangeShapeType="1"/>
            </p:cNvSpPr>
            <p:nvPr/>
          </p:nvSpPr>
          <p:spPr bwMode="auto">
            <a:xfrm>
              <a:off x="1920153" y="3404402"/>
              <a:ext cx="2340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31" name="Line 41"/>
            <p:cNvSpPr>
              <a:spLocks noChangeShapeType="1"/>
            </p:cNvSpPr>
            <p:nvPr/>
          </p:nvSpPr>
          <p:spPr bwMode="auto">
            <a:xfrm>
              <a:off x="1920153" y="3000647"/>
              <a:ext cx="2340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32" name="Line 42"/>
            <p:cNvSpPr>
              <a:spLocks noChangeShapeType="1"/>
            </p:cNvSpPr>
            <p:nvPr/>
          </p:nvSpPr>
          <p:spPr bwMode="auto">
            <a:xfrm>
              <a:off x="1920153" y="2596892"/>
              <a:ext cx="2340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33" name="Line 43"/>
            <p:cNvSpPr>
              <a:spLocks noChangeShapeType="1"/>
            </p:cNvSpPr>
            <p:nvPr/>
          </p:nvSpPr>
          <p:spPr bwMode="auto">
            <a:xfrm>
              <a:off x="1920153" y="2193137"/>
              <a:ext cx="2340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34" name="Line 44"/>
            <p:cNvSpPr>
              <a:spLocks noChangeShapeType="1"/>
            </p:cNvSpPr>
            <p:nvPr/>
          </p:nvSpPr>
          <p:spPr bwMode="auto">
            <a:xfrm>
              <a:off x="1920153" y="1789382"/>
              <a:ext cx="2340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35" name="Line 45"/>
            <p:cNvSpPr>
              <a:spLocks noChangeShapeType="1"/>
            </p:cNvSpPr>
            <p:nvPr/>
          </p:nvSpPr>
          <p:spPr bwMode="auto">
            <a:xfrm>
              <a:off x="1920153" y="1385626"/>
              <a:ext cx="2340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36" name="Text Box 77"/>
            <p:cNvSpPr txBox="1">
              <a:spLocks noChangeArrowheads="1"/>
            </p:cNvSpPr>
            <p:nvPr/>
          </p:nvSpPr>
          <p:spPr bwMode="auto">
            <a:xfrm>
              <a:off x="2241903" y="3749277"/>
              <a:ext cx="3129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2</a:t>
              </a:r>
            </a:p>
          </p:txBody>
        </p:sp>
        <p:sp>
          <p:nvSpPr>
            <p:cNvPr id="237" name="Text Box 78"/>
            <p:cNvSpPr txBox="1">
              <a:spLocks noChangeArrowheads="1"/>
            </p:cNvSpPr>
            <p:nvPr/>
          </p:nvSpPr>
          <p:spPr bwMode="auto">
            <a:xfrm>
              <a:off x="2709903" y="3749277"/>
              <a:ext cx="3129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4</a:t>
              </a:r>
            </a:p>
          </p:txBody>
        </p:sp>
        <p:sp>
          <p:nvSpPr>
            <p:cNvPr id="238" name="Text Box 79"/>
            <p:cNvSpPr txBox="1">
              <a:spLocks noChangeArrowheads="1"/>
            </p:cNvSpPr>
            <p:nvPr/>
          </p:nvSpPr>
          <p:spPr bwMode="auto">
            <a:xfrm>
              <a:off x="3177903" y="3749277"/>
              <a:ext cx="3129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6</a:t>
              </a:r>
            </a:p>
          </p:txBody>
        </p:sp>
        <p:sp>
          <p:nvSpPr>
            <p:cNvPr id="239" name="Text Box 80"/>
            <p:cNvSpPr txBox="1">
              <a:spLocks noChangeArrowheads="1"/>
            </p:cNvSpPr>
            <p:nvPr/>
          </p:nvSpPr>
          <p:spPr bwMode="auto">
            <a:xfrm>
              <a:off x="3658903" y="3749277"/>
              <a:ext cx="3129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8</a:t>
              </a:r>
            </a:p>
          </p:txBody>
        </p:sp>
        <p:sp>
          <p:nvSpPr>
            <p:cNvPr id="240" name="Text Box 81"/>
            <p:cNvSpPr txBox="1">
              <a:spLocks noChangeArrowheads="1"/>
            </p:cNvSpPr>
            <p:nvPr/>
          </p:nvSpPr>
          <p:spPr bwMode="auto">
            <a:xfrm>
              <a:off x="4048903" y="3749277"/>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10</a:t>
              </a:r>
            </a:p>
          </p:txBody>
        </p:sp>
        <p:sp>
          <p:nvSpPr>
            <p:cNvPr id="241" name="Text Box 82"/>
            <p:cNvSpPr txBox="1">
              <a:spLocks noChangeArrowheads="1"/>
            </p:cNvSpPr>
            <p:nvPr/>
          </p:nvSpPr>
          <p:spPr bwMode="auto">
            <a:xfrm>
              <a:off x="4555903" y="3749277"/>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12</a:t>
              </a:r>
            </a:p>
          </p:txBody>
        </p:sp>
        <p:sp>
          <p:nvSpPr>
            <p:cNvPr id="242" name="Text Box 83"/>
            <p:cNvSpPr txBox="1">
              <a:spLocks noChangeArrowheads="1"/>
            </p:cNvSpPr>
            <p:nvPr/>
          </p:nvSpPr>
          <p:spPr bwMode="auto">
            <a:xfrm>
              <a:off x="4997903" y="3749277"/>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14</a:t>
              </a:r>
            </a:p>
          </p:txBody>
        </p:sp>
        <p:sp>
          <p:nvSpPr>
            <p:cNvPr id="243" name="Text Box 84"/>
            <p:cNvSpPr txBox="1">
              <a:spLocks noChangeArrowheads="1"/>
            </p:cNvSpPr>
            <p:nvPr/>
          </p:nvSpPr>
          <p:spPr bwMode="auto">
            <a:xfrm>
              <a:off x="5465903" y="3749277"/>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16</a:t>
              </a:r>
            </a:p>
          </p:txBody>
        </p:sp>
        <p:sp>
          <p:nvSpPr>
            <p:cNvPr id="244" name="Text Box 85"/>
            <p:cNvSpPr txBox="1">
              <a:spLocks noChangeArrowheads="1"/>
            </p:cNvSpPr>
            <p:nvPr/>
          </p:nvSpPr>
          <p:spPr bwMode="auto">
            <a:xfrm>
              <a:off x="5950153" y="3749277"/>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18</a:t>
              </a:r>
            </a:p>
          </p:txBody>
        </p:sp>
        <p:sp>
          <p:nvSpPr>
            <p:cNvPr id="245" name="Text Box 86"/>
            <p:cNvSpPr txBox="1">
              <a:spLocks noChangeArrowheads="1"/>
            </p:cNvSpPr>
            <p:nvPr/>
          </p:nvSpPr>
          <p:spPr bwMode="auto">
            <a:xfrm>
              <a:off x="6418153" y="3749277"/>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20</a:t>
              </a:r>
            </a:p>
          </p:txBody>
        </p:sp>
        <p:sp>
          <p:nvSpPr>
            <p:cNvPr id="246" name="Text Box 87"/>
            <p:cNvSpPr txBox="1">
              <a:spLocks noChangeArrowheads="1"/>
            </p:cNvSpPr>
            <p:nvPr/>
          </p:nvSpPr>
          <p:spPr bwMode="auto">
            <a:xfrm>
              <a:off x="6873153" y="3757688"/>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22</a:t>
              </a:r>
            </a:p>
          </p:txBody>
        </p:sp>
        <p:sp>
          <p:nvSpPr>
            <p:cNvPr id="247" name="Text Box 89"/>
            <p:cNvSpPr txBox="1">
              <a:spLocks noChangeArrowheads="1"/>
            </p:cNvSpPr>
            <p:nvPr/>
          </p:nvSpPr>
          <p:spPr bwMode="auto">
            <a:xfrm>
              <a:off x="1812903" y="3749277"/>
              <a:ext cx="3129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0</a:t>
              </a:r>
            </a:p>
          </p:txBody>
        </p:sp>
        <p:sp>
          <p:nvSpPr>
            <p:cNvPr id="248" name="Text Box 90"/>
            <p:cNvSpPr txBox="1">
              <a:spLocks noChangeArrowheads="1"/>
            </p:cNvSpPr>
            <p:nvPr/>
          </p:nvSpPr>
          <p:spPr bwMode="auto">
            <a:xfrm>
              <a:off x="1647153" y="3591140"/>
              <a:ext cx="3129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0</a:t>
              </a:r>
            </a:p>
          </p:txBody>
        </p:sp>
        <p:sp>
          <p:nvSpPr>
            <p:cNvPr id="250" name="Text Box 92"/>
            <p:cNvSpPr txBox="1">
              <a:spLocks noChangeArrowheads="1"/>
            </p:cNvSpPr>
            <p:nvPr/>
          </p:nvSpPr>
          <p:spPr bwMode="auto">
            <a:xfrm>
              <a:off x="1647153" y="2797088"/>
              <a:ext cx="3129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8</a:t>
              </a:r>
            </a:p>
          </p:txBody>
        </p:sp>
        <p:sp>
          <p:nvSpPr>
            <p:cNvPr id="251" name="Text Box 93"/>
            <p:cNvSpPr txBox="1">
              <a:spLocks noChangeArrowheads="1"/>
            </p:cNvSpPr>
            <p:nvPr/>
          </p:nvSpPr>
          <p:spPr bwMode="auto">
            <a:xfrm>
              <a:off x="1530153" y="2406791"/>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12</a:t>
              </a:r>
            </a:p>
          </p:txBody>
        </p:sp>
        <p:sp>
          <p:nvSpPr>
            <p:cNvPr id="252" name="Text Box 94"/>
            <p:cNvSpPr txBox="1">
              <a:spLocks noChangeArrowheads="1"/>
            </p:cNvSpPr>
            <p:nvPr/>
          </p:nvSpPr>
          <p:spPr bwMode="auto">
            <a:xfrm>
              <a:off x="1530153" y="2016494"/>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16</a:t>
              </a:r>
            </a:p>
          </p:txBody>
        </p:sp>
        <p:sp>
          <p:nvSpPr>
            <p:cNvPr id="253" name="Text Box 95"/>
            <p:cNvSpPr txBox="1">
              <a:spLocks noChangeArrowheads="1"/>
            </p:cNvSpPr>
            <p:nvPr/>
          </p:nvSpPr>
          <p:spPr bwMode="auto">
            <a:xfrm>
              <a:off x="1530153" y="1612739"/>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20</a:t>
              </a:r>
            </a:p>
          </p:txBody>
        </p:sp>
        <p:sp>
          <p:nvSpPr>
            <p:cNvPr id="254" name="Text Box 96"/>
            <p:cNvSpPr txBox="1">
              <a:spLocks noChangeArrowheads="1"/>
            </p:cNvSpPr>
            <p:nvPr/>
          </p:nvSpPr>
          <p:spPr bwMode="auto">
            <a:xfrm>
              <a:off x="1530153" y="1208984"/>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24</a:t>
              </a:r>
            </a:p>
          </p:txBody>
        </p:sp>
        <p:sp>
          <p:nvSpPr>
            <p:cNvPr id="255" name="Oval 102"/>
            <p:cNvSpPr>
              <a:spLocks noChangeArrowheads="1"/>
            </p:cNvSpPr>
            <p:nvPr/>
          </p:nvSpPr>
          <p:spPr bwMode="auto">
            <a:xfrm>
              <a:off x="2573403" y="2960272"/>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56" name="Oval 103"/>
            <p:cNvSpPr>
              <a:spLocks noChangeArrowheads="1"/>
            </p:cNvSpPr>
            <p:nvPr/>
          </p:nvSpPr>
          <p:spPr bwMode="auto">
            <a:xfrm>
              <a:off x="2339403" y="3364027"/>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57" name="Oval 104"/>
            <p:cNvSpPr>
              <a:spLocks noChangeArrowheads="1"/>
            </p:cNvSpPr>
            <p:nvPr/>
          </p:nvSpPr>
          <p:spPr bwMode="auto">
            <a:xfrm>
              <a:off x="1881153" y="3626468"/>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58" name="Oval 105"/>
            <p:cNvSpPr>
              <a:spLocks noChangeArrowheads="1"/>
            </p:cNvSpPr>
            <p:nvPr/>
          </p:nvSpPr>
          <p:spPr bwMode="auto">
            <a:xfrm>
              <a:off x="2095653" y="3555811"/>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59" name="Oval 106"/>
            <p:cNvSpPr>
              <a:spLocks noChangeArrowheads="1"/>
            </p:cNvSpPr>
            <p:nvPr/>
          </p:nvSpPr>
          <p:spPr bwMode="auto">
            <a:xfrm>
              <a:off x="2807403" y="2149397"/>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0" name="Oval 107"/>
            <p:cNvSpPr>
              <a:spLocks noChangeArrowheads="1"/>
            </p:cNvSpPr>
            <p:nvPr/>
          </p:nvSpPr>
          <p:spPr bwMode="auto">
            <a:xfrm>
              <a:off x="3041403" y="2041729"/>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1" name="Oval 108"/>
            <p:cNvSpPr>
              <a:spLocks noChangeArrowheads="1"/>
            </p:cNvSpPr>
            <p:nvPr/>
          </p:nvSpPr>
          <p:spPr bwMode="auto">
            <a:xfrm>
              <a:off x="3275403" y="1945837"/>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2" name="Oval 109"/>
            <p:cNvSpPr>
              <a:spLocks noChangeArrowheads="1"/>
            </p:cNvSpPr>
            <p:nvPr/>
          </p:nvSpPr>
          <p:spPr bwMode="auto">
            <a:xfrm>
              <a:off x="3748277" y="1743960"/>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3" name="Oval 110"/>
            <p:cNvSpPr>
              <a:spLocks noChangeArrowheads="1"/>
            </p:cNvSpPr>
            <p:nvPr/>
          </p:nvSpPr>
          <p:spPr bwMode="auto">
            <a:xfrm>
              <a:off x="3509403" y="1844898"/>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4" name="Oval 113"/>
            <p:cNvSpPr>
              <a:spLocks noChangeArrowheads="1"/>
            </p:cNvSpPr>
            <p:nvPr/>
          </p:nvSpPr>
          <p:spPr bwMode="auto">
            <a:xfrm>
              <a:off x="3982277" y="1643021"/>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5" name="Oval 114"/>
            <p:cNvSpPr>
              <a:spLocks noChangeArrowheads="1"/>
            </p:cNvSpPr>
            <p:nvPr/>
          </p:nvSpPr>
          <p:spPr bwMode="auto">
            <a:xfrm>
              <a:off x="4211403" y="1547128"/>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6" name="Oval 116"/>
            <p:cNvSpPr>
              <a:spLocks noChangeArrowheads="1"/>
            </p:cNvSpPr>
            <p:nvPr/>
          </p:nvSpPr>
          <p:spPr bwMode="auto">
            <a:xfrm>
              <a:off x="4674527" y="1330110"/>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7" name="Oval 117"/>
            <p:cNvSpPr>
              <a:spLocks noChangeArrowheads="1"/>
            </p:cNvSpPr>
            <p:nvPr/>
          </p:nvSpPr>
          <p:spPr bwMode="auto">
            <a:xfrm>
              <a:off x="4445403" y="1431049"/>
              <a:ext cx="91000" cy="94210"/>
            </a:xfrm>
            <a:prstGeom prst="ellipse">
              <a:avLst/>
            </a:prstGeom>
            <a:solidFill>
              <a:srgbClr val="0000FF"/>
            </a:solidFill>
            <a:ln w="2857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8" name="Freeform 118"/>
            <p:cNvSpPr>
              <a:spLocks/>
            </p:cNvSpPr>
            <p:nvPr/>
          </p:nvSpPr>
          <p:spPr bwMode="auto">
            <a:xfrm>
              <a:off x="1842153" y="1385626"/>
              <a:ext cx="2881124" cy="2304769"/>
            </a:xfrm>
            <a:custGeom>
              <a:avLst/>
              <a:gdLst>
                <a:gd name="T0" fmla="*/ 2147483647 w 1773"/>
                <a:gd name="T1" fmla="*/ 0 h 1370"/>
                <a:gd name="T2" fmla="*/ 2147483647 w 1773"/>
                <a:gd name="T3" fmla="*/ 2147483647 h 1370"/>
                <a:gd name="T4" fmla="*/ 2147483647 w 1773"/>
                <a:gd name="T5" fmla="*/ 2147483647 h 1370"/>
                <a:gd name="T6" fmla="*/ 2147483647 w 1773"/>
                <a:gd name="T7" fmla="*/ 2147483647 h 1370"/>
                <a:gd name="T8" fmla="*/ 2147483647 w 1773"/>
                <a:gd name="T9" fmla="*/ 2147483647 h 1370"/>
                <a:gd name="T10" fmla="*/ 2147483647 w 1773"/>
                <a:gd name="T11" fmla="*/ 2147483647 h 1370"/>
                <a:gd name="T12" fmla="*/ 0 60000 65536"/>
                <a:gd name="T13" fmla="*/ 0 60000 65536"/>
                <a:gd name="T14" fmla="*/ 0 60000 65536"/>
                <a:gd name="T15" fmla="*/ 0 60000 65536"/>
                <a:gd name="T16" fmla="*/ 0 60000 65536"/>
                <a:gd name="T17" fmla="*/ 0 60000 65536"/>
                <a:gd name="T18" fmla="*/ 0 w 1773"/>
                <a:gd name="T19" fmla="*/ 0 h 1370"/>
                <a:gd name="T20" fmla="*/ 1773 w 1773"/>
                <a:gd name="T21" fmla="*/ 1370 h 1370"/>
              </a:gdLst>
              <a:ahLst/>
              <a:cxnLst>
                <a:cxn ang="T12">
                  <a:pos x="T0" y="T1"/>
                </a:cxn>
                <a:cxn ang="T13">
                  <a:pos x="T2" y="T3"/>
                </a:cxn>
                <a:cxn ang="T14">
                  <a:pos x="T4" y="T5"/>
                </a:cxn>
                <a:cxn ang="T15">
                  <a:pos x="T6" y="T7"/>
                </a:cxn>
                <a:cxn ang="T16">
                  <a:pos x="T8" y="T9"/>
                </a:cxn>
                <a:cxn ang="T17">
                  <a:pos x="T10" y="T11"/>
                </a:cxn>
              </a:cxnLst>
              <a:rect l="T18" t="T19" r="T20" b="T21"/>
              <a:pathLst>
                <a:path w="1773" h="1370">
                  <a:moveTo>
                    <a:pt x="1773" y="0"/>
                  </a:moveTo>
                  <a:lnTo>
                    <a:pt x="618" y="487"/>
                  </a:lnTo>
                  <a:lnTo>
                    <a:pt x="480" y="961"/>
                  </a:lnTo>
                  <a:lnTo>
                    <a:pt x="331" y="1201"/>
                  </a:lnTo>
                  <a:lnTo>
                    <a:pt x="187" y="1321"/>
                  </a:lnTo>
                  <a:cubicBezTo>
                    <a:pt x="47" y="1370"/>
                    <a:pt x="0" y="1369"/>
                    <a:pt x="55" y="1369"/>
                  </a:cubicBezTo>
                </a:path>
              </a:pathLst>
            </a:custGeom>
            <a:noFill/>
            <a:ln w="28575" cmpd="sng">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9" name="Text Box 134"/>
            <p:cNvSpPr txBox="1">
              <a:spLocks noChangeArrowheads="1"/>
            </p:cNvSpPr>
            <p:nvPr/>
          </p:nvSpPr>
          <p:spPr bwMode="auto">
            <a:xfrm>
              <a:off x="8280402" y="3596186"/>
              <a:ext cx="121699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2000" b="1" i="0" u="none" strike="noStrike" kern="0" cap="none" spc="0" normalizeH="0" baseline="0" noProof="0">
                  <a:ln>
                    <a:noFill/>
                  </a:ln>
                  <a:solidFill>
                    <a:srgbClr val="000000"/>
                  </a:solidFill>
                  <a:effectLst/>
                  <a:uLnTx/>
                  <a:uFillTx/>
                  <a:latin typeface="Times New Roman" pitchFamily="18" charset="0"/>
                  <a:ea typeface="宋体" charset="-122"/>
                </a:rPr>
                <a:t>传输轮次</a:t>
              </a:r>
            </a:p>
          </p:txBody>
        </p:sp>
        <p:sp>
          <p:nvSpPr>
            <p:cNvPr id="270" name="Text Box 135"/>
            <p:cNvSpPr txBox="1">
              <a:spLocks noChangeArrowheads="1"/>
            </p:cNvSpPr>
            <p:nvPr/>
          </p:nvSpPr>
          <p:spPr bwMode="auto">
            <a:xfrm>
              <a:off x="966278" y="836711"/>
              <a:ext cx="193033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2000" b="1" i="0" u="none" strike="noStrike" kern="0" cap="none" spc="0" normalizeH="0" baseline="0" noProof="0" dirty="0">
                  <a:ln>
                    <a:noFill/>
                  </a:ln>
                  <a:solidFill>
                    <a:srgbClr val="000000"/>
                  </a:solidFill>
                  <a:effectLst/>
                  <a:uLnTx/>
                  <a:uFillTx/>
                  <a:latin typeface="Times New Roman" pitchFamily="18" charset="0"/>
                  <a:ea typeface="宋体" charset="-122"/>
                </a:rPr>
                <a:t>拥塞窗口  </a:t>
              </a:r>
              <a:r>
                <a:rPr kumimoji="1" lang="en-US" altLang="zh-CN" sz="2000" b="1" i="0" u="none" strike="noStrike" kern="0" cap="none" spc="0" normalizeH="0" baseline="0" noProof="0" dirty="0" err="1">
                  <a:ln>
                    <a:noFill/>
                  </a:ln>
                  <a:solidFill>
                    <a:srgbClr val="000000"/>
                  </a:solidFill>
                  <a:effectLst/>
                  <a:uLnTx/>
                  <a:uFillTx/>
                  <a:latin typeface="Times New Roman" pitchFamily="18" charset="0"/>
                  <a:ea typeface="宋体" charset="-122"/>
                </a:rPr>
                <a:t>cwnd</a:t>
              </a:r>
              <a:endParaRPr kumimoji="1" lang="en-US" altLang="zh-CN" sz="2000" b="1" i="0" u="none" strike="noStrike" kern="0" cap="none" spc="0" normalizeH="0" baseline="0" noProof="0" dirty="0">
                <a:ln>
                  <a:noFill/>
                </a:ln>
                <a:solidFill>
                  <a:srgbClr val="000000"/>
                </a:solidFill>
                <a:effectLst/>
                <a:uLnTx/>
                <a:uFillTx/>
                <a:latin typeface="Times New Roman" pitchFamily="18" charset="0"/>
                <a:ea typeface="宋体" charset="-122"/>
              </a:endParaRPr>
            </a:p>
          </p:txBody>
        </p:sp>
        <p:sp>
          <p:nvSpPr>
            <p:cNvPr id="271" name="Text Box 140"/>
            <p:cNvSpPr txBox="1">
              <a:spLocks noChangeArrowheads="1"/>
            </p:cNvSpPr>
            <p:nvPr/>
          </p:nvSpPr>
          <p:spPr bwMode="auto">
            <a:xfrm>
              <a:off x="7049973" y="1815231"/>
              <a:ext cx="118137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dirty="0">
                  <a:ln>
                    <a:noFill/>
                  </a:ln>
                  <a:solidFill>
                    <a:srgbClr val="FF0000"/>
                  </a:solidFill>
                  <a:effectLst/>
                  <a:uLnTx/>
                  <a:uFillTx/>
                  <a:latin typeface="Times New Roman" pitchFamily="18" charset="0"/>
                  <a:ea typeface="宋体" charset="-122"/>
                </a:rPr>
                <a:t>3-ACK</a:t>
              </a:r>
              <a:endParaRPr kumimoji="1" lang="zh-CN" altLang="en-US" sz="2000" b="1" i="0" u="none" strike="noStrike" kern="0" cap="none" spc="0" normalizeH="0" baseline="0" noProof="0" dirty="0">
                <a:ln>
                  <a:noFill/>
                </a:ln>
                <a:solidFill>
                  <a:srgbClr val="FF0000"/>
                </a:solidFill>
                <a:effectLst/>
                <a:uLnTx/>
                <a:uFillTx/>
                <a:latin typeface="Times New Roman" pitchFamily="18" charset="0"/>
                <a:ea typeface="宋体" charset="-122"/>
              </a:endParaRPr>
            </a:p>
          </p:txBody>
        </p:sp>
        <p:sp>
          <p:nvSpPr>
            <p:cNvPr id="272" name="Rectangle 160"/>
            <p:cNvSpPr>
              <a:spLocks noChangeArrowheads="1"/>
            </p:cNvSpPr>
            <p:nvPr/>
          </p:nvSpPr>
          <p:spPr bwMode="auto">
            <a:xfrm>
              <a:off x="1998153" y="1304875"/>
              <a:ext cx="195000" cy="215336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73" name="Line 156"/>
            <p:cNvSpPr>
              <a:spLocks noChangeShapeType="1"/>
            </p:cNvSpPr>
            <p:nvPr/>
          </p:nvSpPr>
          <p:spPr bwMode="auto">
            <a:xfrm>
              <a:off x="1998153" y="2193137"/>
              <a:ext cx="858000" cy="0"/>
            </a:xfrm>
            <a:prstGeom prst="line">
              <a:avLst/>
            </a:prstGeom>
            <a:noFill/>
            <a:ln w="1905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74" name="Line 146"/>
            <p:cNvSpPr>
              <a:spLocks noChangeShapeType="1"/>
            </p:cNvSpPr>
            <p:nvPr/>
          </p:nvSpPr>
          <p:spPr bwMode="auto">
            <a:xfrm flipV="1">
              <a:off x="1998153" y="1378897"/>
              <a:ext cx="2743000" cy="6729"/>
            </a:xfrm>
            <a:prstGeom prst="line">
              <a:avLst/>
            </a:prstGeom>
            <a:noFill/>
            <a:ln w="1905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75" name="Rectangle 162"/>
            <p:cNvSpPr>
              <a:spLocks noChangeArrowheads="1"/>
            </p:cNvSpPr>
            <p:nvPr/>
          </p:nvSpPr>
          <p:spPr bwMode="auto">
            <a:xfrm>
              <a:off x="5352153" y="3565904"/>
              <a:ext cx="1480374" cy="1615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77" name="Text Box 203"/>
            <p:cNvSpPr txBox="1">
              <a:spLocks noChangeArrowheads="1"/>
            </p:cNvSpPr>
            <p:nvPr/>
          </p:nvSpPr>
          <p:spPr bwMode="auto">
            <a:xfrm>
              <a:off x="8170649" y="1977696"/>
              <a:ext cx="1638589"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b="1" i="0" u="none" strike="noStrike" kern="0" cap="none" spc="0" normalizeH="0" baseline="0" noProof="0" dirty="0">
                  <a:ln>
                    <a:noFill/>
                  </a:ln>
                  <a:solidFill>
                    <a:srgbClr val="0000FF"/>
                  </a:solidFill>
                  <a:effectLst/>
                  <a:uLnTx/>
                  <a:uFillTx/>
                  <a:latin typeface="Times New Roman" pitchFamily="18" charset="0"/>
                  <a:ea typeface="宋体" charset="-122"/>
                </a:rPr>
                <a:t>TCP Reno </a:t>
              </a:r>
            </a:p>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b="1" i="0" u="none" strike="noStrike" kern="0" cap="none" spc="0" normalizeH="0" baseline="0" noProof="0" dirty="0">
                  <a:ln>
                    <a:noFill/>
                  </a:ln>
                  <a:solidFill>
                    <a:srgbClr val="0000FF"/>
                  </a:solidFill>
                  <a:effectLst/>
                  <a:uLnTx/>
                  <a:uFillTx/>
                  <a:latin typeface="Times New Roman" pitchFamily="18" charset="0"/>
                  <a:ea typeface="宋体" charset="-122"/>
                </a:rPr>
                <a:t>版本</a:t>
              </a:r>
            </a:p>
          </p:txBody>
        </p:sp>
        <p:sp>
          <p:nvSpPr>
            <p:cNvPr id="278" name="Text Box 205"/>
            <p:cNvSpPr txBox="1">
              <a:spLocks noChangeArrowheads="1"/>
            </p:cNvSpPr>
            <p:nvPr/>
          </p:nvSpPr>
          <p:spPr bwMode="auto">
            <a:xfrm>
              <a:off x="272479" y="1918920"/>
              <a:ext cx="128112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dirty="0" err="1">
                  <a:ln>
                    <a:noFill/>
                  </a:ln>
                  <a:solidFill>
                    <a:srgbClr val="C00000"/>
                  </a:solidFill>
                  <a:effectLst/>
                  <a:uLnTx/>
                  <a:uFillTx/>
                  <a:latin typeface="Times New Roman" pitchFamily="18" charset="0"/>
                  <a:ea typeface="宋体" charset="-122"/>
                </a:rPr>
                <a:t>ssthresh</a:t>
              </a:r>
              <a:endParaRPr kumimoji="1" lang="en-US" altLang="zh-CN" sz="2000" b="1" i="0" u="none" strike="noStrike" kern="0" cap="none" spc="0" normalizeH="0" baseline="0" noProof="0" dirty="0">
                <a:ln>
                  <a:noFill/>
                </a:ln>
                <a:solidFill>
                  <a:srgbClr val="C00000"/>
                </a:solidFill>
                <a:effectLst/>
                <a:uLnTx/>
                <a:uFillTx/>
                <a:latin typeface="Times New Roman" pitchFamily="18" charset="0"/>
                <a:ea typeface="宋体" charset="-122"/>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2000" b="1" i="0" u="none" strike="noStrike" kern="0" cap="none" spc="0" normalizeH="0" baseline="0" noProof="0" dirty="0">
                  <a:ln>
                    <a:noFill/>
                  </a:ln>
                  <a:solidFill>
                    <a:srgbClr val="C00000"/>
                  </a:solidFill>
                  <a:effectLst/>
                  <a:uLnTx/>
                  <a:uFillTx/>
                  <a:latin typeface="Times New Roman" pitchFamily="18" charset="0"/>
                  <a:ea typeface="宋体" charset="-122"/>
                </a:rPr>
                <a:t> 的初始值</a:t>
              </a:r>
            </a:p>
          </p:txBody>
        </p:sp>
        <p:sp>
          <p:nvSpPr>
            <p:cNvPr id="280" name="Line 215"/>
            <p:cNvSpPr>
              <a:spLocks noChangeShapeType="1"/>
            </p:cNvSpPr>
            <p:nvPr/>
          </p:nvSpPr>
          <p:spPr bwMode="auto">
            <a:xfrm flipV="1">
              <a:off x="1413153" y="2223418"/>
              <a:ext cx="219374" cy="0"/>
            </a:xfrm>
            <a:prstGeom prst="line">
              <a:avLst/>
            </a:prstGeom>
            <a:noFill/>
            <a:ln w="19050">
              <a:solidFill>
                <a:srgbClr val="C00000"/>
              </a:solidFill>
              <a:round/>
              <a:headEnd/>
              <a:tailEnd type="triangle" w="sm"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81" name="Text Box 206"/>
            <p:cNvSpPr txBox="1">
              <a:spLocks noChangeArrowheads="1"/>
            </p:cNvSpPr>
            <p:nvPr/>
          </p:nvSpPr>
          <p:spPr bwMode="auto">
            <a:xfrm rot="20245475">
              <a:off x="6948778" y="2393474"/>
              <a:ext cx="121699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2000" b="1" i="0" u="none" strike="noStrike" kern="0" cap="none" spc="0" normalizeH="0" baseline="0" noProof="0">
                  <a:ln>
                    <a:noFill/>
                  </a:ln>
                  <a:solidFill>
                    <a:srgbClr val="000000"/>
                  </a:solidFill>
                  <a:effectLst/>
                  <a:uLnTx/>
                  <a:uFillTx/>
                  <a:latin typeface="Times New Roman" pitchFamily="18" charset="0"/>
                  <a:ea typeface="宋体" charset="-122"/>
                </a:rPr>
                <a:t>拥塞避免</a:t>
              </a:r>
            </a:p>
          </p:txBody>
        </p:sp>
        <p:sp>
          <p:nvSpPr>
            <p:cNvPr id="282" name="Oval 125"/>
            <p:cNvSpPr>
              <a:spLocks noChangeArrowheads="1"/>
            </p:cNvSpPr>
            <p:nvPr/>
          </p:nvSpPr>
          <p:spPr bwMode="auto">
            <a:xfrm>
              <a:off x="5147403" y="3540670"/>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83" name="Oval 126"/>
            <p:cNvSpPr>
              <a:spLocks noChangeArrowheads="1"/>
            </p:cNvSpPr>
            <p:nvPr/>
          </p:nvSpPr>
          <p:spPr bwMode="auto">
            <a:xfrm>
              <a:off x="5383027" y="3343839"/>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84" name="Oval 127"/>
            <p:cNvSpPr>
              <a:spLocks noChangeArrowheads="1"/>
            </p:cNvSpPr>
            <p:nvPr/>
          </p:nvSpPr>
          <p:spPr bwMode="auto">
            <a:xfrm>
              <a:off x="4903653" y="3616374"/>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85" name="Oval 128"/>
            <p:cNvSpPr>
              <a:spLocks noChangeArrowheads="1"/>
            </p:cNvSpPr>
            <p:nvPr/>
          </p:nvSpPr>
          <p:spPr bwMode="auto">
            <a:xfrm>
              <a:off x="5623527" y="2953542"/>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86" name="Oval 129"/>
            <p:cNvSpPr>
              <a:spLocks noChangeArrowheads="1"/>
            </p:cNvSpPr>
            <p:nvPr/>
          </p:nvSpPr>
          <p:spPr bwMode="auto">
            <a:xfrm>
              <a:off x="6106153" y="2440437"/>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87" name="Oval 130"/>
            <p:cNvSpPr>
              <a:spLocks noChangeArrowheads="1"/>
            </p:cNvSpPr>
            <p:nvPr/>
          </p:nvSpPr>
          <p:spPr bwMode="auto">
            <a:xfrm>
              <a:off x="6795153" y="2147715"/>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88" name="Oval 131"/>
            <p:cNvSpPr>
              <a:spLocks noChangeArrowheads="1"/>
            </p:cNvSpPr>
            <p:nvPr/>
          </p:nvSpPr>
          <p:spPr bwMode="auto">
            <a:xfrm>
              <a:off x="6335277" y="2334451"/>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89" name="Oval 132"/>
            <p:cNvSpPr>
              <a:spLocks noChangeArrowheads="1"/>
            </p:cNvSpPr>
            <p:nvPr/>
          </p:nvSpPr>
          <p:spPr bwMode="auto">
            <a:xfrm>
              <a:off x="6569277" y="2238560"/>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90" name="Line 147"/>
            <p:cNvSpPr>
              <a:spLocks noChangeShapeType="1"/>
            </p:cNvSpPr>
            <p:nvPr/>
          </p:nvSpPr>
          <p:spPr bwMode="auto">
            <a:xfrm rot="10800000">
              <a:off x="2016028" y="2595210"/>
              <a:ext cx="4134000" cy="0"/>
            </a:xfrm>
            <a:prstGeom prst="line">
              <a:avLst/>
            </a:prstGeom>
            <a:noFill/>
            <a:ln w="1905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cxnSp>
          <p:nvCxnSpPr>
            <p:cNvPr id="291" name="直接连接符 115"/>
            <p:cNvCxnSpPr>
              <a:cxnSpLocks noChangeShapeType="1"/>
            </p:cNvCxnSpPr>
            <p:nvPr/>
          </p:nvCxnSpPr>
          <p:spPr bwMode="auto">
            <a:xfrm>
              <a:off x="4728153" y="1375532"/>
              <a:ext cx="234000" cy="2266077"/>
            </a:xfrm>
            <a:prstGeom prst="line">
              <a:avLst/>
            </a:prstGeom>
            <a:noFill/>
            <a:ln w="28575" algn="ctr">
              <a:solidFill>
                <a:srgbClr val="0000FF"/>
              </a:solidFill>
              <a:round/>
              <a:headEnd/>
              <a:tailEnd/>
            </a:ln>
            <a:extLst>
              <a:ext uri="{909E8E84-426E-40DD-AFC4-6F175D3DCCD1}">
                <a14:hiddenFill xmlns:a14="http://schemas.microsoft.com/office/drawing/2010/main">
                  <a:noFill/>
                </a14:hiddenFill>
              </a:ext>
            </a:extLst>
          </p:spPr>
        </p:cxnSp>
        <p:sp>
          <p:nvSpPr>
            <p:cNvPr id="293" name="Rectangle 161"/>
            <p:cNvSpPr>
              <a:spLocks noChangeArrowheads="1"/>
            </p:cNvSpPr>
            <p:nvPr/>
          </p:nvSpPr>
          <p:spPr bwMode="auto">
            <a:xfrm>
              <a:off x="2555757" y="1801158"/>
              <a:ext cx="442000" cy="3684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800" b="1" i="0" u="none" strike="noStrike" kern="0" cap="none" spc="0" normalizeH="0" baseline="0" noProof="0" dirty="0">
                  <a:ln>
                    <a:noFill/>
                  </a:ln>
                  <a:solidFill>
                    <a:sysClr val="windowText" lastClr="000000"/>
                  </a:solidFill>
                  <a:effectLst/>
                  <a:uLnTx/>
                  <a:uFillTx/>
                  <a:sym typeface="Wingdings" pitchFamily="2" charset="2"/>
                </a:rPr>
                <a:t></a:t>
              </a:r>
              <a:endParaRPr kumimoji="0" lang="zh-CN" altLang="en-US" sz="2800" b="1" i="0" u="none" strike="noStrike" kern="0" cap="none" spc="0" normalizeH="0" baseline="0" noProof="0" dirty="0">
                <a:ln>
                  <a:noFill/>
                </a:ln>
                <a:solidFill>
                  <a:sysClr val="windowText" lastClr="000000"/>
                </a:solidFill>
                <a:effectLst/>
                <a:uLnTx/>
                <a:uFillTx/>
              </a:endParaRPr>
            </a:p>
          </p:txBody>
        </p:sp>
        <p:sp>
          <p:nvSpPr>
            <p:cNvPr id="294" name="Oval 129"/>
            <p:cNvSpPr>
              <a:spLocks noChangeArrowheads="1"/>
            </p:cNvSpPr>
            <p:nvPr/>
          </p:nvSpPr>
          <p:spPr bwMode="auto">
            <a:xfrm>
              <a:off x="5868903" y="2549787"/>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95" name="任意多边形 134"/>
            <p:cNvSpPr>
              <a:spLocks/>
            </p:cNvSpPr>
            <p:nvPr/>
          </p:nvSpPr>
          <p:spPr bwMode="auto">
            <a:xfrm>
              <a:off x="4952403" y="2181361"/>
              <a:ext cx="1906124" cy="1485482"/>
            </a:xfrm>
            <a:custGeom>
              <a:avLst/>
              <a:gdLst>
                <a:gd name="T0" fmla="*/ 0 w 1929384"/>
                <a:gd name="T1" fmla="*/ 1404281 h 1426464"/>
                <a:gd name="T2" fmla="*/ 224888 w 1929384"/>
                <a:gd name="T3" fmla="*/ 1336767 h 1426464"/>
                <a:gd name="T4" fmla="*/ 445365 w 1929384"/>
                <a:gd name="T5" fmla="*/ 1152231 h 1426464"/>
                <a:gd name="T6" fmla="*/ 903959 w 1929384"/>
                <a:gd name="T7" fmla="*/ 409583 h 1426464"/>
                <a:gd name="T8" fmla="*/ 1860836 w 1929384"/>
                <a:gd name="T9" fmla="*/ 0 h 1426464"/>
                <a:gd name="T10" fmla="*/ 0 60000 65536"/>
                <a:gd name="T11" fmla="*/ 0 60000 65536"/>
                <a:gd name="T12" fmla="*/ 0 60000 65536"/>
                <a:gd name="T13" fmla="*/ 0 60000 65536"/>
                <a:gd name="T14" fmla="*/ 0 60000 65536"/>
                <a:gd name="T15" fmla="*/ 0 w 1929384"/>
                <a:gd name="T16" fmla="*/ 0 h 1426464"/>
                <a:gd name="T17" fmla="*/ 1929384 w 1929384"/>
                <a:gd name="T18" fmla="*/ 1426464 h 1426464"/>
              </a:gdLst>
              <a:ahLst/>
              <a:cxnLst>
                <a:cxn ang="T10">
                  <a:pos x="T0" y="T1"/>
                </a:cxn>
                <a:cxn ang="T11">
                  <a:pos x="T2" y="T3"/>
                </a:cxn>
                <a:cxn ang="T12">
                  <a:pos x="T4" y="T5"/>
                </a:cxn>
                <a:cxn ang="T13">
                  <a:pos x="T6" y="T7"/>
                </a:cxn>
                <a:cxn ang="T14">
                  <a:pos x="T8" y="T9"/>
                </a:cxn>
              </a:cxnLst>
              <a:rect l="T15" t="T16" r="T17" b="T18"/>
              <a:pathLst>
                <a:path w="1929384" h="1426464">
                  <a:moveTo>
                    <a:pt x="0" y="1426464"/>
                  </a:moveTo>
                  <a:lnTo>
                    <a:pt x="233172" y="1357884"/>
                  </a:lnTo>
                  <a:lnTo>
                    <a:pt x="461772" y="1170432"/>
                  </a:lnTo>
                  <a:lnTo>
                    <a:pt x="937260" y="416052"/>
                  </a:lnTo>
                  <a:lnTo>
                    <a:pt x="1929384" y="0"/>
                  </a:lnTo>
                </a:path>
              </a:pathLst>
            </a:custGeom>
            <a:noFill/>
            <a:ln w="28575" cap="flat" cmpd="sng" algn="ctr">
              <a:solidFill>
                <a:srgbClr val="0000FF"/>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96" name="Rectangle 161"/>
            <p:cNvSpPr>
              <a:spLocks noChangeArrowheads="1"/>
            </p:cNvSpPr>
            <p:nvPr/>
          </p:nvSpPr>
          <p:spPr bwMode="auto">
            <a:xfrm>
              <a:off x="4545899" y="1021117"/>
              <a:ext cx="367250" cy="30618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800" b="1" i="0" u="none" strike="noStrike" kern="0" cap="none" spc="0" normalizeH="0" baseline="0" noProof="0" dirty="0">
                  <a:ln>
                    <a:noFill/>
                  </a:ln>
                  <a:solidFill>
                    <a:sysClr val="windowText" lastClr="000000"/>
                  </a:solidFill>
                  <a:effectLst/>
                  <a:uLnTx/>
                  <a:uFillTx/>
                  <a:sym typeface="Wingdings" pitchFamily="2" charset="2"/>
                </a:rPr>
                <a:t></a:t>
              </a:r>
              <a:endParaRPr kumimoji="0" lang="zh-CN" altLang="en-US" sz="2800" b="1" i="0" u="none" strike="noStrike" kern="0" cap="none" spc="0" normalizeH="0" baseline="0" noProof="0" dirty="0">
                <a:ln>
                  <a:noFill/>
                </a:ln>
                <a:solidFill>
                  <a:sysClr val="windowText" lastClr="000000"/>
                </a:solidFill>
                <a:effectLst/>
                <a:uLnTx/>
                <a:uFillTx/>
              </a:endParaRPr>
            </a:p>
          </p:txBody>
        </p:sp>
        <p:cxnSp>
          <p:nvCxnSpPr>
            <p:cNvPr id="297" name="直接连接符 119"/>
            <p:cNvCxnSpPr>
              <a:cxnSpLocks noChangeShapeType="1"/>
            </p:cNvCxnSpPr>
            <p:nvPr/>
          </p:nvCxnSpPr>
          <p:spPr bwMode="auto">
            <a:xfrm flipH="1">
              <a:off x="7064902" y="3022518"/>
              <a:ext cx="1624" cy="694795"/>
            </a:xfrm>
            <a:prstGeom prst="line">
              <a:avLst/>
            </a:prstGeom>
            <a:noFill/>
            <a:ln w="19050" algn="ctr">
              <a:solidFill>
                <a:srgbClr val="000000"/>
              </a:solidFill>
              <a:prstDash val="dash"/>
              <a:round/>
              <a:headEnd/>
              <a:tailEnd/>
            </a:ln>
          </p:spPr>
        </p:cxnSp>
        <p:cxnSp>
          <p:nvCxnSpPr>
            <p:cNvPr id="298" name="直接连接符 121"/>
            <p:cNvCxnSpPr>
              <a:cxnSpLocks noChangeShapeType="1"/>
            </p:cNvCxnSpPr>
            <p:nvPr/>
          </p:nvCxnSpPr>
          <p:spPr bwMode="auto">
            <a:xfrm>
              <a:off x="2032278" y="3005695"/>
              <a:ext cx="5676125" cy="0"/>
            </a:xfrm>
            <a:prstGeom prst="line">
              <a:avLst/>
            </a:prstGeom>
            <a:noFill/>
            <a:ln w="19050" algn="ctr">
              <a:solidFill>
                <a:srgbClr val="000000"/>
              </a:solidFill>
              <a:prstDash val="dash"/>
              <a:round/>
              <a:headEnd/>
              <a:tailEnd/>
            </a:ln>
          </p:spPr>
        </p:cxnSp>
        <p:sp>
          <p:nvSpPr>
            <p:cNvPr id="299" name="Oval 130"/>
            <p:cNvSpPr>
              <a:spLocks noChangeArrowheads="1"/>
            </p:cNvSpPr>
            <p:nvPr/>
          </p:nvSpPr>
          <p:spPr bwMode="auto">
            <a:xfrm>
              <a:off x="7021027" y="2961955"/>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300" name="Line 24"/>
            <p:cNvSpPr>
              <a:spLocks noChangeShapeType="1"/>
            </p:cNvSpPr>
            <p:nvPr/>
          </p:nvSpPr>
          <p:spPr bwMode="auto">
            <a:xfrm>
              <a:off x="7532902" y="363992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301" name="Line 22"/>
            <p:cNvSpPr>
              <a:spLocks noChangeShapeType="1"/>
            </p:cNvSpPr>
            <p:nvPr/>
          </p:nvSpPr>
          <p:spPr bwMode="auto">
            <a:xfrm>
              <a:off x="7295652" y="3644974"/>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302" name="Text Box 87"/>
            <p:cNvSpPr txBox="1">
              <a:spLocks noChangeArrowheads="1"/>
            </p:cNvSpPr>
            <p:nvPr/>
          </p:nvSpPr>
          <p:spPr bwMode="auto">
            <a:xfrm>
              <a:off x="7311902" y="3754324"/>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24</a:t>
              </a:r>
            </a:p>
          </p:txBody>
        </p:sp>
        <p:sp>
          <p:nvSpPr>
            <p:cNvPr id="303" name="Line 22"/>
            <p:cNvSpPr>
              <a:spLocks noChangeShapeType="1"/>
            </p:cNvSpPr>
            <p:nvPr/>
          </p:nvSpPr>
          <p:spPr bwMode="auto">
            <a:xfrm>
              <a:off x="7776652" y="3653385"/>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cxnSp>
          <p:nvCxnSpPr>
            <p:cNvPr id="304" name="直接连接符 134"/>
            <p:cNvCxnSpPr>
              <a:cxnSpLocks noChangeShapeType="1"/>
              <a:stCxn id="295" idx="4"/>
              <a:endCxn id="299" idx="3"/>
            </p:cNvCxnSpPr>
            <p:nvPr/>
          </p:nvCxnSpPr>
          <p:spPr bwMode="auto">
            <a:xfrm>
              <a:off x="6856903" y="2181361"/>
              <a:ext cx="204750" cy="832745"/>
            </a:xfrm>
            <a:prstGeom prst="line">
              <a:avLst/>
            </a:prstGeom>
            <a:noFill/>
            <a:ln w="28575" algn="ctr">
              <a:solidFill>
                <a:srgbClr val="0000FF"/>
              </a:solidFill>
              <a:round/>
              <a:headEnd/>
              <a:tailEnd/>
            </a:ln>
          </p:spPr>
        </p:cxnSp>
        <p:sp>
          <p:nvSpPr>
            <p:cNvPr id="305" name="Text Box 206"/>
            <p:cNvSpPr txBox="1">
              <a:spLocks noChangeArrowheads="1"/>
            </p:cNvSpPr>
            <p:nvPr/>
          </p:nvSpPr>
          <p:spPr bwMode="auto">
            <a:xfrm rot="20070649">
              <a:off x="5809549" y="2010746"/>
              <a:ext cx="111440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800" b="1" i="0" u="none" strike="noStrike" kern="0" cap="none" spc="0" normalizeH="0" baseline="0" noProof="0" dirty="0">
                  <a:ln>
                    <a:noFill/>
                  </a:ln>
                  <a:solidFill>
                    <a:srgbClr val="000000"/>
                  </a:solidFill>
                  <a:effectLst/>
                  <a:uLnTx/>
                  <a:uFillTx/>
                  <a:latin typeface="Times New Roman" pitchFamily="18" charset="0"/>
                  <a:ea typeface="宋体" charset="-122"/>
                </a:rPr>
                <a:t>拥塞避免</a:t>
              </a:r>
            </a:p>
          </p:txBody>
        </p:sp>
        <p:sp>
          <p:nvSpPr>
            <p:cNvPr id="306" name="Text Box 206"/>
            <p:cNvSpPr txBox="1">
              <a:spLocks noChangeArrowheads="1"/>
            </p:cNvSpPr>
            <p:nvPr/>
          </p:nvSpPr>
          <p:spPr bwMode="auto">
            <a:xfrm rot="20205303">
              <a:off x="2990278" y="1471566"/>
              <a:ext cx="121699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2000" b="1" i="0" u="none" strike="noStrike" kern="0" cap="none" spc="0" normalizeH="0" baseline="0" noProof="0">
                  <a:ln>
                    <a:noFill/>
                  </a:ln>
                  <a:solidFill>
                    <a:srgbClr val="000000"/>
                  </a:solidFill>
                  <a:effectLst/>
                  <a:uLnTx/>
                  <a:uFillTx/>
                  <a:latin typeface="Times New Roman" pitchFamily="18" charset="0"/>
                  <a:ea typeface="宋体" charset="-122"/>
                </a:rPr>
                <a:t>拥塞避免</a:t>
              </a:r>
            </a:p>
          </p:txBody>
        </p:sp>
        <p:sp>
          <p:nvSpPr>
            <p:cNvPr id="307" name="TextBox 147"/>
            <p:cNvSpPr txBox="1">
              <a:spLocks noChangeArrowheads="1"/>
            </p:cNvSpPr>
            <p:nvPr/>
          </p:nvSpPr>
          <p:spPr bwMode="auto">
            <a:xfrm>
              <a:off x="5542277" y="2191455"/>
              <a:ext cx="50526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2800" b="1" i="0" u="none" strike="noStrike" kern="0" cap="none" spc="0" normalizeH="0" baseline="0" noProof="0" dirty="0">
                  <a:ln>
                    <a:noFill/>
                  </a:ln>
                  <a:solidFill>
                    <a:srgbClr val="000000"/>
                  </a:solidFill>
                  <a:effectLst/>
                  <a:uLnTx/>
                  <a:uFillTx/>
                  <a:latin typeface="Times New Roman" pitchFamily="18" charset="0"/>
                  <a:ea typeface="宋体" charset="-122"/>
                  <a:sym typeface="Wingdings" pitchFamily="2" charset="2"/>
                </a:rPr>
                <a:t></a:t>
              </a:r>
              <a:endParaRPr kumimoji="1" lang="zh-CN" altLang="en-US" sz="2800" b="1" i="0" u="none" strike="noStrike" kern="0" cap="none" spc="0" normalizeH="0" baseline="0" noProof="0" dirty="0">
                <a:ln>
                  <a:noFill/>
                </a:ln>
                <a:solidFill>
                  <a:srgbClr val="000000"/>
                </a:solidFill>
                <a:effectLst/>
                <a:uLnTx/>
                <a:uFillTx/>
                <a:latin typeface="Times New Roman" pitchFamily="18" charset="0"/>
                <a:ea typeface="宋体" charset="-122"/>
              </a:endParaRPr>
            </a:p>
          </p:txBody>
        </p:sp>
        <p:sp>
          <p:nvSpPr>
            <p:cNvPr id="308" name="矩形 150"/>
            <p:cNvSpPr>
              <a:spLocks noChangeArrowheads="1"/>
            </p:cNvSpPr>
            <p:nvPr/>
          </p:nvSpPr>
          <p:spPr bwMode="auto">
            <a:xfrm>
              <a:off x="2298778" y="3596186"/>
              <a:ext cx="2575625" cy="126174"/>
            </a:xfrm>
            <a:prstGeom prst="rect">
              <a:avLst/>
            </a:prstGeom>
            <a:solidFill>
              <a:srgbClr val="FFFFFF"/>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309" name="TextBox 148"/>
            <p:cNvSpPr txBox="1">
              <a:spLocks noChangeArrowheads="1"/>
            </p:cNvSpPr>
            <p:nvPr/>
          </p:nvSpPr>
          <p:spPr bwMode="auto">
            <a:xfrm>
              <a:off x="6720403" y="1765829"/>
              <a:ext cx="50526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2800" b="1" i="0" u="none" strike="noStrike" kern="0" cap="none" spc="0" normalizeH="0" baseline="0" noProof="0">
                  <a:ln>
                    <a:noFill/>
                  </a:ln>
                  <a:solidFill>
                    <a:srgbClr val="000000"/>
                  </a:solidFill>
                  <a:effectLst/>
                  <a:uLnTx/>
                  <a:uFillTx/>
                  <a:latin typeface="Times New Roman" pitchFamily="18" charset="0"/>
                  <a:ea typeface="宋体" charset="-122"/>
                  <a:sym typeface="Wingdings" pitchFamily="2" charset="2"/>
                </a:rPr>
                <a:t></a:t>
              </a:r>
              <a:endParaRPr kumimoji="1" lang="zh-CN" altLang="en-US" sz="2800" b="1" i="0" u="none" strike="noStrike" kern="0" cap="none" spc="0" normalizeH="0" baseline="0" noProof="0">
                <a:ln>
                  <a:noFill/>
                </a:ln>
                <a:solidFill>
                  <a:srgbClr val="000000"/>
                </a:solidFill>
                <a:effectLst/>
                <a:uLnTx/>
                <a:uFillTx/>
                <a:latin typeface="Times New Roman" pitchFamily="18" charset="0"/>
                <a:ea typeface="宋体" charset="-122"/>
              </a:endParaRPr>
            </a:p>
          </p:txBody>
        </p:sp>
        <p:sp>
          <p:nvSpPr>
            <p:cNvPr id="311" name="矩形 151"/>
            <p:cNvSpPr>
              <a:spLocks noChangeArrowheads="1"/>
            </p:cNvSpPr>
            <p:nvPr/>
          </p:nvSpPr>
          <p:spPr bwMode="auto">
            <a:xfrm>
              <a:off x="7237152" y="3596186"/>
              <a:ext cx="607750" cy="114397"/>
            </a:xfrm>
            <a:prstGeom prst="rect">
              <a:avLst/>
            </a:prstGeom>
            <a:solidFill>
              <a:srgbClr val="FFFFFF"/>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cxnSp>
          <p:nvCxnSpPr>
            <p:cNvPr id="312" name="直接连接符 153"/>
            <p:cNvCxnSpPr>
              <a:cxnSpLocks noChangeShapeType="1"/>
            </p:cNvCxnSpPr>
            <p:nvPr/>
          </p:nvCxnSpPr>
          <p:spPr bwMode="auto">
            <a:xfrm flipV="1">
              <a:off x="5903027" y="2630538"/>
              <a:ext cx="11376" cy="1043034"/>
            </a:xfrm>
            <a:prstGeom prst="line">
              <a:avLst/>
            </a:prstGeom>
            <a:noFill/>
            <a:ln w="19050" algn="ctr">
              <a:solidFill>
                <a:srgbClr val="000000"/>
              </a:solidFill>
              <a:prstDash val="dash"/>
              <a:round/>
              <a:headEnd/>
              <a:tailEnd/>
            </a:ln>
          </p:spPr>
        </p:cxnSp>
        <p:cxnSp>
          <p:nvCxnSpPr>
            <p:cNvPr id="313" name="直接连接符 157"/>
            <p:cNvCxnSpPr>
              <a:cxnSpLocks noChangeShapeType="1"/>
            </p:cNvCxnSpPr>
            <p:nvPr/>
          </p:nvCxnSpPr>
          <p:spPr bwMode="auto">
            <a:xfrm flipV="1">
              <a:off x="6832527" y="2253700"/>
              <a:ext cx="11376" cy="1520811"/>
            </a:xfrm>
            <a:prstGeom prst="line">
              <a:avLst/>
            </a:prstGeom>
            <a:noFill/>
            <a:ln w="19050" algn="ctr">
              <a:solidFill>
                <a:srgbClr val="000000"/>
              </a:solidFill>
              <a:prstDash val="dash"/>
              <a:round/>
              <a:headEnd/>
              <a:tailEnd/>
            </a:ln>
          </p:spPr>
        </p:cxnSp>
        <p:cxnSp>
          <p:nvCxnSpPr>
            <p:cNvPr id="314" name="直接连接符 141"/>
            <p:cNvCxnSpPr>
              <a:cxnSpLocks noChangeShapeType="1"/>
            </p:cNvCxnSpPr>
            <p:nvPr/>
          </p:nvCxnSpPr>
          <p:spPr bwMode="auto">
            <a:xfrm flipV="1">
              <a:off x="7001527" y="2475765"/>
              <a:ext cx="1248000" cy="560211"/>
            </a:xfrm>
            <a:prstGeom prst="line">
              <a:avLst/>
            </a:prstGeom>
            <a:noFill/>
            <a:ln w="28575" algn="ctr">
              <a:solidFill>
                <a:srgbClr val="0000FF"/>
              </a:solidFill>
              <a:round/>
              <a:headEnd/>
              <a:tailEnd/>
            </a:ln>
          </p:spPr>
        </p:cxnSp>
        <p:sp>
          <p:nvSpPr>
            <p:cNvPr id="315" name="Oval 202"/>
            <p:cNvSpPr>
              <a:spLocks noChangeArrowheads="1"/>
            </p:cNvSpPr>
            <p:nvPr/>
          </p:nvSpPr>
          <p:spPr bwMode="auto">
            <a:xfrm>
              <a:off x="7724652" y="2655773"/>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316" name="Oval 130"/>
            <p:cNvSpPr>
              <a:spLocks noChangeArrowheads="1"/>
            </p:cNvSpPr>
            <p:nvPr/>
          </p:nvSpPr>
          <p:spPr bwMode="auto">
            <a:xfrm>
              <a:off x="7251777" y="2855968"/>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317" name="Oval 130"/>
            <p:cNvSpPr>
              <a:spLocks noChangeArrowheads="1"/>
            </p:cNvSpPr>
            <p:nvPr/>
          </p:nvSpPr>
          <p:spPr bwMode="auto">
            <a:xfrm>
              <a:off x="7490652" y="2758394"/>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318" name="TextBox 149"/>
            <p:cNvSpPr txBox="1">
              <a:spLocks noChangeArrowheads="1"/>
            </p:cNvSpPr>
            <p:nvPr/>
          </p:nvSpPr>
          <p:spPr bwMode="auto">
            <a:xfrm>
              <a:off x="6795153" y="2987189"/>
              <a:ext cx="50526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2800" b="1" i="0" u="none" strike="noStrike" kern="0" cap="none" spc="0" normalizeH="0" baseline="0" noProof="0" dirty="0">
                  <a:ln>
                    <a:noFill/>
                  </a:ln>
                  <a:solidFill>
                    <a:srgbClr val="000000"/>
                  </a:solidFill>
                  <a:effectLst/>
                  <a:uLnTx/>
                  <a:uFillTx/>
                  <a:latin typeface="Times New Roman" pitchFamily="18" charset="0"/>
                  <a:ea typeface="宋体" charset="-122"/>
                  <a:sym typeface="Wingdings" pitchFamily="2" charset="2"/>
                </a:rPr>
                <a:t></a:t>
              </a:r>
              <a:endParaRPr kumimoji="1" lang="zh-CN" altLang="en-US" sz="2800" b="1" i="0" u="none" strike="noStrike" kern="0" cap="none" spc="0" normalizeH="0" baseline="0" noProof="0" dirty="0">
                <a:ln>
                  <a:noFill/>
                </a:ln>
                <a:solidFill>
                  <a:srgbClr val="000000"/>
                </a:solidFill>
                <a:effectLst/>
                <a:uLnTx/>
                <a:uFillTx/>
                <a:latin typeface="Times New Roman" pitchFamily="18" charset="0"/>
                <a:ea typeface="宋体" charset="-122"/>
              </a:endParaRPr>
            </a:p>
          </p:txBody>
        </p:sp>
        <p:sp>
          <p:nvSpPr>
            <p:cNvPr id="319" name="Oval 202"/>
            <p:cNvSpPr>
              <a:spLocks noChangeArrowheads="1"/>
            </p:cNvSpPr>
            <p:nvPr/>
          </p:nvSpPr>
          <p:spPr bwMode="auto">
            <a:xfrm>
              <a:off x="7966777" y="2531282"/>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cxnSp>
          <p:nvCxnSpPr>
            <p:cNvPr id="320" name="直接连接符 117"/>
            <p:cNvCxnSpPr>
              <a:cxnSpLocks noChangeShapeType="1"/>
            </p:cNvCxnSpPr>
            <p:nvPr/>
          </p:nvCxnSpPr>
          <p:spPr bwMode="auto">
            <a:xfrm flipH="1">
              <a:off x="4726527" y="1506753"/>
              <a:ext cx="4876" cy="2200466"/>
            </a:xfrm>
            <a:prstGeom prst="line">
              <a:avLst/>
            </a:prstGeom>
            <a:noFill/>
            <a:ln w="19050" algn="ctr">
              <a:solidFill>
                <a:srgbClr val="000000"/>
              </a:solidFill>
              <a:prstDash val="dash"/>
              <a:round/>
              <a:headEnd/>
              <a:tailEnd/>
            </a:ln>
            <a:extLst>
              <a:ext uri="{909E8E84-426E-40DD-AFC4-6F175D3DCCD1}">
                <a14:hiddenFill xmlns:a14="http://schemas.microsoft.com/office/drawing/2010/main">
                  <a:noFill/>
                </a14:hiddenFill>
              </a:ext>
            </a:extLst>
          </p:spPr>
        </p:cxnSp>
        <p:cxnSp>
          <p:nvCxnSpPr>
            <p:cNvPr id="321" name="直接连接符 119"/>
            <p:cNvCxnSpPr>
              <a:cxnSpLocks noChangeShapeType="1"/>
            </p:cNvCxnSpPr>
            <p:nvPr/>
          </p:nvCxnSpPr>
          <p:spPr bwMode="auto">
            <a:xfrm>
              <a:off x="2854527" y="2309217"/>
              <a:ext cx="0" cy="1384543"/>
            </a:xfrm>
            <a:prstGeom prst="line">
              <a:avLst/>
            </a:prstGeom>
            <a:noFill/>
            <a:ln w="19050" algn="ctr">
              <a:solidFill>
                <a:srgbClr val="000000"/>
              </a:solidFill>
              <a:prstDash val="dash"/>
              <a:round/>
              <a:headEnd/>
              <a:tailEnd/>
            </a:ln>
            <a:extLst>
              <a:ext uri="{909E8E84-426E-40DD-AFC4-6F175D3DCCD1}">
                <a14:hiddenFill xmlns:a14="http://schemas.microsoft.com/office/drawing/2010/main">
                  <a:noFill/>
                </a14:hiddenFill>
              </a:ext>
            </a:extLst>
          </p:spPr>
        </p:cxnSp>
        <p:sp>
          <p:nvSpPr>
            <p:cNvPr id="249" name="Text Box 91"/>
            <p:cNvSpPr txBox="1">
              <a:spLocks noChangeArrowheads="1"/>
            </p:cNvSpPr>
            <p:nvPr/>
          </p:nvSpPr>
          <p:spPr bwMode="auto">
            <a:xfrm>
              <a:off x="1647153" y="3187385"/>
              <a:ext cx="3129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dirty="0">
                  <a:ln>
                    <a:noFill/>
                  </a:ln>
                  <a:solidFill>
                    <a:srgbClr val="000000"/>
                  </a:solidFill>
                  <a:effectLst/>
                  <a:uLnTx/>
                  <a:uFillTx/>
                  <a:latin typeface="Times New Roman" pitchFamily="18" charset="0"/>
                  <a:ea typeface="宋体" charset="-122"/>
                </a:rPr>
                <a:t>4</a:t>
              </a:r>
            </a:p>
          </p:txBody>
        </p:sp>
      </p:grpSp>
      <p:sp>
        <p:nvSpPr>
          <p:cNvPr id="276" name="Line 167"/>
          <p:cNvSpPr>
            <a:spLocks noChangeShapeType="1"/>
          </p:cNvSpPr>
          <p:nvPr/>
        </p:nvSpPr>
        <p:spPr bwMode="auto">
          <a:xfrm flipV="1">
            <a:off x="6569277" y="2227398"/>
            <a:ext cx="235914" cy="481522"/>
          </a:xfrm>
          <a:prstGeom prst="line">
            <a:avLst/>
          </a:prstGeom>
          <a:noFill/>
          <a:ln w="76200">
            <a:solidFill>
              <a:srgbClr val="FF0000">
                <a:alpha val="80000"/>
              </a:srgbClr>
            </a:solidFill>
            <a:round/>
            <a:headEnd type="none"/>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121" name="Text Box 101"/>
          <p:cNvSpPr txBox="1">
            <a:spLocks noChangeArrowheads="1"/>
          </p:cNvSpPr>
          <p:nvPr/>
        </p:nvSpPr>
        <p:spPr bwMode="auto">
          <a:xfrm>
            <a:off x="842392" y="4293096"/>
            <a:ext cx="8655010" cy="1815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eaLnBrk="1" hangingPunct="1"/>
            <a:r>
              <a:rPr kumimoji="0" lang="zh-CN" altLang="zh-CN" sz="2800" dirty="0">
                <a:solidFill>
                  <a:srgbClr val="000099"/>
                </a:solidFill>
                <a:latin typeface="Arial" pitchFamily="34" charset="0"/>
                <a:ea typeface="黑体" pitchFamily="2" charset="-122"/>
              </a:rPr>
              <a:t>当拥塞窗口</a:t>
            </a:r>
            <a:r>
              <a:rPr kumimoji="0" lang="en-US" altLang="zh-CN" sz="2800" dirty="0" err="1">
                <a:solidFill>
                  <a:srgbClr val="000099"/>
                </a:solidFill>
                <a:latin typeface="Arial" pitchFamily="34" charset="0"/>
                <a:ea typeface="黑体" pitchFamily="2" charset="-122"/>
              </a:rPr>
              <a:t>cwnd</a:t>
            </a:r>
            <a:r>
              <a:rPr kumimoji="0" lang="en-US" altLang="zh-CN" sz="2800" dirty="0">
                <a:solidFill>
                  <a:srgbClr val="000099"/>
                </a:solidFill>
                <a:latin typeface="Arial" pitchFamily="34" charset="0"/>
                <a:ea typeface="黑体" pitchFamily="2" charset="-122"/>
              </a:rPr>
              <a:t> = 16</a:t>
            </a:r>
            <a:r>
              <a:rPr kumimoji="0" lang="zh-CN" altLang="zh-CN" sz="2800" dirty="0">
                <a:solidFill>
                  <a:srgbClr val="000099"/>
                </a:solidFill>
                <a:latin typeface="Arial" pitchFamily="34" charset="0"/>
                <a:ea typeface="黑体" pitchFamily="2" charset="-122"/>
              </a:rPr>
              <a:t>时（图中的点</a:t>
            </a:r>
            <a:r>
              <a:rPr kumimoji="0" lang="en-US" altLang="zh-CN" sz="2800" dirty="0">
                <a:solidFill>
                  <a:srgbClr val="000099"/>
                </a:solidFill>
                <a:latin typeface="Arial" pitchFamily="34" charset="0"/>
                <a:ea typeface="黑体" pitchFamily="2" charset="-122"/>
                <a:sym typeface="Wingdings"/>
              </a:rPr>
              <a:t></a:t>
            </a:r>
            <a:r>
              <a:rPr kumimoji="0" lang="zh-CN" altLang="zh-CN" sz="2800" dirty="0">
                <a:solidFill>
                  <a:srgbClr val="000099"/>
                </a:solidFill>
                <a:latin typeface="Arial" pitchFamily="34" charset="0"/>
                <a:ea typeface="黑体" pitchFamily="2" charset="-122"/>
              </a:rPr>
              <a:t>），出现了一个新的情况，就是发送方一连收到</a:t>
            </a:r>
            <a:r>
              <a:rPr kumimoji="0" lang="en-US" altLang="zh-CN" sz="2800" dirty="0">
                <a:solidFill>
                  <a:srgbClr val="000099"/>
                </a:solidFill>
                <a:latin typeface="Arial" pitchFamily="34" charset="0"/>
                <a:ea typeface="黑体" pitchFamily="2" charset="-122"/>
              </a:rPr>
              <a:t> 3 </a:t>
            </a:r>
            <a:r>
              <a:rPr kumimoji="0" lang="zh-CN" altLang="zh-CN" sz="2800" dirty="0">
                <a:solidFill>
                  <a:srgbClr val="000099"/>
                </a:solidFill>
                <a:latin typeface="Arial" pitchFamily="34" charset="0"/>
                <a:ea typeface="黑体" pitchFamily="2" charset="-122"/>
              </a:rPr>
              <a:t>个对同一个报文段的重复确认（图中记为</a:t>
            </a:r>
            <a:r>
              <a:rPr kumimoji="0" lang="en-US" altLang="zh-CN" sz="2800" dirty="0">
                <a:solidFill>
                  <a:srgbClr val="000099"/>
                </a:solidFill>
                <a:latin typeface="Arial" pitchFamily="34" charset="0"/>
                <a:ea typeface="黑体" pitchFamily="2" charset="-122"/>
              </a:rPr>
              <a:t>3-ACK</a:t>
            </a:r>
            <a:r>
              <a:rPr kumimoji="0" lang="zh-CN" altLang="zh-CN" sz="2800" dirty="0">
                <a:solidFill>
                  <a:srgbClr val="000099"/>
                </a:solidFill>
                <a:latin typeface="Arial" pitchFamily="34" charset="0"/>
                <a:ea typeface="黑体" pitchFamily="2" charset="-122"/>
              </a:rPr>
              <a:t>）。</a:t>
            </a:r>
            <a:r>
              <a:rPr kumimoji="0" lang="zh-CN" altLang="en-US" sz="2800" dirty="0">
                <a:solidFill>
                  <a:srgbClr val="000099"/>
                </a:solidFill>
                <a:latin typeface="Arial" pitchFamily="34" charset="0"/>
                <a:ea typeface="黑体" pitchFamily="2" charset="-122"/>
              </a:rPr>
              <a:t>发送方改为执行</a:t>
            </a:r>
            <a:r>
              <a:rPr kumimoji="0" lang="zh-CN" altLang="en-US" sz="2800" dirty="0">
                <a:solidFill>
                  <a:srgbClr val="FF0000"/>
                </a:solidFill>
                <a:latin typeface="Arial" pitchFamily="34" charset="0"/>
                <a:ea typeface="黑体" pitchFamily="2" charset="-122"/>
              </a:rPr>
              <a:t>快重传和快恢复算法。</a:t>
            </a:r>
            <a:endParaRPr kumimoji="0" lang="en-US" altLang="zh-CN" sz="2800" dirty="0">
              <a:solidFill>
                <a:srgbClr val="FF0000"/>
              </a:solidFill>
              <a:latin typeface="Arial" pitchFamily="34" charset="0"/>
              <a:ea typeface="黑体" pitchFamily="2" charset="-122"/>
            </a:endParaRPr>
          </a:p>
        </p:txBody>
      </p:sp>
    </p:spTree>
    <p:extLst>
      <p:ext uri="{BB962C8B-B14F-4D97-AF65-F5344CB8AC3E}">
        <p14:creationId xmlns:p14="http://schemas.microsoft.com/office/powerpoint/2010/main" val="603025775"/>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6" name="Rectangle 2"/>
          <p:cNvSpPr>
            <a:spLocks noGrp="1" noChangeArrowheads="1"/>
          </p:cNvSpPr>
          <p:nvPr>
            <p:ph type="title"/>
          </p:nvPr>
        </p:nvSpPr>
        <p:spPr/>
        <p:txBody>
          <a:bodyPr/>
          <a:lstStyle/>
          <a:p>
            <a:pPr algn="ctr" eaLnBrk="1" hangingPunct="1"/>
            <a:r>
              <a:rPr lang="zh-CN" altLang="en-US" dirty="0"/>
              <a:t>快重传算法</a:t>
            </a:r>
          </a:p>
        </p:txBody>
      </p:sp>
      <p:sp>
        <p:nvSpPr>
          <p:cNvPr id="2297859" name="Rectangle 3"/>
          <p:cNvSpPr>
            <a:spLocks noGrp="1" noChangeArrowheads="1"/>
          </p:cNvSpPr>
          <p:nvPr>
            <p:ph idx="1"/>
          </p:nvPr>
        </p:nvSpPr>
        <p:spPr/>
        <p:txBody>
          <a:bodyPr/>
          <a:lstStyle/>
          <a:p>
            <a:r>
              <a:rPr lang="zh-CN" altLang="zh-CN" dirty="0"/>
              <a:t>采用</a:t>
            </a:r>
            <a:r>
              <a:rPr lang="zh-CN" altLang="zh-CN" dirty="0">
                <a:solidFill>
                  <a:srgbClr val="FF0000"/>
                </a:solidFill>
              </a:rPr>
              <a:t>快重传</a:t>
            </a:r>
            <a:r>
              <a:rPr lang="en-US" altLang="zh-CN" dirty="0"/>
              <a:t>FR (Fast Retransmission) </a:t>
            </a:r>
            <a:r>
              <a:rPr lang="zh-CN" altLang="zh-CN" dirty="0"/>
              <a:t>算法可以让发送方</a:t>
            </a:r>
            <a:r>
              <a:rPr lang="zh-CN" altLang="zh-CN" dirty="0">
                <a:solidFill>
                  <a:srgbClr val="FF0000"/>
                </a:solidFill>
              </a:rPr>
              <a:t>尽早知道发生了个别报文段的丢失。</a:t>
            </a:r>
            <a:endParaRPr lang="en-US" altLang="zh-CN" dirty="0">
              <a:solidFill>
                <a:srgbClr val="FF0000"/>
              </a:solidFill>
            </a:endParaRPr>
          </a:p>
          <a:p>
            <a:r>
              <a:rPr lang="zh-CN" altLang="en-US" dirty="0">
                <a:solidFill>
                  <a:srgbClr val="FF0000"/>
                </a:solidFill>
              </a:rPr>
              <a:t>快重传 </a:t>
            </a:r>
            <a:r>
              <a:rPr lang="zh-CN" altLang="en-US" dirty="0"/>
              <a:t>算法</a:t>
            </a:r>
            <a:r>
              <a:rPr lang="zh-CN" altLang="zh-CN" dirty="0"/>
              <a:t>首先要求接收方不要等待自己发送数据时才进行捎带确认，而是要立即发送确认，即使收到了失序的报文段也要立即发出对已收到的报文段的重复确认。</a:t>
            </a:r>
            <a:endParaRPr lang="en-US" altLang="zh-CN" dirty="0"/>
          </a:p>
        </p:txBody>
      </p:sp>
    </p:spTree>
    <p:extLst>
      <p:ext uri="{BB962C8B-B14F-4D97-AF65-F5344CB8AC3E}">
        <p14:creationId xmlns:p14="http://schemas.microsoft.com/office/powerpoint/2010/main" val="1674315660"/>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6" name="Rectangle 2"/>
          <p:cNvSpPr>
            <a:spLocks noGrp="1" noChangeArrowheads="1"/>
          </p:cNvSpPr>
          <p:nvPr>
            <p:ph type="title"/>
          </p:nvPr>
        </p:nvSpPr>
        <p:spPr/>
        <p:txBody>
          <a:bodyPr/>
          <a:lstStyle/>
          <a:p>
            <a:pPr algn="ctr" eaLnBrk="1" hangingPunct="1"/>
            <a:r>
              <a:rPr lang="zh-CN" altLang="en-US" dirty="0"/>
              <a:t>快重传算法</a:t>
            </a:r>
          </a:p>
        </p:txBody>
      </p:sp>
      <p:sp>
        <p:nvSpPr>
          <p:cNvPr id="2297859" name="Rectangle 3"/>
          <p:cNvSpPr>
            <a:spLocks noGrp="1" noChangeArrowheads="1"/>
          </p:cNvSpPr>
          <p:nvPr>
            <p:ph idx="1"/>
          </p:nvPr>
        </p:nvSpPr>
        <p:spPr/>
        <p:txBody>
          <a:bodyPr/>
          <a:lstStyle/>
          <a:p>
            <a:r>
              <a:rPr lang="zh-CN" altLang="zh-CN" dirty="0">
                <a:solidFill>
                  <a:srgbClr val="FF0000"/>
                </a:solidFill>
              </a:rPr>
              <a:t>发送方只要一连收到三个重复确认，</a:t>
            </a:r>
            <a:r>
              <a:rPr lang="zh-CN" altLang="zh-CN" dirty="0"/>
              <a:t>就知道接收方确实没有收到报文段，因而应当</a:t>
            </a:r>
            <a:r>
              <a:rPr lang="zh-CN" altLang="zh-CN" dirty="0">
                <a:solidFill>
                  <a:srgbClr val="FF0000"/>
                </a:solidFill>
              </a:rPr>
              <a:t>立即进行重传（即“快重传”），</a:t>
            </a:r>
            <a:r>
              <a:rPr lang="zh-CN" altLang="zh-CN" dirty="0"/>
              <a:t>这样就不会出现超时，发送方也不就会误认为出现了网络拥塞。</a:t>
            </a:r>
            <a:endParaRPr lang="en-US" altLang="zh-CN" dirty="0"/>
          </a:p>
          <a:p>
            <a:r>
              <a:rPr lang="zh-CN" altLang="zh-CN" dirty="0"/>
              <a:t>使用快重传可以使整个网络的吞吐量提高约</a:t>
            </a:r>
            <a:r>
              <a:rPr lang="en-US" altLang="zh-CN" dirty="0"/>
              <a:t>20%</a:t>
            </a:r>
            <a:r>
              <a:rPr lang="zh-CN" altLang="zh-CN" dirty="0"/>
              <a:t>。</a:t>
            </a:r>
            <a:r>
              <a:rPr lang="zh-CN" altLang="en-US" dirty="0"/>
              <a:t> </a:t>
            </a:r>
          </a:p>
        </p:txBody>
      </p:sp>
      <p:sp>
        <p:nvSpPr>
          <p:cNvPr id="2" name="矩形 1"/>
          <p:cNvSpPr/>
          <p:nvPr/>
        </p:nvSpPr>
        <p:spPr>
          <a:xfrm>
            <a:off x="848544" y="4684613"/>
            <a:ext cx="8568952" cy="1129348"/>
          </a:xfrm>
          <a:prstGeom prst="rect">
            <a:avLst/>
          </a:prstGeom>
          <a:solidFill>
            <a:srgbClr val="66FF66"/>
          </a:solidFill>
          <a:ln>
            <a:solidFill>
              <a:schemeClr val="tx1"/>
            </a:solidFill>
          </a:ln>
        </p:spPr>
        <p:txBody>
          <a:bodyPr wrap="square">
            <a:spAutoFit/>
          </a:bodyPr>
          <a:lstStyle/>
          <a:p>
            <a:pPr algn="just" eaLnBrk="1" hangingPunct="1">
              <a:lnSpc>
                <a:spcPct val="110000"/>
              </a:lnSpc>
            </a:pPr>
            <a:r>
              <a:rPr lang="zh-CN" altLang="en-US" sz="3200" b="1" dirty="0">
                <a:latin typeface="+mn-lt"/>
                <a:ea typeface="黑体" pitchFamily="2" charset="-122"/>
              </a:rPr>
              <a:t>不难看出，快重传并非取消重传计时器，而是在某些情况下可</a:t>
            </a:r>
            <a:r>
              <a:rPr lang="zh-CN" altLang="en-US" sz="3200" b="1" dirty="0">
                <a:solidFill>
                  <a:srgbClr val="FF0000"/>
                </a:solidFill>
                <a:latin typeface="+mn-lt"/>
                <a:ea typeface="黑体" pitchFamily="2" charset="-122"/>
              </a:rPr>
              <a:t>更早地重传</a:t>
            </a:r>
            <a:r>
              <a:rPr lang="zh-CN" altLang="en-US" sz="3200" b="1" dirty="0">
                <a:latin typeface="+mn-lt"/>
                <a:ea typeface="黑体" pitchFamily="2" charset="-122"/>
              </a:rPr>
              <a:t>丢失的报文段。 </a:t>
            </a:r>
          </a:p>
        </p:txBody>
      </p:sp>
    </p:spTree>
    <p:extLst>
      <p:ext uri="{BB962C8B-B14F-4D97-AF65-F5344CB8AC3E}">
        <p14:creationId xmlns:p14="http://schemas.microsoft.com/office/powerpoint/2010/main" val="1418200060"/>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Rectangle 2"/>
          <p:cNvSpPr txBox="1">
            <a:spLocks noChangeArrowheads="1"/>
          </p:cNvSpPr>
          <p:nvPr/>
        </p:nvSpPr>
        <p:spPr bwMode="auto">
          <a:xfrm>
            <a:off x="1208584" y="152400"/>
            <a:ext cx="7397750" cy="585788"/>
          </a:xfrm>
          <a:prstGeom prst="rect">
            <a:avLst/>
          </a:prstGeom>
          <a:solidFill>
            <a:srgbClr val="FFFF99"/>
          </a:solidFill>
          <a:ln>
            <a:solidFill>
              <a:srgbClr val="3333CC"/>
            </a:solidFill>
            <a:miter lim="800000"/>
            <a:headEnd/>
            <a:tailEnd/>
          </a:ln>
          <a:effectLst>
            <a:outerShdw dist="35921" dir="2700000" algn="ctr" rotWithShape="0">
              <a:srgbClr val="1C1C1C"/>
            </a:outerShdw>
          </a:effectLs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kumimoji="1" sz="4400" b="1">
                <a:solidFill>
                  <a:schemeClr val="tx2"/>
                </a:solidFill>
                <a:latin typeface="+mj-lt"/>
                <a:ea typeface="+mj-ea"/>
                <a:cs typeface="+mj-cs"/>
              </a:defRPr>
            </a:lvl1pPr>
            <a:lvl2pPr algn="l" rtl="0" eaLnBrk="0" fontAlgn="base" hangingPunct="0">
              <a:spcBef>
                <a:spcPct val="0"/>
              </a:spcBef>
              <a:spcAft>
                <a:spcPct val="0"/>
              </a:spcAft>
              <a:defRPr kumimoji="1" sz="4400" b="1">
                <a:solidFill>
                  <a:schemeClr val="tx2"/>
                </a:solidFill>
                <a:latin typeface="Tahoma" pitchFamily="34" charset="0"/>
                <a:ea typeface="黑体" pitchFamily="2" charset="-122"/>
              </a:defRPr>
            </a:lvl2pPr>
            <a:lvl3pPr algn="l" rtl="0" eaLnBrk="0" fontAlgn="base" hangingPunct="0">
              <a:spcBef>
                <a:spcPct val="0"/>
              </a:spcBef>
              <a:spcAft>
                <a:spcPct val="0"/>
              </a:spcAft>
              <a:defRPr kumimoji="1" sz="4400" b="1">
                <a:solidFill>
                  <a:schemeClr val="tx2"/>
                </a:solidFill>
                <a:latin typeface="Tahoma" pitchFamily="34" charset="0"/>
                <a:ea typeface="黑体" pitchFamily="2" charset="-122"/>
              </a:defRPr>
            </a:lvl3pPr>
            <a:lvl4pPr algn="l" rtl="0" eaLnBrk="0" fontAlgn="base" hangingPunct="0">
              <a:spcBef>
                <a:spcPct val="0"/>
              </a:spcBef>
              <a:spcAft>
                <a:spcPct val="0"/>
              </a:spcAft>
              <a:defRPr kumimoji="1" sz="4400" b="1">
                <a:solidFill>
                  <a:schemeClr val="tx2"/>
                </a:solidFill>
                <a:latin typeface="Tahoma" pitchFamily="34" charset="0"/>
                <a:ea typeface="黑体" pitchFamily="2" charset="-122"/>
              </a:defRPr>
            </a:lvl4pPr>
            <a:lvl5pPr algn="l" rtl="0" eaLnBrk="0" fontAlgn="base" hangingPunct="0">
              <a:spcBef>
                <a:spcPct val="0"/>
              </a:spcBef>
              <a:spcAft>
                <a:spcPct val="0"/>
              </a:spcAft>
              <a:defRPr kumimoji="1" sz="4400" b="1">
                <a:solidFill>
                  <a:schemeClr val="tx2"/>
                </a:solidFill>
                <a:latin typeface="Tahoma" pitchFamily="34" charset="0"/>
                <a:ea typeface="黑体" pitchFamily="2" charset="-122"/>
              </a:defRPr>
            </a:lvl5pPr>
            <a:lvl6pPr marL="457200" algn="l" rtl="0" fontAlgn="base">
              <a:spcBef>
                <a:spcPct val="0"/>
              </a:spcBef>
              <a:spcAft>
                <a:spcPct val="0"/>
              </a:spcAft>
              <a:defRPr kumimoji="1" sz="4400" b="1">
                <a:solidFill>
                  <a:schemeClr val="tx2"/>
                </a:solidFill>
                <a:latin typeface="Tahoma" pitchFamily="34" charset="0"/>
                <a:ea typeface="黑体" pitchFamily="2" charset="-122"/>
              </a:defRPr>
            </a:lvl6pPr>
            <a:lvl7pPr marL="914400" algn="l" rtl="0" fontAlgn="base">
              <a:spcBef>
                <a:spcPct val="0"/>
              </a:spcBef>
              <a:spcAft>
                <a:spcPct val="0"/>
              </a:spcAft>
              <a:defRPr kumimoji="1" sz="4400" b="1">
                <a:solidFill>
                  <a:schemeClr val="tx2"/>
                </a:solidFill>
                <a:latin typeface="Tahoma" pitchFamily="34" charset="0"/>
                <a:ea typeface="黑体" pitchFamily="2" charset="-122"/>
              </a:defRPr>
            </a:lvl7pPr>
            <a:lvl8pPr marL="1371600" algn="l" rtl="0" fontAlgn="base">
              <a:spcBef>
                <a:spcPct val="0"/>
              </a:spcBef>
              <a:spcAft>
                <a:spcPct val="0"/>
              </a:spcAft>
              <a:defRPr kumimoji="1" sz="4400" b="1">
                <a:solidFill>
                  <a:schemeClr val="tx2"/>
                </a:solidFill>
                <a:latin typeface="Tahoma" pitchFamily="34" charset="0"/>
                <a:ea typeface="黑体" pitchFamily="2" charset="-122"/>
              </a:defRPr>
            </a:lvl8pPr>
            <a:lvl9pPr marL="1828800" algn="l" rtl="0" fontAlgn="base">
              <a:spcBef>
                <a:spcPct val="0"/>
              </a:spcBef>
              <a:spcAft>
                <a:spcPct val="0"/>
              </a:spcAft>
              <a:defRPr kumimoji="1" sz="4400" b="1">
                <a:solidFill>
                  <a:schemeClr val="tx2"/>
                </a:solidFill>
                <a:latin typeface="Tahoma" pitchFamily="34" charset="0"/>
                <a:ea typeface="黑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4000" b="1" i="0" u="none" strike="noStrike" kern="0" cap="none" spc="0" normalizeH="0" baseline="0" noProof="0" dirty="0">
                <a:ln>
                  <a:noFill/>
                </a:ln>
                <a:solidFill>
                  <a:srgbClr val="000099"/>
                </a:solidFill>
                <a:effectLst/>
                <a:uLnTx/>
                <a:uFillTx/>
                <a:latin typeface="Tahoma"/>
                <a:ea typeface="黑体"/>
                <a:cs typeface="+mj-cs"/>
              </a:rPr>
              <a:t>快重传举例</a:t>
            </a:r>
          </a:p>
        </p:txBody>
      </p:sp>
      <p:sp>
        <p:nvSpPr>
          <p:cNvPr id="51" name="Text Box 3"/>
          <p:cNvSpPr txBox="1">
            <a:spLocks noChangeArrowheads="1"/>
          </p:cNvSpPr>
          <p:nvPr/>
        </p:nvSpPr>
        <p:spPr bwMode="auto">
          <a:xfrm>
            <a:off x="3590677" y="1052736"/>
            <a:ext cx="874712"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zh-CN" altLang="en-US" sz="1800" b="1" i="0" u="none" strike="noStrike" kern="0" cap="none" spc="0" normalizeH="0" baseline="0" noProof="0">
                <a:ln>
                  <a:noFill/>
                </a:ln>
                <a:solidFill>
                  <a:srgbClr val="000099"/>
                </a:solidFill>
                <a:effectLst/>
                <a:uLnTx/>
                <a:uFillTx/>
                <a:latin typeface="Tahoma" pitchFamily="34" charset="0"/>
                <a:ea typeface="黑体" pitchFamily="2" charset="-122"/>
              </a:rPr>
              <a:t>发送方</a:t>
            </a:r>
          </a:p>
        </p:txBody>
      </p:sp>
      <p:sp>
        <p:nvSpPr>
          <p:cNvPr id="52" name="Text Box 4"/>
          <p:cNvSpPr txBox="1">
            <a:spLocks noChangeArrowheads="1"/>
          </p:cNvSpPr>
          <p:nvPr/>
        </p:nvSpPr>
        <p:spPr bwMode="auto">
          <a:xfrm>
            <a:off x="6881564" y="1114649"/>
            <a:ext cx="874713"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zh-CN" altLang="en-US" sz="1800" b="1" i="0" u="none" strike="noStrike" kern="0" cap="none" spc="0" normalizeH="0" baseline="0" noProof="0">
                <a:ln>
                  <a:noFill/>
                </a:ln>
                <a:solidFill>
                  <a:srgbClr val="000099"/>
                </a:solidFill>
                <a:effectLst/>
                <a:uLnTx/>
                <a:uFillTx/>
                <a:latin typeface="Tahoma" pitchFamily="34" charset="0"/>
                <a:ea typeface="黑体" pitchFamily="2" charset="-122"/>
              </a:rPr>
              <a:t>接收方</a:t>
            </a:r>
          </a:p>
        </p:txBody>
      </p:sp>
      <p:sp>
        <p:nvSpPr>
          <p:cNvPr id="53" name="Text Box 5"/>
          <p:cNvSpPr txBox="1">
            <a:spLocks noChangeArrowheads="1"/>
          </p:cNvSpPr>
          <p:nvPr/>
        </p:nvSpPr>
        <p:spPr bwMode="auto">
          <a:xfrm>
            <a:off x="3076327" y="1475011"/>
            <a:ext cx="10128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zh-CN" altLang="en-US" sz="1800" b="1" i="0" u="none" strike="noStrike" kern="0" cap="none" spc="0" normalizeH="0" baseline="0" noProof="0">
                <a:ln>
                  <a:noFill/>
                </a:ln>
                <a:solidFill>
                  <a:srgbClr val="000099"/>
                </a:solidFill>
                <a:effectLst/>
                <a:uLnTx/>
                <a:uFillTx/>
                <a:latin typeface="Tahoma" pitchFamily="34" charset="0"/>
                <a:ea typeface="黑体" pitchFamily="2" charset="-122"/>
              </a:rPr>
              <a:t>发送 </a:t>
            </a:r>
            <a:r>
              <a:rPr kumimoji="0" lang="en-US" altLang="zh-CN" sz="1800" b="1" i="0" u="none" strike="noStrike" kern="0" cap="none" spc="0" normalizeH="0" baseline="0" noProof="0">
                <a:ln>
                  <a:noFill/>
                </a:ln>
                <a:solidFill>
                  <a:srgbClr val="000099"/>
                </a:solidFill>
                <a:effectLst/>
                <a:uLnTx/>
                <a:uFillTx/>
                <a:latin typeface="Tahoma" pitchFamily="34" charset="0"/>
                <a:ea typeface="黑体" pitchFamily="2" charset="-122"/>
              </a:rPr>
              <a:t>M</a:t>
            </a:r>
            <a:r>
              <a:rPr kumimoji="0" lang="en-US" altLang="zh-CN" sz="1800" b="1" i="0" u="none" strike="noStrike" kern="0" cap="none" spc="0" normalizeH="0" baseline="-25000" noProof="0">
                <a:ln>
                  <a:noFill/>
                </a:ln>
                <a:solidFill>
                  <a:srgbClr val="000099"/>
                </a:solidFill>
                <a:effectLst/>
                <a:uLnTx/>
                <a:uFillTx/>
                <a:latin typeface="Tahoma" pitchFamily="34" charset="0"/>
                <a:ea typeface="黑体" pitchFamily="2" charset="-122"/>
              </a:rPr>
              <a:t>1</a:t>
            </a:r>
          </a:p>
        </p:txBody>
      </p:sp>
      <p:sp>
        <p:nvSpPr>
          <p:cNvPr id="54" name="Line 6"/>
          <p:cNvSpPr>
            <a:spLocks noChangeShapeType="1"/>
          </p:cNvSpPr>
          <p:nvPr/>
        </p:nvSpPr>
        <p:spPr bwMode="auto">
          <a:xfrm>
            <a:off x="4054227" y="1724249"/>
            <a:ext cx="3400425" cy="314325"/>
          </a:xfrm>
          <a:prstGeom prst="line">
            <a:avLst/>
          </a:prstGeom>
          <a:noFill/>
          <a:ln w="38100">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99"/>
              </a:solidFill>
              <a:effectLst/>
              <a:uLnTx/>
              <a:uFillTx/>
            </a:endParaRPr>
          </a:p>
        </p:txBody>
      </p:sp>
      <p:sp>
        <p:nvSpPr>
          <p:cNvPr id="55" name="Line 7"/>
          <p:cNvSpPr>
            <a:spLocks noChangeShapeType="1"/>
          </p:cNvSpPr>
          <p:nvPr/>
        </p:nvSpPr>
        <p:spPr bwMode="auto">
          <a:xfrm flipH="1">
            <a:off x="4054227" y="2160811"/>
            <a:ext cx="3400425" cy="314325"/>
          </a:xfrm>
          <a:prstGeom prst="line">
            <a:avLst/>
          </a:prstGeom>
          <a:noFill/>
          <a:ln w="38100">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99"/>
              </a:solidFill>
              <a:effectLst/>
              <a:uLnTx/>
              <a:uFillTx/>
            </a:endParaRPr>
          </a:p>
        </p:txBody>
      </p:sp>
      <p:sp>
        <p:nvSpPr>
          <p:cNvPr id="56" name="Text Box 8"/>
          <p:cNvSpPr txBox="1">
            <a:spLocks noChangeArrowheads="1"/>
          </p:cNvSpPr>
          <p:nvPr/>
        </p:nvSpPr>
        <p:spPr bwMode="auto">
          <a:xfrm>
            <a:off x="7353052" y="1979836"/>
            <a:ext cx="10795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altLang="zh-CN" sz="1800" b="1" i="0" u="none" strike="noStrike" kern="0" cap="none" spc="0" normalizeH="0" baseline="0" noProof="0">
                <a:ln>
                  <a:noFill/>
                </a:ln>
                <a:solidFill>
                  <a:srgbClr val="000099"/>
                </a:solidFill>
                <a:effectLst/>
                <a:uLnTx/>
                <a:uFillTx/>
                <a:latin typeface="Tahoma" pitchFamily="34" charset="0"/>
                <a:ea typeface="黑体" pitchFamily="2" charset="-122"/>
              </a:rPr>
              <a:t> </a:t>
            </a:r>
            <a:r>
              <a:rPr kumimoji="0" lang="zh-CN" altLang="en-US" sz="1800" b="1" i="0" u="none" strike="noStrike" kern="0" cap="none" spc="0" normalizeH="0" baseline="0" noProof="0">
                <a:ln>
                  <a:noFill/>
                </a:ln>
                <a:solidFill>
                  <a:srgbClr val="000099"/>
                </a:solidFill>
                <a:effectLst/>
                <a:uLnTx/>
                <a:uFillTx/>
                <a:latin typeface="Tahoma" pitchFamily="34" charset="0"/>
                <a:ea typeface="黑体" pitchFamily="2" charset="-122"/>
              </a:rPr>
              <a:t>确认 </a:t>
            </a:r>
            <a:r>
              <a:rPr kumimoji="0" lang="en-US" altLang="zh-CN" sz="1800" b="1" i="0" u="none" strike="noStrike" kern="0" cap="none" spc="0" normalizeH="0" baseline="0" noProof="0">
                <a:ln>
                  <a:noFill/>
                </a:ln>
                <a:solidFill>
                  <a:srgbClr val="000099"/>
                </a:solidFill>
                <a:effectLst/>
                <a:uLnTx/>
                <a:uFillTx/>
                <a:latin typeface="Tahoma" pitchFamily="34" charset="0"/>
                <a:ea typeface="黑体" pitchFamily="2" charset="-122"/>
              </a:rPr>
              <a:t>M</a:t>
            </a:r>
            <a:r>
              <a:rPr kumimoji="0" lang="en-US" altLang="zh-CN" sz="1800" b="1" i="0" u="none" strike="noStrike" kern="0" cap="none" spc="0" normalizeH="0" baseline="-25000" noProof="0">
                <a:ln>
                  <a:noFill/>
                </a:ln>
                <a:solidFill>
                  <a:srgbClr val="000099"/>
                </a:solidFill>
                <a:effectLst/>
                <a:uLnTx/>
                <a:uFillTx/>
                <a:latin typeface="Tahoma" pitchFamily="34" charset="0"/>
                <a:ea typeface="黑体" pitchFamily="2" charset="-122"/>
              </a:rPr>
              <a:t>1</a:t>
            </a:r>
            <a:endParaRPr kumimoji="0" lang="en-US" altLang="zh-CN" sz="1800" b="1" i="0" u="none" strike="noStrike" kern="0" cap="none" spc="0" normalizeH="0" baseline="0" noProof="0">
              <a:ln>
                <a:noFill/>
              </a:ln>
              <a:solidFill>
                <a:srgbClr val="000099"/>
              </a:solidFill>
              <a:effectLst/>
              <a:uLnTx/>
              <a:uFillTx/>
              <a:latin typeface="Tahoma" pitchFamily="34" charset="0"/>
              <a:ea typeface="黑体" pitchFamily="2" charset="-122"/>
            </a:endParaRPr>
          </a:p>
        </p:txBody>
      </p:sp>
      <p:sp>
        <p:nvSpPr>
          <p:cNvPr id="57" name="Text Box 9"/>
          <p:cNvSpPr txBox="1">
            <a:spLocks noChangeArrowheads="1"/>
          </p:cNvSpPr>
          <p:nvPr/>
        </p:nvSpPr>
        <p:spPr bwMode="auto">
          <a:xfrm>
            <a:off x="4060577" y="5599336"/>
            <a:ext cx="2794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altLang="zh-CN" sz="1800" b="1" i="1" u="none" strike="noStrike" kern="0" cap="none" spc="0" normalizeH="0" baseline="0" noProof="0">
                <a:ln>
                  <a:noFill/>
                </a:ln>
                <a:solidFill>
                  <a:srgbClr val="000099"/>
                </a:solidFill>
                <a:effectLst/>
                <a:uLnTx/>
                <a:uFillTx/>
                <a:latin typeface="Tahoma" pitchFamily="34" charset="0"/>
                <a:ea typeface="黑体" pitchFamily="2" charset="-122"/>
              </a:rPr>
              <a:t>t</a:t>
            </a:r>
          </a:p>
        </p:txBody>
      </p:sp>
      <p:grpSp>
        <p:nvGrpSpPr>
          <p:cNvPr id="58" name="Group 10"/>
          <p:cNvGrpSpPr>
            <a:grpSpLocks/>
          </p:cNvGrpSpPr>
          <p:nvPr/>
        </p:nvGrpSpPr>
        <p:grpSpPr bwMode="auto">
          <a:xfrm>
            <a:off x="4054227" y="1570261"/>
            <a:ext cx="3400425" cy="4346575"/>
            <a:chOff x="1607" y="677"/>
            <a:chExt cx="1640" cy="2728"/>
          </a:xfrm>
        </p:grpSpPr>
        <p:sp>
          <p:nvSpPr>
            <p:cNvPr id="59" name="Line 11"/>
            <p:cNvSpPr>
              <a:spLocks noChangeShapeType="1"/>
            </p:cNvSpPr>
            <p:nvPr/>
          </p:nvSpPr>
          <p:spPr bwMode="auto">
            <a:xfrm>
              <a:off x="1607" y="677"/>
              <a:ext cx="0" cy="2728"/>
            </a:xfrm>
            <a:prstGeom prst="line">
              <a:avLst/>
            </a:prstGeom>
            <a:noFill/>
            <a:ln w="19050">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99"/>
                </a:solidFill>
                <a:effectLst/>
                <a:uLnTx/>
                <a:uFillTx/>
              </a:endParaRPr>
            </a:p>
          </p:txBody>
        </p:sp>
        <p:sp>
          <p:nvSpPr>
            <p:cNvPr id="60" name="Line 12"/>
            <p:cNvSpPr>
              <a:spLocks noChangeShapeType="1"/>
            </p:cNvSpPr>
            <p:nvPr/>
          </p:nvSpPr>
          <p:spPr bwMode="auto">
            <a:xfrm>
              <a:off x="3247" y="677"/>
              <a:ext cx="0" cy="2728"/>
            </a:xfrm>
            <a:prstGeom prst="line">
              <a:avLst/>
            </a:prstGeom>
            <a:noFill/>
            <a:ln w="19050">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99"/>
                </a:solidFill>
                <a:effectLst/>
                <a:uLnTx/>
                <a:uFillTx/>
              </a:endParaRPr>
            </a:p>
          </p:txBody>
        </p:sp>
      </p:grpSp>
      <p:sp>
        <p:nvSpPr>
          <p:cNvPr id="61" name="Text Box 13"/>
          <p:cNvSpPr txBox="1">
            <a:spLocks noChangeArrowheads="1"/>
          </p:cNvSpPr>
          <p:nvPr/>
        </p:nvSpPr>
        <p:spPr bwMode="auto">
          <a:xfrm>
            <a:off x="7353052" y="2471961"/>
            <a:ext cx="1495425"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altLang="zh-CN" sz="1800" b="1" i="0" u="none" strike="noStrike" kern="0" cap="none" spc="0" normalizeH="0" baseline="0" noProof="0">
                <a:ln>
                  <a:noFill/>
                </a:ln>
                <a:solidFill>
                  <a:srgbClr val="000099"/>
                </a:solidFill>
                <a:effectLst/>
                <a:uLnTx/>
                <a:uFillTx/>
                <a:latin typeface="Tahoma" pitchFamily="34" charset="0"/>
                <a:ea typeface="黑体" pitchFamily="2" charset="-122"/>
              </a:rPr>
              <a:t> </a:t>
            </a:r>
            <a:r>
              <a:rPr kumimoji="0" lang="zh-CN" altLang="en-US" sz="1800" b="1" i="0" u="none" strike="noStrike" kern="0" cap="none" spc="0" normalizeH="0" baseline="0" noProof="0">
                <a:ln>
                  <a:noFill/>
                </a:ln>
                <a:solidFill>
                  <a:srgbClr val="000099"/>
                </a:solidFill>
                <a:effectLst/>
                <a:uLnTx/>
                <a:uFillTx/>
                <a:latin typeface="Tahoma" pitchFamily="34" charset="0"/>
                <a:ea typeface="黑体" pitchFamily="2" charset="-122"/>
              </a:rPr>
              <a:t>确认 </a:t>
            </a:r>
            <a:r>
              <a:rPr kumimoji="0" lang="en-US" altLang="zh-CN" sz="1800" b="1" i="0" u="none" strike="noStrike" kern="0" cap="none" spc="0" normalizeH="0" baseline="0" noProof="0">
                <a:ln>
                  <a:noFill/>
                </a:ln>
                <a:solidFill>
                  <a:srgbClr val="000099"/>
                </a:solidFill>
                <a:effectLst/>
                <a:uLnTx/>
                <a:uFillTx/>
                <a:latin typeface="Tahoma" pitchFamily="34" charset="0"/>
                <a:ea typeface="黑体" pitchFamily="2" charset="-122"/>
              </a:rPr>
              <a:t>M</a:t>
            </a:r>
            <a:r>
              <a:rPr kumimoji="0" lang="en-US" altLang="zh-CN" sz="1800" b="1" i="0" u="none" strike="noStrike" kern="0" cap="none" spc="0" normalizeH="0" baseline="-25000" noProof="0">
                <a:ln>
                  <a:noFill/>
                </a:ln>
                <a:solidFill>
                  <a:srgbClr val="000099"/>
                </a:solidFill>
                <a:effectLst/>
                <a:uLnTx/>
                <a:uFillTx/>
                <a:latin typeface="Tahoma" pitchFamily="34" charset="0"/>
                <a:ea typeface="黑体" pitchFamily="2" charset="-122"/>
              </a:rPr>
              <a:t>2 </a:t>
            </a:r>
            <a:endParaRPr kumimoji="0" lang="en-US" altLang="zh-CN" sz="1800" b="1" i="0" u="none" strike="noStrike" kern="0" cap="none" spc="0" normalizeH="0" baseline="0" noProof="0">
              <a:ln>
                <a:noFill/>
              </a:ln>
              <a:solidFill>
                <a:srgbClr val="000099"/>
              </a:solidFill>
              <a:effectLst/>
              <a:uLnTx/>
              <a:uFillTx/>
              <a:latin typeface="Tahoma" pitchFamily="34" charset="0"/>
              <a:ea typeface="黑体" pitchFamily="2" charset="-122"/>
            </a:endParaRPr>
          </a:p>
        </p:txBody>
      </p:sp>
      <p:sp>
        <p:nvSpPr>
          <p:cNvPr id="62" name="Line 14"/>
          <p:cNvSpPr>
            <a:spLocks noChangeShapeType="1"/>
          </p:cNvSpPr>
          <p:nvPr/>
        </p:nvSpPr>
        <p:spPr bwMode="auto">
          <a:xfrm flipH="1">
            <a:off x="4054227" y="2684686"/>
            <a:ext cx="3400425" cy="312738"/>
          </a:xfrm>
          <a:prstGeom prst="line">
            <a:avLst/>
          </a:prstGeom>
          <a:noFill/>
          <a:ln w="38100">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99"/>
              </a:solidFill>
              <a:effectLst/>
              <a:uLnTx/>
              <a:uFillTx/>
            </a:endParaRPr>
          </a:p>
        </p:txBody>
      </p:sp>
      <p:sp>
        <p:nvSpPr>
          <p:cNvPr id="63" name="Line 15"/>
          <p:cNvSpPr>
            <a:spLocks noChangeShapeType="1"/>
          </p:cNvSpPr>
          <p:nvPr/>
        </p:nvSpPr>
        <p:spPr bwMode="auto">
          <a:xfrm flipH="1">
            <a:off x="4054227" y="3729261"/>
            <a:ext cx="3400425" cy="311150"/>
          </a:xfrm>
          <a:prstGeom prst="line">
            <a:avLst/>
          </a:prstGeom>
          <a:noFill/>
          <a:ln w="38100">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99"/>
              </a:solidFill>
              <a:effectLst/>
              <a:uLnTx/>
              <a:uFillTx/>
            </a:endParaRPr>
          </a:p>
        </p:txBody>
      </p:sp>
      <p:sp>
        <p:nvSpPr>
          <p:cNvPr id="64" name="Line 16"/>
          <p:cNvSpPr>
            <a:spLocks noChangeShapeType="1"/>
          </p:cNvSpPr>
          <p:nvPr/>
        </p:nvSpPr>
        <p:spPr bwMode="auto">
          <a:xfrm flipH="1">
            <a:off x="4054227" y="4248374"/>
            <a:ext cx="3400425" cy="314325"/>
          </a:xfrm>
          <a:prstGeom prst="line">
            <a:avLst/>
          </a:prstGeom>
          <a:noFill/>
          <a:ln w="38100">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99"/>
              </a:solidFill>
              <a:effectLst/>
              <a:uLnTx/>
              <a:uFillTx/>
            </a:endParaRPr>
          </a:p>
        </p:txBody>
      </p:sp>
      <p:sp>
        <p:nvSpPr>
          <p:cNvPr id="65" name="Line 17"/>
          <p:cNvSpPr>
            <a:spLocks noChangeShapeType="1"/>
          </p:cNvSpPr>
          <p:nvPr/>
        </p:nvSpPr>
        <p:spPr bwMode="auto">
          <a:xfrm flipH="1">
            <a:off x="4054227" y="4767486"/>
            <a:ext cx="3400425" cy="315913"/>
          </a:xfrm>
          <a:prstGeom prst="line">
            <a:avLst/>
          </a:prstGeom>
          <a:noFill/>
          <a:ln w="38100">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99"/>
              </a:solidFill>
              <a:effectLst/>
              <a:uLnTx/>
              <a:uFillTx/>
            </a:endParaRPr>
          </a:p>
        </p:txBody>
      </p:sp>
      <p:sp>
        <p:nvSpPr>
          <p:cNvPr id="66" name="Text Box 18"/>
          <p:cNvSpPr txBox="1">
            <a:spLocks noChangeArrowheads="1"/>
          </p:cNvSpPr>
          <p:nvPr/>
        </p:nvSpPr>
        <p:spPr bwMode="auto">
          <a:xfrm>
            <a:off x="3076327" y="1978249"/>
            <a:ext cx="101282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zh-CN" altLang="en-US" sz="1800" b="1" i="0" u="none" strike="noStrike" kern="0" cap="none" spc="0" normalizeH="0" baseline="0" noProof="0">
                <a:ln>
                  <a:noFill/>
                </a:ln>
                <a:solidFill>
                  <a:srgbClr val="000099"/>
                </a:solidFill>
                <a:effectLst/>
                <a:uLnTx/>
                <a:uFillTx/>
                <a:latin typeface="Tahoma" pitchFamily="34" charset="0"/>
                <a:ea typeface="黑体" pitchFamily="2" charset="-122"/>
              </a:rPr>
              <a:t>发送 </a:t>
            </a:r>
            <a:r>
              <a:rPr kumimoji="0" lang="en-US" altLang="zh-CN" sz="1800" b="1" i="0" u="none" strike="noStrike" kern="0" cap="none" spc="0" normalizeH="0" baseline="0" noProof="0">
                <a:ln>
                  <a:noFill/>
                </a:ln>
                <a:solidFill>
                  <a:srgbClr val="000099"/>
                </a:solidFill>
                <a:effectLst/>
                <a:uLnTx/>
                <a:uFillTx/>
                <a:latin typeface="Tahoma" pitchFamily="34" charset="0"/>
                <a:ea typeface="黑体" pitchFamily="2" charset="-122"/>
              </a:rPr>
              <a:t>M</a:t>
            </a:r>
            <a:r>
              <a:rPr kumimoji="0" lang="en-US" altLang="zh-CN" sz="1800" b="1" i="0" u="none" strike="noStrike" kern="0" cap="none" spc="0" normalizeH="0" baseline="-25000" noProof="0">
                <a:ln>
                  <a:noFill/>
                </a:ln>
                <a:solidFill>
                  <a:srgbClr val="000099"/>
                </a:solidFill>
                <a:effectLst/>
                <a:uLnTx/>
                <a:uFillTx/>
                <a:latin typeface="Tahoma" pitchFamily="34" charset="0"/>
                <a:ea typeface="黑体" pitchFamily="2" charset="-122"/>
              </a:rPr>
              <a:t>2</a:t>
            </a:r>
          </a:p>
        </p:txBody>
      </p:sp>
      <p:sp>
        <p:nvSpPr>
          <p:cNvPr id="67" name="Text Box 19"/>
          <p:cNvSpPr txBox="1">
            <a:spLocks noChangeArrowheads="1"/>
          </p:cNvSpPr>
          <p:nvPr/>
        </p:nvSpPr>
        <p:spPr bwMode="auto">
          <a:xfrm>
            <a:off x="3076327" y="2487836"/>
            <a:ext cx="10128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zh-CN" altLang="en-US" sz="1800" b="1" i="0" u="none" strike="noStrike" kern="0" cap="none" spc="0" normalizeH="0" baseline="0" noProof="0">
                <a:ln>
                  <a:noFill/>
                </a:ln>
                <a:solidFill>
                  <a:srgbClr val="000099"/>
                </a:solidFill>
                <a:effectLst/>
                <a:uLnTx/>
                <a:uFillTx/>
                <a:latin typeface="Tahoma" pitchFamily="34" charset="0"/>
                <a:ea typeface="黑体" pitchFamily="2" charset="-122"/>
              </a:rPr>
              <a:t>发送 </a:t>
            </a:r>
            <a:r>
              <a:rPr kumimoji="0" lang="en-US" altLang="zh-CN" sz="1800" b="1" i="0" u="none" strike="noStrike" kern="0" cap="none" spc="0" normalizeH="0" baseline="0" noProof="0">
                <a:ln>
                  <a:noFill/>
                </a:ln>
                <a:solidFill>
                  <a:srgbClr val="000099"/>
                </a:solidFill>
                <a:effectLst/>
                <a:uLnTx/>
                <a:uFillTx/>
                <a:latin typeface="Tahoma" pitchFamily="34" charset="0"/>
                <a:ea typeface="黑体" pitchFamily="2" charset="-122"/>
              </a:rPr>
              <a:t>M</a:t>
            </a:r>
            <a:r>
              <a:rPr kumimoji="0" lang="en-US" altLang="zh-CN" sz="1800" b="1" i="0" u="none" strike="noStrike" kern="0" cap="none" spc="0" normalizeH="0" baseline="-25000" noProof="0">
                <a:ln>
                  <a:noFill/>
                </a:ln>
                <a:solidFill>
                  <a:srgbClr val="000099"/>
                </a:solidFill>
                <a:effectLst/>
                <a:uLnTx/>
                <a:uFillTx/>
                <a:latin typeface="Tahoma" pitchFamily="34" charset="0"/>
                <a:ea typeface="黑体" pitchFamily="2" charset="-122"/>
              </a:rPr>
              <a:t>3</a:t>
            </a:r>
          </a:p>
        </p:txBody>
      </p:sp>
      <p:sp>
        <p:nvSpPr>
          <p:cNvPr id="68" name="Text Box 20"/>
          <p:cNvSpPr txBox="1">
            <a:spLocks noChangeArrowheads="1"/>
          </p:cNvSpPr>
          <p:nvPr/>
        </p:nvSpPr>
        <p:spPr bwMode="auto">
          <a:xfrm>
            <a:off x="3076327" y="2994249"/>
            <a:ext cx="101282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zh-CN" altLang="en-US" sz="1800" b="1" i="0" u="none" strike="noStrike" kern="0" cap="none" spc="0" normalizeH="0" baseline="0" noProof="0">
                <a:ln>
                  <a:noFill/>
                </a:ln>
                <a:solidFill>
                  <a:srgbClr val="000099"/>
                </a:solidFill>
                <a:effectLst/>
                <a:uLnTx/>
                <a:uFillTx/>
                <a:latin typeface="Tahoma" pitchFamily="34" charset="0"/>
                <a:ea typeface="黑体" pitchFamily="2" charset="-122"/>
              </a:rPr>
              <a:t>发送 </a:t>
            </a:r>
            <a:r>
              <a:rPr kumimoji="0" lang="en-US" altLang="zh-CN" sz="1800" b="1" i="0" u="none" strike="noStrike" kern="0" cap="none" spc="0" normalizeH="0" baseline="0" noProof="0">
                <a:ln>
                  <a:noFill/>
                </a:ln>
                <a:solidFill>
                  <a:srgbClr val="000099"/>
                </a:solidFill>
                <a:effectLst/>
                <a:uLnTx/>
                <a:uFillTx/>
                <a:latin typeface="Tahoma" pitchFamily="34" charset="0"/>
                <a:ea typeface="黑体" pitchFamily="2" charset="-122"/>
              </a:rPr>
              <a:t>M</a:t>
            </a:r>
            <a:r>
              <a:rPr kumimoji="0" lang="en-US" altLang="zh-CN" sz="1800" b="1" i="0" u="none" strike="noStrike" kern="0" cap="none" spc="0" normalizeH="0" baseline="-25000" noProof="0">
                <a:ln>
                  <a:noFill/>
                </a:ln>
                <a:solidFill>
                  <a:srgbClr val="000099"/>
                </a:solidFill>
                <a:effectLst/>
                <a:uLnTx/>
                <a:uFillTx/>
                <a:latin typeface="Tahoma" pitchFamily="34" charset="0"/>
                <a:ea typeface="黑体" pitchFamily="2" charset="-122"/>
              </a:rPr>
              <a:t>4</a:t>
            </a:r>
          </a:p>
        </p:txBody>
      </p:sp>
      <p:sp>
        <p:nvSpPr>
          <p:cNvPr id="69" name="Line 21"/>
          <p:cNvSpPr>
            <a:spLocks noChangeShapeType="1"/>
          </p:cNvSpPr>
          <p:nvPr/>
        </p:nvSpPr>
        <p:spPr bwMode="auto">
          <a:xfrm>
            <a:off x="4054227" y="3308574"/>
            <a:ext cx="3400425" cy="314325"/>
          </a:xfrm>
          <a:prstGeom prst="line">
            <a:avLst/>
          </a:prstGeom>
          <a:noFill/>
          <a:ln w="38100">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99"/>
              </a:solidFill>
              <a:effectLst/>
              <a:uLnTx/>
              <a:uFillTx/>
            </a:endParaRPr>
          </a:p>
        </p:txBody>
      </p:sp>
      <p:sp>
        <p:nvSpPr>
          <p:cNvPr id="70" name="Text Box 22"/>
          <p:cNvSpPr txBox="1">
            <a:spLocks noChangeArrowheads="1"/>
          </p:cNvSpPr>
          <p:nvPr/>
        </p:nvSpPr>
        <p:spPr bwMode="auto">
          <a:xfrm>
            <a:off x="5789364" y="2698974"/>
            <a:ext cx="6635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000" b="1" i="0" u="none" strike="noStrike" kern="0" cap="none" spc="0" normalizeH="0" baseline="0" noProof="0">
                <a:ln>
                  <a:noFill/>
                </a:ln>
                <a:solidFill>
                  <a:srgbClr val="000099"/>
                </a:solidFill>
                <a:effectLst/>
                <a:uLnTx/>
                <a:uFillTx/>
                <a:latin typeface="Tahoma" pitchFamily="34" charset="0"/>
                <a:ea typeface="黑体" pitchFamily="2" charset="-122"/>
              </a:rPr>
              <a:t>   </a:t>
            </a:r>
            <a:r>
              <a:rPr kumimoji="0" lang="zh-CN" altLang="en-US" sz="2000" b="1" i="0" u="none" strike="noStrike" kern="0" cap="none" spc="0" normalizeH="0" baseline="0" noProof="0">
                <a:ln>
                  <a:noFill/>
                </a:ln>
                <a:solidFill>
                  <a:srgbClr val="000099"/>
                </a:solidFill>
                <a:effectLst/>
                <a:uLnTx/>
                <a:uFillTx/>
                <a:latin typeface="Tahoma" pitchFamily="34" charset="0"/>
                <a:ea typeface="黑体" pitchFamily="2" charset="-122"/>
              </a:rPr>
              <a:t>？</a:t>
            </a:r>
          </a:p>
        </p:txBody>
      </p:sp>
      <p:sp>
        <p:nvSpPr>
          <p:cNvPr id="71" name="Text Box 23"/>
          <p:cNvSpPr txBox="1">
            <a:spLocks noChangeArrowheads="1"/>
          </p:cNvSpPr>
          <p:nvPr/>
        </p:nvSpPr>
        <p:spPr bwMode="auto">
          <a:xfrm>
            <a:off x="3076327" y="3541936"/>
            <a:ext cx="10128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zh-CN" altLang="en-US" sz="1800" b="1" i="0" u="none" strike="noStrike" kern="0" cap="none" spc="0" normalizeH="0" baseline="0" noProof="0">
                <a:ln>
                  <a:noFill/>
                </a:ln>
                <a:solidFill>
                  <a:srgbClr val="000099"/>
                </a:solidFill>
                <a:effectLst/>
                <a:uLnTx/>
                <a:uFillTx/>
                <a:latin typeface="Tahoma" pitchFamily="34" charset="0"/>
                <a:ea typeface="黑体" pitchFamily="2" charset="-122"/>
              </a:rPr>
              <a:t>发送 </a:t>
            </a:r>
            <a:r>
              <a:rPr kumimoji="0" lang="en-US" altLang="zh-CN" sz="1800" b="1" i="0" u="none" strike="noStrike" kern="0" cap="none" spc="0" normalizeH="0" baseline="0" noProof="0">
                <a:ln>
                  <a:noFill/>
                </a:ln>
                <a:solidFill>
                  <a:srgbClr val="000099"/>
                </a:solidFill>
                <a:effectLst/>
                <a:uLnTx/>
                <a:uFillTx/>
                <a:latin typeface="Tahoma" pitchFamily="34" charset="0"/>
                <a:ea typeface="黑体" pitchFamily="2" charset="-122"/>
              </a:rPr>
              <a:t>M</a:t>
            </a:r>
            <a:r>
              <a:rPr kumimoji="0" lang="en-US" altLang="zh-CN" sz="1800" b="1" i="0" u="none" strike="noStrike" kern="0" cap="none" spc="0" normalizeH="0" baseline="-25000" noProof="0">
                <a:ln>
                  <a:noFill/>
                </a:ln>
                <a:solidFill>
                  <a:srgbClr val="000099"/>
                </a:solidFill>
                <a:effectLst/>
                <a:uLnTx/>
                <a:uFillTx/>
                <a:latin typeface="Tahoma" pitchFamily="34" charset="0"/>
                <a:ea typeface="黑体" pitchFamily="2" charset="-122"/>
              </a:rPr>
              <a:t>5</a:t>
            </a:r>
          </a:p>
        </p:txBody>
      </p:sp>
      <p:sp>
        <p:nvSpPr>
          <p:cNvPr id="72" name="Text Box 24"/>
          <p:cNvSpPr txBox="1">
            <a:spLocks noChangeArrowheads="1"/>
          </p:cNvSpPr>
          <p:nvPr/>
        </p:nvSpPr>
        <p:spPr bwMode="auto">
          <a:xfrm>
            <a:off x="3076327" y="4062636"/>
            <a:ext cx="10128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zh-CN" altLang="en-US" sz="1800" b="1" i="0" u="none" strike="noStrike" kern="0" cap="none" spc="0" normalizeH="0" baseline="0" noProof="0">
                <a:ln>
                  <a:noFill/>
                </a:ln>
                <a:solidFill>
                  <a:srgbClr val="000099"/>
                </a:solidFill>
                <a:effectLst/>
                <a:uLnTx/>
                <a:uFillTx/>
                <a:latin typeface="Tahoma" pitchFamily="34" charset="0"/>
                <a:ea typeface="黑体" pitchFamily="2" charset="-122"/>
              </a:rPr>
              <a:t>发送 </a:t>
            </a:r>
            <a:r>
              <a:rPr kumimoji="0" lang="en-US" altLang="zh-CN" sz="1800" b="1" i="0" u="none" strike="noStrike" kern="0" cap="none" spc="0" normalizeH="0" baseline="0" noProof="0">
                <a:ln>
                  <a:noFill/>
                </a:ln>
                <a:solidFill>
                  <a:srgbClr val="000099"/>
                </a:solidFill>
                <a:effectLst/>
                <a:uLnTx/>
                <a:uFillTx/>
                <a:latin typeface="Tahoma" pitchFamily="34" charset="0"/>
                <a:ea typeface="黑体" pitchFamily="2" charset="-122"/>
              </a:rPr>
              <a:t>M</a:t>
            </a:r>
            <a:r>
              <a:rPr kumimoji="0" lang="en-US" altLang="zh-CN" sz="1800" b="1" i="0" u="none" strike="noStrike" kern="0" cap="none" spc="0" normalizeH="0" baseline="-25000" noProof="0">
                <a:ln>
                  <a:noFill/>
                </a:ln>
                <a:solidFill>
                  <a:srgbClr val="000099"/>
                </a:solidFill>
                <a:effectLst/>
                <a:uLnTx/>
                <a:uFillTx/>
                <a:latin typeface="Tahoma" pitchFamily="34" charset="0"/>
                <a:ea typeface="黑体" pitchFamily="2" charset="-122"/>
              </a:rPr>
              <a:t>6</a:t>
            </a:r>
          </a:p>
        </p:txBody>
      </p:sp>
      <p:sp>
        <p:nvSpPr>
          <p:cNvPr id="73" name="Text Box 25"/>
          <p:cNvSpPr txBox="1">
            <a:spLocks noChangeArrowheads="1"/>
          </p:cNvSpPr>
          <p:nvPr/>
        </p:nvSpPr>
        <p:spPr bwMode="auto">
          <a:xfrm>
            <a:off x="7353052" y="3438749"/>
            <a:ext cx="158432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altLang="zh-CN" sz="1800" b="1" i="0" u="none" strike="noStrike" kern="0" cap="none" spc="0" normalizeH="0" baseline="0" noProof="0">
                <a:ln>
                  <a:noFill/>
                </a:ln>
                <a:solidFill>
                  <a:srgbClr val="000099"/>
                </a:solidFill>
                <a:effectLst/>
                <a:uLnTx/>
                <a:uFillTx/>
                <a:latin typeface="Tahoma" pitchFamily="34" charset="0"/>
                <a:ea typeface="黑体" pitchFamily="2" charset="-122"/>
              </a:rPr>
              <a:t> </a:t>
            </a:r>
            <a:r>
              <a:rPr kumimoji="0" lang="zh-CN" altLang="en-US" sz="1800" b="1" i="0" u="none" strike="noStrike" kern="0" cap="none" spc="0" normalizeH="0" baseline="0" noProof="0">
                <a:ln>
                  <a:noFill/>
                </a:ln>
                <a:solidFill>
                  <a:srgbClr val="000099"/>
                </a:solidFill>
                <a:effectLst/>
                <a:uLnTx/>
                <a:uFillTx/>
                <a:latin typeface="Tahoma" pitchFamily="34" charset="0"/>
                <a:ea typeface="黑体" pitchFamily="2" charset="-122"/>
              </a:rPr>
              <a:t>重复确认 </a:t>
            </a:r>
            <a:r>
              <a:rPr kumimoji="0" lang="en-US" altLang="zh-CN" sz="1800" b="1" i="0" u="none" strike="noStrike" kern="0" cap="none" spc="0" normalizeH="0" baseline="0" noProof="0">
                <a:ln>
                  <a:noFill/>
                </a:ln>
                <a:solidFill>
                  <a:srgbClr val="000099"/>
                </a:solidFill>
                <a:effectLst/>
                <a:uLnTx/>
                <a:uFillTx/>
                <a:latin typeface="Tahoma" pitchFamily="34" charset="0"/>
                <a:ea typeface="黑体" pitchFamily="2" charset="-122"/>
              </a:rPr>
              <a:t>M</a:t>
            </a:r>
            <a:r>
              <a:rPr kumimoji="0" lang="en-US" altLang="zh-CN" sz="1800" b="1" i="0" u="none" strike="noStrike" kern="0" cap="none" spc="0" normalizeH="0" baseline="-25000" noProof="0">
                <a:ln>
                  <a:noFill/>
                </a:ln>
                <a:solidFill>
                  <a:srgbClr val="000099"/>
                </a:solidFill>
                <a:effectLst/>
                <a:uLnTx/>
                <a:uFillTx/>
                <a:latin typeface="Tahoma" pitchFamily="34" charset="0"/>
                <a:ea typeface="黑体" pitchFamily="2" charset="-122"/>
              </a:rPr>
              <a:t>2 </a:t>
            </a:r>
            <a:endParaRPr kumimoji="0" lang="en-US" altLang="zh-CN" sz="1800" b="1" i="0" u="none" strike="noStrike" kern="0" cap="none" spc="0" normalizeH="0" baseline="0" noProof="0">
              <a:ln>
                <a:noFill/>
              </a:ln>
              <a:solidFill>
                <a:srgbClr val="000099"/>
              </a:solidFill>
              <a:effectLst/>
              <a:uLnTx/>
              <a:uFillTx/>
              <a:latin typeface="Tahoma" pitchFamily="34" charset="0"/>
              <a:ea typeface="黑体" pitchFamily="2" charset="-122"/>
            </a:endParaRPr>
          </a:p>
        </p:txBody>
      </p:sp>
      <p:grpSp>
        <p:nvGrpSpPr>
          <p:cNvPr id="74" name="Group 26"/>
          <p:cNvGrpSpPr>
            <a:grpSpLocks/>
          </p:cNvGrpSpPr>
          <p:nvPr/>
        </p:nvGrpSpPr>
        <p:grpSpPr bwMode="auto">
          <a:xfrm>
            <a:off x="4054227" y="5073878"/>
            <a:ext cx="3400425" cy="533401"/>
            <a:chOff x="2471" y="3290"/>
            <a:chExt cx="2142" cy="336"/>
          </a:xfrm>
        </p:grpSpPr>
        <p:sp>
          <p:nvSpPr>
            <p:cNvPr id="75" name="Line 27"/>
            <p:cNvSpPr>
              <a:spLocks noChangeShapeType="1"/>
            </p:cNvSpPr>
            <p:nvPr/>
          </p:nvSpPr>
          <p:spPr bwMode="auto">
            <a:xfrm>
              <a:off x="2471" y="3427"/>
              <a:ext cx="2142" cy="199"/>
            </a:xfrm>
            <a:prstGeom prst="line">
              <a:avLst/>
            </a:prstGeom>
            <a:noFill/>
            <a:ln w="38100">
              <a:solidFill>
                <a:srgbClr val="9900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99"/>
                </a:solidFill>
                <a:effectLst/>
                <a:uLnTx/>
                <a:uFillTx/>
              </a:endParaRPr>
            </a:p>
          </p:txBody>
        </p:sp>
        <p:sp>
          <p:nvSpPr>
            <p:cNvPr id="76" name="Text Box 28"/>
            <p:cNvSpPr txBox="1">
              <a:spLocks noChangeArrowheads="1"/>
            </p:cNvSpPr>
            <p:nvPr/>
          </p:nvSpPr>
          <p:spPr bwMode="auto">
            <a:xfrm rot="275181">
              <a:off x="3181" y="3290"/>
              <a:ext cx="1027"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zh-CN" altLang="en-US" sz="2000" b="1" i="0" u="none" strike="noStrike" kern="0" cap="none" spc="0" normalizeH="0" baseline="0" noProof="0">
                  <a:ln>
                    <a:noFill/>
                  </a:ln>
                  <a:solidFill>
                    <a:srgbClr val="000099"/>
                  </a:solidFill>
                  <a:effectLst/>
                  <a:uLnTx/>
                  <a:uFillTx/>
                  <a:latin typeface="Tahoma" pitchFamily="34" charset="0"/>
                  <a:ea typeface="黑体" pitchFamily="2" charset="-122"/>
                </a:rPr>
                <a:t>立即重传 </a:t>
              </a:r>
              <a:r>
                <a:rPr kumimoji="0" lang="en-US" altLang="zh-CN" sz="2000" b="1" i="0" u="none" strike="noStrike" kern="0" cap="none" spc="0" normalizeH="0" baseline="0" noProof="0">
                  <a:ln>
                    <a:noFill/>
                  </a:ln>
                  <a:solidFill>
                    <a:srgbClr val="000099"/>
                  </a:solidFill>
                  <a:effectLst/>
                  <a:uLnTx/>
                  <a:uFillTx/>
                  <a:latin typeface="Tahoma" pitchFamily="34" charset="0"/>
                  <a:ea typeface="黑体" pitchFamily="2" charset="-122"/>
                </a:rPr>
                <a:t>M</a:t>
              </a:r>
              <a:r>
                <a:rPr kumimoji="0" lang="en-US" altLang="zh-CN" sz="2000" b="1" i="0" u="none" strike="noStrike" kern="0" cap="none" spc="0" normalizeH="0" baseline="-25000" noProof="0">
                  <a:ln>
                    <a:noFill/>
                  </a:ln>
                  <a:solidFill>
                    <a:srgbClr val="000099"/>
                  </a:solidFill>
                  <a:effectLst/>
                  <a:uLnTx/>
                  <a:uFillTx/>
                  <a:latin typeface="Tahoma" pitchFamily="34" charset="0"/>
                  <a:ea typeface="黑体" pitchFamily="2" charset="-122"/>
                </a:rPr>
                <a:t>3</a:t>
              </a:r>
            </a:p>
          </p:txBody>
        </p:sp>
      </p:grpSp>
      <p:sp>
        <p:nvSpPr>
          <p:cNvPr id="77" name="Text Box 29"/>
          <p:cNvSpPr txBox="1">
            <a:spLocks noChangeArrowheads="1"/>
          </p:cNvSpPr>
          <p:nvPr/>
        </p:nvSpPr>
        <p:spPr bwMode="auto">
          <a:xfrm>
            <a:off x="7353052" y="3992786"/>
            <a:ext cx="15843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altLang="zh-CN" sz="1800" b="1" i="0" u="none" strike="noStrike" kern="0" cap="none" spc="0" normalizeH="0" baseline="0" noProof="0">
                <a:ln>
                  <a:noFill/>
                </a:ln>
                <a:solidFill>
                  <a:srgbClr val="000099"/>
                </a:solidFill>
                <a:effectLst/>
                <a:uLnTx/>
                <a:uFillTx/>
                <a:latin typeface="Tahoma" pitchFamily="34" charset="0"/>
                <a:ea typeface="黑体" pitchFamily="2" charset="-122"/>
              </a:rPr>
              <a:t> </a:t>
            </a:r>
            <a:r>
              <a:rPr kumimoji="0" lang="zh-CN" altLang="en-US" sz="1800" b="1" i="0" u="none" strike="noStrike" kern="0" cap="none" spc="0" normalizeH="0" baseline="0" noProof="0">
                <a:ln>
                  <a:noFill/>
                </a:ln>
                <a:solidFill>
                  <a:srgbClr val="000099"/>
                </a:solidFill>
                <a:effectLst/>
                <a:uLnTx/>
                <a:uFillTx/>
                <a:latin typeface="Tahoma" pitchFamily="34" charset="0"/>
                <a:ea typeface="黑体" pitchFamily="2" charset="-122"/>
              </a:rPr>
              <a:t>重复确认 </a:t>
            </a:r>
            <a:r>
              <a:rPr kumimoji="0" lang="en-US" altLang="zh-CN" sz="1800" b="1" i="0" u="none" strike="noStrike" kern="0" cap="none" spc="0" normalizeH="0" baseline="0" noProof="0">
                <a:ln>
                  <a:noFill/>
                </a:ln>
                <a:solidFill>
                  <a:srgbClr val="000099"/>
                </a:solidFill>
                <a:effectLst/>
                <a:uLnTx/>
                <a:uFillTx/>
                <a:latin typeface="Tahoma" pitchFamily="34" charset="0"/>
                <a:ea typeface="黑体" pitchFamily="2" charset="-122"/>
              </a:rPr>
              <a:t>M</a:t>
            </a:r>
            <a:r>
              <a:rPr kumimoji="0" lang="en-US" altLang="zh-CN" sz="1800" b="1" i="0" u="none" strike="noStrike" kern="0" cap="none" spc="0" normalizeH="0" baseline="-25000" noProof="0">
                <a:ln>
                  <a:noFill/>
                </a:ln>
                <a:solidFill>
                  <a:srgbClr val="000099"/>
                </a:solidFill>
                <a:effectLst/>
                <a:uLnTx/>
                <a:uFillTx/>
                <a:latin typeface="Tahoma" pitchFamily="34" charset="0"/>
                <a:ea typeface="黑体" pitchFamily="2" charset="-122"/>
              </a:rPr>
              <a:t>2 </a:t>
            </a:r>
            <a:endParaRPr kumimoji="0" lang="en-US" altLang="zh-CN" sz="1800" b="1" i="0" u="none" strike="noStrike" kern="0" cap="none" spc="0" normalizeH="0" baseline="0" noProof="0">
              <a:ln>
                <a:noFill/>
              </a:ln>
              <a:solidFill>
                <a:srgbClr val="000099"/>
              </a:solidFill>
              <a:effectLst/>
              <a:uLnTx/>
              <a:uFillTx/>
              <a:latin typeface="Tahoma" pitchFamily="34" charset="0"/>
              <a:ea typeface="黑体" pitchFamily="2" charset="-122"/>
            </a:endParaRPr>
          </a:p>
        </p:txBody>
      </p:sp>
      <p:sp>
        <p:nvSpPr>
          <p:cNvPr id="78" name="Text Box 30"/>
          <p:cNvSpPr txBox="1">
            <a:spLocks noChangeArrowheads="1"/>
          </p:cNvSpPr>
          <p:nvPr/>
        </p:nvSpPr>
        <p:spPr bwMode="auto">
          <a:xfrm>
            <a:off x="7353052" y="4515074"/>
            <a:ext cx="158432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altLang="zh-CN" sz="1800" b="1" i="0" u="none" strike="noStrike" kern="0" cap="none" spc="0" normalizeH="0" baseline="0" noProof="0">
                <a:ln>
                  <a:noFill/>
                </a:ln>
                <a:solidFill>
                  <a:srgbClr val="000099"/>
                </a:solidFill>
                <a:effectLst/>
                <a:uLnTx/>
                <a:uFillTx/>
                <a:latin typeface="Tahoma" pitchFamily="34" charset="0"/>
                <a:ea typeface="黑体" pitchFamily="2" charset="-122"/>
              </a:rPr>
              <a:t> </a:t>
            </a:r>
            <a:r>
              <a:rPr kumimoji="0" lang="zh-CN" altLang="en-US" sz="1800" b="1" i="0" u="none" strike="noStrike" kern="0" cap="none" spc="0" normalizeH="0" baseline="0" noProof="0">
                <a:ln>
                  <a:noFill/>
                </a:ln>
                <a:solidFill>
                  <a:srgbClr val="000099"/>
                </a:solidFill>
                <a:effectLst/>
                <a:uLnTx/>
                <a:uFillTx/>
                <a:latin typeface="Tahoma" pitchFamily="34" charset="0"/>
                <a:ea typeface="黑体" pitchFamily="2" charset="-122"/>
              </a:rPr>
              <a:t>重复确认 </a:t>
            </a:r>
            <a:r>
              <a:rPr kumimoji="0" lang="en-US" altLang="zh-CN" sz="1800" b="1" i="0" u="none" strike="noStrike" kern="0" cap="none" spc="0" normalizeH="0" baseline="0" noProof="0">
                <a:ln>
                  <a:noFill/>
                </a:ln>
                <a:solidFill>
                  <a:srgbClr val="000099"/>
                </a:solidFill>
                <a:effectLst/>
                <a:uLnTx/>
                <a:uFillTx/>
                <a:latin typeface="Tahoma" pitchFamily="34" charset="0"/>
                <a:ea typeface="黑体" pitchFamily="2" charset="-122"/>
              </a:rPr>
              <a:t>M</a:t>
            </a:r>
            <a:r>
              <a:rPr kumimoji="0" lang="en-US" altLang="zh-CN" sz="1800" b="1" i="0" u="none" strike="noStrike" kern="0" cap="none" spc="0" normalizeH="0" baseline="-25000" noProof="0">
                <a:ln>
                  <a:noFill/>
                </a:ln>
                <a:solidFill>
                  <a:srgbClr val="000099"/>
                </a:solidFill>
                <a:effectLst/>
                <a:uLnTx/>
                <a:uFillTx/>
                <a:latin typeface="Tahoma" pitchFamily="34" charset="0"/>
                <a:ea typeface="黑体" pitchFamily="2" charset="-122"/>
              </a:rPr>
              <a:t>2 </a:t>
            </a:r>
            <a:endParaRPr kumimoji="0" lang="en-US" altLang="zh-CN" sz="1800" b="1" i="0" u="none" strike="noStrike" kern="0" cap="none" spc="0" normalizeH="0" baseline="0" noProof="0">
              <a:ln>
                <a:noFill/>
              </a:ln>
              <a:solidFill>
                <a:srgbClr val="000099"/>
              </a:solidFill>
              <a:effectLst/>
              <a:uLnTx/>
              <a:uFillTx/>
              <a:latin typeface="Tahoma" pitchFamily="34" charset="0"/>
              <a:ea typeface="黑体" pitchFamily="2" charset="-122"/>
            </a:endParaRPr>
          </a:p>
        </p:txBody>
      </p:sp>
      <p:sp>
        <p:nvSpPr>
          <p:cNvPr id="79" name="Text Box 31"/>
          <p:cNvSpPr txBox="1">
            <a:spLocks noChangeArrowheads="1"/>
          </p:cNvSpPr>
          <p:nvPr/>
        </p:nvSpPr>
        <p:spPr bwMode="auto">
          <a:xfrm>
            <a:off x="7445127" y="5599336"/>
            <a:ext cx="2794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altLang="zh-CN" sz="1800" b="1" i="1" u="none" strike="noStrike" kern="0" cap="none" spc="0" normalizeH="0" baseline="0" noProof="0">
                <a:ln>
                  <a:noFill/>
                </a:ln>
                <a:solidFill>
                  <a:srgbClr val="000099"/>
                </a:solidFill>
                <a:effectLst/>
                <a:uLnTx/>
                <a:uFillTx/>
                <a:latin typeface="Tahoma" pitchFamily="34" charset="0"/>
                <a:ea typeface="黑体" pitchFamily="2" charset="-122"/>
              </a:rPr>
              <a:t>t</a:t>
            </a:r>
          </a:p>
        </p:txBody>
      </p:sp>
      <p:sp>
        <p:nvSpPr>
          <p:cNvPr id="80" name="Line 32"/>
          <p:cNvSpPr>
            <a:spLocks noChangeShapeType="1"/>
          </p:cNvSpPr>
          <p:nvPr/>
        </p:nvSpPr>
        <p:spPr bwMode="auto">
          <a:xfrm>
            <a:off x="4060577" y="4873849"/>
            <a:ext cx="3398837" cy="314325"/>
          </a:xfrm>
          <a:prstGeom prst="line">
            <a:avLst/>
          </a:prstGeom>
          <a:noFill/>
          <a:ln w="38100">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99"/>
              </a:solidFill>
              <a:effectLst/>
              <a:uLnTx/>
              <a:uFillTx/>
            </a:endParaRPr>
          </a:p>
        </p:txBody>
      </p:sp>
      <p:sp>
        <p:nvSpPr>
          <p:cNvPr id="81" name="Text Box 33"/>
          <p:cNvSpPr txBox="1">
            <a:spLocks noChangeArrowheads="1"/>
          </p:cNvSpPr>
          <p:nvPr/>
        </p:nvSpPr>
        <p:spPr bwMode="auto">
          <a:xfrm>
            <a:off x="3076327" y="4616674"/>
            <a:ext cx="101282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zh-CN" altLang="en-US" sz="1800" b="1" i="0" u="none" strike="noStrike" kern="0" cap="none" spc="0" normalizeH="0" baseline="0" noProof="0">
                <a:ln>
                  <a:noFill/>
                </a:ln>
                <a:solidFill>
                  <a:srgbClr val="000099"/>
                </a:solidFill>
                <a:effectLst/>
                <a:uLnTx/>
                <a:uFillTx/>
                <a:latin typeface="Tahoma" pitchFamily="34" charset="0"/>
                <a:ea typeface="黑体" pitchFamily="2" charset="-122"/>
              </a:rPr>
              <a:t>发送 </a:t>
            </a:r>
            <a:r>
              <a:rPr kumimoji="0" lang="en-US" altLang="zh-CN" sz="1800" b="1" i="0" u="none" strike="noStrike" kern="0" cap="none" spc="0" normalizeH="0" baseline="0" noProof="0">
                <a:ln>
                  <a:noFill/>
                </a:ln>
                <a:solidFill>
                  <a:srgbClr val="000099"/>
                </a:solidFill>
                <a:effectLst/>
                <a:uLnTx/>
                <a:uFillTx/>
                <a:latin typeface="Tahoma" pitchFamily="34" charset="0"/>
                <a:ea typeface="黑体" pitchFamily="2" charset="-122"/>
              </a:rPr>
              <a:t>M</a:t>
            </a:r>
            <a:r>
              <a:rPr kumimoji="0" lang="en-US" altLang="zh-CN" sz="1800" b="1" i="0" u="none" strike="noStrike" kern="0" cap="none" spc="0" normalizeH="0" baseline="-25000" noProof="0">
                <a:ln>
                  <a:noFill/>
                </a:ln>
                <a:solidFill>
                  <a:srgbClr val="000099"/>
                </a:solidFill>
                <a:effectLst/>
                <a:uLnTx/>
                <a:uFillTx/>
                <a:latin typeface="Tahoma" pitchFamily="34" charset="0"/>
                <a:ea typeface="黑体" pitchFamily="2" charset="-122"/>
              </a:rPr>
              <a:t>7</a:t>
            </a:r>
          </a:p>
        </p:txBody>
      </p:sp>
      <p:grpSp>
        <p:nvGrpSpPr>
          <p:cNvPr id="82" name="Group 34"/>
          <p:cNvGrpSpPr>
            <a:grpSpLocks/>
          </p:cNvGrpSpPr>
          <p:nvPr/>
        </p:nvGrpSpPr>
        <p:grpSpPr bwMode="auto">
          <a:xfrm>
            <a:off x="442664" y="3872136"/>
            <a:ext cx="3584575" cy="1349375"/>
            <a:chOff x="340" y="2508"/>
            <a:chExt cx="2114" cy="850"/>
          </a:xfrm>
        </p:grpSpPr>
        <p:grpSp>
          <p:nvGrpSpPr>
            <p:cNvPr id="83" name="Group 35"/>
            <p:cNvGrpSpPr>
              <a:grpSpLocks/>
            </p:cNvGrpSpPr>
            <p:nvPr/>
          </p:nvGrpSpPr>
          <p:grpSpPr bwMode="auto">
            <a:xfrm>
              <a:off x="1729" y="2635"/>
              <a:ext cx="725" cy="666"/>
              <a:chOff x="1257" y="1749"/>
              <a:chExt cx="817" cy="460"/>
            </a:xfrm>
          </p:grpSpPr>
          <p:sp>
            <p:nvSpPr>
              <p:cNvPr id="85" name="Line 36"/>
              <p:cNvSpPr>
                <a:spLocks noChangeShapeType="1"/>
              </p:cNvSpPr>
              <p:nvPr/>
            </p:nvSpPr>
            <p:spPr bwMode="auto">
              <a:xfrm>
                <a:off x="1257" y="1749"/>
                <a:ext cx="817" cy="0"/>
              </a:xfrm>
              <a:prstGeom prst="line">
                <a:avLst/>
              </a:prstGeom>
              <a:noFill/>
              <a:ln w="28575">
                <a:solidFill>
                  <a:srgbClr val="3333CC"/>
                </a:solidFill>
                <a:prstDash val="dash"/>
                <a:round/>
                <a:headEnd type="triangle" w="med"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99"/>
                  </a:solidFill>
                  <a:effectLst/>
                  <a:uLnTx/>
                  <a:uFillTx/>
                </a:endParaRPr>
              </a:p>
            </p:txBody>
          </p:sp>
          <p:sp>
            <p:nvSpPr>
              <p:cNvPr id="86" name="Line 37"/>
              <p:cNvSpPr>
                <a:spLocks noChangeShapeType="1"/>
              </p:cNvSpPr>
              <p:nvPr/>
            </p:nvSpPr>
            <p:spPr bwMode="auto">
              <a:xfrm>
                <a:off x="1257" y="1979"/>
                <a:ext cx="817" cy="0"/>
              </a:xfrm>
              <a:prstGeom prst="line">
                <a:avLst/>
              </a:prstGeom>
              <a:noFill/>
              <a:ln w="28575">
                <a:solidFill>
                  <a:srgbClr val="3333CC"/>
                </a:solidFill>
                <a:prstDash val="dash"/>
                <a:round/>
                <a:headEnd type="triangle" w="med"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99"/>
                  </a:solidFill>
                  <a:effectLst/>
                  <a:uLnTx/>
                  <a:uFillTx/>
                </a:endParaRPr>
              </a:p>
            </p:txBody>
          </p:sp>
          <p:sp>
            <p:nvSpPr>
              <p:cNvPr id="87" name="Line 38"/>
              <p:cNvSpPr>
                <a:spLocks noChangeShapeType="1"/>
              </p:cNvSpPr>
              <p:nvPr/>
            </p:nvSpPr>
            <p:spPr bwMode="auto">
              <a:xfrm>
                <a:off x="1257" y="2209"/>
                <a:ext cx="817" cy="0"/>
              </a:xfrm>
              <a:prstGeom prst="line">
                <a:avLst/>
              </a:prstGeom>
              <a:noFill/>
              <a:ln w="28575">
                <a:solidFill>
                  <a:srgbClr val="3333CC"/>
                </a:solidFill>
                <a:prstDash val="dash"/>
                <a:round/>
                <a:headEnd type="triangle" w="med"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99"/>
                  </a:solidFill>
                  <a:effectLst/>
                  <a:uLnTx/>
                  <a:uFillTx/>
                </a:endParaRPr>
              </a:p>
            </p:txBody>
          </p:sp>
        </p:grpSp>
        <p:sp>
          <p:nvSpPr>
            <p:cNvPr id="84" name="Text Box 39"/>
            <p:cNvSpPr txBox="1">
              <a:spLocks noChangeArrowheads="1"/>
            </p:cNvSpPr>
            <p:nvPr/>
          </p:nvSpPr>
          <p:spPr bwMode="auto">
            <a:xfrm>
              <a:off x="340" y="2508"/>
              <a:ext cx="1389" cy="85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altLang="zh-CN" sz="900" b="1" i="0" u="none" strike="noStrike" kern="0" cap="none" spc="0" normalizeH="0" baseline="0" noProof="0">
                <a:ln>
                  <a:noFill/>
                </a:ln>
                <a:solidFill>
                  <a:srgbClr val="000099"/>
                </a:solidFill>
                <a:effectLst/>
                <a:uLnTx/>
                <a:uFillTx/>
                <a:latin typeface="Tahoma" pitchFamily="34" charset="0"/>
                <a:ea typeface="黑体" pitchFamily="2" charset="-122"/>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2000" b="1" i="0" u="none" strike="noStrike" kern="0" cap="none" spc="0" normalizeH="0" baseline="0" noProof="0">
                  <a:ln>
                    <a:noFill/>
                  </a:ln>
                  <a:solidFill>
                    <a:srgbClr val="000099"/>
                  </a:solidFill>
                  <a:effectLst/>
                  <a:uLnTx/>
                  <a:uFillTx/>
                  <a:latin typeface="Tahoma" pitchFamily="34" charset="0"/>
                  <a:ea typeface="黑体" pitchFamily="2" charset="-122"/>
                </a:rPr>
                <a:t>收到三个连续的</a:t>
              </a:r>
            </a:p>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2000" b="1" i="0" u="none" strike="noStrike" kern="0" cap="none" spc="0" normalizeH="0" baseline="0" noProof="0">
                  <a:ln>
                    <a:noFill/>
                  </a:ln>
                  <a:solidFill>
                    <a:srgbClr val="000099"/>
                  </a:solidFill>
                  <a:effectLst/>
                  <a:uLnTx/>
                  <a:uFillTx/>
                  <a:latin typeface="Tahoma" pitchFamily="34" charset="0"/>
                  <a:ea typeface="黑体" pitchFamily="2" charset="-122"/>
                </a:rPr>
                <a:t>对 </a:t>
              </a:r>
              <a:r>
                <a:rPr kumimoji="0" lang="en-US" altLang="zh-CN" sz="2000" b="1" i="0" u="none" strike="noStrike" kern="0" cap="none" spc="0" normalizeH="0" baseline="0" noProof="0">
                  <a:ln>
                    <a:noFill/>
                  </a:ln>
                  <a:solidFill>
                    <a:srgbClr val="000099"/>
                  </a:solidFill>
                  <a:effectLst/>
                  <a:uLnTx/>
                  <a:uFillTx/>
                  <a:latin typeface="Tahoma" pitchFamily="34" charset="0"/>
                  <a:ea typeface="黑体" pitchFamily="2" charset="-122"/>
                </a:rPr>
                <a:t>M</a:t>
              </a:r>
              <a:r>
                <a:rPr kumimoji="0" lang="en-US" altLang="zh-CN" sz="2000" b="1" i="0" u="none" strike="noStrike" kern="0" cap="none" spc="0" normalizeH="0" baseline="-25000" noProof="0">
                  <a:ln>
                    <a:noFill/>
                  </a:ln>
                  <a:solidFill>
                    <a:srgbClr val="000099"/>
                  </a:solidFill>
                  <a:effectLst/>
                  <a:uLnTx/>
                  <a:uFillTx/>
                  <a:latin typeface="Tahoma" pitchFamily="34" charset="0"/>
                  <a:ea typeface="黑体" pitchFamily="2" charset="-122"/>
                </a:rPr>
                <a:t>2</a:t>
              </a:r>
              <a:r>
                <a:rPr kumimoji="0" lang="en-US" altLang="zh-CN" sz="2000" b="1" i="0" u="none" strike="noStrike" kern="0" cap="none" spc="0" normalizeH="0" baseline="0" noProof="0">
                  <a:ln>
                    <a:noFill/>
                  </a:ln>
                  <a:solidFill>
                    <a:srgbClr val="000099"/>
                  </a:solidFill>
                  <a:effectLst/>
                  <a:uLnTx/>
                  <a:uFillTx/>
                  <a:latin typeface="Tahoma" pitchFamily="34" charset="0"/>
                  <a:ea typeface="黑体" pitchFamily="2" charset="-122"/>
                </a:rPr>
                <a:t> </a:t>
              </a:r>
              <a:r>
                <a:rPr kumimoji="0" lang="zh-CN" altLang="en-US" sz="2000" b="1" i="0" u="none" strike="noStrike" kern="0" cap="none" spc="0" normalizeH="0" baseline="0" noProof="0">
                  <a:ln>
                    <a:noFill/>
                  </a:ln>
                  <a:solidFill>
                    <a:srgbClr val="000099"/>
                  </a:solidFill>
                  <a:effectLst/>
                  <a:uLnTx/>
                  <a:uFillTx/>
                  <a:latin typeface="Tahoma" pitchFamily="34" charset="0"/>
                  <a:ea typeface="黑体" pitchFamily="2" charset="-122"/>
                </a:rPr>
                <a:t>的重复确认</a:t>
              </a:r>
            </a:p>
            <a:p>
              <a:pPr marL="0" marR="0" lvl="0" indent="0" defTabSz="914400" eaLnBrk="1" fontAlgn="auto" latinLnBrk="0" hangingPunct="1">
                <a:lnSpc>
                  <a:spcPct val="100000"/>
                </a:lnSpc>
                <a:spcBef>
                  <a:spcPct val="20000"/>
                </a:spcBef>
                <a:spcAft>
                  <a:spcPts val="0"/>
                </a:spcAft>
                <a:buClrTx/>
                <a:buSzTx/>
                <a:buFontTx/>
                <a:buNone/>
                <a:tabLst/>
                <a:defRPr/>
              </a:pPr>
              <a:r>
                <a:rPr kumimoji="0" lang="zh-CN" altLang="en-US" sz="2000" b="1" i="0" u="none" strike="noStrike" kern="0" cap="none" spc="0" normalizeH="0" baseline="0" noProof="0">
                  <a:ln>
                    <a:noFill/>
                  </a:ln>
                  <a:solidFill>
                    <a:srgbClr val="000099"/>
                  </a:solidFill>
                  <a:effectLst/>
                  <a:uLnTx/>
                  <a:uFillTx/>
                  <a:latin typeface="Tahoma" pitchFamily="34" charset="0"/>
                  <a:ea typeface="黑体" pitchFamily="2" charset="-122"/>
                </a:rPr>
                <a:t>立即重传 </a:t>
              </a:r>
              <a:r>
                <a:rPr kumimoji="0" lang="en-US" altLang="zh-CN" sz="2000" b="1" i="0" u="none" strike="noStrike" kern="0" cap="none" spc="0" normalizeH="0" baseline="0" noProof="0">
                  <a:ln>
                    <a:noFill/>
                  </a:ln>
                  <a:solidFill>
                    <a:srgbClr val="000099"/>
                  </a:solidFill>
                  <a:effectLst/>
                  <a:uLnTx/>
                  <a:uFillTx/>
                  <a:latin typeface="Tahoma" pitchFamily="34" charset="0"/>
                  <a:ea typeface="黑体" pitchFamily="2" charset="-122"/>
                </a:rPr>
                <a:t>M</a:t>
              </a:r>
              <a:r>
                <a:rPr kumimoji="0" lang="en-US" altLang="zh-CN" sz="2000" b="1" i="0" u="none" strike="noStrike" kern="0" cap="none" spc="0" normalizeH="0" baseline="-25000" noProof="0">
                  <a:ln>
                    <a:noFill/>
                  </a:ln>
                  <a:solidFill>
                    <a:srgbClr val="000099"/>
                  </a:solidFill>
                  <a:effectLst/>
                  <a:uLnTx/>
                  <a:uFillTx/>
                  <a:latin typeface="Tahoma" pitchFamily="34" charset="0"/>
                  <a:ea typeface="黑体" pitchFamily="2" charset="-122"/>
                </a:rPr>
                <a:t>3</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altLang="zh-CN" sz="900" b="1" i="0" u="none" strike="noStrike" kern="0" cap="none" spc="0" normalizeH="0" baseline="0" noProof="0">
                <a:ln>
                  <a:noFill/>
                </a:ln>
                <a:solidFill>
                  <a:srgbClr val="000099"/>
                </a:solidFill>
                <a:effectLst/>
                <a:uLnTx/>
                <a:uFillTx/>
                <a:latin typeface="Tahoma" pitchFamily="34" charset="0"/>
                <a:ea typeface="黑体" pitchFamily="2" charset="-122"/>
              </a:endParaRPr>
            </a:p>
          </p:txBody>
        </p:sp>
      </p:grpSp>
      <p:sp>
        <p:nvSpPr>
          <p:cNvPr id="88" name="AutoShape 40"/>
          <p:cNvSpPr>
            <a:spLocks noChangeArrowheads="1"/>
          </p:cNvSpPr>
          <p:nvPr/>
        </p:nvSpPr>
        <p:spPr bwMode="auto">
          <a:xfrm>
            <a:off x="5797302" y="2416399"/>
            <a:ext cx="871537" cy="1096962"/>
          </a:xfrm>
          <a:prstGeom prst="irregularSeal1">
            <a:avLst/>
          </a:prstGeom>
          <a:solidFill>
            <a:srgbClr val="FFC000"/>
          </a:solidFill>
          <a:ln w="9525">
            <a:solidFill>
              <a:srgbClr val="FF0000"/>
            </a:solidFill>
            <a:miter lim="800000"/>
            <a:headEnd/>
            <a:tailEnd/>
          </a:ln>
          <a:effectLs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99"/>
              </a:solidFill>
              <a:effectLst/>
              <a:uLnTx/>
              <a:uFillTx/>
            </a:endParaRPr>
          </a:p>
        </p:txBody>
      </p:sp>
      <p:sp>
        <p:nvSpPr>
          <p:cNvPr id="89" name="Text Box 41"/>
          <p:cNvSpPr txBox="1">
            <a:spLocks noChangeArrowheads="1"/>
          </p:cNvSpPr>
          <p:nvPr/>
        </p:nvSpPr>
        <p:spPr bwMode="auto">
          <a:xfrm>
            <a:off x="5868739" y="2698974"/>
            <a:ext cx="64452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zh-CN" altLang="en-US" sz="1800" b="1" i="0" u="none" strike="noStrike" kern="0" cap="none" spc="0" normalizeH="0" baseline="0" noProof="0" dirty="0">
                <a:ln>
                  <a:noFill/>
                </a:ln>
                <a:solidFill>
                  <a:srgbClr val="000099"/>
                </a:solidFill>
                <a:effectLst/>
                <a:uLnTx/>
                <a:uFillTx/>
                <a:latin typeface="Tahoma" pitchFamily="34" charset="0"/>
                <a:ea typeface="黑体" pitchFamily="2" charset="-122"/>
              </a:rPr>
              <a:t>丢失</a:t>
            </a:r>
          </a:p>
        </p:txBody>
      </p:sp>
      <p:sp>
        <p:nvSpPr>
          <p:cNvPr id="90" name="Line 42"/>
          <p:cNvSpPr>
            <a:spLocks noChangeShapeType="1"/>
          </p:cNvSpPr>
          <p:nvPr/>
        </p:nvSpPr>
        <p:spPr bwMode="auto">
          <a:xfrm>
            <a:off x="4054227" y="2268761"/>
            <a:ext cx="3400425" cy="314325"/>
          </a:xfrm>
          <a:prstGeom prst="line">
            <a:avLst/>
          </a:prstGeom>
          <a:noFill/>
          <a:ln w="38100">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99"/>
              </a:solidFill>
              <a:effectLst/>
              <a:uLnTx/>
              <a:uFillTx/>
            </a:endParaRPr>
          </a:p>
        </p:txBody>
      </p:sp>
      <p:sp>
        <p:nvSpPr>
          <p:cNvPr id="91" name="Line 43"/>
          <p:cNvSpPr>
            <a:spLocks noChangeShapeType="1"/>
          </p:cNvSpPr>
          <p:nvPr/>
        </p:nvSpPr>
        <p:spPr bwMode="auto">
          <a:xfrm>
            <a:off x="4054227" y="2787874"/>
            <a:ext cx="1830387" cy="158750"/>
          </a:xfrm>
          <a:prstGeom prst="line">
            <a:avLst/>
          </a:prstGeom>
          <a:noFill/>
          <a:ln w="38100">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99"/>
              </a:solidFill>
              <a:effectLst/>
              <a:uLnTx/>
              <a:uFillTx/>
            </a:endParaRPr>
          </a:p>
        </p:txBody>
      </p:sp>
      <p:sp>
        <p:nvSpPr>
          <p:cNvPr id="92" name="Line 44"/>
          <p:cNvSpPr>
            <a:spLocks noChangeShapeType="1"/>
          </p:cNvSpPr>
          <p:nvPr/>
        </p:nvSpPr>
        <p:spPr bwMode="auto">
          <a:xfrm>
            <a:off x="4060577" y="3829274"/>
            <a:ext cx="3398837" cy="315912"/>
          </a:xfrm>
          <a:prstGeom prst="line">
            <a:avLst/>
          </a:prstGeom>
          <a:noFill/>
          <a:ln w="38100">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99"/>
              </a:solidFill>
              <a:effectLst/>
              <a:uLnTx/>
              <a:uFillTx/>
            </a:endParaRPr>
          </a:p>
        </p:txBody>
      </p:sp>
      <p:sp>
        <p:nvSpPr>
          <p:cNvPr id="93" name="Line 45"/>
          <p:cNvSpPr>
            <a:spLocks noChangeShapeType="1"/>
          </p:cNvSpPr>
          <p:nvPr/>
        </p:nvSpPr>
        <p:spPr bwMode="auto">
          <a:xfrm>
            <a:off x="4060577" y="4351561"/>
            <a:ext cx="3398837" cy="314325"/>
          </a:xfrm>
          <a:prstGeom prst="line">
            <a:avLst/>
          </a:prstGeom>
          <a:noFill/>
          <a:ln w="38100">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99"/>
              </a:solidFill>
              <a:effectLst/>
              <a:uLnTx/>
              <a:uFillTx/>
            </a:endParaRPr>
          </a:p>
        </p:txBody>
      </p:sp>
    </p:spTree>
    <p:extLst>
      <p:ext uri="{BB962C8B-B14F-4D97-AF65-F5344CB8AC3E}">
        <p14:creationId xmlns:p14="http://schemas.microsoft.com/office/powerpoint/2010/main" val="3247716276"/>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4" name="Rectangle 2"/>
          <p:cNvSpPr>
            <a:spLocks noGrp="1" noChangeArrowheads="1"/>
          </p:cNvSpPr>
          <p:nvPr>
            <p:ph type="title"/>
          </p:nvPr>
        </p:nvSpPr>
        <p:spPr/>
        <p:txBody>
          <a:bodyPr/>
          <a:lstStyle/>
          <a:p>
            <a:pPr algn="ctr" eaLnBrk="1" hangingPunct="1"/>
            <a:r>
              <a:rPr lang="zh-CN" altLang="en-US" dirty="0"/>
              <a:t>快恢复算法</a:t>
            </a:r>
          </a:p>
        </p:txBody>
      </p:sp>
      <p:sp>
        <p:nvSpPr>
          <p:cNvPr id="117765" name="Rectangle 3"/>
          <p:cNvSpPr>
            <a:spLocks noGrp="1" noChangeArrowheads="1"/>
          </p:cNvSpPr>
          <p:nvPr>
            <p:ph type="body" idx="1"/>
          </p:nvPr>
        </p:nvSpPr>
        <p:spPr/>
        <p:txBody>
          <a:bodyPr/>
          <a:lstStyle/>
          <a:p>
            <a:r>
              <a:rPr lang="zh-CN" altLang="en-US" sz="3200" dirty="0"/>
              <a:t>当发送端收到连续三个重复的确认时，由于发送方现在认为网络很可能没有发生拥塞，因此现在</a:t>
            </a:r>
            <a:r>
              <a:rPr lang="zh-CN" altLang="en-US" sz="3200" dirty="0">
                <a:solidFill>
                  <a:srgbClr val="FF0000"/>
                </a:solidFill>
              </a:rPr>
              <a:t>不执行慢开始算法，</a:t>
            </a:r>
            <a:r>
              <a:rPr lang="zh-CN" altLang="en-US" sz="3200" dirty="0"/>
              <a:t>而是执行</a:t>
            </a:r>
            <a:r>
              <a:rPr lang="zh-CN" altLang="en-US" dirty="0">
                <a:solidFill>
                  <a:srgbClr val="FF0000"/>
                </a:solidFill>
              </a:rPr>
              <a:t>快恢复算法 </a:t>
            </a:r>
            <a:r>
              <a:rPr lang="en-US" altLang="zh-CN" dirty="0"/>
              <a:t>FR (Fast Recovery) </a:t>
            </a:r>
            <a:r>
              <a:rPr lang="zh-CN" altLang="en-US" dirty="0"/>
              <a:t>算法：</a:t>
            </a:r>
            <a:endParaRPr lang="en-US" altLang="zh-CN" sz="3200" dirty="0"/>
          </a:p>
          <a:p>
            <a:pPr marL="365125" indent="-365125">
              <a:buNone/>
            </a:pPr>
            <a:r>
              <a:rPr lang="en-US" altLang="zh-CN" sz="2800" dirty="0">
                <a:solidFill>
                  <a:srgbClr val="0000FF"/>
                </a:solidFill>
              </a:rPr>
              <a:t>	(1) </a:t>
            </a:r>
            <a:r>
              <a:rPr lang="zh-CN" altLang="en-US" sz="2800" dirty="0">
                <a:solidFill>
                  <a:srgbClr val="0000FF"/>
                </a:solidFill>
              </a:rPr>
              <a:t>慢开始门限 </a:t>
            </a:r>
            <a:r>
              <a:rPr lang="en-US" altLang="zh-CN" sz="2800" dirty="0" err="1">
                <a:solidFill>
                  <a:srgbClr val="0000FF"/>
                </a:solidFill>
              </a:rPr>
              <a:t>ssthresh</a:t>
            </a:r>
            <a:r>
              <a:rPr lang="en-US" altLang="zh-CN" sz="2800" dirty="0">
                <a:solidFill>
                  <a:srgbClr val="0000FF"/>
                </a:solidFill>
              </a:rPr>
              <a:t> = </a:t>
            </a:r>
            <a:r>
              <a:rPr lang="zh-CN" altLang="en-US" sz="2800" dirty="0">
                <a:solidFill>
                  <a:srgbClr val="0000FF"/>
                </a:solidFill>
              </a:rPr>
              <a:t>当前拥塞窗口 </a:t>
            </a:r>
            <a:r>
              <a:rPr lang="en-US" altLang="zh-CN" sz="2800" dirty="0" err="1">
                <a:solidFill>
                  <a:srgbClr val="0000FF"/>
                </a:solidFill>
              </a:rPr>
              <a:t>cwnd</a:t>
            </a:r>
            <a:r>
              <a:rPr lang="en-US" altLang="zh-CN" sz="2800" dirty="0">
                <a:solidFill>
                  <a:srgbClr val="0000FF"/>
                </a:solidFill>
              </a:rPr>
              <a:t> / 2 </a:t>
            </a:r>
            <a:r>
              <a:rPr lang="zh-CN" altLang="en-US" sz="2800" dirty="0">
                <a:solidFill>
                  <a:srgbClr val="0000FF"/>
                </a:solidFill>
              </a:rPr>
              <a:t>；</a:t>
            </a:r>
            <a:endParaRPr lang="en-US" altLang="zh-CN" sz="2800" dirty="0">
              <a:solidFill>
                <a:srgbClr val="0000FF"/>
              </a:solidFill>
            </a:endParaRPr>
          </a:p>
          <a:p>
            <a:pPr marL="365125" indent="-365125">
              <a:buNone/>
            </a:pPr>
            <a:r>
              <a:rPr lang="en-US" altLang="zh-CN" sz="2800" dirty="0">
                <a:solidFill>
                  <a:srgbClr val="0000FF"/>
                </a:solidFill>
              </a:rPr>
              <a:t>	(2) </a:t>
            </a:r>
            <a:r>
              <a:rPr lang="zh-CN" altLang="en-US" sz="2800" dirty="0">
                <a:solidFill>
                  <a:srgbClr val="0000FF"/>
                </a:solidFill>
              </a:rPr>
              <a:t>新拥塞窗口 </a:t>
            </a:r>
            <a:r>
              <a:rPr lang="en-US" altLang="zh-CN" sz="2800" dirty="0" err="1">
                <a:solidFill>
                  <a:srgbClr val="0000FF"/>
                </a:solidFill>
              </a:rPr>
              <a:t>cwnd</a:t>
            </a:r>
            <a:r>
              <a:rPr lang="en-US" altLang="zh-CN" sz="2800" dirty="0">
                <a:solidFill>
                  <a:srgbClr val="0000FF"/>
                </a:solidFill>
              </a:rPr>
              <a:t> = </a:t>
            </a:r>
            <a:r>
              <a:rPr lang="zh-CN" altLang="en-US" sz="2800" dirty="0">
                <a:solidFill>
                  <a:srgbClr val="0000FF"/>
                </a:solidFill>
              </a:rPr>
              <a:t>慢开始门限 </a:t>
            </a:r>
            <a:r>
              <a:rPr lang="en-US" altLang="zh-CN" sz="2800" dirty="0" err="1">
                <a:solidFill>
                  <a:srgbClr val="0000FF"/>
                </a:solidFill>
              </a:rPr>
              <a:t>ssthresh</a:t>
            </a:r>
            <a:r>
              <a:rPr lang="en-US" altLang="zh-CN" sz="2800" dirty="0">
                <a:solidFill>
                  <a:srgbClr val="0000FF"/>
                </a:solidFill>
              </a:rPr>
              <a:t> </a:t>
            </a:r>
            <a:r>
              <a:rPr lang="zh-CN" altLang="en-US" sz="2800" dirty="0">
                <a:solidFill>
                  <a:srgbClr val="0000FF"/>
                </a:solidFill>
              </a:rPr>
              <a:t>；</a:t>
            </a:r>
            <a:endParaRPr lang="en-US" altLang="zh-CN" sz="2800" dirty="0">
              <a:solidFill>
                <a:srgbClr val="0000FF"/>
              </a:solidFill>
            </a:endParaRPr>
          </a:p>
          <a:p>
            <a:pPr marL="898525" indent="-533400">
              <a:buNone/>
            </a:pPr>
            <a:r>
              <a:rPr lang="en-US" altLang="zh-CN" sz="2800" dirty="0">
                <a:solidFill>
                  <a:srgbClr val="0000FF"/>
                </a:solidFill>
              </a:rPr>
              <a:t>(3) </a:t>
            </a:r>
            <a:r>
              <a:rPr lang="zh-CN" altLang="en-US" sz="2800" dirty="0">
                <a:solidFill>
                  <a:srgbClr val="0000FF"/>
                </a:solidFill>
              </a:rPr>
              <a:t>开始执行拥塞避免算法，使拥塞窗口缓慢地线性增大。 </a:t>
            </a:r>
          </a:p>
        </p:txBody>
      </p:sp>
    </p:spTree>
    <p:extLst>
      <p:ext uri="{BB962C8B-B14F-4D97-AF65-F5344CB8AC3E}">
        <p14:creationId xmlns:p14="http://schemas.microsoft.com/office/powerpoint/2010/main" val="2474136219"/>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 name="Rectangle 5"/>
          <p:cNvSpPr txBox="1">
            <a:spLocks noChangeArrowheads="1"/>
          </p:cNvSpPr>
          <p:nvPr/>
        </p:nvSpPr>
        <p:spPr bwMode="auto">
          <a:xfrm>
            <a:off x="417512" y="152400"/>
            <a:ext cx="91440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kumimoji="1" sz="4400" b="1">
                <a:solidFill>
                  <a:schemeClr val="tx2"/>
                </a:solidFill>
                <a:latin typeface="+mj-lt"/>
                <a:ea typeface="+mj-ea"/>
                <a:cs typeface="+mj-cs"/>
              </a:defRPr>
            </a:lvl1pPr>
            <a:lvl2pPr algn="l" rtl="0" eaLnBrk="0" fontAlgn="base" hangingPunct="0">
              <a:spcBef>
                <a:spcPct val="0"/>
              </a:spcBef>
              <a:spcAft>
                <a:spcPct val="0"/>
              </a:spcAft>
              <a:defRPr kumimoji="1" sz="4400" b="1">
                <a:solidFill>
                  <a:schemeClr val="tx2"/>
                </a:solidFill>
                <a:latin typeface="Tahoma" pitchFamily="34" charset="0"/>
                <a:ea typeface="黑体" pitchFamily="2" charset="-122"/>
              </a:defRPr>
            </a:lvl2pPr>
            <a:lvl3pPr algn="l" rtl="0" eaLnBrk="0" fontAlgn="base" hangingPunct="0">
              <a:spcBef>
                <a:spcPct val="0"/>
              </a:spcBef>
              <a:spcAft>
                <a:spcPct val="0"/>
              </a:spcAft>
              <a:defRPr kumimoji="1" sz="4400" b="1">
                <a:solidFill>
                  <a:schemeClr val="tx2"/>
                </a:solidFill>
                <a:latin typeface="Tahoma" pitchFamily="34" charset="0"/>
                <a:ea typeface="黑体" pitchFamily="2" charset="-122"/>
              </a:defRPr>
            </a:lvl3pPr>
            <a:lvl4pPr algn="l" rtl="0" eaLnBrk="0" fontAlgn="base" hangingPunct="0">
              <a:spcBef>
                <a:spcPct val="0"/>
              </a:spcBef>
              <a:spcAft>
                <a:spcPct val="0"/>
              </a:spcAft>
              <a:defRPr kumimoji="1" sz="4400" b="1">
                <a:solidFill>
                  <a:schemeClr val="tx2"/>
                </a:solidFill>
                <a:latin typeface="Tahoma" pitchFamily="34" charset="0"/>
                <a:ea typeface="黑体" pitchFamily="2" charset="-122"/>
              </a:defRPr>
            </a:lvl4pPr>
            <a:lvl5pPr algn="l" rtl="0" eaLnBrk="0" fontAlgn="base" hangingPunct="0">
              <a:spcBef>
                <a:spcPct val="0"/>
              </a:spcBef>
              <a:spcAft>
                <a:spcPct val="0"/>
              </a:spcAft>
              <a:defRPr kumimoji="1" sz="4400" b="1">
                <a:solidFill>
                  <a:schemeClr val="tx2"/>
                </a:solidFill>
                <a:latin typeface="Tahoma" pitchFamily="34" charset="0"/>
                <a:ea typeface="黑体" pitchFamily="2" charset="-122"/>
              </a:defRPr>
            </a:lvl5pPr>
            <a:lvl6pPr marL="457200" algn="l" rtl="0" fontAlgn="base">
              <a:spcBef>
                <a:spcPct val="0"/>
              </a:spcBef>
              <a:spcAft>
                <a:spcPct val="0"/>
              </a:spcAft>
              <a:defRPr kumimoji="1" sz="4400" b="1">
                <a:solidFill>
                  <a:schemeClr val="tx2"/>
                </a:solidFill>
                <a:latin typeface="Tahoma" pitchFamily="34" charset="0"/>
                <a:ea typeface="黑体" pitchFamily="2" charset="-122"/>
              </a:defRPr>
            </a:lvl6pPr>
            <a:lvl7pPr marL="914400" algn="l" rtl="0" fontAlgn="base">
              <a:spcBef>
                <a:spcPct val="0"/>
              </a:spcBef>
              <a:spcAft>
                <a:spcPct val="0"/>
              </a:spcAft>
              <a:defRPr kumimoji="1" sz="4400" b="1">
                <a:solidFill>
                  <a:schemeClr val="tx2"/>
                </a:solidFill>
                <a:latin typeface="Tahoma" pitchFamily="34" charset="0"/>
                <a:ea typeface="黑体" pitchFamily="2" charset="-122"/>
              </a:defRPr>
            </a:lvl7pPr>
            <a:lvl8pPr marL="1371600" algn="l" rtl="0" fontAlgn="base">
              <a:spcBef>
                <a:spcPct val="0"/>
              </a:spcBef>
              <a:spcAft>
                <a:spcPct val="0"/>
              </a:spcAft>
              <a:defRPr kumimoji="1" sz="4400" b="1">
                <a:solidFill>
                  <a:schemeClr val="tx2"/>
                </a:solidFill>
                <a:latin typeface="Tahoma" pitchFamily="34" charset="0"/>
                <a:ea typeface="黑体" pitchFamily="2" charset="-122"/>
              </a:defRPr>
            </a:lvl8pPr>
            <a:lvl9pPr marL="1828800" algn="l" rtl="0" fontAlgn="base">
              <a:spcBef>
                <a:spcPct val="0"/>
              </a:spcBef>
              <a:spcAft>
                <a:spcPct val="0"/>
              </a:spcAft>
              <a:defRPr kumimoji="1" sz="4400" b="1">
                <a:solidFill>
                  <a:schemeClr val="tx2"/>
                </a:solidFill>
                <a:latin typeface="Tahoma" pitchFamily="34" charset="0"/>
                <a:ea typeface="黑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3200" b="1" i="0" u="none" strike="noStrike" kern="0" cap="none" spc="0" normalizeH="0" baseline="0" noProof="0">
                <a:ln>
                  <a:noFill/>
                </a:ln>
                <a:solidFill>
                  <a:srgbClr val="333399"/>
                </a:solidFill>
                <a:effectLst/>
                <a:uLnTx/>
                <a:uFillTx/>
                <a:latin typeface="Tahoma"/>
                <a:ea typeface="黑体"/>
                <a:cs typeface="+mj-cs"/>
              </a:rPr>
              <a:t>慢开始和拥塞避免算法的实现举例 </a:t>
            </a:r>
          </a:p>
        </p:txBody>
      </p:sp>
      <p:grpSp>
        <p:nvGrpSpPr>
          <p:cNvPr id="3" name="组合 2"/>
          <p:cNvGrpSpPr/>
          <p:nvPr/>
        </p:nvGrpSpPr>
        <p:grpSpPr>
          <a:xfrm>
            <a:off x="272479" y="836711"/>
            <a:ext cx="9536759" cy="3321087"/>
            <a:chOff x="272479" y="836711"/>
            <a:chExt cx="9536759" cy="3321087"/>
          </a:xfrm>
        </p:grpSpPr>
        <p:sp>
          <p:nvSpPr>
            <p:cNvPr id="103" name="Text Box 140"/>
            <p:cNvSpPr txBox="1">
              <a:spLocks noChangeArrowheads="1"/>
            </p:cNvSpPr>
            <p:nvPr/>
          </p:nvSpPr>
          <p:spPr bwMode="auto">
            <a:xfrm>
              <a:off x="4863078" y="985683"/>
              <a:ext cx="11570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2000" b="1" i="0" u="none" strike="noStrike" kern="0" cap="none" spc="0" normalizeH="0" baseline="0" noProof="0" dirty="0">
                  <a:ln>
                    <a:noFill/>
                  </a:ln>
                  <a:solidFill>
                    <a:srgbClr val="FF0000"/>
                  </a:solidFill>
                  <a:effectLst/>
                  <a:uLnTx/>
                  <a:uFillTx/>
                  <a:latin typeface="Times New Roman" pitchFamily="18" charset="0"/>
                  <a:ea typeface="宋体" charset="-122"/>
                </a:rPr>
                <a:t>超时</a:t>
              </a:r>
            </a:p>
          </p:txBody>
        </p:sp>
        <p:sp>
          <p:nvSpPr>
            <p:cNvPr id="104" name="Line 2"/>
            <p:cNvSpPr>
              <a:spLocks noChangeShapeType="1"/>
            </p:cNvSpPr>
            <p:nvPr/>
          </p:nvSpPr>
          <p:spPr bwMode="auto">
            <a:xfrm flipV="1">
              <a:off x="1920153" y="3803111"/>
              <a:ext cx="6358624" cy="5046"/>
            </a:xfrm>
            <a:prstGeom prst="line">
              <a:avLst/>
            </a:prstGeom>
            <a:noFill/>
            <a:ln w="19050">
              <a:solidFill>
                <a:srgbClr val="000000"/>
              </a:solidFill>
              <a:round/>
              <a:headEnd/>
              <a:tail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105" name="Line 3"/>
            <p:cNvSpPr>
              <a:spLocks noChangeShapeType="1"/>
            </p:cNvSpPr>
            <p:nvPr/>
          </p:nvSpPr>
          <p:spPr bwMode="auto">
            <a:xfrm>
              <a:off x="1918528" y="1177019"/>
              <a:ext cx="1626" cy="2631138"/>
            </a:xfrm>
            <a:prstGeom prst="line">
              <a:avLst/>
            </a:prstGeom>
            <a:noFill/>
            <a:ln w="19050">
              <a:solidFill>
                <a:srgbClr val="000000"/>
              </a:solidFill>
              <a:round/>
              <a:headEnd type="triangle" w="sm" len="lg"/>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106" name="Line 4"/>
            <p:cNvSpPr>
              <a:spLocks noChangeShapeType="1"/>
            </p:cNvSpPr>
            <p:nvPr/>
          </p:nvSpPr>
          <p:spPr bwMode="auto">
            <a:xfrm>
              <a:off x="2154153" y="3727407"/>
              <a:ext cx="0" cy="8075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08" name="Line 5"/>
            <p:cNvSpPr>
              <a:spLocks noChangeShapeType="1"/>
            </p:cNvSpPr>
            <p:nvPr/>
          </p:nvSpPr>
          <p:spPr bwMode="auto">
            <a:xfrm>
              <a:off x="2388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09" name="Line 6"/>
            <p:cNvSpPr>
              <a:spLocks noChangeShapeType="1"/>
            </p:cNvSpPr>
            <p:nvPr/>
          </p:nvSpPr>
          <p:spPr bwMode="auto">
            <a:xfrm>
              <a:off x="2622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0" name="Line 7"/>
            <p:cNvSpPr>
              <a:spLocks noChangeShapeType="1"/>
            </p:cNvSpPr>
            <p:nvPr/>
          </p:nvSpPr>
          <p:spPr bwMode="auto">
            <a:xfrm>
              <a:off x="2856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1" name="Line 8"/>
            <p:cNvSpPr>
              <a:spLocks noChangeShapeType="1"/>
            </p:cNvSpPr>
            <p:nvPr/>
          </p:nvSpPr>
          <p:spPr bwMode="auto">
            <a:xfrm>
              <a:off x="3090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2" name="Line 9"/>
            <p:cNvSpPr>
              <a:spLocks noChangeShapeType="1"/>
            </p:cNvSpPr>
            <p:nvPr/>
          </p:nvSpPr>
          <p:spPr bwMode="auto">
            <a:xfrm>
              <a:off x="3324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3" name="Line 10"/>
            <p:cNvSpPr>
              <a:spLocks noChangeShapeType="1"/>
            </p:cNvSpPr>
            <p:nvPr/>
          </p:nvSpPr>
          <p:spPr bwMode="auto">
            <a:xfrm>
              <a:off x="3558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4" name="Line 11"/>
            <p:cNvSpPr>
              <a:spLocks noChangeShapeType="1"/>
            </p:cNvSpPr>
            <p:nvPr/>
          </p:nvSpPr>
          <p:spPr bwMode="auto">
            <a:xfrm>
              <a:off x="3792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5" name="Line 12"/>
            <p:cNvSpPr>
              <a:spLocks noChangeShapeType="1"/>
            </p:cNvSpPr>
            <p:nvPr/>
          </p:nvSpPr>
          <p:spPr bwMode="auto">
            <a:xfrm>
              <a:off x="4026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6" name="Line 13"/>
            <p:cNvSpPr>
              <a:spLocks noChangeShapeType="1"/>
            </p:cNvSpPr>
            <p:nvPr/>
          </p:nvSpPr>
          <p:spPr bwMode="auto">
            <a:xfrm>
              <a:off x="4260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7" name="Line 14"/>
            <p:cNvSpPr>
              <a:spLocks noChangeShapeType="1"/>
            </p:cNvSpPr>
            <p:nvPr/>
          </p:nvSpPr>
          <p:spPr bwMode="auto">
            <a:xfrm>
              <a:off x="4494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8" name="Line 15"/>
            <p:cNvSpPr>
              <a:spLocks noChangeShapeType="1"/>
            </p:cNvSpPr>
            <p:nvPr/>
          </p:nvSpPr>
          <p:spPr bwMode="auto">
            <a:xfrm>
              <a:off x="4728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9" name="Line 16"/>
            <p:cNvSpPr>
              <a:spLocks noChangeShapeType="1"/>
            </p:cNvSpPr>
            <p:nvPr/>
          </p:nvSpPr>
          <p:spPr bwMode="auto">
            <a:xfrm>
              <a:off x="4962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0" name="Line 17"/>
            <p:cNvSpPr>
              <a:spLocks noChangeShapeType="1"/>
            </p:cNvSpPr>
            <p:nvPr/>
          </p:nvSpPr>
          <p:spPr bwMode="auto">
            <a:xfrm>
              <a:off x="5196153" y="3727407"/>
              <a:ext cx="0" cy="8075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1" name="Line 18"/>
            <p:cNvSpPr>
              <a:spLocks noChangeShapeType="1"/>
            </p:cNvSpPr>
            <p:nvPr/>
          </p:nvSpPr>
          <p:spPr bwMode="auto">
            <a:xfrm>
              <a:off x="5430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2" name="Line 19"/>
            <p:cNvSpPr>
              <a:spLocks noChangeShapeType="1"/>
            </p:cNvSpPr>
            <p:nvPr/>
          </p:nvSpPr>
          <p:spPr bwMode="auto">
            <a:xfrm>
              <a:off x="5664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3" name="Line 20"/>
            <p:cNvSpPr>
              <a:spLocks noChangeShapeType="1"/>
            </p:cNvSpPr>
            <p:nvPr/>
          </p:nvSpPr>
          <p:spPr bwMode="auto">
            <a:xfrm>
              <a:off x="5898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4" name="Line 21"/>
            <p:cNvSpPr>
              <a:spLocks noChangeShapeType="1"/>
            </p:cNvSpPr>
            <p:nvPr/>
          </p:nvSpPr>
          <p:spPr bwMode="auto">
            <a:xfrm>
              <a:off x="6132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5" name="Line 22"/>
            <p:cNvSpPr>
              <a:spLocks noChangeShapeType="1"/>
            </p:cNvSpPr>
            <p:nvPr/>
          </p:nvSpPr>
          <p:spPr bwMode="auto">
            <a:xfrm>
              <a:off x="6366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6" name="Line 23"/>
            <p:cNvSpPr>
              <a:spLocks noChangeShapeType="1"/>
            </p:cNvSpPr>
            <p:nvPr/>
          </p:nvSpPr>
          <p:spPr bwMode="auto">
            <a:xfrm>
              <a:off x="6600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7" name="Line 24"/>
            <p:cNvSpPr>
              <a:spLocks noChangeShapeType="1"/>
            </p:cNvSpPr>
            <p:nvPr/>
          </p:nvSpPr>
          <p:spPr bwMode="auto">
            <a:xfrm>
              <a:off x="6834153"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8" name="Line 25"/>
            <p:cNvSpPr>
              <a:spLocks noChangeShapeType="1"/>
            </p:cNvSpPr>
            <p:nvPr/>
          </p:nvSpPr>
          <p:spPr bwMode="auto">
            <a:xfrm>
              <a:off x="7068152" y="364665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30" name="Line 40"/>
            <p:cNvSpPr>
              <a:spLocks noChangeShapeType="1"/>
            </p:cNvSpPr>
            <p:nvPr/>
          </p:nvSpPr>
          <p:spPr bwMode="auto">
            <a:xfrm>
              <a:off x="1920153" y="3404402"/>
              <a:ext cx="2340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31" name="Line 41"/>
            <p:cNvSpPr>
              <a:spLocks noChangeShapeType="1"/>
            </p:cNvSpPr>
            <p:nvPr/>
          </p:nvSpPr>
          <p:spPr bwMode="auto">
            <a:xfrm>
              <a:off x="1920153" y="3000647"/>
              <a:ext cx="2340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32" name="Line 42"/>
            <p:cNvSpPr>
              <a:spLocks noChangeShapeType="1"/>
            </p:cNvSpPr>
            <p:nvPr/>
          </p:nvSpPr>
          <p:spPr bwMode="auto">
            <a:xfrm>
              <a:off x="1920153" y="2596892"/>
              <a:ext cx="2340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33" name="Line 43"/>
            <p:cNvSpPr>
              <a:spLocks noChangeShapeType="1"/>
            </p:cNvSpPr>
            <p:nvPr/>
          </p:nvSpPr>
          <p:spPr bwMode="auto">
            <a:xfrm>
              <a:off x="1920153" y="2193137"/>
              <a:ext cx="2340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34" name="Line 44"/>
            <p:cNvSpPr>
              <a:spLocks noChangeShapeType="1"/>
            </p:cNvSpPr>
            <p:nvPr/>
          </p:nvSpPr>
          <p:spPr bwMode="auto">
            <a:xfrm>
              <a:off x="1920153" y="1789382"/>
              <a:ext cx="2340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35" name="Line 45"/>
            <p:cNvSpPr>
              <a:spLocks noChangeShapeType="1"/>
            </p:cNvSpPr>
            <p:nvPr/>
          </p:nvSpPr>
          <p:spPr bwMode="auto">
            <a:xfrm>
              <a:off x="1920153" y="1385626"/>
              <a:ext cx="2340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36" name="Text Box 77"/>
            <p:cNvSpPr txBox="1">
              <a:spLocks noChangeArrowheads="1"/>
            </p:cNvSpPr>
            <p:nvPr/>
          </p:nvSpPr>
          <p:spPr bwMode="auto">
            <a:xfrm>
              <a:off x="2241903" y="3749277"/>
              <a:ext cx="3129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2</a:t>
              </a:r>
            </a:p>
          </p:txBody>
        </p:sp>
        <p:sp>
          <p:nvSpPr>
            <p:cNvPr id="237" name="Text Box 78"/>
            <p:cNvSpPr txBox="1">
              <a:spLocks noChangeArrowheads="1"/>
            </p:cNvSpPr>
            <p:nvPr/>
          </p:nvSpPr>
          <p:spPr bwMode="auto">
            <a:xfrm>
              <a:off x="2709903" y="3749277"/>
              <a:ext cx="3129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4</a:t>
              </a:r>
            </a:p>
          </p:txBody>
        </p:sp>
        <p:sp>
          <p:nvSpPr>
            <p:cNvPr id="238" name="Text Box 79"/>
            <p:cNvSpPr txBox="1">
              <a:spLocks noChangeArrowheads="1"/>
            </p:cNvSpPr>
            <p:nvPr/>
          </p:nvSpPr>
          <p:spPr bwMode="auto">
            <a:xfrm>
              <a:off x="3177903" y="3749277"/>
              <a:ext cx="3129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6</a:t>
              </a:r>
            </a:p>
          </p:txBody>
        </p:sp>
        <p:sp>
          <p:nvSpPr>
            <p:cNvPr id="239" name="Text Box 80"/>
            <p:cNvSpPr txBox="1">
              <a:spLocks noChangeArrowheads="1"/>
            </p:cNvSpPr>
            <p:nvPr/>
          </p:nvSpPr>
          <p:spPr bwMode="auto">
            <a:xfrm>
              <a:off x="3658903" y="3749277"/>
              <a:ext cx="3129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8</a:t>
              </a:r>
            </a:p>
          </p:txBody>
        </p:sp>
        <p:sp>
          <p:nvSpPr>
            <p:cNvPr id="240" name="Text Box 81"/>
            <p:cNvSpPr txBox="1">
              <a:spLocks noChangeArrowheads="1"/>
            </p:cNvSpPr>
            <p:nvPr/>
          </p:nvSpPr>
          <p:spPr bwMode="auto">
            <a:xfrm>
              <a:off x="4048903" y="3749277"/>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10</a:t>
              </a:r>
            </a:p>
          </p:txBody>
        </p:sp>
        <p:sp>
          <p:nvSpPr>
            <p:cNvPr id="241" name="Text Box 82"/>
            <p:cNvSpPr txBox="1">
              <a:spLocks noChangeArrowheads="1"/>
            </p:cNvSpPr>
            <p:nvPr/>
          </p:nvSpPr>
          <p:spPr bwMode="auto">
            <a:xfrm>
              <a:off x="4555903" y="3749277"/>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12</a:t>
              </a:r>
            </a:p>
          </p:txBody>
        </p:sp>
        <p:sp>
          <p:nvSpPr>
            <p:cNvPr id="242" name="Text Box 83"/>
            <p:cNvSpPr txBox="1">
              <a:spLocks noChangeArrowheads="1"/>
            </p:cNvSpPr>
            <p:nvPr/>
          </p:nvSpPr>
          <p:spPr bwMode="auto">
            <a:xfrm>
              <a:off x="4997903" y="3749277"/>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14</a:t>
              </a:r>
            </a:p>
          </p:txBody>
        </p:sp>
        <p:sp>
          <p:nvSpPr>
            <p:cNvPr id="243" name="Text Box 84"/>
            <p:cNvSpPr txBox="1">
              <a:spLocks noChangeArrowheads="1"/>
            </p:cNvSpPr>
            <p:nvPr/>
          </p:nvSpPr>
          <p:spPr bwMode="auto">
            <a:xfrm>
              <a:off x="5465903" y="3749277"/>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16</a:t>
              </a:r>
            </a:p>
          </p:txBody>
        </p:sp>
        <p:sp>
          <p:nvSpPr>
            <p:cNvPr id="244" name="Text Box 85"/>
            <p:cNvSpPr txBox="1">
              <a:spLocks noChangeArrowheads="1"/>
            </p:cNvSpPr>
            <p:nvPr/>
          </p:nvSpPr>
          <p:spPr bwMode="auto">
            <a:xfrm>
              <a:off x="5950153" y="3749277"/>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18</a:t>
              </a:r>
            </a:p>
          </p:txBody>
        </p:sp>
        <p:sp>
          <p:nvSpPr>
            <p:cNvPr id="245" name="Text Box 86"/>
            <p:cNvSpPr txBox="1">
              <a:spLocks noChangeArrowheads="1"/>
            </p:cNvSpPr>
            <p:nvPr/>
          </p:nvSpPr>
          <p:spPr bwMode="auto">
            <a:xfrm>
              <a:off x="6418153" y="3749277"/>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20</a:t>
              </a:r>
            </a:p>
          </p:txBody>
        </p:sp>
        <p:sp>
          <p:nvSpPr>
            <p:cNvPr id="246" name="Text Box 87"/>
            <p:cNvSpPr txBox="1">
              <a:spLocks noChangeArrowheads="1"/>
            </p:cNvSpPr>
            <p:nvPr/>
          </p:nvSpPr>
          <p:spPr bwMode="auto">
            <a:xfrm>
              <a:off x="6873153" y="3757688"/>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22</a:t>
              </a:r>
            </a:p>
          </p:txBody>
        </p:sp>
        <p:sp>
          <p:nvSpPr>
            <p:cNvPr id="247" name="Text Box 89"/>
            <p:cNvSpPr txBox="1">
              <a:spLocks noChangeArrowheads="1"/>
            </p:cNvSpPr>
            <p:nvPr/>
          </p:nvSpPr>
          <p:spPr bwMode="auto">
            <a:xfrm>
              <a:off x="1812903" y="3749277"/>
              <a:ext cx="3129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0</a:t>
              </a:r>
            </a:p>
          </p:txBody>
        </p:sp>
        <p:sp>
          <p:nvSpPr>
            <p:cNvPr id="248" name="Text Box 90"/>
            <p:cNvSpPr txBox="1">
              <a:spLocks noChangeArrowheads="1"/>
            </p:cNvSpPr>
            <p:nvPr/>
          </p:nvSpPr>
          <p:spPr bwMode="auto">
            <a:xfrm>
              <a:off x="1647153" y="3591140"/>
              <a:ext cx="3129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0</a:t>
              </a:r>
            </a:p>
          </p:txBody>
        </p:sp>
        <p:sp>
          <p:nvSpPr>
            <p:cNvPr id="250" name="Text Box 92"/>
            <p:cNvSpPr txBox="1">
              <a:spLocks noChangeArrowheads="1"/>
            </p:cNvSpPr>
            <p:nvPr/>
          </p:nvSpPr>
          <p:spPr bwMode="auto">
            <a:xfrm>
              <a:off x="1647153" y="2797088"/>
              <a:ext cx="3129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8</a:t>
              </a:r>
            </a:p>
          </p:txBody>
        </p:sp>
        <p:sp>
          <p:nvSpPr>
            <p:cNvPr id="251" name="Text Box 93"/>
            <p:cNvSpPr txBox="1">
              <a:spLocks noChangeArrowheads="1"/>
            </p:cNvSpPr>
            <p:nvPr/>
          </p:nvSpPr>
          <p:spPr bwMode="auto">
            <a:xfrm>
              <a:off x="1530153" y="2406791"/>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12</a:t>
              </a:r>
            </a:p>
          </p:txBody>
        </p:sp>
        <p:sp>
          <p:nvSpPr>
            <p:cNvPr id="252" name="Text Box 94"/>
            <p:cNvSpPr txBox="1">
              <a:spLocks noChangeArrowheads="1"/>
            </p:cNvSpPr>
            <p:nvPr/>
          </p:nvSpPr>
          <p:spPr bwMode="auto">
            <a:xfrm>
              <a:off x="1530153" y="2016494"/>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16</a:t>
              </a:r>
            </a:p>
          </p:txBody>
        </p:sp>
        <p:sp>
          <p:nvSpPr>
            <p:cNvPr id="253" name="Text Box 95"/>
            <p:cNvSpPr txBox="1">
              <a:spLocks noChangeArrowheads="1"/>
            </p:cNvSpPr>
            <p:nvPr/>
          </p:nvSpPr>
          <p:spPr bwMode="auto">
            <a:xfrm>
              <a:off x="1530153" y="1612739"/>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20</a:t>
              </a:r>
            </a:p>
          </p:txBody>
        </p:sp>
        <p:sp>
          <p:nvSpPr>
            <p:cNvPr id="254" name="Text Box 96"/>
            <p:cNvSpPr txBox="1">
              <a:spLocks noChangeArrowheads="1"/>
            </p:cNvSpPr>
            <p:nvPr/>
          </p:nvSpPr>
          <p:spPr bwMode="auto">
            <a:xfrm>
              <a:off x="1530153" y="1208984"/>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24</a:t>
              </a:r>
            </a:p>
          </p:txBody>
        </p:sp>
        <p:sp>
          <p:nvSpPr>
            <p:cNvPr id="255" name="Oval 102"/>
            <p:cNvSpPr>
              <a:spLocks noChangeArrowheads="1"/>
            </p:cNvSpPr>
            <p:nvPr/>
          </p:nvSpPr>
          <p:spPr bwMode="auto">
            <a:xfrm>
              <a:off x="2573403" y="2960272"/>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56" name="Oval 103"/>
            <p:cNvSpPr>
              <a:spLocks noChangeArrowheads="1"/>
            </p:cNvSpPr>
            <p:nvPr/>
          </p:nvSpPr>
          <p:spPr bwMode="auto">
            <a:xfrm>
              <a:off x="2339403" y="3364027"/>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57" name="Oval 104"/>
            <p:cNvSpPr>
              <a:spLocks noChangeArrowheads="1"/>
            </p:cNvSpPr>
            <p:nvPr/>
          </p:nvSpPr>
          <p:spPr bwMode="auto">
            <a:xfrm>
              <a:off x="1881153" y="3626468"/>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58" name="Oval 105"/>
            <p:cNvSpPr>
              <a:spLocks noChangeArrowheads="1"/>
            </p:cNvSpPr>
            <p:nvPr/>
          </p:nvSpPr>
          <p:spPr bwMode="auto">
            <a:xfrm>
              <a:off x="2095653" y="3555811"/>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59" name="Oval 106"/>
            <p:cNvSpPr>
              <a:spLocks noChangeArrowheads="1"/>
            </p:cNvSpPr>
            <p:nvPr/>
          </p:nvSpPr>
          <p:spPr bwMode="auto">
            <a:xfrm>
              <a:off x="2807403" y="2149397"/>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0" name="Oval 107"/>
            <p:cNvSpPr>
              <a:spLocks noChangeArrowheads="1"/>
            </p:cNvSpPr>
            <p:nvPr/>
          </p:nvSpPr>
          <p:spPr bwMode="auto">
            <a:xfrm>
              <a:off x="3041403" y="2041729"/>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1" name="Oval 108"/>
            <p:cNvSpPr>
              <a:spLocks noChangeArrowheads="1"/>
            </p:cNvSpPr>
            <p:nvPr/>
          </p:nvSpPr>
          <p:spPr bwMode="auto">
            <a:xfrm>
              <a:off x="3275403" y="1945837"/>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2" name="Oval 109"/>
            <p:cNvSpPr>
              <a:spLocks noChangeArrowheads="1"/>
            </p:cNvSpPr>
            <p:nvPr/>
          </p:nvSpPr>
          <p:spPr bwMode="auto">
            <a:xfrm>
              <a:off x="3748277" y="1743960"/>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3" name="Oval 110"/>
            <p:cNvSpPr>
              <a:spLocks noChangeArrowheads="1"/>
            </p:cNvSpPr>
            <p:nvPr/>
          </p:nvSpPr>
          <p:spPr bwMode="auto">
            <a:xfrm>
              <a:off x="3509403" y="1844898"/>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4" name="Oval 113"/>
            <p:cNvSpPr>
              <a:spLocks noChangeArrowheads="1"/>
            </p:cNvSpPr>
            <p:nvPr/>
          </p:nvSpPr>
          <p:spPr bwMode="auto">
            <a:xfrm>
              <a:off x="3982277" y="1643021"/>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5" name="Oval 114"/>
            <p:cNvSpPr>
              <a:spLocks noChangeArrowheads="1"/>
            </p:cNvSpPr>
            <p:nvPr/>
          </p:nvSpPr>
          <p:spPr bwMode="auto">
            <a:xfrm>
              <a:off x="4211403" y="1547128"/>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6" name="Oval 116"/>
            <p:cNvSpPr>
              <a:spLocks noChangeArrowheads="1"/>
            </p:cNvSpPr>
            <p:nvPr/>
          </p:nvSpPr>
          <p:spPr bwMode="auto">
            <a:xfrm>
              <a:off x="4674527" y="1330110"/>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7" name="Oval 117"/>
            <p:cNvSpPr>
              <a:spLocks noChangeArrowheads="1"/>
            </p:cNvSpPr>
            <p:nvPr/>
          </p:nvSpPr>
          <p:spPr bwMode="auto">
            <a:xfrm>
              <a:off x="4445403" y="1431049"/>
              <a:ext cx="91000" cy="94210"/>
            </a:xfrm>
            <a:prstGeom prst="ellipse">
              <a:avLst/>
            </a:prstGeom>
            <a:solidFill>
              <a:srgbClr val="0000FF"/>
            </a:solidFill>
            <a:ln w="2857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8" name="Freeform 118"/>
            <p:cNvSpPr>
              <a:spLocks/>
            </p:cNvSpPr>
            <p:nvPr/>
          </p:nvSpPr>
          <p:spPr bwMode="auto">
            <a:xfrm>
              <a:off x="1842153" y="1385626"/>
              <a:ext cx="2881124" cy="2304769"/>
            </a:xfrm>
            <a:custGeom>
              <a:avLst/>
              <a:gdLst>
                <a:gd name="T0" fmla="*/ 2147483647 w 1773"/>
                <a:gd name="T1" fmla="*/ 0 h 1370"/>
                <a:gd name="T2" fmla="*/ 2147483647 w 1773"/>
                <a:gd name="T3" fmla="*/ 2147483647 h 1370"/>
                <a:gd name="T4" fmla="*/ 2147483647 w 1773"/>
                <a:gd name="T5" fmla="*/ 2147483647 h 1370"/>
                <a:gd name="T6" fmla="*/ 2147483647 w 1773"/>
                <a:gd name="T7" fmla="*/ 2147483647 h 1370"/>
                <a:gd name="T8" fmla="*/ 2147483647 w 1773"/>
                <a:gd name="T9" fmla="*/ 2147483647 h 1370"/>
                <a:gd name="T10" fmla="*/ 2147483647 w 1773"/>
                <a:gd name="T11" fmla="*/ 2147483647 h 1370"/>
                <a:gd name="T12" fmla="*/ 0 60000 65536"/>
                <a:gd name="T13" fmla="*/ 0 60000 65536"/>
                <a:gd name="T14" fmla="*/ 0 60000 65536"/>
                <a:gd name="T15" fmla="*/ 0 60000 65536"/>
                <a:gd name="T16" fmla="*/ 0 60000 65536"/>
                <a:gd name="T17" fmla="*/ 0 60000 65536"/>
                <a:gd name="T18" fmla="*/ 0 w 1773"/>
                <a:gd name="T19" fmla="*/ 0 h 1370"/>
                <a:gd name="T20" fmla="*/ 1773 w 1773"/>
                <a:gd name="T21" fmla="*/ 1370 h 1370"/>
              </a:gdLst>
              <a:ahLst/>
              <a:cxnLst>
                <a:cxn ang="T12">
                  <a:pos x="T0" y="T1"/>
                </a:cxn>
                <a:cxn ang="T13">
                  <a:pos x="T2" y="T3"/>
                </a:cxn>
                <a:cxn ang="T14">
                  <a:pos x="T4" y="T5"/>
                </a:cxn>
                <a:cxn ang="T15">
                  <a:pos x="T6" y="T7"/>
                </a:cxn>
                <a:cxn ang="T16">
                  <a:pos x="T8" y="T9"/>
                </a:cxn>
                <a:cxn ang="T17">
                  <a:pos x="T10" y="T11"/>
                </a:cxn>
              </a:cxnLst>
              <a:rect l="T18" t="T19" r="T20" b="T21"/>
              <a:pathLst>
                <a:path w="1773" h="1370">
                  <a:moveTo>
                    <a:pt x="1773" y="0"/>
                  </a:moveTo>
                  <a:lnTo>
                    <a:pt x="618" y="487"/>
                  </a:lnTo>
                  <a:lnTo>
                    <a:pt x="480" y="961"/>
                  </a:lnTo>
                  <a:lnTo>
                    <a:pt x="331" y="1201"/>
                  </a:lnTo>
                  <a:lnTo>
                    <a:pt x="187" y="1321"/>
                  </a:lnTo>
                  <a:cubicBezTo>
                    <a:pt x="47" y="1370"/>
                    <a:pt x="0" y="1369"/>
                    <a:pt x="55" y="1369"/>
                  </a:cubicBezTo>
                </a:path>
              </a:pathLst>
            </a:custGeom>
            <a:noFill/>
            <a:ln w="28575" cmpd="sng">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9" name="Text Box 134"/>
            <p:cNvSpPr txBox="1">
              <a:spLocks noChangeArrowheads="1"/>
            </p:cNvSpPr>
            <p:nvPr/>
          </p:nvSpPr>
          <p:spPr bwMode="auto">
            <a:xfrm>
              <a:off x="8280402" y="3596186"/>
              <a:ext cx="121699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2000" b="1" i="0" u="none" strike="noStrike" kern="0" cap="none" spc="0" normalizeH="0" baseline="0" noProof="0">
                  <a:ln>
                    <a:noFill/>
                  </a:ln>
                  <a:solidFill>
                    <a:srgbClr val="000000"/>
                  </a:solidFill>
                  <a:effectLst/>
                  <a:uLnTx/>
                  <a:uFillTx/>
                  <a:latin typeface="Times New Roman" pitchFamily="18" charset="0"/>
                  <a:ea typeface="宋体" charset="-122"/>
                </a:rPr>
                <a:t>传输轮次</a:t>
              </a:r>
            </a:p>
          </p:txBody>
        </p:sp>
        <p:sp>
          <p:nvSpPr>
            <p:cNvPr id="270" name="Text Box 135"/>
            <p:cNvSpPr txBox="1">
              <a:spLocks noChangeArrowheads="1"/>
            </p:cNvSpPr>
            <p:nvPr/>
          </p:nvSpPr>
          <p:spPr bwMode="auto">
            <a:xfrm>
              <a:off x="966278" y="836711"/>
              <a:ext cx="193033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2000" b="1" i="0" u="none" strike="noStrike" kern="0" cap="none" spc="0" normalizeH="0" baseline="0" noProof="0" dirty="0">
                  <a:ln>
                    <a:noFill/>
                  </a:ln>
                  <a:solidFill>
                    <a:srgbClr val="000000"/>
                  </a:solidFill>
                  <a:effectLst/>
                  <a:uLnTx/>
                  <a:uFillTx/>
                  <a:latin typeface="Times New Roman" pitchFamily="18" charset="0"/>
                  <a:ea typeface="宋体" charset="-122"/>
                </a:rPr>
                <a:t>拥塞窗口  </a:t>
              </a:r>
              <a:r>
                <a:rPr kumimoji="1" lang="en-US" altLang="zh-CN" sz="2000" b="1" i="0" u="none" strike="noStrike" kern="0" cap="none" spc="0" normalizeH="0" baseline="0" noProof="0" dirty="0" err="1">
                  <a:ln>
                    <a:noFill/>
                  </a:ln>
                  <a:solidFill>
                    <a:srgbClr val="000000"/>
                  </a:solidFill>
                  <a:effectLst/>
                  <a:uLnTx/>
                  <a:uFillTx/>
                  <a:latin typeface="Times New Roman" pitchFamily="18" charset="0"/>
                  <a:ea typeface="宋体" charset="-122"/>
                </a:rPr>
                <a:t>cwnd</a:t>
              </a:r>
              <a:endParaRPr kumimoji="1" lang="en-US" altLang="zh-CN" sz="2000" b="1" i="0" u="none" strike="noStrike" kern="0" cap="none" spc="0" normalizeH="0" baseline="0" noProof="0" dirty="0">
                <a:ln>
                  <a:noFill/>
                </a:ln>
                <a:solidFill>
                  <a:srgbClr val="000000"/>
                </a:solidFill>
                <a:effectLst/>
                <a:uLnTx/>
                <a:uFillTx/>
                <a:latin typeface="Times New Roman" pitchFamily="18" charset="0"/>
                <a:ea typeface="宋体" charset="-122"/>
              </a:endParaRPr>
            </a:p>
          </p:txBody>
        </p:sp>
        <p:sp>
          <p:nvSpPr>
            <p:cNvPr id="271" name="Text Box 140"/>
            <p:cNvSpPr txBox="1">
              <a:spLocks noChangeArrowheads="1"/>
            </p:cNvSpPr>
            <p:nvPr/>
          </p:nvSpPr>
          <p:spPr bwMode="auto">
            <a:xfrm>
              <a:off x="7049973" y="1815231"/>
              <a:ext cx="118137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dirty="0">
                  <a:ln>
                    <a:noFill/>
                  </a:ln>
                  <a:solidFill>
                    <a:srgbClr val="FF0000"/>
                  </a:solidFill>
                  <a:effectLst/>
                  <a:uLnTx/>
                  <a:uFillTx/>
                  <a:latin typeface="Times New Roman" pitchFamily="18" charset="0"/>
                  <a:ea typeface="宋体" charset="-122"/>
                </a:rPr>
                <a:t>3-ACK</a:t>
              </a:r>
              <a:endParaRPr kumimoji="1" lang="zh-CN" altLang="en-US" sz="2000" b="1" i="0" u="none" strike="noStrike" kern="0" cap="none" spc="0" normalizeH="0" baseline="0" noProof="0" dirty="0">
                <a:ln>
                  <a:noFill/>
                </a:ln>
                <a:solidFill>
                  <a:srgbClr val="FF0000"/>
                </a:solidFill>
                <a:effectLst/>
                <a:uLnTx/>
                <a:uFillTx/>
                <a:latin typeface="Times New Roman" pitchFamily="18" charset="0"/>
                <a:ea typeface="宋体" charset="-122"/>
              </a:endParaRPr>
            </a:p>
          </p:txBody>
        </p:sp>
        <p:sp>
          <p:nvSpPr>
            <p:cNvPr id="272" name="Rectangle 160"/>
            <p:cNvSpPr>
              <a:spLocks noChangeArrowheads="1"/>
            </p:cNvSpPr>
            <p:nvPr/>
          </p:nvSpPr>
          <p:spPr bwMode="auto">
            <a:xfrm>
              <a:off x="1998153" y="1304875"/>
              <a:ext cx="195000" cy="215336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73" name="Line 156"/>
            <p:cNvSpPr>
              <a:spLocks noChangeShapeType="1"/>
            </p:cNvSpPr>
            <p:nvPr/>
          </p:nvSpPr>
          <p:spPr bwMode="auto">
            <a:xfrm>
              <a:off x="1998153" y="2193137"/>
              <a:ext cx="858000" cy="0"/>
            </a:xfrm>
            <a:prstGeom prst="line">
              <a:avLst/>
            </a:prstGeom>
            <a:noFill/>
            <a:ln w="1905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74" name="Line 146"/>
            <p:cNvSpPr>
              <a:spLocks noChangeShapeType="1"/>
            </p:cNvSpPr>
            <p:nvPr/>
          </p:nvSpPr>
          <p:spPr bwMode="auto">
            <a:xfrm flipV="1">
              <a:off x="1998153" y="1378897"/>
              <a:ext cx="2743000" cy="6729"/>
            </a:xfrm>
            <a:prstGeom prst="line">
              <a:avLst/>
            </a:prstGeom>
            <a:noFill/>
            <a:ln w="1905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75" name="Rectangle 162"/>
            <p:cNvSpPr>
              <a:spLocks noChangeArrowheads="1"/>
            </p:cNvSpPr>
            <p:nvPr/>
          </p:nvSpPr>
          <p:spPr bwMode="auto">
            <a:xfrm>
              <a:off x="5352153" y="3565904"/>
              <a:ext cx="1480374" cy="1615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77" name="Text Box 203"/>
            <p:cNvSpPr txBox="1">
              <a:spLocks noChangeArrowheads="1"/>
            </p:cNvSpPr>
            <p:nvPr/>
          </p:nvSpPr>
          <p:spPr bwMode="auto">
            <a:xfrm>
              <a:off x="8170649" y="1977696"/>
              <a:ext cx="1638589"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b="1" i="0" u="none" strike="noStrike" kern="0" cap="none" spc="0" normalizeH="0" baseline="0" noProof="0" dirty="0">
                  <a:ln>
                    <a:noFill/>
                  </a:ln>
                  <a:solidFill>
                    <a:srgbClr val="0000FF"/>
                  </a:solidFill>
                  <a:effectLst/>
                  <a:uLnTx/>
                  <a:uFillTx/>
                  <a:latin typeface="Times New Roman" pitchFamily="18" charset="0"/>
                  <a:ea typeface="宋体" charset="-122"/>
                </a:rPr>
                <a:t>TCP Reno </a:t>
              </a:r>
            </a:p>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b="1" i="0" u="none" strike="noStrike" kern="0" cap="none" spc="0" normalizeH="0" baseline="0" noProof="0" dirty="0">
                  <a:ln>
                    <a:noFill/>
                  </a:ln>
                  <a:solidFill>
                    <a:srgbClr val="0000FF"/>
                  </a:solidFill>
                  <a:effectLst/>
                  <a:uLnTx/>
                  <a:uFillTx/>
                  <a:latin typeface="Times New Roman" pitchFamily="18" charset="0"/>
                  <a:ea typeface="宋体" charset="-122"/>
                </a:rPr>
                <a:t>版本</a:t>
              </a:r>
            </a:p>
          </p:txBody>
        </p:sp>
        <p:sp>
          <p:nvSpPr>
            <p:cNvPr id="278" name="Text Box 205"/>
            <p:cNvSpPr txBox="1">
              <a:spLocks noChangeArrowheads="1"/>
            </p:cNvSpPr>
            <p:nvPr/>
          </p:nvSpPr>
          <p:spPr bwMode="auto">
            <a:xfrm>
              <a:off x="272479" y="1918920"/>
              <a:ext cx="128112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dirty="0" err="1">
                  <a:ln>
                    <a:noFill/>
                  </a:ln>
                  <a:solidFill>
                    <a:srgbClr val="C00000"/>
                  </a:solidFill>
                  <a:effectLst/>
                  <a:uLnTx/>
                  <a:uFillTx/>
                  <a:latin typeface="Times New Roman" pitchFamily="18" charset="0"/>
                  <a:ea typeface="宋体" charset="-122"/>
                </a:rPr>
                <a:t>ssthresh</a:t>
              </a:r>
              <a:endParaRPr kumimoji="1" lang="en-US" altLang="zh-CN" sz="2000" b="1" i="0" u="none" strike="noStrike" kern="0" cap="none" spc="0" normalizeH="0" baseline="0" noProof="0" dirty="0">
                <a:ln>
                  <a:noFill/>
                </a:ln>
                <a:solidFill>
                  <a:srgbClr val="C00000"/>
                </a:solidFill>
                <a:effectLst/>
                <a:uLnTx/>
                <a:uFillTx/>
                <a:latin typeface="Times New Roman" pitchFamily="18" charset="0"/>
                <a:ea typeface="宋体" charset="-122"/>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2000" b="1" i="0" u="none" strike="noStrike" kern="0" cap="none" spc="0" normalizeH="0" baseline="0" noProof="0" dirty="0">
                  <a:ln>
                    <a:noFill/>
                  </a:ln>
                  <a:solidFill>
                    <a:srgbClr val="C00000"/>
                  </a:solidFill>
                  <a:effectLst/>
                  <a:uLnTx/>
                  <a:uFillTx/>
                  <a:latin typeface="Times New Roman" pitchFamily="18" charset="0"/>
                  <a:ea typeface="宋体" charset="-122"/>
                </a:rPr>
                <a:t> 的初始值</a:t>
              </a:r>
            </a:p>
          </p:txBody>
        </p:sp>
        <p:sp>
          <p:nvSpPr>
            <p:cNvPr id="280" name="Line 215"/>
            <p:cNvSpPr>
              <a:spLocks noChangeShapeType="1"/>
            </p:cNvSpPr>
            <p:nvPr/>
          </p:nvSpPr>
          <p:spPr bwMode="auto">
            <a:xfrm flipV="1">
              <a:off x="1413153" y="2223418"/>
              <a:ext cx="219374" cy="0"/>
            </a:xfrm>
            <a:prstGeom prst="line">
              <a:avLst/>
            </a:prstGeom>
            <a:noFill/>
            <a:ln w="19050">
              <a:solidFill>
                <a:srgbClr val="C00000"/>
              </a:solidFill>
              <a:round/>
              <a:headEnd/>
              <a:tailEnd type="triangle" w="sm"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81" name="Text Box 206"/>
            <p:cNvSpPr txBox="1">
              <a:spLocks noChangeArrowheads="1"/>
            </p:cNvSpPr>
            <p:nvPr/>
          </p:nvSpPr>
          <p:spPr bwMode="auto">
            <a:xfrm rot="20245475">
              <a:off x="6948778" y="2393474"/>
              <a:ext cx="121699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2000" b="1" i="0" u="none" strike="noStrike" kern="0" cap="none" spc="0" normalizeH="0" baseline="0" noProof="0">
                  <a:ln>
                    <a:noFill/>
                  </a:ln>
                  <a:solidFill>
                    <a:srgbClr val="000000"/>
                  </a:solidFill>
                  <a:effectLst/>
                  <a:uLnTx/>
                  <a:uFillTx/>
                  <a:latin typeface="Times New Roman" pitchFamily="18" charset="0"/>
                  <a:ea typeface="宋体" charset="-122"/>
                </a:rPr>
                <a:t>拥塞避免</a:t>
              </a:r>
            </a:p>
          </p:txBody>
        </p:sp>
        <p:sp>
          <p:nvSpPr>
            <p:cNvPr id="282" name="Oval 125"/>
            <p:cNvSpPr>
              <a:spLocks noChangeArrowheads="1"/>
            </p:cNvSpPr>
            <p:nvPr/>
          </p:nvSpPr>
          <p:spPr bwMode="auto">
            <a:xfrm>
              <a:off x="5147403" y="3540670"/>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83" name="Oval 126"/>
            <p:cNvSpPr>
              <a:spLocks noChangeArrowheads="1"/>
            </p:cNvSpPr>
            <p:nvPr/>
          </p:nvSpPr>
          <p:spPr bwMode="auto">
            <a:xfrm>
              <a:off x="5383027" y="3343839"/>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84" name="Oval 127"/>
            <p:cNvSpPr>
              <a:spLocks noChangeArrowheads="1"/>
            </p:cNvSpPr>
            <p:nvPr/>
          </p:nvSpPr>
          <p:spPr bwMode="auto">
            <a:xfrm>
              <a:off x="4903653" y="3616374"/>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85" name="Oval 128"/>
            <p:cNvSpPr>
              <a:spLocks noChangeArrowheads="1"/>
            </p:cNvSpPr>
            <p:nvPr/>
          </p:nvSpPr>
          <p:spPr bwMode="auto">
            <a:xfrm>
              <a:off x="5623527" y="2953542"/>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86" name="Oval 129"/>
            <p:cNvSpPr>
              <a:spLocks noChangeArrowheads="1"/>
            </p:cNvSpPr>
            <p:nvPr/>
          </p:nvSpPr>
          <p:spPr bwMode="auto">
            <a:xfrm>
              <a:off x="6106153" y="2440437"/>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87" name="Oval 130"/>
            <p:cNvSpPr>
              <a:spLocks noChangeArrowheads="1"/>
            </p:cNvSpPr>
            <p:nvPr/>
          </p:nvSpPr>
          <p:spPr bwMode="auto">
            <a:xfrm>
              <a:off x="6795153" y="2147715"/>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88" name="Oval 131"/>
            <p:cNvSpPr>
              <a:spLocks noChangeArrowheads="1"/>
            </p:cNvSpPr>
            <p:nvPr/>
          </p:nvSpPr>
          <p:spPr bwMode="auto">
            <a:xfrm>
              <a:off x="6335277" y="2334451"/>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89" name="Oval 132"/>
            <p:cNvSpPr>
              <a:spLocks noChangeArrowheads="1"/>
            </p:cNvSpPr>
            <p:nvPr/>
          </p:nvSpPr>
          <p:spPr bwMode="auto">
            <a:xfrm>
              <a:off x="6569277" y="2238560"/>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90" name="Line 147"/>
            <p:cNvSpPr>
              <a:spLocks noChangeShapeType="1"/>
            </p:cNvSpPr>
            <p:nvPr/>
          </p:nvSpPr>
          <p:spPr bwMode="auto">
            <a:xfrm rot="10800000">
              <a:off x="2016028" y="2595210"/>
              <a:ext cx="4134000" cy="0"/>
            </a:xfrm>
            <a:prstGeom prst="line">
              <a:avLst/>
            </a:prstGeom>
            <a:noFill/>
            <a:ln w="1905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cxnSp>
          <p:nvCxnSpPr>
            <p:cNvPr id="291" name="直接连接符 115"/>
            <p:cNvCxnSpPr>
              <a:cxnSpLocks noChangeShapeType="1"/>
            </p:cNvCxnSpPr>
            <p:nvPr/>
          </p:nvCxnSpPr>
          <p:spPr bwMode="auto">
            <a:xfrm>
              <a:off x="4728153" y="1375532"/>
              <a:ext cx="234000" cy="2266077"/>
            </a:xfrm>
            <a:prstGeom prst="line">
              <a:avLst/>
            </a:prstGeom>
            <a:noFill/>
            <a:ln w="28575" algn="ctr">
              <a:solidFill>
                <a:srgbClr val="0000FF"/>
              </a:solidFill>
              <a:round/>
              <a:headEnd/>
              <a:tailEnd/>
            </a:ln>
            <a:extLst>
              <a:ext uri="{909E8E84-426E-40DD-AFC4-6F175D3DCCD1}">
                <a14:hiddenFill xmlns:a14="http://schemas.microsoft.com/office/drawing/2010/main">
                  <a:noFill/>
                </a14:hiddenFill>
              </a:ext>
            </a:extLst>
          </p:spPr>
        </p:cxnSp>
        <p:sp>
          <p:nvSpPr>
            <p:cNvPr id="293" name="Rectangle 161"/>
            <p:cNvSpPr>
              <a:spLocks noChangeArrowheads="1"/>
            </p:cNvSpPr>
            <p:nvPr/>
          </p:nvSpPr>
          <p:spPr bwMode="auto">
            <a:xfrm>
              <a:off x="2555757" y="1801158"/>
              <a:ext cx="442000" cy="3684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800" b="1" i="0" u="none" strike="noStrike" kern="0" cap="none" spc="0" normalizeH="0" baseline="0" noProof="0" dirty="0">
                  <a:ln>
                    <a:noFill/>
                  </a:ln>
                  <a:solidFill>
                    <a:sysClr val="windowText" lastClr="000000"/>
                  </a:solidFill>
                  <a:effectLst/>
                  <a:uLnTx/>
                  <a:uFillTx/>
                  <a:sym typeface="Wingdings" pitchFamily="2" charset="2"/>
                </a:rPr>
                <a:t></a:t>
              </a:r>
              <a:endParaRPr kumimoji="0" lang="zh-CN" altLang="en-US" sz="2800" b="1" i="0" u="none" strike="noStrike" kern="0" cap="none" spc="0" normalizeH="0" baseline="0" noProof="0" dirty="0">
                <a:ln>
                  <a:noFill/>
                </a:ln>
                <a:solidFill>
                  <a:sysClr val="windowText" lastClr="000000"/>
                </a:solidFill>
                <a:effectLst/>
                <a:uLnTx/>
                <a:uFillTx/>
              </a:endParaRPr>
            </a:p>
          </p:txBody>
        </p:sp>
        <p:sp>
          <p:nvSpPr>
            <p:cNvPr id="294" name="Oval 129"/>
            <p:cNvSpPr>
              <a:spLocks noChangeArrowheads="1"/>
            </p:cNvSpPr>
            <p:nvPr/>
          </p:nvSpPr>
          <p:spPr bwMode="auto">
            <a:xfrm>
              <a:off x="5868903" y="2549787"/>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95" name="任意多边形 134"/>
            <p:cNvSpPr>
              <a:spLocks/>
            </p:cNvSpPr>
            <p:nvPr/>
          </p:nvSpPr>
          <p:spPr bwMode="auto">
            <a:xfrm>
              <a:off x="4952403" y="2181361"/>
              <a:ext cx="1906124" cy="1485482"/>
            </a:xfrm>
            <a:custGeom>
              <a:avLst/>
              <a:gdLst>
                <a:gd name="T0" fmla="*/ 0 w 1929384"/>
                <a:gd name="T1" fmla="*/ 1404281 h 1426464"/>
                <a:gd name="T2" fmla="*/ 224888 w 1929384"/>
                <a:gd name="T3" fmla="*/ 1336767 h 1426464"/>
                <a:gd name="T4" fmla="*/ 445365 w 1929384"/>
                <a:gd name="T5" fmla="*/ 1152231 h 1426464"/>
                <a:gd name="T6" fmla="*/ 903959 w 1929384"/>
                <a:gd name="T7" fmla="*/ 409583 h 1426464"/>
                <a:gd name="T8" fmla="*/ 1860836 w 1929384"/>
                <a:gd name="T9" fmla="*/ 0 h 1426464"/>
                <a:gd name="T10" fmla="*/ 0 60000 65536"/>
                <a:gd name="T11" fmla="*/ 0 60000 65536"/>
                <a:gd name="T12" fmla="*/ 0 60000 65536"/>
                <a:gd name="T13" fmla="*/ 0 60000 65536"/>
                <a:gd name="T14" fmla="*/ 0 60000 65536"/>
                <a:gd name="T15" fmla="*/ 0 w 1929384"/>
                <a:gd name="T16" fmla="*/ 0 h 1426464"/>
                <a:gd name="T17" fmla="*/ 1929384 w 1929384"/>
                <a:gd name="T18" fmla="*/ 1426464 h 1426464"/>
              </a:gdLst>
              <a:ahLst/>
              <a:cxnLst>
                <a:cxn ang="T10">
                  <a:pos x="T0" y="T1"/>
                </a:cxn>
                <a:cxn ang="T11">
                  <a:pos x="T2" y="T3"/>
                </a:cxn>
                <a:cxn ang="T12">
                  <a:pos x="T4" y="T5"/>
                </a:cxn>
                <a:cxn ang="T13">
                  <a:pos x="T6" y="T7"/>
                </a:cxn>
                <a:cxn ang="T14">
                  <a:pos x="T8" y="T9"/>
                </a:cxn>
              </a:cxnLst>
              <a:rect l="T15" t="T16" r="T17" b="T18"/>
              <a:pathLst>
                <a:path w="1929384" h="1426464">
                  <a:moveTo>
                    <a:pt x="0" y="1426464"/>
                  </a:moveTo>
                  <a:lnTo>
                    <a:pt x="233172" y="1357884"/>
                  </a:lnTo>
                  <a:lnTo>
                    <a:pt x="461772" y="1170432"/>
                  </a:lnTo>
                  <a:lnTo>
                    <a:pt x="937260" y="416052"/>
                  </a:lnTo>
                  <a:lnTo>
                    <a:pt x="1929384" y="0"/>
                  </a:lnTo>
                </a:path>
              </a:pathLst>
            </a:custGeom>
            <a:noFill/>
            <a:ln w="28575" cap="flat" cmpd="sng" algn="ctr">
              <a:solidFill>
                <a:srgbClr val="0000FF"/>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96" name="Rectangle 161"/>
            <p:cNvSpPr>
              <a:spLocks noChangeArrowheads="1"/>
            </p:cNvSpPr>
            <p:nvPr/>
          </p:nvSpPr>
          <p:spPr bwMode="auto">
            <a:xfrm>
              <a:off x="4545899" y="1021117"/>
              <a:ext cx="367250" cy="30618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800" b="1" i="0" u="none" strike="noStrike" kern="0" cap="none" spc="0" normalizeH="0" baseline="0" noProof="0" dirty="0">
                  <a:ln>
                    <a:noFill/>
                  </a:ln>
                  <a:solidFill>
                    <a:sysClr val="windowText" lastClr="000000"/>
                  </a:solidFill>
                  <a:effectLst/>
                  <a:uLnTx/>
                  <a:uFillTx/>
                  <a:sym typeface="Wingdings" pitchFamily="2" charset="2"/>
                </a:rPr>
                <a:t></a:t>
              </a:r>
              <a:endParaRPr kumimoji="0" lang="zh-CN" altLang="en-US" sz="2800" b="1" i="0" u="none" strike="noStrike" kern="0" cap="none" spc="0" normalizeH="0" baseline="0" noProof="0" dirty="0">
                <a:ln>
                  <a:noFill/>
                </a:ln>
                <a:solidFill>
                  <a:sysClr val="windowText" lastClr="000000"/>
                </a:solidFill>
                <a:effectLst/>
                <a:uLnTx/>
                <a:uFillTx/>
              </a:endParaRPr>
            </a:p>
          </p:txBody>
        </p:sp>
        <p:cxnSp>
          <p:nvCxnSpPr>
            <p:cNvPr id="297" name="直接连接符 119"/>
            <p:cNvCxnSpPr>
              <a:cxnSpLocks noChangeShapeType="1"/>
            </p:cNvCxnSpPr>
            <p:nvPr/>
          </p:nvCxnSpPr>
          <p:spPr bwMode="auto">
            <a:xfrm flipH="1">
              <a:off x="7064902" y="3022518"/>
              <a:ext cx="1624" cy="694795"/>
            </a:xfrm>
            <a:prstGeom prst="line">
              <a:avLst/>
            </a:prstGeom>
            <a:noFill/>
            <a:ln w="19050" algn="ctr">
              <a:solidFill>
                <a:srgbClr val="000000"/>
              </a:solidFill>
              <a:prstDash val="dash"/>
              <a:round/>
              <a:headEnd/>
              <a:tailEnd/>
            </a:ln>
          </p:spPr>
        </p:cxnSp>
        <p:cxnSp>
          <p:nvCxnSpPr>
            <p:cNvPr id="298" name="直接连接符 121"/>
            <p:cNvCxnSpPr>
              <a:cxnSpLocks noChangeShapeType="1"/>
            </p:cNvCxnSpPr>
            <p:nvPr/>
          </p:nvCxnSpPr>
          <p:spPr bwMode="auto">
            <a:xfrm>
              <a:off x="2032278" y="3005695"/>
              <a:ext cx="5676125" cy="0"/>
            </a:xfrm>
            <a:prstGeom prst="line">
              <a:avLst/>
            </a:prstGeom>
            <a:noFill/>
            <a:ln w="19050" algn="ctr">
              <a:solidFill>
                <a:srgbClr val="000000"/>
              </a:solidFill>
              <a:prstDash val="dash"/>
              <a:round/>
              <a:headEnd/>
              <a:tailEnd/>
            </a:ln>
          </p:spPr>
        </p:cxnSp>
        <p:sp>
          <p:nvSpPr>
            <p:cNvPr id="299" name="Oval 130"/>
            <p:cNvSpPr>
              <a:spLocks noChangeArrowheads="1"/>
            </p:cNvSpPr>
            <p:nvPr/>
          </p:nvSpPr>
          <p:spPr bwMode="auto">
            <a:xfrm>
              <a:off x="7021027" y="2961955"/>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300" name="Line 24"/>
            <p:cNvSpPr>
              <a:spLocks noChangeShapeType="1"/>
            </p:cNvSpPr>
            <p:nvPr/>
          </p:nvSpPr>
          <p:spPr bwMode="auto">
            <a:xfrm>
              <a:off x="7532902" y="3639926"/>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301" name="Line 22"/>
            <p:cNvSpPr>
              <a:spLocks noChangeShapeType="1"/>
            </p:cNvSpPr>
            <p:nvPr/>
          </p:nvSpPr>
          <p:spPr bwMode="auto">
            <a:xfrm>
              <a:off x="7295652" y="3644974"/>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302" name="Text Box 87"/>
            <p:cNvSpPr txBox="1">
              <a:spLocks noChangeArrowheads="1"/>
            </p:cNvSpPr>
            <p:nvPr/>
          </p:nvSpPr>
          <p:spPr bwMode="auto">
            <a:xfrm>
              <a:off x="7311902" y="3754324"/>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24</a:t>
              </a:r>
            </a:p>
          </p:txBody>
        </p:sp>
        <p:sp>
          <p:nvSpPr>
            <p:cNvPr id="303" name="Line 22"/>
            <p:cNvSpPr>
              <a:spLocks noChangeShapeType="1"/>
            </p:cNvSpPr>
            <p:nvPr/>
          </p:nvSpPr>
          <p:spPr bwMode="auto">
            <a:xfrm>
              <a:off x="7776652" y="3653385"/>
              <a:ext cx="0" cy="1615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cxnSp>
          <p:nvCxnSpPr>
            <p:cNvPr id="304" name="直接连接符 134"/>
            <p:cNvCxnSpPr>
              <a:cxnSpLocks noChangeShapeType="1"/>
              <a:stCxn id="295" idx="4"/>
              <a:endCxn id="299" idx="3"/>
            </p:cNvCxnSpPr>
            <p:nvPr/>
          </p:nvCxnSpPr>
          <p:spPr bwMode="auto">
            <a:xfrm>
              <a:off x="6856903" y="2181361"/>
              <a:ext cx="204750" cy="832745"/>
            </a:xfrm>
            <a:prstGeom prst="line">
              <a:avLst/>
            </a:prstGeom>
            <a:noFill/>
            <a:ln w="28575" algn="ctr">
              <a:solidFill>
                <a:srgbClr val="0000FF"/>
              </a:solidFill>
              <a:round/>
              <a:headEnd/>
              <a:tailEnd/>
            </a:ln>
          </p:spPr>
        </p:cxnSp>
        <p:sp>
          <p:nvSpPr>
            <p:cNvPr id="305" name="Text Box 206"/>
            <p:cNvSpPr txBox="1">
              <a:spLocks noChangeArrowheads="1"/>
            </p:cNvSpPr>
            <p:nvPr/>
          </p:nvSpPr>
          <p:spPr bwMode="auto">
            <a:xfrm rot="20070649">
              <a:off x="5809549" y="2010746"/>
              <a:ext cx="111440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800" b="1" i="0" u="none" strike="noStrike" kern="0" cap="none" spc="0" normalizeH="0" baseline="0" noProof="0" dirty="0">
                  <a:ln>
                    <a:noFill/>
                  </a:ln>
                  <a:solidFill>
                    <a:srgbClr val="000000"/>
                  </a:solidFill>
                  <a:effectLst/>
                  <a:uLnTx/>
                  <a:uFillTx/>
                  <a:latin typeface="Times New Roman" pitchFamily="18" charset="0"/>
                  <a:ea typeface="宋体" charset="-122"/>
                </a:rPr>
                <a:t>拥塞避免</a:t>
              </a:r>
            </a:p>
          </p:txBody>
        </p:sp>
        <p:sp>
          <p:nvSpPr>
            <p:cNvPr id="306" name="Text Box 206"/>
            <p:cNvSpPr txBox="1">
              <a:spLocks noChangeArrowheads="1"/>
            </p:cNvSpPr>
            <p:nvPr/>
          </p:nvSpPr>
          <p:spPr bwMode="auto">
            <a:xfrm rot="20205303">
              <a:off x="2990278" y="1471566"/>
              <a:ext cx="121699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2000" b="1" i="0" u="none" strike="noStrike" kern="0" cap="none" spc="0" normalizeH="0" baseline="0" noProof="0">
                  <a:ln>
                    <a:noFill/>
                  </a:ln>
                  <a:solidFill>
                    <a:srgbClr val="000000"/>
                  </a:solidFill>
                  <a:effectLst/>
                  <a:uLnTx/>
                  <a:uFillTx/>
                  <a:latin typeface="Times New Roman" pitchFamily="18" charset="0"/>
                  <a:ea typeface="宋体" charset="-122"/>
                </a:rPr>
                <a:t>拥塞避免</a:t>
              </a:r>
            </a:p>
          </p:txBody>
        </p:sp>
        <p:sp>
          <p:nvSpPr>
            <p:cNvPr id="307" name="TextBox 147"/>
            <p:cNvSpPr txBox="1">
              <a:spLocks noChangeArrowheads="1"/>
            </p:cNvSpPr>
            <p:nvPr/>
          </p:nvSpPr>
          <p:spPr bwMode="auto">
            <a:xfrm>
              <a:off x="5542277" y="2191455"/>
              <a:ext cx="50526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2800" b="1" i="0" u="none" strike="noStrike" kern="0" cap="none" spc="0" normalizeH="0" baseline="0" noProof="0" dirty="0">
                  <a:ln>
                    <a:noFill/>
                  </a:ln>
                  <a:solidFill>
                    <a:srgbClr val="000000"/>
                  </a:solidFill>
                  <a:effectLst/>
                  <a:uLnTx/>
                  <a:uFillTx/>
                  <a:latin typeface="Times New Roman" pitchFamily="18" charset="0"/>
                  <a:ea typeface="宋体" charset="-122"/>
                  <a:sym typeface="Wingdings" pitchFamily="2" charset="2"/>
                </a:rPr>
                <a:t></a:t>
              </a:r>
              <a:endParaRPr kumimoji="1" lang="zh-CN" altLang="en-US" sz="2800" b="1" i="0" u="none" strike="noStrike" kern="0" cap="none" spc="0" normalizeH="0" baseline="0" noProof="0" dirty="0">
                <a:ln>
                  <a:noFill/>
                </a:ln>
                <a:solidFill>
                  <a:srgbClr val="000000"/>
                </a:solidFill>
                <a:effectLst/>
                <a:uLnTx/>
                <a:uFillTx/>
                <a:latin typeface="Times New Roman" pitchFamily="18" charset="0"/>
                <a:ea typeface="宋体" charset="-122"/>
              </a:endParaRPr>
            </a:p>
          </p:txBody>
        </p:sp>
        <p:sp>
          <p:nvSpPr>
            <p:cNvPr id="308" name="矩形 150"/>
            <p:cNvSpPr>
              <a:spLocks noChangeArrowheads="1"/>
            </p:cNvSpPr>
            <p:nvPr/>
          </p:nvSpPr>
          <p:spPr bwMode="auto">
            <a:xfrm>
              <a:off x="2298778" y="3596186"/>
              <a:ext cx="2575625" cy="126174"/>
            </a:xfrm>
            <a:prstGeom prst="rect">
              <a:avLst/>
            </a:prstGeom>
            <a:solidFill>
              <a:srgbClr val="FFFFFF"/>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309" name="TextBox 148"/>
            <p:cNvSpPr txBox="1">
              <a:spLocks noChangeArrowheads="1"/>
            </p:cNvSpPr>
            <p:nvPr/>
          </p:nvSpPr>
          <p:spPr bwMode="auto">
            <a:xfrm>
              <a:off x="6720403" y="1765829"/>
              <a:ext cx="50526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2800" b="1" i="0" u="none" strike="noStrike" kern="0" cap="none" spc="0" normalizeH="0" baseline="0" noProof="0">
                  <a:ln>
                    <a:noFill/>
                  </a:ln>
                  <a:solidFill>
                    <a:srgbClr val="000000"/>
                  </a:solidFill>
                  <a:effectLst/>
                  <a:uLnTx/>
                  <a:uFillTx/>
                  <a:latin typeface="Times New Roman" pitchFamily="18" charset="0"/>
                  <a:ea typeface="宋体" charset="-122"/>
                  <a:sym typeface="Wingdings" pitchFamily="2" charset="2"/>
                </a:rPr>
                <a:t></a:t>
              </a:r>
              <a:endParaRPr kumimoji="1" lang="zh-CN" altLang="en-US" sz="2800" b="1" i="0" u="none" strike="noStrike" kern="0" cap="none" spc="0" normalizeH="0" baseline="0" noProof="0">
                <a:ln>
                  <a:noFill/>
                </a:ln>
                <a:solidFill>
                  <a:srgbClr val="000000"/>
                </a:solidFill>
                <a:effectLst/>
                <a:uLnTx/>
                <a:uFillTx/>
                <a:latin typeface="Times New Roman" pitchFamily="18" charset="0"/>
                <a:ea typeface="宋体" charset="-122"/>
              </a:endParaRPr>
            </a:p>
          </p:txBody>
        </p:sp>
        <p:sp>
          <p:nvSpPr>
            <p:cNvPr id="311" name="矩形 151"/>
            <p:cNvSpPr>
              <a:spLocks noChangeArrowheads="1"/>
            </p:cNvSpPr>
            <p:nvPr/>
          </p:nvSpPr>
          <p:spPr bwMode="auto">
            <a:xfrm>
              <a:off x="7237152" y="3596186"/>
              <a:ext cx="607750" cy="114397"/>
            </a:xfrm>
            <a:prstGeom prst="rect">
              <a:avLst/>
            </a:prstGeom>
            <a:solidFill>
              <a:srgbClr val="FFFFFF"/>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cxnSp>
          <p:nvCxnSpPr>
            <p:cNvPr id="312" name="直接连接符 153"/>
            <p:cNvCxnSpPr>
              <a:cxnSpLocks noChangeShapeType="1"/>
            </p:cNvCxnSpPr>
            <p:nvPr/>
          </p:nvCxnSpPr>
          <p:spPr bwMode="auto">
            <a:xfrm flipV="1">
              <a:off x="5903027" y="2630538"/>
              <a:ext cx="11376" cy="1043034"/>
            </a:xfrm>
            <a:prstGeom prst="line">
              <a:avLst/>
            </a:prstGeom>
            <a:noFill/>
            <a:ln w="19050" algn="ctr">
              <a:solidFill>
                <a:srgbClr val="000000"/>
              </a:solidFill>
              <a:prstDash val="dash"/>
              <a:round/>
              <a:headEnd/>
              <a:tailEnd/>
            </a:ln>
          </p:spPr>
        </p:cxnSp>
        <p:cxnSp>
          <p:nvCxnSpPr>
            <p:cNvPr id="313" name="直接连接符 157"/>
            <p:cNvCxnSpPr>
              <a:cxnSpLocks noChangeShapeType="1"/>
            </p:cNvCxnSpPr>
            <p:nvPr/>
          </p:nvCxnSpPr>
          <p:spPr bwMode="auto">
            <a:xfrm flipV="1">
              <a:off x="6832527" y="2253700"/>
              <a:ext cx="11376" cy="1520811"/>
            </a:xfrm>
            <a:prstGeom prst="line">
              <a:avLst/>
            </a:prstGeom>
            <a:noFill/>
            <a:ln w="19050" algn="ctr">
              <a:solidFill>
                <a:srgbClr val="000000"/>
              </a:solidFill>
              <a:prstDash val="dash"/>
              <a:round/>
              <a:headEnd/>
              <a:tailEnd/>
            </a:ln>
          </p:spPr>
        </p:cxnSp>
        <p:cxnSp>
          <p:nvCxnSpPr>
            <p:cNvPr id="314" name="直接连接符 141"/>
            <p:cNvCxnSpPr>
              <a:cxnSpLocks noChangeShapeType="1"/>
            </p:cNvCxnSpPr>
            <p:nvPr/>
          </p:nvCxnSpPr>
          <p:spPr bwMode="auto">
            <a:xfrm flipV="1">
              <a:off x="7001527" y="2475765"/>
              <a:ext cx="1248000" cy="560211"/>
            </a:xfrm>
            <a:prstGeom prst="line">
              <a:avLst/>
            </a:prstGeom>
            <a:noFill/>
            <a:ln w="28575" algn="ctr">
              <a:solidFill>
                <a:srgbClr val="0000FF"/>
              </a:solidFill>
              <a:round/>
              <a:headEnd/>
              <a:tailEnd/>
            </a:ln>
          </p:spPr>
        </p:cxnSp>
        <p:sp>
          <p:nvSpPr>
            <p:cNvPr id="315" name="Oval 202"/>
            <p:cNvSpPr>
              <a:spLocks noChangeArrowheads="1"/>
            </p:cNvSpPr>
            <p:nvPr/>
          </p:nvSpPr>
          <p:spPr bwMode="auto">
            <a:xfrm>
              <a:off x="7724652" y="2655773"/>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316" name="Oval 130"/>
            <p:cNvSpPr>
              <a:spLocks noChangeArrowheads="1"/>
            </p:cNvSpPr>
            <p:nvPr/>
          </p:nvSpPr>
          <p:spPr bwMode="auto">
            <a:xfrm>
              <a:off x="7251777" y="2855968"/>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317" name="Oval 130"/>
            <p:cNvSpPr>
              <a:spLocks noChangeArrowheads="1"/>
            </p:cNvSpPr>
            <p:nvPr/>
          </p:nvSpPr>
          <p:spPr bwMode="auto">
            <a:xfrm>
              <a:off x="7490652" y="2758394"/>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318" name="TextBox 149"/>
            <p:cNvSpPr txBox="1">
              <a:spLocks noChangeArrowheads="1"/>
            </p:cNvSpPr>
            <p:nvPr/>
          </p:nvSpPr>
          <p:spPr bwMode="auto">
            <a:xfrm>
              <a:off x="6795153" y="2987189"/>
              <a:ext cx="50526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2800" b="1" i="0" u="none" strike="noStrike" kern="0" cap="none" spc="0" normalizeH="0" baseline="0" noProof="0" dirty="0">
                  <a:ln>
                    <a:noFill/>
                  </a:ln>
                  <a:solidFill>
                    <a:srgbClr val="000000"/>
                  </a:solidFill>
                  <a:effectLst/>
                  <a:uLnTx/>
                  <a:uFillTx/>
                  <a:latin typeface="Times New Roman" pitchFamily="18" charset="0"/>
                  <a:ea typeface="宋体" charset="-122"/>
                  <a:sym typeface="Wingdings" pitchFamily="2" charset="2"/>
                </a:rPr>
                <a:t></a:t>
              </a:r>
              <a:endParaRPr kumimoji="1" lang="zh-CN" altLang="en-US" sz="2800" b="1" i="0" u="none" strike="noStrike" kern="0" cap="none" spc="0" normalizeH="0" baseline="0" noProof="0" dirty="0">
                <a:ln>
                  <a:noFill/>
                </a:ln>
                <a:solidFill>
                  <a:srgbClr val="000000"/>
                </a:solidFill>
                <a:effectLst/>
                <a:uLnTx/>
                <a:uFillTx/>
                <a:latin typeface="Times New Roman" pitchFamily="18" charset="0"/>
                <a:ea typeface="宋体" charset="-122"/>
              </a:endParaRPr>
            </a:p>
          </p:txBody>
        </p:sp>
        <p:sp>
          <p:nvSpPr>
            <p:cNvPr id="319" name="Oval 202"/>
            <p:cNvSpPr>
              <a:spLocks noChangeArrowheads="1"/>
            </p:cNvSpPr>
            <p:nvPr/>
          </p:nvSpPr>
          <p:spPr bwMode="auto">
            <a:xfrm>
              <a:off x="7966777" y="2531282"/>
              <a:ext cx="91000" cy="9421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cxnSp>
          <p:nvCxnSpPr>
            <p:cNvPr id="320" name="直接连接符 117"/>
            <p:cNvCxnSpPr>
              <a:cxnSpLocks noChangeShapeType="1"/>
            </p:cNvCxnSpPr>
            <p:nvPr/>
          </p:nvCxnSpPr>
          <p:spPr bwMode="auto">
            <a:xfrm flipH="1">
              <a:off x="4726527" y="1506753"/>
              <a:ext cx="4876" cy="2200466"/>
            </a:xfrm>
            <a:prstGeom prst="line">
              <a:avLst/>
            </a:prstGeom>
            <a:noFill/>
            <a:ln w="19050" algn="ctr">
              <a:solidFill>
                <a:srgbClr val="000000"/>
              </a:solidFill>
              <a:prstDash val="dash"/>
              <a:round/>
              <a:headEnd/>
              <a:tailEnd/>
            </a:ln>
            <a:extLst>
              <a:ext uri="{909E8E84-426E-40DD-AFC4-6F175D3DCCD1}">
                <a14:hiddenFill xmlns:a14="http://schemas.microsoft.com/office/drawing/2010/main">
                  <a:noFill/>
                </a14:hiddenFill>
              </a:ext>
            </a:extLst>
          </p:spPr>
        </p:cxnSp>
        <p:cxnSp>
          <p:nvCxnSpPr>
            <p:cNvPr id="321" name="直接连接符 119"/>
            <p:cNvCxnSpPr>
              <a:cxnSpLocks noChangeShapeType="1"/>
            </p:cNvCxnSpPr>
            <p:nvPr/>
          </p:nvCxnSpPr>
          <p:spPr bwMode="auto">
            <a:xfrm>
              <a:off x="2854527" y="2309217"/>
              <a:ext cx="0" cy="1384543"/>
            </a:xfrm>
            <a:prstGeom prst="line">
              <a:avLst/>
            </a:prstGeom>
            <a:noFill/>
            <a:ln w="19050" algn="ctr">
              <a:solidFill>
                <a:srgbClr val="000000"/>
              </a:solidFill>
              <a:prstDash val="dash"/>
              <a:round/>
              <a:headEnd/>
              <a:tailEnd/>
            </a:ln>
            <a:extLst>
              <a:ext uri="{909E8E84-426E-40DD-AFC4-6F175D3DCCD1}">
                <a14:hiddenFill xmlns:a14="http://schemas.microsoft.com/office/drawing/2010/main">
                  <a:noFill/>
                </a14:hiddenFill>
              </a:ext>
            </a:extLst>
          </p:spPr>
        </p:cxnSp>
        <p:sp>
          <p:nvSpPr>
            <p:cNvPr id="249" name="Text Box 91"/>
            <p:cNvSpPr txBox="1">
              <a:spLocks noChangeArrowheads="1"/>
            </p:cNvSpPr>
            <p:nvPr/>
          </p:nvSpPr>
          <p:spPr bwMode="auto">
            <a:xfrm>
              <a:off x="1647153" y="3187385"/>
              <a:ext cx="3129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dirty="0">
                  <a:ln>
                    <a:noFill/>
                  </a:ln>
                  <a:solidFill>
                    <a:srgbClr val="000000"/>
                  </a:solidFill>
                  <a:effectLst/>
                  <a:uLnTx/>
                  <a:uFillTx/>
                  <a:latin typeface="Times New Roman" pitchFamily="18" charset="0"/>
                  <a:ea typeface="宋体" charset="-122"/>
                </a:rPr>
                <a:t>4</a:t>
              </a:r>
            </a:p>
          </p:txBody>
        </p:sp>
      </p:grpSp>
      <p:sp>
        <p:nvSpPr>
          <p:cNvPr id="276" name="Line 167"/>
          <p:cNvSpPr>
            <a:spLocks noChangeShapeType="1"/>
          </p:cNvSpPr>
          <p:nvPr/>
        </p:nvSpPr>
        <p:spPr bwMode="auto">
          <a:xfrm>
            <a:off x="6609184" y="2774554"/>
            <a:ext cx="399947" cy="222398"/>
          </a:xfrm>
          <a:prstGeom prst="line">
            <a:avLst/>
          </a:prstGeom>
          <a:noFill/>
          <a:ln w="76200">
            <a:solidFill>
              <a:srgbClr val="FF0000">
                <a:alpha val="80000"/>
              </a:srgbClr>
            </a:solidFill>
            <a:round/>
            <a:headEnd type="none"/>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121" name="Text Box 101"/>
          <p:cNvSpPr txBox="1">
            <a:spLocks noChangeArrowheads="1"/>
          </p:cNvSpPr>
          <p:nvPr/>
        </p:nvSpPr>
        <p:spPr bwMode="auto">
          <a:xfrm>
            <a:off x="842392" y="4293096"/>
            <a:ext cx="8655010"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eaLnBrk="1" hangingPunct="1"/>
            <a:r>
              <a:rPr kumimoji="0" lang="zh-CN" altLang="zh-CN" sz="2800" dirty="0">
                <a:solidFill>
                  <a:srgbClr val="000099"/>
                </a:solidFill>
                <a:latin typeface="Arial" pitchFamily="34" charset="0"/>
                <a:ea typeface="黑体" pitchFamily="2" charset="-122"/>
              </a:rPr>
              <a:t>因此，在图的点</a:t>
            </a:r>
            <a:r>
              <a:rPr kumimoji="0" lang="en-US" altLang="zh-CN" sz="2800" dirty="0">
                <a:solidFill>
                  <a:srgbClr val="000099"/>
                </a:solidFill>
                <a:latin typeface="Arial" pitchFamily="34" charset="0"/>
                <a:ea typeface="黑体" pitchFamily="2" charset="-122"/>
                <a:sym typeface="Wingdings"/>
              </a:rPr>
              <a:t></a:t>
            </a:r>
            <a:r>
              <a:rPr kumimoji="0" lang="zh-CN" altLang="zh-CN" sz="2800" dirty="0">
                <a:solidFill>
                  <a:srgbClr val="000099"/>
                </a:solidFill>
                <a:latin typeface="Arial" pitchFamily="34" charset="0"/>
                <a:ea typeface="黑体" pitchFamily="2" charset="-122"/>
              </a:rPr>
              <a:t>，发送方知道现在只是丢失了个别的报文段。于是</a:t>
            </a:r>
            <a:r>
              <a:rPr kumimoji="0" lang="zh-CN" altLang="zh-CN" sz="2800" dirty="0">
                <a:solidFill>
                  <a:srgbClr val="FF0000"/>
                </a:solidFill>
                <a:latin typeface="Arial" pitchFamily="34" charset="0"/>
                <a:ea typeface="黑体" pitchFamily="2" charset="-122"/>
              </a:rPr>
              <a:t>不启动慢开始，而是执行快恢复算法。</a:t>
            </a:r>
            <a:r>
              <a:rPr kumimoji="0" lang="zh-CN" altLang="zh-CN" sz="2800" dirty="0">
                <a:solidFill>
                  <a:srgbClr val="000099"/>
                </a:solidFill>
                <a:latin typeface="Arial" pitchFamily="34" charset="0"/>
                <a:ea typeface="黑体" pitchFamily="2" charset="-122"/>
              </a:rPr>
              <a:t>这时，发送方调整门限值</a:t>
            </a:r>
            <a:r>
              <a:rPr kumimoji="0" lang="en-US" altLang="zh-CN" sz="2800" dirty="0" err="1">
                <a:solidFill>
                  <a:srgbClr val="000099"/>
                </a:solidFill>
                <a:latin typeface="Arial" pitchFamily="34" charset="0"/>
                <a:ea typeface="黑体" pitchFamily="2" charset="-122"/>
              </a:rPr>
              <a:t>ssthresh</a:t>
            </a:r>
            <a:r>
              <a:rPr kumimoji="0" lang="en-US" altLang="zh-CN" sz="2800" dirty="0">
                <a:solidFill>
                  <a:srgbClr val="000099"/>
                </a:solidFill>
                <a:latin typeface="Arial" pitchFamily="34" charset="0"/>
                <a:ea typeface="黑体" pitchFamily="2" charset="-122"/>
              </a:rPr>
              <a:t> = </a:t>
            </a:r>
            <a:r>
              <a:rPr kumimoji="0" lang="en-US" altLang="zh-CN" sz="2800" dirty="0" err="1">
                <a:solidFill>
                  <a:srgbClr val="000099"/>
                </a:solidFill>
                <a:latin typeface="Arial" pitchFamily="34" charset="0"/>
                <a:ea typeface="黑体" pitchFamily="2" charset="-122"/>
              </a:rPr>
              <a:t>cwnd</a:t>
            </a:r>
            <a:r>
              <a:rPr kumimoji="0" lang="en-US" altLang="zh-CN" sz="2800" dirty="0">
                <a:solidFill>
                  <a:srgbClr val="000099"/>
                </a:solidFill>
                <a:latin typeface="Arial" pitchFamily="34" charset="0"/>
                <a:ea typeface="黑体" pitchFamily="2" charset="-122"/>
              </a:rPr>
              <a:t> / 2 = 8</a:t>
            </a:r>
            <a:r>
              <a:rPr kumimoji="0" lang="zh-CN" altLang="zh-CN" sz="2800" dirty="0">
                <a:solidFill>
                  <a:srgbClr val="000099"/>
                </a:solidFill>
                <a:latin typeface="Arial" pitchFamily="34" charset="0"/>
                <a:ea typeface="黑体" pitchFamily="2" charset="-122"/>
              </a:rPr>
              <a:t>，同时设置拥塞窗口</a:t>
            </a:r>
            <a:r>
              <a:rPr kumimoji="0" lang="en-US" altLang="zh-CN" sz="2800" dirty="0" err="1">
                <a:solidFill>
                  <a:srgbClr val="000099"/>
                </a:solidFill>
                <a:latin typeface="Arial" pitchFamily="34" charset="0"/>
                <a:ea typeface="黑体" pitchFamily="2" charset="-122"/>
              </a:rPr>
              <a:t>cwnd</a:t>
            </a:r>
            <a:r>
              <a:rPr kumimoji="0" lang="en-US" altLang="zh-CN" sz="2800" dirty="0">
                <a:solidFill>
                  <a:srgbClr val="000099"/>
                </a:solidFill>
                <a:latin typeface="Arial" pitchFamily="34" charset="0"/>
                <a:ea typeface="黑体" pitchFamily="2" charset="-122"/>
              </a:rPr>
              <a:t> = </a:t>
            </a:r>
            <a:r>
              <a:rPr kumimoji="0" lang="en-US" altLang="zh-CN" sz="2800" dirty="0" err="1">
                <a:solidFill>
                  <a:srgbClr val="000099"/>
                </a:solidFill>
                <a:latin typeface="Arial" pitchFamily="34" charset="0"/>
                <a:ea typeface="黑体" pitchFamily="2" charset="-122"/>
              </a:rPr>
              <a:t>ssthresh</a:t>
            </a:r>
            <a:r>
              <a:rPr kumimoji="0" lang="en-US" altLang="zh-CN" sz="2800" dirty="0">
                <a:solidFill>
                  <a:srgbClr val="000099"/>
                </a:solidFill>
                <a:latin typeface="Arial" pitchFamily="34" charset="0"/>
                <a:ea typeface="黑体" pitchFamily="2" charset="-122"/>
              </a:rPr>
              <a:t> = 8</a:t>
            </a:r>
            <a:r>
              <a:rPr kumimoji="0" lang="zh-CN" altLang="zh-CN" sz="2800" dirty="0">
                <a:solidFill>
                  <a:srgbClr val="000099"/>
                </a:solidFill>
                <a:latin typeface="Arial" pitchFamily="34" charset="0"/>
                <a:ea typeface="黑体" pitchFamily="2" charset="-122"/>
              </a:rPr>
              <a:t>（见图中的点</a:t>
            </a:r>
            <a:r>
              <a:rPr kumimoji="0" lang="en-US" altLang="zh-CN" sz="2800" dirty="0">
                <a:solidFill>
                  <a:srgbClr val="000099"/>
                </a:solidFill>
                <a:latin typeface="Arial" pitchFamily="34" charset="0"/>
                <a:ea typeface="黑体" pitchFamily="2" charset="-122"/>
                <a:sym typeface="Wingdings"/>
              </a:rPr>
              <a:t></a:t>
            </a:r>
            <a:r>
              <a:rPr kumimoji="0" lang="zh-CN" altLang="zh-CN" sz="2800" dirty="0">
                <a:solidFill>
                  <a:srgbClr val="000099"/>
                </a:solidFill>
                <a:latin typeface="Arial" pitchFamily="34" charset="0"/>
                <a:ea typeface="黑体" pitchFamily="2" charset="-122"/>
              </a:rPr>
              <a:t>），并开始执行拥塞避免算法。</a:t>
            </a:r>
            <a:endParaRPr kumimoji="0" lang="en-US" altLang="zh-CN" sz="2800" dirty="0">
              <a:solidFill>
                <a:srgbClr val="000099"/>
              </a:solidFill>
              <a:latin typeface="Arial" pitchFamily="34" charset="0"/>
              <a:ea typeface="黑体" pitchFamily="2" charset="-122"/>
            </a:endParaRPr>
          </a:p>
        </p:txBody>
      </p:sp>
    </p:spTree>
    <p:extLst>
      <p:ext uri="{BB962C8B-B14F-4D97-AF65-F5344CB8AC3E}">
        <p14:creationId xmlns:p14="http://schemas.microsoft.com/office/powerpoint/2010/main" val="2959055622"/>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dirty="0"/>
              <a:t>加法增大，乘法减小 </a:t>
            </a:r>
            <a:r>
              <a:rPr lang="en-US" altLang="zh-CN" dirty="0"/>
              <a:t>(AIMD)</a:t>
            </a:r>
            <a:endParaRPr lang="zh-CN" altLang="en-US" dirty="0"/>
          </a:p>
        </p:txBody>
      </p:sp>
      <p:sp>
        <p:nvSpPr>
          <p:cNvPr id="3" name="内容占位符 2"/>
          <p:cNvSpPr>
            <a:spLocks noGrp="1"/>
          </p:cNvSpPr>
          <p:nvPr>
            <p:ph idx="1"/>
          </p:nvPr>
        </p:nvSpPr>
        <p:spPr/>
        <p:txBody>
          <a:bodyPr/>
          <a:lstStyle/>
          <a:p>
            <a:r>
              <a:rPr lang="zh-CN" altLang="zh-CN" dirty="0"/>
              <a:t>可以看出，在拥塞避免阶段，拥塞窗口是按照线性规律增大的。这常称为</a:t>
            </a:r>
            <a:r>
              <a:rPr lang="zh-CN" altLang="en-US" dirty="0">
                <a:solidFill>
                  <a:srgbClr val="FF0000"/>
                </a:solidFill>
              </a:rPr>
              <a:t>“</a:t>
            </a:r>
            <a:r>
              <a:rPr lang="zh-CN" altLang="zh-CN" dirty="0">
                <a:solidFill>
                  <a:srgbClr val="FF0000"/>
                </a:solidFill>
              </a:rPr>
              <a:t>加法增大</a:t>
            </a:r>
            <a:r>
              <a:rPr lang="zh-CN" altLang="en-US" dirty="0">
                <a:solidFill>
                  <a:srgbClr val="FF0000"/>
                </a:solidFill>
              </a:rPr>
              <a:t>”</a:t>
            </a:r>
            <a:r>
              <a:rPr lang="en-US" altLang="zh-CN" dirty="0">
                <a:solidFill>
                  <a:srgbClr val="FF0000"/>
                </a:solidFill>
              </a:rPr>
              <a:t> </a:t>
            </a:r>
            <a:r>
              <a:rPr lang="en-US" altLang="zh-CN" dirty="0"/>
              <a:t>AI (Additive Increase)</a:t>
            </a:r>
            <a:r>
              <a:rPr lang="zh-CN" altLang="zh-CN" dirty="0"/>
              <a:t>。</a:t>
            </a:r>
            <a:endParaRPr lang="en-US" altLang="zh-CN" dirty="0"/>
          </a:p>
          <a:p>
            <a:r>
              <a:rPr lang="zh-CN" altLang="en-US" dirty="0"/>
              <a:t>当</a:t>
            </a:r>
            <a:r>
              <a:rPr lang="zh-CN" altLang="zh-CN" dirty="0"/>
              <a:t>出现超时或</a:t>
            </a:r>
            <a:r>
              <a:rPr lang="en-US" altLang="zh-CN" dirty="0"/>
              <a:t>3</a:t>
            </a:r>
            <a:r>
              <a:rPr lang="zh-CN" altLang="zh-CN" dirty="0"/>
              <a:t>个重复的确认</a:t>
            </a:r>
            <a:r>
              <a:rPr lang="zh-CN" altLang="en-US" dirty="0"/>
              <a:t>时</a:t>
            </a:r>
            <a:r>
              <a:rPr lang="zh-CN" altLang="zh-CN" dirty="0"/>
              <a:t>，就要把门限值设置为当前拥塞窗口值的一半，并大大减小拥塞窗口的数值。这常称为</a:t>
            </a:r>
            <a:r>
              <a:rPr lang="zh-CN" altLang="zh-CN" dirty="0">
                <a:solidFill>
                  <a:srgbClr val="FF0000"/>
                </a:solidFill>
              </a:rPr>
              <a:t>“乘法减小”</a:t>
            </a:r>
            <a:r>
              <a:rPr lang="en-US" altLang="zh-CN" dirty="0"/>
              <a:t>MD (Multiplicative Decrease)</a:t>
            </a:r>
            <a:r>
              <a:rPr lang="zh-CN" altLang="zh-CN" dirty="0"/>
              <a:t>。</a:t>
            </a:r>
            <a:endParaRPr lang="en-US" altLang="zh-CN" dirty="0"/>
          </a:p>
          <a:p>
            <a:r>
              <a:rPr lang="zh-CN" altLang="zh-CN" dirty="0"/>
              <a:t>二者合在一起就是所谓的</a:t>
            </a:r>
            <a:r>
              <a:rPr lang="en-US" altLang="zh-CN" dirty="0"/>
              <a:t> AIMD </a:t>
            </a:r>
            <a:r>
              <a:rPr lang="zh-CN" altLang="zh-CN" dirty="0"/>
              <a:t>算法。</a:t>
            </a:r>
            <a:endParaRPr lang="zh-CN" altLang="en-US" dirty="0"/>
          </a:p>
        </p:txBody>
      </p:sp>
    </p:spTree>
    <p:extLst>
      <p:ext uri="{BB962C8B-B14F-4D97-AF65-F5344CB8AC3E}">
        <p14:creationId xmlns:p14="http://schemas.microsoft.com/office/powerpoint/2010/main" val="2689978199"/>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en-US" altLang="zh-CN" dirty="0"/>
              <a:t>TCP</a:t>
            </a:r>
            <a:r>
              <a:rPr lang="zh-CN" altLang="zh-CN" dirty="0"/>
              <a:t>拥塞控制流程图</a:t>
            </a:r>
            <a:endParaRPr lang="zh-CN" altLang="en-US" dirty="0"/>
          </a:p>
        </p:txBody>
      </p:sp>
      <p:cxnSp>
        <p:nvCxnSpPr>
          <p:cNvPr id="7" name="直接箭头连接符 6"/>
          <p:cNvCxnSpPr/>
          <p:nvPr/>
        </p:nvCxnSpPr>
        <p:spPr>
          <a:xfrm>
            <a:off x="5005388" y="1668870"/>
            <a:ext cx="0" cy="499555"/>
          </a:xfrm>
          <a:prstGeom prst="straightConnector1">
            <a:avLst/>
          </a:prstGeom>
          <a:ln w="19050">
            <a:solidFill>
              <a:schemeClr val="tx1"/>
            </a:solidFill>
            <a:headEnd type="none" w="med" len="med"/>
            <a:tailEnd type="triangle" w="sm" len="lg"/>
          </a:ln>
        </p:spPr>
        <p:style>
          <a:lnRef idx="1">
            <a:schemeClr val="accent1"/>
          </a:lnRef>
          <a:fillRef idx="0">
            <a:schemeClr val="accent1"/>
          </a:fillRef>
          <a:effectRef idx="0">
            <a:schemeClr val="accent1"/>
          </a:effectRef>
          <a:fontRef idx="minor">
            <a:schemeClr val="tx1"/>
          </a:fontRef>
        </p:style>
      </p:cxnSp>
      <p:sp>
        <p:nvSpPr>
          <p:cNvPr id="8" name="TextBox 31"/>
          <p:cNvSpPr txBox="1">
            <a:spLocks noChangeArrowheads="1"/>
          </p:cNvSpPr>
          <p:nvPr/>
        </p:nvSpPr>
        <p:spPr bwMode="auto">
          <a:xfrm>
            <a:off x="4394912" y="1207205"/>
            <a:ext cx="142218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zh-CN" altLang="en-US" sz="2400" b="1" dirty="0">
                <a:latin typeface="+mn-lt"/>
                <a:ea typeface="黑体" pitchFamily="2" charset="-122"/>
              </a:rPr>
              <a:t>连接建立</a:t>
            </a:r>
          </a:p>
        </p:txBody>
      </p:sp>
      <p:cxnSp>
        <p:nvCxnSpPr>
          <p:cNvPr id="10" name="直接箭头连接符 9"/>
          <p:cNvCxnSpPr/>
          <p:nvPr/>
        </p:nvCxnSpPr>
        <p:spPr>
          <a:xfrm flipH="1">
            <a:off x="5022057" y="3451125"/>
            <a:ext cx="1587" cy="863600"/>
          </a:xfrm>
          <a:prstGeom prst="straightConnector1">
            <a:avLst/>
          </a:prstGeom>
          <a:ln w="19050">
            <a:solidFill>
              <a:schemeClr val="tx1"/>
            </a:solidFill>
            <a:headEnd type="none" w="med" len="med"/>
            <a:tailEnd type="triangle" w="sm" len="lg"/>
          </a:ln>
        </p:spPr>
        <p:style>
          <a:lnRef idx="1">
            <a:schemeClr val="accent1"/>
          </a:lnRef>
          <a:fillRef idx="0">
            <a:schemeClr val="accent1"/>
          </a:fillRef>
          <a:effectRef idx="0">
            <a:schemeClr val="accent1"/>
          </a:effectRef>
          <a:fontRef idx="minor">
            <a:schemeClr val="tx1"/>
          </a:fontRef>
        </p:style>
      </p:cxnSp>
      <p:sp>
        <p:nvSpPr>
          <p:cNvPr id="11" name="AutoShape 5"/>
          <p:cNvSpPr>
            <a:spLocks noChangeArrowheads="1"/>
          </p:cNvSpPr>
          <p:nvPr/>
        </p:nvSpPr>
        <p:spPr bwMode="auto">
          <a:xfrm>
            <a:off x="2809082" y="4314725"/>
            <a:ext cx="4392612" cy="1169987"/>
          </a:xfrm>
          <a:prstGeom prst="flowChartProcess">
            <a:avLst/>
          </a:prstGeom>
          <a:solidFill>
            <a:srgbClr val="FFCC00"/>
          </a:solidFill>
          <a:ln w="9525">
            <a:solidFill>
              <a:schemeClr val="tx1"/>
            </a:solidFill>
            <a:miter lim="800000"/>
            <a:headEnd/>
            <a:tailEnd/>
          </a:ln>
        </p:spPr>
        <p:txBody>
          <a:bodyPr wrap="none" anchor="ctr"/>
          <a:lstStyle/>
          <a:p>
            <a:pPr algn="ctr"/>
            <a:endParaRPr lang="zh-CN" altLang="zh-CN" sz="1600" b="1"/>
          </a:p>
        </p:txBody>
      </p:sp>
      <p:sp>
        <p:nvSpPr>
          <p:cNvPr id="16" name="TextBox 65"/>
          <p:cNvSpPr txBox="1">
            <a:spLocks noChangeArrowheads="1"/>
          </p:cNvSpPr>
          <p:nvPr/>
        </p:nvSpPr>
        <p:spPr bwMode="auto">
          <a:xfrm>
            <a:off x="560512" y="1433413"/>
            <a:ext cx="2214909" cy="646331"/>
          </a:xfrm>
          <a:prstGeom prst="rect">
            <a:avLst/>
          </a:prstGeom>
          <a:solidFill>
            <a:srgbClr val="66FF66"/>
          </a:solidFill>
          <a:ln w="12700">
            <a:solidFill>
              <a:schemeClr val="tx1"/>
            </a:solidFill>
            <a:miter lim="800000"/>
            <a:headEnd/>
            <a:tailEnd/>
          </a:ln>
        </p:spPr>
        <p:txBody>
          <a:bodyPr wrap="squar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r>
              <a:rPr lang="en-US" altLang="zh-CN" b="1" dirty="0" err="1">
                <a:latin typeface="Times New Roman" pitchFamily="18" charset="0"/>
                <a:cs typeface="Times New Roman" pitchFamily="18" charset="0"/>
              </a:rPr>
              <a:t>ssthresh</a:t>
            </a:r>
            <a:r>
              <a:rPr lang="en-US" altLang="zh-CN" b="1" dirty="0">
                <a:latin typeface="Times New Roman" pitchFamily="18" charset="0"/>
                <a:cs typeface="Times New Roman" pitchFamily="18" charset="0"/>
              </a:rPr>
              <a:t> = </a:t>
            </a:r>
            <a:r>
              <a:rPr lang="en-US" altLang="zh-CN" b="1" dirty="0" err="1">
                <a:latin typeface="Times New Roman" pitchFamily="18" charset="0"/>
                <a:cs typeface="Times New Roman" pitchFamily="18" charset="0"/>
              </a:rPr>
              <a:t>cwnd</a:t>
            </a:r>
            <a:r>
              <a:rPr lang="en-US" altLang="zh-CN" b="1" dirty="0">
                <a:latin typeface="Times New Roman" pitchFamily="18" charset="0"/>
                <a:cs typeface="Times New Roman" pitchFamily="18" charset="0"/>
              </a:rPr>
              <a:t> / 2</a:t>
            </a:r>
          </a:p>
          <a:p>
            <a:pPr algn="ctr" eaLnBrk="1" hangingPunct="1"/>
            <a:r>
              <a:rPr lang="en-US" altLang="zh-CN" b="1" dirty="0" err="1">
                <a:latin typeface="Times New Roman" pitchFamily="18" charset="0"/>
                <a:cs typeface="Times New Roman" pitchFamily="18" charset="0"/>
              </a:rPr>
              <a:t>cwnd</a:t>
            </a:r>
            <a:r>
              <a:rPr lang="en-US" altLang="zh-CN" b="1" dirty="0">
                <a:latin typeface="Times New Roman" pitchFamily="18" charset="0"/>
                <a:cs typeface="Times New Roman" pitchFamily="18" charset="0"/>
              </a:rPr>
              <a:t> = 1</a:t>
            </a:r>
            <a:endParaRPr lang="zh-CN" altLang="en-US" b="1" dirty="0">
              <a:latin typeface="Times New Roman" pitchFamily="18" charset="0"/>
              <a:cs typeface="Times New Roman" pitchFamily="18" charset="0"/>
            </a:endParaRPr>
          </a:p>
        </p:txBody>
      </p:sp>
      <p:cxnSp>
        <p:nvCxnSpPr>
          <p:cNvPr id="17" name="肘形连接符 16"/>
          <p:cNvCxnSpPr>
            <a:stCxn id="6" idx="1"/>
            <a:endCxn id="16" idx="2"/>
          </p:cNvCxnSpPr>
          <p:nvPr/>
        </p:nvCxnSpPr>
        <p:spPr>
          <a:xfrm rot="10800000">
            <a:off x="1667968" y="2079745"/>
            <a:ext cx="1141115" cy="706249"/>
          </a:xfrm>
          <a:prstGeom prst="bentConnector2">
            <a:avLst/>
          </a:prstGeom>
          <a:ln w="19050">
            <a:solidFill>
              <a:schemeClr val="tx1"/>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18" name="肘形连接符 17"/>
          <p:cNvCxnSpPr>
            <a:stCxn id="11" idx="1"/>
            <a:endCxn id="16" idx="2"/>
          </p:cNvCxnSpPr>
          <p:nvPr/>
        </p:nvCxnSpPr>
        <p:spPr>
          <a:xfrm rot="10800000">
            <a:off x="1667968" y="2079745"/>
            <a:ext cx="1141115" cy="2819975"/>
          </a:xfrm>
          <a:prstGeom prst="bentConnector2">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TextBox 36"/>
          <p:cNvSpPr txBox="1">
            <a:spLocks noChangeArrowheads="1"/>
          </p:cNvSpPr>
          <p:nvPr/>
        </p:nvSpPr>
        <p:spPr bwMode="auto">
          <a:xfrm>
            <a:off x="7490619" y="3594000"/>
            <a:ext cx="2214909" cy="646331"/>
          </a:xfrm>
          <a:prstGeom prst="rect">
            <a:avLst/>
          </a:prstGeom>
          <a:solidFill>
            <a:srgbClr val="66FF66"/>
          </a:solidFill>
          <a:ln w="9525">
            <a:solidFill>
              <a:schemeClr val="tx1"/>
            </a:solidFill>
            <a:miter lim="800000"/>
            <a:headEnd/>
            <a:tailEnd/>
          </a:ln>
        </p:spPr>
        <p:txBody>
          <a:bodyPr wrap="squar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r>
              <a:rPr lang="en-US" altLang="zh-CN" b="1">
                <a:latin typeface="Times New Roman" pitchFamily="18" charset="0"/>
                <a:cs typeface="Times New Roman" pitchFamily="18" charset="0"/>
              </a:rPr>
              <a:t>ssthresh = cwnd / 2</a:t>
            </a:r>
          </a:p>
          <a:p>
            <a:pPr algn="ctr" eaLnBrk="1" hangingPunct="1"/>
            <a:r>
              <a:rPr lang="en-US" altLang="zh-CN" b="1">
                <a:latin typeface="Times New Roman" pitchFamily="18" charset="0"/>
                <a:cs typeface="Times New Roman" pitchFamily="18" charset="0"/>
              </a:rPr>
              <a:t>cwnd = ssthresh</a:t>
            </a:r>
            <a:endParaRPr lang="zh-CN" altLang="en-US" b="1">
              <a:latin typeface="Times New Roman" pitchFamily="18" charset="0"/>
              <a:cs typeface="Times New Roman" pitchFamily="18" charset="0"/>
            </a:endParaRPr>
          </a:p>
        </p:txBody>
      </p:sp>
      <p:cxnSp>
        <p:nvCxnSpPr>
          <p:cNvPr id="21" name="直接箭头连接符 20"/>
          <p:cNvCxnSpPr>
            <a:stCxn id="20" idx="1"/>
          </p:cNvCxnSpPr>
          <p:nvPr/>
        </p:nvCxnSpPr>
        <p:spPr>
          <a:xfrm flipH="1">
            <a:off x="5022057" y="3917166"/>
            <a:ext cx="2468562" cy="0"/>
          </a:xfrm>
          <a:prstGeom prst="straightConnector1">
            <a:avLst/>
          </a:prstGeom>
          <a:ln w="19050">
            <a:solidFill>
              <a:schemeClr val="tx1"/>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22" name="肘形连接符 21"/>
          <p:cNvCxnSpPr>
            <a:stCxn id="13" idx="3"/>
            <a:endCxn id="20" idx="2"/>
          </p:cNvCxnSpPr>
          <p:nvPr/>
        </p:nvCxnSpPr>
        <p:spPr>
          <a:xfrm flipV="1">
            <a:off x="7261817" y="4240331"/>
            <a:ext cx="1336257" cy="575360"/>
          </a:xfrm>
          <a:prstGeom prst="bentConnector2">
            <a:avLst/>
          </a:prstGeom>
          <a:ln w="19050">
            <a:solidFill>
              <a:schemeClr val="tx1"/>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23" name="肘形连接符 105"/>
          <p:cNvCxnSpPr>
            <a:endCxn id="20" idx="0"/>
          </p:cNvCxnSpPr>
          <p:nvPr/>
        </p:nvCxnSpPr>
        <p:spPr>
          <a:xfrm>
            <a:off x="7201694" y="2730400"/>
            <a:ext cx="1396380" cy="863600"/>
          </a:xfrm>
          <a:prstGeom prst="bentConnector2">
            <a:avLst/>
          </a:prstGeom>
          <a:ln w="19050">
            <a:solidFill>
              <a:schemeClr val="tx1"/>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24" name="直接箭头连接符 23"/>
          <p:cNvCxnSpPr/>
          <p:nvPr/>
        </p:nvCxnSpPr>
        <p:spPr>
          <a:xfrm>
            <a:off x="5022057" y="5482555"/>
            <a:ext cx="4762" cy="466725"/>
          </a:xfrm>
          <a:prstGeom prst="straightConnector1">
            <a:avLst/>
          </a:prstGeom>
          <a:ln w="19050">
            <a:solidFill>
              <a:schemeClr val="tx1"/>
            </a:solidFill>
            <a:headEnd type="none" w="med" len="med"/>
            <a:tailEnd type="triangle" w="sm" len="lg"/>
          </a:ln>
        </p:spPr>
        <p:style>
          <a:lnRef idx="1">
            <a:schemeClr val="accent1"/>
          </a:lnRef>
          <a:fillRef idx="0">
            <a:schemeClr val="accent1"/>
          </a:fillRef>
          <a:effectRef idx="0">
            <a:schemeClr val="accent1"/>
          </a:effectRef>
          <a:fontRef idx="minor">
            <a:schemeClr val="tx1"/>
          </a:fontRef>
        </p:style>
      </p:cxnSp>
      <p:sp>
        <p:nvSpPr>
          <p:cNvPr id="25" name="TextBox 114"/>
          <p:cNvSpPr txBox="1">
            <a:spLocks noChangeArrowheads="1"/>
          </p:cNvSpPr>
          <p:nvPr/>
        </p:nvSpPr>
        <p:spPr bwMode="auto">
          <a:xfrm>
            <a:off x="4322904" y="5847655"/>
            <a:ext cx="142218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zh-CN" altLang="en-US" sz="2400" b="1" dirty="0">
                <a:latin typeface="+mn-lt"/>
                <a:ea typeface="黑体" pitchFamily="2" charset="-122"/>
              </a:rPr>
              <a:t>连接终止</a:t>
            </a:r>
          </a:p>
        </p:txBody>
      </p:sp>
      <p:sp>
        <p:nvSpPr>
          <p:cNvPr id="27" name="AutoShape 5"/>
          <p:cNvSpPr>
            <a:spLocks noChangeArrowheads="1"/>
          </p:cNvSpPr>
          <p:nvPr/>
        </p:nvSpPr>
        <p:spPr bwMode="auto">
          <a:xfrm>
            <a:off x="2809082" y="2154138"/>
            <a:ext cx="4392612" cy="1296987"/>
          </a:xfrm>
          <a:prstGeom prst="flowChartProcess">
            <a:avLst/>
          </a:prstGeom>
          <a:solidFill>
            <a:srgbClr val="FFFF66"/>
          </a:solidFill>
          <a:ln w="12700">
            <a:solidFill>
              <a:schemeClr val="tx1"/>
            </a:solidFill>
            <a:miter lim="800000"/>
            <a:headEnd/>
            <a:tailEnd/>
          </a:ln>
          <a:effectLst>
            <a:outerShdw blurRad="50800" dist="38100" dir="2700000" algn="tl" rotWithShape="0">
              <a:prstClr val="black">
                <a:alpha val="40000"/>
              </a:prstClr>
            </a:outerShdw>
          </a:effectLst>
        </p:spPr>
        <p:txBody>
          <a:bodyPr wrap="none" anchor="ctr"/>
          <a:lstStyle/>
          <a:p>
            <a:pPr algn="ctr">
              <a:defRPr/>
            </a:pPr>
            <a:endParaRPr lang="zh-CN" altLang="zh-CN" sz="1600" b="1">
              <a:effectLst>
                <a:outerShdw blurRad="38100" dist="38100" dir="2700000" algn="tl">
                  <a:srgbClr val="000000">
                    <a:alpha val="43137"/>
                  </a:srgbClr>
                </a:outerShdw>
              </a:effectLst>
            </a:endParaRPr>
          </a:p>
        </p:txBody>
      </p:sp>
      <p:sp>
        <p:nvSpPr>
          <p:cNvPr id="3" name="Text Box 15"/>
          <p:cNvSpPr txBox="1">
            <a:spLocks noChangeArrowheads="1"/>
          </p:cNvSpPr>
          <p:nvPr/>
        </p:nvSpPr>
        <p:spPr bwMode="auto">
          <a:xfrm>
            <a:off x="4448944" y="2154138"/>
            <a:ext cx="111280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zh-CN" altLang="en-US" sz="2400" b="1" dirty="0">
                <a:solidFill>
                  <a:srgbClr val="FF0000"/>
                </a:solidFill>
                <a:latin typeface="+mn-lt"/>
                <a:ea typeface="黑体" pitchFamily="2" charset="-122"/>
              </a:rPr>
              <a:t>慢开始</a:t>
            </a:r>
          </a:p>
        </p:txBody>
      </p:sp>
      <p:sp>
        <p:nvSpPr>
          <p:cNvPr id="4" name="Text Box 16"/>
          <p:cNvSpPr txBox="1">
            <a:spLocks noChangeArrowheads="1"/>
          </p:cNvSpPr>
          <p:nvPr/>
        </p:nvSpPr>
        <p:spPr bwMode="auto">
          <a:xfrm>
            <a:off x="3800872" y="2504975"/>
            <a:ext cx="2386612"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r>
              <a:rPr lang="zh-CN" altLang="en-US" b="1" dirty="0">
                <a:latin typeface="+mn-lt"/>
                <a:ea typeface="黑体" pitchFamily="2" charset="-122"/>
              </a:rPr>
              <a:t>拥塞窗口 </a:t>
            </a:r>
            <a:r>
              <a:rPr lang="en-US" altLang="zh-CN" b="1" dirty="0" err="1">
                <a:latin typeface="+mn-lt"/>
                <a:ea typeface="黑体" pitchFamily="2" charset="-122"/>
              </a:rPr>
              <a:t>cwnd</a:t>
            </a:r>
            <a:r>
              <a:rPr lang="en-US" altLang="zh-CN" b="1" dirty="0">
                <a:latin typeface="+mn-lt"/>
                <a:ea typeface="黑体" pitchFamily="2" charset="-122"/>
              </a:rPr>
              <a:t> =</a:t>
            </a:r>
            <a:r>
              <a:rPr lang="zh-CN" altLang="en-US" b="1" dirty="0">
                <a:latin typeface="+mn-lt"/>
                <a:ea typeface="黑体" pitchFamily="2" charset="-122"/>
              </a:rPr>
              <a:t> </a:t>
            </a:r>
            <a:r>
              <a:rPr lang="en-US" altLang="zh-CN" b="1" dirty="0">
                <a:latin typeface="+mn-lt"/>
                <a:ea typeface="黑体" pitchFamily="2" charset="-122"/>
              </a:rPr>
              <a:t>1 </a:t>
            </a:r>
            <a:endParaRPr lang="zh-CN" altLang="en-US" b="1" dirty="0">
              <a:latin typeface="+mn-lt"/>
              <a:ea typeface="黑体" pitchFamily="2" charset="-122"/>
            </a:endParaRPr>
          </a:p>
          <a:p>
            <a:pPr algn="ctr" eaLnBrk="1" hangingPunct="1"/>
            <a:r>
              <a:rPr lang="zh-CN" altLang="en-US" b="1" dirty="0">
                <a:latin typeface="+mn-lt"/>
                <a:ea typeface="黑体" pitchFamily="2" charset="-122"/>
              </a:rPr>
              <a:t>按指数规律增大</a:t>
            </a:r>
            <a:endParaRPr lang="en-US" altLang="zh-CN" b="1" u="sng" dirty="0">
              <a:latin typeface="+mn-lt"/>
              <a:ea typeface="黑体" pitchFamily="2" charset="-122"/>
              <a:sym typeface="Symbol" pitchFamily="18" charset="2"/>
            </a:endParaRPr>
          </a:p>
        </p:txBody>
      </p:sp>
      <p:sp>
        <p:nvSpPr>
          <p:cNvPr id="5" name="TextBox 25"/>
          <p:cNvSpPr txBox="1">
            <a:spLocks noChangeArrowheads="1"/>
          </p:cNvSpPr>
          <p:nvPr/>
        </p:nvSpPr>
        <p:spPr bwMode="auto">
          <a:xfrm>
            <a:off x="6187484" y="2443063"/>
            <a:ext cx="1074333"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r>
              <a:rPr lang="en-US" altLang="zh-CN" b="1">
                <a:solidFill>
                  <a:srgbClr val="0000FF"/>
                </a:solidFill>
                <a:latin typeface="+mn-lt"/>
                <a:ea typeface="黑体" pitchFamily="2" charset="-122"/>
                <a:cs typeface="Times New Roman" pitchFamily="18" charset="0"/>
              </a:rPr>
              <a:t>3 </a:t>
            </a:r>
            <a:r>
              <a:rPr lang="zh-CN" altLang="en-US" b="1">
                <a:solidFill>
                  <a:srgbClr val="0000FF"/>
                </a:solidFill>
                <a:latin typeface="+mn-lt"/>
                <a:ea typeface="黑体" pitchFamily="2" charset="-122"/>
                <a:cs typeface="Times New Roman" pitchFamily="18" charset="0"/>
              </a:rPr>
              <a:t>个重复</a:t>
            </a:r>
            <a:endParaRPr lang="en-US" altLang="zh-CN" b="1">
              <a:solidFill>
                <a:srgbClr val="0000FF"/>
              </a:solidFill>
              <a:latin typeface="+mn-lt"/>
              <a:ea typeface="黑体" pitchFamily="2" charset="-122"/>
              <a:cs typeface="Times New Roman" pitchFamily="18" charset="0"/>
            </a:endParaRPr>
          </a:p>
          <a:p>
            <a:pPr algn="ctr" eaLnBrk="1" hangingPunct="1"/>
            <a:r>
              <a:rPr lang="zh-CN" altLang="en-US" b="1">
                <a:solidFill>
                  <a:srgbClr val="0000FF"/>
                </a:solidFill>
                <a:latin typeface="+mn-lt"/>
                <a:ea typeface="黑体" pitchFamily="2" charset="-122"/>
                <a:cs typeface="Times New Roman" pitchFamily="18" charset="0"/>
              </a:rPr>
              <a:t>的 </a:t>
            </a:r>
            <a:r>
              <a:rPr lang="en-US" altLang="zh-CN" b="1">
                <a:solidFill>
                  <a:srgbClr val="0000FF"/>
                </a:solidFill>
                <a:latin typeface="+mn-lt"/>
                <a:ea typeface="黑体" pitchFamily="2" charset="-122"/>
                <a:cs typeface="Times New Roman" pitchFamily="18" charset="0"/>
              </a:rPr>
              <a:t>ACK</a:t>
            </a:r>
            <a:endParaRPr lang="zh-CN" altLang="en-US" b="1">
              <a:solidFill>
                <a:srgbClr val="0000FF"/>
              </a:solidFill>
              <a:latin typeface="+mn-lt"/>
              <a:ea typeface="黑体" pitchFamily="2" charset="-122"/>
              <a:cs typeface="Times New Roman" pitchFamily="18" charset="0"/>
            </a:endParaRPr>
          </a:p>
        </p:txBody>
      </p:sp>
      <p:sp>
        <p:nvSpPr>
          <p:cNvPr id="6" name="TextBox 26"/>
          <p:cNvSpPr txBox="1">
            <a:spLocks noChangeArrowheads="1"/>
          </p:cNvSpPr>
          <p:nvPr/>
        </p:nvSpPr>
        <p:spPr bwMode="auto">
          <a:xfrm>
            <a:off x="2809082" y="2585938"/>
            <a:ext cx="70083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zh-CN" altLang="en-US" sz="2000" b="1" dirty="0">
                <a:solidFill>
                  <a:srgbClr val="0000FF"/>
                </a:solidFill>
                <a:latin typeface="+mn-lt"/>
                <a:ea typeface="黑体" pitchFamily="2" charset="-122"/>
              </a:rPr>
              <a:t>超时</a:t>
            </a:r>
          </a:p>
        </p:txBody>
      </p:sp>
      <p:sp>
        <p:nvSpPr>
          <p:cNvPr id="9" name="TextBox 32"/>
          <p:cNvSpPr txBox="1">
            <a:spLocks noChangeArrowheads="1"/>
          </p:cNvSpPr>
          <p:nvPr/>
        </p:nvSpPr>
        <p:spPr bwMode="auto">
          <a:xfrm>
            <a:off x="4336257" y="3114575"/>
            <a:ext cx="179087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sz="1600" b="1" dirty="0" err="1">
                <a:solidFill>
                  <a:srgbClr val="0000FF"/>
                </a:solidFill>
                <a:latin typeface="+mn-lt"/>
              </a:rPr>
              <a:t>cwnd</a:t>
            </a:r>
            <a:r>
              <a:rPr lang="en-US" altLang="zh-CN" sz="1600" b="1" dirty="0">
                <a:solidFill>
                  <a:srgbClr val="0000FF"/>
                </a:solidFill>
                <a:latin typeface="+mn-lt"/>
              </a:rPr>
              <a:t> </a:t>
            </a:r>
            <a:r>
              <a:rPr lang="en-US" altLang="zh-CN" sz="1600" b="1" dirty="0">
                <a:solidFill>
                  <a:srgbClr val="0000FF"/>
                </a:solidFill>
                <a:latin typeface="+mn-lt"/>
                <a:sym typeface="Symbol" pitchFamily="18" charset="2"/>
              </a:rPr>
              <a:t> </a:t>
            </a:r>
            <a:r>
              <a:rPr lang="en-US" altLang="zh-CN" sz="1600" b="1" dirty="0" err="1">
                <a:solidFill>
                  <a:srgbClr val="0000FF"/>
                </a:solidFill>
                <a:latin typeface="+mn-lt"/>
                <a:sym typeface="Symbol" pitchFamily="18" charset="2"/>
              </a:rPr>
              <a:t>ssthresh</a:t>
            </a:r>
            <a:endParaRPr lang="zh-CN" altLang="en-US" sz="1600" b="1" dirty="0">
              <a:solidFill>
                <a:srgbClr val="0000FF"/>
              </a:solidFill>
              <a:latin typeface="+mn-lt"/>
            </a:endParaRPr>
          </a:p>
        </p:txBody>
      </p:sp>
      <p:sp>
        <p:nvSpPr>
          <p:cNvPr id="12" name="Text Box 15"/>
          <p:cNvSpPr txBox="1">
            <a:spLocks noChangeArrowheads="1"/>
          </p:cNvSpPr>
          <p:nvPr/>
        </p:nvSpPr>
        <p:spPr bwMode="auto">
          <a:xfrm>
            <a:off x="4304928" y="4314725"/>
            <a:ext cx="142218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zh-CN" altLang="en-US" sz="2400" b="1" dirty="0">
                <a:solidFill>
                  <a:srgbClr val="FF0000"/>
                </a:solidFill>
                <a:latin typeface="+mn-lt"/>
                <a:ea typeface="黑体" pitchFamily="2" charset="-122"/>
              </a:rPr>
              <a:t>拥塞避免</a:t>
            </a:r>
          </a:p>
        </p:txBody>
      </p:sp>
      <p:sp>
        <p:nvSpPr>
          <p:cNvPr id="13" name="TextBox 41"/>
          <p:cNvSpPr txBox="1">
            <a:spLocks noChangeArrowheads="1"/>
          </p:cNvSpPr>
          <p:nvPr/>
        </p:nvSpPr>
        <p:spPr bwMode="auto">
          <a:xfrm>
            <a:off x="6187484" y="4492525"/>
            <a:ext cx="1074333"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r>
              <a:rPr lang="en-US" altLang="zh-CN" b="1">
                <a:solidFill>
                  <a:srgbClr val="0000FF"/>
                </a:solidFill>
                <a:latin typeface="+mn-lt"/>
                <a:ea typeface="黑体" pitchFamily="2" charset="-122"/>
                <a:cs typeface="Times New Roman" pitchFamily="18" charset="0"/>
              </a:rPr>
              <a:t>3 </a:t>
            </a:r>
            <a:r>
              <a:rPr lang="zh-CN" altLang="en-US" b="1">
                <a:solidFill>
                  <a:srgbClr val="0000FF"/>
                </a:solidFill>
                <a:latin typeface="+mn-lt"/>
                <a:ea typeface="黑体" pitchFamily="2" charset="-122"/>
                <a:cs typeface="Times New Roman" pitchFamily="18" charset="0"/>
              </a:rPr>
              <a:t>个重复</a:t>
            </a:r>
            <a:endParaRPr lang="en-US" altLang="zh-CN" b="1">
              <a:solidFill>
                <a:srgbClr val="0000FF"/>
              </a:solidFill>
              <a:latin typeface="+mn-lt"/>
              <a:ea typeface="黑体" pitchFamily="2" charset="-122"/>
              <a:cs typeface="Times New Roman" pitchFamily="18" charset="0"/>
            </a:endParaRPr>
          </a:p>
          <a:p>
            <a:pPr algn="ctr" eaLnBrk="1" hangingPunct="1"/>
            <a:r>
              <a:rPr lang="zh-CN" altLang="en-US" b="1">
                <a:solidFill>
                  <a:srgbClr val="0000FF"/>
                </a:solidFill>
                <a:latin typeface="+mn-lt"/>
                <a:ea typeface="黑体" pitchFamily="2" charset="-122"/>
                <a:cs typeface="Times New Roman" pitchFamily="18" charset="0"/>
              </a:rPr>
              <a:t>的 </a:t>
            </a:r>
            <a:r>
              <a:rPr lang="en-US" altLang="zh-CN" b="1">
                <a:solidFill>
                  <a:srgbClr val="0000FF"/>
                </a:solidFill>
                <a:latin typeface="+mn-lt"/>
                <a:ea typeface="黑体" pitchFamily="2" charset="-122"/>
                <a:cs typeface="Times New Roman" pitchFamily="18" charset="0"/>
              </a:rPr>
              <a:t>ACK</a:t>
            </a:r>
            <a:endParaRPr lang="zh-CN" altLang="en-US" b="1">
              <a:solidFill>
                <a:srgbClr val="0000FF"/>
              </a:solidFill>
              <a:latin typeface="+mn-lt"/>
              <a:ea typeface="黑体" pitchFamily="2" charset="-122"/>
              <a:cs typeface="Times New Roman" pitchFamily="18" charset="0"/>
            </a:endParaRPr>
          </a:p>
        </p:txBody>
      </p:sp>
      <p:sp>
        <p:nvSpPr>
          <p:cNvPr id="14" name="TextBox 42"/>
          <p:cNvSpPr txBox="1">
            <a:spLocks noChangeArrowheads="1"/>
          </p:cNvSpPr>
          <p:nvPr/>
        </p:nvSpPr>
        <p:spPr bwMode="auto">
          <a:xfrm>
            <a:off x="2821782" y="4624288"/>
            <a:ext cx="70083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zh-CN" altLang="en-US" sz="2000" b="1" dirty="0">
                <a:solidFill>
                  <a:srgbClr val="0000FF"/>
                </a:solidFill>
                <a:latin typeface="+mn-lt"/>
                <a:ea typeface="黑体" pitchFamily="2" charset="-122"/>
              </a:rPr>
              <a:t>超时</a:t>
            </a:r>
          </a:p>
        </p:txBody>
      </p:sp>
      <p:sp>
        <p:nvSpPr>
          <p:cNvPr id="15" name="Text Box 16"/>
          <p:cNvSpPr txBox="1">
            <a:spLocks noChangeArrowheads="1"/>
          </p:cNvSpPr>
          <p:nvPr/>
        </p:nvSpPr>
        <p:spPr bwMode="auto">
          <a:xfrm>
            <a:off x="4159870" y="4725144"/>
            <a:ext cx="187325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r>
              <a:rPr lang="zh-CN" altLang="en-US" b="1" dirty="0">
                <a:latin typeface="+mn-lt"/>
                <a:ea typeface="黑体" pitchFamily="2" charset="-122"/>
              </a:rPr>
              <a:t>拥塞窗口 </a:t>
            </a:r>
            <a:r>
              <a:rPr lang="en-US" altLang="zh-CN" b="1" dirty="0" err="1">
                <a:latin typeface="+mn-lt"/>
                <a:ea typeface="黑体" pitchFamily="2" charset="-122"/>
              </a:rPr>
              <a:t>cwnd</a:t>
            </a:r>
            <a:r>
              <a:rPr lang="en-US" altLang="zh-CN" b="1" dirty="0">
                <a:latin typeface="+mn-lt"/>
                <a:ea typeface="黑体" pitchFamily="2" charset="-122"/>
              </a:rPr>
              <a:t> </a:t>
            </a:r>
            <a:endParaRPr lang="zh-CN" altLang="en-US" b="1" dirty="0">
              <a:latin typeface="+mn-lt"/>
              <a:ea typeface="黑体" pitchFamily="2" charset="-122"/>
            </a:endParaRPr>
          </a:p>
          <a:p>
            <a:pPr algn="ctr" eaLnBrk="1" hangingPunct="1"/>
            <a:r>
              <a:rPr lang="zh-CN" altLang="en-US" b="1" dirty="0">
                <a:latin typeface="+mn-lt"/>
                <a:ea typeface="黑体" pitchFamily="2" charset="-122"/>
              </a:rPr>
              <a:t>按线性规律增大</a:t>
            </a:r>
            <a:endParaRPr lang="en-US" altLang="zh-CN" b="1" u="sng" dirty="0">
              <a:latin typeface="+mn-lt"/>
              <a:ea typeface="黑体" pitchFamily="2" charset="-122"/>
              <a:sym typeface="Symbol" pitchFamily="18" charset="2"/>
            </a:endParaRPr>
          </a:p>
        </p:txBody>
      </p:sp>
      <p:grpSp>
        <p:nvGrpSpPr>
          <p:cNvPr id="51" name="组合 50"/>
          <p:cNvGrpSpPr/>
          <p:nvPr/>
        </p:nvGrpSpPr>
        <p:grpSpPr>
          <a:xfrm>
            <a:off x="2775421" y="1756578"/>
            <a:ext cx="1169467" cy="397560"/>
            <a:chOff x="2775421" y="1756578"/>
            <a:chExt cx="1169467" cy="397560"/>
          </a:xfrm>
        </p:grpSpPr>
        <p:cxnSp>
          <p:nvCxnSpPr>
            <p:cNvPr id="46" name="直接连接符 45"/>
            <p:cNvCxnSpPr>
              <a:stCxn id="16" idx="3"/>
            </p:cNvCxnSpPr>
            <p:nvPr/>
          </p:nvCxnSpPr>
          <p:spPr bwMode="auto">
            <a:xfrm flipV="1">
              <a:off x="2775421" y="1756578"/>
              <a:ext cx="1169467" cy="1"/>
            </a:xfrm>
            <a:prstGeom prst="line">
              <a:avLst/>
            </a:prstGeom>
            <a:solidFill>
              <a:schemeClr val="accent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8" name="直接箭头连接符 47"/>
            <p:cNvCxnSpPr/>
            <p:nvPr/>
          </p:nvCxnSpPr>
          <p:spPr bwMode="auto">
            <a:xfrm>
              <a:off x="3944888" y="1756579"/>
              <a:ext cx="0" cy="397559"/>
            </a:xfrm>
            <a:prstGeom prst="straightConnector1">
              <a:avLst/>
            </a:prstGeom>
            <a:ln w="19050">
              <a:solidFill>
                <a:schemeClr val="tx1"/>
              </a:solidFill>
              <a:headEnd type="none" w="med" len="med"/>
              <a:tailEnd type="triangle" w="sm" len="lg"/>
            </a:ln>
            <a:extLst/>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741236164"/>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1795" name="Rectangle 3"/>
          <p:cNvSpPr>
            <a:spLocks noGrp="1" noChangeArrowheads="1"/>
          </p:cNvSpPr>
          <p:nvPr>
            <p:ph type="title"/>
          </p:nvPr>
        </p:nvSpPr>
        <p:spPr/>
        <p:txBody>
          <a:bodyPr/>
          <a:lstStyle/>
          <a:p>
            <a:pPr algn="ctr"/>
            <a:r>
              <a:rPr lang="zh-CN" altLang="en-US"/>
              <a:t>发送窗口的上限值</a:t>
            </a:r>
          </a:p>
        </p:txBody>
      </p:sp>
      <p:sp>
        <p:nvSpPr>
          <p:cNvPr id="801796" name="Rectangle 4"/>
          <p:cNvSpPr>
            <a:spLocks noGrp="1" noChangeArrowheads="1"/>
          </p:cNvSpPr>
          <p:nvPr>
            <p:ph idx="1"/>
          </p:nvPr>
        </p:nvSpPr>
        <p:spPr>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algn="just">
              <a:lnSpc>
                <a:spcPct val="100000"/>
              </a:lnSpc>
            </a:pPr>
            <a:r>
              <a:rPr lang="zh-CN" altLang="en-US" sz="2800" dirty="0"/>
              <a:t>发送方的发送窗口的上限值应当取为接收方窗口 </a:t>
            </a:r>
            <a:r>
              <a:rPr lang="en-US" altLang="zh-CN" sz="2800" dirty="0" err="1"/>
              <a:t>rwnd</a:t>
            </a:r>
            <a:r>
              <a:rPr lang="en-US" altLang="zh-CN" sz="2800" dirty="0"/>
              <a:t> </a:t>
            </a:r>
            <a:r>
              <a:rPr lang="zh-CN" altLang="en-US" sz="2800" dirty="0"/>
              <a:t>和拥塞窗口 </a:t>
            </a:r>
            <a:r>
              <a:rPr lang="en-US" altLang="zh-CN" sz="2800" dirty="0" err="1"/>
              <a:t>cwnd</a:t>
            </a:r>
            <a:r>
              <a:rPr lang="en-US" altLang="zh-CN" sz="2800" dirty="0"/>
              <a:t> </a:t>
            </a:r>
            <a:r>
              <a:rPr lang="zh-CN" altLang="en-US" sz="2800" dirty="0"/>
              <a:t>这两个变量中较小的一个，即应按以下公式确定：</a:t>
            </a:r>
          </a:p>
          <a:p>
            <a:pPr algn="just">
              <a:lnSpc>
                <a:spcPct val="100000"/>
              </a:lnSpc>
            </a:pPr>
            <a:endParaRPr lang="en-US" altLang="zh-CN" sz="2800" dirty="0"/>
          </a:p>
          <a:p>
            <a:pPr algn="just">
              <a:lnSpc>
                <a:spcPct val="100000"/>
              </a:lnSpc>
            </a:pPr>
            <a:endParaRPr lang="en-US" altLang="zh-CN" sz="1000" dirty="0"/>
          </a:p>
          <a:p>
            <a:pPr algn="just">
              <a:lnSpc>
                <a:spcPct val="100000"/>
              </a:lnSpc>
            </a:pPr>
            <a:r>
              <a:rPr lang="zh-CN" altLang="en-US" sz="2800" dirty="0"/>
              <a:t>当 </a:t>
            </a:r>
            <a:r>
              <a:rPr lang="en-US" altLang="zh-CN" sz="2800" dirty="0" err="1"/>
              <a:t>rwnd</a:t>
            </a:r>
            <a:r>
              <a:rPr lang="en-US" altLang="zh-CN" sz="2800" dirty="0"/>
              <a:t> &lt; </a:t>
            </a:r>
            <a:r>
              <a:rPr lang="en-US" altLang="zh-CN" sz="2800" dirty="0" err="1"/>
              <a:t>cwnd</a:t>
            </a:r>
            <a:r>
              <a:rPr lang="en-US" altLang="zh-CN" sz="2800" dirty="0"/>
              <a:t> </a:t>
            </a:r>
            <a:r>
              <a:rPr lang="zh-CN" altLang="en-US" sz="2800" dirty="0"/>
              <a:t>时，是接收方的接收能力限制发送窗口的最大值。</a:t>
            </a:r>
          </a:p>
          <a:p>
            <a:pPr algn="just">
              <a:lnSpc>
                <a:spcPct val="100000"/>
              </a:lnSpc>
            </a:pPr>
            <a:r>
              <a:rPr lang="zh-CN" altLang="en-US" sz="2800" dirty="0"/>
              <a:t>当 </a:t>
            </a:r>
            <a:r>
              <a:rPr lang="en-US" altLang="zh-CN" sz="2800" dirty="0" err="1"/>
              <a:t>cwnd</a:t>
            </a:r>
            <a:r>
              <a:rPr lang="en-US" altLang="zh-CN" sz="2800" dirty="0"/>
              <a:t> &lt; </a:t>
            </a:r>
            <a:r>
              <a:rPr lang="en-US" altLang="zh-CN" sz="2800" dirty="0" err="1"/>
              <a:t>rwnd</a:t>
            </a:r>
            <a:r>
              <a:rPr lang="en-US" altLang="zh-CN" sz="2800" dirty="0"/>
              <a:t> </a:t>
            </a:r>
            <a:r>
              <a:rPr lang="zh-CN" altLang="en-US" sz="2800" dirty="0"/>
              <a:t>时，则是网络的拥塞限制发送窗口的最大值。 </a:t>
            </a:r>
          </a:p>
        </p:txBody>
      </p:sp>
      <p:sp>
        <p:nvSpPr>
          <p:cNvPr id="801794" name="Rectangle 2"/>
          <p:cNvSpPr>
            <a:spLocks noChangeArrowheads="1"/>
          </p:cNvSpPr>
          <p:nvPr/>
        </p:nvSpPr>
        <p:spPr bwMode="auto">
          <a:xfrm>
            <a:off x="704528" y="2636912"/>
            <a:ext cx="8928992" cy="648072"/>
          </a:xfrm>
          <a:prstGeom prst="rect">
            <a:avLst/>
          </a:prstGeom>
          <a:solidFill>
            <a:srgbClr val="FFFF66"/>
          </a:solidFill>
          <a:ln w="9525" algn="ctr">
            <a:solidFill>
              <a:schemeClr val="tx1"/>
            </a:solidFill>
            <a:miter lim="800000"/>
            <a:headEnd/>
            <a:tailEnd/>
          </a:ln>
          <a:effectLst>
            <a:outerShdw dist="35921" sx="1000" sy="1000" algn="ctr" rotWithShape="0">
              <a:schemeClr val="bg2"/>
            </a:outerShdw>
          </a:effectLst>
        </p:spPr>
        <p:txBody>
          <a:bodyPr wrap="none" anchor="ctr"/>
          <a:lstStyle/>
          <a:p>
            <a:pPr algn="ctr"/>
            <a:r>
              <a:rPr lang="zh-CN" altLang="en-US" sz="2800" b="1" dirty="0">
                <a:solidFill>
                  <a:srgbClr val="000099"/>
                </a:solidFill>
                <a:latin typeface="+mn-lt"/>
                <a:ea typeface="黑体" pitchFamily="2" charset="-122"/>
              </a:rPr>
              <a:t>发送窗口的上限值 </a:t>
            </a:r>
            <a:r>
              <a:rPr lang="zh-CN" altLang="en-US" sz="2800" b="1" dirty="0">
                <a:solidFill>
                  <a:srgbClr val="000099"/>
                </a:solidFill>
                <a:latin typeface="+mn-lt"/>
                <a:ea typeface="黑体" pitchFamily="2" charset="-122"/>
                <a:sym typeface="Symbol" pitchFamily="18" charset="2"/>
              </a:rPr>
              <a:t></a:t>
            </a:r>
            <a:r>
              <a:rPr lang="zh-CN" altLang="en-US" sz="2800" b="1" dirty="0">
                <a:solidFill>
                  <a:srgbClr val="000099"/>
                </a:solidFill>
                <a:latin typeface="+mn-lt"/>
                <a:ea typeface="黑体" pitchFamily="2" charset="-122"/>
              </a:rPr>
              <a:t> </a:t>
            </a:r>
            <a:r>
              <a:rPr lang="en-US" altLang="zh-CN" sz="2800" b="1" dirty="0">
                <a:solidFill>
                  <a:srgbClr val="000099"/>
                </a:solidFill>
                <a:latin typeface="+mn-lt"/>
                <a:ea typeface="黑体" pitchFamily="2" charset="-122"/>
              </a:rPr>
              <a:t>Min [</a:t>
            </a:r>
            <a:r>
              <a:rPr lang="en-US" altLang="zh-CN" sz="2800" b="1" dirty="0" err="1">
                <a:solidFill>
                  <a:srgbClr val="000099"/>
                </a:solidFill>
                <a:latin typeface="+mn-lt"/>
                <a:ea typeface="黑体" pitchFamily="2" charset="-122"/>
              </a:rPr>
              <a:t>rwnd</a:t>
            </a:r>
            <a:r>
              <a:rPr lang="en-US" altLang="zh-CN" sz="2800" b="1" dirty="0">
                <a:solidFill>
                  <a:srgbClr val="000099"/>
                </a:solidFill>
                <a:latin typeface="+mn-lt"/>
                <a:ea typeface="黑体" pitchFamily="2" charset="-122"/>
              </a:rPr>
              <a:t>, </a:t>
            </a:r>
            <a:r>
              <a:rPr lang="en-US" altLang="zh-CN" sz="2800" b="1" dirty="0" err="1">
                <a:solidFill>
                  <a:srgbClr val="000099"/>
                </a:solidFill>
                <a:latin typeface="+mn-lt"/>
                <a:ea typeface="黑体" pitchFamily="2" charset="-122"/>
              </a:rPr>
              <a:t>cwnd</a:t>
            </a:r>
            <a:r>
              <a:rPr lang="en-US" altLang="zh-CN" sz="2800" b="1" dirty="0">
                <a:solidFill>
                  <a:srgbClr val="000099"/>
                </a:solidFill>
                <a:latin typeface="+mn-lt"/>
                <a:ea typeface="黑体" pitchFamily="2" charset="-122"/>
              </a:rPr>
              <a:t>]                (5-9)</a:t>
            </a:r>
          </a:p>
        </p:txBody>
      </p:sp>
      <p:sp>
        <p:nvSpPr>
          <p:cNvPr id="2" name="矩形 1"/>
          <p:cNvSpPr/>
          <p:nvPr/>
        </p:nvSpPr>
        <p:spPr>
          <a:xfrm>
            <a:off x="776536" y="5229200"/>
            <a:ext cx="8784976" cy="999697"/>
          </a:xfrm>
          <a:prstGeom prst="rect">
            <a:avLst/>
          </a:prstGeom>
          <a:solidFill>
            <a:srgbClr val="66FF66"/>
          </a:solidFill>
          <a:ln>
            <a:solidFill>
              <a:schemeClr val="tx1"/>
            </a:solidFill>
          </a:ln>
        </p:spPr>
        <p:txBody>
          <a:bodyPr wrap="square">
            <a:spAutoFit/>
          </a:bodyPr>
          <a:lstStyle/>
          <a:p>
            <a:pPr eaLnBrk="1" hangingPunct="1">
              <a:lnSpc>
                <a:spcPct val="110000"/>
              </a:lnSpc>
            </a:pPr>
            <a:r>
              <a:rPr lang="zh-CN" altLang="zh-CN" sz="2800" b="1" dirty="0">
                <a:solidFill>
                  <a:srgbClr val="000099"/>
                </a:solidFill>
                <a:latin typeface="+mn-lt"/>
                <a:ea typeface="黑体" pitchFamily="2" charset="-122"/>
              </a:rPr>
              <a:t>也就是说，</a:t>
            </a:r>
            <a:r>
              <a:rPr lang="en-US" altLang="zh-CN" sz="2800" b="1" dirty="0" err="1">
                <a:solidFill>
                  <a:srgbClr val="000099"/>
                </a:solidFill>
                <a:latin typeface="+mn-lt"/>
                <a:ea typeface="黑体" pitchFamily="2" charset="-122"/>
              </a:rPr>
              <a:t>rwnd</a:t>
            </a:r>
            <a:r>
              <a:rPr lang="en-US" altLang="zh-CN" sz="2800" b="1" dirty="0">
                <a:solidFill>
                  <a:srgbClr val="000099"/>
                </a:solidFill>
                <a:latin typeface="+mn-lt"/>
                <a:ea typeface="黑体" pitchFamily="2" charset="-122"/>
              </a:rPr>
              <a:t> </a:t>
            </a:r>
            <a:r>
              <a:rPr lang="zh-CN" altLang="zh-CN" sz="2800" b="1" dirty="0">
                <a:solidFill>
                  <a:srgbClr val="000099"/>
                </a:solidFill>
                <a:latin typeface="+mn-lt"/>
                <a:ea typeface="黑体" pitchFamily="2" charset="-122"/>
              </a:rPr>
              <a:t>和</a:t>
            </a:r>
            <a:r>
              <a:rPr lang="en-US" altLang="zh-CN" sz="2800" b="1" dirty="0">
                <a:solidFill>
                  <a:srgbClr val="000099"/>
                </a:solidFill>
                <a:latin typeface="+mn-lt"/>
                <a:ea typeface="黑体" pitchFamily="2" charset="-122"/>
              </a:rPr>
              <a:t> </a:t>
            </a:r>
            <a:r>
              <a:rPr lang="en-US" altLang="zh-CN" sz="2800" b="1" dirty="0" err="1">
                <a:solidFill>
                  <a:srgbClr val="000099"/>
                </a:solidFill>
                <a:latin typeface="+mn-lt"/>
                <a:ea typeface="黑体" pitchFamily="2" charset="-122"/>
              </a:rPr>
              <a:t>cwnd</a:t>
            </a:r>
            <a:r>
              <a:rPr lang="en-US" altLang="zh-CN" sz="2800" b="1" dirty="0">
                <a:solidFill>
                  <a:srgbClr val="000099"/>
                </a:solidFill>
                <a:latin typeface="+mn-lt"/>
                <a:ea typeface="黑体" pitchFamily="2" charset="-122"/>
              </a:rPr>
              <a:t> </a:t>
            </a:r>
            <a:r>
              <a:rPr lang="zh-CN" altLang="zh-CN" sz="2800" b="1" dirty="0">
                <a:solidFill>
                  <a:srgbClr val="000099"/>
                </a:solidFill>
                <a:latin typeface="+mn-lt"/>
                <a:ea typeface="黑体" pitchFamily="2" charset="-122"/>
              </a:rPr>
              <a:t>中数值较小的一个，控制了发送方发送数据的速率。</a:t>
            </a:r>
          </a:p>
        </p:txBody>
      </p:sp>
    </p:spTree>
    <p:extLst>
      <p:ext uri="{BB962C8B-B14F-4D97-AF65-F5344CB8AC3E}">
        <p14:creationId xmlns:p14="http://schemas.microsoft.com/office/powerpoint/2010/main" val="1308453278"/>
      </p:ext>
    </p:extLst>
  </p:cSld>
  <p:clrMapOvr>
    <a:masterClrMapping/>
  </p:clrMapOvr>
</p:sld>
</file>

<file path=ppt/theme/theme1.xml><?xml version="1.0" encoding="utf-8"?>
<a:theme xmlns:a="http://schemas.openxmlformats.org/drawingml/2006/main" name="CN(myzh)Icon">
  <a:themeElements>
    <a:clrScheme name="演示稿（水平） 9">
      <a:dk1>
        <a:srgbClr val="000000"/>
      </a:dk1>
      <a:lt1>
        <a:srgbClr val="FFFFFF"/>
      </a:lt1>
      <a:dk2>
        <a:srgbClr val="666699"/>
      </a:dk2>
      <a:lt2>
        <a:srgbClr val="FFCC00"/>
      </a:lt2>
      <a:accent1>
        <a:srgbClr val="FF9900"/>
      </a:accent1>
      <a:accent2>
        <a:srgbClr val="FF9900"/>
      </a:accent2>
      <a:accent3>
        <a:srgbClr val="FFFFFF"/>
      </a:accent3>
      <a:accent4>
        <a:srgbClr val="000000"/>
      </a:accent4>
      <a:accent5>
        <a:srgbClr val="FFCAAA"/>
      </a:accent5>
      <a:accent6>
        <a:srgbClr val="E78A00"/>
      </a:accent6>
      <a:hlink>
        <a:srgbClr val="666699"/>
      </a:hlink>
      <a:folHlink>
        <a:srgbClr val="999966"/>
      </a:folHlink>
    </a:clrScheme>
    <a:fontScheme name="演示稿（水平）">
      <a:majorFont>
        <a:latin typeface="Times New Roman"/>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演示稿（水平）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演示稿（水平）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演示稿（水平）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演示稿（水平）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演示稿（水平）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演示稿（水平）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演示稿（水平）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演示稿（水平）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
      <a:clrScheme name="演示稿（水平） 9">
        <a:dk1>
          <a:srgbClr val="000000"/>
        </a:dk1>
        <a:lt1>
          <a:srgbClr val="FFFFFF"/>
        </a:lt1>
        <a:dk2>
          <a:srgbClr val="666699"/>
        </a:dk2>
        <a:lt2>
          <a:srgbClr val="FFCC00"/>
        </a:lt2>
        <a:accent1>
          <a:srgbClr val="FF9900"/>
        </a:accent1>
        <a:accent2>
          <a:srgbClr val="FF9900"/>
        </a:accent2>
        <a:accent3>
          <a:srgbClr val="FFFFFF"/>
        </a:accent3>
        <a:accent4>
          <a:srgbClr val="000000"/>
        </a:accent4>
        <a:accent5>
          <a:srgbClr val="FFCAAA"/>
        </a:accent5>
        <a:accent6>
          <a:srgbClr val="E78A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CN(myzh)Icon</Template>
  <TotalTime>1012</TotalTime>
  <Words>8006</Words>
  <Application>Microsoft Office PowerPoint</Application>
  <PresentationFormat>A4 纸张(210x297 毫米)</PresentationFormat>
  <Paragraphs>1481</Paragraphs>
  <Slides>93</Slides>
  <Notes>41</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93</vt:i4>
      </vt:variant>
    </vt:vector>
  </HeadingPairs>
  <TitlesOfParts>
    <vt:vector size="101" baseType="lpstr">
      <vt:lpstr>黑体</vt:lpstr>
      <vt:lpstr>宋体</vt:lpstr>
      <vt:lpstr>Arial</vt:lpstr>
      <vt:lpstr>Symbol</vt:lpstr>
      <vt:lpstr>Tahoma</vt:lpstr>
      <vt:lpstr>Times New Roman</vt:lpstr>
      <vt:lpstr>Wingdings</vt:lpstr>
      <vt:lpstr>CN(myzh)Icon</vt:lpstr>
      <vt:lpstr>运输层</vt:lpstr>
      <vt:lpstr>运输层</vt:lpstr>
      <vt:lpstr>运输层</vt:lpstr>
      <vt:lpstr>连接管理：三个阶段</vt:lpstr>
      <vt:lpstr>TCP 连接建立过程中要解决的三个问题</vt:lpstr>
      <vt:lpstr>客户服务器方式 </vt:lpstr>
      <vt:lpstr>连接管理：连接建立</vt:lpstr>
      <vt:lpstr>PowerPoint 演示文稿</vt:lpstr>
      <vt:lpstr>PowerPoint 演示文稿</vt:lpstr>
      <vt:lpstr>PowerPoint 演示文稿</vt:lpstr>
      <vt:lpstr>PowerPoint 演示文稿</vt:lpstr>
      <vt:lpstr>PowerPoint 演示文稿</vt:lpstr>
      <vt:lpstr>连接管理：连接释放</vt:lpstr>
      <vt:lpstr>PowerPoint 演示文稿</vt:lpstr>
      <vt:lpstr>PowerPoint 演示文稿</vt:lpstr>
      <vt:lpstr>PowerPoint 演示文稿</vt:lpstr>
      <vt:lpstr>PowerPoint 演示文稿</vt:lpstr>
      <vt:lpstr>PowerPoint 演示文稿</vt:lpstr>
      <vt:lpstr>PowerPoint 演示文稿</vt:lpstr>
      <vt:lpstr>A 必须等待 2MSL 的时间</vt:lpstr>
      <vt:lpstr>连接管理：有限状态机</vt:lpstr>
      <vt:lpstr>连接管理：有限状态机</vt:lpstr>
      <vt:lpstr>TCP 的 有 限 状 态 机 </vt:lpstr>
      <vt:lpstr>运输层</vt:lpstr>
      <vt:lpstr>可靠传输的实现：以字节为单位的滑动窗口</vt:lpstr>
      <vt:lpstr>PowerPoint 演示文稿</vt:lpstr>
      <vt:lpstr>PowerPoint 演示文稿</vt:lpstr>
      <vt:lpstr>PowerPoint 演示文稿</vt:lpstr>
      <vt:lpstr>PowerPoint 演示文稿</vt:lpstr>
      <vt:lpstr>发送缓存 </vt:lpstr>
      <vt:lpstr>接收缓存</vt:lpstr>
      <vt:lpstr>发送缓存与接收缓存的作用</vt:lpstr>
      <vt:lpstr>需要强调三点</vt:lpstr>
      <vt:lpstr>接收方发送确认</vt:lpstr>
      <vt:lpstr>可靠传输的实现：超时重传时间的选择</vt:lpstr>
      <vt:lpstr>往返时延的方差很大</vt:lpstr>
      <vt:lpstr>TCP 超时重传时间设置</vt:lpstr>
      <vt:lpstr>加权平均往返时间</vt:lpstr>
      <vt:lpstr>超时重传时间 RTO</vt:lpstr>
      <vt:lpstr>往返时间 (RTT) 的测量相当复杂 </vt:lpstr>
      <vt:lpstr>Karn 算法 </vt:lpstr>
      <vt:lpstr>修正的 Karn 算法 </vt:lpstr>
      <vt:lpstr>可靠传输的实现：选择确认 SACK</vt:lpstr>
      <vt:lpstr>接收到的字节流序号不连续 </vt:lpstr>
      <vt:lpstr>可靠传输的实现：选择确认 SACK</vt:lpstr>
      <vt:lpstr>RFC 2018 的规定</vt:lpstr>
      <vt:lpstr>运输层</vt:lpstr>
      <vt:lpstr>利用滑动窗口实现流量控制</vt:lpstr>
      <vt:lpstr>利用可变窗口进行流量控制举例</vt:lpstr>
      <vt:lpstr>可能发生死锁</vt:lpstr>
      <vt:lpstr>持续计时器</vt:lpstr>
      <vt:lpstr>流量控制：传输效率的考虑</vt:lpstr>
      <vt:lpstr>运输层</vt:lpstr>
      <vt:lpstr>拥塞控制：一般原理</vt:lpstr>
      <vt:lpstr>增加资源能解决拥塞吗？</vt:lpstr>
      <vt:lpstr>拥塞常常趋于恶化</vt:lpstr>
      <vt:lpstr>拥塞控制与流量控制的区别 </vt:lpstr>
      <vt:lpstr>拥塞控制与流量控制的区别 </vt:lpstr>
      <vt:lpstr>拥塞控制所起的作用 </vt:lpstr>
      <vt:lpstr>拥塞控制的一般原理 </vt:lpstr>
      <vt:lpstr>开环控制和闭环控制 </vt:lpstr>
      <vt:lpstr>监测网络的拥塞的指标</vt:lpstr>
      <vt:lpstr>拥塞控制：方法</vt:lpstr>
      <vt:lpstr>控制拥塞窗口的原则</vt:lpstr>
      <vt:lpstr>拥塞的判断</vt:lpstr>
      <vt:lpstr>TCP拥塞控制算法</vt:lpstr>
      <vt:lpstr>慢开始 (Slow start)</vt:lpstr>
      <vt:lpstr>慢开始 (Slow start)</vt:lpstr>
      <vt:lpstr>PowerPoint 演示文稿</vt:lpstr>
      <vt:lpstr>传输轮次</vt:lpstr>
      <vt:lpstr>设置慢开始门限状态变量 ssthresh</vt:lpstr>
      <vt:lpstr>拥塞避免算法</vt:lpstr>
      <vt:lpstr>当网络出现拥塞时</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必须强调指出 </vt:lpstr>
      <vt:lpstr>PowerPoint 演示文稿</vt:lpstr>
      <vt:lpstr>PowerPoint 演示文稿</vt:lpstr>
      <vt:lpstr>PowerPoint 演示文稿</vt:lpstr>
      <vt:lpstr>PowerPoint 演示文稿</vt:lpstr>
      <vt:lpstr>快重传算法</vt:lpstr>
      <vt:lpstr>快重传算法</vt:lpstr>
      <vt:lpstr>PowerPoint 演示文稿</vt:lpstr>
      <vt:lpstr>快恢复算法</vt:lpstr>
      <vt:lpstr>PowerPoint 演示文稿</vt:lpstr>
      <vt:lpstr>加法增大，乘法减小 (AIMD)</vt:lpstr>
      <vt:lpstr>TCP拥塞控制流程图</vt:lpstr>
      <vt:lpstr>发送窗口的上限值</vt:lpstr>
    </vt:vector>
  </TitlesOfParts>
  <Manager/>
  <Company>920</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 2 章  物理层</dc:title>
  <dc:subject/>
  <dc:creator>920</dc:creator>
  <cp:keywords/>
  <dc:description/>
  <cp:lastModifiedBy>admin</cp:lastModifiedBy>
  <cp:revision>31</cp:revision>
  <dcterms:created xsi:type="dcterms:W3CDTF">2016-10-04T02:36:21Z</dcterms:created>
  <dcterms:modified xsi:type="dcterms:W3CDTF">2022-04-17T18:53:43Z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TC060874522052</vt:lpwstr>
  </property>
</Properties>
</file>