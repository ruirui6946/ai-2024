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80"/>
  </p:notesMasterIdLst>
  <p:handoutMasterIdLst>
    <p:handoutMasterId r:id="rId81"/>
  </p:handoutMasterIdLst>
  <p:sldIdLst>
    <p:sldId id="256" r:id="rId2"/>
    <p:sldId id="376" r:id="rId3"/>
    <p:sldId id="454" r:id="rId4"/>
    <p:sldId id="377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455" r:id="rId15"/>
    <p:sldId id="388" r:id="rId16"/>
    <p:sldId id="389" r:id="rId17"/>
    <p:sldId id="391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56" r:id="rId32"/>
    <p:sldId id="406" r:id="rId33"/>
    <p:sldId id="407" r:id="rId34"/>
    <p:sldId id="408" r:id="rId35"/>
    <p:sldId id="409" r:id="rId36"/>
    <p:sldId id="457" r:id="rId37"/>
    <p:sldId id="411" r:id="rId38"/>
    <p:sldId id="412" r:id="rId39"/>
    <p:sldId id="413" r:id="rId40"/>
    <p:sldId id="414" r:id="rId41"/>
    <p:sldId id="415" r:id="rId42"/>
    <p:sldId id="416" r:id="rId43"/>
    <p:sldId id="417" r:id="rId44"/>
    <p:sldId id="418" r:id="rId45"/>
    <p:sldId id="419" r:id="rId46"/>
    <p:sldId id="420" r:id="rId47"/>
    <p:sldId id="421" r:id="rId48"/>
    <p:sldId id="422" r:id="rId49"/>
    <p:sldId id="423" r:id="rId50"/>
    <p:sldId id="424" r:id="rId51"/>
    <p:sldId id="425" r:id="rId52"/>
    <p:sldId id="426" r:id="rId53"/>
    <p:sldId id="427" r:id="rId54"/>
    <p:sldId id="428" r:id="rId55"/>
    <p:sldId id="429" r:id="rId56"/>
    <p:sldId id="430" r:id="rId57"/>
    <p:sldId id="431" r:id="rId58"/>
    <p:sldId id="432" r:id="rId59"/>
    <p:sldId id="433" r:id="rId60"/>
    <p:sldId id="434" r:id="rId61"/>
    <p:sldId id="435" r:id="rId62"/>
    <p:sldId id="436" r:id="rId63"/>
    <p:sldId id="437" r:id="rId64"/>
    <p:sldId id="471" r:id="rId65"/>
    <p:sldId id="453" r:id="rId66"/>
    <p:sldId id="459" r:id="rId67"/>
    <p:sldId id="460" r:id="rId68"/>
    <p:sldId id="461" r:id="rId69"/>
    <p:sldId id="462" r:id="rId70"/>
    <p:sldId id="463" r:id="rId71"/>
    <p:sldId id="464" r:id="rId72"/>
    <p:sldId id="465" r:id="rId73"/>
    <p:sldId id="472" r:id="rId74"/>
    <p:sldId id="466" r:id="rId75"/>
    <p:sldId id="467" r:id="rId76"/>
    <p:sldId id="468" r:id="rId77"/>
    <p:sldId id="469" r:id="rId78"/>
    <p:sldId id="470" r:id="rId79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0000FF"/>
    <a:srgbClr val="000099"/>
    <a:srgbClr val="000066"/>
    <a:srgbClr val="FFFF66"/>
    <a:srgbClr val="66FF66"/>
    <a:srgbClr val="FF66FF"/>
    <a:srgbClr val="66FFFF"/>
    <a:srgbClr val="FF9933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78221" autoAdjust="0"/>
  </p:normalViewPr>
  <p:slideViewPr>
    <p:cSldViewPr>
      <p:cViewPr varScale="1">
        <p:scale>
          <a:sx n="79" d="100"/>
          <a:sy n="79" d="100"/>
        </p:scale>
        <p:origin x="2274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7086A1-AA6B-4540-9AEA-06C3FCB8888D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93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7086A1-AA6B-4540-9AEA-06C3FCB8888D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93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7086A1-AA6B-4540-9AEA-06C3FCB8888D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93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7086A1-AA6B-4540-9AEA-06C3FCB8888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93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102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9519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087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6463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933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565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714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6728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9723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0848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26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5918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91684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9908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811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1911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60617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2684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82111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69956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36313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6543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84337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618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6664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606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6063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983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8917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37177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3045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66330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3044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21778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62375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0162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5169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39467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64570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2897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0884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150436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6266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6266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71086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6925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374356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23054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85445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20097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4372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539295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2880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3091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13336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85345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2099C-E03D-4BEA-80BD-EC59252D8E32}" type="slidenum">
              <a:rPr lang="zh-CN" altLang="en-US" smtClean="0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29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 b="1"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C80574E-8B94-4515-ADE1-BF6C35829DF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6392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33339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7B36-077D-42FE-9DED-0C77CB87E4B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8640"/>
            <a:ext cx="9066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752"/>
            <a:ext cx="9066212" cy="493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176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5367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9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70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rgbClr val="333399"/>
        </a:buClr>
        <a:buSzPct val="75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rgbClr val="333399"/>
        </a:buClr>
        <a:buSzPct val="65000"/>
        <a:buFont typeface="Wingdings" pitchFamily="2" charset="2"/>
        <a:buChar char="p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lnSpc>
          <a:spcPct val="110000"/>
        </a:lnSpc>
        <a:spcBef>
          <a:spcPts val="600"/>
        </a:spcBef>
        <a:spcAft>
          <a:spcPct val="0"/>
        </a:spcAft>
        <a:buClr>
          <a:srgbClr val="333399"/>
        </a:buClr>
        <a:buSzPct val="6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image" Target="../media/image10.jpe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8.wmf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7.wmf"/><Relationship Id="rId10" Type="http://schemas.openxmlformats.org/officeDocument/2006/relationships/image" Target="../media/image1.w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0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2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网络安全</a:t>
            </a:r>
            <a:endParaRPr lang="zh-CN" altLang="en-US" dirty="0">
              <a:latin typeface="+mn-lt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394034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网络安全问题概述</a:t>
            </a:r>
          </a:p>
          <a:p>
            <a:r>
              <a:rPr lang="zh-CN" altLang="zh-CN" dirty="0"/>
              <a:t>两类密码体制</a:t>
            </a:r>
          </a:p>
          <a:p>
            <a:r>
              <a:rPr lang="zh-CN" altLang="zh-CN" dirty="0"/>
              <a:t>数字签名</a:t>
            </a:r>
          </a:p>
          <a:p>
            <a:r>
              <a:rPr lang="zh-CN" altLang="zh-CN" dirty="0"/>
              <a:t>鉴别</a:t>
            </a:r>
          </a:p>
          <a:p>
            <a:r>
              <a:rPr lang="zh-CN" altLang="en-US" dirty="0"/>
              <a:t>运输层的安全协议介绍</a:t>
            </a:r>
          </a:p>
          <a:p>
            <a:r>
              <a:rPr lang="zh-CN" altLang="en-US" dirty="0"/>
              <a:t>防火墙</a:t>
            </a:r>
          </a:p>
        </p:txBody>
      </p:sp>
    </p:spTree>
    <p:extLst>
      <p:ext uri="{BB962C8B-B14F-4D97-AF65-F5344CB8AC3E}">
        <p14:creationId xmlns:p14="http://schemas.microsoft.com/office/powerpoint/2010/main" val="380288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3600" dirty="0">
                <a:solidFill>
                  <a:srgbClr val="FF0000"/>
                </a:solidFill>
              </a:rPr>
              <a:t>网络安全问题概述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两类密码体制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数字签名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鉴别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运输层的安全协议介绍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防火墙</a:t>
            </a:r>
          </a:p>
        </p:txBody>
      </p:sp>
    </p:spTree>
    <p:extLst>
      <p:ext uri="{BB962C8B-B14F-4D97-AF65-F5344CB8AC3E}">
        <p14:creationId xmlns:p14="http://schemas.microsoft.com/office/powerpoint/2010/main" val="350623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网络</a:t>
            </a:r>
            <a:r>
              <a:rPr lang="zh-CN" altLang="zh-CN" dirty="0"/>
              <a:t>安全问题概述</a:t>
            </a:r>
            <a:endParaRPr lang="zh-CN" altLang="en-US" dirty="0"/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随着计算机网络的发展，网络中的安全问题也日趋严重。</a:t>
            </a:r>
            <a:endParaRPr lang="en-US" altLang="zh-CN" dirty="0"/>
          </a:p>
          <a:p>
            <a:r>
              <a:rPr lang="zh-CN" altLang="zh-CN" dirty="0"/>
              <a:t>本节讨论计算机网络面临的安全性威胁、安全的内容和一般的数据加密模型。</a:t>
            </a:r>
            <a:endParaRPr lang="zh-CN" altLang="en-US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02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000" dirty="0"/>
              <a:t>计算机网络面临的安全性威胁</a:t>
            </a:r>
            <a:endParaRPr lang="zh-CN" altLang="en-US" sz="4000" dirty="0"/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计算机网络上的通信面临以下两大类威胁：</a:t>
            </a:r>
            <a:r>
              <a:rPr lang="zh-CN" altLang="en-US" dirty="0">
                <a:solidFill>
                  <a:srgbClr val="FF0000"/>
                </a:solidFill>
              </a:rPr>
              <a:t>被动攻击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主动攻击。</a:t>
            </a:r>
            <a:endParaRPr lang="zh-CN" altLang="zh-CN" dirty="0">
              <a:solidFill>
                <a:srgbClr val="FF0000"/>
              </a:solidFill>
            </a:endParaRPr>
          </a:p>
        </p:txBody>
      </p:sp>
      <p:sp>
        <p:nvSpPr>
          <p:cNvPr id="4" name="Rectangle 99"/>
          <p:cNvSpPr>
            <a:spLocks noChangeArrowheads="1"/>
          </p:cNvSpPr>
          <p:nvPr/>
        </p:nvSpPr>
        <p:spPr bwMode="auto">
          <a:xfrm>
            <a:off x="704528" y="2420888"/>
            <a:ext cx="8824912" cy="2165350"/>
          </a:xfrm>
          <a:prstGeom prst="rect">
            <a:avLst/>
          </a:prstGeom>
          <a:solidFill>
            <a:srgbClr val="FFFF66"/>
          </a:solidFill>
          <a:ln w="9525">
            <a:solidFill>
              <a:srgbClr val="00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5" name="Rectangle 66"/>
          <p:cNvSpPr>
            <a:spLocks noChangeArrowheads="1"/>
          </p:cNvSpPr>
          <p:nvPr/>
        </p:nvSpPr>
        <p:spPr bwMode="auto">
          <a:xfrm>
            <a:off x="2976477" y="4083886"/>
            <a:ext cx="6540500" cy="48736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6" name="Oval 68"/>
          <p:cNvSpPr>
            <a:spLocks noChangeArrowheads="1"/>
          </p:cNvSpPr>
          <p:nvPr/>
        </p:nvSpPr>
        <p:spPr bwMode="auto">
          <a:xfrm>
            <a:off x="3204840" y="3032075"/>
            <a:ext cx="263525" cy="279400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7" name="Oval 69"/>
          <p:cNvSpPr>
            <a:spLocks noChangeArrowheads="1"/>
          </p:cNvSpPr>
          <p:nvPr/>
        </p:nvSpPr>
        <p:spPr bwMode="auto">
          <a:xfrm>
            <a:off x="4568503" y="3032075"/>
            <a:ext cx="263525" cy="279400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8" name="Oval 71"/>
          <p:cNvSpPr>
            <a:spLocks noChangeArrowheads="1"/>
          </p:cNvSpPr>
          <p:nvPr/>
        </p:nvSpPr>
        <p:spPr bwMode="auto">
          <a:xfrm>
            <a:off x="988690" y="3032075"/>
            <a:ext cx="263525" cy="27622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9" name="Oval 72"/>
          <p:cNvSpPr>
            <a:spLocks noChangeArrowheads="1"/>
          </p:cNvSpPr>
          <p:nvPr/>
        </p:nvSpPr>
        <p:spPr bwMode="auto">
          <a:xfrm>
            <a:off x="2353940" y="3032075"/>
            <a:ext cx="263525" cy="276225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0" name="Line 73"/>
          <p:cNvSpPr>
            <a:spLocks noChangeShapeType="1"/>
          </p:cNvSpPr>
          <p:nvPr/>
        </p:nvSpPr>
        <p:spPr bwMode="auto">
          <a:xfrm>
            <a:off x="1252215" y="3171775"/>
            <a:ext cx="110172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1" name="Arc 74"/>
          <p:cNvSpPr>
            <a:spLocks/>
          </p:cNvSpPr>
          <p:nvPr/>
        </p:nvSpPr>
        <p:spPr bwMode="auto">
          <a:xfrm>
            <a:off x="1252215" y="3171775"/>
            <a:ext cx="568325" cy="395288"/>
          </a:xfrm>
          <a:custGeom>
            <a:avLst/>
            <a:gdLst>
              <a:gd name="G0" fmla="+- 0 0 0"/>
              <a:gd name="G1" fmla="+- 19891 0 0"/>
              <a:gd name="G2" fmla="+- 21600 0 0"/>
              <a:gd name="T0" fmla="*/ 8421 w 21600"/>
              <a:gd name="T1" fmla="*/ 0 h 19891"/>
              <a:gd name="T2" fmla="*/ 21600 w 21600"/>
              <a:gd name="T3" fmla="*/ 19891 h 19891"/>
              <a:gd name="T4" fmla="*/ 0 w 21600"/>
              <a:gd name="T5" fmla="*/ 19891 h 198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891" fill="none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</a:path>
              <a:path w="21600" h="19891" stroke="0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  <a:lnTo>
                  <a:pt x="0" y="19891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2" name="Oval 75"/>
          <p:cNvSpPr>
            <a:spLocks noChangeArrowheads="1"/>
          </p:cNvSpPr>
          <p:nvPr/>
        </p:nvSpPr>
        <p:spPr bwMode="auto">
          <a:xfrm>
            <a:off x="1650678" y="3586113"/>
            <a:ext cx="393700" cy="231775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3" name="Text Box 76"/>
          <p:cNvSpPr txBox="1">
            <a:spLocks noChangeArrowheads="1"/>
          </p:cNvSpPr>
          <p:nvPr/>
        </p:nvSpPr>
        <p:spPr bwMode="auto">
          <a:xfrm>
            <a:off x="2044378" y="3544838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截获</a:t>
            </a:r>
          </a:p>
        </p:txBody>
      </p:sp>
      <p:sp>
        <p:nvSpPr>
          <p:cNvPr id="14" name="Oval 77"/>
          <p:cNvSpPr>
            <a:spLocks noChangeArrowheads="1"/>
          </p:cNvSpPr>
          <p:nvPr/>
        </p:nvSpPr>
        <p:spPr bwMode="auto">
          <a:xfrm>
            <a:off x="5405115" y="302731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5" name="Oval 78"/>
          <p:cNvSpPr>
            <a:spLocks noChangeArrowheads="1"/>
          </p:cNvSpPr>
          <p:nvPr/>
        </p:nvSpPr>
        <p:spPr bwMode="auto">
          <a:xfrm>
            <a:off x="6770365" y="3027313"/>
            <a:ext cx="265113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6" name="Oval 83"/>
          <p:cNvSpPr>
            <a:spLocks noChangeArrowheads="1"/>
          </p:cNvSpPr>
          <p:nvPr/>
        </p:nvSpPr>
        <p:spPr bwMode="auto">
          <a:xfrm>
            <a:off x="7654603" y="302731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7" name="Text Box 85"/>
          <p:cNvSpPr txBox="1">
            <a:spLocks noChangeArrowheads="1"/>
          </p:cNvSpPr>
          <p:nvPr/>
        </p:nvSpPr>
        <p:spPr bwMode="auto">
          <a:xfrm>
            <a:off x="8876978" y="3376563"/>
            <a:ext cx="7008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拒绝</a:t>
            </a:r>
          </a:p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服务</a:t>
            </a:r>
          </a:p>
        </p:txBody>
      </p:sp>
      <p:sp>
        <p:nvSpPr>
          <p:cNvPr id="18" name="Oval 86"/>
          <p:cNvSpPr>
            <a:spLocks noChangeArrowheads="1"/>
          </p:cNvSpPr>
          <p:nvPr/>
        </p:nvSpPr>
        <p:spPr bwMode="auto">
          <a:xfrm>
            <a:off x="9019853" y="3027313"/>
            <a:ext cx="263525" cy="274637"/>
          </a:xfrm>
          <a:prstGeom prst="ellipse">
            <a:avLst/>
          </a:prstGeom>
          <a:solidFill>
            <a:srgbClr val="99CCFF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20" name="Text Box 90"/>
          <p:cNvSpPr txBox="1">
            <a:spLocks noChangeArrowheads="1"/>
          </p:cNvSpPr>
          <p:nvPr/>
        </p:nvSpPr>
        <p:spPr bwMode="auto">
          <a:xfrm>
            <a:off x="5428928" y="4098875"/>
            <a:ext cx="16401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主  动  攻  击</a:t>
            </a:r>
          </a:p>
        </p:txBody>
      </p:sp>
      <p:sp>
        <p:nvSpPr>
          <p:cNvPr id="21" name="Text Box 91"/>
          <p:cNvSpPr txBox="1">
            <a:spLocks noChangeArrowheads="1"/>
          </p:cNvSpPr>
          <p:nvPr/>
        </p:nvSpPr>
        <p:spPr bwMode="auto">
          <a:xfrm>
            <a:off x="8672190" y="2451050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目的站</a:t>
            </a:r>
          </a:p>
        </p:txBody>
      </p:sp>
      <p:sp>
        <p:nvSpPr>
          <p:cNvPr id="22" name="Text Box 92"/>
          <p:cNvSpPr txBox="1">
            <a:spLocks noChangeArrowheads="1"/>
          </p:cNvSpPr>
          <p:nvPr/>
        </p:nvSpPr>
        <p:spPr bwMode="auto">
          <a:xfrm>
            <a:off x="7446640" y="245105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源站</a:t>
            </a:r>
          </a:p>
        </p:txBody>
      </p:sp>
      <p:sp>
        <p:nvSpPr>
          <p:cNvPr id="23" name="Text Box 93"/>
          <p:cNvSpPr txBox="1">
            <a:spLocks noChangeArrowheads="1"/>
          </p:cNvSpPr>
          <p:nvPr/>
        </p:nvSpPr>
        <p:spPr bwMode="auto">
          <a:xfrm>
            <a:off x="5319390" y="245105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源站</a:t>
            </a:r>
          </a:p>
        </p:txBody>
      </p:sp>
      <p:sp>
        <p:nvSpPr>
          <p:cNvPr id="24" name="Text Box 94"/>
          <p:cNvSpPr txBox="1">
            <a:spLocks noChangeArrowheads="1"/>
          </p:cNvSpPr>
          <p:nvPr/>
        </p:nvSpPr>
        <p:spPr bwMode="auto">
          <a:xfrm>
            <a:off x="3111178" y="245105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源站</a:t>
            </a:r>
          </a:p>
        </p:txBody>
      </p:sp>
      <p:sp>
        <p:nvSpPr>
          <p:cNvPr id="25" name="Text Box 95"/>
          <p:cNvSpPr txBox="1">
            <a:spLocks noChangeArrowheads="1"/>
          </p:cNvSpPr>
          <p:nvPr/>
        </p:nvSpPr>
        <p:spPr bwMode="auto">
          <a:xfrm>
            <a:off x="820415" y="2451050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源站</a:t>
            </a:r>
          </a:p>
        </p:txBody>
      </p:sp>
      <p:sp>
        <p:nvSpPr>
          <p:cNvPr id="26" name="Text Box 96"/>
          <p:cNvSpPr txBox="1">
            <a:spLocks noChangeArrowheads="1"/>
          </p:cNvSpPr>
          <p:nvPr/>
        </p:nvSpPr>
        <p:spPr bwMode="auto">
          <a:xfrm>
            <a:off x="6463978" y="2451050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目的站</a:t>
            </a:r>
          </a:p>
        </p:txBody>
      </p:sp>
      <p:sp>
        <p:nvSpPr>
          <p:cNvPr id="27" name="Text Box 97"/>
          <p:cNvSpPr txBox="1">
            <a:spLocks noChangeArrowheads="1"/>
          </p:cNvSpPr>
          <p:nvPr/>
        </p:nvSpPr>
        <p:spPr bwMode="auto">
          <a:xfrm>
            <a:off x="4255765" y="2451050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目的站</a:t>
            </a:r>
          </a:p>
        </p:txBody>
      </p:sp>
      <p:sp>
        <p:nvSpPr>
          <p:cNvPr id="28" name="Text Box 98"/>
          <p:cNvSpPr txBox="1">
            <a:spLocks noChangeArrowheads="1"/>
          </p:cNvSpPr>
          <p:nvPr/>
        </p:nvSpPr>
        <p:spPr bwMode="auto">
          <a:xfrm>
            <a:off x="2047553" y="2451050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目的站</a:t>
            </a:r>
          </a:p>
        </p:txBody>
      </p:sp>
      <p:sp>
        <p:nvSpPr>
          <p:cNvPr id="30" name="Line 101"/>
          <p:cNvSpPr>
            <a:spLocks noChangeShapeType="1"/>
          </p:cNvSpPr>
          <p:nvPr/>
        </p:nvSpPr>
        <p:spPr bwMode="auto">
          <a:xfrm>
            <a:off x="2979415" y="2420888"/>
            <a:ext cx="0" cy="216535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31" name="Line 102"/>
          <p:cNvSpPr>
            <a:spLocks noChangeShapeType="1"/>
          </p:cNvSpPr>
          <p:nvPr/>
        </p:nvSpPr>
        <p:spPr bwMode="auto">
          <a:xfrm>
            <a:off x="5162228" y="2420888"/>
            <a:ext cx="0" cy="16462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32" name="Line 103"/>
          <p:cNvSpPr>
            <a:spLocks noChangeShapeType="1"/>
          </p:cNvSpPr>
          <p:nvPr/>
        </p:nvSpPr>
        <p:spPr bwMode="auto">
          <a:xfrm>
            <a:off x="7437115" y="2420888"/>
            <a:ext cx="0" cy="164623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33" name="Arc 105"/>
          <p:cNvSpPr>
            <a:spLocks/>
          </p:cNvSpPr>
          <p:nvPr/>
        </p:nvSpPr>
        <p:spPr bwMode="auto">
          <a:xfrm>
            <a:off x="3447728" y="3151138"/>
            <a:ext cx="569912" cy="4302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3333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34" name="Oval 106"/>
          <p:cNvSpPr>
            <a:spLocks noChangeArrowheads="1"/>
          </p:cNvSpPr>
          <p:nvPr/>
        </p:nvSpPr>
        <p:spPr bwMode="auto">
          <a:xfrm>
            <a:off x="3846190" y="3581350"/>
            <a:ext cx="395288" cy="230188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35" name="Arc 107"/>
          <p:cNvSpPr>
            <a:spLocks/>
          </p:cNvSpPr>
          <p:nvPr/>
        </p:nvSpPr>
        <p:spPr bwMode="auto">
          <a:xfrm flipH="1">
            <a:off x="4065265" y="3163838"/>
            <a:ext cx="484188" cy="428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36" name="Text Box 108"/>
          <p:cNvSpPr txBox="1">
            <a:spLocks noChangeArrowheads="1"/>
          </p:cNvSpPr>
          <p:nvPr/>
        </p:nvSpPr>
        <p:spPr bwMode="auto">
          <a:xfrm>
            <a:off x="4241478" y="3538488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篡改</a:t>
            </a:r>
          </a:p>
        </p:txBody>
      </p:sp>
      <p:sp>
        <p:nvSpPr>
          <p:cNvPr id="37" name="Arc 109"/>
          <p:cNvSpPr>
            <a:spLocks/>
          </p:cNvSpPr>
          <p:nvPr/>
        </p:nvSpPr>
        <p:spPr bwMode="auto">
          <a:xfrm flipH="1">
            <a:off x="6252840" y="3160663"/>
            <a:ext cx="484188" cy="4286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38" name="Text Box 110"/>
          <p:cNvSpPr txBox="1">
            <a:spLocks noChangeArrowheads="1"/>
          </p:cNvSpPr>
          <p:nvPr/>
        </p:nvSpPr>
        <p:spPr bwMode="auto">
          <a:xfrm>
            <a:off x="6429053" y="3376563"/>
            <a:ext cx="70083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恶意</a:t>
            </a:r>
          </a:p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程序</a:t>
            </a:r>
          </a:p>
        </p:txBody>
      </p:sp>
      <p:sp>
        <p:nvSpPr>
          <p:cNvPr id="39" name="Oval 111"/>
          <p:cNvSpPr>
            <a:spLocks noChangeArrowheads="1"/>
          </p:cNvSpPr>
          <p:nvPr/>
        </p:nvSpPr>
        <p:spPr bwMode="auto">
          <a:xfrm>
            <a:off x="6087740" y="3559125"/>
            <a:ext cx="395288" cy="230188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0" name="Oval 112"/>
          <p:cNvSpPr>
            <a:spLocks noChangeArrowheads="1"/>
          </p:cNvSpPr>
          <p:nvPr/>
        </p:nvSpPr>
        <p:spPr bwMode="auto">
          <a:xfrm>
            <a:off x="7768903" y="3592463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1" name="Oval 113"/>
          <p:cNvSpPr>
            <a:spLocks noChangeArrowheads="1"/>
          </p:cNvSpPr>
          <p:nvPr/>
        </p:nvSpPr>
        <p:spPr bwMode="auto">
          <a:xfrm>
            <a:off x="7984803" y="3665488"/>
            <a:ext cx="393700" cy="2159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2" name="Oval 87"/>
          <p:cNvSpPr>
            <a:spLocks noChangeArrowheads="1"/>
          </p:cNvSpPr>
          <p:nvPr/>
        </p:nvSpPr>
        <p:spPr bwMode="auto">
          <a:xfrm>
            <a:off x="8200703" y="3736925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3" name="Oval 114"/>
          <p:cNvSpPr>
            <a:spLocks noChangeArrowheads="1"/>
          </p:cNvSpPr>
          <p:nvPr/>
        </p:nvSpPr>
        <p:spPr bwMode="auto">
          <a:xfrm>
            <a:off x="8489628" y="3736925"/>
            <a:ext cx="393700" cy="2286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4" name="Line 115"/>
          <p:cNvSpPr>
            <a:spLocks noChangeShapeType="1"/>
          </p:cNvSpPr>
          <p:nvPr/>
        </p:nvSpPr>
        <p:spPr bwMode="auto">
          <a:xfrm flipV="1">
            <a:off x="7984803" y="3192413"/>
            <a:ext cx="1016000" cy="400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5" name="Line 116"/>
          <p:cNvSpPr>
            <a:spLocks noChangeShapeType="1"/>
          </p:cNvSpPr>
          <p:nvPr/>
        </p:nvSpPr>
        <p:spPr bwMode="auto">
          <a:xfrm flipV="1">
            <a:off x="8253090" y="3244800"/>
            <a:ext cx="771525" cy="4302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6" name="Line 117"/>
          <p:cNvSpPr>
            <a:spLocks noChangeShapeType="1"/>
          </p:cNvSpPr>
          <p:nvPr/>
        </p:nvSpPr>
        <p:spPr bwMode="auto">
          <a:xfrm flipV="1">
            <a:off x="8416603" y="3290838"/>
            <a:ext cx="654050" cy="428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47" name="Line 118"/>
          <p:cNvSpPr>
            <a:spLocks noChangeShapeType="1"/>
          </p:cNvSpPr>
          <p:nvPr/>
        </p:nvSpPr>
        <p:spPr bwMode="auto">
          <a:xfrm flipV="1">
            <a:off x="8756328" y="3278138"/>
            <a:ext cx="368300" cy="4667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731814" y="4082182"/>
            <a:ext cx="2232000" cy="486000"/>
          </a:xfrm>
          <a:prstGeom prst="rect">
            <a:avLst/>
          </a:prstGeom>
          <a:solidFill>
            <a:srgbClr val="66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 Box 89"/>
          <p:cNvSpPr txBox="1">
            <a:spLocks noChangeArrowheads="1"/>
          </p:cNvSpPr>
          <p:nvPr/>
        </p:nvSpPr>
        <p:spPr bwMode="auto">
          <a:xfrm>
            <a:off x="1152203" y="4097288"/>
            <a:ext cx="1217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0" hangingPunct="0"/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被动攻击</a:t>
            </a:r>
          </a:p>
        </p:txBody>
      </p:sp>
      <p:sp>
        <p:nvSpPr>
          <p:cNvPr id="29" name="Line 100"/>
          <p:cNvSpPr>
            <a:spLocks noChangeShapeType="1"/>
          </p:cNvSpPr>
          <p:nvPr/>
        </p:nvSpPr>
        <p:spPr bwMode="auto">
          <a:xfrm>
            <a:off x="704528" y="4067125"/>
            <a:ext cx="882491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163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000" dirty="0"/>
              <a:t>计算机网络面临的安全性威胁</a:t>
            </a:r>
            <a:endParaRPr lang="zh-CN" altLang="en-US" sz="4000" dirty="0"/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被动攻击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指攻击者从网络上窃听他人的通信内容。</a:t>
            </a:r>
            <a:endParaRPr lang="en-US" altLang="zh-CN" dirty="0"/>
          </a:p>
          <a:p>
            <a:pPr lvl="1"/>
            <a:r>
              <a:rPr lang="zh-CN" altLang="zh-CN" dirty="0"/>
              <a:t>通常把这类攻击成为</a:t>
            </a:r>
            <a:r>
              <a:rPr lang="zh-CN" altLang="zh-CN" dirty="0">
                <a:solidFill>
                  <a:srgbClr val="FF0000"/>
                </a:solidFill>
              </a:rPr>
              <a:t>截获。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在被动攻击中，攻击者只是观察和分析某一个协议数据单元</a:t>
            </a:r>
            <a:r>
              <a:rPr lang="en-US" altLang="zh-CN" dirty="0"/>
              <a:t> PDU</a:t>
            </a:r>
            <a:r>
              <a:rPr lang="zh-CN" altLang="en-US" dirty="0"/>
              <a:t>，</a:t>
            </a:r>
            <a:r>
              <a:rPr lang="zh-CN" altLang="zh-CN" dirty="0"/>
              <a:t>以便了解所交换的数据的某种性质。</a:t>
            </a:r>
            <a:r>
              <a:rPr lang="zh-CN" altLang="en-US" dirty="0"/>
              <a:t>但</a:t>
            </a:r>
            <a:r>
              <a:rPr lang="zh-CN" altLang="zh-CN" dirty="0"/>
              <a:t>不干扰信息流。</a:t>
            </a:r>
            <a:endParaRPr lang="en-US" altLang="zh-CN" dirty="0"/>
          </a:p>
          <a:p>
            <a:pPr lvl="1"/>
            <a:r>
              <a:rPr lang="zh-CN" altLang="zh-CN" dirty="0"/>
              <a:t>这种被动攻击又称为</a:t>
            </a:r>
            <a:r>
              <a:rPr lang="zh-CN" altLang="zh-CN" dirty="0">
                <a:solidFill>
                  <a:srgbClr val="FF0000"/>
                </a:solidFill>
              </a:rPr>
              <a:t>流量分析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(traffic analysis)</a:t>
            </a:r>
            <a:r>
              <a:rPr lang="zh-CN" altLang="zh-CN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548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000" dirty="0"/>
              <a:t>计算机网络面临的安全性威胁</a:t>
            </a:r>
            <a:endParaRPr lang="zh-CN" altLang="en-US" sz="4000" dirty="0"/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主动攻击</a:t>
            </a:r>
            <a:r>
              <a:rPr lang="zh-CN" altLang="en-US" dirty="0"/>
              <a:t>主要有：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(1) </a:t>
            </a:r>
            <a:r>
              <a:rPr lang="zh-CN" altLang="en-US" dirty="0">
                <a:solidFill>
                  <a:srgbClr val="0000FF"/>
                </a:solidFill>
              </a:rPr>
              <a:t>篡改</a:t>
            </a:r>
            <a:r>
              <a:rPr lang="en-US" altLang="zh-CN" dirty="0"/>
              <a:t>——</a:t>
            </a:r>
            <a:r>
              <a:rPr lang="zh-CN" altLang="en-US" dirty="0"/>
              <a:t>故意篡改网络上传送的报文。</a:t>
            </a:r>
            <a:r>
              <a:rPr lang="zh-CN" altLang="zh-CN" dirty="0"/>
              <a:t>这种攻击方式有时也称为</a:t>
            </a:r>
            <a:r>
              <a:rPr lang="zh-CN" altLang="zh-CN" dirty="0">
                <a:solidFill>
                  <a:srgbClr val="FF0000"/>
                </a:solidFill>
              </a:rPr>
              <a:t>更改报文流。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(2) </a:t>
            </a:r>
            <a:r>
              <a:rPr lang="zh-CN" altLang="en-US" dirty="0">
                <a:solidFill>
                  <a:srgbClr val="0000FF"/>
                </a:solidFill>
              </a:rPr>
              <a:t>恶意程序</a:t>
            </a:r>
            <a:r>
              <a:rPr lang="en-US" altLang="zh-CN" dirty="0"/>
              <a:t>——</a:t>
            </a:r>
            <a:r>
              <a:rPr lang="zh-CN" altLang="zh-CN" dirty="0"/>
              <a:t>种类繁多，对网络安全威胁较大的主要</a:t>
            </a:r>
            <a:r>
              <a:rPr lang="zh-CN" altLang="en-US" dirty="0"/>
              <a:t>包括：计算机病毒、计算机蠕虫、特洛伊木马、逻辑炸弹、后门入侵、流氓软件等。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(3) </a:t>
            </a:r>
            <a:r>
              <a:rPr lang="zh-CN" altLang="en-US" dirty="0">
                <a:solidFill>
                  <a:srgbClr val="0000FF"/>
                </a:solidFill>
              </a:rPr>
              <a:t>拒绝服务</a:t>
            </a:r>
            <a:r>
              <a:rPr lang="en-US" altLang="zh-CN" dirty="0"/>
              <a:t>——</a:t>
            </a:r>
            <a:r>
              <a:rPr lang="zh-CN" altLang="zh-CN" dirty="0"/>
              <a:t>指攻击者向互联网上的某个服务器不停地发送大量分组，使该服务器无法提供正常服务，甚至完全瘫痪。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529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分布式拒绝服务</a:t>
            </a:r>
            <a:r>
              <a:rPr lang="en-US" altLang="zh-CN" dirty="0"/>
              <a:t> </a:t>
            </a:r>
            <a:r>
              <a:rPr lang="en-US" altLang="zh-CN" dirty="0" err="1"/>
              <a:t>DDoS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若从互联网上的成百上千的网站集中攻击一个网站，则称为</a:t>
            </a:r>
            <a:r>
              <a:rPr lang="zh-CN" altLang="zh-CN" dirty="0">
                <a:solidFill>
                  <a:srgbClr val="FF0000"/>
                </a:solidFill>
              </a:rPr>
              <a:t>分布式拒绝服务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DDoS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(Distributed Denial of Service)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dirty="0"/>
              <a:t>有时也把这种攻击称为</a:t>
            </a:r>
            <a:r>
              <a:rPr lang="zh-CN" altLang="zh-CN" dirty="0">
                <a:solidFill>
                  <a:srgbClr val="FF0000"/>
                </a:solidFill>
              </a:rPr>
              <a:t>网络带宽攻击</a:t>
            </a:r>
            <a:r>
              <a:rPr lang="zh-CN" altLang="zh-CN" dirty="0"/>
              <a:t>或</a:t>
            </a:r>
            <a:r>
              <a:rPr lang="zh-CN" altLang="zh-CN" dirty="0">
                <a:solidFill>
                  <a:srgbClr val="FF0000"/>
                </a:solidFill>
              </a:rPr>
              <a:t>连通性攻击。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64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计算机网络通信安全的目标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对于主动攻击，可以采取适当措施加以检测。</a:t>
            </a:r>
            <a:endParaRPr lang="en-US" altLang="zh-CN" sz="2800" dirty="0"/>
          </a:p>
          <a:p>
            <a:r>
              <a:rPr lang="zh-CN" altLang="zh-CN" sz="2800" dirty="0"/>
              <a:t>对于被动攻击，通常却是检测不出来的。</a:t>
            </a:r>
            <a:endParaRPr lang="en-US" altLang="zh-CN" sz="2800" dirty="0"/>
          </a:p>
          <a:p>
            <a:r>
              <a:rPr lang="zh-CN" altLang="zh-CN" sz="2800" dirty="0"/>
              <a:t>根据这些特点，可得出计算机网络通信安全的目标：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(1) </a:t>
            </a:r>
            <a:r>
              <a:rPr lang="zh-CN" altLang="zh-CN" sz="2400" dirty="0">
                <a:solidFill>
                  <a:srgbClr val="0000FF"/>
                </a:solidFill>
              </a:rPr>
              <a:t>防止析出报文内容和流量分析。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(2) </a:t>
            </a:r>
            <a:r>
              <a:rPr lang="zh-CN" altLang="zh-CN" sz="2400" dirty="0">
                <a:solidFill>
                  <a:srgbClr val="0000FF"/>
                </a:solidFill>
              </a:rPr>
              <a:t>防止恶意程序。</a:t>
            </a:r>
          </a:p>
          <a:p>
            <a:pPr lvl="1"/>
            <a:r>
              <a:rPr lang="en-US" altLang="zh-CN" sz="2400" dirty="0">
                <a:solidFill>
                  <a:srgbClr val="0000FF"/>
                </a:solidFill>
              </a:rPr>
              <a:t>(3) </a:t>
            </a:r>
            <a:r>
              <a:rPr lang="zh-CN" altLang="zh-CN" sz="2400" dirty="0">
                <a:solidFill>
                  <a:srgbClr val="0000FF"/>
                </a:solidFill>
              </a:rPr>
              <a:t>检测更改报文流和拒绝服务。</a:t>
            </a:r>
          </a:p>
          <a:p>
            <a:r>
              <a:rPr lang="zh-CN" altLang="zh-CN" sz="2800" dirty="0">
                <a:solidFill>
                  <a:srgbClr val="FF0000"/>
                </a:solidFill>
              </a:rPr>
              <a:t>对付被动攻击</a:t>
            </a:r>
            <a:r>
              <a:rPr lang="zh-CN" altLang="zh-CN" sz="2800" dirty="0"/>
              <a:t>可采用各种数据</a:t>
            </a:r>
            <a:r>
              <a:rPr lang="zh-CN" altLang="zh-CN" sz="2800" dirty="0">
                <a:solidFill>
                  <a:srgbClr val="FF0000"/>
                </a:solidFill>
              </a:rPr>
              <a:t>加密</a:t>
            </a:r>
            <a:r>
              <a:rPr lang="zh-CN" altLang="zh-CN" sz="2800" dirty="0"/>
              <a:t>技术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zh-CN" sz="2800" dirty="0">
                <a:solidFill>
                  <a:srgbClr val="FF0000"/>
                </a:solidFill>
              </a:rPr>
              <a:t>对付主动攻击</a:t>
            </a:r>
            <a:r>
              <a:rPr lang="zh-CN" altLang="zh-CN" sz="2800" dirty="0"/>
              <a:t>则需将</a:t>
            </a:r>
            <a:r>
              <a:rPr lang="zh-CN" altLang="zh-CN" sz="2800" dirty="0">
                <a:solidFill>
                  <a:srgbClr val="FF0000"/>
                </a:solidFill>
              </a:rPr>
              <a:t>加密</a:t>
            </a:r>
            <a:r>
              <a:rPr lang="zh-CN" altLang="zh-CN" sz="2800" dirty="0"/>
              <a:t>技术与适当的</a:t>
            </a:r>
            <a:r>
              <a:rPr lang="zh-CN" altLang="zh-CN" sz="2800" dirty="0">
                <a:solidFill>
                  <a:srgbClr val="FF0000"/>
                </a:solidFill>
              </a:rPr>
              <a:t>鉴别</a:t>
            </a:r>
            <a:r>
              <a:rPr lang="zh-CN" altLang="zh-CN" sz="2800" dirty="0"/>
              <a:t>技术相结合。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60731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安全的计算机网络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网络的安全性是不可判定的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一个安全的计算机网络应达到四个目标：</a:t>
            </a:r>
          </a:p>
          <a:p>
            <a:pPr lvl="1"/>
            <a:r>
              <a:rPr lang="en-US" altLang="zh-CN" dirty="0"/>
              <a:t>1. </a:t>
            </a:r>
            <a:r>
              <a:rPr lang="zh-CN" altLang="zh-CN" dirty="0"/>
              <a:t>保密性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zh-CN" dirty="0"/>
              <a:t>端点鉴别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zh-CN" dirty="0"/>
              <a:t>信息的完整性</a:t>
            </a:r>
          </a:p>
          <a:p>
            <a:pPr lvl="1"/>
            <a:r>
              <a:rPr lang="en-US" altLang="zh-CN" dirty="0"/>
              <a:t>4. </a:t>
            </a:r>
            <a:r>
              <a:rPr lang="zh-CN" altLang="zh-CN" dirty="0"/>
              <a:t>运行的安全性</a:t>
            </a:r>
          </a:p>
        </p:txBody>
      </p:sp>
      <p:sp>
        <p:nvSpPr>
          <p:cNvPr id="7" name="矩形标注 6"/>
          <p:cNvSpPr/>
          <p:nvPr/>
        </p:nvSpPr>
        <p:spPr bwMode="auto">
          <a:xfrm>
            <a:off x="4448944" y="2564904"/>
            <a:ext cx="4968552" cy="3600400"/>
          </a:xfrm>
          <a:prstGeom prst="wedgeRectCallout">
            <a:avLst>
              <a:gd name="adj1" fmla="val -79805"/>
              <a:gd name="adj2" fmla="val -46410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69875" indent="-269875">
              <a:spcBef>
                <a:spcPts val="6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只有信息的发送方和接收方才能懂得所发送信息的内容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  <a:p>
            <a:pPr marL="269875" indent="-269875">
              <a:spcBef>
                <a:spcPts val="600"/>
              </a:spcBef>
              <a:buSzPct val="70000"/>
              <a:buFont typeface="Wingdings" pitchFamily="2" charset="2"/>
              <a:buChar char="l"/>
            </a:pP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是网络安全通信的</a:t>
            </a:r>
            <a:r>
              <a:rPr lang="zh-CN" altLang="en-US" sz="2600" b="1" dirty="0">
                <a:solidFill>
                  <a:srgbClr val="FF0000"/>
                </a:solidFill>
                <a:ea typeface="黑体" pitchFamily="2" charset="-122"/>
              </a:rPr>
              <a:t>最基本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的内容，也是对付被动攻击必须具备的功能。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  <a:p>
            <a:pPr marL="269875" indent="-269875">
              <a:spcBef>
                <a:spcPts val="6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为了使网络具有保密性，需要使用各种</a:t>
            </a:r>
            <a:r>
              <a:rPr lang="zh-CN" altLang="zh-CN" sz="2600" b="1" dirty="0">
                <a:solidFill>
                  <a:srgbClr val="FF0000"/>
                </a:solidFill>
                <a:ea typeface="黑体" pitchFamily="2" charset="-122"/>
              </a:rPr>
              <a:t>密码技术。</a:t>
            </a:r>
            <a:endParaRPr lang="zh-CN" altLang="en-US" sz="2600" b="1" dirty="0">
              <a:solidFill>
                <a:srgbClr val="FF0000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403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安全的计算机网络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网络的安全性是不可判定的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一个安全的计算机网络应达到四个目标：</a:t>
            </a:r>
          </a:p>
          <a:p>
            <a:pPr lvl="1"/>
            <a:r>
              <a:rPr lang="en-US" altLang="zh-CN" dirty="0"/>
              <a:t>1. </a:t>
            </a:r>
            <a:r>
              <a:rPr lang="zh-CN" altLang="zh-CN" dirty="0"/>
              <a:t>保密性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zh-CN" dirty="0"/>
              <a:t>端点鉴别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zh-CN" dirty="0"/>
              <a:t>信息的完整性</a:t>
            </a:r>
          </a:p>
          <a:p>
            <a:pPr lvl="1"/>
            <a:r>
              <a:rPr lang="en-US" altLang="zh-CN" dirty="0"/>
              <a:t>4. </a:t>
            </a:r>
            <a:r>
              <a:rPr lang="zh-CN" altLang="zh-CN" dirty="0"/>
              <a:t>运行的安全性</a:t>
            </a:r>
          </a:p>
        </p:txBody>
      </p:sp>
      <p:sp>
        <p:nvSpPr>
          <p:cNvPr id="7" name="矩形标注 6"/>
          <p:cNvSpPr/>
          <p:nvPr/>
        </p:nvSpPr>
        <p:spPr bwMode="auto">
          <a:xfrm>
            <a:off x="4448944" y="2564904"/>
            <a:ext cx="4968552" cy="3600400"/>
          </a:xfrm>
          <a:prstGeom prst="wedgeRectCallout">
            <a:avLst>
              <a:gd name="adj1" fmla="val -73246"/>
              <a:gd name="adj2" fmla="val -31422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鉴别信息的发送方和接收方的</a:t>
            </a:r>
            <a:r>
              <a:rPr lang="zh-CN" altLang="zh-CN" sz="2600" b="1" dirty="0">
                <a:solidFill>
                  <a:srgbClr val="FF0000"/>
                </a:solidFill>
                <a:ea typeface="黑体" pitchFamily="2" charset="-122"/>
              </a:rPr>
              <a:t>真实身份。 </a:t>
            </a:r>
            <a:endParaRPr lang="en-US" altLang="zh-CN" sz="2600" b="1" dirty="0">
              <a:solidFill>
                <a:srgbClr val="FF0000"/>
              </a:solidFill>
              <a:ea typeface="黑体" pitchFamily="2" charset="-122"/>
            </a:endParaRPr>
          </a:p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在</a:t>
            </a: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对付主动攻击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中是</a:t>
            </a: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非常重要的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3556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安全的计算机网络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网络的安全性是不可判定的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一个安全的计算机网络应达到四个目标：</a:t>
            </a:r>
          </a:p>
          <a:p>
            <a:pPr lvl="1"/>
            <a:r>
              <a:rPr lang="en-US" altLang="zh-CN" dirty="0"/>
              <a:t>1. </a:t>
            </a:r>
            <a:r>
              <a:rPr lang="zh-CN" altLang="zh-CN" dirty="0"/>
              <a:t>保密性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zh-CN" dirty="0"/>
              <a:t>端点鉴别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zh-CN" dirty="0"/>
              <a:t>信息的完整性</a:t>
            </a:r>
          </a:p>
          <a:p>
            <a:pPr lvl="1"/>
            <a:r>
              <a:rPr lang="en-US" altLang="zh-CN" dirty="0"/>
              <a:t>4. </a:t>
            </a:r>
            <a:r>
              <a:rPr lang="zh-CN" altLang="zh-CN" dirty="0"/>
              <a:t>运行的安全性</a:t>
            </a:r>
          </a:p>
        </p:txBody>
      </p:sp>
      <p:sp>
        <p:nvSpPr>
          <p:cNvPr id="7" name="矩形标注 6"/>
          <p:cNvSpPr/>
          <p:nvPr/>
        </p:nvSpPr>
        <p:spPr bwMode="auto">
          <a:xfrm>
            <a:off x="4448944" y="2564904"/>
            <a:ext cx="4968552" cy="3600400"/>
          </a:xfrm>
          <a:prstGeom prst="wedgeRectCallout">
            <a:avLst>
              <a:gd name="adj1" fmla="val -58702"/>
              <a:gd name="adj2" fmla="val -16017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信息的内容</a:t>
            </a:r>
            <a:r>
              <a:rPr lang="zh-CN" altLang="en-US" sz="2600" b="1" dirty="0">
                <a:solidFill>
                  <a:srgbClr val="FF0000"/>
                </a:solidFill>
                <a:ea typeface="黑体" pitchFamily="2" charset="-122"/>
              </a:rPr>
              <a:t>未</a:t>
            </a:r>
            <a:r>
              <a:rPr lang="zh-CN" altLang="zh-CN" sz="2600" b="1" dirty="0">
                <a:solidFill>
                  <a:srgbClr val="FF0000"/>
                </a:solidFill>
                <a:ea typeface="黑体" pitchFamily="2" charset="-122"/>
              </a:rPr>
              <a:t>被篡改过。</a:t>
            </a:r>
            <a:endParaRPr lang="en-US" altLang="zh-CN" sz="2600" b="1" dirty="0">
              <a:solidFill>
                <a:srgbClr val="FF0000"/>
              </a:solidFill>
              <a:ea typeface="黑体" pitchFamily="2" charset="-122"/>
            </a:endParaRPr>
          </a:p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在应对主动攻击中是必不可少的。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信息的完整性与端点鉴别往往是不可分割的。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在谈到“鉴别”时，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也</a:t>
            </a: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同时包含了端点鉴别和报文完整性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534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安全的计算机网络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网络的安全性是不可判定的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一个安全的计算机网络应达到四个目标：</a:t>
            </a:r>
          </a:p>
          <a:p>
            <a:pPr lvl="1"/>
            <a:r>
              <a:rPr lang="en-US" altLang="zh-CN" dirty="0"/>
              <a:t>1. </a:t>
            </a:r>
            <a:r>
              <a:rPr lang="zh-CN" altLang="zh-CN" dirty="0"/>
              <a:t>保密性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zh-CN" dirty="0"/>
              <a:t>端点鉴别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zh-CN" dirty="0"/>
              <a:t>信息的完整性</a:t>
            </a:r>
          </a:p>
          <a:p>
            <a:pPr lvl="1"/>
            <a:r>
              <a:rPr lang="en-US" altLang="zh-CN" dirty="0"/>
              <a:t>4. </a:t>
            </a:r>
            <a:r>
              <a:rPr lang="zh-CN" altLang="zh-CN" dirty="0"/>
              <a:t>运行的安全性</a:t>
            </a:r>
          </a:p>
        </p:txBody>
      </p:sp>
      <p:sp>
        <p:nvSpPr>
          <p:cNvPr id="7" name="矩形标注 6"/>
          <p:cNvSpPr/>
          <p:nvPr/>
        </p:nvSpPr>
        <p:spPr bwMode="auto">
          <a:xfrm>
            <a:off x="4448944" y="2564904"/>
            <a:ext cx="4968552" cy="3600400"/>
          </a:xfrm>
          <a:prstGeom prst="wedgeRectCallout">
            <a:avLst>
              <a:gd name="adj1" fmla="val -59272"/>
              <a:gd name="adj2" fmla="val -612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系统</a:t>
            </a: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能正常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运行并提供服务。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  <a:p>
            <a:pPr marL="269875" indent="-269875">
              <a:spcBef>
                <a:spcPts val="1200"/>
              </a:spcBef>
              <a:buSzPct val="70000"/>
              <a:buFont typeface="Wingdings" pitchFamily="2" charset="2"/>
              <a:buChar char="l"/>
            </a:pPr>
            <a:r>
              <a:rPr lang="zh-CN" altLang="zh-CN" sz="2600" b="1" dirty="0">
                <a:solidFill>
                  <a:srgbClr val="FF0000"/>
                </a:solidFill>
                <a:ea typeface="黑体" pitchFamily="2" charset="-122"/>
              </a:rPr>
              <a:t>访问控制</a:t>
            </a:r>
            <a:r>
              <a:rPr lang="en-US" altLang="zh-CN" sz="2600" b="1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lang="en-US" altLang="zh-CN" sz="2600" b="1" dirty="0">
                <a:solidFill>
                  <a:srgbClr val="000099"/>
                </a:solidFill>
                <a:ea typeface="黑体" pitchFamily="2" charset="-122"/>
              </a:rPr>
              <a:t>(access control) </a:t>
            </a: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对计算机系统的安全性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是</a:t>
            </a: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非常重要</a:t>
            </a:r>
            <a:r>
              <a:rPr lang="zh-CN" altLang="en-US" sz="2600" b="1" dirty="0">
                <a:solidFill>
                  <a:srgbClr val="000099"/>
                </a:solidFill>
                <a:ea typeface="黑体" pitchFamily="2" charset="-122"/>
              </a:rPr>
              <a:t>的</a:t>
            </a:r>
            <a:r>
              <a:rPr lang="zh-CN" altLang="zh-CN" sz="2600" b="1" dirty="0">
                <a:solidFill>
                  <a:srgbClr val="000099"/>
                </a:solidFill>
                <a:ea typeface="黑体" pitchFamily="2" charset="-122"/>
              </a:rPr>
              <a:t>。必须对访问网络的权限加以控制，并规定每个用户的访问权限。</a:t>
            </a:r>
            <a:endParaRPr lang="en-US" altLang="zh-CN" sz="2600" b="1" dirty="0">
              <a:solidFill>
                <a:srgbClr val="000099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6158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网络安全问题概述</a:t>
            </a:r>
          </a:p>
          <a:p>
            <a:r>
              <a:rPr lang="zh-CN" altLang="zh-CN" sz="3600" dirty="0">
                <a:solidFill>
                  <a:srgbClr val="FF0000"/>
                </a:solidFill>
              </a:rPr>
              <a:t>两类密码体制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数字签名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鉴别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运输层的安全协议介绍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防火墙</a:t>
            </a:r>
          </a:p>
        </p:txBody>
      </p:sp>
    </p:spTree>
    <p:extLst>
      <p:ext uri="{BB962C8B-B14F-4D97-AF65-F5344CB8AC3E}">
        <p14:creationId xmlns:p14="http://schemas.microsoft.com/office/powerpoint/2010/main" val="3792650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数据加密模型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397670" y="1304603"/>
            <a:ext cx="9523882" cy="5022720"/>
            <a:chOff x="397670" y="1304603"/>
            <a:chExt cx="9523882" cy="5022720"/>
          </a:xfrm>
        </p:grpSpPr>
        <p:sp>
          <p:nvSpPr>
            <p:cNvPr id="4" name="Line 52"/>
            <p:cNvSpPr>
              <a:spLocks noChangeShapeType="1"/>
            </p:cNvSpPr>
            <p:nvPr/>
          </p:nvSpPr>
          <p:spPr bwMode="auto">
            <a:xfrm>
              <a:off x="2475037" y="2955603"/>
              <a:ext cx="139223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5" name="Line 53"/>
            <p:cNvSpPr>
              <a:spLocks noChangeShapeType="1"/>
            </p:cNvSpPr>
            <p:nvPr/>
          </p:nvSpPr>
          <p:spPr bwMode="auto">
            <a:xfrm>
              <a:off x="4886450" y="2966715"/>
              <a:ext cx="220027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6" name="Text Box 56"/>
            <p:cNvSpPr txBox="1">
              <a:spLocks noChangeArrowheads="1"/>
            </p:cNvSpPr>
            <p:nvPr/>
          </p:nvSpPr>
          <p:spPr bwMode="auto">
            <a:xfrm>
              <a:off x="8491662" y="2776215"/>
              <a:ext cx="105670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明文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X</a:t>
              </a: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 </a:t>
              </a:r>
            </a:p>
          </p:txBody>
        </p:sp>
        <p:sp>
          <p:nvSpPr>
            <p:cNvPr id="7" name="Freeform 51"/>
            <p:cNvSpPr>
              <a:spLocks/>
            </p:cNvSpPr>
            <p:nvPr/>
          </p:nvSpPr>
          <p:spPr bwMode="auto">
            <a:xfrm>
              <a:off x="1212975" y="2515865"/>
              <a:ext cx="349250" cy="45402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8" name="Text Box 65"/>
            <p:cNvSpPr txBox="1">
              <a:spLocks noChangeArrowheads="1"/>
            </p:cNvSpPr>
            <p:nvPr/>
          </p:nvSpPr>
          <p:spPr bwMode="auto">
            <a:xfrm>
              <a:off x="3413250" y="1304603"/>
              <a:ext cx="697627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截获</a:t>
              </a:r>
            </a:p>
          </p:txBody>
        </p:sp>
        <p:sp>
          <p:nvSpPr>
            <p:cNvPr id="9" name="Freeform 72"/>
            <p:cNvSpPr>
              <a:spLocks/>
            </p:cNvSpPr>
            <p:nvPr/>
          </p:nvSpPr>
          <p:spPr bwMode="auto">
            <a:xfrm flipH="1" flipV="1">
              <a:off x="2117850" y="2179315"/>
              <a:ext cx="79375" cy="42068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10" name="Freeform 134"/>
            <p:cNvSpPr>
              <a:spLocks/>
            </p:cNvSpPr>
            <p:nvPr/>
          </p:nvSpPr>
          <p:spPr bwMode="auto">
            <a:xfrm flipH="1" flipV="1">
              <a:off x="7629650" y="2179315"/>
              <a:ext cx="79375" cy="42068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11" name="Freeform 50"/>
            <p:cNvSpPr>
              <a:spLocks/>
            </p:cNvSpPr>
            <p:nvPr/>
          </p:nvSpPr>
          <p:spPr bwMode="auto">
            <a:xfrm rot="16200000">
              <a:off x="8458325" y="2569840"/>
              <a:ext cx="219075" cy="57467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12" name="Text Box 68"/>
            <p:cNvSpPr txBox="1">
              <a:spLocks noChangeArrowheads="1"/>
            </p:cNvSpPr>
            <p:nvPr/>
          </p:nvSpPr>
          <p:spPr bwMode="auto">
            <a:xfrm>
              <a:off x="6007225" y="2565078"/>
              <a:ext cx="96051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密文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Y</a:t>
              </a:r>
            </a:p>
          </p:txBody>
        </p:sp>
        <p:sp>
          <p:nvSpPr>
            <p:cNvPr id="14" name="Text Box 55"/>
            <p:cNvSpPr txBox="1">
              <a:spLocks noChangeArrowheads="1"/>
            </p:cNvSpPr>
            <p:nvPr/>
          </p:nvSpPr>
          <p:spPr bwMode="auto">
            <a:xfrm>
              <a:off x="416496" y="2955603"/>
              <a:ext cx="10393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明文 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X</a:t>
              </a:r>
            </a:p>
          </p:txBody>
        </p:sp>
        <p:sp>
          <p:nvSpPr>
            <p:cNvPr id="15" name="Text Box 57"/>
            <p:cNvSpPr txBox="1">
              <a:spLocks noChangeArrowheads="1"/>
            </p:cNvSpPr>
            <p:nvPr/>
          </p:nvSpPr>
          <p:spPr bwMode="auto">
            <a:xfrm>
              <a:off x="2843337" y="2565078"/>
              <a:ext cx="96051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密文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Y</a:t>
              </a:r>
            </a:p>
          </p:txBody>
        </p:sp>
        <p:sp>
          <p:nvSpPr>
            <p:cNvPr id="16" name="Text Box 58"/>
            <p:cNvSpPr txBox="1">
              <a:spLocks noChangeArrowheads="1"/>
            </p:cNvSpPr>
            <p:nvPr/>
          </p:nvSpPr>
          <p:spPr bwMode="auto">
            <a:xfrm>
              <a:off x="4488267" y="1376611"/>
              <a:ext cx="11128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截取者</a:t>
              </a:r>
            </a:p>
          </p:txBody>
        </p:sp>
        <p:sp>
          <p:nvSpPr>
            <p:cNvPr id="17" name="Rectangle 59"/>
            <p:cNvSpPr>
              <a:spLocks noChangeArrowheads="1"/>
            </p:cNvSpPr>
            <p:nvPr/>
          </p:nvSpPr>
          <p:spPr bwMode="auto">
            <a:xfrm>
              <a:off x="3979987" y="1749103"/>
              <a:ext cx="354013" cy="358775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18" name="Rectangle 60"/>
            <p:cNvSpPr>
              <a:spLocks noChangeArrowheads="1"/>
            </p:cNvSpPr>
            <p:nvPr/>
          </p:nvSpPr>
          <p:spPr bwMode="auto">
            <a:xfrm>
              <a:off x="5651625" y="1749103"/>
              <a:ext cx="354012" cy="358775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19" name="Line 61"/>
            <p:cNvSpPr>
              <a:spLocks noChangeShapeType="1"/>
            </p:cNvSpPr>
            <p:nvPr/>
          </p:nvSpPr>
          <p:spPr bwMode="auto">
            <a:xfrm>
              <a:off x="3624387" y="1928490"/>
              <a:ext cx="106362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0" name="Line 62"/>
            <p:cNvSpPr>
              <a:spLocks noChangeShapeType="1"/>
            </p:cNvSpPr>
            <p:nvPr/>
          </p:nvSpPr>
          <p:spPr bwMode="auto">
            <a:xfrm flipV="1">
              <a:off x="4156200" y="1366515"/>
              <a:ext cx="0" cy="561975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1" name="Freeform 63"/>
            <p:cNvSpPr>
              <a:spLocks/>
            </p:cNvSpPr>
            <p:nvPr/>
          </p:nvSpPr>
          <p:spPr bwMode="auto">
            <a:xfrm>
              <a:off x="5342062" y="1345878"/>
              <a:ext cx="427038" cy="574675"/>
            </a:xfrm>
            <a:custGeom>
              <a:avLst/>
              <a:gdLst>
                <a:gd name="T0" fmla="*/ 0 w 290"/>
                <a:gd name="T1" fmla="*/ 384 h 385"/>
                <a:gd name="T2" fmla="*/ 215 w 290"/>
                <a:gd name="T3" fmla="*/ 384 h 385"/>
                <a:gd name="T4" fmla="*/ 246 w 290"/>
                <a:gd name="T5" fmla="*/ 381 h 385"/>
                <a:gd name="T6" fmla="*/ 276 w 290"/>
                <a:gd name="T7" fmla="*/ 369 h 385"/>
                <a:gd name="T8" fmla="*/ 288 w 290"/>
                <a:gd name="T9" fmla="*/ 336 h 385"/>
                <a:gd name="T10" fmla="*/ 288 w 290"/>
                <a:gd name="T11" fmla="*/ 291 h 385"/>
                <a:gd name="T12" fmla="*/ 288 w 290"/>
                <a:gd name="T1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385">
                  <a:moveTo>
                    <a:pt x="0" y="384"/>
                  </a:moveTo>
                  <a:lnTo>
                    <a:pt x="215" y="384"/>
                  </a:lnTo>
                  <a:cubicBezTo>
                    <a:pt x="256" y="384"/>
                    <a:pt x="257" y="377"/>
                    <a:pt x="246" y="381"/>
                  </a:cubicBezTo>
                  <a:cubicBezTo>
                    <a:pt x="235" y="385"/>
                    <a:pt x="269" y="377"/>
                    <a:pt x="276" y="369"/>
                  </a:cubicBezTo>
                  <a:cubicBezTo>
                    <a:pt x="283" y="361"/>
                    <a:pt x="286" y="349"/>
                    <a:pt x="288" y="336"/>
                  </a:cubicBezTo>
                  <a:cubicBezTo>
                    <a:pt x="290" y="323"/>
                    <a:pt x="288" y="347"/>
                    <a:pt x="288" y="291"/>
                  </a:cubicBezTo>
                  <a:lnTo>
                    <a:pt x="288" y="0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2" name="Freeform 64"/>
            <p:cNvSpPr>
              <a:spLocks/>
            </p:cNvSpPr>
            <p:nvPr/>
          </p:nvSpPr>
          <p:spPr bwMode="auto">
            <a:xfrm>
              <a:off x="5910387" y="1341115"/>
              <a:ext cx="428625" cy="577850"/>
            </a:xfrm>
            <a:custGeom>
              <a:avLst/>
              <a:gdLst>
                <a:gd name="T0" fmla="*/ 290 w 290"/>
                <a:gd name="T1" fmla="*/ 384 h 387"/>
                <a:gd name="T2" fmla="*/ 75 w 290"/>
                <a:gd name="T3" fmla="*/ 384 h 387"/>
                <a:gd name="T4" fmla="*/ 45 w 290"/>
                <a:gd name="T5" fmla="*/ 384 h 387"/>
                <a:gd name="T6" fmla="*/ 14 w 290"/>
                <a:gd name="T7" fmla="*/ 369 h 387"/>
                <a:gd name="T8" fmla="*/ 2 w 290"/>
                <a:gd name="T9" fmla="*/ 336 h 387"/>
                <a:gd name="T10" fmla="*/ 2 w 290"/>
                <a:gd name="T11" fmla="*/ 291 h 387"/>
                <a:gd name="T12" fmla="*/ 2 w 290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" h="387">
                  <a:moveTo>
                    <a:pt x="290" y="384"/>
                  </a:moveTo>
                  <a:lnTo>
                    <a:pt x="75" y="384"/>
                  </a:lnTo>
                  <a:cubicBezTo>
                    <a:pt x="75" y="384"/>
                    <a:pt x="55" y="387"/>
                    <a:pt x="45" y="384"/>
                  </a:cubicBezTo>
                  <a:cubicBezTo>
                    <a:pt x="35" y="381"/>
                    <a:pt x="21" y="377"/>
                    <a:pt x="14" y="369"/>
                  </a:cubicBezTo>
                  <a:cubicBezTo>
                    <a:pt x="7" y="361"/>
                    <a:pt x="4" y="349"/>
                    <a:pt x="2" y="336"/>
                  </a:cubicBezTo>
                  <a:cubicBezTo>
                    <a:pt x="0" y="323"/>
                    <a:pt x="2" y="347"/>
                    <a:pt x="2" y="291"/>
                  </a:cubicBez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333399"/>
              </a:solidFill>
              <a:round/>
              <a:headEnd type="triangle" w="med" len="lg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3" name="Text Box 66"/>
            <p:cNvSpPr txBox="1">
              <a:spLocks noChangeArrowheads="1"/>
            </p:cNvSpPr>
            <p:nvPr/>
          </p:nvSpPr>
          <p:spPr bwMode="auto">
            <a:xfrm>
              <a:off x="6116762" y="1315715"/>
              <a:ext cx="70083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篡改</a:t>
              </a:r>
            </a:p>
          </p:txBody>
        </p:sp>
        <p:sp>
          <p:nvSpPr>
            <p:cNvPr id="24" name="Oval 67"/>
            <p:cNvSpPr>
              <a:spLocks noChangeArrowheads="1"/>
            </p:cNvSpPr>
            <p:nvPr/>
          </p:nvSpPr>
          <p:spPr bwMode="auto">
            <a:xfrm>
              <a:off x="4121275" y="1884040"/>
              <a:ext cx="69850" cy="7143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pic>
          <p:nvPicPr>
            <p:cNvPr id="25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2222600" y="3567930"/>
              <a:ext cx="503238" cy="227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26" name="Text Box 70"/>
            <p:cNvSpPr txBox="1">
              <a:spLocks noChangeArrowheads="1"/>
            </p:cNvSpPr>
            <p:nvPr/>
          </p:nvSpPr>
          <p:spPr bwMode="auto">
            <a:xfrm>
              <a:off x="595437" y="2017390"/>
              <a:ext cx="3706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A</a:t>
              </a:r>
            </a:p>
          </p:txBody>
        </p:sp>
        <p:sp>
          <p:nvSpPr>
            <p:cNvPr id="27" name="Text Box 71"/>
            <p:cNvSpPr txBox="1">
              <a:spLocks noChangeArrowheads="1"/>
            </p:cNvSpPr>
            <p:nvPr/>
          </p:nvSpPr>
          <p:spPr bwMode="auto">
            <a:xfrm>
              <a:off x="9067925" y="2017390"/>
              <a:ext cx="3706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B</a:t>
              </a:r>
            </a:p>
          </p:txBody>
        </p:sp>
        <p:graphicFrame>
          <p:nvGraphicFramePr>
            <p:cNvPr id="28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137998"/>
                </p:ext>
              </p:extLst>
            </p:nvPr>
          </p:nvGraphicFramePr>
          <p:xfrm>
            <a:off x="3786312" y="2290440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2" name="VISIO" r:id="rId5" imgW="1689840" imgH="964440" progId="Visio.Drawing.6">
                    <p:embed/>
                  </p:oleObj>
                </mc:Choice>
                <mc:Fallback>
                  <p:oleObj name="VISIO" r:id="rId5" imgW="1689840" imgH="96444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6312" y="2290440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rgbClr val="1C1C1C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" name="Group 74"/>
            <p:cNvGrpSpPr>
              <a:grpSpLocks/>
            </p:cNvGrpSpPr>
            <p:nvPr/>
          </p:nvGrpSpPr>
          <p:grpSpPr bwMode="auto">
            <a:xfrm>
              <a:off x="889125" y="2157090"/>
              <a:ext cx="574675" cy="620713"/>
              <a:chOff x="921" y="2412"/>
              <a:chExt cx="284" cy="265"/>
            </a:xfrm>
          </p:grpSpPr>
          <p:grpSp>
            <p:nvGrpSpPr>
              <p:cNvPr id="30" name="Group 7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44" name="Freeform 7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5" name="Freeform 77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6" name="Freeform 7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7" name="Freeform 79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8" name="Rectangle 8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9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0" name="Rectangle 8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52" name="Group 8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53" name="Freeform 8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54" name="Freeform 86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55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31" name="Group 8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32" name="Freeform 8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3" name="Freeform 90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4" name="Freeform 9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5" name="Freeform 92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6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7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8" name="Rectangle 9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9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40" name="Group 9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41" name="Freeform 9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42" name="Freeform 99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43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56" name="Rectangle 102"/>
            <p:cNvSpPr>
              <a:spLocks noChangeArrowheads="1"/>
            </p:cNvSpPr>
            <p:nvPr/>
          </p:nvSpPr>
          <p:spPr bwMode="auto">
            <a:xfrm>
              <a:off x="1562225" y="2609528"/>
              <a:ext cx="1276350" cy="715962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E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运算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加密算法</a:t>
              </a:r>
            </a:p>
          </p:txBody>
        </p:sp>
        <p:sp>
          <p:nvSpPr>
            <p:cNvPr id="57" name="Rectangle 103"/>
            <p:cNvSpPr>
              <a:spLocks noChangeArrowheads="1"/>
            </p:cNvSpPr>
            <p:nvPr/>
          </p:nvSpPr>
          <p:spPr bwMode="auto">
            <a:xfrm>
              <a:off x="7086725" y="2609528"/>
              <a:ext cx="1277937" cy="715962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D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运算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解密算法</a:t>
              </a:r>
            </a:p>
          </p:txBody>
        </p:sp>
        <p:grpSp>
          <p:nvGrpSpPr>
            <p:cNvPr id="58" name="Group 104"/>
            <p:cNvGrpSpPr>
              <a:grpSpLocks/>
            </p:cNvGrpSpPr>
            <p:nvPr/>
          </p:nvGrpSpPr>
          <p:grpSpPr bwMode="auto">
            <a:xfrm>
              <a:off x="8583737" y="2131690"/>
              <a:ext cx="574675" cy="620713"/>
              <a:chOff x="921" y="2412"/>
              <a:chExt cx="284" cy="265"/>
            </a:xfrm>
          </p:grpSpPr>
          <p:grpSp>
            <p:nvGrpSpPr>
              <p:cNvPr id="59" name="Group 10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73" name="Freeform 10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4" name="Freeform 107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5" name="Freeform 10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6" name="Freeform 109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7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8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9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0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81" name="Group 11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82" name="Freeform 11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83" name="Freeform 116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84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0" name="Group 11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1" name="Freeform 11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2" name="Freeform 120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3" name="Freeform 12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4" name="Freeform 122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5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6" name="Rectangle 12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7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8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69" name="Group 12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70" name="Freeform 12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71" name="Freeform 129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72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85" name="Text Box 131"/>
            <p:cNvSpPr txBox="1">
              <a:spLocks noChangeArrowheads="1"/>
            </p:cNvSpPr>
            <p:nvPr/>
          </p:nvSpPr>
          <p:spPr bwMode="auto">
            <a:xfrm>
              <a:off x="4448944" y="2787154"/>
              <a:ext cx="11128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互联网</a:t>
              </a:r>
            </a:p>
          </p:txBody>
        </p:sp>
        <p:pic>
          <p:nvPicPr>
            <p:cNvPr id="87" name="Picture 13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V="1">
              <a:off x="7324972" y="3640732"/>
              <a:ext cx="503238" cy="225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8" name="Line 101"/>
            <p:cNvSpPr>
              <a:spLocks noChangeShapeType="1"/>
            </p:cNvSpPr>
            <p:nvPr/>
          </p:nvSpPr>
          <p:spPr bwMode="auto">
            <a:xfrm rot="16200000">
              <a:off x="4548312" y="2309490"/>
              <a:ext cx="9779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sysDot"/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1032794" y="5373216"/>
              <a:ext cx="8234602" cy="954107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>
              <a:outerShdw dist="35921" sx="1000" sy="1000" algn="ctr" rotWithShape="0">
                <a:srgbClr val="1C1C1C"/>
              </a:outerShdw>
            </a:effectLst>
          </p:spPr>
          <p:txBody>
            <a:bodyPr wrap="squar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用户</a:t>
              </a:r>
              <a:r>
                <a:rPr lang="en-US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 A </a:t>
              </a:r>
              <a:r>
                <a:rPr lang="zh-CN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向</a:t>
              </a:r>
              <a:r>
                <a:rPr lang="en-US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 B </a:t>
              </a:r>
              <a:r>
                <a:rPr lang="zh-CN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发送明文</a:t>
              </a:r>
              <a:r>
                <a:rPr lang="en-US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 X</a:t>
              </a:r>
              <a:r>
                <a:rPr lang="zh-CN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，通过加密算法</a:t>
              </a:r>
              <a:r>
                <a:rPr lang="en-US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 E </a:t>
              </a:r>
              <a:r>
                <a:rPr lang="zh-CN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运算后，就得出密文</a:t>
              </a:r>
              <a:r>
                <a:rPr lang="en-US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 Y</a:t>
              </a:r>
              <a:r>
                <a:rPr lang="zh-CN" altLang="zh-CN" sz="28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。</a:t>
              </a:r>
              <a:endParaRPr lang="zh-CN" altLang="en-US" sz="2800" b="1" kern="0" dirty="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90" name="Freeform 20"/>
            <p:cNvSpPr>
              <a:spLocks/>
            </p:cNvSpPr>
            <p:nvPr/>
          </p:nvSpPr>
          <p:spPr bwMode="auto">
            <a:xfrm>
              <a:off x="5653112" y="3361754"/>
              <a:ext cx="2108200" cy="765175"/>
            </a:xfrm>
            <a:custGeom>
              <a:avLst/>
              <a:gdLst>
                <a:gd name="T0" fmla="*/ 0 w 1056"/>
                <a:gd name="T1" fmla="*/ 384 h 384"/>
                <a:gd name="T2" fmla="*/ 1056 w 1056"/>
                <a:gd name="T3" fmla="*/ 384 h 384"/>
                <a:gd name="T4" fmla="*/ 1056 w 1056"/>
                <a:gd name="T5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6" h="384">
                  <a:moveTo>
                    <a:pt x="0" y="384"/>
                  </a:moveTo>
                  <a:lnTo>
                    <a:pt x="1056" y="384"/>
                  </a:lnTo>
                  <a:lnTo>
                    <a:pt x="1056" y="0"/>
                  </a:ln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91" name="AutoShape 21"/>
            <p:cNvSpPr>
              <a:spLocks noChangeArrowheads="1"/>
            </p:cNvSpPr>
            <p:nvPr/>
          </p:nvSpPr>
          <p:spPr bwMode="auto">
            <a:xfrm rot="16200000">
              <a:off x="4798108" y="1956705"/>
              <a:ext cx="587375" cy="4330924"/>
            </a:xfrm>
            <a:prstGeom prst="can">
              <a:avLst>
                <a:gd name="adj" fmla="val 41409"/>
              </a:avLst>
            </a:prstGeom>
            <a:gradFill rotWithShape="1">
              <a:gsLst>
                <a:gs pos="0">
                  <a:srgbClr val="333399"/>
                </a:gs>
                <a:gs pos="50000">
                  <a:srgbClr val="66FFFF"/>
                </a:gs>
                <a:gs pos="100000">
                  <a:srgbClr val="333399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92" name="Line 28"/>
            <p:cNvSpPr>
              <a:spLocks noChangeShapeType="1"/>
            </p:cNvSpPr>
            <p:nvPr/>
          </p:nvSpPr>
          <p:spPr bwMode="auto">
            <a:xfrm rot="16200000">
              <a:off x="1626171" y="4001517"/>
              <a:ext cx="1277938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93" name="Text Box 29"/>
            <p:cNvSpPr txBox="1">
              <a:spLocks noChangeArrowheads="1"/>
            </p:cNvSpPr>
            <p:nvPr/>
          </p:nvSpPr>
          <p:spPr bwMode="auto">
            <a:xfrm>
              <a:off x="397670" y="3450456"/>
              <a:ext cx="186509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加密密钥 </a:t>
              </a:r>
              <a:r>
                <a:rPr kumimoji="1" lang="en-US" altLang="zh-CN" sz="24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4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E</a:t>
              </a:r>
            </a:p>
          </p:txBody>
        </p:sp>
        <p:sp>
          <p:nvSpPr>
            <p:cNvPr id="94" name="Text Box 30"/>
            <p:cNvSpPr txBox="1">
              <a:spLocks noChangeArrowheads="1"/>
            </p:cNvSpPr>
            <p:nvPr/>
          </p:nvSpPr>
          <p:spPr bwMode="auto">
            <a:xfrm>
              <a:off x="7819702" y="3475856"/>
              <a:ext cx="21018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解密密钥 </a:t>
              </a:r>
              <a:r>
                <a:rPr kumimoji="1" lang="en-US" altLang="zh-CN" sz="24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4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D</a:t>
              </a:r>
            </a:p>
          </p:txBody>
        </p:sp>
        <p:sp>
          <p:nvSpPr>
            <p:cNvPr id="95" name="Rectangle 46"/>
            <p:cNvSpPr>
              <a:spLocks noChangeArrowheads="1"/>
            </p:cNvSpPr>
            <p:nvPr/>
          </p:nvSpPr>
          <p:spPr bwMode="auto">
            <a:xfrm>
              <a:off x="1713484" y="4517454"/>
              <a:ext cx="1233488" cy="4826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zh-CN" altLang="en-US" sz="24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密钥源</a:t>
              </a:r>
            </a:p>
          </p:txBody>
        </p:sp>
        <p:sp>
          <p:nvSpPr>
            <p:cNvPr id="96" name="Line 47"/>
            <p:cNvSpPr>
              <a:spLocks noChangeShapeType="1"/>
            </p:cNvSpPr>
            <p:nvPr/>
          </p:nvSpPr>
          <p:spPr bwMode="auto">
            <a:xfrm>
              <a:off x="2262759" y="4126930"/>
              <a:ext cx="9083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97" name="Text Box 48"/>
            <p:cNvSpPr txBox="1">
              <a:spLocks noChangeArrowheads="1"/>
            </p:cNvSpPr>
            <p:nvPr/>
          </p:nvSpPr>
          <p:spPr bwMode="auto">
            <a:xfrm>
              <a:off x="4250896" y="3903439"/>
              <a:ext cx="14221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C00000"/>
                  </a:solidFill>
                  <a:latin typeface="+mn-lt"/>
                  <a:ea typeface="黑体" pitchFamily="2" charset="-122"/>
                </a:rPr>
                <a:t>安全信道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703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密钥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加密和解密用的</a:t>
            </a:r>
            <a:r>
              <a:rPr lang="zh-CN" altLang="zh-CN" sz="2800" dirty="0">
                <a:solidFill>
                  <a:srgbClr val="FF0000"/>
                </a:solidFill>
              </a:rPr>
              <a:t>密钥</a:t>
            </a:r>
            <a:r>
              <a:rPr lang="en-US" altLang="zh-CN" sz="2800" i="1" dirty="0">
                <a:solidFill>
                  <a:srgbClr val="FF0000"/>
                </a:solidFill>
              </a:rPr>
              <a:t>K</a:t>
            </a:r>
            <a:r>
              <a:rPr lang="en-US" altLang="zh-CN" sz="2800" dirty="0"/>
              <a:t> (key) </a:t>
            </a:r>
            <a:r>
              <a:rPr lang="zh-CN" altLang="zh-CN" sz="2800" dirty="0"/>
              <a:t>是一串秘密的字符串（即比特串）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zh-CN" sz="2800" dirty="0"/>
              <a:t>明文通过</a:t>
            </a:r>
            <a:r>
              <a:rPr lang="zh-CN" altLang="zh-CN" sz="2800" dirty="0">
                <a:solidFill>
                  <a:srgbClr val="FF0000"/>
                </a:solidFill>
              </a:rPr>
              <a:t>加密算法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E  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FF0000"/>
                </a:solidFill>
              </a:rPr>
              <a:t>加</a:t>
            </a:r>
            <a:r>
              <a:rPr lang="zh-CN" altLang="zh-CN" sz="2800" dirty="0">
                <a:solidFill>
                  <a:srgbClr val="FF0000"/>
                </a:solidFill>
              </a:rPr>
              <a:t>密密钥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K  </a:t>
            </a:r>
            <a:r>
              <a:rPr lang="zh-CN" altLang="zh-CN" sz="2800" dirty="0"/>
              <a:t>变成密文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zh-CN" sz="2800" dirty="0"/>
              <a:t>接收端利用</a:t>
            </a:r>
            <a:r>
              <a:rPr lang="zh-CN" altLang="zh-CN" sz="2800" dirty="0">
                <a:solidFill>
                  <a:srgbClr val="FF0000"/>
                </a:solidFill>
              </a:rPr>
              <a:t>解密算法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D </a:t>
            </a:r>
            <a:r>
              <a:rPr lang="zh-CN" altLang="zh-CN" sz="2800" dirty="0"/>
              <a:t>运算和</a:t>
            </a:r>
            <a:r>
              <a:rPr lang="zh-CN" altLang="zh-CN" sz="2800" dirty="0">
                <a:solidFill>
                  <a:srgbClr val="FF0000"/>
                </a:solidFill>
              </a:rPr>
              <a:t>解密密钥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K </a:t>
            </a:r>
            <a:r>
              <a:rPr lang="zh-CN" altLang="zh-CN" sz="2800" dirty="0"/>
              <a:t>解出明文</a:t>
            </a:r>
            <a:r>
              <a:rPr lang="en-US" altLang="zh-CN" sz="2800" dirty="0"/>
              <a:t> </a:t>
            </a:r>
            <a:r>
              <a:rPr lang="en-US" altLang="zh-CN" sz="2800" i="1" dirty="0"/>
              <a:t>X</a:t>
            </a:r>
            <a:r>
              <a:rPr lang="zh-CN" altLang="zh-CN" sz="2800" dirty="0"/>
              <a:t>。解密算法是加密算法的逆运算</a:t>
            </a:r>
            <a:r>
              <a:rPr lang="zh-CN" altLang="en-US" sz="2800" dirty="0"/>
              <a:t>。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1208584" y="2708920"/>
            <a:ext cx="7488832" cy="576064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Y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  <a:sym typeface="Symbol"/>
              </a:rPr>
              <a:t>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E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K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X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)                                      (7-1)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+mn-lt"/>
              <a:ea typeface="黑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208584" y="4293096"/>
            <a:ext cx="7488832" cy="576064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D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K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(Y) 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  <a:sym typeface="Symbol"/>
              </a:rPr>
              <a:t>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D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K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(E</a:t>
            </a:r>
            <a:r>
              <a:rPr lang="en-US" altLang="zh-CN" sz="2800" b="1" i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K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(X)) 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  <a:sym typeface="Symbol"/>
              </a:rPr>
              <a:t></a:t>
            </a:r>
            <a:r>
              <a:rPr lang="en-US" altLang="zh-CN" sz="28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X                  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(7-2)</a:t>
            </a:r>
            <a:endParaRPr lang="zh-CN" altLang="en-US" sz="2800" b="1" dirty="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8544" y="5157192"/>
            <a:ext cx="8568952" cy="1200329"/>
          </a:xfrm>
          <a:prstGeom prst="rect">
            <a:avLst/>
          </a:prstGeom>
          <a:solidFill>
            <a:srgbClr val="FFC000"/>
          </a:solidFill>
          <a:ln>
            <a:solidFill>
              <a:srgbClr val="000066"/>
            </a:solidFill>
          </a:ln>
        </p:spPr>
        <p:txBody>
          <a:bodyPr wrap="square">
            <a:spAutoFit/>
          </a:bodyPr>
          <a:lstStyle/>
          <a:p>
            <a:pPr marL="269875" indent="-269875">
              <a:buSzPct val="70000"/>
              <a:buFont typeface="Wingdings" pitchFamily="2" charset="2"/>
              <a:buChar char="l"/>
            </a:pPr>
            <a:r>
              <a:rPr lang="zh-CN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加密密钥和解密密钥</a:t>
            </a:r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可以</a:t>
            </a:r>
            <a:r>
              <a:rPr lang="zh-CN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一样</a:t>
            </a:r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，也</a:t>
            </a:r>
            <a:r>
              <a:rPr lang="zh-CN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可以不一样</a:t>
            </a:r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。</a:t>
            </a:r>
            <a:endParaRPr lang="en-US" altLang="zh-CN" sz="2400" b="1" dirty="0">
              <a:solidFill>
                <a:srgbClr val="000066"/>
              </a:solidFill>
              <a:latin typeface="+mn-lt"/>
              <a:ea typeface="黑体" pitchFamily="2" charset="-122"/>
            </a:endParaRPr>
          </a:p>
          <a:p>
            <a:pPr marL="269875" indent="-269875">
              <a:buSzPct val="70000"/>
              <a:buFont typeface="Wingdings" pitchFamily="2" charset="2"/>
              <a:buChar char="l"/>
            </a:pPr>
            <a:r>
              <a:rPr lang="zh-CN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密钥通常是由密钥中心提供。</a:t>
            </a:r>
            <a:endParaRPr lang="en-US" altLang="zh-CN" sz="2400" b="1" dirty="0">
              <a:solidFill>
                <a:srgbClr val="000066"/>
              </a:solidFill>
              <a:latin typeface="+mn-lt"/>
              <a:ea typeface="黑体" pitchFamily="2" charset="-122"/>
            </a:endParaRPr>
          </a:p>
          <a:p>
            <a:pPr marL="269875" indent="-269875">
              <a:buSzPct val="70000"/>
              <a:buFont typeface="Wingdings" pitchFamily="2" charset="2"/>
              <a:buChar char="l"/>
            </a:pPr>
            <a:r>
              <a:rPr lang="zh-CN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当密钥需要向远地传送时，一定要通过另一个安全信道。</a:t>
            </a:r>
            <a:endParaRPr lang="zh-CN" altLang="en-US" sz="2400" b="1" dirty="0">
              <a:solidFill>
                <a:srgbClr val="000066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5704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800" dirty="0"/>
              <a:t>密码安全的不同层次 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如果不论截取者获得了多少密文，但在密文中都没有足够的信息来唯一地确定出对应的明文，则这一密码体制称为</a:t>
            </a:r>
            <a:r>
              <a:rPr lang="zh-CN" altLang="en-US" dirty="0">
                <a:solidFill>
                  <a:srgbClr val="FF0000"/>
                </a:solidFill>
              </a:rPr>
              <a:t>无条件安全的，</a:t>
            </a:r>
            <a:r>
              <a:rPr lang="zh-CN" altLang="en-US" dirty="0"/>
              <a:t>或称为</a:t>
            </a:r>
            <a:r>
              <a:rPr lang="zh-CN" altLang="en-US" dirty="0">
                <a:solidFill>
                  <a:srgbClr val="FF0000"/>
                </a:solidFill>
              </a:rPr>
              <a:t>理论上是不可破的。</a:t>
            </a:r>
          </a:p>
          <a:p>
            <a:r>
              <a:rPr lang="zh-CN" altLang="en-US" dirty="0"/>
              <a:t>如果密码体制中的密码不能被可使用的计算资源破译，则这一密码体制称为在</a:t>
            </a:r>
            <a:r>
              <a:rPr lang="zh-CN" altLang="en-US" dirty="0">
                <a:solidFill>
                  <a:srgbClr val="FF0000"/>
                </a:solidFill>
              </a:rPr>
              <a:t>计算上是安全的。 </a:t>
            </a:r>
          </a:p>
        </p:txBody>
      </p:sp>
    </p:spTree>
    <p:extLst>
      <p:ext uri="{BB962C8B-B14F-4D97-AF65-F5344CB8AC3E}">
        <p14:creationId xmlns:p14="http://schemas.microsoft.com/office/powerpoint/2010/main" val="360146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对称密钥密码体制 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所谓常规密钥密码体制，即</a:t>
            </a:r>
            <a:r>
              <a:rPr lang="zh-CN" altLang="en-US" dirty="0">
                <a:solidFill>
                  <a:srgbClr val="FF0000"/>
                </a:solidFill>
              </a:rPr>
              <a:t>加密密钥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解密密钥是相同的密码体制。</a:t>
            </a:r>
          </a:p>
          <a:p>
            <a:r>
              <a:rPr lang="zh-CN" altLang="en-US" dirty="0"/>
              <a:t>这种加密系统又称为</a:t>
            </a:r>
            <a:r>
              <a:rPr lang="zh-CN" altLang="en-US" dirty="0">
                <a:solidFill>
                  <a:srgbClr val="FF0000"/>
                </a:solidFill>
              </a:rPr>
              <a:t>对称密钥系统。</a:t>
            </a:r>
          </a:p>
        </p:txBody>
      </p: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2547045" y="4971827"/>
            <a:ext cx="139223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4958458" y="4982939"/>
            <a:ext cx="220027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8563670" y="4792439"/>
            <a:ext cx="10567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明文 </a:t>
            </a:r>
            <a:r>
              <a:rPr kumimoji="1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X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 </a:t>
            </a:r>
          </a:p>
        </p:txBody>
      </p:sp>
      <p:sp>
        <p:nvSpPr>
          <p:cNvPr id="9" name="Freeform 51"/>
          <p:cNvSpPr>
            <a:spLocks/>
          </p:cNvSpPr>
          <p:nvPr/>
        </p:nvSpPr>
        <p:spPr bwMode="auto">
          <a:xfrm>
            <a:off x="1284983" y="4532089"/>
            <a:ext cx="349250" cy="45402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1" name="Freeform 72"/>
          <p:cNvSpPr>
            <a:spLocks/>
          </p:cNvSpPr>
          <p:nvPr/>
        </p:nvSpPr>
        <p:spPr bwMode="auto">
          <a:xfrm flipH="1" flipV="1">
            <a:off x="2189858" y="4195539"/>
            <a:ext cx="79375" cy="42068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2" name="Freeform 134"/>
          <p:cNvSpPr>
            <a:spLocks/>
          </p:cNvSpPr>
          <p:nvPr/>
        </p:nvSpPr>
        <p:spPr bwMode="auto">
          <a:xfrm flipH="1" flipV="1">
            <a:off x="7701658" y="4195539"/>
            <a:ext cx="79375" cy="42068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3" name="Freeform 50"/>
          <p:cNvSpPr>
            <a:spLocks/>
          </p:cNvSpPr>
          <p:nvPr/>
        </p:nvSpPr>
        <p:spPr bwMode="auto">
          <a:xfrm rot="16200000">
            <a:off x="8530333" y="4586064"/>
            <a:ext cx="219075" cy="57467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黑体" pitchFamily="2" charset="-122"/>
            </a:endParaRPr>
          </a:p>
        </p:txBody>
      </p:sp>
      <p:sp>
        <p:nvSpPr>
          <p:cNvPr id="14" name="Text Box 68"/>
          <p:cNvSpPr txBox="1">
            <a:spLocks noChangeArrowheads="1"/>
          </p:cNvSpPr>
          <p:nvPr/>
        </p:nvSpPr>
        <p:spPr bwMode="auto">
          <a:xfrm>
            <a:off x="6079233" y="4581302"/>
            <a:ext cx="960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密文 </a:t>
            </a:r>
            <a:r>
              <a:rPr kumimoji="1" lang="en-US" altLang="zh-CN" sz="2000" b="1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Y</a:t>
            </a:r>
          </a:p>
        </p:txBody>
      </p:sp>
      <p:sp>
        <p:nvSpPr>
          <p:cNvPr id="15" name="Text Box 54"/>
          <p:cNvSpPr txBox="1">
            <a:spLocks noChangeArrowheads="1"/>
          </p:cNvSpPr>
          <p:nvPr/>
        </p:nvSpPr>
        <p:spPr bwMode="auto">
          <a:xfrm>
            <a:off x="488504" y="3356992"/>
            <a:ext cx="17299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加密密钥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K</a:t>
            </a:r>
          </a:p>
        </p:txBody>
      </p:sp>
      <p:sp>
        <p:nvSpPr>
          <p:cNvPr id="16" name="Text Box 55"/>
          <p:cNvSpPr txBox="1">
            <a:spLocks noChangeArrowheads="1"/>
          </p:cNvSpPr>
          <p:nvPr/>
        </p:nvSpPr>
        <p:spPr bwMode="auto">
          <a:xfrm>
            <a:off x="488504" y="4971827"/>
            <a:ext cx="10393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明文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X</a:t>
            </a:r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2915345" y="4581302"/>
            <a:ext cx="9605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密文 </a:t>
            </a: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Y</a:t>
            </a:r>
          </a:p>
        </p:txBody>
      </p:sp>
      <p:pic>
        <p:nvPicPr>
          <p:cNvPr id="27" name="Picture 6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041570" y="3532122"/>
            <a:ext cx="741707" cy="391454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28" name="Text Box 70"/>
          <p:cNvSpPr txBox="1">
            <a:spLocks noChangeArrowheads="1"/>
          </p:cNvSpPr>
          <p:nvPr/>
        </p:nvSpPr>
        <p:spPr bwMode="auto">
          <a:xfrm>
            <a:off x="667445" y="4033614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A</a:t>
            </a:r>
          </a:p>
        </p:txBody>
      </p:sp>
      <p:sp>
        <p:nvSpPr>
          <p:cNvPr id="29" name="Text Box 71"/>
          <p:cNvSpPr txBox="1">
            <a:spLocks noChangeArrowheads="1"/>
          </p:cNvSpPr>
          <p:nvPr/>
        </p:nvSpPr>
        <p:spPr bwMode="auto">
          <a:xfrm>
            <a:off x="9139933" y="4033614"/>
            <a:ext cx="3706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B</a:t>
            </a:r>
          </a:p>
        </p:txBody>
      </p:sp>
      <p:graphicFrame>
        <p:nvGraphicFramePr>
          <p:cNvPr id="30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838175"/>
              </p:ext>
            </p:extLst>
          </p:nvPr>
        </p:nvGraphicFramePr>
        <p:xfrm>
          <a:off x="3858320" y="4310662"/>
          <a:ext cx="2293938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VISIO" r:id="rId5" imgW="1689840" imgH="964440" progId="Visio.Drawing.6">
                  <p:embed/>
                </p:oleObj>
              </mc:Choice>
              <mc:Fallback>
                <p:oleObj name="VISIO" r:id="rId5" imgW="1689840" imgH="964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8320" y="4310662"/>
                        <a:ext cx="2293938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rgbClr val="1C1C1C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74"/>
          <p:cNvGrpSpPr>
            <a:grpSpLocks/>
          </p:cNvGrpSpPr>
          <p:nvPr/>
        </p:nvGrpSpPr>
        <p:grpSpPr bwMode="auto">
          <a:xfrm>
            <a:off x="961133" y="4173314"/>
            <a:ext cx="574675" cy="620713"/>
            <a:chOff x="921" y="2412"/>
            <a:chExt cx="284" cy="265"/>
          </a:xfrm>
        </p:grpSpPr>
        <p:grpSp>
          <p:nvGrpSpPr>
            <p:cNvPr id="32" name="Group 75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46" name="Freeform 7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7" name="Freeform 77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8" name="Freeform 7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9" name="Freeform 79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0" name="Rectangle 80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1" name="Rectangle 81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2" name="Rectangle 82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3" name="Line 83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54" name="Group 84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55" name="Freeform 8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6" name="Freeform 86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7" name="Rectangle 87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33" name="Group 88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34" name="Freeform 8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5" name="Freeform 90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6" name="Freeform 9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7" name="Freeform 92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8" name="Rectangle 93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9" name="Rectangle 94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0" name="Rectangle 95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1" name="Line 96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42" name="Group 97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43" name="Freeform 9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4" name="Freeform 99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5" name="Rectangle 100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58" name="Rectangle 102"/>
          <p:cNvSpPr>
            <a:spLocks noChangeArrowheads="1"/>
          </p:cNvSpPr>
          <p:nvPr/>
        </p:nvSpPr>
        <p:spPr bwMode="auto">
          <a:xfrm>
            <a:off x="1634233" y="4625752"/>
            <a:ext cx="1276350" cy="715962"/>
          </a:xfrm>
          <a:prstGeom prst="rect">
            <a:avLst/>
          </a:prstGeom>
          <a:solidFill>
            <a:srgbClr val="FF66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E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加密算法</a:t>
            </a:r>
          </a:p>
        </p:txBody>
      </p:sp>
      <p:sp>
        <p:nvSpPr>
          <p:cNvPr id="59" name="Rectangle 103"/>
          <p:cNvSpPr>
            <a:spLocks noChangeArrowheads="1"/>
          </p:cNvSpPr>
          <p:nvPr/>
        </p:nvSpPr>
        <p:spPr bwMode="auto">
          <a:xfrm>
            <a:off x="7158733" y="4625752"/>
            <a:ext cx="1277937" cy="715962"/>
          </a:xfrm>
          <a:prstGeom prst="rect">
            <a:avLst/>
          </a:prstGeom>
          <a:solidFill>
            <a:srgbClr val="FFFF66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D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解密算法</a:t>
            </a:r>
          </a:p>
        </p:txBody>
      </p:sp>
      <p:grpSp>
        <p:nvGrpSpPr>
          <p:cNvPr id="60" name="Group 104"/>
          <p:cNvGrpSpPr>
            <a:grpSpLocks/>
          </p:cNvGrpSpPr>
          <p:nvPr/>
        </p:nvGrpSpPr>
        <p:grpSpPr bwMode="auto">
          <a:xfrm>
            <a:off x="8655745" y="4147914"/>
            <a:ext cx="574675" cy="620713"/>
            <a:chOff x="921" y="2412"/>
            <a:chExt cx="284" cy="265"/>
          </a:xfrm>
        </p:grpSpPr>
        <p:grpSp>
          <p:nvGrpSpPr>
            <p:cNvPr id="61" name="Group 105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75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76" name="Freeform 107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77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78" name="Freeform 109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79" name="Rectangle 110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80" name="Rectangle 111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81" name="Rectangle 112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82" name="Line 113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83" name="Group 114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84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5" name="Freeform 116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6" name="Rectangle 117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62" name="Group 118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3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4" name="Freeform 120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5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6" name="Freeform 122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7" name="Rectangle 123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8" name="Rectangle 124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" name="Rectangle 125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70" name="Line 126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71" name="Group 127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72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3" name="Freeform 129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4" name="Rectangle 130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520952" y="4803378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7817545" y="3356992"/>
            <a:ext cx="17299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解密密钥 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rPr>
              <a:t>K</a:t>
            </a:r>
          </a:p>
        </p:txBody>
      </p:sp>
      <p:pic>
        <p:nvPicPr>
          <p:cNvPr id="89" name="Picture 13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296784" y="3533490"/>
            <a:ext cx="741708" cy="388716"/>
          </a:xfrm>
          <a:prstGeom prst="rect">
            <a:avLst/>
          </a:prstGeom>
          <a:noFill/>
          <a:ln>
            <a:noFill/>
          </a:ln>
          <a:effectLst/>
          <a:extLst/>
        </p:spPr>
      </p:pic>
      <p:grpSp>
        <p:nvGrpSpPr>
          <p:cNvPr id="94" name="组合 93"/>
          <p:cNvGrpSpPr/>
          <p:nvPr/>
        </p:nvGrpSpPr>
        <p:grpSpPr>
          <a:xfrm>
            <a:off x="2674219" y="3492297"/>
            <a:ext cx="4727052" cy="584775"/>
            <a:chOff x="2674219" y="3348281"/>
            <a:chExt cx="4727052" cy="584775"/>
          </a:xfrm>
        </p:grpSpPr>
        <p:sp>
          <p:nvSpPr>
            <p:cNvPr id="91" name="TextBox 90"/>
            <p:cNvSpPr txBox="1"/>
            <p:nvPr/>
          </p:nvSpPr>
          <p:spPr>
            <a:xfrm>
              <a:off x="4128559" y="3348281"/>
              <a:ext cx="18325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C00000"/>
                  </a:solidFill>
                  <a:latin typeface="+mn-lt"/>
                  <a:ea typeface="黑体" pitchFamily="2" charset="-122"/>
                </a:rPr>
                <a:t>相同秘钥</a:t>
              </a:r>
            </a:p>
          </p:txBody>
        </p:sp>
        <p:sp>
          <p:nvSpPr>
            <p:cNvPr id="93" name="左箭头 92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左箭头 95"/>
            <p:cNvSpPr/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074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数据加密标准 </a:t>
            </a:r>
            <a:r>
              <a:rPr lang="en-US" altLang="zh-CN" dirty="0"/>
              <a:t>DES</a:t>
            </a:r>
          </a:p>
        </p:txBody>
      </p:sp>
      <p:sp>
        <p:nvSpPr>
          <p:cNvPr id="238596" name="Rectangle 4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dirty="0"/>
              <a:t>数据加密标准 </a:t>
            </a:r>
            <a:r>
              <a:rPr lang="en-US" altLang="zh-CN" sz="2800" dirty="0"/>
              <a:t>DES </a:t>
            </a:r>
            <a:r>
              <a:rPr lang="zh-CN" altLang="en-US" sz="2800" dirty="0"/>
              <a:t>属于</a:t>
            </a:r>
            <a:r>
              <a:rPr lang="zh-CN" altLang="zh-CN" sz="2800" dirty="0">
                <a:solidFill>
                  <a:srgbClr val="FF0000"/>
                </a:solidFill>
              </a:rPr>
              <a:t>对称密钥密码体制</a:t>
            </a:r>
            <a:r>
              <a:rPr lang="zh-CN" altLang="en-US" sz="2800" dirty="0">
                <a:solidFill>
                  <a:srgbClr val="FF0000"/>
                </a:solidFill>
              </a:rPr>
              <a:t>，</a:t>
            </a:r>
            <a:r>
              <a:rPr lang="zh-CN" altLang="en-US" sz="2800" dirty="0"/>
              <a:t>是一种</a:t>
            </a:r>
            <a:r>
              <a:rPr lang="zh-CN" altLang="en-US" sz="2800" dirty="0">
                <a:solidFill>
                  <a:srgbClr val="FF0000"/>
                </a:solidFill>
              </a:rPr>
              <a:t>分组密码。</a:t>
            </a:r>
          </a:p>
          <a:p>
            <a:r>
              <a:rPr lang="zh-CN" altLang="en-US" sz="2800" dirty="0"/>
              <a:t>在加密前，先对整个明文进行分组。每一个组长为 </a:t>
            </a:r>
            <a:r>
              <a:rPr lang="en-US" altLang="zh-CN" sz="2800" dirty="0"/>
              <a:t>64 </a:t>
            </a:r>
            <a:r>
              <a:rPr lang="zh-CN" altLang="en-US" sz="2800" dirty="0"/>
              <a:t>位。</a:t>
            </a:r>
          </a:p>
          <a:p>
            <a:r>
              <a:rPr lang="zh-CN" altLang="en-US" sz="2800" dirty="0"/>
              <a:t>然后对每一个 </a:t>
            </a:r>
            <a:r>
              <a:rPr lang="en-US" altLang="zh-CN" sz="2800" dirty="0"/>
              <a:t>64 </a:t>
            </a:r>
            <a:r>
              <a:rPr lang="zh-CN" altLang="en-US" sz="2800" dirty="0"/>
              <a:t>位 二进制数据进行加密处理，产生一组 </a:t>
            </a:r>
            <a:r>
              <a:rPr lang="en-US" altLang="zh-CN" sz="2800" dirty="0"/>
              <a:t>64 </a:t>
            </a:r>
            <a:r>
              <a:rPr lang="zh-CN" altLang="en-US" sz="2800" dirty="0"/>
              <a:t>位密文数据。</a:t>
            </a:r>
          </a:p>
          <a:p>
            <a:r>
              <a:rPr lang="zh-CN" altLang="en-US" sz="2800" dirty="0"/>
              <a:t>最后将各组密文串接起来，即得出整个的密文。</a:t>
            </a:r>
          </a:p>
          <a:p>
            <a:r>
              <a:rPr lang="zh-CN" altLang="en-US" sz="2800" dirty="0"/>
              <a:t>使用的密钥为 </a:t>
            </a:r>
            <a:r>
              <a:rPr lang="en-US" altLang="zh-CN" sz="2800" dirty="0"/>
              <a:t>64 </a:t>
            </a:r>
            <a:r>
              <a:rPr lang="zh-CN" altLang="en-US" sz="2800" dirty="0"/>
              <a:t>位（</a:t>
            </a:r>
            <a:r>
              <a:rPr lang="zh-CN" altLang="en-US" sz="2800" dirty="0">
                <a:solidFill>
                  <a:srgbClr val="FF0000"/>
                </a:solidFill>
              </a:rPr>
              <a:t>实际密钥长度为 </a:t>
            </a:r>
            <a:r>
              <a:rPr lang="en-US" altLang="zh-CN" sz="2800" dirty="0">
                <a:solidFill>
                  <a:srgbClr val="FF0000"/>
                </a:solidFill>
              </a:rPr>
              <a:t>56 </a:t>
            </a:r>
            <a:r>
              <a:rPr lang="zh-CN" altLang="en-US" sz="2800" dirty="0">
                <a:solidFill>
                  <a:srgbClr val="FF0000"/>
                </a:solidFill>
              </a:rPr>
              <a:t>位，</a:t>
            </a:r>
            <a:r>
              <a:rPr lang="zh-CN" altLang="en-US" sz="2800" dirty="0"/>
              <a:t>有 </a:t>
            </a:r>
            <a:r>
              <a:rPr lang="en-US" altLang="zh-CN" sz="2800" dirty="0"/>
              <a:t>8 </a:t>
            </a:r>
            <a:r>
              <a:rPr lang="zh-CN" altLang="en-US" sz="2800" dirty="0"/>
              <a:t>位用于奇偶校验</a:t>
            </a:r>
            <a:r>
              <a:rPr lang="en-US" altLang="zh-CN" sz="2800" dirty="0"/>
              <a:t>)</a:t>
            </a:r>
            <a:r>
              <a:rPr lang="zh-CN" altLang="en-US" sz="2800" dirty="0"/>
              <a:t>。  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094271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数据加密标准 </a:t>
            </a:r>
            <a:r>
              <a:rPr lang="en-US" altLang="zh-CN" dirty="0"/>
              <a:t>DES</a:t>
            </a:r>
            <a:endParaRPr lang="zh-CN" altLang="en-US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648744" y="1196752"/>
            <a:ext cx="5401816" cy="5190232"/>
            <a:chOff x="1104" y="768"/>
            <a:chExt cx="3312" cy="3088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104" y="1456"/>
              <a:ext cx="2256" cy="139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248" y="1600"/>
              <a:ext cx="100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L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0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(32</a:t>
              </a: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位)</a:t>
              </a:r>
              <a:endParaRPr kumimoji="1" lang="en-US" altLang="zh-CN" sz="1800" b="1" i="0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256" y="1600"/>
              <a:ext cx="960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R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0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(32</a:t>
              </a: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位)</a:t>
              </a:r>
              <a:endParaRPr kumimoji="1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286" y="774"/>
              <a:ext cx="83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64 位明文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226" y="3184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2226" y="3568"/>
              <a:ext cx="0" cy="2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>
              <a:off x="1872" y="1136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flipV="1">
              <a:off x="2256" y="1184"/>
              <a:ext cx="0" cy="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80" y="1376"/>
              <a:ext cx="11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256" y="784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824" y="76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输入</a:t>
              </a: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1248" y="1024"/>
              <a:ext cx="1968" cy="208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初始置换 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IP</a:t>
              </a:r>
              <a:endParaRPr kumimoji="1" lang="en-US" altLang="zh-CN" sz="20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2256" y="3574"/>
              <a:ext cx="83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64 位密文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794" y="3568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输出</a:t>
              </a: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1248" y="2992"/>
              <a:ext cx="1968" cy="192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32 位变换</a:t>
              </a:r>
              <a:endParaRPr kumimoji="1" lang="en-US" altLang="zh-CN" sz="2000" b="1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1680" y="1376"/>
              <a:ext cx="0" cy="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832" y="1376"/>
              <a:ext cx="0" cy="22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1672" y="275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2824" y="275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248" y="3376"/>
              <a:ext cx="1968" cy="192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末置换 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IP</a:t>
              </a:r>
              <a:r>
                <a:rPr kumimoji="1" lang="en-US" altLang="zh-CN" sz="2000" b="1" i="0" u="none" strike="noStrike" kern="0" cap="none" spc="0" normalizeH="0" baseline="30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-1</a:t>
              </a: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248" y="1792"/>
              <a:ext cx="19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第1轮计算</a:t>
              </a:r>
              <a:endParaRPr kumimoji="1" lang="zh-CN" altLang="en-US" sz="18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1248" y="2368"/>
              <a:ext cx="100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L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15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(32</a:t>
              </a: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位)</a:t>
              </a:r>
              <a:endParaRPr kumimoji="1" lang="en-US" altLang="zh-CN" sz="1800" b="1" i="0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2256" y="2368"/>
              <a:ext cx="960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R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15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(32</a:t>
              </a:r>
              <a:r>
                <a: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位)</a:t>
              </a:r>
              <a:endParaRPr kumimoji="1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1248" y="2560"/>
              <a:ext cx="1968" cy="1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第 16 轮计算</a:t>
              </a:r>
              <a:endParaRPr kumimoji="1" lang="zh-CN" altLang="en-US" sz="1800" b="1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1526" y="1984"/>
              <a:ext cx="34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</a:rPr>
                <a:t>…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1632" y="2224"/>
              <a:ext cx="0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2688" y="1984"/>
              <a:ext cx="34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</a:rPr>
                <a:t>…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2794" y="2224"/>
              <a:ext cx="0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4176" y="1456"/>
              <a:ext cx="240" cy="1392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56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位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密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钥</a:t>
              </a:r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H="1">
              <a:off x="3216" y="1888"/>
              <a:ext cx="9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 flipH="1">
              <a:off x="3216" y="2656"/>
              <a:ext cx="96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3350" y="1652"/>
              <a:ext cx="8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K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1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(48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位)</a:t>
              </a: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3350" y="2406"/>
              <a:ext cx="87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K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16</a:t>
              </a: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(48</a:t>
              </a: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itchFamily="34" charset="0"/>
                </a:rPr>
                <a:t>位)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4834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800"/>
              <a:t>DES</a:t>
            </a:r>
            <a:r>
              <a:rPr lang="en-US" altLang="zh-CN" sz="4800" b="1"/>
              <a:t> </a:t>
            </a:r>
            <a:r>
              <a:rPr lang="zh-CN" altLang="en-US" sz="4800"/>
              <a:t>的保密性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DES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的保密性仅取决于对密钥的保密，</a:t>
            </a:r>
            <a:r>
              <a:rPr lang="zh-CN" altLang="en-US" dirty="0"/>
              <a:t>其算法是公开的。</a:t>
            </a:r>
            <a:endParaRPr lang="en-US" altLang="zh-CN" dirty="0"/>
          </a:p>
          <a:p>
            <a:r>
              <a:rPr lang="zh-CN" altLang="en-US" dirty="0"/>
              <a:t>目前较为严重的问题是 </a:t>
            </a:r>
            <a:r>
              <a:rPr lang="en-US" altLang="zh-CN" dirty="0"/>
              <a:t>DES </a:t>
            </a:r>
            <a:r>
              <a:rPr lang="zh-CN" altLang="en-US" dirty="0"/>
              <a:t>的密钥的长度。</a:t>
            </a:r>
            <a:endParaRPr lang="en-US" altLang="zh-CN" dirty="0"/>
          </a:p>
          <a:p>
            <a:r>
              <a:rPr lang="zh-CN" altLang="en-US" dirty="0"/>
              <a:t>现在已经设计出搜索 </a:t>
            </a:r>
            <a:r>
              <a:rPr lang="en-US" altLang="zh-CN" dirty="0"/>
              <a:t>DES </a:t>
            </a:r>
            <a:r>
              <a:rPr lang="zh-CN" altLang="en-US" dirty="0"/>
              <a:t>密钥的专用芯片。</a:t>
            </a:r>
            <a:r>
              <a:rPr lang="en-US" altLang="zh-CN" sz="3600" dirty="0"/>
              <a:t>56</a:t>
            </a:r>
            <a:r>
              <a:rPr lang="zh-CN" altLang="zh-CN" sz="3600" dirty="0"/>
              <a:t>位</a:t>
            </a:r>
            <a:r>
              <a:rPr lang="en-US" altLang="zh-CN" sz="3600" dirty="0"/>
              <a:t> DES </a:t>
            </a:r>
            <a:r>
              <a:rPr lang="zh-CN" altLang="zh-CN" sz="3600" dirty="0"/>
              <a:t>已不再认为是安全的了</a:t>
            </a:r>
            <a:r>
              <a:rPr lang="zh-CN" altLang="en-US" sz="3600" dirty="0"/>
              <a:t>。  </a:t>
            </a:r>
            <a:r>
              <a:rPr lang="zh-CN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5804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三重 </a:t>
            </a:r>
            <a:r>
              <a:rPr lang="en-US" altLang="zh-CN" dirty="0"/>
              <a:t>DES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两个 </a:t>
            </a:r>
            <a:r>
              <a:rPr lang="en-US" altLang="zh-CN" dirty="0"/>
              <a:t>56 </a:t>
            </a:r>
            <a:r>
              <a:rPr lang="zh-CN" altLang="en-US" dirty="0"/>
              <a:t>位的密钥。</a:t>
            </a:r>
            <a:endParaRPr lang="en-US" altLang="zh-CN" dirty="0"/>
          </a:p>
          <a:p>
            <a:r>
              <a:rPr lang="zh-CN" altLang="zh-CN" dirty="0"/>
              <a:t>把一个</a:t>
            </a:r>
            <a:r>
              <a:rPr lang="en-US" altLang="zh-CN" dirty="0"/>
              <a:t> 64 </a:t>
            </a:r>
            <a:r>
              <a:rPr lang="zh-CN" altLang="zh-CN" dirty="0"/>
              <a:t>位明文用一个密钥加密，再用另一个密钥解密，然后再使用第一个密钥加密，即</a:t>
            </a:r>
            <a:endParaRPr lang="zh-CN" altLang="en-US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789310" y="4005064"/>
            <a:ext cx="3803650" cy="1865311"/>
            <a:chOff x="1470" y="1026"/>
            <a:chExt cx="2396" cy="1175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860" y="1510"/>
              <a:ext cx="276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E</a:t>
              </a: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503" y="1510"/>
              <a:ext cx="275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D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145" y="1510"/>
              <a:ext cx="276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E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524" y="1642"/>
              <a:ext cx="33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136" y="1642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778" y="1642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421" y="1642"/>
              <a:ext cx="3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rot="5400000">
              <a:off x="1884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 rot="5400000">
              <a:off x="2526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rot="5400000">
              <a:off x="3168" y="1397"/>
              <a:ext cx="22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904" y="1026"/>
              <a:ext cx="2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0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1</a:t>
              </a:r>
              <a:endPara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2531" y="1026"/>
              <a:ext cx="2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0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2</a:t>
              </a:r>
              <a:endPara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3181" y="1026"/>
              <a:ext cx="2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0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1</a:t>
              </a:r>
              <a:endPara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470" y="1349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明文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428" y="135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密文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2342" y="1871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C00000"/>
                  </a:solidFill>
                  <a:latin typeface="+mn-lt"/>
                  <a:ea typeface="黑体" pitchFamily="2" charset="-122"/>
                </a:rPr>
                <a:t>加密</a:t>
              </a:r>
            </a:p>
          </p:txBody>
        </p:sp>
      </p:grp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5613846" y="4005066"/>
            <a:ext cx="3803650" cy="1865314"/>
            <a:chOff x="1432" y="2387"/>
            <a:chExt cx="2396" cy="1175"/>
          </a:xfrm>
        </p:grpSpPr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822" y="2871"/>
              <a:ext cx="276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D</a:t>
              </a: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465" y="2871"/>
              <a:ext cx="275" cy="263"/>
            </a:xfrm>
            <a:prstGeom prst="rect">
              <a:avLst/>
            </a:prstGeom>
            <a:solidFill>
              <a:srgbClr val="FFFF66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E</a:t>
              </a: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3107" y="2871"/>
              <a:ext cx="276" cy="263"/>
            </a:xfrm>
            <a:prstGeom prst="rect">
              <a:avLst/>
            </a:prstGeom>
            <a:solidFill>
              <a:srgbClr val="66FFFF"/>
            </a:solidFill>
            <a:ln w="2857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D</a:t>
              </a: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486" y="3003"/>
              <a:ext cx="33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2098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2740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3383" y="3003"/>
              <a:ext cx="36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1961" y="2644"/>
              <a:ext cx="2" cy="227"/>
            </a:xfrm>
            <a:custGeom>
              <a:avLst/>
              <a:gdLst>
                <a:gd name="T0" fmla="*/ 0 w 3"/>
                <a:gd name="T1" fmla="*/ 0 h 249"/>
                <a:gd name="T2" fmla="*/ 3 w 3"/>
                <a:gd name="T3" fmla="*/ 24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9">
                  <a:moveTo>
                    <a:pt x="0" y="0"/>
                  </a:moveTo>
                  <a:lnTo>
                    <a:pt x="3" y="249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2603" y="2644"/>
              <a:ext cx="3" cy="235"/>
            </a:xfrm>
            <a:custGeom>
              <a:avLst/>
              <a:gdLst>
                <a:gd name="T0" fmla="*/ 0 w 3"/>
                <a:gd name="T1" fmla="*/ 0 h 257"/>
                <a:gd name="T2" fmla="*/ 3 w 3"/>
                <a:gd name="T3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57">
                  <a:moveTo>
                    <a:pt x="0" y="0"/>
                  </a:moveTo>
                  <a:lnTo>
                    <a:pt x="3" y="257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1866" y="2387"/>
              <a:ext cx="2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0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1</a:t>
              </a:r>
              <a:endPara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2494" y="2387"/>
              <a:ext cx="2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0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2</a:t>
              </a:r>
              <a:endPara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3143" y="2387"/>
              <a:ext cx="2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0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1</a:t>
              </a:r>
              <a:endPara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1432" y="2710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密文</a:t>
              </a:r>
            </a:p>
          </p:txBody>
        </p:sp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3390" y="2717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明文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>
              <a:off x="2304" y="3232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C00000"/>
                  </a:solidFill>
                  <a:latin typeface="+mn-lt"/>
                  <a:ea typeface="黑体" pitchFamily="2" charset="-122"/>
                </a:rPr>
                <a:t>解密</a:t>
              </a:r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3245" y="2644"/>
              <a:ext cx="3" cy="221"/>
            </a:xfrm>
            <a:custGeom>
              <a:avLst/>
              <a:gdLst>
                <a:gd name="T0" fmla="*/ 0 w 3"/>
                <a:gd name="T1" fmla="*/ 0 h 241"/>
                <a:gd name="T2" fmla="*/ 3 w 3"/>
                <a:gd name="T3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241">
                  <a:moveTo>
                    <a:pt x="0" y="0"/>
                  </a:moveTo>
                  <a:lnTo>
                    <a:pt x="3" y="241"/>
                  </a:lnTo>
                </a:path>
              </a:pathLst>
            </a:custGeom>
            <a:noFill/>
            <a:ln w="28575" cmpd="sng">
              <a:solidFill>
                <a:srgbClr val="333399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  <p:sp>
        <p:nvSpPr>
          <p:cNvPr id="38" name="矩形 37"/>
          <p:cNvSpPr/>
          <p:nvPr/>
        </p:nvSpPr>
        <p:spPr bwMode="auto">
          <a:xfrm>
            <a:off x="1306365" y="3042297"/>
            <a:ext cx="7488832" cy="72008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zh-CN" sz="32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Y</a:t>
            </a:r>
            <a:r>
              <a: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= </a:t>
            </a:r>
            <a:r>
              <a:rPr lang="en-GB" altLang="zh-CN" sz="32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DES</a:t>
            </a:r>
            <a:r>
              <a:rPr lang="en-GB" altLang="zh-CN" sz="3200" b="1" i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K</a:t>
            </a:r>
            <a:r>
              <a:rPr lang="en-GB" altLang="zh-CN" sz="3200" b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1</a:t>
            </a:r>
            <a:r>
              <a: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</a:t>
            </a:r>
            <a:r>
              <a:rPr lang="en-GB" altLang="zh-CN" sz="32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DES</a:t>
            </a:r>
            <a:r>
              <a:rPr lang="en-GB" altLang="zh-CN" sz="3200" b="1" baseline="30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-1</a:t>
            </a:r>
            <a:r>
              <a:rPr lang="en-GB" altLang="zh-CN" sz="3200" b="1" i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K</a:t>
            </a:r>
            <a:r>
              <a:rPr lang="en-GB" altLang="zh-CN" sz="3200" b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2</a:t>
            </a:r>
            <a:r>
              <a: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</a:t>
            </a:r>
            <a:r>
              <a:rPr lang="en-GB" altLang="zh-CN" sz="32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DES</a:t>
            </a:r>
            <a:r>
              <a:rPr lang="en-GB" altLang="zh-CN" sz="3200" b="1" baseline="-25000" dirty="0">
                <a:solidFill>
                  <a:srgbClr val="000099"/>
                </a:solidFill>
                <a:latin typeface="+mn-lt"/>
                <a:ea typeface="黑体" pitchFamily="2" charset="-122"/>
              </a:rPr>
              <a:t>K1</a:t>
            </a:r>
            <a:r>
              <a: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</a:t>
            </a:r>
            <a:r>
              <a:rPr lang="en-GB" altLang="zh-CN" sz="32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X</a:t>
            </a:r>
            <a:r>
              <a: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)))</a:t>
            </a:r>
            <a:endParaRPr lang="zh-CN" altLang="en-US" sz="3200" b="1" dirty="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10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/>
              <a:t>公钥密码体制</a:t>
            </a:r>
            <a:endParaRPr lang="zh-CN" altLang="en-US" dirty="0"/>
          </a:p>
        </p:txBody>
      </p:sp>
      <p:sp>
        <p:nvSpPr>
          <p:cNvPr id="550915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公钥密码体制</a:t>
            </a:r>
            <a:r>
              <a:rPr lang="zh-CN" altLang="zh-CN" dirty="0"/>
              <a:t>（又称为公开密钥密码体制）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不同的加密密钥与解密密钥，</a:t>
            </a:r>
            <a:r>
              <a:rPr lang="zh-CN" altLang="en-US" dirty="0"/>
              <a:t>是一种“由已知加密密钥推导出解密密钥在计算上是不可行的”密码体制。 </a:t>
            </a:r>
          </a:p>
          <a:p>
            <a:r>
              <a:rPr lang="zh-CN" altLang="en-US" dirty="0"/>
              <a:t>公钥密码体制产生的主要</a:t>
            </a:r>
            <a:r>
              <a:rPr lang="zh-CN" altLang="en-US" dirty="0">
                <a:solidFill>
                  <a:srgbClr val="FF0000"/>
                </a:solidFill>
              </a:rPr>
              <a:t>原因：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常规密钥密码体制的</a:t>
            </a:r>
            <a:r>
              <a:rPr lang="zh-CN" altLang="en-US" dirty="0">
                <a:solidFill>
                  <a:srgbClr val="0000FF"/>
                </a:solidFill>
              </a:rPr>
              <a:t>密钥分配</a:t>
            </a:r>
            <a:r>
              <a:rPr lang="zh-CN" altLang="en-US" dirty="0"/>
              <a:t>问题。</a:t>
            </a:r>
            <a:endParaRPr lang="en-US" altLang="zh-CN" dirty="0"/>
          </a:p>
          <a:p>
            <a:pPr lvl="1"/>
            <a:r>
              <a:rPr lang="zh-CN" altLang="en-US" dirty="0"/>
              <a:t>对</a:t>
            </a:r>
            <a:r>
              <a:rPr lang="zh-CN" altLang="en-US" dirty="0">
                <a:solidFill>
                  <a:srgbClr val="0000FF"/>
                </a:solidFill>
              </a:rPr>
              <a:t>数字签名</a:t>
            </a:r>
            <a:r>
              <a:rPr lang="zh-CN" altLang="en-US" dirty="0"/>
              <a:t>的需求。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1980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80000"/>
              </a:lnSpc>
            </a:pPr>
            <a:r>
              <a:rPr lang="zh-CN" altLang="en-US"/>
              <a:t>加密密钥与解密密钥 </a:t>
            </a:r>
          </a:p>
        </p:txBody>
      </p:sp>
      <p:sp>
        <p:nvSpPr>
          <p:cNvPr id="552963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在公钥密码体制中，</a:t>
            </a:r>
            <a:r>
              <a:rPr lang="zh-CN" altLang="en-US" dirty="0">
                <a:solidFill>
                  <a:srgbClr val="FF0000"/>
                </a:solidFill>
              </a:rPr>
              <a:t>加密密钥</a:t>
            </a:r>
            <a:r>
              <a:rPr lang="en-US" altLang="zh-CN" dirty="0"/>
              <a:t>(</a:t>
            </a:r>
            <a:r>
              <a:rPr lang="zh-CN" altLang="en-US" dirty="0"/>
              <a:t>即公钥</a:t>
            </a:r>
            <a:r>
              <a:rPr lang="en-US" altLang="zh-CN" dirty="0"/>
              <a:t>) PK 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公开</a:t>
            </a:r>
            <a:r>
              <a:rPr lang="zh-CN" altLang="en-US" dirty="0"/>
              <a:t>信息，而</a:t>
            </a:r>
            <a:r>
              <a:rPr lang="zh-CN" altLang="en-US" dirty="0">
                <a:solidFill>
                  <a:srgbClr val="FF0000"/>
                </a:solidFill>
              </a:rPr>
              <a:t>解密密钥</a:t>
            </a:r>
            <a:r>
              <a:rPr lang="en-US" altLang="zh-CN" dirty="0"/>
              <a:t>(</a:t>
            </a:r>
            <a:r>
              <a:rPr lang="zh-CN" altLang="en-US" dirty="0"/>
              <a:t>即私钥或秘钥</a:t>
            </a:r>
            <a:r>
              <a:rPr lang="en-US" altLang="zh-CN" dirty="0"/>
              <a:t>) SK </a:t>
            </a:r>
            <a:r>
              <a:rPr lang="zh-CN" altLang="en-US" dirty="0"/>
              <a:t>是需要</a:t>
            </a:r>
            <a:r>
              <a:rPr lang="zh-CN" altLang="en-US" dirty="0">
                <a:solidFill>
                  <a:srgbClr val="FF0000"/>
                </a:solidFill>
              </a:rPr>
              <a:t>保密</a:t>
            </a:r>
            <a:r>
              <a:rPr lang="zh-CN" altLang="en-US" dirty="0"/>
              <a:t>的。</a:t>
            </a:r>
          </a:p>
          <a:p>
            <a:r>
              <a:rPr lang="zh-CN" altLang="en-US" dirty="0"/>
              <a:t>加密算法 </a:t>
            </a:r>
            <a:r>
              <a:rPr lang="en-US" altLang="zh-CN" dirty="0"/>
              <a:t>E </a:t>
            </a:r>
            <a:r>
              <a:rPr lang="zh-CN" altLang="en-US" dirty="0"/>
              <a:t>和解密算法 </a:t>
            </a:r>
            <a:r>
              <a:rPr lang="en-US" altLang="zh-CN" dirty="0"/>
              <a:t>D </a:t>
            </a:r>
            <a:r>
              <a:rPr lang="zh-CN" altLang="en-US" dirty="0"/>
              <a:t>也都是</a:t>
            </a:r>
            <a:r>
              <a:rPr lang="zh-CN" altLang="en-US" dirty="0">
                <a:solidFill>
                  <a:srgbClr val="FF0000"/>
                </a:solidFill>
              </a:rPr>
              <a:t>公开</a:t>
            </a:r>
            <a:r>
              <a:rPr lang="zh-CN" altLang="en-US" dirty="0"/>
              <a:t>的。</a:t>
            </a:r>
          </a:p>
          <a:p>
            <a:r>
              <a:rPr lang="zh-CN" altLang="en-US" dirty="0"/>
              <a:t>虽然秘钥 </a:t>
            </a:r>
            <a:r>
              <a:rPr lang="en-US" altLang="zh-CN" dirty="0"/>
              <a:t>SK </a:t>
            </a:r>
            <a:r>
              <a:rPr lang="zh-CN" altLang="en-US" dirty="0"/>
              <a:t>是由公钥 </a:t>
            </a:r>
            <a:r>
              <a:rPr lang="en-US" altLang="zh-CN" dirty="0"/>
              <a:t>PK </a:t>
            </a:r>
            <a:r>
              <a:rPr lang="zh-CN" altLang="en-US" dirty="0"/>
              <a:t>决定的，但却不能根据 </a:t>
            </a:r>
            <a:r>
              <a:rPr lang="en-US" altLang="zh-CN" dirty="0"/>
              <a:t>PK </a:t>
            </a:r>
            <a:r>
              <a:rPr lang="zh-CN" altLang="en-US" dirty="0"/>
              <a:t>计算出 </a:t>
            </a:r>
            <a:r>
              <a:rPr lang="en-US" altLang="zh-CN" dirty="0"/>
              <a:t>SK</a:t>
            </a:r>
            <a:r>
              <a:rPr lang="zh-CN" altLang="en-US" dirty="0"/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35313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应当注意 </a:t>
            </a:r>
          </a:p>
        </p:txBody>
      </p:sp>
      <p:sp>
        <p:nvSpPr>
          <p:cNvPr id="557059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任何加密方法的安全性取决于密钥的长度，以及攻破密文所需的计算量。</a:t>
            </a:r>
            <a:r>
              <a:rPr lang="zh-CN" altLang="en-US" dirty="0"/>
              <a:t>在这方面，公钥密码体制并不具有比传统加密体制更加优越之处。 </a:t>
            </a:r>
          </a:p>
          <a:p>
            <a:r>
              <a:rPr lang="zh-CN" altLang="en-US" dirty="0"/>
              <a:t>公钥还需要</a:t>
            </a:r>
            <a:r>
              <a:rPr lang="zh-CN" altLang="en-US" dirty="0">
                <a:solidFill>
                  <a:srgbClr val="FF0000"/>
                </a:solidFill>
              </a:rPr>
              <a:t>密钥分配协议，</a:t>
            </a:r>
            <a:r>
              <a:rPr lang="zh-CN" altLang="en-US" dirty="0"/>
              <a:t>具体的分配过程并不比采用传统加密方法时更简单。  </a:t>
            </a:r>
          </a:p>
        </p:txBody>
      </p:sp>
    </p:spTree>
    <p:extLst>
      <p:ext uri="{BB962C8B-B14F-4D97-AF65-F5344CB8AC3E}">
        <p14:creationId xmlns:p14="http://schemas.microsoft.com/office/powerpoint/2010/main" val="3703954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公钥算法的特点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密钥对产生器产生出接收者</a:t>
            </a:r>
            <a:r>
              <a:rPr lang="en-US" altLang="zh-CN" sz="2800" dirty="0"/>
              <a:t> B </a:t>
            </a:r>
            <a:r>
              <a:rPr lang="zh-CN" altLang="zh-CN" sz="2800" dirty="0"/>
              <a:t>的</a:t>
            </a:r>
            <a:r>
              <a:rPr lang="zh-CN" altLang="zh-CN" sz="2800" dirty="0">
                <a:solidFill>
                  <a:srgbClr val="FF0000"/>
                </a:solidFill>
              </a:rPr>
              <a:t>一对密钥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r>
              <a:rPr lang="zh-CN" altLang="zh-CN" sz="2800" dirty="0"/>
              <a:t>加密密钥</a:t>
            </a:r>
            <a:r>
              <a:rPr lang="en-US" altLang="zh-CN" sz="2800" dirty="0"/>
              <a:t> </a:t>
            </a:r>
            <a:r>
              <a:rPr lang="en-US" altLang="zh-CN" sz="2800" i="1" dirty="0"/>
              <a:t>PK</a:t>
            </a:r>
            <a:r>
              <a:rPr lang="en-US" altLang="zh-CN" sz="2800" i="1" baseline="-25000" dirty="0"/>
              <a:t>B </a:t>
            </a:r>
            <a:r>
              <a:rPr lang="zh-CN" altLang="zh-CN" sz="2800" dirty="0"/>
              <a:t>和解密密钥</a:t>
            </a:r>
            <a:r>
              <a:rPr lang="en-US" altLang="zh-CN" sz="2800" dirty="0"/>
              <a:t> </a:t>
            </a:r>
            <a:r>
              <a:rPr lang="en-US" altLang="zh-CN" sz="2800" i="1" dirty="0"/>
              <a:t>SK</a:t>
            </a:r>
            <a:r>
              <a:rPr lang="en-US" altLang="zh-CN" sz="2800" i="1" baseline="-25000" dirty="0"/>
              <a:t>B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 lvl="1"/>
            <a:r>
              <a:rPr lang="zh-CN" altLang="zh-CN" sz="2400" dirty="0">
                <a:solidFill>
                  <a:srgbClr val="FF0000"/>
                </a:solidFill>
              </a:rPr>
              <a:t>加密密钥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i="1" dirty="0"/>
              <a:t>PK</a:t>
            </a:r>
            <a:r>
              <a:rPr lang="en-US" altLang="zh-CN" sz="2400" i="1" baseline="-25000" dirty="0"/>
              <a:t>B</a:t>
            </a:r>
            <a:r>
              <a:rPr lang="en-US" altLang="zh-CN" sz="2400" i="1" dirty="0"/>
              <a:t> </a:t>
            </a:r>
            <a:r>
              <a:rPr lang="zh-CN" altLang="zh-CN" sz="2400" dirty="0"/>
              <a:t>就是接收者</a:t>
            </a:r>
            <a:r>
              <a:rPr lang="en-US" altLang="zh-CN" sz="2400" dirty="0"/>
              <a:t>B</a:t>
            </a:r>
            <a:r>
              <a:rPr lang="zh-CN" altLang="zh-CN" sz="2400" dirty="0"/>
              <a:t>的</a:t>
            </a:r>
            <a:r>
              <a:rPr lang="zh-CN" altLang="zh-CN" sz="2400" dirty="0">
                <a:solidFill>
                  <a:srgbClr val="FF0000"/>
                </a:solidFill>
              </a:rPr>
              <a:t>公钥，</a:t>
            </a:r>
            <a:r>
              <a:rPr lang="zh-CN" altLang="zh-CN" sz="2400" dirty="0"/>
              <a:t>它向公众公开。</a:t>
            </a:r>
            <a:endParaRPr lang="en-US" altLang="zh-CN" sz="2400" dirty="0"/>
          </a:p>
          <a:p>
            <a:pPr lvl="1"/>
            <a:r>
              <a:rPr lang="zh-CN" altLang="zh-CN" sz="2400" dirty="0">
                <a:solidFill>
                  <a:srgbClr val="FF0000"/>
                </a:solidFill>
              </a:rPr>
              <a:t>解密密钥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i="1" dirty="0"/>
              <a:t>SK</a:t>
            </a:r>
            <a:r>
              <a:rPr lang="en-US" altLang="zh-CN" sz="2400" i="1" baseline="-25000" dirty="0"/>
              <a:t>B</a:t>
            </a:r>
            <a:r>
              <a:rPr lang="en-US" altLang="zh-CN" sz="2400" i="1" dirty="0"/>
              <a:t> </a:t>
            </a:r>
            <a:r>
              <a:rPr lang="zh-CN" altLang="zh-CN" sz="2400" dirty="0"/>
              <a:t>就是接收者</a:t>
            </a:r>
            <a:r>
              <a:rPr lang="en-US" altLang="zh-CN" sz="2400" dirty="0"/>
              <a:t>B</a:t>
            </a:r>
            <a:r>
              <a:rPr lang="zh-CN" altLang="zh-CN" sz="2400" dirty="0"/>
              <a:t>的</a:t>
            </a:r>
            <a:r>
              <a:rPr lang="zh-CN" altLang="zh-CN" sz="2400" dirty="0">
                <a:solidFill>
                  <a:srgbClr val="FF0000"/>
                </a:solidFill>
              </a:rPr>
              <a:t>私钥，</a:t>
            </a:r>
            <a:r>
              <a:rPr lang="zh-CN" altLang="zh-CN" sz="2400" dirty="0"/>
              <a:t>对其他人都保密。</a:t>
            </a:r>
            <a:endParaRPr lang="en-US" altLang="zh-CN" sz="2400" dirty="0"/>
          </a:p>
          <a:p>
            <a:r>
              <a:rPr lang="zh-CN" altLang="en-US" sz="2800" dirty="0"/>
              <a:t>发送者 </a:t>
            </a:r>
            <a:r>
              <a:rPr lang="en-US" altLang="zh-CN" sz="2800" dirty="0"/>
              <a:t>A </a:t>
            </a:r>
            <a:r>
              <a:rPr lang="zh-CN" altLang="en-US" sz="2800" dirty="0"/>
              <a:t>用 </a:t>
            </a:r>
            <a:r>
              <a:rPr lang="en-US" altLang="zh-CN" sz="2800" dirty="0"/>
              <a:t>B 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FF0000"/>
                </a:solidFill>
              </a:rPr>
              <a:t>公钥</a:t>
            </a:r>
            <a:r>
              <a:rPr lang="zh-CN" altLang="en-US" sz="2800" dirty="0"/>
              <a:t> </a:t>
            </a:r>
            <a:r>
              <a:rPr lang="en-US" altLang="zh-CN" sz="2800" i="1" dirty="0"/>
              <a:t>PK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en-US" sz="2800" dirty="0"/>
              <a:t>对明文 </a:t>
            </a:r>
            <a:r>
              <a:rPr lang="en-US" altLang="zh-CN" sz="2800" i="1" dirty="0"/>
              <a:t>X</a:t>
            </a:r>
            <a:r>
              <a:rPr lang="en-US" altLang="zh-CN" sz="2800" dirty="0"/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加密</a:t>
            </a:r>
            <a:r>
              <a:rPr lang="zh-CN" altLang="en-US" sz="2800" dirty="0"/>
              <a:t>（</a:t>
            </a:r>
            <a:r>
              <a:rPr lang="en-US" altLang="zh-CN" sz="2800" i="1" dirty="0"/>
              <a:t>E</a:t>
            </a:r>
            <a:r>
              <a:rPr lang="en-US" altLang="zh-CN" sz="2800" dirty="0"/>
              <a:t> </a:t>
            </a:r>
            <a:r>
              <a:rPr lang="zh-CN" altLang="en-US" sz="2800" dirty="0"/>
              <a:t>运算）后，在接收者 </a:t>
            </a:r>
            <a:r>
              <a:rPr lang="en-US" altLang="zh-CN" sz="2800" dirty="0"/>
              <a:t>B </a:t>
            </a:r>
            <a:r>
              <a:rPr lang="zh-CN" altLang="en-US" sz="2800" dirty="0"/>
              <a:t>用自己的</a:t>
            </a:r>
            <a:r>
              <a:rPr lang="zh-CN" altLang="en-US" sz="2800" dirty="0">
                <a:solidFill>
                  <a:srgbClr val="FF0000"/>
                </a:solidFill>
              </a:rPr>
              <a:t>私钥</a:t>
            </a:r>
            <a:r>
              <a:rPr lang="zh-CN" altLang="en-US" sz="2800" dirty="0"/>
              <a:t> </a:t>
            </a:r>
            <a:r>
              <a:rPr lang="en-US" altLang="zh-CN" sz="2800" i="1" dirty="0"/>
              <a:t>SK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解密</a:t>
            </a:r>
            <a:r>
              <a:rPr lang="zh-CN" altLang="en-US" sz="2800" dirty="0"/>
              <a:t>（</a:t>
            </a:r>
            <a:r>
              <a:rPr lang="en-US" altLang="zh-CN" sz="2800" i="1" dirty="0"/>
              <a:t>D</a:t>
            </a:r>
            <a:r>
              <a:rPr lang="en-US" altLang="zh-CN" sz="2800" dirty="0"/>
              <a:t> </a:t>
            </a:r>
            <a:r>
              <a:rPr lang="zh-CN" altLang="en-US" sz="2800" dirty="0"/>
              <a:t>运算），即可恢复出明文：</a:t>
            </a:r>
            <a:endParaRPr lang="en-US" altLang="zh-CN" sz="2800" dirty="0"/>
          </a:p>
          <a:p>
            <a:endParaRPr lang="en-US" altLang="zh-CN" sz="2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848545" y="4797152"/>
            <a:ext cx="8712967" cy="936104"/>
            <a:chOff x="848544" y="2924945"/>
            <a:chExt cx="8712967" cy="741103"/>
          </a:xfrm>
        </p:grpSpPr>
        <p:grpSp>
          <p:nvGrpSpPr>
            <p:cNvPr id="5" name="组合 4"/>
            <p:cNvGrpSpPr/>
            <p:nvPr/>
          </p:nvGrpSpPr>
          <p:grpSpPr>
            <a:xfrm>
              <a:off x="848544" y="2924945"/>
              <a:ext cx="8712967" cy="741103"/>
              <a:chOff x="848544" y="3042297"/>
              <a:chExt cx="8712967" cy="860537"/>
            </a:xfrm>
          </p:grpSpPr>
          <p:sp>
            <p:nvSpPr>
              <p:cNvPr id="7" name="矩形 6"/>
              <p:cNvSpPr/>
              <p:nvPr/>
            </p:nvSpPr>
            <p:spPr bwMode="auto">
              <a:xfrm>
                <a:off x="848544" y="3042297"/>
                <a:ext cx="8712967" cy="827348"/>
              </a:xfrm>
              <a:prstGeom prst="rect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zh-CN" altLang="zh-CN" sz="3200" dirty="0"/>
                  <a:t> </a:t>
                </a:r>
                <a:endParaRPr lang="en-GB" altLang="zh-CN" sz="3200" b="1" dirty="0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aphicFrame>
            <p:nvGraphicFramePr>
              <p:cNvPr id="8" name="对象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8780143"/>
                  </p:ext>
                </p:extLst>
              </p:nvPr>
            </p:nvGraphicFramePr>
            <p:xfrm>
              <a:off x="1136576" y="3182754"/>
              <a:ext cx="5328592" cy="7200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370" name="公式" r:id="rId4" imgW="1904760" imgH="241200" progId="Equation.3">
                      <p:embed/>
                    </p:oleObj>
                  </mc:Choice>
                  <mc:Fallback>
                    <p:oleObj name="公式" r:id="rId4" imgW="1904760" imgH="241200" progId="Equation.3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136576" y="3182754"/>
                            <a:ext cx="5328592" cy="72008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矩形 5"/>
            <p:cNvSpPr/>
            <p:nvPr/>
          </p:nvSpPr>
          <p:spPr>
            <a:xfrm>
              <a:off x="8296803" y="3060115"/>
              <a:ext cx="1048685" cy="4629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3200" b="1" dirty="0">
                  <a:latin typeface="+mn-lt"/>
                  <a:ea typeface="黑体" pitchFamily="2" charset="-122"/>
                </a:rPr>
                <a:t>(7-</a:t>
              </a:r>
              <a:r>
                <a:rPr lang="en-US" altLang="zh-CN" sz="3200" b="1" dirty="0">
                  <a:latin typeface="+mn-lt"/>
                  <a:ea typeface="黑体" pitchFamily="2" charset="-122"/>
                </a:rPr>
                <a:t>4</a:t>
              </a:r>
              <a:r>
                <a:rPr lang="zh-CN" altLang="zh-CN" sz="3200" b="1" dirty="0">
                  <a:latin typeface="+mn-lt"/>
                  <a:ea typeface="黑体" pitchFamily="2" charset="-122"/>
                </a:rPr>
                <a:t>)</a:t>
              </a:r>
              <a:endPara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3490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公钥算法的特点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CN" altLang="en-US" dirty="0"/>
              <a:t>加密密钥是</a:t>
            </a:r>
            <a:r>
              <a:rPr lang="zh-CN" altLang="en-US" dirty="0">
                <a:solidFill>
                  <a:srgbClr val="FF0000"/>
                </a:solidFill>
              </a:rPr>
              <a:t>公开</a:t>
            </a:r>
            <a:r>
              <a:rPr lang="zh-CN" altLang="en-US" dirty="0"/>
              <a:t>的，但</a:t>
            </a:r>
            <a:r>
              <a:rPr lang="zh-CN" altLang="en-US" dirty="0">
                <a:solidFill>
                  <a:srgbClr val="FF0000"/>
                </a:solidFill>
              </a:rPr>
              <a:t>不能</a:t>
            </a:r>
            <a:r>
              <a:rPr lang="zh-CN" altLang="en-US" dirty="0"/>
              <a:t>用它来解密，即：</a:t>
            </a:r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endParaRPr lang="en-US" altLang="zh-CN" dirty="0"/>
          </a:p>
          <a:p>
            <a:pPr algn="just"/>
            <a:r>
              <a:rPr lang="zh-CN" altLang="en-US" dirty="0"/>
              <a:t>加密和解密运算可以</a:t>
            </a:r>
            <a:r>
              <a:rPr lang="zh-CN" altLang="en-US" dirty="0">
                <a:solidFill>
                  <a:srgbClr val="FF0000"/>
                </a:solidFill>
              </a:rPr>
              <a:t>对调，</a:t>
            </a:r>
            <a:r>
              <a:rPr lang="zh-CN" altLang="en-US" dirty="0"/>
              <a:t>即加密和解密是</a:t>
            </a:r>
            <a:r>
              <a:rPr lang="zh-CN" altLang="en-US" dirty="0">
                <a:solidFill>
                  <a:srgbClr val="FF0000"/>
                </a:solidFill>
              </a:rPr>
              <a:t>互逆的：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20552" y="1916832"/>
            <a:ext cx="8712967" cy="900000"/>
            <a:chOff x="704528" y="1844823"/>
            <a:chExt cx="8712967" cy="900000"/>
          </a:xfrm>
        </p:grpSpPr>
        <p:sp>
          <p:nvSpPr>
            <p:cNvPr id="13" name="矩形 12"/>
            <p:cNvSpPr/>
            <p:nvPr/>
          </p:nvSpPr>
          <p:spPr bwMode="auto">
            <a:xfrm>
              <a:off x="704528" y="1844823"/>
              <a:ext cx="8712967" cy="9000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zh-CN" altLang="zh-CN" sz="3200" dirty="0"/>
                <a:t> </a:t>
              </a:r>
              <a:endPara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5593376"/>
                </p:ext>
              </p:extLst>
            </p:nvPr>
          </p:nvGraphicFramePr>
          <p:xfrm>
            <a:off x="955736" y="1972511"/>
            <a:ext cx="4105275" cy="720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2" name="公式" r:id="rId4" imgW="1269449" imgH="241195" progId="Equation.3">
                    <p:embed/>
                  </p:oleObj>
                </mc:Choice>
                <mc:Fallback>
                  <p:oleObj name="公式" r:id="rId4" imgW="1269449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5736" y="1972511"/>
                          <a:ext cx="4105275" cy="720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/>
            <p:cNvSpPr/>
            <p:nvPr/>
          </p:nvSpPr>
          <p:spPr>
            <a:xfrm>
              <a:off x="8049343" y="1997815"/>
              <a:ext cx="104868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3200" b="1" dirty="0">
                  <a:latin typeface="+mn-lt"/>
                  <a:ea typeface="黑体" pitchFamily="2" charset="-122"/>
                </a:rPr>
                <a:t>(7-</a:t>
              </a:r>
              <a:r>
                <a:rPr lang="en-US" altLang="zh-CN" sz="3200" b="1" dirty="0">
                  <a:latin typeface="+mn-lt"/>
                  <a:ea typeface="黑体" pitchFamily="2" charset="-122"/>
                </a:rPr>
                <a:t>5</a:t>
              </a:r>
              <a:r>
                <a:rPr lang="zh-CN" altLang="zh-CN" sz="3200" b="1" dirty="0">
                  <a:latin typeface="+mn-lt"/>
                  <a:ea typeface="黑体" pitchFamily="2" charset="-122"/>
                </a:rPr>
                <a:t>)</a:t>
              </a:r>
              <a:endPara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20552" y="4293096"/>
            <a:ext cx="8712967" cy="900000"/>
            <a:chOff x="920552" y="2420887"/>
            <a:chExt cx="8712967" cy="900000"/>
          </a:xfrm>
        </p:grpSpPr>
        <p:sp>
          <p:nvSpPr>
            <p:cNvPr id="17" name="矩形 16"/>
            <p:cNvSpPr/>
            <p:nvPr/>
          </p:nvSpPr>
          <p:spPr bwMode="auto">
            <a:xfrm>
              <a:off x="920552" y="2420887"/>
              <a:ext cx="8712967" cy="900000"/>
            </a:xfrm>
            <a:prstGeom prst="rect">
              <a:avLst/>
            </a:prstGeom>
            <a:solidFill>
              <a:srgbClr val="FF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zh-CN" altLang="zh-CN" sz="3200" dirty="0"/>
                <a:t> </a:t>
              </a:r>
              <a:endPara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8265368" y="2573879"/>
              <a:ext cx="1048685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3200" b="1" dirty="0">
                  <a:latin typeface="+mn-lt"/>
                  <a:ea typeface="黑体" pitchFamily="2" charset="-122"/>
                </a:rPr>
                <a:t>(7-</a:t>
              </a:r>
              <a:r>
                <a:rPr lang="en-US" altLang="zh-CN" sz="3200" b="1" dirty="0">
                  <a:latin typeface="+mn-lt"/>
                  <a:ea typeface="黑体" pitchFamily="2" charset="-122"/>
                </a:rPr>
                <a:t>6</a:t>
              </a:r>
              <a:r>
                <a:rPr lang="zh-CN" altLang="zh-CN" sz="3200" b="1" dirty="0">
                  <a:latin typeface="+mn-lt"/>
                  <a:ea typeface="黑体" pitchFamily="2" charset="-122"/>
                </a:rPr>
                <a:t>)</a:t>
              </a:r>
              <a:endParaRPr lang="en-GB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75043"/>
                </p:ext>
              </p:extLst>
            </p:nvPr>
          </p:nvGraphicFramePr>
          <p:xfrm>
            <a:off x="1106081" y="2586683"/>
            <a:ext cx="6799247" cy="698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3" name="公式" r:id="rId6" imgW="2349360" imgH="241200" progId="Equation.3">
                    <p:embed/>
                  </p:oleObj>
                </mc:Choice>
                <mc:Fallback>
                  <p:oleObj name="公式" r:id="rId6" imgW="2349360" imgH="241200" progId="Equation.3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106081" y="2586683"/>
                          <a:ext cx="6799247" cy="6983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7804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公钥密码体制</a:t>
            </a:r>
            <a:endParaRPr lang="zh-CN" altLang="en-US" dirty="0"/>
          </a:p>
        </p:txBody>
      </p:sp>
      <p:pic>
        <p:nvPicPr>
          <p:cNvPr id="93" name="Picture 13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218057" y="3098566"/>
            <a:ext cx="741708" cy="388716"/>
          </a:xfrm>
          <a:prstGeom prst="rect">
            <a:avLst/>
          </a:prstGeom>
          <a:noFill/>
          <a:ln>
            <a:noFill/>
          </a:ln>
          <a:effectLst/>
          <a:extLst/>
        </p:spPr>
      </p:pic>
      <p:grpSp>
        <p:nvGrpSpPr>
          <p:cNvPr id="94" name="组合 93"/>
          <p:cNvGrpSpPr/>
          <p:nvPr/>
        </p:nvGrpSpPr>
        <p:grpSpPr>
          <a:xfrm>
            <a:off x="2674219" y="2048228"/>
            <a:ext cx="4727052" cy="584775"/>
            <a:chOff x="2674219" y="3348281"/>
            <a:chExt cx="4727052" cy="584775"/>
          </a:xfrm>
        </p:grpSpPr>
        <p:sp>
          <p:nvSpPr>
            <p:cNvPr id="95" name="TextBox 94"/>
            <p:cNvSpPr txBox="1"/>
            <p:nvPr/>
          </p:nvSpPr>
          <p:spPr>
            <a:xfrm>
              <a:off x="4128559" y="3348281"/>
              <a:ext cx="18325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C00000"/>
                  </a:solidFill>
                  <a:latin typeface="+mn-lt"/>
                  <a:ea typeface="黑体" pitchFamily="2" charset="-122"/>
                </a:rPr>
                <a:t>不同密钥</a:t>
              </a:r>
            </a:p>
          </p:txBody>
        </p:sp>
        <p:sp>
          <p:nvSpPr>
            <p:cNvPr id="96" name="左箭头 95"/>
            <p:cNvSpPr/>
            <p:nvPr/>
          </p:nvSpPr>
          <p:spPr bwMode="auto">
            <a:xfrm>
              <a:off x="2674219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7" name="左箭头 96"/>
            <p:cNvSpPr/>
            <p:nvPr/>
          </p:nvSpPr>
          <p:spPr bwMode="auto">
            <a:xfrm flipH="1">
              <a:off x="6058594" y="3443808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4488" y="1402122"/>
            <a:ext cx="9275882" cy="3323022"/>
            <a:chOff x="344488" y="1402122"/>
            <a:chExt cx="9275882" cy="3323022"/>
          </a:xfrm>
        </p:grpSpPr>
        <p:sp>
          <p:nvSpPr>
            <p:cNvPr id="20" name="Line 52"/>
            <p:cNvSpPr>
              <a:spLocks noChangeShapeType="1"/>
            </p:cNvSpPr>
            <p:nvPr/>
          </p:nvSpPr>
          <p:spPr bwMode="auto">
            <a:xfrm>
              <a:off x="2547045" y="3891707"/>
              <a:ext cx="139223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1" name="Line 53"/>
            <p:cNvSpPr>
              <a:spLocks noChangeShapeType="1"/>
            </p:cNvSpPr>
            <p:nvPr/>
          </p:nvSpPr>
          <p:spPr bwMode="auto">
            <a:xfrm>
              <a:off x="4958458" y="3902819"/>
              <a:ext cx="220027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2" name="Text Box 56"/>
            <p:cNvSpPr txBox="1">
              <a:spLocks noChangeArrowheads="1"/>
            </p:cNvSpPr>
            <p:nvPr/>
          </p:nvSpPr>
          <p:spPr bwMode="auto">
            <a:xfrm>
              <a:off x="8563670" y="3712319"/>
              <a:ext cx="105670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明文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X</a:t>
              </a: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 </a:t>
              </a:r>
            </a:p>
          </p:txBody>
        </p:sp>
        <p:sp>
          <p:nvSpPr>
            <p:cNvPr id="23" name="Freeform 51"/>
            <p:cNvSpPr>
              <a:spLocks/>
            </p:cNvSpPr>
            <p:nvPr/>
          </p:nvSpPr>
          <p:spPr bwMode="auto">
            <a:xfrm>
              <a:off x="1140967" y="3451969"/>
              <a:ext cx="493266" cy="45402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4" name="Freeform 72"/>
            <p:cNvSpPr>
              <a:spLocks/>
            </p:cNvSpPr>
            <p:nvPr/>
          </p:nvSpPr>
          <p:spPr bwMode="auto">
            <a:xfrm flipH="1" flipV="1">
              <a:off x="2189856" y="2687289"/>
              <a:ext cx="79375" cy="84881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5" name="Freeform 134"/>
            <p:cNvSpPr>
              <a:spLocks/>
            </p:cNvSpPr>
            <p:nvPr/>
          </p:nvSpPr>
          <p:spPr bwMode="auto">
            <a:xfrm flipV="1">
              <a:off x="7781032" y="2687289"/>
              <a:ext cx="45719" cy="84881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6" name="Freeform 50"/>
            <p:cNvSpPr>
              <a:spLocks/>
            </p:cNvSpPr>
            <p:nvPr/>
          </p:nvSpPr>
          <p:spPr bwMode="auto">
            <a:xfrm rot="16200000">
              <a:off x="8530333" y="3505944"/>
              <a:ext cx="219075" cy="57467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27" name="Text Box 68"/>
            <p:cNvSpPr txBox="1">
              <a:spLocks noChangeArrowheads="1"/>
            </p:cNvSpPr>
            <p:nvPr/>
          </p:nvSpPr>
          <p:spPr bwMode="auto">
            <a:xfrm>
              <a:off x="6079233" y="3501182"/>
              <a:ext cx="96051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密文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Y</a:t>
              </a:r>
            </a:p>
          </p:txBody>
        </p:sp>
        <p:sp>
          <p:nvSpPr>
            <p:cNvPr id="28" name="Text Box 54"/>
            <p:cNvSpPr txBox="1">
              <a:spLocks noChangeArrowheads="1"/>
            </p:cNvSpPr>
            <p:nvPr/>
          </p:nvSpPr>
          <p:spPr bwMode="auto">
            <a:xfrm>
              <a:off x="1404251" y="1402122"/>
              <a:ext cx="20810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B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的公钥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PK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B</a:t>
              </a:r>
            </a:p>
          </p:txBody>
        </p:sp>
        <p:sp>
          <p:nvSpPr>
            <p:cNvPr id="29" name="Text Box 55"/>
            <p:cNvSpPr txBox="1">
              <a:spLocks noChangeArrowheads="1"/>
            </p:cNvSpPr>
            <p:nvPr/>
          </p:nvSpPr>
          <p:spPr bwMode="auto">
            <a:xfrm>
              <a:off x="344488" y="3891707"/>
              <a:ext cx="10393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明文 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X</a:t>
              </a:r>
            </a:p>
          </p:txBody>
        </p:sp>
        <p:sp>
          <p:nvSpPr>
            <p:cNvPr id="30" name="Text Box 57"/>
            <p:cNvSpPr txBox="1">
              <a:spLocks noChangeArrowheads="1"/>
            </p:cNvSpPr>
            <p:nvPr/>
          </p:nvSpPr>
          <p:spPr bwMode="auto">
            <a:xfrm>
              <a:off x="2915345" y="3501182"/>
              <a:ext cx="96051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密文 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Y</a:t>
              </a:r>
            </a:p>
          </p:txBody>
        </p:sp>
        <p:pic>
          <p:nvPicPr>
            <p:cNvPr id="31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1938147" y="2088053"/>
              <a:ext cx="741707" cy="39145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</p:pic>
        <p:sp>
          <p:nvSpPr>
            <p:cNvPr id="32" name="Text Box 70"/>
            <p:cNvSpPr txBox="1">
              <a:spLocks noChangeArrowheads="1"/>
            </p:cNvSpPr>
            <p:nvPr/>
          </p:nvSpPr>
          <p:spPr bwMode="auto">
            <a:xfrm>
              <a:off x="523429" y="2953494"/>
              <a:ext cx="3706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A</a:t>
              </a:r>
            </a:p>
          </p:txBody>
        </p:sp>
        <p:sp>
          <p:nvSpPr>
            <p:cNvPr id="33" name="Text Box 71"/>
            <p:cNvSpPr txBox="1">
              <a:spLocks noChangeArrowheads="1"/>
            </p:cNvSpPr>
            <p:nvPr/>
          </p:nvSpPr>
          <p:spPr bwMode="auto">
            <a:xfrm>
              <a:off x="9139933" y="2953494"/>
              <a:ext cx="3706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B</a:t>
              </a:r>
            </a:p>
          </p:txBody>
        </p:sp>
        <p:graphicFrame>
          <p:nvGraphicFramePr>
            <p:cNvPr id="34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1371953"/>
                </p:ext>
              </p:extLst>
            </p:nvPr>
          </p:nvGraphicFramePr>
          <p:xfrm>
            <a:off x="3858320" y="3226544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8" name="VISIO" r:id="rId5" imgW="1689840" imgH="964440" progId="Visio.Drawing.6">
                    <p:embed/>
                  </p:oleObj>
                </mc:Choice>
                <mc:Fallback>
                  <p:oleObj name="VISIO" r:id="rId5" imgW="1689840" imgH="96444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8320" y="3226544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rgbClr val="1C1C1C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" name="Group 74"/>
            <p:cNvGrpSpPr>
              <a:grpSpLocks/>
            </p:cNvGrpSpPr>
            <p:nvPr/>
          </p:nvGrpSpPr>
          <p:grpSpPr bwMode="auto">
            <a:xfrm>
              <a:off x="817117" y="3093194"/>
              <a:ext cx="574675" cy="620713"/>
              <a:chOff x="921" y="2412"/>
              <a:chExt cx="284" cy="265"/>
            </a:xfrm>
          </p:grpSpPr>
          <p:grpSp>
            <p:nvGrpSpPr>
              <p:cNvPr id="36" name="Group 7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50" name="Freeform 7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1" name="Freeform 77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2" name="Freeform 7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3" name="Freeform 79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4" name="Rectangle 8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5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6" name="Rectangle 8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57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58" name="Group 8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59" name="Freeform 8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0" name="Freeform 86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1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37" name="Group 8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38" name="Freeform 8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39" name="Freeform 90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0" name="Freeform 9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1" name="Freeform 92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2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3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4" name="Rectangle 9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45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46" name="Group 9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47" name="Freeform 9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48" name="Freeform 99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49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62" name="Rectangle 102"/>
            <p:cNvSpPr>
              <a:spLocks noChangeArrowheads="1"/>
            </p:cNvSpPr>
            <p:nvPr/>
          </p:nvSpPr>
          <p:spPr bwMode="auto">
            <a:xfrm>
              <a:off x="1634233" y="3545632"/>
              <a:ext cx="1276350" cy="715962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E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运算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加密算法</a:t>
              </a:r>
            </a:p>
          </p:txBody>
        </p:sp>
        <p:sp>
          <p:nvSpPr>
            <p:cNvPr id="63" name="Rectangle 103"/>
            <p:cNvSpPr>
              <a:spLocks noChangeArrowheads="1"/>
            </p:cNvSpPr>
            <p:nvPr/>
          </p:nvSpPr>
          <p:spPr bwMode="auto">
            <a:xfrm>
              <a:off x="7158733" y="3545632"/>
              <a:ext cx="1277937" cy="715962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D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运算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解密算法</a:t>
              </a:r>
            </a:p>
          </p:txBody>
        </p:sp>
        <p:grpSp>
          <p:nvGrpSpPr>
            <p:cNvPr id="64" name="Group 104"/>
            <p:cNvGrpSpPr>
              <a:grpSpLocks/>
            </p:cNvGrpSpPr>
            <p:nvPr/>
          </p:nvGrpSpPr>
          <p:grpSpPr bwMode="auto">
            <a:xfrm>
              <a:off x="8655745" y="3067794"/>
              <a:ext cx="574675" cy="620713"/>
              <a:chOff x="921" y="2412"/>
              <a:chExt cx="284" cy="265"/>
            </a:xfrm>
          </p:grpSpPr>
          <p:grpSp>
            <p:nvGrpSpPr>
              <p:cNvPr id="65" name="Group 10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79" name="Freeform 10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0" name="Freeform 107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1" name="Freeform 10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2" name="Freeform 109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3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4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5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86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87" name="Group 11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88" name="Freeform 11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89" name="Freeform 116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9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6" name="Group 11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7" name="Freeform 11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8" name="Freeform 120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" name="Freeform 12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0" name="Freeform 122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2" name="Rectangle 12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3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74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75" name="Group 12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76" name="Freeform 12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77" name="Freeform 129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78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91" name="Text Box 131"/>
            <p:cNvSpPr txBox="1">
              <a:spLocks noChangeArrowheads="1"/>
            </p:cNvSpPr>
            <p:nvPr/>
          </p:nvSpPr>
          <p:spPr bwMode="auto">
            <a:xfrm>
              <a:off x="4416259" y="3723258"/>
              <a:ext cx="11128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互联网</a:t>
              </a:r>
            </a:p>
          </p:txBody>
        </p:sp>
        <p:pic>
          <p:nvPicPr>
            <p:cNvPr id="6151" name="Picture 7" descr="key 的图像结果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391525" y="1887224"/>
              <a:ext cx="809809" cy="790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2" name="Text Box 132"/>
            <p:cNvSpPr txBox="1">
              <a:spLocks noChangeArrowheads="1"/>
            </p:cNvSpPr>
            <p:nvPr/>
          </p:nvSpPr>
          <p:spPr bwMode="auto">
            <a:xfrm>
              <a:off x="7749975" y="2828283"/>
              <a:ext cx="8034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解密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106" name="Text Box 54"/>
            <p:cNvSpPr txBox="1">
              <a:spLocks noChangeArrowheads="1"/>
            </p:cNvSpPr>
            <p:nvPr/>
          </p:nvSpPr>
          <p:spPr bwMode="auto">
            <a:xfrm>
              <a:off x="6833530" y="1402122"/>
              <a:ext cx="20810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B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的私钥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S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B</a:t>
              </a:r>
            </a:p>
          </p:txBody>
        </p:sp>
        <p:sp>
          <p:nvSpPr>
            <p:cNvPr id="107" name="Text Box 132"/>
            <p:cNvSpPr txBox="1">
              <a:spLocks noChangeArrowheads="1"/>
            </p:cNvSpPr>
            <p:nvPr/>
          </p:nvSpPr>
          <p:spPr bwMode="auto">
            <a:xfrm>
              <a:off x="1415410" y="2848673"/>
              <a:ext cx="8034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加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密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481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公开密钥与对称密钥</a:t>
            </a:r>
            <a:r>
              <a:rPr lang="zh-CN" altLang="en-US" dirty="0"/>
              <a:t>的区别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在使用对称密钥时，由于双方使用同样的密钥，因此在通信信道上可以进行</a:t>
            </a:r>
            <a:r>
              <a:rPr lang="zh-CN" altLang="zh-CN" dirty="0">
                <a:solidFill>
                  <a:srgbClr val="FF0000"/>
                </a:solidFill>
              </a:rPr>
              <a:t>一对一的双向保密通信，</a:t>
            </a:r>
            <a:r>
              <a:rPr lang="zh-CN" altLang="zh-CN" dirty="0"/>
              <a:t>每一方既可用此密钥加密明文，并发送给对方，也可接收密文，用同一密钥对密文解密。这种保密通信仅限于持有此密钥的双方（如再有第三方就不保密了）。</a:t>
            </a:r>
            <a:endParaRPr lang="en-US" altLang="zh-CN" dirty="0"/>
          </a:p>
          <a:p>
            <a:r>
              <a:rPr lang="zh-CN" altLang="zh-CN" dirty="0"/>
              <a:t>在使用公开密钥时，在通信信道上可以是</a:t>
            </a:r>
            <a:r>
              <a:rPr lang="zh-CN" altLang="zh-CN" dirty="0">
                <a:solidFill>
                  <a:srgbClr val="FF0000"/>
                </a:solidFill>
              </a:rPr>
              <a:t>多对一的单向保密通信。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020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公钥密码体制</a:t>
            </a:r>
            <a:endParaRPr lang="zh-CN" altLang="en-US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如果某一信息用</a:t>
            </a:r>
            <a:r>
              <a:rPr lang="zh-CN" altLang="en-US" dirty="0">
                <a:solidFill>
                  <a:srgbClr val="FF0000"/>
                </a:solidFill>
              </a:rPr>
              <a:t>公开密钥加密，</a:t>
            </a:r>
            <a:r>
              <a:rPr lang="zh-CN" altLang="en-US" dirty="0"/>
              <a:t>则必须用</a:t>
            </a:r>
            <a:r>
              <a:rPr lang="zh-CN" altLang="en-US" dirty="0">
                <a:solidFill>
                  <a:srgbClr val="FF0000"/>
                </a:solidFill>
              </a:rPr>
              <a:t>私有密钥解密，</a:t>
            </a:r>
            <a:r>
              <a:rPr lang="zh-CN" altLang="en-US" dirty="0"/>
              <a:t>这就是实现</a:t>
            </a:r>
            <a:r>
              <a:rPr lang="zh-CN" altLang="en-US" dirty="0">
                <a:solidFill>
                  <a:srgbClr val="FF0000"/>
                </a:solidFill>
              </a:rPr>
              <a:t>保密</a:t>
            </a:r>
            <a:r>
              <a:rPr lang="zh-CN" altLang="en-US" dirty="0"/>
              <a:t>的方法</a:t>
            </a:r>
          </a:p>
          <a:p>
            <a:r>
              <a:rPr lang="zh-CN" altLang="en-US" dirty="0"/>
              <a:t>如果某一信息用</a:t>
            </a:r>
            <a:r>
              <a:rPr lang="zh-CN" altLang="en-US" dirty="0">
                <a:solidFill>
                  <a:srgbClr val="FF0000"/>
                </a:solidFill>
              </a:rPr>
              <a:t>私有密钥加密</a:t>
            </a:r>
            <a:r>
              <a:rPr lang="zh-CN" altLang="en-US" dirty="0"/>
              <a:t>，那么，它必须用</a:t>
            </a:r>
            <a:r>
              <a:rPr lang="zh-CN" altLang="en-US" dirty="0">
                <a:solidFill>
                  <a:srgbClr val="FF0000"/>
                </a:solidFill>
              </a:rPr>
              <a:t>公开密钥解密。</a:t>
            </a:r>
            <a:r>
              <a:rPr lang="zh-CN" altLang="en-US" dirty="0"/>
              <a:t>这就是实现</a:t>
            </a:r>
            <a:r>
              <a:rPr lang="zh-CN" altLang="en-US" dirty="0">
                <a:solidFill>
                  <a:srgbClr val="FF0000"/>
                </a:solidFill>
              </a:rPr>
              <a:t>数字签名</a:t>
            </a:r>
            <a:r>
              <a:rPr lang="zh-CN" altLang="en-US" dirty="0"/>
              <a:t>的方法</a:t>
            </a:r>
          </a:p>
        </p:txBody>
      </p:sp>
    </p:spTree>
    <p:extLst>
      <p:ext uri="{BB962C8B-B14F-4D97-AF65-F5344CB8AC3E}">
        <p14:creationId xmlns:p14="http://schemas.microsoft.com/office/powerpoint/2010/main" val="47814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网络安全问题概述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两类密码体制</a:t>
            </a:r>
          </a:p>
          <a:p>
            <a:r>
              <a:rPr lang="zh-CN" altLang="zh-CN" sz="3600" dirty="0">
                <a:solidFill>
                  <a:srgbClr val="FF0000"/>
                </a:solidFill>
              </a:rPr>
              <a:t>数字签名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鉴别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运输层的安全协议介绍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防火墙</a:t>
            </a:r>
          </a:p>
        </p:txBody>
      </p:sp>
    </p:spTree>
    <p:extLst>
      <p:ext uri="{BB962C8B-B14F-4D97-AF65-F5344CB8AC3E}">
        <p14:creationId xmlns:p14="http://schemas.microsoft.com/office/powerpoint/2010/main" val="2811112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/>
              <a:t>数字签名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dirty="0"/>
              <a:t>用于</a:t>
            </a:r>
            <a:r>
              <a:rPr lang="zh-CN" altLang="zh-CN" sz="2800" dirty="0"/>
              <a:t>证明真实性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数字签名必须保证以下三点：</a:t>
            </a:r>
          </a:p>
          <a:p>
            <a:pPr lvl="1"/>
            <a:r>
              <a:rPr lang="en-US" altLang="zh-CN" sz="2400" dirty="0"/>
              <a:t>(1) </a:t>
            </a:r>
            <a:r>
              <a:rPr lang="zh-CN" altLang="en-US" sz="2400" dirty="0"/>
              <a:t>报文鉴别</a:t>
            </a:r>
            <a:r>
              <a:rPr lang="en-US" altLang="zh-CN" sz="2400" dirty="0"/>
              <a:t>——</a:t>
            </a:r>
            <a:r>
              <a:rPr lang="zh-CN" altLang="en-US" sz="2400" dirty="0"/>
              <a:t>接收者能够核实发送者对报文的签名</a:t>
            </a:r>
            <a:r>
              <a:rPr lang="zh-CN" altLang="en-US" sz="2400" dirty="0">
                <a:solidFill>
                  <a:srgbClr val="FF0000"/>
                </a:solidFill>
              </a:rPr>
              <a:t>（证明来源）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/>
            <a:r>
              <a:rPr lang="en-US" altLang="zh-CN" sz="2400" dirty="0"/>
              <a:t>(2) </a:t>
            </a:r>
            <a:r>
              <a:rPr lang="zh-CN" altLang="en-US" sz="2400" dirty="0"/>
              <a:t>报文的完整性</a:t>
            </a:r>
            <a:r>
              <a:rPr lang="en-US" altLang="zh-CN" sz="2400" dirty="0"/>
              <a:t>——</a:t>
            </a:r>
            <a:r>
              <a:rPr lang="zh-CN" altLang="en-US" sz="2400" dirty="0"/>
              <a:t>发送者事后不能抵赖对报文的签名</a:t>
            </a:r>
            <a:r>
              <a:rPr lang="zh-CN" altLang="en-US" sz="2400" dirty="0">
                <a:solidFill>
                  <a:srgbClr val="FF0000"/>
                </a:solidFill>
              </a:rPr>
              <a:t>（防否认）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/>
            <a:r>
              <a:rPr lang="en-US" altLang="zh-CN" sz="2400" dirty="0"/>
              <a:t>(3) </a:t>
            </a:r>
            <a:r>
              <a:rPr lang="zh-CN" altLang="en-US" sz="2400" dirty="0"/>
              <a:t>不可否认</a:t>
            </a:r>
            <a:r>
              <a:rPr lang="en-US" altLang="zh-CN" sz="2400" dirty="0"/>
              <a:t>——</a:t>
            </a:r>
            <a:r>
              <a:rPr lang="zh-CN" altLang="en-US" sz="2400" dirty="0"/>
              <a:t>接收者不能伪造对报文的签名</a:t>
            </a:r>
            <a:r>
              <a:rPr lang="zh-CN" altLang="en-US" sz="2400" dirty="0">
                <a:solidFill>
                  <a:srgbClr val="FF0000"/>
                </a:solidFill>
              </a:rPr>
              <a:t>（防伪造）</a:t>
            </a:r>
            <a:r>
              <a:rPr lang="zh-CN" altLang="en-US" sz="2400" dirty="0"/>
              <a:t>。</a:t>
            </a:r>
          </a:p>
          <a:p>
            <a:r>
              <a:rPr lang="zh-CN" altLang="en-US" sz="2800" dirty="0"/>
              <a:t>现在已有多种实现各种数字签名的方法。</a:t>
            </a:r>
            <a:r>
              <a:rPr lang="zh-CN" altLang="en-US" sz="2800" dirty="0">
                <a:solidFill>
                  <a:srgbClr val="FF0000"/>
                </a:solidFill>
              </a:rPr>
              <a:t>但采用公钥算法更容易实现。  </a:t>
            </a:r>
          </a:p>
        </p:txBody>
      </p:sp>
    </p:spTree>
    <p:extLst>
      <p:ext uri="{BB962C8B-B14F-4D97-AF65-F5344CB8AC3E}">
        <p14:creationId xmlns:p14="http://schemas.microsoft.com/office/powerpoint/2010/main" val="3207381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基于公钥的数字签名的实现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429646" y="1453744"/>
            <a:ext cx="9275882" cy="3271400"/>
            <a:chOff x="429646" y="1453744"/>
            <a:chExt cx="9275882" cy="3271400"/>
          </a:xfrm>
        </p:grpSpPr>
        <p:sp>
          <p:nvSpPr>
            <p:cNvPr id="84" name="Line 52"/>
            <p:cNvSpPr>
              <a:spLocks noChangeShapeType="1"/>
            </p:cNvSpPr>
            <p:nvPr/>
          </p:nvSpPr>
          <p:spPr bwMode="auto">
            <a:xfrm>
              <a:off x="2632203" y="3891707"/>
              <a:ext cx="139223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85" name="Line 53"/>
            <p:cNvSpPr>
              <a:spLocks noChangeShapeType="1"/>
            </p:cNvSpPr>
            <p:nvPr/>
          </p:nvSpPr>
          <p:spPr bwMode="auto">
            <a:xfrm>
              <a:off x="5043616" y="3902819"/>
              <a:ext cx="2200275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86" name="Text Box 56"/>
            <p:cNvSpPr txBox="1">
              <a:spLocks noChangeArrowheads="1"/>
            </p:cNvSpPr>
            <p:nvPr/>
          </p:nvSpPr>
          <p:spPr bwMode="auto">
            <a:xfrm>
              <a:off x="8648828" y="3712319"/>
              <a:ext cx="1056700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明文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X</a:t>
              </a: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 </a:t>
              </a:r>
            </a:p>
          </p:txBody>
        </p:sp>
        <p:sp>
          <p:nvSpPr>
            <p:cNvPr id="87" name="Freeform 51"/>
            <p:cNvSpPr>
              <a:spLocks/>
            </p:cNvSpPr>
            <p:nvPr/>
          </p:nvSpPr>
          <p:spPr bwMode="auto">
            <a:xfrm>
              <a:off x="1226125" y="3451969"/>
              <a:ext cx="493266" cy="45402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88" name="Freeform 72"/>
            <p:cNvSpPr>
              <a:spLocks/>
            </p:cNvSpPr>
            <p:nvPr/>
          </p:nvSpPr>
          <p:spPr bwMode="auto">
            <a:xfrm flipH="1" flipV="1">
              <a:off x="2275014" y="2687289"/>
              <a:ext cx="79375" cy="84881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89" name="Freeform 134"/>
            <p:cNvSpPr>
              <a:spLocks/>
            </p:cNvSpPr>
            <p:nvPr/>
          </p:nvSpPr>
          <p:spPr bwMode="auto">
            <a:xfrm flipV="1">
              <a:off x="7866190" y="2687289"/>
              <a:ext cx="45719" cy="848818"/>
            </a:xfrm>
            <a:custGeom>
              <a:avLst/>
              <a:gdLst>
                <a:gd name="T0" fmla="*/ 0 w 1"/>
                <a:gd name="T1" fmla="*/ 314 h 314"/>
                <a:gd name="T2" fmla="*/ 0 w 1"/>
                <a:gd name="T3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314">
                  <a:moveTo>
                    <a:pt x="0" y="31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90" name="Freeform 50"/>
            <p:cNvSpPr>
              <a:spLocks/>
            </p:cNvSpPr>
            <p:nvPr/>
          </p:nvSpPr>
          <p:spPr bwMode="auto">
            <a:xfrm rot="16200000">
              <a:off x="8615491" y="3505944"/>
              <a:ext cx="219075" cy="574675"/>
            </a:xfrm>
            <a:custGeom>
              <a:avLst/>
              <a:gdLst>
                <a:gd name="T0" fmla="*/ 1 w 194"/>
                <a:gd name="T1" fmla="*/ 0 h 232"/>
                <a:gd name="T2" fmla="*/ 0 w 194"/>
                <a:gd name="T3" fmla="*/ 231 h 232"/>
                <a:gd name="T4" fmla="*/ 194 w 194"/>
                <a:gd name="T5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232">
                  <a:moveTo>
                    <a:pt x="1" y="0"/>
                  </a:moveTo>
                  <a:lnTo>
                    <a:pt x="0" y="231"/>
                  </a:lnTo>
                  <a:lnTo>
                    <a:pt x="194" y="2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91" name="Text Box 68"/>
            <p:cNvSpPr txBox="1">
              <a:spLocks noChangeArrowheads="1"/>
            </p:cNvSpPr>
            <p:nvPr/>
          </p:nvSpPr>
          <p:spPr bwMode="auto">
            <a:xfrm>
              <a:off x="6164391" y="3501182"/>
              <a:ext cx="96051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密文 </a:t>
              </a: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Y</a:t>
              </a:r>
            </a:p>
          </p:txBody>
        </p:sp>
        <p:sp>
          <p:nvSpPr>
            <p:cNvPr id="92" name="Text Box 54"/>
            <p:cNvSpPr txBox="1">
              <a:spLocks noChangeArrowheads="1"/>
            </p:cNvSpPr>
            <p:nvPr/>
          </p:nvSpPr>
          <p:spPr bwMode="auto">
            <a:xfrm>
              <a:off x="6918688" y="1453744"/>
              <a:ext cx="20810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itchFamily="2" charset="-122"/>
                </a:rPr>
                <a:t>A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的公钥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PK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A</a:t>
              </a:r>
            </a:p>
          </p:txBody>
        </p:sp>
        <p:sp>
          <p:nvSpPr>
            <p:cNvPr id="93" name="Text Box 55"/>
            <p:cNvSpPr txBox="1">
              <a:spLocks noChangeArrowheads="1"/>
            </p:cNvSpPr>
            <p:nvPr/>
          </p:nvSpPr>
          <p:spPr bwMode="auto">
            <a:xfrm>
              <a:off x="429646" y="3891707"/>
              <a:ext cx="10393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明文 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X</a:t>
              </a:r>
            </a:p>
          </p:txBody>
        </p:sp>
        <p:sp>
          <p:nvSpPr>
            <p:cNvPr id="94" name="Text Box 57"/>
            <p:cNvSpPr txBox="1">
              <a:spLocks noChangeArrowheads="1"/>
            </p:cNvSpPr>
            <p:nvPr/>
          </p:nvSpPr>
          <p:spPr bwMode="auto">
            <a:xfrm>
              <a:off x="3000503" y="3501182"/>
              <a:ext cx="960519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密文 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Y</a:t>
              </a:r>
            </a:p>
          </p:txBody>
        </p:sp>
        <p:pic>
          <p:nvPicPr>
            <p:cNvPr id="95" name="Picture 6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7464280" y="2091959"/>
              <a:ext cx="741707" cy="391454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</p:pic>
        <p:sp>
          <p:nvSpPr>
            <p:cNvPr id="96" name="Text Box 70"/>
            <p:cNvSpPr txBox="1">
              <a:spLocks noChangeArrowheads="1"/>
            </p:cNvSpPr>
            <p:nvPr/>
          </p:nvSpPr>
          <p:spPr bwMode="auto">
            <a:xfrm>
              <a:off x="608587" y="2953494"/>
              <a:ext cx="3706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A</a:t>
              </a:r>
            </a:p>
          </p:txBody>
        </p:sp>
        <p:sp>
          <p:nvSpPr>
            <p:cNvPr id="97" name="Text Box 71"/>
            <p:cNvSpPr txBox="1">
              <a:spLocks noChangeArrowheads="1"/>
            </p:cNvSpPr>
            <p:nvPr/>
          </p:nvSpPr>
          <p:spPr bwMode="auto">
            <a:xfrm>
              <a:off x="9225091" y="2953494"/>
              <a:ext cx="3706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B</a:t>
              </a:r>
            </a:p>
          </p:txBody>
        </p:sp>
        <p:graphicFrame>
          <p:nvGraphicFramePr>
            <p:cNvPr id="98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3444221"/>
                </p:ext>
              </p:extLst>
            </p:nvPr>
          </p:nvGraphicFramePr>
          <p:xfrm>
            <a:off x="3943478" y="3226544"/>
            <a:ext cx="2293938" cy="149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2" name="VISIO" r:id="rId5" imgW="1689840" imgH="964440" progId="Visio.Drawing.6">
                    <p:embed/>
                  </p:oleObj>
                </mc:Choice>
                <mc:Fallback>
                  <p:oleObj name="VISIO" r:id="rId5" imgW="1689840" imgH="964440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478" y="3226544"/>
                          <a:ext cx="2293938" cy="149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rgbClr val="1C1C1C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9" name="Group 74"/>
            <p:cNvGrpSpPr>
              <a:grpSpLocks/>
            </p:cNvGrpSpPr>
            <p:nvPr/>
          </p:nvGrpSpPr>
          <p:grpSpPr bwMode="auto">
            <a:xfrm>
              <a:off x="902275" y="3093194"/>
              <a:ext cx="574675" cy="620713"/>
              <a:chOff x="921" y="2412"/>
              <a:chExt cx="284" cy="265"/>
            </a:xfrm>
          </p:grpSpPr>
          <p:grpSp>
            <p:nvGrpSpPr>
              <p:cNvPr id="134" name="Group 7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48" name="Freeform 7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49" name="Freeform 77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50" name="Freeform 7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51" name="Freeform 79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52" name="Rectangle 8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53" name="Rectangle 8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54" name="Rectangle 8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55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156" name="Group 8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57" name="Freeform 8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58" name="Freeform 86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59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35" name="Group 8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36" name="Freeform 8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37" name="Freeform 90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38" name="Freeform 9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39" name="Freeform 92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40" name="Rectangle 9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41" name="Rectangle 9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42" name="Rectangle 9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43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144" name="Group 9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45" name="Freeform 9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46" name="Freeform 99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47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100" name="Rectangle 102"/>
            <p:cNvSpPr>
              <a:spLocks noChangeArrowheads="1"/>
            </p:cNvSpPr>
            <p:nvPr/>
          </p:nvSpPr>
          <p:spPr bwMode="auto">
            <a:xfrm>
              <a:off x="1719391" y="3545632"/>
              <a:ext cx="1276350" cy="715962"/>
            </a:xfrm>
            <a:prstGeom prst="rect">
              <a:avLst/>
            </a:prstGeom>
            <a:solidFill>
              <a:srgbClr val="FF66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E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运算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加密算法</a:t>
              </a:r>
            </a:p>
          </p:txBody>
        </p:sp>
        <p:sp>
          <p:nvSpPr>
            <p:cNvPr id="101" name="Rectangle 103"/>
            <p:cNvSpPr>
              <a:spLocks noChangeArrowheads="1"/>
            </p:cNvSpPr>
            <p:nvPr/>
          </p:nvSpPr>
          <p:spPr bwMode="auto">
            <a:xfrm>
              <a:off x="7243891" y="3545632"/>
              <a:ext cx="1277937" cy="715962"/>
            </a:xfrm>
            <a:prstGeom prst="rect">
              <a:avLst/>
            </a:prstGeom>
            <a:solidFill>
              <a:srgbClr val="FFFF66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1C1C1C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D 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运算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解密算法</a:t>
              </a:r>
            </a:p>
          </p:txBody>
        </p:sp>
        <p:grpSp>
          <p:nvGrpSpPr>
            <p:cNvPr id="102" name="Group 104"/>
            <p:cNvGrpSpPr>
              <a:grpSpLocks/>
            </p:cNvGrpSpPr>
            <p:nvPr/>
          </p:nvGrpSpPr>
          <p:grpSpPr bwMode="auto">
            <a:xfrm>
              <a:off x="8740903" y="3067794"/>
              <a:ext cx="574675" cy="620713"/>
              <a:chOff x="921" y="2412"/>
              <a:chExt cx="284" cy="265"/>
            </a:xfrm>
          </p:grpSpPr>
          <p:grpSp>
            <p:nvGrpSpPr>
              <p:cNvPr id="108" name="Group 105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22" name="Freeform 10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23" name="Freeform 107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24" name="Freeform 10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25" name="Freeform 109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26" name="Rectangle 110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27" name="Rectangle 111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28" name="Rectangle 112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29" name="Line 113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130" name="Group 114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31" name="Freeform 11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32" name="Freeform 116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33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109" name="Group 118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10" name="Freeform 11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11" name="Freeform 120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12" name="Freeform 12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13" name="Freeform 122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14" name="Rectangle 123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15" name="Rectangle 124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16" name="Rectangle 125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117" name="Line 126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118" name="Group 127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19" name="Freeform 12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20" name="Freeform 129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121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99"/>
                      </a:solidFill>
                      <a:effectLst/>
                      <a:uLnTx/>
                      <a:uFillTx/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103" name="Text Box 131"/>
            <p:cNvSpPr txBox="1">
              <a:spLocks noChangeArrowheads="1"/>
            </p:cNvSpPr>
            <p:nvPr/>
          </p:nvSpPr>
          <p:spPr bwMode="auto">
            <a:xfrm>
              <a:off x="4501417" y="3723258"/>
              <a:ext cx="111280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互联网</a:t>
              </a:r>
            </a:p>
          </p:txBody>
        </p:sp>
        <p:pic>
          <p:nvPicPr>
            <p:cNvPr id="104" name="Picture 7" descr="key 的图像结果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 flipH="1">
              <a:off x="1952661" y="1887225"/>
              <a:ext cx="809809" cy="790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Text Box 132"/>
            <p:cNvSpPr txBox="1">
              <a:spLocks noChangeArrowheads="1"/>
            </p:cNvSpPr>
            <p:nvPr/>
          </p:nvSpPr>
          <p:spPr bwMode="auto">
            <a:xfrm>
              <a:off x="6450036" y="2852936"/>
              <a:ext cx="14221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kern="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核实签名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  <p:sp>
          <p:nvSpPr>
            <p:cNvPr id="106" name="Text Box 54"/>
            <p:cNvSpPr txBox="1">
              <a:spLocks noChangeArrowheads="1"/>
            </p:cNvSpPr>
            <p:nvPr/>
          </p:nvSpPr>
          <p:spPr bwMode="auto">
            <a:xfrm>
              <a:off x="1446597" y="1453744"/>
              <a:ext cx="208101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kern="0" dirty="0">
                  <a:solidFill>
                    <a:srgbClr val="FF0000"/>
                  </a:solidFill>
                  <a:latin typeface="+mn-lt"/>
                  <a:ea typeface="黑体" pitchFamily="2" charset="-122"/>
                </a:rPr>
                <a:t>A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的私钥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S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K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A</a:t>
              </a:r>
            </a:p>
          </p:txBody>
        </p:sp>
        <p:sp>
          <p:nvSpPr>
            <p:cNvPr id="107" name="Text Box 132"/>
            <p:cNvSpPr txBox="1">
              <a:spLocks noChangeArrowheads="1"/>
            </p:cNvSpPr>
            <p:nvPr/>
          </p:nvSpPr>
          <p:spPr bwMode="auto">
            <a:xfrm>
              <a:off x="1557287" y="2823319"/>
              <a:ext cx="8034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+mn-lt"/>
                  <a:ea typeface="黑体" pitchFamily="2" charset="-122"/>
                </a:rPr>
                <a:t>签名</a:t>
              </a:r>
              <a:endParaRPr kumimoji="1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6152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基于公钥的数字签名的实现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因为除 </a:t>
            </a:r>
            <a:r>
              <a:rPr lang="en-US" altLang="zh-CN" dirty="0"/>
              <a:t>A </a:t>
            </a:r>
            <a:r>
              <a:rPr lang="zh-CN" altLang="en-US" dirty="0"/>
              <a:t>外没有别人能具有 </a:t>
            </a:r>
            <a:r>
              <a:rPr lang="en-US" altLang="zh-CN" dirty="0"/>
              <a:t>A </a:t>
            </a:r>
            <a:r>
              <a:rPr lang="zh-CN" altLang="en-US" dirty="0"/>
              <a:t>的私钥，所以除 </a:t>
            </a:r>
            <a:r>
              <a:rPr lang="en-US" altLang="zh-CN" dirty="0"/>
              <a:t>A </a:t>
            </a:r>
            <a:r>
              <a:rPr lang="zh-CN" altLang="en-US" dirty="0"/>
              <a:t>外没有别人能产生这个密文。因此 </a:t>
            </a:r>
            <a:r>
              <a:rPr lang="en-US" altLang="zh-CN" dirty="0"/>
              <a:t>B </a:t>
            </a:r>
            <a:r>
              <a:rPr lang="zh-CN" altLang="en-US" dirty="0"/>
              <a:t>相信报文 </a:t>
            </a:r>
            <a:r>
              <a:rPr lang="en-US" altLang="zh-CN" dirty="0"/>
              <a:t>X </a:t>
            </a:r>
            <a:r>
              <a:rPr lang="zh-CN" altLang="en-US" dirty="0"/>
              <a:t>是 </a:t>
            </a:r>
            <a:r>
              <a:rPr lang="en-US" altLang="zh-CN" dirty="0"/>
              <a:t>A </a:t>
            </a:r>
            <a:r>
              <a:rPr lang="zh-CN" altLang="en-US" dirty="0"/>
              <a:t>签名发送的。</a:t>
            </a:r>
          </a:p>
          <a:p>
            <a:r>
              <a:rPr lang="zh-CN" altLang="en-US" dirty="0"/>
              <a:t>若 </a:t>
            </a:r>
            <a:r>
              <a:rPr lang="en-US" altLang="zh-CN" dirty="0"/>
              <a:t>A </a:t>
            </a:r>
            <a:r>
              <a:rPr lang="zh-CN" altLang="en-US" dirty="0"/>
              <a:t>要抵赖曾发送报文给 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 </a:t>
            </a:r>
            <a:r>
              <a:rPr lang="zh-CN" altLang="en-US" dirty="0"/>
              <a:t>可将明文和对应的密文出示给第三者。第三者很容易用 </a:t>
            </a:r>
            <a:r>
              <a:rPr lang="en-US" altLang="zh-CN" dirty="0"/>
              <a:t>A </a:t>
            </a:r>
            <a:r>
              <a:rPr lang="zh-CN" altLang="en-US" dirty="0"/>
              <a:t>的公钥去证实 </a:t>
            </a:r>
            <a:r>
              <a:rPr lang="en-US" altLang="zh-CN" dirty="0"/>
              <a:t>A </a:t>
            </a:r>
            <a:r>
              <a:rPr lang="zh-CN" altLang="en-US" dirty="0"/>
              <a:t>确实发送 </a:t>
            </a:r>
            <a:r>
              <a:rPr lang="en-US" altLang="zh-CN" dirty="0"/>
              <a:t>X </a:t>
            </a:r>
            <a:r>
              <a:rPr lang="zh-CN" altLang="en-US" dirty="0"/>
              <a:t>给 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反之，若 </a:t>
            </a:r>
            <a:r>
              <a:rPr lang="en-US" altLang="zh-CN" dirty="0"/>
              <a:t>B </a:t>
            </a:r>
            <a:r>
              <a:rPr lang="zh-CN" altLang="en-US" dirty="0"/>
              <a:t>将 </a:t>
            </a:r>
            <a:r>
              <a:rPr lang="en-US" altLang="zh-CN" dirty="0"/>
              <a:t>X </a:t>
            </a:r>
            <a:r>
              <a:rPr lang="zh-CN" altLang="en-US" dirty="0"/>
              <a:t>伪造成 </a:t>
            </a:r>
            <a:r>
              <a:rPr lang="en-US" altLang="zh-CN" dirty="0"/>
              <a:t>X‘</a:t>
            </a:r>
            <a:r>
              <a:rPr lang="zh-CN" altLang="en-US" dirty="0"/>
              <a:t>，则 </a:t>
            </a:r>
            <a:r>
              <a:rPr lang="en-US" altLang="zh-CN" dirty="0"/>
              <a:t>B </a:t>
            </a:r>
            <a:r>
              <a:rPr lang="zh-CN" altLang="en-US" dirty="0"/>
              <a:t>不能在第三者前出示对应的密文。这样就证明了 </a:t>
            </a:r>
            <a:r>
              <a:rPr lang="en-US" altLang="zh-CN" dirty="0"/>
              <a:t>B </a:t>
            </a:r>
            <a:r>
              <a:rPr lang="zh-CN" altLang="en-US" dirty="0"/>
              <a:t>伪造了报文。  </a:t>
            </a:r>
          </a:p>
        </p:txBody>
      </p:sp>
    </p:spTree>
    <p:extLst>
      <p:ext uri="{BB962C8B-B14F-4D97-AF65-F5344CB8AC3E}">
        <p14:creationId xmlns:p14="http://schemas.microsoft.com/office/powerpoint/2010/main" val="3074929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具有保密性的数字签名 </a:t>
            </a:r>
          </a:p>
        </p:txBody>
      </p:sp>
      <p:graphicFrame>
        <p:nvGraphicFramePr>
          <p:cNvPr id="600188" name="Objec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286236"/>
              </p:ext>
            </p:extLst>
          </p:nvPr>
        </p:nvGraphicFramePr>
        <p:xfrm>
          <a:off x="7304257" y="3635376"/>
          <a:ext cx="98888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公式" r:id="rId4" imgW="583920" imgH="241200" progId="Equation.3">
                  <p:embed/>
                </p:oleObj>
              </mc:Choice>
              <mc:Fallback>
                <p:oleObj name="公式" r:id="rId4" imgW="583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4257" y="3635376"/>
                        <a:ext cx="98888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0187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09588"/>
              </p:ext>
            </p:extLst>
          </p:nvPr>
        </p:nvGraphicFramePr>
        <p:xfrm>
          <a:off x="2009019" y="3635376"/>
          <a:ext cx="988881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1" name="公式" r:id="rId6" imgW="583920" imgH="241200" progId="Equation.3">
                  <p:embed/>
                </p:oleObj>
              </mc:Choice>
              <mc:Fallback>
                <p:oleObj name="公式" r:id="rId6" imgW="583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019" y="3635376"/>
                        <a:ext cx="988881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0173" name="Text Box 109"/>
          <p:cNvSpPr txBox="1">
            <a:spLocks noChangeArrowheads="1"/>
          </p:cNvSpPr>
          <p:nvPr/>
        </p:nvSpPr>
        <p:spPr bwMode="auto">
          <a:xfrm>
            <a:off x="7467637" y="3211513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核实签名</a:t>
            </a:r>
          </a:p>
        </p:txBody>
      </p:sp>
      <p:sp>
        <p:nvSpPr>
          <p:cNvPr id="600193" name="Text Box 129"/>
          <p:cNvSpPr txBox="1">
            <a:spLocks noChangeArrowheads="1"/>
          </p:cNvSpPr>
          <p:nvPr/>
        </p:nvSpPr>
        <p:spPr bwMode="auto">
          <a:xfrm>
            <a:off x="6103842" y="3213101"/>
            <a:ext cx="7136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解密 </a:t>
            </a:r>
          </a:p>
        </p:txBody>
      </p:sp>
      <p:sp>
        <p:nvSpPr>
          <p:cNvPr id="600192" name="Text Box 128"/>
          <p:cNvSpPr txBox="1">
            <a:spLocks noChangeArrowheads="1"/>
          </p:cNvSpPr>
          <p:nvPr/>
        </p:nvSpPr>
        <p:spPr bwMode="auto">
          <a:xfrm>
            <a:off x="2574830" y="3213101"/>
            <a:ext cx="7136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加密 </a:t>
            </a:r>
          </a:p>
        </p:txBody>
      </p:sp>
      <p:sp>
        <p:nvSpPr>
          <p:cNvPr id="600172" name="Text Box 108"/>
          <p:cNvSpPr txBox="1">
            <a:spLocks noChangeArrowheads="1"/>
          </p:cNvSpPr>
          <p:nvPr/>
        </p:nvSpPr>
        <p:spPr bwMode="auto">
          <a:xfrm>
            <a:off x="970264" y="3213101"/>
            <a:ext cx="7136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签名 </a:t>
            </a:r>
          </a:p>
        </p:txBody>
      </p:sp>
      <p:sp>
        <p:nvSpPr>
          <p:cNvPr id="600102" name="Rectangle 38"/>
          <p:cNvSpPr>
            <a:spLocks noChangeArrowheads="1"/>
          </p:cNvSpPr>
          <p:nvPr/>
        </p:nvSpPr>
        <p:spPr bwMode="auto">
          <a:xfrm>
            <a:off x="2967896" y="3716339"/>
            <a:ext cx="737791" cy="581025"/>
          </a:xfrm>
          <a:prstGeom prst="rect">
            <a:avLst/>
          </a:prstGeom>
          <a:solidFill>
            <a:srgbClr val="FF66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kumimoji="1" lang="en-US" altLang="zh-CN" sz="1800" b="1" i="1">
                <a:solidFill>
                  <a:srgbClr val="000099"/>
                </a:solidFill>
                <a:latin typeface="+mn-lt"/>
                <a:ea typeface="黑体" pitchFamily="2" charset="-122"/>
              </a:rPr>
              <a:t>E</a:t>
            </a:r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 </a:t>
            </a:r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运算</a:t>
            </a:r>
          </a:p>
        </p:txBody>
      </p:sp>
      <p:sp>
        <p:nvSpPr>
          <p:cNvPr id="600103" name="Line 39"/>
          <p:cNvSpPr>
            <a:spLocks noChangeShapeType="1"/>
          </p:cNvSpPr>
          <p:nvPr/>
        </p:nvSpPr>
        <p:spPr bwMode="auto">
          <a:xfrm>
            <a:off x="2014178" y="4005263"/>
            <a:ext cx="961363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04" name="Rectangle 40"/>
          <p:cNvSpPr>
            <a:spLocks noChangeArrowheads="1"/>
          </p:cNvSpPr>
          <p:nvPr/>
        </p:nvSpPr>
        <p:spPr bwMode="auto">
          <a:xfrm>
            <a:off x="1268742" y="3724276"/>
            <a:ext cx="737791" cy="581025"/>
          </a:xfrm>
          <a:prstGeom prst="rect">
            <a:avLst/>
          </a:prstGeom>
          <a:solidFill>
            <a:srgbClr val="FFFF66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kumimoji="1" lang="en-US" altLang="zh-CN" sz="1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D </a:t>
            </a:r>
            <a:r>
              <a:rPr kumimoji="1" lang="zh-CN" altLang="en-US" sz="1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运算</a:t>
            </a:r>
          </a:p>
        </p:txBody>
      </p:sp>
      <p:sp>
        <p:nvSpPr>
          <p:cNvPr id="600105" name="Text Box 41"/>
          <p:cNvSpPr txBox="1">
            <a:spLocks noChangeArrowheads="1"/>
          </p:cNvSpPr>
          <p:nvPr/>
        </p:nvSpPr>
        <p:spPr bwMode="auto">
          <a:xfrm>
            <a:off x="167122" y="4005263"/>
            <a:ext cx="883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明文 </a:t>
            </a:r>
            <a:r>
              <a:rPr kumimoji="1" lang="en-US" altLang="zh-CN" sz="1800" b="1" i="1">
                <a:solidFill>
                  <a:srgbClr val="000099"/>
                </a:solidFill>
                <a:latin typeface="+mn-lt"/>
                <a:ea typeface="黑体" pitchFamily="2" charset="-122"/>
              </a:rPr>
              <a:t>X</a:t>
            </a:r>
          </a:p>
        </p:txBody>
      </p:sp>
      <p:sp>
        <p:nvSpPr>
          <p:cNvPr id="600106" name="Text Box 42"/>
          <p:cNvSpPr txBox="1">
            <a:spLocks noChangeArrowheads="1"/>
          </p:cNvSpPr>
          <p:nvPr/>
        </p:nvSpPr>
        <p:spPr bwMode="auto">
          <a:xfrm>
            <a:off x="8993093" y="4005263"/>
            <a:ext cx="9316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明文 </a:t>
            </a:r>
            <a:r>
              <a:rPr kumimoji="1" lang="en-US" altLang="zh-CN" sz="1800" b="1" i="1">
                <a:solidFill>
                  <a:srgbClr val="000099"/>
                </a:solidFill>
                <a:latin typeface="+mn-lt"/>
                <a:ea typeface="黑体" pitchFamily="2" charset="-122"/>
              </a:rPr>
              <a:t>X</a:t>
            </a:r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 </a:t>
            </a:r>
            <a:endParaRPr kumimoji="1" lang="en-US" altLang="zh-CN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pic>
        <p:nvPicPr>
          <p:cNvPr id="600107" name="Picture 43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397912" y="2782360"/>
            <a:ext cx="409575" cy="220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600108" name="Text Box 44"/>
          <p:cNvSpPr txBox="1">
            <a:spLocks noChangeArrowheads="1"/>
          </p:cNvSpPr>
          <p:nvPr/>
        </p:nvSpPr>
        <p:spPr bwMode="auto">
          <a:xfrm>
            <a:off x="409612" y="2917826"/>
            <a:ext cx="351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A</a:t>
            </a:r>
          </a:p>
        </p:txBody>
      </p:sp>
      <p:sp>
        <p:nvSpPr>
          <p:cNvPr id="600109" name="Text Box 45"/>
          <p:cNvSpPr txBox="1">
            <a:spLocks noChangeArrowheads="1"/>
          </p:cNvSpPr>
          <p:nvPr/>
        </p:nvSpPr>
        <p:spPr bwMode="auto">
          <a:xfrm>
            <a:off x="9233863" y="2924176"/>
            <a:ext cx="351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B</a:t>
            </a:r>
          </a:p>
        </p:txBody>
      </p:sp>
      <p:sp>
        <p:nvSpPr>
          <p:cNvPr id="600111" name="Text Box 47"/>
          <p:cNvSpPr txBox="1">
            <a:spLocks noChangeArrowheads="1"/>
          </p:cNvSpPr>
          <p:nvPr/>
        </p:nvSpPr>
        <p:spPr bwMode="auto">
          <a:xfrm>
            <a:off x="970264" y="2276476"/>
            <a:ext cx="159954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A </a:t>
            </a:r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的私钥 </a:t>
            </a:r>
            <a:r>
              <a:rPr kumimoji="1" lang="en-US" altLang="zh-CN" sz="1800" b="1" i="1">
                <a:solidFill>
                  <a:srgbClr val="000099"/>
                </a:solidFill>
                <a:latin typeface="+mn-lt"/>
                <a:ea typeface="黑体" pitchFamily="2" charset="-122"/>
              </a:rPr>
              <a:t>SK</a:t>
            </a:r>
            <a:r>
              <a:rPr kumimoji="1" lang="en-US" altLang="zh-CN" sz="1800" b="1" baseline="-25000">
                <a:solidFill>
                  <a:srgbClr val="000099"/>
                </a:solidFill>
                <a:latin typeface="+mn-lt"/>
                <a:ea typeface="黑体" pitchFamily="2" charset="-122"/>
              </a:rPr>
              <a:t>A</a:t>
            </a:r>
          </a:p>
        </p:txBody>
      </p:sp>
      <p:sp>
        <p:nvSpPr>
          <p:cNvPr id="600112" name="Freeform 48"/>
          <p:cNvSpPr>
            <a:spLocks/>
          </p:cNvSpPr>
          <p:nvPr/>
        </p:nvSpPr>
        <p:spPr bwMode="auto">
          <a:xfrm>
            <a:off x="1637543" y="3116264"/>
            <a:ext cx="3440" cy="61753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5715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13" name="Freeform 49"/>
          <p:cNvSpPr>
            <a:spLocks/>
          </p:cNvSpPr>
          <p:nvPr/>
        </p:nvSpPr>
        <p:spPr bwMode="auto">
          <a:xfrm>
            <a:off x="8618178" y="3116264"/>
            <a:ext cx="13758" cy="600075"/>
          </a:xfrm>
          <a:custGeom>
            <a:avLst/>
            <a:gdLst>
              <a:gd name="T0" fmla="*/ 0 w 8"/>
              <a:gd name="T1" fmla="*/ 0 h 378"/>
              <a:gd name="T2" fmla="*/ 8 w 8"/>
              <a:gd name="T3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378">
                <a:moveTo>
                  <a:pt x="0" y="0"/>
                </a:moveTo>
                <a:lnTo>
                  <a:pt x="8" y="378"/>
                </a:lnTo>
              </a:path>
            </a:pathLst>
          </a:custGeom>
          <a:noFill/>
          <a:ln w="5715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aphicFrame>
        <p:nvGraphicFramePr>
          <p:cNvPr id="60011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922867"/>
              </p:ext>
            </p:extLst>
          </p:nvPr>
        </p:nvGraphicFramePr>
        <p:xfrm>
          <a:off x="3776964" y="3190875"/>
          <a:ext cx="256765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name="VISIO" r:id="rId9" imgW="1689840" imgH="964440" progId="Visio.Drawing.6">
                  <p:embed/>
                </p:oleObj>
              </mc:Choice>
              <mc:Fallback>
                <p:oleObj name="VISIO" r:id="rId9" imgW="1689840" imgH="9644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964" y="3190875"/>
                        <a:ext cx="256765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0115" name="Freeform 51"/>
          <p:cNvSpPr>
            <a:spLocks/>
          </p:cNvSpPr>
          <p:nvPr/>
        </p:nvSpPr>
        <p:spPr bwMode="auto">
          <a:xfrm rot="-5400000">
            <a:off x="8901878" y="3478148"/>
            <a:ext cx="225425" cy="84785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16" name="Freeform 52"/>
          <p:cNvSpPr>
            <a:spLocks/>
          </p:cNvSpPr>
          <p:nvPr/>
        </p:nvSpPr>
        <p:spPr bwMode="auto">
          <a:xfrm>
            <a:off x="650383" y="3648075"/>
            <a:ext cx="626004" cy="36830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pSp>
        <p:nvGrpSpPr>
          <p:cNvPr id="600117" name="Group 53"/>
          <p:cNvGrpSpPr>
            <a:grpSpLocks/>
          </p:cNvGrpSpPr>
          <p:nvPr/>
        </p:nvGrpSpPr>
        <p:grpSpPr bwMode="auto">
          <a:xfrm>
            <a:off x="333942" y="3286125"/>
            <a:ext cx="562372" cy="503238"/>
            <a:chOff x="921" y="2412"/>
            <a:chExt cx="284" cy="265"/>
          </a:xfrm>
        </p:grpSpPr>
        <p:grpSp>
          <p:nvGrpSpPr>
            <p:cNvPr id="600118" name="Group 5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600119" name="Freeform 5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20" name="Freeform 5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21" name="Freeform 5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22" name="Freeform 5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23" name="Rectangle 5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24" name="Rectangle 6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25" name="Rectangle 6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26" name="Line 6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00127" name="Group 6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600128" name="Freeform 6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29" name="Freeform 6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30" name="Rectangle 6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600131" name="Group 6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00132" name="Freeform 6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33" name="Freeform 6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34" name="Freeform 7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35" name="Freeform 7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36" name="Rectangle 7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37" name="Rectangle 7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38" name="Rectangle 7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39" name="Line 7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00140" name="Group 7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600141" name="Freeform 7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42" name="Freeform 7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43" name="Rectangle 7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grpSp>
        <p:nvGrpSpPr>
          <p:cNvPr id="600144" name="Group 80"/>
          <p:cNvGrpSpPr>
            <a:grpSpLocks/>
          </p:cNvGrpSpPr>
          <p:nvPr/>
        </p:nvGrpSpPr>
        <p:grpSpPr bwMode="auto">
          <a:xfrm>
            <a:off x="9144434" y="3286125"/>
            <a:ext cx="562371" cy="503238"/>
            <a:chOff x="921" y="2412"/>
            <a:chExt cx="284" cy="265"/>
          </a:xfrm>
        </p:grpSpPr>
        <p:grpSp>
          <p:nvGrpSpPr>
            <p:cNvPr id="600145" name="Group 81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600146" name="Freeform 82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47" name="Freeform 83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48" name="Freeform 84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49" name="Freeform 85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50" name="Rectangle 86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51" name="Rectangle 87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52" name="Rectangle 88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53" name="Line 89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00154" name="Group 90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600155" name="Freeform 91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56" name="Freeform 92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57" name="Rectangle 93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600158" name="Group 94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00159" name="Freeform 95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60" name="Freeform 96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61" name="Freeform 97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62" name="Freeform 98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63" name="Rectangle 99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64" name="Rectangle 100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65" name="Rectangle 101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0166" name="Line 102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00167" name="Group 103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600168" name="Freeform 104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69" name="Freeform 105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00170" name="Rectangle 106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600171" name="Text Box 107"/>
          <p:cNvSpPr txBox="1">
            <a:spLocks noChangeArrowheads="1"/>
          </p:cNvSpPr>
          <p:nvPr/>
        </p:nvSpPr>
        <p:spPr bwMode="auto">
          <a:xfrm>
            <a:off x="4500997" y="2771775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因特网</a:t>
            </a:r>
          </a:p>
        </p:txBody>
      </p:sp>
      <p:sp>
        <p:nvSpPr>
          <p:cNvPr id="600174" name="Rectangle 110"/>
          <p:cNvSpPr>
            <a:spLocks noChangeArrowheads="1"/>
          </p:cNvSpPr>
          <p:nvPr/>
        </p:nvSpPr>
        <p:spPr bwMode="auto">
          <a:xfrm>
            <a:off x="8247657" y="3716339"/>
            <a:ext cx="737791" cy="581025"/>
          </a:xfrm>
          <a:prstGeom prst="rect">
            <a:avLst/>
          </a:prstGeom>
          <a:solidFill>
            <a:srgbClr val="FF66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kumimoji="1" lang="en-US" altLang="zh-CN" sz="1800" b="1" i="1">
                <a:solidFill>
                  <a:srgbClr val="000099"/>
                </a:solidFill>
                <a:latin typeface="+mn-lt"/>
                <a:ea typeface="黑体" pitchFamily="2" charset="-122"/>
              </a:rPr>
              <a:t>E</a:t>
            </a:r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 </a:t>
            </a:r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运算</a:t>
            </a:r>
          </a:p>
        </p:txBody>
      </p:sp>
      <p:pic>
        <p:nvPicPr>
          <p:cNvPr id="600175" name="Picture 111"/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3120732" y="2783087"/>
            <a:ext cx="409575" cy="22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600177" name="Text Box 113"/>
          <p:cNvSpPr txBox="1">
            <a:spLocks noChangeArrowheads="1"/>
          </p:cNvSpPr>
          <p:nvPr/>
        </p:nvSpPr>
        <p:spPr bwMode="auto">
          <a:xfrm>
            <a:off x="6024732" y="2276475"/>
            <a:ext cx="1608133" cy="370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800" b="1">
                <a:solidFill>
                  <a:srgbClr val="FF0000"/>
                </a:solidFill>
                <a:latin typeface="+mn-lt"/>
                <a:ea typeface="黑体" pitchFamily="2" charset="-122"/>
              </a:rPr>
              <a:t>B </a:t>
            </a:r>
            <a:r>
              <a:rPr kumimoji="1" lang="zh-CN" altLang="en-US" sz="1800" b="1">
                <a:solidFill>
                  <a:srgbClr val="FF0000"/>
                </a:solidFill>
                <a:latin typeface="+mn-lt"/>
                <a:ea typeface="黑体" pitchFamily="2" charset="-122"/>
              </a:rPr>
              <a:t>的私钥 </a:t>
            </a:r>
            <a:r>
              <a:rPr kumimoji="1" lang="en-US" altLang="zh-CN" sz="1800" b="1" i="1">
                <a:solidFill>
                  <a:srgbClr val="FF0000"/>
                </a:solidFill>
                <a:latin typeface="+mn-lt"/>
                <a:ea typeface="黑体" pitchFamily="2" charset="-122"/>
              </a:rPr>
              <a:t>SK</a:t>
            </a:r>
            <a:r>
              <a:rPr kumimoji="1" lang="en-US" altLang="zh-CN" sz="1800" b="1" baseline="-25000">
                <a:solidFill>
                  <a:srgbClr val="FF0000"/>
                </a:solidFill>
                <a:latin typeface="+mn-lt"/>
                <a:ea typeface="黑体" pitchFamily="2" charset="-122"/>
              </a:rPr>
              <a:t>B</a:t>
            </a:r>
          </a:p>
        </p:txBody>
      </p:sp>
      <p:sp>
        <p:nvSpPr>
          <p:cNvPr id="600178" name="Line 114"/>
          <p:cNvSpPr>
            <a:spLocks noChangeShapeType="1"/>
          </p:cNvSpPr>
          <p:nvPr/>
        </p:nvSpPr>
        <p:spPr bwMode="auto">
          <a:xfrm>
            <a:off x="3699574" y="4005263"/>
            <a:ext cx="28067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79" name="Rectangle 115"/>
          <p:cNvSpPr>
            <a:spLocks noChangeArrowheads="1"/>
          </p:cNvSpPr>
          <p:nvPr/>
        </p:nvSpPr>
        <p:spPr bwMode="auto">
          <a:xfrm>
            <a:off x="6483150" y="3716339"/>
            <a:ext cx="737791" cy="581025"/>
          </a:xfrm>
          <a:prstGeom prst="rect">
            <a:avLst/>
          </a:prstGeom>
          <a:solidFill>
            <a:srgbClr val="FFFF66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D </a:t>
            </a:r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运算</a:t>
            </a:r>
          </a:p>
        </p:txBody>
      </p:sp>
      <p:sp>
        <p:nvSpPr>
          <p:cNvPr id="600180" name="Line 116"/>
          <p:cNvSpPr>
            <a:spLocks noChangeShapeType="1"/>
          </p:cNvSpPr>
          <p:nvPr/>
        </p:nvSpPr>
        <p:spPr bwMode="auto">
          <a:xfrm>
            <a:off x="7228587" y="4005263"/>
            <a:ext cx="1042194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81" name="Freeform 117"/>
          <p:cNvSpPr>
            <a:spLocks/>
          </p:cNvSpPr>
          <p:nvPr/>
        </p:nvSpPr>
        <p:spPr bwMode="auto">
          <a:xfrm>
            <a:off x="3312621" y="3167063"/>
            <a:ext cx="10319" cy="584200"/>
          </a:xfrm>
          <a:custGeom>
            <a:avLst/>
            <a:gdLst>
              <a:gd name="T0" fmla="*/ 0 w 6"/>
              <a:gd name="T1" fmla="*/ 0 h 368"/>
              <a:gd name="T2" fmla="*/ 6 w 6"/>
              <a:gd name="T3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368">
                <a:moveTo>
                  <a:pt x="0" y="0"/>
                </a:moveTo>
                <a:lnTo>
                  <a:pt x="6" y="368"/>
                </a:lnTo>
              </a:path>
            </a:pathLst>
          </a:custGeom>
          <a:noFill/>
          <a:ln w="5715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82" name="Freeform 118"/>
          <p:cNvSpPr>
            <a:spLocks/>
          </p:cNvSpPr>
          <p:nvPr/>
        </p:nvSpPr>
        <p:spPr bwMode="auto">
          <a:xfrm>
            <a:off x="6822716" y="3116264"/>
            <a:ext cx="3440" cy="61753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57150" cmpd="sng">
            <a:solidFill>
              <a:srgbClr val="C00000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83" name="Line 119"/>
          <p:cNvSpPr>
            <a:spLocks noChangeShapeType="1"/>
          </p:cNvSpPr>
          <p:nvPr/>
        </p:nvSpPr>
        <p:spPr bwMode="auto">
          <a:xfrm>
            <a:off x="2975541" y="4868863"/>
            <a:ext cx="42530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84" name="Text Box 120"/>
          <p:cNvSpPr txBox="1">
            <a:spLocks noChangeArrowheads="1"/>
          </p:cNvSpPr>
          <p:nvPr/>
        </p:nvSpPr>
        <p:spPr bwMode="auto">
          <a:xfrm>
            <a:off x="4260227" y="4627563"/>
            <a:ext cx="172354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加密与解密</a:t>
            </a:r>
          </a:p>
        </p:txBody>
      </p:sp>
      <p:sp>
        <p:nvSpPr>
          <p:cNvPr id="600185" name="Line 121"/>
          <p:cNvSpPr>
            <a:spLocks noChangeShapeType="1"/>
          </p:cNvSpPr>
          <p:nvPr/>
        </p:nvSpPr>
        <p:spPr bwMode="auto">
          <a:xfrm>
            <a:off x="1315943" y="5275263"/>
            <a:ext cx="766167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00186" name="Text Box 122"/>
          <p:cNvSpPr txBox="1">
            <a:spLocks noChangeArrowheads="1"/>
          </p:cNvSpPr>
          <p:nvPr/>
        </p:nvSpPr>
        <p:spPr bwMode="auto">
          <a:xfrm>
            <a:off x="3857795" y="5059363"/>
            <a:ext cx="2339102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签名与核实签名</a:t>
            </a:r>
          </a:p>
        </p:txBody>
      </p:sp>
      <p:graphicFrame>
        <p:nvGraphicFramePr>
          <p:cNvPr id="600189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403960"/>
              </p:ext>
            </p:extLst>
          </p:nvPr>
        </p:nvGraphicFramePr>
        <p:xfrm>
          <a:off x="4249907" y="3652838"/>
          <a:ext cx="1635521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3" name="公式" r:id="rId11" imgW="977760" imgH="241200" progId="Equation.3">
                  <p:embed/>
                </p:oleObj>
              </mc:Choice>
              <mc:Fallback>
                <p:oleObj name="公式" r:id="rId11" imgW="9777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907" y="3652838"/>
                        <a:ext cx="1635521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0190" name="Text Box 126"/>
          <p:cNvSpPr txBox="1">
            <a:spLocks noChangeArrowheads="1"/>
          </p:cNvSpPr>
          <p:nvPr/>
        </p:nvSpPr>
        <p:spPr bwMode="auto">
          <a:xfrm>
            <a:off x="2655660" y="2276475"/>
            <a:ext cx="1608133" cy="370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+mn-lt"/>
                <a:ea typeface="黑体" pitchFamily="2" charset="-122"/>
              </a:rPr>
              <a:t>B </a:t>
            </a:r>
            <a:r>
              <a:rPr kumimoji="1" lang="zh-CN" altLang="en-US" sz="1800" b="1" dirty="0">
                <a:solidFill>
                  <a:srgbClr val="FF0000"/>
                </a:solidFill>
                <a:latin typeface="+mn-lt"/>
                <a:ea typeface="黑体" pitchFamily="2" charset="-122"/>
              </a:rPr>
              <a:t>的公钥 </a:t>
            </a:r>
            <a:r>
              <a:rPr kumimoji="1" lang="en-US" altLang="zh-CN" sz="1800" b="1" i="1" dirty="0">
                <a:solidFill>
                  <a:srgbClr val="FF0000"/>
                </a:solidFill>
                <a:latin typeface="+mn-lt"/>
                <a:ea typeface="黑体" pitchFamily="2" charset="-122"/>
              </a:rPr>
              <a:t>PK</a:t>
            </a:r>
            <a:r>
              <a:rPr kumimoji="1" lang="en-US" altLang="zh-CN" sz="1800" b="1" baseline="-25000" dirty="0">
                <a:solidFill>
                  <a:srgbClr val="FF0000"/>
                </a:solidFill>
                <a:latin typeface="+mn-lt"/>
                <a:ea typeface="黑体" pitchFamily="2" charset="-122"/>
              </a:rPr>
              <a:t>B</a:t>
            </a:r>
          </a:p>
        </p:txBody>
      </p:sp>
      <p:sp>
        <p:nvSpPr>
          <p:cNvPr id="600191" name="Text Box 127"/>
          <p:cNvSpPr txBox="1">
            <a:spLocks noChangeArrowheads="1"/>
          </p:cNvSpPr>
          <p:nvPr/>
        </p:nvSpPr>
        <p:spPr bwMode="auto">
          <a:xfrm>
            <a:off x="7870068" y="2205039"/>
            <a:ext cx="159954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A </a:t>
            </a:r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的公钥 </a:t>
            </a:r>
            <a:r>
              <a:rPr kumimoji="1" lang="en-US" altLang="zh-CN" sz="1800" b="1" i="1">
                <a:solidFill>
                  <a:srgbClr val="000099"/>
                </a:solidFill>
                <a:latin typeface="+mn-lt"/>
                <a:ea typeface="黑体" pitchFamily="2" charset="-122"/>
              </a:rPr>
              <a:t>PK</a:t>
            </a:r>
            <a:r>
              <a:rPr kumimoji="1" lang="en-US" altLang="zh-CN" sz="1800" b="1" baseline="-25000">
                <a:solidFill>
                  <a:srgbClr val="000099"/>
                </a:solidFill>
                <a:latin typeface="+mn-lt"/>
                <a:ea typeface="黑体" pitchFamily="2" charset="-122"/>
              </a:rPr>
              <a:t>A</a:t>
            </a:r>
          </a:p>
        </p:txBody>
      </p:sp>
      <p:sp>
        <p:nvSpPr>
          <p:cNvPr id="600194" name="Text Box 130"/>
          <p:cNvSpPr txBox="1">
            <a:spLocks noChangeArrowheads="1"/>
          </p:cNvSpPr>
          <p:nvPr/>
        </p:nvSpPr>
        <p:spPr bwMode="auto">
          <a:xfrm>
            <a:off x="4820878" y="3352801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>
                <a:solidFill>
                  <a:srgbClr val="000099"/>
                </a:solidFill>
                <a:latin typeface="+mn-lt"/>
                <a:ea typeface="黑体" pitchFamily="2" charset="-122"/>
              </a:rPr>
              <a:t>密文</a:t>
            </a:r>
            <a:endParaRPr kumimoji="1" lang="zh-CN" altLang="en-US" sz="1800" b="1" i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93021" y="1268760"/>
            <a:ext cx="5540299" cy="584775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同时实现秘密通信和数字签名</a:t>
            </a:r>
            <a:endParaRPr lang="zh-CN" altLang="en-US" sz="3200" b="1" dirty="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pic>
        <p:nvPicPr>
          <p:cNvPr id="99" name="Picture 7" descr="key 的图像结果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346192" y="2628468"/>
            <a:ext cx="532545" cy="51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7" descr="key 的图像结果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51226" y="2628468"/>
            <a:ext cx="532545" cy="51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075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网络安全问题概述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两类密码体制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数字签名</a:t>
            </a:r>
          </a:p>
          <a:p>
            <a:r>
              <a:rPr lang="zh-CN" altLang="zh-CN" sz="3600" dirty="0">
                <a:solidFill>
                  <a:srgbClr val="FF0000"/>
                </a:solidFill>
              </a:rPr>
              <a:t>鉴别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运输层的安全协议介绍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防火墙</a:t>
            </a:r>
          </a:p>
        </p:txBody>
      </p:sp>
    </p:spTree>
    <p:extLst>
      <p:ext uri="{BB962C8B-B14F-4D97-AF65-F5344CB8AC3E}">
        <p14:creationId xmlns:p14="http://schemas.microsoft.com/office/powerpoint/2010/main" val="2136919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/>
              <a:t>鉴别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在信息的安全领域中，对付被动攻击的重要措施是加密，而</a:t>
            </a:r>
            <a:r>
              <a:rPr lang="zh-CN" altLang="en-US" dirty="0">
                <a:solidFill>
                  <a:srgbClr val="FF0000"/>
                </a:solidFill>
              </a:rPr>
              <a:t>对付主动攻击中的篡改和伪造则要用鉴别 </a:t>
            </a:r>
            <a:r>
              <a:rPr lang="en-US" altLang="zh-CN" dirty="0"/>
              <a:t>(authentication)</a:t>
            </a:r>
            <a:r>
              <a:rPr lang="en-US" altLang="zh-CN" sz="3600" dirty="0"/>
              <a:t> 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报文鉴别</a:t>
            </a:r>
            <a:r>
              <a:rPr lang="zh-CN" altLang="en-US" dirty="0"/>
              <a:t>使得通信的接收方能够验证所收到的报文（发送者和报文内容、发送时间、序列等）的真伪。</a:t>
            </a:r>
          </a:p>
          <a:p>
            <a:r>
              <a:rPr lang="zh-CN" altLang="en-US" dirty="0"/>
              <a:t>使用加密就可达到报文鉴别的目的。但在网络的应用中，许多报文并不需要加密。应当使接收者能用很简单的方法鉴别报文的真伪。    </a:t>
            </a:r>
          </a:p>
        </p:txBody>
      </p:sp>
    </p:spTree>
    <p:extLst>
      <p:ext uri="{BB962C8B-B14F-4D97-AF65-F5344CB8AC3E}">
        <p14:creationId xmlns:p14="http://schemas.microsoft.com/office/powerpoint/2010/main" val="1147408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鉴别与授权不同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/>
              <a:t>鉴别与</a:t>
            </a:r>
            <a:r>
              <a:rPr lang="zh-CN" altLang="en-US" dirty="0">
                <a:solidFill>
                  <a:srgbClr val="FF0000"/>
                </a:solidFill>
              </a:rPr>
              <a:t>授权 </a:t>
            </a:r>
            <a:r>
              <a:rPr lang="en-US" altLang="zh-CN" dirty="0"/>
              <a:t>(authorization)</a:t>
            </a:r>
            <a:r>
              <a:rPr lang="zh-CN" altLang="en-US" dirty="0"/>
              <a:t>是不同的概念。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授权涉及到的问题是：所进行的过程是否被允许（如是否可以对某文件进行读或写）。 </a:t>
            </a:r>
          </a:p>
        </p:txBody>
      </p:sp>
    </p:spTree>
    <p:extLst>
      <p:ext uri="{BB962C8B-B14F-4D97-AF65-F5344CB8AC3E}">
        <p14:creationId xmlns:p14="http://schemas.microsoft.com/office/powerpoint/2010/main" val="3269199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鉴别分类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可再把鉴别细分为两种。</a:t>
            </a:r>
            <a:endParaRPr lang="en-US" altLang="zh-CN" dirty="0"/>
          </a:p>
          <a:p>
            <a:r>
              <a:rPr lang="zh-CN" altLang="zh-CN" dirty="0">
                <a:solidFill>
                  <a:srgbClr val="FF0000"/>
                </a:solidFill>
              </a:rPr>
              <a:t>报文鉴别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zh-CN" dirty="0"/>
              <a:t>即鉴别所收到的报文的确是报文的发送者所发送的，而不是其他人伪造的或篡改的。这就包含了端点鉴别和报文完整性的鉴别。</a:t>
            </a:r>
            <a:endParaRPr lang="en-US" altLang="zh-CN" dirty="0"/>
          </a:p>
          <a:p>
            <a:r>
              <a:rPr lang="zh-CN" altLang="zh-CN" dirty="0">
                <a:solidFill>
                  <a:srgbClr val="FF0000"/>
                </a:solidFill>
              </a:rPr>
              <a:t>实体鉴别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zh-CN" dirty="0"/>
              <a:t>仅仅鉴别发送报文的实体。实体可以是一个人，也可以是一个进程（客户或服务器）。这就是端点鉴别。</a:t>
            </a:r>
          </a:p>
        </p:txBody>
      </p:sp>
    </p:spTree>
    <p:extLst>
      <p:ext uri="{BB962C8B-B14F-4D97-AF65-F5344CB8AC3E}">
        <p14:creationId xmlns:p14="http://schemas.microsoft.com/office/powerpoint/2010/main" val="1710716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报文鉴别 </a:t>
            </a:r>
          </a:p>
        </p:txBody>
      </p:sp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许多报文并不需要加密，但却需要数字签名，以便让报文的接收者能够</a:t>
            </a:r>
            <a:r>
              <a:rPr lang="zh-CN" altLang="en-US" dirty="0">
                <a:solidFill>
                  <a:srgbClr val="FF0000"/>
                </a:solidFill>
              </a:rPr>
              <a:t>鉴别报文的真伪。</a:t>
            </a:r>
          </a:p>
          <a:p>
            <a:r>
              <a:rPr lang="zh-CN" altLang="en-US" dirty="0"/>
              <a:t>然而对很长的报文进行数字签名会使计算机增加很大的负担（需要进行很长时间的运算）。</a:t>
            </a:r>
          </a:p>
          <a:p>
            <a:r>
              <a:rPr lang="zh-CN" altLang="en-US" dirty="0"/>
              <a:t>当我们传送不需要加密的报文时，应当使接收者能用很简单的方法鉴别报文的真伪。</a:t>
            </a:r>
          </a:p>
        </p:txBody>
      </p:sp>
    </p:spTree>
    <p:extLst>
      <p:ext uri="{BB962C8B-B14F-4D97-AF65-F5344CB8AC3E}">
        <p14:creationId xmlns:p14="http://schemas.microsoft.com/office/powerpoint/2010/main" val="2660927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zh-CN" dirty="0"/>
              <a:t>密码散列函数</a:t>
            </a:r>
            <a:endParaRPr lang="en-US" altLang="zh-CN" dirty="0"/>
          </a:p>
        </p:txBody>
      </p:sp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数字签名就能够实现对报文的鉴别。</a:t>
            </a:r>
            <a:r>
              <a:rPr lang="zh-CN" altLang="en-US" dirty="0"/>
              <a:t>但</a:t>
            </a:r>
            <a:r>
              <a:rPr lang="zh-CN" altLang="zh-CN" dirty="0"/>
              <a:t>这种方法有一个很大的</a:t>
            </a:r>
            <a:r>
              <a:rPr lang="zh-CN" altLang="zh-CN" dirty="0">
                <a:solidFill>
                  <a:srgbClr val="FF0000"/>
                </a:solidFill>
              </a:rPr>
              <a:t>缺点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zh-CN" dirty="0"/>
              <a:t>对较长的报文（这是很常见的）进行数字签名会使计算机增加非常大的负担，因为这需要进行较多的时间来进行运算。</a:t>
            </a:r>
            <a:endParaRPr lang="en-US" altLang="zh-CN" dirty="0"/>
          </a:p>
          <a:p>
            <a:r>
              <a:rPr lang="zh-CN" altLang="zh-CN" dirty="0">
                <a:solidFill>
                  <a:srgbClr val="FF0000"/>
                </a:solidFill>
              </a:rPr>
              <a:t>密码散列函数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(cryptographic hash function)</a:t>
            </a:r>
            <a:r>
              <a:rPr lang="zh-CN" altLang="en-US" dirty="0"/>
              <a:t>是</a:t>
            </a:r>
            <a:r>
              <a:rPr lang="zh-CN" altLang="zh-CN" dirty="0"/>
              <a:t>一种相对简单的对报文进行鉴别</a:t>
            </a:r>
            <a:r>
              <a:rPr lang="zh-CN" altLang="en-US" dirty="0"/>
              <a:t>的</a:t>
            </a:r>
            <a:r>
              <a:rPr lang="zh-CN" altLang="zh-CN" dirty="0"/>
              <a:t>方法。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33142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散列函数</a:t>
            </a:r>
            <a:r>
              <a:rPr lang="zh-CN" altLang="en-US" dirty="0"/>
              <a:t>的</a:t>
            </a:r>
            <a:r>
              <a:rPr lang="zh-CN" altLang="zh-CN" dirty="0"/>
              <a:t>两个特点</a:t>
            </a:r>
            <a:endParaRPr lang="en-US" altLang="zh-CN" dirty="0"/>
          </a:p>
        </p:txBody>
      </p:sp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(1) </a:t>
            </a:r>
            <a:r>
              <a:rPr lang="zh-CN" altLang="zh-CN" dirty="0"/>
              <a:t>散列函数的输入长度可以很长，但其输出长度则是固定的，并且较短。散列函数的输出叫做散列值，或更简单些，称为</a:t>
            </a:r>
            <a:r>
              <a:rPr lang="zh-CN" altLang="zh-CN" dirty="0">
                <a:solidFill>
                  <a:srgbClr val="FF0000"/>
                </a:solidFill>
              </a:rPr>
              <a:t>散列。</a:t>
            </a:r>
          </a:p>
          <a:p>
            <a:r>
              <a:rPr lang="en-US" altLang="zh-CN" dirty="0"/>
              <a:t>(2) </a:t>
            </a:r>
            <a:r>
              <a:rPr lang="zh-CN" altLang="zh-CN" dirty="0"/>
              <a:t>不同的散列值肯定对应于不同的输入，但不同的输入却可能得出相同的散列值。这就是说，散列函数的输入和输出并非一一对应的，而是</a:t>
            </a:r>
            <a:r>
              <a:rPr lang="zh-CN" altLang="zh-CN" dirty="0">
                <a:solidFill>
                  <a:srgbClr val="FF0000"/>
                </a:solidFill>
              </a:rPr>
              <a:t>多对一</a:t>
            </a:r>
            <a:r>
              <a:rPr lang="zh-CN" altLang="zh-CN" dirty="0"/>
              <a:t>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57464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密码散列函数</a:t>
            </a:r>
            <a:r>
              <a:rPr lang="zh-CN" altLang="en-US" dirty="0"/>
              <a:t>的</a:t>
            </a:r>
            <a:r>
              <a:rPr lang="zh-CN" altLang="zh-CN" dirty="0"/>
              <a:t>特点</a:t>
            </a:r>
            <a:endParaRPr lang="en-US" altLang="zh-CN" dirty="0"/>
          </a:p>
        </p:txBody>
      </p:sp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在密码学中使用的散列函数称为</a:t>
            </a:r>
            <a:r>
              <a:rPr lang="zh-CN" altLang="zh-CN" dirty="0">
                <a:solidFill>
                  <a:srgbClr val="FF0000"/>
                </a:solidFill>
              </a:rPr>
              <a:t>密码散列函数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pPr lvl="0"/>
            <a:r>
              <a:rPr lang="zh-CN" altLang="en-US" dirty="0"/>
              <a:t>特点：</a:t>
            </a:r>
            <a:r>
              <a:rPr lang="zh-CN" altLang="en-US" dirty="0">
                <a:solidFill>
                  <a:srgbClr val="FF0000"/>
                </a:solidFill>
              </a:rPr>
              <a:t>单向性。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要找到两个不同的报文，它们具有同样的密码散列函数输出，在计算上是不可行的。</a:t>
            </a:r>
            <a:endParaRPr lang="en-US" altLang="zh-CN" dirty="0"/>
          </a:p>
          <a:p>
            <a:pPr lvl="1"/>
            <a:r>
              <a:rPr lang="zh-CN" altLang="zh-CN" dirty="0"/>
              <a:t>也就是说，密码散列函数实际上是一种单向函数</a:t>
            </a:r>
            <a:r>
              <a:rPr lang="en-US" altLang="zh-CN" dirty="0"/>
              <a:t> (one-way function)</a:t>
            </a:r>
            <a:r>
              <a:rPr lang="zh-CN" altLang="zh-CN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616686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密码散列函数</a:t>
            </a:r>
            <a:r>
              <a:rPr lang="zh-CN" altLang="en-US" dirty="0"/>
              <a:t>的</a:t>
            </a:r>
            <a:r>
              <a:rPr lang="zh-CN" altLang="zh-CN" dirty="0"/>
              <a:t>特点</a:t>
            </a:r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1280592" y="1228690"/>
            <a:ext cx="7632847" cy="2200310"/>
            <a:chOff x="2864768" y="3887122"/>
            <a:chExt cx="5904655" cy="1980279"/>
          </a:xfrm>
        </p:grpSpPr>
        <p:sp>
          <p:nvSpPr>
            <p:cNvPr id="6" name="TextBox 5"/>
            <p:cNvSpPr txBox="1"/>
            <p:nvPr/>
          </p:nvSpPr>
          <p:spPr>
            <a:xfrm>
              <a:off x="2976177" y="3887122"/>
              <a:ext cx="1128702" cy="360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长的明文 </a:t>
              </a:r>
              <a:r>
                <a:rPr lang="en-US" altLang="zh-CN" sz="2000" b="1" i="1" dirty="0">
                  <a:solidFill>
                    <a:srgbClr val="000099"/>
                  </a:solidFill>
                  <a:latin typeface="+mn-lt"/>
                  <a:ea typeface="黑体" pitchFamily="2" charset="-122"/>
                  <a:cs typeface="Times New Roman" pitchFamily="18" charset="0"/>
                </a:rPr>
                <a:t>X</a:t>
              </a:r>
              <a:endParaRPr lang="zh-CN" altLang="en-US" sz="2000" b="1" i="1" dirty="0">
                <a:solidFill>
                  <a:srgbClr val="000099"/>
                </a:solidFill>
                <a:latin typeface="+mn-lt"/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67838" y="4552664"/>
              <a:ext cx="1440160" cy="53252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rgbClr val="000099"/>
                  </a:solidFill>
                  <a:ea typeface="黑体" pitchFamily="2" charset="-122"/>
                </a:rPr>
                <a:t>散列函数 </a:t>
              </a:r>
              <a:r>
                <a:rPr lang="en-US" altLang="zh-CN" sz="2000" b="1" i="1" dirty="0">
                  <a:solidFill>
                    <a:srgbClr val="000099"/>
                  </a:solidFill>
                  <a:ea typeface="黑体" pitchFamily="2" charset="-122"/>
                  <a:cs typeface="Times New Roman" pitchFamily="18" charset="0"/>
                </a:rPr>
                <a:t>H</a:t>
              </a:r>
              <a:r>
                <a:rPr lang="en-US" altLang="zh-CN" sz="2000" b="1" dirty="0">
                  <a:solidFill>
                    <a:srgbClr val="000099"/>
                  </a:solidFill>
                  <a:ea typeface="黑体" pitchFamily="2" charset="-122"/>
                  <a:cs typeface="Times New Roman" pitchFamily="18" charset="0"/>
                </a:rPr>
                <a:t>(</a:t>
              </a:r>
              <a:r>
                <a:rPr lang="en-US" altLang="zh-CN" sz="2000" b="1" i="1" dirty="0">
                  <a:solidFill>
                    <a:srgbClr val="000099"/>
                  </a:solidFill>
                  <a:ea typeface="黑体" pitchFamily="2" charset="-122"/>
                  <a:cs typeface="Times New Roman" pitchFamily="18" charset="0"/>
                  <a:sym typeface="Wingdings"/>
                </a:rPr>
                <a:t>X</a:t>
              </a:r>
              <a:r>
                <a:rPr lang="en-US" altLang="zh-CN" sz="2000" b="1" dirty="0">
                  <a:solidFill>
                    <a:srgbClr val="000099"/>
                  </a:solidFill>
                  <a:ea typeface="黑体" pitchFamily="2" charset="-122"/>
                  <a:cs typeface="Times New Roman" pitchFamily="18" charset="0"/>
                </a:rPr>
                <a:t>)</a:t>
              </a:r>
              <a:endParaRPr lang="zh-CN" altLang="en-US" sz="2000" b="1" dirty="0">
                <a:solidFill>
                  <a:srgbClr val="000099"/>
                </a:solidFill>
                <a:ea typeface="黑体" pitchFamily="2" charset="-122"/>
                <a:cs typeface="Times New Roman" pitchFamily="18" charset="0"/>
              </a:endParaRPr>
            </a:p>
          </p:txBody>
        </p:sp>
        <p:sp>
          <p:nvSpPr>
            <p:cNvPr id="8" name="流程图: 文档 7"/>
            <p:cNvSpPr/>
            <p:nvPr/>
          </p:nvSpPr>
          <p:spPr>
            <a:xfrm>
              <a:off x="7403252" y="4681519"/>
              <a:ext cx="1366171" cy="763706"/>
            </a:xfrm>
            <a:prstGeom prst="flowChartDocumen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400" b="1" dirty="0">
                  <a:solidFill>
                    <a:srgbClr val="000099"/>
                  </a:solidFill>
                  <a:ea typeface="黑体" pitchFamily="2" charset="-122"/>
                </a:rPr>
                <a:t>10010…1011</a:t>
              </a:r>
              <a:endParaRPr lang="zh-CN" altLang="en-US" sz="24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4213424" y="4791117"/>
              <a:ext cx="825479" cy="150051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0" name="右箭头 9"/>
            <p:cNvSpPr/>
            <p:nvPr/>
          </p:nvSpPr>
          <p:spPr>
            <a:xfrm>
              <a:off x="6517680" y="4797153"/>
              <a:ext cx="864096" cy="163379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1" name="流程图: 文档 10"/>
            <p:cNvSpPr/>
            <p:nvPr/>
          </p:nvSpPr>
          <p:spPr>
            <a:xfrm>
              <a:off x="2864768" y="4211217"/>
              <a:ext cx="1348656" cy="1656184"/>
            </a:xfrm>
            <a:prstGeom prst="flowChartDocumen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864768" y="4246057"/>
              <a:ext cx="1348656" cy="1578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The ABC Computer Network………………</a:t>
              </a:r>
            </a:p>
            <a:p>
              <a:r>
                <a:rPr lang="en-US" altLang="zh-CN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………………………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70123" y="4149080"/>
              <a:ext cx="1740051" cy="360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+mn-lt"/>
                  <a:ea typeface="黑体" pitchFamily="2" charset="-122"/>
                  <a:cs typeface="Times New Roman" pitchFamily="18" charset="0"/>
                </a:rPr>
                <a:t>多对一的单向变换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53652" y="4063772"/>
              <a:ext cx="1340752" cy="637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0099"/>
                  </a:solidFill>
                  <a:latin typeface="+mn-lt"/>
                  <a:ea typeface="黑体" pitchFamily="2" charset="-122"/>
                  <a:cs typeface="Times New Roman" pitchFamily="18" charset="0"/>
                </a:rPr>
                <a:t>得出固定长度</a:t>
              </a:r>
              <a:endParaRPr lang="en-US" altLang="zh-CN" sz="2000" b="1" dirty="0">
                <a:solidFill>
                  <a:srgbClr val="000099"/>
                </a:solidFill>
                <a:latin typeface="+mn-lt"/>
                <a:ea typeface="黑体" pitchFamily="2" charset="-122"/>
                <a:cs typeface="Times New Roman" pitchFamily="18" charset="0"/>
              </a:endParaRPr>
            </a:p>
            <a:p>
              <a:pPr algn="ctr"/>
              <a:r>
                <a:rPr lang="zh-CN" altLang="en-US" sz="2000" b="1" dirty="0">
                  <a:solidFill>
                    <a:srgbClr val="000099"/>
                  </a:solidFill>
                  <a:latin typeface="+mn-lt"/>
                  <a:ea typeface="黑体" pitchFamily="2" charset="-122"/>
                  <a:cs typeface="Times New Roman" pitchFamily="18" charset="0"/>
                </a:rPr>
                <a:t>的散列值</a:t>
              </a:r>
            </a:p>
          </p:txBody>
        </p:sp>
        <p:sp>
          <p:nvSpPr>
            <p:cNvPr id="15" name="右箭头 14"/>
            <p:cNvSpPr/>
            <p:nvPr/>
          </p:nvSpPr>
          <p:spPr>
            <a:xfrm rot="10800000">
              <a:off x="4213425" y="5229200"/>
              <a:ext cx="3168351" cy="163378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37560" y="4697269"/>
              <a:ext cx="534713" cy="10802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200" b="1" dirty="0">
                  <a:solidFill>
                    <a:srgbClr val="FF0000"/>
                  </a:solidFill>
                  <a:latin typeface="+mn-lt"/>
                  <a:ea typeface="黑体" pitchFamily="2" charset="-122"/>
                  <a:sym typeface="Symbol"/>
                </a:rPr>
                <a:t></a:t>
              </a:r>
              <a:endParaRPr lang="zh-CN" altLang="en-US" sz="7200" b="1" dirty="0">
                <a:solidFill>
                  <a:srgbClr val="FF0000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861496" y="5466710"/>
              <a:ext cx="1939701" cy="360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+mn-lt"/>
                  <a:ea typeface="黑体" pitchFamily="2" charset="-122"/>
                  <a:cs typeface="Times New Roman" pitchFamily="18" charset="0"/>
                </a:rPr>
                <a:t>逆向变换是不可能的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1280592" y="3933056"/>
            <a:ext cx="7632847" cy="1289033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散列</a:t>
            </a:r>
            <a:r>
              <a:rPr lang="en-US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sz="3200" b="1" i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H(X)</a:t>
            </a:r>
            <a:r>
              <a:rPr lang="en-US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</a:t>
            </a:r>
            <a:r>
              <a:rPr lang="zh-CN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可用来保护明文</a:t>
            </a:r>
            <a:r>
              <a:rPr lang="en-US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X</a:t>
            </a:r>
            <a:r>
              <a:rPr lang="zh-CN" altLang="zh-CN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的完整性</a:t>
            </a:r>
            <a:r>
              <a:rPr lang="zh-CN" altLang="en-US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，</a:t>
            </a:r>
            <a:endParaRPr lang="en-US" altLang="zh-CN" sz="3200" b="1" dirty="0">
              <a:solidFill>
                <a:srgbClr val="000099"/>
              </a:solidFill>
              <a:latin typeface="+mn-lt"/>
              <a:ea typeface="黑体" pitchFamily="2" charset="-122"/>
            </a:endParaRPr>
          </a:p>
          <a:p>
            <a:pPr algn="ctr"/>
            <a:r>
              <a:rPr lang="zh-CN" altLang="en-US" sz="32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防篡改和伪造。</a:t>
            </a:r>
          </a:p>
        </p:txBody>
      </p:sp>
    </p:spTree>
    <p:extLst>
      <p:ext uri="{BB962C8B-B14F-4D97-AF65-F5344CB8AC3E}">
        <p14:creationId xmlns:p14="http://schemas.microsoft.com/office/powerpoint/2010/main" val="832401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2. </a:t>
            </a:r>
            <a:r>
              <a:rPr lang="zh-CN" altLang="zh-CN" sz="4000" dirty="0"/>
              <a:t>实用的密码散列函数</a:t>
            </a:r>
            <a:r>
              <a:rPr lang="en-US" altLang="zh-CN" sz="4000" dirty="0"/>
              <a:t>MD5</a:t>
            </a:r>
            <a:r>
              <a:rPr lang="zh-CN" altLang="zh-CN" sz="4000" dirty="0"/>
              <a:t>和</a:t>
            </a:r>
            <a:r>
              <a:rPr lang="en-US" altLang="zh-CN" sz="4000" dirty="0"/>
              <a:t>SHA-1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通过许多学者的不断努力，已经设计出一些实用的密码散列函数（或称为散列算法），其中最出名的就是</a:t>
            </a:r>
            <a:r>
              <a:rPr lang="en-US" altLang="zh-CN" dirty="0"/>
              <a:t> MD5 </a:t>
            </a:r>
            <a:r>
              <a:rPr lang="zh-CN" altLang="zh-CN" dirty="0"/>
              <a:t>和</a:t>
            </a:r>
            <a:r>
              <a:rPr lang="en-US" altLang="zh-CN" dirty="0"/>
              <a:t> SHA-1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dirty="0"/>
              <a:t>报文摘要算法</a:t>
            </a:r>
            <a:r>
              <a:rPr lang="en-US" altLang="zh-CN" dirty="0"/>
              <a:t> MD5 </a:t>
            </a:r>
            <a:r>
              <a:rPr lang="zh-CN" altLang="zh-CN" dirty="0"/>
              <a:t>公布于</a:t>
            </a:r>
            <a:r>
              <a:rPr lang="en-US" altLang="zh-CN" dirty="0"/>
              <a:t>RFC 1321 (1991</a:t>
            </a:r>
            <a:r>
              <a:rPr lang="zh-CN" altLang="zh-CN" dirty="0"/>
              <a:t>年</a:t>
            </a:r>
            <a:r>
              <a:rPr lang="en-US" altLang="zh-CN" dirty="0"/>
              <a:t>)</a:t>
            </a:r>
            <a:r>
              <a:rPr lang="zh-CN" altLang="zh-CN" dirty="0"/>
              <a:t>，并获得了非常广泛的应用。</a:t>
            </a:r>
            <a:endParaRPr lang="en-US" altLang="zh-CN" dirty="0"/>
          </a:p>
          <a:p>
            <a:r>
              <a:rPr lang="en-US" altLang="zh-CN" dirty="0"/>
              <a:t>SHA-1</a:t>
            </a:r>
            <a:r>
              <a:rPr lang="zh-CN" altLang="zh-CN" dirty="0"/>
              <a:t>比</a:t>
            </a:r>
            <a:r>
              <a:rPr lang="en-US" altLang="zh-CN" dirty="0"/>
              <a:t> MD5 </a:t>
            </a:r>
            <a:r>
              <a:rPr lang="zh-CN" altLang="zh-CN" dirty="0"/>
              <a:t>更安全，但计算起来却比</a:t>
            </a:r>
            <a:r>
              <a:rPr lang="en-US" altLang="zh-CN" dirty="0"/>
              <a:t> MD5 </a:t>
            </a:r>
            <a:r>
              <a:rPr lang="zh-CN" altLang="zh-CN" dirty="0"/>
              <a:t>要慢些。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9418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MD5 </a:t>
            </a:r>
            <a:r>
              <a:rPr lang="zh-CN" altLang="en-US" dirty="0"/>
              <a:t>算法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MD5</a:t>
            </a:r>
            <a:r>
              <a:rPr lang="zh-CN" altLang="en-US" sz="2800" dirty="0"/>
              <a:t>是</a:t>
            </a:r>
            <a:r>
              <a:rPr lang="zh-CN" altLang="en-US" sz="2800" dirty="0">
                <a:solidFill>
                  <a:srgbClr val="FF0000"/>
                </a:solidFill>
              </a:rPr>
              <a:t>报文摘要 </a:t>
            </a:r>
            <a:r>
              <a:rPr lang="en-US" altLang="zh-CN" sz="2800" dirty="0">
                <a:solidFill>
                  <a:srgbClr val="FF0000"/>
                </a:solidFill>
              </a:rPr>
              <a:t>MD </a:t>
            </a:r>
            <a:r>
              <a:rPr lang="en-US" altLang="zh-CN" sz="2800" dirty="0"/>
              <a:t>(Message Digest) </a:t>
            </a:r>
            <a:r>
              <a:rPr lang="zh-CN" altLang="en-US" sz="2800" dirty="0"/>
              <a:t>的第</a:t>
            </a:r>
            <a:r>
              <a:rPr lang="en-US" altLang="zh-CN" sz="2800" dirty="0"/>
              <a:t>5</a:t>
            </a:r>
            <a:r>
              <a:rPr lang="zh-CN" altLang="en-US" sz="2800" dirty="0"/>
              <a:t>个版本。</a:t>
            </a:r>
            <a:r>
              <a:rPr lang="zh-CN" altLang="zh-CN" sz="2800" dirty="0"/>
              <a:t>报文摘要算法</a:t>
            </a:r>
            <a:r>
              <a:rPr lang="en-US" altLang="zh-CN" sz="2800" dirty="0"/>
              <a:t>MD5</a:t>
            </a:r>
            <a:r>
              <a:rPr lang="zh-CN" altLang="zh-CN" sz="2800" dirty="0"/>
              <a:t>公布于</a:t>
            </a:r>
            <a:r>
              <a:rPr lang="en-US" altLang="zh-CN" sz="2800" dirty="0"/>
              <a:t>RFC 1321 (1991</a:t>
            </a:r>
            <a:r>
              <a:rPr lang="zh-CN" altLang="zh-CN" sz="2800" dirty="0"/>
              <a:t>年</a:t>
            </a:r>
            <a:r>
              <a:rPr lang="en-US" altLang="zh-CN" sz="2800" dirty="0"/>
              <a:t>)</a:t>
            </a:r>
            <a:r>
              <a:rPr lang="zh-CN" altLang="zh-CN" sz="2800" dirty="0"/>
              <a:t>，并获得了非常广泛的应用。</a:t>
            </a:r>
            <a:endParaRPr lang="en-US" altLang="zh-CN" sz="2800" dirty="0"/>
          </a:p>
          <a:p>
            <a:pPr>
              <a:lnSpc>
                <a:spcPct val="120000"/>
              </a:lnSpc>
            </a:pPr>
            <a:r>
              <a:rPr lang="en-US" altLang="zh-CN" sz="2800" dirty="0"/>
              <a:t>MD5 </a:t>
            </a:r>
            <a:r>
              <a:rPr lang="zh-CN" altLang="zh-CN" sz="2800" dirty="0"/>
              <a:t>的设计者</a:t>
            </a:r>
            <a:r>
              <a:rPr lang="en-US" altLang="zh-CN" sz="2800" dirty="0"/>
              <a:t> </a:t>
            </a:r>
            <a:r>
              <a:rPr lang="en-US" altLang="zh-CN" sz="2800" dirty="0" err="1"/>
              <a:t>Rivest</a:t>
            </a:r>
            <a:r>
              <a:rPr lang="zh-CN" altLang="zh-CN" sz="2800" dirty="0"/>
              <a:t>曾提出一个猜想，即根据给定的</a:t>
            </a:r>
            <a:r>
              <a:rPr lang="en-US" altLang="zh-CN" sz="2800" dirty="0"/>
              <a:t> MD5 </a:t>
            </a:r>
            <a:r>
              <a:rPr lang="zh-CN" altLang="zh-CN" sz="2800" dirty="0"/>
              <a:t>报文摘要代码，要找出一个与原来报文有相同报文摘要的另一报文，其难度在计算上几乎是不可能的。</a:t>
            </a:r>
            <a:endParaRPr lang="en-US" altLang="zh-CN" sz="2800" dirty="0"/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基本思想：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/>
              <a:t>用足够复杂的方法将报文的数据位充分“弄乱”，</a:t>
            </a:r>
            <a:r>
              <a:rPr lang="zh-CN" altLang="zh-CN" sz="2400" dirty="0"/>
              <a:t>报文摘要代码中的每一位都与原来报文中的每一位有关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585501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MD5 </a:t>
            </a:r>
            <a:r>
              <a:rPr lang="zh-CN" altLang="en-US" dirty="0"/>
              <a:t>算法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zh-CN" altLang="en-US" dirty="0"/>
              <a:t>计算步骤：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，附加：</a:t>
            </a:r>
            <a:r>
              <a:rPr lang="zh-CN" altLang="zh-CN" dirty="0"/>
              <a:t>把任意长的报文按模</a:t>
            </a:r>
            <a:r>
              <a:rPr lang="en-US" altLang="zh-CN" dirty="0"/>
              <a:t> 2</a:t>
            </a:r>
            <a:r>
              <a:rPr lang="en-US" altLang="zh-CN" baseline="30000" dirty="0"/>
              <a:t>64</a:t>
            </a:r>
            <a:r>
              <a:rPr lang="en-US" altLang="zh-CN" dirty="0"/>
              <a:t> </a:t>
            </a:r>
            <a:r>
              <a:rPr lang="zh-CN" altLang="zh-CN" dirty="0"/>
              <a:t>计算其余数（</a:t>
            </a:r>
            <a:r>
              <a:rPr lang="en-US" altLang="zh-CN" dirty="0"/>
              <a:t>64</a:t>
            </a:r>
            <a:r>
              <a:rPr lang="zh-CN" altLang="zh-CN" dirty="0"/>
              <a:t>位），追加在报文的后面</a:t>
            </a:r>
            <a:r>
              <a:rPr lang="zh-CN" altLang="en-US" dirty="0"/>
              <a:t>（长度项）</a:t>
            </a:r>
            <a:r>
              <a:rPr lang="zh-CN" altLang="zh-CN" dirty="0"/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，填充：</a:t>
            </a:r>
            <a:r>
              <a:rPr lang="zh-CN" altLang="zh-CN" dirty="0"/>
              <a:t>在报文和</a:t>
            </a:r>
            <a:r>
              <a:rPr lang="zh-CN" altLang="en-US" dirty="0"/>
              <a:t>长度项</a:t>
            </a:r>
            <a:r>
              <a:rPr lang="zh-CN" altLang="zh-CN" dirty="0"/>
              <a:t>之间填充</a:t>
            </a:r>
            <a:r>
              <a:rPr lang="en-US" altLang="zh-CN" dirty="0"/>
              <a:t> 1</a:t>
            </a:r>
            <a:r>
              <a:rPr lang="en-US" altLang="zh-CN" dirty="0">
                <a:sym typeface="Symbol"/>
              </a:rPr>
              <a:t></a:t>
            </a:r>
            <a:r>
              <a:rPr lang="en-US" altLang="zh-CN" dirty="0"/>
              <a:t>512 </a:t>
            </a:r>
            <a:r>
              <a:rPr lang="zh-CN" altLang="zh-CN" dirty="0"/>
              <a:t>位，使得填充后的总长度是</a:t>
            </a:r>
            <a:r>
              <a:rPr lang="en-US" altLang="zh-CN" dirty="0"/>
              <a:t> 512 </a:t>
            </a:r>
            <a:r>
              <a:rPr lang="zh-CN" altLang="zh-CN" dirty="0"/>
              <a:t>的整数倍。填充的首位是</a:t>
            </a:r>
            <a:r>
              <a:rPr lang="en-US" altLang="zh-CN" dirty="0"/>
              <a:t> 1</a:t>
            </a:r>
            <a:r>
              <a:rPr lang="zh-CN" altLang="zh-CN" dirty="0"/>
              <a:t>，后面都是</a:t>
            </a:r>
            <a:r>
              <a:rPr lang="en-US" altLang="zh-CN" dirty="0"/>
              <a:t> 0</a:t>
            </a:r>
            <a:r>
              <a:rPr lang="zh-CN" altLang="zh-CN" dirty="0"/>
              <a:t>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68624" y="4437112"/>
            <a:ext cx="6840760" cy="1872208"/>
            <a:chOff x="1568624" y="4437112"/>
            <a:chExt cx="6840760" cy="1872208"/>
          </a:xfrm>
        </p:grpSpPr>
        <p:sp>
          <p:nvSpPr>
            <p:cNvPr id="22" name="矩形 21"/>
            <p:cNvSpPr/>
            <p:nvPr/>
          </p:nvSpPr>
          <p:spPr bwMode="auto">
            <a:xfrm>
              <a:off x="1568624" y="4437112"/>
              <a:ext cx="3672408" cy="504056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99"/>
                  </a:solidFill>
                  <a:effectLst/>
                  <a:latin typeface="+mn-lt"/>
                  <a:ea typeface="黑体" pitchFamily="2" charset="-122"/>
                </a:rPr>
                <a:t>报文</a:t>
              </a: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5241032" y="4437112"/>
              <a:ext cx="1728192" cy="504056"/>
            </a:xfrm>
            <a:prstGeom prst="rect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rgbClr val="000099"/>
                  </a:solidFill>
                  <a:effectLst/>
                  <a:latin typeface="+mn-lt"/>
                  <a:ea typeface="黑体" pitchFamily="2" charset="-122"/>
                </a:rPr>
                <a:t>1000…00</a:t>
              </a:r>
              <a:endPara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lt"/>
                <a:ea typeface="黑体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6969224" y="4437112"/>
              <a:ext cx="1440160" cy="504056"/>
            </a:xfrm>
            <a:prstGeom prst="rect">
              <a:avLst/>
            </a:prstGeom>
            <a:solidFill>
              <a:srgbClr val="66FFFF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b="1" i="0" u="none" strike="noStrike" cap="none" normalizeH="0" baseline="0" dirty="0">
                  <a:ln>
                    <a:noFill/>
                  </a:ln>
                  <a:solidFill>
                    <a:srgbClr val="000099"/>
                  </a:solidFill>
                  <a:effectLst/>
                  <a:latin typeface="+mn-lt"/>
                  <a:ea typeface="黑体" pitchFamily="2" charset="-122"/>
                </a:rPr>
                <a:t>长度项</a:t>
              </a:r>
            </a:p>
          </p:txBody>
        </p:sp>
        <p:cxnSp>
          <p:nvCxnSpPr>
            <p:cNvPr id="27" name="直接连接符 26"/>
            <p:cNvCxnSpPr/>
            <p:nvPr/>
          </p:nvCxnSpPr>
          <p:spPr bwMode="auto">
            <a:xfrm>
              <a:off x="1568624" y="5013176"/>
              <a:ext cx="0" cy="129614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27"/>
            <p:cNvCxnSpPr/>
            <p:nvPr/>
          </p:nvCxnSpPr>
          <p:spPr bwMode="auto">
            <a:xfrm>
              <a:off x="5241032" y="5013176"/>
              <a:ext cx="0" cy="50405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28"/>
            <p:cNvCxnSpPr/>
            <p:nvPr/>
          </p:nvCxnSpPr>
          <p:spPr bwMode="auto">
            <a:xfrm>
              <a:off x="6969224" y="5013176"/>
              <a:ext cx="0" cy="93610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29"/>
            <p:cNvCxnSpPr/>
            <p:nvPr/>
          </p:nvCxnSpPr>
          <p:spPr bwMode="auto">
            <a:xfrm>
              <a:off x="8376997" y="5013176"/>
              <a:ext cx="0" cy="129614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接箭头连接符 30"/>
            <p:cNvCxnSpPr/>
            <p:nvPr/>
          </p:nvCxnSpPr>
          <p:spPr bwMode="auto">
            <a:xfrm>
              <a:off x="1568624" y="5265204"/>
              <a:ext cx="367240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箭头连接符 31"/>
            <p:cNvCxnSpPr/>
            <p:nvPr/>
          </p:nvCxnSpPr>
          <p:spPr bwMode="auto">
            <a:xfrm>
              <a:off x="1568624" y="5661248"/>
              <a:ext cx="54006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箭头连接符 32"/>
            <p:cNvCxnSpPr/>
            <p:nvPr/>
          </p:nvCxnSpPr>
          <p:spPr bwMode="auto">
            <a:xfrm>
              <a:off x="1568624" y="6093296"/>
              <a:ext cx="680837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" name="TextBox 33"/>
            <p:cNvSpPr txBox="1"/>
            <p:nvPr/>
          </p:nvSpPr>
          <p:spPr>
            <a:xfrm>
              <a:off x="2727888" y="5085184"/>
              <a:ext cx="12170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+mn-lt"/>
                  <a:ea typeface="黑体" pitchFamily="2" charset="-122"/>
                </a:rPr>
                <a:t>报文长度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288704" y="5481228"/>
              <a:ext cx="383310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+mn-lt"/>
                  <a:ea typeface="黑体" pitchFamily="2" charset="-122"/>
                </a:rPr>
                <a:t>带填充位的长度，模 </a:t>
              </a:r>
              <a:r>
                <a:rPr lang="en-US" altLang="zh-CN" sz="2000" b="1" dirty="0">
                  <a:latin typeface="+mn-lt"/>
                  <a:ea typeface="黑体" pitchFamily="2" charset="-122"/>
                </a:rPr>
                <a:t>512 </a:t>
              </a:r>
              <a:r>
                <a:rPr lang="zh-CN" altLang="en-US" sz="2000" b="1" dirty="0">
                  <a:latin typeface="+mn-lt"/>
                  <a:ea typeface="黑体" pitchFamily="2" charset="-122"/>
                </a:rPr>
                <a:t>余 </a:t>
              </a:r>
              <a:r>
                <a:rPr lang="en-US" altLang="zh-CN" sz="2000" b="1" dirty="0">
                  <a:latin typeface="+mn-lt"/>
                  <a:ea typeface="黑体" pitchFamily="2" charset="-122"/>
                </a:rPr>
                <a:t>448</a:t>
              </a:r>
              <a:endParaRPr lang="zh-CN" altLang="en-US" sz="2000" b="1" dirty="0">
                <a:latin typeface="+mn-lt"/>
                <a:ea typeface="黑体" pitchFamily="2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27792" y="5893241"/>
              <a:ext cx="274786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+mn-lt"/>
                  <a:ea typeface="黑体" pitchFamily="2" charset="-122"/>
                </a:rPr>
                <a:t>总长度，</a:t>
              </a:r>
              <a:r>
                <a:rPr lang="en-US" altLang="zh-CN" sz="2000" b="1" dirty="0">
                  <a:latin typeface="+mn-lt"/>
                  <a:ea typeface="黑体" pitchFamily="2" charset="-122"/>
                </a:rPr>
                <a:t>512 </a:t>
              </a:r>
              <a:r>
                <a:rPr lang="zh-CN" altLang="en-US" sz="2000" b="1" dirty="0">
                  <a:latin typeface="+mn-lt"/>
                  <a:ea typeface="黑体" pitchFamily="2" charset="-122"/>
                </a:rPr>
                <a:t>的整数倍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969224" y="5477162"/>
              <a:ext cx="1407773" cy="400110"/>
              <a:chOff x="6969224" y="5477162"/>
              <a:chExt cx="1407773" cy="400110"/>
            </a:xfrm>
          </p:grpSpPr>
          <p:cxnSp>
            <p:nvCxnSpPr>
              <p:cNvPr id="37" name="直接箭头连接符 36"/>
              <p:cNvCxnSpPr/>
              <p:nvPr/>
            </p:nvCxnSpPr>
            <p:spPr bwMode="auto">
              <a:xfrm>
                <a:off x="6969224" y="5657182"/>
                <a:ext cx="1407773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8" name="TextBox 37"/>
              <p:cNvSpPr txBox="1"/>
              <p:nvPr/>
            </p:nvSpPr>
            <p:spPr>
              <a:xfrm>
                <a:off x="7321260" y="5477162"/>
                <a:ext cx="79861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latin typeface="+mn-lt"/>
                    <a:ea typeface="黑体" pitchFamily="2" charset="-122"/>
                  </a:rPr>
                  <a:t>64 </a:t>
                </a:r>
                <a:r>
                  <a:rPr lang="zh-CN" altLang="en-US" sz="2000" b="1" dirty="0">
                    <a:latin typeface="+mn-lt"/>
                    <a:ea typeface="黑体" pitchFamily="2" charset="-122"/>
                  </a:rPr>
                  <a:t>位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85230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MD5 </a:t>
            </a:r>
            <a:r>
              <a:rPr lang="zh-CN" altLang="en-US" dirty="0"/>
              <a:t>算法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zh-CN" altLang="en-US" dirty="0"/>
              <a:t>计算步骤（续）：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，分组：</a:t>
            </a:r>
            <a:r>
              <a:rPr lang="zh-CN" altLang="zh-CN" dirty="0"/>
              <a:t>把追加和填充后的报文分割为一个个</a:t>
            </a:r>
            <a:r>
              <a:rPr lang="en-US" altLang="zh-CN" dirty="0"/>
              <a:t> 512 </a:t>
            </a:r>
            <a:r>
              <a:rPr lang="zh-CN" altLang="zh-CN" dirty="0"/>
              <a:t>位的数据块，每个</a:t>
            </a:r>
            <a:r>
              <a:rPr lang="en-US" altLang="zh-CN" dirty="0"/>
              <a:t> 512 </a:t>
            </a:r>
            <a:r>
              <a:rPr lang="zh-CN" altLang="zh-CN" dirty="0"/>
              <a:t>位的报文数据再分成</a:t>
            </a:r>
            <a:r>
              <a:rPr lang="en-US" altLang="zh-CN" dirty="0"/>
              <a:t> 4 </a:t>
            </a:r>
            <a:r>
              <a:rPr lang="zh-CN" altLang="zh-CN" dirty="0"/>
              <a:t>个</a:t>
            </a:r>
            <a:r>
              <a:rPr lang="en-US" altLang="zh-CN" dirty="0"/>
              <a:t> 128 </a:t>
            </a:r>
            <a:r>
              <a:rPr lang="zh-CN" altLang="zh-CN" dirty="0"/>
              <a:t>位的数据块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，计算：</a:t>
            </a:r>
            <a:r>
              <a:rPr lang="zh-CN" altLang="en-US" dirty="0"/>
              <a:t>将 </a:t>
            </a:r>
            <a:r>
              <a:rPr lang="en-US" altLang="zh-CN" dirty="0"/>
              <a:t>4 </a:t>
            </a:r>
            <a:r>
              <a:rPr lang="zh-CN" altLang="en-US" dirty="0"/>
              <a:t>个 </a:t>
            </a:r>
            <a:r>
              <a:rPr lang="en-US" altLang="zh-CN" dirty="0"/>
              <a:t>128 </a:t>
            </a:r>
            <a:r>
              <a:rPr lang="zh-CN" altLang="en-US" dirty="0"/>
              <a:t>位的数据块</a:t>
            </a:r>
            <a:r>
              <a:rPr lang="zh-CN" altLang="zh-CN" dirty="0"/>
              <a:t>依次送到不同的散列函数进行</a:t>
            </a:r>
            <a:r>
              <a:rPr lang="en-US" altLang="zh-CN" dirty="0"/>
              <a:t>4</a:t>
            </a:r>
            <a:r>
              <a:rPr lang="zh-CN" altLang="zh-CN" dirty="0"/>
              <a:t>轮计算。每一轮又都按</a:t>
            </a:r>
            <a:r>
              <a:rPr lang="en-US" altLang="zh-CN" dirty="0"/>
              <a:t> 32 </a:t>
            </a:r>
            <a:r>
              <a:rPr lang="zh-CN" altLang="zh-CN" dirty="0"/>
              <a:t>位的小数据块进行复杂的运算。一直到最后计算出</a:t>
            </a:r>
            <a:r>
              <a:rPr lang="en-US" altLang="zh-CN" dirty="0"/>
              <a:t> MD5 </a:t>
            </a:r>
            <a:r>
              <a:rPr lang="zh-CN" altLang="zh-CN" dirty="0"/>
              <a:t>报文摘要代码（</a:t>
            </a:r>
            <a:r>
              <a:rPr lang="en-US" altLang="zh-CN" dirty="0"/>
              <a:t>128</a:t>
            </a:r>
            <a:r>
              <a:rPr lang="zh-CN" altLang="zh-CN" dirty="0"/>
              <a:t>位）。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344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安全散列算法（</a:t>
            </a:r>
            <a:r>
              <a:rPr lang="en-US" altLang="zh-CN" dirty="0"/>
              <a:t>SHA-1</a:t>
            </a:r>
            <a:r>
              <a:rPr lang="zh-CN" altLang="en-US" dirty="0"/>
              <a:t>）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安全散列算法 </a:t>
            </a:r>
            <a:r>
              <a:rPr lang="en-US" altLang="zh-CN" dirty="0"/>
              <a:t>SHA (Secure Hash Algorithm)</a:t>
            </a:r>
            <a:r>
              <a:rPr lang="zh-CN" altLang="zh-CN" dirty="0"/>
              <a:t>是由美国标准与技术协会</a:t>
            </a:r>
            <a:r>
              <a:rPr lang="en-US" altLang="zh-CN" dirty="0"/>
              <a:t> NIST </a:t>
            </a:r>
            <a:r>
              <a:rPr lang="zh-CN" altLang="zh-CN" dirty="0"/>
              <a:t>提出一个散列算法系列。</a:t>
            </a:r>
            <a:endParaRPr lang="en-US" altLang="zh-CN" dirty="0"/>
          </a:p>
          <a:p>
            <a:r>
              <a:rPr lang="en-US" altLang="zh-CN" dirty="0"/>
              <a:t>SHA </a:t>
            </a:r>
            <a:r>
              <a:rPr lang="zh-CN" altLang="zh-CN" dirty="0"/>
              <a:t>比</a:t>
            </a:r>
            <a:r>
              <a:rPr lang="en-US" altLang="zh-CN" dirty="0"/>
              <a:t> MD5 </a:t>
            </a:r>
            <a:r>
              <a:rPr lang="zh-CN" altLang="zh-CN" dirty="0"/>
              <a:t>更安全，但计算起来却比</a:t>
            </a:r>
            <a:r>
              <a:rPr lang="en-US" altLang="zh-CN" dirty="0"/>
              <a:t> MD5 </a:t>
            </a:r>
            <a:r>
              <a:rPr lang="zh-CN" altLang="zh-CN" dirty="0"/>
              <a:t>要慢些。</a:t>
            </a:r>
            <a:endParaRPr lang="en-US" altLang="zh-CN" dirty="0"/>
          </a:p>
          <a:p>
            <a:r>
              <a:rPr lang="zh-CN" altLang="en-US" dirty="0"/>
              <a:t>已制定 </a:t>
            </a:r>
            <a:r>
              <a:rPr lang="en-US" altLang="zh-CN" dirty="0"/>
              <a:t>SHA-1</a:t>
            </a:r>
            <a:r>
              <a:rPr lang="zh-CN" altLang="en-US" dirty="0"/>
              <a:t>、</a:t>
            </a:r>
            <a:r>
              <a:rPr lang="en-US" altLang="zh-CN" dirty="0"/>
              <a:t>SHA-2</a:t>
            </a:r>
            <a:r>
              <a:rPr lang="zh-CN" altLang="en-US" dirty="0"/>
              <a:t>、</a:t>
            </a:r>
            <a:r>
              <a:rPr lang="en-US" altLang="zh-CN" dirty="0"/>
              <a:t> SHA-3 </a:t>
            </a:r>
            <a:r>
              <a:rPr lang="zh-CN" altLang="en-US" dirty="0"/>
              <a:t>等版本。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3130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AAEB35-6412-4754-9225-026F4606B4EA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259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安全散列算法（</a:t>
            </a:r>
            <a:r>
              <a:rPr lang="en-US" altLang="zh-CN" dirty="0"/>
              <a:t>SHA-1</a:t>
            </a:r>
            <a:r>
              <a:rPr lang="zh-CN" altLang="en-US" dirty="0"/>
              <a:t>）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基本思想：</a:t>
            </a:r>
          </a:p>
          <a:p>
            <a:pPr lvl="1"/>
            <a:r>
              <a:rPr lang="zh-CN" altLang="en-US" dirty="0"/>
              <a:t>要求输入码长小于 </a:t>
            </a:r>
            <a:r>
              <a:rPr lang="en-US" altLang="zh-CN" dirty="0"/>
              <a:t>264 </a:t>
            </a:r>
            <a:r>
              <a:rPr lang="zh-CN" altLang="en-US" dirty="0"/>
              <a:t>位，输出码长为 </a:t>
            </a:r>
            <a:r>
              <a:rPr lang="en-US" altLang="zh-CN" dirty="0"/>
              <a:t>160 </a:t>
            </a:r>
            <a:r>
              <a:rPr lang="zh-CN" altLang="en-US" dirty="0"/>
              <a:t>位。</a:t>
            </a:r>
            <a:endParaRPr lang="en-US" altLang="zh-CN" dirty="0"/>
          </a:p>
          <a:p>
            <a:pPr lvl="1"/>
            <a:r>
              <a:rPr lang="zh-CN" altLang="en-US" dirty="0"/>
              <a:t>将明文分成若干 </a:t>
            </a:r>
            <a:r>
              <a:rPr lang="en-US" altLang="zh-CN" dirty="0"/>
              <a:t>512 </a:t>
            </a:r>
            <a:r>
              <a:rPr lang="zh-CN" altLang="en-US" dirty="0"/>
              <a:t>位的定长块，每一块与当前的报文摘要值结合，产生报文摘要的下一个中间结果，直到处理完毕</a:t>
            </a:r>
          </a:p>
          <a:p>
            <a:pPr lvl="1"/>
            <a:r>
              <a:rPr lang="zh-CN" altLang="en-US" dirty="0"/>
              <a:t>共扫描 </a:t>
            </a:r>
            <a:r>
              <a:rPr lang="en-US" altLang="zh-CN" dirty="0"/>
              <a:t>5 </a:t>
            </a:r>
            <a:r>
              <a:rPr lang="zh-CN" altLang="en-US" dirty="0"/>
              <a:t>遍，效率略低于 </a:t>
            </a:r>
            <a:r>
              <a:rPr lang="en-US" altLang="zh-CN" dirty="0"/>
              <a:t>MD5</a:t>
            </a:r>
            <a:r>
              <a:rPr lang="zh-CN" altLang="en-US" dirty="0"/>
              <a:t>，抗穷举性更高。</a:t>
            </a:r>
          </a:p>
        </p:txBody>
      </p:sp>
    </p:spTree>
    <p:extLst>
      <p:ext uri="{BB962C8B-B14F-4D97-AF65-F5344CB8AC3E}">
        <p14:creationId xmlns:p14="http://schemas.microsoft.com/office/powerpoint/2010/main" val="33936803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3. </a:t>
            </a:r>
            <a:r>
              <a:rPr lang="zh-CN" altLang="zh-CN"/>
              <a:t>报文</a:t>
            </a:r>
            <a:r>
              <a:rPr lang="zh-CN" altLang="zh-CN" dirty="0"/>
              <a:t>鉴别码</a:t>
            </a:r>
            <a:r>
              <a:rPr lang="en-US" altLang="zh-CN" dirty="0"/>
              <a:t>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MD5 </a:t>
            </a:r>
            <a:r>
              <a:rPr lang="zh-CN" altLang="en-US" dirty="0"/>
              <a:t>实现的报文鉴别可以防篡改，但</a:t>
            </a:r>
            <a:r>
              <a:rPr lang="zh-CN" altLang="en-US" dirty="0">
                <a:solidFill>
                  <a:srgbClr val="FF0000"/>
                </a:solidFill>
              </a:rPr>
              <a:t>不能防伪造，</a:t>
            </a:r>
            <a:r>
              <a:rPr lang="zh-CN" altLang="en-US" dirty="0"/>
              <a:t>因而不能真正实现报文鉴别。</a:t>
            </a:r>
            <a:endParaRPr lang="en-US" altLang="zh-CN" dirty="0"/>
          </a:p>
          <a:p>
            <a:r>
              <a:rPr lang="zh-CN" altLang="en-US" dirty="0"/>
              <a:t>例如：</a:t>
            </a:r>
            <a:endParaRPr lang="en-US" altLang="zh-CN" dirty="0"/>
          </a:p>
          <a:p>
            <a:pPr lvl="1"/>
            <a:r>
              <a:rPr lang="zh-CN" altLang="zh-CN" dirty="0"/>
              <a:t>入侵者创建了一个伪造的报文</a:t>
            </a:r>
            <a:r>
              <a:rPr lang="en-GB" altLang="zh-CN" i="1" dirty="0"/>
              <a:t>M</a:t>
            </a:r>
            <a:r>
              <a:rPr lang="zh-CN" altLang="zh-CN" dirty="0"/>
              <a:t>，然后计算出其散列</a:t>
            </a:r>
            <a:r>
              <a:rPr lang="en-US" altLang="zh-CN" dirty="0"/>
              <a:t> </a:t>
            </a:r>
            <a:r>
              <a:rPr lang="en-GB" altLang="zh-CN" i="1" dirty="0"/>
              <a:t>H</a:t>
            </a:r>
            <a:r>
              <a:rPr lang="en-GB" altLang="zh-CN" dirty="0"/>
              <a:t>(</a:t>
            </a:r>
            <a:r>
              <a:rPr lang="en-GB" altLang="zh-CN" i="1" dirty="0"/>
              <a:t>M</a:t>
            </a:r>
            <a:r>
              <a:rPr lang="en-GB" altLang="zh-CN" dirty="0"/>
              <a:t>)</a:t>
            </a:r>
            <a:r>
              <a:rPr lang="zh-CN" altLang="zh-CN" dirty="0"/>
              <a:t>，并把拼接有散列的扩展报文冒充</a:t>
            </a:r>
            <a:r>
              <a:rPr lang="en-US" altLang="zh-CN" dirty="0"/>
              <a:t> </a:t>
            </a:r>
            <a:r>
              <a:rPr lang="en-GB" altLang="zh-CN" dirty="0"/>
              <a:t>A </a:t>
            </a:r>
            <a:r>
              <a:rPr lang="zh-CN" altLang="zh-CN" dirty="0"/>
              <a:t>发送给</a:t>
            </a:r>
            <a:r>
              <a:rPr lang="en-US" altLang="zh-CN" dirty="0"/>
              <a:t> </a:t>
            </a:r>
            <a:r>
              <a:rPr lang="en-GB" altLang="zh-CN" dirty="0"/>
              <a:t>B</a:t>
            </a:r>
            <a:r>
              <a:rPr lang="zh-CN" altLang="zh-CN" dirty="0"/>
              <a:t>。</a:t>
            </a:r>
            <a:endParaRPr lang="en-US" altLang="zh-CN" dirty="0"/>
          </a:p>
          <a:p>
            <a:pPr lvl="1"/>
            <a:r>
              <a:rPr lang="en-GB" altLang="zh-CN" dirty="0"/>
              <a:t>B </a:t>
            </a:r>
            <a:r>
              <a:rPr lang="zh-CN" altLang="zh-CN" dirty="0"/>
              <a:t>收到扩展的报文</a:t>
            </a:r>
            <a:r>
              <a:rPr lang="en-US" altLang="zh-CN" dirty="0"/>
              <a:t> </a:t>
            </a:r>
            <a:r>
              <a:rPr lang="en-GB" altLang="zh-CN" dirty="0"/>
              <a:t>(</a:t>
            </a:r>
            <a:r>
              <a:rPr lang="en-GB" altLang="zh-CN" i="1" dirty="0"/>
              <a:t>M</a:t>
            </a:r>
            <a:r>
              <a:rPr lang="en-GB" altLang="zh-CN" dirty="0"/>
              <a:t>, </a:t>
            </a:r>
            <a:r>
              <a:rPr lang="en-GB" altLang="zh-CN" i="1" dirty="0"/>
              <a:t>H</a:t>
            </a:r>
            <a:r>
              <a:rPr lang="en-GB" altLang="zh-CN" dirty="0"/>
              <a:t>(</a:t>
            </a:r>
            <a:r>
              <a:rPr lang="en-GB" altLang="zh-CN" i="1" dirty="0"/>
              <a:t>M</a:t>
            </a:r>
            <a:r>
              <a:rPr lang="en-GB" altLang="zh-CN" dirty="0"/>
              <a:t>)) </a:t>
            </a:r>
            <a:r>
              <a:rPr lang="zh-CN" altLang="zh-CN" dirty="0"/>
              <a:t>后，</a:t>
            </a:r>
            <a:r>
              <a:rPr lang="en-GB" altLang="zh-CN" dirty="0"/>
              <a:t> </a:t>
            </a:r>
            <a:r>
              <a:rPr lang="zh-CN" altLang="zh-CN" dirty="0"/>
              <a:t>通过散列函数的运算，计算出收到的</a:t>
            </a:r>
            <a:r>
              <a:rPr lang="zh-CN" altLang="en-US" dirty="0"/>
              <a:t>报文 </a:t>
            </a:r>
            <a:r>
              <a:rPr lang="en-US" altLang="zh-CN" dirty="0"/>
              <a:t>M</a:t>
            </a:r>
            <a:r>
              <a:rPr lang="en-US" altLang="zh-CN" baseline="-25000" dirty="0"/>
              <a:t>R</a:t>
            </a:r>
            <a:r>
              <a:rPr lang="en-US" altLang="zh-CN" dirty="0"/>
              <a:t> </a:t>
            </a:r>
            <a:r>
              <a:rPr lang="zh-CN" altLang="zh-CN" dirty="0"/>
              <a:t>的散列</a:t>
            </a:r>
            <a:r>
              <a:rPr lang="en-US" altLang="zh-CN" dirty="0"/>
              <a:t> </a:t>
            </a:r>
            <a:r>
              <a:rPr lang="en-GB" altLang="zh-CN" i="1" dirty="0"/>
              <a:t>H</a:t>
            </a:r>
            <a:r>
              <a:rPr lang="en-GB" altLang="zh-CN" dirty="0"/>
              <a:t>(</a:t>
            </a:r>
            <a:r>
              <a:rPr lang="en-US" altLang="zh-CN" dirty="0"/>
              <a:t>M</a:t>
            </a:r>
            <a:r>
              <a:rPr lang="en-US" altLang="zh-CN" baseline="-25000" dirty="0"/>
              <a:t>R</a:t>
            </a:r>
            <a:r>
              <a:rPr lang="en-GB" altLang="zh-CN" dirty="0"/>
              <a:t>)</a:t>
            </a:r>
            <a:r>
              <a:rPr lang="zh-CN" altLang="zh-CN" dirty="0"/>
              <a:t>。</a:t>
            </a:r>
            <a:endParaRPr lang="en-US" altLang="zh-CN" dirty="0"/>
          </a:p>
          <a:p>
            <a:pPr lvl="1"/>
            <a:r>
              <a:rPr lang="zh-CN" altLang="zh-CN" dirty="0"/>
              <a:t>若</a:t>
            </a:r>
            <a:r>
              <a:rPr lang="en-US" altLang="zh-CN" dirty="0"/>
              <a:t> </a:t>
            </a:r>
            <a:r>
              <a:rPr lang="en-GB" altLang="zh-CN" i="1" dirty="0"/>
              <a:t>H</a:t>
            </a:r>
            <a:r>
              <a:rPr lang="en-GB" altLang="zh-CN" dirty="0"/>
              <a:t>(</a:t>
            </a:r>
            <a:r>
              <a:rPr lang="en-US" altLang="zh-CN" i="1" dirty="0"/>
              <a:t>M</a:t>
            </a:r>
            <a:r>
              <a:rPr lang="en-GB" altLang="zh-CN" dirty="0"/>
              <a:t>) = </a:t>
            </a:r>
            <a:r>
              <a:rPr lang="en-GB" altLang="zh-CN" i="1" dirty="0"/>
              <a:t>H</a:t>
            </a:r>
            <a:r>
              <a:rPr lang="en-US" altLang="zh-CN" i="1" dirty="0"/>
              <a:t>(M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)</a:t>
            </a:r>
            <a:r>
              <a:rPr lang="zh-CN" altLang="zh-CN" dirty="0"/>
              <a:t>，则</a:t>
            </a:r>
            <a:r>
              <a:rPr lang="en-US" altLang="zh-CN" dirty="0"/>
              <a:t> </a:t>
            </a:r>
            <a:r>
              <a:rPr lang="en-GB" altLang="zh-CN" dirty="0"/>
              <a:t>B </a:t>
            </a:r>
            <a:r>
              <a:rPr lang="zh-CN" altLang="zh-CN" dirty="0"/>
              <a:t>就会误认为所收到的伪造报文就是</a:t>
            </a:r>
            <a:r>
              <a:rPr lang="en-US" altLang="zh-CN" dirty="0"/>
              <a:t> </a:t>
            </a:r>
            <a:r>
              <a:rPr lang="en-GB" altLang="zh-CN" dirty="0"/>
              <a:t>A </a:t>
            </a:r>
            <a:r>
              <a:rPr lang="zh-CN" altLang="zh-CN" dirty="0"/>
              <a:t>发送的。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60902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3. </a:t>
            </a:r>
            <a:r>
              <a:rPr lang="zh-CN" altLang="zh-CN" dirty="0"/>
              <a:t>报文鉴别码</a:t>
            </a:r>
            <a:r>
              <a:rPr lang="en-US" altLang="zh-CN" dirty="0"/>
              <a:t>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为防范上述</a:t>
            </a:r>
            <a:r>
              <a:rPr lang="zh-CN" altLang="zh-CN" dirty="0"/>
              <a:t>攻击</a:t>
            </a:r>
            <a:r>
              <a:rPr lang="zh-CN" altLang="en-US" dirty="0"/>
              <a:t>，可以</a:t>
            </a:r>
            <a:r>
              <a:rPr lang="zh-CN" altLang="zh-CN" dirty="0"/>
              <a:t>对散列进行一次加密。</a:t>
            </a:r>
            <a:endParaRPr lang="en-US" altLang="zh-CN" dirty="0"/>
          </a:p>
          <a:p>
            <a:r>
              <a:rPr lang="zh-CN" altLang="zh-CN" dirty="0"/>
              <a:t>散列加密</a:t>
            </a:r>
            <a:r>
              <a:rPr lang="zh-CN" altLang="en-US" dirty="0"/>
              <a:t>后的</a:t>
            </a:r>
            <a:r>
              <a:rPr lang="zh-CN" altLang="zh-CN" dirty="0"/>
              <a:t>结果叫做</a:t>
            </a:r>
            <a:r>
              <a:rPr lang="zh-CN" altLang="zh-CN" dirty="0">
                <a:solidFill>
                  <a:srgbClr val="FF0000"/>
                </a:solidFill>
              </a:rPr>
              <a:t>报文鉴别码</a:t>
            </a:r>
            <a:r>
              <a:rPr lang="en-US" altLang="zh-CN" dirty="0">
                <a:solidFill>
                  <a:srgbClr val="FF0000"/>
                </a:solidFill>
              </a:rPr>
              <a:t> MAC </a:t>
            </a:r>
            <a:r>
              <a:rPr lang="en-US" altLang="zh-CN" dirty="0"/>
              <a:t>(Message Authentication Code)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由于入侵者不掌握密钥</a:t>
            </a:r>
            <a:r>
              <a:rPr lang="en-US" altLang="zh-CN" dirty="0"/>
              <a:t> </a:t>
            </a:r>
            <a:r>
              <a:rPr lang="en-US" altLang="zh-CN" i="1" dirty="0"/>
              <a:t>K</a:t>
            </a:r>
            <a:r>
              <a:rPr lang="zh-CN" altLang="zh-CN" dirty="0"/>
              <a:t>，所以入侵者无法伪造</a:t>
            </a:r>
            <a:r>
              <a:rPr lang="en-US" altLang="zh-CN" dirty="0"/>
              <a:t> A </a:t>
            </a:r>
            <a:r>
              <a:rPr lang="zh-CN" altLang="zh-CN" dirty="0"/>
              <a:t>的报文鉴别码</a:t>
            </a:r>
            <a:r>
              <a:rPr lang="en-US" altLang="zh-CN" dirty="0"/>
              <a:t> MAC</a:t>
            </a:r>
            <a:r>
              <a:rPr lang="zh-CN" altLang="zh-CN" dirty="0"/>
              <a:t>，因而无法伪造</a:t>
            </a:r>
            <a:r>
              <a:rPr lang="en-US" altLang="zh-CN" dirty="0"/>
              <a:t> A </a:t>
            </a:r>
            <a:r>
              <a:rPr lang="zh-CN" altLang="zh-CN" dirty="0"/>
              <a:t>发送的报文。这样就完成了对报文的鉴别。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40460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GB" altLang="zh-CN" dirty="0"/>
              <a:t>3. </a:t>
            </a:r>
            <a:r>
              <a:rPr lang="zh-CN" altLang="zh-CN" dirty="0"/>
              <a:t>报文鉴别码</a:t>
            </a:r>
            <a:r>
              <a:rPr lang="en-US" altLang="zh-CN" dirty="0"/>
              <a:t> MAC</a:t>
            </a: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1784648" y="6147023"/>
            <a:ext cx="73003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 dirty="0">
                <a:latin typeface="+mn-lt"/>
                <a:ea typeface="黑体" pitchFamily="2" charset="-122"/>
              </a:rPr>
              <a:t>使用公开密钥密码体制鉴别报文（防否认，防否认）</a:t>
            </a: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2605225" y="3187923"/>
            <a:ext cx="5444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 dirty="0">
                <a:latin typeface="+mn-lt"/>
                <a:ea typeface="黑体" pitchFamily="2" charset="-122"/>
              </a:rPr>
              <a:t>使用传统加密方法鉴别报文（防伪造）</a:t>
            </a:r>
          </a:p>
        </p:txBody>
      </p:sp>
      <p:grpSp>
        <p:nvGrpSpPr>
          <p:cNvPr id="602119" name="组合 602118"/>
          <p:cNvGrpSpPr/>
          <p:nvPr/>
        </p:nvGrpSpPr>
        <p:grpSpPr>
          <a:xfrm>
            <a:off x="488504" y="1195611"/>
            <a:ext cx="9121924" cy="1970087"/>
            <a:chOff x="488504" y="1195611"/>
            <a:chExt cx="9121924" cy="1970087"/>
          </a:xfrm>
        </p:grpSpPr>
        <p:grpSp>
          <p:nvGrpSpPr>
            <p:cNvPr id="3" name="组合 2"/>
            <p:cNvGrpSpPr/>
            <p:nvPr/>
          </p:nvGrpSpPr>
          <p:grpSpPr>
            <a:xfrm>
              <a:off x="6292403" y="1195611"/>
              <a:ext cx="3318025" cy="1970087"/>
              <a:chOff x="5860355" y="1195611"/>
              <a:chExt cx="3318025" cy="1970087"/>
            </a:xfrm>
          </p:grpSpPr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5860355" y="1195611"/>
                <a:ext cx="60960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</a:t>
                </a:r>
              </a:p>
            </p:txBody>
          </p:sp>
          <p:sp>
            <p:nvSpPr>
              <p:cNvPr id="21" name="Rectangle 18" descr="浅色竖线"/>
              <p:cNvSpPr>
                <a:spLocks noChangeArrowheads="1"/>
              </p:cNvSpPr>
              <p:nvPr/>
            </p:nvSpPr>
            <p:spPr bwMode="auto">
              <a:xfrm>
                <a:off x="5860355" y="2262411"/>
                <a:ext cx="60960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22" name="Oval 19"/>
              <p:cNvSpPr>
                <a:spLocks noChangeArrowheads="1"/>
              </p:cNvSpPr>
              <p:nvPr/>
            </p:nvSpPr>
            <p:spPr bwMode="auto">
              <a:xfrm>
                <a:off x="6938268" y="2730723"/>
                <a:ext cx="434975" cy="434975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D</a:t>
                </a:r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>
                <a:off x="7917755" y="2719611"/>
                <a:ext cx="60960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MD</a:t>
                </a:r>
              </a:p>
            </p:txBody>
          </p:sp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7308155" y="2948211"/>
                <a:ext cx="609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>
                <a:off x="6317555" y="2948211"/>
                <a:ext cx="6858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 flipV="1">
                <a:off x="6317555" y="26434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7917755" y="1500411"/>
                <a:ext cx="609600" cy="38100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MD</a:t>
                </a:r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7079555" y="1282923"/>
                <a:ext cx="407988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H</a:t>
                </a:r>
              </a:p>
            </p:txBody>
          </p:sp>
          <p:sp>
            <p:nvSpPr>
              <p:cNvPr id="29" name="AutoShape 26"/>
              <p:cNvSpPr>
                <a:spLocks/>
              </p:cNvSpPr>
              <p:nvPr/>
            </p:nvSpPr>
            <p:spPr bwMode="auto">
              <a:xfrm>
                <a:off x="6546155" y="1195611"/>
                <a:ext cx="304800" cy="1066800"/>
              </a:xfrm>
              <a:prstGeom prst="rightBrace">
                <a:avLst>
                  <a:gd name="adj1" fmla="val 29167"/>
                  <a:gd name="adj2" fmla="val 50000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0" name="Line 27"/>
              <p:cNvSpPr>
                <a:spLocks noChangeShapeType="1"/>
              </p:cNvSpPr>
              <p:nvPr/>
            </p:nvSpPr>
            <p:spPr bwMode="auto">
              <a:xfrm>
                <a:off x="7003355" y="1729011"/>
                <a:ext cx="6858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1" name="AutoShape 28"/>
              <p:cNvSpPr>
                <a:spLocks noChangeArrowheads="1"/>
              </p:cNvSpPr>
              <p:nvPr/>
            </p:nvSpPr>
            <p:spPr bwMode="auto">
              <a:xfrm>
                <a:off x="8146355" y="1957611"/>
                <a:ext cx="228600" cy="685800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2" name="Text Box 29"/>
              <p:cNvSpPr txBox="1">
                <a:spLocks noChangeArrowheads="1"/>
              </p:cNvSpPr>
              <p:nvPr/>
            </p:nvSpPr>
            <p:spPr bwMode="auto">
              <a:xfrm>
                <a:off x="8374955" y="1995711"/>
                <a:ext cx="80342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比较</a:t>
                </a:r>
              </a:p>
            </p:txBody>
          </p:sp>
          <p:sp>
            <p:nvSpPr>
              <p:cNvPr id="35" name="Text Box 32"/>
              <p:cNvSpPr txBox="1">
                <a:spLocks noChangeArrowheads="1"/>
              </p:cNvSpPr>
              <p:nvPr/>
            </p:nvSpPr>
            <p:spPr bwMode="auto">
              <a:xfrm>
                <a:off x="7003355" y="1984598"/>
                <a:ext cx="407988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K</a:t>
                </a:r>
              </a:p>
            </p:txBody>
          </p:sp>
          <p:sp>
            <p:nvSpPr>
              <p:cNvPr id="36" name="Line 33"/>
              <p:cNvSpPr>
                <a:spLocks noChangeShapeType="1"/>
              </p:cNvSpPr>
              <p:nvPr/>
            </p:nvSpPr>
            <p:spPr bwMode="auto">
              <a:xfrm>
                <a:off x="7155755" y="24148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</p:grpSp>
        <p:grpSp>
          <p:nvGrpSpPr>
            <p:cNvPr id="602112" name="组合 602111"/>
            <p:cNvGrpSpPr/>
            <p:nvPr/>
          </p:nvGrpSpPr>
          <p:grpSpPr>
            <a:xfrm>
              <a:off x="4641155" y="1455167"/>
              <a:ext cx="1319957" cy="760412"/>
              <a:chOff x="4641155" y="1455167"/>
              <a:chExt cx="1319957" cy="760412"/>
            </a:xfrm>
          </p:grpSpPr>
          <p:sp>
            <p:nvSpPr>
              <p:cNvPr id="4" name="右箭头 3"/>
              <p:cNvSpPr/>
              <p:nvPr/>
            </p:nvSpPr>
            <p:spPr bwMode="auto">
              <a:xfrm>
                <a:off x="4641155" y="1744885"/>
                <a:ext cx="1319957" cy="470694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4808984" y="1455167"/>
                <a:ext cx="8034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FF0000"/>
                    </a:solidFill>
                    <a:latin typeface="+mn-lt"/>
                    <a:ea typeface="黑体" pitchFamily="2" charset="-122"/>
                  </a:rPr>
                  <a:t>发送</a:t>
                </a:r>
              </a:p>
            </p:txBody>
          </p:sp>
        </p:grpSp>
        <p:grpSp>
          <p:nvGrpSpPr>
            <p:cNvPr id="602116" name="组合 602115"/>
            <p:cNvGrpSpPr/>
            <p:nvPr/>
          </p:nvGrpSpPr>
          <p:grpSpPr>
            <a:xfrm>
              <a:off x="488504" y="1195611"/>
              <a:ext cx="3708400" cy="1970087"/>
              <a:chOff x="488504" y="1195611"/>
              <a:chExt cx="3708400" cy="1970087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539304" y="1195611"/>
                <a:ext cx="60960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</a:t>
                </a:r>
              </a:p>
            </p:txBody>
          </p:sp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539304" y="2719611"/>
                <a:ext cx="60960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MD</a:t>
                </a:r>
              </a:p>
            </p:txBody>
          </p:sp>
          <p:sp>
            <p:nvSpPr>
              <p:cNvPr id="10" name="Oval 7"/>
              <p:cNvSpPr>
                <a:spLocks noChangeArrowheads="1"/>
              </p:cNvSpPr>
              <p:nvPr/>
            </p:nvSpPr>
            <p:spPr bwMode="auto">
              <a:xfrm>
                <a:off x="1693417" y="2730723"/>
                <a:ext cx="434975" cy="434975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E</a:t>
                </a:r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844104" y="2262411"/>
                <a:ext cx="0" cy="4572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12" name="Text Box 9"/>
              <p:cNvSpPr txBox="1">
                <a:spLocks noChangeArrowheads="1"/>
              </p:cNvSpPr>
              <p:nvPr/>
            </p:nvSpPr>
            <p:spPr bwMode="auto">
              <a:xfrm>
                <a:off x="488504" y="2273523"/>
                <a:ext cx="407988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H</a:t>
                </a: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1148904" y="2948211"/>
                <a:ext cx="609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2063304" y="2948211"/>
                <a:ext cx="609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15" name="Rectangle 12" descr="浅色竖线"/>
              <p:cNvSpPr>
                <a:spLocks noChangeArrowheads="1"/>
              </p:cNvSpPr>
              <p:nvPr/>
            </p:nvSpPr>
            <p:spPr bwMode="auto">
              <a:xfrm>
                <a:off x="2672904" y="2719611"/>
                <a:ext cx="53340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3587304" y="1195611"/>
                <a:ext cx="60960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</a:t>
                </a:r>
              </a:p>
            </p:txBody>
          </p:sp>
          <p:sp>
            <p:nvSpPr>
              <p:cNvPr id="17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587304" y="2262411"/>
                <a:ext cx="60960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>
                <a:off x="3206304" y="2948211"/>
                <a:ext cx="6858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 flipV="1">
                <a:off x="3892104" y="26434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33" name="Text Box 30"/>
              <p:cNvSpPr txBox="1">
                <a:spLocks noChangeArrowheads="1"/>
              </p:cNvSpPr>
              <p:nvPr/>
            </p:nvSpPr>
            <p:spPr bwMode="auto">
              <a:xfrm>
                <a:off x="1758504" y="1984598"/>
                <a:ext cx="407988" cy="4619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K</a:t>
                </a:r>
              </a:p>
            </p:txBody>
          </p:sp>
          <p:sp>
            <p:nvSpPr>
              <p:cNvPr id="34" name="Line 31"/>
              <p:cNvSpPr>
                <a:spLocks noChangeShapeType="1"/>
              </p:cNvSpPr>
              <p:nvPr/>
            </p:nvSpPr>
            <p:spPr bwMode="auto">
              <a:xfrm>
                <a:off x="1910904" y="24148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2539591" y="2380818"/>
                <a:ext cx="7697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0000"/>
                    </a:solidFill>
                    <a:latin typeface="+mn-lt"/>
                    <a:ea typeface="黑体" pitchFamily="2" charset="-122"/>
                  </a:rPr>
                  <a:t>MAC</a:t>
                </a:r>
                <a:endParaRPr lang="zh-CN" altLang="en-US" sz="2000" b="1" dirty="0">
                  <a:solidFill>
                    <a:srgbClr val="FF0000"/>
                  </a:solidFill>
                  <a:latin typeface="+mn-lt"/>
                  <a:ea typeface="黑体" pitchFamily="2" charset="-122"/>
                </a:endParaRPr>
              </a:p>
            </p:txBody>
          </p:sp>
        </p:grpSp>
      </p:grpSp>
      <p:grpSp>
        <p:nvGrpSpPr>
          <p:cNvPr id="602118" name="组合 602117"/>
          <p:cNvGrpSpPr/>
          <p:nvPr/>
        </p:nvGrpSpPr>
        <p:grpSpPr>
          <a:xfrm>
            <a:off x="488504" y="4077072"/>
            <a:ext cx="9185448" cy="2062014"/>
            <a:chOff x="488504" y="4077072"/>
            <a:chExt cx="9185448" cy="2062014"/>
          </a:xfrm>
        </p:grpSpPr>
        <p:grpSp>
          <p:nvGrpSpPr>
            <p:cNvPr id="602115" name="组合 602114"/>
            <p:cNvGrpSpPr/>
            <p:nvPr/>
          </p:nvGrpSpPr>
          <p:grpSpPr>
            <a:xfrm>
              <a:off x="6321152" y="4154711"/>
              <a:ext cx="3352800" cy="1984375"/>
              <a:chOff x="6321152" y="4154711"/>
              <a:chExt cx="3352800" cy="1984375"/>
            </a:xfrm>
          </p:grpSpPr>
          <p:sp>
            <p:nvSpPr>
              <p:cNvPr id="52" name="Rectangle 49"/>
              <p:cNvSpPr>
                <a:spLocks noChangeArrowheads="1"/>
              </p:cNvSpPr>
              <p:nvPr/>
            </p:nvSpPr>
            <p:spPr bwMode="auto">
              <a:xfrm>
                <a:off x="6321152" y="4154711"/>
                <a:ext cx="60960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</a:t>
                </a:r>
              </a:p>
            </p:txBody>
          </p:sp>
          <p:sp>
            <p:nvSpPr>
              <p:cNvPr id="53" name="Rectangle 50" descr="浅色竖线"/>
              <p:cNvSpPr>
                <a:spLocks noChangeArrowheads="1"/>
              </p:cNvSpPr>
              <p:nvPr/>
            </p:nvSpPr>
            <p:spPr bwMode="auto">
              <a:xfrm>
                <a:off x="6321152" y="5221511"/>
                <a:ext cx="60960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4" name="Oval 51"/>
              <p:cNvSpPr>
                <a:spLocks noChangeArrowheads="1"/>
              </p:cNvSpPr>
              <p:nvPr/>
            </p:nvSpPr>
            <p:spPr bwMode="auto">
              <a:xfrm>
                <a:off x="7384777" y="5675536"/>
                <a:ext cx="463550" cy="463550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D</a:t>
                </a:r>
              </a:p>
            </p:txBody>
          </p:sp>
          <p:sp>
            <p:nvSpPr>
              <p:cNvPr id="55" name="Rectangle 52"/>
              <p:cNvSpPr>
                <a:spLocks noChangeArrowheads="1"/>
              </p:cNvSpPr>
              <p:nvPr/>
            </p:nvSpPr>
            <p:spPr bwMode="auto">
              <a:xfrm>
                <a:off x="8378552" y="5678711"/>
                <a:ext cx="60960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MD</a:t>
                </a:r>
              </a:p>
            </p:txBody>
          </p:sp>
          <p:sp>
            <p:nvSpPr>
              <p:cNvPr id="56" name="Line 53"/>
              <p:cNvSpPr>
                <a:spLocks noChangeShapeType="1"/>
              </p:cNvSpPr>
              <p:nvPr/>
            </p:nvSpPr>
            <p:spPr bwMode="auto">
              <a:xfrm>
                <a:off x="7768952" y="5907311"/>
                <a:ext cx="609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7" name="Line 54"/>
              <p:cNvSpPr>
                <a:spLocks noChangeShapeType="1"/>
              </p:cNvSpPr>
              <p:nvPr/>
            </p:nvSpPr>
            <p:spPr bwMode="auto">
              <a:xfrm>
                <a:off x="6778352" y="5907311"/>
                <a:ext cx="6858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8" name="Line 55"/>
              <p:cNvSpPr>
                <a:spLocks noChangeShapeType="1"/>
              </p:cNvSpPr>
              <p:nvPr/>
            </p:nvSpPr>
            <p:spPr bwMode="auto">
              <a:xfrm flipV="1">
                <a:off x="6778352" y="56025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8378552" y="4459511"/>
                <a:ext cx="609600" cy="38100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MD</a:t>
                </a:r>
                <a:endPara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0" name="Text Box 57"/>
              <p:cNvSpPr txBox="1">
                <a:spLocks noChangeArrowheads="1"/>
              </p:cNvSpPr>
              <p:nvPr/>
            </p:nvSpPr>
            <p:spPr bwMode="auto">
              <a:xfrm>
                <a:off x="7540352" y="4242024"/>
                <a:ext cx="40798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H</a:t>
                </a:r>
              </a:p>
            </p:txBody>
          </p:sp>
          <p:sp>
            <p:nvSpPr>
              <p:cNvPr id="61" name="AutoShape 58"/>
              <p:cNvSpPr>
                <a:spLocks/>
              </p:cNvSpPr>
              <p:nvPr/>
            </p:nvSpPr>
            <p:spPr bwMode="auto">
              <a:xfrm>
                <a:off x="7006952" y="4154711"/>
                <a:ext cx="304800" cy="1066800"/>
              </a:xfrm>
              <a:prstGeom prst="rightBrace">
                <a:avLst>
                  <a:gd name="adj1" fmla="val 29167"/>
                  <a:gd name="adj2" fmla="val 50000"/>
                </a:avLst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2" name="Line 59"/>
              <p:cNvSpPr>
                <a:spLocks noChangeShapeType="1"/>
              </p:cNvSpPr>
              <p:nvPr/>
            </p:nvSpPr>
            <p:spPr bwMode="auto">
              <a:xfrm>
                <a:off x="7464152" y="4688111"/>
                <a:ext cx="6858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3" name="AutoShape 60"/>
              <p:cNvSpPr>
                <a:spLocks noChangeArrowheads="1"/>
              </p:cNvSpPr>
              <p:nvPr/>
            </p:nvSpPr>
            <p:spPr bwMode="auto">
              <a:xfrm>
                <a:off x="8607152" y="4916711"/>
                <a:ext cx="228600" cy="685800"/>
              </a:xfrm>
              <a:prstGeom prst="upDownArrow">
                <a:avLst>
                  <a:gd name="adj1" fmla="val 50000"/>
                  <a:gd name="adj2" fmla="val 60000"/>
                </a:avLst>
              </a:prstGeom>
              <a:solidFill>
                <a:srgbClr val="FF66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6" name="Text Box 63"/>
              <p:cNvSpPr txBox="1">
                <a:spLocks noChangeArrowheads="1"/>
              </p:cNvSpPr>
              <p:nvPr/>
            </p:nvSpPr>
            <p:spPr bwMode="auto">
              <a:xfrm>
                <a:off x="7464152" y="4956399"/>
                <a:ext cx="544513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K</a:t>
                </a:r>
                <a:r>
                  <a:rPr kumimoji="1" lang="en-US" altLang="zh-CN" sz="2400" b="1" i="0" u="none" strike="noStrike" kern="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P</a:t>
                </a:r>
              </a:p>
            </p:txBody>
          </p:sp>
          <p:sp>
            <p:nvSpPr>
              <p:cNvPr id="67" name="Line 64"/>
              <p:cNvSpPr>
                <a:spLocks noChangeShapeType="1"/>
              </p:cNvSpPr>
              <p:nvPr/>
            </p:nvSpPr>
            <p:spPr bwMode="auto">
              <a:xfrm>
                <a:off x="7616552" y="5386611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8" name="Rectangle 65"/>
              <p:cNvSpPr>
                <a:spLocks noChangeArrowheads="1"/>
              </p:cNvSpPr>
              <p:nvPr/>
            </p:nvSpPr>
            <p:spPr bwMode="auto">
              <a:xfrm>
                <a:off x="8870677" y="4964336"/>
                <a:ext cx="80327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比较</a:t>
                </a:r>
              </a:p>
            </p:txBody>
          </p:sp>
        </p:grpSp>
        <p:grpSp>
          <p:nvGrpSpPr>
            <p:cNvPr id="602117" name="组合 602116"/>
            <p:cNvGrpSpPr/>
            <p:nvPr/>
          </p:nvGrpSpPr>
          <p:grpSpPr>
            <a:xfrm>
              <a:off x="488504" y="4077072"/>
              <a:ext cx="3708400" cy="1984375"/>
              <a:chOff x="488504" y="4077072"/>
              <a:chExt cx="3708400" cy="1984375"/>
            </a:xfrm>
          </p:grpSpPr>
          <p:sp>
            <p:nvSpPr>
              <p:cNvPr id="40" name="Rectangle 37"/>
              <p:cNvSpPr>
                <a:spLocks noChangeArrowheads="1"/>
              </p:cNvSpPr>
              <p:nvPr/>
            </p:nvSpPr>
            <p:spPr bwMode="auto">
              <a:xfrm>
                <a:off x="539304" y="4077072"/>
                <a:ext cx="60960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</a:t>
                </a:r>
              </a:p>
            </p:txBody>
          </p:sp>
          <p:sp>
            <p:nvSpPr>
              <p:cNvPr id="41" name="Rectangle 38"/>
              <p:cNvSpPr>
                <a:spLocks noChangeArrowheads="1"/>
              </p:cNvSpPr>
              <p:nvPr/>
            </p:nvSpPr>
            <p:spPr bwMode="auto">
              <a:xfrm>
                <a:off x="539304" y="5601072"/>
                <a:ext cx="609600" cy="381000"/>
              </a:xfrm>
              <a:prstGeom prst="rect">
                <a:avLst/>
              </a:prstGeom>
              <a:solidFill>
                <a:srgbClr val="66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MD</a:t>
                </a:r>
              </a:p>
            </p:txBody>
          </p:sp>
          <p:sp>
            <p:nvSpPr>
              <p:cNvPr id="42" name="Oval 39"/>
              <p:cNvSpPr>
                <a:spLocks noChangeArrowheads="1"/>
              </p:cNvSpPr>
              <p:nvPr/>
            </p:nvSpPr>
            <p:spPr bwMode="auto">
              <a:xfrm>
                <a:off x="1679129" y="5597897"/>
                <a:ext cx="463550" cy="463550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E</a:t>
                </a:r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844104" y="5143872"/>
                <a:ext cx="0" cy="4572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88504" y="5154985"/>
                <a:ext cx="40798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H</a:t>
                </a:r>
              </a:p>
            </p:txBody>
          </p:sp>
          <p:sp>
            <p:nvSpPr>
              <p:cNvPr id="45" name="Line 42"/>
              <p:cNvSpPr>
                <a:spLocks noChangeShapeType="1"/>
              </p:cNvSpPr>
              <p:nvPr/>
            </p:nvSpPr>
            <p:spPr bwMode="auto">
              <a:xfrm>
                <a:off x="1148904" y="5829672"/>
                <a:ext cx="609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6" name="Line 43"/>
              <p:cNvSpPr>
                <a:spLocks noChangeShapeType="1"/>
              </p:cNvSpPr>
              <p:nvPr/>
            </p:nvSpPr>
            <p:spPr bwMode="auto">
              <a:xfrm>
                <a:off x="2063304" y="5829672"/>
                <a:ext cx="6096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7" name="Rectangle 44" descr="浅色竖线"/>
              <p:cNvSpPr>
                <a:spLocks noChangeArrowheads="1"/>
              </p:cNvSpPr>
              <p:nvPr/>
            </p:nvSpPr>
            <p:spPr bwMode="auto">
              <a:xfrm>
                <a:off x="2672904" y="5601072"/>
                <a:ext cx="53340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48" name="Rectangle 45"/>
              <p:cNvSpPr>
                <a:spLocks noChangeArrowheads="1"/>
              </p:cNvSpPr>
              <p:nvPr/>
            </p:nvSpPr>
            <p:spPr bwMode="auto">
              <a:xfrm>
                <a:off x="3587304" y="4077072"/>
                <a:ext cx="609600" cy="1066800"/>
              </a:xfrm>
              <a:prstGeom prst="rect">
                <a:avLst/>
              </a:prstGeom>
              <a:solidFill>
                <a:srgbClr val="66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M</a:t>
                </a:r>
              </a:p>
            </p:txBody>
          </p:sp>
          <p:sp>
            <p:nvSpPr>
              <p:cNvPr id="49" name="Rectangle 46" descr="浅色竖线"/>
              <p:cNvSpPr>
                <a:spLocks noChangeArrowheads="1"/>
              </p:cNvSpPr>
              <p:nvPr/>
            </p:nvSpPr>
            <p:spPr bwMode="auto">
              <a:xfrm>
                <a:off x="3587304" y="5143872"/>
                <a:ext cx="609600" cy="381000"/>
              </a:xfrm>
              <a:prstGeom prst="rect">
                <a:avLst/>
              </a:prstGeom>
              <a:pattFill prst="ltVert">
                <a:fgClr>
                  <a:srgbClr val="993300"/>
                </a:fgClr>
                <a:bgClr>
                  <a:srgbClr val="FFFFFF"/>
                </a:bgClr>
              </a:patt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0" name="Line 47"/>
              <p:cNvSpPr>
                <a:spLocks noChangeShapeType="1"/>
              </p:cNvSpPr>
              <p:nvPr/>
            </p:nvSpPr>
            <p:spPr bwMode="auto">
              <a:xfrm>
                <a:off x="3206304" y="5829672"/>
                <a:ext cx="6858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 flipV="1">
                <a:off x="3892104" y="5524872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4" name="Text Box 61"/>
              <p:cNvSpPr txBox="1">
                <a:spLocks noChangeArrowheads="1"/>
              </p:cNvSpPr>
              <p:nvPr/>
            </p:nvSpPr>
            <p:spPr bwMode="auto">
              <a:xfrm>
                <a:off x="1758504" y="4878760"/>
                <a:ext cx="544513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K</a:t>
                </a:r>
                <a:r>
                  <a:rPr kumimoji="1" lang="en-US" altLang="zh-CN" sz="2400" b="1" i="0" u="none" strike="noStrike" kern="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+mn-lt"/>
                    <a:ea typeface="黑体" pitchFamily="2" charset="-122"/>
                  </a:rPr>
                  <a:t>S</a:t>
                </a:r>
              </a:p>
            </p:txBody>
          </p:sp>
          <p:sp>
            <p:nvSpPr>
              <p:cNvPr id="65" name="Line 62"/>
              <p:cNvSpPr>
                <a:spLocks noChangeShapeType="1"/>
              </p:cNvSpPr>
              <p:nvPr/>
            </p:nvSpPr>
            <p:spPr bwMode="auto">
              <a:xfrm>
                <a:off x="1910904" y="5308972"/>
                <a:ext cx="0" cy="30480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539591" y="5208492"/>
                <a:ext cx="7697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0000"/>
                    </a:solidFill>
                    <a:latin typeface="+mn-lt"/>
                    <a:ea typeface="黑体" pitchFamily="2" charset="-122"/>
                  </a:rPr>
                  <a:t>MAC</a:t>
                </a:r>
                <a:endParaRPr lang="zh-CN" altLang="en-US" sz="2000" b="1" dirty="0">
                  <a:solidFill>
                    <a:srgbClr val="FF0000"/>
                  </a:solidFill>
                  <a:latin typeface="+mn-lt"/>
                  <a:ea typeface="黑体" pitchFamily="2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4641155" y="4394573"/>
              <a:ext cx="1319957" cy="760412"/>
              <a:chOff x="4641155" y="1455167"/>
              <a:chExt cx="1319957" cy="760412"/>
            </a:xfrm>
          </p:grpSpPr>
          <p:sp>
            <p:nvSpPr>
              <p:cNvPr id="78" name="右箭头 77"/>
              <p:cNvSpPr/>
              <p:nvPr/>
            </p:nvSpPr>
            <p:spPr bwMode="auto">
              <a:xfrm>
                <a:off x="4641155" y="1744885"/>
                <a:ext cx="1319957" cy="470694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808984" y="1455167"/>
                <a:ext cx="8034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FF0000"/>
                    </a:solidFill>
                    <a:latin typeface="+mn-lt"/>
                    <a:ea typeface="黑体" pitchFamily="2" charset="-122"/>
                  </a:rPr>
                  <a:t>发送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61557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3. </a:t>
            </a:r>
            <a:r>
              <a:rPr lang="zh-CN" altLang="zh-CN" dirty="0"/>
              <a:t>报文鉴别码</a:t>
            </a:r>
            <a:r>
              <a:rPr lang="en-US" altLang="zh-CN" dirty="0"/>
              <a:t> MAC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注意到，现在整个的报文是</a:t>
            </a:r>
            <a:r>
              <a:rPr lang="zh-CN" altLang="zh-CN" dirty="0">
                <a:solidFill>
                  <a:srgbClr val="FF0000"/>
                </a:solidFill>
              </a:rPr>
              <a:t>不需要加密</a:t>
            </a:r>
            <a:r>
              <a:rPr lang="zh-CN" altLang="zh-CN" dirty="0"/>
              <a:t>的。</a:t>
            </a:r>
            <a:endParaRPr lang="en-US" altLang="zh-CN" dirty="0"/>
          </a:p>
          <a:p>
            <a:r>
              <a:rPr lang="zh-CN" altLang="zh-CN" dirty="0"/>
              <a:t>虽然从散列</a:t>
            </a:r>
            <a:r>
              <a:rPr lang="en-US" altLang="zh-CN" i="1" dirty="0"/>
              <a:t>H</a:t>
            </a:r>
            <a:r>
              <a:rPr lang="zh-CN" altLang="zh-CN" dirty="0"/>
              <a:t>导出报文鉴别码</a:t>
            </a:r>
            <a:r>
              <a:rPr lang="en-US" altLang="zh-CN" dirty="0"/>
              <a:t> MAC </a:t>
            </a:r>
            <a:r>
              <a:rPr lang="zh-CN" altLang="zh-CN" dirty="0"/>
              <a:t>需要加密算法，但由于散列</a:t>
            </a:r>
            <a:r>
              <a:rPr lang="en-US" altLang="zh-CN" dirty="0"/>
              <a:t> </a:t>
            </a:r>
            <a:r>
              <a:rPr lang="en-US" altLang="zh-CN" i="1" dirty="0"/>
              <a:t>H </a:t>
            </a:r>
            <a:r>
              <a:rPr lang="zh-CN" altLang="zh-CN" dirty="0"/>
              <a:t>的长度通常都远远小于报文</a:t>
            </a:r>
            <a:r>
              <a:rPr lang="en-US" altLang="zh-CN" dirty="0"/>
              <a:t> </a:t>
            </a:r>
            <a:r>
              <a:rPr lang="en-US" altLang="zh-CN" i="1" dirty="0"/>
              <a:t>X </a:t>
            </a:r>
            <a:r>
              <a:rPr lang="zh-CN" altLang="zh-CN" dirty="0"/>
              <a:t>的长度，因此这种加密不会消耗很多的计算资源。</a:t>
            </a:r>
            <a:endParaRPr lang="en-US" altLang="zh-CN" dirty="0"/>
          </a:p>
          <a:p>
            <a:r>
              <a:rPr lang="zh-CN" altLang="en-US" dirty="0"/>
              <a:t>因此，</a:t>
            </a:r>
            <a:r>
              <a:rPr lang="zh-CN" altLang="zh-CN" dirty="0"/>
              <a:t>使用鉴别码</a:t>
            </a:r>
            <a:r>
              <a:rPr lang="en-US" altLang="zh-CN" dirty="0"/>
              <a:t> MAC </a:t>
            </a:r>
            <a:r>
              <a:rPr lang="zh-CN" altLang="zh-CN" dirty="0"/>
              <a:t>就能够很方便地保护报文的完整性。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2848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实体鉴别 </a:t>
            </a:r>
          </a:p>
        </p:txBody>
      </p:sp>
      <p:sp>
        <p:nvSpPr>
          <p:cNvPr id="68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实体鉴别与报文鉴别不同。</a:t>
            </a:r>
          </a:p>
          <a:p>
            <a:r>
              <a:rPr lang="zh-CN" altLang="en-US" dirty="0"/>
              <a:t>报文鉴别是对每一个收到的报文都要鉴别报文的发送者。</a:t>
            </a:r>
            <a:endParaRPr lang="en-US" altLang="zh-CN" dirty="0"/>
          </a:p>
          <a:p>
            <a:r>
              <a:rPr lang="zh-CN" altLang="en-US" dirty="0"/>
              <a:t>实体鉴别是在系统接入的全部持续时间内对和自己通信的对方实体</a:t>
            </a:r>
            <a:r>
              <a:rPr lang="zh-CN" altLang="en-US" dirty="0">
                <a:solidFill>
                  <a:srgbClr val="FF0000"/>
                </a:solidFill>
              </a:rPr>
              <a:t>只需验证一次。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76199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最简单的实体鉴别过程 </a:t>
            </a: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可以使用共享的对称密钥实现实体鉴别。</a:t>
            </a:r>
            <a:endParaRPr lang="en-US" altLang="zh-CN" dirty="0"/>
          </a:p>
          <a:p>
            <a:r>
              <a:rPr lang="en-US" altLang="zh-CN" dirty="0"/>
              <a:t>A </a:t>
            </a:r>
            <a:r>
              <a:rPr lang="zh-CN" altLang="en-US" dirty="0"/>
              <a:t>发送给 </a:t>
            </a:r>
            <a:r>
              <a:rPr lang="en-US" altLang="zh-CN" dirty="0"/>
              <a:t>B </a:t>
            </a:r>
            <a:r>
              <a:rPr lang="zh-CN" altLang="en-US" dirty="0"/>
              <a:t>的报文的被加密，使用的是对称密钥 </a:t>
            </a:r>
            <a:r>
              <a:rPr lang="en-US" altLang="zh-CN" i="1" dirty="0"/>
              <a:t>K</a:t>
            </a:r>
            <a:r>
              <a:rPr lang="en-US" altLang="zh-CN" baseline="-25000" dirty="0"/>
              <a:t>AB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B </a:t>
            </a:r>
            <a:r>
              <a:rPr lang="zh-CN" altLang="en-US" dirty="0"/>
              <a:t>收到此报文后，用共享对称密钥 </a:t>
            </a:r>
            <a:r>
              <a:rPr lang="en-US" altLang="zh-CN" i="1" dirty="0"/>
              <a:t>K</a:t>
            </a:r>
            <a:r>
              <a:rPr lang="en-US" altLang="zh-CN" baseline="-25000" dirty="0"/>
              <a:t>AB </a:t>
            </a:r>
            <a:r>
              <a:rPr lang="zh-CN" altLang="en-US" dirty="0"/>
              <a:t>进行解密，因而鉴别了实体 </a:t>
            </a:r>
            <a:r>
              <a:rPr lang="en-US" altLang="zh-CN" dirty="0"/>
              <a:t>A </a:t>
            </a:r>
            <a:r>
              <a:rPr lang="zh-CN" altLang="en-US" dirty="0"/>
              <a:t>的身份。 因为该密钥只有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知道。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80592" y="4653136"/>
            <a:ext cx="7763678" cy="1584176"/>
            <a:chOff x="128464" y="3571527"/>
            <a:chExt cx="9218675" cy="1951280"/>
          </a:xfrm>
        </p:grpSpPr>
        <p:sp>
          <p:nvSpPr>
            <p:cNvPr id="690180" name="Line 4"/>
            <p:cNvSpPr>
              <a:spLocks noChangeShapeType="1"/>
            </p:cNvSpPr>
            <p:nvPr/>
          </p:nvSpPr>
          <p:spPr bwMode="auto">
            <a:xfrm>
              <a:off x="850777" y="5044729"/>
              <a:ext cx="7615818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0182" name="Text Box 6"/>
            <p:cNvSpPr txBox="1">
              <a:spLocks noChangeArrowheads="1"/>
            </p:cNvSpPr>
            <p:nvPr/>
          </p:nvSpPr>
          <p:spPr bwMode="auto">
            <a:xfrm>
              <a:off x="128464" y="3620740"/>
              <a:ext cx="483851" cy="568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</a:p>
          </p:txBody>
        </p:sp>
        <p:grpSp>
          <p:nvGrpSpPr>
            <p:cNvPr id="690183" name="Group 7"/>
            <p:cNvGrpSpPr>
              <a:grpSpLocks/>
            </p:cNvGrpSpPr>
            <p:nvPr/>
          </p:nvGrpSpPr>
          <p:grpSpPr bwMode="auto">
            <a:xfrm>
              <a:off x="412230" y="3571527"/>
              <a:ext cx="935567" cy="939800"/>
              <a:chOff x="921" y="2412"/>
              <a:chExt cx="284" cy="265"/>
            </a:xfrm>
          </p:grpSpPr>
          <p:grpSp>
            <p:nvGrpSpPr>
              <p:cNvPr id="690184" name="Group 8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690185" name="Freeform 9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86" name="Freeform 10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87" name="Freeform 11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88" name="Freeform 12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89" name="Rectangle 13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90" name="Rectangle 14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91" name="Rectangle 15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92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690193" name="Group 17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690194" name="Freeform 18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195" name="Freeform 19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196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0197" name="Group 21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90198" name="Freeform 22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199" name="Freeform 23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00" name="Freeform 24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01" name="Freeform 25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02" name="Rectangle 26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03" name="Rectangle 27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04" name="Rectangle 28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05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690206" name="Group 30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690207" name="Freeform 31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208" name="Freeform 32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209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690211" name="Text Box 35"/>
            <p:cNvSpPr txBox="1">
              <a:spLocks noChangeArrowheads="1"/>
            </p:cNvSpPr>
            <p:nvPr/>
          </p:nvSpPr>
          <p:spPr bwMode="auto">
            <a:xfrm>
              <a:off x="8863288" y="3620740"/>
              <a:ext cx="483851" cy="568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B</a:t>
              </a:r>
            </a:p>
          </p:txBody>
        </p:sp>
        <p:grpSp>
          <p:nvGrpSpPr>
            <p:cNvPr id="690212" name="Group 36"/>
            <p:cNvGrpSpPr>
              <a:grpSpLocks/>
            </p:cNvGrpSpPr>
            <p:nvPr/>
          </p:nvGrpSpPr>
          <p:grpSpPr bwMode="auto">
            <a:xfrm>
              <a:off x="8011988" y="3571527"/>
              <a:ext cx="935567" cy="939800"/>
              <a:chOff x="921" y="2412"/>
              <a:chExt cx="284" cy="265"/>
            </a:xfrm>
          </p:grpSpPr>
          <p:grpSp>
            <p:nvGrpSpPr>
              <p:cNvPr id="690213" name="Group 37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690214" name="Freeform 38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15" name="Freeform 39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16" name="Freeform 40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17" name="Freeform 41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18" name="Rectangle 42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19" name="Rectangle 43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20" name="Rectangle 44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21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690222" name="Group 46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690223" name="Freeform 47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224" name="Freeform 48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225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0226" name="Group 50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690227" name="Freeform 51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28" name="Freeform 52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29" name="Freeform 53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30" name="Freeform 54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31" name="Rectangle 55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32" name="Rectangle 56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33" name="Rectangle 57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0234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grpSp>
              <p:nvGrpSpPr>
                <p:cNvPr id="690235" name="Group 59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690236" name="Freeform 60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237" name="Freeform 61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0238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</p:grpSp>
        <p:sp>
          <p:nvSpPr>
            <p:cNvPr id="690239" name="Line 63"/>
            <p:cNvSpPr>
              <a:spLocks noChangeShapeType="1"/>
            </p:cNvSpPr>
            <p:nvPr/>
          </p:nvSpPr>
          <p:spPr bwMode="auto">
            <a:xfrm rot="16200000" flipH="1">
              <a:off x="388682" y="5041675"/>
              <a:ext cx="941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0240" name="Line 64"/>
            <p:cNvSpPr>
              <a:spLocks noChangeShapeType="1"/>
            </p:cNvSpPr>
            <p:nvPr/>
          </p:nvSpPr>
          <p:spPr bwMode="auto">
            <a:xfrm rot="16200000" flipH="1">
              <a:off x="8029715" y="5052113"/>
              <a:ext cx="941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0241" name="Rectangle 65"/>
            <p:cNvSpPr>
              <a:spLocks noChangeArrowheads="1"/>
            </p:cNvSpPr>
            <p:nvPr/>
          </p:nvSpPr>
          <p:spPr bwMode="auto">
            <a:xfrm>
              <a:off x="3432184" y="4712940"/>
              <a:ext cx="2801540" cy="671513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4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A, </a:t>
              </a:r>
              <a:r>
                <a:rPr kumimoji="1" lang="zh-CN" altLang="en-US" sz="24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口令</a:t>
              </a:r>
            </a:p>
          </p:txBody>
        </p:sp>
        <p:pic>
          <p:nvPicPr>
            <p:cNvPr id="690242" name="Picture 6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4071" y="4156686"/>
              <a:ext cx="522834" cy="748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90243" name="Text Box 67"/>
            <p:cNvSpPr txBox="1">
              <a:spLocks noChangeArrowheads="1"/>
            </p:cNvSpPr>
            <p:nvPr/>
          </p:nvSpPr>
          <p:spPr bwMode="auto">
            <a:xfrm>
              <a:off x="2389991" y="4076352"/>
              <a:ext cx="834080" cy="5686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4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lang="en-US" altLang="zh-CN" sz="24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73447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存在明显漏洞</a:t>
            </a:r>
          </a:p>
        </p:txBody>
      </p:sp>
      <p:sp>
        <p:nvSpPr>
          <p:cNvPr id="69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入侵者 </a:t>
            </a:r>
            <a:r>
              <a:rPr lang="en-US" altLang="zh-CN" dirty="0"/>
              <a:t>C </a:t>
            </a:r>
            <a:r>
              <a:rPr lang="zh-CN" altLang="en-US" dirty="0"/>
              <a:t>可以从网络上截获 </a:t>
            </a:r>
            <a:r>
              <a:rPr lang="en-US" altLang="zh-CN" dirty="0"/>
              <a:t>A </a:t>
            </a:r>
            <a:r>
              <a:rPr lang="zh-CN" altLang="en-US" dirty="0"/>
              <a:t>发给 </a:t>
            </a:r>
            <a:r>
              <a:rPr lang="en-US" altLang="zh-CN" dirty="0"/>
              <a:t>B </a:t>
            </a:r>
            <a:r>
              <a:rPr lang="zh-CN" altLang="en-US" dirty="0"/>
              <a:t>的报文。</a:t>
            </a:r>
            <a:endParaRPr lang="en-US" altLang="zh-CN" dirty="0"/>
          </a:p>
          <a:p>
            <a:r>
              <a:rPr lang="en-US" altLang="zh-CN" dirty="0"/>
              <a:t>C </a:t>
            </a:r>
            <a:r>
              <a:rPr lang="zh-CN" altLang="en-US" dirty="0"/>
              <a:t>并不需要破译这个报文，而是直接把这个截获的、</a:t>
            </a:r>
            <a:r>
              <a:rPr lang="zh-CN" altLang="zh-CN" dirty="0"/>
              <a:t>由</a:t>
            </a:r>
            <a:r>
              <a:rPr lang="en-US" altLang="zh-CN" dirty="0"/>
              <a:t>A</a:t>
            </a:r>
            <a:r>
              <a:rPr lang="zh-CN" altLang="zh-CN" dirty="0"/>
              <a:t>加密的</a:t>
            </a:r>
            <a:r>
              <a:rPr lang="zh-CN" altLang="en-US" dirty="0"/>
              <a:t>报文发送给 </a:t>
            </a:r>
            <a:r>
              <a:rPr lang="en-US" altLang="zh-CN" dirty="0"/>
              <a:t>B</a:t>
            </a:r>
            <a:r>
              <a:rPr lang="zh-CN" altLang="en-US" dirty="0"/>
              <a:t>，使 </a:t>
            </a:r>
            <a:r>
              <a:rPr lang="en-US" altLang="zh-CN" dirty="0"/>
              <a:t>B </a:t>
            </a:r>
            <a:r>
              <a:rPr lang="zh-CN" altLang="en-US" dirty="0"/>
              <a:t>误认为 </a:t>
            </a:r>
            <a:r>
              <a:rPr lang="en-US" altLang="zh-CN" dirty="0"/>
              <a:t>C </a:t>
            </a:r>
            <a:r>
              <a:rPr lang="zh-CN" altLang="en-US" dirty="0"/>
              <a:t>就是 </a:t>
            </a:r>
            <a:r>
              <a:rPr lang="en-US" altLang="zh-CN" dirty="0"/>
              <a:t>A</a:t>
            </a:r>
            <a:r>
              <a:rPr lang="zh-CN" altLang="en-US" dirty="0"/>
              <a:t>。然后 </a:t>
            </a:r>
            <a:r>
              <a:rPr lang="en-US" altLang="zh-CN" dirty="0"/>
              <a:t>B </a:t>
            </a:r>
            <a:r>
              <a:rPr lang="zh-CN" altLang="en-US" dirty="0"/>
              <a:t>就向伪装是 </a:t>
            </a:r>
            <a:r>
              <a:rPr lang="en-US" altLang="zh-CN" dirty="0"/>
              <a:t>A </a:t>
            </a:r>
            <a:r>
              <a:rPr lang="zh-CN" altLang="en-US" dirty="0"/>
              <a:t>的 </a:t>
            </a:r>
            <a:r>
              <a:rPr lang="en-US" altLang="zh-CN" dirty="0"/>
              <a:t>C </a:t>
            </a:r>
            <a:r>
              <a:rPr lang="zh-CN" altLang="en-US" dirty="0"/>
              <a:t>发送应发给 </a:t>
            </a:r>
            <a:r>
              <a:rPr lang="en-US" altLang="zh-CN" dirty="0"/>
              <a:t>A </a:t>
            </a:r>
            <a:r>
              <a:rPr lang="zh-CN" altLang="en-US" dirty="0"/>
              <a:t>的报文。</a:t>
            </a:r>
          </a:p>
          <a:p>
            <a:r>
              <a:rPr lang="zh-CN" altLang="en-US" dirty="0"/>
              <a:t>这种攻击被称为</a:t>
            </a:r>
            <a:r>
              <a:rPr lang="zh-CN" altLang="en-US" dirty="0">
                <a:solidFill>
                  <a:srgbClr val="FF0000"/>
                </a:solidFill>
              </a:rPr>
              <a:t>重放攻击</a:t>
            </a:r>
            <a:r>
              <a:rPr lang="en-US" altLang="zh-CN" dirty="0"/>
              <a:t>(replay attack)</a:t>
            </a:r>
            <a:r>
              <a:rPr lang="zh-CN" altLang="en-US" dirty="0"/>
              <a:t>。</a:t>
            </a:r>
            <a:r>
              <a:rPr lang="en-US" altLang="zh-CN" dirty="0"/>
              <a:t>C </a:t>
            </a:r>
            <a:r>
              <a:rPr lang="zh-CN" altLang="en-US" dirty="0"/>
              <a:t>甚至还可以截获 </a:t>
            </a:r>
            <a:r>
              <a:rPr lang="en-US" altLang="zh-CN" dirty="0"/>
              <a:t>A </a:t>
            </a:r>
            <a:r>
              <a:rPr lang="zh-CN" altLang="en-US" dirty="0"/>
              <a:t>的 </a:t>
            </a:r>
            <a:r>
              <a:rPr lang="en-US" altLang="zh-CN" dirty="0"/>
              <a:t>IP </a:t>
            </a:r>
            <a:r>
              <a:rPr lang="zh-CN" altLang="en-US" dirty="0"/>
              <a:t>地址，然后把 </a:t>
            </a:r>
            <a:r>
              <a:rPr lang="en-US" altLang="zh-CN" dirty="0"/>
              <a:t>A </a:t>
            </a:r>
            <a:r>
              <a:rPr lang="zh-CN" altLang="en-US" dirty="0"/>
              <a:t>的 </a:t>
            </a:r>
            <a:r>
              <a:rPr lang="en-US" altLang="zh-CN" dirty="0"/>
              <a:t>IP </a:t>
            </a:r>
            <a:r>
              <a:rPr lang="zh-CN" altLang="en-US" dirty="0"/>
              <a:t>地址冒充为自己的 </a:t>
            </a:r>
            <a:r>
              <a:rPr lang="en-US" altLang="zh-CN" dirty="0"/>
              <a:t>IP </a:t>
            </a:r>
            <a:r>
              <a:rPr lang="zh-CN" altLang="en-US" dirty="0"/>
              <a:t>地址（这叫做 </a:t>
            </a:r>
            <a:r>
              <a:rPr lang="en-US" altLang="zh-CN" dirty="0">
                <a:solidFill>
                  <a:srgbClr val="FF0000"/>
                </a:solidFill>
              </a:rPr>
              <a:t>IP </a:t>
            </a:r>
            <a:r>
              <a:rPr lang="zh-CN" altLang="en-US" dirty="0">
                <a:solidFill>
                  <a:srgbClr val="FF0000"/>
                </a:solidFill>
              </a:rPr>
              <a:t>欺骗</a:t>
            </a:r>
            <a:r>
              <a:rPr lang="zh-CN" altLang="en-US" dirty="0"/>
              <a:t>），使 </a:t>
            </a:r>
            <a:r>
              <a:rPr lang="en-US" altLang="zh-CN" dirty="0"/>
              <a:t>B </a:t>
            </a:r>
            <a:r>
              <a:rPr lang="zh-CN" altLang="en-US" dirty="0"/>
              <a:t>更加容易受骗。 </a:t>
            </a:r>
          </a:p>
        </p:txBody>
      </p:sp>
    </p:spTree>
    <p:extLst>
      <p:ext uri="{BB962C8B-B14F-4D97-AF65-F5344CB8AC3E}">
        <p14:creationId xmlns:p14="http://schemas.microsoft.com/office/powerpoint/2010/main" val="39881652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使用不重数进行鉴别</a:t>
            </a:r>
          </a:p>
        </p:txBody>
      </p:sp>
      <p:sp>
        <p:nvSpPr>
          <p:cNvPr id="693255" name="Text Box 7"/>
          <p:cNvSpPr txBox="1">
            <a:spLocks noChangeArrowheads="1"/>
          </p:cNvSpPr>
          <p:nvPr/>
        </p:nvSpPr>
        <p:spPr bwMode="auto">
          <a:xfrm>
            <a:off x="1573262" y="2831018"/>
            <a:ext cx="345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A</a:t>
            </a:r>
          </a:p>
        </p:txBody>
      </p:sp>
      <p:grpSp>
        <p:nvGrpSpPr>
          <p:cNvPr id="693256" name="Group 8"/>
          <p:cNvGrpSpPr>
            <a:grpSpLocks/>
          </p:cNvGrpSpPr>
          <p:nvPr/>
        </p:nvGrpSpPr>
        <p:grpSpPr bwMode="auto">
          <a:xfrm>
            <a:off x="2045442" y="2786569"/>
            <a:ext cx="577185" cy="515254"/>
            <a:chOff x="921" y="2412"/>
            <a:chExt cx="284" cy="265"/>
          </a:xfrm>
        </p:grpSpPr>
        <p:grpSp>
          <p:nvGrpSpPr>
            <p:cNvPr id="693257" name="Group 9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693258" name="Freeform 10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59" name="Freeform 11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60" name="Freeform 12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61" name="Freeform 13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62" name="Rectangle 14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63" name="Rectangle 15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64" name="Rectangle 16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65" name="Line 17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3266" name="Group 18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693267" name="Freeform 19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268" name="Freeform 20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269" name="Rectangle 21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693270" name="Group 22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93271" name="Freeform 23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72" name="Freeform 24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73" name="Freeform 25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74" name="Freeform 26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75" name="Rectangle 27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76" name="Rectangle 28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77" name="Rectangle 29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78" name="Line 30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3279" name="Group 31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693280" name="Freeform 32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281" name="Freeform 33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282" name="Rectangle 34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693284" name="Text Box 36"/>
          <p:cNvSpPr txBox="1">
            <a:spLocks noChangeArrowheads="1"/>
          </p:cNvSpPr>
          <p:nvPr/>
        </p:nvSpPr>
        <p:spPr bwMode="auto">
          <a:xfrm>
            <a:off x="8351681" y="2856418"/>
            <a:ext cx="345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B</a:t>
            </a:r>
          </a:p>
        </p:txBody>
      </p:sp>
      <p:grpSp>
        <p:nvGrpSpPr>
          <p:cNvPr id="693285" name="Group 37"/>
          <p:cNvGrpSpPr>
            <a:grpSpLocks/>
          </p:cNvGrpSpPr>
          <p:nvPr/>
        </p:nvGrpSpPr>
        <p:grpSpPr bwMode="auto">
          <a:xfrm>
            <a:off x="7716315" y="2786569"/>
            <a:ext cx="577185" cy="515254"/>
            <a:chOff x="921" y="2412"/>
            <a:chExt cx="284" cy="265"/>
          </a:xfrm>
        </p:grpSpPr>
        <p:grpSp>
          <p:nvGrpSpPr>
            <p:cNvPr id="693286" name="Group 38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693287" name="Freeform 3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88" name="Freeform 40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89" name="Freeform 4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90" name="Freeform 42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91" name="Rectangle 43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92" name="Rectangle 44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93" name="Rectangle 45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294" name="Line 46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3295" name="Group 47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693296" name="Freeform 4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297" name="Freeform 49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298" name="Rectangle 50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693299" name="Group 51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93300" name="Freeform 5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301" name="Freeform 53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302" name="Freeform 5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303" name="Freeform 55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304" name="Rectangle 56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305" name="Rectangle 57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306" name="Rectangle 58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3307" name="Line 59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3308" name="Group 60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693309" name="Freeform 6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310" name="Freeform 62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3311" name="Rectangle 63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693312" name="Line 64"/>
          <p:cNvSpPr>
            <a:spLocks noChangeShapeType="1"/>
          </p:cNvSpPr>
          <p:nvPr/>
        </p:nvSpPr>
        <p:spPr bwMode="auto">
          <a:xfrm rot="16200000" flipH="1" flipV="1">
            <a:off x="817426" y="4839779"/>
            <a:ext cx="3005279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93313" name="Line 65"/>
          <p:cNvSpPr>
            <a:spLocks noChangeShapeType="1"/>
          </p:cNvSpPr>
          <p:nvPr/>
        </p:nvSpPr>
        <p:spPr bwMode="auto">
          <a:xfrm rot="16200000" flipH="1">
            <a:off x="6514471" y="4830252"/>
            <a:ext cx="3024337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pSp>
        <p:nvGrpSpPr>
          <p:cNvPr id="693328" name="Group 80"/>
          <p:cNvGrpSpPr>
            <a:grpSpLocks/>
          </p:cNvGrpSpPr>
          <p:nvPr/>
        </p:nvGrpSpPr>
        <p:grpSpPr bwMode="auto">
          <a:xfrm>
            <a:off x="2312771" y="3392696"/>
            <a:ext cx="5690781" cy="405515"/>
            <a:chOff x="1036" y="1899"/>
            <a:chExt cx="3900" cy="388"/>
          </a:xfrm>
        </p:grpSpPr>
        <p:sp>
          <p:nvSpPr>
            <p:cNvPr id="693253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3317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r>
                <a:rPr kumimoji="1" lang="en-US" altLang="zh-CN" sz="28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A, </a:t>
              </a:r>
              <a:r>
                <a:rPr kumimoji="1" lang="en-US" altLang="zh-CN" sz="2800" b="1" i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28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</a:p>
          </p:txBody>
        </p:sp>
      </p:grpSp>
      <p:grpSp>
        <p:nvGrpSpPr>
          <p:cNvPr id="693330" name="Group 82"/>
          <p:cNvGrpSpPr>
            <a:grpSpLocks/>
          </p:cNvGrpSpPr>
          <p:nvPr/>
        </p:nvGrpSpPr>
        <p:grpSpPr bwMode="auto">
          <a:xfrm>
            <a:off x="2357486" y="5388526"/>
            <a:ext cx="5598853" cy="737869"/>
            <a:chOff x="1062" y="3275"/>
            <a:chExt cx="3837" cy="706"/>
          </a:xfrm>
        </p:grpSpPr>
        <p:sp>
          <p:nvSpPr>
            <p:cNvPr id="693315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3316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r"/>
              <a:r>
                <a:rPr kumimoji="1" lang="en-US" altLang="zh-CN" sz="28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28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B</a:t>
              </a:r>
            </a:p>
          </p:txBody>
        </p:sp>
        <p:pic>
          <p:nvPicPr>
            <p:cNvPr id="693321" name="Picture 7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93322" name="Text Box 74"/>
            <p:cNvSpPr txBox="1">
              <a:spLocks noChangeArrowheads="1"/>
            </p:cNvSpPr>
            <p:nvPr/>
          </p:nvSpPr>
          <p:spPr bwMode="auto">
            <a:xfrm>
              <a:off x="2378" y="3275"/>
              <a:ext cx="40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400" b="1" i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AB</a:t>
              </a:r>
            </a:p>
          </p:txBody>
        </p:sp>
      </p:grpSp>
      <p:grpSp>
        <p:nvGrpSpPr>
          <p:cNvPr id="693329" name="Group 81"/>
          <p:cNvGrpSpPr>
            <a:grpSpLocks/>
          </p:cNvGrpSpPr>
          <p:nvPr/>
        </p:nvGrpSpPr>
        <p:grpSpPr bwMode="auto">
          <a:xfrm>
            <a:off x="2342009" y="4242008"/>
            <a:ext cx="5638250" cy="947942"/>
            <a:chOff x="1053" y="2434"/>
            <a:chExt cx="3864" cy="907"/>
          </a:xfrm>
        </p:grpSpPr>
        <p:sp>
          <p:nvSpPr>
            <p:cNvPr id="693314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3318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kumimoji="1" lang="zh-CN" altLang="zh-CN" sz="24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3319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rgbClr val="0000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r"/>
              <a:r>
                <a:rPr kumimoji="1" lang="en-US" altLang="zh-CN" sz="28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28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</a:p>
          </p:txBody>
        </p:sp>
        <p:sp>
          <p:nvSpPr>
            <p:cNvPr id="693320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569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800" b="1" i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28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B</a:t>
              </a:r>
              <a:r>
                <a:rPr kumimoji="1" lang="zh-CN" altLang="en-US" sz="28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，</a:t>
              </a:r>
              <a:endParaRPr kumimoji="1"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pic>
          <p:nvPicPr>
            <p:cNvPr id="693323" name="Picture 7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93324" name="Text Box 76"/>
            <p:cNvSpPr txBox="1">
              <a:spLocks noChangeArrowheads="1"/>
            </p:cNvSpPr>
            <p:nvPr/>
          </p:nvSpPr>
          <p:spPr bwMode="auto">
            <a:xfrm>
              <a:off x="2780" y="2504"/>
              <a:ext cx="40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400" b="1" i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K</a:t>
              </a:r>
              <a:r>
                <a:rPr lang="en-US" altLang="zh-CN" sz="2400" b="1" baseline="-25000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AB</a:t>
              </a:r>
            </a:p>
          </p:txBody>
        </p:sp>
      </p:grpSp>
      <p:sp>
        <p:nvSpPr>
          <p:cNvPr id="693326" name="Text Box 78"/>
          <p:cNvSpPr txBox="1">
            <a:spLocks noChangeArrowheads="1"/>
          </p:cNvSpPr>
          <p:nvPr/>
        </p:nvSpPr>
        <p:spPr bwMode="auto">
          <a:xfrm>
            <a:off x="1595635" y="5622339"/>
            <a:ext cx="6789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时间</a:t>
            </a:r>
            <a:endParaRPr lang="zh-CN" altLang="en-US" sz="2400" b="1" baseline="-25000" dirty="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0512" y="1155187"/>
            <a:ext cx="9145016" cy="1409717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zh-CN" altLang="en-US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不重数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(nonce)</a:t>
            </a:r>
            <a:r>
              <a:rPr lang="zh-CN" altLang="en-US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就是一个不重复使用的大随机数，即“一次一数”。</a:t>
            </a:r>
            <a:r>
              <a:rPr lang="zh-CN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由于不重数不能重复使用，所以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C </a:t>
            </a:r>
            <a:r>
              <a:rPr lang="zh-CN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在进行重放攻击时无法重复使用所截获的不重数。</a:t>
            </a:r>
            <a:endParaRPr lang="zh-CN" altLang="en-US" sz="2800" b="1" dirty="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779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9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69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9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使用不重数进行鉴别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在使用公钥密码体制时，可以对不重数进行签名鉴别。</a:t>
            </a:r>
            <a:endParaRPr lang="en-US" altLang="zh-CN" sz="2800" dirty="0"/>
          </a:p>
          <a:p>
            <a:r>
              <a:rPr lang="en-US" altLang="zh-CN" sz="2800" dirty="0"/>
              <a:t>B </a:t>
            </a:r>
            <a:r>
              <a:rPr lang="zh-CN" altLang="zh-CN" sz="2800" dirty="0"/>
              <a:t>用其</a:t>
            </a:r>
            <a:r>
              <a:rPr lang="zh-CN" altLang="zh-CN" sz="2800" dirty="0">
                <a:solidFill>
                  <a:srgbClr val="FF0000"/>
                </a:solidFill>
              </a:rPr>
              <a:t>私钥</a:t>
            </a:r>
            <a:r>
              <a:rPr lang="zh-CN" altLang="zh-CN" sz="2800" dirty="0"/>
              <a:t>对不重数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zh-CN" sz="2800" dirty="0"/>
              <a:t>进行签名后发回给</a:t>
            </a:r>
            <a:r>
              <a:rPr lang="en-US" altLang="zh-CN" sz="2800" dirty="0"/>
              <a:t> A</a:t>
            </a:r>
            <a:r>
              <a:rPr lang="zh-CN" altLang="zh-CN" sz="2800" dirty="0"/>
              <a:t>。</a:t>
            </a:r>
            <a:r>
              <a:rPr lang="en-US" altLang="zh-CN" sz="2800" dirty="0"/>
              <a:t>A </a:t>
            </a:r>
            <a:r>
              <a:rPr lang="zh-CN" altLang="zh-CN" sz="2800" dirty="0"/>
              <a:t>用</a:t>
            </a:r>
            <a:r>
              <a:rPr lang="en-US" altLang="zh-CN" sz="2800" dirty="0"/>
              <a:t> B </a:t>
            </a:r>
            <a:r>
              <a:rPr lang="zh-CN" altLang="zh-CN" sz="2800" dirty="0"/>
              <a:t>的</a:t>
            </a:r>
            <a:r>
              <a:rPr lang="zh-CN" altLang="zh-CN" sz="2800" dirty="0">
                <a:solidFill>
                  <a:srgbClr val="FF0000"/>
                </a:solidFill>
              </a:rPr>
              <a:t>公钥</a:t>
            </a:r>
            <a:r>
              <a:rPr lang="zh-CN" altLang="zh-CN" sz="2800" dirty="0"/>
              <a:t>核实签名。如能得出自己原来发送的不重数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A</a:t>
            </a:r>
            <a:r>
              <a:rPr lang="zh-CN" altLang="zh-CN" sz="2800" dirty="0"/>
              <a:t>，就核实了和自己通信的对方的确是</a:t>
            </a:r>
            <a:r>
              <a:rPr lang="en-US" altLang="zh-CN" sz="2800" dirty="0"/>
              <a:t> B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r>
              <a:rPr lang="zh-CN" altLang="zh-CN" sz="2800" dirty="0"/>
              <a:t>同样，</a:t>
            </a:r>
            <a:r>
              <a:rPr lang="en-US" altLang="zh-CN" sz="2800" dirty="0"/>
              <a:t>A </a:t>
            </a:r>
            <a:r>
              <a:rPr lang="zh-CN" altLang="zh-CN" sz="2800" dirty="0"/>
              <a:t>也用自己的私钥对不重数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B </a:t>
            </a:r>
            <a:r>
              <a:rPr lang="zh-CN" altLang="zh-CN" sz="2800" dirty="0"/>
              <a:t>进行签名后发送给</a:t>
            </a:r>
            <a:r>
              <a:rPr lang="en-US" altLang="zh-CN" sz="2800" dirty="0"/>
              <a:t> B</a:t>
            </a:r>
            <a:r>
              <a:rPr lang="zh-CN" altLang="zh-CN" sz="2800" dirty="0"/>
              <a:t>。</a:t>
            </a:r>
            <a:r>
              <a:rPr lang="en-US" altLang="zh-CN" sz="2800" dirty="0"/>
              <a:t>B </a:t>
            </a:r>
            <a:r>
              <a:rPr lang="zh-CN" altLang="zh-CN" sz="2800" dirty="0"/>
              <a:t>用</a:t>
            </a:r>
            <a:r>
              <a:rPr lang="en-US" altLang="zh-CN" sz="2800" dirty="0"/>
              <a:t> A </a:t>
            </a:r>
            <a:r>
              <a:rPr lang="zh-CN" altLang="zh-CN" sz="2800" dirty="0"/>
              <a:t>的公钥核实签名，鉴别了</a:t>
            </a:r>
            <a:r>
              <a:rPr lang="en-US" altLang="zh-CN" sz="2800" dirty="0"/>
              <a:t> A </a:t>
            </a:r>
            <a:r>
              <a:rPr lang="zh-CN" altLang="zh-CN" sz="2800" dirty="0"/>
              <a:t>的身份。</a:t>
            </a:r>
            <a:endParaRPr lang="en-US" altLang="zh-CN" sz="2800" dirty="0"/>
          </a:p>
          <a:p>
            <a:r>
              <a:rPr lang="zh-CN" altLang="zh-CN" sz="2800" dirty="0">
                <a:solidFill>
                  <a:srgbClr val="0000FF"/>
                </a:solidFill>
              </a:rPr>
              <a:t>公钥密码体制虽然不必在互相通信的用户之间秘密地分配共享密钥，但仍有受到攻击的可能。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911439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使用不重数进行鉴别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C </a:t>
            </a:r>
            <a:r>
              <a:rPr lang="zh-CN" altLang="zh-CN" sz="2800" dirty="0"/>
              <a:t>冒充是</a:t>
            </a:r>
            <a:r>
              <a:rPr lang="en-US" altLang="zh-CN" sz="2800" dirty="0"/>
              <a:t> A</a:t>
            </a:r>
            <a:r>
              <a:rPr lang="zh-CN" altLang="zh-CN" sz="2800" dirty="0"/>
              <a:t>，发送报文给</a:t>
            </a:r>
            <a:r>
              <a:rPr lang="en-US" altLang="zh-CN" sz="2800" dirty="0"/>
              <a:t> B</a:t>
            </a:r>
            <a:r>
              <a:rPr lang="zh-CN" altLang="zh-CN" sz="2800" dirty="0"/>
              <a:t>，说：“我是</a:t>
            </a:r>
            <a:r>
              <a:rPr lang="en-US" altLang="zh-CN" sz="2800" dirty="0"/>
              <a:t> A</a:t>
            </a:r>
            <a:r>
              <a:rPr lang="zh-CN" altLang="zh-CN" sz="2800" dirty="0"/>
              <a:t>”。</a:t>
            </a:r>
          </a:p>
          <a:p>
            <a:r>
              <a:rPr lang="en-US" altLang="zh-CN" sz="2800" dirty="0"/>
              <a:t>B </a:t>
            </a:r>
            <a:r>
              <a:rPr lang="zh-CN" altLang="zh-CN" sz="2800" dirty="0"/>
              <a:t>选择一个不重数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B</a:t>
            </a:r>
            <a:r>
              <a:rPr lang="zh-CN" altLang="zh-CN" sz="2800" dirty="0"/>
              <a:t>，发送给</a:t>
            </a:r>
            <a:r>
              <a:rPr lang="en-US" altLang="zh-CN" sz="2800" dirty="0"/>
              <a:t> A</a:t>
            </a:r>
            <a:r>
              <a:rPr lang="zh-CN" altLang="zh-CN" sz="2800" dirty="0"/>
              <a:t>，但被</a:t>
            </a:r>
            <a:r>
              <a:rPr lang="en-US" altLang="zh-CN" sz="2800" dirty="0"/>
              <a:t> C </a:t>
            </a:r>
            <a:r>
              <a:rPr lang="zh-CN" altLang="zh-CN" sz="2800" dirty="0">
                <a:solidFill>
                  <a:srgbClr val="FF0000"/>
                </a:solidFill>
              </a:rPr>
              <a:t>截获</a:t>
            </a:r>
            <a:r>
              <a:rPr lang="zh-CN" altLang="zh-CN" sz="2800" dirty="0"/>
              <a:t>了。</a:t>
            </a:r>
          </a:p>
          <a:p>
            <a:r>
              <a:rPr lang="en-US" altLang="zh-CN" sz="2800" dirty="0"/>
              <a:t>C </a:t>
            </a:r>
            <a:r>
              <a:rPr lang="zh-CN" altLang="zh-CN" sz="2800" dirty="0"/>
              <a:t>用自己的私钥</a:t>
            </a:r>
            <a:r>
              <a:rPr lang="en-US" altLang="zh-CN" sz="2800" dirty="0"/>
              <a:t> </a:t>
            </a:r>
            <a:r>
              <a:rPr lang="en-US" altLang="zh-CN" sz="2800" i="1" dirty="0"/>
              <a:t>SK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</a:t>
            </a:r>
            <a:r>
              <a:rPr lang="zh-CN" altLang="zh-CN" sz="2800" dirty="0">
                <a:solidFill>
                  <a:srgbClr val="FF0000"/>
                </a:solidFill>
              </a:rPr>
              <a:t>冒充</a:t>
            </a:r>
            <a:r>
              <a:rPr lang="zh-CN" altLang="zh-CN" sz="2800" dirty="0"/>
              <a:t>是</a:t>
            </a:r>
            <a:r>
              <a:rPr lang="en-US" altLang="zh-CN" sz="2800" dirty="0"/>
              <a:t>A</a:t>
            </a:r>
            <a:r>
              <a:rPr lang="zh-CN" altLang="zh-CN" sz="2800" dirty="0"/>
              <a:t>的私钥，对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zh-CN" sz="2800" dirty="0"/>
              <a:t>加密，并发送给</a:t>
            </a:r>
            <a:r>
              <a:rPr lang="en-US" altLang="zh-CN" sz="2800" dirty="0"/>
              <a:t> B</a:t>
            </a:r>
            <a:r>
              <a:rPr lang="zh-CN" altLang="zh-CN" sz="2800" dirty="0"/>
              <a:t>。</a:t>
            </a:r>
          </a:p>
          <a:p>
            <a:r>
              <a:rPr lang="en-US" altLang="zh-CN" sz="2800" dirty="0"/>
              <a:t>B </a:t>
            </a:r>
            <a:r>
              <a:rPr lang="zh-CN" altLang="zh-CN" sz="2800" dirty="0"/>
              <a:t>向</a:t>
            </a:r>
            <a:r>
              <a:rPr lang="en-US" altLang="zh-CN" sz="2800" dirty="0"/>
              <a:t> A </a:t>
            </a:r>
            <a:r>
              <a:rPr lang="zh-CN" altLang="zh-CN" sz="2800" dirty="0"/>
              <a:t>发送报文，要求对方把解密用的公钥发送过来，但这报文也被</a:t>
            </a:r>
            <a:r>
              <a:rPr lang="en-US" altLang="zh-CN" sz="2800" dirty="0"/>
              <a:t> C </a:t>
            </a:r>
            <a:r>
              <a:rPr lang="zh-CN" altLang="zh-CN" sz="2800" dirty="0">
                <a:solidFill>
                  <a:srgbClr val="FF0000"/>
                </a:solidFill>
              </a:rPr>
              <a:t>截获</a:t>
            </a:r>
            <a:r>
              <a:rPr lang="zh-CN" altLang="zh-CN" sz="2800" dirty="0"/>
              <a:t>了。</a:t>
            </a:r>
          </a:p>
          <a:p>
            <a:r>
              <a:rPr lang="en-US" altLang="zh-CN" sz="2800" dirty="0"/>
              <a:t>C </a:t>
            </a:r>
            <a:r>
              <a:rPr lang="zh-CN" altLang="zh-CN" sz="2800" dirty="0"/>
              <a:t>把自己的公钥</a:t>
            </a:r>
            <a:r>
              <a:rPr lang="en-US" altLang="zh-CN" sz="2800" dirty="0"/>
              <a:t> </a:t>
            </a:r>
            <a:r>
              <a:rPr lang="en-US" altLang="zh-CN" sz="2800" i="1" dirty="0"/>
              <a:t>PK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</a:t>
            </a:r>
            <a:r>
              <a:rPr lang="zh-CN" altLang="zh-CN" sz="2800" dirty="0">
                <a:solidFill>
                  <a:srgbClr val="FF0000"/>
                </a:solidFill>
              </a:rPr>
              <a:t>冒充</a:t>
            </a:r>
            <a:r>
              <a:rPr lang="zh-CN" altLang="zh-CN" sz="2800" dirty="0"/>
              <a:t>是</a:t>
            </a:r>
            <a:r>
              <a:rPr lang="en-US" altLang="zh-CN" sz="2800" dirty="0"/>
              <a:t> A </a:t>
            </a:r>
            <a:r>
              <a:rPr lang="zh-CN" altLang="zh-CN" sz="2800" dirty="0"/>
              <a:t>的公钥发送给</a:t>
            </a:r>
            <a:r>
              <a:rPr lang="en-US" altLang="zh-CN" sz="2800" dirty="0"/>
              <a:t> B</a:t>
            </a:r>
            <a:r>
              <a:rPr lang="zh-CN" altLang="zh-CN" sz="2800" dirty="0"/>
              <a:t>。</a:t>
            </a:r>
          </a:p>
          <a:p>
            <a:r>
              <a:rPr lang="en-US" altLang="zh-CN" sz="2800" dirty="0"/>
              <a:t>B </a:t>
            </a:r>
            <a:r>
              <a:rPr lang="zh-CN" altLang="zh-CN" sz="2800" dirty="0"/>
              <a:t>用收到的公钥</a:t>
            </a:r>
            <a:r>
              <a:rPr lang="en-US" altLang="zh-CN" sz="2800" dirty="0"/>
              <a:t> </a:t>
            </a:r>
            <a:r>
              <a:rPr lang="en-US" altLang="zh-CN" sz="2800" i="1" dirty="0"/>
              <a:t>PK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</a:t>
            </a:r>
            <a:r>
              <a:rPr lang="zh-CN" altLang="zh-CN" sz="2800" dirty="0"/>
              <a:t>对收到的加密的</a:t>
            </a:r>
            <a:r>
              <a:rPr lang="en-US" altLang="zh-CN" sz="2800" dirty="0"/>
              <a:t> </a:t>
            </a:r>
            <a:r>
              <a:rPr lang="en-US" altLang="zh-CN" sz="2800" i="1" dirty="0"/>
              <a:t>R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zh-CN" sz="2800" dirty="0"/>
              <a:t>进行解密，其结果当然正确。于是</a:t>
            </a:r>
            <a:r>
              <a:rPr lang="en-US" altLang="zh-CN" sz="2800" dirty="0"/>
              <a:t> B </a:t>
            </a:r>
            <a:r>
              <a:rPr lang="zh-CN" altLang="zh-CN" sz="2800" dirty="0"/>
              <a:t>相信通信的对方是</a:t>
            </a:r>
            <a:r>
              <a:rPr lang="en-US" altLang="zh-CN" sz="2800" dirty="0"/>
              <a:t> A</a:t>
            </a:r>
            <a:r>
              <a:rPr lang="zh-CN" altLang="zh-CN" sz="2800" dirty="0"/>
              <a:t>，接着就向</a:t>
            </a:r>
            <a:r>
              <a:rPr lang="en-US" altLang="zh-CN" sz="2800" dirty="0"/>
              <a:t> A </a:t>
            </a:r>
            <a:r>
              <a:rPr lang="zh-CN" altLang="zh-CN" sz="2800" dirty="0"/>
              <a:t>发送许多敏感数据，但都被</a:t>
            </a:r>
            <a:r>
              <a:rPr lang="en-US" altLang="zh-CN" sz="2800" dirty="0"/>
              <a:t> C </a:t>
            </a:r>
            <a:r>
              <a:rPr lang="zh-CN" altLang="zh-CN" sz="2800" dirty="0"/>
              <a:t>截获了。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424316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中间人攻击 </a:t>
            </a:r>
          </a:p>
        </p:txBody>
      </p:sp>
      <p:sp>
        <p:nvSpPr>
          <p:cNvPr id="695303" name="Text Box 7"/>
          <p:cNvSpPr txBox="1">
            <a:spLocks noChangeArrowheads="1"/>
          </p:cNvSpPr>
          <p:nvPr/>
        </p:nvSpPr>
        <p:spPr bwMode="auto">
          <a:xfrm>
            <a:off x="1103587" y="1196752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A</a:t>
            </a:r>
          </a:p>
        </p:txBody>
      </p:sp>
      <p:grpSp>
        <p:nvGrpSpPr>
          <p:cNvPr id="695304" name="Group 8"/>
          <p:cNvGrpSpPr>
            <a:grpSpLocks/>
          </p:cNvGrpSpPr>
          <p:nvPr/>
        </p:nvGrpSpPr>
        <p:grpSpPr bwMode="auto">
          <a:xfrm>
            <a:off x="579050" y="1225327"/>
            <a:ext cx="620845" cy="660400"/>
            <a:chOff x="921" y="2412"/>
            <a:chExt cx="284" cy="265"/>
          </a:xfrm>
        </p:grpSpPr>
        <p:grpSp>
          <p:nvGrpSpPr>
            <p:cNvPr id="695305" name="Group 9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695306" name="Freeform 10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07" name="Freeform 11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08" name="Freeform 12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09" name="Freeform 13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10" name="Rectangle 14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11" name="Rectangle 15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12" name="Rectangle 16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13" name="Line 17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314" name="Group 18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695315" name="Freeform 19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16" name="Freeform 20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17" name="Rectangle 21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695318" name="Group 22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95319" name="Freeform 23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20" name="Freeform 24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21" name="Freeform 25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22" name="Freeform 26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23" name="Rectangle 27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24" name="Rectangle 28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25" name="Rectangle 29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26" name="Line 30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327" name="Group 31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695328" name="Freeform 32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29" name="Freeform 33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30" name="Rectangle 34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695332" name="Text Box 36"/>
          <p:cNvSpPr txBox="1">
            <a:spLocks noChangeArrowheads="1"/>
          </p:cNvSpPr>
          <p:nvPr/>
        </p:nvSpPr>
        <p:spPr bwMode="auto">
          <a:xfrm>
            <a:off x="8873605" y="1196752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B</a:t>
            </a:r>
          </a:p>
        </p:txBody>
      </p:sp>
      <p:grpSp>
        <p:nvGrpSpPr>
          <p:cNvPr id="695333" name="Group 37"/>
          <p:cNvGrpSpPr>
            <a:grpSpLocks/>
          </p:cNvGrpSpPr>
          <p:nvPr/>
        </p:nvGrpSpPr>
        <p:grpSpPr bwMode="auto">
          <a:xfrm>
            <a:off x="9174569" y="1225327"/>
            <a:ext cx="622565" cy="660400"/>
            <a:chOff x="921" y="2412"/>
            <a:chExt cx="284" cy="265"/>
          </a:xfrm>
        </p:grpSpPr>
        <p:grpSp>
          <p:nvGrpSpPr>
            <p:cNvPr id="695334" name="Group 38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695335" name="Freeform 3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36" name="Freeform 40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37" name="Freeform 4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38" name="Freeform 42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39" name="Rectangle 43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40" name="Rectangle 44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41" name="Rectangle 45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42" name="Line 46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343" name="Group 47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695344" name="Freeform 4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45" name="Freeform 49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46" name="Rectangle 50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  <p:grpSp>
          <p:nvGrpSpPr>
            <p:cNvPr id="695347" name="Group 51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695348" name="Freeform 5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49" name="Freeform 53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50" name="Freeform 5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51" name="Freeform 55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52" name="Rectangle 56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53" name="Rectangle 57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54" name="Rectangle 58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55" name="Line 59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356" name="Group 60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695357" name="Freeform 6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58" name="Freeform 62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59" name="Rectangle 63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</p:grpSp>
      </p:grpSp>
      <p:sp>
        <p:nvSpPr>
          <p:cNvPr id="695360" name="Line 64"/>
          <p:cNvSpPr>
            <a:spLocks noChangeShapeType="1"/>
          </p:cNvSpPr>
          <p:nvPr/>
        </p:nvSpPr>
        <p:spPr bwMode="auto">
          <a:xfrm rot="5400000">
            <a:off x="-869809" y="3725640"/>
            <a:ext cx="348932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95361" name="Line 65"/>
          <p:cNvSpPr>
            <a:spLocks noChangeShapeType="1"/>
          </p:cNvSpPr>
          <p:nvPr/>
        </p:nvSpPr>
        <p:spPr bwMode="auto">
          <a:xfrm rot="16200000" flipH="1">
            <a:off x="7763215" y="3689591"/>
            <a:ext cx="3460750" cy="859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pSp>
        <p:nvGrpSpPr>
          <p:cNvPr id="695849" name="Group 553"/>
          <p:cNvGrpSpPr>
            <a:grpSpLocks/>
          </p:cNvGrpSpPr>
          <p:nvPr/>
        </p:nvGrpSpPr>
        <p:grpSpPr bwMode="auto">
          <a:xfrm>
            <a:off x="864536" y="1933353"/>
            <a:ext cx="4318397" cy="423863"/>
            <a:chOff x="428" y="1792"/>
            <a:chExt cx="2511" cy="267"/>
          </a:xfrm>
        </p:grpSpPr>
        <p:sp>
          <p:nvSpPr>
            <p:cNvPr id="695302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62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568" cy="26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zh-CN" altLang="en-US" sz="18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我是 </a:t>
              </a:r>
              <a:r>
                <a:rPr kumimoji="1" lang="en-US" altLang="zh-CN" sz="18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  <a:endParaRPr kumimoji="1" lang="en-US" altLang="zh-CN" sz="1800" b="1" i="1" baseline="-2500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  <p:grpSp>
        <p:nvGrpSpPr>
          <p:cNvPr id="695363" name="Group 67"/>
          <p:cNvGrpSpPr>
            <a:grpSpLocks/>
          </p:cNvGrpSpPr>
          <p:nvPr/>
        </p:nvGrpSpPr>
        <p:grpSpPr bwMode="auto">
          <a:xfrm>
            <a:off x="4739226" y="1318991"/>
            <a:ext cx="797983" cy="644525"/>
            <a:chOff x="624" y="2968"/>
            <a:chExt cx="1331" cy="920"/>
          </a:xfrm>
        </p:grpSpPr>
        <p:sp>
          <p:nvSpPr>
            <p:cNvPr id="695364" name="Freeform 68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65" name="Freeform 69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66" name="Freeform 70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67" name="Freeform 71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68" name="Freeform 72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69" name="Freeform 73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70" name="Freeform 74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71" name="Freeform 75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72" name="Freeform 76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73" name="Freeform 77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74" name="Freeform 78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375" name="Freeform 79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grpSp>
          <p:nvGrpSpPr>
            <p:cNvPr id="695376" name="Group 80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695377" name="Group 81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695378" name="Freeform 82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79" name="Freeform 83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80" name="Freeform 84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381" name="Group 85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695382" name="Freeform 86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83" name="Freeform 87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84" name="Freeform 88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sp>
            <p:nvSpPr>
              <p:cNvPr id="695385" name="Freeform 89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86" name="Freeform 90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87" name="Freeform 91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388" name="Freeform 92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389" name="Group 93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695390" name="Freeform 94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91" name="Freeform 95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92" name="Freeform 96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393" name="Group 97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695394" name="Freeform 98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95" name="Freeform 99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96" name="Freeform 100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397" name="Group 101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695398" name="Freeform 102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399" name="Freeform 103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00" name="Freeform 104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01" name="Group 105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695402" name="Freeform 106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03" name="Freeform 107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04" name="Freeform 108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05" name="Group 109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695406" name="Group 110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695407" name="Freeform 111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08" name="Freeform 112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09" name="Freeform 113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10" name="Group 114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695411" name="Freeform 115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12" name="Freeform 116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13" name="Freeform 117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14" name="Group 118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695415" name="Freeform 119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16" name="Freeform 120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17" name="Freeform 121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18" name="Group 122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695419" name="Freeform 123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20" name="Freeform 124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21" name="Freeform 125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22" name="Group 126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695423" name="Freeform 127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24" name="Freeform 128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25" name="Freeform 129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426" name="Group 130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695427" name="Group 131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695428" name="Freeform 132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29" name="Freeform 133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30" name="Freeform 134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31" name="Group 135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695432" name="Freeform 136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33" name="Freeform 137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34" name="Freeform 138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35" name="Group 139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695436" name="Freeform 140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37" name="Freeform 141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38" name="Freeform 142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39" name="Group 143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695440" name="Freeform 144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41" name="Freeform 145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42" name="Freeform 146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43" name="Group 147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695444" name="Freeform 148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45" name="Freeform 149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46" name="Freeform 150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447" name="Group 151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695448" name="Freeform 152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49" name="Freeform 153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50" name="Freeform 154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51" name="Group 155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695452" name="Freeform 156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53" name="Freeform 157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54" name="Freeform 158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55" name="Group 159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695456" name="Freeform 160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57" name="Freeform 161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58" name="Freeform 162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sp>
            <p:nvSpPr>
              <p:cNvPr id="695459" name="Freeform 163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460" name="Freeform 164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461" name="Freeform 165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462" name="Group 166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695463" name="Freeform 167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64" name="Freeform 168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65" name="Freeform 169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66" name="Group 170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695467" name="Freeform 171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68" name="Freeform 172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69" name="Freeform 173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70" name="Group 174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695471" name="Freeform 175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72" name="Freeform 176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73" name="Freeform 177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74" name="Group 178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695475" name="Freeform 179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76" name="Freeform 180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477" name="Freeform 181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478" name="Group 182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695479" name="Group 183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695480" name="Freeform 184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81" name="Freeform 185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82" name="Freeform 186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83" name="Group 187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695484" name="Freeform 188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85" name="Freeform 189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86" name="Freeform 190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87" name="Group 191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695488" name="Freeform 192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89" name="Freeform 193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90" name="Freeform 194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91" name="Group 195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695492" name="Freeform 196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93" name="Freeform 197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94" name="Freeform 198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495" name="Group 199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695496" name="Freeform 200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97" name="Freeform 201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498" name="Freeform 202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499" name="Group 203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695500" name="Group 204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695501" name="Freeform 205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02" name="Freeform 206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03" name="Freeform 207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04" name="Group 208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695505" name="Freeform 209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06" name="Freeform 210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07" name="Freeform 211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08" name="Group 212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695509" name="Freeform 213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10" name="Freeform 214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11" name="Freeform 215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12" name="Group 216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695513" name="Freeform 217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14" name="Freeform 218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15" name="Freeform 219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16" name="Group 220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695517" name="Freeform 221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18" name="Freeform 222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19" name="Freeform 223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520" name="Group 224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695521" name="Freeform 225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22" name="Freeform 226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23" name="Freeform 227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524" name="Group 228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695525" name="Freeform 229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26" name="Freeform 230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27" name="Freeform 231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528" name="Group 232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695529" name="Freeform 233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30" name="Freeform 234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31" name="Freeform 235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sp>
            <p:nvSpPr>
              <p:cNvPr id="695532" name="Freeform 236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533" name="Freeform 237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534" name="Freeform 238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535" name="Group 239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695536" name="Freeform 240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37" name="Freeform 241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38" name="Freeform 242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539" name="Group 243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695540" name="Freeform 244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41" name="Freeform 245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42" name="Freeform 246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543" name="Group 247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695544" name="Freeform 248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45" name="Freeform 249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46" name="Freeform 250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547" name="Group 251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695548" name="Freeform 252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49" name="Freeform 253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50" name="Freeform 254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551" name="Group 255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695552" name="Group 256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695553" name="Freeform 257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54" name="Freeform 258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55" name="Freeform 259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56" name="Group 260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695557" name="Freeform 261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58" name="Freeform 262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59" name="Freeform 263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60" name="Group 264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695561" name="Freeform 265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62" name="Freeform 266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63" name="Freeform 267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64" name="Group 268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695565" name="Freeform 269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66" name="Freeform 270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67" name="Freeform 271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68" name="Group 272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695569" name="Freeform 273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70" name="Freeform 274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71" name="Freeform 275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572" name="Group 276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695573" name="Group 277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695574" name="Freeform 278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75" name="Freeform 279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76" name="Freeform 280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77" name="Group 281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695578" name="Freeform 282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79" name="Freeform 283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80" name="Freeform 284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81" name="Group 285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695582" name="Freeform 286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83" name="Freeform 287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84" name="Freeform 288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85" name="Group 289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695586" name="Freeform 290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87" name="Freeform 291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88" name="Freeform 292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589" name="Group 293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695590" name="Freeform 294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91" name="Freeform 295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592" name="Freeform 296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593" name="Group 297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695594" name="Freeform 298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95" name="Freeform 299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96" name="Freeform 300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597" name="Group 301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695598" name="Freeform 302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599" name="Freeform 303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00" name="Freeform 304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01" name="Group 305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695602" name="Freeform 306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03" name="Freeform 307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04" name="Freeform 308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05" name="Group 309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695606" name="Freeform 310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07" name="Freeform 311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08" name="Freeform 312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09" name="Group 313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695610" name="Freeform 314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11" name="Freeform 315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12" name="Freeform 316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13" name="Group 317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695614" name="Group 318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695615" name="Freeform 319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16" name="Freeform 320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17" name="Freeform 321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18" name="Group 322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695619" name="Freeform 323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20" name="Freeform 324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21" name="Freeform 325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22" name="Group 326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695623" name="Freeform 327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24" name="Freeform 328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25" name="Freeform 329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26" name="Group 330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695627" name="Freeform 331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28" name="Freeform 332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29" name="Freeform 333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30" name="Group 334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695631" name="Freeform 335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32" name="Freeform 336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33" name="Freeform 337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634" name="Group 338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695635" name="Group 339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695636" name="Freeform 340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37" name="Freeform 341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38" name="Freeform 342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39" name="Group 343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695640" name="Freeform 344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41" name="Freeform 345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42" name="Freeform 346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43" name="Group 347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695644" name="Freeform 348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45" name="Freeform 349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46" name="Freeform 350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47" name="Group 351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695648" name="Freeform 352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49" name="Freeform 353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50" name="Freeform 354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51" name="Group 355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695652" name="Freeform 356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53" name="Freeform 357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54" name="Freeform 358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655" name="Group 359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695656" name="Freeform 360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57" name="Freeform 361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58" name="Freeform 362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59" name="Group 363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695660" name="Freeform 364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61" name="Freeform 365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62" name="Freeform 366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63" name="Group 367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695664" name="Freeform 368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65" name="Freeform 369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66" name="Freeform 370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67" name="Group 371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695668" name="Freeform 372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69" name="Freeform 373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70" name="Freeform 374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71" name="Group 375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695672" name="Freeform 376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73" name="Freeform 377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674" name="Freeform 378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675" name="Group 379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695676" name="Group 380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695677" name="Freeform 381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78" name="Freeform 382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79" name="Freeform 383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80" name="Group 384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695681" name="Freeform 385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82" name="Freeform 386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83" name="Freeform 387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84" name="Group 388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695685" name="Freeform 389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86" name="Freeform 390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87" name="Freeform 391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88" name="Group 392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695689" name="Freeform 393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90" name="Freeform 394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91" name="Freeform 395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692" name="Group 396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695693" name="Group 397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695694" name="Freeform 398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95" name="Freeform 399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96" name="Freeform 400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697" name="Group 401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695698" name="Freeform 402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699" name="Freeform 403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700" name="Freeform 404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701" name="Group 405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695702" name="Freeform 406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703" name="Freeform 407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704" name="Freeform 408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  <p:grpSp>
              <p:nvGrpSpPr>
                <p:cNvPr id="695705" name="Group 409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695706" name="Freeform 410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707" name="Freeform 411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  <p:sp>
                <p:nvSpPr>
                  <p:cNvPr id="695708" name="Freeform 412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b="1">
                      <a:solidFill>
                        <a:srgbClr val="000099"/>
                      </a:solidFill>
                      <a:latin typeface="+mn-lt"/>
                      <a:ea typeface="黑体" pitchFamily="2" charset="-122"/>
                    </a:endParaRPr>
                  </a:p>
                </p:txBody>
              </p:sp>
            </p:grpSp>
          </p:grpSp>
          <p:grpSp>
            <p:nvGrpSpPr>
              <p:cNvPr id="695709" name="Group 413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695710" name="Freeform 414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11" name="Freeform 415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12" name="Freeform 416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13" name="Group 417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695714" name="Freeform 418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15" name="Freeform 419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16" name="Freeform 420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17" name="Group 421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695718" name="Freeform 422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19" name="Freeform 423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20" name="Freeform 424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21" name="Group 425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695722" name="Freeform 426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23" name="Freeform 427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24" name="Freeform 428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25" name="Group 429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695726" name="Freeform 430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27" name="Freeform 431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28" name="Freeform 432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29" name="Group 433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695730" name="Freeform 434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31" name="Freeform 435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32" name="Freeform 436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33" name="Group 437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695734" name="Freeform 438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35" name="Freeform 439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36" name="Freeform 440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sp>
            <p:nvSpPr>
              <p:cNvPr id="695737" name="Freeform 441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38" name="Freeform 442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39" name="Freeform 443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0" name="Freeform 444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1" name="Freeform 445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2" name="Freeform 446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3" name="Freeform 447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4" name="Freeform 448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5" name="Freeform 449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6" name="Freeform 450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47" name="Freeform 451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grpSp>
            <p:nvGrpSpPr>
              <p:cNvPr id="695748" name="Group 452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695749" name="Freeform 453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50" name="Freeform 454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51" name="Freeform 455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52" name="Group 456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695753" name="Freeform 457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54" name="Freeform 458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55" name="Freeform 459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56" name="Group 460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695757" name="Freeform 461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58" name="Freeform 462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59" name="Freeform 463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60" name="Group 464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695761" name="Freeform 465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62" name="Freeform 466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63" name="Freeform 467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64" name="Group 468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695765" name="Freeform 469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66" name="Freeform 470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67" name="Freeform 471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68" name="Group 472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695769" name="Freeform 473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70" name="Freeform 474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71" name="Freeform 475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72" name="Group 476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695773" name="Freeform 477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74" name="Freeform 478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75" name="Freeform 479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76" name="Group 480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695777" name="Freeform 481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78" name="Freeform 482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79" name="Freeform 483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80" name="Group 484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695781" name="Freeform 485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82" name="Freeform 486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83" name="Freeform 487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grpSp>
            <p:nvGrpSpPr>
              <p:cNvPr id="695784" name="Group 488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695785" name="Freeform 489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86" name="Freeform 490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  <p:sp>
              <p:nvSpPr>
                <p:cNvPr id="695787" name="Freeform 491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b="1">
                    <a:solidFill>
                      <a:srgbClr val="000099"/>
                    </a:solidFill>
                    <a:latin typeface="+mn-lt"/>
                    <a:ea typeface="黑体" pitchFamily="2" charset="-122"/>
                  </a:endParaRPr>
                </a:p>
              </p:txBody>
            </p:sp>
          </p:grpSp>
          <p:sp>
            <p:nvSpPr>
              <p:cNvPr id="695788" name="Freeform 492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89" name="Freeform 493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90" name="Freeform 494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</p:grpSp>
        <p:grpSp>
          <p:nvGrpSpPr>
            <p:cNvPr id="695791" name="Group 495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695792" name="Freeform 496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93" name="Freeform 497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94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95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</p:grpSp>
        <p:grpSp>
          <p:nvGrpSpPr>
            <p:cNvPr id="695796" name="Group 500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695797" name="Freeform 501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98" name="Freeform 502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799" name="Freeform 503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0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1" name="Freeform 505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2" name="Freeform 506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3" name="Freeform 507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4" name="Freeform 508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5" name="Freeform 509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6" name="Freeform 510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7" name="Freeform 511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8" name="Freeform 512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09" name="Freeform 513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10" name="Freeform 514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11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12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13" name="Freeform 517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14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  <p:sp>
            <p:nvSpPr>
              <p:cNvPr id="695815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b="1">
                  <a:solidFill>
                    <a:srgbClr val="000099"/>
                  </a:solidFill>
                  <a:latin typeface="+mn-lt"/>
                  <a:ea typeface="黑体" pitchFamily="2" charset="-122"/>
                </a:endParaRPr>
              </a:p>
            </p:txBody>
          </p:sp>
        </p:grpSp>
      </p:grpSp>
      <p:sp>
        <p:nvSpPr>
          <p:cNvPr id="695816" name="Text Box 520"/>
          <p:cNvSpPr txBox="1">
            <a:spLocks noChangeArrowheads="1"/>
          </p:cNvSpPr>
          <p:nvPr/>
        </p:nvSpPr>
        <p:spPr bwMode="auto">
          <a:xfrm>
            <a:off x="3661208" y="1203829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中间人 </a:t>
            </a:r>
            <a:r>
              <a:rPr kumimoji="1" lang="en-US" altLang="zh-CN" sz="2400" b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C</a:t>
            </a:r>
          </a:p>
        </p:txBody>
      </p:sp>
      <p:sp>
        <p:nvSpPr>
          <p:cNvPr id="695817" name="Line 521"/>
          <p:cNvSpPr>
            <a:spLocks noChangeShapeType="1"/>
          </p:cNvSpPr>
          <p:nvPr/>
        </p:nvSpPr>
        <p:spPr bwMode="auto">
          <a:xfrm rot="5400000">
            <a:off x="3463405" y="3682778"/>
            <a:ext cx="343217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pSp>
        <p:nvGrpSpPr>
          <p:cNvPr id="695850" name="Group 554"/>
          <p:cNvGrpSpPr>
            <a:grpSpLocks/>
          </p:cNvGrpSpPr>
          <p:nvPr/>
        </p:nvGrpSpPr>
        <p:grpSpPr bwMode="auto">
          <a:xfrm>
            <a:off x="5182932" y="2027015"/>
            <a:ext cx="4320117" cy="423862"/>
            <a:chOff x="2939" y="1851"/>
            <a:chExt cx="2512" cy="267"/>
          </a:xfrm>
        </p:grpSpPr>
        <p:sp>
          <p:nvSpPr>
            <p:cNvPr id="695818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19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619" cy="267"/>
            </a:xfrm>
            <a:prstGeom prst="rect">
              <a:avLst/>
            </a:prstGeom>
            <a:solidFill>
              <a:srgbClr val="FFCCFF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zh-CN" altLang="en-US" sz="18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我是 </a:t>
              </a:r>
              <a:r>
                <a:rPr kumimoji="1" lang="en-US" altLang="zh-CN" sz="18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</a:p>
          </p:txBody>
        </p:sp>
      </p:grpSp>
      <p:grpSp>
        <p:nvGrpSpPr>
          <p:cNvPr id="695851" name="Group 555"/>
          <p:cNvGrpSpPr>
            <a:grpSpLocks/>
          </p:cNvGrpSpPr>
          <p:nvPr/>
        </p:nvGrpSpPr>
        <p:grpSpPr bwMode="auto">
          <a:xfrm>
            <a:off x="5155415" y="2546128"/>
            <a:ext cx="4320117" cy="423863"/>
            <a:chOff x="2923" y="2178"/>
            <a:chExt cx="2512" cy="267"/>
          </a:xfrm>
        </p:grpSpPr>
        <p:sp>
          <p:nvSpPr>
            <p:cNvPr id="695820" name="Line 524"/>
            <p:cNvSpPr>
              <a:spLocks noChangeShapeType="1"/>
            </p:cNvSpPr>
            <p:nvPr/>
          </p:nvSpPr>
          <p:spPr bwMode="auto">
            <a:xfrm flipH="1">
              <a:off x="2923" y="2314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21" name="Rectangle 525"/>
            <p:cNvSpPr>
              <a:spLocks noChangeArrowheads="1"/>
            </p:cNvSpPr>
            <p:nvPr/>
          </p:nvSpPr>
          <p:spPr bwMode="auto">
            <a:xfrm>
              <a:off x="4383" y="2178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695854" name="Group 558"/>
          <p:cNvGrpSpPr>
            <a:grpSpLocks/>
          </p:cNvGrpSpPr>
          <p:nvPr/>
        </p:nvGrpSpPr>
        <p:grpSpPr bwMode="auto">
          <a:xfrm>
            <a:off x="5155415" y="2804891"/>
            <a:ext cx="4320117" cy="731837"/>
            <a:chOff x="2923" y="2341"/>
            <a:chExt cx="2512" cy="461"/>
          </a:xfrm>
        </p:grpSpPr>
        <p:sp>
          <p:nvSpPr>
            <p:cNvPr id="695822" name="Line 526"/>
            <p:cNvSpPr>
              <a:spLocks noChangeShapeType="1"/>
            </p:cNvSpPr>
            <p:nvPr/>
          </p:nvSpPr>
          <p:spPr bwMode="auto">
            <a:xfrm>
              <a:off x="2923" y="2671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23" name="Rectangle 527"/>
            <p:cNvSpPr>
              <a:spLocks noChangeArrowheads="1"/>
            </p:cNvSpPr>
            <p:nvPr/>
          </p:nvSpPr>
          <p:spPr bwMode="auto">
            <a:xfrm>
              <a:off x="3567" y="2534"/>
              <a:ext cx="567" cy="26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B</a:t>
              </a:r>
            </a:p>
          </p:txBody>
        </p:sp>
        <p:pic>
          <p:nvPicPr>
            <p:cNvPr id="695824" name="Picture 52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" y="2386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95825" name="Text Box 529"/>
            <p:cNvSpPr txBox="1">
              <a:spLocks noChangeArrowheads="1"/>
            </p:cNvSpPr>
            <p:nvPr/>
          </p:nvSpPr>
          <p:spPr bwMode="auto">
            <a:xfrm>
              <a:off x="3094" y="2341"/>
              <a:ext cx="3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SK</a:t>
              </a:r>
              <a:r>
                <a:rPr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C</a:t>
              </a:r>
            </a:p>
          </p:txBody>
        </p:sp>
      </p:grpSp>
      <p:grpSp>
        <p:nvGrpSpPr>
          <p:cNvPr id="695855" name="Group 559"/>
          <p:cNvGrpSpPr>
            <a:grpSpLocks/>
          </p:cNvGrpSpPr>
          <p:nvPr/>
        </p:nvGrpSpPr>
        <p:grpSpPr bwMode="auto">
          <a:xfrm>
            <a:off x="5182932" y="3582765"/>
            <a:ext cx="4320117" cy="423862"/>
            <a:chOff x="2939" y="2831"/>
            <a:chExt cx="2512" cy="267"/>
          </a:xfrm>
        </p:grpSpPr>
        <p:sp>
          <p:nvSpPr>
            <p:cNvPr id="695301" name="Line 5"/>
            <p:cNvSpPr>
              <a:spLocks noChangeShapeType="1"/>
            </p:cNvSpPr>
            <p:nvPr/>
          </p:nvSpPr>
          <p:spPr bwMode="auto">
            <a:xfrm flipH="1">
              <a:off x="2939" y="2950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26" name="Rectangle 530"/>
            <p:cNvSpPr>
              <a:spLocks noChangeArrowheads="1"/>
            </p:cNvSpPr>
            <p:nvPr/>
          </p:nvSpPr>
          <p:spPr bwMode="auto">
            <a:xfrm>
              <a:off x="4281" y="2831"/>
              <a:ext cx="980" cy="267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zh-CN" altLang="en-US" sz="18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请把公钥发来</a:t>
              </a:r>
              <a:endParaRPr kumimoji="1" lang="zh-CN" altLang="en-US" sz="1800" b="1" baseline="-2500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  <p:grpSp>
        <p:nvGrpSpPr>
          <p:cNvPr id="695859" name="Group 563"/>
          <p:cNvGrpSpPr>
            <a:grpSpLocks/>
          </p:cNvGrpSpPr>
          <p:nvPr/>
        </p:nvGrpSpPr>
        <p:grpSpPr bwMode="auto">
          <a:xfrm>
            <a:off x="5182932" y="4038378"/>
            <a:ext cx="4320117" cy="423863"/>
            <a:chOff x="2939" y="3118"/>
            <a:chExt cx="2512" cy="267"/>
          </a:xfrm>
        </p:grpSpPr>
        <p:sp>
          <p:nvSpPr>
            <p:cNvPr id="695827" name="Line 531"/>
            <p:cNvSpPr>
              <a:spLocks noChangeShapeType="1"/>
            </p:cNvSpPr>
            <p:nvPr/>
          </p:nvSpPr>
          <p:spPr bwMode="auto">
            <a:xfrm>
              <a:off x="2939" y="3264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28" name="Rectangle 532"/>
            <p:cNvSpPr>
              <a:spLocks noChangeArrowheads="1"/>
            </p:cNvSpPr>
            <p:nvPr/>
          </p:nvSpPr>
          <p:spPr bwMode="auto">
            <a:xfrm>
              <a:off x="3559" y="3118"/>
              <a:ext cx="567" cy="26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PK</a:t>
              </a:r>
              <a:r>
                <a:rPr kumimoji="1"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C</a:t>
              </a:r>
            </a:p>
          </p:txBody>
        </p:sp>
      </p:grpSp>
      <p:grpSp>
        <p:nvGrpSpPr>
          <p:cNvPr id="695852" name="Group 556"/>
          <p:cNvGrpSpPr>
            <a:grpSpLocks/>
          </p:cNvGrpSpPr>
          <p:nvPr/>
        </p:nvGrpSpPr>
        <p:grpSpPr bwMode="auto">
          <a:xfrm>
            <a:off x="838738" y="2687415"/>
            <a:ext cx="4320117" cy="423862"/>
            <a:chOff x="413" y="2267"/>
            <a:chExt cx="2512" cy="267"/>
          </a:xfrm>
        </p:grpSpPr>
        <p:sp>
          <p:nvSpPr>
            <p:cNvPr id="695829" name="Line 533"/>
            <p:cNvSpPr>
              <a:spLocks noChangeShapeType="1"/>
            </p:cNvSpPr>
            <p:nvPr/>
          </p:nvSpPr>
          <p:spPr bwMode="auto">
            <a:xfrm flipH="1">
              <a:off x="413" y="2386"/>
              <a:ext cx="2512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30" name="Rectangle 534"/>
            <p:cNvSpPr>
              <a:spLocks noChangeArrowheads="1"/>
            </p:cNvSpPr>
            <p:nvPr/>
          </p:nvSpPr>
          <p:spPr bwMode="auto">
            <a:xfrm>
              <a:off x="2011" y="2267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B</a:t>
              </a:r>
            </a:p>
          </p:txBody>
        </p:sp>
      </p:grpSp>
      <p:grpSp>
        <p:nvGrpSpPr>
          <p:cNvPr id="695853" name="Group 557"/>
          <p:cNvGrpSpPr>
            <a:grpSpLocks/>
          </p:cNvGrpSpPr>
          <p:nvPr/>
        </p:nvGrpSpPr>
        <p:grpSpPr bwMode="auto">
          <a:xfrm>
            <a:off x="864536" y="2898552"/>
            <a:ext cx="4318397" cy="782638"/>
            <a:chOff x="428" y="2400"/>
            <a:chExt cx="2511" cy="493"/>
          </a:xfrm>
        </p:grpSpPr>
        <p:sp>
          <p:nvSpPr>
            <p:cNvPr id="695831" name="Line 535"/>
            <p:cNvSpPr>
              <a:spLocks noChangeShapeType="1"/>
            </p:cNvSpPr>
            <p:nvPr/>
          </p:nvSpPr>
          <p:spPr bwMode="auto">
            <a:xfrm>
              <a:off x="428" y="2762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32" name="Rectangle 536"/>
            <p:cNvSpPr>
              <a:spLocks noChangeArrowheads="1"/>
            </p:cNvSpPr>
            <p:nvPr/>
          </p:nvSpPr>
          <p:spPr bwMode="auto">
            <a:xfrm>
              <a:off x="1071" y="2626"/>
              <a:ext cx="568" cy="26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R</a:t>
              </a:r>
              <a:r>
                <a:rPr kumimoji="1"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B</a:t>
              </a:r>
            </a:p>
          </p:txBody>
        </p:sp>
        <p:pic>
          <p:nvPicPr>
            <p:cNvPr id="695833" name="Picture 5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2478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95834" name="Text Box 538"/>
            <p:cNvSpPr txBox="1">
              <a:spLocks noChangeArrowheads="1"/>
            </p:cNvSpPr>
            <p:nvPr/>
          </p:nvSpPr>
          <p:spPr bwMode="auto">
            <a:xfrm>
              <a:off x="595" y="2400"/>
              <a:ext cx="3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SK</a:t>
              </a:r>
              <a:r>
                <a:rPr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</a:p>
          </p:txBody>
        </p:sp>
      </p:grpSp>
      <p:grpSp>
        <p:nvGrpSpPr>
          <p:cNvPr id="695856" name="Group 560"/>
          <p:cNvGrpSpPr>
            <a:grpSpLocks/>
          </p:cNvGrpSpPr>
          <p:nvPr/>
        </p:nvGrpSpPr>
        <p:grpSpPr bwMode="auto">
          <a:xfrm>
            <a:off x="864536" y="3771678"/>
            <a:ext cx="4318397" cy="423863"/>
            <a:chOff x="428" y="2950"/>
            <a:chExt cx="2511" cy="267"/>
          </a:xfrm>
        </p:grpSpPr>
        <p:sp>
          <p:nvSpPr>
            <p:cNvPr id="695835" name="Line 539"/>
            <p:cNvSpPr>
              <a:spLocks noChangeShapeType="1"/>
            </p:cNvSpPr>
            <p:nvPr/>
          </p:nvSpPr>
          <p:spPr bwMode="auto">
            <a:xfrm flipH="1">
              <a:off x="428" y="3069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36" name="Rectangle 540"/>
            <p:cNvSpPr>
              <a:spLocks noChangeArrowheads="1"/>
            </p:cNvSpPr>
            <p:nvPr/>
          </p:nvSpPr>
          <p:spPr bwMode="auto">
            <a:xfrm>
              <a:off x="1769" y="2950"/>
              <a:ext cx="980" cy="267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zh-CN" altLang="en-US" sz="18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请把公钥发来</a:t>
              </a:r>
              <a:endParaRPr kumimoji="1" lang="zh-CN" altLang="en-US" sz="1800" b="1" baseline="-2500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  <p:grpSp>
        <p:nvGrpSpPr>
          <p:cNvPr id="695858" name="Group 562"/>
          <p:cNvGrpSpPr>
            <a:grpSpLocks/>
          </p:cNvGrpSpPr>
          <p:nvPr/>
        </p:nvGrpSpPr>
        <p:grpSpPr bwMode="auto">
          <a:xfrm>
            <a:off x="864536" y="4246340"/>
            <a:ext cx="4318397" cy="423862"/>
            <a:chOff x="428" y="3249"/>
            <a:chExt cx="2511" cy="267"/>
          </a:xfrm>
        </p:grpSpPr>
        <p:sp>
          <p:nvSpPr>
            <p:cNvPr id="695837" name="Line 541"/>
            <p:cNvSpPr>
              <a:spLocks noChangeShapeType="1"/>
            </p:cNvSpPr>
            <p:nvPr/>
          </p:nvSpPr>
          <p:spPr bwMode="auto">
            <a:xfrm>
              <a:off x="428" y="3382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38" name="Rectangle 542"/>
            <p:cNvSpPr>
              <a:spLocks noChangeArrowheads="1"/>
            </p:cNvSpPr>
            <p:nvPr/>
          </p:nvSpPr>
          <p:spPr bwMode="auto">
            <a:xfrm>
              <a:off x="1047" y="3249"/>
              <a:ext cx="568" cy="267"/>
            </a:xfrm>
            <a:prstGeom prst="rect">
              <a:avLst/>
            </a:prstGeom>
            <a:solidFill>
              <a:srgbClr val="99FF66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PK</a:t>
              </a:r>
              <a:r>
                <a:rPr kumimoji="1"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</a:p>
          </p:txBody>
        </p:sp>
      </p:grpSp>
      <p:grpSp>
        <p:nvGrpSpPr>
          <p:cNvPr id="695861" name="Group 565"/>
          <p:cNvGrpSpPr>
            <a:grpSpLocks/>
          </p:cNvGrpSpPr>
          <p:nvPr/>
        </p:nvGrpSpPr>
        <p:grpSpPr bwMode="auto">
          <a:xfrm>
            <a:off x="5182932" y="4408265"/>
            <a:ext cx="4320117" cy="779462"/>
            <a:chOff x="2939" y="3351"/>
            <a:chExt cx="2512" cy="491"/>
          </a:xfrm>
        </p:grpSpPr>
        <p:sp>
          <p:nvSpPr>
            <p:cNvPr id="695839" name="Line 543"/>
            <p:cNvSpPr>
              <a:spLocks noChangeShapeType="1"/>
            </p:cNvSpPr>
            <p:nvPr/>
          </p:nvSpPr>
          <p:spPr bwMode="auto">
            <a:xfrm flipH="1">
              <a:off x="2939" y="3711"/>
              <a:ext cx="2512" cy="12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40" name="Rectangle 544"/>
            <p:cNvSpPr>
              <a:spLocks noChangeArrowheads="1"/>
            </p:cNvSpPr>
            <p:nvPr/>
          </p:nvSpPr>
          <p:spPr bwMode="auto">
            <a:xfrm>
              <a:off x="4693" y="3575"/>
              <a:ext cx="567" cy="26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DATA</a:t>
              </a:r>
              <a:endParaRPr kumimoji="1" lang="en-US" altLang="zh-CN" sz="1800" b="1" i="1" baseline="-2500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pic>
          <p:nvPicPr>
            <p:cNvPr id="695841" name="Picture 54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427"/>
              <a:ext cx="227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95842" name="Text Box 546"/>
            <p:cNvSpPr txBox="1">
              <a:spLocks noChangeArrowheads="1"/>
            </p:cNvSpPr>
            <p:nvPr/>
          </p:nvSpPr>
          <p:spPr bwMode="auto">
            <a:xfrm>
              <a:off x="4272" y="3351"/>
              <a:ext cx="3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PK</a:t>
              </a:r>
              <a:r>
                <a:rPr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C</a:t>
              </a:r>
            </a:p>
          </p:txBody>
        </p:sp>
      </p:grpSp>
      <p:grpSp>
        <p:nvGrpSpPr>
          <p:cNvPr id="695860" name="Group 564"/>
          <p:cNvGrpSpPr>
            <a:grpSpLocks/>
          </p:cNvGrpSpPr>
          <p:nvPr/>
        </p:nvGrpSpPr>
        <p:grpSpPr bwMode="auto">
          <a:xfrm>
            <a:off x="864536" y="4600352"/>
            <a:ext cx="4318397" cy="776288"/>
            <a:chOff x="428" y="3472"/>
            <a:chExt cx="2511" cy="489"/>
          </a:xfrm>
        </p:grpSpPr>
        <p:sp>
          <p:nvSpPr>
            <p:cNvPr id="695843" name="Line 547"/>
            <p:cNvSpPr>
              <a:spLocks noChangeShapeType="1"/>
            </p:cNvSpPr>
            <p:nvPr/>
          </p:nvSpPr>
          <p:spPr bwMode="auto">
            <a:xfrm flipH="1">
              <a:off x="428" y="3830"/>
              <a:ext cx="2511" cy="12"/>
            </a:xfrm>
            <a:prstGeom prst="line">
              <a:avLst/>
            </a:prstGeom>
            <a:noFill/>
            <a:ln w="57150">
              <a:solidFill>
                <a:srgbClr val="0000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95844" name="Rectangle 548"/>
            <p:cNvSpPr>
              <a:spLocks noChangeArrowheads="1"/>
            </p:cNvSpPr>
            <p:nvPr/>
          </p:nvSpPr>
          <p:spPr bwMode="auto">
            <a:xfrm>
              <a:off x="2166" y="3694"/>
              <a:ext cx="568" cy="267"/>
            </a:xfrm>
            <a:prstGeom prst="rect">
              <a:avLst/>
            </a:prstGeom>
            <a:solidFill>
              <a:srgbClr val="FF9900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DATA</a:t>
              </a:r>
            </a:p>
          </p:txBody>
        </p:sp>
        <p:pic>
          <p:nvPicPr>
            <p:cNvPr id="695845" name="Picture 5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546"/>
              <a:ext cx="226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95846" name="Text Box 550"/>
            <p:cNvSpPr txBox="1">
              <a:spLocks noChangeArrowheads="1"/>
            </p:cNvSpPr>
            <p:nvPr/>
          </p:nvSpPr>
          <p:spPr bwMode="auto">
            <a:xfrm>
              <a:off x="1737" y="3472"/>
              <a:ext cx="3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8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PK</a:t>
              </a:r>
              <a:r>
                <a:rPr lang="en-US" altLang="zh-CN" sz="1800" b="1" baseline="-2500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A</a:t>
              </a:r>
            </a:p>
          </p:txBody>
        </p:sp>
      </p:grpSp>
      <p:sp>
        <p:nvSpPr>
          <p:cNvPr id="695847" name="Text Box 551"/>
          <p:cNvSpPr txBox="1">
            <a:spLocks noChangeArrowheads="1"/>
          </p:cNvSpPr>
          <p:nvPr/>
        </p:nvSpPr>
        <p:spPr bwMode="auto">
          <a:xfrm>
            <a:off x="274221" y="5001990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时间</a:t>
            </a:r>
          </a:p>
        </p:txBody>
      </p:sp>
      <p:sp>
        <p:nvSpPr>
          <p:cNvPr id="2" name="矩形 1"/>
          <p:cNvSpPr/>
          <p:nvPr/>
        </p:nvSpPr>
        <p:spPr>
          <a:xfrm>
            <a:off x="1703795" y="5589240"/>
            <a:ext cx="6983214" cy="720079"/>
          </a:xfrm>
          <a:prstGeom prst="rect">
            <a:avLst/>
          </a:prstGeom>
          <a:solidFill>
            <a:srgbClr val="66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zh-CN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由此可见，公钥的分配以及认证公钥的真实性也是一个非常重要的问题。</a:t>
            </a:r>
            <a:endParaRPr lang="zh-CN" altLang="en-US" sz="2400" b="1" dirty="0">
              <a:solidFill>
                <a:srgbClr val="000066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005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9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9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69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69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9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9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69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69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9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69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69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69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中间人攻击说明</a:t>
            </a:r>
          </a:p>
        </p:txBody>
      </p:sp>
      <p:sp>
        <p:nvSpPr>
          <p:cNvPr id="697347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</a:pPr>
            <a:r>
              <a:rPr lang="en-US" altLang="zh-CN" sz="2800" dirty="0"/>
              <a:t>A </a:t>
            </a:r>
            <a:r>
              <a:rPr lang="zh-CN" altLang="en-US" sz="2800" dirty="0"/>
              <a:t>向 </a:t>
            </a:r>
            <a:r>
              <a:rPr lang="en-US" altLang="zh-CN" sz="2800" dirty="0"/>
              <a:t>B </a:t>
            </a:r>
            <a:r>
              <a:rPr lang="zh-CN" altLang="en-US" sz="2800" dirty="0"/>
              <a:t>发送“我是 </a:t>
            </a:r>
            <a:r>
              <a:rPr lang="en-US" altLang="zh-CN" sz="2800" dirty="0"/>
              <a:t>A”</a:t>
            </a:r>
            <a:r>
              <a:rPr lang="zh-CN" altLang="en-US" sz="2800" dirty="0"/>
              <a:t>的报文，并给出了自己的身份。此报文被“中间人” </a:t>
            </a:r>
            <a:r>
              <a:rPr lang="en-US" altLang="zh-CN" sz="2800" dirty="0"/>
              <a:t>C </a:t>
            </a:r>
            <a:r>
              <a:rPr lang="zh-CN" altLang="en-US" sz="2800" dirty="0"/>
              <a:t>截获，</a:t>
            </a:r>
            <a:r>
              <a:rPr lang="en-US" altLang="zh-CN" sz="2800" dirty="0"/>
              <a:t>C </a:t>
            </a:r>
            <a:r>
              <a:rPr lang="zh-CN" altLang="en-US" sz="2800" dirty="0"/>
              <a:t>把此报文原封不动地转发给 </a:t>
            </a:r>
            <a:r>
              <a:rPr lang="en-US" altLang="zh-CN" sz="2800" dirty="0"/>
              <a:t>B</a:t>
            </a:r>
            <a:r>
              <a:rPr lang="zh-CN" altLang="en-US" sz="2800" dirty="0"/>
              <a:t>。</a:t>
            </a:r>
            <a:r>
              <a:rPr lang="en-US" altLang="zh-CN" sz="2800" dirty="0"/>
              <a:t>B </a:t>
            </a:r>
            <a:r>
              <a:rPr lang="zh-CN" altLang="en-US" sz="2800" dirty="0"/>
              <a:t>选择一个不重数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en-US" sz="2800" dirty="0"/>
              <a:t>发送给 </a:t>
            </a:r>
            <a:r>
              <a:rPr lang="en-US" altLang="zh-CN" sz="2800" dirty="0"/>
              <a:t>A</a:t>
            </a:r>
            <a:r>
              <a:rPr lang="zh-CN" altLang="en-US" sz="2800" dirty="0"/>
              <a:t>，但同样被 </a:t>
            </a:r>
            <a:r>
              <a:rPr lang="en-US" altLang="zh-CN" sz="2800" dirty="0"/>
              <a:t>C </a:t>
            </a:r>
            <a:r>
              <a:rPr lang="zh-CN" altLang="en-US" sz="2800" dirty="0"/>
              <a:t>截获后也照样转发给 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</a:p>
          <a:p>
            <a:pPr>
              <a:spcBef>
                <a:spcPts val="1200"/>
              </a:spcBef>
            </a:pPr>
            <a:r>
              <a:rPr lang="zh-CN" altLang="en-US" sz="2800" dirty="0"/>
              <a:t>中间人 </a:t>
            </a:r>
            <a:r>
              <a:rPr lang="en-US" altLang="zh-CN" sz="2800" dirty="0"/>
              <a:t>C </a:t>
            </a:r>
            <a:r>
              <a:rPr lang="zh-CN" altLang="en-US" sz="2800" dirty="0"/>
              <a:t>用自己的私钥 </a:t>
            </a:r>
            <a:r>
              <a:rPr lang="en-US" altLang="zh-CN" sz="2800" dirty="0"/>
              <a:t>SK</a:t>
            </a:r>
            <a:r>
              <a:rPr lang="en-US" altLang="zh-CN" sz="2800" baseline="-25000" dirty="0"/>
              <a:t>C</a:t>
            </a:r>
            <a:r>
              <a:rPr lang="en-US" altLang="zh-CN" sz="2800" dirty="0"/>
              <a:t> </a:t>
            </a:r>
            <a:r>
              <a:rPr lang="zh-CN" altLang="en-US" sz="2800" dirty="0"/>
              <a:t>对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en-US" sz="2800" dirty="0"/>
              <a:t>加密后发回给 </a:t>
            </a:r>
            <a:r>
              <a:rPr lang="en-US" altLang="zh-CN" sz="2800" dirty="0"/>
              <a:t>B</a:t>
            </a:r>
            <a:r>
              <a:rPr lang="zh-CN" altLang="en-US" sz="2800" dirty="0"/>
              <a:t>，使 </a:t>
            </a:r>
            <a:r>
              <a:rPr lang="en-US" altLang="zh-CN" sz="2800" dirty="0"/>
              <a:t>B </a:t>
            </a:r>
            <a:r>
              <a:rPr lang="zh-CN" altLang="en-US" sz="2800" dirty="0"/>
              <a:t>误以为是 </a:t>
            </a:r>
            <a:r>
              <a:rPr lang="en-US" altLang="zh-CN" sz="2800" dirty="0"/>
              <a:t>A </a:t>
            </a:r>
            <a:r>
              <a:rPr lang="zh-CN" altLang="en-US" sz="2800" dirty="0"/>
              <a:t>发来的。</a:t>
            </a:r>
            <a:r>
              <a:rPr lang="en-US" altLang="zh-CN" sz="2800" dirty="0"/>
              <a:t>A </a:t>
            </a:r>
            <a:r>
              <a:rPr lang="zh-CN" altLang="en-US" sz="2800" dirty="0"/>
              <a:t>收到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en-US" sz="2800" dirty="0"/>
              <a:t>后也用自己的私钥 </a:t>
            </a:r>
            <a:r>
              <a:rPr lang="en-US" altLang="zh-CN" sz="2800" dirty="0"/>
              <a:t>SK</a:t>
            </a:r>
            <a:r>
              <a:rPr lang="en-US" altLang="zh-CN" sz="2800" baseline="-25000" dirty="0"/>
              <a:t>A</a:t>
            </a:r>
            <a:r>
              <a:rPr lang="en-US" altLang="zh-CN" sz="2800" dirty="0"/>
              <a:t> </a:t>
            </a:r>
            <a:r>
              <a:rPr lang="zh-CN" altLang="en-US" sz="2800" dirty="0"/>
              <a:t>对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B</a:t>
            </a:r>
            <a:r>
              <a:rPr lang="en-US" altLang="zh-CN" sz="2800" dirty="0"/>
              <a:t> </a:t>
            </a:r>
            <a:r>
              <a:rPr lang="zh-CN" altLang="en-US" sz="2800" dirty="0"/>
              <a:t>加密后发回给 </a:t>
            </a:r>
            <a:r>
              <a:rPr lang="en-US" altLang="zh-CN" sz="2800" dirty="0"/>
              <a:t>B</a:t>
            </a:r>
            <a:r>
              <a:rPr lang="zh-CN" altLang="en-US" sz="2800" dirty="0"/>
              <a:t>，中途被 </a:t>
            </a:r>
            <a:r>
              <a:rPr lang="en-US" altLang="zh-CN" sz="2800" dirty="0"/>
              <a:t>C </a:t>
            </a:r>
            <a:r>
              <a:rPr lang="zh-CN" altLang="en-US" sz="2800" dirty="0"/>
              <a:t>截获并丢弃。</a:t>
            </a:r>
            <a:r>
              <a:rPr lang="en-US" altLang="zh-CN" sz="2800" dirty="0"/>
              <a:t>B </a:t>
            </a:r>
            <a:r>
              <a:rPr lang="zh-CN" altLang="en-US" sz="2800" dirty="0"/>
              <a:t>向 </a:t>
            </a:r>
            <a:r>
              <a:rPr lang="en-US" altLang="zh-CN" sz="2800" dirty="0"/>
              <a:t>A </a:t>
            </a:r>
            <a:r>
              <a:rPr lang="zh-CN" altLang="en-US" sz="2800" dirty="0"/>
              <a:t>索取其公钥，此报文被 </a:t>
            </a:r>
            <a:r>
              <a:rPr lang="en-US" altLang="zh-CN" sz="2800" dirty="0"/>
              <a:t>C</a:t>
            </a:r>
            <a:r>
              <a:rPr lang="zh-CN" altLang="en-US" sz="2800" dirty="0"/>
              <a:t>截获后转发给 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75947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中间人攻击说明</a:t>
            </a:r>
          </a:p>
        </p:txBody>
      </p:sp>
      <p:sp>
        <p:nvSpPr>
          <p:cNvPr id="69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800" dirty="0"/>
              <a:t>C </a:t>
            </a:r>
            <a:r>
              <a:rPr lang="zh-CN" altLang="en-US" sz="2800" dirty="0"/>
              <a:t>把自己的公钥 </a:t>
            </a:r>
            <a:r>
              <a:rPr lang="en-US" altLang="zh-CN" sz="2800" i="1" dirty="0"/>
              <a:t>PK</a:t>
            </a:r>
            <a:r>
              <a:rPr lang="en-US" altLang="zh-CN" sz="2800" baseline="-25000" dirty="0"/>
              <a:t>C </a:t>
            </a:r>
            <a:r>
              <a:rPr lang="zh-CN" altLang="en-US" sz="2800" dirty="0"/>
              <a:t>冒充是 </a:t>
            </a:r>
            <a:r>
              <a:rPr lang="en-US" altLang="zh-CN" sz="2800" dirty="0"/>
              <a:t>A </a:t>
            </a:r>
            <a:r>
              <a:rPr lang="zh-CN" altLang="en-US" sz="2800" dirty="0"/>
              <a:t>的发送给 </a:t>
            </a:r>
            <a:r>
              <a:rPr lang="en-US" altLang="zh-CN" sz="2800" dirty="0"/>
              <a:t>B</a:t>
            </a:r>
            <a:r>
              <a:rPr lang="zh-CN" altLang="en-US" sz="2800" dirty="0"/>
              <a:t>，而 </a:t>
            </a:r>
            <a:r>
              <a:rPr lang="en-US" altLang="zh-CN" sz="2800" dirty="0"/>
              <a:t>C </a:t>
            </a:r>
            <a:r>
              <a:rPr lang="zh-CN" altLang="en-US" sz="2800" dirty="0"/>
              <a:t>也截获到 </a:t>
            </a:r>
            <a:r>
              <a:rPr lang="en-US" altLang="zh-CN" sz="2800" dirty="0"/>
              <a:t>A </a:t>
            </a:r>
            <a:r>
              <a:rPr lang="zh-CN" altLang="en-US" sz="2800" dirty="0"/>
              <a:t>发送给 </a:t>
            </a:r>
            <a:r>
              <a:rPr lang="en-US" altLang="zh-CN" sz="2800" dirty="0"/>
              <a:t>B </a:t>
            </a:r>
            <a:r>
              <a:rPr lang="zh-CN" altLang="en-US" sz="2800" dirty="0"/>
              <a:t>的公钥 </a:t>
            </a:r>
            <a:r>
              <a:rPr lang="en-US" altLang="zh-CN" sz="2800" i="1" dirty="0"/>
              <a:t>PK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。</a:t>
            </a:r>
          </a:p>
          <a:p>
            <a:pPr>
              <a:spcBef>
                <a:spcPts val="1200"/>
              </a:spcBef>
            </a:pPr>
            <a:r>
              <a:rPr lang="en-US" altLang="zh-CN" sz="2800" dirty="0"/>
              <a:t>B </a:t>
            </a:r>
            <a:r>
              <a:rPr lang="zh-CN" altLang="en-US" sz="2800" dirty="0"/>
              <a:t>用收到的公钥 </a:t>
            </a:r>
            <a:r>
              <a:rPr lang="en-US" altLang="zh-CN" sz="2800" i="1" dirty="0"/>
              <a:t>PK</a:t>
            </a:r>
            <a:r>
              <a:rPr lang="en-US" altLang="zh-CN" sz="2800" baseline="-25000" dirty="0"/>
              <a:t>C</a:t>
            </a:r>
            <a:r>
              <a:rPr lang="zh-CN" altLang="en-US" sz="2800" dirty="0"/>
              <a:t>（以为是 </a:t>
            </a:r>
            <a:r>
              <a:rPr lang="en-US" altLang="zh-CN" sz="2800" dirty="0"/>
              <a:t>A </a:t>
            </a:r>
            <a:r>
              <a:rPr lang="zh-CN" altLang="en-US" sz="2800" dirty="0"/>
              <a:t>的）对数据加密发送给 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  <a:r>
              <a:rPr lang="en-US" altLang="zh-CN" sz="2800" dirty="0"/>
              <a:t>C </a:t>
            </a:r>
            <a:r>
              <a:rPr lang="zh-CN" altLang="en-US" sz="2800" dirty="0"/>
              <a:t>截获后用自己的私钥 </a:t>
            </a:r>
            <a:r>
              <a:rPr lang="en-US" altLang="zh-CN" sz="2800" i="1" dirty="0"/>
              <a:t>SK</a:t>
            </a:r>
            <a:r>
              <a:rPr lang="en-US" altLang="zh-CN" sz="2800" baseline="-25000" dirty="0"/>
              <a:t>C </a:t>
            </a:r>
            <a:r>
              <a:rPr lang="zh-CN" altLang="en-US" sz="2800" dirty="0"/>
              <a:t>解密，复制一份留下，再用 </a:t>
            </a:r>
            <a:r>
              <a:rPr lang="en-US" altLang="zh-CN" sz="2800" dirty="0"/>
              <a:t>A </a:t>
            </a:r>
            <a:r>
              <a:rPr lang="zh-CN" altLang="en-US" sz="2800" dirty="0"/>
              <a:t>的公钥 </a:t>
            </a:r>
            <a:r>
              <a:rPr lang="en-US" altLang="zh-CN" sz="2800" i="1" dirty="0"/>
              <a:t>PK</a:t>
            </a:r>
            <a:r>
              <a:rPr lang="en-US" altLang="zh-CN" sz="2800" baseline="-25000" dirty="0"/>
              <a:t>A </a:t>
            </a:r>
            <a:r>
              <a:rPr lang="zh-CN" altLang="en-US" sz="2800" dirty="0"/>
              <a:t>对数据加密后发送给 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spcBef>
                <a:spcPts val="1200"/>
              </a:spcBef>
            </a:pPr>
            <a:r>
              <a:rPr lang="en-US" altLang="zh-CN" sz="2800" dirty="0"/>
              <a:t>A </a:t>
            </a:r>
            <a:r>
              <a:rPr lang="zh-CN" altLang="en-US" sz="2800" dirty="0"/>
              <a:t>收到数据后，用自己的私钥 </a:t>
            </a:r>
            <a:r>
              <a:rPr lang="en-US" altLang="zh-CN" sz="2800" i="1" dirty="0"/>
              <a:t>SK</a:t>
            </a:r>
            <a:r>
              <a:rPr lang="en-US" altLang="zh-CN" sz="2800" baseline="-25000" dirty="0"/>
              <a:t>A </a:t>
            </a:r>
            <a:r>
              <a:rPr lang="zh-CN" altLang="en-US" sz="2800" dirty="0"/>
              <a:t>解密，以为和</a:t>
            </a:r>
            <a:r>
              <a:rPr lang="en-US" altLang="zh-CN" sz="2800" dirty="0"/>
              <a:t>B</a:t>
            </a:r>
            <a:r>
              <a:rPr lang="zh-CN" altLang="en-US" sz="2800" dirty="0"/>
              <a:t>进行了保密通信。其实，</a:t>
            </a:r>
            <a:r>
              <a:rPr lang="en-US" altLang="zh-CN" sz="2800" dirty="0"/>
              <a:t>B</a:t>
            </a:r>
            <a:r>
              <a:rPr lang="zh-CN" altLang="en-US" sz="2800" dirty="0"/>
              <a:t>发送给</a:t>
            </a:r>
            <a:r>
              <a:rPr lang="en-US" altLang="zh-CN" sz="2800" dirty="0"/>
              <a:t>A</a:t>
            </a:r>
            <a:r>
              <a:rPr lang="zh-CN" altLang="en-US" sz="2800" dirty="0"/>
              <a:t>的加密数据已被中间人 </a:t>
            </a:r>
            <a:r>
              <a:rPr lang="en-US" altLang="zh-CN" sz="2800" dirty="0"/>
              <a:t>C </a:t>
            </a:r>
            <a:r>
              <a:rPr lang="zh-CN" altLang="en-US" sz="2800" dirty="0"/>
              <a:t>截获并解密了一份。但 </a:t>
            </a:r>
            <a:r>
              <a:rPr lang="en-US" altLang="zh-CN" sz="2800" dirty="0"/>
              <a:t>A </a:t>
            </a:r>
            <a:r>
              <a:rPr lang="zh-CN" altLang="en-US" sz="2800" dirty="0"/>
              <a:t>和 </a:t>
            </a:r>
            <a:r>
              <a:rPr lang="en-US" altLang="zh-CN" sz="2800" dirty="0"/>
              <a:t>B </a:t>
            </a:r>
            <a:r>
              <a:rPr lang="zh-CN" altLang="en-US" sz="2800" dirty="0"/>
              <a:t>却都不知道。 </a:t>
            </a:r>
          </a:p>
        </p:txBody>
      </p:sp>
    </p:spTree>
    <p:extLst>
      <p:ext uri="{BB962C8B-B14F-4D97-AF65-F5344CB8AC3E}">
        <p14:creationId xmlns:p14="http://schemas.microsoft.com/office/powerpoint/2010/main" val="19509863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网络安全问题概述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两类密码体制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数字签名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鉴别</a:t>
            </a:r>
          </a:p>
          <a:p>
            <a:r>
              <a:rPr lang="zh-CN" altLang="en-US" sz="3600" dirty="0">
                <a:solidFill>
                  <a:srgbClr val="FF0000"/>
                </a:solidFill>
              </a:rPr>
              <a:t>运输层的安全协议介绍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防火墙</a:t>
            </a:r>
          </a:p>
        </p:txBody>
      </p:sp>
    </p:spTree>
    <p:extLst>
      <p:ext uri="{BB962C8B-B14F-4D97-AF65-F5344CB8AC3E}">
        <p14:creationId xmlns:p14="http://schemas.microsoft.com/office/powerpoint/2010/main" val="42628915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CA </a:t>
            </a:r>
            <a:r>
              <a:rPr lang="zh-CN" altLang="en-US" dirty="0"/>
              <a:t>证书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 </a:t>
            </a:r>
            <a:r>
              <a:rPr lang="zh-CN" altLang="zh-CN" dirty="0"/>
              <a:t>证书具有统一的格式，</a:t>
            </a:r>
            <a:r>
              <a:rPr lang="en-US" altLang="zh-CN" dirty="0"/>
              <a:t>ITU-T </a:t>
            </a:r>
            <a:r>
              <a:rPr lang="zh-CN" altLang="zh-CN" dirty="0"/>
              <a:t>制定了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X.509 </a:t>
            </a:r>
            <a:r>
              <a:rPr lang="zh-CN" altLang="zh-CN" dirty="0"/>
              <a:t>协议标准，用来描述证书的结构。</a:t>
            </a:r>
            <a:endParaRPr lang="en-US" altLang="zh-CN" dirty="0"/>
          </a:p>
          <a:p>
            <a:r>
              <a:rPr lang="zh-CN" altLang="zh-CN" dirty="0"/>
              <a:t>在</a:t>
            </a:r>
            <a:r>
              <a:rPr lang="en-US" altLang="zh-CN" dirty="0"/>
              <a:t> X.509 </a:t>
            </a:r>
            <a:r>
              <a:rPr lang="zh-CN" altLang="zh-CN" dirty="0"/>
              <a:t>中规定要使用</a:t>
            </a:r>
            <a:r>
              <a:rPr lang="en-US" altLang="zh-CN" dirty="0"/>
              <a:t> ASN.1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en-US" altLang="zh-CN" dirty="0"/>
              <a:t>IETF </a:t>
            </a:r>
            <a:r>
              <a:rPr lang="zh-CN" altLang="zh-CN" dirty="0"/>
              <a:t>接受了</a:t>
            </a:r>
            <a:r>
              <a:rPr lang="en-US" altLang="zh-CN" dirty="0"/>
              <a:t> X.509</a:t>
            </a:r>
            <a:r>
              <a:rPr lang="zh-CN" altLang="zh-CN" dirty="0"/>
              <a:t>（仅有少量的改动），并在</a:t>
            </a:r>
            <a:r>
              <a:rPr lang="en-US" altLang="zh-CN" dirty="0"/>
              <a:t> RFC 5280</a:t>
            </a:r>
            <a:r>
              <a:rPr lang="zh-CN" altLang="zh-CN" dirty="0"/>
              <a:t>（现在是建议标准）中给出了</a:t>
            </a:r>
            <a:r>
              <a:rPr lang="zh-CN" altLang="zh-CN" dirty="0">
                <a:solidFill>
                  <a:srgbClr val="FF0000"/>
                </a:solidFill>
              </a:rPr>
              <a:t>互联网</a:t>
            </a:r>
            <a:r>
              <a:rPr lang="en-US" altLang="zh-CN" dirty="0">
                <a:solidFill>
                  <a:srgbClr val="FF0000"/>
                </a:solidFill>
              </a:rPr>
              <a:t> X.509 </a:t>
            </a:r>
            <a:r>
              <a:rPr lang="zh-CN" altLang="zh-CN" dirty="0">
                <a:solidFill>
                  <a:srgbClr val="FF0000"/>
                </a:solidFill>
              </a:rPr>
              <a:t>公钥基础结构</a:t>
            </a:r>
            <a:r>
              <a:rPr lang="en-US" altLang="zh-CN" dirty="0">
                <a:solidFill>
                  <a:srgbClr val="FF0000"/>
                </a:solidFill>
              </a:rPr>
              <a:t> PKI </a:t>
            </a:r>
            <a:r>
              <a:rPr lang="en-US" altLang="zh-CN" dirty="0"/>
              <a:t>(Public Key Infrastructure)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08813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运输层安全协议</a:t>
            </a:r>
            <a:endParaRPr lang="zh-CN" altLang="en-US" sz="4000" dirty="0"/>
          </a:p>
        </p:txBody>
      </p:sp>
      <p:sp>
        <p:nvSpPr>
          <p:cNvPr id="714756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现在广泛使用的有以下两个协议： 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安全套接字层 </a:t>
            </a:r>
            <a:r>
              <a:rPr lang="en-US" altLang="zh-CN" dirty="0">
                <a:solidFill>
                  <a:srgbClr val="FF0000"/>
                </a:solidFill>
              </a:rPr>
              <a:t>SSL </a:t>
            </a:r>
            <a:r>
              <a:rPr lang="en-US" altLang="zh-CN" dirty="0"/>
              <a:t>(Secure Socket Layer) 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运输层安全 </a:t>
            </a:r>
            <a:r>
              <a:rPr lang="en-US" altLang="zh-CN" dirty="0">
                <a:solidFill>
                  <a:srgbClr val="FF0000"/>
                </a:solidFill>
              </a:rPr>
              <a:t>TLS </a:t>
            </a:r>
            <a:r>
              <a:rPr lang="en-US" altLang="zh-CN" dirty="0"/>
              <a:t>(Transport Layer Security) </a:t>
            </a:r>
            <a:r>
              <a:rPr lang="zh-CN" altLang="en-US" dirty="0"/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41787114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SSL </a:t>
            </a:r>
            <a:r>
              <a:rPr lang="zh-CN" altLang="en-US" dirty="0"/>
              <a:t>和 </a:t>
            </a:r>
            <a:r>
              <a:rPr lang="en-US" altLang="zh-CN" dirty="0"/>
              <a:t>TLS</a:t>
            </a:r>
            <a:endParaRPr lang="zh-CN" altLang="en-US" dirty="0"/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</a:rPr>
              <a:t>安全套接层 </a:t>
            </a:r>
            <a:r>
              <a:rPr lang="en-US" altLang="zh-CN" sz="2800" dirty="0">
                <a:solidFill>
                  <a:srgbClr val="FF0000"/>
                </a:solidFill>
              </a:rPr>
              <a:t>SSL </a:t>
            </a:r>
            <a:r>
              <a:rPr lang="zh-CN" altLang="en-US" sz="2800" dirty="0"/>
              <a:t>由</a:t>
            </a:r>
            <a:r>
              <a:rPr lang="en-US" altLang="zh-CN" sz="2800" dirty="0"/>
              <a:t>Netscape</a:t>
            </a:r>
            <a:r>
              <a:rPr lang="zh-CN" altLang="en-US" sz="2800" dirty="0"/>
              <a:t>于</a:t>
            </a:r>
            <a:r>
              <a:rPr lang="en-US" altLang="zh-CN" sz="2800" dirty="0"/>
              <a:t>1994</a:t>
            </a:r>
            <a:r>
              <a:rPr lang="zh-CN" altLang="en-US" sz="2800" dirty="0"/>
              <a:t>年开发，</a:t>
            </a:r>
            <a:r>
              <a:rPr lang="zh-CN" altLang="zh-CN" sz="2800" dirty="0"/>
              <a:t>广泛应用于基于万维网的各种网络应用（但不限于万维网应用）。</a:t>
            </a:r>
            <a:endParaRPr lang="en-US" altLang="zh-CN" sz="2800" dirty="0"/>
          </a:p>
          <a:p>
            <a:r>
              <a:rPr lang="en-US" altLang="zh-CN" sz="2800" dirty="0"/>
              <a:t>SSL </a:t>
            </a:r>
            <a:r>
              <a:rPr lang="zh-CN" altLang="zh-CN" sz="2800" dirty="0"/>
              <a:t>作用在端系统应用层的</a:t>
            </a:r>
            <a:r>
              <a:rPr lang="en-US" altLang="zh-CN" sz="2800" dirty="0"/>
              <a:t> HTTP </a:t>
            </a:r>
            <a:r>
              <a:rPr lang="zh-CN" altLang="zh-CN" sz="2800" dirty="0"/>
              <a:t>和运输层之间，在</a:t>
            </a:r>
            <a:r>
              <a:rPr lang="en-US" altLang="zh-CN" sz="2800" dirty="0"/>
              <a:t> TCP </a:t>
            </a:r>
            <a:r>
              <a:rPr lang="zh-CN" altLang="zh-CN" sz="2800" dirty="0"/>
              <a:t>之上建立起一个安全通道，为通过</a:t>
            </a:r>
            <a:r>
              <a:rPr lang="en-US" altLang="zh-CN" sz="2800" dirty="0"/>
              <a:t> TCP </a:t>
            </a:r>
            <a:r>
              <a:rPr lang="zh-CN" altLang="zh-CN" sz="2800" dirty="0"/>
              <a:t>传输的应用层数据提供安全保障。</a:t>
            </a:r>
            <a:endParaRPr lang="en-US" altLang="zh-CN" sz="2800" dirty="0"/>
          </a:p>
          <a:p>
            <a:r>
              <a:rPr lang="en-US" altLang="zh-CN" sz="2800" dirty="0"/>
              <a:t>1996</a:t>
            </a:r>
            <a:r>
              <a:rPr lang="zh-CN" altLang="en-US" sz="2800" dirty="0"/>
              <a:t>年发布 </a:t>
            </a:r>
            <a:r>
              <a:rPr lang="en-US" altLang="zh-CN" sz="2800" dirty="0"/>
              <a:t>SSL 3.0</a:t>
            </a:r>
            <a:r>
              <a:rPr lang="zh-CN" altLang="en-US" sz="2800" dirty="0"/>
              <a:t>，成为 </a:t>
            </a:r>
            <a:r>
              <a:rPr lang="en-US" altLang="zh-CN" sz="2800" dirty="0"/>
              <a:t>Web </a:t>
            </a:r>
            <a:r>
              <a:rPr lang="zh-CN" altLang="en-US" sz="2800" dirty="0"/>
              <a:t>安全的事实标准。</a:t>
            </a:r>
          </a:p>
          <a:p>
            <a:r>
              <a:rPr lang="en-US" altLang="zh-CN" sz="2800" dirty="0"/>
              <a:t>1999</a:t>
            </a:r>
            <a:r>
              <a:rPr lang="zh-CN" altLang="en-US" sz="2800" dirty="0"/>
              <a:t>年，</a:t>
            </a:r>
            <a:r>
              <a:rPr lang="en-US" altLang="zh-CN" sz="2800" dirty="0"/>
              <a:t>IETF </a:t>
            </a:r>
            <a:r>
              <a:rPr lang="zh-CN" altLang="en-US" sz="2800" dirty="0"/>
              <a:t>在 </a:t>
            </a:r>
            <a:r>
              <a:rPr lang="en-US" altLang="zh-CN" sz="2800" dirty="0"/>
              <a:t>SSL 3.0 </a:t>
            </a:r>
            <a:r>
              <a:rPr lang="zh-CN" altLang="en-US" sz="2800" dirty="0"/>
              <a:t>基础上推出了</a:t>
            </a:r>
            <a:r>
              <a:rPr lang="zh-CN" altLang="en-US" sz="2800" dirty="0">
                <a:solidFill>
                  <a:srgbClr val="FF0000"/>
                </a:solidFill>
              </a:rPr>
              <a:t>传输层安全标准 </a:t>
            </a:r>
            <a:r>
              <a:rPr lang="en-US" altLang="zh-CN" sz="2800" dirty="0">
                <a:solidFill>
                  <a:srgbClr val="FF0000"/>
                </a:solidFill>
              </a:rPr>
              <a:t>TLS</a:t>
            </a:r>
            <a:r>
              <a:rPr lang="zh-CN" altLang="en-US" sz="2800" dirty="0">
                <a:solidFill>
                  <a:srgbClr val="FF0000"/>
                </a:solidFill>
              </a:rPr>
              <a:t>，</a:t>
            </a:r>
            <a:r>
              <a:rPr lang="zh-CN" altLang="zh-CN" sz="2800" dirty="0"/>
              <a:t>为所有基于</a:t>
            </a:r>
            <a:r>
              <a:rPr lang="en-US" altLang="zh-CN" sz="2800" dirty="0"/>
              <a:t> TCP </a:t>
            </a:r>
            <a:r>
              <a:rPr lang="zh-CN" altLang="zh-CN" sz="2800" dirty="0"/>
              <a:t>的网络应用提供安全数据传输服务。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134064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SSL / TLS </a:t>
            </a:r>
            <a:r>
              <a:rPr lang="zh-CN" altLang="en-US" dirty="0"/>
              <a:t>的位置 </a:t>
            </a:r>
          </a:p>
        </p:txBody>
      </p:sp>
      <p:sp>
        <p:nvSpPr>
          <p:cNvPr id="716809" name="Text Box 9"/>
          <p:cNvSpPr txBox="1">
            <a:spLocks noChangeArrowheads="1"/>
          </p:cNvSpPr>
          <p:nvPr/>
        </p:nvSpPr>
        <p:spPr bwMode="auto">
          <a:xfrm>
            <a:off x="776536" y="4941168"/>
            <a:ext cx="8928992" cy="1200329"/>
          </a:xfrm>
          <a:prstGeom prst="rect">
            <a:avLst/>
          </a:prstGeom>
          <a:solidFill>
            <a:srgbClr val="FFFF66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在发送方，</a:t>
            </a:r>
            <a:r>
              <a:rPr lang="en-US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SSL </a:t>
            </a:r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接收应用层的数据，对数据进行加密，然后把加了密的数据送往 </a:t>
            </a:r>
            <a:r>
              <a:rPr lang="en-US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TCP </a:t>
            </a:r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套接字。在接收方，</a:t>
            </a:r>
            <a:r>
              <a:rPr lang="en-US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SSL </a:t>
            </a:r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从 </a:t>
            </a:r>
            <a:r>
              <a:rPr lang="en-US" altLang="zh-CN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TCP </a:t>
            </a:r>
            <a:r>
              <a:rPr lang="zh-CN" altLang="en-US" sz="2400" b="1" dirty="0">
                <a:solidFill>
                  <a:srgbClr val="000066"/>
                </a:solidFill>
                <a:latin typeface="+mn-lt"/>
                <a:ea typeface="黑体" pitchFamily="2" charset="-122"/>
              </a:rPr>
              <a:t>套接字读取数据，解密后把数据交给应用层。 </a:t>
            </a:r>
          </a:p>
        </p:txBody>
      </p:sp>
      <p:sp>
        <p:nvSpPr>
          <p:cNvPr id="716810" name="Freeform 10"/>
          <p:cNvSpPr>
            <a:spLocks/>
          </p:cNvSpPr>
          <p:nvPr/>
        </p:nvSpPr>
        <p:spPr bwMode="auto">
          <a:xfrm>
            <a:off x="2228850" y="3706142"/>
            <a:ext cx="4879050" cy="503238"/>
          </a:xfrm>
          <a:custGeom>
            <a:avLst/>
            <a:gdLst>
              <a:gd name="T0" fmla="*/ 0 w 2903"/>
              <a:gd name="T1" fmla="*/ 0 h 317"/>
              <a:gd name="T2" fmla="*/ 0 w 2903"/>
              <a:gd name="T3" fmla="*/ 317 h 317"/>
              <a:gd name="T4" fmla="*/ 2903 w 2903"/>
              <a:gd name="T5" fmla="*/ 317 h 317"/>
              <a:gd name="T6" fmla="*/ 2903 w 2903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03" h="317">
                <a:moveTo>
                  <a:pt x="0" y="0"/>
                </a:moveTo>
                <a:lnTo>
                  <a:pt x="0" y="317"/>
                </a:lnTo>
                <a:lnTo>
                  <a:pt x="2903" y="317"/>
                </a:lnTo>
                <a:lnTo>
                  <a:pt x="2903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aphicFrame>
        <p:nvGraphicFramePr>
          <p:cNvPr id="716811" name="Object 11"/>
          <p:cNvGraphicFramePr>
            <a:graphicFrameLocks noChangeAspect="1"/>
          </p:cNvGraphicFramePr>
          <p:nvPr>
            <p:extLst/>
          </p:nvPr>
        </p:nvGraphicFramePr>
        <p:xfrm>
          <a:off x="3716470" y="3683917"/>
          <a:ext cx="2393951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VISIO" r:id="rId4" imgW="1689840" imgH="964440" progId="Visio.Drawing.6">
                  <p:embed/>
                </p:oleObj>
              </mc:Choice>
              <mc:Fallback>
                <p:oleObj name="VISIO" r:id="rId4" imgW="1689840" imgH="964440" progId="Visio.Drawing.6">
                  <p:embed/>
                  <p:pic>
                    <p:nvPicPr>
                      <p:cNvPr id="7168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470" y="3683917"/>
                        <a:ext cx="2393951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12" name="Rectangle 12"/>
          <p:cNvSpPr>
            <a:spLocks noChangeArrowheads="1"/>
          </p:cNvSpPr>
          <p:nvPr/>
        </p:nvSpPr>
        <p:spPr bwMode="auto">
          <a:xfrm>
            <a:off x="4185973" y="4041105"/>
            <a:ext cx="1300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l" eaLnBrk="0" hangingPunct="0"/>
            <a:r>
              <a:rPr kumimoji="1" lang="zh-CN" altLang="en-US" sz="24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互联网</a:t>
            </a:r>
          </a:p>
        </p:txBody>
      </p:sp>
      <p:sp>
        <p:nvSpPr>
          <p:cNvPr id="716814" name="Rectangle 14"/>
          <p:cNvSpPr>
            <a:spLocks noChangeArrowheads="1"/>
          </p:cNvSpPr>
          <p:nvPr/>
        </p:nvSpPr>
        <p:spPr bwMode="auto">
          <a:xfrm>
            <a:off x="1324239" y="1340768"/>
            <a:ext cx="2402550" cy="2365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15" name="Rectangle 15"/>
          <p:cNvSpPr>
            <a:spLocks noChangeArrowheads="1"/>
          </p:cNvSpPr>
          <p:nvPr/>
        </p:nvSpPr>
        <p:spPr bwMode="auto">
          <a:xfrm>
            <a:off x="1341437" y="2599656"/>
            <a:ext cx="2375033" cy="108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pSp>
        <p:nvGrpSpPr>
          <p:cNvPr id="716816" name="Group 16"/>
          <p:cNvGrpSpPr>
            <a:grpSpLocks/>
          </p:cNvGrpSpPr>
          <p:nvPr/>
        </p:nvGrpSpPr>
        <p:grpSpPr bwMode="auto">
          <a:xfrm>
            <a:off x="2215092" y="2612355"/>
            <a:ext cx="473330" cy="459757"/>
            <a:chOff x="1539" y="933"/>
            <a:chExt cx="323" cy="348"/>
          </a:xfrm>
        </p:grpSpPr>
        <p:sp>
          <p:nvSpPr>
            <p:cNvPr id="716817" name="Rectangle 17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716818" name="Rectangle 18"/>
            <p:cNvSpPr>
              <a:spLocks noChangeArrowheads="1"/>
            </p:cNvSpPr>
            <p:nvPr/>
          </p:nvSpPr>
          <p:spPr bwMode="auto">
            <a:xfrm>
              <a:off x="1539" y="933"/>
              <a:ext cx="323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24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IP</a:t>
              </a:r>
            </a:p>
          </p:txBody>
        </p:sp>
      </p:grpSp>
      <p:grpSp>
        <p:nvGrpSpPr>
          <p:cNvPr id="716819" name="Group 19"/>
          <p:cNvGrpSpPr>
            <a:grpSpLocks/>
          </p:cNvGrpSpPr>
          <p:nvPr/>
        </p:nvGrpSpPr>
        <p:grpSpPr bwMode="auto">
          <a:xfrm>
            <a:off x="1618325" y="1362992"/>
            <a:ext cx="2145192" cy="397650"/>
            <a:chOff x="1395" y="350"/>
            <a:chExt cx="1471" cy="302"/>
          </a:xfrm>
        </p:grpSpPr>
        <p:sp>
          <p:nvSpPr>
            <p:cNvPr id="716820" name="Rectangle 20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716821" name="Rectangle 21"/>
            <p:cNvSpPr>
              <a:spLocks noChangeArrowheads="1"/>
            </p:cNvSpPr>
            <p:nvPr/>
          </p:nvSpPr>
          <p:spPr bwMode="auto">
            <a:xfrm>
              <a:off x="1395" y="350"/>
              <a:ext cx="1471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20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应用层（</a:t>
              </a:r>
              <a:r>
                <a:rPr kumimoji="1" lang="en-US" altLang="zh-CN" sz="20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HTTP</a:t>
              </a:r>
              <a:r>
                <a:rPr kumimoji="1" lang="zh-CN" altLang="en-US" sz="2000" b="1" dirty="0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）</a:t>
              </a:r>
            </a:p>
          </p:txBody>
        </p:sp>
      </p:grpSp>
      <p:sp>
        <p:nvSpPr>
          <p:cNvPr id="716822" name="Rectangle 22"/>
          <p:cNvSpPr>
            <a:spLocks noChangeArrowheads="1"/>
          </p:cNvSpPr>
          <p:nvPr/>
        </p:nvSpPr>
        <p:spPr bwMode="auto">
          <a:xfrm>
            <a:off x="1673358" y="3155280"/>
            <a:ext cx="18418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网络接口层</a:t>
            </a:r>
          </a:p>
        </p:txBody>
      </p:sp>
      <p:sp>
        <p:nvSpPr>
          <p:cNvPr id="716823" name="Line 23"/>
          <p:cNvSpPr>
            <a:spLocks noChangeShapeType="1"/>
          </p:cNvSpPr>
          <p:nvPr/>
        </p:nvSpPr>
        <p:spPr bwMode="auto">
          <a:xfrm>
            <a:off x="1322520" y="2988592"/>
            <a:ext cx="2414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24" name="Rectangle 24"/>
          <p:cNvSpPr>
            <a:spLocks noChangeArrowheads="1"/>
          </p:cNvSpPr>
          <p:nvPr/>
        </p:nvSpPr>
        <p:spPr bwMode="auto">
          <a:xfrm>
            <a:off x="1319081" y="1721767"/>
            <a:ext cx="2407708" cy="40005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25" name="Rectangle 25"/>
          <p:cNvSpPr>
            <a:spLocks noChangeArrowheads="1"/>
          </p:cNvSpPr>
          <p:nvPr/>
        </p:nvSpPr>
        <p:spPr bwMode="auto">
          <a:xfrm>
            <a:off x="2092987" y="2202780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TCP</a:t>
            </a:r>
          </a:p>
        </p:txBody>
      </p:sp>
      <p:sp>
        <p:nvSpPr>
          <p:cNvPr id="716826" name="Line 26"/>
          <p:cNvSpPr>
            <a:spLocks noChangeShapeType="1"/>
          </p:cNvSpPr>
          <p:nvPr/>
        </p:nvSpPr>
        <p:spPr bwMode="auto">
          <a:xfrm>
            <a:off x="1322520" y="2553617"/>
            <a:ext cx="239910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27" name="Rectangle 27"/>
          <p:cNvSpPr>
            <a:spLocks noChangeArrowheads="1"/>
          </p:cNvSpPr>
          <p:nvPr/>
        </p:nvSpPr>
        <p:spPr bwMode="auto">
          <a:xfrm>
            <a:off x="1972602" y="1740817"/>
            <a:ext cx="144591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SSL/TLS</a:t>
            </a:r>
          </a:p>
        </p:txBody>
      </p:sp>
      <p:sp>
        <p:nvSpPr>
          <p:cNvPr id="716828" name="Line 28"/>
          <p:cNvSpPr>
            <a:spLocks noChangeShapeType="1"/>
          </p:cNvSpPr>
          <p:nvPr/>
        </p:nvSpPr>
        <p:spPr bwMode="auto">
          <a:xfrm>
            <a:off x="1322520" y="2124992"/>
            <a:ext cx="239910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30" name="Rectangle 30"/>
          <p:cNvSpPr>
            <a:spLocks noChangeArrowheads="1"/>
          </p:cNvSpPr>
          <p:nvPr/>
        </p:nvSpPr>
        <p:spPr bwMode="auto">
          <a:xfrm>
            <a:off x="5816335" y="1340768"/>
            <a:ext cx="2402550" cy="2365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31" name="Rectangle 31"/>
          <p:cNvSpPr>
            <a:spLocks noChangeArrowheads="1"/>
          </p:cNvSpPr>
          <p:nvPr/>
        </p:nvSpPr>
        <p:spPr bwMode="auto">
          <a:xfrm>
            <a:off x="5833533" y="2599656"/>
            <a:ext cx="2375033" cy="108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grpSp>
        <p:nvGrpSpPr>
          <p:cNvPr id="716832" name="Group 32"/>
          <p:cNvGrpSpPr>
            <a:grpSpLocks/>
          </p:cNvGrpSpPr>
          <p:nvPr/>
        </p:nvGrpSpPr>
        <p:grpSpPr bwMode="auto">
          <a:xfrm>
            <a:off x="6707188" y="2612355"/>
            <a:ext cx="473330" cy="459757"/>
            <a:chOff x="1539" y="933"/>
            <a:chExt cx="323" cy="348"/>
          </a:xfrm>
        </p:grpSpPr>
        <p:sp>
          <p:nvSpPr>
            <p:cNvPr id="716833" name="Rectangle 33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716834" name="Rectangle 34"/>
            <p:cNvSpPr>
              <a:spLocks noChangeArrowheads="1"/>
            </p:cNvSpPr>
            <p:nvPr/>
          </p:nvSpPr>
          <p:spPr bwMode="auto">
            <a:xfrm>
              <a:off x="1539" y="933"/>
              <a:ext cx="323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24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IP</a:t>
              </a:r>
            </a:p>
          </p:txBody>
        </p:sp>
      </p:grpSp>
      <p:grpSp>
        <p:nvGrpSpPr>
          <p:cNvPr id="716835" name="Group 35"/>
          <p:cNvGrpSpPr>
            <a:grpSpLocks/>
          </p:cNvGrpSpPr>
          <p:nvPr/>
        </p:nvGrpSpPr>
        <p:grpSpPr bwMode="auto">
          <a:xfrm>
            <a:off x="6110421" y="1362992"/>
            <a:ext cx="2145192" cy="397650"/>
            <a:chOff x="1395" y="350"/>
            <a:chExt cx="1471" cy="302"/>
          </a:xfrm>
        </p:grpSpPr>
        <p:sp>
          <p:nvSpPr>
            <p:cNvPr id="716836" name="Rectangle 36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716837" name="Rectangle 37"/>
            <p:cNvSpPr>
              <a:spLocks noChangeArrowheads="1"/>
            </p:cNvSpPr>
            <p:nvPr/>
          </p:nvSpPr>
          <p:spPr bwMode="auto">
            <a:xfrm>
              <a:off x="1395" y="350"/>
              <a:ext cx="1471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应用层（</a:t>
              </a:r>
              <a:r>
                <a:rPr kumimoji="1" lang="en-US" altLang="zh-CN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HTTP</a:t>
              </a:r>
              <a:r>
                <a:rPr kumimoji="1" lang="zh-CN" altLang="en-US" sz="2000" b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）</a:t>
              </a:r>
            </a:p>
          </p:txBody>
        </p:sp>
      </p:grpSp>
      <p:sp>
        <p:nvSpPr>
          <p:cNvPr id="716838" name="Rectangle 38"/>
          <p:cNvSpPr>
            <a:spLocks noChangeArrowheads="1"/>
          </p:cNvSpPr>
          <p:nvPr/>
        </p:nvSpPr>
        <p:spPr bwMode="auto">
          <a:xfrm>
            <a:off x="6165454" y="3155280"/>
            <a:ext cx="18418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网络接口层</a:t>
            </a:r>
          </a:p>
        </p:txBody>
      </p:sp>
      <p:sp>
        <p:nvSpPr>
          <p:cNvPr id="716839" name="Line 39"/>
          <p:cNvSpPr>
            <a:spLocks noChangeShapeType="1"/>
          </p:cNvSpPr>
          <p:nvPr/>
        </p:nvSpPr>
        <p:spPr bwMode="auto">
          <a:xfrm>
            <a:off x="5814616" y="2988592"/>
            <a:ext cx="2414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40" name="Rectangle 40"/>
          <p:cNvSpPr>
            <a:spLocks noChangeArrowheads="1"/>
          </p:cNvSpPr>
          <p:nvPr/>
        </p:nvSpPr>
        <p:spPr bwMode="auto">
          <a:xfrm>
            <a:off x="5811177" y="1721767"/>
            <a:ext cx="2407708" cy="40005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41" name="Rectangle 41"/>
          <p:cNvSpPr>
            <a:spLocks noChangeArrowheads="1"/>
          </p:cNvSpPr>
          <p:nvPr/>
        </p:nvSpPr>
        <p:spPr bwMode="auto">
          <a:xfrm>
            <a:off x="6585083" y="2202780"/>
            <a:ext cx="798296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TCP</a:t>
            </a:r>
          </a:p>
        </p:txBody>
      </p:sp>
      <p:sp>
        <p:nvSpPr>
          <p:cNvPr id="716842" name="Line 42"/>
          <p:cNvSpPr>
            <a:spLocks noChangeShapeType="1"/>
          </p:cNvSpPr>
          <p:nvPr/>
        </p:nvSpPr>
        <p:spPr bwMode="auto">
          <a:xfrm>
            <a:off x="5814616" y="2553617"/>
            <a:ext cx="239910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716843" name="Rectangle 43"/>
          <p:cNvSpPr>
            <a:spLocks noChangeArrowheads="1"/>
          </p:cNvSpPr>
          <p:nvPr/>
        </p:nvSpPr>
        <p:spPr bwMode="auto">
          <a:xfrm>
            <a:off x="6464697" y="1740817"/>
            <a:ext cx="1445910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2400" b="1">
                <a:solidFill>
                  <a:srgbClr val="000099"/>
                </a:solidFill>
                <a:latin typeface="+mn-lt"/>
                <a:ea typeface="黑体" pitchFamily="2" charset="-122"/>
              </a:rPr>
              <a:t>SSL/TLS</a:t>
            </a:r>
          </a:p>
        </p:txBody>
      </p:sp>
      <p:sp>
        <p:nvSpPr>
          <p:cNvPr id="716844" name="Line 44"/>
          <p:cNvSpPr>
            <a:spLocks noChangeShapeType="1"/>
          </p:cNvSpPr>
          <p:nvPr/>
        </p:nvSpPr>
        <p:spPr bwMode="auto">
          <a:xfrm>
            <a:off x="5814616" y="2124992"/>
            <a:ext cx="239910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0423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SSL </a:t>
            </a:r>
            <a:r>
              <a:rPr lang="zh-CN" altLang="en-US" dirty="0"/>
              <a:t>和 </a:t>
            </a:r>
            <a:r>
              <a:rPr lang="en-US" altLang="zh-CN" dirty="0"/>
              <a:t>TLS</a:t>
            </a:r>
            <a:endParaRPr lang="zh-CN" altLang="en-US" dirty="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SSL / TLS</a:t>
            </a:r>
            <a:r>
              <a:rPr lang="zh-CN" altLang="en-US" dirty="0"/>
              <a:t>建立在可靠的 </a:t>
            </a:r>
            <a:r>
              <a:rPr lang="en-US" altLang="zh-CN" dirty="0"/>
              <a:t>TCP </a:t>
            </a:r>
            <a:r>
              <a:rPr lang="zh-CN" altLang="en-US" dirty="0"/>
              <a:t>之上，与应用层协议独立无关。</a:t>
            </a:r>
            <a:endParaRPr lang="en-US" altLang="zh-CN" dirty="0"/>
          </a:p>
          <a:p>
            <a:r>
              <a:rPr lang="en-US" altLang="zh-CN" dirty="0"/>
              <a:t>SSL / TLS </a:t>
            </a:r>
            <a:r>
              <a:rPr lang="zh-CN" altLang="en-US" dirty="0"/>
              <a:t>已被所有常用的浏览器和万维网服务器所支持。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SSL / TLS</a:t>
            </a:r>
            <a:r>
              <a:rPr lang="zh-CN" altLang="en-US" dirty="0">
                <a:solidFill>
                  <a:srgbClr val="FF0000"/>
                </a:solidFill>
              </a:rPr>
              <a:t>基本目标：</a:t>
            </a:r>
            <a:r>
              <a:rPr lang="zh-CN" altLang="en-US" dirty="0"/>
              <a:t>实现两个应用实体之间的安全可靠通信。</a:t>
            </a:r>
          </a:p>
        </p:txBody>
      </p:sp>
    </p:spTree>
    <p:extLst>
      <p:ext uri="{BB962C8B-B14F-4D97-AF65-F5344CB8AC3E}">
        <p14:creationId xmlns:p14="http://schemas.microsoft.com/office/powerpoint/2010/main" val="24576485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SSL </a:t>
            </a:r>
            <a:r>
              <a:rPr lang="zh-CN" altLang="en-US" dirty="0"/>
              <a:t>和 </a:t>
            </a:r>
            <a:r>
              <a:rPr lang="en-US" altLang="zh-CN" dirty="0"/>
              <a:t>TLS</a:t>
            </a:r>
            <a:endParaRPr lang="zh-CN" altLang="en-US" dirty="0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应用层使用</a:t>
            </a:r>
            <a:r>
              <a:rPr lang="en-US" altLang="zh-CN" dirty="0"/>
              <a:t> SSL </a:t>
            </a:r>
            <a:r>
              <a:rPr lang="zh-CN" altLang="zh-CN" dirty="0"/>
              <a:t>最多的就是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HTTP</a:t>
            </a:r>
            <a:r>
              <a:rPr lang="zh-CN" altLang="zh-CN" dirty="0">
                <a:solidFill>
                  <a:srgbClr val="FF0000"/>
                </a:solidFill>
              </a:rPr>
              <a:t>，</a:t>
            </a:r>
            <a:r>
              <a:rPr lang="zh-CN" altLang="zh-CN" dirty="0"/>
              <a:t>但</a:t>
            </a:r>
            <a:r>
              <a:rPr lang="en-US" altLang="zh-CN" dirty="0"/>
              <a:t> SSL </a:t>
            </a:r>
            <a:r>
              <a:rPr lang="zh-CN" altLang="zh-CN" dirty="0"/>
              <a:t>并非仅用于</a:t>
            </a:r>
            <a:r>
              <a:rPr lang="en-US" altLang="zh-CN" dirty="0"/>
              <a:t> HTTP</a:t>
            </a:r>
            <a:r>
              <a:rPr lang="zh-CN" altLang="zh-CN" dirty="0"/>
              <a:t>，而是可用于任何应用层的协议。</a:t>
            </a:r>
            <a:endParaRPr lang="en-US" altLang="zh-CN" dirty="0"/>
          </a:p>
          <a:p>
            <a:r>
              <a:rPr lang="zh-CN" altLang="zh-CN" dirty="0"/>
              <a:t>应用程序</a:t>
            </a:r>
            <a:r>
              <a:rPr lang="en-US" altLang="zh-CN" dirty="0"/>
              <a:t> HTTP </a:t>
            </a:r>
            <a:r>
              <a:rPr lang="zh-CN" altLang="zh-CN" dirty="0"/>
              <a:t>调用</a:t>
            </a:r>
            <a:r>
              <a:rPr lang="en-US" altLang="zh-CN" dirty="0"/>
              <a:t> SSL </a:t>
            </a:r>
            <a:r>
              <a:rPr lang="zh-CN" altLang="zh-CN" dirty="0"/>
              <a:t>对整个网页进行加密</a:t>
            </a:r>
            <a:r>
              <a:rPr lang="zh-CN" altLang="en-US" dirty="0"/>
              <a:t>时，</a:t>
            </a:r>
            <a:r>
              <a:rPr lang="zh-CN" altLang="zh-CN" dirty="0"/>
              <a:t>网页上会提示用户，在网址栏原来显示</a:t>
            </a:r>
            <a:r>
              <a:rPr lang="en-US" altLang="zh-CN" dirty="0"/>
              <a:t> http </a:t>
            </a:r>
            <a:r>
              <a:rPr lang="zh-CN" altLang="zh-CN" dirty="0"/>
              <a:t>的地方，现在变成了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https</a:t>
            </a:r>
            <a:r>
              <a:rPr lang="zh-CN" altLang="zh-CN" dirty="0">
                <a:solidFill>
                  <a:srgbClr val="FF0000"/>
                </a:solidFill>
              </a:rPr>
              <a:t>。</a:t>
            </a:r>
            <a:r>
              <a:rPr lang="zh-CN" altLang="zh-CN" dirty="0"/>
              <a:t>在</a:t>
            </a:r>
            <a:r>
              <a:rPr lang="en-US" altLang="zh-CN" dirty="0"/>
              <a:t> http </a:t>
            </a:r>
            <a:r>
              <a:rPr lang="zh-CN" altLang="zh-CN" dirty="0"/>
              <a:t>后面加上的</a:t>
            </a:r>
            <a:r>
              <a:rPr lang="en-US" altLang="zh-CN" dirty="0"/>
              <a:t>s</a:t>
            </a:r>
            <a:r>
              <a:rPr lang="zh-CN" altLang="zh-CN" dirty="0"/>
              <a:t>代表</a:t>
            </a:r>
            <a:r>
              <a:rPr lang="en-US" altLang="zh-CN" dirty="0"/>
              <a:t> security</a:t>
            </a:r>
            <a:r>
              <a:rPr lang="zh-CN" altLang="zh-CN" dirty="0"/>
              <a:t>，表明现在使用的是提供安全服务的</a:t>
            </a:r>
            <a:r>
              <a:rPr lang="en-US" altLang="zh-CN" dirty="0"/>
              <a:t> HTTP </a:t>
            </a:r>
            <a:r>
              <a:rPr lang="zh-CN" altLang="zh-CN" dirty="0"/>
              <a:t>协议（</a:t>
            </a:r>
            <a:r>
              <a:rPr lang="en-US" altLang="zh-CN" dirty="0"/>
              <a:t>TCP </a:t>
            </a:r>
            <a:r>
              <a:rPr lang="zh-CN" altLang="zh-CN" dirty="0"/>
              <a:t>的</a:t>
            </a:r>
            <a:r>
              <a:rPr lang="en-US" altLang="zh-CN" dirty="0"/>
              <a:t> HTTPS </a:t>
            </a:r>
            <a:r>
              <a:rPr lang="zh-CN" altLang="zh-CN" dirty="0"/>
              <a:t>端口号是</a:t>
            </a:r>
            <a:r>
              <a:rPr lang="en-US" altLang="zh-CN" dirty="0"/>
              <a:t> 443</a:t>
            </a:r>
            <a:r>
              <a:rPr lang="zh-CN" altLang="zh-CN" dirty="0"/>
              <a:t>，而不是平时使用的端口号</a:t>
            </a:r>
            <a:r>
              <a:rPr lang="en-US" altLang="zh-CN" dirty="0"/>
              <a:t> 80</a:t>
            </a:r>
            <a:r>
              <a:rPr lang="zh-CN" altLang="zh-CN" dirty="0"/>
              <a:t>）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819593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SSL </a:t>
            </a:r>
            <a:r>
              <a:rPr lang="zh-CN" altLang="zh-CN" dirty="0"/>
              <a:t>提供的安全服务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(1)	SSL </a:t>
            </a:r>
            <a:r>
              <a:rPr lang="zh-CN" altLang="zh-CN" dirty="0">
                <a:solidFill>
                  <a:srgbClr val="FF0000"/>
                </a:solidFill>
              </a:rPr>
              <a:t>服务器鉴别，</a:t>
            </a:r>
            <a:r>
              <a:rPr lang="zh-CN" altLang="zh-CN" dirty="0"/>
              <a:t>允许用户证实服务器的身份。支持</a:t>
            </a:r>
            <a:r>
              <a:rPr lang="en-US" altLang="zh-CN" dirty="0"/>
              <a:t> SSL </a:t>
            </a:r>
            <a:r>
              <a:rPr lang="zh-CN" altLang="zh-CN" dirty="0"/>
              <a:t>的客户端通过验证来自服务器的证书，来鉴别服务器的真实身份并获得服务器的公钥。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(2)	SSL </a:t>
            </a:r>
            <a:r>
              <a:rPr lang="zh-CN" altLang="zh-CN" dirty="0">
                <a:solidFill>
                  <a:srgbClr val="FF0000"/>
                </a:solidFill>
              </a:rPr>
              <a:t>客户鉴别</a:t>
            </a:r>
            <a:r>
              <a:rPr lang="zh-CN" altLang="zh-CN" dirty="0"/>
              <a:t>，</a:t>
            </a:r>
            <a:r>
              <a:rPr lang="en-US" altLang="zh-CN" dirty="0"/>
              <a:t>SSL </a:t>
            </a:r>
            <a:r>
              <a:rPr lang="zh-CN" altLang="zh-CN" dirty="0"/>
              <a:t>的可选安全服务，允许服务器证实客户的身份。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(3)	</a:t>
            </a:r>
            <a:r>
              <a:rPr lang="zh-CN" altLang="zh-CN" dirty="0">
                <a:solidFill>
                  <a:srgbClr val="FF0000"/>
                </a:solidFill>
              </a:rPr>
              <a:t>加密的</a:t>
            </a:r>
            <a:r>
              <a:rPr lang="en-US" altLang="zh-CN" dirty="0">
                <a:solidFill>
                  <a:srgbClr val="FF0000"/>
                </a:solidFill>
              </a:rPr>
              <a:t> SSL </a:t>
            </a:r>
            <a:r>
              <a:rPr lang="zh-CN" altLang="zh-CN" dirty="0">
                <a:solidFill>
                  <a:srgbClr val="FF0000"/>
                </a:solidFill>
              </a:rPr>
              <a:t>会话，</a:t>
            </a:r>
            <a:r>
              <a:rPr lang="zh-CN" altLang="zh-CN" dirty="0"/>
              <a:t>对客户和服务器间发送的所有报文进行加密，并检测报文是否被篡改。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13859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SSL </a:t>
            </a:r>
            <a:r>
              <a:rPr lang="zh-CN" altLang="en-US" dirty="0"/>
              <a:t>安全会话建立过程</a:t>
            </a:r>
          </a:p>
        </p:txBody>
      </p:sp>
      <p:sp>
        <p:nvSpPr>
          <p:cNvPr id="61" name="Line 582"/>
          <p:cNvSpPr>
            <a:spLocks noChangeShapeType="1"/>
          </p:cNvSpPr>
          <p:nvPr/>
        </p:nvSpPr>
        <p:spPr bwMode="auto">
          <a:xfrm flipV="1">
            <a:off x="3420643" y="2886953"/>
            <a:ext cx="3870483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黑体" pitchFamily="2" charset="-122"/>
            </a:endParaRPr>
          </a:p>
        </p:txBody>
      </p:sp>
      <p:sp>
        <p:nvSpPr>
          <p:cNvPr id="62" name="Text Box 456"/>
          <p:cNvSpPr txBox="1">
            <a:spLocks noChangeArrowheads="1"/>
          </p:cNvSpPr>
          <p:nvPr/>
        </p:nvSpPr>
        <p:spPr bwMode="auto">
          <a:xfrm>
            <a:off x="2000672" y="1527695"/>
            <a:ext cx="12059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浏览器 </a:t>
            </a:r>
            <a:r>
              <a:rPr kumimoji="1" lang="en-US" altLang="zh-CN" sz="2000" b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A</a:t>
            </a:r>
          </a:p>
        </p:txBody>
      </p:sp>
      <p:sp>
        <p:nvSpPr>
          <p:cNvPr id="63" name="Text Box 484"/>
          <p:cNvSpPr txBox="1">
            <a:spLocks noChangeArrowheads="1"/>
          </p:cNvSpPr>
          <p:nvPr/>
        </p:nvSpPr>
        <p:spPr bwMode="auto">
          <a:xfrm>
            <a:off x="7533937" y="1566632"/>
            <a:ext cx="12153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服务器 </a:t>
            </a:r>
            <a:r>
              <a:rPr kumimoji="1" lang="en-US" altLang="zh-CN" sz="2000" b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B</a:t>
            </a:r>
          </a:p>
        </p:txBody>
      </p:sp>
      <p:sp>
        <p:nvSpPr>
          <p:cNvPr id="64" name="Line 515"/>
          <p:cNvSpPr>
            <a:spLocks noChangeShapeType="1"/>
          </p:cNvSpPr>
          <p:nvPr/>
        </p:nvSpPr>
        <p:spPr bwMode="auto">
          <a:xfrm flipV="1">
            <a:off x="3409771" y="2341834"/>
            <a:ext cx="3870483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黑体" pitchFamily="2" charset="-122"/>
            </a:endParaRPr>
          </a:p>
        </p:txBody>
      </p:sp>
      <p:sp>
        <p:nvSpPr>
          <p:cNvPr id="65" name="Rectangle 516"/>
          <p:cNvSpPr>
            <a:spLocks noChangeArrowheads="1"/>
          </p:cNvSpPr>
          <p:nvPr/>
        </p:nvSpPr>
        <p:spPr bwMode="auto">
          <a:xfrm>
            <a:off x="4227704" y="2150628"/>
            <a:ext cx="2238241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en-US" altLang="zh-CN" sz="20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A </a:t>
            </a:r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支持的加密算法</a:t>
            </a:r>
            <a:endParaRPr kumimoji="1" lang="zh-CN" altLang="en-US" sz="2000" b="1" baseline="-2500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pic>
        <p:nvPicPr>
          <p:cNvPr id="66" name="Picture 5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70397" y="1382566"/>
            <a:ext cx="574412" cy="833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7" name="Group 551"/>
          <p:cNvGrpSpPr>
            <a:grpSpLocks/>
          </p:cNvGrpSpPr>
          <p:nvPr/>
        </p:nvGrpSpPr>
        <p:grpSpPr bwMode="auto">
          <a:xfrm>
            <a:off x="3172395" y="1476369"/>
            <a:ext cx="608840" cy="536269"/>
            <a:chOff x="717" y="1446"/>
            <a:chExt cx="274" cy="237"/>
          </a:xfrm>
        </p:grpSpPr>
        <p:sp>
          <p:nvSpPr>
            <p:cNvPr id="68" name="Arc 552"/>
            <p:cNvSpPr>
              <a:spLocks/>
            </p:cNvSpPr>
            <p:nvPr/>
          </p:nvSpPr>
          <p:spPr bwMode="auto">
            <a:xfrm>
              <a:off x="930" y="1618"/>
              <a:ext cx="58" cy="39"/>
            </a:xfrm>
            <a:custGeom>
              <a:avLst/>
              <a:gdLst>
                <a:gd name="T0" fmla="*/ 0 w 38273"/>
                <a:gd name="T1" fmla="*/ 0 h 35142"/>
                <a:gd name="T2" fmla="*/ 0 w 38273"/>
                <a:gd name="T3" fmla="*/ 0 h 35142"/>
                <a:gd name="T4" fmla="*/ 0 w 38273"/>
                <a:gd name="T5" fmla="*/ 0 h 35142"/>
                <a:gd name="T6" fmla="*/ 0 60000 65536"/>
                <a:gd name="T7" fmla="*/ 0 60000 65536"/>
                <a:gd name="T8" fmla="*/ 0 60000 65536"/>
                <a:gd name="T9" fmla="*/ 0 w 38273"/>
                <a:gd name="T10" fmla="*/ 0 h 35142"/>
                <a:gd name="T11" fmla="*/ 38273 w 38273"/>
                <a:gd name="T12" fmla="*/ 35142 h 35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273" h="35142" fill="none" extrusionOk="0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</a:path>
                <a:path w="38273" h="35142" stroke="0" extrusionOk="0">
                  <a:moveTo>
                    <a:pt x="-1" y="7867"/>
                  </a:moveTo>
                  <a:cubicBezTo>
                    <a:pt x="4103" y="2886"/>
                    <a:pt x="10218" y="-1"/>
                    <a:pt x="16673" y="0"/>
                  </a:cubicBezTo>
                  <a:cubicBezTo>
                    <a:pt x="28602" y="0"/>
                    <a:pt x="38273" y="9670"/>
                    <a:pt x="38273" y="21600"/>
                  </a:cubicBezTo>
                  <a:cubicBezTo>
                    <a:pt x="38273" y="26526"/>
                    <a:pt x="36589" y="31304"/>
                    <a:pt x="33500" y="35141"/>
                  </a:cubicBezTo>
                  <a:lnTo>
                    <a:pt x="16673" y="21600"/>
                  </a:lnTo>
                  <a:close/>
                </a:path>
              </a:pathLst>
            </a:custGeom>
            <a:noFill/>
            <a:ln w="4763">
              <a:solidFill>
                <a:srgbClr val="49493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69" name="Arc 553"/>
            <p:cNvSpPr>
              <a:spLocks/>
            </p:cNvSpPr>
            <p:nvPr/>
          </p:nvSpPr>
          <p:spPr bwMode="auto">
            <a:xfrm>
              <a:off x="929" y="1618"/>
              <a:ext cx="55" cy="36"/>
            </a:xfrm>
            <a:custGeom>
              <a:avLst/>
              <a:gdLst>
                <a:gd name="T0" fmla="*/ 0 w 38146"/>
                <a:gd name="T1" fmla="*/ 0 h 34928"/>
                <a:gd name="T2" fmla="*/ 0 w 38146"/>
                <a:gd name="T3" fmla="*/ 0 h 34928"/>
                <a:gd name="T4" fmla="*/ 0 w 38146"/>
                <a:gd name="T5" fmla="*/ 0 h 34928"/>
                <a:gd name="T6" fmla="*/ 0 60000 65536"/>
                <a:gd name="T7" fmla="*/ 0 60000 65536"/>
                <a:gd name="T8" fmla="*/ 0 60000 65536"/>
                <a:gd name="T9" fmla="*/ 0 w 38146"/>
                <a:gd name="T10" fmla="*/ 0 h 34928"/>
                <a:gd name="T11" fmla="*/ 38146 w 38146"/>
                <a:gd name="T12" fmla="*/ 34928 h 349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46" h="34928" fill="none" extrusionOk="0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</a:path>
                <a:path w="38146" h="34928" stroke="0" extrusionOk="0">
                  <a:moveTo>
                    <a:pt x="0" y="7715"/>
                  </a:moveTo>
                  <a:cubicBezTo>
                    <a:pt x="4104" y="2824"/>
                    <a:pt x="10161" y="-1"/>
                    <a:pt x="16546" y="0"/>
                  </a:cubicBezTo>
                  <a:cubicBezTo>
                    <a:pt x="28475" y="0"/>
                    <a:pt x="38146" y="9670"/>
                    <a:pt x="38146" y="21600"/>
                  </a:cubicBezTo>
                  <a:cubicBezTo>
                    <a:pt x="38146" y="26432"/>
                    <a:pt x="36525" y="31125"/>
                    <a:pt x="33543" y="34927"/>
                  </a:cubicBezTo>
                  <a:lnTo>
                    <a:pt x="16546" y="21600"/>
                  </a:lnTo>
                  <a:close/>
                </a:path>
              </a:pathLst>
            </a:custGeom>
            <a:noFill/>
            <a:ln w="4763">
              <a:solidFill>
                <a:srgbClr val="DBDBC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0" name="Freeform 554"/>
            <p:cNvSpPr>
              <a:spLocks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26"/>
                <a:gd name="T17" fmla="*/ 205 w 205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1" name="Freeform 555"/>
            <p:cNvSpPr>
              <a:spLocks/>
            </p:cNvSpPr>
            <p:nvPr/>
          </p:nvSpPr>
          <p:spPr bwMode="auto">
            <a:xfrm>
              <a:off x="751" y="1591"/>
              <a:ext cx="205" cy="26"/>
            </a:xfrm>
            <a:custGeom>
              <a:avLst/>
              <a:gdLst>
                <a:gd name="T0" fmla="*/ 0 w 205"/>
                <a:gd name="T1" fmla="*/ 26 h 26"/>
                <a:gd name="T2" fmla="*/ 25 w 205"/>
                <a:gd name="T3" fmla="*/ 0 h 26"/>
                <a:gd name="T4" fmla="*/ 205 w 205"/>
                <a:gd name="T5" fmla="*/ 0 h 26"/>
                <a:gd name="T6" fmla="*/ 180 w 205"/>
                <a:gd name="T7" fmla="*/ 26 h 26"/>
                <a:gd name="T8" fmla="*/ 0 w 205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"/>
                <a:gd name="T16" fmla="*/ 0 h 26"/>
                <a:gd name="T17" fmla="*/ 205 w 205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" h="26">
                  <a:moveTo>
                    <a:pt x="0" y="26"/>
                  </a:moveTo>
                  <a:lnTo>
                    <a:pt x="25" y="0"/>
                  </a:lnTo>
                  <a:lnTo>
                    <a:pt x="205" y="0"/>
                  </a:lnTo>
                  <a:lnTo>
                    <a:pt x="180" y="2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2" name="Rectangle 556"/>
            <p:cNvSpPr>
              <a:spLocks noChangeArrowheads="1"/>
            </p:cNvSpPr>
            <p:nvPr/>
          </p:nvSpPr>
          <p:spPr bwMode="auto">
            <a:xfrm>
              <a:off x="751" y="1617"/>
              <a:ext cx="180" cy="31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3" name="Rectangle 557"/>
            <p:cNvSpPr>
              <a:spLocks noChangeArrowheads="1"/>
            </p:cNvSpPr>
            <p:nvPr/>
          </p:nvSpPr>
          <p:spPr bwMode="auto">
            <a:xfrm>
              <a:off x="752" y="1618"/>
              <a:ext cx="178" cy="29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4" name="Freeform 558"/>
            <p:cNvSpPr>
              <a:spLocks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57"/>
                <a:gd name="T17" fmla="*/ 25 w 2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5" name="Freeform 559"/>
            <p:cNvSpPr>
              <a:spLocks/>
            </p:cNvSpPr>
            <p:nvPr/>
          </p:nvSpPr>
          <p:spPr bwMode="auto">
            <a:xfrm>
              <a:off x="931" y="1591"/>
              <a:ext cx="25" cy="57"/>
            </a:xfrm>
            <a:custGeom>
              <a:avLst/>
              <a:gdLst>
                <a:gd name="T0" fmla="*/ 0 w 25"/>
                <a:gd name="T1" fmla="*/ 57 h 57"/>
                <a:gd name="T2" fmla="*/ 25 w 25"/>
                <a:gd name="T3" fmla="*/ 35 h 57"/>
                <a:gd name="T4" fmla="*/ 25 w 25"/>
                <a:gd name="T5" fmla="*/ 0 h 57"/>
                <a:gd name="T6" fmla="*/ 0 w 25"/>
                <a:gd name="T7" fmla="*/ 26 h 57"/>
                <a:gd name="T8" fmla="*/ 0 w 25"/>
                <a:gd name="T9" fmla="*/ 57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57"/>
                <a:gd name="T17" fmla="*/ 25 w 25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57">
                  <a:moveTo>
                    <a:pt x="0" y="57"/>
                  </a:moveTo>
                  <a:lnTo>
                    <a:pt x="25" y="35"/>
                  </a:lnTo>
                  <a:lnTo>
                    <a:pt x="25" y="0"/>
                  </a:lnTo>
                  <a:lnTo>
                    <a:pt x="0" y="2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6" name="Freeform 560"/>
            <p:cNvSpPr>
              <a:spLocks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"/>
                <a:gd name="T16" fmla="*/ 0 h 19"/>
                <a:gd name="T17" fmla="*/ 196 w 196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7" name="Freeform 561"/>
            <p:cNvSpPr>
              <a:spLocks/>
            </p:cNvSpPr>
            <p:nvPr/>
          </p:nvSpPr>
          <p:spPr bwMode="auto">
            <a:xfrm>
              <a:off x="757" y="1591"/>
              <a:ext cx="196" cy="19"/>
            </a:xfrm>
            <a:custGeom>
              <a:avLst/>
              <a:gdLst>
                <a:gd name="T0" fmla="*/ 0 w 196"/>
                <a:gd name="T1" fmla="*/ 19 h 19"/>
                <a:gd name="T2" fmla="*/ 19 w 196"/>
                <a:gd name="T3" fmla="*/ 0 h 19"/>
                <a:gd name="T4" fmla="*/ 196 w 196"/>
                <a:gd name="T5" fmla="*/ 0 h 19"/>
                <a:gd name="T6" fmla="*/ 177 w 196"/>
                <a:gd name="T7" fmla="*/ 19 h 19"/>
                <a:gd name="T8" fmla="*/ 0 w 196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"/>
                <a:gd name="T16" fmla="*/ 0 h 19"/>
                <a:gd name="T17" fmla="*/ 196 w 196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" h="19">
                  <a:moveTo>
                    <a:pt x="0" y="19"/>
                  </a:moveTo>
                  <a:lnTo>
                    <a:pt x="19" y="0"/>
                  </a:lnTo>
                  <a:lnTo>
                    <a:pt x="196" y="0"/>
                  </a:lnTo>
                  <a:lnTo>
                    <a:pt x="177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8" name="Freeform 562"/>
            <p:cNvSpPr>
              <a:spLocks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19"/>
                <a:gd name="T17" fmla="*/ 202 w 20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79" name="Freeform 563"/>
            <p:cNvSpPr>
              <a:spLocks/>
            </p:cNvSpPr>
            <p:nvPr/>
          </p:nvSpPr>
          <p:spPr bwMode="auto">
            <a:xfrm>
              <a:off x="751" y="1446"/>
              <a:ext cx="202" cy="19"/>
            </a:xfrm>
            <a:custGeom>
              <a:avLst/>
              <a:gdLst>
                <a:gd name="T0" fmla="*/ 0 w 202"/>
                <a:gd name="T1" fmla="*/ 19 h 19"/>
                <a:gd name="T2" fmla="*/ 19 w 202"/>
                <a:gd name="T3" fmla="*/ 0 h 19"/>
                <a:gd name="T4" fmla="*/ 202 w 202"/>
                <a:gd name="T5" fmla="*/ 0 h 19"/>
                <a:gd name="T6" fmla="*/ 180 w 202"/>
                <a:gd name="T7" fmla="*/ 19 h 19"/>
                <a:gd name="T8" fmla="*/ 0 w 202"/>
                <a:gd name="T9" fmla="*/ 1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19"/>
                <a:gd name="T17" fmla="*/ 202 w 202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19">
                  <a:moveTo>
                    <a:pt x="0" y="19"/>
                  </a:moveTo>
                  <a:lnTo>
                    <a:pt x="19" y="0"/>
                  </a:lnTo>
                  <a:lnTo>
                    <a:pt x="202" y="0"/>
                  </a:lnTo>
                  <a:lnTo>
                    <a:pt x="180" y="19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0" name="Rectangle 564"/>
            <p:cNvSpPr>
              <a:spLocks noChangeArrowheads="1"/>
            </p:cNvSpPr>
            <p:nvPr/>
          </p:nvSpPr>
          <p:spPr bwMode="auto">
            <a:xfrm>
              <a:off x="752" y="1466"/>
              <a:ext cx="181" cy="140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1" name="Rectangle 565"/>
            <p:cNvSpPr>
              <a:spLocks noChangeArrowheads="1"/>
            </p:cNvSpPr>
            <p:nvPr/>
          </p:nvSpPr>
          <p:spPr bwMode="auto">
            <a:xfrm>
              <a:off x="768" y="1485"/>
              <a:ext cx="149" cy="108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2" name="Freeform 566"/>
            <p:cNvSpPr>
              <a:spLocks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61"/>
                <a:gd name="T17" fmla="*/ 22 w 2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3" name="Freeform 567"/>
            <p:cNvSpPr>
              <a:spLocks/>
            </p:cNvSpPr>
            <p:nvPr/>
          </p:nvSpPr>
          <p:spPr bwMode="auto">
            <a:xfrm>
              <a:off x="931" y="1446"/>
              <a:ext cx="22" cy="161"/>
            </a:xfrm>
            <a:custGeom>
              <a:avLst/>
              <a:gdLst>
                <a:gd name="T0" fmla="*/ 0 w 22"/>
                <a:gd name="T1" fmla="*/ 161 h 161"/>
                <a:gd name="T2" fmla="*/ 22 w 22"/>
                <a:gd name="T3" fmla="*/ 142 h 161"/>
                <a:gd name="T4" fmla="*/ 22 w 22"/>
                <a:gd name="T5" fmla="*/ 0 h 161"/>
                <a:gd name="T6" fmla="*/ 0 w 22"/>
                <a:gd name="T7" fmla="*/ 19 h 161"/>
                <a:gd name="T8" fmla="*/ 0 w 22"/>
                <a:gd name="T9" fmla="*/ 161 h 1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161"/>
                <a:gd name="T17" fmla="*/ 22 w 22"/>
                <a:gd name="T18" fmla="*/ 161 h 1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161">
                  <a:moveTo>
                    <a:pt x="0" y="161"/>
                  </a:moveTo>
                  <a:lnTo>
                    <a:pt x="22" y="142"/>
                  </a:lnTo>
                  <a:lnTo>
                    <a:pt x="22" y="0"/>
                  </a:lnTo>
                  <a:lnTo>
                    <a:pt x="0" y="19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4" name="Freeform 568"/>
            <p:cNvSpPr>
              <a:spLocks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35"/>
                <a:gd name="T17" fmla="*/ 223 w 223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5" name="Freeform 569"/>
            <p:cNvSpPr>
              <a:spLocks/>
            </p:cNvSpPr>
            <p:nvPr/>
          </p:nvSpPr>
          <p:spPr bwMode="auto">
            <a:xfrm>
              <a:off x="717" y="1642"/>
              <a:ext cx="223" cy="35"/>
            </a:xfrm>
            <a:custGeom>
              <a:avLst/>
              <a:gdLst>
                <a:gd name="T0" fmla="*/ 0 w 223"/>
                <a:gd name="T1" fmla="*/ 35 h 35"/>
                <a:gd name="T2" fmla="*/ 28 w 223"/>
                <a:gd name="T3" fmla="*/ 0 h 35"/>
                <a:gd name="T4" fmla="*/ 223 w 223"/>
                <a:gd name="T5" fmla="*/ 0 h 35"/>
                <a:gd name="T6" fmla="*/ 195 w 223"/>
                <a:gd name="T7" fmla="*/ 35 h 35"/>
                <a:gd name="T8" fmla="*/ 0 w 223"/>
                <a:gd name="T9" fmla="*/ 3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35"/>
                <a:gd name="T17" fmla="*/ 223 w 223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35">
                  <a:moveTo>
                    <a:pt x="0" y="35"/>
                  </a:moveTo>
                  <a:lnTo>
                    <a:pt x="28" y="0"/>
                  </a:lnTo>
                  <a:lnTo>
                    <a:pt x="223" y="0"/>
                  </a:lnTo>
                  <a:lnTo>
                    <a:pt x="195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6" name="Freeform 570"/>
            <p:cNvSpPr>
              <a:spLocks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41"/>
                <a:gd name="T17" fmla="*/ 28 w 28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7" name="Freeform 571"/>
            <p:cNvSpPr>
              <a:spLocks/>
            </p:cNvSpPr>
            <p:nvPr/>
          </p:nvSpPr>
          <p:spPr bwMode="auto">
            <a:xfrm>
              <a:off x="912" y="1642"/>
              <a:ext cx="28" cy="41"/>
            </a:xfrm>
            <a:custGeom>
              <a:avLst/>
              <a:gdLst>
                <a:gd name="T0" fmla="*/ 0 w 28"/>
                <a:gd name="T1" fmla="*/ 41 h 41"/>
                <a:gd name="T2" fmla="*/ 28 w 28"/>
                <a:gd name="T3" fmla="*/ 13 h 41"/>
                <a:gd name="T4" fmla="*/ 28 w 28"/>
                <a:gd name="T5" fmla="*/ 0 h 41"/>
                <a:gd name="T6" fmla="*/ 0 w 28"/>
                <a:gd name="T7" fmla="*/ 35 h 41"/>
                <a:gd name="T8" fmla="*/ 0 w 28"/>
                <a:gd name="T9" fmla="*/ 4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41"/>
                <a:gd name="T17" fmla="*/ 28 w 28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41">
                  <a:moveTo>
                    <a:pt x="0" y="41"/>
                  </a:moveTo>
                  <a:lnTo>
                    <a:pt x="28" y="13"/>
                  </a:lnTo>
                  <a:lnTo>
                    <a:pt x="28" y="0"/>
                  </a:lnTo>
                  <a:lnTo>
                    <a:pt x="0" y="3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8" name="Rectangle 572"/>
            <p:cNvSpPr>
              <a:spLocks noChangeArrowheads="1"/>
            </p:cNvSpPr>
            <p:nvPr/>
          </p:nvSpPr>
          <p:spPr bwMode="auto">
            <a:xfrm>
              <a:off x="717" y="1677"/>
              <a:ext cx="195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89" name="Rectangle 573"/>
            <p:cNvSpPr>
              <a:spLocks noChangeArrowheads="1"/>
            </p:cNvSpPr>
            <p:nvPr/>
          </p:nvSpPr>
          <p:spPr bwMode="auto">
            <a:xfrm>
              <a:off x="718" y="1678"/>
              <a:ext cx="193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90" name="Freeform 574"/>
            <p:cNvSpPr>
              <a:spLocks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23"/>
                <a:gd name="T17" fmla="*/ 38 w 38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91" name="Freeform 575"/>
            <p:cNvSpPr>
              <a:spLocks/>
            </p:cNvSpPr>
            <p:nvPr/>
          </p:nvSpPr>
          <p:spPr bwMode="auto">
            <a:xfrm>
              <a:off x="953" y="1651"/>
              <a:ext cx="38" cy="23"/>
            </a:xfrm>
            <a:custGeom>
              <a:avLst/>
              <a:gdLst>
                <a:gd name="T0" fmla="*/ 0 w 38"/>
                <a:gd name="T1" fmla="*/ 23 h 23"/>
                <a:gd name="T2" fmla="*/ 13 w 38"/>
                <a:gd name="T3" fmla="*/ 0 h 23"/>
                <a:gd name="T4" fmla="*/ 38 w 38"/>
                <a:gd name="T5" fmla="*/ 0 h 23"/>
                <a:gd name="T6" fmla="*/ 25 w 38"/>
                <a:gd name="T7" fmla="*/ 23 h 23"/>
                <a:gd name="T8" fmla="*/ 0 w 38"/>
                <a:gd name="T9" fmla="*/ 23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23"/>
                <a:gd name="T17" fmla="*/ 38 w 38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23">
                  <a:moveTo>
                    <a:pt x="0" y="23"/>
                  </a:moveTo>
                  <a:lnTo>
                    <a:pt x="13" y="0"/>
                  </a:lnTo>
                  <a:lnTo>
                    <a:pt x="38" y="0"/>
                  </a:lnTo>
                  <a:lnTo>
                    <a:pt x="25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C9C9B6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92" name="Freeform 576"/>
            <p:cNvSpPr>
              <a:spLocks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9"/>
                <a:gd name="T17" fmla="*/ 13 w 13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93" name="Freeform 577"/>
            <p:cNvSpPr>
              <a:spLocks/>
            </p:cNvSpPr>
            <p:nvPr/>
          </p:nvSpPr>
          <p:spPr bwMode="auto">
            <a:xfrm>
              <a:off x="978" y="1651"/>
              <a:ext cx="13" cy="29"/>
            </a:xfrm>
            <a:custGeom>
              <a:avLst/>
              <a:gdLst>
                <a:gd name="T0" fmla="*/ 0 w 13"/>
                <a:gd name="T1" fmla="*/ 29 h 29"/>
                <a:gd name="T2" fmla="*/ 13 w 13"/>
                <a:gd name="T3" fmla="*/ 16 h 29"/>
                <a:gd name="T4" fmla="*/ 13 w 13"/>
                <a:gd name="T5" fmla="*/ 0 h 29"/>
                <a:gd name="T6" fmla="*/ 0 w 13"/>
                <a:gd name="T7" fmla="*/ 23 h 29"/>
                <a:gd name="T8" fmla="*/ 0 w 13"/>
                <a:gd name="T9" fmla="*/ 29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29"/>
                <a:gd name="T17" fmla="*/ 13 w 13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29">
                  <a:moveTo>
                    <a:pt x="0" y="29"/>
                  </a:moveTo>
                  <a:lnTo>
                    <a:pt x="13" y="16"/>
                  </a:lnTo>
                  <a:lnTo>
                    <a:pt x="13" y="0"/>
                  </a:lnTo>
                  <a:lnTo>
                    <a:pt x="0" y="2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7A5A"/>
            </a:solidFill>
            <a:ln w="4763">
              <a:solidFill>
                <a:srgbClr val="494936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94" name="Rectangle 578"/>
            <p:cNvSpPr>
              <a:spLocks noChangeArrowheads="1"/>
            </p:cNvSpPr>
            <p:nvPr/>
          </p:nvSpPr>
          <p:spPr bwMode="auto">
            <a:xfrm>
              <a:off x="950" y="1674"/>
              <a:ext cx="28" cy="6"/>
            </a:xfrm>
            <a:prstGeom prst="rect">
              <a:avLst/>
            </a:prstGeom>
            <a:solidFill>
              <a:srgbClr val="B7B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95" name="Rectangle 579"/>
            <p:cNvSpPr>
              <a:spLocks noChangeArrowheads="1"/>
            </p:cNvSpPr>
            <p:nvPr/>
          </p:nvSpPr>
          <p:spPr bwMode="auto">
            <a:xfrm>
              <a:off x="951" y="1675"/>
              <a:ext cx="26" cy="4"/>
            </a:xfrm>
            <a:prstGeom prst="rect">
              <a:avLst/>
            </a:prstGeom>
            <a:solidFill>
              <a:srgbClr val="B7B79D"/>
            </a:solidFill>
            <a:ln w="4763">
              <a:solidFill>
                <a:srgbClr val="49493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</p:grpSp>
      <p:sp>
        <p:nvSpPr>
          <p:cNvPr id="96" name="Rectangle 580"/>
          <p:cNvSpPr>
            <a:spLocks noChangeArrowheads="1"/>
          </p:cNvSpPr>
          <p:nvPr/>
        </p:nvSpPr>
        <p:spPr bwMode="auto">
          <a:xfrm>
            <a:off x="4222053" y="2679818"/>
            <a:ext cx="2247731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B </a:t>
            </a:r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选定的加密算法</a:t>
            </a:r>
            <a:endParaRPr kumimoji="1" lang="zh-CN" altLang="en-US" sz="2000" b="1" baseline="-2500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97" name="Line 583"/>
          <p:cNvSpPr>
            <a:spLocks noChangeShapeType="1"/>
          </p:cNvSpPr>
          <p:nvPr/>
        </p:nvSpPr>
        <p:spPr bwMode="auto">
          <a:xfrm flipV="1">
            <a:off x="3420643" y="3430303"/>
            <a:ext cx="3870483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黑体" pitchFamily="2" charset="-122"/>
            </a:endParaRPr>
          </a:p>
        </p:txBody>
      </p:sp>
      <p:sp>
        <p:nvSpPr>
          <p:cNvPr id="98" name="Rectangle 581"/>
          <p:cNvSpPr>
            <a:spLocks noChangeArrowheads="1"/>
          </p:cNvSpPr>
          <p:nvPr/>
        </p:nvSpPr>
        <p:spPr bwMode="auto">
          <a:xfrm>
            <a:off x="4346320" y="3223167"/>
            <a:ext cx="2013693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  B </a:t>
            </a:r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的数字证书  </a:t>
            </a:r>
            <a:endParaRPr kumimoji="1" lang="zh-CN" altLang="en-US" sz="2000" b="1" baseline="-2500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99" name="Line 584"/>
          <p:cNvSpPr>
            <a:spLocks noChangeShapeType="1"/>
          </p:cNvSpPr>
          <p:nvPr/>
        </p:nvSpPr>
        <p:spPr bwMode="auto">
          <a:xfrm flipV="1">
            <a:off x="3411582" y="4090463"/>
            <a:ext cx="3870483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黑体" pitchFamily="2" charset="-122"/>
            </a:endParaRPr>
          </a:p>
        </p:txBody>
      </p:sp>
      <p:sp>
        <p:nvSpPr>
          <p:cNvPr id="100" name="Rectangle 585"/>
          <p:cNvSpPr>
            <a:spLocks noChangeArrowheads="1"/>
          </p:cNvSpPr>
          <p:nvPr/>
        </p:nvSpPr>
        <p:spPr bwMode="auto">
          <a:xfrm>
            <a:off x="3803286" y="3899256"/>
            <a:ext cx="3092513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用 </a:t>
            </a:r>
            <a:r>
              <a:rPr kumimoji="1" lang="en-US" altLang="zh-CN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B </a:t>
            </a:r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的公钥加密的秘密数</a:t>
            </a:r>
            <a:endParaRPr kumimoji="1" lang="zh-CN" altLang="en-US" sz="2000" b="1" baseline="-25000">
              <a:solidFill>
                <a:srgbClr val="0000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101" name="Line 586"/>
          <p:cNvSpPr>
            <a:spLocks noChangeShapeType="1"/>
          </p:cNvSpPr>
          <p:nvPr/>
        </p:nvSpPr>
        <p:spPr bwMode="auto">
          <a:xfrm flipV="1">
            <a:off x="3413395" y="4773631"/>
            <a:ext cx="3870483" cy="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 b="1">
              <a:latin typeface="+mn-lt"/>
              <a:ea typeface="黑体" pitchFamily="2" charset="-122"/>
            </a:endParaRPr>
          </a:p>
        </p:txBody>
      </p:sp>
      <p:sp>
        <p:nvSpPr>
          <p:cNvPr id="102" name="Rectangle 587"/>
          <p:cNvSpPr>
            <a:spLocks noChangeArrowheads="1"/>
          </p:cNvSpPr>
          <p:nvPr/>
        </p:nvSpPr>
        <p:spPr bwMode="auto">
          <a:xfrm>
            <a:off x="4091303" y="4566497"/>
            <a:ext cx="2507418" cy="4001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ctr">
              <a:defRPr/>
            </a:pPr>
            <a:r>
              <a:rPr kumimoji="1" lang="zh-CN" altLang="en-US" sz="2000" b="1">
                <a:solidFill>
                  <a:srgbClr val="000099"/>
                </a:solidFill>
                <a:latin typeface="+mn-lt"/>
                <a:ea typeface="黑体" pitchFamily="2" charset="-122"/>
              </a:rPr>
              <a:t>会话密钥的产生完成</a:t>
            </a:r>
          </a:p>
        </p:txBody>
      </p:sp>
      <p:sp>
        <p:nvSpPr>
          <p:cNvPr id="103" name="AutoShape 588"/>
          <p:cNvSpPr>
            <a:spLocks noChangeArrowheads="1"/>
          </p:cNvSpPr>
          <p:nvPr/>
        </p:nvSpPr>
        <p:spPr bwMode="auto">
          <a:xfrm>
            <a:off x="3435139" y="5138224"/>
            <a:ext cx="3843302" cy="569897"/>
          </a:xfrm>
          <a:prstGeom prst="leftRightArrow">
            <a:avLst>
              <a:gd name="adj1" fmla="val 61667"/>
              <a:gd name="adj2" fmla="val 18328"/>
            </a:avLst>
          </a:prstGeom>
          <a:solidFill>
            <a:srgbClr val="66FF66"/>
          </a:solidFill>
          <a:ln w="19050">
            <a:solidFill>
              <a:srgbClr val="0000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000" b="1">
                <a:solidFill>
                  <a:srgbClr val="0000FF"/>
                </a:solidFill>
                <a:latin typeface="+mn-lt"/>
                <a:ea typeface="黑体" pitchFamily="2" charset="-122"/>
              </a:rPr>
              <a:t>数据传输（用会话密钥加密）</a:t>
            </a:r>
          </a:p>
        </p:txBody>
      </p:sp>
      <p:sp>
        <p:nvSpPr>
          <p:cNvPr id="104" name="Text Box 589"/>
          <p:cNvSpPr txBox="1">
            <a:spLocks noChangeArrowheads="1"/>
          </p:cNvSpPr>
          <p:nvPr/>
        </p:nvSpPr>
        <p:spPr bwMode="auto">
          <a:xfrm>
            <a:off x="883743" y="2276349"/>
            <a:ext cx="17667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400" b="1">
              <a:latin typeface="+mn-lt"/>
              <a:ea typeface="黑体" pitchFamily="2" charset="-122"/>
            </a:endParaRPr>
          </a:p>
        </p:txBody>
      </p:sp>
      <p:sp>
        <p:nvSpPr>
          <p:cNvPr id="105" name="Text Box 590"/>
          <p:cNvSpPr txBox="1">
            <a:spLocks noChangeArrowheads="1"/>
          </p:cNvSpPr>
          <p:nvPr/>
        </p:nvSpPr>
        <p:spPr bwMode="auto">
          <a:xfrm>
            <a:off x="947460" y="2393160"/>
            <a:ext cx="23027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 sz="2000" b="1" dirty="0">
                <a:latin typeface="+mn-lt"/>
                <a:ea typeface="黑体" pitchFamily="2" charset="-122"/>
              </a:rPr>
              <a:t>协商加密算法</a:t>
            </a:r>
          </a:p>
        </p:txBody>
      </p:sp>
      <p:sp>
        <p:nvSpPr>
          <p:cNvPr id="106" name="Text Box 591"/>
          <p:cNvSpPr txBox="1">
            <a:spLocks noChangeArrowheads="1"/>
          </p:cNvSpPr>
          <p:nvPr/>
        </p:nvSpPr>
        <p:spPr bwMode="auto">
          <a:xfrm>
            <a:off x="405710" y="3068960"/>
            <a:ext cx="29631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latin typeface="+mn-lt"/>
                <a:ea typeface="黑体" pitchFamily="2" charset="-122"/>
              </a:rPr>
              <a:t>用 </a:t>
            </a:r>
            <a:r>
              <a:rPr lang="en-US" altLang="zh-CN" sz="2000" b="1" dirty="0">
                <a:latin typeface="+mn-lt"/>
                <a:ea typeface="黑体" pitchFamily="2" charset="-122"/>
              </a:rPr>
              <a:t>CA </a:t>
            </a:r>
            <a:r>
              <a:rPr lang="zh-CN" altLang="en-US" sz="2000" b="1" dirty="0">
                <a:latin typeface="+mn-lt"/>
                <a:ea typeface="黑体" pitchFamily="2" charset="-122"/>
              </a:rPr>
              <a:t>发布的公钥</a:t>
            </a:r>
          </a:p>
          <a:p>
            <a:pPr algn="ctr" eaLnBrk="1" hangingPunct="1"/>
            <a:r>
              <a:rPr lang="zh-CN" altLang="en-US" sz="2000" b="1" dirty="0">
                <a:latin typeface="+mn-lt"/>
                <a:ea typeface="黑体" pitchFamily="2" charset="-122"/>
              </a:rPr>
              <a:t>鉴别 </a:t>
            </a:r>
            <a:r>
              <a:rPr lang="en-US" altLang="zh-CN" sz="2000" b="1" dirty="0">
                <a:latin typeface="+mn-lt"/>
                <a:ea typeface="黑体" pitchFamily="2" charset="-122"/>
              </a:rPr>
              <a:t>B </a:t>
            </a:r>
            <a:r>
              <a:rPr lang="zh-CN" altLang="en-US" sz="2000" b="1" dirty="0">
                <a:latin typeface="+mn-lt"/>
                <a:ea typeface="黑体" pitchFamily="2" charset="-122"/>
              </a:rPr>
              <a:t>的证书</a:t>
            </a:r>
          </a:p>
        </p:txBody>
      </p:sp>
      <p:sp>
        <p:nvSpPr>
          <p:cNvPr id="107" name="Text Box 592"/>
          <p:cNvSpPr txBox="1">
            <a:spLocks noChangeArrowheads="1"/>
          </p:cNvSpPr>
          <p:nvPr/>
        </p:nvSpPr>
        <p:spPr bwMode="auto">
          <a:xfrm>
            <a:off x="558397" y="3781489"/>
            <a:ext cx="281042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latin typeface="+mn-lt"/>
                <a:ea typeface="黑体" pitchFamily="2" charset="-122"/>
              </a:rPr>
              <a:t>产生秘密数</a:t>
            </a:r>
          </a:p>
          <a:p>
            <a:pPr algn="ctr" eaLnBrk="1" hangingPunct="1"/>
            <a:r>
              <a:rPr lang="zh-CN" altLang="en-US" sz="2000" b="1" dirty="0">
                <a:latin typeface="+mn-lt"/>
                <a:ea typeface="黑体" pitchFamily="2" charset="-122"/>
              </a:rPr>
              <a:t>用秘密数产生</a:t>
            </a:r>
          </a:p>
          <a:p>
            <a:pPr algn="ctr" eaLnBrk="1" hangingPunct="1"/>
            <a:r>
              <a:rPr lang="zh-CN" altLang="en-US" sz="2000" b="1" dirty="0">
                <a:latin typeface="+mn-lt"/>
                <a:ea typeface="黑体" pitchFamily="2" charset="-122"/>
              </a:rPr>
              <a:t>会话密钥</a:t>
            </a:r>
          </a:p>
        </p:txBody>
      </p:sp>
      <p:sp>
        <p:nvSpPr>
          <p:cNvPr id="108" name="Text Box 593"/>
          <p:cNvSpPr txBox="1">
            <a:spLocks noChangeArrowheads="1"/>
          </p:cNvSpPr>
          <p:nvPr/>
        </p:nvSpPr>
        <p:spPr bwMode="auto">
          <a:xfrm>
            <a:off x="7399712" y="4377298"/>
            <a:ext cx="201778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latin typeface="+mn-lt"/>
                <a:ea typeface="黑体" pitchFamily="2" charset="-122"/>
              </a:rPr>
              <a:t>用秘密数</a:t>
            </a:r>
          </a:p>
          <a:p>
            <a:pPr algn="ctr" eaLnBrk="1" hangingPunct="1"/>
            <a:r>
              <a:rPr lang="zh-CN" altLang="en-US" sz="2000" b="1" dirty="0">
                <a:latin typeface="+mn-lt"/>
                <a:ea typeface="黑体" pitchFamily="2" charset="-122"/>
              </a:rPr>
              <a:t>产生会话密钥</a:t>
            </a:r>
          </a:p>
        </p:txBody>
      </p:sp>
      <p:sp>
        <p:nvSpPr>
          <p:cNvPr id="109" name="Text Box 594"/>
          <p:cNvSpPr txBox="1">
            <a:spLocks noChangeArrowheads="1"/>
          </p:cNvSpPr>
          <p:nvPr/>
        </p:nvSpPr>
        <p:spPr bwMode="auto">
          <a:xfrm>
            <a:off x="7426554" y="2419708"/>
            <a:ext cx="19189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+mn-lt"/>
                <a:ea typeface="黑体" pitchFamily="2" charset="-122"/>
              </a:rPr>
              <a:t>协商加密算法</a:t>
            </a:r>
          </a:p>
        </p:txBody>
      </p:sp>
      <p:grpSp>
        <p:nvGrpSpPr>
          <p:cNvPr id="110" name="Group 596"/>
          <p:cNvGrpSpPr>
            <a:grpSpLocks/>
          </p:cNvGrpSpPr>
          <p:nvPr/>
        </p:nvGrpSpPr>
        <p:grpSpPr bwMode="auto">
          <a:xfrm>
            <a:off x="3409771" y="2118831"/>
            <a:ext cx="4182151" cy="4142814"/>
            <a:chOff x="1691" y="1266"/>
            <a:chExt cx="2308" cy="2043"/>
          </a:xfrm>
        </p:grpSpPr>
        <p:sp>
          <p:nvSpPr>
            <p:cNvPr id="111" name="Line 512"/>
            <p:cNvSpPr>
              <a:spLocks noChangeShapeType="1"/>
            </p:cNvSpPr>
            <p:nvPr/>
          </p:nvSpPr>
          <p:spPr bwMode="auto">
            <a:xfrm rot="16200000" flipH="1">
              <a:off x="745" y="2228"/>
              <a:ext cx="1895" cy="4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112" name="Line 513"/>
            <p:cNvSpPr>
              <a:spLocks noChangeShapeType="1"/>
            </p:cNvSpPr>
            <p:nvPr/>
          </p:nvSpPr>
          <p:spPr bwMode="auto">
            <a:xfrm rot="16200000" flipH="1">
              <a:off x="2877" y="2224"/>
              <a:ext cx="191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none" w="sm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n-lt"/>
                <a:ea typeface="黑体" pitchFamily="2" charset="-122"/>
              </a:endParaRPr>
            </a:p>
          </p:txBody>
        </p:sp>
        <p:sp>
          <p:nvSpPr>
            <p:cNvPr id="113" name="Text Box 530"/>
            <p:cNvSpPr txBox="1">
              <a:spLocks noChangeArrowheads="1"/>
            </p:cNvSpPr>
            <p:nvPr/>
          </p:nvSpPr>
          <p:spPr bwMode="auto">
            <a:xfrm>
              <a:off x="1711" y="3106"/>
              <a:ext cx="149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t</a:t>
              </a:r>
              <a:endParaRPr lang="en-US" altLang="zh-CN" sz="2000" b="1" i="1" baseline="-2500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114" name="Text Box 595"/>
            <p:cNvSpPr txBox="1">
              <a:spLocks noChangeArrowheads="1"/>
            </p:cNvSpPr>
            <p:nvPr/>
          </p:nvSpPr>
          <p:spPr bwMode="auto">
            <a:xfrm>
              <a:off x="3850" y="3112"/>
              <a:ext cx="149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000099"/>
                  </a:solidFill>
                  <a:latin typeface="+mn-lt"/>
                  <a:ea typeface="黑体" pitchFamily="2" charset="-122"/>
                </a:rPr>
                <a:t>t</a:t>
              </a:r>
              <a:endParaRPr lang="en-US" altLang="zh-CN" sz="2000" b="1" i="1" baseline="-25000">
                <a:solidFill>
                  <a:srgbClr val="000099"/>
                </a:solidFill>
                <a:latin typeface="+mn-lt"/>
                <a:ea typeface="黑体" pitchFamily="2" charset="-122"/>
              </a:endParaRPr>
            </a:p>
          </p:txBody>
        </p:sp>
      </p:grpSp>
      <p:sp>
        <p:nvSpPr>
          <p:cNvPr id="115" name="Text Box 597"/>
          <p:cNvSpPr txBox="1">
            <a:spLocks noChangeArrowheads="1"/>
          </p:cNvSpPr>
          <p:nvPr/>
        </p:nvSpPr>
        <p:spPr bwMode="auto">
          <a:xfrm>
            <a:off x="3074546" y="1060450"/>
            <a:ext cx="7008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C00000"/>
                </a:solidFill>
                <a:latin typeface="+mn-lt"/>
                <a:ea typeface="黑体" pitchFamily="2" charset="-122"/>
              </a:rPr>
              <a:t>顾客</a:t>
            </a:r>
          </a:p>
        </p:txBody>
      </p:sp>
      <p:sp>
        <p:nvSpPr>
          <p:cNvPr id="116" name="TextBox 57"/>
          <p:cNvSpPr txBox="1">
            <a:spLocks noChangeArrowheads="1"/>
          </p:cNvSpPr>
          <p:nvPr/>
        </p:nvSpPr>
        <p:spPr bwMode="auto">
          <a:xfrm>
            <a:off x="3413183" y="1959223"/>
            <a:ext cx="6757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lt"/>
                <a:ea typeface="黑体" pitchFamily="2" charset="-122"/>
                <a:sym typeface="Wingdings" pitchFamily="2" charset="2"/>
              </a:rPr>
              <a:t></a:t>
            </a:r>
            <a:endParaRPr lang="zh-CN" altLang="en-US" sz="2400" b="1" dirty="0">
              <a:latin typeface="+mn-lt"/>
              <a:ea typeface="黑体" pitchFamily="2" charset="-122"/>
            </a:endParaRPr>
          </a:p>
        </p:txBody>
      </p:sp>
      <p:sp>
        <p:nvSpPr>
          <p:cNvPr id="117" name="TextBox 58"/>
          <p:cNvSpPr txBox="1">
            <a:spLocks noChangeArrowheads="1"/>
          </p:cNvSpPr>
          <p:nvPr/>
        </p:nvSpPr>
        <p:spPr bwMode="auto">
          <a:xfrm>
            <a:off x="6868924" y="2511741"/>
            <a:ext cx="4587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+mn-lt"/>
                <a:ea typeface="黑体" pitchFamily="2" charset="-122"/>
                <a:sym typeface="Wingdings" pitchFamily="2" charset="2"/>
              </a:rPr>
              <a:t></a:t>
            </a:r>
            <a:endParaRPr lang="zh-CN" altLang="en-US" sz="2400" b="1">
              <a:latin typeface="+mn-lt"/>
              <a:ea typeface="黑体" pitchFamily="2" charset="-122"/>
            </a:endParaRPr>
          </a:p>
        </p:txBody>
      </p:sp>
      <p:sp>
        <p:nvSpPr>
          <p:cNvPr id="118" name="TextBox 59"/>
          <p:cNvSpPr txBox="1">
            <a:spLocks noChangeArrowheads="1"/>
          </p:cNvSpPr>
          <p:nvPr/>
        </p:nvSpPr>
        <p:spPr bwMode="auto">
          <a:xfrm>
            <a:off x="416496" y="3039343"/>
            <a:ext cx="6757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lt"/>
                <a:ea typeface="黑体" pitchFamily="2" charset="-122"/>
                <a:sym typeface="Wingdings" pitchFamily="2" charset="2"/>
              </a:rPr>
              <a:t></a:t>
            </a:r>
            <a:endParaRPr lang="zh-CN" altLang="en-US" sz="2400" b="1" dirty="0">
              <a:latin typeface="+mn-lt"/>
              <a:ea typeface="黑体" pitchFamily="2" charset="-122"/>
            </a:endParaRPr>
          </a:p>
        </p:txBody>
      </p:sp>
      <p:sp>
        <p:nvSpPr>
          <p:cNvPr id="119" name="TextBox 60"/>
          <p:cNvSpPr txBox="1">
            <a:spLocks noChangeArrowheads="1"/>
          </p:cNvSpPr>
          <p:nvPr/>
        </p:nvSpPr>
        <p:spPr bwMode="auto">
          <a:xfrm>
            <a:off x="6859864" y="3055091"/>
            <a:ext cx="4587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+mn-lt"/>
                <a:ea typeface="黑体" pitchFamily="2" charset="-122"/>
                <a:sym typeface="Wingdings" pitchFamily="2" charset="2"/>
              </a:rPr>
              <a:t></a:t>
            </a:r>
            <a:endParaRPr lang="zh-CN" altLang="en-US" sz="2400" b="1">
              <a:latin typeface="+mn-lt"/>
              <a:ea typeface="黑体" pitchFamily="2" charset="-122"/>
            </a:endParaRPr>
          </a:p>
        </p:txBody>
      </p:sp>
      <p:sp>
        <p:nvSpPr>
          <p:cNvPr id="120" name="TextBox 61"/>
          <p:cNvSpPr txBox="1">
            <a:spLocks noChangeArrowheads="1"/>
          </p:cNvSpPr>
          <p:nvPr/>
        </p:nvSpPr>
        <p:spPr bwMode="auto">
          <a:xfrm>
            <a:off x="6850804" y="4365104"/>
            <a:ext cx="4587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lt"/>
                <a:ea typeface="黑体" pitchFamily="2" charset="-122"/>
                <a:sym typeface="Wingdings" pitchFamily="2" charset="2"/>
              </a:rPr>
              <a:t></a:t>
            </a:r>
            <a:endParaRPr lang="zh-CN" altLang="en-US" sz="2400" b="1" dirty="0">
              <a:latin typeface="+mn-lt"/>
              <a:ea typeface="黑体" pitchFamily="2" charset="-122"/>
            </a:endParaRPr>
          </a:p>
        </p:txBody>
      </p:sp>
      <p:sp>
        <p:nvSpPr>
          <p:cNvPr id="121" name="TextBox 62"/>
          <p:cNvSpPr txBox="1">
            <a:spLocks noChangeArrowheads="1"/>
          </p:cNvSpPr>
          <p:nvPr/>
        </p:nvSpPr>
        <p:spPr bwMode="auto">
          <a:xfrm>
            <a:off x="3368824" y="3692243"/>
            <a:ext cx="6757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lt"/>
                <a:ea typeface="黑体" pitchFamily="2" charset="-122"/>
                <a:sym typeface="Wingdings" pitchFamily="2" charset="2"/>
              </a:rPr>
              <a:t></a:t>
            </a:r>
            <a:endParaRPr lang="zh-CN" altLang="en-US" sz="2400" b="1" dirty="0">
              <a:latin typeface="+mn-lt"/>
              <a:ea typeface="黑体" pitchFamily="2" charset="-122"/>
            </a:endParaRPr>
          </a:p>
        </p:txBody>
      </p:sp>
      <p:sp>
        <p:nvSpPr>
          <p:cNvPr id="122" name="TextBox 61"/>
          <p:cNvSpPr txBox="1">
            <a:spLocks noChangeArrowheads="1"/>
          </p:cNvSpPr>
          <p:nvPr/>
        </p:nvSpPr>
        <p:spPr bwMode="auto">
          <a:xfrm>
            <a:off x="5181930" y="4941769"/>
            <a:ext cx="4587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+mn-lt"/>
                <a:ea typeface="黑体" pitchFamily="2" charset="-122"/>
                <a:sym typeface="Wingdings" pitchFamily="2" charset="2"/>
              </a:rPr>
              <a:t></a:t>
            </a:r>
            <a:endParaRPr lang="zh-CN" altLang="en-US" sz="2400" b="1"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07367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网络安全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网络安全问题概述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两类密码体制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数字签名</a:t>
            </a:r>
          </a:p>
          <a:p>
            <a:r>
              <a:rPr lang="zh-CN" altLang="zh-CN" dirty="0">
                <a:solidFill>
                  <a:schemeClr val="bg1">
                    <a:lumMod val="65000"/>
                  </a:schemeClr>
                </a:solidFill>
              </a:rPr>
              <a:t>鉴别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运输层的安全协议介绍</a:t>
            </a:r>
          </a:p>
          <a:p>
            <a:r>
              <a:rPr lang="zh-CN" altLang="en-US" sz="3600" dirty="0">
                <a:solidFill>
                  <a:srgbClr val="FF0000"/>
                </a:solidFill>
              </a:rPr>
              <a:t>防火墙</a:t>
            </a:r>
          </a:p>
        </p:txBody>
      </p:sp>
    </p:spTree>
    <p:extLst>
      <p:ext uri="{BB962C8B-B14F-4D97-AF65-F5344CB8AC3E}">
        <p14:creationId xmlns:p14="http://schemas.microsoft.com/office/powerpoint/2010/main" val="2248997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防火墙</a:t>
            </a:r>
            <a:endParaRPr lang="zh-CN" altLang="en-US" sz="4000" dirty="0"/>
          </a:p>
        </p:txBody>
      </p:sp>
      <p:sp>
        <p:nvSpPr>
          <p:cNvPr id="625667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防火墙</a:t>
            </a:r>
            <a:r>
              <a:rPr lang="zh-CN" altLang="en-US" dirty="0"/>
              <a:t>是由软件、硬件构成的系统，是一种特殊编程的路由器，用来在两个网络之间实施</a:t>
            </a:r>
            <a:r>
              <a:rPr lang="zh-CN" altLang="en-US" dirty="0">
                <a:solidFill>
                  <a:srgbClr val="FF0000"/>
                </a:solidFill>
              </a:rPr>
              <a:t>访问控制策略。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dirty="0"/>
              <a:t>访问控制策略是由使用防火墙的单位自行制订的，为的是可以最适合本单位的需要。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防火墙内的网络称为“</a:t>
            </a:r>
            <a:r>
              <a:rPr lang="zh-CN" altLang="en-US" dirty="0">
                <a:solidFill>
                  <a:srgbClr val="FF0000"/>
                </a:solidFill>
              </a:rPr>
              <a:t>可信的网络</a:t>
            </a:r>
            <a:r>
              <a:rPr lang="zh-CN" altLang="en-US" dirty="0"/>
              <a:t>”</a:t>
            </a:r>
            <a:r>
              <a:rPr lang="en-US" altLang="zh-CN" dirty="0"/>
              <a:t>(trusted network)</a:t>
            </a:r>
            <a:r>
              <a:rPr lang="zh-CN" altLang="en-US" dirty="0"/>
              <a:t>，而将外部的因特网称为“</a:t>
            </a:r>
            <a:r>
              <a:rPr lang="zh-CN" altLang="en-US" dirty="0">
                <a:solidFill>
                  <a:srgbClr val="FF0000"/>
                </a:solidFill>
              </a:rPr>
              <a:t>不可信的网络</a:t>
            </a:r>
            <a:r>
              <a:rPr lang="zh-CN" altLang="en-US" dirty="0"/>
              <a:t>”</a:t>
            </a:r>
            <a:r>
              <a:rPr lang="en-US" altLang="zh-CN" dirty="0"/>
              <a:t>(untrusted network)</a:t>
            </a:r>
            <a:r>
              <a:rPr lang="zh-CN" altLang="en-US" dirty="0"/>
              <a:t>。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防火墙可用来解决内联网和外联网的安全问题。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84124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防火墙在互连网络中的位置 </a:t>
            </a:r>
          </a:p>
        </p:txBody>
      </p:sp>
      <p:sp>
        <p:nvSpPr>
          <p:cNvPr id="626722" name="AutoShape 34"/>
          <p:cNvSpPr>
            <a:spLocks noChangeArrowheads="1"/>
          </p:cNvSpPr>
          <p:nvPr/>
        </p:nvSpPr>
        <p:spPr bwMode="auto">
          <a:xfrm>
            <a:off x="3047554" y="2248072"/>
            <a:ext cx="4292600" cy="2209800"/>
          </a:xfrm>
          <a:prstGeom prst="cube">
            <a:avLst>
              <a:gd name="adj" fmla="val 11935"/>
            </a:avLst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26723" name="Line 35"/>
          <p:cNvSpPr>
            <a:spLocks noChangeShapeType="1"/>
          </p:cNvSpPr>
          <p:nvPr/>
        </p:nvSpPr>
        <p:spPr bwMode="auto">
          <a:xfrm>
            <a:off x="6514654" y="3543472"/>
            <a:ext cx="1320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pic>
        <p:nvPicPr>
          <p:cNvPr id="626724" name="Picture 36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254" y="3010072"/>
            <a:ext cx="18986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6725" name="Line 37"/>
          <p:cNvSpPr>
            <a:spLocks noChangeShapeType="1"/>
          </p:cNvSpPr>
          <p:nvPr/>
        </p:nvSpPr>
        <p:spPr bwMode="auto">
          <a:xfrm>
            <a:off x="3460304" y="4076872"/>
            <a:ext cx="1403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26726" name="Line 38"/>
          <p:cNvSpPr>
            <a:spLocks noChangeShapeType="1"/>
          </p:cNvSpPr>
          <p:nvPr/>
        </p:nvSpPr>
        <p:spPr bwMode="auto">
          <a:xfrm rot="-5400000">
            <a:off x="3555554" y="3924472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26727" name="Line 39"/>
          <p:cNvSpPr>
            <a:spLocks noChangeShapeType="1"/>
          </p:cNvSpPr>
          <p:nvPr/>
        </p:nvSpPr>
        <p:spPr bwMode="auto">
          <a:xfrm rot="-5400000">
            <a:off x="4546154" y="3924472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grpSp>
        <p:nvGrpSpPr>
          <p:cNvPr id="626728" name="Group 40"/>
          <p:cNvGrpSpPr>
            <a:grpSpLocks/>
          </p:cNvGrpSpPr>
          <p:nvPr/>
        </p:nvGrpSpPr>
        <p:grpSpPr bwMode="auto">
          <a:xfrm>
            <a:off x="5028754" y="3619672"/>
            <a:ext cx="1403350" cy="457200"/>
            <a:chOff x="1440" y="1872"/>
            <a:chExt cx="816" cy="192"/>
          </a:xfrm>
        </p:grpSpPr>
        <p:sp>
          <p:nvSpPr>
            <p:cNvPr id="626729" name="Line 41"/>
            <p:cNvSpPr>
              <a:spLocks noChangeShapeType="1"/>
            </p:cNvSpPr>
            <p:nvPr/>
          </p:nvSpPr>
          <p:spPr bwMode="auto">
            <a:xfrm>
              <a:off x="1440" y="206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33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26730" name="Line 42"/>
            <p:cNvSpPr>
              <a:spLocks noChangeShapeType="1"/>
            </p:cNvSpPr>
            <p:nvPr/>
          </p:nvSpPr>
          <p:spPr bwMode="auto">
            <a:xfrm rot="-5400000">
              <a:off x="1440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33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26731" name="Line 43"/>
            <p:cNvSpPr>
              <a:spLocks noChangeShapeType="1"/>
            </p:cNvSpPr>
            <p:nvPr/>
          </p:nvSpPr>
          <p:spPr bwMode="auto">
            <a:xfrm rot="-5400000">
              <a:off x="2064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3399"/>
                </a:solidFill>
                <a:latin typeface="+mn-lt"/>
                <a:ea typeface="黑体" pitchFamily="2" charset="-122"/>
              </a:endParaRPr>
            </a:p>
          </p:txBody>
        </p:sp>
      </p:grpSp>
      <p:sp>
        <p:nvSpPr>
          <p:cNvPr id="626732" name="Line 44"/>
          <p:cNvSpPr>
            <a:spLocks noChangeShapeType="1"/>
          </p:cNvSpPr>
          <p:nvPr/>
        </p:nvSpPr>
        <p:spPr bwMode="auto">
          <a:xfrm>
            <a:off x="2717354" y="3619672"/>
            <a:ext cx="66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26733" name="Text Box 45"/>
          <p:cNvSpPr txBox="1">
            <a:spLocks noChangeArrowheads="1"/>
          </p:cNvSpPr>
          <p:nvPr/>
        </p:nvSpPr>
        <p:spPr bwMode="auto">
          <a:xfrm>
            <a:off x="8000554" y="3356992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000" b="1" dirty="0">
                <a:solidFill>
                  <a:srgbClr val="003399"/>
                </a:solidFill>
                <a:latin typeface="+mn-lt"/>
                <a:ea typeface="黑体" pitchFamily="2" charset="-122"/>
              </a:rPr>
              <a:t>内联网</a:t>
            </a:r>
          </a:p>
        </p:txBody>
      </p:sp>
      <p:sp>
        <p:nvSpPr>
          <p:cNvPr id="626734" name="Oval 46"/>
          <p:cNvSpPr>
            <a:spLocks noChangeArrowheads="1"/>
          </p:cNvSpPr>
          <p:nvPr/>
        </p:nvSpPr>
        <p:spPr bwMode="auto">
          <a:xfrm>
            <a:off x="7422704" y="2476672"/>
            <a:ext cx="2063750" cy="19050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26735" name="Text Box 47"/>
          <p:cNvSpPr txBox="1">
            <a:spLocks noChangeArrowheads="1"/>
          </p:cNvSpPr>
          <p:nvPr/>
        </p:nvSpPr>
        <p:spPr bwMode="auto">
          <a:xfrm>
            <a:off x="7789020" y="2692572"/>
            <a:ext cx="13468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可信的网络</a:t>
            </a:r>
          </a:p>
        </p:txBody>
      </p:sp>
      <p:sp>
        <p:nvSpPr>
          <p:cNvPr id="626736" name="Text Box 48"/>
          <p:cNvSpPr txBox="1">
            <a:spLocks noChangeArrowheads="1"/>
          </p:cNvSpPr>
          <p:nvPr/>
        </p:nvSpPr>
        <p:spPr bwMode="auto">
          <a:xfrm>
            <a:off x="939089" y="2489372"/>
            <a:ext cx="15792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不可信的网络</a:t>
            </a:r>
          </a:p>
        </p:txBody>
      </p:sp>
      <p:sp>
        <p:nvSpPr>
          <p:cNvPr id="626737" name="Text Box 49"/>
          <p:cNvSpPr txBox="1">
            <a:spLocks noChangeArrowheads="1"/>
          </p:cNvSpPr>
          <p:nvPr/>
        </p:nvSpPr>
        <p:spPr bwMode="auto">
          <a:xfrm>
            <a:off x="3229852" y="2629073"/>
            <a:ext cx="11144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rgbClr val="003399"/>
                </a:solidFill>
                <a:latin typeface="+mn-lt"/>
                <a:ea typeface="黑体" pitchFamily="2" charset="-122"/>
              </a:rPr>
              <a:t>分组过滤</a:t>
            </a:r>
          </a:p>
          <a:p>
            <a:r>
              <a:rPr kumimoji="1" lang="zh-CN" altLang="en-US" b="1">
                <a:solidFill>
                  <a:srgbClr val="003399"/>
                </a:solidFill>
                <a:latin typeface="+mn-lt"/>
                <a:ea typeface="黑体" pitchFamily="2" charset="-122"/>
              </a:rPr>
              <a:t>路由器</a:t>
            </a:r>
          </a:p>
        </p:txBody>
      </p:sp>
      <p:sp>
        <p:nvSpPr>
          <p:cNvPr id="626738" name="Text Box 50"/>
          <p:cNvSpPr txBox="1">
            <a:spLocks noChangeArrowheads="1"/>
          </p:cNvSpPr>
          <p:nvPr/>
        </p:nvSpPr>
        <p:spPr bwMode="auto">
          <a:xfrm>
            <a:off x="5764825" y="2629073"/>
            <a:ext cx="11144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b="1">
                <a:solidFill>
                  <a:srgbClr val="003399"/>
                </a:solidFill>
                <a:latin typeface="+mn-lt"/>
                <a:ea typeface="黑体" pitchFamily="2" charset="-122"/>
              </a:rPr>
              <a:t>分组过滤</a:t>
            </a:r>
          </a:p>
          <a:p>
            <a:r>
              <a:rPr kumimoji="1" lang="zh-CN" altLang="en-US" b="1">
                <a:solidFill>
                  <a:srgbClr val="003399"/>
                </a:solidFill>
                <a:latin typeface="+mn-lt"/>
                <a:ea typeface="黑体" pitchFamily="2" charset="-122"/>
              </a:rPr>
              <a:t>路由器</a:t>
            </a:r>
          </a:p>
        </p:txBody>
      </p:sp>
      <p:sp>
        <p:nvSpPr>
          <p:cNvPr id="626739" name="Text Box 51"/>
          <p:cNvSpPr txBox="1">
            <a:spLocks noChangeArrowheads="1"/>
          </p:cNvSpPr>
          <p:nvPr/>
        </p:nvSpPr>
        <p:spPr bwMode="auto">
          <a:xfrm>
            <a:off x="4450904" y="2781472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b="1">
                <a:solidFill>
                  <a:srgbClr val="003399"/>
                </a:solidFill>
                <a:latin typeface="+mn-lt"/>
                <a:ea typeface="黑体" pitchFamily="2" charset="-122"/>
              </a:rPr>
              <a:t>应用网关</a:t>
            </a:r>
          </a:p>
        </p:txBody>
      </p:sp>
      <p:sp>
        <p:nvSpPr>
          <p:cNvPr id="626740" name="Text Box 52"/>
          <p:cNvSpPr txBox="1">
            <a:spLocks noChangeArrowheads="1"/>
          </p:cNvSpPr>
          <p:nvPr/>
        </p:nvSpPr>
        <p:spPr bwMode="auto">
          <a:xfrm>
            <a:off x="3368824" y="4076872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003399"/>
                </a:solidFill>
                <a:latin typeface="+mn-lt"/>
                <a:ea typeface="黑体" pitchFamily="2" charset="-122"/>
              </a:rPr>
              <a:t>外局域网</a:t>
            </a:r>
          </a:p>
        </p:txBody>
      </p:sp>
      <p:sp>
        <p:nvSpPr>
          <p:cNvPr id="626741" name="Text Box 53"/>
          <p:cNvSpPr txBox="1">
            <a:spLocks noChangeArrowheads="1"/>
          </p:cNvSpPr>
          <p:nvPr/>
        </p:nvSpPr>
        <p:spPr bwMode="auto">
          <a:xfrm>
            <a:off x="5186975" y="4076872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b="1">
                <a:solidFill>
                  <a:srgbClr val="003399"/>
                </a:solidFill>
                <a:latin typeface="+mn-lt"/>
                <a:ea typeface="黑体" pitchFamily="2" charset="-122"/>
              </a:rPr>
              <a:t>内局域网</a:t>
            </a:r>
          </a:p>
        </p:txBody>
      </p:sp>
      <p:sp>
        <p:nvSpPr>
          <p:cNvPr id="626742" name="Text Box 54"/>
          <p:cNvSpPr txBox="1">
            <a:spLocks noChangeArrowheads="1"/>
          </p:cNvSpPr>
          <p:nvPr/>
        </p:nvSpPr>
        <p:spPr bwMode="auto">
          <a:xfrm>
            <a:off x="4736976" y="1867072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C00000"/>
                </a:solidFill>
                <a:latin typeface="+mn-lt"/>
                <a:ea typeface="黑体" pitchFamily="2" charset="-122"/>
              </a:rPr>
              <a:t>防火墙</a:t>
            </a:r>
          </a:p>
        </p:txBody>
      </p:sp>
      <p:pic>
        <p:nvPicPr>
          <p:cNvPr id="626743" name="Picture 55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79" y="3429172"/>
            <a:ext cx="7429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626744" name="Picture 56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529" y="3378372"/>
            <a:ext cx="7429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26745" name="Group 57"/>
          <p:cNvGrpSpPr>
            <a:grpSpLocks/>
          </p:cNvGrpSpPr>
          <p:nvPr/>
        </p:nvGrpSpPr>
        <p:grpSpPr bwMode="auto">
          <a:xfrm>
            <a:off x="4616004" y="3162472"/>
            <a:ext cx="660400" cy="609600"/>
            <a:chOff x="2256" y="1488"/>
            <a:chExt cx="384" cy="384"/>
          </a:xfrm>
        </p:grpSpPr>
        <p:sp>
          <p:nvSpPr>
            <p:cNvPr id="626746" name="AutoShape 58"/>
            <p:cNvSpPr>
              <a:spLocks noChangeArrowheads="1"/>
            </p:cNvSpPr>
            <p:nvPr/>
          </p:nvSpPr>
          <p:spPr bwMode="auto">
            <a:xfrm>
              <a:off x="2256" y="1488"/>
              <a:ext cx="384" cy="384"/>
            </a:xfrm>
            <a:prstGeom prst="cube">
              <a:avLst>
                <a:gd name="adj" fmla="val 12963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 b="1">
                <a:solidFill>
                  <a:srgbClr val="003399"/>
                </a:solidFill>
                <a:latin typeface="+mn-lt"/>
                <a:ea typeface="黑体" pitchFamily="2" charset="-122"/>
              </a:endParaRPr>
            </a:p>
          </p:txBody>
        </p:sp>
        <p:sp>
          <p:nvSpPr>
            <p:cNvPr id="626747" name="Text Box 59"/>
            <p:cNvSpPr txBox="1">
              <a:spLocks noChangeArrowheads="1"/>
            </p:cNvSpPr>
            <p:nvPr/>
          </p:nvSpPr>
          <p:spPr bwMode="auto">
            <a:xfrm>
              <a:off x="2315" y="1606"/>
              <a:ext cx="212" cy="233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>
                  <a:solidFill>
                    <a:srgbClr val="003399"/>
                  </a:solidFill>
                  <a:latin typeface="+mn-lt"/>
                  <a:ea typeface="黑体" pitchFamily="2" charset="-122"/>
                </a:rPr>
                <a:t>G</a:t>
              </a:r>
            </a:p>
          </p:txBody>
        </p:sp>
      </p:grpSp>
      <p:graphicFrame>
        <p:nvGraphicFramePr>
          <p:cNvPr id="626748" name="Object 60"/>
          <p:cNvGraphicFramePr>
            <a:graphicFrameLocks noChangeAspect="1"/>
          </p:cNvGraphicFramePr>
          <p:nvPr>
            <p:extLst/>
          </p:nvPr>
        </p:nvGraphicFramePr>
        <p:xfrm>
          <a:off x="488504" y="2857672"/>
          <a:ext cx="23939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VISIO" r:id="rId6" imgW="1689840" imgH="964440" progId="Visio.Drawing.6">
                  <p:embed/>
                </p:oleObj>
              </mc:Choice>
              <mc:Fallback>
                <p:oleObj name="VISIO" r:id="rId6" imgW="1689840" imgH="964440" progId="Visio.Drawing.6">
                  <p:embed/>
                  <p:pic>
                    <p:nvPicPr>
                      <p:cNvPr id="62674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504" y="2857672"/>
                        <a:ext cx="239395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6749" name="Text Box 61"/>
          <p:cNvSpPr txBox="1">
            <a:spLocks noChangeArrowheads="1"/>
          </p:cNvSpPr>
          <p:nvPr/>
        </p:nvSpPr>
        <p:spPr bwMode="auto">
          <a:xfrm>
            <a:off x="1208584" y="3343447"/>
            <a:ext cx="9589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000" b="1" dirty="0">
                <a:solidFill>
                  <a:srgbClr val="003399"/>
                </a:solidFill>
                <a:latin typeface="+mn-lt"/>
                <a:ea typeface="黑体" pitchFamily="2" charset="-122"/>
              </a:rPr>
              <a:t>互联网</a:t>
            </a:r>
          </a:p>
        </p:txBody>
      </p:sp>
      <p:sp>
        <p:nvSpPr>
          <p:cNvPr id="626750" name="Line 62"/>
          <p:cNvSpPr>
            <a:spLocks noChangeShapeType="1"/>
          </p:cNvSpPr>
          <p:nvPr/>
        </p:nvSpPr>
        <p:spPr bwMode="auto">
          <a:xfrm flipH="1">
            <a:off x="3083670" y="2060747"/>
            <a:ext cx="1403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  <p:sp>
        <p:nvSpPr>
          <p:cNvPr id="626751" name="Text Box 63"/>
          <p:cNvSpPr txBox="1">
            <a:spLocks noChangeArrowheads="1"/>
          </p:cNvSpPr>
          <p:nvPr/>
        </p:nvSpPr>
        <p:spPr bwMode="auto">
          <a:xfrm>
            <a:off x="7324289" y="1868660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000" b="1" dirty="0">
                <a:solidFill>
                  <a:srgbClr val="003399"/>
                </a:solidFill>
                <a:latin typeface="+mn-lt"/>
                <a:ea typeface="黑体" pitchFamily="2" charset="-122"/>
              </a:rPr>
              <a:t>防火墙的里面</a:t>
            </a:r>
          </a:p>
        </p:txBody>
      </p:sp>
      <p:sp>
        <p:nvSpPr>
          <p:cNvPr id="626752" name="Text Box 64"/>
          <p:cNvSpPr txBox="1">
            <a:spLocks noChangeArrowheads="1"/>
          </p:cNvSpPr>
          <p:nvPr/>
        </p:nvSpPr>
        <p:spPr bwMode="auto">
          <a:xfrm>
            <a:off x="1280592" y="1844824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000" b="1" dirty="0">
                <a:solidFill>
                  <a:srgbClr val="003399"/>
                </a:solidFill>
                <a:latin typeface="+mn-lt"/>
                <a:ea typeface="黑体" pitchFamily="2" charset="-122"/>
              </a:rPr>
              <a:t>防火墙的外面</a:t>
            </a:r>
          </a:p>
        </p:txBody>
      </p:sp>
      <p:sp>
        <p:nvSpPr>
          <p:cNvPr id="626753" name="AutoShape 65"/>
          <p:cNvSpPr>
            <a:spLocks noChangeArrowheads="1"/>
          </p:cNvSpPr>
          <p:nvPr/>
        </p:nvSpPr>
        <p:spPr bwMode="auto">
          <a:xfrm>
            <a:off x="4487021" y="1773411"/>
            <a:ext cx="5149056" cy="28797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>
              <a:solidFill>
                <a:srgbClr val="003399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83182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防火墙的功能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防火墙的功能有两个：</a:t>
            </a:r>
            <a:r>
              <a:rPr lang="zh-CN" altLang="en-US" dirty="0">
                <a:solidFill>
                  <a:srgbClr val="FF0000"/>
                </a:solidFill>
              </a:rPr>
              <a:t>阻止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允许。</a:t>
            </a:r>
          </a:p>
          <a:p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阻止</a:t>
            </a:r>
            <a:r>
              <a:rPr lang="zh-CN" altLang="en-US" dirty="0"/>
              <a:t>”就是阻止某种类型的通信量通过防火墙（从外部网络到内部网络，或反过来）。</a:t>
            </a:r>
          </a:p>
          <a:p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允许</a:t>
            </a:r>
            <a:r>
              <a:rPr lang="zh-CN" altLang="en-US" dirty="0"/>
              <a:t>”的功能与“阻止”恰好相反。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防火墙必须能够识别通信量的各种类型。不过在大多数情况下防火墙的主要功能是“阻止”。</a:t>
            </a:r>
          </a:p>
        </p:txBody>
      </p:sp>
    </p:spTree>
    <p:extLst>
      <p:ext uri="{BB962C8B-B14F-4D97-AF65-F5344CB8AC3E}">
        <p14:creationId xmlns:p14="http://schemas.microsoft.com/office/powerpoint/2010/main" val="21069044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防火墙技术一般分为两类 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分组过滤路由器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是一种具有分组过滤功能的路由器，它根据过滤规则对进出内部网络的分组执行转发或者丢弃（即过滤）。过滤规则基于分组的网络层或运输层首部的信息，例如：源</a:t>
            </a:r>
            <a:r>
              <a:rPr lang="en-US" altLang="zh-CN" dirty="0"/>
              <a:t>/</a:t>
            </a:r>
            <a:r>
              <a:rPr lang="zh-CN" altLang="zh-CN" dirty="0"/>
              <a:t>目的</a:t>
            </a:r>
            <a:r>
              <a:rPr lang="en-US" altLang="zh-CN" dirty="0"/>
              <a:t> IP </a:t>
            </a:r>
            <a:r>
              <a:rPr lang="zh-CN" altLang="zh-CN" dirty="0"/>
              <a:t>地址、源</a:t>
            </a:r>
            <a:r>
              <a:rPr lang="en-US" altLang="zh-CN" dirty="0"/>
              <a:t>/</a:t>
            </a:r>
            <a:r>
              <a:rPr lang="zh-CN" altLang="zh-CN" dirty="0"/>
              <a:t>目的端口、协议类型（</a:t>
            </a:r>
            <a:r>
              <a:rPr lang="en-US" altLang="zh-CN" dirty="0"/>
              <a:t>TCP </a:t>
            </a:r>
            <a:r>
              <a:rPr lang="zh-CN" altLang="zh-CN" dirty="0"/>
              <a:t>或</a:t>
            </a:r>
            <a:r>
              <a:rPr lang="en-US" altLang="zh-CN" dirty="0"/>
              <a:t> UDP</a:t>
            </a:r>
            <a:r>
              <a:rPr lang="zh-CN" altLang="zh-CN" dirty="0"/>
              <a:t>）等。</a:t>
            </a:r>
            <a:endParaRPr lang="en-US" altLang="zh-CN" dirty="0"/>
          </a:p>
          <a:p>
            <a:pPr lvl="1"/>
            <a:r>
              <a:rPr lang="zh-CN" altLang="zh-CN" dirty="0"/>
              <a:t>分组过滤可以是无状态的，即独立地处理每一个分组。也可以是有状态的，即要跟踪每个连接或会话的通信状态，并根据这些状态信息来决定是否转发分组。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648122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防火墙技术一般分为两类 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zh-CN" sz="2800" dirty="0">
                <a:solidFill>
                  <a:srgbClr val="FF0000"/>
                </a:solidFill>
              </a:rPr>
              <a:t>应用网关也称为代理服务器</a:t>
            </a:r>
            <a:r>
              <a:rPr lang="en-US" altLang="zh-CN" sz="2800" dirty="0"/>
              <a:t>(proxy server)</a:t>
            </a:r>
          </a:p>
          <a:p>
            <a:pPr lvl="1"/>
            <a:r>
              <a:rPr lang="zh-CN" altLang="zh-CN" sz="2400" dirty="0"/>
              <a:t>它在应用层通信中扮演</a:t>
            </a:r>
            <a:r>
              <a:rPr lang="zh-CN" altLang="zh-CN" sz="2400" dirty="0">
                <a:solidFill>
                  <a:srgbClr val="0000FF"/>
                </a:solidFill>
              </a:rPr>
              <a:t>报文中继</a:t>
            </a:r>
            <a:r>
              <a:rPr lang="zh-CN" altLang="zh-CN" sz="2400" dirty="0"/>
              <a:t>的角色。</a:t>
            </a:r>
            <a:endParaRPr lang="en-US" altLang="zh-CN" sz="2400" dirty="0"/>
          </a:p>
          <a:p>
            <a:pPr lvl="1"/>
            <a:r>
              <a:rPr lang="zh-CN" altLang="zh-CN" sz="2400" dirty="0"/>
              <a:t>一种网络应用需要一个应用网关，例如 万维网缓存就是一种万维网应用的代理服务器。</a:t>
            </a:r>
            <a:endParaRPr lang="en-US" altLang="zh-CN" sz="2400" dirty="0"/>
          </a:p>
          <a:p>
            <a:pPr lvl="1"/>
            <a:r>
              <a:rPr lang="zh-CN" altLang="zh-CN" sz="2400" dirty="0"/>
              <a:t>在应用网关中，可以实现基于应用层数据的过滤和高层用户鉴别。</a:t>
            </a:r>
          </a:p>
          <a:p>
            <a:pPr lvl="1"/>
            <a:r>
              <a:rPr lang="zh-CN" altLang="zh-CN" sz="2400" dirty="0">
                <a:solidFill>
                  <a:srgbClr val="0000FF"/>
                </a:solidFill>
              </a:rPr>
              <a:t>所有进出网络的应用程序报文都必须通过应用网关。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lvl="1"/>
            <a:r>
              <a:rPr lang="zh-CN" altLang="zh-CN" sz="2400" dirty="0"/>
              <a:t>应用网关也有一些缺点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2"/>
            <a:r>
              <a:rPr lang="zh-CN" altLang="zh-CN" sz="2000" dirty="0"/>
              <a:t>首先，每种应用都需要一个不同的应用网关。</a:t>
            </a:r>
            <a:endParaRPr lang="en-US" altLang="zh-CN" sz="2000" dirty="0"/>
          </a:p>
          <a:p>
            <a:pPr lvl="2"/>
            <a:r>
              <a:rPr lang="zh-CN" altLang="zh-CN" sz="2000" dirty="0"/>
              <a:t>其次，在应用层转发和处理报文，处理负担较重。</a:t>
            </a:r>
            <a:endParaRPr lang="en-US" altLang="zh-CN" sz="2000" dirty="0"/>
          </a:p>
          <a:p>
            <a:pPr lvl="2"/>
            <a:r>
              <a:rPr lang="zh-CN" altLang="zh-CN" sz="2000" dirty="0"/>
              <a:t>另外，对应用程序不透明，需要在应用程序客户端配置应用网关地址。</a:t>
            </a:r>
          </a:p>
          <a:p>
            <a:pPr lvl="1"/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675946"/>
      </p:ext>
    </p:extLst>
  </p:cSld>
  <p:clrMapOvr>
    <a:masterClrMapping/>
  </p:clrMapOvr>
</p:sld>
</file>

<file path=ppt/theme/theme1.xml><?xml version="1.0" encoding="utf-8"?>
<a:theme xmlns:a="http://schemas.openxmlformats.org/drawingml/2006/main" name="CN(myzh)Ic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CN(myzh)Icon</Template>
  <TotalTime>377</TotalTime>
  <Words>5615</Words>
  <Application>Microsoft Office PowerPoint</Application>
  <PresentationFormat>A4 纸张(210x297 毫米)</PresentationFormat>
  <Paragraphs>751</Paragraphs>
  <Slides>78</Slides>
  <Notes>62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88" baseType="lpstr">
      <vt:lpstr>黑体</vt:lpstr>
      <vt:lpstr>宋体</vt:lpstr>
      <vt:lpstr>Arial</vt:lpstr>
      <vt:lpstr>Symbol</vt:lpstr>
      <vt:lpstr>Tahoma</vt:lpstr>
      <vt:lpstr>Times New Roman</vt:lpstr>
      <vt:lpstr>Wingdings</vt:lpstr>
      <vt:lpstr>CN(myzh)Icon</vt:lpstr>
      <vt:lpstr>VISIO</vt:lpstr>
      <vt:lpstr>公式</vt:lpstr>
      <vt:lpstr>网络安全</vt:lpstr>
      <vt:lpstr>网络安全</vt:lpstr>
      <vt:lpstr>网络安全</vt:lpstr>
      <vt:lpstr>网络安全问题概述</vt:lpstr>
      <vt:lpstr>计算机网络面临的安全性威胁</vt:lpstr>
      <vt:lpstr>计算机网络面临的安全性威胁</vt:lpstr>
      <vt:lpstr>计算机网络面临的安全性威胁</vt:lpstr>
      <vt:lpstr>分布式拒绝服务 DDoS</vt:lpstr>
      <vt:lpstr>计算机网络通信安全的目标</vt:lpstr>
      <vt:lpstr>安全的计算机网络</vt:lpstr>
      <vt:lpstr>安全的计算机网络</vt:lpstr>
      <vt:lpstr>安全的计算机网络</vt:lpstr>
      <vt:lpstr>安全的计算机网络</vt:lpstr>
      <vt:lpstr>网络安全</vt:lpstr>
      <vt:lpstr>数据加密模型</vt:lpstr>
      <vt:lpstr>密钥</vt:lpstr>
      <vt:lpstr>密码安全的不同层次 </vt:lpstr>
      <vt:lpstr>对称密钥密码体制 </vt:lpstr>
      <vt:lpstr>数据加密标准 DES</vt:lpstr>
      <vt:lpstr>数据加密标准 DES</vt:lpstr>
      <vt:lpstr>DES 的保密性</vt:lpstr>
      <vt:lpstr>三重 DES</vt:lpstr>
      <vt:lpstr>公钥密码体制</vt:lpstr>
      <vt:lpstr>加密密钥与解密密钥 </vt:lpstr>
      <vt:lpstr>应当注意 </vt:lpstr>
      <vt:lpstr>公钥算法的特点 </vt:lpstr>
      <vt:lpstr>公钥算法的特点 </vt:lpstr>
      <vt:lpstr>公钥密码体制</vt:lpstr>
      <vt:lpstr>公开密钥与对称密钥的区别</vt:lpstr>
      <vt:lpstr>公钥密码体制</vt:lpstr>
      <vt:lpstr>网络安全</vt:lpstr>
      <vt:lpstr>数字签名</vt:lpstr>
      <vt:lpstr>基于公钥的数字签名的实现</vt:lpstr>
      <vt:lpstr>基于公钥的数字签名的实现</vt:lpstr>
      <vt:lpstr>具有保密性的数字签名 </vt:lpstr>
      <vt:lpstr>网络安全</vt:lpstr>
      <vt:lpstr>鉴别</vt:lpstr>
      <vt:lpstr>鉴别与授权不同</vt:lpstr>
      <vt:lpstr>鉴别分类</vt:lpstr>
      <vt:lpstr>报文鉴别 </vt:lpstr>
      <vt:lpstr>1. 密码散列函数</vt:lpstr>
      <vt:lpstr>散列函数的两个特点</vt:lpstr>
      <vt:lpstr>密码散列函数的特点</vt:lpstr>
      <vt:lpstr>密码散列函数的特点</vt:lpstr>
      <vt:lpstr>2. 实用的密码散列函数MD5和SHA-1</vt:lpstr>
      <vt:lpstr>MD5 算法</vt:lpstr>
      <vt:lpstr>MD5 算法</vt:lpstr>
      <vt:lpstr>MD5 算法</vt:lpstr>
      <vt:lpstr>安全散列算法（SHA-1）</vt:lpstr>
      <vt:lpstr>安全散列算法（SHA-1）</vt:lpstr>
      <vt:lpstr>3. 报文鉴别码 MAC</vt:lpstr>
      <vt:lpstr>3. 报文鉴别码 MAC</vt:lpstr>
      <vt:lpstr>3. 报文鉴别码 MAC</vt:lpstr>
      <vt:lpstr>3. 报文鉴别码 MAC</vt:lpstr>
      <vt:lpstr>实体鉴别 </vt:lpstr>
      <vt:lpstr>最简单的实体鉴别过程 </vt:lpstr>
      <vt:lpstr>存在明显漏洞</vt:lpstr>
      <vt:lpstr>使用不重数进行鉴别</vt:lpstr>
      <vt:lpstr>使用不重数进行鉴别</vt:lpstr>
      <vt:lpstr>使用不重数进行鉴别</vt:lpstr>
      <vt:lpstr>中间人攻击 </vt:lpstr>
      <vt:lpstr>中间人攻击说明</vt:lpstr>
      <vt:lpstr>中间人攻击说明</vt:lpstr>
      <vt:lpstr>网络安全</vt:lpstr>
      <vt:lpstr>CA 证书</vt:lpstr>
      <vt:lpstr>运输层安全协议</vt:lpstr>
      <vt:lpstr>SSL 和 TLS</vt:lpstr>
      <vt:lpstr>SSL / TLS 的位置 </vt:lpstr>
      <vt:lpstr>SSL 和 TLS</vt:lpstr>
      <vt:lpstr>SSL 和 TLS</vt:lpstr>
      <vt:lpstr>SSL 提供的安全服务</vt:lpstr>
      <vt:lpstr>SSL 安全会话建立过程</vt:lpstr>
      <vt:lpstr>网络安全</vt:lpstr>
      <vt:lpstr>防火墙</vt:lpstr>
      <vt:lpstr>防火墙在互连网络中的位置 </vt:lpstr>
      <vt:lpstr>防火墙的功能</vt:lpstr>
      <vt:lpstr>防火墙技术一般分为两类 </vt:lpstr>
      <vt:lpstr>防火墙技术一般分为两类 </vt:lpstr>
    </vt:vector>
  </TitlesOfParts>
  <Manager/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2 章  物理层</dc:title>
  <dc:subject/>
  <dc:creator>920</dc:creator>
  <cp:keywords/>
  <dc:description/>
  <cp:lastModifiedBy>admin</cp:lastModifiedBy>
  <cp:revision>22</cp:revision>
  <dcterms:created xsi:type="dcterms:W3CDTF">2016-10-04T02:36:21Z</dcterms:created>
  <dcterms:modified xsi:type="dcterms:W3CDTF">2022-05-08T17:11:27Z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