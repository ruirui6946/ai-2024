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66FF66"/>
    <a:srgbClr val="0000CC"/>
    <a:srgbClr val="0000FF"/>
    <a:srgbClr val="FF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129" autoAdjust="0"/>
    <p:restoredTop sz="88929" autoAdjust="0"/>
  </p:normalViewPr>
  <p:slideViewPr>
    <p:cSldViewPr>
      <p:cViewPr varScale="1">
        <p:scale>
          <a:sx n="90" d="100"/>
          <a:sy n="90" d="100"/>
        </p:scale>
        <p:origin x="1422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C80574E-8B94-4515-ADE1-BF6C35829DF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33339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7B36-077D-42FE-9DED-0C77CB87E4B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8640"/>
            <a:ext cx="9066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752"/>
            <a:ext cx="9066212" cy="49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176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itchFamily="2" charset="2"/>
        <a:buChar char="p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课程概况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课程概况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联系方式与课程资源</a:t>
            </a:r>
            <a:endParaRPr lang="en-US" altLang="zh-CN" dirty="0"/>
          </a:p>
          <a:p>
            <a:r>
              <a:rPr lang="zh-CN" altLang="en-US" dirty="0"/>
              <a:t>课程目标与内容安排</a:t>
            </a:r>
            <a:endParaRPr lang="en-US" altLang="zh-CN" dirty="0"/>
          </a:p>
          <a:p>
            <a:r>
              <a:rPr lang="zh-CN" altLang="en-US" dirty="0"/>
              <a:t>教材与推荐参考读物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301944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联系方式与课程资源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联系方式</a:t>
            </a:r>
          </a:p>
          <a:p>
            <a:pPr lvl="1"/>
            <a:r>
              <a:rPr lang="zh-CN" altLang="en-US" dirty="0"/>
              <a:t>主讲：陈毅东，</a:t>
            </a:r>
            <a:r>
              <a:rPr lang="en-US" altLang="zh-CN" dirty="0"/>
              <a:t>ydchen@xmu.edu.cn</a:t>
            </a:r>
          </a:p>
          <a:p>
            <a:pPr lvl="1"/>
            <a:r>
              <a:rPr lang="zh-CN" altLang="en-US" dirty="0"/>
              <a:t>助教：黄峻杰，</a:t>
            </a:r>
            <a:r>
              <a:rPr lang="en-US" altLang="zh-CN" dirty="0"/>
              <a:t>877207583@qq.com</a:t>
            </a:r>
            <a:br>
              <a:rPr lang="en-US" altLang="zh-CN" dirty="0"/>
            </a:br>
            <a:r>
              <a:rPr lang="en-US" altLang="zh-CN" dirty="0"/>
              <a:t>           </a:t>
            </a:r>
            <a:r>
              <a:rPr lang="zh-CN" altLang="en-US" dirty="0"/>
              <a:t>罗懿，</a:t>
            </a:r>
            <a:r>
              <a:rPr lang="en-US" altLang="zh-CN" dirty="0"/>
              <a:t>767139624@qq.com</a:t>
            </a:r>
          </a:p>
          <a:p>
            <a:r>
              <a:rPr lang="zh-CN" altLang="en-US" dirty="0"/>
              <a:t>课程</a:t>
            </a:r>
            <a:r>
              <a:rPr lang="en-US" altLang="zh-CN" dirty="0"/>
              <a:t>FTP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dirty="0"/>
              <a:t>IP</a:t>
            </a:r>
            <a:r>
              <a:rPr lang="zh-CN" altLang="en-US" dirty="0"/>
              <a:t>地址：</a:t>
            </a:r>
            <a:r>
              <a:rPr lang="en-US" altLang="zh-CN"/>
              <a:t>121.192.180.215</a:t>
            </a:r>
            <a:endParaRPr lang="en-US" altLang="zh-CN" dirty="0"/>
          </a:p>
          <a:p>
            <a:pPr lvl="1"/>
            <a:r>
              <a:rPr lang="zh-CN" altLang="en-US" dirty="0"/>
              <a:t>用户名：</a:t>
            </a:r>
            <a:r>
              <a:rPr lang="en-US" altLang="zh-CN" dirty="0" err="1"/>
              <a:t>cognet</a:t>
            </a:r>
            <a:r>
              <a:rPr lang="en-US" altLang="zh-CN" dirty="0"/>
              <a:t>	</a:t>
            </a:r>
          </a:p>
          <a:p>
            <a:pPr lvl="1"/>
            <a:r>
              <a:rPr lang="zh-CN" altLang="en-US" dirty="0"/>
              <a:t>口　令：</a:t>
            </a:r>
            <a:r>
              <a:rPr lang="en-US" altLang="zh-CN" dirty="0" err="1"/>
              <a:t>cognet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注：课件也将在</a:t>
            </a:r>
            <a:r>
              <a:rPr lang="en-US" altLang="zh-CN" dirty="0">
                <a:solidFill>
                  <a:srgbClr val="FF0000"/>
                </a:solidFill>
              </a:rPr>
              <a:t>course.xmu.edu.cn</a:t>
            </a:r>
            <a:r>
              <a:rPr lang="zh-CN" altLang="en-US" dirty="0">
                <a:solidFill>
                  <a:srgbClr val="FF0000"/>
                </a:solidFill>
              </a:rPr>
              <a:t>发布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5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课程目标与内容安排（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课程目标</a:t>
            </a:r>
            <a:endParaRPr lang="en-US" altLang="zh-CN" dirty="0"/>
          </a:p>
          <a:p>
            <a:pPr lvl="1"/>
            <a:r>
              <a:rPr lang="zh-CN" altLang="en-US" dirty="0"/>
              <a:t>熟悉计算机网络原理</a:t>
            </a:r>
            <a:endParaRPr lang="en-US" altLang="zh-CN" dirty="0"/>
          </a:p>
          <a:p>
            <a:pPr lvl="1"/>
            <a:r>
              <a:rPr lang="zh-CN" altLang="en-US" dirty="0"/>
              <a:t>领会网络思维与理念</a:t>
            </a:r>
          </a:p>
          <a:p>
            <a:pPr lvl="1"/>
            <a:r>
              <a:rPr lang="zh-CN" altLang="en-US" dirty="0"/>
              <a:t>掌握网络编程技术</a:t>
            </a:r>
          </a:p>
          <a:p>
            <a:pPr lvl="1"/>
            <a:r>
              <a:rPr lang="zh-CN" altLang="en-US" dirty="0"/>
              <a:t>了解网络相关的智能前沿</a:t>
            </a:r>
          </a:p>
        </p:txBody>
      </p:sp>
    </p:spTree>
    <p:extLst>
      <p:ext uri="{BB962C8B-B14F-4D97-AF65-F5344CB8AC3E}">
        <p14:creationId xmlns:p14="http://schemas.microsoft.com/office/powerpoint/2010/main" val="358223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课程目标与内容安排（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内容安排</a:t>
            </a:r>
            <a:endParaRPr lang="en-US" altLang="zh-CN" dirty="0"/>
          </a:p>
          <a:p>
            <a:pPr lvl="1"/>
            <a:r>
              <a:rPr lang="zh-CN" altLang="en-US" dirty="0"/>
              <a:t>理论课内容</a:t>
            </a:r>
            <a:endParaRPr lang="en-US" altLang="zh-CN" dirty="0"/>
          </a:p>
          <a:p>
            <a:pPr lvl="2"/>
            <a:r>
              <a:rPr lang="zh-CN" altLang="en-US" dirty="0"/>
              <a:t>原理：概述、自底向上介绍各层协议</a:t>
            </a:r>
            <a:endParaRPr lang="en-US" altLang="zh-CN" dirty="0"/>
          </a:p>
          <a:p>
            <a:pPr lvl="2"/>
            <a:r>
              <a:rPr lang="zh-CN" altLang="en-US" dirty="0"/>
              <a:t>安全：加密、内容安全</a:t>
            </a:r>
            <a:endParaRPr lang="en-US" altLang="zh-CN" dirty="0"/>
          </a:p>
          <a:p>
            <a:pPr lvl="2"/>
            <a:r>
              <a:rPr lang="zh-CN" altLang="en-US" dirty="0"/>
              <a:t>网络与智能</a:t>
            </a:r>
            <a:endParaRPr lang="en-US" altLang="zh-CN" dirty="0"/>
          </a:p>
          <a:p>
            <a:pPr lvl="1"/>
            <a:r>
              <a:rPr lang="zh-CN" altLang="en-US" dirty="0"/>
              <a:t>实验课内容</a:t>
            </a:r>
            <a:endParaRPr lang="en-US" altLang="zh-CN" dirty="0"/>
          </a:p>
          <a:p>
            <a:pPr lvl="2"/>
            <a:r>
              <a:rPr lang="zh-CN" altLang="en-US" dirty="0"/>
              <a:t>原理实验：数据包分析</a:t>
            </a:r>
            <a:endParaRPr lang="en-US" altLang="zh-CN" dirty="0"/>
          </a:p>
          <a:p>
            <a:pPr lvl="2"/>
            <a:r>
              <a:rPr lang="zh-CN" altLang="en-US" dirty="0"/>
              <a:t>网管实验：虚拟组网</a:t>
            </a:r>
            <a:endParaRPr lang="en-US" altLang="zh-CN" dirty="0"/>
          </a:p>
          <a:p>
            <a:pPr lvl="2"/>
            <a:r>
              <a:rPr lang="zh-CN" altLang="en-US" dirty="0"/>
              <a:t>网络编程：</a:t>
            </a:r>
            <a:r>
              <a:rPr lang="en-US" altLang="zh-CN" dirty="0"/>
              <a:t>socket</a:t>
            </a:r>
            <a:r>
              <a:rPr lang="zh-CN" altLang="en-US" dirty="0"/>
              <a:t>编程</a:t>
            </a:r>
          </a:p>
        </p:txBody>
      </p:sp>
    </p:spTree>
    <p:extLst>
      <p:ext uri="{BB962C8B-B14F-4D97-AF65-F5344CB8AC3E}">
        <p14:creationId xmlns:p14="http://schemas.microsoft.com/office/powerpoint/2010/main" val="1382959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课程目标与内容安排（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成绩构成</a:t>
            </a:r>
            <a:endParaRPr lang="en-US" altLang="zh-CN" dirty="0"/>
          </a:p>
          <a:p>
            <a:pPr lvl="1"/>
            <a:r>
              <a:rPr lang="zh-CN" altLang="en-US" dirty="0"/>
              <a:t>平时：作业</a:t>
            </a:r>
            <a:r>
              <a:rPr lang="en-US" altLang="zh-CN" dirty="0"/>
              <a:t>+</a:t>
            </a:r>
            <a:r>
              <a:rPr lang="zh-CN" altLang="en-US" dirty="0"/>
              <a:t>实验，</a:t>
            </a:r>
            <a:r>
              <a:rPr lang="en-US" altLang="zh-CN" dirty="0"/>
              <a:t>25%</a:t>
            </a:r>
          </a:p>
          <a:p>
            <a:pPr lvl="1"/>
            <a:r>
              <a:rPr lang="zh-CN" altLang="en-US" dirty="0"/>
              <a:t>期中：</a:t>
            </a:r>
            <a:r>
              <a:rPr lang="en-US" altLang="zh-CN"/>
              <a:t>25%</a:t>
            </a:r>
            <a:endParaRPr lang="en-US" altLang="zh-CN" dirty="0"/>
          </a:p>
          <a:p>
            <a:pPr lvl="1"/>
            <a:r>
              <a:rPr lang="zh-CN" altLang="en-US" dirty="0"/>
              <a:t>期末：</a:t>
            </a:r>
            <a:r>
              <a:rPr lang="en-US" altLang="zh-CN" dirty="0"/>
              <a:t>50%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030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教材与推荐参考读物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教材：</a:t>
            </a:r>
            <a:endParaRPr lang="en-US" altLang="zh-CN" dirty="0"/>
          </a:p>
          <a:p>
            <a:pPr lvl="1"/>
            <a:r>
              <a:rPr lang="zh-CN" altLang="en-US" dirty="0"/>
              <a:t>谢希仁</a:t>
            </a:r>
            <a:r>
              <a:rPr lang="en-US" altLang="zh-CN" dirty="0"/>
              <a:t>. </a:t>
            </a:r>
            <a:r>
              <a:rPr lang="zh-CN" altLang="en-US" dirty="0"/>
              <a:t>计算机网络</a:t>
            </a:r>
            <a:r>
              <a:rPr lang="en-US" altLang="zh-CN" dirty="0"/>
              <a:t>(</a:t>
            </a:r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版</a:t>
            </a:r>
            <a:r>
              <a:rPr lang="en-US" altLang="zh-CN" dirty="0"/>
              <a:t>). </a:t>
            </a:r>
            <a:r>
              <a:rPr lang="zh-CN" altLang="en-US" dirty="0"/>
              <a:t>电子工业出版社</a:t>
            </a:r>
            <a:r>
              <a:rPr lang="en-US" altLang="zh-CN" dirty="0"/>
              <a:t>, 2021.</a:t>
            </a:r>
          </a:p>
          <a:p>
            <a:r>
              <a:rPr lang="zh-CN" altLang="en-US" dirty="0"/>
              <a:t>推荐参考读物</a:t>
            </a:r>
            <a:endParaRPr lang="en-US" altLang="zh-CN" dirty="0"/>
          </a:p>
          <a:p>
            <a:pPr lvl="1"/>
            <a:r>
              <a:rPr lang="en-US" altLang="zh-CN" dirty="0"/>
              <a:t>Andrew S. Tanenbaum, Nick </a:t>
            </a:r>
            <a:r>
              <a:rPr lang="en-US" altLang="zh-CN" dirty="0" err="1"/>
              <a:t>Feamster</a:t>
            </a:r>
            <a:r>
              <a:rPr lang="en-US" altLang="zh-CN" dirty="0"/>
              <a:t>, David J. </a:t>
            </a:r>
            <a:r>
              <a:rPr lang="en-US" altLang="zh-CN" dirty="0" err="1"/>
              <a:t>Wetherall</a:t>
            </a:r>
            <a:r>
              <a:rPr lang="zh-CN" altLang="en-US" dirty="0"/>
              <a:t>著</a:t>
            </a:r>
            <a:r>
              <a:rPr lang="en-US" altLang="zh-CN" dirty="0"/>
              <a:t>, </a:t>
            </a:r>
            <a:r>
              <a:rPr lang="zh-CN" altLang="en-US" dirty="0"/>
              <a:t>潘爱民译</a:t>
            </a:r>
            <a:r>
              <a:rPr lang="en-US" altLang="zh-CN" dirty="0"/>
              <a:t>. </a:t>
            </a:r>
            <a:r>
              <a:rPr lang="zh-CN" altLang="en-US" dirty="0"/>
              <a:t>计算机网络</a:t>
            </a:r>
            <a:r>
              <a:rPr lang="en-US" altLang="zh-CN" dirty="0"/>
              <a:t>(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版</a:t>
            </a:r>
            <a:r>
              <a:rPr lang="en-US" altLang="zh-CN" dirty="0"/>
              <a:t>). </a:t>
            </a:r>
            <a:r>
              <a:rPr lang="zh-CN" altLang="en-US" dirty="0"/>
              <a:t>清华大学出版社</a:t>
            </a:r>
            <a:r>
              <a:rPr lang="en-US" altLang="zh-CN" dirty="0"/>
              <a:t>, 2022.</a:t>
            </a:r>
          </a:p>
          <a:p>
            <a:pPr lvl="1"/>
            <a:r>
              <a:rPr lang="en-US" altLang="zh-CN" dirty="0"/>
              <a:t>James F. Kurose, Keith W. Ross</a:t>
            </a:r>
            <a:r>
              <a:rPr lang="zh-CN" altLang="en-US" dirty="0"/>
              <a:t>著</a:t>
            </a:r>
            <a:r>
              <a:rPr lang="en-US" altLang="zh-CN" dirty="0"/>
              <a:t>, </a:t>
            </a:r>
            <a:r>
              <a:rPr lang="zh-CN" altLang="en-US" dirty="0"/>
              <a:t>陈鸣译</a:t>
            </a:r>
            <a:r>
              <a:rPr lang="en-US" altLang="zh-CN" dirty="0"/>
              <a:t>.</a:t>
            </a:r>
            <a:r>
              <a:rPr lang="zh-CN" altLang="en-US" dirty="0"/>
              <a:t>计算机网络</a:t>
            </a:r>
            <a:r>
              <a:rPr lang="en-US" altLang="zh-CN" dirty="0"/>
              <a:t>:</a:t>
            </a:r>
            <a:r>
              <a:rPr lang="zh-CN" altLang="en-US" dirty="0"/>
              <a:t>自顶向下方法</a:t>
            </a:r>
            <a:r>
              <a:rPr lang="en-US" altLang="zh-CN" dirty="0"/>
              <a:t>(</a:t>
            </a:r>
            <a:r>
              <a:rPr lang="zh-CN" altLang="en-US" dirty="0"/>
              <a:t>原书第</a:t>
            </a:r>
            <a:r>
              <a:rPr lang="en-US" altLang="zh-CN" dirty="0"/>
              <a:t>8</a:t>
            </a:r>
            <a:r>
              <a:rPr lang="zh-CN" altLang="en-US" dirty="0"/>
              <a:t>版</a:t>
            </a:r>
            <a:r>
              <a:rPr lang="en-US" altLang="zh-CN" dirty="0"/>
              <a:t>). </a:t>
            </a:r>
            <a:r>
              <a:rPr lang="zh-CN" altLang="en-US" dirty="0"/>
              <a:t>机械工业出版社</a:t>
            </a:r>
            <a:r>
              <a:rPr lang="en-US" altLang="zh-CN" dirty="0"/>
              <a:t>, 2022.</a:t>
            </a:r>
          </a:p>
          <a:p>
            <a:pPr lvl="1"/>
            <a:r>
              <a:rPr lang="en-US" altLang="zh-CN" dirty="0"/>
              <a:t>Kevin R. Fall, W. Richard Stevens</a:t>
            </a:r>
            <a:r>
              <a:rPr lang="zh-CN" altLang="en-US" dirty="0"/>
              <a:t>著</a:t>
            </a:r>
            <a:r>
              <a:rPr lang="en-US" altLang="zh-CN" dirty="0"/>
              <a:t>, </a:t>
            </a:r>
            <a:r>
              <a:rPr lang="zh-CN" altLang="en-US" dirty="0"/>
              <a:t>吴英</a:t>
            </a:r>
            <a:r>
              <a:rPr lang="en-US" altLang="zh-CN" dirty="0"/>
              <a:t>, </a:t>
            </a:r>
            <a:r>
              <a:rPr lang="zh-CN" altLang="en-US" dirty="0"/>
              <a:t>张玉</a:t>
            </a:r>
            <a:r>
              <a:rPr lang="en-US" altLang="zh-CN" dirty="0"/>
              <a:t>, </a:t>
            </a:r>
            <a:r>
              <a:rPr lang="zh-CN" altLang="en-US" dirty="0"/>
              <a:t>许昱玮译</a:t>
            </a:r>
            <a:r>
              <a:rPr lang="en-US" altLang="zh-CN" dirty="0"/>
              <a:t>. TCP/IP</a:t>
            </a:r>
            <a:r>
              <a:rPr lang="zh-CN" altLang="en-US" dirty="0"/>
              <a:t>详解 卷</a:t>
            </a:r>
            <a:r>
              <a:rPr lang="en-US" altLang="zh-CN" dirty="0"/>
              <a:t>1</a:t>
            </a:r>
            <a:r>
              <a:rPr lang="zh-CN" altLang="en-US" dirty="0"/>
              <a:t>：协议</a:t>
            </a:r>
            <a:r>
              <a:rPr lang="en-US" altLang="zh-CN" dirty="0"/>
              <a:t>(</a:t>
            </a:r>
            <a:r>
              <a:rPr lang="zh-CN" altLang="en-US" dirty="0"/>
              <a:t>原书第</a:t>
            </a:r>
            <a:r>
              <a:rPr lang="en-US" altLang="zh-CN" dirty="0"/>
              <a:t>2</a:t>
            </a:r>
            <a:r>
              <a:rPr lang="zh-CN" altLang="en-US" dirty="0"/>
              <a:t>版</a:t>
            </a:r>
            <a:r>
              <a:rPr lang="en-US" altLang="zh-CN" dirty="0"/>
              <a:t>). </a:t>
            </a:r>
            <a:r>
              <a:rPr lang="zh-CN" altLang="en-US" dirty="0"/>
              <a:t>机械工业出版社</a:t>
            </a:r>
            <a:r>
              <a:rPr lang="en-US" altLang="zh-CN" dirty="0"/>
              <a:t>, 2016.</a:t>
            </a:r>
          </a:p>
          <a:p>
            <a:pPr lvl="1"/>
            <a:r>
              <a:rPr lang="en-US" altLang="zh-CN" dirty="0"/>
              <a:t>W. Richard Stevens, Bill </a:t>
            </a:r>
            <a:r>
              <a:rPr lang="en-US" altLang="zh-CN" dirty="0" err="1"/>
              <a:t>Fenner</a:t>
            </a:r>
            <a:r>
              <a:rPr lang="en-US" altLang="zh-CN" dirty="0"/>
              <a:t>, Andrew M. </a:t>
            </a:r>
            <a:r>
              <a:rPr lang="en-US" altLang="zh-CN" dirty="0" err="1"/>
              <a:t>Rudoff</a:t>
            </a:r>
            <a:r>
              <a:rPr lang="zh-CN" altLang="en-US" dirty="0"/>
              <a:t>著</a:t>
            </a:r>
            <a:r>
              <a:rPr lang="en-US" altLang="zh-CN" dirty="0"/>
              <a:t>. UNIX</a:t>
            </a:r>
            <a:r>
              <a:rPr lang="zh-CN" altLang="en-US" dirty="0"/>
              <a:t>网络编程 卷</a:t>
            </a:r>
            <a:r>
              <a:rPr lang="en-US" altLang="zh-CN" dirty="0"/>
              <a:t>1 </a:t>
            </a:r>
            <a:r>
              <a:rPr lang="zh-CN" altLang="en-US" dirty="0"/>
              <a:t>套接字联网</a:t>
            </a:r>
            <a:r>
              <a:rPr lang="en-US" altLang="zh-CN" dirty="0"/>
              <a:t>API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版</a:t>
            </a:r>
            <a:r>
              <a:rPr lang="en-US" altLang="zh-CN" dirty="0"/>
              <a:t>). </a:t>
            </a:r>
            <a:r>
              <a:rPr lang="zh-CN" altLang="en-US" dirty="0"/>
              <a:t>人民邮电出版社</a:t>
            </a:r>
            <a:r>
              <a:rPr lang="en-US" altLang="zh-CN"/>
              <a:t>, 2019.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65167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1692</TotalTime>
  <Words>354</Words>
  <Application>Microsoft Office PowerPoint</Application>
  <PresentationFormat>A4 纸张(210x297 毫米)</PresentationFormat>
  <Paragraphs>44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黑体</vt:lpstr>
      <vt:lpstr>宋体</vt:lpstr>
      <vt:lpstr>Arial</vt:lpstr>
      <vt:lpstr>Times New Roman</vt:lpstr>
      <vt:lpstr>Wingdings</vt:lpstr>
      <vt:lpstr>Presentation</vt:lpstr>
      <vt:lpstr>课程概况</vt:lpstr>
      <vt:lpstr>课程概况</vt:lpstr>
      <vt:lpstr>联系方式与课程资源</vt:lpstr>
      <vt:lpstr>课程目标与内容安排（1）</vt:lpstr>
      <vt:lpstr>课程目标与内容安排（2）</vt:lpstr>
      <vt:lpstr>课程目标与内容安排（3）</vt:lpstr>
      <vt:lpstr>教材与推荐参考读物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</cp:lastModifiedBy>
  <cp:revision>58</cp:revision>
  <dcterms:created xsi:type="dcterms:W3CDTF">2016-10-01T05:27:09Z</dcterms:created>
  <dcterms:modified xsi:type="dcterms:W3CDTF">2024-02-27T16:30:21Z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